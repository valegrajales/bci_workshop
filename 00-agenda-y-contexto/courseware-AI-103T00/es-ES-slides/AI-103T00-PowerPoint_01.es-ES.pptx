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922" r:id="rId4"/>
    <p:sldMasterId id="2147484972" r:id="rId5"/>
    <p:sldMasterId id="2147485016" r:id="rId6"/>
  </p:sldMasterIdLst>
  <p:notesMasterIdLst>
    <p:notesMasterId r:id="rId66"/>
  </p:notesMasterIdLst>
  <p:handoutMasterIdLst>
    <p:handoutMasterId r:id="rId67"/>
  </p:handoutMasterIdLst>
  <p:sldIdLst>
    <p:sldId id="256" r:id="rId7"/>
    <p:sldId id="2147479835" r:id="rId8"/>
    <p:sldId id="2147479836" r:id="rId9"/>
    <p:sldId id="257" r:id="rId10"/>
    <p:sldId id="2147479800" r:id="rId11"/>
    <p:sldId id="2147479853" r:id="rId12"/>
    <p:sldId id="2147479854" r:id="rId13"/>
    <p:sldId id="2147479803" r:id="rId14"/>
    <p:sldId id="2147479813" r:id="rId15"/>
    <p:sldId id="2147479822" r:id="rId16"/>
    <p:sldId id="2147479855" r:id="rId17"/>
    <p:sldId id="2147479856" r:id="rId18"/>
    <p:sldId id="2147479857" r:id="rId19"/>
    <p:sldId id="2147479858" r:id="rId20"/>
    <p:sldId id="2147479859" r:id="rId21"/>
    <p:sldId id="2147479860" r:id="rId22"/>
    <p:sldId id="2147479861" r:id="rId23"/>
    <p:sldId id="2147479862" r:id="rId24"/>
    <p:sldId id="2147479863" r:id="rId25"/>
    <p:sldId id="2147479864" r:id="rId26"/>
    <p:sldId id="2147479865" r:id="rId27"/>
    <p:sldId id="2147479885" r:id="rId28"/>
    <p:sldId id="2147479884" r:id="rId29"/>
    <p:sldId id="2147479866" r:id="rId30"/>
    <p:sldId id="2147479867" r:id="rId31"/>
    <p:sldId id="2147479868" r:id="rId32"/>
    <p:sldId id="2147479869" r:id="rId33"/>
    <p:sldId id="2147479870" r:id="rId34"/>
    <p:sldId id="2147479886" r:id="rId35"/>
    <p:sldId id="2147479887" r:id="rId36"/>
    <p:sldId id="2147479888" r:id="rId37"/>
    <p:sldId id="2147479889" r:id="rId38"/>
    <p:sldId id="2147479871" r:id="rId39"/>
    <p:sldId id="2147479872" r:id="rId40"/>
    <p:sldId id="2147479873" r:id="rId41"/>
    <p:sldId id="2147479874" r:id="rId42"/>
    <p:sldId id="2147479875" r:id="rId43"/>
    <p:sldId id="2147479876" r:id="rId44"/>
    <p:sldId id="2147479877" r:id="rId45"/>
    <p:sldId id="2147479816" r:id="rId46"/>
    <p:sldId id="2147479878" r:id="rId47"/>
    <p:sldId id="2147479879" r:id="rId48"/>
    <p:sldId id="2147479880" r:id="rId49"/>
    <p:sldId id="2147479881" r:id="rId50"/>
    <p:sldId id="2147479882" r:id="rId51"/>
    <p:sldId id="2147479832" r:id="rId52"/>
    <p:sldId id="2147479833" r:id="rId53"/>
    <p:sldId id="2147479883" r:id="rId54"/>
    <p:sldId id="2147479781" r:id="rId55"/>
    <p:sldId id="1684" r:id="rId56"/>
    <p:sldId id="2147479725" r:id="rId57"/>
    <p:sldId id="2147479728" r:id="rId58"/>
    <p:sldId id="2147479729" r:id="rId59"/>
    <p:sldId id="2147479730" r:id="rId60"/>
    <p:sldId id="2147479731" r:id="rId61"/>
    <p:sldId id="2147479732" r:id="rId62"/>
    <p:sldId id="2147479890" r:id="rId63"/>
    <p:sldId id="2147479891" r:id="rId64"/>
    <p:sldId id="1790" r:id="rId65"/>
  </p:sldIdLst>
  <p:sldSz cx="12192000" cy="6858000"/>
  <p:notesSz cx="6858000" cy="9144000"/>
  <p:custDataLst>
    <p:tags r:id="rId68"/>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E9F006-CD05-43D3-86DF-416740DE2C49}">
          <p14:sldIdLst>
            <p14:sldId id="256"/>
            <p14:sldId id="2147479835"/>
            <p14:sldId id="2147479836"/>
          </p14:sldIdLst>
        </p14:section>
        <p14:section name="Plan and prepare" id="{39823CCC-CE8A-40FC-8767-752343AB3404}">
          <p14:sldIdLst>
            <p14:sldId id="257"/>
            <p14:sldId id="2147479800"/>
            <p14:sldId id="2147479853"/>
            <p14:sldId id="2147479854"/>
            <p14:sldId id="2147479803"/>
            <p14:sldId id="2147479813"/>
            <p14:sldId id="2147479822"/>
          </p14:sldIdLst>
        </p14:section>
        <p14:section name="Models" id="{0612C5B6-1CA4-4F31-8891-88106F42139C}">
          <p14:sldIdLst>
            <p14:sldId id="2147479855"/>
            <p14:sldId id="2147479856"/>
            <p14:sldId id="2147479857"/>
            <p14:sldId id="2147479858"/>
            <p14:sldId id="2147479859"/>
            <p14:sldId id="2147479860"/>
            <p14:sldId id="2147479861"/>
          </p14:sldIdLst>
        </p14:section>
        <p14:section name="Develop Chat App" id="{251123F6-EEC5-477A-8A63-749CFB6D9095}">
          <p14:sldIdLst>
            <p14:sldId id="2147479862"/>
            <p14:sldId id="2147479863"/>
            <p14:sldId id="2147479864"/>
            <p14:sldId id="2147479865"/>
            <p14:sldId id="2147479885"/>
            <p14:sldId id="2147479884"/>
            <p14:sldId id="2147479866"/>
            <p14:sldId id="2147479867"/>
            <p14:sldId id="2147479868"/>
          </p14:sldIdLst>
        </p14:section>
        <p14:section name="Using tools" id="{618AB7C8-A471-4D00-8BA3-00A7E5AB0F77}">
          <p14:sldIdLst>
            <p14:sldId id="2147479869"/>
            <p14:sldId id="2147479870"/>
            <p14:sldId id="2147479886"/>
            <p14:sldId id="2147479887"/>
            <p14:sldId id="2147479888"/>
            <p14:sldId id="2147479889"/>
            <p14:sldId id="2147479871"/>
            <p14:sldId id="2147479872"/>
            <p14:sldId id="2147479873"/>
            <p14:sldId id="2147479874"/>
            <p14:sldId id="2147479875"/>
            <p14:sldId id="2147479876"/>
          </p14:sldIdLst>
        </p14:section>
        <p14:section name="Optimize models" id="{D0D60554-22A0-491C-B195-7F5362693C87}">
          <p14:sldIdLst>
            <p14:sldId id="2147479877"/>
            <p14:sldId id="2147479816"/>
            <p14:sldId id="2147479878"/>
            <p14:sldId id="2147479879"/>
            <p14:sldId id="2147479880"/>
            <p14:sldId id="2147479881"/>
          </p14:sldIdLst>
        </p14:section>
        <p14:section name="Responsible AI" id="{1AB7F71D-9BD9-4426-A580-C19E8747D2C0}">
          <p14:sldIdLst>
            <p14:sldId id="2147479882"/>
            <p14:sldId id="2147479832"/>
            <p14:sldId id="2147479833"/>
            <p14:sldId id="2147479883"/>
            <p14:sldId id="2147479781"/>
          </p14:sldIdLst>
        </p14:section>
        <p14:section name="Intro to agents" id="{9D0EF8C8-BC54-4A4F-9DF7-4D1452A84076}">
          <p14:sldIdLst>
            <p14:sldId id="1684"/>
            <p14:sldId id="2147479725"/>
            <p14:sldId id="2147479728"/>
            <p14:sldId id="2147479729"/>
            <p14:sldId id="2147479730"/>
            <p14:sldId id="2147479731"/>
            <p14:sldId id="2147479732"/>
            <p14:sldId id="2147479890"/>
            <p14:sldId id="2147479891"/>
          </p14:sldIdLst>
        </p14:section>
        <p14:section name="Closing slide" id="{94E71DE5-A1D7-44C6-A62A-B17703277CEC}">
          <p14:sldIdLst>
            <p14:sldId id="1790"/>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A382B4-9F94-9848-B24E-E1BCE268F6CD}" v="668" dt="2026-03-27T18:21:31.844"/>
    <p1510:client id="{F316F821-D6BC-47A0-8C14-35C07D693D0E}" v="341" dt="2026-03-27T18:55:17.8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1V>
      <a:tcStyle>
        <a:tcBdr>
          <a:top>
            <a:lnRef idx="1">
              <a:schemeClr val="accent6"/>
            </a:lnRef>
          </a:top>
          <a:bottom>
            <a:lnRef idx="1">
              <a:schemeClr val="accent6"/>
            </a:lnRef>
          </a:bottom>
        </a:tcBdr>
        <a:fill>
          <a:solidFill>
            <a:schemeClr val="accent6">
              <a:alpha val="40000"/>
            </a:schemeClr>
          </a:solidFill>
        </a:fill>
      </a:tcStyle>
    </a:band1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346" autoAdjust="0"/>
    <p:restoredTop sz="94712" autoAdjust="0"/>
  </p:normalViewPr>
  <p:slideViewPr>
    <p:cSldViewPr snapToGrid="0">
      <p:cViewPr>
        <p:scale>
          <a:sx n="100" d="100"/>
          <a:sy n="100" d="100"/>
        </p:scale>
        <p:origin x="2126" y="542"/>
      </p:cViewPr>
      <p:guideLst>
        <p:guide pos="4200"/>
        <p:guide orient="horz" pos="2160"/>
        <p:guide pos="584"/>
        <p:guide pos="3840"/>
      </p:guideLst>
    </p:cSldViewPr>
  </p:slideViewPr>
  <p:outlineViewPr>
    <p:cViewPr>
      <p:scale>
        <a:sx n="33" d="100"/>
        <a:sy n="33" d="100"/>
      </p:scale>
      <p:origin x="0" y="-444"/>
    </p:cViewPr>
  </p:outlineViewPr>
  <p:notesTextViewPr>
    <p:cViewPr>
      <p:scale>
        <a:sx n="1" d="1"/>
        <a:sy n="1" d="1"/>
      </p:scale>
      <p:origin x="0" y="0"/>
    </p:cViewPr>
  </p:notesTextViewPr>
  <p:sorterViewPr>
    <p:cViewPr>
      <p:scale>
        <a:sx n="100" d="100"/>
        <a:sy n="100" d="100"/>
      </p:scale>
      <p:origin x="0" y="-2382"/>
    </p:cViewPr>
  </p:sorter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notesMaster" Target="notesMasters/notesMaster1.xml"/><Relationship Id="rId74"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commentAuthors" Target="commentAuthor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handoutMaster" Target="handoutMasters/handoutMaster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356221-FF75-4B28-B1B7-9C62EC26339F}" type="datetime8">
              <a:rPr lang="en-US" smtClean="0">
                <a:latin typeface="Segoe UI" panose="020B0502040204020203" pitchFamily="34" charset="0"/>
              </a:rPr>
              <a:t>5/26/2026 2:02 PM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t>‹#›</a:t>
            </a:fld>
            <a:endParaRPr lang="en-US">
              <a:latin typeface="Segoe UI" panose="020B0502040204020203"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55E12198-D52A-4604-A7DE-05A0E5E96698}" type="datetime8">
              <a:rPr lang="en-US" smtClean="0"/>
              <a:t>5/26/2026 2:00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Usa el vínculo de la diapositiva para ver la ruta de aprendizaje de Microsoft Learn de la que se deriva esta presentación.</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1</a:t>
            </a:fld>
            <a:endParaRPr lang="en-US"/>
          </a:p>
        </p:txBody>
      </p:sp>
    </p:spTree>
    <p:extLst>
      <p:ext uri="{BB962C8B-B14F-4D97-AF65-F5344CB8AC3E}">
        <p14:creationId xmlns:p14="http://schemas.microsoft.com/office/powerpoint/2010/main" val="1521454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Orienta a los alumnos: "Azure AI abarca diversas familias de cargas de trabajo: hoy nos centramos en la </a:t>
            </a:r>
            <a:r>
              <a:rPr lang="es-ES" sz="882" b="0" i="1" strike="noStrike" cap="none" baseline="0">
                <a:solidFill>
                  <a:srgbClr val="000000"/>
                </a:solidFill>
                <a:effectLst/>
                <a:latin typeface="Segoe UI Light"/>
                <a:ea typeface="Segoe UI Light"/>
                <a:cs typeface="Segoe UI Light"/>
              </a:rPr>
              <a:t>IA generativa y los agentes</a:t>
            </a:r>
            <a:r>
              <a:rPr lang="es-ES" sz="882" b="0" i="0" strike="noStrike" cap="none" baseline="0">
                <a:solidFill>
                  <a:srgbClr val="000000"/>
                </a:solidFill>
                <a:effectLst/>
                <a:latin typeface="Segoe UI Light"/>
                <a:ea typeface="Segoe UI Light"/>
                <a:cs typeface="Segoe UI Light"/>
              </a:rPr>
              <a:t>".</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Contraste rápido: ML clásico (predictivo, f(x)=y) frente a IA generativa (lenguaje + razonamiento + generación de contenido).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a:t>
            </a:fld>
            <a:endParaRPr lang="en-US"/>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Refuerza el control de ámbito: "Si habéis venido por la visión, la voz y la traducción, existen, pero el enfoque de hoy se centra en los modelos de IA generativa y el desarrollo de aplicaciones de chat".</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Avanza cómo va a ser el día: conceptos básicos de la plataforma → modelos → puntos de conexión y SDK → desarrollo de aplicaciones de chat→ optimización → IA responsable.</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a:t>
            </a:fld>
            <a:endParaRPr lang="en-US"/>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a:t>
            </a:fld>
            <a:endParaRPr lang="en-US"/>
          </a:p>
        </p:txBody>
      </p:sp>
    </p:spTree>
    <p:extLst>
      <p:ext uri="{BB962C8B-B14F-4D97-AF65-F5344CB8AC3E}">
        <p14:creationId xmlns:p14="http://schemas.microsoft.com/office/powerpoint/2010/main" val="85155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Define Foundry en una frase: "Foundry proporciona un área de trabajo basada en proyectos para crear aplicaciones o agentes de IA con modelos, herramientas y conocimientos en un solo lugar".</a:t>
            </a:r>
          </a:p>
          <a:p>
            <a:pPr fontAlgn="t"/>
            <a:r>
              <a:rPr lang="es-ES" sz="882" b="0" i="0" strike="noStrike" cap="none" baseline="0">
                <a:solidFill>
                  <a:srgbClr val="000000"/>
                </a:solidFill>
                <a:effectLst/>
                <a:latin typeface="Segoe UI Light"/>
                <a:ea typeface="Segoe UI Light"/>
                <a:cs typeface="Segoe UI Light"/>
              </a:rPr>
              <a:t>Resalta el modelo mental: los </a:t>
            </a:r>
            <a:r>
              <a:rPr lang="es-ES" sz="882" b="1" i="0" strike="noStrike" cap="none" baseline="0">
                <a:solidFill>
                  <a:srgbClr val="000000"/>
                </a:solidFill>
                <a:effectLst/>
                <a:latin typeface="Segoe UI Light"/>
                <a:ea typeface="Segoe UI Light"/>
                <a:cs typeface="Segoe UI Light"/>
              </a:rPr>
              <a:t>recursos</a:t>
            </a:r>
            <a:r>
              <a:rPr lang="es-ES" sz="882" b="0" i="0" strike="noStrike" cap="none" baseline="0">
                <a:solidFill>
                  <a:srgbClr val="000000"/>
                </a:solidFill>
                <a:effectLst/>
                <a:latin typeface="Segoe UI Light"/>
                <a:ea typeface="Segoe UI Light"/>
                <a:cs typeface="Segoe UI Light"/>
              </a:rPr>
              <a:t> proporcionan servicios de entrega de modelos/almacenamiento/computación.</a:t>
            </a:r>
          </a:p>
          <a:p>
            <a:pPr fontAlgn="t"/>
            <a:r>
              <a:rPr lang="es-ES" sz="882" b="0" i="0" strike="noStrike" cap="none" baseline="0">
                <a:solidFill>
                  <a:srgbClr val="000000"/>
                </a:solidFill>
                <a:effectLst/>
                <a:latin typeface="Segoe UI Light"/>
                <a:ea typeface="Segoe UI Light"/>
                <a:cs typeface="Segoe UI Light"/>
              </a:rPr>
              <a:t>Los </a:t>
            </a:r>
            <a:r>
              <a:rPr lang="es-ES" sz="882" b="1" i="0" strike="noStrike" cap="none" baseline="0">
                <a:solidFill>
                  <a:srgbClr val="000000"/>
                </a:solidFill>
                <a:effectLst/>
                <a:latin typeface="Segoe UI Light"/>
                <a:ea typeface="Segoe UI Light"/>
                <a:cs typeface="Segoe UI Light"/>
              </a:rPr>
              <a:t>proyectos</a:t>
            </a:r>
            <a:r>
              <a:rPr lang="es-ES" sz="882" b="0" i="0" strike="noStrike" cap="none" baseline="0">
                <a:solidFill>
                  <a:srgbClr val="000000"/>
                </a:solidFill>
                <a:effectLst/>
                <a:latin typeface="Segoe UI Light"/>
                <a:ea typeface="Segoe UI Light"/>
                <a:cs typeface="Segoe UI Light"/>
              </a:rPr>
              <a:t> son entornos de trabajo aislados para el desarrollo de aplicaciones y agentes.</a:t>
            </a:r>
          </a:p>
          <a:p>
            <a:pPr fontAlgn="t"/>
            <a:r>
              <a:rPr lang="es-ES" sz="882" b="0" i="0" strike="noStrike" cap="none" baseline="0">
                <a:solidFill>
                  <a:srgbClr val="000000"/>
                </a:solidFill>
                <a:effectLst/>
                <a:latin typeface="Segoe UI Light"/>
                <a:ea typeface="Segoe UI Light"/>
                <a:cs typeface="Segoe UI Light"/>
              </a:rPr>
              <a:t>Dentro de los proyectos: </a:t>
            </a:r>
            <a:r>
              <a:rPr lang="es-ES" sz="882" b="1" i="0" strike="noStrike" cap="none" baseline="0">
                <a:solidFill>
                  <a:srgbClr val="000000"/>
                </a:solidFill>
                <a:effectLst/>
                <a:latin typeface="Segoe UI Light"/>
                <a:ea typeface="Segoe UI Light"/>
                <a:cs typeface="Segoe UI Light"/>
              </a:rPr>
              <a:t>modelos</a:t>
            </a:r>
            <a:r>
              <a:rPr lang="es-ES" sz="882" b="0" i="0" strike="noStrike" cap="none" baseline="0">
                <a:solidFill>
                  <a:srgbClr val="000000"/>
                </a:solidFill>
                <a:effectLst/>
                <a:latin typeface="Segoe UI Light"/>
                <a:ea typeface="Segoe UI Light"/>
                <a:cs typeface="Segoe UI Light"/>
              </a:rPr>
              <a:t>, </a:t>
            </a:r>
            <a:r>
              <a:rPr lang="es-ES" sz="882" b="1" i="0" strike="noStrike" cap="none" baseline="0">
                <a:solidFill>
                  <a:srgbClr val="000000"/>
                </a:solidFill>
                <a:effectLst/>
                <a:latin typeface="Segoe UI Light"/>
                <a:ea typeface="Segoe UI Light"/>
                <a:cs typeface="Segoe UI Light"/>
              </a:rPr>
              <a:t>agentes</a:t>
            </a:r>
            <a:r>
              <a:rPr lang="es-ES" sz="882" b="0" i="0" strike="noStrike" cap="none" baseline="0">
                <a:solidFill>
                  <a:srgbClr val="000000"/>
                </a:solidFill>
                <a:effectLst/>
                <a:latin typeface="Segoe UI Light"/>
                <a:ea typeface="Segoe UI Light"/>
                <a:cs typeface="Segoe UI Light"/>
              </a:rPr>
              <a:t>, </a:t>
            </a:r>
            <a:r>
              <a:rPr lang="es-ES" sz="882" b="1" i="0" strike="noStrike" cap="none" baseline="0">
                <a:solidFill>
                  <a:srgbClr val="000000"/>
                </a:solidFill>
                <a:effectLst/>
                <a:latin typeface="Segoe UI Light"/>
                <a:ea typeface="Segoe UI Light"/>
                <a:cs typeface="Segoe UI Light"/>
              </a:rPr>
              <a:t>herramientas</a:t>
            </a:r>
            <a:r>
              <a:rPr lang="es-ES" sz="882" b="0" i="0" strike="noStrike" cap="none" baseline="0">
                <a:solidFill>
                  <a:srgbClr val="000000"/>
                </a:solidFill>
                <a:effectLst/>
                <a:latin typeface="Segoe UI Light"/>
                <a:ea typeface="Segoe UI Light"/>
                <a:cs typeface="Segoe UI Light"/>
              </a:rPr>
              <a:t>, </a:t>
            </a:r>
            <a:r>
              <a:rPr lang="es-ES" sz="882" b="1" i="0" strike="noStrike" cap="none" baseline="0">
                <a:solidFill>
                  <a:srgbClr val="000000"/>
                </a:solidFill>
                <a:effectLst/>
                <a:latin typeface="Segoe UI Light"/>
                <a:ea typeface="Segoe UI Light"/>
                <a:cs typeface="Segoe UI Light"/>
              </a:rPr>
              <a:t>conocimientos</a:t>
            </a:r>
            <a:r>
              <a:rPr lang="es-ES" sz="882" b="0" i="0" strike="noStrike" cap="none" baseline="0">
                <a:solidFill>
                  <a:srgbClr val="000000"/>
                </a:solidFill>
                <a:effectLst/>
                <a:latin typeface="Segoe UI Light"/>
                <a:ea typeface="Segoe UI Light"/>
                <a:cs typeface="Segoe UI Light"/>
              </a:rPr>
              <a:t>.</a:t>
            </a:r>
          </a:p>
          <a:p>
            <a:pPr fontAlgn="t"/>
            <a:r>
              <a:rPr lang="es-ES" sz="882" b="0" i="0" strike="noStrike" cap="none" baseline="0">
                <a:solidFill>
                  <a:srgbClr val="000000"/>
                </a:solidFill>
                <a:effectLst/>
                <a:latin typeface="Segoe UI Light"/>
                <a:ea typeface="Segoe UI Light"/>
                <a:cs typeface="Segoe UI Light"/>
              </a:rPr>
              <a:t>Contextualización práctica: "Cuando los alumnos se sientan perdidos, vuelve a esta imagen (la mayoría de las tareas se asignan a uno de estos cuatro)".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141574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"Foundry Tools" como "funcionalidades creadas previamente que el agente/la aplicación puede ejecutar en lugar de reinventar".</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Vincula con el valor del desarrollador: "Se componen soluciones mediante la combinación de un LLM con ejecución de herramientas para lenguaje, voz, traducción, extracción de documentos, análisis multimodal".</a:t>
            </a:r>
          </a:p>
          <a:p>
            <a:r>
              <a:rPr lang="es-ES" sz="882" b="0" i="0" strike="noStrike" cap="none" baseline="0">
                <a:solidFill>
                  <a:srgbClr val="000000"/>
                </a:solidFill>
                <a:effectLst/>
                <a:latin typeface="Segoe UI Light"/>
                <a:ea typeface="Segoe UI Light"/>
                <a:cs typeface="Segoe UI Light"/>
              </a:rPr>
              <a:t>Señala que "Foundry Tools se conocía anteriormente como 'Servicios de Azure AI', y como 'Cognitive Services' antes de eso".</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6</a:t>
            </a:fld>
            <a:endParaRPr lang="en-US"/>
          </a:p>
        </p:txBody>
      </p:sp>
    </p:spTree>
    <p:extLst>
      <p:ext uri="{BB962C8B-B14F-4D97-AF65-F5344CB8AC3E}">
        <p14:creationId xmlns:p14="http://schemas.microsoft.com/office/powerpoint/2010/main" val="3237541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Configura el flujo de trabajo de desarrollo: VS Code + extensión de kit de herramientas de IA + SDK + control de código fuente + GitHub Copilot (opcional).</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el conjunto de herramientas del SDK: el SDK de Foundry y el SDK de OpenAI aparecen juntos porque Foundry puede exponer interfaces compatibles con OpenAI (importante más adelante al elegir puntos de conexión).</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 enseñanza: pregunta a los alumnos "¿Qué preferís para desarrollar: empezar en el área de juegos del portal o ir directos al código?" a continuación, muestra que se admiten ambos.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7</a:t>
            </a:fld>
            <a:endParaRPr lang="en-US"/>
          </a:p>
        </p:txBody>
      </p:sp>
    </p:spTree>
    <p:extLst>
      <p:ext uri="{BB962C8B-B14F-4D97-AF65-F5344CB8AC3E}">
        <p14:creationId xmlns:p14="http://schemas.microsoft.com/office/powerpoint/2010/main" val="3852078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Prioriza lo práctico: "Esto no es palabrería: cada principio se asigna a opciones de diseño: datos, indicaciones, límites de protección, experiencia de usuario y operaciones".</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Prepara el terreno para más adelante: "Volveremos a los límites de protección y la mitigación de daños después de haber creado algo".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8</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99894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NOTA: Si los alumnos están relativamente familiarizados, omite este laboratorio y ofrece simplemente una pequeña demostración del portal para ahorrar tiempo. Lo usarán mucho en laboratorios futuros</a:t>
            </a:r>
          </a:p>
          <a:p>
            <a:endParaRPr lang="en-US"/>
          </a:p>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9</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10</a:t>
            </a:fld>
            <a:endParaRPr lang="en-US"/>
          </a:p>
        </p:txBody>
      </p:sp>
    </p:spTree>
    <p:extLst>
      <p:ext uri="{BB962C8B-B14F-4D97-AF65-F5344CB8AC3E}">
        <p14:creationId xmlns:p14="http://schemas.microsoft.com/office/powerpoint/2010/main" val="1781579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D60C5-DDE4-A937-826D-32C555AC6F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2D76D-7B75-FEE1-59E7-E388B8F3D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339EAC-315C-4529-22BF-7A58BAFCE9A9}"/>
              </a:ext>
            </a:extLst>
          </p:cNvPr>
          <p:cNvSpPr>
            <a:spLocks noGrp="1"/>
          </p:cNvSpPr>
          <p:nvPr>
            <p:ph type="body" idx="1"/>
          </p:nvPr>
        </p:nvSpPr>
        <p:spPr/>
        <p:txBody>
          <a:bodyPr/>
          <a:lstStyle/>
          <a:p>
            <a:r>
              <a:rPr lang="es-ES" sz="882" b="0" i="0" strike="noStrike" cap="none" baseline="0" dirty="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a:extLst>
              <a:ext uri="{FF2B5EF4-FFF2-40B4-BE49-F238E27FC236}">
                <a16:creationId xmlns:a16="http://schemas.microsoft.com/office/drawing/2014/main" id="{665514C6-1F5B-9722-DCA5-9AC86347012E}"/>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D63023F1-4646-0C21-33CB-9117E070C52A}"/>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B39AE11D-1B94-1487-9BB8-10BA8F168EFD}"/>
              </a:ext>
            </a:extLst>
          </p:cNvPr>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a:extLst>
              <a:ext uri="{FF2B5EF4-FFF2-40B4-BE49-F238E27FC236}">
                <a16:creationId xmlns:a16="http://schemas.microsoft.com/office/drawing/2014/main" id="{01F8634A-6DC2-3A32-7DC2-C04148AFFC86}"/>
              </a:ext>
            </a:extLst>
          </p:cNvPr>
          <p:cNvSpPr>
            <a:spLocks noGrp="1"/>
          </p:cNvSpPr>
          <p:nvPr>
            <p:ph type="sldNum" sz="quarter" idx="5"/>
          </p:nvPr>
        </p:nvSpPr>
        <p:spPr/>
        <p:txBody>
          <a:bodyPr/>
          <a:lstStyle/>
          <a:p>
            <a:fld id="{B4008EB6-D09E-4580-8CD6-DDB14511944F}" type="slidenum">
              <a:rPr lang="en-US" smtClean="0"/>
              <a:t>11</a:t>
            </a:fld>
            <a:endParaRPr lang="en-US"/>
          </a:p>
        </p:txBody>
      </p:sp>
    </p:spTree>
    <p:extLst>
      <p:ext uri="{BB962C8B-B14F-4D97-AF65-F5344CB8AC3E}">
        <p14:creationId xmlns:p14="http://schemas.microsoft.com/office/powerpoint/2010/main" val="26064585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Ofrece a los alumnos una estrategia: "Empezad con colecciones/funcionalidades seleccionadas y luego filtrad por proveedor y tareas; después, ya podréis preocuparos por la compatibilidad con la optimización".</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Aclara las diferencias entre facturación y propiedad: los modelos vendidos por Azure frente a los modelos de asociados o comunidad adquiridos a través del proveedor.</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del instructor: recuerda a los alumnos que "la elección del modelo es iterativa: elegid una base de referencia y validad rápidamente en el área de juegos".</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12</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422360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Explica la utilidad de las pruebas comparativas para los desarrolladores: "No son perfectas, pero impiden la selección de modelos basada solo en sensaciones". Interpretar cada métrica en términos de aplicación: índice de calidad → utilidad de respuesta.</a:t>
            </a:r>
          </a:p>
          <a:p>
            <a:pPr fontAlgn="t"/>
            <a:r>
              <a:rPr lang="es-ES" sz="882" b="0" i="0" strike="noStrike" cap="none" baseline="0">
                <a:solidFill>
                  <a:srgbClr val="000000"/>
                </a:solidFill>
                <a:effectLst/>
                <a:latin typeface="Segoe UI Light"/>
                <a:ea typeface="Segoe UI Light"/>
                <a:cs typeface="Segoe UI Light"/>
              </a:rPr>
              <a:t>Seguridad (tasa de éxito de ataque) → solidez frente a ataques rápidos.</a:t>
            </a:r>
          </a:p>
          <a:p>
            <a:pPr fontAlgn="t"/>
            <a:r>
              <a:rPr lang="es-ES" sz="882" b="0" i="0" strike="noStrike" cap="none" baseline="0">
                <a:solidFill>
                  <a:srgbClr val="000000"/>
                </a:solidFill>
                <a:effectLst/>
                <a:latin typeface="Segoe UI Light"/>
                <a:ea typeface="Segoe UI Light"/>
                <a:cs typeface="Segoe UI Light"/>
              </a:rPr>
              <a:t>Capacidad de proceso → capacidad de respuesta bajo carga.</a:t>
            </a:r>
          </a:p>
          <a:p>
            <a:pPr fontAlgn="t"/>
            <a:r>
              <a:rPr lang="es-ES" sz="882" b="0" i="0" strike="noStrike" cap="none" baseline="0">
                <a:solidFill>
                  <a:srgbClr val="000000"/>
                </a:solidFill>
                <a:effectLst/>
                <a:latin typeface="Segoe UI Light"/>
                <a:ea typeface="Segoe UI Light"/>
                <a:cs typeface="Segoe UI Light"/>
              </a:rPr>
              <a:t>Coste → economía de tokens.</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13</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39985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Enseña un atajo para la toma de decisiones: </a:t>
            </a:r>
            <a:r>
              <a:rPr lang="es-ES" sz="882" b="1" i="0" strike="noStrike" cap="none" baseline="0">
                <a:solidFill>
                  <a:srgbClr val="000000"/>
                </a:solidFill>
                <a:effectLst/>
                <a:latin typeface="Segoe UI Light"/>
                <a:ea typeface="Segoe UI Light"/>
                <a:cs typeface="Segoe UI Light"/>
              </a:rPr>
              <a:t>Estándar global</a:t>
            </a:r>
            <a:r>
              <a:rPr lang="es-ES" sz="882" b="0" i="0" strike="noStrike" cap="none" baseline="0">
                <a:solidFill>
                  <a:srgbClr val="000000"/>
                </a:solidFill>
                <a:effectLst/>
                <a:latin typeface="Segoe UI Light"/>
                <a:ea typeface="Segoe UI Light"/>
                <a:cs typeface="Segoe UI Light"/>
              </a:rPr>
              <a:t> para cargas de trabajo generales y cuota más alta.</a:t>
            </a:r>
          </a:p>
          <a:p>
            <a:pPr fontAlgn="t"/>
            <a:r>
              <a:rPr lang="es-ES" sz="882" b="1" i="0" strike="noStrike" cap="none" baseline="0">
                <a:solidFill>
                  <a:srgbClr val="000000"/>
                </a:solidFill>
                <a:effectLst/>
                <a:latin typeface="Segoe UI Light"/>
                <a:ea typeface="Segoe UI Light"/>
                <a:cs typeface="Segoe UI Light"/>
              </a:rPr>
              <a:t>Provisionado</a:t>
            </a:r>
            <a:r>
              <a:rPr lang="es-ES" sz="882" b="0" i="0" strike="noStrike" cap="none" baseline="0">
                <a:solidFill>
                  <a:srgbClr val="000000"/>
                </a:solidFill>
                <a:effectLst/>
                <a:latin typeface="Segoe UI Light"/>
                <a:ea typeface="Segoe UI Light"/>
                <a:cs typeface="Segoe UI Light"/>
              </a:rPr>
              <a:t> cuando la capacidad de proceso debe ser predecible.</a:t>
            </a:r>
          </a:p>
          <a:p>
            <a:pPr fontAlgn="t"/>
            <a:r>
              <a:rPr lang="es-ES" sz="882" b="1" i="0" strike="noStrike" cap="none" baseline="0">
                <a:solidFill>
                  <a:srgbClr val="000000"/>
                </a:solidFill>
                <a:effectLst/>
                <a:latin typeface="Segoe UI Light"/>
                <a:ea typeface="Segoe UI Light"/>
                <a:cs typeface="Segoe UI Light"/>
              </a:rPr>
              <a:t>En lotes</a:t>
            </a:r>
            <a:r>
              <a:rPr lang="es-ES" sz="882" b="0" i="0" strike="noStrike" cap="none" baseline="0">
                <a:solidFill>
                  <a:srgbClr val="000000"/>
                </a:solidFill>
                <a:effectLst/>
                <a:latin typeface="Segoe UI Light"/>
                <a:ea typeface="Segoe UI Light"/>
                <a:cs typeface="Segoe UI Light"/>
              </a:rPr>
              <a:t> para trabajos grandes asincrónicos.</a:t>
            </a:r>
          </a:p>
          <a:p>
            <a:pPr fontAlgn="t"/>
            <a:r>
              <a:rPr lang="es-ES" sz="882" b="1" i="0" strike="noStrike" cap="none" baseline="0">
                <a:solidFill>
                  <a:srgbClr val="000000"/>
                </a:solidFill>
                <a:effectLst/>
                <a:latin typeface="Segoe UI Light"/>
                <a:ea typeface="Segoe UI Light"/>
                <a:cs typeface="Segoe UI Light"/>
              </a:rPr>
              <a:t>Zona de datos</a:t>
            </a:r>
            <a:r>
              <a:rPr lang="es-ES" sz="882" b="0" i="0" strike="noStrike" cap="none" baseline="0">
                <a:solidFill>
                  <a:srgbClr val="000000"/>
                </a:solidFill>
                <a:effectLst/>
                <a:latin typeface="Segoe UI Light"/>
                <a:ea typeface="Segoe UI Light"/>
                <a:cs typeface="Segoe UI Light"/>
              </a:rPr>
              <a:t> para las necesidades de cumplimiento de la zona de datos de la UE/EE. UU.</a:t>
            </a:r>
          </a:p>
          <a:p>
            <a:pPr fontAlgn="t"/>
            <a:r>
              <a:rPr lang="es-ES" sz="882" b="1" i="0" strike="noStrike" cap="none" baseline="0">
                <a:solidFill>
                  <a:srgbClr val="000000"/>
                </a:solidFill>
                <a:effectLst/>
                <a:latin typeface="Segoe UI Light"/>
                <a:ea typeface="Segoe UI Light"/>
                <a:cs typeface="Segoe UI Light"/>
              </a:rPr>
              <a:t>Regional/Estándar</a:t>
            </a:r>
            <a:r>
              <a:rPr lang="es-ES" sz="882" b="0" i="0" strike="noStrike" cap="none" baseline="0">
                <a:solidFill>
                  <a:srgbClr val="000000"/>
                </a:solidFill>
                <a:effectLst/>
                <a:latin typeface="Segoe UI Light"/>
                <a:ea typeface="Segoe UI Light"/>
                <a:cs typeface="Segoe UI Light"/>
              </a:rPr>
              <a:t> para el cumplimiento regional y de menor volumen.</a:t>
            </a:r>
          </a:p>
          <a:p>
            <a:pPr fontAlgn="t"/>
            <a:r>
              <a:rPr lang="es-ES" sz="882" b="1" i="0" strike="noStrike" cap="none" baseline="0">
                <a:solidFill>
                  <a:srgbClr val="000000"/>
                </a:solidFill>
                <a:effectLst/>
                <a:latin typeface="Segoe UI Light"/>
                <a:ea typeface="Segoe UI Light"/>
                <a:cs typeface="Segoe UI Light"/>
              </a:rPr>
              <a:t>Desarrollador</a:t>
            </a:r>
            <a:r>
              <a:rPr lang="es-ES" sz="882" b="0" i="0" strike="noStrike" cap="none" baseline="0">
                <a:solidFill>
                  <a:srgbClr val="000000"/>
                </a:solidFill>
                <a:effectLst/>
                <a:latin typeface="Segoe UI Light"/>
                <a:ea typeface="Segoe UI Light"/>
                <a:cs typeface="Segoe UI Light"/>
              </a:rPr>
              <a:t> solo para la evaluación de modelos ajustados.</a:t>
            </a:r>
          </a:p>
          <a:p>
            <a:pPr fontAlgn="t"/>
            <a:r>
              <a:rPr lang="es-ES" sz="882" b="0" i="0" strike="noStrike" cap="none" baseline="0">
                <a:solidFill>
                  <a:srgbClr val="000000"/>
                </a:solidFill>
                <a:effectLst/>
                <a:latin typeface="Segoe UI Light"/>
                <a:ea typeface="Segoe UI Light"/>
                <a:cs typeface="Segoe UI Light"/>
              </a:rPr>
              <a:t>Sugerencia del instructor: pregunta a la sala "¿Qué restricción importa más: cumplimiento, capacidad de proceso o coste?" a continuación, asocia a la tabla.</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14</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373374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A223-1175-2373-4877-BA7F36BBE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EC8E7-C8FF-A618-A9E0-B6C090EA96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EECAB-EECF-4F9E-635C-F8EB019502D8}"/>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Haz que la evaluación sea específica: Manual (indicaciones del área de juegos, comparaciones en paralelo).</a:t>
            </a:r>
          </a:p>
          <a:p>
            <a:pPr fontAlgn="t"/>
            <a:r>
              <a:rPr lang="es-ES" sz="882" b="0" i="0" strike="noStrike" cap="none" baseline="0">
                <a:solidFill>
                  <a:srgbClr val="000000"/>
                </a:solidFill>
                <a:effectLst/>
                <a:latin typeface="Segoe UI Light"/>
                <a:ea typeface="Segoe UI Light"/>
                <a:cs typeface="Segoe UI Light"/>
              </a:rPr>
              <a:t>Automatizado (conjuntos de datos sintéticos o reales + métricas estándar).</a:t>
            </a:r>
          </a:p>
          <a:p>
            <a:pPr fontAlgn="t"/>
            <a:r>
              <a:rPr lang="es-ES" sz="882" b="0" i="0" strike="noStrike" cap="none" baseline="0">
                <a:solidFill>
                  <a:srgbClr val="000000"/>
                </a:solidFill>
                <a:effectLst/>
                <a:latin typeface="Segoe UI Light"/>
                <a:ea typeface="Segoe UI Light"/>
                <a:cs typeface="Segoe UI Light"/>
              </a:rPr>
              <a:t>Sugerencia de enseñanza: fomenta las "indicaciones representativas" (tareas reales del usuario) y las "indicaciones locales" (abuso/desalineación) incluso en la fase de prototipo.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E5CB872A-9935-35EF-2EC9-AB74CDE6EAF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5A18DBED-35B3-F34F-0F66-4D03523E2725}"/>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17A5594E-0EB7-8BDC-3F86-594FC506795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15</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40920589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A223-9ED7-4E0C-1EF1-B6248FEA3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76FD7-BEA8-6D7B-5938-086F30F56E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A6F2B-ABB1-FE5E-AE4E-AAFE43F5C4DC}"/>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5965365D-C938-C7B7-8CD2-7F1685FC56F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A75E0AD4-8F41-EF55-1E84-5C3DB78B5CA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80306F-3977-C323-ECE3-4F2361B31836}"/>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6C653EBF-6C10-F3CB-3431-05110A63D40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16</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9848101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6BECF-3816-3FD5-75DB-2B0F5372B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AFDDB-BBB3-12ED-A3A2-F46F13410C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4B717-7791-34A5-D334-2E1B316A3AED}"/>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CF3CE054-8A40-9426-E9E5-2CD0C1D9FCF4}"/>
              </a:ext>
            </a:extLst>
          </p:cNvPr>
          <p:cNvSpPr>
            <a:spLocks noGrp="1"/>
          </p:cNvSpPr>
          <p:nvPr>
            <p:ph type="sldNum" sz="quarter" idx="5"/>
          </p:nvPr>
        </p:nvSpPr>
        <p:spPr/>
        <p:txBody>
          <a:bodyPr/>
          <a:lstStyle/>
          <a:p>
            <a:fld id="{97E04F8E-88E9-481C-A2B3-C92BCE611EF5}" type="slidenum">
              <a:rPr lang="en-US" smtClean="0"/>
              <a:t>17</a:t>
            </a:fld>
            <a:endParaRPr lang="en-US"/>
          </a:p>
        </p:txBody>
      </p:sp>
    </p:spTree>
    <p:extLst>
      <p:ext uri="{BB962C8B-B14F-4D97-AF65-F5344CB8AC3E}">
        <p14:creationId xmlns:p14="http://schemas.microsoft.com/office/powerpoint/2010/main" val="37955787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247EC-4B1D-82EE-01DE-3AC29958C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D0F8D-A53A-4A46-5CDA-557D29172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83111-A9C8-83C2-E5F9-6A2208B87DAC}"/>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a:extLst>
              <a:ext uri="{FF2B5EF4-FFF2-40B4-BE49-F238E27FC236}">
                <a16:creationId xmlns:a16="http://schemas.microsoft.com/office/drawing/2014/main" id="{2EEA8FDF-AAB2-174C-3A07-DDFC0F5FA6FB}"/>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6325C965-A560-2971-416A-EBB62A4A7495}"/>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3F1E2FB-4872-EF04-85D5-A02B49A9AD2F}"/>
              </a:ext>
            </a:extLst>
          </p:cNvPr>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a:extLst>
              <a:ext uri="{FF2B5EF4-FFF2-40B4-BE49-F238E27FC236}">
                <a16:creationId xmlns:a16="http://schemas.microsoft.com/office/drawing/2014/main" id="{F63E6CCB-C387-D828-FDDF-80BDA1608D89}"/>
              </a:ext>
            </a:extLst>
          </p:cNvPr>
          <p:cNvSpPr>
            <a:spLocks noGrp="1"/>
          </p:cNvSpPr>
          <p:nvPr>
            <p:ph type="sldNum" sz="quarter" idx="5"/>
          </p:nvPr>
        </p:nvSpPr>
        <p:spPr/>
        <p:txBody>
          <a:bodyPr/>
          <a:lstStyle/>
          <a:p>
            <a:fld id="{B4008EB6-D09E-4580-8CD6-DDB14511944F}" type="slidenum">
              <a:rPr lang="en-US" smtClean="0"/>
              <a:t>18</a:t>
            </a:fld>
            <a:endParaRPr lang="en-US"/>
          </a:p>
        </p:txBody>
      </p:sp>
    </p:spTree>
    <p:extLst>
      <p:ext uri="{BB962C8B-B14F-4D97-AF65-F5344CB8AC3E}">
        <p14:creationId xmlns:p14="http://schemas.microsoft.com/office/powerpoint/2010/main" val="26607161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7C0DD-12E2-9561-7000-983864590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71B0F3-F1DC-6F32-C298-D2529280F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DF5C3A-A2FE-F1DB-057A-5E4AC0F0D12C}"/>
              </a:ext>
            </a:extLst>
          </p:cNvPr>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Fomenta buenos hábitos: "Cread prototipos de indicaciones aquí antes de escribir código; esto ahorra tiempo y reduce la confusión".</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los parámetros de configuración: temperatura/max tokens/mensaje del sistema.</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Resalta el selector de ejemplo de código: tipo de API (ChatCompletions frente a respuestas), lenguaje, REST/SDK, lo que reduce el "síndrome de página en blanco".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7C5EFBDC-9CA8-EF1E-3537-E918DEB0B5EC}"/>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98D79E71-12CF-56B1-7D7B-A1C9BB37324B}"/>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95FB54ED-5A0D-A581-25BD-8AB088167094}"/>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19</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6999553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Enseña la </a:t>
            </a:r>
            <a:r>
              <a:rPr lang="es-ES" sz="882" b="0" i="1" strike="noStrike" cap="none" baseline="0">
                <a:solidFill>
                  <a:srgbClr val="000000"/>
                </a:solidFill>
                <a:effectLst/>
                <a:latin typeface="Segoe UI Light"/>
                <a:ea typeface="Segoe UI Light"/>
                <a:cs typeface="Segoe UI Light"/>
              </a:rPr>
              <a:t>decisión</a:t>
            </a:r>
            <a:r>
              <a:rPr lang="es-ES" sz="882" b="0" i="0" strike="noStrike" cap="none" baseline="0">
                <a:solidFill>
                  <a:srgbClr val="000000"/>
                </a:solidFill>
                <a:effectLst/>
                <a:latin typeface="Segoe UI Light"/>
                <a:ea typeface="Segoe UI Light"/>
                <a:cs typeface="Segoe UI Light"/>
              </a:rPr>
              <a:t>: punto de conexión de proyecto de Foundry + Foundry SDK cuando queráis operaciones de proyecto nativas de Foundry e interfaces compatibles con OpenAI para los modelos directos de Foundry.</a:t>
            </a:r>
          </a:p>
          <a:p>
            <a:pPr fontAlgn="t"/>
            <a:r>
              <a:rPr lang="es-ES" sz="882" b="0" i="0" strike="noStrike" cap="none" baseline="0">
                <a:solidFill>
                  <a:srgbClr val="000000"/>
                </a:solidFill>
                <a:effectLst/>
                <a:latin typeface="Segoe UI Light"/>
                <a:ea typeface="Segoe UI Light"/>
                <a:cs typeface="Segoe UI Light"/>
              </a:rPr>
              <a:t>Punto de conexión de Azure OpenAI + SDK de OpenAI cuando queráis la superficie completa de la API de OpenAI y compatibilidad con modelos más amplia.</a:t>
            </a:r>
          </a:p>
          <a:p>
            <a:pPr fontAlgn="t"/>
            <a:r>
              <a:rPr lang="es-ES" sz="882" b="0" i="0" strike="noStrike" cap="none" baseline="0">
                <a:solidFill>
                  <a:srgbClr val="000000"/>
                </a:solidFill>
                <a:effectLst/>
                <a:latin typeface="Segoe UI Light"/>
                <a:ea typeface="Segoe UI Light"/>
                <a:cs typeface="Segoe UI Light"/>
              </a:rPr>
              <a:t>Menciona las diferencias de autenticación: Foundry Project usa Microsoft Entra ID; Azure OpenAI puede usar Entra ID o clave de API. Resalta la fila "API de chat": limitaciones de API de respuestas/disponibilidad frente a amplitud de Respuestas/ChatCompletions. Sugerencia del instructor: los alumnos suelen mezclar puntos de conexión y SDK; repite: "La elección de puntos de conexión determina la autenticación y la superficie de la API".</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Al mostrar código, explica lo que hace cada cliente (cliente de proyecto → obtener cliente OpenAI).</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20</a:t>
            </a:fld>
            <a:endParaRPr lang="en-US"/>
          </a:p>
        </p:txBody>
      </p:sp>
    </p:spTree>
    <p:extLst>
      <p:ext uri="{BB962C8B-B14F-4D97-AF65-F5344CB8AC3E}">
        <p14:creationId xmlns:p14="http://schemas.microsoft.com/office/powerpoint/2010/main" val="3031590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Explica el patrón: la API de respuestas admite varios turnos mediante el seguimiento de previous_response_id. Aclara qué observar en el código: las instrucciones establecen el comportamiento ("asistente de IA útil...").</a:t>
            </a:r>
          </a:p>
          <a:p>
            <a:pPr fontAlgn="t"/>
            <a:r>
              <a:rPr lang="es-ES" sz="882" b="0" i="0" strike="noStrike" cap="none" baseline="0">
                <a:solidFill>
                  <a:srgbClr val="000000"/>
                </a:solidFill>
                <a:effectLst/>
                <a:latin typeface="Segoe UI Light"/>
                <a:ea typeface="Segoe UI Light"/>
                <a:cs typeface="Segoe UI Light"/>
              </a:rPr>
              <a:t>previous_response_id lleva la continuidad de la conversación.</a:t>
            </a:r>
          </a:p>
          <a:p>
            <a:pPr fontAlgn="t"/>
            <a:r>
              <a:rPr lang="es-ES" sz="882" b="0" i="0" strike="noStrike" cap="none" baseline="0">
                <a:solidFill>
                  <a:srgbClr val="000000"/>
                </a:solidFill>
                <a:effectLst/>
                <a:latin typeface="Segoe UI Light"/>
                <a:ea typeface="Segoe UI Light"/>
                <a:cs typeface="Segoe UI Light"/>
              </a:rPr>
              <a:t>response.output_text es la manera simplificada de imprimir la salida final.</a:t>
            </a:r>
          </a:p>
          <a:p>
            <a:pPr fontAlgn="t"/>
            <a:r>
              <a:rPr lang="es-ES" sz="882" b="0" i="0" strike="noStrike" cap="none" baseline="0">
                <a:solidFill>
                  <a:srgbClr val="000000"/>
                </a:solidFill>
                <a:effectLst/>
                <a:latin typeface="Segoe UI Light"/>
                <a:ea typeface="Segoe UI Light"/>
                <a:cs typeface="Segoe UI Light"/>
              </a:rPr>
              <a:t>Sugerencia de enseñanza: resalta que este es el patrón "más reciente" que los alumnos verán cada vez más entre ejemplos.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21</a:t>
            </a:fld>
            <a:endParaRPr lang="en-US"/>
          </a:p>
        </p:txBody>
      </p:sp>
    </p:spTree>
    <p:extLst>
      <p:ext uri="{BB962C8B-B14F-4D97-AF65-F5344CB8AC3E}">
        <p14:creationId xmlns:p14="http://schemas.microsoft.com/office/powerpoint/2010/main" val="1219899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75339-4611-8CFA-F9D5-14017F5CCE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DDC907-6D68-3576-F64B-82FC4055F3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F82FB-A050-FE1F-16E7-6508335B410D}"/>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API de chatCompletions: el cliente administra el historial de conversaciones completo; la carga aumenta cada turno.</a:t>
            </a:r>
            <a:br>
              <a:rPr sz="882"/>
            </a:br>
            <a:r>
              <a:rPr lang="es-ES" sz="882" b="0" i="0" strike="noStrike" cap="none" baseline="0">
                <a:solidFill>
                  <a:srgbClr val="000000"/>
                </a:solidFill>
                <a:effectLst/>
                <a:latin typeface="Segoe UI Light"/>
                <a:ea typeface="Segoe UI Light"/>
                <a:cs typeface="Segoe UI Light"/>
              </a:rPr>
              <a:t>API de respuestas: el servidor administra el estado; la aplicación envía solo la entrada y el identificador de respuesta más recientes; la carga permanece constante.</a:t>
            </a:r>
            <a:br>
              <a:rPr sz="882"/>
            </a:br>
            <a:r>
              <a:rPr lang="es-ES" sz="882" b="0" i="0" strike="noStrike" cap="none" baseline="0">
                <a:solidFill>
                  <a:srgbClr val="000000"/>
                </a:solidFill>
                <a:effectLst/>
                <a:latin typeface="Segoe UI Light"/>
                <a:ea typeface="Segoe UI Light"/>
                <a:cs typeface="Segoe UI Light"/>
              </a:rPr>
              <a:t>Ambas API siguen: inicializar → llamada → obtener la salida → estado de actualización.</a:t>
            </a:r>
            <a:br>
              <a:rPr sz="882"/>
            </a:br>
            <a:r>
              <a:rPr lang="es-ES" sz="882" b="0" i="0" strike="noStrike" cap="none" baseline="0">
                <a:solidFill>
                  <a:srgbClr val="000000"/>
                </a:solidFill>
                <a:effectLst/>
                <a:latin typeface="Segoe UI Light"/>
                <a:ea typeface="Segoe UI Light"/>
                <a:cs typeface="Segoe UI Light"/>
              </a:rPr>
              <a:t>ChatCompletions = más control, más complejidad; Respuestas = más sencillas, recomendadas para las nuevas aplicaciones.</a:t>
            </a:r>
            <a:br>
              <a:rPr sz="882"/>
            </a:br>
            <a:r>
              <a:rPr lang="es-ES" sz="882" b="0" i="0" strike="noStrike" cap="none" baseline="0">
                <a:solidFill>
                  <a:srgbClr val="000000"/>
                </a:solidFill>
                <a:effectLst/>
                <a:latin typeface="Segoe UI Light"/>
                <a:ea typeface="Segoe UI Light"/>
                <a:cs typeface="Segoe UI Light"/>
              </a:rPr>
              <a:t>Conclusiones clave: priorizad la API de respuestas a menos que necesitéis un control de memoria personalizado.</a:t>
            </a:r>
          </a:p>
        </p:txBody>
      </p:sp>
      <p:sp>
        <p:nvSpPr>
          <p:cNvPr id="4" name="Header Placeholder 3">
            <a:extLst>
              <a:ext uri="{FF2B5EF4-FFF2-40B4-BE49-F238E27FC236}">
                <a16:creationId xmlns:a16="http://schemas.microsoft.com/office/drawing/2014/main" id="{FF96AB42-A09A-11D1-FFEF-8A13E817ED9F}"/>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962603D6-DAC6-1D2D-23B8-93306F7606ED}"/>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EE190E38-F07B-E89B-59C6-F2C4D6F15212}"/>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83860EF4-7C80-5A01-7837-71C8105FFAF4}"/>
              </a:ext>
            </a:extLst>
          </p:cNvPr>
          <p:cNvSpPr>
            <a:spLocks noGrp="1"/>
          </p:cNvSpPr>
          <p:nvPr>
            <p:ph type="sldNum" sz="quarter" idx="5"/>
          </p:nvPr>
        </p:nvSpPr>
        <p:spPr/>
        <p:txBody>
          <a:bodyPr/>
          <a:lstStyle/>
          <a:p>
            <a:fld id="{B4008EB6-D09E-4580-8CD6-DDB14511944F}" type="slidenum">
              <a:rPr lang="en-US" smtClean="0"/>
              <a:t>22</a:t>
            </a:fld>
            <a:endParaRPr lang="en-US"/>
          </a:p>
        </p:txBody>
      </p:sp>
    </p:spTree>
    <p:extLst>
      <p:ext uri="{BB962C8B-B14F-4D97-AF65-F5344CB8AC3E}">
        <p14:creationId xmlns:p14="http://schemas.microsoft.com/office/powerpoint/2010/main" val="972302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0B4A-79A9-A2D3-F148-8C75677B5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5B4DD-64E9-98C2-99C3-C6950F8FE9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0E008-17D1-4F3E-AA4A-414645D59FE1}"/>
              </a:ext>
            </a:extLst>
          </p:cNvPr>
          <p:cNvSpPr>
            <a:spLocks noGrp="1"/>
          </p:cNvSpPr>
          <p:nvPr>
            <p:ph type="body" idx="1"/>
          </p:nvPr>
        </p:nvSpPr>
        <p:spPr/>
        <p:txBody>
          <a:bodyPr/>
          <a:lstStyle/>
          <a:p>
            <a:pPr fontAlgn="t"/>
            <a:r>
              <a:rPr lang="en-US" sz="882" b="0" i="0" kern="1200">
                <a:solidFill>
                  <a:schemeClr val="tx1"/>
                </a:solidFill>
                <a:effectLst/>
                <a:latin typeface="Segoe UI Light" pitchFamily="34" charset="0"/>
                <a:ea typeface="+mn-ea"/>
                <a:cs typeface="+mn-cs"/>
              </a:rPr>
              <a:t>Explain the pattern: Responses API supports multi-turn by tracking previous_response_id. Clarify what to notice in code: instructions sets behavior (“helpful AI assistant…”).</a:t>
            </a:r>
          </a:p>
          <a:p>
            <a:pPr fontAlgn="t"/>
            <a:r>
              <a:rPr lang="en-US" sz="882" b="0" i="0" kern="1200" err="1">
                <a:solidFill>
                  <a:schemeClr val="tx1"/>
                </a:solidFill>
                <a:effectLst/>
                <a:latin typeface="Segoe UI Light" pitchFamily="34" charset="0"/>
                <a:ea typeface="+mn-ea"/>
                <a:cs typeface="+mn-cs"/>
              </a:rPr>
              <a:t>previous_response_id carries conversation continuity.</a:t>
            </a:r>
          </a:p>
          <a:p>
            <a:pPr fontAlgn="t"/>
            <a:r>
              <a:rPr lang="en-US" sz="882" b="0" i="0" kern="1200" err="1">
                <a:solidFill>
                  <a:schemeClr val="tx1"/>
                </a:solidFill>
                <a:effectLst/>
                <a:latin typeface="Segoe UI Light" pitchFamily="34" charset="0"/>
                <a:ea typeface="+mn-ea"/>
                <a:cs typeface="+mn-cs"/>
              </a:rPr>
              <a:t>response.output_text is the simplified way to print final output.</a:t>
            </a:r>
          </a:p>
          <a:p>
            <a:pPr fontAlgn="t"/>
            <a:r>
              <a:rPr lang="en-US" sz="882" b="0" i="0" kern="1200">
                <a:solidFill>
                  <a:schemeClr val="tx1"/>
                </a:solidFill>
                <a:effectLst/>
                <a:latin typeface="Segoe UI Light" pitchFamily="34" charset="0"/>
                <a:ea typeface="+mn-ea"/>
                <a:cs typeface="+mn-cs"/>
              </a:rPr>
              <a:t>Teaching tip: emphasize that this is the “newer” pattern learners will see increasingly across examples.</a:t>
            </a:r>
          </a:p>
          <a:p>
            <a:endParaRPr lang="en-US"/>
          </a:p>
        </p:txBody>
      </p:sp>
      <p:sp>
        <p:nvSpPr>
          <p:cNvPr id="4" name="Header Placeholder 3">
            <a:extLst>
              <a:ext uri="{FF2B5EF4-FFF2-40B4-BE49-F238E27FC236}">
                <a16:creationId xmlns:a16="http://schemas.microsoft.com/office/drawing/2014/main" id="{D100A802-5A7A-C04F-8B06-474A72D6E8CB}"/>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EB65088-534C-A838-0D8C-50AE7A0D15BC}"/>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E6712383-0FC1-A30D-D43F-5B771CC12531}"/>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F33912E6-ACE4-411A-57FC-5D3F4992DE51}"/>
              </a:ext>
            </a:extLst>
          </p:cNvPr>
          <p:cNvSpPr>
            <a:spLocks noGrp="1"/>
          </p:cNvSpPr>
          <p:nvPr>
            <p:ph type="sldNum" sz="quarter" idx="5"/>
          </p:nvPr>
        </p:nvSpPr>
        <p:spPr/>
        <p:txBody>
          <a:bodyPr/>
          <a:lstStyle/>
          <a:p>
            <a:fld id="{B4008EB6-D09E-4580-8CD6-DDB14511944F}" type="slidenum">
              <a:rPr lang="en-US" smtClean="0"/>
              <a:t>23</a:t>
            </a:fld>
            <a:endParaRPr lang="en-US"/>
          </a:p>
        </p:txBody>
      </p:sp>
    </p:spTree>
    <p:extLst>
      <p:ext uri="{BB962C8B-B14F-4D97-AF65-F5344CB8AC3E}">
        <p14:creationId xmlns:p14="http://schemas.microsoft.com/office/powerpoint/2010/main" val="1601968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Position this as the “messages array” pattern that many developers already know.</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Highlight the structure: system message → append user → request completion → append assistant.</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Trainer tip: explain that both patterns exist; your choice depends on endpoint/features and sample alignment.</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24</a:t>
            </a:fld>
            <a:endParaRPr lang="en-US"/>
          </a:p>
        </p:txBody>
      </p:sp>
    </p:spTree>
    <p:extLst>
      <p:ext uri="{BB962C8B-B14F-4D97-AF65-F5344CB8AC3E}">
        <p14:creationId xmlns:p14="http://schemas.microsoft.com/office/powerpoint/2010/main" val="2813860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0CFFD-BE21-23A9-1401-B0ED6D0379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157AF-A05A-E70F-C642-1202E4CD05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E77AD-3011-5B27-7A27-70FDC4824B3B}"/>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FDA969C3-AA1C-039D-2212-1E895C1DE8DA}"/>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777B68FC-CA67-DD94-AA11-9D411928F43F}"/>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17BAB5-8370-DF84-C1DB-42ADED6C0D2B}"/>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FB75012A-BC49-A50E-B649-334FAD3C89C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25</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569557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91F81-7467-BA88-75E4-88C541855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E6FB4-02E1-D72B-3E1D-E7018543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A47B2-FFD4-E18F-6353-1F9FFE72A2EC}"/>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C8D911C2-8FFD-9633-4624-783534FF31FB}"/>
              </a:ext>
            </a:extLst>
          </p:cNvPr>
          <p:cNvSpPr>
            <a:spLocks noGrp="1"/>
          </p:cNvSpPr>
          <p:nvPr>
            <p:ph type="sldNum" sz="quarter" idx="5"/>
          </p:nvPr>
        </p:nvSpPr>
        <p:spPr/>
        <p:txBody>
          <a:bodyPr/>
          <a:lstStyle/>
          <a:p>
            <a:fld id="{97E04F8E-88E9-481C-A2B3-C92BCE611EF5}" type="slidenum">
              <a:rPr lang="en-US" smtClean="0"/>
              <a:t>26</a:t>
            </a:fld>
            <a:endParaRPr lang="en-US"/>
          </a:p>
        </p:txBody>
      </p:sp>
    </p:spTree>
    <p:extLst>
      <p:ext uri="{BB962C8B-B14F-4D97-AF65-F5344CB8AC3E}">
        <p14:creationId xmlns:p14="http://schemas.microsoft.com/office/powerpoint/2010/main" val="3886623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445E8-A5C8-2719-8336-3FA50863C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303E0-62E4-1567-74DC-F79B38256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40884-EF11-D912-49EF-B6C325D13205}"/>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a:extLst>
              <a:ext uri="{FF2B5EF4-FFF2-40B4-BE49-F238E27FC236}">
                <a16:creationId xmlns:a16="http://schemas.microsoft.com/office/drawing/2014/main" id="{371226F1-32F4-C5DB-73FD-B389D34D3225}"/>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1373347-A04A-CE6E-FAF8-EAD64A4EA966}"/>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61C0C75-9A2A-F401-DD56-3131C1E8C096}"/>
              </a:ext>
            </a:extLst>
          </p:cNvPr>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a:extLst>
              <a:ext uri="{FF2B5EF4-FFF2-40B4-BE49-F238E27FC236}">
                <a16:creationId xmlns:a16="http://schemas.microsoft.com/office/drawing/2014/main" id="{4E7BE6CE-8B1A-3133-234C-CC724046376D}"/>
              </a:ext>
            </a:extLst>
          </p:cNvPr>
          <p:cNvSpPr>
            <a:spLocks noGrp="1"/>
          </p:cNvSpPr>
          <p:nvPr>
            <p:ph type="sldNum" sz="quarter" idx="5"/>
          </p:nvPr>
        </p:nvSpPr>
        <p:spPr/>
        <p:txBody>
          <a:bodyPr/>
          <a:lstStyle/>
          <a:p>
            <a:fld id="{B4008EB6-D09E-4580-8CD6-DDB14511944F}" type="slidenum">
              <a:rPr lang="en-US" smtClean="0"/>
              <a:t>27</a:t>
            </a:fld>
            <a:endParaRPr lang="en-US"/>
          </a:p>
        </p:txBody>
      </p:sp>
    </p:spTree>
    <p:extLst>
      <p:ext uri="{BB962C8B-B14F-4D97-AF65-F5344CB8AC3E}">
        <p14:creationId xmlns:p14="http://schemas.microsoft.com/office/powerpoint/2010/main" val="27255847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8F467-A3F4-FEB8-BE63-6DCFF474D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22EA2-1A19-AA59-1E8F-CD96FC888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ADAE1-A2D1-295C-A835-C2F9B07B8FD7}"/>
              </a:ext>
            </a:extLst>
          </p:cNvPr>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Definición simple: "Las herramientas permiten que el modelo llegue más allá de su límite de entrenamiento: recuperar información, ejecutar código, archivos de búsqueda, llamar a las funciones".</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Vinculación a la arquitectura de la aplicación: "La aplicación organiza llamadas a herramientas; el modelo decide cuándo usarlas (en función de lo que permitas)".</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Resalta las herramientas comunes enumeradas: code_interpreter, web_search, file_search, función.</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a:extLst>
              <a:ext uri="{FF2B5EF4-FFF2-40B4-BE49-F238E27FC236}">
                <a16:creationId xmlns:a16="http://schemas.microsoft.com/office/drawing/2014/main" id="{54440392-72A3-C289-0B5F-C9982C5FDFB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64F923B3-F64A-0C65-5AD0-5FE3F23B6166}"/>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F4C01D9F-A1F1-FFB2-91BD-23EFC3016D4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28</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4174403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ED24D-1ED5-5197-8E7D-AA9EE3F80B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CBE13-C3C3-191E-9F1E-D697C11762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402AD-874A-9E3F-3578-7B1CDE77E88B}"/>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lo que sucede: permitís que el modelo ejecute Python en un entorno de espacio aislado para resolver las tareas.</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Destaca el parámetro "herramientas" y la configuración del contenedor: así es como permites explícitamente las funcionalidades.</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 enseñanza: advierte a los alumnos de que no lo confundan con la ejecución local en su aplicación; es el entorno de ejecución de espacio aislado como parte de la cadena de herramientas del modelo.</a:t>
            </a:r>
          </a:p>
          <a:p>
            <a:endParaRPr lang="en-US"/>
          </a:p>
        </p:txBody>
      </p:sp>
      <p:sp>
        <p:nvSpPr>
          <p:cNvPr id="4" name="Header Placeholder 3">
            <a:extLst>
              <a:ext uri="{FF2B5EF4-FFF2-40B4-BE49-F238E27FC236}">
                <a16:creationId xmlns:a16="http://schemas.microsoft.com/office/drawing/2014/main" id="{F07E5912-1EDC-FDDC-F507-8DB368710628}"/>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31AD4CAE-F4C7-DD0D-5413-4D9EB3DDBC4B}"/>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F9F9669F-787B-B4F4-8B52-A6786226BEA6}"/>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F149AF04-0CC0-4029-82AE-4E9E51B35593}"/>
              </a:ext>
            </a:extLst>
          </p:cNvPr>
          <p:cNvSpPr>
            <a:spLocks noGrp="1"/>
          </p:cNvSpPr>
          <p:nvPr>
            <p:ph type="sldNum" sz="quarter" idx="5"/>
          </p:nvPr>
        </p:nvSpPr>
        <p:spPr/>
        <p:txBody>
          <a:bodyPr/>
          <a:lstStyle/>
          <a:p>
            <a:fld id="{B4008EB6-D09E-4580-8CD6-DDB14511944F}" type="slidenum">
              <a:rPr lang="en-US" smtClean="0"/>
              <a:t>29</a:t>
            </a:fld>
            <a:endParaRPr lang="en-US"/>
          </a:p>
        </p:txBody>
      </p:sp>
    </p:spTree>
    <p:extLst>
      <p:ext uri="{BB962C8B-B14F-4D97-AF65-F5344CB8AC3E}">
        <p14:creationId xmlns:p14="http://schemas.microsoft.com/office/powerpoint/2010/main" val="3472984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E1943-3740-7FCC-0CE9-2B47C9E8A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4DD9A-215E-DE23-E193-DBD518978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8CDA2-5A3F-1FF2-4973-172F4A8926CD}"/>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Mensaje clave: "Usad la búsqueda web cuando se requiera </a:t>
            </a:r>
            <a:r>
              <a:rPr lang="es-ES" sz="882" b="0" i="1" strike="noStrike" cap="none" baseline="0">
                <a:solidFill>
                  <a:srgbClr val="000000"/>
                </a:solidFill>
                <a:effectLst/>
                <a:latin typeface="Segoe UI Light"/>
                <a:ea typeface="Segoe UI Light"/>
                <a:cs typeface="Segoe UI Light"/>
              </a:rPr>
              <a:t>información actual</a:t>
            </a:r>
            <a:r>
              <a:rPr lang="es-ES" sz="882" b="0" i="0" strike="noStrike" cap="none" baseline="0">
                <a:solidFill>
                  <a:srgbClr val="000000"/>
                </a:solidFill>
                <a:effectLst/>
                <a:latin typeface="Segoe UI Light"/>
                <a:ea typeface="Segoe UI Light"/>
                <a:cs typeface="Segoe UI Light"/>
              </a:rPr>
              <a:t>; de lo contrario, os arriesgáis a obtener respuestas obsoletas".</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Resalta la habilitación explícita de herramientas: web_search.</a:t>
            </a:r>
            <a:endParaRPr lang="en-US" sz="882" b="0" i="0" kern="120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del instructor: conecta con escenarios reales (anuncios de productos, cambios de precios en directo, actualizaciones recientes de directivas).</a:t>
            </a:r>
          </a:p>
          <a:p>
            <a:endParaRPr lang="en-US"/>
          </a:p>
        </p:txBody>
      </p:sp>
      <p:sp>
        <p:nvSpPr>
          <p:cNvPr id="4" name="Header Placeholder 3">
            <a:extLst>
              <a:ext uri="{FF2B5EF4-FFF2-40B4-BE49-F238E27FC236}">
                <a16:creationId xmlns:a16="http://schemas.microsoft.com/office/drawing/2014/main" id="{5F83C276-5A91-2E99-7680-9AC6796FD504}"/>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98416D8F-C709-F53F-00B7-F44CE4DE87E9}"/>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0E66CEF8-9008-DB60-2F81-A641E2C4E387}"/>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9FCE2241-4C21-6C9F-6224-9F25F90CE2BD}"/>
              </a:ext>
            </a:extLst>
          </p:cNvPr>
          <p:cNvSpPr>
            <a:spLocks noGrp="1"/>
          </p:cNvSpPr>
          <p:nvPr>
            <p:ph type="sldNum" sz="quarter" idx="5"/>
          </p:nvPr>
        </p:nvSpPr>
        <p:spPr/>
        <p:txBody>
          <a:bodyPr/>
          <a:lstStyle/>
          <a:p>
            <a:fld id="{B4008EB6-D09E-4580-8CD6-DDB14511944F}" type="slidenum">
              <a:rPr lang="en-US" smtClean="0"/>
              <a:t>30</a:t>
            </a:fld>
            <a:endParaRPr lang="en-US"/>
          </a:p>
        </p:txBody>
      </p:sp>
    </p:spTree>
    <p:extLst>
      <p:ext uri="{BB962C8B-B14F-4D97-AF65-F5344CB8AC3E}">
        <p14:creationId xmlns:p14="http://schemas.microsoft.com/office/powerpoint/2010/main" val="17600873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E514-8684-8A79-7072-F2C092250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8543C-A0BB-7434-2594-DADCE2F28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65B906-4FDB-D3B6-281A-A97AE030DAD6}"/>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el patrón: crea un almacén de vectores → carga documentos → consulta mediante file_search hacer referencia a identificadores vector_store.</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Resalta citas: incluir include=["file_search_call.results"] admite la rastreabilidad en las salidas.</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 enseñanza: relaciona con los casos de uso empresarial: directivas de RR. HH., manuales de producto, SOP internos (esto es RAG en la práctica).</a:t>
            </a:r>
          </a:p>
          <a:p>
            <a:endParaRPr lang="en-US"/>
          </a:p>
        </p:txBody>
      </p:sp>
      <p:sp>
        <p:nvSpPr>
          <p:cNvPr id="4" name="Header Placeholder 3">
            <a:extLst>
              <a:ext uri="{FF2B5EF4-FFF2-40B4-BE49-F238E27FC236}">
                <a16:creationId xmlns:a16="http://schemas.microsoft.com/office/drawing/2014/main" id="{77E229B1-1AD4-C428-22A8-7DE1A6AB6E14}"/>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4848EBB9-511B-A292-7981-4E41ACBD5280}"/>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4AE05A1A-4237-700F-0CFD-41A1422A9D80}"/>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47E143C2-5555-28F4-ACBD-1A9244D96D8A}"/>
              </a:ext>
            </a:extLst>
          </p:cNvPr>
          <p:cNvSpPr>
            <a:spLocks noGrp="1"/>
          </p:cNvSpPr>
          <p:nvPr>
            <p:ph type="sldNum" sz="quarter" idx="5"/>
          </p:nvPr>
        </p:nvSpPr>
        <p:spPr/>
        <p:txBody>
          <a:bodyPr/>
          <a:lstStyle/>
          <a:p>
            <a:fld id="{B4008EB6-D09E-4580-8CD6-DDB14511944F}" type="slidenum">
              <a:rPr lang="en-US" smtClean="0"/>
              <a:t>31</a:t>
            </a:fld>
            <a:endParaRPr lang="en-US"/>
          </a:p>
        </p:txBody>
      </p:sp>
    </p:spTree>
    <p:extLst>
      <p:ext uri="{BB962C8B-B14F-4D97-AF65-F5344CB8AC3E}">
        <p14:creationId xmlns:p14="http://schemas.microsoft.com/office/powerpoint/2010/main" val="9948042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FECA6-3E22-5643-0740-2E880B3945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F7F2BA-0F97-F8F8-E91F-EE62E1922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796CFD-03F4-C2FB-F9C7-C4068C5EC213}"/>
              </a:ext>
            </a:extLst>
          </p:cNvPr>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Explica claramente la orquestación: el modelo propone una function_call</a:t>
            </a:r>
            <a:endParaRPr lang="en-US" sz="882" b="0" i="0" kern="1200">
              <a:solidFill>
                <a:schemeClr val="tx1"/>
              </a:solidFill>
              <a:effectLst/>
              <a:latin typeface="Segoe UI Light" pitchFamily="34" charset="0"/>
              <a:ea typeface="+mn-ea"/>
              <a:cs typeface="+mn-cs"/>
            </a:endParaRPr>
          </a:p>
          <a:p>
            <a:pPr fontAlgn="t"/>
            <a:r>
              <a:rPr lang="es-ES" sz="882" b="0" i="0" strike="noStrike" cap="none" baseline="0">
                <a:solidFill>
                  <a:srgbClr val="000000"/>
                </a:solidFill>
                <a:effectLst/>
                <a:latin typeface="Segoe UI Light"/>
                <a:ea typeface="Segoe UI Light"/>
                <a:cs typeface="Segoe UI Light"/>
              </a:rPr>
              <a:t>La aplicación ejecuta la función</a:t>
            </a:r>
          </a:p>
          <a:p>
            <a:pPr fontAlgn="t"/>
            <a:r>
              <a:rPr lang="es-ES" sz="882" b="0" i="0" strike="noStrike" cap="none" baseline="0">
                <a:solidFill>
                  <a:srgbClr val="000000"/>
                </a:solidFill>
                <a:effectLst/>
                <a:latin typeface="Segoe UI Light"/>
                <a:ea typeface="Segoe UI Light"/>
                <a:cs typeface="Segoe UI Light"/>
              </a:rPr>
              <a:t>Devuelve function_call_output</a:t>
            </a:r>
            <a:endParaRPr lang="en-US" sz="882" b="0" i="0" kern="1200">
              <a:solidFill>
                <a:schemeClr val="tx1"/>
              </a:solidFill>
              <a:effectLst/>
              <a:latin typeface="Segoe UI Light" pitchFamily="34" charset="0"/>
              <a:ea typeface="+mn-ea"/>
              <a:cs typeface="+mn-cs"/>
            </a:endParaRPr>
          </a:p>
          <a:p>
            <a:pPr fontAlgn="t"/>
            <a:r>
              <a:rPr lang="es-ES" sz="882" b="0" i="0" strike="noStrike" cap="none" baseline="0">
                <a:solidFill>
                  <a:srgbClr val="000000"/>
                </a:solidFill>
                <a:effectLst/>
                <a:latin typeface="Segoe UI Light"/>
                <a:ea typeface="Segoe UI Light"/>
                <a:cs typeface="Segoe UI Light"/>
              </a:rPr>
              <a:t>El modelo devuelve la respuesta final orientada al usuario.</a:t>
            </a:r>
          </a:p>
          <a:p>
            <a:pPr fontAlgn="t"/>
            <a:r>
              <a:rPr lang="es-ES" sz="882" b="0" i="0" strike="noStrike" cap="none" baseline="0">
                <a:solidFill>
                  <a:srgbClr val="000000"/>
                </a:solidFill>
                <a:effectLst/>
                <a:latin typeface="Segoe UI Light"/>
                <a:ea typeface="Segoe UI Light"/>
                <a:cs typeface="Segoe UI Light"/>
              </a:rPr>
              <a:t>Subraya el aprendizaje clave: "El modelo no ejecuta mágicamente la función; lo haces tú".</a:t>
            </a:r>
          </a:p>
          <a:p>
            <a:pPr fontAlgn="t"/>
            <a:r>
              <a:rPr lang="es-ES" sz="882" b="0" i="0" strike="noStrike" cap="none" baseline="0">
                <a:solidFill>
                  <a:srgbClr val="000000"/>
                </a:solidFill>
                <a:effectLst/>
                <a:latin typeface="Segoe UI Light"/>
                <a:ea typeface="Segoe UI Light"/>
                <a:cs typeface="Segoe UI Light"/>
              </a:rPr>
              <a:t>Sugerencia del instructor: elige una función simple (tiempo, búsqueda, calculadora) para centrarte en el flujo de trabajo, no en la lógica de negocios.</a:t>
            </a:r>
          </a:p>
          <a:p>
            <a:endParaRPr lang="en-US"/>
          </a:p>
        </p:txBody>
      </p:sp>
      <p:sp>
        <p:nvSpPr>
          <p:cNvPr id="4" name="Header Placeholder 3">
            <a:extLst>
              <a:ext uri="{FF2B5EF4-FFF2-40B4-BE49-F238E27FC236}">
                <a16:creationId xmlns:a16="http://schemas.microsoft.com/office/drawing/2014/main" id="{FB599B11-C9AA-BAE0-90F1-3FAD6030566B}"/>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4D3A150B-4D6D-093E-DD07-76AD14BB752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a:extLst>
              <a:ext uri="{FF2B5EF4-FFF2-40B4-BE49-F238E27FC236}">
                <a16:creationId xmlns:a16="http://schemas.microsoft.com/office/drawing/2014/main" id="{B7022246-D77C-805F-0784-14A0BAB65357}"/>
              </a:ext>
            </a:extLst>
          </p:cNvPr>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a:extLst>
              <a:ext uri="{FF2B5EF4-FFF2-40B4-BE49-F238E27FC236}">
                <a16:creationId xmlns:a16="http://schemas.microsoft.com/office/drawing/2014/main" id="{3FE0738C-70B5-DB7D-9467-316B831E25AA}"/>
              </a:ext>
            </a:extLst>
          </p:cNvPr>
          <p:cNvSpPr>
            <a:spLocks noGrp="1"/>
          </p:cNvSpPr>
          <p:nvPr>
            <p:ph type="sldNum" sz="quarter" idx="5"/>
          </p:nvPr>
        </p:nvSpPr>
        <p:spPr/>
        <p:txBody>
          <a:bodyPr/>
          <a:lstStyle/>
          <a:p>
            <a:fld id="{B4008EB6-D09E-4580-8CD6-DDB14511944F}" type="slidenum">
              <a:rPr lang="en-US" smtClean="0"/>
              <a:t>32</a:t>
            </a:fld>
            <a:endParaRPr lang="en-US"/>
          </a:p>
        </p:txBody>
      </p:sp>
    </p:spTree>
    <p:extLst>
      <p:ext uri="{BB962C8B-B14F-4D97-AF65-F5344CB8AC3E}">
        <p14:creationId xmlns:p14="http://schemas.microsoft.com/office/powerpoint/2010/main" val="7227671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Explain what’s happening: you’re allowing the model to run Python in a sandboxed environment to solve tasks.</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Emphasize the “tools” parameter and container settings—this is how you explicitly permit capabilities.</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Teaching tip: warn learners not to confuse this with local execution in their app; it’s sandboxed runtime as part of the model toolchain.</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33</a:t>
            </a:fld>
            <a:endParaRPr lang="en-US"/>
          </a:p>
        </p:txBody>
      </p:sp>
    </p:spTree>
    <p:extLst>
      <p:ext uri="{BB962C8B-B14F-4D97-AF65-F5344CB8AC3E}">
        <p14:creationId xmlns:p14="http://schemas.microsoft.com/office/powerpoint/2010/main" val="12556803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Key message: “Use web search when </a:t>
            </a:r>
            <a:r>
              <a:rPr lang="en-US" sz="882" b="0" i="1" kern="1200">
                <a:solidFill>
                  <a:schemeClr val="tx1"/>
                </a:solidFill>
                <a:effectLst/>
                <a:latin typeface="Segoe UI Light" pitchFamily="34" charset="0"/>
                <a:ea typeface="+mn-ea"/>
                <a:cs typeface="+mn-cs"/>
              </a:rPr>
              <a:t>current information</a:t>
            </a:r>
            <a:r>
              <a:rPr lang="en-US" sz="882" b="0" i="0" kern="1200">
                <a:solidFill>
                  <a:schemeClr val="tx1"/>
                </a:solidFill>
                <a:effectLst/>
                <a:latin typeface="Segoe UI Light" pitchFamily="34" charset="0"/>
                <a:ea typeface="+mn-ea"/>
                <a:cs typeface="+mn-cs"/>
              </a:rPr>
              <a:t> is required—otherwise you risk outdated answers.”</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Highlight the explicit tool enablement: web_search_preview.</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Trainer tip: connect to real scenarios: product announcements, live pricing changes, recent policy updates.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34</a:t>
            </a:fld>
            <a:endParaRPr lang="en-US"/>
          </a:p>
        </p:txBody>
      </p:sp>
    </p:spTree>
    <p:extLst>
      <p:ext uri="{BB962C8B-B14F-4D97-AF65-F5344CB8AC3E}">
        <p14:creationId xmlns:p14="http://schemas.microsoft.com/office/powerpoint/2010/main" val="6150563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Explain the pattern: create a vector store → upload docs → query using file_search referencing vector_store IDs.</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Emphasize citations: including include=["file_search_call.results"] supports traceability in outputs.</a:t>
            </a:r>
          </a:p>
          <a:p>
            <a:pPr marL="0" marR="0" lvl="0" indent="0" algn="l" defTabSz="914367" rtl="0" eaLnBrk="1" fontAlgn="auto" latinLnBrk="0" hangingPunct="1">
              <a:lnSpc>
                <a:spcPct val="90000"/>
              </a:lnSpc>
              <a:spcBef>
                <a:spcPct val="0"/>
              </a:spcBef>
              <a:spcAft>
                <a:spcPts val="333"/>
              </a:spcAft>
              <a:buClrTx/>
              <a:buSzTx/>
              <a:buFontTx/>
              <a:buNone/>
              <a:defRPr/>
            </a:pPr>
            <a:r>
              <a:rPr lang="en-US" sz="882" b="0" i="0" kern="1200">
                <a:solidFill>
                  <a:schemeClr val="tx1"/>
                </a:solidFill>
                <a:effectLst/>
                <a:latin typeface="Segoe UI Light" pitchFamily="34" charset="0"/>
                <a:ea typeface="+mn-ea"/>
                <a:cs typeface="+mn-cs"/>
              </a:rPr>
              <a:t>Teaching tip: relate to enterprise use cases: HR policies, product manuals, internal SOPs—this is RAG in practice.</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35</a:t>
            </a:fld>
            <a:endParaRPr lang="en-US"/>
          </a:p>
        </p:txBody>
      </p:sp>
    </p:spTree>
    <p:extLst>
      <p:ext uri="{BB962C8B-B14F-4D97-AF65-F5344CB8AC3E}">
        <p14:creationId xmlns:p14="http://schemas.microsoft.com/office/powerpoint/2010/main" val="269301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882" b="0" i="0" kern="1200">
                <a:solidFill>
                  <a:schemeClr val="tx1"/>
                </a:solidFill>
                <a:effectLst/>
                <a:latin typeface="Segoe UI Light" pitchFamily="34" charset="0"/>
                <a:ea typeface="+mn-ea"/>
                <a:cs typeface="+mn-cs"/>
              </a:rPr>
              <a:t>Explain orchestration clearly: Model proposes a function_call</a:t>
            </a:r>
          </a:p>
          <a:p>
            <a:pPr fontAlgn="t"/>
            <a:r>
              <a:rPr lang="en-US" sz="882" b="0" i="0" kern="1200">
                <a:solidFill>
                  <a:schemeClr val="tx1"/>
                </a:solidFill>
                <a:effectLst/>
                <a:latin typeface="Segoe UI Light" pitchFamily="34" charset="0"/>
                <a:ea typeface="+mn-ea"/>
                <a:cs typeface="+mn-cs"/>
              </a:rPr>
              <a:t>Your app executes the function</a:t>
            </a:r>
          </a:p>
          <a:p>
            <a:pPr fontAlgn="t"/>
            <a:r>
              <a:rPr lang="en-US" sz="882" b="0" i="0" kern="1200">
                <a:solidFill>
                  <a:schemeClr val="tx1"/>
                </a:solidFill>
                <a:effectLst/>
                <a:latin typeface="Segoe UI Light" pitchFamily="34" charset="0"/>
                <a:ea typeface="+mn-ea"/>
                <a:cs typeface="+mn-cs"/>
              </a:rPr>
              <a:t>You send back function_call_output</a:t>
            </a:r>
          </a:p>
          <a:p>
            <a:pPr fontAlgn="t"/>
            <a:r>
              <a:rPr lang="en-US" sz="882" b="0" i="0" kern="1200">
                <a:solidFill>
                  <a:schemeClr val="tx1"/>
                </a:solidFill>
                <a:effectLst/>
                <a:latin typeface="Segoe UI Light" pitchFamily="34" charset="0"/>
                <a:ea typeface="+mn-ea"/>
                <a:cs typeface="+mn-cs"/>
              </a:rPr>
              <a:t>Model returns final user-facing answer</a:t>
            </a:r>
          </a:p>
          <a:p>
            <a:pPr fontAlgn="t"/>
            <a:r>
              <a:rPr lang="en-US" sz="882" b="0" i="0" kern="1200">
                <a:solidFill>
                  <a:schemeClr val="tx1"/>
                </a:solidFill>
                <a:effectLst/>
                <a:latin typeface="Segoe UI Light" pitchFamily="34" charset="0"/>
                <a:ea typeface="+mn-ea"/>
                <a:cs typeface="+mn-cs"/>
              </a:rPr>
              <a:t>Stress the key learning: “The model doesn’t magically run your function—you do.”</a:t>
            </a:r>
          </a:p>
          <a:p>
            <a:pPr fontAlgn="t"/>
            <a:r>
              <a:rPr lang="en-US" sz="882" b="0" i="0" kern="1200">
                <a:solidFill>
                  <a:schemeClr val="tx1"/>
                </a:solidFill>
                <a:effectLst/>
                <a:latin typeface="Segoe UI Light" pitchFamily="34" charset="0"/>
                <a:ea typeface="+mn-ea"/>
                <a:cs typeface="+mn-cs"/>
              </a:rPr>
              <a:t>Trainer tip: pick a simple function (time, lookup, calculator) to keep focus on the workflow, not business logic.</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55E12198-D52A-4604-A7DE-05A0E5E96698}" type="datetime8">
              <a:rPr lang="en-US" smtClean="0"/>
              <a:t>5/26/2026 2:00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36</a:t>
            </a:fld>
            <a:endParaRPr lang="en-US"/>
          </a:p>
        </p:txBody>
      </p:sp>
    </p:spTree>
    <p:extLst>
      <p:ext uri="{BB962C8B-B14F-4D97-AF65-F5344CB8AC3E}">
        <p14:creationId xmlns:p14="http://schemas.microsoft.com/office/powerpoint/2010/main" val="578716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68319-19FE-BB46-4654-97092FF3E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B94ED0-1F9F-163F-C7BF-4AE6A2C85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FB543D-07B3-37C5-1914-0C9590A9D21A}"/>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BA474579-2E0A-0609-2DB5-9E8B3B68542F}"/>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8D39E10A-A674-EAE2-50D8-E7AA678EEC50}"/>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986BBA31-9738-ABB0-7F42-1E1C9FC10FC9}"/>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2512ECFB-B3DE-F0FA-D83D-DA3F35B6D51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37</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2125035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8BC74-A7FA-EEE6-BAD7-29DD3A336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807FE-260F-E58B-3465-809F89910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93855-D083-4736-5593-D3395D12CA58}"/>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DA5AFAD8-45EA-C2D7-4A6B-D023B9E26135}"/>
              </a:ext>
            </a:extLst>
          </p:cNvPr>
          <p:cNvSpPr>
            <a:spLocks noGrp="1"/>
          </p:cNvSpPr>
          <p:nvPr>
            <p:ph type="sldNum" sz="quarter" idx="5"/>
          </p:nvPr>
        </p:nvSpPr>
        <p:spPr/>
        <p:txBody>
          <a:bodyPr/>
          <a:lstStyle/>
          <a:p>
            <a:fld id="{97E04F8E-88E9-481C-A2B3-C92BCE611EF5}" type="slidenum">
              <a:rPr lang="en-US" smtClean="0"/>
              <a:t>38</a:t>
            </a:fld>
            <a:endParaRPr lang="en-US"/>
          </a:p>
        </p:txBody>
      </p:sp>
    </p:spTree>
    <p:extLst>
      <p:ext uri="{BB962C8B-B14F-4D97-AF65-F5344CB8AC3E}">
        <p14:creationId xmlns:p14="http://schemas.microsoft.com/office/powerpoint/2010/main" val="41229294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1ACE-21B9-5DD1-1698-1CB556722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037727-EAE2-A56C-A3CE-DB0AD52F4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DA23D0-9D57-4EE2-BF1B-2DDA8C2F5A69}"/>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a:extLst>
              <a:ext uri="{FF2B5EF4-FFF2-40B4-BE49-F238E27FC236}">
                <a16:creationId xmlns:a16="http://schemas.microsoft.com/office/drawing/2014/main" id="{EB6557ED-F2A7-FAD4-9CB3-1474FF30F121}"/>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8D4E5077-9262-B7EC-E53E-6145DB2EE95D}"/>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7AD0CA57-5511-3AA2-5236-A0331DF3D357}"/>
              </a:ext>
            </a:extLst>
          </p:cNvPr>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a:extLst>
              <a:ext uri="{FF2B5EF4-FFF2-40B4-BE49-F238E27FC236}">
                <a16:creationId xmlns:a16="http://schemas.microsoft.com/office/drawing/2014/main" id="{7E70D677-6812-C17A-4DC5-519A3EA8432C}"/>
              </a:ext>
            </a:extLst>
          </p:cNvPr>
          <p:cNvSpPr>
            <a:spLocks noGrp="1"/>
          </p:cNvSpPr>
          <p:nvPr>
            <p:ph type="sldNum" sz="quarter" idx="5"/>
          </p:nvPr>
        </p:nvSpPr>
        <p:spPr/>
        <p:txBody>
          <a:bodyPr/>
          <a:lstStyle/>
          <a:p>
            <a:fld id="{B4008EB6-D09E-4580-8CD6-DDB14511944F}" type="slidenum">
              <a:rPr lang="en-US" smtClean="0"/>
              <a:t>39</a:t>
            </a:fld>
            <a:endParaRPr lang="en-US"/>
          </a:p>
        </p:txBody>
      </p:sp>
    </p:spTree>
    <p:extLst>
      <p:ext uri="{BB962C8B-B14F-4D97-AF65-F5344CB8AC3E}">
        <p14:creationId xmlns:p14="http://schemas.microsoft.com/office/powerpoint/2010/main" val="40258707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cada uno de los dos cubos:</a:t>
            </a:r>
          </a:p>
          <a:p>
            <a:pPr fontAlgn="t"/>
            <a:r>
              <a:rPr lang="es-ES" sz="882" b="1" i="0" strike="noStrike" cap="none" baseline="0">
                <a:solidFill>
                  <a:srgbClr val="000000"/>
                </a:solidFill>
                <a:effectLst/>
                <a:latin typeface="Segoe UI Light"/>
                <a:ea typeface="Segoe UI Light"/>
                <a:cs typeface="Segoe UI Light"/>
              </a:rPr>
              <a:t>Optimización del contexto</a:t>
            </a:r>
            <a:r>
              <a:rPr lang="es-ES" sz="882" b="0" i="0" strike="noStrike" cap="none" baseline="0">
                <a:solidFill>
                  <a:srgbClr val="000000"/>
                </a:solidFill>
                <a:effectLst/>
                <a:latin typeface="Segoe UI Light"/>
                <a:ea typeface="Segoe UI Light"/>
                <a:cs typeface="Segoe UI Light"/>
              </a:rPr>
              <a:t>: cuando el modelo carece del conocimiento adecuado → usar RAG.</a:t>
            </a:r>
          </a:p>
          <a:p>
            <a:pPr fontAlgn="t"/>
            <a:r>
              <a:rPr lang="es-ES" sz="882" b="1" i="0" strike="noStrike" cap="none" baseline="0">
                <a:solidFill>
                  <a:srgbClr val="000000"/>
                </a:solidFill>
                <a:effectLst/>
                <a:latin typeface="Segoe UI Light"/>
                <a:ea typeface="Segoe UI Light"/>
                <a:cs typeface="Segoe UI Light"/>
              </a:rPr>
              <a:t>Optimización del modelo</a:t>
            </a:r>
            <a:r>
              <a:rPr lang="es-ES" sz="882" b="0" i="0" strike="noStrike" cap="none" baseline="0">
                <a:solidFill>
                  <a:srgbClr val="000000"/>
                </a:solidFill>
                <a:effectLst/>
                <a:latin typeface="Segoe UI Light"/>
                <a:ea typeface="Segoe UI Light"/>
                <a:cs typeface="Segoe UI Light"/>
              </a:rPr>
              <a:t>: cuando el comportamiento o el formato del modelo necesita coherencia → mensajes del sistema, indicaciones, ajuste preciso.</a:t>
            </a:r>
          </a:p>
          <a:p>
            <a:pPr fontAlgn="t"/>
            <a:r>
              <a:rPr lang="es-ES" sz="882" b="0" i="0" strike="noStrike" cap="none" baseline="0">
                <a:solidFill>
                  <a:srgbClr val="000000"/>
                </a:solidFill>
                <a:effectLst/>
                <a:latin typeface="Segoe UI Light"/>
                <a:ea typeface="Segoe UI Light"/>
                <a:cs typeface="Segoe UI Light"/>
              </a:rPr>
              <a:t>Proporciona a los alumnos un diagnóstico: "Si las respuestas son incorrectas → añadir fundamento. Si las respuestas son confusas o incoherentes → ajustar las indicaciones o ajustar".</a:t>
            </a:r>
          </a:p>
          <a:p>
            <a:endParaRPr lang="en-US"/>
          </a:p>
          <a:p>
            <a:r>
              <a:rPr lang="es-ES" sz="882" b="0" i="0" strike="noStrike" cap="none" baseline="0">
                <a:solidFill>
                  <a:srgbClr val="000000"/>
                </a:solidFill>
                <a:effectLst/>
                <a:latin typeface="Segoe UI Light"/>
                <a:ea typeface="Segoe UI Light"/>
                <a:cs typeface="Segoe UI Light"/>
              </a:rPr>
              <a:t>Como guía general, la mayoría de las soluciones se benefician principalmente de la ingeniería de mensajería. RAG es útil si tienes datos específicos del contexto que quieres que el modelo tenga en cuenta y el ajuste preciso se usa solo cuando no puedes lograr el tono y el estilo necesarios en las respuestas del modelo a través de la ingeniería de mensajería. En términos de coste, la ingeniería de mensajería incurre en el coste más bajo, seguido de RAG, ya que necesitas pagar por el almacenamiento de datos y el hospedaje de índices. Por último, el ajuste preciso suele ser la opción más costosa debido a la sobrecarga de proceso necesaria para realizar el entrenamiento.</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40</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5248443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Explica las indicaciones del sistema como "rol + restricciones + expectativas de formato de salida". Usa los patrones enumerados como andamios pedagógicos: patrón de plantilla de formato para el formato predecible.</a:t>
            </a:r>
          </a:p>
          <a:p>
            <a:pPr fontAlgn="t"/>
            <a:r>
              <a:rPr lang="es-ES" sz="882" b="0" i="0" strike="noStrike" cap="none" baseline="0">
                <a:solidFill>
                  <a:srgbClr val="000000"/>
                </a:solidFill>
                <a:effectLst/>
                <a:latin typeface="Segoe UI Light"/>
                <a:ea typeface="Segoe UI Light"/>
                <a:cs typeface="Segoe UI Light"/>
              </a:rPr>
              <a:t>Patrón de cadena de pensamiento (contextualización precisa) para tareas de razonamiento estructurado.</a:t>
            </a:r>
          </a:p>
          <a:p>
            <a:pPr fontAlgn="t"/>
            <a:r>
              <a:rPr lang="es-ES" sz="882" b="0" i="0" strike="noStrike" cap="none" baseline="0">
                <a:solidFill>
                  <a:srgbClr val="000000"/>
                </a:solidFill>
                <a:effectLst/>
                <a:latin typeface="Segoe UI Light"/>
                <a:ea typeface="Segoe UI Light"/>
                <a:cs typeface="Segoe UI Light"/>
              </a:rPr>
              <a:t>Aprendizaje de pocas capturas para la coherencia de clasificación y extracción.</a:t>
            </a:r>
          </a:p>
          <a:p>
            <a:pPr fontAlgn="t"/>
            <a:r>
              <a:rPr lang="es-ES" sz="882" b="0" i="0" strike="noStrike" cap="none" baseline="0">
                <a:solidFill>
                  <a:srgbClr val="000000"/>
                </a:solidFill>
                <a:effectLst/>
                <a:latin typeface="Segoe UI Light"/>
                <a:ea typeface="Segoe UI Light"/>
                <a:cs typeface="Segoe UI Light"/>
              </a:rPr>
              <a:t>Sugerencia del instructor: ilustra rápidamente una indicación de "antes y después" (misma pregunta, estructura diferente) para mostrar el impacto.</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41</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432047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Recorre el ciclo paso a paso: entrada del usuario → recuperar datos pertinentes → aumentar la indicación → generar una respuesta contextualizada.</a:t>
            </a:r>
          </a:p>
          <a:p>
            <a:pPr fontAlgn="t"/>
            <a:r>
              <a:rPr lang="es-ES" sz="882" b="0" i="0" strike="noStrike" cap="none" baseline="0">
                <a:solidFill>
                  <a:srgbClr val="000000"/>
                </a:solidFill>
                <a:effectLst/>
                <a:latin typeface="Segoe UI Light"/>
                <a:ea typeface="Segoe UI Light"/>
                <a:cs typeface="Segoe UI Light"/>
              </a:rPr>
              <a:t>Explica el "índice basado en vectores" en un nivel alto: "Los tokens de texto se representan como vectores para que podamos recuperar fragmentos semánticamente relevantes".</a:t>
            </a:r>
          </a:p>
          <a:p>
            <a:pPr fontAlgn="t"/>
            <a:r>
              <a:rPr lang="es-ES" sz="882" b="0" i="0" strike="noStrike" cap="none" baseline="0">
                <a:solidFill>
                  <a:srgbClr val="000000"/>
                </a:solidFill>
                <a:effectLst/>
                <a:latin typeface="Segoe UI Light"/>
                <a:ea typeface="Segoe UI Light"/>
                <a:cs typeface="Segoe UI Light"/>
              </a:rPr>
              <a:t>Sugerencia de enseñanza: enfatiza el objetivo de la fundamentación ("La respuesta debe alinearse con las fuentes recuperadas, sin suposiciones").</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42</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3099113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Habla del ajuste correcto: "El ajuste correcto se hace para obtener un tono, estilo y estructura de salida más coherentes, no para 'aprender por arte de magia todos los hechos'".</a:t>
            </a:r>
          </a:p>
          <a:p>
            <a:pPr fontAlgn="t"/>
            <a:r>
              <a:rPr lang="es-ES" sz="882" b="0" i="0" strike="noStrike" cap="none" baseline="0">
                <a:solidFill>
                  <a:srgbClr val="000000"/>
                </a:solidFill>
                <a:effectLst/>
                <a:latin typeface="Segoe UI Light"/>
                <a:ea typeface="Segoe UI Light"/>
                <a:cs typeface="Segoe UI Light"/>
              </a:rPr>
              <a:t>Explica las entradas: ejemplos de indicaciones y respuestas preferidas → salida es un modelo optimizado que se comporta de forma más coherente.</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43</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9339373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3900-A42E-A6FC-BBD9-C32BE92F0B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C68D7-603F-E664-7F97-7F9AB364F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0201E-7A93-CB7E-0AB9-D597CE421127}"/>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B938D6F1-990F-0FD0-EE6D-D2BC5C5B3E0F}"/>
              </a:ext>
            </a:extLst>
          </p:cNvPr>
          <p:cNvSpPr>
            <a:spLocks noGrp="1"/>
          </p:cNvSpPr>
          <p:nvPr>
            <p:ph type="sldNum" sz="quarter" idx="5"/>
          </p:nvPr>
        </p:nvSpPr>
        <p:spPr/>
        <p:txBody>
          <a:bodyPr/>
          <a:lstStyle/>
          <a:p>
            <a:fld id="{97E04F8E-88E9-481C-A2B3-C92BCE611EF5}" type="slidenum">
              <a:rPr lang="en-US" smtClean="0"/>
              <a:t>44</a:t>
            </a:fld>
            <a:endParaRPr lang="en-US"/>
          </a:p>
        </p:txBody>
      </p:sp>
    </p:spTree>
    <p:extLst>
      <p:ext uri="{BB962C8B-B14F-4D97-AF65-F5344CB8AC3E}">
        <p14:creationId xmlns:p14="http://schemas.microsoft.com/office/powerpoint/2010/main" val="2733524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26D04-0824-A636-3CCA-DF98BC55D0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3F451-8E8E-6E7B-6FCA-5476DB554D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F4732-437C-C5F7-ADC9-513AE238B9FE}"/>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a:t>
            </a:r>
          </a:p>
        </p:txBody>
      </p:sp>
      <p:sp>
        <p:nvSpPr>
          <p:cNvPr id="4" name="Header Placeholder 3">
            <a:extLst>
              <a:ext uri="{FF2B5EF4-FFF2-40B4-BE49-F238E27FC236}">
                <a16:creationId xmlns:a16="http://schemas.microsoft.com/office/drawing/2014/main" id="{B5EB40E7-6200-CF8C-5068-5A6DE8D7DD0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C9E86A7-E8FC-3863-0056-45C6FF39CB80}"/>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79E8A92-8CB4-57CB-54BB-886A91F3F5A7}"/>
              </a:ext>
            </a:extLst>
          </p:cNvPr>
          <p:cNvSpPr>
            <a:spLocks noGrp="1"/>
          </p:cNvSpPr>
          <p:nvPr>
            <p:ph type="dt" idx="10"/>
          </p:nvPr>
        </p:nvSpPr>
        <p:spPr/>
        <p:txBody>
          <a:bodyPr/>
          <a:lstStyle/>
          <a:p>
            <a:fld id="{61486BA7-839C-4D2B-BD52-EF0BBA8433FD}" type="datetime8">
              <a:rPr lang="en-US" smtClean="0"/>
              <a:t>5/26/2026 2:00 PM</a:t>
            </a:fld>
            <a:endParaRPr lang="en-US"/>
          </a:p>
        </p:txBody>
      </p:sp>
      <p:sp>
        <p:nvSpPr>
          <p:cNvPr id="7" name="Slide Number Placeholder 6">
            <a:extLst>
              <a:ext uri="{FF2B5EF4-FFF2-40B4-BE49-F238E27FC236}">
                <a16:creationId xmlns:a16="http://schemas.microsoft.com/office/drawing/2014/main" id="{A75C255D-8B2A-3BB6-4208-BA53E4F694D9}"/>
              </a:ext>
            </a:extLst>
          </p:cNvPr>
          <p:cNvSpPr>
            <a:spLocks noGrp="1"/>
          </p:cNvSpPr>
          <p:nvPr>
            <p:ph type="sldNum" sz="quarter" idx="5"/>
          </p:nvPr>
        </p:nvSpPr>
        <p:spPr/>
        <p:txBody>
          <a:bodyPr/>
          <a:lstStyle/>
          <a:p>
            <a:fld id="{B4008EB6-D09E-4580-8CD6-DDB14511944F}" type="slidenum">
              <a:rPr lang="en-US" smtClean="0"/>
              <a:t>45</a:t>
            </a:fld>
            <a:endParaRPr lang="en-US"/>
          </a:p>
        </p:txBody>
      </p:sp>
    </p:spTree>
    <p:extLst>
      <p:ext uri="{BB962C8B-B14F-4D97-AF65-F5344CB8AC3E}">
        <p14:creationId xmlns:p14="http://schemas.microsoft.com/office/powerpoint/2010/main" val="12693146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Enseña el ciclo de vida: asigna daños relevantes para tu caso de uso.</a:t>
            </a:r>
          </a:p>
          <a:p>
            <a:pPr fontAlgn="t"/>
            <a:r>
              <a:rPr lang="es-ES" sz="882" b="0" i="0" strike="noStrike" cap="none" baseline="0">
                <a:solidFill>
                  <a:srgbClr val="000000"/>
                </a:solidFill>
                <a:effectLst/>
                <a:latin typeface="Segoe UI Light"/>
                <a:ea typeface="Segoe UI Light"/>
                <a:cs typeface="Segoe UI Light"/>
              </a:rPr>
              <a:t>Mídelos en salidas.</a:t>
            </a:r>
          </a:p>
          <a:p>
            <a:pPr fontAlgn="t"/>
            <a:r>
              <a:rPr lang="es-ES" sz="882" b="0" i="0" strike="noStrike" cap="none" baseline="0">
                <a:solidFill>
                  <a:srgbClr val="000000"/>
                </a:solidFill>
                <a:effectLst/>
                <a:latin typeface="Segoe UI Light"/>
                <a:ea typeface="Segoe UI Light"/>
                <a:cs typeface="Segoe UI Light"/>
              </a:rPr>
              <a:t>Mitiga entre capas (modelo, sistema de seguridad, mensaje del sistema/fundamentación, experiencia de usuario).</a:t>
            </a:r>
          </a:p>
          <a:p>
            <a:pPr fontAlgn="t"/>
            <a:r>
              <a:rPr lang="es-ES" sz="882" b="0" i="0" strike="noStrike" cap="none" baseline="0">
                <a:solidFill>
                  <a:srgbClr val="000000"/>
                </a:solidFill>
                <a:effectLst/>
                <a:latin typeface="Segoe UI Light"/>
                <a:ea typeface="Segoe UI Light"/>
                <a:cs typeface="Segoe UI Light"/>
              </a:rPr>
              <a:t>Administra de forma operativa con planes de preparación.</a:t>
            </a:r>
          </a:p>
          <a:p>
            <a:pPr fontAlgn="t"/>
            <a:r>
              <a:rPr lang="es-ES" sz="882" b="0" i="0" strike="noStrike" cap="none" baseline="0">
                <a:solidFill>
                  <a:srgbClr val="000000"/>
                </a:solidFill>
                <a:effectLst/>
                <a:latin typeface="Segoe UI Light"/>
                <a:ea typeface="Segoe UI Light"/>
                <a:cs typeface="Segoe UI Light"/>
              </a:rPr>
              <a:t>Sugerencia del instructor: aclara que la mitigación no es "un botón de alternancia", sino una defensa superpuesta.</a:t>
            </a:r>
          </a:p>
          <a:p>
            <a:endParaRPr lang="en-US"/>
          </a:p>
          <a:p>
            <a:r>
              <a:rPr lang="es-ES" sz="882" b="0" i="0" strike="noStrike" cap="none" baseline="0">
                <a:solidFill>
                  <a:srgbClr val="000000"/>
                </a:solidFill>
                <a:effectLst/>
                <a:latin typeface="Segoe UI Light"/>
                <a:ea typeface="Segoe UI Light"/>
                <a:cs typeface="Segoe UI Light"/>
              </a:rPr>
              <a:t>Al planear una solución de IA generativa, considera la posibilidad de usar una evaluación de impacto de IA responsable (https://msblogs.thesourcemediaassets.com/sites/5/2022/06/Microsoft-RAI-Impact-Assessment-Template.pdf) para documentar posibles daños y mitigaciones. </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46</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8552916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Explica los límites de protección como "controles que detectan o mitigan el riesgo".</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Define brevemente cada categoría en términos prácticos (violencia/odio/autolesión/ataques rápidos/ataques indirectos/destacados/material protegido/fundamentación/PII).</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Sugerencia de enseñanza: destaca "ataques rápidos" + "ataques indirectos" como especialmente relevantes para las aplicaciones de herramientas o RAG.</a:t>
            </a:r>
          </a:p>
          <a:p>
            <a:endParaRPr lang="en-US"/>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47</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7169187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D835-9064-5C2D-0E9D-378D5F34B6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2D4FB-A385-29AA-FFC1-F92E15BAC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6F316-91E9-D211-0BB2-6DDAB4783385}"/>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de Microsoft Foundry: los alumnos se convertirán en bastante expertos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51C509B7-9CB5-6858-73D1-9B499919AAE9}"/>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1AF0208F-9EA8-D6EF-E32C-1F3DCCEE817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89EA8E7-45BD-E1E8-FF6D-C42AA2BC0154}"/>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589140D1-365A-B3B4-32CA-E026D93838B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48</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1188286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1"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97E04F8E-88E9-481C-A2B3-C92BCE611EF5}"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49</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2354229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ct val="0"/>
              </a:spcBef>
              <a:spcAft>
                <a:spcPts val="340"/>
              </a:spcAft>
              <a:buClrTx/>
              <a:buSzTx/>
              <a:buFontTx/>
              <a:buNone/>
              <a:defRPr/>
            </a:pPr>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a:p>
            <a:pPr marL="0" marR="0" lvl="0" indent="0" algn="l" defTabSz="932742" rtl="0" eaLnBrk="1" fontAlgn="auto" latinLnBrk="0" hangingPunct="1">
              <a:lnSpc>
                <a:spcPct val="90000"/>
              </a:lnSpc>
              <a:spcBef>
                <a:spcPct val="0"/>
              </a:spcBef>
              <a:spcAft>
                <a:spcPts val="340"/>
              </a:spcAft>
              <a:buClrTx/>
              <a:buSzTx/>
              <a:buFontTx/>
              <a:buNone/>
              <a:defRPr/>
            </a:pPr>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t>50</a:t>
            </a:fld>
            <a:endParaRPr lang="en-US"/>
          </a:p>
        </p:txBody>
      </p:sp>
    </p:spTree>
    <p:extLst>
      <p:ext uri="{BB962C8B-B14F-4D97-AF65-F5344CB8AC3E}">
        <p14:creationId xmlns:p14="http://schemas.microsoft.com/office/powerpoint/2010/main" val="22098689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2:00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57</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estudiantes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58</a:t>
            </a:fld>
            <a:endParaRPr lang="en-US"/>
          </a:p>
        </p:txBody>
      </p:sp>
    </p:spTree>
    <p:extLst>
      <p:ext uri="{BB962C8B-B14F-4D97-AF65-F5344CB8AC3E}">
        <p14:creationId xmlns:p14="http://schemas.microsoft.com/office/powerpoint/2010/main" val="17815793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Repase el recorrido: proyecto Foundry → selección/implementación del modelo → punto de conexión/SDK → desarrollo de aplicaciones de chat→ optimización → IA responsable.</a:t>
            </a:r>
          </a:p>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Invita preguntas en tres cubos: "plataforma/configuración", "codificación/opciones de API", "seguridad/operaciones".</a:t>
            </a:r>
          </a:p>
          <a:p>
            <a:endParaRPr lang="en-US"/>
          </a:p>
        </p:txBody>
      </p:sp>
      <p:sp>
        <p:nvSpPr>
          <p:cNvPr id="4" name="Slide Number Placeholder 3"/>
          <p:cNvSpPr>
            <a:spLocks noGrp="1"/>
          </p:cNvSpPr>
          <p:nvPr>
            <p:ph type="sldNum" sz="quarter" idx="5"/>
          </p:nvPr>
        </p:nvSpPr>
        <p:spPr/>
        <p:txBody>
          <a:bodyPr/>
          <a:lstStyle/>
          <a:p>
            <a:fld id="{97E04F8E-88E9-481C-A2B3-C92BCE611EF5}" type="slidenum">
              <a:rPr lang="en-US" smtClean="0"/>
              <a:t>59</a:t>
            </a:fld>
            <a:endParaRPr lang="en-US"/>
          </a:p>
        </p:txBody>
      </p:sp>
    </p:spTree>
    <p:extLst>
      <p:ext uri="{BB962C8B-B14F-4D97-AF65-F5344CB8AC3E}">
        <p14:creationId xmlns:p14="http://schemas.microsoft.com/office/powerpoint/2010/main" val="17132694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69332"/>
          </a:xfrm>
        </p:spPr>
        <p:txBody>
          <a:bodyPr/>
          <a:lstStyle>
            <a:lvl1pPr>
              <a:defRPr sz="24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507831"/>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2400" b="0" i="0" u="none" strike="noStrike" cap="none" normalizeH="0">
                <a:ln>
                  <a:noFill/>
                </a:ln>
                <a:solidFill>
                  <a:srgbClr val="FFFFFF"/>
                </a:solidFill>
                <a:effectLst/>
                <a:uLnTx/>
                <a:uFillTx/>
                <a:latin typeface="+mj-lt"/>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10;&#10;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baseline="0">
                <a:solidFill>
                  <a:schemeClr val="bg1"/>
                </a:solidFill>
                <a:latin typeface="+mn-lt"/>
                <a:cs typeface="Segoe UI"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a:p>
        </p:txBody>
      </p:sp>
    </p:spTree>
    <p:extLst>
      <p:ext uri="{BB962C8B-B14F-4D97-AF65-F5344CB8AC3E}">
        <p14:creationId xmlns:p14="http://schemas.microsoft.com/office/powerpoint/2010/main" val="5573570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10;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a:ext>
            </a:extLst>
          </a:blip>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25226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406923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595231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2">
            <a:extLst>
              <a:ext uri="{FF2B5EF4-FFF2-40B4-BE49-F238E27FC236}">
                <a16:creationId xmlns:a16="http://schemas.microsoft.com/office/drawing/2014/main" id="{30CE1C06-CE73-35A4-7250-D6F06A2DC77B}"/>
              </a:ext>
            </a:extLst>
          </p:cNvPr>
          <p:cNvSpPr>
            <a:spLocks noGrp="1"/>
          </p:cNvSpPr>
          <p:nvPr>
            <p:ph type="body" idx="1"/>
          </p:nvPr>
        </p:nvSpPr>
        <p:spPr>
          <a:xfrm>
            <a:off x="569911" y="4354130"/>
            <a:ext cx="6345239" cy="799761"/>
          </a:xfrm>
        </p:spPr>
        <p:txBody>
          <a:bodyPr/>
          <a:lstStyle/>
          <a:p>
            <a:endParaRPr lang="en-IN"/>
          </a:p>
        </p:txBody>
      </p:sp>
    </p:spTree>
    <p:extLst>
      <p:ext uri="{BB962C8B-B14F-4D97-AF65-F5344CB8AC3E}">
        <p14:creationId xmlns:p14="http://schemas.microsoft.com/office/powerpoint/2010/main" val="3140002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963953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495886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3066572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043652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7504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330515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433638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9598778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column_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5" name="Content Placeholder 14">
            <a:extLst>
              <a:ext uri="{FF2B5EF4-FFF2-40B4-BE49-F238E27FC236}">
                <a16:creationId xmlns:a16="http://schemas.microsoft.com/office/drawing/2014/main" id="{4C0B0C3E-AEAA-0C79-829D-3E69784567F3}"/>
              </a:ext>
            </a:extLst>
          </p:cNvPr>
          <p:cNvSpPr>
            <a:spLocks noGrp="1"/>
          </p:cNvSpPr>
          <p:nvPr>
            <p:ph sz="quarter" idx="21"/>
          </p:nvPr>
        </p:nvSpPr>
        <p:spPr>
          <a:xfrm>
            <a:off x="579438" y="1590675"/>
            <a:ext cx="5224462" cy="4477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6" name="Content Placeholder 14">
            <a:extLst>
              <a:ext uri="{FF2B5EF4-FFF2-40B4-BE49-F238E27FC236}">
                <a16:creationId xmlns:a16="http://schemas.microsoft.com/office/drawing/2014/main" id="{9B0DC8F8-0ADC-59D6-F653-BED6DEED3E23}"/>
              </a:ext>
            </a:extLst>
          </p:cNvPr>
          <p:cNvSpPr>
            <a:spLocks noGrp="1"/>
          </p:cNvSpPr>
          <p:nvPr>
            <p:ph sz="quarter" idx="22"/>
          </p:nvPr>
        </p:nvSpPr>
        <p:spPr>
          <a:xfrm>
            <a:off x="6253664" y="1588073"/>
            <a:ext cx="5224462" cy="44802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14714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168837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0791474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815740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79646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9351809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5134190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1005372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2003417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943295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812627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415012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59852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55391414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2990686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107828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7336729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1986268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96871091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5273611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306512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0818427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69395945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1999" b="0" i="0" u="none" strike="noStrike" cap="none" normalizeH="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6764216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6959658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116210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5801290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636015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93383456"/>
      </p:ext>
    </p:extLst>
  </p:cSld>
  <p:clrMapOvr>
    <a:masterClrMapping/>
  </p:clrMapOvr>
  <p:transition>
    <p:fade/>
  </p:transition>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5595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83242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4013422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Tree>
    <p:extLst>
      <p:ext uri="{BB962C8B-B14F-4D97-AF65-F5344CB8AC3E}">
        <p14:creationId xmlns:p14="http://schemas.microsoft.com/office/powerpoint/2010/main" val="15356728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343171"/>
          </a:xfrm>
          <a:prstGeom prst="rect">
            <a:avLst/>
          </a:prstGeom>
        </p:spPr>
        <p:txBody>
          <a:bodyPr wrap="square">
            <a:spAutoFit/>
          </a:bodyPr>
          <a:lstStyle>
            <a:lvl1pPr marL="215900" indent="-215900">
              <a:lnSpc>
                <a:spcPct val="100000"/>
              </a:lnSpc>
              <a:spcBef>
                <a:spcPct val="0"/>
              </a:spcBef>
              <a:spcAft>
                <a:spcPts val="1200"/>
              </a:spcAft>
              <a:buFont typeface="Arial" panose="020B0604020202020204" pitchFamily="34" charset="0"/>
              <a:buChar char="•"/>
              <a:defRPr sz="22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845335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ct val="0"/>
              </a:spcBef>
              <a:spcAft>
                <a:spcPts val="1200"/>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338554"/>
          </a:xfrm>
          <a:prstGeom prst="rect">
            <a:avLst/>
          </a:prstGeom>
        </p:spPr>
        <p:txBody>
          <a:bodyPr vert="horz" wrap="square" lIns="0" tIns="0" rIns="0" bIns="0" rtlCol="0">
            <a:spAutoFit/>
          </a:bodyPr>
          <a:lstStyle>
            <a:lvl1pPr>
              <a:defRPr lang="en-US" sz="2200"/>
            </a:lvl1pPr>
          </a:lstStyle>
          <a:p>
            <a:pPr marL="215900" lvl="0" indent="-215900">
              <a:spcBef>
                <a:spcPct val="0"/>
              </a:spcBef>
              <a:spcAft>
                <a:spcPts val="1200"/>
              </a:spcAft>
            </a:pPr>
            <a:r>
              <a:rPr lang="en-US"/>
              <a:t>Click to edit Master text styles</a:t>
            </a:r>
          </a:p>
        </p:txBody>
      </p:sp>
    </p:spTree>
    <p:extLst>
      <p:ext uri="{BB962C8B-B14F-4D97-AF65-F5344CB8AC3E}">
        <p14:creationId xmlns:p14="http://schemas.microsoft.com/office/powerpoint/2010/main" val="9748787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extLst>
                <a:ext uri="{28A0092B-C50C-407E-A947-70E740481C1C}">
                  <a14:useLocalDpi xmlns:a14="http://schemas.microsoft.com/office/drawing/2010/main"/>
                </a:ext>
              </a:extLst>
            </a:blip>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119823543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84200272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699491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338554"/>
          </a:xfrm>
          <a:prstGeom prst="rect">
            <a:avLst/>
          </a:prstGeom>
        </p:spPr>
        <p:txBody>
          <a:bodyPr anchor="t"/>
          <a:lstStyle>
            <a:lvl1pPr marL="0" indent="0">
              <a:spcBef>
                <a:spcPct val="0"/>
              </a:spcBef>
              <a:buNone/>
              <a:defRPr sz="22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384812370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338554"/>
          </a:xfrm>
          <a:prstGeom prst="rect">
            <a:avLst/>
          </a:prstGeom>
        </p:spPr>
        <p:txBody>
          <a:bodyPr anchor="t"/>
          <a:lstStyle>
            <a:lvl1pPr marL="0" indent="0">
              <a:spcBef>
                <a:spcPct val="0"/>
              </a:spcBef>
              <a:buNone/>
              <a:defRPr sz="2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65627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923929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338554"/>
          </a:xfrm>
          <a:prstGeom prst="rect">
            <a:avLst/>
          </a:prstGeom>
        </p:spPr>
        <p:txBody>
          <a:bodyPr anchor="t"/>
          <a:lstStyle>
            <a:lvl1pPr marL="0" indent="0">
              <a:spcBef>
                <a:spcPct val="0"/>
              </a:spcBef>
              <a:buNone/>
              <a:defRPr sz="22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338554"/>
          </a:xfrm>
          <a:prstGeom prst="rect">
            <a:avLst/>
          </a:prstGeom>
        </p:spPr>
        <p:txBody>
          <a:bodyPr anchor="t"/>
          <a:lstStyle>
            <a:lvl1pPr marL="0" indent="0">
              <a:spcBef>
                <a:spcPct val="0"/>
              </a:spcBef>
              <a:buNone/>
              <a:defRPr sz="22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542918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066123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81902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307777"/>
          </a:xfrm>
          <a:prstGeom prst="rect">
            <a:avLst/>
          </a:prstGeo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753405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0330937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6" y="2042154"/>
            <a:ext cx="12188952"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3" y="2995283"/>
            <a:ext cx="3479071" cy="307777"/>
          </a:xfrm>
          <a:prstGeom prst="rect">
            <a:avLst/>
          </a:prstGeom>
        </p:spPr>
        <p:txBody>
          <a:bodyPr anchor="t"/>
          <a:lstStyle>
            <a:lvl1pPr marL="0" indent="0" algn="ctr">
              <a:spcBef>
                <a:spcPct val="0"/>
              </a:spcBef>
              <a:buNone/>
              <a:defRPr sz="20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4200"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7547"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0893" y="3616497"/>
            <a:ext cx="347907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userDrawn="1"/>
        </p:nvSpPr>
        <p:spPr bwMode="auto">
          <a:xfrm>
            <a:off x="1843209" y="1542978"/>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ct val="0"/>
              </a:spcBef>
              <a:spcAft>
                <a:spcPct val="0"/>
              </a:spcAft>
              <a:buClrTx/>
              <a:buSzTx/>
              <a:buFontTx/>
              <a:buNone/>
              <a:defRPr/>
            </a:pPr>
            <a:endParaRPr kumimoji="0" lang="en-IN" sz="1600" b="0" i="0" u="none" strike="noStrike" kern="0" cap="none" spc="0" normalizeH="0" baseline="0" noProof="0">
              <a:ln>
                <a:noFill/>
              </a:ln>
              <a:solidFill>
                <a:srgbClr val="2F2F2F"/>
              </a:solidFill>
              <a:effectLst/>
              <a:uLnTx/>
              <a:uFillTx/>
              <a:cs typeface="Segoe UI"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userDrawn="1"/>
        </p:nvSpPr>
        <p:spPr bwMode="auto">
          <a:xfrm>
            <a:off x="5604535" y="1542978"/>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ct val="0"/>
              </a:spcBef>
              <a:spcAft>
                <a:spcPct val="0"/>
              </a:spcAft>
              <a:buClrTx/>
              <a:buSzTx/>
              <a:buFontTx/>
              <a:buNone/>
              <a:defRPr/>
            </a:pPr>
            <a:endParaRPr kumimoji="0" lang="en-IN" sz="1600" b="0" i="0" u="none" strike="noStrike" kern="0" cap="none" spc="0" normalizeH="0" baseline="0" noProof="0">
              <a:ln>
                <a:noFill/>
              </a:ln>
              <a:solidFill>
                <a:srgbClr val="2F2F2F"/>
              </a:solidFill>
              <a:effectLst/>
              <a:uLnTx/>
              <a:uFillTx/>
              <a:cs typeface="Segoe UI"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userDrawn="1"/>
        </p:nvSpPr>
        <p:spPr bwMode="auto">
          <a:xfrm>
            <a:off x="9365862" y="1542978"/>
            <a:ext cx="982928" cy="982928"/>
          </a:xfrm>
          <a:prstGeom prst="ellipse">
            <a:avLst/>
          </a:prstGeom>
          <a:solidFill>
            <a:srgbClr val="FFFFFF"/>
          </a:solidFill>
          <a:ln w="12700" cap="flat">
            <a:solidFill>
              <a:schemeClr val="bg1">
                <a:lumMod val="85000"/>
              </a:schemeClr>
            </a:solidFill>
            <a:miter lim="400000"/>
          </a:ln>
          <a:effectLst/>
        </p:spPr>
        <p:txBody>
          <a:bodyPr rot="0" spcFirstLastPara="1" vertOverflow="overflow" horzOverflow="overflow" vert="horz" wrap="square" lIns="50800" tIns="50800" rIns="50800" bIns="50800" numCol="1" spcCol="38100" rtlCol="0" anchor="ctr">
            <a:noAutofit/>
          </a:bodyPr>
          <a:lstStyle/>
          <a:p>
            <a:pPr marL="4571" marR="0" lvl="0" indent="0" defTabSz="412667" eaLnBrk="1" fontAlgn="auto" latinLnBrk="0" hangingPunct="1">
              <a:lnSpc>
                <a:spcPct val="100000"/>
              </a:lnSpc>
              <a:spcBef>
                <a:spcPct val="0"/>
              </a:spcBef>
              <a:spcAft>
                <a:spcPct val="0"/>
              </a:spcAft>
              <a:buClrTx/>
              <a:buSzTx/>
              <a:buFontTx/>
              <a:buNone/>
              <a:defRPr/>
            </a:pPr>
            <a:endParaRPr kumimoji="0" lang="en-IN" sz="1600" b="0" i="0" u="none" strike="noStrike" kern="0" cap="none" spc="0" normalizeH="0" baseline="0" noProof="0">
              <a:ln>
                <a:noFill/>
              </a:ln>
              <a:solidFill>
                <a:srgbClr val="2F2F2F"/>
              </a:solidFill>
              <a:effectLst/>
              <a:uLnTx/>
              <a:uFillTx/>
              <a:cs typeface="Segoe UI" pitchFamily="34" charset="0"/>
            </a:endParaRPr>
          </a:p>
        </p:txBody>
      </p:sp>
    </p:spTree>
    <p:extLst>
      <p:ext uri="{BB962C8B-B14F-4D97-AF65-F5344CB8AC3E}">
        <p14:creationId xmlns:p14="http://schemas.microsoft.com/office/powerpoint/2010/main" val="34566027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015630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18674797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6086730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306131269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Tree>
    <p:extLst>
      <p:ext uri="{BB962C8B-B14F-4D97-AF65-F5344CB8AC3E}">
        <p14:creationId xmlns:p14="http://schemas.microsoft.com/office/powerpoint/2010/main" val="222411990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41091515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492443"/>
          </a:xfrm>
        </p:spPr>
        <p:txBody>
          <a:bodyPr/>
          <a:lstStyle>
            <a:lvl1pPr>
              <a:defRPr sz="32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Tree>
    <p:extLst>
      <p:ext uri="{BB962C8B-B14F-4D97-AF65-F5344CB8AC3E}">
        <p14:creationId xmlns:p14="http://schemas.microsoft.com/office/powerpoint/2010/main" val="11562145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215444"/>
          </a:xfrm>
          <a:prstGeom prst="rect">
            <a:avLst/>
          </a:prstGeom>
        </p:spPr>
        <p:txBody>
          <a:bodyPr wrap="square">
            <a:spAutoFit/>
          </a:bodyPr>
          <a:lstStyle>
            <a:lvl1pPr marL="0" indent="0">
              <a:buFont typeface="Arial" panose="020B0604020202020204" pitchFamily="34" charset="0"/>
              <a:buNone/>
              <a:defRPr sz="14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8205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246221"/>
          </a:xfrm>
          <a:prstGeom prst="rect">
            <a:avLst/>
          </a:prstGeom>
        </p:spPr>
        <p:txBody>
          <a:bodyPr vert="horz" wrap="square" lIns="0" tIns="0" rIns="0" bIns="0" rtlCol="0" anchor="t">
            <a:spAutoFit/>
          </a:bodyPr>
          <a:lstStyle>
            <a:lvl1pPr>
              <a:defRPr lang="en-US">
                <a:latin typeface="+mj-lt"/>
              </a:defRPr>
            </a:lvl1pPr>
          </a:lstStyle>
          <a:p>
            <a:pPr marL="0" lvl="0" indent="0">
              <a:spcBef>
                <a:spcPct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246221"/>
          </a:xfrm>
          <a:prstGeom prst="rect">
            <a:avLst/>
          </a:prstGeom>
        </p:spPr>
        <p:txBody>
          <a:bodyPr vert="horz" wrap="square" lIns="0" tIns="0" rIns="0" bIns="0" rtlCol="0" anchor="t">
            <a:spAutoFit/>
          </a:bodyPr>
          <a:lstStyle>
            <a:lvl1pPr>
              <a:defRPr lang="en-US">
                <a:latin typeface="+mj-lt"/>
              </a:defRPr>
            </a:lvl1pPr>
          </a:lstStyle>
          <a:p>
            <a:pPr marL="0" lvl="0" indent="0">
              <a:spcBef>
                <a:spcPct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246221"/>
          </a:xfrm>
          <a:prstGeom prst="rect">
            <a:avLst/>
          </a:prstGeom>
        </p:spPr>
        <p:txBody>
          <a:bodyPr vert="horz" wrap="square" lIns="0" tIns="0" rIns="0" bIns="0" rtlCol="0" anchor="t">
            <a:spAutoFit/>
          </a:bodyPr>
          <a:lstStyle>
            <a:lvl1pPr>
              <a:defRPr lang="en-US">
                <a:latin typeface="+mj-lt"/>
              </a:defRPr>
            </a:lvl1pPr>
          </a:lstStyle>
          <a:p>
            <a:pPr marL="0" lvl="0" indent="0">
              <a:spcBef>
                <a:spcPct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215444"/>
          </a:xfrm>
          <a:prstGeom prst="rect">
            <a:avLst/>
          </a:prstGeom>
        </p:spPr>
        <p:txBody>
          <a:bodyPr vert="horz" wrap="square" lIns="0" tIns="0" rIns="0" bIns="0" rtlCol="0">
            <a:spAutoFit/>
          </a:bodyPr>
          <a:lstStyle>
            <a:lvl1pPr>
              <a:defRPr lang="en-US" sz="1400"/>
            </a:lvl1pPr>
          </a:lstStyle>
          <a:p>
            <a:pPr marL="0" lvl="0" indent="0">
              <a:buNone/>
            </a:pPr>
            <a:r>
              <a:rPr lang="en-US"/>
              <a:t>Click to edit Master text styles</a:t>
            </a:r>
          </a:p>
        </p:txBody>
      </p:sp>
    </p:spTree>
    <p:extLst>
      <p:ext uri="{BB962C8B-B14F-4D97-AF65-F5344CB8AC3E}">
        <p14:creationId xmlns:p14="http://schemas.microsoft.com/office/powerpoint/2010/main" val="213000027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ct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ct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ct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215444"/>
          </a:xfrm>
          <a:prstGeom prst="rect">
            <a:avLst/>
          </a:prstGeom>
        </p:spPr>
        <p:txBody>
          <a:bodyPr vert="horz" wrap="square" lIns="0" tIns="0" rIns="0" bIns="0" rtlCol="0" anchor="t">
            <a:spAutoFit/>
          </a:bodyPr>
          <a:lstStyle>
            <a:lvl1pPr>
              <a:defRPr lang="en-US" sz="1400">
                <a:latin typeface="+mj-lt"/>
              </a:defRPr>
            </a:lvl1pPr>
          </a:lstStyle>
          <a:p>
            <a:pPr marL="0" lvl="0" indent="0">
              <a:spcBef>
                <a:spcPct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84666"/>
          </a:xfrm>
          <a:prstGeom prst="rect">
            <a:avLst/>
          </a:prstGeom>
        </p:spPr>
        <p:txBody>
          <a:bodyPr vert="horz" wrap="square" lIns="0" tIns="0" rIns="0" bIns="0" rtlCol="0">
            <a:spAutoFit/>
          </a:bodyPr>
          <a:lstStyle>
            <a:lvl1pPr>
              <a:defRPr lang="en-US" sz="1200"/>
            </a:lvl1pPr>
          </a:lstStyle>
          <a:p>
            <a:pPr marL="0" lvl="0" indent="0">
              <a:buNone/>
            </a:pPr>
            <a:r>
              <a:rPr lang="en-US"/>
              <a:t>Click to edit Master text styles</a:t>
            </a:r>
          </a:p>
        </p:txBody>
      </p:sp>
    </p:spTree>
    <p:extLst>
      <p:ext uri="{BB962C8B-B14F-4D97-AF65-F5344CB8AC3E}">
        <p14:creationId xmlns:p14="http://schemas.microsoft.com/office/powerpoint/2010/main" val="5951788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6533399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5591792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userDrawn="1"/>
        </p:nvGrpSpPr>
        <p:grpSpPr>
          <a:xfrm>
            <a:off x="2563579" y="1585913"/>
            <a:ext cx="1110600" cy="111060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82099034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9" name="Group 8">
            <a:extLst>
              <a:ext uri="{FF2B5EF4-FFF2-40B4-BE49-F238E27FC236}">
                <a16:creationId xmlns:a16="http://schemas.microsoft.com/office/drawing/2014/main" id="{F260BCEF-BA8C-42B9-D1E6-EED60C93E5F0}"/>
              </a:ext>
            </a:extLst>
          </p:cNvPr>
          <p:cNvGrpSpPr/>
          <p:nvPr userDrawn="1"/>
        </p:nvGrpSpPr>
        <p:grpSpPr>
          <a:xfrm>
            <a:off x="2563579" y="1585913"/>
            <a:ext cx="1110600" cy="111060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extLst>
                <a:ext uri="{28A0092B-C50C-407E-A947-70E740481C1C}">
                  <a14:useLocalDpi xmlns:a14="http://schemas.microsoft.com/office/drawing/2010/main"/>
                </a:ext>
              </a:extLst>
            </a:blip>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37880500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p:nvPr userDrawn="1"/>
        </p:nvGrpSpPr>
        <p:grpSpPr>
          <a:xfrm>
            <a:off x="2563579" y="1585913"/>
            <a:ext cx="1110600" cy="111060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a:extLst>
                <a:ext uri="{28A0092B-C50C-407E-A947-70E740481C1C}">
                  <a14:useLocalDpi xmlns:a14="http://schemas.microsoft.com/office/drawing/2010/main"/>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9494192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userDrawn="1"/>
        </p:nvGrpSpPr>
        <p:grpSpPr>
          <a:xfrm>
            <a:off x="10112348" y="893763"/>
            <a:ext cx="1110600" cy="111060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extLst>
                <a:ext uri="{28A0092B-C50C-407E-A947-70E740481C1C}">
                  <a14:useLocalDpi xmlns:a14="http://schemas.microsoft.com/office/drawing/2010/main"/>
                </a:ext>
              </a:extLst>
            </a:blip>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2817919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userDrawn="1"/>
        </p:nvGrpSpPr>
        <p:grpSpPr>
          <a:xfrm>
            <a:off x="10107938" y="893763"/>
            <a:ext cx="1110600" cy="111060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a:extLst>
                <a:ext uri="{28A0092B-C50C-407E-A947-70E740481C1C}">
                  <a14:useLocalDpi xmlns:a14="http://schemas.microsoft.com/office/drawing/2010/main"/>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145596609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userDrawn="1"/>
        </p:nvSpPr>
        <p:spPr bwMode="auto">
          <a:xfrm>
            <a:off x="1071532" y="6337300"/>
            <a:ext cx="2667000" cy="2921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p:nvPr userDrawn="1"/>
        </p:nvSpPr>
        <p:spPr>
          <a:xfrm>
            <a:off x="4356100"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4021863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6170835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164297200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943799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09760962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889565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66421002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4"/>
            <a:ext cx="10074975" cy="4980039"/>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92459159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41898664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21866526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ct val="0"/>
              </a:spcAft>
              <a:buClrTx/>
              <a:buSzPct val="90000"/>
              <a:buFont typeface="Wingdings" panose="05000000000000000000" pitchFamily="2" charset="2"/>
              <a:buNone/>
              <a:defRPr/>
            </a:pPr>
            <a:endParaRPr kumimoji="0" lang="en-US" sz="16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Tree>
    <p:extLst>
      <p:ext uri="{BB962C8B-B14F-4D97-AF65-F5344CB8AC3E}">
        <p14:creationId xmlns:p14="http://schemas.microsoft.com/office/powerpoint/2010/main" val="2157860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userDrawn="1"/>
        </p:nvSpPr>
        <p:spPr>
          <a:xfrm>
            <a:off x="580398" y="1787281"/>
            <a:ext cx="10633034" cy="3638249"/>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numCol="1" spcCol="457200" rtlCol="0" anchor="t"/>
          <a:lstStyle/>
          <a:p>
            <a:pPr marL="0" marR="0" lvl="0" indent="0" algn="l" defTabSz="932742" rtl="0" eaLnBrk="1" fontAlgn="auto" latinLnBrk="0" hangingPunct="1">
              <a:lnSpc>
                <a:spcPct val="100000"/>
              </a:lnSpc>
              <a:spcBef>
                <a:spcPts val="1200"/>
              </a:spcBef>
              <a:spcAft>
                <a:spcPct val="0"/>
              </a:spcAft>
              <a:buClrTx/>
              <a:buSzPct val="90000"/>
              <a:buFont typeface="Wingdings" panose="05000000000000000000" pitchFamily="2" charset="2"/>
              <a:buNone/>
              <a:defRPr/>
            </a:pPr>
            <a:endParaRPr kumimoji="0" lang="en-US" sz="16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Tree>
    <p:extLst>
      <p:ext uri="{BB962C8B-B14F-4D97-AF65-F5344CB8AC3E}">
        <p14:creationId xmlns:p14="http://schemas.microsoft.com/office/powerpoint/2010/main" val="410865631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4491999" cy="630942"/>
          </a:xfrm>
          <a:gradFill flip="none" rotWithShape="1">
            <a:gsLst>
              <a:gs pos="0">
                <a:srgbClr val="000000"/>
              </a:gs>
              <a:gs pos="92000">
                <a:srgbClr val="000000"/>
              </a:gs>
              <a:gs pos="92000">
                <a:schemeClr val="accent3"/>
              </a:gs>
            </a:gsLst>
            <a:lin ang="16200000" scaled="1"/>
          </a:gradFill>
        </p:spPr>
        <p:txBody>
          <a:bodyPr vert="horz" wrap="square" lIns="585216" tIns="91440" rIns="585216" bIns="45720" rtlCol="0">
            <a:spAutoFit/>
          </a:bodyPr>
          <a:lstStyle>
            <a:lvl1pPr marL="0" indent="0">
              <a:buNone/>
              <a:defRPr kumimoji="0" lang="en-US" sz="3200" b="0" i="0" u="none" strike="noStrike" cap="none" normalizeH="0">
                <a:ln>
                  <a:noFill/>
                </a:ln>
                <a:solidFill>
                  <a:srgbClr val="FFFFFF"/>
                </a:solidFill>
                <a:effectLst/>
                <a:uLnTx/>
                <a:uFillTx/>
                <a:latin typeface="+mj-lt"/>
              </a:defRPr>
            </a:lvl1pPr>
          </a:lstStyle>
          <a:p>
            <a:pPr marL="228600" lvl="0" indent="-228600"/>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821962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984885"/>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157625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90134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592324"/>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11011602" cy="492443"/>
          </a:xfrm>
        </p:spPr>
        <p:txBody>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977122693"/>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492443"/>
          </a:xfrm>
        </p:spPr>
        <p:txBody>
          <a:bodyPr/>
          <a:lstStyle>
            <a:lvl1pPr algn="l" defTabSz="932742" rtl="0" eaLnBrk="1" latinLnBrk="0" hangingPunct="1">
              <a:lnSpc>
                <a:spcPct val="100000"/>
              </a:lnSpc>
              <a:spcBef>
                <a:spcPct val="0"/>
              </a:spcBef>
              <a:buNone/>
              <a:defRPr lang="en-US" sz="3200" b="0" i="0" kern="1200" cap="none" spc="0" baseline="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381572492"/>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23903047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969905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9" Type="http://schemas.openxmlformats.org/officeDocument/2006/relationships/slideLayout" Target="../slideLayouts/slideLayout80.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42" Type="http://schemas.openxmlformats.org/officeDocument/2006/relationships/slideLayout" Target="../slideLayouts/slideLayout83.xml"/><Relationship Id="rId7" Type="http://schemas.openxmlformats.org/officeDocument/2006/relationships/slideLayout" Target="../slideLayouts/slideLayout48.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41" Type="http://schemas.openxmlformats.org/officeDocument/2006/relationships/slideLayout" Target="../slideLayouts/slideLayout82.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37" Type="http://schemas.openxmlformats.org/officeDocument/2006/relationships/slideLayout" Target="../slideLayouts/slideLayout78.xml"/><Relationship Id="rId40" Type="http://schemas.openxmlformats.org/officeDocument/2006/relationships/slideLayout" Target="../slideLayouts/slideLayout81.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36" Type="http://schemas.openxmlformats.org/officeDocument/2006/relationships/slideLayout" Target="../slideLayouts/slideLayout77.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4" Type="http://schemas.openxmlformats.org/officeDocument/2006/relationships/theme" Target="../theme/theme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slideLayout" Target="../slideLayouts/slideLayout76.xml"/><Relationship Id="rId43" Type="http://schemas.openxmlformats.org/officeDocument/2006/relationships/slideLayout" Target="../slideLayouts/slideLayout84.xml"/><Relationship Id="rId8" Type="http://schemas.openxmlformats.org/officeDocument/2006/relationships/slideLayout" Target="../slideLayouts/slideLayout49.xml"/><Relationship Id="rId3" Type="http://schemas.openxmlformats.org/officeDocument/2006/relationships/slideLayout" Target="../slideLayouts/slideLayout44.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38" Type="http://schemas.openxmlformats.org/officeDocument/2006/relationships/slideLayout" Target="../slideLayouts/slideLayout7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9" Type="http://schemas.openxmlformats.org/officeDocument/2006/relationships/slideLayout" Target="../slideLayouts/slideLayout123.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42" Type="http://schemas.openxmlformats.org/officeDocument/2006/relationships/slideLayout" Target="../slideLayouts/slideLayout126.xml"/><Relationship Id="rId47" Type="http://schemas.openxmlformats.org/officeDocument/2006/relationships/slideLayout" Target="../slideLayouts/slideLayout131.xml"/><Relationship Id="rId50" Type="http://schemas.openxmlformats.org/officeDocument/2006/relationships/slideLayout" Target="../slideLayouts/slideLayout134.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9" Type="http://schemas.openxmlformats.org/officeDocument/2006/relationships/slideLayout" Target="../slideLayouts/slideLayout113.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slideLayout" Target="../slideLayouts/slideLayout121.xml"/><Relationship Id="rId40" Type="http://schemas.openxmlformats.org/officeDocument/2006/relationships/slideLayout" Target="../slideLayouts/slideLayout124.xml"/><Relationship Id="rId45" Type="http://schemas.openxmlformats.org/officeDocument/2006/relationships/slideLayout" Target="../slideLayouts/slideLayout129.xml"/><Relationship Id="rId53" Type="http://schemas.openxmlformats.org/officeDocument/2006/relationships/slideLayout" Target="../slideLayouts/slideLayout137.xml"/><Relationship Id="rId5" Type="http://schemas.openxmlformats.org/officeDocument/2006/relationships/slideLayout" Target="../slideLayouts/slideLayout89.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4" Type="http://schemas.openxmlformats.org/officeDocument/2006/relationships/slideLayout" Target="../slideLayouts/slideLayout128.xml"/><Relationship Id="rId52" Type="http://schemas.openxmlformats.org/officeDocument/2006/relationships/slideLayout" Target="../slideLayouts/slideLayout136.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slideLayout" Target="../slideLayouts/slideLayout119.xml"/><Relationship Id="rId43" Type="http://schemas.openxmlformats.org/officeDocument/2006/relationships/slideLayout" Target="../slideLayouts/slideLayout127.xml"/><Relationship Id="rId48" Type="http://schemas.openxmlformats.org/officeDocument/2006/relationships/slideLayout" Target="../slideLayouts/slideLayout132.xml"/><Relationship Id="rId8" Type="http://schemas.openxmlformats.org/officeDocument/2006/relationships/slideLayout" Target="../slideLayouts/slideLayout92.xml"/><Relationship Id="rId51" Type="http://schemas.openxmlformats.org/officeDocument/2006/relationships/slideLayout" Target="../slideLayouts/slideLayout135.xml"/><Relationship Id="rId3" Type="http://schemas.openxmlformats.org/officeDocument/2006/relationships/slideLayout" Target="../slideLayouts/slideLayout87.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slideLayout" Target="../slideLayouts/slideLayout122.xml"/><Relationship Id="rId46" Type="http://schemas.openxmlformats.org/officeDocument/2006/relationships/slideLayout" Target="../slideLayouts/slideLayout130.xml"/><Relationship Id="rId20" Type="http://schemas.openxmlformats.org/officeDocument/2006/relationships/slideLayout" Target="../slideLayouts/slideLayout104.xml"/><Relationship Id="rId41" Type="http://schemas.openxmlformats.org/officeDocument/2006/relationships/slideLayout" Target="../slideLayouts/slideLayout125.xml"/><Relationship Id="rId54" Type="http://schemas.openxmlformats.org/officeDocument/2006/relationships/theme" Target="../theme/theme3.xml"/><Relationship Id="rId1" Type="http://schemas.openxmlformats.org/officeDocument/2006/relationships/slideLayout" Target="../slideLayouts/slideLayout85.xml"/><Relationship Id="rId6" Type="http://schemas.openxmlformats.org/officeDocument/2006/relationships/slideLayout" Target="../slideLayouts/slideLayout90.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slideLayout" Target="../slideLayouts/slideLayout120.xml"/><Relationship Id="rId49"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69332"/>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6" r:id="rId22"/>
    <p:sldLayoutId id="2147484947" r:id="rId23"/>
    <p:sldLayoutId id="2147484951" r:id="rId24"/>
    <p:sldLayoutId id="2147484952" r:id="rId25"/>
    <p:sldLayoutId id="2147484953" r:id="rId26"/>
    <p:sldLayoutId id="2147484954" r:id="rId27"/>
    <p:sldLayoutId id="2147484955" r:id="rId28"/>
    <p:sldLayoutId id="2147484956" r:id="rId29"/>
    <p:sldLayoutId id="2147484957" r:id="rId30"/>
    <p:sldLayoutId id="2147484958" r:id="rId31"/>
    <p:sldLayoutId id="2147484959" r:id="rId32"/>
    <p:sldLayoutId id="2147484960" r:id="rId33"/>
    <p:sldLayoutId id="2147484961" r:id="rId34"/>
    <p:sldLayoutId id="2147484962" r:id="rId35"/>
    <p:sldLayoutId id="2147484963" r:id="rId36"/>
    <p:sldLayoutId id="2147484964" r:id="rId37"/>
    <p:sldLayoutId id="2147484965" r:id="rId38"/>
    <p:sldLayoutId id="2147484966" r:id="rId39"/>
    <p:sldLayoutId id="2147484967" r:id="rId40"/>
    <p:sldLayoutId id="2147484970" r:id="rId41"/>
  </p:sldLayoutIdLst>
  <p:transition>
    <p:fade/>
  </p:transition>
  <p:hf sldNum="0" hdr="0" dt="0"/>
  <p:txStyles>
    <p:titleStyle>
      <a:lvl1pPr algn="l" defTabSz="932742" rtl="0" eaLnBrk="1" latinLnBrk="0" hangingPunct="1">
        <a:lnSpc>
          <a:spcPct val="100000"/>
        </a:lnSpc>
        <a:spcBef>
          <a:spcPct val="0"/>
        </a:spcBef>
        <a:buNone/>
        <a:defRPr lang="en-US" sz="24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96704705"/>
      </p:ext>
    </p:extLst>
  </p:cSld>
  <p:clrMap bg1="lt1" tx1="dk1" bg2="lt2" tx2="dk2" accent1="accent1" accent2="accent2" accent3="accent3" accent4="accent4" accent5="accent5" accent6="accent6" hlink="hlink" folHlink="folHlink"/>
  <p:sldLayoutIdLst>
    <p:sldLayoutId id="2147484973" r:id="rId1"/>
    <p:sldLayoutId id="2147484974" r:id="rId2"/>
    <p:sldLayoutId id="2147484975" r:id="rId3"/>
    <p:sldLayoutId id="2147484976" r:id="rId4"/>
    <p:sldLayoutId id="2147484977" r:id="rId5"/>
    <p:sldLayoutId id="2147484978" r:id="rId6"/>
    <p:sldLayoutId id="2147484979" r:id="rId7"/>
    <p:sldLayoutId id="2147484980" r:id="rId8"/>
    <p:sldLayoutId id="2147484981" r:id="rId9"/>
    <p:sldLayoutId id="2147484982" r:id="rId10"/>
    <p:sldLayoutId id="2147484983" r:id="rId11"/>
    <p:sldLayoutId id="2147484984" r:id="rId12"/>
    <p:sldLayoutId id="2147484985" r:id="rId13"/>
    <p:sldLayoutId id="2147484986" r:id="rId14"/>
    <p:sldLayoutId id="2147484987" r:id="rId15"/>
    <p:sldLayoutId id="2147484988" r:id="rId16"/>
    <p:sldLayoutId id="2147484989" r:id="rId17"/>
    <p:sldLayoutId id="2147484990" r:id="rId18"/>
    <p:sldLayoutId id="2147484991" r:id="rId19"/>
    <p:sldLayoutId id="2147484992" r:id="rId20"/>
    <p:sldLayoutId id="2147484993" r:id="rId21"/>
    <p:sldLayoutId id="2147484994" r:id="rId22"/>
    <p:sldLayoutId id="2147484995" r:id="rId23"/>
    <p:sldLayoutId id="2147484996" r:id="rId24"/>
    <p:sldLayoutId id="2147484997" r:id="rId25"/>
    <p:sldLayoutId id="2147484998" r:id="rId26"/>
    <p:sldLayoutId id="2147484999" r:id="rId27"/>
    <p:sldLayoutId id="2147485000" r:id="rId28"/>
    <p:sldLayoutId id="2147485001" r:id="rId29"/>
    <p:sldLayoutId id="2147485002" r:id="rId30"/>
    <p:sldLayoutId id="2147485003" r:id="rId31"/>
    <p:sldLayoutId id="2147485004" r:id="rId32"/>
    <p:sldLayoutId id="2147485005" r:id="rId33"/>
    <p:sldLayoutId id="2147485006" r:id="rId34"/>
    <p:sldLayoutId id="2147485007" r:id="rId35"/>
    <p:sldLayoutId id="2147485008" r:id="rId36"/>
    <p:sldLayoutId id="2147485009" r:id="rId37"/>
    <p:sldLayoutId id="2147485010" r:id="rId38"/>
    <p:sldLayoutId id="2147485011" r:id="rId39"/>
    <p:sldLayoutId id="2147485012" r:id="rId40"/>
    <p:sldLayoutId id="2147485013" r:id="rId41"/>
    <p:sldLayoutId id="2147485014" r:id="rId42"/>
    <p:sldLayoutId id="2147485015" r:id="rId43"/>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49244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grpSp>
        <p:nvGrpSpPr>
          <p:cNvPr id="147" name="Group 146">
            <a:extLst>
              <a:ext uri="{FF2B5EF4-FFF2-40B4-BE49-F238E27FC236}">
                <a16:creationId xmlns:a16="http://schemas.microsoft.com/office/drawing/2014/main" id="{A066C27D-9E85-728F-F255-3A731EC66D25}"/>
              </a:ext>
            </a:extLst>
          </p:cNvPr>
          <p:cNvGrpSpPr/>
          <p:nvPr userDrawn="1"/>
        </p:nvGrpSpPr>
        <p:grpSpPr>
          <a:xfrm rot="5400000">
            <a:off x="10666449" y="3959962"/>
            <a:ext cx="4597400" cy="1248872"/>
            <a:chOff x="2983209" y="3959962"/>
            <a:chExt cx="4597400" cy="1248872"/>
          </a:xfrm>
        </p:grpSpPr>
        <p:grpSp>
          <p:nvGrpSpPr>
            <p:cNvPr id="123" name="Group 122">
              <a:extLst>
                <a:ext uri="{FF2B5EF4-FFF2-40B4-BE49-F238E27FC236}">
                  <a16:creationId xmlns:a16="http://schemas.microsoft.com/office/drawing/2014/main" id="{D46592D0-C1CD-74A0-2C7F-3337241D77DB}"/>
                </a:ext>
              </a:extLst>
            </p:cNvPr>
            <p:cNvGrpSpPr/>
            <p:nvPr userDrawn="1"/>
          </p:nvGrpSpPr>
          <p:grpSpPr>
            <a:xfrm>
              <a:off x="4130985" y="4976997"/>
              <a:ext cx="1122349" cy="231837"/>
              <a:chOff x="4135734" y="4976997"/>
              <a:chExt cx="1120775" cy="231837"/>
            </a:xfrm>
          </p:grpSpPr>
          <p:sp>
            <p:nvSpPr>
              <p:cNvPr id="53" name="Rectangle 52">
                <a:extLst>
                  <a:ext uri="{FF2B5EF4-FFF2-40B4-BE49-F238E27FC236}">
                    <a16:creationId xmlns:a16="http://schemas.microsoft.com/office/drawing/2014/main" id="{F91CEFFA-747B-15D9-6F1F-08C1FB0DC7A0}"/>
                  </a:ext>
                </a:extLst>
              </p:cNvPr>
              <p:cNvSpPr>
                <a:spLocks noChangeArrowheads="1"/>
              </p:cNvSpPr>
              <p:nvPr/>
            </p:nvSpPr>
            <p:spPr bwMode="auto">
              <a:xfrm>
                <a:off x="4135734" y="4976997"/>
                <a:ext cx="1120775" cy="2318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3">
                <a:extLst>
                  <a:ext uri="{FF2B5EF4-FFF2-40B4-BE49-F238E27FC236}">
                    <a16:creationId xmlns:a16="http://schemas.microsoft.com/office/drawing/2014/main" id="{F5FF078E-F971-F049-5B6C-211FC500886D}"/>
                  </a:ext>
                </a:extLst>
              </p:cNvPr>
              <p:cNvSpPr>
                <a:spLocks noChangeArrowheads="1"/>
              </p:cNvSpPr>
              <p:nvPr userDrawn="1"/>
            </p:nvSpPr>
            <p:spPr bwMode="auto">
              <a:xfrm>
                <a:off x="4135734" y="4976997"/>
                <a:ext cx="1120775" cy="231837"/>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1" name="Group 120">
              <a:extLst>
                <a:ext uri="{FF2B5EF4-FFF2-40B4-BE49-F238E27FC236}">
                  <a16:creationId xmlns:a16="http://schemas.microsoft.com/office/drawing/2014/main" id="{88C14EA5-9927-8FE5-49F3-BE053411837B}"/>
                </a:ext>
              </a:extLst>
            </p:cNvPr>
            <p:cNvGrpSpPr/>
            <p:nvPr userDrawn="1"/>
          </p:nvGrpSpPr>
          <p:grpSpPr>
            <a:xfrm>
              <a:off x="2989559" y="4976997"/>
              <a:ext cx="1122349" cy="231837"/>
              <a:chOff x="2989559" y="4976997"/>
              <a:chExt cx="1120775" cy="231837"/>
            </a:xfrm>
          </p:grpSpPr>
          <p:sp>
            <p:nvSpPr>
              <p:cNvPr id="68" name="Rectangle 62">
                <a:extLst>
                  <a:ext uri="{FF2B5EF4-FFF2-40B4-BE49-F238E27FC236}">
                    <a16:creationId xmlns:a16="http://schemas.microsoft.com/office/drawing/2014/main" id="{49F83C97-7FC0-CE8B-F534-3CC32978B0EE}"/>
                  </a:ext>
                </a:extLst>
              </p:cNvPr>
              <p:cNvSpPr>
                <a:spLocks noChangeArrowheads="1"/>
              </p:cNvSpPr>
              <p:nvPr/>
            </p:nvSpPr>
            <p:spPr bwMode="auto">
              <a:xfrm>
                <a:off x="2989559" y="4976997"/>
                <a:ext cx="1120775" cy="231837"/>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78E83E2F-0F4E-6A6F-EE19-272FC88EAB11}"/>
                  </a:ext>
                </a:extLst>
              </p:cNvPr>
              <p:cNvSpPr>
                <a:spLocks noChangeArrowheads="1"/>
              </p:cNvSpPr>
              <p:nvPr userDrawn="1"/>
            </p:nvSpPr>
            <p:spPr bwMode="auto">
              <a:xfrm>
                <a:off x="2989559" y="4976997"/>
                <a:ext cx="1120775" cy="231837"/>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75" name="Rectangle 69">
              <a:extLst>
                <a:ext uri="{FF2B5EF4-FFF2-40B4-BE49-F238E27FC236}">
                  <a16:creationId xmlns:a16="http://schemas.microsoft.com/office/drawing/2014/main" id="{A174F70B-619A-757B-59BD-43117F92D6E7}"/>
                </a:ext>
              </a:extLst>
            </p:cNvPr>
            <p:cNvSpPr>
              <a:spLocks noChangeArrowheads="1"/>
            </p:cNvSpPr>
            <p:nvPr/>
          </p:nvSpPr>
          <p:spPr bwMode="auto">
            <a:xfrm>
              <a:off x="6424129" y="4724853"/>
              <a:ext cx="1122349" cy="231837"/>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Rectangle 89">
              <a:extLst>
                <a:ext uri="{FF2B5EF4-FFF2-40B4-BE49-F238E27FC236}">
                  <a16:creationId xmlns:a16="http://schemas.microsoft.com/office/drawing/2014/main" id="{21B60493-3B49-BCF6-0390-7956AC41AEDD}"/>
                </a:ext>
              </a:extLst>
            </p:cNvPr>
            <p:cNvSpPr>
              <a:spLocks noChangeArrowheads="1"/>
            </p:cNvSpPr>
            <p:nvPr/>
          </p:nvSpPr>
          <p:spPr bwMode="auto">
            <a:xfrm>
              <a:off x="5282703" y="4724853"/>
              <a:ext cx="1122349" cy="231837"/>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35">
              <a:extLst>
                <a:ext uri="{FF2B5EF4-FFF2-40B4-BE49-F238E27FC236}">
                  <a16:creationId xmlns:a16="http://schemas.microsoft.com/office/drawing/2014/main" id="{0C0652BC-3B51-F453-BE75-C357C366671E}"/>
                </a:ext>
              </a:extLst>
            </p:cNvPr>
            <p:cNvSpPr>
              <a:spLocks noChangeArrowheads="1"/>
            </p:cNvSpPr>
            <p:nvPr/>
          </p:nvSpPr>
          <p:spPr bwMode="auto">
            <a:xfrm>
              <a:off x="4130985" y="4724853"/>
              <a:ext cx="1122349" cy="2318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71861493-157F-15D0-0E4D-F0C5B054784B}"/>
                </a:ext>
              </a:extLst>
            </p:cNvPr>
            <p:cNvSpPr>
              <a:spLocks noChangeArrowheads="1"/>
            </p:cNvSpPr>
            <p:nvPr/>
          </p:nvSpPr>
          <p:spPr bwMode="auto">
            <a:xfrm>
              <a:off x="2989559" y="4724853"/>
              <a:ext cx="1122349" cy="2318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B8026A31-A3BD-9111-4B93-2D98FA1FA662}"/>
                </a:ext>
              </a:extLst>
            </p:cNvPr>
            <p:cNvSpPr>
              <a:spLocks noChangeArrowheads="1"/>
            </p:cNvSpPr>
            <p:nvPr/>
          </p:nvSpPr>
          <p:spPr bwMode="auto">
            <a:xfrm>
              <a:off x="4130985" y="4479479"/>
              <a:ext cx="1122349" cy="231837"/>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2482639C-6DA9-6072-B023-A0B3231990B3}"/>
                </a:ext>
              </a:extLst>
            </p:cNvPr>
            <p:cNvSpPr>
              <a:spLocks noChangeArrowheads="1"/>
            </p:cNvSpPr>
            <p:nvPr/>
          </p:nvSpPr>
          <p:spPr bwMode="auto">
            <a:xfrm>
              <a:off x="2989559" y="4479479"/>
              <a:ext cx="1122349" cy="231837"/>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4E6D1934-44C4-DE10-FEF5-98A7D62D1701}"/>
                </a:ext>
              </a:extLst>
            </p:cNvPr>
            <p:cNvSpPr>
              <a:spLocks noChangeArrowheads="1"/>
            </p:cNvSpPr>
            <p:nvPr/>
          </p:nvSpPr>
          <p:spPr bwMode="auto">
            <a:xfrm>
              <a:off x="6424129" y="4479479"/>
              <a:ext cx="1122349" cy="231837"/>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Rectangle 86">
              <a:extLst>
                <a:ext uri="{FF2B5EF4-FFF2-40B4-BE49-F238E27FC236}">
                  <a16:creationId xmlns:a16="http://schemas.microsoft.com/office/drawing/2014/main" id="{4978831E-F211-2FDD-D3E9-F0DAB7B13A82}"/>
                </a:ext>
              </a:extLst>
            </p:cNvPr>
            <p:cNvSpPr>
              <a:spLocks noChangeArrowheads="1"/>
            </p:cNvSpPr>
            <p:nvPr/>
          </p:nvSpPr>
          <p:spPr bwMode="auto">
            <a:xfrm>
              <a:off x="5282703" y="4479479"/>
              <a:ext cx="1122349" cy="231837"/>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8">
              <a:extLst>
                <a:ext uri="{FF2B5EF4-FFF2-40B4-BE49-F238E27FC236}">
                  <a16:creationId xmlns:a16="http://schemas.microsoft.com/office/drawing/2014/main" id="{480715EE-428F-E0CF-1D68-C2DE1BD375A0}"/>
                </a:ext>
              </a:extLst>
            </p:cNvPr>
            <p:cNvSpPr>
              <a:spLocks noChangeArrowheads="1"/>
            </p:cNvSpPr>
            <p:nvPr/>
          </p:nvSpPr>
          <p:spPr bwMode="auto">
            <a:xfrm>
              <a:off x="4130985" y="4235797"/>
              <a:ext cx="1122349" cy="231837"/>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C39CC427-FB3C-D2FE-003B-943C483B612D}"/>
                </a:ext>
              </a:extLst>
            </p:cNvPr>
            <p:cNvSpPr>
              <a:spLocks noChangeArrowheads="1"/>
            </p:cNvSpPr>
            <p:nvPr/>
          </p:nvSpPr>
          <p:spPr bwMode="auto">
            <a:xfrm>
              <a:off x="2989559" y="4235797"/>
              <a:ext cx="1122349" cy="231837"/>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F3144CCC-4AD3-B1CD-BCE7-C1FAA5A50B2F}"/>
                </a:ext>
              </a:extLst>
            </p:cNvPr>
            <p:cNvSpPr>
              <a:spLocks noChangeArrowheads="1"/>
            </p:cNvSpPr>
            <p:nvPr/>
          </p:nvSpPr>
          <p:spPr bwMode="auto">
            <a:xfrm>
              <a:off x="6424129" y="4235797"/>
              <a:ext cx="1122349" cy="2318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Rectangle 93">
              <a:extLst>
                <a:ext uri="{FF2B5EF4-FFF2-40B4-BE49-F238E27FC236}">
                  <a16:creationId xmlns:a16="http://schemas.microsoft.com/office/drawing/2014/main" id="{77ABFAA8-52C9-1BB4-FA13-DDB01E80488F}"/>
                </a:ext>
              </a:extLst>
            </p:cNvPr>
            <p:cNvSpPr>
              <a:spLocks noChangeArrowheads="1"/>
            </p:cNvSpPr>
            <p:nvPr/>
          </p:nvSpPr>
          <p:spPr bwMode="auto">
            <a:xfrm>
              <a:off x="5282703" y="4235797"/>
              <a:ext cx="1122349" cy="231837"/>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 name="AutoShape 3">
              <a:extLst>
                <a:ext uri="{FF2B5EF4-FFF2-40B4-BE49-F238E27FC236}">
                  <a16:creationId xmlns:a16="http://schemas.microsoft.com/office/drawing/2014/main" id="{7137B142-8F3E-888F-77BD-B3E785F3AC91}"/>
                </a:ext>
              </a:extLst>
            </p:cNvPr>
            <p:cNvSpPr>
              <a:spLocks noChangeAspect="1" noChangeArrowheads="1" noTextEdit="1"/>
            </p:cNvSpPr>
            <p:nvPr userDrawn="1"/>
          </p:nvSpPr>
          <p:spPr bwMode="auto">
            <a:xfrm>
              <a:off x="2983209" y="3959962"/>
              <a:ext cx="4597400" cy="1247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38" name="Group 137">
              <a:extLst>
                <a:ext uri="{FF2B5EF4-FFF2-40B4-BE49-F238E27FC236}">
                  <a16:creationId xmlns:a16="http://schemas.microsoft.com/office/drawing/2014/main" id="{62AC6996-0BBA-C1F2-BEEF-A233569FAD65}"/>
                </a:ext>
              </a:extLst>
            </p:cNvPr>
            <p:cNvGrpSpPr/>
            <p:nvPr userDrawn="1"/>
          </p:nvGrpSpPr>
          <p:grpSpPr>
            <a:xfrm>
              <a:off x="4161941" y="4724853"/>
              <a:ext cx="208390" cy="208938"/>
              <a:chOff x="4150022" y="4707931"/>
              <a:chExt cx="208390" cy="208938"/>
            </a:xfrm>
          </p:grpSpPr>
          <p:sp>
            <p:nvSpPr>
              <p:cNvPr id="37" name="Rectangle 36">
                <a:extLst>
                  <a:ext uri="{FF2B5EF4-FFF2-40B4-BE49-F238E27FC236}">
                    <a16:creationId xmlns:a16="http://schemas.microsoft.com/office/drawing/2014/main" id="{7592392A-18BB-F649-4618-76E955415614}"/>
                  </a:ext>
                </a:extLst>
              </p:cNvPr>
              <p:cNvSpPr>
                <a:spLocks noChangeArrowheads="1"/>
              </p:cNvSpPr>
              <p:nvPr userDrawn="1"/>
            </p:nvSpPr>
            <p:spPr bwMode="auto">
              <a:xfrm>
                <a:off x="4148407" y="470791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B3BB"/>
                    </a:solidFill>
                    <a:effectLst/>
                    <a:latin typeface="Segoe UI Black"/>
                    <a:ea typeface="Segoe UI Black"/>
                    <a:cs typeface="Segoe UI Black"/>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38" name="Rectangle 37">
                <a:extLst>
                  <a:ext uri="{FF2B5EF4-FFF2-40B4-BE49-F238E27FC236}">
                    <a16:creationId xmlns:a16="http://schemas.microsoft.com/office/drawing/2014/main" id="{365ABF78-0E45-DAD9-5676-2EC9DD3CD295}"/>
                  </a:ext>
                </a:extLst>
              </p:cNvPr>
              <p:cNvSpPr>
                <a:spLocks noChangeArrowheads="1"/>
              </p:cNvSpPr>
              <p:nvPr userDrawn="1"/>
            </p:nvSpPr>
            <p:spPr bwMode="auto">
              <a:xfrm>
                <a:off x="4251595" y="470791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7">
                <a:extLst>
                  <a:ext uri="{FF2B5EF4-FFF2-40B4-BE49-F238E27FC236}">
                    <a16:creationId xmlns:a16="http://schemas.microsoft.com/office/drawing/2014/main" id="{68310E1A-F13F-7183-49F9-75ECFB436962}"/>
                  </a:ext>
                </a:extLst>
              </p:cNvPr>
              <p:cNvSpPr>
                <a:spLocks noChangeArrowheads="1"/>
              </p:cNvSpPr>
              <p:nvPr userDrawn="1"/>
            </p:nvSpPr>
            <p:spPr bwMode="auto">
              <a:xfrm>
                <a:off x="4150023" y="4839916"/>
                <a:ext cx="237299"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CC9F93BD-8E78-4AF6-CBF6-40F69BE0EC42}"/>
                </a:ext>
              </a:extLst>
            </p:cNvPr>
            <p:cNvGrpSpPr/>
            <p:nvPr userDrawn="1"/>
          </p:nvGrpSpPr>
          <p:grpSpPr>
            <a:xfrm>
              <a:off x="4161941" y="4235797"/>
              <a:ext cx="209994" cy="207246"/>
              <a:chOff x="4150022" y="4220567"/>
              <a:chExt cx="209994" cy="207246"/>
            </a:xfrm>
          </p:grpSpPr>
          <p:sp>
            <p:nvSpPr>
              <p:cNvPr id="50" name="Rectangle 49">
                <a:extLst>
                  <a:ext uri="{FF2B5EF4-FFF2-40B4-BE49-F238E27FC236}">
                    <a16:creationId xmlns:a16="http://schemas.microsoft.com/office/drawing/2014/main" id="{889CC2DF-20EF-2163-86E0-DEC66DA62FB6}"/>
                  </a:ext>
                </a:extLst>
              </p:cNvPr>
              <p:cNvSpPr>
                <a:spLocks noChangeArrowheads="1"/>
              </p:cNvSpPr>
              <p:nvPr userDrawn="1"/>
            </p:nvSpPr>
            <p:spPr bwMode="auto">
              <a:xfrm>
                <a:off x="4148407" y="4220547"/>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3262F"/>
                    </a:solidFill>
                    <a:effectLst/>
                    <a:latin typeface="Segoe UI Black"/>
                    <a:ea typeface="Segoe UI Black"/>
                    <a:cs typeface="Segoe UI Black"/>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51" name="Rectangle 50">
                <a:extLst>
                  <a:ext uri="{FF2B5EF4-FFF2-40B4-BE49-F238E27FC236}">
                    <a16:creationId xmlns:a16="http://schemas.microsoft.com/office/drawing/2014/main" id="{1E420085-C71E-ECCF-AF31-48FA8297D0D5}"/>
                  </a:ext>
                </a:extLst>
              </p:cNvPr>
              <p:cNvSpPr>
                <a:spLocks noChangeArrowheads="1"/>
              </p:cNvSpPr>
              <p:nvPr userDrawn="1"/>
            </p:nvSpPr>
            <p:spPr bwMode="auto">
              <a:xfrm>
                <a:off x="4251594" y="4220551"/>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51">
                <a:extLst>
                  <a:ext uri="{FF2B5EF4-FFF2-40B4-BE49-F238E27FC236}">
                    <a16:creationId xmlns:a16="http://schemas.microsoft.com/office/drawing/2014/main" id="{C7D4161B-14DB-3C6F-49FA-0E641FA97E10}"/>
                  </a:ext>
                </a:extLst>
              </p:cNvPr>
              <p:cNvSpPr>
                <a:spLocks noChangeArrowheads="1"/>
              </p:cNvSpPr>
              <p:nvPr userDrawn="1"/>
            </p:nvSpPr>
            <p:spPr bwMode="auto">
              <a:xfrm>
                <a:off x="4150021" y="4350861"/>
                <a:ext cx="243713"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55" name="Rectangle 54">
              <a:extLst>
                <a:ext uri="{FF2B5EF4-FFF2-40B4-BE49-F238E27FC236}">
                  <a16:creationId xmlns:a16="http://schemas.microsoft.com/office/drawing/2014/main" id="{FF982A3D-0487-1A0D-A037-144D9914DC61}"/>
                </a:ext>
              </a:extLst>
            </p:cNvPr>
            <p:cNvSpPr>
              <a:spLocks noChangeArrowheads="1"/>
            </p:cNvSpPr>
            <p:nvPr userDrawn="1"/>
          </p:nvSpPr>
          <p:spPr bwMode="auto">
            <a:xfrm>
              <a:off x="4161941" y="4998418"/>
              <a:ext cx="22126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35" name="Group 134">
              <a:extLst>
                <a:ext uri="{FF2B5EF4-FFF2-40B4-BE49-F238E27FC236}">
                  <a16:creationId xmlns:a16="http://schemas.microsoft.com/office/drawing/2014/main" id="{94DC77AE-A152-25B2-6C03-68D92DF002A1}"/>
                </a:ext>
              </a:extLst>
            </p:cNvPr>
            <p:cNvGrpSpPr/>
            <p:nvPr userDrawn="1"/>
          </p:nvGrpSpPr>
          <p:grpSpPr>
            <a:xfrm>
              <a:off x="3020515" y="4479479"/>
              <a:ext cx="209994" cy="208939"/>
              <a:chOff x="3003847" y="4465941"/>
              <a:chExt cx="209994" cy="208939"/>
            </a:xfrm>
          </p:grpSpPr>
          <p:sp>
            <p:nvSpPr>
              <p:cNvPr id="57" name="Rectangle 51">
                <a:extLst>
                  <a:ext uri="{FF2B5EF4-FFF2-40B4-BE49-F238E27FC236}">
                    <a16:creationId xmlns:a16="http://schemas.microsoft.com/office/drawing/2014/main" id="{895F5902-BFBD-125B-3FEB-4CBC9AC0F8DC}"/>
                  </a:ext>
                </a:extLst>
              </p:cNvPr>
              <p:cNvSpPr>
                <a:spLocks noChangeArrowheads="1"/>
              </p:cNvSpPr>
              <p:nvPr userDrawn="1"/>
            </p:nvSpPr>
            <p:spPr bwMode="auto">
              <a:xfrm>
                <a:off x="3002234" y="446592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103F56FC-3C85-D11C-15B5-5B86752DF541}"/>
                  </a:ext>
                </a:extLst>
              </p:cNvPr>
              <p:cNvSpPr>
                <a:spLocks noChangeArrowheads="1"/>
              </p:cNvSpPr>
              <p:nvPr userDrawn="1"/>
            </p:nvSpPr>
            <p:spPr bwMode="auto">
              <a:xfrm>
                <a:off x="3107009" y="446592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1326CD1E-7B9A-8A72-C172-F4E85177A8BD}"/>
                  </a:ext>
                </a:extLst>
              </p:cNvPr>
              <p:cNvSpPr>
                <a:spLocks noChangeArrowheads="1"/>
              </p:cNvSpPr>
              <p:nvPr userDrawn="1"/>
            </p:nvSpPr>
            <p:spPr bwMode="auto">
              <a:xfrm>
                <a:off x="3003849" y="4597927"/>
                <a:ext cx="238903"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FF5C39</a:t>
                </a:r>
                <a:endParaRPr kumimoji="0" lang="en-US" altLang="en-US" sz="1800" b="0" i="0" u="none" strike="noStrike" cap="none" normalizeH="0" baseline="0">
                  <a:ln>
                    <a:noFill/>
                  </a:ln>
                  <a:effectLst/>
                  <a:latin typeface="Arial" panose="020B0604020202020204" pitchFamily="34" charset="0"/>
                </a:endParaRPr>
              </a:p>
            </p:txBody>
          </p:sp>
        </p:grpSp>
        <p:grpSp>
          <p:nvGrpSpPr>
            <p:cNvPr id="137" name="Group 136">
              <a:extLst>
                <a:ext uri="{FF2B5EF4-FFF2-40B4-BE49-F238E27FC236}">
                  <a16:creationId xmlns:a16="http://schemas.microsoft.com/office/drawing/2014/main" id="{4CA32E28-13DC-C098-2609-0F749347B3A0}"/>
                </a:ext>
              </a:extLst>
            </p:cNvPr>
            <p:cNvGrpSpPr/>
            <p:nvPr userDrawn="1"/>
          </p:nvGrpSpPr>
          <p:grpSpPr>
            <a:xfrm>
              <a:off x="3020515" y="4724853"/>
              <a:ext cx="221214" cy="208938"/>
              <a:chOff x="3003847" y="4707931"/>
              <a:chExt cx="221214" cy="208938"/>
            </a:xfrm>
          </p:grpSpPr>
          <p:sp>
            <p:nvSpPr>
              <p:cNvPr id="61" name="Rectangle 55">
                <a:extLst>
                  <a:ext uri="{FF2B5EF4-FFF2-40B4-BE49-F238E27FC236}">
                    <a16:creationId xmlns:a16="http://schemas.microsoft.com/office/drawing/2014/main" id="{A098F3E4-C71B-9115-28EA-8418062C23D4}"/>
                  </a:ext>
                </a:extLst>
              </p:cNvPr>
              <p:cNvSpPr>
                <a:spLocks noChangeArrowheads="1"/>
              </p:cNvSpPr>
              <p:nvPr userDrawn="1"/>
            </p:nvSpPr>
            <p:spPr bwMode="auto">
              <a:xfrm>
                <a:off x="3002232" y="4707913"/>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A38B"/>
                    </a:solidFill>
                    <a:effectLst/>
                    <a:latin typeface="Segoe UI Black"/>
                    <a:ea typeface="Segoe UI Black"/>
                    <a:cs typeface="Segoe UI Black"/>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A144836B-B6FD-EC56-A2FF-32C97598B07E}"/>
                  </a:ext>
                </a:extLst>
              </p:cNvPr>
              <p:cNvSpPr>
                <a:spLocks noChangeArrowheads="1"/>
              </p:cNvSpPr>
              <p:nvPr userDrawn="1"/>
            </p:nvSpPr>
            <p:spPr bwMode="auto">
              <a:xfrm>
                <a:off x="3107007" y="4707913"/>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B4B4A50A-B0AB-3249-578C-C74260F52234}"/>
                  </a:ext>
                </a:extLst>
              </p:cNvPr>
              <p:cNvSpPr>
                <a:spLocks noChangeArrowheads="1"/>
              </p:cNvSpPr>
              <p:nvPr userDrawn="1"/>
            </p:nvSpPr>
            <p:spPr bwMode="auto">
              <a:xfrm>
                <a:off x="3003847" y="4839916"/>
                <a:ext cx="25012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3" name="Group 132">
              <a:extLst>
                <a:ext uri="{FF2B5EF4-FFF2-40B4-BE49-F238E27FC236}">
                  <a16:creationId xmlns:a16="http://schemas.microsoft.com/office/drawing/2014/main" id="{16F9D676-15C5-A3E3-4D1C-EFE6430F4CE0}"/>
                </a:ext>
              </a:extLst>
            </p:cNvPr>
            <p:cNvGrpSpPr/>
            <p:nvPr userDrawn="1"/>
          </p:nvGrpSpPr>
          <p:grpSpPr>
            <a:xfrm>
              <a:off x="3020515" y="4235797"/>
              <a:ext cx="213200" cy="207246"/>
              <a:chOff x="3003847" y="4220567"/>
              <a:chExt cx="213200" cy="207246"/>
            </a:xfrm>
          </p:grpSpPr>
          <p:grpSp>
            <p:nvGrpSpPr>
              <p:cNvPr id="132" name="Group 131">
                <a:extLst>
                  <a:ext uri="{FF2B5EF4-FFF2-40B4-BE49-F238E27FC236}">
                    <a16:creationId xmlns:a16="http://schemas.microsoft.com/office/drawing/2014/main" id="{D674A0B8-6B78-ECA6-EC9D-4CE7A3185FEF}"/>
                  </a:ext>
                </a:extLst>
              </p:cNvPr>
              <p:cNvGrpSpPr/>
              <p:nvPr userDrawn="1"/>
            </p:nvGrpSpPr>
            <p:grpSpPr>
              <a:xfrm>
                <a:off x="3003847" y="4220567"/>
                <a:ext cx="200955" cy="153888"/>
                <a:chOff x="3003847" y="4220567"/>
                <a:chExt cx="200955" cy="153888"/>
              </a:xfrm>
            </p:grpSpPr>
            <p:sp>
              <p:nvSpPr>
                <p:cNvPr id="65" name="Rectangle 59">
                  <a:extLst>
                    <a:ext uri="{FF2B5EF4-FFF2-40B4-BE49-F238E27FC236}">
                      <a16:creationId xmlns:a16="http://schemas.microsoft.com/office/drawing/2014/main" id="{A07F7F4E-CE01-4B75-1EB8-848F1A98AAC3}"/>
                    </a:ext>
                  </a:extLst>
                </p:cNvPr>
                <p:cNvSpPr>
                  <a:spLocks noChangeArrowheads="1"/>
                </p:cNvSpPr>
                <p:nvPr userDrawn="1"/>
              </p:nvSpPr>
              <p:spPr bwMode="auto">
                <a:xfrm>
                  <a:off x="3002232" y="4220551"/>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3391D"/>
                      </a:solidFill>
                      <a:effectLst/>
                      <a:latin typeface="Segoe UI Black"/>
                      <a:ea typeface="Segoe UI Black"/>
                      <a:cs typeface="Segoe UI Black"/>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66" name="Rectangle 60">
                  <a:extLst>
                    <a:ext uri="{FF2B5EF4-FFF2-40B4-BE49-F238E27FC236}">
                      <a16:creationId xmlns:a16="http://schemas.microsoft.com/office/drawing/2014/main" id="{E90485C9-55AD-E0C2-34CA-66E40F03B73B}"/>
                    </a:ext>
                  </a:extLst>
                </p:cNvPr>
                <p:cNvSpPr>
                  <a:spLocks noChangeArrowheads="1"/>
                </p:cNvSpPr>
                <p:nvPr userDrawn="1"/>
              </p:nvSpPr>
              <p:spPr bwMode="auto">
                <a:xfrm>
                  <a:off x="3107007" y="4220549"/>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67" name="Rectangle 61">
                <a:extLst>
                  <a:ext uri="{FF2B5EF4-FFF2-40B4-BE49-F238E27FC236}">
                    <a16:creationId xmlns:a16="http://schemas.microsoft.com/office/drawing/2014/main" id="{A37954AB-F66D-09B1-C2BD-5ACDC4C114AF}"/>
                  </a:ext>
                </a:extLst>
              </p:cNvPr>
              <p:cNvSpPr>
                <a:spLocks noChangeArrowheads="1"/>
              </p:cNvSpPr>
              <p:nvPr userDrawn="1"/>
            </p:nvSpPr>
            <p:spPr bwMode="auto">
              <a:xfrm>
                <a:off x="3003848" y="4350861"/>
                <a:ext cx="24050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
          <p:nvSpPr>
            <p:cNvPr id="70" name="Rectangle 64">
              <a:extLst>
                <a:ext uri="{FF2B5EF4-FFF2-40B4-BE49-F238E27FC236}">
                  <a16:creationId xmlns:a16="http://schemas.microsoft.com/office/drawing/2014/main" id="{E6BD7DAA-1203-86EB-90AF-4CB405BBBF17}"/>
                </a:ext>
              </a:extLst>
            </p:cNvPr>
            <p:cNvSpPr>
              <a:spLocks noChangeArrowheads="1"/>
            </p:cNvSpPr>
            <p:nvPr userDrawn="1"/>
          </p:nvSpPr>
          <p:spPr bwMode="auto">
            <a:xfrm>
              <a:off x="3020516" y="4998418"/>
              <a:ext cx="23088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142" name="Group 141">
              <a:extLst>
                <a:ext uri="{FF2B5EF4-FFF2-40B4-BE49-F238E27FC236}">
                  <a16:creationId xmlns:a16="http://schemas.microsoft.com/office/drawing/2014/main" id="{B78A64DE-6215-4C7D-CB69-916710B74D83}"/>
                </a:ext>
              </a:extLst>
            </p:cNvPr>
            <p:cNvGrpSpPr/>
            <p:nvPr userDrawn="1"/>
          </p:nvGrpSpPr>
          <p:grpSpPr>
            <a:xfrm>
              <a:off x="6455085" y="4479479"/>
              <a:ext cx="221214" cy="208939"/>
              <a:chOff x="6440784" y="4467633"/>
              <a:chExt cx="221214" cy="208939"/>
            </a:xfrm>
          </p:grpSpPr>
          <p:sp>
            <p:nvSpPr>
              <p:cNvPr id="72" name="Rectangle 66">
                <a:extLst>
                  <a:ext uri="{FF2B5EF4-FFF2-40B4-BE49-F238E27FC236}">
                    <a16:creationId xmlns:a16="http://schemas.microsoft.com/office/drawing/2014/main" id="{3C25E052-E70A-9985-665A-7BF72068FACC}"/>
                  </a:ext>
                </a:extLst>
              </p:cNvPr>
              <p:cNvSpPr>
                <a:spLocks noChangeArrowheads="1"/>
              </p:cNvSpPr>
              <p:nvPr userDrawn="1"/>
            </p:nvSpPr>
            <p:spPr bwMode="auto">
              <a:xfrm>
                <a:off x="6439170" y="4467617"/>
                <a:ext cx="89789" cy="13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900" b="1" i="0" strike="noStrike" cap="none" baseline="0">
                    <a:solidFill>
                      <a:srgbClr val="FFFFFF"/>
                    </a:solidFill>
                    <a:effectLst/>
                    <a:latin typeface="Segoe UI Black"/>
                    <a:ea typeface="Segoe UI Black"/>
                    <a:cs typeface="Consolas"/>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7">
                <a:extLst>
                  <a:ext uri="{FF2B5EF4-FFF2-40B4-BE49-F238E27FC236}">
                    <a16:creationId xmlns:a16="http://schemas.microsoft.com/office/drawing/2014/main" id="{26866EA9-D870-8B6F-E09C-4BF7BC3AEE5D}"/>
                  </a:ext>
                </a:extLst>
              </p:cNvPr>
              <p:cNvSpPr>
                <a:spLocks noChangeArrowheads="1"/>
              </p:cNvSpPr>
              <p:nvPr userDrawn="1"/>
            </p:nvSpPr>
            <p:spPr bwMode="auto">
              <a:xfrm>
                <a:off x="6543946" y="4467615"/>
                <a:ext cx="89789" cy="13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9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68">
                <a:extLst>
                  <a:ext uri="{FF2B5EF4-FFF2-40B4-BE49-F238E27FC236}">
                    <a16:creationId xmlns:a16="http://schemas.microsoft.com/office/drawing/2014/main" id="{A1A5AC1F-B80A-3740-4DB5-2A2903E1FB9F}"/>
                  </a:ext>
                </a:extLst>
              </p:cNvPr>
              <p:cNvSpPr>
                <a:spLocks noChangeArrowheads="1"/>
              </p:cNvSpPr>
              <p:nvPr userDrawn="1"/>
            </p:nvSpPr>
            <p:spPr bwMode="auto">
              <a:xfrm>
                <a:off x="6440783" y="4599618"/>
                <a:ext cx="25012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grpSp>
          <p:nvGrpSpPr>
            <p:cNvPr id="144" name="Group 143">
              <a:extLst>
                <a:ext uri="{FF2B5EF4-FFF2-40B4-BE49-F238E27FC236}">
                  <a16:creationId xmlns:a16="http://schemas.microsoft.com/office/drawing/2014/main" id="{D827A894-B698-2BCA-F167-5B781D78197E}"/>
                </a:ext>
              </a:extLst>
            </p:cNvPr>
            <p:cNvGrpSpPr/>
            <p:nvPr userDrawn="1"/>
          </p:nvGrpSpPr>
          <p:grpSpPr>
            <a:xfrm>
              <a:off x="6455085" y="4724853"/>
              <a:ext cx="214802" cy="208939"/>
              <a:chOff x="6440784" y="4709623"/>
              <a:chExt cx="214802" cy="208939"/>
            </a:xfrm>
          </p:grpSpPr>
          <p:sp>
            <p:nvSpPr>
              <p:cNvPr id="76" name="Rectangle 70">
                <a:extLst>
                  <a:ext uri="{FF2B5EF4-FFF2-40B4-BE49-F238E27FC236}">
                    <a16:creationId xmlns:a16="http://schemas.microsoft.com/office/drawing/2014/main" id="{E00F9C9C-33CE-9310-6C5E-B68438616172}"/>
                  </a:ext>
                </a:extLst>
              </p:cNvPr>
              <p:cNvSpPr>
                <a:spLocks noChangeArrowheads="1"/>
              </p:cNvSpPr>
              <p:nvPr userDrawn="1"/>
            </p:nvSpPr>
            <p:spPr bwMode="auto">
              <a:xfrm>
                <a:off x="6439170" y="4709606"/>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8DC8E8"/>
                    </a:solidFill>
                    <a:effectLst/>
                    <a:latin typeface="Segoe UI Black"/>
                    <a:ea typeface="Segoe UI Black"/>
                    <a:cs typeface="Segoe UI Black"/>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77" name="Rectangle 71">
                <a:extLst>
                  <a:ext uri="{FF2B5EF4-FFF2-40B4-BE49-F238E27FC236}">
                    <a16:creationId xmlns:a16="http://schemas.microsoft.com/office/drawing/2014/main" id="{C336D1AC-24F2-3D85-B4EA-6CEF1387CA23}"/>
                  </a:ext>
                </a:extLst>
              </p:cNvPr>
              <p:cNvSpPr>
                <a:spLocks noChangeArrowheads="1"/>
              </p:cNvSpPr>
              <p:nvPr userDrawn="1"/>
            </p:nvSpPr>
            <p:spPr bwMode="auto">
              <a:xfrm>
                <a:off x="6543946" y="4709606"/>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2">
                <a:extLst>
                  <a:ext uri="{FF2B5EF4-FFF2-40B4-BE49-F238E27FC236}">
                    <a16:creationId xmlns:a16="http://schemas.microsoft.com/office/drawing/2014/main" id="{B487530C-87BB-6282-289D-CD211AE8C887}"/>
                  </a:ext>
                </a:extLst>
              </p:cNvPr>
              <p:cNvSpPr>
                <a:spLocks noChangeArrowheads="1"/>
              </p:cNvSpPr>
              <p:nvPr userDrawn="1"/>
            </p:nvSpPr>
            <p:spPr bwMode="auto">
              <a:xfrm>
                <a:off x="6440784" y="4841610"/>
                <a:ext cx="24050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0" name="Group 139">
              <a:extLst>
                <a:ext uri="{FF2B5EF4-FFF2-40B4-BE49-F238E27FC236}">
                  <a16:creationId xmlns:a16="http://schemas.microsoft.com/office/drawing/2014/main" id="{C6B358CB-8244-C3C8-2F51-79969683929B}"/>
                </a:ext>
              </a:extLst>
            </p:cNvPr>
            <p:cNvGrpSpPr/>
            <p:nvPr userDrawn="1"/>
          </p:nvGrpSpPr>
          <p:grpSpPr>
            <a:xfrm>
              <a:off x="6455085" y="4235797"/>
              <a:ext cx="222818" cy="207246"/>
              <a:chOff x="6440784" y="4222259"/>
              <a:chExt cx="222818" cy="207246"/>
            </a:xfrm>
          </p:grpSpPr>
          <p:sp>
            <p:nvSpPr>
              <p:cNvPr id="80" name="Rectangle 74">
                <a:extLst>
                  <a:ext uri="{FF2B5EF4-FFF2-40B4-BE49-F238E27FC236}">
                    <a16:creationId xmlns:a16="http://schemas.microsoft.com/office/drawing/2014/main" id="{F8EEFBD4-BCC8-9B51-82E9-5FEE4E034CF5}"/>
                  </a:ext>
                </a:extLst>
              </p:cNvPr>
              <p:cNvSpPr>
                <a:spLocks noChangeArrowheads="1"/>
              </p:cNvSpPr>
              <p:nvPr userDrawn="1"/>
            </p:nvSpPr>
            <p:spPr bwMode="auto">
              <a:xfrm>
                <a:off x="6439169" y="4222242"/>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2A446F"/>
                    </a:solidFill>
                    <a:effectLst/>
                    <a:latin typeface="Segoe UI Black"/>
                    <a:ea typeface="Segoe UI Black"/>
                    <a:cs typeface="Segoe UI Black"/>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81" name="Rectangle 75">
                <a:extLst>
                  <a:ext uri="{FF2B5EF4-FFF2-40B4-BE49-F238E27FC236}">
                    <a16:creationId xmlns:a16="http://schemas.microsoft.com/office/drawing/2014/main" id="{5B380C53-82FA-1B4B-30BF-798A5B2F88F5}"/>
                  </a:ext>
                </a:extLst>
              </p:cNvPr>
              <p:cNvSpPr>
                <a:spLocks noChangeArrowheads="1"/>
              </p:cNvSpPr>
              <p:nvPr userDrawn="1"/>
            </p:nvSpPr>
            <p:spPr bwMode="auto">
              <a:xfrm>
                <a:off x="6543944" y="4222242"/>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6">
                <a:extLst>
                  <a:ext uri="{FF2B5EF4-FFF2-40B4-BE49-F238E27FC236}">
                    <a16:creationId xmlns:a16="http://schemas.microsoft.com/office/drawing/2014/main" id="{5220604C-6208-C2D5-0A1F-68306385E1FB}"/>
                  </a:ext>
                </a:extLst>
              </p:cNvPr>
              <p:cNvSpPr>
                <a:spLocks noChangeArrowheads="1"/>
              </p:cNvSpPr>
              <p:nvPr userDrawn="1"/>
            </p:nvSpPr>
            <p:spPr bwMode="auto">
              <a:xfrm>
                <a:off x="6440784" y="4352551"/>
                <a:ext cx="254937"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0" name="Group 109">
              <a:extLst>
                <a:ext uri="{FF2B5EF4-FFF2-40B4-BE49-F238E27FC236}">
                  <a16:creationId xmlns:a16="http://schemas.microsoft.com/office/drawing/2014/main" id="{059EE6F8-A27B-1F22-044B-E55CC3E02DA7}"/>
                </a:ext>
              </a:extLst>
            </p:cNvPr>
            <p:cNvGrpSpPr/>
            <p:nvPr userDrawn="1"/>
          </p:nvGrpSpPr>
          <p:grpSpPr>
            <a:xfrm>
              <a:off x="5282703" y="3983653"/>
              <a:ext cx="2263775" cy="231837"/>
              <a:chOff x="5282703" y="3983653"/>
              <a:chExt cx="2263775" cy="231837"/>
            </a:xfrm>
          </p:grpSpPr>
          <p:sp>
            <p:nvSpPr>
              <p:cNvPr id="83" name="Rectangle 80">
                <a:extLst>
                  <a:ext uri="{FF2B5EF4-FFF2-40B4-BE49-F238E27FC236}">
                    <a16:creationId xmlns:a16="http://schemas.microsoft.com/office/drawing/2014/main" id="{3D2A98B8-E200-678A-E8D0-7F915BF24E8A}"/>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Rectangle 81">
                <a:extLst>
                  <a:ext uri="{FF2B5EF4-FFF2-40B4-BE49-F238E27FC236}">
                    <a16:creationId xmlns:a16="http://schemas.microsoft.com/office/drawing/2014/main" id="{0A33A553-B149-6F5D-639E-0E68F58F1780}"/>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82">
                <a:extLst>
                  <a:ext uri="{FF2B5EF4-FFF2-40B4-BE49-F238E27FC236}">
                    <a16:creationId xmlns:a16="http://schemas.microsoft.com/office/drawing/2014/main" id="{C8B6E6AD-D8D0-9276-C59C-36AE25B7F95C}"/>
                  </a:ext>
                </a:extLst>
              </p:cNvPr>
              <p:cNvSpPr>
                <a:spLocks noEditPoints="1"/>
              </p:cNvSpPr>
              <p:nvPr/>
            </p:nvSpPr>
            <p:spPr bwMode="auto">
              <a:xfrm>
                <a:off x="5282703" y="3983653"/>
                <a:ext cx="2263775" cy="231837"/>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ln>
            </p:spPr>
            <p:txBody>
              <a:bodyPr vert="horz" wrap="square" lIns="91440" tIns="45720" rIns="91440" bIns="45720" numCol="1" anchor="t" anchorCtr="0" compatLnSpc="1">
                <a:prstTxWarp prst="textNoShape">
                  <a:avLst/>
                </a:prstTxWarp>
              </a:bodyPr>
              <a:lstStyle/>
              <a:p>
                <a:endParaRPr lang="en-US"/>
              </a:p>
            </p:txBody>
          </p:sp>
          <p:sp>
            <p:nvSpPr>
              <p:cNvPr id="86" name="Rectangle 83">
                <a:extLst>
                  <a:ext uri="{FF2B5EF4-FFF2-40B4-BE49-F238E27FC236}">
                    <a16:creationId xmlns:a16="http://schemas.microsoft.com/office/drawing/2014/main" id="{0926B1ED-665F-EE39-BA4D-70CE150DA6C2}"/>
                  </a:ext>
                </a:extLst>
              </p:cNvPr>
              <p:cNvSpPr>
                <a:spLocks noChangeArrowheads="1"/>
              </p:cNvSpPr>
              <p:nvPr/>
            </p:nvSpPr>
            <p:spPr bwMode="auto">
              <a:xfrm>
                <a:off x="5282703" y="3983653"/>
                <a:ext cx="2263775" cy="2318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46" name="Group 145">
              <a:extLst>
                <a:ext uri="{FF2B5EF4-FFF2-40B4-BE49-F238E27FC236}">
                  <a16:creationId xmlns:a16="http://schemas.microsoft.com/office/drawing/2014/main" id="{03A39392-6759-F08C-7000-160D5DC0E292}"/>
                </a:ext>
              </a:extLst>
            </p:cNvPr>
            <p:cNvGrpSpPr/>
            <p:nvPr userDrawn="1"/>
          </p:nvGrpSpPr>
          <p:grpSpPr>
            <a:xfrm>
              <a:off x="5313659" y="4005084"/>
              <a:ext cx="498534" cy="192016"/>
              <a:chOff x="5300959" y="3988730"/>
              <a:chExt cx="498534" cy="192016"/>
            </a:xfrm>
          </p:grpSpPr>
          <p:sp>
            <p:nvSpPr>
              <p:cNvPr id="87" name="Rectangle 84">
                <a:extLst>
                  <a:ext uri="{FF2B5EF4-FFF2-40B4-BE49-F238E27FC236}">
                    <a16:creationId xmlns:a16="http://schemas.microsoft.com/office/drawing/2014/main" id="{E74C6C74-AA24-4BED-2DE9-C3CEEE41E22E}"/>
                  </a:ext>
                </a:extLst>
              </p:cNvPr>
              <p:cNvSpPr>
                <a:spLocks noChangeArrowheads="1"/>
              </p:cNvSpPr>
              <p:nvPr userDrawn="1"/>
            </p:nvSpPr>
            <p:spPr bwMode="auto">
              <a:xfrm>
                <a:off x="5300959" y="3988717"/>
                <a:ext cx="604472" cy="123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800" b="1" i="0" strike="noStrike" cap="none" baseline="0">
                    <a:solidFill>
                      <a:srgbClr val="FFFFFF"/>
                    </a:solidFill>
                    <a:effectLst/>
                    <a:latin typeface="Segoe UI"/>
                    <a:ea typeface="Segoe UI"/>
                    <a:cs typeface="Segoe UI"/>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5">
                <a:extLst>
                  <a:ext uri="{FF2B5EF4-FFF2-40B4-BE49-F238E27FC236}">
                    <a16:creationId xmlns:a16="http://schemas.microsoft.com/office/drawing/2014/main" id="{254A3C47-E33D-DC85-0DD1-1F09A870D429}"/>
                  </a:ext>
                </a:extLst>
              </p:cNvPr>
              <p:cNvSpPr>
                <a:spLocks noChangeArrowheads="1"/>
              </p:cNvSpPr>
              <p:nvPr userDrawn="1"/>
            </p:nvSpPr>
            <p:spPr bwMode="auto">
              <a:xfrm>
                <a:off x="5300959" y="4103794"/>
                <a:ext cx="242110"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3" name="Group 142">
              <a:extLst>
                <a:ext uri="{FF2B5EF4-FFF2-40B4-BE49-F238E27FC236}">
                  <a16:creationId xmlns:a16="http://schemas.microsoft.com/office/drawing/2014/main" id="{E479D2A2-9248-FADA-F6A8-80F2958F0621}"/>
                </a:ext>
              </a:extLst>
            </p:cNvPr>
            <p:cNvGrpSpPr/>
            <p:nvPr userDrawn="1"/>
          </p:nvGrpSpPr>
          <p:grpSpPr>
            <a:xfrm>
              <a:off x="5313659" y="4724853"/>
              <a:ext cx="211596" cy="207246"/>
              <a:chOff x="5294609" y="4714700"/>
              <a:chExt cx="211596" cy="207246"/>
            </a:xfrm>
          </p:grpSpPr>
          <p:sp>
            <p:nvSpPr>
              <p:cNvPr id="93" name="Rectangle 90">
                <a:extLst>
                  <a:ext uri="{FF2B5EF4-FFF2-40B4-BE49-F238E27FC236}">
                    <a16:creationId xmlns:a16="http://schemas.microsoft.com/office/drawing/2014/main" id="{7C14974B-01E7-053F-C185-D7AF06732E9F}"/>
                  </a:ext>
                </a:extLst>
              </p:cNvPr>
              <p:cNvSpPr>
                <a:spLocks noChangeArrowheads="1"/>
              </p:cNvSpPr>
              <p:nvPr userDrawn="1"/>
            </p:nvSpPr>
            <p:spPr bwMode="auto">
              <a:xfrm>
                <a:off x="5292996" y="4714683"/>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CD9BCF"/>
                    </a:solidFill>
                    <a:effectLst/>
                    <a:latin typeface="Segoe UI Black"/>
                    <a:ea typeface="Segoe UI Black"/>
                    <a:cs typeface="Segoe UI Black"/>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94" name="Rectangle 91">
                <a:extLst>
                  <a:ext uri="{FF2B5EF4-FFF2-40B4-BE49-F238E27FC236}">
                    <a16:creationId xmlns:a16="http://schemas.microsoft.com/office/drawing/2014/main" id="{549DD738-C45C-386A-8917-EAAC0DA91431}"/>
                  </a:ext>
                </a:extLst>
              </p:cNvPr>
              <p:cNvSpPr>
                <a:spLocks noChangeArrowheads="1"/>
              </p:cNvSpPr>
              <p:nvPr userDrawn="1"/>
            </p:nvSpPr>
            <p:spPr bwMode="auto">
              <a:xfrm>
                <a:off x="5397771" y="4714683"/>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5" name="Rectangle 92">
                <a:extLst>
                  <a:ext uri="{FF2B5EF4-FFF2-40B4-BE49-F238E27FC236}">
                    <a16:creationId xmlns:a16="http://schemas.microsoft.com/office/drawing/2014/main" id="{61D59B05-DAD6-BBC5-343C-A42D46F9CD87}"/>
                  </a:ext>
                </a:extLst>
              </p:cNvPr>
              <p:cNvSpPr>
                <a:spLocks noChangeArrowheads="1"/>
              </p:cNvSpPr>
              <p:nvPr userDrawn="1"/>
            </p:nvSpPr>
            <p:spPr bwMode="auto">
              <a:xfrm>
                <a:off x="5294609" y="4844993"/>
                <a:ext cx="24050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9" name="Group 138">
              <a:extLst>
                <a:ext uri="{FF2B5EF4-FFF2-40B4-BE49-F238E27FC236}">
                  <a16:creationId xmlns:a16="http://schemas.microsoft.com/office/drawing/2014/main" id="{0FB38F0E-9447-70F7-2C96-EE118D6178E7}"/>
                </a:ext>
              </a:extLst>
            </p:cNvPr>
            <p:cNvGrpSpPr/>
            <p:nvPr userDrawn="1"/>
          </p:nvGrpSpPr>
          <p:grpSpPr>
            <a:xfrm>
              <a:off x="5313659" y="4235797"/>
              <a:ext cx="229230" cy="208939"/>
              <a:chOff x="5294609" y="4225643"/>
              <a:chExt cx="229230" cy="208939"/>
            </a:xfrm>
          </p:grpSpPr>
          <p:sp>
            <p:nvSpPr>
              <p:cNvPr id="97" name="Rectangle 94">
                <a:extLst>
                  <a:ext uri="{FF2B5EF4-FFF2-40B4-BE49-F238E27FC236}">
                    <a16:creationId xmlns:a16="http://schemas.microsoft.com/office/drawing/2014/main" id="{43BBB099-87DC-5BA5-BC4D-B2C9646D644E}"/>
                  </a:ext>
                </a:extLst>
              </p:cNvPr>
              <p:cNvSpPr>
                <a:spLocks noChangeArrowheads="1"/>
              </p:cNvSpPr>
              <p:nvPr userDrawn="1"/>
            </p:nvSpPr>
            <p:spPr bwMode="auto">
              <a:xfrm>
                <a:off x="5292994" y="422562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02573"/>
                    </a:solidFill>
                    <a:effectLst/>
                    <a:latin typeface="Segoe UI Black"/>
                    <a:ea typeface="Segoe UI Black"/>
                    <a:cs typeface="Segoe UI Black"/>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98" name="Rectangle 95">
                <a:extLst>
                  <a:ext uri="{FF2B5EF4-FFF2-40B4-BE49-F238E27FC236}">
                    <a16:creationId xmlns:a16="http://schemas.microsoft.com/office/drawing/2014/main" id="{264AF6E2-1295-4160-DA19-2585B363120A}"/>
                  </a:ext>
                </a:extLst>
              </p:cNvPr>
              <p:cNvSpPr>
                <a:spLocks noChangeArrowheads="1"/>
              </p:cNvSpPr>
              <p:nvPr userDrawn="1"/>
            </p:nvSpPr>
            <p:spPr bwMode="auto">
              <a:xfrm>
                <a:off x="5397769" y="422562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9" name="Rectangle 96">
                <a:extLst>
                  <a:ext uri="{FF2B5EF4-FFF2-40B4-BE49-F238E27FC236}">
                    <a16:creationId xmlns:a16="http://schemas.microsoft.com/office/drawing/2014/main" id="{C0386FF5-BA0F-B1F4-88CA-8E64D2C66F76}"/>
                  </a:ext>
                </a:extLst>
              </p:cNvPr>
              <p:cNvSpPr>
                <a:spLocks noChangeArrowheads="1"/>
              </p:cNvSpPr>
              <p:nvPr userDrawn="1"/>
            </p:nvSpPr>
            <p:spPr bwMode="auto">
              <a:xfrm>
                <a:off x="5294611" y="4357631"/>
                <a:ext cx="259747"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13" name="Group 112">
              <a:extLst>
                <a:ext uri="{FF2B5EF4-FFF2-40B4-BE49-F238E27FC236}">
                  <a16:creationId xmlns:a16="http://schemas.microsoft.com/office/drawing/2014/main" id="{74DB690E-251B-681D-745F-89FC4E1C51B3}"/>
                </a:ext>
              </a:extLst>
            </p:cNvPr>
            <p:cNvGrpSpPr/>
            <p:nvPr userDrawn="1"/>
          </p:nvGrpSpPr>
          <p:grpSpPr>
            <a:xfrm>
              <a:off x="5280323" y="4976997"/>
              <a:ext cx="2263775" cy="231837"/>
              <a:chOff x="5280323" y="4976997"/>
              <a:chExt cx="2263775" cy="231837"/>
            </a:xfrm>
          </p:grpSpPr>
          <p:sp>
            <p:nvSpPr>
              <p:cNvPr id="100" name="Rectangle 97">
                <a:extLst>
                  <a:ext uri="{FF2B5EF4-FFF2-40B4-BE49-F238E27FC236}">
                    <a16:creationId xmlns:a16="http://schemas.microsoft.com/office/drawing/2014/main" id="{9FC9884F-56BC-C520-8E0E-60C18D1D943A}"/>
                  </a:ext>
                </a:extLst>
              </p:cNvPr>
              <p:cNvSpPr>
                <a:spLocks noChangeArrowheads="1"/>
              </p:cNvSpPr>
              <p:nvPr/>
            </p:nvSpPr>
            <p:spPr bwMode="auto">
              <a:xfrm>
                <a:off x="5280323" y="4976997"/>
                <a:ext cx="2263775" cy="23183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Rectangle 98">
                <a:extLst>
                  <a:ext uri="{FF2B5EF4-FFF2-40B4-BE49-F238E27FC236}">
                    <a16:creationId xmlns:a16="http://schemas.microsoft.com/office/drawing/2014/main" id="{5EBE61B3-D140-8057-1328-6C3FE7AD74AB}"/>
                  </a:ext>
                </a:extLst>
              </p:cNvPr>
              <p:cNvSpPr>
                <a:spLocks noChangeArrowheads="1"/>
              </p:cNvSpPr>
              <p:nvPr/>
            </p:nvSpPr>
            <p:spPr bwMode="auto">
              <a:xfrm>
                <a:off x="5280323" y="4976997"/>
                <a:ext cx="2263775" cy="231837"/>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102" name="Rectangle 99">
              <a:extLst>
                <a:ext uri="{FF2B5EF4-FFF2-40B4-BE49-F238E27FC236}">
                  <a16:creationId xmlns:a16="http://schemas.microsoft.com/office/drawing/2014/main" id="{EE5B0239-44FF-64AE-A0A3-E7AEC4F719D0}"/>
                </a:ext>
              </a:extLst>
            </p:cNvPr>
            <p:cNvSpPr>
              <a:spLocks noChangeArrowheads="1"/>
            </p:cNvSpPr>
            <p:nvPr userDrawn="1"/>
          </p:nvSpPr>
          <p:spPr bwMode="auto">
            <a:xfrm>
              <a:off x="5311279" y="4998419"/>
              <a:ext cx="240506"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grpSp>
          <p:nvGrpSpPr>
            <p:cNvPr id="111" name="Group 110">
              <a:extLst>
                <a:ext uri="{FF2B5EF4-FFF2-40B4-BE49-F238E27FC236}">
                  <a16:creationId xmlns:a16="http://schemas.microsoft.com/office/drawing/2014/main" id="{287256CD-A0D0-C353-3C91-F51DC6CEAA74}"/>
                </a:ext>
              </a:extLst>
            </p:cNvPr>
            <p:cNvGrpSpPr/>
            <p:nvPr userDrawn="1"/>
          </p:nvGrpSpPr>
          <p:grpSpPr>
            <a:xfrm>
              <a:off x="2987973" y="3983653"/>
              <a:ext cx="2263775" cy="231837"/>
              <a:chOff x="2987972" y="3987038"/>
              <a:chExt cx="2268538" cy="230144"/>
            </a:xfrm>
          </p:grpSpPr>
          <p:sp>
            <p:nvSpPr>
              <p:cNvPr id="103" name="Rectangle 100">
                <a:extLst>
                  <a:ext uri="{FF2B5EF4-FFF2-40B4-BE49-F238E27FC236}">
                    <a16:creationId xmlns:a16="http://schemas.microsoft.com/office/drawing/2014/main" id="{9CADF0D7-2065-1313-DBFF-EB0C09C03DB9}"/>
                  </a:ext>
                </a:extLst>
              </p:cNvPr>
              <p:cNvSpPr>
                <a:spLocks noChangeArrowheads="1"/>
              </p:cNvSpPr>
              <p:nvPr/>
            </p:nvSpPr>
            <p:spPr bwMode="auto">
              <a:xfrm>
                <a:off x="2987972" y="3987038"/>
                <a:ext cx="2268538" cy="230144"/>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Rectangle 101">
                <a:extLst>
                  <a:ext uri="{FF2B5EF4-FFF2-40B4-BE49-F238E27FC236}">
                    <a16:creationId xmlns:a16="http://schemas.microsoft.com/office/drawing/2014/main" id="{213DC802-E7FC-525B-6021-DF572FA385D6}"/>
                  </a:ext>
                </a:extLst>
              </p:cNvPr>
              <p:cNvSpPr>
                <a:spLocks noChangeArrowheads="1"/>
              </p:cNvSpPr>
              <p:nvPr/>
            </p:nvSpPr>
            <p:spPr bwMode="auto">
              <a:xfrm>
                <a:off x="2987972" y="3987038"/>
                <a:ext cx="2268538" cy="230144"/>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5" name="Group 144">
              <a:extLst>
                <a:ext uri="{FF2B5EF4-FFF2-40B4-BE49-F238E27FC236}">
                  <a16:creationId xmlns:a16="http://schemas.microsoft.com/office/drawing/2014/main" id="{18F04B8B-7F04-6D66-32DA-88D780BD0093}"/>
                </a:ext>
              </a:extLst>
            </p:cNvPr>
            <p:cNvGrpSpPr/>
            <p:nvPr userDrawn="1"/>
          </p:nvGrpSpPr>
          <p:grpSpPr>
            <a:xfrm>
              <a:off x="3018929" y="4005084"/>
              <a:ext cx="615553" cy="190324"/>
              <a:chOff x="3002259" y="3980269"/>
              <a:chExt cx="615553" cy="190324"/>
            </a:xfrm>
          </p:grpSpPr>
          <p:sp>
            <p:nvSpPr>
              <p:cNvPr id="105" name="Rectangle 102">
                <a:extLst>
                  <a:ext uri="{FF2B5EF4-FFF2-40B4-BE49-F238E27FC236}">
                    <a16:creationId xmlns:a16="http://schemas.microsoft.com/office/drawing/2014/main" id="{BB53E1AC-8C2B-8E90-2391-F13AB0E7DBCC}"/>
                  </a:ext>
                </a:extLst>
              </p:cNvPr>
              <p:cNvSpPr>
                <a:spLocks noChangeArrowheads="1"/>
              </p:cNvSpPr>
              <p:nvPr userDrawn="1"/>
            </p:nvSpPr>
            <p:spPr bwMode="auto">
              <a:xfrm>
                <a:off x="3002261" y="3980257"/>
                <a:ext cx="742363" cy="123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800" b="1" i="0" strike="noStrike" cap="none" baseline="0">
                    <a:solidFill>
                      <a:srgbClr val="1A1A1A"/>
                    </a:solidFill>
                    <a:effectLst/>
                    <a:latin typeface="Segoe UI"/>
                    <a:ea typeface="Segoe UI"/>
                    <a:cs typeface="Segoe UI"/>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 name="Rectangle 103">
                <a:extLst>
                  <a:ext uri="{FF2B5EF4-FFF2-40B4-BE49-F238E27FC236}">
                    <a16:creationId xmlns:a16="http://schemas.microsoft.com/office/drawing/2014/main" id="{A24372CE-4853-1243-3F7B-9DA51361BDF1}"/>
                  </a:ext>
                </a:extLst>
              </p:cNvPr>
              <p:cNvSpPr>
                <a:spLocks noChangeArrowheads="1"/>
              </p:cNvSpPr>
              <p:nvPr userDrawn="1"/>
            </p:nvSpPr>
            <p:spPr bwMode="auto">
              <a:xfrm>
                <a:off x="3002258" y="4093641"/>
                <a:ext cx="246920"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36" name="Group 135">
              <a:extLst>
                <a:ext uri="{FF2B5EF4-FFF2-40B4-BE49-F238E27FC236}">
                  <a16:creationId xmlns:a16="http://schemas.microsoft.com/office/drawing/2014/main" id="{3C8DABFC-1CEB-07F7-BB5C-77B402457E04}"/>
                </a:ext>
              </a:extLst>
            </p:cNvPr>
            <p:cNvGrpSpPr/>
            <p:nvPr userDrawn="1"/>
          </p:nvGrpSpPr>
          <p:grpSpPr>
            <a:xfrm>
              <a:off x="4161941" y="4479479"/>
              <a:ext cx="213200" cy="208939"/>
              <a:chOff x="4150022" y="4465941"/>
              <a:chExt cx="213200" cy="208939"/>
            </a:xfrm>
          </p:grpSpPr>
          <p:sp>
            <p:nvSpPr>
              <p:cNvPr id="34" name="Rectangle 33">
                <a:extLst>
                  <a:ext uri="{FF2B5EF4-FFF2-40B4-BE49-F238E27FC236}">
                    <a16:creationId xmlns:a16="http://schemas.microsoft.com/office/drawing/2014/main" id="{009D7676-24C9-D284-7745-1E0476D2DEBF}"/>
                  </a:ext>
                </a:extLst>
              </p:cNvPr>
              <p:cNvSpPr>
                <a:spLocks noChangeArrowheads="1"/>
              </p:cNvSpPr>
              <p:nvPr userDrawn="1"/>
            </p:nvSpPr>
            <p:spPr bwMode="auto">
              <a:xfrm>
                <a:off x="4148408" y="4465925"/>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5" name="Rectangle 34">
                <a:extLst>
                  <a:ext uri="{FF2B5EF4-FFF2-40B4-BE49-F238E27FC236}">
                    <a16:creationId xmlns:a16="http://schemas.microsoft.com/office/drawing/2014/main" id="{2E067B62-8905-E5CF-2CE1-AFF4CC56BBBE}"/>
                  </a:ext>
                </a:extLst>
              </p:cNvPr>
              <p:cNvSpPr>
                <a:spLocks noChangeArrowheads="1"/>
              </p:cNvSpPr>
              <p:nvPr userDrawn="1"/>
            </p:nvSpPr>
            <p:spPr bwMode="auto">
              <a:xfrm>
                <a:off x="4150023" y="4597927"/>
                <a:ext cx="242110"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F4364C</a:t>
                </a:r>
                <a:endParaRPr kumimoji="0" lang="en-US" altLang="en-US" sz="1800" b="0" i="0" u="none" strike="noStrike" cap="none" normalizeH="0" baseline="0">
                  <a:ln>
                    <a:noFill/>
                  </a:ln>
                  <a:effectLst/>
                  <a:latin typeface="Arial" panose="020B0604020202020204" pitchFamily="34" charset="0"/>
                </a:endParaRPr>
              </a:p>
            </p:txBody>
          </p:sp>
          <p:sp>
            <p:nvSpPr>
              <p:cNvPr id="107" name="Rectangle 14">
                <a:extLst>
                  <a:ext uri="{FF2B5EF4-FFF2-40B4-BE49-F238E27FC236}">
                    <a16:creationId xmlns:a16="http://schemas.microsoft.com/office/drawing/2014/main" id="{2ED8ED90-F6E9-2DDA-1208-72514C2421A6}"/>
                  </a:ext>
                </a:extLst>
              </p:cNvPr>
              <p:cNvSpPr>
                <a:spLocks noChangeArrowheads="1"/>
              </p:cNvSpPr>
              <p:nvPr userDrawn="1"/>
            </p:nvSpPr>
            <p:spPr bwMode="auto">
              <a:xfrm>
                <a:off x="4251596" y="4469309"/>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141" name="Group 140">
              <a:extLst>
                <a:ext uri="{FF2B5EF4-FFF2-40B4-BE49-F238E27FC236}">
                  <a16:creationId xmlns:a16="http://schemas.microsoft.com/office/drawing/2014/main" id="{C6A5BD4A-5654-7FD6-88CD-CC557137A7E1}"/>
                </a:ext>
              </a:extLst>
            </p:cNvPr>
            <p:cNvGrpSpPr/>
            <p:nvPr userDrawn="1"/>
          </p:nvGrpSpPr>
          <p:grpSpPr>
            <a:xfrm>
              <a:off x="5313659" y="4479479"/>
              <a:ext cx="222818" cy="212323"/>
              <a:chOff x="5294609" y="4467633"/>
              <a:chExt cx="222818" cy="212323"/>
            </a:xfrm>
          </p:grpSpPr>
          <p:sp>
            <p:nvSpPr>
              <p:cNvPr id="90" name="Rectangle 87">
                <a:extLst>
                  <a:ext uri="{FF2B5EF4-FFF2-40B4-BE49-F238E27FC236}">
                    <a16:creationId xmlns:a16="http://schemas.microsoft.com/office/drawing/2014/main" id="{FA7F27EC-A77A-8BF3-4B0F-B4D399479DE1}"/>
                  </a:ext>
                </a:extLst>
              </p:cNvPr>
              <p:cNvSpPr>
                <a:spLocks noChangeArrowheads="1"/>
              </p:cNvSpPr>
              <p:nvPr userDrawn="1"/>
            </p:nvSpPr>
            <p:spPr bwMode="auto">
              <a:xfrm>
                <a:off x="5292995" y="4467617"/>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1" name="Rectangle 88">
                <a:extLst>
                  <a:ext uri="{FF2B5EF4-FFF2-40B4-BE49-F238E27FC236}">
                    <a16:creationId xmlns:a16="http://schemas.microsoft.com/office/drawing/2014/main" id="{7C28F47B-8AD2-FB82-20F0-2CB83DCA9D13}"/>
                  </a:ext>
                </a:extLst>
              </p:cNvPr>
              <p:cNvSpPr>
                <a:spLocks noChangeArrowheads="1"/>
              </p:cNvSpPr>
              <p:nvPr userDrawn="1"/>
            </p:nvSpPr>
            <p:spPr bwMode="auto">
              <a:xfrm>
                <a:off x="5294609" y="4603005"/>
                <a:ext cx="254937" cy="7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C73ECC</a:t>
                </a:r>
                <a:endParaRPr kumimoji="0" lang="en-US" altLang="en-US" sz="1800" b="0" i="0" u="none" strike="noStrike" cap="none" normalizeH="0" baseline="0">
                  <a:ln>
                    <a:noFill/>
                  </a:ln>
                  <a:effectLst/>
                  <a:latin typeface="Arial" panose="020B0604020202020204" pitchFamily="34" charset="0"/>
                </a:endParaRPr>
              </a:p>
            </p:txBody>
          </p:sp>
          <p:sp>
            <p:nvSpPr>
              <p:cNvPr id="108" name="Rectangle 95">
                <a:extLst>
                  <a:ext uri="{FF2B5EF4-FFF2-40B4-BE49-F238E27FC236}">
                    <a16:creationId xmlns:a16="http://schemas.microsoft.com/office/drawing/2014/main" id="{0397442F-6B46-BE99-3B0D-0CDBCE463173}"/>
                  </a:ext>
                </a:extLst>
              </p:cNvPr>
              <p:cNvSpPr>
                <a:spLocks noChangeArrowheads="1"/>
              </p:cNvSpPr>
              <p:nvPr userDrawn="1"/>
            </p:nvSpPr>
            <p:spPr bwMode="auto">
              <a:xfrm>
                <a:off x="5397770" y="4467616"/>
                <a:ext cx="99409" cy="153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sp>
        <p:nvSpPr>
          <p:cNvPr id="149" name="Footer Placeholder 2">
            <a:extLst>
              <a:ext uri="{FF2B5EF4-FFF2-40B4-BE49-F238E27FC236}">
                <a16:creationId xmlns:a16="http://schemas.microsoft.com/office/drawing/2014/main" id="{D484F4D1-D679-5A64-EFBC-0310E92E663F}"/>
              </a:ext>
            </a:extLst>
          </p:cNvPr>
          <p:cNvSpPr txBox="1"/>
          <p:nvPr userDrawn="1"/>
        </p:nvSpPr>
        <p:spPr>
          <a:xfrm>
            <a:off x="579438" y="6421083"/>
            <a:ext cx="4151312" cy="197976"/>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1913399993"/>
      </p:ext>
    </p:extLst>
  </p:cSld>
  <p:clrMap bg1="lt1" tx1="dk1" bg2="lt2" tx2="dk2" accent1="accent1" accent2="accent2" accent3="accent3" accent4="accent4" accent5="accent5" accent6="accent6" hlink="hlink" folHlink="folHlink"/>
  <p:sldLayoutIdLst>
    <p:sldLayoutId id="2147485017" r:id="rId1"/>
    <p:sldLayoutId id="2147485018" r:id="rId2"/>
    <p:sldLayoutId id="2147485019" r:id="rId3"/>
    <p:sldLayoutId id="2147485020" r:id="rId4"/>
    <p:sldLayoutId id="2147485021" r:id="rId5"/>
    <p:sldLayoutId id="2147485022" r:id="rId6"/>
    <p:sldLayoutId id="2147485023" r:id="rId7"/>
    <p:sldLayoutId id="2147485024" r:id="rId8"/>
    <p:sldLayoutId id="2147485025" r:id="rId9"/>
    <p:sldLayoutId id="2147485026" r:id="rId10"/>
    <p:sldLayoutId id="2147485027" r:id="rId11"/>
    <p:sldLayoutId id="2147485028" r:id="rId12"/>
    <p:sldLayoutId id="2147485029" r:id="rId13"/>
    <p:sldLayoutId id="2147485030" r:id="rId14"/>
    <p:sldLayoutId id="2147485031" r:id="rId15"/>
    <p:sldLayoutId id="2147485032" r:id="rId16"/>
    <p:sldLayoutId id="2147485033" r:id="rId17"/>
    <p:sldLayoutId id="2147485034" r:id="rId18"/>
    <p:sldLayoutId id="2147485035" r:id="rId19"/>
    <p:sldLayoutId id="2147485036" r:id="rId20"/>
    <p:sldLayoutId id="2147485037" r:id="rId21"/>
    <p:sldLayoutId id="2147485038" r:id="rId22"/>
    <p:sldLayoutId id="2147485039" r:id="rId23"/>
    <p:sldLayoutId id="2147485040" r:id="rId24"/>
    <p:sldLayoutId id="2147485041" r:id="rId25"/>
    <p:sldLayoutId id="2147485042" r:id="rId26"/>
    <p:sldLayoutId id="2147485043" r:id="rId27"/>
    <p:sldLayoutId id="2147485044" r:id="rId28"/>
    <p:sldLayoutId id="2147485045" r:id="rId29"/>
    <p:sldLayoutId id="2147485046" r:id="rId30"/>
    <p:sldLayoutId id="2147485047" r:id="rId31"/>
    <p:sldLayoutId id="2147485048" r:id="rId32"/>
    <p:sldLayoutId id="2147485049" r:id="rId33"/>
    <p:sldLayoutId id="2147485050" r:id="rId34"/>
    <p:sldLayoutId id="2147485051" r:id="rId35"/>
    <p:sldLayoutId id="2147485052" r:id="rId36"/>
    <p:sldLayoutId id="2147485053" r:id="rId37"/>
    <p:sldLayoutId id="2147485054" r:id="rId38"/>
    <p:sldLayoutId id="2147485055" r:id="rId39"/>
    <p:sldLayoutId id="2147485056" r:id="rId40"/>
    <p:sldLayoutId id="2147485057" r:id="rId41"/>
    <p:sldLayoutId id="2147485058" r:id="rId42"/>
    <p:sldLayoutId id="2147485059" r:id="rId43"/>
    <p:sldLayoutId id="2147485060" r:id="rId44"/>
    <p:sldLayoutId id="2147485061" r:id="rId45"/>
    <p:sldLayoutId id="2147485062" r:id="rId46"/>
    <p:sldLayoutId id="2147485063" r:id="rId47"/>
    <p:sldLayoutId id="2147485064" r:id="rId48"/>
    <p:sldLayoutId id="2147485065" r:id="rId49"/>
    <p:sldLayoutId id="2147485066" r:id="rId50"/>
    <p:sldLayoutId id="2147485067" r:id="rId51"/>
    <p:sldLayoutId id="2147485068" r:id="rId52"/>
    <p:sldLayoutId id="2147485069" r:id="rId53"/>
  </p:sldLayoutIdLst>
  <p:transition>
    <p:fade/>
  </p:transition>
  <p:txStyles>
    <p:titleStyle>
      <a:lvl1pPr algn="l" defTabSz="932742" rtl="0" eaLnBrk="1" latinLnBrk="0" hangingPunct="1">
        <a:lnSpc>
          <a:spcPct val="100000"/>
        </a:lnSpc>
        <a:spcBef>
          <a:spcPct val="0"/>
        </a:spcBef>
        <a:buNone/>
        <a:defRPr lang="en-US" sz="32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2.xml"/><Relationship Id="rId1" Type="http://schemas.openxmlformats.org/officeDocument/2006/relationships/slideLayout" Target="../slideLayouts/slideLayout27.xml"/><Relationship Id="rId6" Type="http://schemas.openxmlformats.org/officeDocument/2006/relationships/image" Target="../media/image28.svg"/><Relationship Id="rId5" Type="http://schemas.openxmlformats.org/officeDocument/2006/relationships/image" Target="../media/image27.svg"/><Relationship Id="rId10" Type="http://schemas.openxmlformats.org/officeDocument/2006/relationships/image" Target="../media/image32.svg"/><Relationship Id="rId19" Type="http://schemas.openxmlformats.org/officeDocument/2006/relationships/image" Target="../media/image43.png"/><Relationship Id="rId4" Type="http://schemas.openxmlformats.org/officeDocument/2006/relationships/image" Target="../media/image26.svg"/><Relationship Id="rId9" Type="http://schemas.openxmlformats.org/officeDocument/2006/relationships/image" Target="../media/image31.svg"/></Relationships>
</file>

<file path=ppt/slides/_rels/slide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svg"/><Relationship Id="rId7" Type="http://schemas.openxmlformats.org/officeDocument/2006/relationships/image" Target="../media/image31.svg"/><Relationship Id="rId17" Type="http://schemas.openxmlformats.org/officeDocument/2006/relationships/image" Target="../media/image33.svg"/><Relationship Id="rId2" Type="http://schemas.openxmlformats.org/officeDocument/2006/relationships/notesSlide" Target="../notesSlides/notesSlide3.xml"/><Relationship Id="rId16" Type="http://schemas.openxmlformats.org/officeDocument/2006/relationships/image" Target="../media/image25.svg"/><Relationship Id="rId1" Type="http://schemas.openxmlformats.org/officeDocument/2006/relationships/slideLayout" Target="../slideLayouts/slideLayout27.xml"/><Relationship Id="rId6" Type="http://schemas.openxmlformats.org/officeDocument/2006/relationships/image" Target="../media/image30.svg"/><Relationship Id="rId5" Type="http://schemas.openxmlformats.org/officeDocument/2006/relationships/image" Target="../media/image29.svg"/><Relationship Id="rId15" Type="http://schemas.openxmlformats.org/officeDocument/2006/relationships/image" Target="../media/image43.png"/><Relationship Id="rId4" Type="http://schemas.openxmlformats.org/officeDocument/2006/relationships/image" Target="../media/image28.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4.svg"/><Relationship Id="rId18" Type="http://schemas.openxmlformats.org/officeDocument/2006/relationships/image" Target="../media/image49.svg"/><Relationship Id="rId3" Type="http://schemas.openxmlformats.org/officeDocument/2006/relationships/image" Target="../media/image34.png"/><Relationship Id="rId7" Type="http://schemas.openxmlformats.org/officeDocument/2006/relationships/image" Target="../media/image38.svg"/><Relationship Id="rId12" Type="http://schemas.openxmlformats.org/officeDocument/2006/relationships/image" Target="../media/image43.svg"/><Relationship Id="rId17" Type="http://schemas.openxmlformats.org/officeDocument/2006/relationships/image" Target="../media/image48.svg"/><Relationship Id="rId2" Type="http://schemas.openxmlformats.org/officeDocument/2006/relationships/notesSlide" Target="../notesSlides/notesSlide5.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120.xml"/><Relationship Id="rId6" Type="http://schemas.openxmlformats.org/officeDocument/2006/relationships/image" Target="../media/image37.png"/><Relationship Id="rId11" Type="http://schemas.openxmlformats.org/officeDocument/2006/relationships/image" Target="../media/image42.svg"/><Relationship Id="rId5" Type="http://schemas.openxmlformats.org/officeDocument/2006/relationships/image" Target="../media/image36.png"/><Relationship Id="rId15" Type="http://schemas.openxmlformats.org/officeDocument/2006/relationships/image" Target="../media/image46.svg"/><Relationship Id="rId10" Type="http://schemas.openxmlformats.org/officeDocument/2006/relationships/image" Target="../media/image41.png"/><Relationship Id="rId19" Type="http://schemas.openxmlformats.org/officeDocument/2006/relationships/image" Target="../media/image50.svg"/><Relationship Id="rId4" Type="http://schemas.openxmlformats.org/officeDocument/2006/relationships/image" Target="../media/image35.png"/><Relationship Id="rId9" Type="http://schemas.openxmlformats.org/officeDocument/2006/relationships/image" Target="../media/image40.svg"/><Relationship Id="rId14" Type="http://schemas.openxmlformats.org/officeDocument/2006/relationships/image" Target="../media/image45.svg"/></Relationships>
</file>

<file path=ppt/slides/_rels/slide6.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120.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svg"/></Relationships>
</file>

<file path=ppt/slides/_rels/slide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20.xml"/></Relationships>
</file>

<file path=ppt/slides/_rels/slide8.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58.svg"/><Relationship Id="rId7" Type="http://schemas.openxmlformats.org/officeDocument/2006/relationships/image" Target="../media/image62.svg"/><Relationship Id="rId2" Type="http://schemas.openxmlformats.org/officeDocument/2006/relationships/notesSlide" Target="../notesSlides/notesSlide8.xml"/><Relationship Id="rId1" Type="http://schemas.openxmlformats.org/officeDocument/2006/relationships/slideLayout" Target="../slideLayouts/slideLayout120.xml"/><Relationship Id="rId6" Type="http://schemas.openxmlformats.org/officeDocument/2006/relationships/image" Target="../media/image61.svg"/><Relationship Id="rId5" Type="http://schemas.openxmlformats.org/officeDocument/2006/relationships/image" Target="../media/image60.svg"/><Relationship Id="rId4" Type="http://schemas.openxmlformats.org/officeDocument/2006/relationships/image" Target="../media/image59.svg"/></Relationships>
</file>

<file path=ppt/slides/_rels/slide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xml"/><Relationship Id="rId1" Type="http://schemas.openxmlformats.org/officeDocument/2006/relationships/slideLayout" Target="../slideLayouts/slideLayout69.xml"/><Relationship Id="rId4" Type="http://schemas.openxmlformats.org/officeDocument/2006/relationships/hyperlink" Target="https://go.microsoft.com/fwlink/?linkid=2353647"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69.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hyperlink" Target="https://go.microsoft.com/fwlink/?linkid=2354118"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1.xml"/><Relationship Id="rId1" Type="http://schemas.openxmlformats.org/officeDocument/2006/relationships/slideLayout" Target="../slideLayouts/slideLayout27.xml"/><Relationship Id="rId4" Type="http://schemas.openxmlformats.org/officeDocument/2006/relationships/image" Target="../media/image73.svg"/></Relationships>
</file>

<file path=ppt/slides/_rels/slide22.xml.rels><?xml version="1.0" encoding="UTF-8" standalone="yes"?>
<Relationships xmlns="http://schemas.openxmlformats.org/package/2006/relationships"><Relationship Id="rId3" Type="http://schemas.openxmlformats.org/officeDocument/2006/relationships/image" Target="../media/image72.svg"/><Relationship Id="rId2" Type="http://schemas.openxmlformats.org/officeDocument/2006/relationships/notesSlide" Target="../notesSlides/notesSlide22.xml"/><Relationship Id="rId1" Type="http://schemas.openxmlformats.org/officeDocument/2006/relationships/slideLayout" Target="../slideLayouts/slideLayout27.xml"/><Relationship Id="rId4" Type="http://schemas.openxmlformats.org/officeDocument/2006/relationships/image" Target="../media/image73.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5.xml"/><Relationship Id="rId1" Type="http://schemas.openxmlformats.org/officeDocument/2006/relationships/slideLayout" Target="../slideLayouts/slideLayout26.xml"/><Relationship Id="rId4" Type="http://schemas.openxmlformats.org/officeDocument/2006/relationships/hyperlink" Target="https://go.microsoft.com/fwlink/?linkid=2354411"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1.xml"/></Relationships>
</file>

<file path=ppt/slides/_rels/slide28.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svg"/><Relationship Id="rId2" Type="http://schemas.openxmlformats.org/officeDocument/2006/relationships/notesSlide" Target="../notesSlides/notesSlide28.xml"/><Relationship Id="rId1" Type="http://schemas.openxmlformats.org/officeDocument/2006/relationships/slideLayout" Target="../slideLayouts/slideLayout27.xml"/><Relationship Id="rId6" Type="http://schemas.openxmlformats.org/officeDocument/2006/relationships/image" Target="../media/image78.svg"/><Relationship Id="rId11" Type="http://schemas.openxmlformats.org/officeDocument/2006/relationships/image" Target="../media/image83.svg"/><Relationship Id="rId5" Type="http://schemas.openxmlformats.org/officeDocument/2006/relationships/image" Target="../media/image77.sv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7.xml"/><Relationship Id="rId1" Type="http://schemas.openxmlformats.org/officeDocument/2006/relationships/slideLayout" Target="../slideLayouts/slideLayout26.xml"/><Relationship Id="rId4" Type="http://schemas.openxmlformats.org/officeDocument/2006/relationships/hyperlink" Target="https://go.microsoft.com/fwlink/?linkid=2356945" TargetMode="Externa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5.svg"/><Relationship Id="rId7" Type="http://schemas.openxmlformats.org/officeDocument/2006/relationships/image" Target="../media/image89.svg"/><Relationship Id="rId2" Type="http://schemas.openxmlformats.org/officeDocument/2006/relationships/notesSlide" Target="../notesSlides/notesSlide42.xml"/><Relationship Id="rId1" Type="http://schemas.openxmlformats.org/officeDocument/2006/relationships/slideLayout" Target="../slideLayouts/slideLayout50.xml"/><Relationship Id="rId6" Type="http://schemas.openxmlformats.org/officeDocument/2006/relationships/image" Target="../media/image88.svg"/><Relationship Id="rId5" Type="http://schemas.openxmlformats.org/officeDocument/2006/relationships/image" Target="../media/image87.svg"/><Relationship Id="rId4" Type="http://schemas.openxmlformats.org/officeDocument/2006/relationships/image" Target="../media/image86.svg"/><Relationship Id="rId9" Type="http://schemas.openxmlformats.org/officeDocument/2006/relationships/image" Target="../media/image91.svg"/></Relationships>
</file>

<file path=ppt/slides/_rels/slide43.xml.rels><?xml version="1.0" encoding="UTF-8" standalone="yes"?>
<Relationships xmlns="http://schemas.openxmlformats.org/package/2006/relationships"><Relationship Id="rId3" Type="http://schemas.openxmlformats.org/officeDocument/2006/relationships/image" Target="../media/image92.svg"/><Relationship Id="rId2" Type="http://schemas.openxmlformats.org/officeDocument/2006/relationships/notesSlide" Target="../notesSlides/notesSlide43.xml"/><Relationship Id="rId1" Type="http://schemas.openxmlformats.org/officeDocument/2006/relationships/slideLayout" Target="../slideLayouts/slideLayout50.xml"/><Relationship Id="rId4" Type="http://schemas.openxmlformats.org/officeDocument/2006/relationships/image" Target="../media/image86.sv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1.xml"/></Relationships>
</file>

<file path=ppt/slides/_rels/slide46.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notesSlide" Target="../notesSlides/notesSlide46.xml"/><Relationship Id="rId1" Type="http://schemas.openxmlformats.org/officeDocument/2006/relationships/slideLayout" Target="../slideLayouts/slideLayout50.xml"/><Relationship Id="rId6" Type="http://schemas.openxmlformats.org/officeDocument/2006/relationships/image" Target="../media/image86.svg"/><Relationship Id="rId5" Type="http://schemas.openxmlformats.org/officeDocument/2006/relationships/image" Target="../media/image95.svg"/><Relationship Id="rId4" Type="http://schemas.openxmlformats.org/officeDocument/2006/relationships/image" Target="../media/image94.sv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0.xml"/></Relationships>
</file>

<file path=ppt/slides/_rels/slide4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48.xml"/><Relationship Id="rId1" Type="http://schemas.openxmlformats.org/officeDocument/2006/relationships/slideLayout" Target="../slideLayouts/slideLayout69.xml"/><Relationship Id="rId4" Type="http://schemas.openxmlformats.org/officeDocument/2006/relationships/hyperlink" Target="https://go.microsoft.com/fwlink/?linkid=2353440" TargetMode="Externa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4.xml"/></Relationships>
</file>

<file path=ppt/slides/_rels/slide51.xml.rels><?xml version="1.0" encoding="UTF-8" standalone="yes"?>
<Relationships xmlns="http://schemas.openxmlformats.org/package/2006/relationships"><Relationship Id="rId3" Type="http://schemas.openxmlformats.org/officeDocument/2006/relationships/image" Target="../media/image98.svg"/><Relationship Id="rId2" Type="http://schemas.openxmlformats.org/officeDocument/2006/relationships/image" Target="../media/image97.svg"/><Relationship Id="rId1" Type="http://schemas.openxmlformats.org/officeDocument/2006/relationships/slideLayout" Target="../slideLayouts/slideLayout51.xml"/><Relationship Id="rId4" Type="http://schemas.openxmlformats.org/officeDocument/2006/relationships/image" Target="../media/image99.svg"/></Relationships>
</file>

<file path=ppt/slides/_rels/slide52.xml.rels><?xml version="1.0" encoding="UTF-8" standalone="yes"?>
<Relationships xmlns="http://schemas.openxmlformats.org/package/2006/relationships"><Relationship Id="rId3" Type="http://schemas.openxmlformats.org/officeDocument/2006/relationships/image" Target="../media/image101.svg"/><Relationship Id="rId2" Type="http://schemas.openxmlformats.org/officeDocument/2006/relationships/image" Target="../media/image100.svg"/><Relationship Id="rId1" Type="http://schemas.openxmlformats.org/officeDocument/2006/relationships/slideLayout" Target="../slideLayouts/slideLayout51.xml"/><Relationship Id="rId4" Type="http://schemas.openxmlformats.org/officeDocument/2006/relationships/image" Target="../media/image102.svg"/></Relationships>
</file>

<file path=ppt/slides/_rels/slide53.xml.rels><?xml version="1.0" encoding="UTF-8" standalone="yes"?>
<Relationships xmlns="http://schemas.openxmlformats.org/package/2006/relationships"><Relationship Id="rId3" Type="http://schemas.openxmlformats.org/officeDocument/2006/relationships/image" Target="../media/image104.svg"/><Relationship Id="rId2" Type="http://schemas.openxmlformats.org/officeDocument/2006/relationships/image" Target="../media/image103.svg"/><Relationship Id="rId1" Type="http://schemas.openxmlformats.org/officeDocument/2006/relationships/slideLayout" Target="../slideLayouts/slideLayout51.xml"/><Relationship Id="rId6" Type="http://schemas.openxmlformats.org/officeDocument/2006/relationships/image" Target="../media/image107.svg"/><Relationship Id="rId5" Type="http://schemas.openxmlformats.org/officeDocument/2006/relationships/image" Target="../media/image106.svg"/><Relationship Id="rId4" Type="http://schemas.openxmlformats.org/officeDocument/2006/relationships/image" Target="../media/image105.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6.xml.rels><?xml version="1.0" encoding="UTF-8" standalone="yes"?>
<Relationships xmlns="http://schemas.openxmlformats.org/package/2006/relationships"><Relationship Id="rId2" Type="http://schemas.openxmlformats.org/officeDocument/2006/relationships/image" Target="../media/image108.svg"/><Relationship Id="rId1" Type="http://schemas.openxmlformats.org/officeDocument/2006/relationships/slideLayout" Target="../slideLayouts/slideLayout55.xml"/></Relationships>
</file>

<file path=ppt/slides/_rels/slide5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51.xml"/><Relationship Id="rId1" Type="http://schemas.openxmlformats.org/officeDocument/2006/relationships/slideLayout" Target="../slideLayouts/slideLayout69.xml"/><Relationship Id="rId4" Type="http://schemas.openxmlformats.org/officeDocument/2006/relationships/hyperlink" Target="https://go.microsoft.com/fwlink/?linkid=2352649" TargetMode="Externa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2" y="3014186"/>
            <a:ext cx="5686955" cy="1645920"/>
          </a:xfrm>
        </p:spPr>
        <p:txBody>
          <a:bodyPr/>
          <a:lstStyle/>
          <a:p>
            <a:pPr>
              <a:defRPr sz="3200"/>
            </a:pPr>
            <a:r>
              <a:rPr lang="es-ES" sz="3600" b="0" i="0" strike="noStrike" cap="none" baseline="0">
                <a:solidFill>
                  <a:srgbClr val="000000"/>
                </a:solidFill>
                <a:effectLst/>
                <a:latin typeface="Segoe UI"/>
                <a:ea typeface="Segoe UI"/>
                <a:cs typeface="Segoe UI"/>
              </a:rPr>
              <a:t>Desarrollo de aplicaciones de IA generativa en Azure</a:t>
            </a:r>
            <a:endParaRPr lang="en-US" sz="3600" noProof="0"/>
          </a:p>
        </p:txBody>
      </p:sp>
      <p:sp>
        <p:nvSpPr>
          <p:cNvPr id="3" name="Text Placeholder 2"/>
          <p:cNvSpPr>
            <a:spLocks noGrp="1"/>
          </p:cNvSpPr>
          <p:nvPr>
            <p:ph type="body" sz="quarter" idx="13"/>
          </p:nvPr>
        </p:nvSpPr>
        <p:spPr>
          <a:xfrm>
            <a:off x="4756150" y="6446520"/>
            <a:ext cx="1645920" cy="152400"/>
          </a:xfrm>
        </p:spPr>
        <p:txBody>
          <a:bodyPr/>
          <a:lstStyle/>
          <a:p>
            <a:r>
              <a:rPr lang="es-ES" sz="1000" b="0" i="0" strike="noStrike" cap="none" baseline="0">
                <a:solidFill>
                  <a:srgbClr val="000000"/>
                </a:solidFill>
                <a:effectLst/>
                <a:latin typeface="Segoe UI"/>
                <a:ea typeface="Segoe UI"/>
                <a:cs typeface="Segoe UI"/>
              </a:rPr>
              <a:t>Junio de 2025</a:t>
            </a:r>
          </a:p>
        </p:txBody>
      </p:sp>
      <p:sp>
        <p:nvSpPr>
          <p:cNvPr id="5" name="TextBox 4">
            <a:extLst>
              <a:ext uri="{FF2B5EF4-FFF2-40B4-BE49-F238E27FC236}">
                <a16:creationId xmlns:a16="http://schemas.microsoft.com/office/drawing/2014/main" id="{193A691E-CDA7-5B29-A2DA-58D91CA4B1D4}"/>
              </a:ext>
            </a:extLst>
          </p:cNvPr>
          <p:cNvSpPr txBox="1"/>
          <p:nvPr/>
        </p:nvSpPr>
        <p:spPr>
          <a:xfrm>
            <a:off x="510540" y="4660106"/>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https://aka.ms/mslearn-gen-ai-app-dev</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97536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Cargas de trabajo de inteligencia artificial</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709352" y="3805837"/>
            <a:ext cx="195695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IA generativa y agentes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83198" y="3805836"/>
            <a:ext cx="1392668" cy="30480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76481" y="3805836"/>
            <a:ext cx="1589509"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2094" y="3805836"/>
            <a:ext cx="1501689"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17325"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68070" y="3805836"/>
            <a:ext cx="2201630"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Extracción de información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4" y="5458868"/>
              <a:ext cx="2176455"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Aprendizaje automático</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8768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Nuestro enfoque actual</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73674" y="3805836"/>
            <a:ext cx="141171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64237" y="3805836"/>
            <a:ext cx="1613996"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4433" y="3805836"/>
            <a:ext cx="1497010"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7165"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61720" y="3805836"/>
            <a:ext cx="2194010"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Extracción de información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68" name="TextBox 67">
                      <a:extLst>
                        <a:ext uri="{FF2B5EF4-FFF2-40B4-BE49-F238E27FC236}">
                          <a16:creationId xmlns:a16="http://schemas.microsoft.com/office/drawing/2014/main" id="{11222B60-02CF-845A-D90A-C20CCFDA8751}"/>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5"/>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4" y="5458868"/>
              <a:ext cx="2106605"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Aprendizaje automático</a:t>
              </a:r>
            </a:p>
          </p:txBody>
        </p:sp>
      </p:grpSp>
      <p:grpSp>
        <p:nvGrpSpPr>
          <p:cNvPr id="2" name="Group 1">
            <a:extLst>
              <a:ext uri="{FF2B5EF4-FFF2-40B4-BE49-F238E27FC236}">
                <a16:creationId xmlns:a16="http://schemas.microsoft.com/office/drawing/2014/main" id="{504EB00B-F7EA-F0F8-612D-4D74FCA81CCE}"/>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4" name="Group 3" descr="Generative AI.">
              <a:extLst>
                <a:ext uri="{FF2B5EF4-FFF2-40B4-BE49-F238E27FC236}">
                  <a16:creationId xmlns:a16="http://schemas.microsoft.com/office/drawing/2014/main" id="{1A586F1A-782C-0FDE-47CE-78790E1D35C3}"/>
                </a:ext>
              </a:extLst>
            </p:cNvPr>
            <p:cNvGrpSpPr/>
            <p:nvPr/>
          </p:nvGrpSpPr>
          <p:grpSpPr>
            <a:xfrm>
              <a:off x="636270" y="1878796"/>
              <a:ext cx="2103120" cy="2293814"/>
              <a:chOff x="636270" y="2540945"/>
              <a:chExt cx="2103120" cy="2293814"/>
            </a:xfrm>
          </p:grpSpPr>
          <p:sp>
            <p:nvSpPr>
              <p:cNvPr id="7" name="Rectangle 6" descr="Generative AI">
                <a:extLst>
                  <a:ext uri="{FF2B5EF4-FFF2-40B4-BE49-F238E27FC236}">
                    <a16:creationId xmlns:a16="http://schemas.microsoft.com/office/drawing/2014/main" id="{DD30944E-DBF6-4FFA-6EF8-B824138F6F79}"/>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8" name="Graphic 7" descr="Chat with solid fill">
                <a:extLst>
                  <a:ext uri="{FF2B5EF4-FFF2-40B4-BE49-F238E27FC236}">
                    <a16:creationId xmlns:a16="http://schemas.microsoft.com/office/drawing/2014/main" id="{06EF438B-2B7B-79EA-3019-6091645647B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15305" y="2540945"/>
                <a:ext cx="1143231" cy="1143231"/>
              </a:xfrm>
              <a:prstGeom prst="rect">
                <a:avLst/>
              </a:prstGeom>
            </p:spPr>
          </p:pic>
        </p:grpSp>
        <p:pic>
          <p:nvPicPr>
            <p:cNvPr id="6" name="Graphic 5" descr="Robot with solid fill">
              <a:extLst>
                <a:ext uri="{FF2B5EF4-FFF2-40B4-BE49-F238E27FC236}">
                  <a16:creationId xmlns:a16="http://schemas.microsoft.com/office/drawing/2014/main" id="{128D853D-5ECA-C54A-93EB-A69143F73C1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67584" y="2813173"/>
              <a:ext cx="913022" cy="913022"/>
            </a:xfrm>
            <a:prstGeom prst="rect">
              <a:avLst/>
            </a:prstGeom>
          </p:spPr>
        </p:pic>
      </p:grpSp>
      <p:sp>
        <p:nvSpPr>
          <p:cNvPr id="9" name="TextBox 8">
            <a:extLst>
              <a:ext uri="{FF2B5EF4-FFF2-40B4-BE49-F238E27FC236}">
                <a16:creationId xmlns:a16="http://schemas.microsoft.com/office/drawing/2014/main" id="{0C5C4FF6-66C5-8D0B-2D0A-5360C0746E1F}"/>
              </a:ext>
            </a:extLst>
          </p:cNvPr>
          <p:cNvSpPr txBox="1"/>
          <p:nvPr/>
        </p:nvSpPr>
        <p:spPr>
          <a:xfrm>
            <a:off x="697826" y="3805836"/>
            <a:ext cx="1980008"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IA generativa </a:t>
            </a:r>
            <a:r>
              <a:rPr lang="es-ES" sz="1400" b="0" i="0" strike="noStrike" cap="none" baseline="0" dirty="0">
                <a:solidFill>
                  <a:srgbClr val="A0CDEC"/>
                </a:solidFill>
                <a:effectLst/>
                <a:latin typeface="Aptos"/>
                <a:ea typeface="Aptos"/>
                <a:cs typeface="Aptos"/>
              </a:rPr>
              <a:t>y agentes</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911" y="952163"/>
            <a:ext cx="6865939" cy="3048000"/>
          </a:xfrm>
        </p:spPr>
        <p:txBody>
          <a:bodyPr/>
          <a:lstStyle/>
          <a:p>
            <a:r>
              <a:rPr lang="es-ES" sz="4000" b="0" i="0" strike="noStrike" cap="none" baseline="0" dirty="0">
                <a:solidFill>
                  <a:srgbClr val="000000"/>
                </a:solidFill>
                <a:effectLst/>
                <a:latin typeface="Segoe UI"/>
                <a:ea typeface="Segoe UI"/>
                <a:cs typeface="Segoe UI"/>
              </a:rPr>
              <a:t>Planificación y preparación para desarrollar soluciones de inteligencia artificial en Azure</a:t>
            </a:r>
          </a:p>
        </p:txBody>
      </p:sp>
      <p:sp>
        <p:nvSpPr>
          <p:cNvPr id="4" name="TextBox 3">
            <a:extLst>
              <a:ext uri="{FF2B5EF4-FFF2-40B4-BE49-F238E27FC236}">
                <a16:creationId xmlns:a16="http://schemas.microsoft.com/office/drawing/2014/main" id="{F1E17AE1-6F4B-DCA2-B7E0-6061D1ED8619}"/>
              </a:ext>
            </a:extLst>
          </p:cNvPr>
          <p:cNvSpPr txBox="1"/>
          <p:nvPr/>
        </p:nvSpPr>
        <p:spPr>
          <a:xfrm>
            <a:off x="478471" y="4000163"/>
            <a:ext cx="4596449" cy="361188"/>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https://aka.ms/mslearn-prepare-ai-dev</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11139140" cy="48768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Microsoft Foundry</a:t>
            </a:r>
          </a:p>
        </p:txBody>
      </p:sp>
      <p:sp>
        <p:nvSpPr>
          <p:cNvPr id="131" name="Text Placeholder 45">
            <a:extLst>
              <a:ext uri="{FF2B5EF4-FFF2-40B4-BE49-F238E27FC236}">
                <a16:creationId xmlns:a16="http://schemas.microsoft.com/office/drawing/2014/main" id="{F75C1DD5-92B2-B2BE-09F2-A2A6EE7D9324}"/>
              </a:ext>
            </a:extLst>
          </p:cNvPr>
          <p:cNvSpPr txBox="1"/>
          <p:nvPr/>
        </p:nvSpPr>
        <p:spPr>
          <a:xfrm>
            <a:off x="584200" y="1594155"/>
            <a:ext cx="5364224" cy="615553"/>
          </a:xfrm>
          <a:prstGeom prst="rect">
            <a:avLst/>
          </a:prstGeom>
        </p:spPr>
        <p:txBody>
          <a:bodyPr vert="horz" wrap="square" lIns="0" tIns="0" rIns="0" bIns="0" rtlCol="0" anchor="t">
            <a:spAutoFit/>
          </a:bodyPr>
          <a:lstStyle>
            <a:lvl1pPr marR="0" indent="0" defTabSz="932742" fontAlgn="auto">
              <a:lnSpc>
                <a:spcPct val="100000"/>
              </a:lnSpc>
              <a:spcBef>
                <a:spcPct val="0"/>
              </a:spcBef>
              <a:spcAft>
                <a:spcPct val="0"/>
              </a:spcAft>
              <a:buClrTx/>
              <a:buSzPct val="90000"/>
              <a:buFont typeface="Arial" panose="020B0604020202020204" pitchFamily="34" charset="0"/>
              <a:buNone/>
              <a:defRPr sz="2200" spc="0" baseline="0">
                <a:latin typeface="+mj-lt"/>
                <a:cs typeface="Segoe UI" pitchFamily="34" charset="0"/>
              </a:defRPr>
            </a:lvl1pPr>
            <a:lvl2pPr marL="265176" marR="0" indent="-109728" defTabSz="932742" fontAlgn="auto">
              <a:lnSpc>
                <a:spcPct val="100000"/>
              </a:lnSpc>
              <a:spcBef>
                <a:spcPct val="20000"/>
              </a:spcBef>
              <a:spcAft>
                <a:spcPct val="0"/>
              </a:spcAft>
              <a:buClrTx/>
              <a:buSzPct val="90000"/>
              <a:buFont typeface="Arial" panose="020B0604020202020204" pitchFamily="34" charset="0"/>
              <a:buChar char="•"/>
              <a:defRPr sz="1400" spc="0" baseline="0"/>
            </a:lvl2pPr>
            <a:lvl3pPr marL="384048" marR="0" indent="-118872" defTabSz="932742" fontAlgn="auto">
              <a:lnSpc>
                <a:spcPct val="100000"/>
              </a:lnSpc>
              <a:spcBef>
                <a:spcPct val="20000"/>
              </a:spcBef>
              <a:spcAft>
                <a:spcPct val="0"/>
              </a:spcAft>
              <a:buClrTx/>
              <a:buSzPct val="90000"/>
              <a:buFont typeface="Arial" panose="020B0604020202020204" pitchFamily="34" charset="0"/>
              <a:buChar char="•"/>
              <a:defRPr sz="1200" spc="0" baseline="0"/>
            </a:lvl3pPr>
            <a:lvl4pPr marL="842963" marR="0" indent="-180975" defTabSz="932742" fontAlgn="auto">
              <a:lnSpc>
                <a:spcPct val="100000"/>
              </a:lnSpc>
              <a:spcBef>
                <a:spcPct val="20000"/>
              </a:spcBef>
              <a:spcAft>
                <a:spcPct val="0"/>
              </a:spcAft>
              <a:buClrTx/>
              <a:buSzPct val="90000"/>
              <a:buFont typeface="Wingdings" panose="05000000000000000000" pitchFamily="2" charset="2"/>
              <a:buChar char=""/>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ct val="0"/>
              </a:spcAft>
              <a:buClrTx/>
              <a:buSzPct val="90000"/>
              <a:buFont typeface="Wingdings" panose="05000000000000000000" pitchFamily="2" charset="2"/>
              <a:buChar char=""/>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anose="020B0604020202020204" pitchFamily="34" charset="0"/>
              <a:buChar char="•"/>
              <a:defRPr sz="2000"/>
            </a:lvl6pPr>
            <a:lvl7pPr marL="3031412" indent="-233186" defTabSz="932742">
              <a:spcBef>
                <a:spcPct val="20000"/>
              </a:spcBef>
              <a:buFont typeface="Arial" panose="020B0604020202020204" pitchFamily="34" charset="0"/>
              <a:buChar char="•"/>
              <a:defRPr sz="2000"/>
            </a:lvl7pPr>
            <a:lvl8pPr marL="3497783" indent="-233186" defTabSz="932742">
              <a:spcBef>
                <a:spcPct val="20000"/>
              </a:spcBef>
              <a:buFont typeface="Arial" panose="020B0604020202020204" pitchFamily="34" charset="0"/>
              <a:buChar char="•"/>
              <a:defRPr sz="2000"/>
            </a:lvl8pPr>
            <a:lvl9pPr marL="3964155" indent="-233186" defTabSz="932742">
              <a:spcBef>
                <a:spcPct val="20000"/>
              </a:spcBef>
              <a:buFont typeface="Arial" panose="020B0604020202020204" pitchFamily="34" charset="0"/>
              <a:buChar char="•"/>
              <a:defRPr sz="2000"/>
            </a:lvl9pPr>
          </a:lstStyle>
          <a:p>
            <a:pPr marL="0" marR="0" lvl="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a:pPr>
            <a:r>
              <a:rPr lang="es-ES" sz="2000" b="0" i="0" strike="noStrike" cap="none" baseline="0" dirty="0">
                <a:solidFill>
                  <a:srgbClr val="000000"/>
                </a:solidFill>
                <a:effectLst/>
                <a:latin typeface="Segoe UI Semibold"/>
                <a:ea typeface="Segoe UI Semibold"/>
                <a:cs typeface="Segoe UI Semibold"/>
              </a:rPr>
              <a:t>Una plataforma unificada para aplicaciones</a:t>
            </a:r>
            <a:br>
              <a:rPr lang="es-ES" sz="2000" b="0" i="0" strike="noStrike" cap="none" baseline="0" dirty="0">
                <a:solidFill>
                  <a:srgbClr val="000000"/>
                </a:solidFill>
                <a:effectLst/>
                <a:latin typeface="Segoe UI Semibold"/>
                <a:ea typeface="Segoe UI Semibold"/>
                <a:cs typeface="Segoe UI Semibold"/>
              </a:rPr>
            </a:br>
            <a:r>
              <a:rPr lang="es-ES" sz="2000" b="0" i="0" strike="noStrike" cap="none" baseline="0" dirty="0">
                <a:solidFill>
                  <a:srgbClr val="000000"/>
                </a:solidFill>
                <a:effectLst/>
                <a:latin typeface="Segoe UI Semibold"/>
                <a:ea typeface="Segoe UI Semibold"/>
                <a:cs typeface="Segoe UI Semibold"/>
              </a:rPr>
              <a:t>y agentes de IA</a:t>
            </a:r>
          </a:p>
        </p:txBody>
      </p:sp>
      <p:sp>
        <p:nvSpPr>
          <p:cNvPr id="130" name="Text Placeholder 44">
            <a:extLst>
              <a:ext uri="{FF2B5EF4-FFF2-40B4-BE49-F238E27FC236}">
                <a16:creationId xmlns:a16="http://schemas.microsoft.com/office/drawing/2014/main" id="{AC8F1B70-FA10-D1AB-8E01-252886330E9C}"/>
              </a:ext>
            </a:extLst>
          </p:cNvPr>
          <p:cNvSpPr txBox="1"/>
          <p:nvPr/>
        </p:nvSpPr>
        <p:spPr>
          <a:xfrm>
            <a:off x="586391" y="2333414"/>
            <a:ext cx="4972366" cy="3902607"/>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0" i="0" strike="noStrike" cap="none" baseline="0" dirty="0">
                <a:solidFill>
                  <a:srgbClr val="000000"/>
                </a:solidFill>
                <a:effectLst/>
                <a:latin typeface="Segoe UI"/>
                <a:ea typeface="Segoe UI"/>
                <a:cs typeface="Segoe UI"/>
              </a:rPr>
              <a:t>Los </a:t>
            </a:r>
            <a:r>
              <a:rPr lang="es-ES" b="0" i="1" strike="noStrike" cap="none" baseline="0" dirty="0">
                <a:solidFill>
                  <a:srgbClr val="000000"/>
                </a:solidFill>
                <a:effectLst/>
                <a:latin typeface="Segoe UI"/>
                <a:ea typeface="Segoe UI"/>
                <a:cs typeface="Segoe UI"/>
              </a:rPr>
              <a:t>recursos</a:t>
            </a:r>
            <a:r>
              <a:rPr lang="es-ES" b="0" i="0" strike="noStrike" cap="none" baseline="0" dirty="0">
                <a:solidFill>
                  <a:srgbClr val="000000"/>
                </a:solidFill>
                <a:effectLst/>
                <a:latin typeface="Segoe UI"/>
                <a:ea typeface="Segoe UI"/>
                <a:cs typeface="Segoe UI"/>
              </a:rPr>
              <a:t> de </a:t>
            </a:r>
            <a:r>
              <a:rPr lang="es-ES" b="0" i="0" strike="noStrike" cap="none" baseline="0" dirty="0" err="1">
                <a:solidFill>
                  <a:srgbClr val="000000"/>
                </a:solidFill>
                <a:effectLst/>
                <a:latin typeface="Segoe UI"/>
                <a:ea typeface="Segoe UI"/>
                <a:cs typeface="Segoe UI"/>
              </a:rPr>
              <a:t>Foundry</a:t>
            </a:r>
            <a:r>
              <a:rPr lang="es-ES" b="0" i="0" strike="noStrike" cap="none" baseline="0" dirty="0">
                <a:solidFill>
                  <a:srgbClr val="000000"/>
                </a:solidFill>
                <a:effectLst/>
                <a:latin typeface="Segoe UI"/>
                <a:ea typeface="Segoe UI"/>
                <a:cs typeface="Segoe UI"/>
              </a:rPr>
              <a:t> en Azure proporcionan capacidad de procesamiento, almacenamiento, entrega de modelos y otros servicios</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0" i="0" strike="noStrike" cap="none" baseline="0" dirty="0">
                <a:solidFill>
                  <a:srgbClr val="000000"/>
                </a:solidFill>
                <a:effectLst/>
                <a:latin typeface="Segoe UI"/>
                <a:ea typeface="Segoe UI"/>
                <a:cs typeface="Segoe UI"/>
              </a:rPr>
              <a:t>Los proyectos de </a:t>
            </a:r>
            <a:r>
              <a:rPr lang="es-ES" b="0" i="1" strike="noStrike" cap="none" baseline="0" dirty="0" err="1">
                <a:solidFill>
                  <a:srgbClr val="000000"/>
                </a:solidFill>
                <a:effectLst/>
                <a:latin typeface="Segoe UI"/>
                <a:ea typeface="Segoe UI"/>
                <a:cs typeface="Segoe UI"/>
              </a:rPr>
              <a:t>Foundry</a:t>
            </a:r>
            <a:r>
              <a:rPr lang="es-ES" b="0" i="0" strike="noStrike" cap="none" baseline="0" dirty="0">
                <a:solidFill>
                  <a:srgbClr val="000000"/>
                </a:solidFill>
                <a:effectLst/>
                <a:latin typeface="Segoe UI"/>
                <a:ea typeface="Segoe UI"/>
                <a:cs typeface="Segoe UI"/>
              </a:rPr>
              <a:t> son entornos de trabajo aislados para el desarrollo de aplicaciones y agentes</a:t>
            </a:r>
            <a:endParaRPr kumimoji="0" lang="en-US" b="0" i="1" u="none" strike="noStrike" kern="1200" cap="none" spc="0" normalizeH="0" baseline="0" noProof="0" dirty="0">
              <a:ln>
                <a:noFill/>
              </a:ln>
              <a:solidFill>
                <a:srgbClr val="000000"/>
              </a:solidFill>
              <a:effectLst/>
              <a:uLnTx/>
              <a:uFillTx/>
              <a:latin typeface="Segoe UI"/>
              <a:ea typeface="+mn-ea"/>
              <a:cs typeface="Segoe UI" pitchFamily="34" charset="0"/>
            </a:endParaRP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0" i="0" strike="noStrike" cap="none" baseline="0" dirty="0">
                <a:solidFill>
                  <a:srgbClr val="000000"/>
                </a:solidFill>
                <a:effectLst/>
                <a:latin typeface="Segoe UI"/>
                <a:ea typeface="Segoe UI"/>
                <a:cs typeface="Segoe UI"/>
              </a:rPr>
              <a:t>En un proyecto, trabajarás con:</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1" i="0" strike="noStrike" cap="none" baseline="0" dirty="0">
                <a:solidFill>
                  <a:srgbClr val="000000"/>
                </a:solidFill>
                <a:effectLst/>
                <a:latin typeface="Segoe UI"/>
                <a:ea typeface="Segoe UI"/>
                <a:cs typeface="Segoe UI"/>
              </a:rPr>
              <a:t>Modelos</a:t>
            </a:r>
            <a:r>
              <a:rPr lang="es-ES" b="0" i="0" strike="noStrike" cap="none" baseline="0" dirty="0">
                <a:solidFill>
                  <a:srgbClr val="000000"/>
                </a:solidFill>
                <a:effectLst/>
                <a:latin typeface="Segoe UI"/>
                <a:ea typeface="Segoe UI"/>
                <a:cs typeface="Segoe UI"/>
              </a:rPr>
              <a:t>: elige e implementa modelos de un catálogo</a:t>
            </a:r>
            <a:br>
              <a:rPr lang="es-ES" b="0" i="0" strike="noStrike" cap="none" baseline="0" dirty="0">
                <a:solidFill>
                  <a:srgbClr val="000000"/>
                </a:solidFill>
                <a:effectLst/>
                <a:latin typeface="Segoe UI"/>
                <a:ea typeface="Segoe UI"/>
                <a:cs typeface="Segoe UI"/>
              </a:rPr>
            </a:br>
            <a:r>
              <a:rPr lang="es-ES" b="0" i="0" strike="noStrike" cap="none" baseline="0" dirty="0">
                <a:solidFill>
                  <a:srgbClr val="000000"/>
                </a:solidFill>
                <a:effectLst/>
                <a:latin typeface="Segoe UI"/>
                <a:ea typeface="Segoe UI"/>
                <a:cs typeface="Segoe UI"/>
              </a:rPr>
              <a:t>de modelos extenso</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1" i="0" strike="noStrike" cap="none" baseline="0" dirty="0">
                <a:solidFill>
                  <a:srgbClr val="000000"/>
                </a:solidFill>
                <a:effectLst/>
                <a:latin typeface="Segoe UI"/>
                <a:ea typeface="Segoe UI"/>
                <a:cs typeface="Segoe UI"/>
              </a:rPr>
              <a:t>Agentes</a:t>
            </a:r>
            <a:r>
              <a:rPr lang="es-ES" b="0" i="0" strike="noStrike" cap="none" baseline="0" dirty="0">
                <a:solidFill>
                  <a:srgbClr val="000000"/>
                </a:solidFill>
                <a:effectLst/>
                <a:latin typeface="Segoe UI"/>
                <a:ea typeface="Segoe UI"/>
                <a:cs typeface="Segoe UI"/>
              </a:rPr>
              <a:t>: crea y administra agentes que usan modelos para lenguaje y razonamiento</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1" i="0" strike="noStrike" cap="none" baseline="0" dirty="0">
                <a:solidFill>
                  <a:srgbClr val="000000"/>
                </a:solidFill>
                <a:effectLst/>
                <a:latin typeface="Segoe UI"/>
                <a:ea typeface="Segoe UI"/>
                <a:cs typeface="Segoe UI"/>
              </a:rPr>
              <a:t>Herramientas</a:t>
            </a:r>
            <a:r>
              <a:rPr lang="es-ES" b="0" i="0" strike="noStrike" cap="none" baseline="0" dirty="0">
                <a:solidFill>
                  <a:srgbClr val="000000"/>
                </a:solidFill>
                <a:effectLst/>
                <a:latin typeface="Segoe UI"/>
                <a:ea typeface="Segoe UI"/>
                <a:cs typeface="Segoe UI"/>
              </a:rPr>
              <a:t>: conecta a los agentes con las herramientas para que puedan realizar acciones y acceder a la información</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b="1" i="0" strike="noStrike" cap="none" baseline="0" dirty="0">
                <a:solidFill>
                  <a:srgbClr val="000000"/>
                </a:solidFill>
                <a:effectLst/>
                <a:latin typeface="Segoe UI"/>
                <a:ea typeface="Segoe UI"/>
                <a:cs typeface="Segoe UI"/>
              </a:rPr>
              <a:t>Conocimiento</a:t>
            </a:r>
            <a:r>
              <a:rPr lang="es-ES" b="0" i="0" strike="noStrike" cap="none" baseline="0" dirty="0">
                <a:solidFill>
                  <a:srgbClr val="000000"/>
                </a:solidFill>
                <a:effectLst/>
                <a:latin typeface="Segoe UI"/>
                <a:ea typeface="Segoe UI"/>
                <a:cs typeface="Segoe UI"/>
              </a:rPr>
              <a:t>: administra el acceso al origen de datos para que los agentes dispongan de la información que necesitan para actuar </a:t>
            </a:r>
          </a:p>
        </p:txBody>
      </p:sp>
      <p:grpSp>
        <p:nvGrpSpPr>
          <p:cNvPr id="133" name="Group 132">
            <a:extLst>
              <a:ext uri="{FF2B5EF4-FFF2-40B4-BE49-F238E27FC236}">
                <a16:creationId xmlns:a16="http://schemas.microsoft.com/office/drawing/2014/main" id="{38374383-4CA6-4810-B0E4-72A9CE191C0B}"/>
              </a:ext>
              <a:ext uri="{C183D7F6-B498-43B3-948B-1728B52AA6E4}">
                <adec:decorative xmlns:adec="http://schemas.microsoft.com/office/drawing/2017/decorative" val="1"/>
              </a:ext>
            </a:extLst>
          </p:cNvPr>
          <p:cNvGrpSpPr/>
          <p:nvPr/>
        </p:nvGrpSpPr>
        <p:grpSpPr>
          <a:xfrm>
            <a:off x="6113016" y="816325"/>
            <a:ext cx="5509716" cy="5537749"/>
            <a:chOff x="6113016" y="816325"/>
            <a:chExt cx="5509716" cy="5537749"/>
          </a:xfrm>
        </p:grpSpPr>
        <p:grpSp>
          <p:nvGrpSpPr>
            <p:cNvPr id="129" name="Group 128">
              <a:extLst>
                <a:ext uri="{FF2B5EF4-FFF2-40B4-BE49-F238E27FC236}">
                  <a16:creationId xmlns:a16="http://schemas.microsoft.com/office/drawing/2014/main" id="{D8513E60-D28C-C2E7-D99E-C4EFC86426C3}"/>
                </a:ext>
              </a:extLst>
            </p:cNvPr>
            <p:cNvGrpSpPr/>
            <p:nvPr/>
          </p:nvGrpSpPr>
          <p:grpSpPr>
            <a:xfrm>
              <a:off x="6113016" y="1493571"/>
              <a:ext cx="5509716" cy="4860503"/>
              <a:chOff x="6670800" y="1084589"/>
              <a:chExt cx="5509716" cy="4860503"/>
            </a:xfrm>
          </p:grpSpPr>
          <p:sp>
            <p:nvSpPr>
              <p:cNvPr id="79" name="Foundry Resource">
                <a:extLst>
                  <a:ext uri="{FF2B5EF4-FFF2-40B4-BE49-F238E27FC236}">
                    <a16:creationId xmlns:a16="http://schemas.microsoft.com/office/drawing/2014/main" id="{A0875FAA-3AE6-E6F8-C705-BC1B6564A9E3}"/>
                  </a:ext>
                </a:extLst>
              </p:cNvPr>
              <p:cNvSpPr/>
              <p:nvPr/>
            </p:nvSpPr>
            <p:spPr>
              <a:xfrm>
                <a:off x="6670800" y="1084589"/>
                <a:ext cx="5509716" cy="4860503"/>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1" name="Project">
                <a:extLst>
                  <a:ext uri="{FF2B5EF4-FFF2-40B4-BE49-F238E27FC236}">
                    <a16:creationId xmlns:a16="http://schemas.microsoft.com/office/drawing/2014/main" id="{CEAD83DE-D73C-79C6-356F-CE3A9AE6644E}"/>
                  </a:ext>
                </a:extLst>
              </p:cNvPr>
              <p:cNvSpPr/>
              <p:nvPr/>
            </p:nvSpPr>
            <p:spPr>
              <a:xfrm>
                <a:off x="7169604" y="1656453"/>
                <a:ext cx="4601716" cy="3976240"/>
              </a:xfrm>
              <a:prstGeom prst="roundRect">
                <a:avLst/>
              </a:prstGeom>
              <a:solidFill>
                <a:sysClr val="window" lastClr="FFFFFF"/>
              </a:solidFill>
              <a:ln w="38100" cap="flat" cmpd="sng" algn="ctr">
                <a:solidFill>
                  <a:srgbClr val="5A52E1"/>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82" name="Models icon">
                <a:extLst>
                  <a:ext uri="{FF2B5EF4-FFF2-40B4-BE49-F238E27FC236}">
                    <a16:creationId xmlns:a16="http://schemas.microsoft.com/office/drawing/2014/main" id="{A6C8CDA2-158F-F15A-A025-D6C992E4143D}"/>
                  </a:ext>
                </a:extLst>
              </p:cNvPr>
              <p:cNvGrpSpPr/>
              <p:nvPr/>
            </p:nvGrpSpPr>
            <p:grpSpPr>
              <a:xfrm>
                <a:off x="7868115" y="2794476"/>
                <a:ext cx="952806" cy="893796"/>
                <a:chOff x="431252" y="1489271"/>
                <a:chExt cx="1175452" cy="1102653"/>
              </a:xfrm>
            </p:grpSpPr>
            <p:sp>
              <p:nvSpPr>
                <p:cNvPr id="83" name="Cube 82">
                  <a:extLst>
                    <a:ext uri="{FF2B5EF4-FFF2-40B4-BE49-F238E27FC236}">
                      <a16:creationId xmlns:a16="http://schemas.microsoft.com/office/drawing/2014/main" id="{11D969DC-009A-9F2B-B766-F6364D9E17A1}"/>
                    </a:ext>
                  </a:extLst>
                </p:cNvPr>
                <p:cNvSpPr/>
                <p:nvPr/>
              </p:nvSpPr>
              <p:spPr>
                <a:xfrm>
                  <a:off x="1034049" y="199331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sz="2400" b="1" i="0" u="none" strike="noStrike" kern="0" cap="none" spc="0" normalizeH="0" baseline="0" noProof="0">
                      <a:ln w="22225">
                        <a:solidFill>
                          <a:srgbClr val="E97132"/>
                        </a:solidFill>
                        <a:prstDash val="solid"/>
                      </a:ln>
                      <a:solidFill>
                        <a:prstClr val="black"/>
                      </a:solidFill>
                      <a:effectLst/>
                      <a:uLnTx/>
                      <a:uFillTx/>
                      <a:latin typeface="Aptos" panose="02110004020202020204"/>
                      <a:ea typeface="+mn-ea"/>
                      <a:cs typeface="+mn-cs"/>
                      <a:sym typeface="Wingdings" panose="05000000000000000000" pitchFamily="2" charset="2"/>
                    </a:rPr>
                    <a:t></a:t>
                  </a:r>
                  <a:endParaRPr kumimoji="0" lang="en-US" sz="2400" b="1" i="0" u="none" strike="noStrike" kern="0" cap="none" spc="0" normalizeH="0" baseline="0" noProof="0">
                    <a:ln w="22225">
                      <a:solidFill>
                        <a:srgbClr val="E97132"/>
                      </a:solidFill>
                      <a:prstDash val="solid"/>
                    </a:ln>
                    <a:solidFill>
                      <a:prstClr val="black"/>
                    </a:solidFill>
                    <a:effectLst/>
                    <a:uLnTx/>
                    <a:uFillTx/>
                    <a:latin typeface="Aptos" panose="02110004020202020204"/>
                    <a:ea typeface="+mn-ea"/>
                    <a:cs typeface="+mn-cs"/>
                  </a:endParaRPr>
                </a:p>
              </p:txBody>
            </p:sp>
            <p:grpSp>
              <p:nvGrpSpPr>
                <p:cNvPr id="84" name="Group 83">
                  <a:extLst>
                    <a:ext uri="{FF2B5EF4-FFF2-40B4-BE49-F238E27FC236}">
                      <a16:creationId xmlns:a16="http://schemas.microsoft.com/office/drawing/2014/main" id="{F5FB0115-61C8-0FBA-F340-EC0BA3792F30}"/>
                    </a:ext>
                  </a:extLst>
                </p:cNvPr>
                <p:cNvGrpSpPr/>
                <p:nvPr/>
              </p:nvGrpSpPr>
              <p:grpSpPr>
                <a:xfrm>
                  <a:off x="431252" y="2000797"/>
                  <a:ext cx="602797" cy="591127"/>
                  <a:chOff x="316221" y="2634613"/>
                  <a:chExt cx="602797" cy="591127"/>
                </a:xfrm>
              </p:grpSpPr>
              <p:sp>
                <p:nvSpPr>
                  <p:cNvPr id="88" name="Cube 87">
                    <a:extLst>
                      <a:ext uri="{FF2B5EF4-FFF2-40B4-BE49-F238E27FC236}">
                        <a16:creationId xmlns:a16="http://schemas.microsoft.com/office/drawing/2014/main" id="{454FC78C-A7FF-4668-4E4B-1D96D7D3F2E8}"/>
                      </a:ext>
                    </a:extLst>
                  </p:cNvPr>
                  <p:cNvSpPr/>
                  <p:nvPr/>
                </p:nvSpPr>
                <p:spPr>
                  <a:xfrm>
                    <a:off x="346363" y="2634613"/>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9" name="Picture 88">
                    <a:extLst>
                      <a:ext uri="{FF2B5EF4-FFF2-40B4-BE49-F238E27FC236}">
                        <a16:creationId xmlns:a16="http://schemas.microsoft.com/office/drawing/2014/main" id="{544F78E4-FB8F-0D9B-31D2-D1C51D18D18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16221" y="2756871"/>
                    <a:ext cx="468869" cy="468869"/>
                  </a:xfrm>
                  <a:prstGeom prst="rect">
                    <a:avLst/>
                  </a:prstGeom>
                </p:spPr>
              </p:pic>
            </p:grpSp>
            <p:grpSp>
              <p:nvGrpSpPr>
                <p:cNvPr id="85" name="Group 84">
                  <a:extLst>
                    <a:ext uri="{FF2B5EF4-FFF2-40B4-BE49-F238E27FC236}">
                      <a16:creationId xmlns:a16="http://schemas.microsoft.com/office/drawing/2014/main" id="{FCC3C4FE-6504-B86A-5ABA-B7C5BD025914}"/>
                    </a:ext>
                  </a:extLst>
                </p:cNvPr>
                <p:cNvGrpSpPr/>
                <p:nvPr/>
              </p:nvGrpSpPr>
              <p:grpSpPr>
                <a:xfrm>
                  <a:off x="747721" y="1489271"/>
                  <a:ext cx="572655" cy="572655"/>
                  <a:chOff x="775854" y="1431636"/>
                  <a:chExt cx="572655" cy="572655"/>
                </a:xfrm>
              </p:grpSpPr>
              <p:sp>
                <p:nvSpPr>
                  <p:cNvPr id="86" name="Cube 85">
                    <a:extLst>
                      <a:ext uri="{FF2B5EF4-FFF2-40B4-BE49-F238E27FC236}">
                        <a16:creationId xmlns:a16="http://schemas.microsoft.com/office/drawing/2014/main" id="{2061DF79-6707-6CDF-4EE9-0F364F01B16C}"/>
                      </a:ext>
                    </a:extLst>
                  </p:cNvPr>
                  <p:cNvSpPr/>
                  <p:nvPr/>
                </p:nvSpPr>
                <p:spPr>
                  <a:xfrm>
                    <a:off x="775854" y="1431636"/>
                    <a:ext cx="572655" cy="572655"/>
                  </a:xfrm>
                  <a:prstGeom prst="cube">
                    <a:avLst/>
                  </a:prstGeom>
                  <a:solidFill>
                    <a:srgbClr val="E8E8E8"/>
                  </a:solidFill>
                  <a:ln w="38100" cap="flat" cmpd="sng" algn="ctr">
                    <a:solidFill>
                      <a:srgbClr val="0E2841">
                        <a:lumMod val="90000"/>
                        <a:lumOff val="10000"/>
                      </a:srgbClr>
                    </a:solidFill>
                    <a:prstDash val="solid"/>
                    <a:miter lim="800000"/>
                  </a:ln>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87" name="Picture 86">
                    <a:extLst>
                      <a:ext uri="{FF2B5EF4-FFF2-40B4-BE49-F238E27FC236}">
                        <a16:creationId xmlns:a16="http://schemas.microsoft.com/office/drawing/2014/main" id="{A76D2A30-8A55-6D94-193C-642690548CF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40086" y="1636592"/>
                    <a:ext cx="300607" cy="293808"/>
                  </a:xfrm>
                  <a:prstGeom prst="rect">
                    <a:avLst/>
                  </a:prstGeom>
                </p:spPr>
              </p:pic>
            </p:grpSp>
          </p:grpSp>
          <p:grpSp>
            <p:nvGrpSpPr>
              <p:cNvPr id="90" name="Models title">
                <a:extLst>
                  <a:ext uri="{FF2B5EF4-FFF2-40B4-BE49-F238E27FC236}">
                    <a16:creationId xmlns:a16="http://schemas.microsoft.com/office/drawing/2014/main" id="{D5E4E72C-BAAA-765B-63B5-61D5B97B73DF}"/>
                  </a:ext>
                </a:extLst>
              </p:cNvPr>
              <p:cNvGrpSpPr/>
              <p:nvPr/>
            </p:nvGrpSpPr>
            <p:grpSpPr>
              <a:xfrm>
                <a:off x="7503435" y="2209280"/>
                <a:ext cx="1715100" cy="676504"/>
                <a:chOff x="4424882" y="2060587"/>
                <a:chExt cx="1715100" cy="676504"/>
              </a:xfrm>
            </p:grpSpPr>
            <p:pic>
              <p:nvPicPr>
                <p:cNvPr id="91" name="Picture 90">
                  <a:extLst>
                    <a:ext uri="{FF2B5EF4-FFF2-40B4-BE49-F238E27FC236}">
                      <a16:creationId xmlns:a16="http://schemas.microsoft.com/office/drawing/2014/main" id="{C5154E71-CF63-71A1-5348-D12025FCCD1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424882" y="2060587"/>
                  <a:ext cx="676504" cy="676504"/>
                </a:xfrm>
                <a:prstGeom prst="rect">
                  <a:avLst/>
                </a:prstGeom>
              </p:spPr>
            </p:pic>
            <p:sp>
              <p:nvSpPr>
                <p:cNvPr id="92" name="TextBox 91">
                  <a:extLst>
                    <a:ext uri="{FF2B5EF4-FFF2-40B4-BE49-F238E27FC236}">
                      <a16:creationId xmlns:a16="http://schemas.microsoft.com/office/drawing/2014/main" id="{CDE17F4E-2D22-077D-8A5B-35D30D51BF73}"/>
                    </a:ext>
                  </a:extLst>
                </p:cNvPr>
                <p:cNvSpPr txBox="1"/>
                <p:nvPr/>
              </p:nvSpPr>
              <p:spPr>
                <a:xfrm>
                  <a:off x="4967427" y="2168006"/>
                  <a:ext cx="11725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Modelos</a:t>
                  </a:r>
                </a:p>
              </p:txBody>
            </p:sp>
          </p:grpSp>
          <p:grpSp>
            <p:nvGrpSpPr>
              <p:cNvPr id="93" name="Agents title">
                <a:extLst>
                  <a:ext uri="{FF2B5EF4-FFF2-40B4-BE49-F238E27FC236}">
                    <a16:creationId xmlns:a16="http://schemas.microsoft.com/office/drawing/2014/main" id="{21557605-E991-63BA-7CC4-95FD85DCA356}"/>
                  </a:ext>
                </a:extLst>
              </p:cNvPr>
              <p:cNvGrpSpPr/>
              <p:nvPr/>
            </p:nvGrpSpPr>
            <p:grpSpPr>
              <a:xfrm>
                <a:off x="9522052" y="2229489"/>
                <a:ext cx="1696203" cy="590514"/>
                <a:chOff x="6887055" y="2055269"/>
                <a:chExt cx="1696203" cy="590514"/>
              </a:xfrm>
            </p:grpSpPr>
            <p:pic>
              <p:nvPicPr>
                <p:cNvPr id="94" name="Picture 93">
                  <a:extLst>
                    <a:ext uri="{FF2B5EF4-FFF2-40B4-BE49-F238E27FC236}">
                      <a16:creationId xmlns:a16="http://schemas.microsoft.com/office/drawing/2014/main" id="{51D3C072-0D06-F03F-BC47-6EB243A246EC}"/>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6887055" y="2055269"/>
                  <a:ext cx="590514" cy="590514"/>
                </a:xfrm>
                <a:prstGeom prst="rect">
                  <a:avLst/>
                </a:prstGeom>
              </p:spPr>
            </p:pic>
            <p:sp>
              <p:nvSpPr>
                <p:cNvPr id="95" name="TextBox 94">
                  <a:extLst>
                    <a:ext uri="{FF2B5EF4-FFF2-40B4-BE49-F238E27FC236}">
                      <a16:creationId xmlns:a16="http://schemas.microsoft.com/office/drawing/2014/main" id="{66ED8CAC-7B6F-EF10-AD5B-F72B40A8F310}"/>
                    </a:ext>
                  </a:extLst>
                </p:cNvPr>
                <p:cNvSpPr txBox="1"/>
                <p:nvPr/>
              </p:nvSpPr>
              <p:spPr>
                <a:xfrm>
                  <a:off x="7410703" y="2119693"/>
                  <a:ext cx="11725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s-ES" sz="1600" b="0" i="0" strike="noStrike" cap="none" baseline="0" dirty="0" err="1">
                      <a:solidFill>
                        <a:srgbClr val="000000"/>
                      </a:solidFill>
                      <a:effectLst/>
                      <a:latin typeface="Segoe UI"/>
                      <a:ea typeface="Segoe UI"/>
                      <a:cs typeface="Segoe UI"/>
                    </a:rPr>
                    <a:t>Agents</a:t>
                  </a:r>
                  <a:endParaRPr lang="es-ES" sz="1600" b="0" i="0" strike="noStrike" cap="none" baseline="0" dirty="0">
                    <a:solidFill>
                      <a:srgbClr val="000000"/>
                    </a:solidFill>
                    <a:effectLst/>
                    <a:latin typeface="Segoe UI"/>
                    <a:ea typeface="Segoe UI"/>
                    <a:cs typeface="Segoe UI"/>
                  </a:endParaRPr>
                </a:p>
              </p:txBody>
            </p:sp>
          </p:grpSp>
          <p:grpSp>
            <p:nvGrpSpPr>
              <p:cNvPr id="96" name="Agents icon">
                <a:extLst>
                  <a:ext uri="{FF2B5EF4-FFF2-40B4-BE49-F238E27FC236}">
                    <a16:creationId xmlns:a16="http://schemas.microsoft.com/office/drawing/2014/main" id="{0655C212-E4D7-DB32-84C6-62E88BE96D26}"/>
                  </a:ext>
                </a:extLst>
              </p:cNvPr>
              <p:cNvGrpSpPr/>
              <p:nvPr/>
            </p:nvGrpSpPr>
            <p:grpSpPr>
              <a:xfrm>
                <a:off x="9626030" y="2653497"/>
                <a:ext cx="1427817" cy="1073760"/>
                <a:chOff x="6991033" y="2479277"/>
                <a:chExt cx="1588699" cy="1194748"/>
              </a:xfrm>
            </p:grpSpPr>
            <p:pic>
              <p:nvPicPr>
                <p:cNvPr id="97" name="Graphic 96" descr="Robot with solid fill">
                  <a:extLst>
                    <a:ext uri="{FF2B5EF4-FFF2-40B4-BE49-F238E27FC236}">
                      <a16:creationId xmlns:a16="http://schemas.microsoft.com/office/drawing/2014/main" id="{C30BDAA0-90FC-971C-5D5C-E87A2F73A60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33914" y="2479277"/>
                  <a:ext cx="796499" cy="796499"/>
                </a:xfrm>
                <a:prstGeom prst="rect">
                  <a:avLst/>
                </a:prstGeom>
              </p:spPr>
            </p:pic>
            <p:pic>
              <p:nvPicPr>
                <p:cNvPr id="98" name="Graphic 97" descr="Robot with solid fill">
                  <a:extLst>
                    <a:ext uri="{FF2B5EF4-FFF2-40B4-BE49-F238E27FC236}">
                      <a16:creationId xmlns:a16="http://schemas.microsoft.com/office/drawing/2014/main" id="{5C961F2B-59B0-DF1B-F95D-F04AC22D62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3233" y="2785726"/>
                  <a:ext cx="796499" cy="796499"/>
                </a:xfrm>
                <a:prstGeom prst="rect">
                  <a:avLst/>
                </a:prstGeom>
              </p:spPr>
            </p:pic>
            <p:pic>
              <p:nvPicPr>
                <p:cNvPr id="99" name="Graphic 98" descr="Robot with solid fill">
                  <a:extLst>
                    <a:ext uri="{FF2B5EF4-FFF2-40B4-BE49-F238E27FC236}">
                      <a16:creationId xmlns:a16="http://schemas.microsoft.com/office/drawing/2014/main" id="{23E86436-AFFC-E121-4A22-7212BA59214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91033" y="2877526"/>
                  <a:ext cx="796499" cy="796499"/>
                </a:xfrm>
                <a:prstGeom prst="rect">
                  <a:avLst/>
                </a:prstGeom>
              </p:spPr>
            </p:pic>
          </p:grpSp>
          <p:grpSp>
            <p:nvGrpSpPr>
              <p:cNvPr id="100" name="Tools title">
                <a:extLst>
                  <a:ext uri="{FF2B5EF4-FFF2-40B4-BE49-F238E27FC236}">
                    <a16:creationId xmlns:a16="http://schemas.microsoft.com/office/drawing/2014/main" id="{7DEA8DF9-ABFA-6277-A8EF-A8AAFACE023C}"/>
                  </a:ext>
                </a:extLst>
              </p:cNvPr>
              <p:cNvGrpSpPr/>
              <p:nvPr/>
            </p:nvGrpSpPr>
            <p:grpSpPr>
              <a:xfrm>
                <a:off x="7564279" y="3994345"/>
                <a:ext cx="1957773" cy="581908"/>
                <a:chOff x="5536247" y="3949784"/>
                <a:chExt cx="1957773" cy="581908"/>
              </a:xfrm>
            </p:grpSpPr>
            <p:pic>
              <p:nvPicPr>
                <p:cNvPr id="101" name="Picture 100">
                  <a:extLst>
                    <a:ext uri="{FF2B5EF4-FFF2-40B4-BE49-F238E27FC236}">
                      <a16:creationId xmlns:a16="http://schemas.microsoft.com/office/drawing/2014/main" id="{04A31A57-CF45-C19B-0CD5-957DCDDED707}"/>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5536247" y="3949784"/>
                  <a:ext cx="603735" cy="581908"/>
                </a:xfrm>
                <a:prstGeom prst="rect">
                  <a:avLst/>
                </a:prstGeom>
              </p:spPr>
            </p:pic>
            <p:sp>
              <p:nvSpPr>
                <p:cNvPr id="102" name="TextBox 101">
                  <a:extLst>
                    <a:ext uri="{FF2B5EF4-FFF2-40B4-BE49-F238E27FC236}">
                      <a16:creationId xmlns:a16="http://schemas.microsoft.com/office/drawing/2014/main" id="{EAB5212B-3E55-E25C-D484-A5A3A050695E}"/>
                    </a:ext>
                  </a:extLst>
                </p:cNvPr>
                <p:cNvSpPr txBox="1"/>
                <p:nvPr/>
              </p:nvSpPr>
              <p:spPr>
                <a:xfrm>
                  <a:off x="6096000" y="4040606"/>
                  <a:ext cx="139802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Herramientas</a:t>
                  </a:r>
                </a:p>
              </p:txBody>
            </p:sp>
          </p:grpSp>
          <p:grpSp>
            <p:nvGrpSpPr>
              <p:cNvPr id="103" name="Tools icon">
                <a:extLst>
                  <a:ext uri="{FF2B5EF4-FFF2-40B4-BE49-F238E27FC236}">
                    <a16:creationId xmlns:a16="http://schemas.microsoft.com/office/drawing/2014/main" id="{52E92FD7-2225-EF37-5DD0-889BB08BB840}"/>
                  </a:ext>
                </a:extLst>
              </p:cNvPr>
              <p:cNvGrpSpPr/>
              <p:nvPr/>
            </p:nvGrpSpPr>
            <p:grpSpPr>
              <a:xfrm>
                <a:off x="7640613" y="4530380"/>
                <a:ext cx="1297199" cy="818268"/>
                <a:chOff x="832445" y="2239258"/>
                <a:chExt cx="1559412" cy="983671"/>
              </a:xfrm>
            </p:grpSpPr>
            <p:pic>
              <p:nvPicPr>
                <p:cNvPr id="104" name="Graphic 103" descr="Wrench with solid fill">
                  <a:extLst>
                    <a:ext uri="{FF2B5EF4-FFF2-40B4-BE49-F238E27FC236}">
                      <a16:creationId xmlns:a16="http://schemas.microsoft.com/office/drawing/2014/main" id="{91E521E8-0F18-D553-5702-168C2BB527A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flipV="1">
                  <a:off x="1708581" y="2379073"/>
                  <a:ext cx="683276" cy="683276"/>
                </a:xfrm>
                <a:prstGeom prst="rect">
                  <a:avLst/>
                </a:prstGeom>
              </p:spPr>
            </p:pic>
            <p:grpSp>
              <p:nvGrpSpPr>
                <p:cNvPr id="105" name="Group 104">
                  <a:extLst>
                    <a:ext uri="{FF2B5EF4-FFF2-40B4-BE49-F238E27FC236}">
                      <a16:creationId xmlns:a16="http://schemas.microsoft.com/office/drawing/2014/main" id="{9013AB86-15B4-24A5-7DAB-31027BF485FD}"/>
                    </a:ext>
                  </a:extLst>
                </p:cNvPr>
                <p:cNvGrpSpPr/>
                <p:nvPr/>
              </p:nvGrpSpPr>
              <p:grpSpPr>
                <a:xfrm>
                  <a:off x="1387284" y="2419049"/>
                  <a:ext cx="795565" cy="803880"/>
                  <a:chOff x="1571037" y="2991060"/>
                  <a:chExt cx="921619" cy="931253"/>
                </a:xfrm>
              </p:grpSpPr>
              <p:pic>
                <p:nvPicPr>
                  <p:cNvPr id="109" name="Graphic 108" descr="Screwdriver with solid fill">
                    <a:extLst>
                      <a:ext uri="{FF2B5EF4-FFF2-40B4-BE49-F238E27FC236}">
                        <a16:creationId xmlns:a16="http://schemas.microsoft.com/office/drawing/2014/main" id="{80A21FB2-61FF-11DB-A517-7A358EF3CE8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578256" y="2991060"/>
                    <a:ext cx="914400" cy="914400"/>
                  </a:xfrm>
                  <a:prstGeom prst="rect">
                    <a:avLst/>
                  </a:prstGeom>
                </p:spPr>
              </p:pic>
              <p:pic>
                <p:nvPicPr>
                  <p:cNvPr id="110" name="Graphic 109" descr="Screwdriver with solid fill">
                    <a:extLst>
                      <a:ext uri="{FF2B5EF4-FFF2-40B4-BE49-F238E27FC236}">
                        <a16:creationId xmlns:a16="http://schemas.microsoft.com/office/drawing/2014/main" id="{F5BFF747-D2C6-5737-D646-B8E641EAC328}"/>
                      </a:ext>
                    </a:extLst>
                  </p:cNvPr>
                  <p:cNvPicPr>
                    <a:picLocks noChangeAspect="1"/>
                  </p:cNvPicPr>
                  <p:nvPr/>
                </p:nvPicPr>
                <p:blipFill>
                  <a:blip>
                    <a:extLst>
                      <a:ext uri="{96DAC541-7B7A-43D3-8B79-37D633B846F1}">
                        <asvg:svgBlip xmlns:asvg="http://schemas.microsoft.com/office/drawing/2016/SVG/main" r:embed="rId13"/>
                      </a:ext>
                    </a:extLst>
                  </a:blip>
                  <a:srcRect t="48157" r="49905"/>
                  <a:stretch>
                    <a:fillRect/>
                  </a:stretch>
                </p:blipFill>
                <p:spPr>
                  <a:xfrm>
                    <a:off x="1571037" y="3448260"/>
                    <a:ext cx="458070" cy="474053"/>
                  </a:xfrm>
                  <a:prstGeom prst="rect">
                    <a:avLst/>
                  </a:prstGeom>
                </p:spPr>
              </p:pic>
            </p:grpSp>
            <p:grpSp>
              <p:nvGrpSpPr>
                <p:cNvPr id="106" name="Group 105">
                  <a:extLst>
                    <a:ext uri="{FF2B5EF4-FFF2-40B4-BE49-F238E27FC236}">
                      <a16:creationId xmlns:a16="http://schemas.microsoft.com/office/drawing/2014/main" id="{28B92BE4-D88E-93BD-9FEF-47CB8F40E1CB}"/>
                    </a:ext>
                  </a:extLst>
                </p:cNvPr>
                <p:cNvGrpSpPr/>
                <p:nvPr/>
              </p:nvGrpSpPr>
              <p:grpSpPr>
                <a:xfrm>
                  <a:off x="832445" y="2239258"/>
                  <a:ext cx="914400" cy="928653"/>
                  <a:chOff x="308502" y="3524927"/>
                  <a:chExt cx="914400" cy="928653"/>
                </a:xfrm>
              </p:grpSpPr>
              <p:pic>
                <p:nvPicPr>
                  <p:cNvPr id="107" name="Graphic 106" descr="Hammer with solid fill">
                    <a:extLst>
                      <a:ext uri="{FF2B5EF4-FFF2-40B4-BE49-F238E27FC236}">
                        <a16:creationId xmlns:a16="http://schemas.microsoft.com/office/drawing/2014/main" id="{FCF7B5F9-5A7B-6683-4445-4E20964DD4A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rot="21190144">
                    <a:off x="308502" y="3524927"/>
                    <a:ext cx="914400" cy="914400"/>
                  </a:xfrm>
                  <a:prstGeom prst="rect">
                    <a:avLst/>
                  </a:prstGeom>
                </p:spPr>
              </p:pic>
              <p:pic>
                <p:nvPicPr>
                  <p:cNvPr id="108" name="Graphic 107" descr="Hammer with solid fill">
                    <a:extLst>
                      <a:ext uri="{FF2B5EF4-FFF2-40B4-BE49-F238E27FC236}">
                        <a16:creationId xmlns:a16="http://schemas.microsoft.com/office/drawing/2014/main" id="{7D2DD7B4-4FB3-A5C1-6E10-C6B6D8541820}"/>
                      </a:ext>
                    </a:extLst>
                  </p:cNvPr>
                  <p:cNvPicPr>
                    <a:picLocks noChangeAspect="1"/>
                  </p:cNvPicPr>
                  <p:nvPr/>
                </p:nvPicPr>
                <p:blipFill>
                  <a:blip>
                    <a:extLst>
                      <a:ext uri="{96DAC541-7B7A-43D3-8B79-37D633B846F1}">
                        <asvg:svgBlip xmlns:asvg="http://schemas.microsoft.com/office/drawing/2016/SVG/main" r:embed="rId15"/>
                      </a:ext>
                    </a:extLst>
                  </a:blip>
                  <a:srcRect t="53562" r="58555"/>
                  <a:stretch>
                    <a:fillRect/>
                  </a:stretch>
                </p:blipFill>
                <p:spPr>
                  <a:xfrm rot="21190144">
                    <a:off x="347457" y="4028955"/>
                    <a:ext cx="378970" cy="424625"/>
                  </a:xfrm>
                  <a:prstGeom prst="rect">
                    <a:avLst/>
                  </a:prstGeom>
                </p:spPr>
              </p:pic>
            </p:grpSp>
          </p:grpSp>
          <p:grpSp>
            <p:nvGrpSpPr>
              <p:cNvPr id="111" name="knowledge title">
                <a:extLst>
                  <a:ext uri="{FF2B5EF4-FFF2-40B4-BE49-F238E27FC236}">
                    <a16:creationId xmlns:a16="http://schemas.microsoft.com/office/drawing/2014/main" id="{C234BE26-E888-8EDB-4F4B-9BF97BEF7CD7}"/>
                  </a:ext>
                </a:extLst>
              </p:cNvPr>
              <p:cNvGrpSpPr/>
              <p:nvPr/>
            </p:nvGrpSpPr>
            <p:grpSpPr>
              <a:xfrm>
                <a:off x="9479066" y="3923353"/>
                <a:ext cx="2310543" cy="697203"/>
                <a:chOff x="6885312" y="4114643"/>
                <a:chExt cx="2310543" cy="697203"/>
              </a:xfrm>
            </p:grpSpPr>
            <p:pic>
              <p:nvPicPr>
                <p:cNvPr id="112" name="Picture 111">
                  <a:extLst>
                    <a:ext uri="{FF2B5EF4-FFF2-40B4-BE49-F238E27FC236}">
                      <a16:creationId xmlns:a16="http://schemas.microsoft.com/office/drawing/2014/main" id="{DB3BC1E2-1574-C8EE-AC56-56329F1BD4C1}"/>
                    </a:ext>
                  </a:extLst>
                </p:cNvPr>
                <p:cNvPicPr>
                  <a:picLocks noChangeAspect="1"/>
                </p:cNvPicPr>
                <p:nvPr/>
              </p:nvPicPr>
              <p:blipFill>
                <a:blip r:embed="rId16">
                  <a:extLst>
                    <a:ext uri="{28A0092B-C50C-407E-A947-70E740481C1C}">
                      <a14:useLocalDpi xmlns:a14="http://schemas.microsoft.com/office/drawing/2010/main"/>
                    </a:ext>
                  </a:extLst>
                </a:blip>
                <a:stretch>
                  <a:fillRect/>
                </a:stretch>
              </p:blipFill>
              <p:spPr>
                <a:xfrm>
                  <a:off x="6885312" y="4114643"/>
                  <a:ext cx="697203" cy="697203"/>
                </a:xfrm>
                <a:prstGeom prst="rect">
                  <a:avLst/>
                </a:prstGeom>
              </p:spPr>
            </p:pic>
            <p:sp>
              <p:nvSpPr>
                <p:cNvPr id="113" name="TextBox 112">
                  <a:extLst>
                    <a:ext uri="{FF2B5EF4-FFF2-40B4-BE49-F238E27FC236}">
                      <a16:creationId xmlns:a16="http://schemas.microsoft.com/office/drawing/2014/main" id="{03D2AF8B-0877-B55A-7E62-A5756BE49475}"/>
                    </a:ext>
                  </a:extLst>
                </p:cNvPr>
                <p:cNvSpPr txBox="1"/>
                <p:nvPr/>
              </p:nvSpPr>
              <p:spPr>
                <a:xfrm>
                  <a:off x="7459098" y="4254579"/>
                  <a:ext cx="1736757"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Conocimiento</a:t>
                  </a:r>
                </a:p>
              </p:txBody>
            </p:sp>
          </p:grpSp>
          <p:grpSp>
            <p:nvGrpSpPr>
              <p:cNvPr id="114" name="Knowledge icon">
                <a:extLst>
                  <a:ext uri="{FF2B5EF4-FFF2-40B4-BE49-F238E27FC236}">
                    <a16:creationId xmlns:a16="http://schemas.microsoft.com/office/drawing/2014/main" id="{4EA63044-4A20-D441-E61D-97826C6D0BC1}"/>
                  </a:ext>
                </a:extLst>
              </p:cNvPr>
              <p:cNvGrpSpPr/>
              <p:nvPr/>
            </p:nvGrpSpPr>
            <p:grpSpPr>
              <a:xfrm>
                <a:off x="10308854" y="4486736"/>
                <a:ext cx="966902" cy="998886"/>
                <a:chOff x="7665332" y="4678026"/>
                <a:chExt cx="1246048" cy="1287266"/>
              </a:xfrm>
            </p:grpSpPr>
            <p:pic>
              <p:nvPicPr>
                <p:cNvPr id="115" name="Graphic 114" descr="Document outline">
                  <a:extLst>
                    <a:ext uri="{FF2B5EF4-FFF2-40B4-BE49-F238E27FC236}">
                      <a16:creationId xmlns:a16="http://schemas.microsoft.com/office/drawing/2014/main" id="{60979D96-46F1-BCE3-4D3A-CFB90ADB2F4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665332" y="4678026"/>
                  <a:ext cx="914400" cy="914400"/>
                </a:xfrm>
                <a:prstGeom prst="rect">
                  <a:avLst/>
                </a:prstGeom>
              </p:spPr>
            </p:pic>
            <p:grpSp>
              <p:nvGrpSpPr>
                <p:cNvPr id="116" name="Group 115">
                  <a:extLst>
                    <a:ext uri="{FF2B5EF4-FFF2-40B4-BE49-F238E27FC236}">
                      <a16:creationId xmlns:a16="http://schemas.microsoft.com/office/drawing/2014/main" id="{01B3E22D-395B-1659-DA68-4BFD33BCDCA4}"/>
                    </a:ext>
                  </a:extLst>
                </p:cNvPr>
                <p:cNvGrpSpPr/>
                <p:nvPr/>
              </p:nvGrpSpPr>
              <p:grpSpPr>
                <a:xfrm>
                  <a:off x="7996980" y="5050892"/>
                  <a:ext cx="914400" cy="914400"/>
                  <a:chOff x="10023333" y="3330046"/>
                  <a:chExt cx="914400" cy="914400"/>
                </a:xfrm>
              </p:grpSpPr>
              <p:pic>
                <p:nvPicPr>
                  <p:cNvPr id="117" name="Graphic 116" descr="Magnifying glass with solid fill">
                    <a:extLst>
                      <a:ext uri="{FF2B5EF4-FFF2-40B4-BE49-F238E27FC236}">
                        <a16:creationId xmlns:a16="http://schemas.microsoft.com/office/drawing/2014/main" id="{81D40B60-4A51-5A6C-87F4-AB622C50EE1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0023333" y="3330046"/>
                    <a:ext cx="914400" cy="914400"/>
                  </a:xfrm>
                  <a:prstGeom prst="rect">
                    <a:avLst/>
                  </a:prstGeom>
                </p:spPr>
              </p:pic>
              <p:pic>
                <p:nvPicPr>
                  <p:cNvPr id="118" name="Graphic 117" descr="Magnifying glass with solid fill">
                    <a:extLst>
                      <a:ext uri="{FF2B5EF4-FFF2-40B4-BE49-F238E27FC236}">
                        <a16:creationId xmlns:a16="http://schemas.microsoft.com/office/drawing/2014/main" id="{9CAF2946-D079-848B-1B5C-9B8D74FA3C96}"/>
                      </a:ext>
                    </a:extLst>
                  </p:cNvPr>
                  <p:cNvPicPr>
                    <a:picLocks noChangeAspect="1"/>
                  </p:cNvPicPr>
                  <p:nvPr/>
                </p:nvPicPr>
                <p:blipFill>
                  <a:blip>
                    <a:extLst>
                      <a:ext uri="{96DAC541-7B7A-43D3-8B79-37D633B846F1}">
                        <asvg:svgBlip xmlns:asvg="http://schemas.microsoft.com/office/drawing/2016/SVG/main" r:embed="rId19"/>
                      </a:ext>
                    </a:extLst>
                  </a:blip>
                  <a:srcRect l="62331" t="59791"/>
                  <a:stretch>
                    <a:fillRect/>
                  </a:stretch>
                </p:blipFill>
                <p:spPr>
                  <a:xfrm>
                    <a:off x="10593290" y="3876769"/>
                    <a:ext cx="344443" cy="367677"/>
                  </a:xfrm>
                  <a:prstGeom prst="rect">
                    <a:avLst/>
                  </a:prstGeom>
                </p:spPr>
              </p:pic>
            </p:grpSp>
          </p:grpSp>
          <p:sp>
            <p:nvSpPr>
              <p:cNvPr id="126" name="TextBox 125">
                <a:extLst>
                  <a:ext uri="{FF2B5EF4-FFF2-40B4-BE49-F238E27FC236}">
                    <a16:creationId xmlns:a16="http://schemas.microsoft.com/office/drawing/2014/main" id="{F218C532-3287-FE02-C65D-165A0C1CB54D}"/>
                  </a:ext>
                </a:extLst>
              </p:cNvPr>
              <p:cNvSpPr txBox="1"/>
              <p:nvPr/>
            </p:nvSpPr>
            <p:spPr>
              <a:xfrm>
                <a:off x="7328222" y="1137938"/>
                <a:ext cx="3129511"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800" b="0" i="1" strike="noStrike" cap="none" baseline="0" dirty="0">
                    <a:solidFill>
                      <a:srgbClr val="000000"/>
                    </a:solidFill>
                    <a:effectLst/>
                    <a:latin typeface="Segoe UI Semibold"/>
                    <a:ea typeface="Segoe UI Semibold"/>
                    <a:cs typeface="Segoe UI Semibold"/>
                  </a:rPr>
                  <a:t>Recurso</a:t>
                </a:r>
                <a:r>
                  <a:rPr lang="es-ES" sz="1800" b="0" i="0" strike="noStrike" cap="none" baseline="0" dirty="0">
                    <a:solidFill>
                      <a:srgbClr val="000000"/>
                    </a:solidFill>
                    <a:effectLst/>
                    <a:latin typeface="Segoe UI Semibold"/>
                    <a:ea typeface="Segoe UI Semibold"/>
                    <a:cs typeface="Segoe UI Semibold"/>
                  </a:rPr>
                  <a:t> de Microsoft </a:t>
                </a:r>
                <a:r>
                  <a:rPr lang="es-ES" sz="1800" b="0" i="0" strike="noStrike" cap="none" baseline="0" dirty="0" err="1">
                    <a:solidFill>
                      <a:srgbClr val="000000"/>
                    </a:solidFill>
                    <a:effectLst/>
                    <a:latin typeface="Segoe UI Semibold"/>
                    <a:ea typeface="Segoe UI Semibold"/>
                    <a:cs typeface="Segoe UI Semibold"/>
                  </a:rPr>
                  <a:t>Foundry</a:t>
                </a:r>
                <a:endParaRPr lang="es-ES" sz="1800" b="0" i="0" strike="noStrike" cap="none" baseline="0" dirty="0">
                  <a:solidFill>
                    <a:srgbClr val="000000"/>
                  </a:solidFill>
                  <a:effectLst/>
                  <a:latin typeface="Segoe UI Semibold"/>
                  <a:ea typeface="Segoe UI Semibold"/>
                  <a:cs typeface="Segoe UI Semibold"/>
                </a:endParaRPr>
              </a:p>
            </p:txBody>
          </p:sp>
          <p:sp>
            <p:nvSpPr>
              <p:cNvPr id="127" name="TextBox 126">
                <a:extLst>
                  <a:ext uri="{FF2B5EF4-FFF2-40B4-BE49-F238E27FC236}">
                    <a16:creationId xmlns:a16="http://schemas.microsoft.com/office/drawing/2014/main" id="{5DFA6FEF-3AFD-5BD5-7834-33017ABFC53A}"/>
                  </a:ext>
                </a:extLst>
              </p:cNvPr>
              <p:cNvSpPr txBox="1"/>
              <p:nvPr/>
            </p:nvSpPr>
            <p:spPr>
              <a:xfrm>
                <a:off x="7579789" y="1758711"/>
                <a:ext cx="3228897" cy="276999"/>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800" b="0" i="1" strike="noStrike" cap="none" baseline="0" dirty="0">
                    <a:solidFill>
                      <a:srgbClr val="000000"/>
                    </a:solidFill>
                    <a:effectLst/>
                    <a:latin typeface="Segoe UI Semibold"/>
                    <a:ea typeface="Segoe UI Semibold"/>
                    <a:cs typeface="Segoe UI Semibold"/>
                  </a:rPr>
                  <a:t>Proyecto</a:t>
                </a:r>
                <a:r>
                  <a:rPr lang="es-ES" sz="1800" b="0" i="0" strike="noStrike" cap="none" baseline="0" dirty="0">
                    <a:solidFill>
                      <a:srgbClr val="000000"/>
                    </a:solidFill>
                    <a:effectLst/>
                    <a:latin typeface="Segoe UI Semibold"/>
                    <a:ea typeface="Segoe UI Semibold"/>
                    <a:cs typeface="Segoe UI Semibold"/>
                  </a:rPr>
                  <a:t> de Microsoft </a:t>
                </a:r>
                <a:r>
                  <a:rPr lang="es-ES" sz="1800" b="0" i="0" strike="noStrike" cap="none" baseline="0" dirty="0" err="1">
                    <a:solidFill>
                      <a:srgbClr val="000000"/>
                    </a:solidFill>
                    <a:effectLst/>
                    <a:latin typeface="Segoe UI Semibold"/>
                    <a:ea typeface="Segoe UI Semibold"/>
                    <a:cs typeface="Segoe UI Semibold"/>
                  </a:rPr>
                  <a:t>Foundry</a:t>
                </a:r>
                <a:endParaRPr lang="es-ES" sz="1800" b="0" i="0" strike="noStrike" cap="none" baseline="0" dirty="0">
                  <a:solidFill>
                    <a:srgbClr val="000000"/>
                  </a:solidFill>
                  <a:effectLst/>
                  <a:latin typeface="Segoe UI Semibold"/>
                  <a:ea typeface="Segoe UI Semibold"/>
                  <a:cs typeface="Segoe UI Semibold"/>
                </a:endParaRPr>
              </a:p>
            </p:txBody>
          </p:sp>
        </p:grpSp>
        <p:pic>
          <p:nvPicPr>
            <p:cNvPr id="132" name="Graphic 55">
              <a:extLst>
                <a:ext uri="{FF2B5EF4-FFF2-40B4-BE49-F238E27FC236}">
                  <a16:creationId xmlns:a16="http://schemas.microsoft.com/office/drawing/2014/main" id="{68B4DF00-6AD7-34E8-6D79-17BE3A304636}"/>
                </a:ext>
              </a:extLst>
            </p:cNvPr>
            <p:cNvPicPr>
              <a:picLocks noChangeAspect="1"/>
            </p:cNvPicPr>
            <p:nvPr/>
          </p:nvPicPr>
          <p:blipFill>
            <a:blip r:embed="rId20">
              <a:extLst>
                <a:ext uri="{28A0092B-C50C-407E-A947-70E740481C1C}">
                  <a14:useLocalDpi xmlns:a14="http://schemas.microsoft.com/office/drawing/2010/main"/>
                </a:ext>
              </a:extLst>
            </a:blip>
            <a:stretch>
              <a:fillRect/>
            </a:stretch>
          </p:blipFill>
          <p:spPr>
            <a:xfrm>
              <a:off x="10363196" y="816325"/>
              <a:ext cx="1140170" cy="1075521"/>
            </a:xfrm>
            <a:prstGeom prst="rect">
              <a:avLst/>
            </a:prstGeom>
          </p:spPr>
        </p:pic>
      </p:gr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04945752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6A18A-E1C6-6ED4-D7D6-CB00F8757C71}"/>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Foundry Tools</a:t>
            </a:r>
          </a:p>
        </p:txBody>
      </p:sp>
      <p:grpSp>
        <p:nvGrpSpPr>
          <p:cNvPr id="34" name="Group 33" descr="Table showing available Foundry Tools.">
            <a:extLst>
              <a:ext uri="{FF2B5EF4-FFF2-40B4-BE49-F238E27FC236}">
                <a16:creationId xmlns:a16="http://schemas.microsoft.com/office/drawing/2014/main" id="{95F2715B-D37F-0450-83BB-2237161AC716}"/>
              </a:ext>
            </a:extLst>
          </p:cNvPr>
          <p:cNvGrpSpPr/>
          <p:nvPr/>
        </p:nvGrpSpPr>
        <p:grpSpPr>
          <a:xfrm>
            <a:off x="1415143" y="1248559"/>
            <a:ext cx="9173028" cy="5083294"/>
            <a:chOff x="1415143" y="1248559"/>
            <a:chExt cx="9173028" cy="5083294"/>
          </a:xfrm>
        </p:grpSpPr>
        <p:grpSp>
          <p:nvGrpSpPr>
            <p:cNvPr id="29" name="Group 28">
              <a:extLst>
                <a:ext uri="{FF2B5EF4-FFF2-40B4-BE49-F238E27FC236}">
                  <a16:creationId xmlns:a16="http://schemas.microsoft.com/office/drawing/2014/main" id="{97EC8DE9-536A-E9CD-C2F5-A7FF035795DD}"/>
                </a:ext>
              </a:extLst>
            </p:cNvPr>
            <p:cNvGrpSpPr/>
            <p:nvPr/>
          </p:nvGrpSpPr>
          <p:grpSpPr>
            <a:xfrm>
              <a:off x="1415143" y="1248559"/>
              <a:ext cx="9173028" cy="956934"/>
              <a:chOff x="1415143" y="1248559"/>
              <a:chExt cx="9173028" cy="956934"/>
            </a:xfrm>
          </p:grpSpPr>
          <p:sp>
            <p:nvSpPr>
              <p:cNvPr id="19" name="Rectangle 18">
                <a:extLst>
                  <a:ext uri="{FF2B5EF4-FFF2-40B4-BE49-F238E27FC236}">
                    <a16:creationId xmlns:a16="http://schemas.microsoft.com/office/drawing/2014/main" id="{D2E16E56-7EF3-40B0-A0D6-F819F1DDC6A0}"/>
                  </a:ext>
                </a:extLst>
              </p:cNvPr>
              <p:cNvSpPr/>
              <p:nvPr/>
            </p:nvSpPr>
            <p:spPr bwMode="auto">
              <a:xfrm>
                <a:off x="1415143" y="1248559"/>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B5A1E27B-6CB2-B2EA-90E7-2714EE9FC22E}"/>
                  </a:ext>
                </a:extLst>
              </p:cNvPr>
              <p:cNvPicPr>
                <a:picLocks noChangeAspect="1"/>
              </p:cNvPicPr>
              <p:nvPr/>
            </p:nvPicPr>
            <p:blipFill>
              <a:blip r:embed="rId3"/>
              <a:stretch>
                <a:fillRect/>
              </a:stretch>
            </p:blipFill>
            <p:spPr>
              <a:xfrm>
                <a:off x="1415143" y="1258435"/>
                <a:ext cx="947058" cy="947058"/>
              </a:xfrm>
              <a:prstGeom prst="rect">
                <a:avLst/>
              </a:prstGeom>
            </p:spPr>
          </p:pic>
          <p:sp>
            <p:nvSpPr>
              <p:cNvPr id="14" name="TextBox 13">
                <a:extLst>
                  <a:ext uri="{FF2B5EF4-FFF2-40B4-BE49-F238E27FC236}">
                    <a16:creationId xmlns:a16="http://schemas.microsoft.com/office/drawing/2014/main" id="{C46F3B07-00ED-A75F-97E2-2EA5DBC77825}"/>
                  </a:ext>
                </a:extLst>
              </p:cNvPr>
              <p:cNvSpPr txBox="1"/>
              <p:nvPr/>
            </p:nvSpPr>
            <p:spPr>
              <a:xfrm>
                <a:off x="2455168" y="1388625"/>
                <a:ext cx="3882147" cy="277063"/>
              </a:xfrm>
              <a:prstGeom prst="rect">
                <a:avLst/>
              </a:prstGeom>
              <a:noFill/>
            </p:spPr>
            <p:txBody>
              <a:bodyPr wrap="none" lIns="0" tIns="0" rIns="0" bIns="0" rtlCol="0">
                <a:spAutoFit/>
              </a:bodyPr>
              <a:lstStyle/>
              <a:p>
                <a:pPr algn="l"/>
                <a:r>
                  <a:rPr lang="es-ES" sz="1800" b="0" i="0" strike="noStrike" cap="none" baseline="0">
                    <a:solidFill>
                      <a:srgbClr val="000000"/>
                    </a:solidFill>
                    <a:effectLst/>
                    <a:latin typeface="Segoe UI Semibold"/>
                    <a:ea typeface="Segoe UI Semibold"/>
                    <a:cs typeface="Segoe UI Semibold"/>
                  </a:rPr>
                  <a:t>Azure Language en Foundry Tools</a:t>
                </a:r>
              </a:p>
            </p:txBody>
          </p:sp>
          <p:sp>
            <p:nvSpPr>
              <p:cNvPr id="24" name="TextBox 23">
                <a:extLst>
                  <a:ext uri="{FF2B5EF4-FFF2-40B4-BE49-F238E27FC236}">
                    <a16:creationId xmlns:a16="http://schemas.microsoft.com/office/drawing/2014/main" id="{20CD64D2-4971-BA33-A771-8077290417C5}"/>
                  </a:ext>
                </a:extLst>
              </p:cNvPr>
              <p:cNvSpPr txBox="1"/>
              <p:nvPr/>
            </p:nvSpPr>
            <p:spPr>
              <a:xfrm>
                <a:off x="2455168" y="1705981"/>
                <a:ext cx="5584054"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Procesamiento del lenguaje natural y análisis de texto</a:t>
                </a:r>
              </a:p>
            </p:txBody>
          </p:sp>
        </p:grpSp>
        <p:grpSp>
          <p:nvGrpSpPr>
            <p:cNvPr id="30" name="Group 29">
              <a:extLst>
                <a:ext uri="{FF2B5EF4-FFF2-40B4-BE49-F238E27FC236}">
                  <a16:creationId xmlns:a16="http://schemas.microsoft.com/office/drawing/2014/main" id="{CC8C4777-BB5C-FD05-6F0B-F8FCBED6F9B3}"/>
                </a:ext>
              </a:extLst>
            </p:cNvPr>
            <p:cNvGrpSpPr/>
            <p:nvPr/>
          </p:nvGrpSpPr>
          <p:grpSpPr>
            <a:xfrm>
              <a:off x="1415143" y="2282618"/>
              <a:ext cx="9173028" cy="947058"/>
              <a:chOff x="1415143" y="2282618"/>
              <a:chExt cx="9173028" cy="947058"/>
            </a:xfrm>
          </p:grpSpPr>
          <p:sp>
            <p:nvSpPr>
              <p:cNvPr id="20" name="Rectangle 19">
                <a:extLst>
                  <a:ext uri="{FF2B5EF4-FFF2-40B4-BE49-F238E27FC236}">
                    <a16:creationId xmlns:a16="http://schemas.microsoft.com/office/drawing/2014/main" id="{AE17EB9F-C87D-B4EA-ECD6-383CFC990763}"/>
                  </a:ext>
                </a:extLst>
              </p:cNvPr>
              <p:cNvSpPr/>
              <p:nvPr/>
            </p:nvSpPr>
            <p:spPr bwMode="auto">
              <a:xfrm>
                <a:off x="1415143" y="2282618"/>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7" name="Graphic 6">
                <a:extLst>
                  <a:ext uri="{FF2B5EF4-FFF2-40B4-BE49-F238E27FC236}">
                    <a16:creationId xmlns:a16="http://schemas.microsoft.com/office/drawing/2014/main" id="{84A1253E-48A8-D07F-144C-9FCC9EFF45C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92945" y="2328863"/>
                <a:ext cx="791454" cy="791452"/>
              </a:xfrm>
              <a:prstGeom prst="rect">
                <a:avLst/>
              </a:prstGeom>
            </p:spPr>
          </p:pic>
          <p:sp>
            <p:nvSpPr>
              <p:cNvPr id="15" name="TextBox 14">
                <a:extLst>
                  <a:ext uri="{FF2B5EF4-FFF2-40B4-BE49-F238E27FC236}">
                    <a16:creationId xmlns:a16="http://schemas.microsoft.com/office/drawing/2014/main" id="{C863279C-86DA-C794-E144-B6E73BE0D686}"/>
                  </a:ext>
                </a:extLst>
              </p:cNvPr>
              <p:cNvSpPr txBox="1"/>
              <p:nvPr/>
            </p:nvSpPr>
            <p:spPr>
              <a:xfrm>
                <a:off x="2455168" y="2366517"/>
                <a:ext cx="3595143" cy="277063"/>
              </a:xfrm>
              <a:prstGeom prst="rect">
                <a:avLst/>
              </a:prstGeom>
              <a:noFill/>
            </p:spPr>
            <p:txBody>
              <a:bodyPr wrap="none" lIns="0" tIns="0" rIns="0" bIns="0" rtlCol="0">
                <a:spAutoFit/>
              </a:bodyPr>
              <a:lstStyle/>
              <a:p>
                <a:pPr algn="l"/>
                <a:r>
                  <a:rPr lang="es-ES" sz="1800" b="0" i="0" strike="noStrike" cap="none" baseline="0">
                    <a:solidFill>
                      <a:srgbClr val="000000"/>
                    </a:solidFill>
                    <a:effectLst/>
                    <a:latin typeface="Segoe UI Semibold"/>
                    <a:ea typeface="Segoe UI Semibold"/>
                    <a:cs typeface="Segoe UI Semibold"/>
                  </a:rPr>
                  <a:t>Azure Speech en Foundry Tools</a:t>
                </a:r>
              </a:p>
            </p:txBody>
          </p:sp>
          <p:sp>
            <p:nvSpPr>
              <p:cNvPr id="25" name="TextBox 24">
                <a:extLst>
                  <a:ext uri="{FF2B5EF4-FFF2-40B4-BE49-F238E27FC236}">
                    <a16:creationId xmlns:a16="http://schemas.microsoft.com/office/drawing/2014/main" id="{5715460B-A52F-2DB2-A681-51FEA68CCB33}"/>
                  </a:ext>
                </a:extLst>
              </p:cNvPr>
              <p:cNvSpPr txBox="1"/>
              <p:nvPr/>
            </p:nvSpPr>
            <p:spPr>
              <a:xfrm>
                <a:off x="2455168" y="2689324"/>
                <a:ext cx="3412383"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Reconocimiento y síntesis de voz</a:t>
                </a:r>
              </a:p>
            </p:txBody>
          </p:sp>
        </p:grpSp>
        <p:grpSp>
          <p:nvGrpSpPr>
            <p:cNvPr id="31" name="Group 30">
              <a:extLst>
                <a:ext uri="{FF2B5EF4-FFF2-40B4-BE49-F238E27FC236}">
                  <a16:creationId xmlns:a16="http://schemas.microsoft.com/office/drawing/2014/main" id="{10416ABE-CFEA-8728-269D-D566A11867EA}"/>
                </a:ext>
              </a:extLst>
            </p:cNvPr>
            <p:cNvGrpSpPr/>
            <p:nvPr/>
          </p:nvGrpSpPr>
          <p:grpSpPr>
            <a:xfrm>
              <a:off x="1415143" y="3262735"/>
              <a:ext cx="9173028" cy="1001000"/>
              <a:chOff x="1415143" y="3262735"/>
              <a:chExt cx="9173028" cy="1001000"/>
            </a:xfrm>
          </p:grpSpPr>
          <p:sp>
            <p:nvSpPr>
              <p:cNvPr id="21" name="Rectangle 20">
                <a:extLst>
                  <a:ext uri="{FF2B5EF4-FFF2-40B4-BE49-F238E27FC236}">
                    <a16:creationId xmlns:a16="http://schemas.microsoft.com/office/drawing/2014/main" id="{F1BC5631-530A-F411-1032-17040E13CAC6}"/>
                  </a:ext>
                </a:extLst>
              </p:cNvPr>
              <p:cNvSpPr/>
              <p:nvPr/>
            </p:nvSpPr>
            <p:spPr bwMode="auto">
              <a:xfrm>
                <a:off x="1415143" y="3316677"/>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9" name="Picture 8">
                <a:extLst>
                  <a:ext uri="{FF2B5EF4-FFF2-40B4-BE49-F238E27FC236}">
                    <a16:creationId xmlns:a16="http://schemas.microsoft.com/office/drawing/2014/main" id="{34EE34A0-4033-996F-B1DD-E14A6984A63D}"/>
                  </a:ext>
                </a:extLst>
              </p:cNvPr>
              <p:cNvPicPr>
                <a:picLocks noChangeAspect="1"/>
              </p:cNvPicPr>
              <p:nvPr/>
            </p:nvPicPr>
            <p:blipFill>
              <a:blip r:embed="rId5"/>
              <a:stretch>
                <a:fillRect/>
              </a:stretch>
            </p:blipFill>
            <p:spPr>
              <a:xfrm>
                <a:off x="1415143" y="3262735"/>
                <a:ext cx="947058" cy="947058"/>
              </a:xfrm>
              <a:prstGeom prst="rect">
                <a:avLst/>
              </a:prstGeom>
            </p:spPr>
          </p:pic>
          <p:sp>
            <p:nvSpPr>
              <p:cNvPr id="16" name="TextBox 15">
                <a:extLst>
                  <a:ext uri="{FF2B5EF4-FFF2-40B4-BE49-F238E27FC236}">
                    <a16:creationId xmlns:a16="http://schemas.microsoft.com/office/drawing/2014/main" id="{7ECDAC41-CF9B-5A47-2C7B-47CE2961750D}"/>
                  </a:ext>
                </a:extLst>
              </p:cNvPr>
              <p:cNvSpPr txBox="1"/>
              <p:nvPr/>
            </p:nvSpPr>
            <p:spPr>
              <a:xfrm>
                <a:off x="2455168" y="3384255"/>
                <a:ext cx="3885090" cy="277063"/>
              </a:xfrm>
              <a:prstGeom prst="rect">
                <a:avLst/>
              </a:prstGeom>
              <a:noFill/>
            </p:spPr>
            <p:txBody>
              <a:bodyPr wrap="none" lIns="0" tIns="0" rIns="0" bIns="0" rtlCol="0">
                <a:spAutoFit/>
              </a:bodyPr>
              <a:lstStyle/>
              <a:p>
                <a:pPr algn="l"/>
                <a:r>
                  <a:rPr lang="es-ES" sz="1800" b="0" i="0" strike="noStrike" cap="none" baseline="0">
                    <a:solidFill>
                      <a:srgbClr val="000000"/>
                    </a:solidFill>
                    <a:effectLst/>
                    <a:latin typeface="Segoe UI Semibold"/>
                    <a:ea typeface="Segoe UI Semibold"/>
                    <a:cs typeface="Segoe UI Semibold"/>
                  </a:rPr>
                  <a:t>Azure Translator en Foundry Tools</a:t>
                </a:r>
              </a:p>
            </p:txBody>
          </p:sp>
          <p:sp>
            <p:nvSpPr>
              <p:cNvPr id="26" name="TextBox 25">
                <a:extLst>
                  <a:ext uri="{FF2B5EF4-FFF2-40B4-BE49-F238E27FC236}">
                    <a16:creationId xmlns:a16="http://schemas.microsoft.com/office/drawing/2014/main" id="{70A9681B-57F2-9C98-F2AA-6E719C8802FE}"/>
                  </a:ext>
                </a:extLst>
              </p:cNvPr>
              <p:cNvSpPr txBox="1"/>
              <p:nvPr/>
            </p:nvSpPr>
            <p:spPr>
              <a:xfrm>
                <a:off x="2455168" y="3716209"/>
                <a:ext cx="5085805"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Traducción de documentos y de texto multilingüe</a:t>
                </a:r>
              </a:p>
            </p:txBody>
          </p:sp>
        </p:grpSp>
        <p:grpSp>
          <p:nvGrpSpPr>
            <p:cNvPr id="32" name="Group 31">
              <a:extLst>
                <a:ext uri="{FF2B5EF4-FFF2-40B4-BE49-F238E27FC236}">
                  <a16:creationId xmlns:a16="http://schemas.microsoft.com/office/drawing/2014/main" id="{142C0792-F5B7-2E11-AF60-CC5A70258AFB}"/>
                </a:ext>
              </a:extLst>
            </p:cNvPr>
            <p:cNvGrpSpPr/>
            <p:nvPr/>
          </p:nvGrpSpPr>
          <p:grpSpPr>
            <a:xfrm>
              <a:off x="1415143" y="4330984"/>
              <a:ext cx="9173028" cy="966810"/>
              <a:chOff x="1415143" y="4330984"/>
              <a:chExt cx="9173028" cy="966810"/>
            </a:xfrm>
          </p:grpSpPr>
          <p:sp>
            <p:nvSpPr>
              <p:cNvPr id="22" name="Rectangle 21">
                <a:extLst>
                  <a:ext uri="{FF2B5EF4-FFF2-40B4-BE49-F238E27FC236}">
                    <a16:creationId xmlns:a16="http://schemas.microsoft.com/office/drawing/2014/main" id="{9D725012-520F-F930-F071-48314E80FC71}"/>
                  </a:ext>
                </a:extLst>
              </p:cNvPr>
              <p:cNvSpPr/>
              <p:nvPr/>
            </p:nvSpPr>
            <p:spPr bwMode="auto">
              <a:xfrm>
                <a:off x="1415143" y="4350736"/>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A228585D-DA29-B677-6DD5-36F89AB9CBAF}"/>
                  </a:ext>
                </a:extLst>
              </p:cNvPr>
              <p:cNvPicPr>
                <a:picLocks noChangeAspect="1"/>
              </p:cNvPicPr>
              <p:nvPr/>
            </p:nvPicPr>
            <p:blipFill>
              <a:blip r:embed="rId6"/>
              <a:stretch>
                <a:fillRect/>
              </a:stretch>
            </p:blipFill>
            <p:spPr>
              <a:xfrm>
                <a:off x="1415143" y="4330984"/>
                <a:ext cx="947058" cy="947058"/>
              </a:xfrm>
              <a:prstGeom prst="rect">
                <a:avLst/>
              </a:prstGeom>
            </p:spPr>
          </p:pic>
          <p:sp>
            <p:nvSpPr>
              <p:cNvPr id="17" name="TextBox 16">
                <a:extLst>
                  <a:ext uri="{FF2B5EF4-FFF2-40B4-BE49-F238E27FC236}">
                    <a16:creationId xmlns:a16="http://schemas.microsoft.com/office/drawing/2014/main" id="{C2451D88-D568-AD3F-C7D7-2EFB8FDB2431}"/>
                  </a:ext>
                </a:extLst>
              </p:cNvPr>
              <p:cNvSpPr txBox="1"/>
              <p:nvPr/>
            </p:nvSpPr>
            <p:spPr>
              <a:xfrm>
                <a:off x="2455168" y="4406242"/>
                <a:ext cx="5355648" cy="277063"/>
              </a:xfrm>
              <a:prstGeom prst="rect">
                <a:avLst/>
              </a:prstGeom>
              <a:noFill/>
            </p:spPr>
            <p:txBody>
              <a:bodyPr wrap="none" lIns="0" tIns="0" rIns="0" bIns="0" rtlCol="0">
                <a:spAutoFit/>
              </a:bodyPr>
              <a:lstStyle/>
              <a:p>
                <a:pPr algn="l"/>
                <a:r>
                  <a:rPr lang="es-ES" sz="1800" b="0" i="0" strike="noStrike" cap="none" baseline="0">
                    <a:solidFill>
                      <a:srgbClr val="000000"/>
                    </a:solidFill>
                    <a:effectLst/>
                    <a:latin typeface="Segoe UI Semibold"/>
                    <a:ea typeface="Segoe UI Semibold"/>
                    <a:cs typeface="Segoe UI Semibold"/>
                  </a:rPr>
                  <a:t>Azure Document Intelligence en Foundry Tools</a:t>
                </a:r>
              </a:p>
            </p:txBody>
          </p:sp>
          <p:sp>
            <p:nvSpPr>
              <p:cNvPr id="27" name="TextBox 26">
                <a:extLst>
                  <a:ext uri="{FF2B5EF4-FFF2-40B4-BE49-F238E27FC236}">
                    <a16:creationId xmlns:a16="http://schemas.microsoft.com/office/drawing/2014/main" id="{C00F2F30-0649-EDAD-6519-B8A77675EBA9}"/>
                  </a:ext>
                </a:extLst>
              </p:cNvPr>
              <p:cNvSpPr txBox="1"/>
              <p:nvPr/>
            </p:nvSpPr>
            <p:spPr>
              <a:xfrm>
                <a:off x="2455168" y="4743095"/>
                <a:ext cx="5604898"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Procesamiento y extracción de documentos complejos</a:t>
                </a:r>
              </a:p>
            </p:txBody>
          </p:sp>
        </p:grpSp>
        <p:grpSp>
          <p:nvGrpSpPr>
            <p:cNvPr id="33" name="Group 32">
              <a:extLst>
                <a:ext uri="{FF2B5EF4-FFF2-40B4-BE49-F238E27FC236}">
                  <a16:creationId xmlns:a16="http://schemas.microsoft.com/office/drawing/2014/main" id="{5FC5E8CC-9724-0136-9036-1C0D47004646}"/>
                </a:ext>
              </a:extLst>
            </p:cNvPr>
            <p:cNvGrpSpPr/>
            <p:nvPr/>
          </p:nvGrpSpPr>
          <p:grpSpPr>
            <a:xfrm>
              <a:off x="1415143" y="5384795"/>
              <a:ext cx="9173028" cy="947058"/>
              <a:chOff x="1415143" y="5384795"/>
              <a:chExt cx="9173028" cy="947058"/>
            </a:xfrm>
          </p:grpSpPr>
          <p:sp>
            <p:nvSpPr>
              <p:cNvPr id="23" name="Rectangle 22">
                <a:extLst>
                  <a:ext uri="{FF2B5EF4-FFF2-40B4-BE49-F238E27FC236}">
                    <a16:creationId xmlns:a16="http://schemas.microsoft.com/office/drawing/2014/main" id="{56DA9D75-FDA4-916F-5F47-A452ED1DA9D1}"/>
                  </a:ext>
                </a:extLst>
              </p:cNvPr>
              <p:cNvSpPr/>
              <p:nvPr/>
            </p:nvSpPr>
            <p:spPr bwMode="auto">
              <a:xfrm>
                <a:off x="1415143" y="5384795"/>
                <a:ext cx="9173028" cy="947058"/>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3" name="Picture 12">
                <a:extLst>
                  <a:ext uri="{FF2B5EF4-FFF2-40B4-BE49-F238E27FC236}">
                    <a16:creationId xmlns:a16="http://schemas.microsoft.com/office/drawing/2014/main" id="{82BE1B3E-37A0-93B9-D212-60AE2B97DBA6}"/>
                  </a:ext>
                </a:extLst>
              </p:cNvPr>
              <p:cNvPicPr>
                <a:picLocks noChangeAspect="1"/>
              </p:cNvPicPr>
              <p:nvPr/>
            </p:nvPicPr>
            <p:blipFill>
              <a:blip r:embed="rId7"/>
              <a:stretch>
                <a:fillRect/>
              </a:stretch>
            </p:blipFill>
            <p:spPr>
              <a:xfrm>
                <a:off x="1415143" y="5384795"/>
                <a:ext cx="947058" cy="947058"/>
              </a:xfrm>
              <a:prstGeom prst="rect">
                <a:avLst/>
              </a:prstGeom>
            </p:spPr>
          </p:pic>
          <p:sp>
            <p:nvSpPr>
              <p:cNvPr id="18" name="TextBox 17">
                <a:extLst>
                  <a:ext uri="{FF2B5EF4-FFF2-40B4-BE49-F238E27FC236}">
                    <a16:creationId xmlns:a16="http://schemas.microsoft.com/office/drawing/2014/main" id="{99ED5530-0543-AF5D-EC77-CB9699F93302}"/>
                  </a:ext>
                </a:extLst>
              </p:cNvPr>
              <p:cNvSpPr txBox="1"/>
              <p:nvPr/>
            </p:nvSpPr>
            <p:spPr>
              <a:xfrm>
                <a:off x="2455168" y="5466570"/>
                <a:ext cx="6330237" cy="277063"/>
              </a:xfrm>
              <a:prstGeom prst="rect">
                <a:avLst/>
              </a:prstGeom>
              <a:noFill/>
            </p:spPr>
            <p:txBody>
              <a:bodyPr wrap="none" lIns="0" tIns="0" rIns="0" bIns="0" rtlCol="0">
                <a:spAutoFit/>
              </a:bodyPr>
              <a:lstStyle/>
              <a:p>
                <a:pPr algn="l"/>
                <a:r>
                  <a:rPr lang="es-ES" sz="1800" b="0" i="0" strike="noStrike" cap="none" baseline="0">
                    <a:solidFill>
                      <a:srgbClr val="000000"/>
                    </a:solidFill>
                    <a:effectLst/>
                    <a:latin typeface="Segoe UI Semibold"/>
                    <a:ea typeface="Segoe UI Semibold"/>
                    <a:cs typeface="Segoe UI Semibold"/>
                  </a:rPr>
                  <a:t>Comprensión de contenidos de Azure en Foundry Tools</a:t>
                </a:r>
              </a:p>
            </p:txBody>
          </p:sp>
          <p:sp>
            <p:nvSpPr>
              <p:cNvPr id="28" name="TextBox 27">
                <a:extLst>
                  <a:ext uri="{FF2B5EF4-FFF2-40B4-BE49-F238E27FC236}">
                    <a16:creationId xmlns:a16="http://schemas.microsoft.com/office/drawing/2014/main" id="{475E3D8B-84DC-F833-0B02-0BFF0BBA43EF}"/>
                  </a:ext>
                </a:extLst>
              </p:cNvPr>
              <p:cNvSpPr txBox="1"/>
              <p:nvPr/>
            </p:nvSpPr>
            <p:spPr>
              <a:xfrm>
                <a:off x="2455168" y="5784493"/>
                <a:ext cx="3312473"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Análisis de contenido ferroviario</a:t>
                </a:r>
              </a:p>
            </p:txBody>
          </p:sp>
        </p:grpSp>
      </p:grpSp>
    </p:spTree>
    <p:extLst>
      <p:ext uri="{BB962C8B-B14F-4D97-AF65-F5344CB8AC3E}">
        <p14:creationId xmlns:p14="http://schemas.microsoft.com/office/powerpoint/2010/main" val="37581397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D01BA-4C84-D321-DA09-8C009B94BF39}"/>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Herramientas y SDK para desarrolladores</a:t>
            </a:r>
          </a:p>
        </p:txBody>
      </p:sp>
      <p:sp>
        <p:nvSpPr>
          <p:cNvPr id="4" name="Text Placeholder 44">
            <a:extLst>
              <a:ext uri="{FF2B5EF4-FFF2-40B4-BE49-F238E27FC236}">
                <a16:creationId xmlns:a16="http://schemas.microsoft.com/office/drawing/2014/main" id="{16AC550B-6210-5448-94F2-AA520F87667A}"/>
              </a:ext>
            </a:extLst>
          </p:cNvPr>
          <p:cNvSpPr txBox="1"/>
          <p:nvPr/>
        </p:nvSpPr>
        <p:spPr>
          <a:xfrm>
            <a:off x="586391" y="1991423"/>
            <a:ext cx="3246469" cy="1046440"/>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700" b="0" i="0" strike="noStrike" cap="none" baseline="0" dirty="0">
                <a:solidFill>
                  <a:srgbClr val="000000"/>
                </a:solidFill>
                <a:effectLst/>
                <a:latin typeface="Segoe UI"/>
                <a:ea typeface="Segoe UI"/>
                <a:cs typeface="Segoe UI"/>
              </a:rPr>
              <a:t>Microsoft Visual Studio Code</a:t>
            </a:r>
          </a:p>
          <a:p>
            <a:pPr lvl="1" indent="-137160"/>
            <a:r>
              <a:rPr lang="es-ES" sz="1500" b="0" i="0" strike="noStrike" cap="none" baseline="0" dirty="0">
                <a:solidFill>
                  <a:srgbClr val="000000"/>
                </a:solidFill>
                <a:effectLst/>
                <a:latin typeface="Segoe UI"/>
                <a:ea typeface="Segoe UI"/>
                <a:cs typeface="Segoe UI"/>
              </a:rPr>
              <a:t>Extensión de kit de herramientas</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Microsoft </a:t>
            </a:r>
            <a:r>
              <a:rPr lang="es-ES" sz="1500" b="0" i="0" strike="noStrike" cap="none" baseline="0" dirty="0" err="1">
                <a:solidFill>
                  <a:srgbClr val="000000"/>
                </a:solidFill>
                <a:effectLst/>
                <a:latin typeface="Segoe UI"/>
                <a:ea typeface="Segoe UI"/>
                <a:cs typeface="Segoe UI"/>
              </a:rPr>
              <a:t>Foundry</a:t>
            </a:r>
            <a:endParaRPr lang="es-ES" sz="1500" b="0" i="0" strike="noStrike" cap="none" baseline="0" dirty="0">
              <a:solidFill>
                <a:srgbClr val="000000"/>
              </a:solidFill>
              <a:effectLst/>
              <a:latin typeface="Segoe UI"/>
              <a:ea typeface="Segoe UI"/>
              <a:cs typeface="Segoe UI"/>
            </a:endParaRPr>
          </a:p>
          <a:p>
            <a:pPr lvl="1" indent="-137160"/>
            <a:r>
              <a:rPr lang="es-ES" sz="1500" b="0" i="0" strike="noStrike" cap="none" baseline="0" dirty="0">
                <a:solidFill>
                  <a:srgbClr val="000000"/>
                </a:solidFill>
                <a:effectLst/>
                <a:latin typeface="Segoe UI"/>
                <a:ea typeface="Segoe UI"/>
                <a:cs typeface="Segoe UI"/>
              </a:rPr>
              <a:t>GitHub </a:t>
            </a:r>
            <a:r>
              <a:rPr lang="es-ES" sz="1500" b="0" i="0" strike="noStrike" cap="none" baseline="0" dirty="0" err="1">
                <a:solidFill>
                  <a:srgbClr val="000000"/>
                </a:solidFill>
                <a:effectLst/>
                <a:latin typeface="Segoe UI"/>
                <a:ea typeface="Segoe UI"/>
                <a:cs typeface="Segoe UI"/>
              </a:rPr>
              <a:t>Copilot</a:t>
            </a:r>
            <a:endParaRPr lang="es-ES" sz="1500" b="0" i="0" strike="noStrike" cap="none" baseline="0" dirty="0">
              <a:solidFill>
                <a:srgbClr val="000000"/>
              </a:solidFill>
              <a:effectLst/>
              <a:latin typeface="Segoe UI"/>
              <a:ea typeface="Segoe UI"/>
              <a:cs typeface="Segoe UI"/>
            </a:endParaRPr>
          </a:p>
        </p:txBody>
      </p:sp>
      <p:sp>
        <p:nvSpPr>
          <p:cNvPr id="5" name="Text Placeholder 45">
            <a:extLst>
              <a:ext uri="{FF2B5EF4-FFF2-40B4-BE49-F238E27FC236}">
                <a16:creationId xmlns:a16="http://schemas.microsoft.com/office/drawing/2014/main" id="{D59817C8-4B01-FDEB-6958-EB3FB9A931E5}"/>
              </a:ext>
            </a:extLst>
          </p:cNvPr>
          <p:cNvSpPr txBox="1"/>
          <p:nvPr/>
        </p:nvSpPr>
        <p:spPr>
          <a:xfrm>
            <a:off x="584200" y="1594155"/>
            <a:ext cx="2265680" cy="335280"/>
          </a:xfrm>
          <a:prstGeom prst="rect">
            <a:avLst/>
          </a:prstGeom>
        </p:spPr>
        <p:txBody>
          <a:bodyPr vert="horz" wrap="square" lIns="0" tIns="0" rIns="0" bIns="0" rtlCol="0" anchor="t">
            <a:spAutoFit/>
          </a:bodyPr>
          <a:lstStyle>
            <a:lvl1pPr marR="0" indent="0" defTabSz="932742" fontAlgn="auto">
              <a:lnSpc>
                <a:spcPct val="100000"/>
              </a:lnSpc>
              <a:spcBef>
                <a:spcPct val="0"/>
              </a:spcBef>
              <a:spcAft>
                <a:spcPct val="0"/>
              </a:spcAft>
              <a:buClrTx/>
              <a:buSzPct val="90000"/>
              <a:buFont typeface="Arial" panose="020B0604020202020204" pitchFamily="34" charset="0"/>
              <a:buNone/>
              <a:defRPr sz="2200" spc="0" baseline="0">
                <a:latin typeface="+mj-lt"/>
                <a:cs typeface="Segoe UI" pitchFamily="34" charset="0"/>
              </a:defRPr>
            </a:lvl1pPr>
            <a:lvl2pPr marL="265176" marR="0" indent="-109728" defTabSz="932742" fontAlgn="auto">
              <a:lnSpc>
                <a:spcPct val="100000"/>
              </a:lnSpc>
              <a:spcBef>
                <a:spcPct val="20000"/>
              </a:spcBef>
              <a:spcAft>
                <a:spcPct val="0"/>
              </a:spcAft>
              <a:buClrTx/>
              <a:buSzPct val="90000"/>
              <a:buFont typeface="Arial" panose="020B0604020202020204" pitchFamily="34" charset="0"/>
              <a:buChar char="•"/>
              <a:defRPr sz="1400" spc="0" baseline="0"/>
            </a:lvl2pPr>
            <a:lvl3pPr marL="384048" marR="0" indent="-118872" defTabSz="932742" fontAlgn="auto">
              <a:lnSpc>
                <a:spcPct val="100000"/>
              </a:lnSpc>
              <a:spcBef>
                <a:spcPct val="20000"/>
              </a:spcBef>
              <a:spcAft>
                <a:spcPct val="0"/>
              </a:spcAft>
              <a:buClrTx/>
              <a:buSzPct val="90000"/>
              <a:buFont typeface="Arial" panose="020B0604020202020204" pitchFamily="34" charset="0"/>
              <a:buChar char="•"/>
              <a:defRPr sz="1200" spc="0" baseline="0"/>
            </a:lvl3pPr>
            <a:lvl4pPr marL="842963" marR="0" indent="-180975" defTabSz="932742" fontAlgn="auto">
              <a:lnSpc>
                <a:spcPct val="100000"/>
              </a:lnSpc>
              <a:spcBef>
                <a:spcPct val="20000"/>
              </a:spcBef>
              <a:spcAft>
                <a:spcPct val="0"/>
              </a:spcAft>
              <a:buClrTx/>
              <a:buSzPct val="90000"/>
              <a:buFont typeface="Wingdings" panose="05000000000000000000" pitchFamily="2" charset="2"/>
              <a:buChar char=""/>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ct val="0"/>
              </a:spcAft>
              <a:buClrTx/>
              <a:buSzPct val="90000"/>
              <a:buFont typeface="Wingdings" panose="05000000000000000000" pitchFamily="2" charset="2"/>
              <a:buChar char=""/>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anose="020B0604020202020204" pitchFamily="34" charset="0"/>
              <a:buChar char="•"/>
              <a:defRPr sz="2000"/>
            </a:lvl6pPr>
            <a:lvl7pPr marL="3031412" indent="-233186" defTabSz="932742">
              <a:spcBef>
                <a:spcPct val="20000"/>
              </a:spcBef>
              <a:buFont typeface="Arial" panose="020B0604020202020204" pitchFamily="34" charset="0"/>
              <a:buChar char="•"/>
              <a:defRPr sz="2000"/>
            </a:lvl7pPr>
            <a:lvl8pPr marL="3497783" indent="-233186" defTabSz="932742">
              <a:spcBef>
                <a:spcPct val="20000"/>
              </a:spcBef>
              <a:buFont typeface="Arial" panose="020B0604020202020204" pitchFamily="34" charset="0"/>
              <a:buChar char="•"/>
              <a:defRPr sz="2000"/>
            </a:lvl8pPr>
            <a:lvl9pPr marL="3964155" indent="-233186" defTabSz="932742">
              <a:spcBef>
                <a:spcPct val="20000"/>
              </a:spcBef>
              <a:buFont typeface="Arial" panose="020B0604020202020204" pitchFamily="34" charset="0"/>
              <a:buChar char="•"/>
              <a:defRPr sz="2000"/>
            </a:lvl9pPr>
          </a:lstStyle>
          <a:p>
            <a:pPr marL="0" marR="0" lvl="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a:pPr>
            <a:r>
              <a:rPr lang="es-ES" sz="2200" b="0" i="0" strike="noStrike" cap="none" baseline="0" dirty="0">
                <a:solidFill>
                  <a:srgbClr val="000000"/>
                </a:solidFill>
                <a:effectLst/>
                <a:latin typeface="Segoe UI Semibold"/>
                <a:ea typeface="Segoe UI Semibold"/>
                <a:cs typeface="Segoe UI Semibold"/>
              </a:rPr>
              <a:t>Herramientas</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itchFamily="34" charset="0"/>
            </a:endParaRPr>
          </a:p>
        </p:txBody>
      </p:sp>
      <p:sp>
        <p:nvSpPr>
          <p:cNvPr id="6" name="Text Placeholder 44">
            <a:extLst>
              <a:ext uri="{FF2B5EF4-FFF2-40B4-BE49-F238E27FC236}">
                <a16:creationId xmlns:a16="http://schemas.microsoft.com/office/drawing/2014/main" id="{9B8F0807-9816-513C-DA10-E689F3757B96}"/>
              </a:ext>
            </a:extLst>
          </p:cNvPr>
          <p:cNvSpPr txBox="1"/>
          <p:nvPr/>
        </p:nvSpPr>
        <p:spPr>
          <a:xfrm>
            <a:off x="586391" y="3747108"/>
            <a:ext cx="3315049" cy="2536079"/>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700" b="0" i="0" strike="noStrike" cap="none" baseline="0" dirty="0">
                <a:solidFill>
                  <a:srgbClr val="000000"/>
                </a:solidFill>
                <a:effectLst/>
                <a:latin typeface="Segoe UI"/>
                <a:ea typeface="Segoe UI"/>
                <a:cs typeface="Segoe UI"/>
              </a:rPr>
              <a:t>SDK de Microsoft </a:t>
            </a:r>
            <a:r>
              <a:rPr lang="es-ES" sz="1700" b="0" i="0" strike="noStrike" cap="none" baseline="0" dirty="0" err="1">
                <a:solidFill>
                  <a:srgbClr val="000000"/>
                </a:solidFill>
                <a:effectLst/>
                <a:latin typeface="Segoe UI"/>
                <a:ea typeface="Segoe UI"/>
                <a:cs typeface="Segoe UI"/>
              </a:rPr>
              <a:t>Foundry</a:t>
            </a:r>
            <a:endParaRPr lang="es-ES" sz="1700" b="0" i="0" strike="noStrike" cap="none" baseline="0" dirty="0">
              <a:solidFill>
                <a:srgbClr val="000000"/>
              </a:solidFill>
              <a:effectLst/>
              <a:latin typeface="Segoe UI"/>
              <a:ea typeface="Segoe UI"/>
              <a:cs typeface="Segoe UI"/>
            </a:endParaRPr>
          </a:p>
          <a:p>
            <a:r>
              <a:rPr lang="es-ES" sz="1700" b="0" i="0" strike="noStrike" cap="none" baseline="0" dirty="0">
                <a:solidFill>
                  <a:srgbClr val="000000"/>
                </a:solidFill>
                <a:effectLst/>
                <a:latin typeface="Segoe UI"/>
                <a:ea typeface="Segoe UI"/>
                <a:cs typeface="Segoe UI"/>
              </a:rPr>
              <a:t>SDK de </a:t>
            </a:r>
            <a:r>
              <a:rPr lang="es-ES" sz="1700" b="0" i="0" strike="noStrike" cap="none" baseline="0" dirty="0" err="1">
                <a:solidFill>
                  <a:srgbClr val="000000"/>
                </a:solidFill>
                <a:effectLst/>
                <a:latin typeface="Segoe UI"/>
                <a:ea typeface="Segoe UI"/>
                <a:cs typeface="Segoe UI"/>
              </a:rPr>
              <a:t>OpenAI</a:t>
            </a:r>
            <a:endParaRPr lang="es-ES" sz="1700" b="0" i="0" strike="noStrike" cap="none" baseline="0" dirty="0">
              <a:solidFill>
                <a:srgbClr val="000000"/>
              </a:solidFill>
              <a:effectLst/>
              <a:latin typeface="Segoe UI"/>
              <a:ea typeface="Segoe UI"/>
              <a:cs typeface="Segoe UI"/>
            </a:endParaRPr>
          </a:p>
          <a:p>
            <a:r>
              <a:rPr lang="es-ES" sz="1700" b="0" i="0" strike="noStrike" cap="none" baseline="0" dirty="0">
                <a:solidFill>
                  <a:srgbClr val="000000"/>
                </a:solidFill>
                <a:effectLst/>
                <a:latin typeface="Segoe UI"/>
                <a:ea typeface="Segoe UI"/>
                <a:cs typeface="Segoe UI"/>
              </a:rPr>
              <a:t>SDK de herramientas de Microsoft </a:t>
            </a:r>
            <a:r>
              <a:rPr lang="es-ES" sz="1700" b="0" i="0" strike="noStrike" cap="none" baseline="0" dirty="0" err="1">
                <a:solidFill>
                  <a:srgbClr val="000000"/>
                </a:solidFill>
                <a:effectLst/>
                <a:latin typeface="Segoe UI"/>
                <a:ea typeface="Segoe UI"/>
                <a:cs typeface="Segoe UI"/>
              </a:rPr>
              <a:t>Foundry</a:t>
            </a:r>
            <a:endParaRPr lang="es-ES" sz="1700" b="0" i="0" strike="noStrike" cap="none" baseline="0" dirty="0">
              <a:solidFill>
                <a:srgbClr val="000000"/>
              </a:solidFill>
              <a:effectLst/>
              <a:latin typeface="Segoe UI"/>
              <a:ea typeface="Segoe UI"/>
              <a:cs typeface="Segoe UI"/>
            </a:endParaRPr>
          </a:p>
          <a:p>
            <a:pPr lvl="1"/>
            <a:r>
              <a:rPr lang="es-ES" sz="1500" b="0" i="0" strike="noStrike" cap="none" baseline="0" dirty="0">
                <a:solidFill>
                  <a:srgbClr val="000000"/>
                </a:solidFill>
                <a:effectLst/>
                <a:latin typeface="Segoe UI"/>
                <a:ea typeface="Segoe UI"/>
                <a:cs typeface="Segoe UI"/>
              </a:rPr>
              <a:t>Análisis de texto y de lenguaje</a:t>
            </a:r>
          </a:p>
          <a:p>
            <a:pPr lvl="1"/>
            <a:r>
              <a:rPr lang="es-ES" sz="1500" b="0" i="0" strike="noStrike" cap="none" baseline="0" dirty="0">
                <a:solidFill>
                  <a:srgbClr val="000000"/>
                </a:solidFill>
                <a:effectLst/>
                <a:latin typeface="Segoe UI"/>
                <a:ea typeface="Segoe UI"/>
                <a:cs typeface="Segoe UI"/>
              </a:rPr>
              <a:t>Voz</a:t>
            </a:r>
          </a:p>
          <a:p>
            <a:pPr lvl="1"/>
            <a:r>
              <a:rPr lang="es-ES" sz="1500" b="0" i="0" strike="noStrike" cap="none" baseline="0" dirty="0" err="1">
                <a:solidFill>
                  <a:srgbClr val="000000"/>
                </a:solidFill>
                <a:effectLst/>
                <a:latin typeface="Segoe UI"/>
                <a:ea typeface="Segoe UI"/>
                <a:cs typeface="Segoe UI"/>
              </a:rPr>
              <a:t>Translator</a:t>
            </a:r>
            <a:endParaRPr lang="es-ES" sz="1500" b="0" i="0" strike="noStrike" cap="none" baseline="0" dirty="0">
              <a:solidFill>
                <a:srgbClr val="000000"/>
              </a:solidFill>
              <a:effectLst/>
              <a:latin typeface="Segoe UI"/>
              <a:ea typeface="Segoe UI"/>
              <a:cs typeface="Segoe UI"/>
            </a:endParaRPr>
          </a:p>
          <a:p>
            <a:pPr lvl="1"/>
            <a:r>
              <a:rPr lang="es-ES" sz="1500" b="0" i="0" strike="noStrike" cap="none" baseline="0" dirty="0">
                <a:solidFill>
                  <a:srgbClr val="000000"/>
                </a:solidFill>
                <a:effectLst/>
                <a:latin typeface="Segoe UI"/>
                <a:ea typeface="Segoe UI"/>
                <a:cs typeface="Segoe UI"/>
              </a:rPr>
              <a:t>Documento de inteligencia</a:t>
            </a:r>
          </a:p>
          <a:p>
            <a:pPr lvl="1"/>
            <a:r>
              <a:rPr lang="es-ES" sz="1500" b="0" i="0" strike="noStrike" cap="none" baseline="0" dirty="0">
                <a:solidFill>
                  <a:srgbClr val="000000"/>
                </a:solidFill>
                <a:effectLst/>
                <a:latin typeface="Segoe UI"/>
                <a:ea typeface="Segoe UI"/>
                <a:cs typeface="Segoe UI"/>
              </a:rPr>
              <a:t>Comprensión de contenidos</a:t>
            </a:r>
          </a:p>
        </p:txBody>
      </p:sp>
      <p:sp>
        <p:nvSpPr>
          <p:cNvPr id="7" name="Text Placeholder 45">
            <a:extLst>
              <a:ext uri="{FF2B5EF4-FFF2-40B4-BE49-F238E27FC236}">
                <a16:creationId xmlns:a16="http://schemas.microsoft.com/office/drawing/2014/main" id="{9735E6D6-3162-0EA2-0F68-67208B383160}"/>
              </a:ext>
            </a:extLst>
          </p:cNvPr>
          <p:cNvSpPr txBox="1"/>
          <p:nvPr/>
        </p:nvSpPr>
        <p:spPr>
          <a:xfrm>
            <a:off x="584200" y="3349840"/>
            <a:ext cx="1023620" cy="335280"/>
          </a:xfrm>
          <a:prstGeom prst="rect">
            <a:avLst/>
          </a:prstGeom>
        </p:spPr>
        <p:txBody>
          <a:bodyPr vert="horz" wrap="square" lIns="0" tIns="0" rIns="0" bIns="0" rtlCol="0" anchor="t">
            <a:spAutoFit/>
          </a:bodyPr>
          <a:lstStyle>
            <a:lvl1pPr marR="0" indent="0" defTabSz="932742" fontAlgn="auto">
              <a:lnSpc>
                <a:spcPct val="100000"/>
              </a:lnSpc>
              <a:spcBef>
                <a:spcPct val="0"/>
              </a:spcBef>
              <a:spcAft>
                <a:spcPct val="0"/>
              </a:spcAft>
              <a:buClrTx/>
              <a:buSzPct val="90000"/>
              <a:buFont typeface="Arial" panose="020B0604020202020204" pitchFamily="34" charset="0"/>
              <a:buNone/>
              <a:defRPr sz="2200" spc="0" baseline="0">
                <a:latin typeface="+mj-lt"/>
                <a:cs typeface="Segoe UI" pitchFamily="34" charset="0"/>
              </a:defRPr>
            </a:lvl1pPr>
            <a:lvl2pPr marL="265176" marR="0" indent="-109728" defTabSz="932742" fontAlgn="auto">
              <a:lnSpc>
                <a:spcPct val="100000"/>
              </a:lnSpc>
              <a:spcBef>
                <a:spcPct val="20000"/>
              </a:spcBef>
              <a:spcAft>
                <a:spcPct val="0"/>
              </a:spcAft>
              <a:buClrTx/>
              <a:buSzPct val="90000"/>
              <a:buFont typeface="Arial" panose="020B0604020202020204" pitchFamily="34" charset="0"/>
              <a:buChar char="•"/>
              <a:defRPr sz="1400" spc="0" baseline="0"/>
            </a:lvl2pPr>
            <a:lvl3pPr marL="384048" marR="0" indent="-118872" defTabSz="932742" fontAlgn="auto">
              <a:lnSpc>
                <a:spcPct val="100000"/>
              </a:lnSpc>
              <a:spcBef>
                <a:spcPct val="20000"/>
              </a:spcBef>
              <a:spcAft>
                <a:spcPct val="0"/>
              </a:spcAft>
              <a:buClrTx/>
              <a:buSzPct val="90000"/>
              <a:buFont typeface="Arial" panose="020B0604020202020204" pitchFamily="34" charset="0"/>
              <a:buChar char="•"/>
              <a:defRPr sz="1200" spc="0" baseline="0"/>
            </a:lvl3pPr>
            <a:lvl4pPr marL="842963" marR="0" indent="-180975" defTabSz="932742" fontAlgn="auto">
              <a:lnSpc>
                <a:spcPct val="100000"/>
              </a:lnSpc>
              <a:spcBef>
                <a:spcPct val="20000"/>
              </a:spcBef>
              <a:spcAft>
                <a:spcPct val="0"/>
              </a:spcAft>
              <a:buClrTx/>
              <a:buSzPct val="90000"/>
              <a:buFont typeface="Wingdings" panose="05000000000000000000" pitchFamily="2" charset="2"/>
              <a:buChar char=""/>
              <a:defRPr sz="1000" spc="0" baseline="0">
                <a:gradFill>
                  <a:gsLst>
                    <a:gs pos="1250">
                      <a:schemeClr val="tx1"/>
                    </a:gs>
                    <a:gs pos="100000">
                      <a:schemeClr val="tx1"/>
                    </a:gs>
                  </a:gsLst>
                  <a:lin ang="5400000" scaled="0"/>
                </a:gradFill>
              </a:defRPr>
            </a:lvl4pPr>
            <a:lvl5pPr marL="1023938" marR="0" indent="-168275" defTabSz="932742" fontAlgn="auto">
              <a:lnSpc>
                <a:spcPct val="100000"/>
              </a:lnSpc>
              <a:spcBef>
                <a:spcPct val="20000"/>
              </a:spcBef>
              <a:spcAft>
                <a:spcPct val="0"/>
              </a:spcAft>
              <a:buClrTx/>
              <a:buSzPct val="90000"/>
              <a:buFont typeface="Wingdings" panose="05000000000000000000" pitchFamily="2" charset="2"/>
              <a:buChar char=""/>
              <a:defRPr sz="800" spc="0" baseline="0">
                <a:gradFill>
                  <a:gsLst>
                    <a:gs pos="1250">
                      <a:schemeClr val="tx1"/>
                    </a:gs>
                    <a:gs pos="100000">
                      <a:schemeClr val="tx1"/>
                    </a:gs>
                  </a:gsLst>
                  <a:lin ang="5400000" scaled="0"/>
                </a:gradFill>
              </a:defRPr>
            </a:lvl5pPr>
            <a:lvl6pPr marL="2565040" indent="-233186" defTabSz="932742">
              <a:spcBef>
                <a:spcPct val="20000"/>
              </a:spcBef>
              <a:buFont typeface="Arial" panose="020B0604020202020204" pitchFamily="34" charset="0"/>
              <a:buChar char="•"/>
              <a:defRPr sz="2000"/>
            </a:lvl6pPr>
            <a:lvl7pPr marL="3031412" indent="-233186" defTabSz="932742">
              <a:spcBef>
                <a:spcPct val="20000"/>
              </a:spcBef>
              <a:buFont typeface="Arial" panose="020B0604020202020204" pitchFamily="34" charset="0"/>
              <a:buChar char="•"/>
              <a:defRPr sz="2000"/>
            </a:lvl7pPr>
            <a:lvl8pPr marL="3497783" indent="-233186" defTabSz="932742">
              <a:spcBef>
                <a:spcPct val="20000"/>
              </a:spcBef>
              <a:buFont typeface="Arial" panose="020B0604020202020204" pitchFamily="34" charset="0"/>
              <a:buChar char="•"/>
              <a:defRPr sz="2000"/>
            </a:lvl8pPr>
            <a:lvl9pPr marL="3964155" indent="-233186" defTabSz="932742">
              <a:spcBef>
                <a:spcPct val="20000"/>
              </a:spcBef>
              <a:buFont typeface="Arial" panose="020B0604020202020204" pitchFamily="34" charset="0"/>
              <a:buChar char="•"/>
              <a:defRPr sz="2000"/>
            </a:lvl9pPr>
          </a:lstStyle>
          <a:p>
            <a:pPr marL="0" marR="0" lvl="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a:pPr>
            <a:r>
              <a:rPr lang="es-ES" sz="2200" b="0" i="0" strike="noStrike" cap="none" baseline="0" dirty="0">
                <a:solidFill>
                  <a:srgbClr val="000000"/>
                </a:solidFill>
                <a:effectLst/>
                <a:latin typeface="Segoe UI Semibold"/>
                <a:ea typeface="Segoe UI Semibold"/>
                <a:cs typeface="Segoe UI Semibold"/>
              </a:rPr>
              <a:t>SDK</a:t>
            </a:r>
            <a:endParaRPr kumimoji="0" lang="en-US" sz="2200" b="0" i="0" u="none" strike="noStrike" kern="1200" cap="none" spc="0" normalizeH="0" baseline="0" noProof="0" dirty="0">
              <a:ln>
                <a:noFill/>
              </a:ln>
              <a:solidFill>
                <a:srgbClr val="000000"/>
              </a:solidFill>
              <a:effectLst/>
              <a:uLnTx/>
              <a:uFillTx/>
              <a:latin typeface="Segoe UI Semibold"/>
              <a:ea typeface="+mn-ea"/>
              <a:cs typeface="Segoe UI" pitchFamily="34" charset="0"/>
            </a:endParaRPr>
          </a:p>
        </p:txBody>
      </p:sp>
      <p:pic>
        <p:nvPicPr>
          <p:cNvPr id="3" name="Picture 2">
            <a:extLst>
              <a:ext uri="{FF2B5EF4-FFF2-40B4-BE49-F238E27FC236}">
                <a16:creationId xmlns:a16="http://schemas.microsoft.com/office/drawing/2014/main" id="{43921D3E-A02B-D4EF-F4AB-11298F090026}"/>
              </a:ext>
            </a:extLst>
          </p:cNvPr>
          <p:cNvPicPr>
            <a:picLocks noChangeAspect="1"/>
          </p:cNvPicPr>
          <p:nvPr/>
        </p:nvPicPr>
        <p:blipFill>
          <a:blip r:embed="rId3"/>
          <a:srcRect/>
          <a:stretch/>
        </p:blipFill>
        <p:spPr>
          <a:xfrm>
            <a:off x="4346376" y="1340165"/>
            <a:ext cx="7253486" cy="4932618"/>
          </a:xfrm>
          <a:prstGeom prst="rect">
            <a:avLst/>
          </a:prstGeom>
        </p:spPr>
      </p:pic>
    </p:spTree>
    <p:extLst>
      <p:ext uri="{BB962C8B-B14F-4D97-AF65-F5344CB8AC3E}">
        <p14:creationId xmlns:p14="http://schemas.microsoft.com/office/powerpoint/2010/main" val="408819022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B0F8-FFBE-F6D5-81C9-242F647F84D7}"/>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Principios de IA responsable</a:t>
            </a:r>
          </a:p>
        </p:txBody>
      </p:sp>
      <p:grpSp>
        <p:nvGrpSpPr>
          <p:cNvPr id="10" name="Group 9">
            <a:extLst>
              <a:ext uri="{FF2B5EF4-FFF2-40B4-BE49-F238E27FC236}">
                <a16:creationId xmlns:a16="http://schemas.microsoft.com/office/drawing/2014/main" id="{1387C517-8AF2-8A51-043D-6236394A73D0}"/>
              </a:ext>
              <a:ext uri="{C183D7F6-B498-43B3-948B-1728B52AA6E4}">
                <adec:decorative xmlns:adec="http://schemas.microsoft.com/office/drawing/2017/decorative" val="1"/>
              </a:ext>
            </a:extLst>
          </p:cNvPr>
          <p:cNvGrpSpPr/>
          <p:nvPr/>
        </p:nvGrpSpPr>
        <p:grpSpPr>
          <a:xfrm>
            <a:off x="1984233" y="1385033"/>
            <a:ext cx="8113347" cy="4658780"/>
            <a:chOff x="1984233" y="1385033"/>
            <a:chExt cx="8113347" cy="4658780"/>
          </a:xfrm>
        </p:grpSpPr>
        <p:sp>
          <p:nvSpPr>
            <p:cNvPr id="9" name="Rectangle 8">
              <a:extLst>
                <a:ext uri="{FF2B5EF4-FFF2-40B4-BE49-F238E27FC236}">
                  <a16:creationId xmlns:a16="http://schemas.microsoft.com/office/drawing/2014/main" id="{AE36F907-765C-E754-FF1F-49B5EA667971}"/>
                </a:ext>
                <a:ext uri="{C183D7F6-B498-43B3-948B-1728B52AA6E4}">
                  <adec:decorative xmlns:adec="http://schemas.microsoft.com/office/drawing/2017/decorative" val="1"/>
                </a:ext>
              </a:extLst>
            </p:cNvPr>
            <p:cNvSpPr/>
            <p:nvPr/>
          </p:nvSpPr>
          <p:spPr bwMode="auto">
            <a:xfrm>
              <a:off x="1984233"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7" name="Graphic 6">
              <a:extLst>
                <a:ext uri="{FF2B5EF4-FFF2-40B4-BE49-F238E27FC236}">
                  <a16:creationId xmlns:a16="http://schemas.microsoft.com/office/drawing/2014/main" id="{B9F35278-7311-53E6-AD8F-2883C1EE9DD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3445" y="1385033"/>
              <a:ext cx="1401231" cy="1401231"/>
            </a:xfrm>
            <a:prstGeom prst="rect">
              <a:avLst/>
            </a:prstGeom>
          </p:spPr>
        </p:pic>
        <p:sp>
          <p:nvSpPr>
            <p:cNvPr id="17" name="Rectangle 16">
              <a:extLst>
                <a:ext uri="{FF2B5EF4-FFF2-40B4-BE49-F238E27FC236}">
                  <a16:creationId xmlns:a16="http://schemas.microsoft.com/office/drawing/2014/main" id="{2DC431CF-FC46-39FD-0FAA-4AD67ADF51FB}"/>
                </a:ext>
              </a:extLst>
            </p:cNvPr>
            <p:cNvSpPr/>
            <p:nvPr/>
          </p:nvSpPr>
          <p:spPr bwMode="auto">
            <a:xfrm>
              <a:off x="1984233" y="2786263"/>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Equidad</a:t>
              </a:r>
            </a:p>
          </p:txBody>
        </p:sp>
        <p:sp>
          <p:nvSpPr>
            <p:cNvPr id="11" name="Rectangle 10">
              <a:extLst>
                <a:ext uri="{FF2B5EF4-FFF2-40B4-BE49-F238E27FC236}">
                  <a16:creationId xmlns:a16="http://schemas.microsoft.com/office/drawing/2014/main" id="{7738F8CA-0F76-4200-5599-D25C1AF13298}"/>
                </a:ext>
                <a:ext uri="{C183D7F6-B498-43B3-948B-1728B52AA6E4}">
                  <adec:decorative xmlns:adec="http://schemas.microsoft.com/office/drawing/2017/decorative" val="1"/>
                </a:ext>
              </a:extLst>
            </p:cNvPr>
            <p:cNvSpPr/>
            <p:nvPr/>
          </p:nvSpPr>
          <p:spPr bwMode="auto">
            <a:xfrm>
              <a:off x="4844178" y="1431768"/>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 name="Graphic 5">
              <a:extLst>
                <a:ext uri="{FF2B5EF4-FFF2-40B4-BE49-F238E27FC236}">
                  <a16:creationId xmlns:a16="http://schemas.microsoft.com/office/drawing/2014/main" id="{3047C32D-5706-CAC5-A26D-6F38381B4A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3115" y="1385033"/>
              <a:ext cx="1401231" cy="1401231"/>
            </a:xfrm>
            <a:prstGeom prst="rect">
              <a:avLst/>
            </a:prstGeom>
          </p:spPr>
        </p:pic>
        <p:sp>
          <p:nvSpPr>
            <p:cNvPr id="18" name="Rectangle 17">
              <a:extLst>
                <a:ext uri="{FF2B5EF4-FFF2-40B4-BE49-F238E27FC236}">
                  <a16:creationId xmlns:a16="http://schemas.microsoft.com/office/drawing/2014/main" id="{9DB4A2B5-B39F-32AB-32F8-556263DE27EA}"/>
                </a:ext>
              </a:extLst>
            </p:cNvPr>
            <p:cNvSpPr/>
            <p:nvPr/>
          </p:nvSpPr>
          <p:spPr bwMode="auto">
            <a:xfrm>
              <a:off x="4838779" y="280073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Fiabilidad</a:t>
              </a:r>
              <a:b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br>
              <a: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y seguridad</a:t>
              </a:r>
            </a:p>
          </p:txBody>
        </p:sp>
        <p:sp>
          <p:nvSpPr>
            <p:cNvPr id="13" name="Rectangle 12">
              <a:extLst>
                <a:ext uri="{FF2B5EF4-FFF2-40B4-BE49-F238E27FC236}">
                  <a16:creationId xmlns:a16="http://schemas.microsoft.com/office/drawing/2014/main" id="{02D35539-2C75-DC94-9ADC-B6C1B0035154}"/>
                </a:ext>
                <a:ext uri="{C183D7F6-B498-43B3-948B-1728B52AA6E4}">
                  <adec:decorative xmlns:adec="http://schemas.microsoft.com/office/drawing/2017/decorative" val="1"/>
                </a:ext>
              </a:extLst>
            </p:cNvPr>
            <p:cNvSpPr/>
            <p:nvPr/>
          </p:nvSpPr>
          <p:spPr bwMode="auto">
            <a:xfrm>
              <a:off x="7700823" y="1431769"/>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4" name="Graphic 3">
              <a:extLst>
                <a:ext uri="{FF2B5EF4-FFF2-40B4-BE49-F238E27FC236}">
                  <a16:creationId xmlns:a16="http://schemas.microsoft.com/office/drawing/2014/main" id="{B144A037-FB40-022B-D74E-3AC9A5A152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92399" y="1385033"/>
              <a:ext cx="1401231" cy="1401231"/>
            </a:xfrm>
            <a:prstGeom prst="rect">
              <a:avLst/>
            </a:prstGeom>
          </p:spPr>
        </p:pic>
        <p:sp>
          <p:nvSpPr>
            <p:cNvPr id="19" name="Rectangle 18">
              <a:extLst>
                <a:ext uri="{FF2B5EF4-FFF2-40B4-BE49-F238E27FC236}">
                  <a16:creationId xmlns:a16="http://schemas.microsoft.com/office/drawing/2014/main" id="{015C953A-DC23-F736-736F-A8501E13F9FE}"/>
                </a:ext>
              </a:extLst>
            </p:cNvPr>
            <p:cNvSpPr/>
            <p:nvPr/>
          </p:nvSpPr>
          <p:spPr bwMode="auto">
            <a:xfrm>
              <a:off x="7702469" y="2800732"/>
              <a:ext cx="2374966"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Privacidad</a:t>
              </a:r>
              <a:b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br>
              <a:r>
                <a:rPr lang="es-ES" sz="20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y seguridad</a:t>
              </a:r>
            </a:p>
          </p:txBody>
        </p:sp>
        <p:sp>
          <p:nvSpPr>
            <p:cNvPr id="14" name="Rectangle 13">
              <a:extLst>
                <a:ext uri="{FF2B5EF4-FFF2-40B4-BE49-F238E27FC236}">
                  <a16:creationId xmlns:a16="http://schemas.microsoft.com/office/drawing/2014/main" id="{C7CCBEFD-2F51-B81A-80C5-34290233E268}"/>
                </a:ext>
                <a:ext uri="{C183D7F6-B498-43B3-948B-1728B52AA6E4}">
                  <adec:decorative xmlns:adec="http://schemas.microsoft.com/office/drawing/2017/decorative" val="1"/>
                </a:ext>
              </a:extLst>
            </p:cNvPr>
            <p:cNvSpPr/>
            <p:nvPr/>
          </p:nvSpPr>
          <p:spPr bwMode="auto">
            <a:xfrm>
              <a:off x="1991731" y="3883686"/>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3" name="Graphic 2">
              <a:extLst>
                <a:ext uri="{FF2B5EF4-FFF2-40B4-BE49-F238E27FC236}">
                  <a16:creationId xmlns:a16="http://schemas.microsoft.com/office/drawing/2014/main" id="{A4298076-1014-BC73-B387-DB835B24804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51268" y="3907846"/>
              <a:ext cx="1441394" cy="1441394"/>
            </a:xfrm>
            <a:prstGeom prst="rect">
              <a:avLst/>
            </a:prstGeom>
          </p:spPr>
        </p:pic>
        <p:sp>
          <p:nvSpPr>
            <p:cNvPr id="20" name="Rectangle 19">
              <a:extLst>
                <a:ext uri="{FF2B5EF4-FFF2-40B4-BE49-F238E27FC236}">
                  <a16:creationId xmlns:a16="http://schemas.microsoft.com/office/drawing/2014/main" id="{FA886D50-E4C4-1EF6-22CF-7D98F600C432}"/>
                </a:ext>
              </a:extLst>
            </p:cNvPr>
            <p:cNvSpPr/>
            <p:nvPr/>
          </p:nvSpPr>
          <p:spPr bwMode="auto">
            <a:xfrm>
              <a:off x="2003306" y="5242520"/>
              <a:ext cx="2367945"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Inclusión</a:t>
              </a:r>
            </a:p>
          </p:txBody>
        </p:sp>
        <p:sp>
          <p:nvSpPr>
            <p:cNvPr id="15" name="Rectangle 14">
              <a:extLst>
                <a:ext uri="{FF2B5EF4-FFF2-40B4-BE49-F238E27FC236}">
                  <a16:creationId xmlns:a16="http://schemas.microsoft.com/office/drawing/2014/main" id="{4C0A2255-BCD1-4C68-52BC-7E9D33C938BB}"/>
                </a:ext>
                <a:ext uri="{C183D7F6-B498-43B3-948B-1728B52AA6E4}">
                  <adec:decorative xmlns:adec="http://schemas.microsoft.com/office/drawing/2017/decorative" val="1"/>
                </a:ext>
              </a:extLst>
            </p:cNvPr>
            <p:cNvSpPr/>
            <p:nvPr/>
          </p:nvSpPr>
          <p:spPr bwMode="auto">
            <a:xfrm>
              <a:off x="4853393"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8" name="Graphic 7">
              <a:extLst>
                <a:ext uri="{FF2B5EF4-FFF2-40B4-BE49-F238E27FC236}">
                  <a16:creationId xmlns:a16="http://schemas.microsoft.com/office/drawing/2014/main" id="{CAE4B6C8-7EAF-4A51-266F-33AB129E72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80755" y="3883686"/>
              <a:ext cx="1401231" cy="1401231"/>
            </a:xfrm>
            <a:prstGeom prst="rect">
              <a:avLst/>
            </a:prstGeom>
          </p:spPr>
        </p:pic>
        <p:sp>
          <p:nvSpPr>
            <p:cNvPr id="21" name="Rectangle 20">
              <a:extLst>
                <a:ext uri="{FF2B5EF4-FFF2-40B4-BE49-F238E27FC236}">
                  <a16:creationId xmlns:a16="http://schemas.microsoft.com/office/drawing/2014/main" id="{CD09C8F4-F539-D880-F1BB-8EBEA6741069}"/>
                </a:ext>
              </a:extLst>
            </p:cNvPr>
            <p:cNvSpPr/>
            <p:nvPr/>
          </p:nvSpPr>
          <p:spPr bwMode="auto">
            <a:xfrm>
              <a:off x="4838779" y="5256990"/>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Transparencia</a:t>
              </a:r>
            </a:p>
          </p:txBody>
        </p:sp>
        <p:sp>
          <p:nvSpPr>
            <p:cNvPr id="16" name="Rectangle 15">
              <a:extLst>
                <a:ext uri="{FF2B5EF4-FFF2-40B4-BE49-F238E27FC236}">
                  <a16:creationId xmlns:a16="http://schemas.microsoft.com/office/drawing/2014/main" id="{14CA32DC-4BF8-96D5-87A7-53EF59EC8835}"/>
                </a:ext>
                <a:ext uri="{C183D7F6-B498-43B3-948B-1728B52AA6E4}">
                  <adec:decorative xmlns:adec="http://schemas.microsoft.com/office/drawing/2017/decorative" val="1"/>
                </a:ext>
              </a:extLst>
            </p:cNvPr>
            <p:cNvSpPr/>
            <p:nvPr/>
          </p:nvSpPr>
          <p:spPr bwMode="auto">
            <a:xfrm>
              <a:off x="7713196" y="3883687"/>
              <a:ext cx="2384384" cy="2141317"/>
            </a:xfrm>
            <a:prstGeom prst="rect">
              <a:avLst/>
            </a:prstGeom>
            <a:solidFill>
              <a:schemeClr val="bg1"/>
            </a:solidFill>
            <a:ln w="28575">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4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5" name="Graphic 4">
              <a:extLst>
                <a:ext uri="{FF2B5EF4-FFF2-40B4-BE49-F238E27FC236}">
                  <a16:creationId xmlns:a16="http://schemas.microsoft.com/office/drawing/2014/main" id="{8196F23C-87AD-18E3-FBA9-9A7AD4200E5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216347" y="3883686"/>
              <a:ext cx="1401231" cy="1401231"/>
            </a:xfrm>
            <a:prstGeom prst="rect">
              <a:avLst/>
            </a:prstGeom>
          </p:spPr>
        </p:pic>
        <p:sp>
          <p:nvSpPr>
            <p:cNvPr id="22" name="Rectangle 21">
              <a:extLst>
                <a:ext uri="{FF2B5EF4-FFF2-40B4-BE49-F238E27FC236}">
                  <a16:creationId xmlns:a16="http://schemas.microsoft.com/office/drawing/2014/main" id="{CE8BB6BE-BEB8-1638-5696-6838220E4939}"/>
                </a:ext>
              </a:extLst>
            </p:cNvPr>
            <p:cNvSpPr/>
            <p:nvPr/>
          </p:nvSpPr>
          <p:spPr bwMode="auto">
            <a:xfrm>
              <a:off x="7688450" y="5256991"/>
              <a:ext cx="2399380" cy="786822"/>
            </a:xfrm>
            <a:prstGeom prst="rect">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defRPr/>
              </a:pPr>
              <a:r>
                <a:rPr lang="es-ES" sz="20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Responsabilidad</a:t>
              </a:r>
            </a:p>
          </p:txBody>
        </p:sp>
      </p:grpSp>
    </p:spTree>
    <p:extLst>
      <p:ext uri="{BB962C8B-B14F-4D97-AF65-F5344CB8AC3E}">
        <p14:creationId xmlns:p14="http://schemas.microsoft.com/office/powerpoint/2010/main" val="170669910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6D038D-9BE3-910B-E00F-11F028BDA29D}"/>
              </a:ext>
              <a:ext uri="{C183D7F6-B498-43B3-948B-1728B52AA6E4}">
                <adec:decorative xmlns:adec="http://schemas.microsoft.com/office/drawing/2017/decorative" val="1"/>
              </a:ext>
            </a:extLst>
          </p:cNvPr>
          <p:cNvPicPr>
            <a:picLocks noChangeAspect="1"/>
          </p:cNvPicPr>
          <p:nvPr/>
        </p:nvPicPr>
        <p:blipFill>
          <a:blip r:embed="rId3"/>
          <a:srcRect l="-116" t="-307" r="7855" b="307"/>
          <a:stretch>
            <a:fillRect/>
          </a:stretch>
        </p:blipFill>
        <p:spPr>
          <a:xfrm>
            <a:off x="7723991" y="2010229"/>
            <a:ext cx="4468009" cy="3309257"/>
          </a:xfrm>
          <a:prstGeom prst="rect">
            <a:avLst/>
          </a:prstGeom>
        </p:spPr>
      </p:pic>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6280151" cy="609600"/>
          </a:xfrm>
        </p:spPr>
        <p:txBody>
          <a:bodyPr/>
          <a:lstStyle/>
          <a:p>
            <a:r>
              <a:rPr lang="es-ES" sz="2000" b="0" i="0" strike="noStrike" cap="none" baseline="0">
                <a:solidFill>
                  <a:srgbClr val="000000"/>
                </a:solidFill>
                <a:effectLst/>
                <a:latin typeface="Segoe UI Semibold"/>
                <a:ea typeface="Segoe UI Semibold"/>
                <a:cs typeface="Segoe UI Semibold"/>
              </a:rPr>
              <a:t>Preparación para un proyecto de desarrollo de IA</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4069431" cy="2265236"/>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Creación de un proyecto de </a:t>
            </a:r>
            <a:r>
              <a:rPr lang="es-ES" sz="1600" b="0" i="0" strike="noStrike" cap="none" baseline="0" dirty="0" err="1">
                <a:solidFill>
                  <a:srgbClr val="000000"/>
                </a:solidFill>
                <a:effectLst/>
                <a:latin typeface="Segoe UI"/>
                <a:ea typeface="Segoe UI"/>
                <a:cs typeface="Segoe UI"/>
              </a:rPr>
              <a:t>Foundry</a:t>
            </a:r>
            <a:endParaRPr lang="es-ES" sz="1600" b="0" i="0" strike="noStrike" cap="none" baseline="0" dirty="0">
              <a:solidFill>
                <a:srgbClr val="000000"/>
              </a:solidFill>
              <a:effectLst/>
              <a:latin typeface="Segoe UI"/>
              <a:ea typeface="Segoe UI"/>
              <a:cs typeface="Segoe UI"/>
            </a:endParaRP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Implementación y prueba de un modelo de IA generativa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Identificación de puntos de conexión </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y claves del proyecto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Exploración de la extensión de Microsoft </a:t>
            </a:r>
            <a:r>
              <a:rPr lang="es-ES" sz="1600" b="0" i="0" strike="noStrike" cap="none" baseline="0" dirty="0" err="1">
                <a:solidFill>
                  <a:srgbClr val="000000"/>
                </a:solidFill>
                <a:effectLst/>
                <a:latin typeface="Segoe UI"/>
                <a:ea typeface="Segoe UI"/>
                <a:cs typeface="Segoe UI"/>
              </a:rPr>
              <a:t>Foundry</a:t>
            </a:r>
            <a:r>
              <a:rPr lang="es-ES" sz="1600" b="0" i="0" strike="noStrike" cap="none" baseline="0" dirty="0">
                <a:solidFill>
                  <a:srgbClr val="000000"/>
                </a:solidFill>
                <a:effectLst/>
                <a:latin typeface="Segoe UI"/>
                <a:ea typeface="Segoe UI"/>
                <a:cs typeface="Segoe UI"/>
              </a:rPr>
              <a:t> para Visual Studio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405029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Inicia el ejercicio en:</a:t>
            </a:r>
          </a:p>
          <a:p>
            <a:pPr lvl="0">
              <a:defRPr/>
            </a:pPr>
            <a:r>
              <a:rPr lang="es-ES" sz="1600" b="0" i="0" strike="noStrike" cap="none" baseline="0" dirty="0">
                <a:solidFill>
                  <a:srgbClr val="000000"/>
                </a:solidFill>
                <a:effectLst/>
                <a:latin typeface="Segoe UI"/>
                <a:ea typeface="Segoe UI"/>
                <a:cs typeface="Segoe UI"/>
                <a:hlinkClick r:id="rId4" history="0"/>
              </a:rPr>
              <a:t>https://go.microsoft.com/fwlink/?linkid=2353647</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1766085"/>
            <a:ext cx="8778782" cy="426720"/>
          </a:xfrm>
        </p:spPr>
        <p:txBody>
          <a:bodyPr/>
          <a:lstStyle/>
          <a:p>
            <a:r>
              <a:rPr lang="es-ES" sz="1400" b="1" i="0" strike="noStrike" cap="none" baseline="0">
                <a:solidFill>
                  <a:srgbClr val="000000"/>
                </a:solidFill>
                <a:effectLst/>
                <a:latin typeface="Segoe UI Semibold"/>
                <a:ea typeface="Segoe UI Semibold"/>
                <a:cs typeface="Segoe UI Semibold"/>
              </a:rPr>
              <a:t>¿Qué portal web deberías usar para trabajar con recursos en un proyecto de Microsoft Foundry?</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033248"/>
            <a:ext cx="8775098" cy="725424"/>
          </a:xfrm>
          <a:noFill/>
        </p:spPr>
        <p:txBody>
          <a:bodyPr/>
          <a:lstStyle/>
          <a:p>
            <a:r>
              <a:rPr lang="es-ES" sz="1400" b="0" i="0" strike="noStrike" cap="none" baseline="0">
                <a:solidFill>
                  <a:srgbClr val="000000"/>
                </a:solidFill>
                <a:effectLst/>
                <a:latin typeface="Segoe UI"/>
                <a:ea typeface="Segoe UI"/>
                <a:cs typeface="Segoe UI"/>
              </a:rPr>
              <a:t>Azure Portal</a:t>
            </a:r>
            <a:endParaRPr lang="en-US" noProof="0">
              <a:solidFill>
                <a:srgbClr val="000000"/>
              </a:solidFill>
            </a:endParaRPr>
          </a:p>
          <a:p>
            <a:r>
              <a:rPr lang="es-ES" sz="1400" b="0" i="0" strike="noStrike" cap="none" baseline="0">
                <a:solidFill>
                  <a:srgbClr val="000000"/>
                </a:solidFill>
                <a:effectLst/>
                <a:latin typeface="Segoe UI"/>
                <a:ea typeface="Segoe UI"/>
                <a:cs typeface="Segoe UI"/>
              </a:rPr>
              <a:t>Microsoft Copilot</a:t>
            </a:r>
          </a:p>
          <a:p>
            <a:r>
              <a:rPr lang="es-ES" sz="1400" b="0" i="0" strike="noStrike" cap="none" baseline="0">
                <a:solidFill>
                  <a:srgbClr val="000000"/>
                </a:solidFill>
                <a:effectLst/>
                <a:latin typeface="Segoe UI"/>
                <a:ea typeface="Segoe UI"/>
                <a:cs typeface="Segoe UI"/>
              </a:rPr>
              <a:t>Portal de Microsoft Foundry</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p:nvPr/>
        </p:nvSpPr>
        <p:spPr>
          <a:xfrm>
            <a:off x="1263852" y="258655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3139966"/>
            <a:ext cx="8778782" cy="426720"/>
          </a:xfrm>
        </p:spPr>
        <p:txBody>
          <a:bodyPr/>
          <a:lstStyle/>
          <a:p>
            <a:r>
              <a:rPr lang="es-ES" sz="1400" b="0" i="0" strike="noStrike" cap="none" baseline="0">
                <a:solidFill>
                  <a:srgbClr val="000000"/>
                </a:solidFill>
                <a:effectLst/>
                <a:latin typeface="Segoe UI Semibold"/>
                <a:ea typeface="Segoe UI Semibold"/>
                <a:cs typeface="Segoe UI Semibold"/>
              </a:rPr>
              <a:t>¿Qué componente de Microsoft Foundry proporciona servicios precompilados para tareas de IA frecuentes?</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3420839"/>
            <a:ext cx="8775098" cy="725424"/>
          </a:xfrm>
        </p:spPr>
        <p:txBody>
          <a:bodyPr/>
          <a:lstStyle/>
          <a:p>
            <a:r>
              <a:rPr lang="es-ES" sz="1400" b="0" i="0" strike="noStrike" cap="none" baseline="0">
                <a:solidFill>
                  <a:srgbClr val="000000"/>
                </a:solidFill>
                <a:effectLst/>
                <a:latin typeface="Segoe UI"/>
                <a:ea typeface="Segoe UI"/>
                <a:cs typeface="Segoe UI"/>
              </a:rPr>
              <a:t>Foundry Tools</a:t>
            </a:r>
          </a:p>
          <a:p>
            <a:r>
              <a:rPr lang="es-ES" sz="1400" b="0" i="0" strike="noStrike" cap="none" baseline="0">
                <a:solidFill>
                  <a:srgbClr val="000000"/>
                </a:solidFill>
                <a:effectLst/>
                <a:latin typeface="Segoe UI"/>
                <a:ea typeface="Segoe UI"/>
                <a:cs typeface="Segoe UI"/>
              </a:rPr>
              <a:t>Modelos de fundición</a:t>
            </a:r>
          </a:p>
          <a:p>
            <a:r>
              <a:rPr lang="es-ES" sz="1400" b="0" i="0" strike="noStrike" cap="none" baseline="0">
                <a:solidFill>
                  <a:srgbClr val="000000"/>
                </a:solidFill>
                <a:effectLst/>
                <a:latin typeface="Segoe UI"/>
                <a:ea typeface="Segoe UI"/>
                <a:cs typeface="Segoe UI"/>
              </a:rPr>
              <a:t>Foundry IQ</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0940ADA0-4512-A138-9B73-83CB59A176E6}"/>
              </a:ext>
              <a:ext uri="{C183D7F6-B498-43B3-948B-1728B52AA6E4}">
                <adec:decorative xmlns:adec="http://schemas.microsoft.com/office/drawing/2017/decorative" val="1"/>
              </a:ext>
            </a:extLst>
          </p:cNvPr>
          <p:cNvSpPr/>
          <p:nvPr/>
        </p:nvSpPr>
        <p:spPr>
          <a:xfrm>
            <a:off x="1263852" y="346773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5" name="Text Placeholder 27">
            <a:extLst>
              <a:ext uri="{FF2B5EF4-FFF2-40B4-BE49-F238E27FC236}">
                <a16:creationId xmlns:a16="http://schemas.microsoft.com/office/drawing/2014/main" id="{34D16EB8-8365-0243-BBD7-CDEF0D461774}"/>
              </a:ext>
            </a:extLst>
          </p:cNvPr>
          <p:cNvSpPr>
            <a:spLocks noGrp="1"/>
          </p:cNvSpPr>
          <p:nvPr>
            <p:ph type="body" sz="quarter" idx="20"/>
          </p:nvPr>
        </p:nvSpPr>
        <p:spPr>
          <a:xfrm>
            <a:off x="1235075" y="441876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extensión deberías usar en Visual Studio Code para trabajar con proyectos de Foundry?</a:t>
            </a:r>
          </a:p>
        </p:txBody>
      </p:sp>
      <p:sp>
        <p:nvSpPr>
          <p:cNvPr id="6" name="Text Placeholder 28">
            <a:extLst>
              <a:ext uri="{FF2B5EF4-FFF2-40B4-BE49-F238E27FC236}">
                <a16:creationId xmlns:a16="http://schemas.microsoft.com/office/drawing/2014/main" id="{AEC2857C-BDF9-8BF4-F7E2-7D7695E961D1}"/>
              </a:ext>
            </a:extLst>
          </p:cNvPr>
          <p:cNvSpPr>
            <a:spLocks noGrp="1"/>
          </p:cNvSpPr>
          <p:nvPr>
            <p:ph type="body" sz="quarter" idx="21"/>
          </p:nvPr>
        </p:nvSpPr>
        <p:spPr>
          <a:xfrm>
            <a:off x="1235075" y="4713285"/>
            <a:ext cx="8775700" cy="725424"/>
          </a:xfrm>
        </p:spPr>
        <p:txBody>
          <a:bodyPr/>
          <a:lstStyle/>
          <a:p>
            <a:r>
              <a:rPr lang="es-ES" sz="1400" b="0" i="0" strike="noStrike" cap="none" baseline="0">
                <a:solidFill>
                  <a:srgbClr val="000000"/>
                </a:solidFill>
                <a:effectLst/>
                <a:latin typeface="Segoe UI"/>
                <a:ea typeface="Segoe UI"/>
                <a:cs typeface="Segoe UI"/>
              </a:rPr>
              <a:t>Python extension for Visual Studio Code</a:t>
            </a:r>
          </a:p>
          <a:p>
            <a:r>
              <a:rPr lang="es-ES" sz="1400" b="0" i="0" strike="noStrike" cap="none" baseline="0">
                <a:solidFill>
                  <a:srgbClr val="000000"/>
                </a:solidFill>
                <a:effectLst/>
                <a:latin typeface="Segoe UI"/>
                <a:ea typeface="Segoe UI"/>
                <a:cs typeface="Segoe UI"/>
              </a:rPr>
              <a:t>GitHub Copilot</a:t>
            </a:r>
          </a:p>
          <a:p>
            <a:r>
              <a:rPr lang="es-ES" sz="1400" b="0" i="0" strike="noStrike" cap="none" baseline="0">
                <a:solidFill>
                  <a:srgbClr val="000000"/>
                </a:solidFill>
                <a:effectLst/>
                <a:latin typeface="Segoe UI"/>
                <a:ea typeface="Segoe UI"/>
                <a:cs typeface="Segoe UI"/>
              </a:rPr>
              <a:t>Extensión de kit de herramientas de IA de Microsoft para Visual Studio Code</a:t>
            </a:r>
          </a:p>
        </p:txBody>
      </p:sp>
      <p:sp>
        <p:nvSpPr>
          <p:cNvPr id="7" name="Graphic 26">
            <a:extLst>
              <a:ext uri="{FF2B5EF4-FFF2-40B4-BE49-F238E27FC236}">
                <a16:creationId xmlns:a16="http://schemas.microsoft.com/office/drawing/2014/main" id="{0A19C4CE-392E-3724-47CD-84A7BC61FF68}"/>
              </a:ext>
              <a:ext uri="{C183D7F6-B498-43B3-948B-1728B52AA6E4}">
                <adec:decorative xmlns:adec="http://schemas.microsoft.com/office/drawing/2017/decorative" val="1"/>
              </a:ext>
            </a:extLst>
          </p:cNvPr>
          <p:cNvSpPr/>
          <p:nvPr/>
        </p:nvSpPr>
        <p:spPr>
          <a:xfrm>
            <a:off x="1273544" y="5274802"/>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35444618-9614-2178-2A02-0A7FB2A82627}"/>
              </a:ext>
              <a:ext uri="{C183D7F6-B498-43B3-948B-1728B52AA6E4}">
                <adec:decorative xmlns:adec="http://schemas.microsoft.com/office/drawing/2017/decorative" val="1"/>
              </a:ext>
            </a:extLst>
          </p:cNvPr>
          <p:cNvSpPr/>
          <p:nvPr/>
        </p:nvSpPr>
        <p:spPr bwMode="auto">
          <a:xfrm>
            <a:off x="722582" y="439390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0"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7BB5-16B7-1D1F-DDD3-680E23A44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A5415-C0A1-F9BC-DF9A-EB189A14A2D0}"/>
              </a:ext>
            </a:extLst>
          </p:cNvPr>
          <p:cNvSpPr>
            <a:spLocks noGrp="1"/>
          </p:cNvSpPr>
          <p:nvPr>
            <p:ph type="title"/>
          </p:nvPr>
        </p:nvSpPr>
        <p:spPr>
          <a:xfrm>
            <a:off x="569911" y="2153504"/>
            <a:ext cx="6685328" cy="1846659"/>
          </a:xfrm>
        </p:spPr>
        <p:txBody>
          <a:bodyPr/>
          <a:lstStyle/>
          <a:p>
            <a:r>
              <a:rPr lang="es-ES" sz="4000" b="0" i="0" strike="noStrike" cap="none" baseline="0" dirty="0">
                <a:solidFill>
                  <a:srgbClr val="000000"/>
                </a:solidFill>
                <a:effectLst/>
                <a:latin typeface="Segoe UI"/>
                <a:ea typeface="Segoe UI"/>
                <a:cs typeface="Segoe UI"/>
              </a:rPr>
              <a:t>Selección, implementación</a:t>
            </a:r>
            <a:br>
              <a:rPr lang="es-ES" sz="4000" b="0" i="0" strike="noStrike" cap="none" baseline="0" dirty="0">
                <a:solidFill>
                  <a:srgbClr val="000000"/>
                </a:solidFill>
                <a:effectLst/>
                <a:latin typeface="Segoe UI"/>
                <a:ea typeface="Segoe UI"/>
                <a:cs typeface="Segoe UI"/>
              </a:rPr>
            </a:br>
            <a:r>
              <a:rPr lang="es-ES" sz="4000" b="0" i="0" strike="noStrike" cap="none" baseline="0" dirty="0">
                <a:solidFill>
                  <a:srgbClr val="000000"/>
                </a:solidFill>
                <a:effectLst/>
                <a:latin typeface="Segoe UI"/>
                <a:ea typeface="Segoe UI"/>
                <a:cs typeface="Segoe UI"/>
              </a:rPr>
              <a:t>y evaluación de modelos de Microsoft </a:t>
            </a:r>
            <a:r>
              <a:rPr lang="es-ES" sz="4000" b="0" i="0" strike="noStrike" cap="none" baseline="0" dirty="0" err="1">
                <a:solidFill>
                  <a:srgbClr val="000000"/>
                </a:solidFill>
                <a:effectLst/>
                <a:latin typeface="Segoe UI"/>
                <a:ea typeface="Segoe UI"/>
                <a:cs typeface="Segoe UI"/>
              </a:rPr>
              <a:t>Foundry</a:t>
            </a:r>
            <a:endParaRPr lang="en-US" noProof="0" dirty="0"/>
          </a:p>
        </p:txBody>
      </p:sp>
      <p:sp>
        <p:nvSpPr>
          <p:cNvPr id="4" name="TextBox 3">
            <a:extLst>
              <a:ext uri="{FF2B5EF4-FFF2-40B4-BE49-F238E27FC236}">
                <a16:creationId xmlns:a16="http://schemas.microsoft.com/office/drawing/2014/main" id="{E429FABC-7004-95E9-7D28-16D4515736F0}"/>
              </a:ext>
            </a:extLst>
          </p:cNvPr>
          <p:cNvSpPr txBox="1"/>
          <p:nvPr/>
        </p:nvSpPr>
        <p:spPr>
          <a:xfrm>
            <a:off x="478471" y="4000163"/>
            <a:ext cx="4596449" cy="629412"/>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https://aka.ms/mslearn-foundry-models</a:t>
            </a:r>
          </a:p>
        </p:txBody>
      </p:sp>
    </p:spTree>
    <p:extLst>
      <p:ext uri="{BB962C8B-B14F-4D97-AF65-F5344CB8AC3E}">
        <p14:creationId xmlns:p14="http://schemas.microsoft.com/office/powerpoint/2010/main" val="148386783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Explorar el catálogo de modelos</a:t>
            </a:r>
          </a:p>
        </p:txBody>
      </p:sp>
      <p:sp>
        <p:nvSpPr>
          <p:cNvPr id="24" name="Text Placeholder 44">
            <a:extLst>
              <a:ext uri="{FF2B5EF4-FFF2-40B4-BE49-F238E27FC236}">
                <a16:creationId xmlns:a16="http://schemas.microsoft.com/office/drawing/2014/main" id="{AEF3D6F1-0ED2-0EFC-391F-01776E326273}"/>
              </a:ext>
            </a:extLst>
          </p:cNvPr>
          <p:cNvSpPr txBox="1"/>
          <p:nvPr/>
        </p:nvSpPr>
        <p:spPr>
          <a:xfrm>
            <a:off x="619390" y="4035929"/>
            <a:ext cx="3792590" cy="206044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2000" b="0" i="0" strike="noStrike" cap="none" baseline="0" dirty="0">
                <a:solidFill>
                  <a:srgbClr val="000000"/>
                </a:solidFill>
                <a:effectLst/>
                <a:latin typeface="Segoe UI"/>
                <a:ea typeface="Segoe UI"/>
                <a:cs typeface="Segoe UI"/>
              </a:rPr>
              <a:t>Buscar y filtrar por</a:t>
            </a:r>
          </a:p>
          <a:p>
            <a:pPr lvl="1"/>
            <a:r>
              <a:rPr lang="es-ES" sz="1600" b="0" i="0" strike="noStrike" cap="none" baseline="0" dirty="0">
                <a:solidFill>
                  <a:srgbClr val="000000"/>
                </a:solidFill>
                <a:effectLst/>
                <a:latin typeface="Segoe UI"/>
                <a:ea typeface="Segoe UI"/>
                <a:cs typeface="Segoe UI"/>
              </a:rPr>
              <a:t>Colecciones seleccionadas</a:t>
            </a:r>
          </a:p>
          <a:p>
            <a:pPr lvl="1"/>
            <a:r>
              <a:rPr lang="es-ES" sz="1600" b="0" i="0" strike="noStrike" cap="none" baseline="0" dirty="0">
                <a:solidFill>
                  <a:srgbClr val="000000"/>
                </a:solidFill>
                <a:effectLst/>
                <a:latin typeface="Segoe UI"/>
                <a:ea typeface="Segoe UI"/>
                <a:cs typeface="Segoe UI"/>
              </a:rPr>
              <a:t>Funcionalidades del modelo</a:t>
            </a:r>
          </a:p>
          <a:p>
            <a:pPr lvl="1"/>
            <a:r>
              <a:rPr lang="es-ES" sz="1600" b="0" i="0" strike="noStrike" cap="none" baseline="0" dirty="0">
                <a:solidFill>
                  <a:srgbClr val="000000"/>
                </a:solidFill>
                <a:effectLst/>
                <a:latin typeface="Segoe UI"/>
                <a:ea typeface="Segoe UI"/>
                <a:cs typeface="Segoe UI"/>
              </a:rPr>
              <a:t>Origen (proveedores de modelos)</a:t>
            </a:r>
          </a:p>
          <a:p>
            <a:pPr lvl="1"/>
            <a:r>
              <a:rPr lang="es-ES" sz="1600" b="0" i="0" strike="noStrike" cap="none" baseline="0" dirty="0">
                <a:solidFill>
                  <a:srgbClr val="000000"/>
                </a:solidFill>
                <a:effectLst/>
                <a:latin typeface="Segoe UI"/>
                <a:ea typeface="Segoe UI"/>
                <a:cs typeface="Segoe UI"/>
              </a:rPr>
              <a:t>Tareas de inferencia</a:t>
            </a:r>
          </a:p>
          <a:p>
            <a:pPr lvl="1"/>
            <a:r>
              <a:rPr lang="es-ES" sz="1600" b="0" i="0" strike="noStrike" cap="none" baseline="0" dirty="0">
                <a:solidFill>
                  <a:srgbClr val="000000"/>
                </a:solidFill>
                <a:effectLst/>
                <a:latin typeface="Segoe UI"/>
                <a:ea typeface="Segoe UI"/>
                <a:cs typeface="Segoe UI"/>
              </a:rPr>
              <a:t>Compatibilidad con la optimización</a:t>
            </a:r>
          </a:p>
          <a:p>
            <a:pPr lvl="1"/>
            <a:r>
              <a:rPr lang="es-ES" sz="1600" b="0" i="0" strike="noStrike" cap="none" baseline="0" dirty="0">
                <a:solidFill>
                  <a:srgbClr val="000000"/>
                </a:solidFill>
                <a:effectLst/>
                <a:latin typeface="Segoe UI"/>
                <a:ea typeface="Segoe UI"/>
                <a:cs typeface="Segoe UI"/>
              </a:rPr>
              <a:t>Sector</a:t>
            </a:r>
          </a:p>
        </p:txBody>
      </p:sp>
      <p:sp>
        <p:nvSpPr>
          <p:cNvPr id="26" name="Text Placeholder 44">
            <a:extLst>
              <a:ext uri="{FF2B5EF4-FFF2-40B4-BE49-F238E27FC236}">
                <a16:creationId xmlns:a16="http://schemas.microsoft.com/office/drawing/2014/main" id="{5CE78152-B711-94F5-3593-E95108BC5E4E}"/>
              </a:ext>
            </a:extLst>
          </p:cNvPr>
          <p:cNvSpPr txBox="1"/>
          <p:nvPr/>
        </p:nvSpPr>
        <p:spPr>
          <a:xfrm>
            <a:off x="619390" y="1289107"/>
            <a:ext cx="4249790" cy="2474524"/>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None/>
              <a:defRPr/>
            </a:pPr>
            <a:r>
              <a:rPr lang="es-ES" sz="2000" b="0" i="0" strike="noStrike" cap="none" baseline="0" dirty="0" err="1">
                <a:solidFill>
                  <a:srgbClr val="000000"/>
                </a:solidFill>
                <a:effectLst/>
                <a:latin typeface="Segoe UI Semibold"/>
                <a:ea typeface="Segoe UI Semibold"/>
                <a:cs typeface="Segoe UI Semibold"/>
              </a:rPr>
              <a:t>Foundry</a:t>
            </a:r>
            <a:r>
              <a:rPr lang="es-ES" sz="2000" b="0" i="0" strike="noStrike" cap="none" baseline="0" dirty="0">
                <a:solidFill>
                  <a:srgbClr val="000000"/>
                </a:solidFill>
                <a:effectLst/>
                <a:latin typeface="Segoe UI Semibold"/>
                <a:ea typeface="Segoe UI Semibold"/>
                <a:cs typeface="Segoe UI Semibold"/>
              </a:rPr>
              <a:t> </a:t>
            </a:r>
            <a:r>
              <a:rPr lang="es-ES" sz="2000" b="0" i="0" strike="noStrike" cap="none" baseline="0" dirty="0" err="1">
                <a:solidFill>
                  <a:srgbClr val="000000"/>
                </a:solidFill>
                <a:effectLst/>
                <a:latin typeface="Segoe UI Semibold"/>
                <a:ea typeface="Segoe UI Semibold"/>
                <a:cs typeface="Segoe UI Semibold"/>
              </a:rPr>
              <a:t>Models</a:t>
            </a:r>
            <a:r>
              <a:rPr lang="es-ES" sz="2000" b="0" i="0" strike="noStrike" cap="none" baseline="0" dirty="0">
                <a:solidFill>
                  <a:srgbClr val="000000"/>
                </a:solidFill>
                <a:effectLst/>
                <a:latin typeface="Segoe UI Semibold"/>
                <a:ea typeface="Segoe UI Semibold"/>
                <a:cs typeface="Segoe UI Semibold"/>
              </a:rPr>
              <a:t> vendido directamente por Azure</a:t>
            </a:r>
          </a:p>
          <a:p>
            <a:pPr lvl="1" indent="-137160">
              <a:defRPr/>
            </a:pPr>
            <a:r>
              <a:rPr lang="es-ES" sz="1600" b="0" i="0" strike="noStrike" cap="none" baseline="0" dirty="0">
                <a:solidFill>
                  <a:srgbClr val="000000"/>
                </a:solidFill>
                <a:effectLst/>
                <a:latin typeface="Segoe UI"/>
                <a:ea typeface="Segoe UI"/>
                <a:cs typeface="Segoe UI"/>
              </a:rPr>
              <a:t>Modelos </a:t>
            </a:r>
            <a:r>
              <a:rPr lang="es-ES" sz="1600" b="0" i="0" strike="noStrike" cap="none" baseline="0" dirty="0" err="1">
                <a:solidFill>
                  <a:srgbClr val="000000"/>
                </a:solidFill>
                <a:effectLst/>
                <a:latin typeface="Segoe UI"/>
                <a:ea typeface="Segoe UI"/>
                <a:cs typeface="Segoe UI"/>
              </a:rPr>
              <a:t>OpenAI</a:t>
            </a:r>
            <a:r>
              <a:rPr lang="es-ES" sz="1600" b="0" i="0" strike="noStrike" cap="none" baseline="0" dirty="0">
                <a:solidFill>
                  <a:srgbClr val="000000"/>
                </a:solidFill>
                <a:effectLst/>
                <a:latin typeface="Segoe UI"/>
                <a:ea typeface="Segoe UI"/>
                <a:cs typeface="Segoe UI"/>
              </a:rPr>
              <a:t> y mucho más</a:t>
            </a:r>
          </a:p>
          <a:p>
            <a:pPr lvl="1" indent="-137160">
              <a:defRPr/>
            </a:pPr>
            <a:r>
              <a:rPr lang="es-ES" sz="1600" b="0" i="0" strike="noStrike" cap="none" baseline="0" dirty="0">
                <a:solidFill>
                  <a:srgbClr val="000000"/>
                </a:solidFill>
                <a:effectLst/>
                <a:latin typeface="Segoe UI"/>
                <a:ea typeface="Segoe UI"/>
                <a:cs typeface="Segoe UI"/>
              </a:rPr>
              <a:t>Facturado directamente a través de Azure</a:t>
            </a:r>
          </a:p>
          <a:p>
            <a:pPr marL="0" indent="0">
              <a:buNone/>
              <a:defRPr/>
            </a:pPr>
            <a:r>
              <a:rPr lang="es-ES" sz="2000" b="0" i="0" strike="noStrike" cap="none" baseline="0" dirty="0" err="1">
                <a:solidFill>
                  <a:srgbClr val="000000"/>
                </a:solidFill>
                <a:effectLst/>
                <a:latin typeface="Segoe UI Semibold"/>
                <a:ea typeface="Segoe UI Semibold"/>
                <a:cs typeface="Segoe UI Semibold"/>
              </a:rPr>
              <a:t>Foundry</a:t>
            </a:r>
            <a:r>
              <a:rPr lang="es-ES" sz="2000" b="0" i="0" strike="noStrike" cap="none" baseline="0" dirty="0">
                <a:solidFill>
                  <a:srgbClr val="000000"/>
                </a:solidFill>
                <a:effectLst/>
                <a:latin typeface="Segoe UI Semibold"/>
                <a:ea typeface="Segoe UI Semibold"/>
                <a:cs typeface="Segoe UI Semibold"/>
              </a:rPr>
              <a:t> </a:t>
            </a:r>
            <a:r>
              <a:rPr lang="es-ES" sz="2000" b="0" i="0" strike="noStrike" cap="none" baseline="0" dirty="0" err="1">
                <a:solidFill>
                  <a:srgbClr val="000000"/>
                </a:solidFill>
                <a:effectLst/>
                <a:latin typeface="Segoe UI Semibold"/>
                <a:ea typeface="Segoe UI Semibold"/>
                <a:cs typeface="Segoe UI Semibold"/>
              </a:rPr>
              <a:t>Models</a:t>
            </a:r>
            <a:r>
              <a:rPr lang="es-ES" sz="2000" b="0" i="0" strike="noStrike" cap="none" baseline="0" dirty="0">
                <a:solidFill>
                  <a:srgbClr val="000000"/>
                </a:solidFill>
                <a:effectLst/>
                <a:latin typeface="Segoe UI Semibold"/>
                <a:ea typeface="Segoe UI Semibold"/>
                <a:cs typeface="Segoe UI Semibold"/>
              </a:rPr>
              <a:t> de asociados</a:t>
            </a:r>
            <a:br>
              <a:rPr lang="es-ES" sz="2000" b="0" i="0" strike="noStrike" cap="none" baseline="0" dirty="0">
                <a:solidFill>
                  <a:srgbClr val="000000"/>
                </a:solidFill>
                <a:effectLst/>
                <a:latin typeface="Segoe UI Semibold"/>
                <a:ea typeface="Segoe UI Semibold"/>
                <a:cs typeface="Segoe UI Semibold"/>
              </a:rPr>
            </a:br>
            <a:r>
              <a:rPr lang="es-ES" sz="2000" b="0" i="0" strike="noStrike" cap="none" baseline="0" dirty="0">
                <a:solidFill>
                  <a:srgbClr val="000000"/>
                </a:solidFill>
                <a:effectLst/>
                <a:latin typeface="Segoe UI Semibold"/>
                <a:ea typeface="Segoe UI Semibold"/>
                <a:cs typeface="Segoe UI Semibold"/>
              </a:rPr>
              <a:t>y comunidad</a:t>
            </a:r>
          </a:p>
          <a:p>
            <a:pPr lvl="1">
              <a:defRPr/>
            </a:pPr>
            <a:r>
              <a:rPr lang="es-ES" sz="1600" b="0" i="0" strike="noStrike" cap="none" baseline="0" dirty="0">
                <a:solidFill>
                  <a:srgbClr val="000000"/>
                </a:solidFill>
                <a:effectLst/>
                <a:latin typeface="Segoe UI"/>
                <a:ea typeface="Segoe UI"/>
                <a:cs typeface="Segoe UI"/>
              </a:rPr>
              <a:t>Modelos de terceros de confianza</a:t>
            </a:r>
          </a:p>
          <a:p>
            <a:pPr lvl="1">
              <a:defRPr/>
            </a:pPr>
            <a:r>
              <a:rPr lang="es-ES" sz="1600" b="0" i="0" strike="noStrike" cap="none" baseline="0" dirty="0">
                <a:solidFill>
                  <a:srgbClr val="000000"/>
                </a:solidFill>
                <a:effectLst/>
                <a:latin typeface="Segoe UI"/>
                <a:ea typeface="Segoe UI"/>
                <a:cs typeface="Segoe UI"/>
              </a:rPr>
              <a:t>Compra del proveedor de modelos</a:t>
            </a:r>
            <a:endParaRPr kumimoji="0" lang="en-US" sz="16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pic>
        <p:nvPicPr>
          <p:cNvPr id="3" name="Picture 2">
            <a:extLst>
              <a:ext uri="{FF2B5EF4-FFF2-40B4-BE49-F238E27FC236}">
                <a16:creationId xmlns:a16="http://schemas.microsoft.com/office/drawing/2014/main" id="{670DD86F-8BBC-8152-99F9-AA75E03EDE73}"/>
              </a:ext>
            </a:extLst>
          </p:cNvPr>
          <p:cNvPicPr>
            <a:picLocks noChangeAspect="1"/>
          </p:cNvPicPr>
          <p:nvPr/>
        </p:nvPicPr>
        <p:blipFill>
          <a:blip r:embed="rId3"/>
          <a:srcRect/>
          <a:stretch/>
        </p:blipFill>
        <p:spPr>
          <a:xfrm>
            <a:off x="5188858" y="1283062"/>
            <a:ext cx="6792683" cy="4754879"/>
          </a:xfrm>
          <a:prstGeom prst="rect">
            <a:avLst/>
          </a:prstGeom>
        </p:spPr>
      </p:pic>
    </p:spTree>
    <p:extLst>
      <p:ext uri="{BB962C8B-B14F-4D97-AF65-F5344CB8AC3E}">
        <p14:creationId xmlns:p14="http://schemas.microsoft.com/office/powerpoint/2010/main" val="235226645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10511538" cy="975360"/>
          </a:xfrm>
        </p:spPr>
        <p:txBody>
          <a:bodyPr/>
          <a:lstStyle/>
          <a:p>
            <a:r>
              <a:rPr lang="es-ES" sz="3200" b="0" i="0" strike="noStrike" cap="none" baseline="0" dirty="0">
                <a:solidFill>
                  <a:srgbClr val="000000"/>
                </a:solidFill>
                <a:effectLst/>
                <a:latin typeface="Segoe UI Semibold"/>
                <a:ea typeface="Segoe UI Semibold"/>
                <a:cs typeface="Segoe UI Semibold"/>
              </a:rPr>
              <a:t>Selección de modelos mediante pruebas comparativas</a:t>
            </a:r>
          </a:p>
        </p:txBody>
      </p:sp>
      <p:sp>
        <p:nvSpPr>
          <p:cNvPr id="26" name="Text Placeholder 44">
            <a:extLst>
              <a:ext uri="{FF2B5EF4-FFF2-40B4-BE49-F238E27FC236}">
                <a16:creationId xmlns:a16="http://schemas.microsoft.com/office/drawing/2014/main" id="{5CE78152-B711-94F5-3593-E95108BC5E4E}"/>
              </a:ext>
            </a:extLst>
          </p:cNvPr>
          <p:cNvSpPr txBox="1"/>
          <p:nvPr/>
        </p:nvSpPr>
        <p:spPr>
          <a:xfrm>
            <a:off x="662933" y="1463279"/>
            <a:ext cx="4278086" cy="390753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None/>
              <a:defRPr/>
            </a:pPr>
            <a:r>
              <a:rPr lang="es-ES" sz="2000" b="0" i="0" strike="noStrike" cap="none" baseline="0" dirty="0">
                <a:solidFill>
                  <a:srgbClr val="000000"/>
                </a:solidFill>
                <a:effectLst/>
                <a:latin typeface="Segoe UI Semibold"/>
                <a:ea typeface="Segoe UI Semibold"/>
                <a:cs typeface="Segoe UI Semibold"/>
              </a:rPr>
              <a:t>Comparación de modelos por:</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2000" b="0" i="0" strike="noStrike" cap="none" baseline="0" dirty="0">
                <a:solidFill>
                  <a:srgbClr val="000000"/>
                </a:solidFill>
                <a:effectLst/>
                <a:latin typeface="Segoe UI"/>
                <a:ea typeface="Segoe UI"/>
                <a:cs typeface="Segoe UI"/>
              </a:rPr>
              <a:t>Control de</a:t>
            </a:r>
          </a:p>
          <a:p>
            <a:pPr lvl="1" indent="-137160">
              <a:defRPr/>
            </a:pPr>
            <a:r>
              <a:rPr lang="es-ES" sz="1800" b="0" i="1" strike="noStrike" cap="none" baseline="0" dirty="0">
                <a:solidFill>
                  <a:srgbClr val="000000"/>
                </a:solidFill>
                <a:effectLst/>
                <a:latin typeface="Segoe UI"/>
                <a:ea typeface="Segoe UI"/>
                <a:cs typeface="Segoe UI"/>
              </a:rPr>
              <a:t>Índice de calidad</a:t>
            </a:r>
            <a:r>
              <a:rPr lang="es-ES" sz="1800" b="0" i="0" strike="noStrike" cap="none" baseline="0" dirty="0">
                <a:solidFill>
                  <a:srgbClr val="000000"/>
                </a:solidFill>
                <a:effectLst/>
                <a:latin typeface="Segoe UI"/>
                <a:ea typeface="Segoe UI"/>
                <a:cs typeface="Segoe UI"/>
              </a:rPr>
              <a:t>(mayor es mejor)</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2000" b="0" i="0" strike="noStrike" cap="none" baseline="0" dirty="0">
                <a:solidFill>
                  <a:srgbClr val="000000"/>
                </a:solidFill>
                <a:effectLst/>
                <a:latin typeface="Segoe UI"/>
                <a:ea typeface="Segoe UI"/>
                <a:cs typeface="Segoe UI"/>
              </a:rPr>
              <a:t>Seguridad </a:t>
            </a:r>
          </a:p>
          <a:p>
            <a:pPr lvl="1" indent="-137160">
              <a:defRPr/>
            </a:pPr>
            <a:r>
              <a:rPr lang="es-ES" sz="1800" b="0" i="1" strike="noStrike" cap="none" baseline="0" dirty="0">
                <a:solidFill>
                  <a:srgbClr val="000000"/>
                </a:solidFill>
                <a:effectLst/>
                <a:latin typeface="Segoe UI"/>
                <a:ea typeface="Segoe UI"/>
                <a:cs typeface="Segoe UI"/>
              </a:rPr>
              <a:t>Tasa de éxito de ataques</a:t>
            </a:r>
            <a:br>
              <a:rPr lang="es-ES" sz="1800" b="0" i="1"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(menor es mejor)</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2000" b="0" i="0" strike="noStrike" cap="none" baseline="0" dirty="0">
                <a:solidFill>
                  <a:srgbClr val="000000"/>
                </a:solidFill>
                <a:effectLst/>
                <a:latin typeface="Segoe UI"/>
                <a:ea typeface="Segoe UI"/>
                <a:cs typeface="Segoe UI"/>
              </a:rPr>
              <a:t>Rendimiento</a:t>
            </a:r>
          </a:p>
          <a:p>
            <a:pPr lvl="1" indent="-137160">
              <a:defRPr/>
            </a:pPr>
            <a:r>
              <a:rPr lang="es-ES" sz="1800" b="0" i="1" strike="noStrike" cap="none" baseline="0" dirty="0">
                <a:solidFill>
                  <a:srgbClr val="000000"/>
                </a:solidFill>
                <a:effectLst/>
                <a:latin typeface="Segoe UI"/>
                <a:ea typeface="Segoe UI"/>
                <a:cs typeface="Segoe UI"/>
              </a:rPr>
              <a:t>Tokens de salida por segundo</a:t>
            </a:r>
            <a:br>
              <a:rPr lang="es-ES" sz="1800" b="0" i="1"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(mayor es mejor)</a:t>
            </a:r>
            <a:endParaRPr kumimoji="0" lang="en-US" sz="1800" b="0" i="0" u="none" strike="noStrike" kern="1200" cap="none" spc="0" normalizeH="0" baseline="0" noProof="0" dirty="0">
              <a:ln>
                <a:noFill/>
              </a:ln>
              <a:solidFill>
                <a:srgbClr val="000000"/>
              </a:solidFill>
              <a:effectLst/>
              <a:uLnTx/>
              <a:uFillTx/>
              <a:latin typeface="Segoe UI"/>
              <a:ea typeface="+mn-ea"/>
              <a:cs typeface="Segoe UI" pitchFamily="34" charset="0"/>
            </a:endParaRP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2000" b="0" i="0" strike="noStrike" cap="none" baseline="0" dirty="0">
                <a:solidFill>
                  <a:srgbClr val="000000"/>
                </a:solidFill>
                <a:effectLst/>
                <a:latin typeface="Segoe UI"/>
                <a:ea typeface="Segoe UI"/>
                <a:cs typeface="Segoe UI"/>
              </a:rPr>
              <a:t>Costo</a:t>
            </a:r>
            <a:endParaRPr kumimoji="0" lang="en-US" sz="2000" b="0" i="0" u="none" strike="noStrike" kern="1200" cap="none" spc="0" normalizeH="0" baseline="0" noProof="0" dirty="0">
              <a:ln>
                <a:noFill/>
              </a:ln>
              <a:solidFill>
                <a:srgbClr val="000000"/>
              </a:solidFill>
              <a:effectLst/>
              <a:uLnTx/>
              <a:uFillTx/>
              <a:latin typeface="Segoe UI"/>
              <a:ea typeface="+mn-ea"/>
              <a:cs typeface="Segoe UI" pitchFamily="34" charset="0"/>
            </a:endParaRPr>
          </a:p>
          <a:p>
            <a:pPr lvl="1" indent="-137160">
              <a:defRPr/>
            </a:pPr>
            <a:r>
              <a:rPr lang="es-ES" sz="1800" b="0" i="1" strike="noStrike" cap="none" baseline="0" dirty="0">
                <a:solidFill>
                  <a:srgbClr val="000000"/>
                </a:solidFill>
                <a:effectLst/>
                <a:latin typeface="Segoe UI"/>
                <a:ea typeface="Segoe UI"/>
                <a:cs typeface="Segoe UI"/>
              </a:rPr>
              <a:t>USD por 1 millón de tokens</a:t>
            </a:r>
            <a:br>
              <a:rPr lang="es-ES" sz="1800" b="0" i="1"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(menor es mejor)</a:t>
            </a:r>
            <a:endParaRPr lang="en-US" sz="1800" dirty="0">
              <a:solidFill>
                <a:srgbClr val="000000"/>
              </a:solidFill>
              <a:latin typeface="Segoe UI"/>
              <a:cs typeface="Segoe UI" pitchFamily="34" charset="0"/>
            </a:endParaRPr>
          </a:p>
        </p:txBody>
      </p:sp>
      <p:pic>
        <p:nvPicPr>
          <p:cNvPr id="3" name="Picture 2">
            <a:extLst>
              <a:ext uri="{FF2B5EF4-FFF2-40B4-BE49-F238E27FC236}">
                <a16:creationId xmlns:a16="http://schemas.microsoft.com/office/drawing/2014/main" id="{71F92F59-485A-78E5-F63C-3B011CAB7E53}"/>
              </a:ext>
            </a:extLst>
          </p:cNvPr>
          <p:cNvPicPr>
            <a:picLocks noChangeAspect="1"/>
          </p:cNvPicPr>
          <p:nvPr/>
        </p:nvPicPr>
        <p:blipFill>
          <a:blip r:embed="rId3"/>
          <a:srcRect/>
          <a:stretch/>
        </p:blipFill>
        <p:spPr>
          <a:xfrm>
            <a:off x="5188858" y="1283062"/>
            <a:ext cx="6792683" cy="4754878"/>
          </a:xfrm>
          <a:prstGeom prst="rect">
            <a:avLst/>
          </a:prstGeom>
        </p:spPr>
      </p:pic>
    </p:spTree>
    <p:extLst>
      <p:ext uri="{BB962C8B-B14F-4D97-AF65-F5344CB8AC3E}">
        <p14:creationId xmlns:p14="http://schemas.microsoft.com/office/powerpoint/2010/main" val="112274933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10505188" cy="975360"/>
          </a:xfrm>
        </p:spPr>
        <p:txBody>
          <a:bodyPr/>
          <a:lstStyle/>
          <a:p>
            <a:r>
              <a:rPr lang="es-ES" sz="3200" b="0" i="0" strike="noStrike" cap="none" baseline="0" dirty="0">
                <a:solidFill>
                  <a:srgbClr val="000000"/>
                </a:solidFill>
                <a:effectLst/>
                <a:latin typeface="Segoe UI Semibold"/>
                <a:ea typeface="Segoe UI Semibold"/>
                <a:cs typeface="Segoe UI Semibold"/>
              </a:rPr>
              <a:t>Implementación de modelos en puntos de conexión</a:t>
            </a:r>
          </a:p>
        </p:txBody>
      </p:sp>
      <p:graphicFrame>
        <p:nvGraphicFramePr>
          <p:cNvPr id="3" name="Table 2">
            <a:extLst>
              <a:ext uri="{FF2B5EF4-FFF2-40B4-BE49-F238E27FC236}">
                <a16:creationId xmlns:a16="http://schemas.microsoft.com/office/drawing/2014/main" id="{742432A7-D8D9-433E-300F-675C8A4CC68B}"/>
              </a:ext>
            </a:extLst>
          </p:cNvPr>
          <p:cNvGraphicFramePr>
            <a:graphicFrameLocks noGrp="1"/>
          </p:cNvGraphicFramePr>
          <p:nvPr>
            <p:extLst>
              <p:ext uri="{D42A27DB-BD31-4B8C-83A1-F6EECF244321}">
                <p14:modId xmlns:p14="http://schemas.microsoft.com/office/powerpoint/2010/main" val="1218263806"/>
              </p:ext>
            </p:extLst>
          </p:nvPr>
        </p:nvGraphicFramePr>
        <p:xfrm>
          <a:off x="662933" y="1283060"/>
          <a:ext cx="4366267" cy="5131838"/>
        </p:xfrm>
        <a:graphic>
          <a:graphicData uri="http://schemas.openxmlformats.org/drawingml/2006/table">
            <a:tbl>
              <a:tblPr firstRow="1">
                <a:tableStyleId>{9D7B26C5-4107-4FEC-AEDC-1716B250A1EF}</a:tableStyleId>
              </a:tblPr>
              <a:tblGrid>
                <a:gridCol w="1978667">
                  <a:extLst>
                    <a:ext uri="{9D8B030D-6E8A-4147-A177-3AD203B41FA5}">
                      <a16:colId xmlns:a16="http://schemas.microsoft.com/office/drawing/2014/main" val="354577067"/>
                    </a:ext>
                  </a:extLst>
                </a:gridCol>
                <a:gridCol w="2387600">
                  <a:extLst>
                    <a:ext uri="{9D8B030D-6E8A-4147-A177-3AD203B41FA5}">
                      <a16:colId xmlns:a16="http://schemas.microsoft.com/office/drawing/2014/main" val="3100690456"/>
                    </a:ext>
                  </a:extLst>
                </a:gridCol>
              </a:tblGrid>
              <a:tr h="545740">
                <a:tc>
                  <a:txBody>
                    <a:bodyPr/>
                    <a:lstStyle/>
                    <a:p>
                      <a:pPr algn="l" fontAlgn="t">
                        <a:buNone/>
                      </a:pPr>
                      <a:r>
                        <a:rPr lang="es-ES" sz="1400" b="1" i="0" strike="noStrike" cap="none" baseline="0" dirty="0">
                          <a:solidFill>
                            <a:srgbClr val="000000"/>
                          </a:solidFill>
                          <a:effectLst/>
                          <a:latin typeface="Segoe UI"/>
                          <a:ea typeface="Segoe UI"/>
                          <a:cs typeface="Segoe UI Light"/>
                        </a:rPr>
                        <a:t>Tipo de implementación</a:t>
                      </a:r>
                      <a:endParaRPr lang="en-US" sz="1400" dirty="0">
                        <a:effectLst/>
                        <a:latin typeface="+mj-lt"/>
                      </a:endParaRPr>
                    </a:p>
                  </a:txBody>
                  <a:tcPr marL="4302" marR="4302" marT="2151" marB="2151"/>
                </a:tc>
                <a:tc>
                  <a:txBody>
                    <a:bodyPr/>
                    <a:lstStyle/>
                    <a:p>
                      <a:pPr algn="l" fontAlgn="t">
                        <a:buNone/>
                      </a:pPr>
                      <a:r>
                        <a:rPr lang="es-ES" sz="1400" b="1" i="0" strike="noStrike" cap="none" baseline="0">
                          <a:solidFill>
                            <a:srgbClr val="000000"/>
                          </a:solidFill>
                          <a:effectLst/>
                          <a:latin typeface="Segoe UI"/>
                          <a:ea typeface="Segoe UI"/>
                          <a:cs typeface="Segoe UI"/>
                        </a:rPr>
                        <a:t>Más adecuado para</a:t>
                      </a:r>
                      <a:endParaRPr lang="en-US" sz="1400">
                        <a:effectLst/>
                        <a:latin typeface="+mj-lt"/>
                      </a:endParaRPr>
                    </a:p>
                  </a:txBody>
                  <a:tcPr marL="4302" marR="4302" marT="2151" marB="2151"/>
                </a:tc>
                <a:extLst>
                  <a:ext uri="{0D108BD9-81ED-4DB2-BD59-A6C34878D82A}">
                    <a16:rowId xmlns:a16="http://schemas.microsoft.com/office/drawing/2014/main" val="3068365360"/>
                  </a:ext>
                </a:extLst>
              </a:tr>
              <a:tr h="592546">
                <a:tc>
                  <a:txBody>
                    <a:bodyPr/>
                    <a:lstStyle/>
                    <a:p>
                      <a:pPr algn="l" fontAlgn="t">
                        <a:buNone/>
                      </a:pPr>
                      <a:r>
                        <a:rPr lang="es-ES" sz="1400" b="0" i="0" strike="noStrike" cap="none" baseline="0" dirty="0">
                          <a:solidFill>
                            <a:srgbClr val="000000"/>
                          </a:solidFill>
                          <a:effectLst/>
                          <a:latin typeface="Segoe UI"/>
                          <a:ea typeface="Segoe UI"/>
                          <a:cs typeface="Segoe UI"/>
                        </a:rPr>
                        <a:t>Estándar global</a:t>
                      </a:r>
                      <a:endParaRPr lang="en-US" sz="1400" dirty="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Cargas de trabajo generales</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y cuota más alta</a:t>
                      </a:r>
                    </a:p>
                  </a:txBody>
                  <a:tcPr marL="4302" marR="4302" marT="2151" marB="2151"/>
                </a:tc>
                <a:extLst>
                  <a:ext uri="{0D108BD9-81ED-4DB2-BD59-A6C34878D82A}">
                    <a16:rowId xmlns:a16="http://schemas.microsoft.com/office/drawing/2014/main" val="2778408352"/>
                  </a:ext>
                </a:extLst>
              </a:tr>
              <a:tr h="299900">
                <a:tc>
                  <a:txBody>
                    <a:bodyPr/>
                    <a:lstStyle/>
                    <a:p>
                      <a:pPr algn="l" fontAlgn="t">
                        <a:buNone/>
                      </a:pPr>
                      <a:r>
                        <a:rPr lang="es-ES" sz="1400" b="0" i="0" strike="noStrike" cap="none" baseline="0">
                          <a:solidFill>
                            <a:srgbClr val="000000"/>
                          </a:solidFill>
                          <a:effectLst/>
                          <a:latin typeface="Segoe UI"/>
                          <a:ea typeface="Segoe UI"/>
                          <a:cs typeface="Segoe UI"/>
                        </a:rPr>
                        <a:t>Aprovisionado global</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a:solidFill>
                            <a:srgbClr val="000000"/>
                          </a:solidFill>
                          <a:effectLst/>
                          <a:latin typeface="Segoe UI"/>
                          <a:ea typeface="Segoe UI"/>
                          <a:cs typeface="Segoe UI"/>
                        </a:rPr>
                        <a:t>Alto rendimiento predecible</a:t>
                      </a:r>
                    </a:p>
                  </a:txBody>
                  <a:tcPr marL="4302" marR="4302" marT="2151" marB="2151"/>
                </a:tc>
                <a:extLst>
                  <a:ext uri="{0D108BD9-81ED-4DB2-BD59-A6C34878D82A}">
                    <a16:rowId xmlns:a16="http://schemas.microsoft.com/office/drawing/2014/main" val="1884366744"/>
                  </a:ext>
                </a:extLst>
              </a:tr>
              <a:tr h="299900">
                <a:tc>
                  <a:txBody>
                    <a:bodyPr/>
                    <a:lstStyle/>
                    <a:p>
                      <a:pPr algn="l" fontAlgn="t">
                        <a:buNone/>
                      </a:pPr>
                      <a:r>
                        <a:rPr lang="es-ES" sz="1400" b="0" i="0" strike="noStrike" cap="none" baseline="0">
                          <a:solidFill>
                            <a:srgbClr val="000000"/>
                          </a:solidFill>
                          <a:effectLst/>
                          <a:latin typeface="Segoe UI"/>
                          <a:ea typeface="Segoe UI"/>
                          <a:cs typeface="Segoe UI"/>
                        </a:rPr>
                        <a:t>Lote global</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Trabajos asincrónicos grandes</a:t>
                      </a:r>
                    </a:p>
                  </a:txBody>
                  <a:tcPr marL="4302" marR="4302" marT="2151" marB="2151"/>
                </a:tc>
                <a:extLst>
                  <a:ext uri="{0D108BD9-81ED-4DB2-BD59-A6C34878D82A}">
                    <a16:rowId xmlns:a16="http://schemas.microsoft.com/office/drawing/2014/main" val="3218672773"/>
                  </a:ext>
                </a:extLst>
              </a:tr>
              <a:tr h="299900">
                <a:tc>
                  <a:txBody>
                    <a:bodyPr/>
                    <a:lstStyle/>
                    <a:p>
                      <a:pPr algn="l" fontAlgn="t">
                        <a:buNone/>
                      </a:pPr>
                      <a:r>
                        <a:rPr lang="es-ES" sz="1400" b="0" i="0" strike="noStrike" cap="none" baseline="0">
                          <a:solidFill>
                            <a:srgbClr val="000000"/>
                          </a:solidFill>
                          <a:effectLst/>
                          <a:latin typeface="Segoe UI"/>
                          <a:ea typeface="Segoe UI"/>
                          <a:cs typeface="Segoe UI"/>
                        </a:rPr>
                        <a:t>Zona de datos estándar</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Cumplimiento de la zona</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de datos UE/EE. UU.</a:t>
                      </a:r>
                    </a:p>
                  </a:txBody>
                  <a:tcPr marL="4302" marR="4302" marT="2151" marB="2151"/>
                </a:tc>
                <a:extLst>
                  <a:ext uri="{0D108BD9-81ED-4DB2-BD59-A6C34878D82A}">
                    <a16:rowId xmlns:a16="http://schemas.microsoft.com/office/drawing/2014/main" val="1603704476"/>
                  </a:ext>
                </a:extLst>
              </a:tr>
              <a:tr h="592546">
                <a:tc>
                  <a:txBody>
                    <a:bodyPr/>
                    <a:lstStyle/>
                    <a:p>
                      <a:pPr algn="l" fontAlgn="t">
                        <a:buNone/>
                      </a:pPr>
                      <a:r>
                        <a:rPr lang="es-ES" sz="1400" b="0" i="0" strike="noStrike" cap="none" baseline="0">
                          <a:solidFill>
                            <a:srgbClr val="000000"/>
                          </a:solidFill>
                          <a:effectLst/>
                          <a:latin typeface="Segoe UI"/>
                          <a:ea typeface="Segoe UI"/>
                          <a:cs typeface="Segoe UI"/>
                        </a:rPr>
                        <a:t>Zona de datos aprovisionada</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Zona de datos y rendimiento predecible</a:t>
                      </a:r>
                    </a:p>
                  </a:txBody>
                  <a:tcPr marL="4302" marR="4302" marT="2151" marB="2151"/>
                </a:tc>
                <a:extLst>
                  <a:ext uri="{0D108BD9-81ED-4DB2-BD59-A6C34878D82A}">
                    <a16:rowId xmlns:a16="http://schemas.microsoft.com/office/drawing/2014/main" val="1240262944"/>
                  </a:ext>
                </a:extLst>
              </a:tr>
              <a:tr h="592546">
                <a:tc>
                  <a:txBody>
                    <a:bodyPr/>
                    <a:lstStyle/>
                    <a:p>
                      <a:pPr algn="l" fontAlgn="t">
                        <a:buNone/>
                      </a:pPr>
                      <a:r>
                        <a:rPr lang="es-ES" sz="1400" b="0" i="0" strike="noStrike" cap="none" baseline="0">
                          <a:solidFill>
                            <a:srgbClr val="000000"/>
                          </a:solidFill>
                          <a:effectLst/>
                          <a:latin typeface="Segoe UI"/>
                          <a:ea typeface="Segoe UI"/>
                          <a:cs typeface="Segoe UI"/>
                        </a:rPr>
                        <a:t>Zona de datos para Batch</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a:solidFill>
                            <a:srgbClr val="000000"/>
                          </a:solidFill>
                          <a:effectLst/>
                          <a:latin typeface="Segoe UI"/>
                          <a:ea typeface="Segoe UI"/>
                          <a:cs typeface="Segoe UI"/>
                        </a:rPr>
                        <a:t>Trabajos asincrónicos grandes con zona de datos</a:t>
                      </a:r>
                    </a:p>
                  </a:txBody>
                  <a:tcPr marL="4302" marR="4302" marT="2151" marB="2151"/>
                </a:tc>
                <a:extLst>
                  <a:ext uri="{0D108BD9-81ED-4DB2-BD59-A6C34878D82A}">
                    <a16:rowId xmlns:a16="http://schemas.microsoft.com/office/drawing/2014/main" val="505870846"/>
                  </a:ext>
                </a:extLst>
              </a:tr>
              <a:tr h="592546">
                <a:tc>
                  <a:txBody>
                    <a:bodyPr/>
                    <a:lstStyle/>
                    <a:p>
                      <a:pPr algn="l" fontAlgn="t">
                        <a:buNone/>
                      </a:pPr>
                      <a:r>
                        <a:rPr lang="es-ES" sz="1400" b="0" i="0" strike="noStrike" cap="none" baseline="0">
                          <a:solidFill>
                            <a:srgbClr val="000000"/>
                          </a:solidFill>
                          <a:effectLst/>
                          <a:latin typeface="Segoe UI"/>
                          <a:ea typeface="Segoe UI"/>
                          <a:cs typeface="Segoe UI"/>
                        </a:rPr>
                        <a:t>Estándar</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Cumplimiento regional,</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bajo volumen</a:t>
                      </a:r>
                    </a:p>
                  </a:txBody>
                  <a:tcPr marL="4302" marR="4302" marT="2151" marB="2151"/>
                </a:tc>
                <a:extLst>
                  <a:ext uri="{0D108BD9-81ED-4DB2-BD59-A6C34878D82A}">
                    <a16:rowId xmlns:a16="http://schemas.microsoft.com/office/drawing/2014/main" val="3215909783"/>
                  </a:ext>
                </a:extLst>
              </a:tr>
              <a:tr h="592546">
                <a:tc>
                  <a:txBody>
                    <a:bodyPr/>
                    <a:lstStyle/>
                    <a:p>
                      <a:pPr algn="l" fontAlgn="t">
                        <a:buNone/>
                      </a:pPr>
                      <a:r>
                        <a:rPr lang="es-ES" sz="1400" b="0" i="0" strike="noStrike" cap="none" baseline="0" dirty="0">
                          <a:solidFill>
                            <a:srgbClr val="000000"/>
                          </a:solidFill>
                          <a:effectLst/>
                          <a:latin typeface="Segoe UI"/>
                          <a:ea typeface="Segoe UI"/>
                          <a:cs typeface="Segoe UI"/>
                        </a:rPr>
                        <a:t>Aprovisionada en</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la región</a:t>
                      </a:r>
                      <a:endParaRPr lang="en-US" sz="1400" dirty="0">
                        <a:solidFill>
                          <a:schemeClr val="tx1"/>
                        </a:solidFill>
                        <a:effectLst/>
                      </a:endParaRPr>
                    </a:p>
                  </a:txBody>
                  <a:tcPr marL="4302" marR="4302" marT="2151" marB="2151"/>
                </a:tc>
                <a:tc>
                  <a:txBody>
                    <a:bodyPr/>
                    <a:lstStyle/>
                    <a:p>
                      <a:pPr algn="l" fontAlgn="t">
                        <a:buNone/>
                      </a:pPr>
                      <a:r>
                        <a:rPr lang="es-ES" sz="1400" b="0" i="0" strike="noStrike" cap="none" baseline="0">
                          <a:solidFill>
                            <a:srgbClr val="000000"/>
                          </a:solidFill>
                          <a:effectLst/>
                          <a:latin typeface="Segoe UI"/>
                          <a:ea typeface="Segoe UI"/>
                          <a:cs typeface="Segoe UI"/>
                        </a:rPr>
                        <a:t>Cumplimiento y rendimiento regionales</a:t>
                      </a:r>
                    </a:p>
                  </a:txBody>
                  <a:tcPr marL="4302" marR="4302" marT="2151" marB="2151"/>
                </a:tc>
                <a:extLst>
                  <a:ext uri="{0D108BD9-81ED-4DB2-BD59-A6C34878D82A}">
                    <a16:rowId xmlns:a16="http://schemas.microsoft.com/office/drawing/2014/main" val="496980870"/>
                  </a:ext>
                </a:extLst>
              </a:tr>
              <a:tr h="592546">
                <a:tc>
                  <a:txBody>
                    <a:bodyPr/>
                    <a:lstStyle/>
                    <a:p>
                      <a:pPr algn="l" fontAlgn="t">
                        <a:buNone/>
                      </a:pPr>
                      <a:r>
                        <a:rPr lang="es-ES" sz="1400" b="0" i="0" strike="noStrike" cap="none" baseline="0">
                          <a:solidFill>
                            <a:srgbClr val="000000"/>
                          </a:solidFill>
                          <a:effectLst/>
                          <a:latin typeface="Segoe UI"/>
                          <a:ea typeface="Segoe UI Light"/>
                          <a:cs typeface="Segoe UI Light"/>
                        </a:rPr>
                        <a:t>Developer</a:t>
                      </a:r>
                      <a:endParaRPr lang="en-US" sz="1400">
                        <a:solidFill>
                          <a:schemeClr val="tx1"/>
                        </a:solidFill>
                        <a:effectLst/>
                      </a:endParaRPr>
                    </a:p>
                  </a:txBody>
                  <a:tcPr marL="4302" marR="4302" marT="2151" marB="2151"/>
                </a:tc>
                <a:tc>
                  <a:txBody>
                    <a:bodyPr/>
                    <a:lstStyle/>
                    <a:p>
                      <a:pPr algn="l" fontAlgn="t">
                        <a:buNone/>
                      </a:pPr>
                      <a:r>
                        <a:rPr lang="es-ES" sz="1400" b="0" i="0" strike="noStrike" cap="none" baseline="0" dirty="0">
                          <a:solidFill>
                            <a:srgbClr val="000000"/>
                          </a:solidFill>
                          <a:effectLst/>
                          <a:latin typeface="Segoe UI"/>
                          <a:ea typeface="Segoe UI"/>
                          <a:cs typeface="Segoe UI"/>
                        </a:rPr>
                        <a:t>Solo evaluación de modelos ajustados</a:t>
                      </a:r>
                    </a:p>
                  </a:txBody>
                  <a:tcPr marL="4302" marR="4302" marT="2151" marB="2151"/>
                </a:tc>
                <a:extLst>
                  <a:ext uri="{0D108BD9-81ED-4DB2-BD59-A6C34878D82A}">
                    <a16:rowId xmlns:a16="http://schemas.microsoft.com/office/drawing/2014/main" val="967095173"/>
                  </a:ext>
                </a:extLst>
              </a:tr>
            </a:tbl>
          </a:graphicData>
        </a:graphic>
      </p:graphicFrame>
      <p:pic>
        <p:nvPicPr>
          <p:cNvPr id="4" name="Picture 3">
            <a:extLst>
              <a:ext uri="{FF2B5EF4-FFF2-40B4-BE49-F238E27FC236}">
                <a16:creationId xmlns:a16="http://schemas.microsoft.com/office/drawing/2014/main" id="{6F2C2FED-E343-E084-6D73-0BA8258545A8}"/>
              </a:ext>
            </a:extLst>
          </p:cNvPr>
          <p:cNvPicPr>
            <a:picLocks noChangeAspect="1"/>
          </p:cNvPicPr>
          <p:nvPr/>
        </p:nvPicPr>
        <p:blipFill>
          <a:blip r:embed="rId3"/>
          <a:srcRect/>
          <a:stretch/>
        </p:blipFill>
        <p:spPr>
          <a:xfrm>
            <a:off x="5188858" y="1283062"/>
            <a:ext cx="6792682" cy="4754878"/>
          </a:xfrm>
          <a:prstGeom prst="rect">
            <a:avLst/>
          </a:prstGeom>
        </p:spPr>
      </p:pic>
    </p:spTree>
    <p:extLst>
      <p:ext uri="{BB962C8B-B14F-4D97-AF65-F5344CB8AC3E}">
        <p14:creationId xmlns:p14="http://schemas.microsoft.com/office/powerpoint/2010/main" val="22391514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4D475-F949-6FC1-8E0C-BEA781DB9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495EA-CD64-5076-5782-0C4DF162CDE3}"/>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Evaluación del rendimiento del modelo</a:t>
            </a:r>
          </a:p>
        </p:txBody>
      </p:sp>
      <p:sp>
        <p:nvSpPr>
          <p:cNvPr id="4" name="Text Placeholder 44">
            <a:extLst>
              <a:ext uri="{FF2B5EF4-FFF2-40B4-BE49-F238E27FC236}">
                <a16:creationId xmlns:a16="http://schemas.microsoft.com/office/drawing/2014/main" id="{371B3692-15AF-C72A-A477-92157B7ED01B}"/>
              </a:ext>
            </a:extLst>
          </p:cNvPr>
          <p:cNvSpPr txBox="1"/>
          <p:nvPr/>
        </p:nvSpPr>
        <p:spPr>
          <a:xfrm>
            <a:off x="662933" y="1463279"/>
            <a:ext cx="4328168" cy="121879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None/>
              <a:defRPr/>
            </a:pPr>
            <a:r>
              <a:rPr lang="es-ES" sz="1800" b="0" i="0" strike="noStrike" cap="none" baseline="0" dirty="0">
                <a:solidFill>
                  <a:srgbClr val="000000"/>
                </a:solidFill>
                <a:effectLst/>
                <a:latin typeface="Segoe UI Semibold"/>
                <a:ea typeface="Segoe UI Semibold"/>
                <a:cs typeface="Segoe UI Semibold"/>
              </a:rPr>
              <a:t>Evaluación manual:</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800" b="0" i="0" strike="noStrike" cap="none" baseline="0" dirty="0">
                <a:solidFill>
                  <a:srgbClr val="000000"/>
                </a:solidFill>
                <a:effectLst/>
                <a:latin typeface="Segoe UI"/>
                <a:ea typeface="Segoe UI"/>
                <a:cs typeface="Segoe UI"/>
              </a:rPr>
              <a:t>Prueba de respuestas del modelo en el área de juegos</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800" b="0" i="0" strike="noStrike" cap="none" baseline="0" dirty="0">
                <a:solidFill>
                  <a:srgbClr val="000000"/>
                </a:solidFill>
                <a:effectLst/>
                <a:latin typeface="Segoe UI"/>
                <a:ea typeface="Segoe UI"/>
                <a:cs typeface="Segoe UI"/>
              </a:rPr>
              <a:t>Comparación de modelos en paralelo</a:t>
            </a:r>
            <a:endParaRPr kumimoji="0" lang="en-US" sz="18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5" name="Text Placeholder 44">
            <a:extLst>
              <a:ext uri="{FF2B5EF4-FFF2-40B4-BE49-F238E27FC236}">
                <a16:creationId xmlns:a16="http://schemas.microsoft.com/office/drawing/2014/main" id="{AE6A7401-B46D-EFBB-E344-7705044DE965}"/>
              </a:ext>
            </a:extLst>
          </p:cNvPr>
          <p:cNvSpPr txBox="1"/>
          <p:nvPr/>
        </p:nvSpPr>
        <p:spPr>
          <a:xfrm>
            <a:off x="6439617" y="1463279"/>
            <a:ext cx="5796833" cy="1218795"/>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None/>
              <a:defRPr/>
            </a:pPr>
            <a:r>
              <a:rPr lang="es-ES" sz="1800" b="0" i="0" strike="noStrike" cap="none" baseline="0" dirty="0">
                <a:solidFill>
                  <a:srgbClr val="000000"/>
                </a:solidFill>
                <a:effectLst/>
                <a:latin typeface="Segoe UI Semibold"/>
                <a:ea typeface="Segoe UI Semibold"/>
                <a:cs typeface="Segoe UI Semibold"/>
              </a:rPr>
              <a:t>Evaluación automatizada:</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800" b="0" i="0" strike="noStrike" cap="none" baseline="0" dirty="0">
                <a:solidFill>
                  <a:srgbClr val="000000"/>
                </a:solidFill>
                <a:effectLst/>
                <a:latin typeface="Segoe UI"/>
                <a:ea typeface="Segoe UI"/>
                <a:cs typeface="Segoe UI"/>
              </a:rPr>
              <a:t>Uso de conjuntos de datos sintéticos o tus propios datos</a:t>
            </a:r>
          </a:p>
          <a:p>
            <a:pPr marL="137160" marR="0" lvl="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800" b="0" i="0" strike="noStrike" cap="none" baseline="0" dirty="0">
                <a:solidFill>
                  <a:srgbClr val="000000"/>
                </a:solidFill>
                <a:effectLst/>
                <a:latin typeface="Segoe UI"/>
                <a:ea typeface="Segoe UI"/>
                <a:cs typeface="Segoe UI"/>
              </a:rPr>
              <a:t>Medición de respuestas basadas en métricas estándar</a:t>
            </a:r>
            <a:endParaRPr kumimoji="0" lang="en-US" sz="18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pic>
        <p:nvPicPr>
          <p:cNvPr id="3" name="Picture 2">
            <a:extLst>
              <a:ext uri="{FF2B5EF4-FFF2-40B4-BE49-F238E27FC236}">
                <a16:creationId xmlns:a16="http://schemas.microsoft.com/office/drawing/2014/main" id="{42F6C088-FD56-2136-0496-88F6C3DFAA4D}"/>
              </a:ext>
            </a:extLst>
          </p:cNvPr>
          <p:cNvPicPr>
            <a:picLocks noChangeAspect="1"/>
          </p:cNvPicPr>
          <p:nvPr/>
        </p:nvPicPr>
        <p:blipFill>
          <a:blip r:embed="rId3"/>
          <a:srcRect/>
          <a:stretch/>
        </p:blipFill>
        <p:spPr>
          <a:xfrm>
            <a:off x="662932" y="2954927"/>
            <a:ext cx="5225141" cy="3657599"/>
          </a:xfrm>
          <a:prstGeom prst="rect">
            <a:avLst/>
          </a:prstGeom>
        </p:spPr>
      </p:pic>
      <p:pic>
        <p:nvPicPr>
          <p:cNvPr id="6" name="Picture 5">
            <a:extLst>
              <a:ext uri="{FF2B5EF4-FFF2-40B4-BE49-F238E27FC236}">
                <a16:creationId xmlns:a16="http://schemas.microsoft.com/office/drawing/2014/main" id="{CB8E8809-93BF-F142-85F1-0A1EEE9705EA}"/>
              </a:ext>
            </a:extLst>
          </p:cNvPr>
          <p:cNvPicPr>
            <a:picLocks noChangeAspect="1"/>
          </p:cNvPicPr>
          <p:nvPr/>
        </p:nvPicPr>
        <p:blipFill>
          <a:blip r:embed="rId4"/>
          <a:srcRect/>
          <a:stretch/>
        </p:blipFill>
        <p:spPr>
          <a:xfrm>
            <a:off x="6439617" y="2954926"/>
            <a:ext cx="5225141" cy="3657598"/>
          </a:xfrm>
          <a:prstGeom prst="rect">
            <a:avLst/>
          </a:prstGeom>
        </p:spPr>
      </p:pic>
    </p:spTree>
    <p:extLst>
      <p:ext uri="{BB962C8B-B14F-4D97-AF65-F5344CB8AC3E}">
        <p14:creationId xmlns:p14="http://schemas.microsoft.com/office/powerpoint/2010/main" val="426532185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85A53-51F9-5C03-F6FE-419CADC7F74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67A2F73-CD75-2BD5-8559-B06060320B0D}"/>
              </a:ext>
              <a:ext uri="{C183D7F6-B498-43B3-948B-1728B52AA6E4}">
                <adec:decorative xmlns:adec="http://schemas.microsoft.com/office/drawing/2017/decorative" val="1"/>
              </a:ext>
            </a:extLst>
          </p:cNvPr>
          <p:cNvPicPr>
            <a:picLocks noChangeAspect="1"/>
          </p:cNvPicPr>
          <p:nvPr/>
        </p:nvPicPr>
        <p:blipFill>
          <a:blip r:embed="rId3"/>
          <a:srcRect l="2732" r="2732"/>
          <a:stretch/>
        </p:blipFill>
        <p:spPr>
          <a:xfrm>
            <a:off x="7723991" y="2032000"/>
            <a:ext cx="4468009" cy="3309257"/>
          </a:xfrm>
          <a:prstGeom prst="rect">
            <a:avLst/>
          </a:prstGeom>
        </p:spPr>
      </p:pic>
      <p:sp>
        <p:nvSpPr>
          <p:cNvPr id="5" name="Title 4">
            <a:extLst>
              <a:ext uri="{FF2B5EF4-FFF2-40B4-BE49-F238E27FC236}">
                <a16:creationId xmlns:a16="http://schemas.microsoft.com/office/drawing/2014/main" id="{B23946E4-E3BA-D06A-8CF9-A1A85629DC8D}"/>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C3C392B6-17D7-F851-516C-342E5293B875}"/>
              </a:ext>
            </a:extLst>
          </p:cNvPr>
          <p:cNvSpPr>
            <a:spLocks noGrp="1"/>
          </p:cNvSpPr>
          <p:nvPr>
            <p:ph type="body" sz="quarter" idx="16"/>
          </p:nvPr>
        </p:nvSpPr>
        <p:spPr>
          <a:xfrm>
            <a:off x="584199" y="1594155"/>
            <a:ext cx="6235701" cy="609600"/>
          </a:xfrm>
        </p:spPr>
        <p:txBody>
          <a:bodyPr/>
          <a:lstStyle/>
          <a:p>
            <a:r>
              <a:rPr lang="es-ES" sz="2000" b="0" i="0" strike="noStrike" cap="none" baseline="0" dirty="0">
                <a:solidFill>
                  <a:srgbClr val="000000"/>
                </a:solidFill>
                <a:effectLst/>
                <a:latin typeface="Segoe UI Semibold"/>
                <a:ea typeface="Segoe UI Semibold"/>
                <a:cs typeface="Segoe UI Semibold"/>
              </a:rPr>
              <a:t>Selección, implementación y evaluación de modelos</a:t>
            </a:r>
          </a:p>
        </p:txBody>
      </p:sp>
      <p:sp>
        <p:nvSpPr>
          <p:cNvPr id="6" name="Text Placeholder 5">
            <a:extLst>
              <a:ext uri="{FF2B5EF4-FFF2-40B4-BE49-F238E27FC236}">
                <a16:creationId xmlns:a16="http://schemas.microsoft.com/office/drawing/2014/main" id="{0D9094C9-FB18-F529-F674-EE32E11E3DA8}"/>
              </a:ext>
            </a:extLst>
          </p:cNvPr>
          <p:cNvSpPr>
            <a:spLocks noGrp="1"/>
          </p:cNvSpPr>
          <p:nvPr>
            <p:ph type="body" sz="quarter" idx="15"/>
          </p:nvPr>
        </p:nvSpPr>
        <p:spPr>
          <a:xfrm>
            <a:off x="586389" y="2085764"/>
            <a:ext cx="4144361" cy="2438401"/>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Exploración de modelos en el catálogo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Comparación de modelos con la tabla de clasificación del modelo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Implementación de modelos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Comparación de modelos en el área de juegos del modelo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Evaluación de un modelo con un conjunto de datos sintético</a:t>
            </a:r>
            <a:endParaRPr lang="en-US" dirty="0"/>
          </a:p>
        </p:txBody>
      </p:sp>
      <p:sp>
        <p:nvSpPr>
          <p:cNvPr id="10" name="TextBox 9">
            <a:extLst>
              <a:ext uri="{FF2B5EF4-FFF2-40B4-BE49-F238E27FC236}">
                <a16:creationId xmlns:a16="http://schemas.microsoft.com/office/drawing/2014/main" id="{675AE5D2-D5D3-153A-FD26-F399CA8AC32D}"/>
              </a:ext>
            </a:extLst>
          </p:cNvPr>
          <p:cNvSpPr txBox="1"/>
          <p:nvPr/>
        </p:nvSpPr>
        <p:spPr>
          <a:xfrm>
            <a:off x="487330" y="4405892"/>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Light"/>
              </a:rPr>
              <a:t>Inicia el ejercicio en:</a:t>
            </a:r>
          </a:p>
          <a:p>
            <a:pPr lvl="0">
              <a:defRPr/>
            </a:pPr>
            <a:r>
              <a:rPr lang="es-ES" sz="1600" b="0" i="0" strike="noStrike" cap="none" baseline="0" dirty="0">
                <a:solidFill>
                  <a:srgbClr val="000000"/>
                </a:solidFill>
                <a:effectLst/>
                <a:latin typeface="Segoe UI"/>
                <a:ea typeface="Segoe UI"/>
                <a:cs typeface="Segoe UI"/>
                <a:hlinkClick r:id="rId4" history="0"/>
              </a:rPr>
              <a:t>https://go.microsoft.com/fwlink/?linkid=2354118</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CE6451CE-D283-C4A2-772A-63BA6A706E86}"/>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73643270-880D-2D17-1A2F-07ACBBAA4BAC}"/>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09009305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CAD19-D5B6-6155-65F5-8DC7E3373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AA1AC-08B7-8286-9284-45C31643C5D8}"/>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4987BE56-4119-2E9C-8BB8-9071D4B7F46D}"/>
              </a:ext>
            </a:extLst>
          </p:cNvPr>
          <p:cNvSpPr>
            <a:spLocks noGrp="1"/>
          </p:cNvSpPr>
          <p:nvPr>
            <p:ph type="body" sz="quarter" idx="17"/>
          </p:nvPr>
        </p:nvSpPr>
        <p:spPr>
          <a:xfrm>
            <a:off x="1235075" y="1766085"/>
            <a:ext cx="8778782" cy="426720"/>
          </a:xfrm>
        </p:spPr>
        <p:txBody>
          <a:bodyPr/>
          <a:lstStyle/>
          <a:p>
            <a:r>
              <a:rPr lang="es-ES" sz="1400" b="1" i="0" strike="noStrike" cap="none" baseline="0" dirty="0">
                <a:solidFill>
                  <a:srgbClr val="000000"/>
                </a:solidFill>
                <a:effectLst/>
                <a:latin typeface="Segoe UI Semibold"/>
                <a:ea typeface="Segoe UI Semibold"/>
                <a:cs typeface="Segoe UI Semibold"/>
              </a:rPr>
              <a:t>¿Qué prueba comparativa de modelos indica la capacidad del modelo para procesar solicitudes</a:t>
            </a:r>
            <a:br>
              <a:rPr lang="es-ES" sz="1400" b="1" i="0" strike="noStrike" cap="none" baseline="0" dirty="0">
                <a:solidFill>
                  <a:srgbClr val="000000"/>
                </a:solidFill>
                <a:effectLst/>
                <a:latin typeface="Segoe UI Semibold"/>
                <a:ea typeface="Segoe UI Semibold"/>
                <a:cs typeface="Segoe UI Semibold"/>
              </a:rPr>
            </a:br>
            <a:r>
              <a:rPr lang="es-ES" sz="1400" b="1" i="0" strike="noStrike" cap="none" baseline="0" dirty="0">
                <a:solidFill>
                  <a:srgbClr val="000000"/>
                </a:solidFill>
                <a:effectLst/>
                <a:latin typeface="Segoe UI Semibold"/>
                <a:ea typeface="Segoe UI Semibold"/>
                <a:cs typeface="Segoe UI Semibold"/>
              </a:rPr>
              <a:t>y devolver respuestas completas rápidamente?</a:t>
            </a:r>
          </a:p>
        </p:txBody>
      </p:sp>
      <p:sp>
        <p:nvSpPr>
          <p:cNvPr id="9" name="Text Placeholder 8">
            <a:extLst>
              <a:ext uri="{FF2B5EF4-FFF2-40B4-BE49-F238E27FC236}">
                <a16:creationId xmlns:a16="http://schemas.microsoft.com/office/drawing/2014/main" id="{99A2EED7-449A-924B-2C38-2BCF462EAA6B}"/>
              </a:ext>
            </a:extLst>
          </p:cNvPr>
          <p:cNvSpPr>
            <a:spLocks noGrp="1"/>
          </p:cNvSpPr>
          <p:nvPr>
            <p:ph type="body" sz="quarter" idx="15"/>
          </p:nvPr>
        </p:nvSpPr>
        <p:spPr>
          <a:xfrm>
            <a:off x="1235075" y="2204698"/>
            <a:ext cx="8775098" cy="725424"/>
          </a:xfrm>
          <a:noFill/>
        </p:spPr>
        <p:txBody>
          <a:bodyPr/>
          <a:lstStyle/>
          <a:p>
            <a:r>
              <a:rPr lang="es-ES" sz="1400" b="0" i="0" strike="noStrike" cap="none" baseline="0">
                <a:solidFill>
                  <a:srgbClr val="000000"/>
                </a:solidFill>
                <a:effectLst/>
                <a:latin typeface="Segoe UI"/>
                <a:ea typeface="Segoe UI"/>
                <a:cs typeface="Segoe UI"/>
              </a:rPr>
              <a:t>Índice de calidad</a:t>
            </a:r>
            <a:endParaRPr lang="en-US" noProof="0">
              <a:solidFill>
                <a:srgbClr val="000000"/>
              </a:solidFill>
            </a:endParaRPr>
          </a:p>
          <a:p>
            <a:r>
              <a:rPr lang="es-ES" sz="1400" b="0" i="0" strike="noStrike" cap="none" baseline="0">
                <a:solidFill>
                  <a:srgbClr val="000000"/>
                </a:solidFill>
                <a:effectLst/>
                <a:latin typeface="Segoe UI"/>
                <a:ea typeface="Segoe UI"/>
                <a:cs typeface="Segoe UI"/>
              </a:rPr>
              <a:t>Costo</a:t>
            </a:r>
          </a:p>
          <a:p>
            <a:r>
              <a:rPr lang="es-ES" sz="1400" b="0" i="0" strike="noStrike" cap="none" baseline="0">
                <a:solidFill>
                  <a:srgbClr val="000000"/>
                </a:solidFill>
                <a:effectLst/>
                <a:latin typeface="Segoe UI"/>
                <a:ea typeface="Segoe UI"/>
                <a:cs typeface="Segoe UI"/>
              </a:rPr>
              <a:t>Rendimiento</a:t>
            </a:r>
          </a:p>
        </p:txBody>
      </p:sp>
      <p:sp>
        <p:nvSpPr>
          <p:cNvPr id="18" name="Text Placeholder 17">
            <a:extLst>
              <a:ext uri="{FF2B5EF4-FFF2-40B4-BE49-F238E27FC236}">
                <a16:creationId xmlns:a16="http://schemas.microsoft.com/office/drawing/2014/main" id="{AC14C2E3-61AB-9EEA-8DB8-991A9E12CCDB}"/>
              </a:ext>
            </a:extLst>
          </p:cNvPr>
          <p:cNvSpPr>
            <a:spLocks noGrp="1"/>
          </p:cNvSpPr>
          <p:nvPr>
            <p:ph type="body" sz="quarter" idx="22"/>
          </p:nvPr>
        </p:nvSpPr>
        <p:spPr>
          <a:xfrm>
            <a:off x="1235074" y="3139966"/>
            <a:ext cx="9204325" cy="426720"/>
          </a:xfrm>
        </p:spPr>
        <p:txBody>
          <a:bodyPr/>
          <a:lstStyle/>
          <a:p>
            <a:r>
              <a:rPr lang="es-ES" sz="1400" b="0" i="0" strike="noStrike" cap="none" baseline="0" dirty="0">
                <a:solidFill>
                  <a:srgbClr val="000000"/>
                </a:solidFill>
                <a:effectLst/>
                <a:latin typeface="Segoe UI Semibold"/>
                <a:ea typeface="Segoe UI Semibold"/>
                <a:cs typeface="Segoe UI Semibold"/>
              </a:rPr>
              <a:t>¿Qué tipo de implementación de Microsoft </a:t>
            </a:r>
            <a:r>
              <a:rPr lang="es-ES" sz="1400" b="0" i="0" strike="noStrike" cap="none" baseline="0" dirty="0" err="1">
                <a:solidFill>
                  <a:srgbClr val="000000"/>
                </a:solidFill>
                <a:effectLst/>
                <a:latin typeface="Segoe UI Semibold"/>
                <a:ea typeface="Segoe UI Semibold"/>
                <a:cs typeface="Segoe UI Semibold"/>
              </a:rPr>
              <a:t>Foundry</a:t>
            </a:r>
            <a:r>
              <a:rPr lang="es-ES" sz="1400" b="0" i="0" strike="noStrike" cap="none" baseline="0" dirty="0">
                <a:solidFill>
                  <a:srgbClr val="000000"/>
                </a:solidFill>
                <a:effectLst/>
                <a:latin typeface="Segoe UI Semibold"/>
                <a:ea typeface="Segoe UI Semibold"/>
                <a:cs typeface="Segoe UI Semibold"/>
              </a:rPr>
              <a:t> es mejor para uso general al ofrecer la cuota más grande?</a:t>
            </a:r>
          </a:p>
        </p:txBody>
      </p:sp>
      <p:sp>
        <p:nvSpPr>
          <p:cNvPr id="19" name="Text Placeholder 18">
            <a:extLst>
              <a:ext uri="{FF2B5EF4-FFF2-40B4-BE49-F238E27FC236}">
                <a16:creationId xmlns:a16="http://schemas.microsoft.com/office/drawing/2014/main" id="{B8889AE5-041E-9440-C85A-62FCAEB88CD2}"/>
              </a:ext>
            </a:extLst>
          </p:cNvPr>
          <p:cNvSpPr>
            <a:spLocks noGrp="1"/>
          </p:cNvSpPr>
          <p:nvPr>
            <p:ph type="body" sz="quarter" idx="23"/>
          </p:nvPr>
        </p:nvSpPr>
        <p:spPr>
          <a:xfrm>
            <a:off x="1235074" y="3420839"/>
            <a:ext cx="8775098" cy="725424"/>
          </a:xfrm>
        </p:spPr>
        <p:txBody>
          <a:bodyPr/>
          <a:lstStyle/>
          <a:p>
            <a:r>
              <a:rPr lang="es-ES" sz="1400" b="0" i="0" strike="noStrike" cap="none" baseline="0">
                <a:solidFill>
                  <a:srgbClr val="000000"/>
                </a:solidFill>
                <a:effectLst/>
                <a:latin typeface="Segoe UI"/>
                <a:ea typeface="Segoe UI"/>
                <a:cs typeface="Segoe UI"/>
              </a:rPr>
              <a:t>Zona de datos para Batch</a:t>
            </a:r>
          </a:p>
          <a:p>
            <a:r>
              <a:rPr lang="es-ES" sz="1400" b="0" i="0" strike="noStrike" cap="none" baseline="0">
                <a:solidFill>
                  <a:srgbClr val="000000"/>
                </a:solidFill>
                <a:effectLst/>
                <a:latin typeface="Segoe UI"/>
                <a:ea typeface="Segoe UI"/>
                <a:cs typeface="Segoe UI"/>
              </a:rPr>
              <a:t>Estándar global</a:t>
            </a:r>
          </a:p>
          <a:p>
            <a:r>
              <a:rPr lang="es-ES" sz="1400" b="0" i="0" strike="noStrike" cap="none" baseline="0">
                <a:solidFill>
                  <a:srgbClr val="000000"/>
                </a:solidFill>
                <a:effectLst/>
                <a:latin typeface="Segoe UI"/>
                <a:ea typeface="Segoe UI"/>
                <a:cs typeface="Segoe UI"/>
              </a:rPr>
              <a:t>Developer</a:t>
            </a:r>
          </a:p>
        </p:txBody>
      </p:sp>
      <p:sp>
        <p:nvSpPr>
          <p:cNvPr id="76" name="Oval 75">
            <a:extLst>
              <a:ext uri="{FF2B5EF4-FFF2-40B4-BE49-F238E27FC236}">
                <a16:creationId xmlns:a16="http://schemas.microsoft.com/office/drawing/2014/main" id="{07F1BA9A-CC31-3253-B6E7-A2D3530AF758}"/>
              </a:ext>
              <a:ext uri="{C183D7F6-B498-43B3-948B-1728B52AA6E4}">
                <adec:decorative xmlns:adec="http://schemas.microsoft.com/office/drawing/2017/decorative" val="1"/>
              </a:ext>
            </a:extLst>
          </p:cNvPr>
          <p:cNvSpPr/>
          <p:nvPr/>
        </p:nvSpPr>
        <p:spPr bwMode="auto">
          <a:xfrm>
            <a:off x="722582" y="17234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7C86F1EF-EB93-1615-D825-F2A6A9CEF900}"/>
              </a:ext>
              <a:ext uri="{C183D7F6-B498-43B3-948B-1728B52AA6E4}">
                <adec:decorative xmlns:adec="http://schemas.microsoft.com/office/drawing/2017/decorative" val="1"/>
              </a:ext>
            </a:extLst>
          </p:cNvPr>
          <p:cNvSpPr/>
          <p:nvPr/>
        </p:nvSpPr>
        <p:spPr bwMode="auto">
          <a:xfrm>
            <a:off x="722582" y="30896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C6847B20-2286-9441-A1D7-368DFE26DCB4}"/>
              </a:ext>
              <a:ext uri="{C183D7F6-B498-43B3-948B-1728B52AA6E4}">
                <adec:decorative xmlns:adec="http://schemas.microsoft.com/office/drawing/2017/decorative" val="1"/>
              </a:ext>
            </a:extLst>
          </p:cNvPr>
          <p:cNvSpPr/>
          <p:nvPr/>
        </p:nvSpPr>
        <p:spPr>
          <a:xfrm>
            <a:off x="1263852" y="371958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B2E4288B-435F-52DB-6CDD-4A7E8025C24C}"/>
              </a:ext>
              <a:ext uri="{C183D7F6-B498-43B3-948B-1728B52AA6E4}">
                <adec:decorative xmlns:adec="http://schemas.microsoft.com/office/drawing/2017/decorative" val="1"/>
              </a:ext>
            </a:extLst>
          </p:cNvPr>
          <p:cNvSpPr/>
          <p:nvPr/>
        </p:nvSpPr>
        <p:spPr>
          <a:xfrm>
            <a:off x="1263852" y="275800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6246456-34D6-0AB0-9EC6-AF241348E73C}"/>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Text Placeholder 27">
            <a:extLst>
              <a:ext uri="{FF2B5EF4-FFF2-40B4-BE49-F238E27FC236}">
                <a16:creationId xmlns:a16="http://schemas.microsoft.com/office/drawing/2014/main" id="{EA896F0A-E7F6-63D9-FC73-3BE95AF6DC9A}"/>
              </a:ext>
            </a:extLst>
          </p:cNvPr>
          <p:cNvSpPr>
            <a:spLocks noGrp="1"/>
          </p:cNvSpPr>
          <p:nvPr>
            <p:ph type="body" sz="quarter" idx="20"/>
          </p:nvPr>
        </p:nvSpPr>
        <p:spPr>
          <a:xfrm>
            <a:off x="1235075" y="441876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métrica de evaluación mide la corrección lingüística y la calidad del lenguaje natural?</a:t>
            </a:r>
          </a:p>
        </p:txBody>
      </p:sp>
      <p:sp>
        <p:nvSpPr>
          <p:cNvPr id="6" name="Text Placeholder 28">
            <a:extLst>
              <a:ext uri="{FF2B5EF4-FFF2-40B4-BE49-F238E27FC236}">
                <a16:creationId xmlns:a16="http://schemas.microsoft.com/office/drawing/2014/main" id="{3721EB0F-A5DD-71EA-9E70-1F7462C2C15D}"/>
              </a:ext>
            </a:extLst>
          </p:cNvPr>
          <p:cNvSpPr>
            <a:spLocks noGrp="1"/>
          </p:cNvSpPr>
          <p:nvPr>
            <p:ph type="body" sz="quarter" idx="21"/>
          </p:nvPr>
        </p:nvSpPr>
        <p:spPr>
          <a:xfrm>
            <a:off x="1235075" y="4713285"/>
            <a:ext cx="8775700" cy="725424"/>
          </a:xfrm>
        </p:spPr>
        <p:txBody>
          <a:bodyPr/>
          <a:lstStyle/>
          <a:p>
            <a:r>
              <a:rPr lang="es-ES" sz="1400" b="0" i="0" strike="noStrike" cap="none" baseline="0">
                <a:solidFill>
                  <a:srgbClr val="000000"/>
                </a:solidFill>
                <a:effectLst/>
                <a:latin typeface="Segoe UI"/>
                <a:ea typeface="Segoe UI"/>
                <a:cs typeface="Segoe UI"/>
              </a:rPr>
              <a:t>Fluidez</a:t>
            </a:r>
          </a:p>
          <a:p>
            <a:r>
              <a:rPr lang="es-ES" sz="1400" b="0" i="0" strike="noStrike" cap="none" baseline="0">
                <a:solidFill>
                  <a:srgbClr val="000000"/>
                </a:solidFill>
                <a:effectLst/>
                <a:latin typeface="Segoe UI"/>
                <a:ea typeface="Segoe UI"/>
                <a:cs typeface="Segoe UI"/>
              </a:rPr>
              <a:t>Base</a:t>
            </a:r>
            <a:endParaRPr lang="en-US" sz="1400"/>
          </a:p>
          <a:p>
            <a:r>
              <a:rPr lang="es-ES" sz="1400" b="0" i="0" strike="noStrike" cap="none" baseline="0">
                <a:solidFill>
                  <a:srgbClr val="000000"/>
                </a:solidFill>
                <a:effectLst/>
                <a:latin typeface="Segoe UI"/>
                <a:ea typeface="Segoe UI"/>
                <a:cs typeface="Segoe UI"/>
              </a:rPr>
              <a:t>Relevancia</a:t>
            </a:r>
          </a:p>
        </p:txBody>
      </p:sp>
      <p:sp>
        <p:nvSpPr>
          <p:cNvPr id="7" name="Graphic 26" descr="Checkmark">
            <a:extLst>
              <a:ext uri="{FF2B5EF4-FFF2-40B4-BE49-F238E27FC236}">
                <a16:creationId xmlns:a16="http://schemas.microsoft.com/office/drawing/2014/main" id="{02225CEA-8958-27A0-0B8B-7F7B5B983AA9}"/>
              </a:ext>
            </a:extLst>
          </p:cNvPr>
          <p:cNvSpPr/>
          <p:nvPr/>
        </p:nvSpPr>
        <p:spPr>
          <a:xfrm>
            <a:off x="1263852" y="4764028"/>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1639C985-EE75-9128-3503-96485D99AF9A}"/>
              </a:ext>
              <a:ext uri="{C183D7F6-B498-43B3-948B-1728B52AA6E4}">
                <adec:decorative xmlns:adec="http://schemas.microsoft.com/office/drawing/2017/decorative" val="1"/>
              </a:ext>
            </a:extLst>
          </p:cNvPr>
          <p:cNvSpPr/>
          <p:nvPr/>
        </p:nvSpPr>
        <p:spPr bwMode="auto">
          <a:xfrm>
            <a:off x="722582" y="436215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3337253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DCE98-7A82-D49C-816F-1CE84854D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3749-0527-C55D-E5D7-199CCB4A0E98}"/>
              </a:ext>
            </a:extLst>
          </p:cNvPr>
          <p:cNvSpPr>
            <a:spLocks noGrp="1"/>
          </p:cNvSpPr>
          <p:nvPr>
            <p:ph type="title"/>
          </p:nvPr>
        </p:nvSpPr>
        <p:spPr>
          <a:xfrm>
            <a:off x="569911" y="1561763"/>
            <a:ext cx="6340555" cy="2438400"/>
          </a:xfrm>
        </p:spPr>
        <p:txBody>
          <a:bodyPr/>
          <a:lstStyle/>
          <a:p>
            <a:r>
              <a:rPr lang="es-ES" sz="4000" b="0" i="0" strike="noStrike" cap="none" baseline="0" dirty="0">
                <a:solidFill>
                  <a:srgbClr val="000000"/>
                </a:solidFill>
                <a:effectLst/>
                <a:latin typeface="Segoe UI"/>
                <a:ea typeface="Segoe UI"/>
                <a:cs typeface="Segoe UI"/>
              </a:rPr>
              <a:t>Desarrollo de una aplicación de chat de IA generativa con Microsoft </a:t>
            </a:r>
            <a:r>
              <a:rPr lang="es-ES" sz="4000" b="0" i="0" strike="noStrike" cap="none" baseline="0" dirty="0" err="1">
                <a:solidFill>
                  <a:srgbClr val="000000"/>
                </a:solidFill>
                <a:effectLst/>
                <a:latin typeface="Segoe UI"/>
                <a:ea typeface="Segoe UI"/>
                <a:cs typeface="Segoe UI"/>
              </a:rPr>
              <a:t>Foundry</a:t>
            </a:r>
            <a:endParaRPr lang="es-ES" sz="4000" b="0" i="0" strike="noStrike" cap="none" baseline="0" dirty="0">
              <a:solidFill>
                <a:srgbClr val="000000"/>
              </a:solidFill>
              <a:effectLst/>
              <a:latin typeface="Segoe UI"/>
              <a:ea typeface="Segoe UI"/>
              <a:cs typeface="Segoe UI"/>
            </a:endParaRPr>
          </a:p>
        </p:txBody>
      </p:sp>
      <p:sp>
        <p:nvSpPr>
          <p:cNvPr id="4" name="TextBox 3">
            <a:extLst>
              <a:ext uri="{FF2B5EF4-FFF2-40B4-BE49-F238E27FC236}">
                <a16:creationId xmlns:a16="http://schemas.microsoft.com/office/drawing/2014/main" id="{5F3695D7-5F8A-3684-71FA-756306F42824}"/>
              </a:ext>
            </a:extLst>
          </p:cNvPr>
          <p:cNvSpPr txBox="1"/>
          <p:nvPr/>
        </p:nvSpPr>
        <p:spPr>
          <a:xfrm>
            <a:off x="478471" y="4000163"/>
            <a:ext cx="4596449" cy="360426"/>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https://aka.ms/mslearn-develop-chat</a:t>
            </a:r>
          </a:p>
        </p:txBody>
      </p:sp>
    </p:spTree>
    <p:extLst>
      <p:ext uri="{BB962C8B-B14F-4D97-AF65-F5344CB8AC3E}">
        <p14:creationId xmlns:p14="http://schemas.microsoft.com/office/powerpoint/2010/main" val="378526495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3D0D4-7875-B44E-A5A0-E22AEF6A6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656F8-3D22-A0BA-7FB9-FBC96F3D495A}"/>
              </a:ext>
            </a:extLst>
          </p:cNvPr>
          <p:cNvSpPr>
            <a:spLocks noGrp="1"/>
          </p:cNvSpPr>
          <p:nvPr>
            <p:ph type="title"/>
          </p:nvPr>
        </p:nvSpPr>
        <p:spPr>
          <a:xfrm>
            <a:off x="588262" y="585216"/>
            <a:ext cx="10149588" cy="975360"/>
          </a:xfrm>
        </p:spPr>
        <p:txBody>
          <a:bodyPr/>
          <a:lstStyle/>
          <a:p>
            <a:r>
              <a:rPr lang="es-ES" sz="3200" b="0" i="0" strike="noStrike" cap="none" baseline="0" dirty="0">
                <a:solidFill>
                  <a:srgbClr val="000000"/>
                </a:solidFill>
                <a:effectLst/>
                <a:latin typeface="Segoe UI Semibold"/>
                <a:ea typeface="Segoe UI Semibold"/>
                <a:cs typeface="Segoe UI Semibold"/>
              </a:rPr>
              <a:t>Explorar con el servicio de prueba de modelos</a:t>
            </a:r>
          </a:p>
        </p:txBody>
      </p:sp>
      <p:sp>
        <p:nvSpPr>
          <p:cNvPr id="26" name="Text Placeholder 44">
            <a:extLst>
              <a:ext uri="{FF2B5EF4-FFF2-40B4-BE49-F238E27FC236}">
                <a16:creationId xmlns:a16="http://schemas.microsoft.com/office/drawing/2014/main" id="{A0A056A4-6620-FC01-2F25-ED3ADAA6007B}"/>
              </a:ext>
            </a:extLst>
          </p:cNvPr>
          <p:cNvSpPr txBox="1"/>
          <p:nvPr/>
        </p:nvSpPr>
        <p:spPr>
          <a:xfrm>
            <a:off x="638440" y="1471541"/>
            <a:ext cx="4278086" cy="3914918"/>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Font typeface="Arial" panose="020B0604020202020204" pitchFamily="34" charset="0"/>
              <a:buNone/>
              <a:defRPr/>
            </a:pPr>
            <a:r>
              <a:rPr lang="es-ES" sz="2000" b="0" i="0" strike="noStrike" cap="none" baseline="0" dirty="0">
                <a:solidFill>
                  <a:srgbClr val="000000"/>
                </a:solidFill>
                <a:effectLst/>
                <a:latin typeface="Segoe UI Semibold"/>
                <a:ea typeface="Segoe UI Semibold"/>
                <a:cs typeface="Segoe UI Semibold"/>
              </a:rPr>
              <a:t>Pruebas de modelo interactivas </a:t>
            </a:r>
          </a:p>
          <a:p>
            <a:r>
              <a:rPr lang="es-ES" sz="1600" b="0" i="0" strike="noStrike" cap="none" baseline="0" dirty="0">
                <a:solidFill>
                  <a:srgbClr val="000000"/>
                </a:solidFill>
                <a:effectLst/>
                <a:latin typeface="Segoe UI"/>
                <a:ea typeface="Segoe UI"/>
                <a:cs typeface="Segoe UI"/>
              </a:rPr>
              <a:t>Envío de mensajes a modelos implementados y visualización de respuestas en tiempo real</a:t>
            </a:r>
          </a:p>
          <a:p>
            <a:r>
              <a:rPr lang="es-ES" sz="1600" b="0" i="0" strike="noStrike" cap="none" baseline="0" dirty="0">
                <a:solidFill>
                  <a:srgbClr val="000000"/>
                </a:solidFill>
                <a:effectLst/>
                <a:latin typeface="Segoe UI"/>
                <a:ea typeface="Segoe UI"/>
                <a:cs typeface="Segoe UI"/>
              </a:rPr>
              <a:t>Ajuste de la configuración, como la temperatura y el número máximo de tokens</a:t>
            </a:r>
          </a:p>
          <a:p>
            <a:r>
              <a:rPr lang="es-ES" sz="1600" b="0" i="0" strike="noStrike" cap="none" baseline="0" dirty="0">
                <a:solidFill>
                  <a:srgbClr val="000000"/>
                </a:solidFill>
                <a:effectLst/>
                <a:latin typeface="Segoe UI"/>
                <a:ea typeface="Segoe UI"/>
                <a:cs typeface="Segoe UI"/>
              </a:rPr>
              <a:t>Adición de mensajes del sistema para personalizar el comportamiento del modelo</a:t>
            </a:r>
          </a:p>
          <a:p>
            <a:r>
              <a:rPr lang="es-ES" sz="1600" b="0" i="0" strike="noStrike" cap="none" baseline="0" dirty="0">
                <a:solidFill>
                  <a:srgbClr val="000000"/>
                </a:solidFill>
                <a:effectLst/>
                <a:latin typeface="Segoe UI"/>
                <a:ea typeface="Segoe UI"/>
                <a:cs typeface="Segoe UI"/>
              </a:rPr>
              <a:t>Experimentación con diferentes modelos</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y configuraciones</a:t>
            </a:r>
          </a:p>
          <a:p>
            <a:pPr marL="0" marR="0" lvl="0" indent="0" algn="l" defTabSz="932742" rtl="0" eaLnBrk="1" fontAlgn="auto" latinLnBrk="0" hangingPunct="1">
              <a:lnSpc>
                <a:spcPct val="100000"/>
              </a:lnSpc>
              <a:spcBef>
                <a:spcPct val="20000"/>
              </a:spcBef>
              <a:spcAft>
                <a:spcPct val="0"/>
              </a:spcAft>
              <a:buClrTx/>
              <a:buSzPct val="90000"/>
              <a:buFont typeface="Arial" panose="020B0604020202020204" pitchFamily="34" charset="0"/>
              <a:buNone/>
              <a:defRPr/>
            </a:pPr>
            <a:r>
              <a:rPr lang="es-ES" sz="2000" b="0" i="0" strike="noStrike" cap="none" baseline="0" dirty="0">
                <a:solidFill>
                  <a:srgbClr val="000000"/>
                </a:solidFill>
                <a:effectLst/>
                <a:latin typeface="Segoe UI Semibold"/>
                <a:ea typeface="Segoe UI Semibold"/>
                <a:cs typeface="Segoe UI Semibold"/>
              </a:rPr>
              <a:t>Código de ejemplo</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Ver ejemplos de código basados en:</a:t>
            </a:r>
          </a:p>
          <a:p>
            <a:pPr lvl="2" indent="-128016">
              <a:defRPr/>
            </a:pPr>
            <a:r>
              <a:rPr lang="es-ES" sz="1400" b="0" i="0" strike="noStrike" cap="none" baseline="0" dirty="0">
                <a:solidFill>
                  <a:srgbClr val="000000"/>
                </a:solidFill>
                <a:effectLst/>
                <a:latin typeface="Segoe UI"/>
                <a:ea typeface="Segoe UI"/>
                <a:cs typeface="Segoe UI"/>
              </a:rPr>
              <a:t>API (</a:t>
            </a:r>
            <a:r>
              <a:rPr lang="es-ES" sz="1400" b="0" i="1" strike="noStrike" cap="none" baseline="0" dirty="0" err="1">
                <a:solidFill>
                  <a:srgbClr val="000000"/>
                </a:solidFill>
                <a:effectLst/>
                <a:latin typeface="Segoe UI"/>
                <a:ea typeface="Segoe UI"/>
                <a:cs typeface="Segoe UI"/>
              </a:rPr>
              <a:t>ChatCompletions</a:t>
            </a:r>
            <a:r>
              <a:rPr lang="es-ES" sz="1400" b="0" i="0" strike="noStrike" cap="none" baseline="0" dirty="0">
                <a:solidFill>
                  <a:srgbClr val="000000"/>
                </a:solidFill>
                <a:effectLst/>
                <a:latin typeface="Segoe UI"/>
                <a:ea typeface="Segoe UI"/>
                <a:cs typeface="Segoe UI"/>
              </a:rPr>
              <a:t> o </a:t>
            </a:r>
            <a:r>
              <a:rPr lang="es-ES" sz="1400" b="0" i="1" strike="noStrike" cap="none" baseline="0" dirty="0">
                <a:solidFill>
                  <a:srgbClr val="000000"/>
                </a:solidFill>
                <a:effectLst/>
                <a:latin typeface="Segoe UI"/>
                <a:ea typeface="Segoe UI"/>
                <a:cs typeface="Segoe UI"/>
              </a:rPr>
              <a:t>Respuestas</a:t>
            </a:r>
            <a:r>
              <a:rPr lang="es-ES" sz="1400" b="0" i="0" strike="noStrike" cap="none" baseline="0" dirty="0">
                <a:solidFill>
                  <a:srgbClr val="000000"/>
                </a:solidFill>
                <a:effectLst/>
                <a:latin typeface="Segoe UI"/>
                <a:ea typeface="Segoe UI"/>
                <a:cs typeface="Segoe UI"/>
              </a:rPr>
              <a:t>)</a:t>
            </a:r>
          </a:p>
          <a:p>
            <a:pPr lvl="2" indent="-128016">
              <a:defRPr/>
            </a:pPr>
            <a:r>
              <a:rPr lang="es-ES" sz="1400" b="0" i="0" strike="noStrike" cap="none" baseline="0" dirty="0">
                <a:solidFill>
                  <a:srgbClr val="000000"/>
                </a:solidFill>
                <a:effectLst/>
                <a:latin typeface="Segoe UI"/>
                <a:ea typeface="Segoe UI"/>
                <a:cs typeface="Segoe UI"/>
              </a:rPr>
              <a:t>Lenguaje de programación</a:t>
            </a:r>
          </a:p>
          <a:p>
            <a:pPr lvl="2" indent="-128016">
              <a:defRPr/>
            </a:pPr>
            <a:r>
              <a:rPr lang="es-ES" sz="1400" b="0" i="0" strike="noStrike" cap="none" baseline="0" dirty="0">
                <a:solidFill>
                  <a:srgbClr val="000000"/>
                </a:solidFill>
                <a:effectLst/>
                <a:latin typeface="Segoe UI"/>
                <a:ea typeface="Segoe UI"/>
                <a:cs typeface="Segoe UI"/>
              </a:rPr>
              <a:t>REST o SDK</a:t>
            </a:r>
          </a:p>
        </p:txBody>
      </p:sp>
      <p:pic>
        <p:nvPicPr>
          <p:cNvPr id="3" name="Picture 2">
            <a:extLst>
              <a:ext uri="{FF2B5EF4-FFF2-40B4-BE49-F238E27FC236}">
                <a16:creationId xmlns:a16="http://schemas.microsoft.com/office/drawing/2014/main" id="{F325C67C-D509-9FD7-FB98-09C8E24F866E}"/>
              </a:ext>
            </a:extLst>
          </p:cNvPr>
          <p:cNvPicPr>
            <a:picLocks noChangeAspect="1"/>
          </p:cNvPicPr>
          <p:nvPr/>
        </p:nvPicPr>
        <p:blipFill>
          <a:blip r:embed="rId3"/>
          <a:srcRect/>
          <a:stretch/>
        </p:blipFill>
        <p:spPr>
          <a:xfrm>
            <a:off x="5188857" y="1355084"/>
            <a:ext cx="6792685" cy="4610834"/>
          </a:xfrm>
          <a:prstGeom prst="rect">
            <a:avLst/>
          </a:prstGeom>
        </p:spPr>
      </p:pic>
    </p:spTree>
    <p:extLst>
      <p:ext uri="{BB962C8B-B14F-4D97-AF65-F5344CB8AC3E}">
        <p14:creationId xmlns:p14="http://schemas.microsoft.com/office/powerpoint/2010/main" val="296982153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12A5-7FED-D8A6-BA2B-27A2A4E02CAF}"/>
              </a:ext>
            </a:extLst>
          </p:cNvPr>
          <p:cNvSpPr>
            <a:spLocks noGrp="1"/>
          </p:cNvSpPr>
          <p:nvPr>
            <p:ph type="title"/>
          </p:nvPr>
        </p:nvSpPr>
        <p:spPr>
          <a:xfrm>
            <a:off x="588262" y="585216"/>
            <a:ext cx="8193024" cy="975360"/>
          </a:xfrm>
        </p:spPr>
        <p:txBody>
          <a:bodyPr/>
          <a:lstStyle/>
          <a:p>
            <a:r>
              <a:rPr lang="es-ES" sz="3200" b="1" i="0" strike="noStrike" cap="none" baseline="0">
                <a:solidFill>
                  <a:srgbClr val="000000"/>
                </a:solidFill>
                <a:effectLst/>
                <a:latin typeface="Segoe UI Semibold"/>
                <a:ea typeface="Segoe UI Semibold"/>
                <a:cs typeface="Segoe UI Semibold"/>
              </a:rPr>
              <a:t>Elección de un punto de conexión y un SDK</a:t>
            </a:r>
            <a:endParaRPr lang="en-US" sz="3200"/>
          </a:p>
        </p:txBody>
      </p:sp>
      <p:sp>
        <p:nvSpPr>
          <p:cNvPr id="3" name="Footer Placeholder 2">
            <a:extLst>
              <a:ext uri="{FF2B5EF4-FFF2-40B4-BE49-F238E27FC236}">
                <a16:creationId xmlns:a16="http://schemas.microsoft.com/office/drawing/2014/main" id="{3D98A50C-9CB6-6FBC-C44C-0FE44FDEED81}"/>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aphicFrame>
        <p:nvGraphicFramePr>
          <p:cNvPr id="4" name="Table 3">
            <a:extLst>
              <a:ext uri="{FF2B5EF4-FFF2-40B4-BE49-F238E27FC236}">
                <a16:creationId xmlns:a16="http://schemas.microsoft.com/office/drawing/2014/main" id="{E0ADD8CB-F483-E0FF-F0F9-F6BF8D12E589}"/>
              </a:ext>
            </a:extLst>
          </p:cNvPr>
          <p:cNvGraphicFramePr>
            <a:graphicFrameLocks noGrp="1"/>
          </p:cNvGraphicFramePr>
          <p:nvPr>
            <p:extLst>
              <p:ext uri="{D42A27DB-BD31-4B8C-83A1-F6EECF244321}">
                <p14:modId xmlns:p14="http://schemas.microsoft.com/office/powerpoint/2010/main" val="3828374968"/>
              </p:ext>
            </p:extLst>
          </p:nvPr>
        </p:nvGraphicFramePr>
        <p:xfrm>
          <a:off x="588262" y="1243584"/>
          <a:ext cx="10917939" cy="5044440"/>
        </p:xfrm>
        <a:graphic>
          <a:graphicData uri="http://schemas.openxmlformats.org/drawingml/2006/table">
            <a:tbl>
              <a:tblPr bandRow="1">
                <a:tableStyleId>{72833802-FEF1-4C79-8D5D-14CF1EAF98D9}</a:tableStyleId>
              </a:tblPr>
              <a:tblGrid>
                <a:gridCol w="1926338">
                  <a:extLst>
                    <a:ext uri="{9D8B030D-6E8A-4147-A177-3AD203B41FA5}">
                      <a16:colId xmlns:a16="http://schemas.microsoft.com/office/drawing/2014/main" val="1040516807"/>
                    </a:ext>
                  </a:extLst>
                </a:gridCol>
                <a:gridCol w="4419600">
                  <a:extLst>
                    <a:ext uri="{9D8B030D-6E8A-4147-A177-3AD203B41FA5}">
                      <a16:colId xmlns:a16="http://schemas.microsoft.com/office/drawing/2014/main" val="4227747407"/>
                    </a:ext>
                  </a:extLst>
                </a:gridCol>
                <a:gridCol w="4572001">
                  <a:extLst>
                    <a:ext uri="{9D8B030D-6E8A-4147-A177-3AD203B41FA5}">
                      <a16:colId xmlns:a16="http://schemas.microsoft.com/office/drawing/2014/main" val="2205135941"/>
                    </a:ext>
                  </a:extLst>
                </a:gridCol>
              </a:tblGrid>
              <a:tr h="370840">
                <a:tc>
                  <a:txBody>
                    <a:bodyPr/>
                    <a:lstStyle/>
                    <a:p>
                      <a:r>
                        <a:rPr lang="es-ES" sz="1800" b="1" i="0" strike="noStrike" cap="none" baseline="0">
                          <a:solidFill>
                            <a:srgbClr val="000000"/>
                          </a:solidFill>
                          <a:effectLst/>
                          <a:latin typeface="Segoe UI"/>
                          <a:ea typeface="Segoe UI"/>
                          <a:cs typeface="Segoe UI"/>
                        </a:rPr>
                        <a:t>Punto de conexión</a:t>
                      </a:r>
                      <a:endParaRPr lang="en-US" b="1">
                        <a:latin typeface="+mj-lt"/>
                      </a:endParaRPr>
                    </a:p>
                  </a:txBody>
                  <a:tcPr/>
                </a:tc>
                <a:tc>
                  <a:txBody>
                    <a:bodyPr/>
                    <a:lstStyle/>
                    <a:p>
                      <a:r>
                        <a:rPr lang="es-ES" sz="1800" b="0" i="0" strike="noStrike" cap="none" baseline="0">
                          <a:solidFill>
                            <a:srgbClr val="000000"/>
                          </a:solidFill>
                          <a:effectLst/>
                          <a:latin typeface="Segoe UI"/>
                          <a:ea typeface="Segoe UI"/>
                          <a:cs typeface="Segoe UI"/>
                        </a:rPr>
                        <a:t>Proyecto de Foundry</a:t>
                      </a:r>
                    </a:p>
                    <a:p>
                      <a:r>
                        <a:rPr lang="es-ES" sz="1000" b="0" i="0" strike="noStrike" cap="none" baseline="0">
                          <a:solidFill>
                            <a:srgbClr val="000000"/>
                          </a:solidFill>
                          <a:effectLst/>
                          <a:latin typeface="Segoe UI"/>
                          <a:ea typeface="Segoe UI"/>
                          <a:cs typeface="Segoe UI"/>
                        </a:rPr>
                        <a:t>https://{resource-name}.services.ai.azure.com/api/projects/{project-name}</a:t>
                      </a:r>
                      <a:endParaRPr lang="en-US" sz="2000"/>
                    </a:p>
                  </a:txBody>
                  <a:tcPr/>
                </a:tc>
                <a:tc>
                  <a:txBody>
                    <a:bodyPr/>
                    <a:lstStyle/>
                    <a:p>
                      <a:r>
                        <a:rPr lang="es-ES" sz="1800" b="0" i="0" strike="noStrike" cap="none" baseline="0">
                          <a:solidFill>
                            <a:srgbClr val="000000"/>
                          </a:solidFill>
                          <a:effectLst/>
                          <a:latin typeface="Segoe UI"/>
                          <a:ea typeface="Segoe UI"/>
                          <a:cs typeface="Segoe UI"/>
                        </a:rPr>
                        <a:t>Azure OpenAI</a:t>
                      </a:r>
                    </a:p>
                    <a:p>
                      <a:pPr marL="0" algn="l" defTabSz="932742" rtl="0" eaLnBrk="1" latinLnBrk="0" hangingPunct="1"/>
                      <a:r>
                        <a:rPr lang="es-ES" sz="1000" b="0" i="0" strike="noStrike" cap="none" baseline="0">
                          <a:solidFill>
                            <a:srgbClr val="000000"/>
                          </a:solidFill>
                          <a:effectLst/>
                          <a:latin typeface="Segoe UI"/>
                          <a:ea typeface="Segoe UI"/>
                          <a:cs typeface="Segoe UI"/>
                        </a:rPr>
                        <a:t>https://{resource-name}.openai.azure.com/openai/v1</a:t>
                      </a:r>
                      <a:endParaRPr kumimoji="0" lang="en-US" sz="1000" b="0" i="0" u="none" strike="noStrike" kern="1200" cap="none" spc="0" normalizeH="0" baseline="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413255101"/>
                  </a:ext>
                </a:extLst>
              </a:tr>
              <a:tr h="370840">
                <a:tc>
                  <a:txBody>
                    <a:bodyPr/>
                    <a:lstStyle/>
                    <a:p>
                      <a:r>
                        <a:rPr lang="es-ES" sz="1800" b="1" i="0" strike="noStrike" cap="none" baseline="0">
                          <a:solidFill>
                            <a:srgbClr val="000000"/>
                          </a:solidFill>
                          <a:effectLst/>
                          <a:latin typeface="Segoe UI"/>
                          <a:ea typeface="Segoe UI"/>
                          <a:cs typeface="Segoe UI"/>
                        </a:rPr>
                        <a:t>SDK</a:t>
                      </a:r>
                      <a:endParaRPr lang="en-US" b="1">
                        <a:latin typeface="+mj-lt"/>
                      </a:endParaRPr>
                    </a:p>
                  </a:txBody>
                  <a:tcPr/>
                </a:tc>
                <a:tc>
                  <a:txBody>
                    <a:bodyPr/>
                    <a:lstStyle/>
                    <a:p>
                      <a:r>
                        <a:rPr lang="es-ES" sz="1800" b="0" i="0" strike="noStrike" cap="none" baseline="0">
                          <a:solidFill>
                            <a:srgbClr val="000000"/>
                          </a:solidFill>
                          <a:effectLst/>
                          <a:latin typeface="Segoe UI"/>
                          <a:ea typeface="Segoe UI"/>
                          <a:cs typeface="Segoe UI"/>
                        </a:rPr>
                        <a:t>SDK de Microsoft Foundry</a:t>
                      </a:r>
                    </a:p>
                    <a:p>
                      <a:pPr marL="0" algn="l" defTabSz="932742" rtl="0" eaLnBrk="1" latinLnBrk="0" hangingPunct="1"/>
                      <a:r>
                        <a:rPr lang="es-ES" sz="1000" b="0" i="0" strike="noStrike" cap="none" baseline="0">
                          <a:solidFill>
                            <a:srgbClr val="000000"/>
                          </a:solidFill>
                          <a:effectLst/>
                          <a:latin typeface="Segoe UI"/>
                          <a:ea typeface="Segoe UI"/>
                          <a:cs typeface="Segoe UI"/>
                        </a:rPr>
                        <a:t>pip install azure-ai-projects openai</a:t>
                      </a:r>
                      <a:endParaRPr kumimoji="0" lang="en-US" sz="1000" b="0" i="0" u="none" strike="noStrike" kern="1200" cap="none" spc="0" normalizeH="0" baseline="0">
                        <a:ln>
                          <a:noFill/>
                        </a:ln>
                        <a:solidFill>
                          <a:srgbClr val="000000"/>
                        </a:solidFill>
                        <a:effectLst/>
                        <a:uLnTx/>
                        <a:uFillTx/>
                        <a:latin typeface="+mn-lt"/>
                        <a:ea typeface="+mn-ea"/>
                        <a:cs typeface="+mn-cs"/>
                      </a:endParaRPr>
                    </a:p>
                  </a:txBody>
                  <a:tcPr/>
                </a:tc>
                <a:tc>
                  <a:txBody>
                    <a:bodyPr/>
                    <a:lstStyle/>
                    <a:p>
                      <a:r>
                        <a:rPr lang="es-ES" sz="1800" b="0" i="0" strike="noStrike" cap="none" baseline="0">
                          <a:solidFill>
                            <a:srgbClr val="000000"/>
                          </a:solidFill>
                          <a:effectLst/>
                          <a:latin typeface="Segoe UI"/>
                          <a:ea typeface="Segoe UI"/>
                          <a:cs typeface="Segoe UI"/>
                        </a:rPr>
                        <a:t>SDK de OpenAI</a:t>
                      </a:r>
                    </a:p>
                    <a:p>
                      <a:r>
                        <a:rPr lang="es-ES" sz="1000" b="0" i="0" strike="noStrike" cap="none" baseline="0">
                          <a:solidFill>
                            <a:srgbClr val="000000"/>
                          </a:solidFill>
                          <a:effectLst/>
                          <a:latin typeface="Segoe UI"/>
                          <a:ea typeface="Segoe UI"/>
                          <a:cs typeface="Segoe UI"/>
                        </a:rPr>
                        <a:t>pip install openai</a:t>
                      </a:r>
                      <a:endParaRPr lang="en-US" sz="2000"/>
                    </a:p>
                  </a:txBody>
                  <a:tcPr/>
                </a:tc>
                <a:extLst>
                  <a:ext uri="{0D108BD9-81ED-4DB2-BD59-A6C34878D82A}">
                    <a16:rowId xmlns:a16="http://schemas.microsoft.com/office/drawing/2014/main" val="1661460355"/>
                  </a:ext>
                </a:extLst>
              </a:tr>
              <a:tr h="370840">
                <a:tc>
                  <a:txBody>
                    <a:bodyPr/>
                    <a:lstStyle/>
                    <a:p>
                      <a:r>
                        <a:rPr lang="es-ES" sz="1800" b="1" i="0" strike="noStrike" cap="none" baseline="0">
                          <a:solidFill>
                            <a:srgbClr val="000000"/>
                          </a:solidFill>
                          <a:effectLst/>
                          <a:latin typeface="Segoe UI"/>
                          <a:ea typeface="Segoe UI"/>
                          <a:cs typeface="Segoe UI"/>
                        </a:rPr>
                        <a:t>Autenticación</a:t>
                      </a:r>
                      <a:endParaRPr lang="en-US" b="1">
                        <a:latin typeface="+mj-lt"/>
                      </a:endParaRPr>
                    </a:p>
                  </a:txBody>
                  <a:tcPr/>
                </a:tc>
                <a:tc>
                  <a:txBody>
                    <a:bodyPr/>
                    <a:lstStyle/>
                    <a:p>
                      <a:r>
                        <a:rPr lang="es-ES" sz="1800" b="0" i="0" strike="noStrike" cap="none" baseline="0">
                          <a:solidFill>
                            <a:srgbClr val="000000"/>
                          </a:solidFill>
                          <a:effectLst/>
                          <a:latin typeface="Segoe UI"/>
                          <a:ea typeface="Segoe UI"/>
                          <a:cs typeface="Segoe UI"/>
                        </a:rPr>
                        <a:t>Microsoft Entra ID</a:t>
                      </a:r>
                    </a:p>
                    <a:p>
                      <a:r>
                        <a:rPr lang="es-ES" sz="1000" b="0" i="0" strike="noStrike" cap="none" baseline="0">
                          <a:solidFill>
                            <a:srgbClr val="000000"/>
                          </a:solidFill>
                          <a:effectLst/>
                          <a:latin typeface="Segoe UI"/>
                          <a:ea typeface="Segoe UI"/>
                          <a:cs typeface="Segoe UI"/>
                        </a:rPr>
                        <a:t>pip install azure-identity</a:t>
                      </a:r>
                      <a:endParaRPr lang="en-US" sz="2000"/>
                    </a:p>
                  </a:txBody>
                  <a:tcPr/>
                </a:tc>
                <a:tc>
                  <a:txBody>
                    <a:bodyPr/>
                    <a:lstStyle/>
                    <a:p>
                      <a:r>
                        <a:rPr lang="es-ES" sz="1800" b="0" i="0" strike="noStrike" cap="none" baseline="0">
                          <a:solidFill>
                            <a:srgbClr val="000000"/>
                          </a:solidFill>
                          <a:effectLst/>
                          <a:latin typeface="Segoe UI"/>
                          <a:ea typeface="Segoe UI"/>
                          <a:cs typeface="Segoe UI"/>
                        </a:rPr>
                        <a:t>Microsoft Entra ID o clave de API</a:t>
                      </a:r>
                    </a:p>
                    <a:p>
                      <a:r>
                        <a:rPr lang="es-ES" sz="1000" b="0" i="0" strike="noStrike" cap="none" baseline="0">
                          <a:solidFill>
                            <a:srgbClr val="000000"/>
                          </a:solidFill>
                          <a:effectLst/>
                          <a:latin typeface="Segoe UI"/>
                          <a:ea typeface="Segoe UI"/>
                          <a:cs typeface="Segoe UI"/>
                        </a:rPr>
                        <a:t>pip install azure-identity</a:t>
                      </a:r>
                      <a:endParaRPr lang="en-US" sz="2000"/>
                    </a:p>
                  </a:txBody>
                  <a:tcPr/>
                </a:tc>
                <a:extLst>
                  <a:ext uri="{0D108BD9-81ED-4DB2-BD59-A6C34878D82A}">
                    <a16:rowId xmlns:a16="http://schemas.microsoft.com/office/drawing/2014/main" val="811091953"/>
                  </a:ext>
                </a:extLst>
              </a:tr>
              <a:tr h="370840">
                <a:tc>
                  <a:txBody>
                    <a:bodyPr/>
                    <a:lstStyle/>
                    <a:p>
                      <a:r>
                        <a:rPr lang="es-ES" sz="1800" b="1" i="0" strike="noStrike" cap="none" baseline="0">
                          <a:solidFill>
                            <a:srgbClr val="000000"/>
                          </a:solidFill>
                          <a:effectLst/>
                          <a:latin typeface="Segoe UI"/>
                          <a:ea typeface="Segoe UI"/>
                          <a:cs typeface="Segoe UI"/>
                        </a:rPr>
                        <a:t>API de chat</a:t>
                      </a:r>
                      <a:endParaRPr lang="en-US" b="1">
                        <a:latin typeface="+mj-lt"/>
                      </a:endParaRPr>
                    </a:p>
                  </a:txBody>
                  <a:tcPr/>
                </a:tc>
                <a:tc>
                  <a:txBody>
                    <a:bodyPr/>
                    <a:lstStyle/>
                    <a:p>
                      <a:r>
                        <a:rPr lang="es-ES" sz="1800" b="0" i="0" strike="noStrike" cap="none" baseline="0">
                          <a:solidFill>
                            <a:srgbClr val="000000"/>
                          </a:solidFill>
                          <a:effectLst/>
                          <a:latin typeface="Segoe UI"/>
                          <a:ea typeface="Segoe UI"/>
                          <a:cs typeface="Segoe UI"/>
                        </a:rPr>
                        <a:t>API de respuestas</a:t>
                      </a:r>
                    </a:p>
                    <a:p>
                      <a:pPr marL="0" algn="l" defTabSz="932742" rtl="0" eaLnBrk="1" latinLnBrk="0" hangingPunct="1"/>
                      <a:r>
                        <a:rPr lang="es-ES" sz="900" b="0" i="0" strike="noStrike" cap="none" baseline="0">
                          <a:solidFill>
                            <a:srgbClr val="000000"/>
                          </a:solidFill>
                          <a:effectLst/>
                          <a:latin typeface="Segoe UI"/>
                          <a:ea typeface="Segoe UI"/>
                          <a:cs typeface="Segoe UI"/>
                        </a:rPr>
                        <a:t>Solo modelos directos de Foundry</a:t>
                      </a:r>
                      <a:endParaRPr kumimoji="0" lang="en-US" sz="900" b="0" i="0" u="none" strike="noStrike" kern="1200" cap="none" spc="0" normalizeH="0" baseline="0">
                        <a:ln>
                          <a:noFill/>
                        </a:ln>
                        <a:solidFill>
                          <a:srgbClr val="000000"/>
                        </a:solidFill>
                        <a:effectLst/>
                        <a:uLnTx/>
                        <a:uFillTx/>
                        <a:latin typeface="+mn-lt"/>
                        <a:ea typeface="+mn-ea"/>
                        <a:cs typeface="+mn-cs"/>
                      </a:endParaRPr>
                    </a:p>
                  </a:txBody>
                  <a:tcPr/>
                </a:tc>
                <a:tc>
                  <a:txBody>
                    <a:bodyPr/>
                    <a:lstStyle/>
                    <a:p>
                      <a:r>
                        <a:rPr lang="es-ES" sz="1800" b="0" i="0" strike="noStrike" cap="none" baseline="0">
                          <a:solidFill>
                            <a:srgbClr val="000000"/>
                          </a:solidFill>
                          <a:effectLst/>
                          <a:latin typeface="Segoe UI"/>
                          <a:ea typeface="Segoe UI"/>
                          <a:cs typeface="Segoe UI"/>
                        </a:rPr>
                        <a:t>API de respuestas o ChatCompletions</a:t>
                      </a:r>
                    </a:p>
                    <a:p>
                      <a:r>
                        <a:rPr lang="es-ES" sz="1000" b="0" i="0" strike="noStrike" cap="none" baseline="0">
                          <a:solidFill>
                            <a:srgbClr val="000000"/>
                          </a:solidFill>
                          <a:effectLst/>
                          <a:latin typeface="Segoe UI"/>
                          <a:ea typeface="Segoe UI"/>
                          <a:cs typeface="Segoe UI"/>
                        </a:rPr>
                        <a:t>Todos los modelos de Foundry</a:t>
                      </a:r>
                      <a:endParaRPr lang="en-US" i="1"/>
                    </a:p>
                  </a:txBody>
                  <a:tcPr/>
                </a:tc>
                <a:extLst>
                  <a:ext uri="{0D108BD9-81ED-4DB2-BD59-A6C34878D82A}">
                    <a16:rowId xmlns:a16="http://schemas.microsoft.com/office/drawing/2014/main" val="2131162354"/>
                  </a:ext>
                </a:extLst>
              </a:tr>
              <a:tr h="370840">
                <a:tc>
                  <a:txBody>
                    <a:bodyPr/>
                    <a:lstStyle/>
                    <a:p>
                      <a:r>
                        <a:rPr lang="es-ES" sz="1800" b="1" i="0" strike="noStrike" cap="none" baseline="0">
                          <a:solidFill>
                            <a:srgbClr val="000000"/>
                          </a:solidFill>
                          <a:effectLst/>
                          <a:latin typeface="Segoe UI"/>
                          <a:ea typeface="Segoe UI"/>
                          <a:cs typeface="Segoe UI"/>
                        </a:rPr>
                        <a:t>Más adecuado para</a:t>
                      </a:r>
                      <a:endParaRPr lang="en-US" b="1">
                        <a:latin typeface="+mj-lt"/>
                      </a:endParaRPr>
                    </a:p>
                  </a:txBody>
                  <a:tcPr/>
                </a:tc>
                <a:tc>
                  <a:txBody>
                    <a:bodyPr/>
                    <a:lstStyle/>
                    <a:p>
                      <a:pPr marL="0" algn="l" defTabSz="932742" rtl="0" eaLnBrk="1" latinLnBrk="0" hangingPunct="1"/>
                      <a:r>
                        <a:rPr lang="es-ES" sz="1800" b="0" i="0" strike="noStrike" cap="none" baseline="0">
                          <a:solidFill>
                            <a:srgbClr val="000000"/>
                          </a:solidFill>
                          <a:effectLst/>
                          <a:latin typeface="Segoe UI"/>
                          <a:ea typeface="Segoe UI"/>
                          <a:cs typeface="Segoe UI"/>
                        </a:rPr>
                        <a:t>Funcionalidades específicas de Foundry con interfaces compatibles con OpenAI para modelos directos de Foundry</a:t>
                      </a:r>
                      <a:endParaRPr lang="en-US" sz="1800" kern="1200">
                        <a:solidFill>
                          <a:schemeClr val="tx1"/>
                        </a:solidFill>
                        <a:latin typeface="+mn-lt"/>
                        <a:ea typeface="+mn-ea"/>
                        <a:cs typeface="+mn-cs"/>
                      </a:endParaRPr>
                    </a:p>
                  </a:txBody>
                  <a:tcPr/>
                </a:tc>
                <a:tc>
                  <a:txBody>
                    <a:bodyPr/>
                    <a:lstStyle/>
                    <a:p>
                      <a:r>
                        <a:rPr lang="es-ES" sz="1800" b="0" i="0" strike="noStrike" cap="none" baseline="0">
                          <a:solidFill>
                            <a:srgbClr val="000000"/>
                          </a:solidFill>
                          <a:effectLst/>
                          <a:latin typeface="Segoe UI"/>
                          <a:ea typeface="Segoe UI"/>
                          <a:cs typeface="Segoe UI"/>
                        </a:rPr>
                        <a:t>Características y modelos más recientes del SDK de OpenAI con la superficie completa de la API de OpenAI</a:t>
                      </a:r>
                      <a:endParaRPr lang="en-US" i="0"/>
                    </a:p>
                  </a:txBody>
                  <a:tcPr/>
                </a:tc>
                <a:extLst>
                  <a:ext uri="{0D108BD9-81ED-4DB2-BD59-A6C34878D82A}">
                    <a16:rowId xmlns:a16="http://schemas.microsoft.com/office/drawing/2014/main" val="423261746"/>
                  </a:ext>
                </a:extLst>
              </a:tr>
              <a:tr h="370840">
                <a:tc>
                  <a:txBody>
                    <a:bodyPr/>
                    <a:lstStyle/>
                    <a:p>
                      <a:endParaRPr lang="en-US" b="0">
                        <a:latin typeface="+mj-lt"/>
                      </a:endParaRPr>
                    </a:p>
                  </a:txBody>
                  <a:tcPr/>
                </a:tc>
                <a:tc>
                  <a:txBody>
                    <a:bodyPr/>
                    <a:lstStyle/>
                    <a:p>
                      <a:pPr marL="0" algn="l" defTabSz="932742" rtl="0" eaLnBrk="1" latinLnBrk="0" hangingPunct="1"/>
                      <a:r>
                        <a:rPr lang="en-US" sz="1100" kern="1200" dirty="0">
                          <a:solidFill>
                            <a:schemeClr val="tx1"/>
                          </a:solidFill>
                        </a:rPr>
                        <a:t>from </a:t>
                      </a:r>
                      <a:r>
                        <a:rPr lang="en-US" sz="1100" kern="1200" dirty="0" err="1">
                          <a:solidFill>
                            <a:schemeClr val="tx1"/>
                          </a:solidFill>
                        </a:rPr>
                        <a:t>azure.identity</a:t>
                      </a:r>
                      <a:r>
                        <a:rPr lang="en-US" sz="1100" kern="1200" dirty="0">
                          <a:solidFill>
                            <a:schemeClr val="tx1"/>
                          </a:solidFill>
                        </a:rPr>
                        <a:t> import </a:t>
                      </a:r>
                      <a:r>
                        <a:rPr lang="en-US" sz="1100" kern="1200" dirty="0" err="1">
                          <a:solidFill>
                            <a:schemeClr val="tx1"/>
                          </a:solidFill>
                        </a:rPr>
                        <a:t>DefaultAzureCredential</a:t>
                      </a:r>
                      <a:endParaRPr lang="en-US" sz="1100" kern="1200" dirty="0">
                        <a:solidFill>
                          <a:schemeClr val="tx1"/>
                        </a:solidFill>
                      </a:endParaRPr>
                    </a:p>
                    <a:p>
                      <a:pPr marL="0" algn="l" defTabSz="932742" rtl="0" eaLnBrk="1" latinLnBrk="0" hangingPunct="1"/>
                      <a:r>
                        <a:rPr lang="en-US" sz="1100" kern="1200" dirty="0">
                          <a:solidFill>
                            <a:schemeClr val="tx1"/>
                          </a:solidFill>
                        </a:rPr>
                        <a:t>from </a:t>
                      </a:r>
                      <a:r>
                        <a:rPr lang="en-US" sz="1100" kern="1200" dirty="0" err="1">
                          <a:solidFill>
                            <a:schemeClr val="tx1"/>
                          </a:solidFill>
                        </a:rPr>
                        <a:t>azure.ai.projects</a:t>
                      </a:r>
                      <a:r>
                        <a:rPr lang="en-US" sz="1100" kern="1200" dirty="0">
                          <a:solidFill>
                            <a:schemeClr val="tx1"/>
                          </a:solidFill>
                        </a:rPr>
                        <a:t> import </a:t>
                      </a:r>
                      <a:r>
                        <a:rPr lang="en-US" sz="1100" kern="1200" dirty="0" err="1">
                          <a:solidFill>
                            <a:schemeClr val="tx1"/>
                          </a:solidFill>
                        </a:rPr>
                        <a:t>AIProjectClient</a:t>
                      </a:r>
                      <a:endParaRPr lang="en-US" sz="1100" kern="1200" dirty="0">
                        <a:solidFill>
                          <a:schemeClr val="tx1"/>
                        </a:solidFill>
                      </a:endParaRPr>
                    </a:p>
                    <a:p>
                      <a:pPr marL="0" algn="l" defTabSz="932742" rtl="0" eaLnBrk="1" latinLnBrk="0" hangingPunct="1"/>
                      <a:r>
                        <a:rPr lang="en-US" sz="1100" kern="1200" dirty="0">
                          <a:solidFill>
                            <a:schemeClr val="tx1"/>
                          </a:solidFill>
                        </a:rPr>
                        <a:t>from </a:t>
                      </a:r>
                      <a:r>
                        <a:rPr lang="en-US" sz="1100" kern="1200" dirty="0" err="1">
                          <a:solidFill>
                            <a:schemeClr val="tx1"/>
                          </a:solidFill>
                        </a:rPr>
                        <a:t>openai</a:t>
                      </a:r>
                      <a:r>
                        <a:rPr lang="en-US" sz="1100" kern="1200" dirty="0">
                          <a:solidFill>
                            <a:schemeClr val="tx1"/>
                          </a:solidFill>
                        </a:rPr>
                        <a:t> import OpenAI</a:t>
                      </a:r>
                    </a:p>
                    <a:p>
                      <a:pPr marL="0" algn="l" defTabSz="932742" rtl="0" eaLnBrk="1" latinLnBrk="0" hangingPunct="1"/>
                      <a:endParaRPr lang="en-US" sz="1100" kern="1200" dirty="0">
                        <a:solidFill>
                          <a:schemeClr val="tx1"/>
                        </a:solidFill>
                      </a:endParaRPr>
                    </a:p>
                    <a:p>
                      <a:pPr marL="0" algn="l" defTabSz="932742" rtl="0" eaLnBrk="1" latinLnBrk="0" hangingPunct="1"/>
                      <a:r>
                        <a:rPr lang="en-US" sz="1100" kern="1200" dirty="0" err="1">
                          <a:solidFill>
                            <a:schemeClr val="tx1"/>
                          </a:solidFill>
                        </a:rPr>
                        <a:t>project_client</a:t>
                      </a:r>
                      <a:r>
                        <a:rPr lang="en-US" sz="1100" kern="1200" dirty="0">
                          <a:solidFill>
                            <a:schemeClr val="tx1"/>
                          </a:solidFill>
                        </a:rPr>
                        <a:t> = </a:t>
                      </a:r>
                      <a:r>
                        <a:rPr lang="en-US" sz="1100" kern="1200" dirty="0" err="1">
                          <a:solidFill>
                            <a:schemeClr val="tx1"/>
                          </a:solidFill>
                        </a:rPr>
                        <a:t>AIProjectClient</a:t>
                      </a:r>
                      <a:r>
                        <a:rPr lang="en-US" sz="1100" kern="1200" dirty="0">
                          <a:solidFill>
                            <a:schemeClr val="tx1"/>
                          </a:solidFill>
                        </a:rPr>
                        <a:t>(</a:t>
                      </a:r>
                    </a:p>
                    <a:p>
                      <a:pPr marL="0" algn="l" defTabSz="932742" rtl="0" eaLnBrk="1" latinLnBrk="0" hangingPunct="1"/>
                      <a:r>
                        <a:rPr lang="en-US" sz="1100" kern="1200" dirty="0">
                          <a:solidFill>
                            <a:schemeClr val="tx1"/>
                          </a:solidFill>
                        </a:rPr>
                        <a:t>    credential=</a:t>
                      </a:r>
                      <a:r>
                        <a:rPr lang="en-US" sz="1100" kern="1200" dirty="0" err="1">
                          <a:solidFill>
                            <a:schemeClr val="tx1"/>
                          </a:solidFill>
                        </a:rPr>
                        <a:t>DefaultAzureCredential</a:t>
                      </a:r>
                      <a:r>
                        <a:rPr lang="en-US" sz="1100" kern="1200" dirty="0">
                          <a:solidFill>
                            <a:schemeClr val="tx1"/>
                          </a:solidFill>
                        </a:rPr>
                        <a:t>(),</a:t>
                      </a:r>
                    </a:p>
                    <a:p>
                      <a:pPr marL="0" algn="l" defTabSz="932742" rtl="0" eaLnBrk="1" latinLnBrk="0" hangingPunct="1"/>
                      <a:r>
                        <a:rPr lang="en-US" sz="1100" kern="1200" dirty="0">
                          <a:solidFill>
                            <a:schemeClr val="tx1"/>
                          </a:solidFill>
                        </a:rPr>
                        <a:t>    endpoint=FOUNDRY_PROJECT_ENDPOINT)</a:t>
                      </a:r>
                    </a:p>
                    <a:p>
                      <a:pPr marL="0" algn="l" defTabSz="932742" rtl="0" eaLnBrk="1" latinLnBrk="0" hangingPunct="1"/>
                      <a:endParaRPr lang="en-US" sz="1100" kern="1200" dirty="0">
                        <a:solidFill>
                          <a:schemeClr val="tx1"/>
                        </a:solidFill>
                      </a:endParaRPr>
                    </a:p>
                    <a:p>
                      <a:pPr marL="0" algn="l" defTabSz="932742" rtl="0" eaLnBrk="1" latinLnBrk="0" hangingPunct="1"/>
                      <a:r>
                        <a:rPr lang="fr-FR" sz="1100" kern="1200" dirty="0" err="1">
                          <a:solidFill>
                            <a:schemeClr val="tx1"/>
                          </a:solidFill>
                        </a:rPr>
                        <a:t>openai_client</a:t>
                      </a:r>
                      <a:r>
                        <a:rPr lang="fr-FR" sz="1100" kern="1200" dirty="0">
                          <a:solidFill>
                            <a:schemeClr val="tx1"/>
                          </a:solidFill>
                        </a:rPr>
                        <a:t> = </a:t>
                      </a:r>
                      <a:r>
                        <a:rPr lang="fr-FR" sz="1100" kern="1200" dirty="0" err="1">
                          <a:solidFill>
                            <a:schemeClr val="tx1"/>
                          </a:solidFill>
                        </a:rPr>
                        <a:t>project_client.get_openai_client</a:t>
                      </a:r>
                      <a:r>
                        <a:rPr lang="fr-FR" sz="1100" kern="1200" dirty="0">
                          <a:solidFill>
                            <a:schemeClr val="tx1"/>
                          </a:solidFill>
                        </a:rPr>
                        <a:t>(</a:t>
                      </a:r>
                    </a:p>
                    <a:p>
                      <a:pPr marL="0" algn="l" defTabSz="932742" rtl="0" eaLnBrk="1" latinLnBrk="0" hangingPunct="1"/>
                      <a:r>
                        <a:rPr lang="fr-FR" sz="1100" kern="1200" dirty="0">
                          <a:solidFill>
                            <a:schemeClr val="tx1"/>
                          </a:solidFill>
                        </a:rPr>
                        <a:t>    </a:t>
                      </a:r>
                      <a:r>
                        <a:rPr lang="fr-FR" sz="1100" kern="1200" dirty="0" err="1">
                          <a:solidFill>
                            <a:schemeClr val="tx1"/>
                          </a:solidFill>
                        </a:rPr>
                        <a:t>api_version</a:t>
                      </a:r>
                      <a:r>
                        <a:rPr lang="fr-FR" sz="1100" kern="1200" dirty="0">
                          <a:solidFill>
                            <a:schemeClr val="tx1"/>
                          </a:solidFill>
                        </a:rPr>
                        <a:t>="2024-10-21")</a:t>
                      </a:r>
                      <a:endParaRPr lang="en-US" sz="1100" kern="1200" dirty="0">
                        <a:solidFill>
                          <a:schemeClr val="tx1"/>
                        </a:solidFill>
                      </a:endParaRPr>
                    </a:p>
                    <a:p>
                      <a:pPr marL="0" algn="l" defTabSz="932742" rtl="0" eaLnBrk="1" latinLnBrk="0" hangingPunct="1"/>
                      <a:endParaRPr lang="en-US" sz="1100" kern="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a:txBody>
                  <a:tcPr/>
                </a:tc>
                <a:tc>
                  <a:txBody>
                    <a:bodyPr/>
                    <a:lstStyle/>
                    <a:p>
                      <a:pPr marL="0" algn="l" defTabSz="932742" rtl="0" eaLnBrk="1" latinLnBrk="0" hangingPunct="1"/>
                      <a:r>
                        <a:rPr lang="en-US" sz="1100" kern="1200" dirty="0">
                          <a:solidFill>
                            <a:schemeClr val="tx1"/>
                          </a:solidFill>
                        </a:rPr>
                        <a:t>from </a:t>
                      </a:r>
                      <a:r>
                        <a:rPr lang="en-US" sz="1100" kern="1200" dirty="0" err="1">
                          <a:solidFill>
                            <a:schemeClr val="tx1"/>
                          </a:solidFill>
                        </a:rPr>
                        <a:t>openai</a:t>
                      </a:r>
                      <a:r>
                        <a:rPr lang="en-US" sz="1100" kern="1200" dirty="0">
                          <a:solidFill>
                            <a:schemeClr val="tx1"/>
                          </a:solidFill>
                        </a:rPr>
                        <a:t> import OpenAI</a:t>
                      </a:r>
                    </a:p>
                    <a:p>
                      <a:pPr marL="0" algn="l" defTabSz="932742" rtl="0" eaLnBrk="1" latinLnBrk="0" hangingPunct="1"/>
                      <a:endParaRPr lang="en-US" sz="1100" kern="1200" dirty="0">
                        <a:solidFill>
                          <a:schemeClr val="tx1"/>
                        </a:solidFill>
                      </a:endParaRPr>
                    </a:p>
                    <a:p>
                      <a:pPr marL="0" algn="l" defTabSz="932742" rtl="0" eaLnBrk="1" latinLnBrk="0" hangingPunct="1"/>
                      <a:r>
                        <a:rPr lang="en-US" sz="1100" kern="1200" dirty="0" err="1">
                          <a:solidFill>
                            <a:schemeClr val="tx1"/>
                          </a:solidFill>
                        </a:rPr>
                        <a:t>openai_client</a:t>
                      </a:r>
                      <a:r>
                        <a:rPr lang="en-US" sz="1100" kern="1200" dirty="0">
                          <a:solidFill>
                            <a:schemeClr val="tx1"/>
                          </a:solidFill>
                        </a:rPr>
                        <a:t> = OpenAI(</a:t>
                      </a:r>
                    </a:p>
                    <a:p>
                      <a:pPr marL="0" algn="l" defTabSz="932742" rtl="0" eaLnBrk="1" latinLnBrk="0" hangingPunct="1"/>
                      <a:r>
                        <a:rPr lang="en-US" sz="1100" kern="1200" dirty="0">
                          <a:solidFill>
                            <a:schemeClr val="tx1"/>
                          </a:solidFill>
                        </a:rPr>
                        <a:t>    </a:t>
                      </a:r>
                      <a:r>
                        <a:rPr lang="en-US" sz="1100" kern="1200" dirty="0" err="1">
                          <a:solidFill>
                            <a:schemeClr val="tx1"/>
                          </a:solidFill>
                        </a:rPr>
                        <a:t>api_key</a:t>
                      </a:r>
                      <a:r>
                        <a:rPr lang="en-US" sz="1100" kern="1200" dirty="0">
                          <a:solidFill>
                            <a:schemeClr val="tx1"/>
                          </a:solidFill>
                        </a:rPr>
                        <a:t>=API_KEY_OR_TOKEN,</a:t>
                      </a:r>
                    </a:p>
                    <a:p>
                      <a:pPr marL="0" algn="l" defTabSz="932742" rtl="0" eaLnBrk="1" latinLnBrk="0" hangingPunct="1"/>
                      <a:r>
                        <a:rPr lang="en-US" sz="1100" kern="1200" dirty="0">
                          <a:solidFill>
                            <a:schemeClr val="tx1"/>
                          </a:solidFill>
                        </a:rPr>
                        <a:t>    </a:t>
                      </a:r>
                      <a:r>
                        <a:rPr lang="en-US" sz="1100" kern="1200" dirty="0" err="1">
                          <a:solidFill>
                            <a:schemeClr val="tx1"/>
                          </a:solidFill>
                        </a:rPr>
                        <a:t>base_url</a:t>
                      </a:r>
                      <a:r>
                        <a:rPr lang="en-US" sz="1100" kern="1200" dirty="0">
                          <a:solidFill>
                            <a:schemeClr val="tx1"/>
                          </a:solidFill>
                        </a:rPr>
                        <a:t>=AZURE_OPENAI_ENDPOINT)</a:t>
                      </a:r>
                      <a:endParaRPr lang="en-US" sz="1100" kern="1200" dirty="0">
                        <a:solidFill>
                          <a:schemeClr val="tx1"/>
                        </a:solidFill>
                        <a:latin typeface="Cascadia Code Light" panose="020B0609020000020004" pitchFamily="49" charset="0"/>
                        <a:ea typeface="Cascadia Code Light" panose="020B0609020000020004" pitchFamily="49" charset="0"/>
                        <a:cs typeface="Cascadia Code Light" panose="020B0609020000020004" pitchFamily="49" charset="0"/>
                      </a:endParaRPr>
                    </a:p>
                  </a:txBody>
                  <a:tcPr/>
                </a:tc>
                <a:extLst>
                  <a:ext uri="{0D108BD9-81ED-4DB2-BD59-A6C34878D82A}">
                    <a16:rowId xmlns:a16="http://schemas.microsoft.com/office/drawing/2014/main" val="1591619284"/>
                  </a:ext>
                </a:extLst>
              </a:tr>
            </a:tbl>
          </a:graphicData>
        </a:graphic>
      </p:graphicFrame>
    </p:spTree>
    <p:extLst>
      <p:ext uri="{BB962C8B-B14F-4D97-AF65-F5344CB8AC3E}">
        <p14:creationId xmlns:p14="http://schemas.microsoft.com/office/powerpoint/2010/main" val="379746414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E3EF-0ECE-C863-659C-AFDC032BAAE8}"/>
              </a:ext>
            </a:extLst>
          </p:cNvPr>
          <p:cNvSpPr>
            <a:spLocks noGrp="1"/>
          </p:cNvSpPr>
          <p:nvPr>
            <p:ph type="title"/>
          </p:nvPr>
        </p:nvSpPr>
        <p:spPr>
          <a:xfrm>
            <a:off x="588262" y="585216"/>
            <a:ext cx="11203688" cy="975360"/>
          </a:xfrm>
        </p:spPr>
        <p:txBody>
          <a:bodyPr/>
          <a:lstStyle/>
          <a:p>
            <a:r>
              <a:rPr lang="es-ES" sz="3200" b="0" i="0" strike="noStrike" cap="none" baseline="0" dirty="0">
                <a:solidFill>
                  <a:srgbClr val="000000"/>
                </a:solidFill>
                <a:effectLst/>
                <a:latin typeface="Segoe UI Semibold"/>
                <a:ea typeface="Segoe UI Semibold"/>
                <a:cs typeface="Segoe UI Semibold"/>
              </a:rPr>
              <a:t>Comparación de </a:t>
            </a:r>
            <a:r>
              <a:rPr lang="es-ES" sz="3200" b="0" i="0" strike="noStrike" cap="none" baseline="0" dirty="0" err="1">
                <a:solidFill>
                  <a:srgbClr val="000000"/>
                </a:solidFill>
                <a:effectLst/>
                <a:latin typeface="Segoe UI Semibold"/>
                <a:ea typeface="Segoe UI Semibold"/>
                <a:cs typeface="Segoe UI Semibold"/>
              </a:rPr>
              <a:t>ChatCompletions</a:t>
            </a:r>
            <a:r>
              <a:rPr lang="es-ES" sz="3200" b="0" i="0" strike="noStrike" cap="none" baseline="0" dirty="0">
                <a:solidFill>
                  <a:srgbClr val="000000"/>
                </a:solidFill>
                <a:effectLst/>
                <a:latin typeface="Segoe UI Semibold"/>
                <a:ea typeface="Segoe UI Semibold"/>
                <a:cs typeface="Segoe UI Semibold"/>
              </a:rPr>
              <a:t> con la API de respuestas</a:t>
            </a:r>
          </a:p>
        </p:txBody>
      </p:sp>
      <p:sp>
        <p:nvSpPr>
          <p:cNvPr id="3" name="Footer Placeholder 2">
            <a:extLst>
              <a:ext uri="{FF2B5EF4-FFF2-40B4-BE49-F238E27FC236}">
                <a16:creationId xmlns:a16="http://schemas.microsoft.com/office/drawing/2014/main" id="{AA3F6D97-CD0D-3D72-BA68-EC2909C443C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aphicFrame>
        <p:nvGraphicFramePr>
          <p:cNvPr id="4" name="Table 3">
            <a:extLst>
              <a:ext uri="{FF2B5EF4-FFF2-40B4-BE49-F238E27FC236}">
                <a16:creationId xmlns:a16="http://schemas.microsoft.com/office/drawing/2014/main" id="{F92ADF44-FB95-8229-9FEC-F3CEFC0D727C}"/>
              </a:ext>
            </a:extLst>
          </p:cNvPr>
          <p:cNvGraphicFramePr>
            <a:graphicFrameLocks noGrp="1"/>
          </p:cNvGraphicFramePr>
          <p:nvPr>
            <p:extLst>
              <p:ext uri="{D42A27DB-BD31-4B8C-83A1-F6EECF244321}">
                <p14:modId xmlns:p14="http://schemas.microsoft.com/office/powerpoint/2010/main" val="2183748518"/>
              </p:ext>
            </p:extLst>
          </p:nvPr>
        </p:nvGraphicFramePr>
        <p:xfrm>
          <a:off x="579438" y="1993723"/>
          <a:ext cx="10777410" cy="3931920"/>
        </p:xfrm>
        <a:graphic>
          <a:graphicData uri="http://schemas.openxmlformats.org/drawingml/2006/table">
            <a:tbl>
              <a:tblPr bandRow="1">
                <a:tableStyleId>{68D230F3-CF80-4859-8CE7-A43EE81993B5}</a:tableStyleId>
              </a:tblPr>
              <a:tblGrid>
                <a:gridCol w="2071216">
                  <a:extLst>
                    <a:ext uri="{9D8B030D-6E8A-4147-A177-3AD203B41FA5}">
                      <a16:colId xmlns:a16="http://schemas.microsoft.com/office/drawing/2014/main" val="1227079335"/>
                    </a:ext>
                  </a:extLst>
                </a:gridCol>
                <a:gridCol w="4353097">
                  <a:extLst>
                    <a:ext uri="{9D8B030D-6E8A-4147-A177-3AD203B41FA5}">
                      <a16:colId xmlns:a16="http://schemas.microsoft.com/office/drawing/2014/main" val="928914298"/>
                    </a:ext>
                  </a:extLst>
                </a:gridCol>
                <a:gridCol w="4353097">
                  <a:extLst>
                    <a:ext uri="{9D8B030D-6E8A-4147-A177-3AD203B41FA5}">
                      <a16:colId xmlns:a16="http://schemas.microsoft.com/office/drawing/2014/main" val="59501051"/>
                    </a:ext>
                  </a:extLst>
                </a:gridCol>
              </a:tblGrid>
              <a:tr h="914400">
                <a:tc>
                  <a:txBody>
                    <a:bodyPr/>
                    <a:lstStyle/>
                    <a:p>
                      <a:r>
                        <a:rPr lang="es-ES" sz="1800" b="0" i="0" strike="noStrike" cap="none" baseline="0">
                          <a:solidFill>
                            <a:srgbClr val="000000"/>
                          </a:solidFill>
                          <a:effectLst/>
                          <a:latin typeface="Segoe UI Semibold"/>
                          <a:ea typeface="Segoe UI Semibold"/>
                          <a:cs typeface="Segoe UI Semibold"/>
                        </a:rPr>
                        <a:t>Administración de estados</a:t>
                      </a:r>
                    </a:p>
                  </a:txBody>
                  <a:tcPr anchor="ctr"/>
                </a:tc>
                <a:tc>
                  <a:txBody>
                    <a:bodyPr/>
                    <a:lstStyle/>
                    <a:p>
                      <a:r>
                        <a:rPr lang="es-ES" sz="1800" b="0" i="0" strike="noStrike" cap="none" baseline="0">
                          <a:solidFill>
                            <a:srgbClr val="000000"/>
                          </a:solidFill>
                          <a:effectLst/>
                          <a:latin typeface="Segoe UI"/>
                          <a:ea typeface="Segoe UI"/>
                          <a:cs typeface="Segoe UI"/>
                        </a:rPr>
                        <a:t>El programador del cliente almacena y envía la matriz de </a:t>
                      </a:r>
                      <a:r>
                        <a:rPr lang="es-ES" sz="1800" b="0" i="0" strike="noStrike" cap="none" baseline="0">
                          <a:solidFill>
                            <a:srgbClr val="000000"/>
                          </a:solidFill>
                          <a:effectLst/>
                          <a:highlight>
                            <a:srgbClr val="E8E8E8"/>
                          </a:highlight>
                          <a:latin typeface="Consolas"/>
                          <a:ea typeface="Consolas"/>
                          <a:cs typeface="Consolas"/>
                        </a:rPr>
                        <a:t>mensajes</a:t>
                      </a:r>
                      <a:r>
                        <a:rPr lang="es-ES" sz="1800" b="0" i="0" strike="noStrike" cap="none" baseline="0">
                          <a:solidFill>
                            <a:srgbClr val="000000"/>
                          </a:solidFill>
                          <a:effectLst/>
                          <a:latin typeface="Segoe UI"/>
                          <a:ea typeface="Segoe UI"/>
                          <a:cs typeface="Segoe UI"/>
                        </a:rPr>
                        <a:t> completa</a:t>
                      </a:r>
                      <a:endParaRPr lang="en-US"/>
                    </a:p>
                  </a:txBody>
                  <a:tcPr anchor="ctr"/>
                </a:tc>
                <a:tc>
                  <a:txBody>
                    <a:bodyPr/>
                    <a:lstStyle/>
                    <a:p>
                      <a:r>
                        <a:rPr lang="es-ES" sz="1800" b="0" i="0" strike="noStrike" cap="none" baseline="0">
                          <a:solidFill>
                            <a:srgbClr val="000000"/>
                          </a:solidFill>
                          <a:effectLst/>
                          <a:latin typeface="Segoe UI"/>
                          <a:ea typeface="Segoe UI"/>
                          <a:cs typeface="Segoe UI"/>
                        </a:rPr>
                        <a:t>La API del servidor almacena de forma automática el subproceso</a:t>
                      </a:r>
                      <a:endParaRPr lang="en-US"/>
                    </a:p>
                  </a:txBody>
                  <a:tcPr anchor="ctr"/>
                </a:tc>
                <a:extLst>
                  <a:ext uri="{0D108BD9-81ED-4DB2-BD59-A6C34878D82A}">
                    <a16:rowId xmlns:a16="http://schemas.microsoft.com/office/drawing/2014/main" val="267607943"/>
                  </a:ext>
                </a:extLst>
              </a:tr>
              <a:tr h="914400">
                <a:tc>
                  <a:txBody>
                    <a:bodyPr/>
                    <a:lstStyle/>
                    <a:p>
                      <a:r>
                        <a:rPr lang="es-ES" sz="1800" b="0" i="0" strike="noStrike" cap="none" baseline="0">
                          <a:solidFill>
                            <a:srgbClr val="000000"/>
                          </a:solidFill>
                          <a:effectLst/>
                          <a:latin typeface="Segoe UI Semibold"/>
                          <a:ea typeface="Segoe UI Semibold"/>
                          <a:cs typeface="Segoe UI Semibold"/>
                        </a:rPr>
                        <a:t>Solicitud del sistema</a:t>
                      </a:r>
                    </a:p>
                  </a:txBody>
                  <a:tcPr anchor="ctr"/>
                </a:tc>
                <a:tc>
                  <a:txBody>
                    <a:bodyPr/>
                    <a:lstStyle/>
                    <a:p>
                      <a:r>
                        <a:rPr lang="es-ES" sz="1800" b="0" i="0" strike="noStrike" cap="none" baseline="0" dirty="0">
                          <a:solidFill>
                            <a:srgbClr val="000000"/>
                          </a:solidFill>
                          <a:effectLst/>
                          <a:latin typeface="Segoe UI"/>
                          <a:ea typeface="Segoe UI"/>
                          <a:cs typeface="Segoe UI"/>
                        </a:rPr>
                        <a:t>Primera entrada en la matriz</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de mensajes:</a:t>
                      </a:r>
                    </a:p>
                    <a:p>
                      <a:r>
                        <a:rPr lang="es-ES" sz="1600" b="0" i="0" strike="noStrike" cap="none" baseline="0" dirty="0">
                          <a:solidFill>
                            <a:srgbClr val="000000"/>
                          </a:solidFill>
                          <a:effectLst/>
                          <a:highlight>
                            <a:srgbClr val="E8E8E8"/>
                          </a:highlight>
                          <a:latin typeface="Consolas"/>
                          <a:ea typeface="Consolas"/>
                          <a:cs typeface="Consolas"/>
                        </a:rPr>
                        <a:t>{"role": "</a:t>
                      </a:r>
                      <a:r>
                        <a:rPr lang="es-ES" sz="1600" b="0" i="0" strike="noStrike" cap="none" baseline="0" dirty="0" err="1">
                          <a:solidFill>
                            <a:srgbClr val="000000"/>
                          </a:solidFill>
                          <a:effectLst/>
                          <a:highlight>
                            <a:srgbClr val="E8E8E8"/>
                          </a:highlight>
                          <a:latin typeface="Consolas"/>
                          <a:ea typeface="Consolas"/>
                          <a:cs typeface="Consolas"/>
                        </a:rPr>
                        <a:t>system</a:t>
                      </a:r>
                      <a:r>
                        <a:rPr lang="es-ES" sz="1600" b="0" i="0" strike="noStrike" cap="none" baseline="0" dirty="0">
                          <a:solidFill>
                            <a:srgbClr val="000000"/>
                          </a:solidFill>
                          <a:effectLst/>
                          <a:highlight>
                            <a:srgbClr val="E8E8E8"/>
                          </a:highlight>
                          <a:latin typeface="Consolas"/>
                          <a:ea typeface="Consolas"/>
                          <a:cs typeface="Consolas"/>
                        </a:rPr>
                        <a:t>", "</a:t>
                      </a:r>
                      <a:r>
                        <a:rPr lang="es-ES" sz="1600" b="0" i="0" strike="noStrike" cap="none" baseline="0" dirty="0" err="1">
                          <a:solidFill>
                            <a:srgbClr val="000000"/>
                          </a:solidFill>
                          <a:effectLst/>
                          <a:highlight>
                            <a:srgbClr val="E8E8E8"/>
                          </a:highlight>
                          <a:latin typeface="Consolas"/>
                          <a:ea typeface="Consolas"/>
                          <a:cs typeface="Consolas"/>
                        </a:rPr>
                        <a:t>content</a:t>
                      </a:r>
                      <a:r>
                        <a:rPr lang="es-ES" sz="1600" b="0" i="0" strike="noStrike" cap="none" baseline="0" dirty="0">
                          <a:solidFill>
                            <a:srgbClr val="000000"/>
                          </a:solidFill>
                          <a:effectLst/>
                          <a:highlight>
                            <a:srgbClr val="E8E8E8"/>
                          </a:highlight>
                          <a:latin typeface="Consolas"/>
                          <a:ea typeface="Consolas"/>
                          <a:cs typeface="Consolas"/>
                        </a:rPr>
                        <a:t>": "..."}</a:t>
                      </a:r>
                      <a:endParaRPr lang="en-US" dirty="0">
                        <a:highlight>
                          <a:srgbClr val="E8E8E8"/>
                        </a:highlight>
                        <a:latin typeface="Consolas" panose="020B0609020204030204" pitchFamily="49" charset="0"/>
                        <a:cs typeface="Consolas" panose="020B0609020204030204" pitchFamily="49" charset="0"/>
                      </a:endParaRPr>
                    </a:p>
                  </a:txBody>
                  <a:tcPr anchor="ctr"/>
                </a:tc>
                <a:tc>
                  <a:txBody>
                    <a:bodyPr/>
                    <a:lstStyle/>
                    <a:p>
                      <a:r>
                        <a:rPr lang="es-ES" sz="1800" b="0" i="0" strike="noStrike" cap="none" baseline="0">
                          <a:solidFill>
                            <a:srgbClr val="000000"/>
                          </a:solidFill>
                          <a:effectLst/>
                          <a:latin typeface="Segoe UI"/>
                          <a:ea typeface="Segoe UI"/>
                          <a:cs typeface="Segoe UI"/>
                        </a:rPr>
                        <a:t>Parámetro dedicado:</a:t>
                      </a:r>
                      <a:br>
                        <a:rPr sz="1800"/>
                      </a:br>
                      <a:r>
                        <a:rPr lang="es-ES" sz="1600" b="0" i="0" strike="noStrike" cap="none" baseline="0">
                          <a:solidFill>
                            <a:srgbClr val="000000"/>
                          </a:solidFill>
                          <a:effectLst/>
                          <a:highlight>
                            <a:srgbClr val="E8E8E8"/>
                          </a:highlight>
                          <a:latin typeface="Consolas"/>
                          <a:ea typeface="Consolas"/>
                          <a:cs typeface="Consolas"/>
                        </a:rPr>
                        <a:t>instructions="..."</a:t>
                      </a:r>
                      <a:endParaRPr lang="en-US">
                        <a:highlight>
                          <a:srgbClr val="E8E8E8"/>
                        </a:highlight>
                        <a:latin typeface="Consolas" panose="020B0609020204030204" pitchFamily="49" charset="0"/>
                        <a:cs typeface="Consolas" panose="020B0609020204030204" pitchFamily="49" charset="0"/>
                      </a:endParaRPr>
                    </a:p>
                  </a:txBody>
                  <a:tcPr anchor="ctr"/>
                </a:tc>
                <a:extLst>
                  <a:ext uri="{0D108BD9-81ED-4DB2-BD59-A6C34878D82A}">
                    <a16:rowId xmlns:a16="http://schemas.microsoft.com/office/drawing/2014/main" val="3304563888"/>
                  </a:ext>
                </a:extLst>
              </a:tr>
              <a:tr h="914400">
                <a:tc>
                  <a:txBody>
                    <a:bodyPr/>
                    <a:lstStyle/>
                    <a:p>
                      <a:r>
                        <a:rPr lang="es-ES" sz="1800" b="0" i="0" strike="noStrike" cap="none" baseline="0">
                          <a:solidFill>
                            <a:srgbClr val="000000"/>
                          </a:solidFill>
                          <a:effectLst/>
                          <a:latin typeface="Segoe UI Semibold"/>
                          <a:ea typeface="Segoe UI Semibold"/>
                          <a:cs typeface="Segoe UI Semibold"/>
                        </a:rPr>
                        <a:t>Carga por solicitud</a:t>
                      </a:r>
                    </a:p>
                  </a:txBody>
                  <a:tcPr anchor="ctr"/>
                </a:tc>
                <a:tc>
                  <a:txBody>
                    <a:bodyPr/>
                    <a:lstStyle/>
                    <a:p>
                      <a:r>
                        <a:rPr lang="es-ES" sz="1800" b="0" i="0" strike="noStrike" cap="none" baseline="0">
                          <a:solidFill>
                            <a:srgbClr val="000000"/>
                          </a:solidFill>
                          <a:effectLst/>
                          <a:latin typeface="Segoe UI"/>
                          <a:ea typeface="Segoe UI"/>
                          <a:cs typeface="Segoe UI"/>
                        </a:rPr>
                        <a:t>Crece con la longitud de la conversación</a:t>
                      </a:r>
                    </a:p>
                    <a:p>
                      <a:endParaRPr lang="en-US" sz="1800" b="0" i="0" kern="1200">
                        <a:solidFill>
                          <a:schemeClr val="tx1"/>
                        </a:solidFill>
                        <a:effectLst/>
                        <a:latin typeface="+mn-lt"/>
                        <a:ea typeface="+mn-ea"/>
                        <a:cs typeface="+mn-cs"/>
                      </a:endParaRPr>
                    </a:p>
                    <a:p>
                      <a:endParaRPr lang="en-US" sz="1800" b="0" i="0" kern="1200">
                        <a:solidFill>
                          <a:schemeClr val="tx1"/>
                        </a:solidFill>
                        <a:effectLst/>
                        <a:latin typeface="+mn-lt"/>
                        <a:ea typeface="+mn-ea"/>
                        <a:cs typeface="+mn-cs"/>
                      </a:endParaRPr>
                    </a:p>
                  </a:txBody>
                  <a:tcPr anchor="ctr"/>
                </a:tc>
                <a:tc>
                  <a:txBody>
                    <a:bodyPr/>
                    <a:lstStyle/>
                    <a:p>
                      <a:r>
                        <a:rPr lang="es-ES" sz="1800" b="0" i="0" strike="noStrike" cap="none" baseline="0">
                          <a:solidFill>
                            <a:srgbClr val="000000"/>
                          </a:solidFill>
                          <a:effectLst/>
                          <a:latin typeface="Segoe UI"/>
                          <a:ea typeface="Segoe UI"/>
                          <a:cs typeface="Segoe UI"/>
                        </a:rPr>
                        <a:t>Constante: solo entrada más reciente + un identificador</a:t>
                      </a:r>
                    </a:p>
                    <a:p>
                      <a:endParaRPr lang="en-US" sz="1800" b="0" i="0" kern="1200">
                        <a:solidFill>
                          <a:schemeClr val="tx1"/>
                        </a:solidFill>
                        <a:effectLst/>
                        <a:latin typeface="+mn-lt"/>
                        <a:ea typeface="+mn-ea"/>
                        <a:cs typeface="+mn-cs"/>
                      </a:endParaRPr>
                    </a:p>
                    <a:p>
                      <a:endParaRPr lang="en-US"/>
                    </a:p>
                  </a:txBody>
                  <a:tcPr anchor="ctr"/>
                </a:tc>
                <a:extLst>
                  <a:ext uri="{0D108BD9-81ED-4DB2-BD59-A6C34878D82A}">
                    <a16:rowId xmlns:a16="http://schemas.microsoft.com/office/drawing/2014/main" val="4199912601"/>
                  </a:ext>
                </a:extLst>
              </a:tr>
              <a:tr h="914400">
                <a:tc>
                  <a:txBody>
                    <a:bodyPr/>
                    <a:lstStyle/>
                    <a:p>
                      <a:r>
                        <a:rPr lang="es-ES" sz="1800" b="0" i="0" strike="noStrike" cap="none" baseline="0">
                          <a:solidFill>
                            <a:srgbClr val="000000"/>
                          </a:solidFill>
                          <a:effectLst/>
                          <a:latin typeface="Segoe UI Semibold"/>
                          <a:ea typeface="Segoe UI Semibold"/>
                          <a:cs typeface="Segoe UI Semibold"/>
                        </a:rPr>
                        <a:t>Acceso a la respuesta</a:t>
                      </a:r>
                    </a:p>
                  </a:txBody>
                  <a:tcPr anchor="ctr"/>
                </a:tc>
                <a:tc>
                  <a:txBody>
                    <a:bodyPr/>
                    <a:lstStyle/>
                    <a:p>
                      <a:r>
                        <a:rPr lang="es-ES" sz="1600" b="0" i="0" strike="noStrike" cap="none" baseline="0">
                          <a:solidFill>
                            <a:srgbClr val="000000"/>
                          </a:solidFill>
                          <a:effectLst/>
                          <a:highlight>
                            <a:srgbClr val="E8E8E8"/>
                          </a:highlight>
                          <a:latin typeface="Consolas"/>
                          <a:ea typeface="Consolas"/>
                          <a:cs typeface="Consolas"/>
                        </a:rPr>
                        <a:t>completion.choices[0].message.content</a:t>
                      </a:r>
                      <a:endParaRPr lang="en-US" sz="1600" b="0" i="0" kern="1200">
                        <a:solidFill>
                          <a:schemeClr val="tx1"/>
                        </a:solidFill>
                        <a:effectLst/>
                        <a:highlight>
                          <a:srgbClr val="E8E8E8"/>
                        </a:highlight>
                        <a:latin typeface="Consolas" panose="020B0609020204030204" pitchFamily="49" charset="0"/>
                        <a:ea typeface="+mn-ea"/>
                        <a:cs typeface="Consolas" panose="020B0609020204030204" pitchFamily="49" charset="0"/>
                      </a:endParaRPr>
                    </a:p>
                  </a:txBody>
                  <a:tcPr anchor="ctr"/>
                </a:tc>
                <a:tc>
                  <a:txBody>
                    <a:bodyPr/>
                    <a:lstStyle/>
                    <a:p>
                      <a:r>
                        <a:rPr lang="es-ES" sz="1600" b="0" i="0" strike="noStrike" cap="none" baseline="0" dirty="0" err="1">
                          <a:solidFill>
                            <a:srgbClr val="000000"/>
                          </a:solidFill>
                          <a:effectLst/>
                          <a:highlight>
                            <a:srgbClr val="E8E8E8"/>
                          </a:highlight>
                          <a:latin typeface="Consolas"/>
                          <a:ea typeface="Consolas"/>
                          <a:cs typeface="Consolas"/>
                        </a:rPr>
                        <a:t>response.output_text</a:t>
                      </a:r>
                      <a:endParaRPr lang="en-US" sz="1600" dirty="0">
                        <a:highlight>
                          <a:srgbClr val="E8E8E8"/>
                        </a:highlight>
                        <a:latin typeface="Consolas" panose="020B0609020204030204" pitchFamily="49" charset="0"/>
                        <a:cs typeface="Consolas" panose="020B0609020204030204" pitchFamily="49" charset="0"/>
                      </a:endParaRPr>
                    </a:p>
                  </a:txBody>
                  <a:tcPr anchor="ctr"/>
                </a:tc>
                <a:extLst>
                  <a:ext uri="{0D108BD9-81ED-4DB2-BD59-A6C34878D82A}">
                    <a16:rowId xmlns:a16="http://schemas.microsoft.com/office/drawing/2014/main" val="594462340"/>
                  </a:ext>
                </a:extLst>
              </a:tr>
            </a:tbl>
          </a:graphicData>
        </a:graphic>
      </p:graphicFrame>
      <p:sp>
        <p:nvSpPr>
          <p:cNvPr id="8" name="Round Single Corner Rectangle 7">
            <a:extLst>
              <a:ext uri="{FF2B5EF4-FFF2-40B4-BE49-F238E27FC236}">
                <a16:creationId xmlns:a16="http://schemas.microsoft.com/office/drawing/2014/main" id="{B40F481A-B112-3C6F-D863-13F1970A0BFE}"/>
              </a:ext>
              <a:ext uri="{C183D7F6-B498-43B3-948B-1728B52AA6E4}">
                <adec:decorative xmlns:adec="http://schemas.microsoft.com/office/drawing/2017/decorative" val="1"/>
              </a:ext>
            </a:extLst>
          </p:cNvPr>
          <p:cNvSpPr/>
          <p:nvPr/>
        </p:nvSpPr>
        <p:spPr bwMode="auto">
          <a:xfrm>
            <a:off x="7004304" y="1353312"/>
            <a:ext cx="4352544" cy="640411"/>
          </a:xfrm>
          <a:prstGeom prst="round1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9" name="Round Single Corner Rectangle 8">
            <a:extLst>
              <a:ext uri="{FF2B5EF4-FFF2-40B4-BE49-F238E27FC236}">
                <a16:creationId xmlns:a16="http://schemas.microsoft.com/office/drawing/2014/main" id="{295EC355-8C66-05AE-1E91-87810B38247A}"/>
              </a:ext>
              <a:ext uri="{C183D7F6-B498-43B3-948B-1728B52AA6E4}">
                <adec:decorative xmlns:adec="http://schemas.microsoft.com/office/drawing/2017/decorative" val="1"/>
              </a:ext>
            </a:extLst>
          </p:cNvPr>
          <p:cNvSpPr/>
          <p:nvPr/>
        </p:nvSpPr>
        <p:spPr bwMode="auto">
          <a:xfrm flipH="1">
            <a:off x="2655094" y="1353312"/>
            <a:ext cx="4352544" cy="640411"/>
          </a:xfrm>
          <a:prstGeom prst="round1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DEDC001F-60AF-DCA7-43E8-7F939F412F16}"/>
              </a:ext>
            </a:extLst>
          </p:cNvPr>
          <p:cNvSpPr txBox="1"/>
          <p:nvPr/>
        </p:nvSpPr>
        <p:spPr>
          <a:xfrm>
            <a:off x="3483706" y="1516368"/>
            <a:ext cx="3487341" cy="307848"/>
          </a:xfrm>
          <a:prstGeom prst="rect">
            <a:avLst/>
          </a:prstGeom>
          <a:noFill/>
        </p:spPr>
        <p:txBody>
          <a:bodyPr wrap="none" lIns="0" tIns="0" rIns="0" bIns="0" rtlCol="0">
            <a:spAutoFit/>
          </a:bodyPr>
          <a:lstStyle/>
          <a:p>
            <a:pPr algn="l"/>
            <a:r>
              <a:rPr lang="es-ES" sz="2000" b="1" i="0" strike="noStrike" cap="none" baseline="0" dirty="0">
                <a:solidFill>
                  <a:srgbClr val="0078D4"/>
                </a:solidFill>
                <a:effectLst/>
                <a:latin typeface="Segoe UI Semibold"/>
                <a:ea typeface="Segoe UI Semibold"/>
                <a:cs typeface="Segoe UI Semibold"/>
              </a:rPr>
              <a:t>API de </a:t>
            </a:r>
            <a:r>
              <a:rPr lang="es-ES" sz="2000" b="1" i="0" strike="noStrike" cap="none" baseline="0" dirty="0" err="1">
                <a:solidFill>
                  <a:srgbClr val="0078D4"/>
                </a:solidFill>
                <a:effectLst/>
                <a:latin typeface="Segoe UI Semibold"/>
                <a:ea typeface="Segoe UI Semibold"/>
                <a:cs typeface="Segoe UI Semibold"/>
              </a:rPr>
              <a:t>ChatCompletions</a:t>
            </a:r>
            <a:endParaRPr lang="es-ES" sz="2000" b="1" i="0" strike="noStrike" cap="none" baseline="0" dirty="0">
              <a:solidFill>
                <a:srgbClr val="0078D4"/>
              </a:solidFill>
              <a:effectLst/>
              <a:latin typeface="Segoe UI Semibold"/>
              <a:ea typeface="Segoe UI Semibold"/>
              <a:cs typeface="Segoe UI Semibold"/>
            </a:endParaRPr>
          </a:p>
        </p:txBody>
      </p:sp>
      <p:grpSp>
        <p:nvGrpSpPr>
          <p:cNvPr id="32" name="Group 31">
            <a:extLst>
              <a:ext uri="{FF2B5EF4-FFF2-40B4-BE49-F238E27FC236}">
                <a16:creationId xmlns:a16="http://schemas.microsoft.com/office/drawing/2014/main" id="{9D8293CC-99A6-EB65-B520-F4D177929A26}"/>
              </a:ext>
              <a:ext uri="{C183D7F6-B498-43B3-948B-1728B52AA6E4}">
                <adec:decorative xmlns:adec="http://schemas.microsoft.com/office/drawing/2017/decorative" val="1"/>
              </a:ext>
            </a:extLst>
          </p:cNvPr>
          <p:cNvGrpSpPr/>
          <p:nvPr/>
        </p:nvGrpSpPr>
        <p:grpSpPr>
          <a:xfrm>
            <a:off x="2852928" y="1453730"/>
            <a:ext cx="457200" cy="457200"/>
            <a:chOff x="2798064" y="1453730"/>
            <a:chExt cx="457200" cy="457200"/>
          </a:xfrm>
        </p:grpSpPr>
        <p:sp>
          <p:nvSpPr>
            <p:cNvPr id="10" name="Oval 9">
              <a:extLst>
                <a:ext uri="{FF2B5EF4-FFF2-40B4-BE49-F238E27FC236}">
                  <a16:creationId xmlns:a16="http://schemas.microsoft.com/office/drawing/2014/main" id="{914A3002-3E7B-83D3-ACD9-24AC0F7B1E39}"/>
                </a:ext>
              </a:extLst>
            </p:cNvPr>
            <p:cNvSpPr>
              <a:spLocks noChangeAspect="1"/>
            </p:cNvSpPr>
            <p:nvPr/>
          </p:nvSpPr>
          <p:spPr bwMode="auto">
            <a:xfrm>
              <a:off x="2798064" y="1453730"/>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9" name="Graphic 18" descr="Speech with solid fill">
              <a:extLst>
                <a:ext uri="{FF2B5EF4-FFF2-40B4-BE49-F238E27FC236}">
                  <a16:creationId xmlns:a16="http://schemas.microsoft.com/office/drawing/2014/main" id="{101C541C-0993-68C4-68FE-062DF0D951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40737" y="1517738"/>
              <a:ext cx="365760" cy="365760"/>
            </a:xfrm>
            <a:prstGeom prst="rect">
              <a:avLst/>
            </a:prstGeom>
          </p:spPr>
        </p:pic>
      </p:grpSp>
      <p:sp>
        <p:nvSpPr>
          <p:cNvPr id="20" name="Oval 19">
            <a:extLst>
              <a:ext uri="{FF2B5EF4-FFF2-40B4-BE49-F238E27FC236}">
                <a16:creationId xmlns:a16="http://schemas.microsoft.com/office/drawing/2014/main" id="{165C5C71-5EC8-5440-7667-CD517CE909F7}"/>
              </a:ext>
              <a:ext uri="{C183D7F6-B498-43B3-948B-1728B52AA6E4}">
                <adec:decorative xmlns:adec="http://schemas.microsoft.com/office/drawing/2017/decorative" val="1"/>
              </a:ext>
            </a:extLst>
          </p:cNvPr>
          <p:cNvSpPr>
            <a:spLocks noChangeAspect="1"/>
          </p:cNvSpPr>
          <p:nvPr/>
        </p:nvSpPr>
        <p:spPr bwMode="auto">
          <a:xfrm>
            <a:off x="7237397" y="1463537"/>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solidFill>
                <a:schemeClr val="accent1"/>
              </a:solidFill>
              <a:ea typeface="Segoe UI" pitchFamily="34" charset="0"/>
              <a:cs typeface="Segoe UI" pitchFamily="34" charset="0"/>
            </a:endParaRPr>
          </a:p>
        </p:txBody>
      </p:sp>
      <p:sp>
        <p:nvSpPr>
          <p:cNvPr id="21" name="TextBox 20">
            <a:extLst>
              <a:ext uri="{FF2B5EF4-FFF2-40B4-BE49-F238E27FC236}">
                <a16:creationId xmlns:a16="http://schemas.microsoft.com/office/drawing/2014/main" id="{E41BBB2C-32BA-C4B3-B04F-0AFA1283F572}"/>
              </a:ext>
            </a:extLst>
          </p:cNvPr>
          <p:cNvSpPr txBox="1"/>
          <p:nvPr/>
        </p:nvSpPr>
        <p:spPr>
          <a:xfrm>
            <a:off x="7854538" y="1528441"/>
            <a:ext cx="2616708" cy="307848"/>
          </a:xfrm>
          <a:prstGeom prst="rect">
            <a:avLst/>
          </a:prstGeom>
          <a:noFill/>
        </p:spPr>
        <p:txBody>
          <a:bodyPr wrap="none" lIns="0" tIns="0" rIns="0" bIns="0" rtlCol="0">
            <a:spAutoFit/>
          </a:bodyPr>
          <a:lstStyle/>
          <a:p>
            <a:pPr algn="l"/>
            <a:r>
              <a:rPr lang="es-ES" sz="2000" b="1" i="0" strike="noStrike" cap="none" baseline="0">
                <a:solidFill>
                  <a:srgbClr val="702573"/>
                </a:solidFill>
                <a:effectLst/>
                <a:latin typeface="Segoe UI Semibold"/>
                <a:ea typeface="Segoe UI Semibold"/>
                <a:cs typeface="Segoe UI Semibold"/>
              </a:rPr>
              <a:t>API de respuestas</a:t>
            </a:r>
          </a:p>
        </p:txBody>
      </p:sp>
      <p:pic>
        <p:nvPicPr>
          <p:cNvPr id="17" name="Graphic 16" descr="Lightning bolt with solid fill">
            <a:extLst>
              <a:ext uri="{FF2B5EF4-FFF2-40B4-BE49-F238E27FC236}">
                <a16:creationId xmlns:a16="http://schemas.microsoft.com/office/drawing/2014/main" id="{16A528CC-8CFE-DE26-4A8C-D9C7FFEBCA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8466" y="1531703"/>
            <a:ext cx="365760" cy="365760"/>
          </a:xfrm>
          <a:prstGeom prst="rect">
            <a:avLst/>
          </a:prstGeom>
        </p:spPr>
      </p:pic>
      <p:grpSp>
        <p:nvGrpSpPr>
          <p:cNvPr id="31" name="Group 30">
            <a:extLst>
              <a:ext uri="{FF2B5EF4-FFF2-40B4-BE49-F238E27FC236}">
                <a16:creationId xmlns:a16="http://schemas.microsoft.com/office/drawing/2014/main" id="{2150837E-E0C1-9DED-321F-38E80262090C}"/>
              </a:ext>
              <a:ext uri="{C183D7F6-B498-43B3-948B-1728B52AA6E4}">
                <adec:decorative xmlns:adec="http://schemas.microsoft.com/office/drawing/2017/decorative" val="1"/>
              </a:ext>
            </a:extLst>
          </p:cNvPr>
          <p:cNvGrpSpPr/>
          <p:nvPr/>
        </p:nvGrpSpPr>
        <p:grpSpPr>
          <a:xfrm>
            <a:off x="2740152" y="4413846"/>
            <a:ext cx="1161288" cy="320040"/>
            <a:chOff x="2813304" y="4303610"/>
            <a:chExt cx="1161288" cy="320040"/>
          </a:xfrm>
        </p:grpSpPr>
        <p:sp>
          <p:nvSpPr>
            <p:cNvPr id="22" name="Oval 21">
              <a:extLst>
                <a:ext uri="{FF2B5EF4-FFF2-40B4-BE49-F238E27FC236}">
                  <a16:creationId xmlns:a16="http://schemas.microsoft.com/office/drawing/2014/main" id="{A91C8762-395B-1356-5E77-5A79DF71F1FC}"/>
                </a:ext>
              </a:extLst>
            </p:cNvPr>
            <p:cNvSpPr>
              <a:spLocks noChangeAspect="1"/>
            </p:cNvSpPr>
            <p:nvPr/>
          </p:nvSpPr>
          <p:spPr bwMode="auto">
            <a:xfrm>
              <a:off x="2813304" y="4372190"/>
              <a:ext cx="182880" cy="18288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21E6BF4E-F3EF-2163-CB1F-2526B54AB12B}"/>
                </a:ext>
              </a:extLst>
            </p:cNvPr>
            <p:cNvSpPr>
              <a:spLocks noChangeAspect="1"/>
            </p:cNvSpPr>
            <p:nvPr/>
          </p:nvSpPr>
          <p:spPr bwMode="auto">
            <a:xfrm>
              <a:off x="3048000" y="4349330"/>
              <a:ext cx="228600" cy="2286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4" name="Oval 23">
              <a:extLst>
                <a:ext uri="{FF2B5EF4-FFF2-40B4-BE49-F238E27FC236}">
                  <a16:creationId xmlns:a16="http://schemas.microsoft.com/office/drawing/2014/main" id="{D6699571-FDA3-637B-5F02-3564AFC17DA2}"/>
                </a:ext>
              </a:extLst>
            </p:cNvPr>
            <p:cNvSpPr>
              <a:spLocks noChangeAspect="1"/>
            </p:cNvSpPr>
            <p:nvPr/>
          </p:nvSpPr>
          <p:spPr bwMode="auto">
            <a:xfrm>
              <a:off x="3328416" y="4326470"/>
              <a:ext cx="274320" cy="27432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5" name="Oval 24">
              <a:extLst>
                <a:ext uri="{FF2B5EF4-FFF2-40B4-BE49-F238E27FC236}">
                  <a16:creationId xmlns:a16="http://schemas.microsoft.com/office/drawing/2014/main" id="{EE2EFF54-0CB5-4B5A-2F4C-6B1F130AEF87}"/>
                </a:ext>
              </a:extLst>
            </p:cNvPr>
            <p:cNvSpPr>
              <a:spLocks noChangeAspect="1"/>
            </p:cNvSpPr>
            <p:nvPr/>
          </p:nvSpPr>
          <p:spPr bwMode="auto">
            <a:xfrm>
              <a:off x="3654552" y="4303610"/>
              <a:ext cx="320040" cy="3200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grpSp>
        <p:nvGrpSpPr>
          <p:cNvPr id="30" name="Group 29">
            <a:extLst>
              <a:ext uri="{FF2B5EF4-FFF2-40B4-BE49-F238E27FC236}">
                <a16:creationId xmlns:a16="http://schemas.microsoft.com/office/drawing/2014/main" id="{5D243ED7-487E-3484-5327-BD270D03BC2C}"/>
              </a:ext>
              <a:ext uri="{C183D7F6-B498-43B3-948B-1728B52AA6E4}">
                <adec:decorative xmlns:adec="http://schemas.microsoft.com/office/drawing/2017/decorative" val="1"/>
              </a:ext>
            </a:extLst>
          </p:cNvPr>
          <p:cNvGrpSpPr/>
          <p:nvPr/>
        </p:nvGrpSpPr>
        <p:grpSpPr>
          <a:xfrm>
            <a:off x="7104730" y="4482426"/>
            <a:ext cx="932688" cy="182880"/>
            <a:chOff x="2965704" y="4456010"/>
            <a:chExt cx="932688" cy="182880"/>
          </a:xfrm>
          <a:solidFill>
            <a:schemeClr val="accent1"/>
          </a:solidFill>
        </p:grpSpPr>
        <p:sp>
          <p:nvSpPr>
            <p:cNvPr id="26" name="Oval 25">
              <a:extLst>
                <a:ext uri="{FF2B5EF4-FFF2-40B4-BE49-F238E27FC236}">
                  <a16:creationId xmlns:a16="http://schemas.microsoft.com/office/drawing/2014/main" id="{39AF1F45-B1A7-0F30-BC7C-1A38BD662A98}"/>
                </a:ext>
              </a:extLst>
            </p:cNvPr>
            <p:cNvSpPr>
              <a:spLocks noChangeAspect="1"/>
            </p:cNvSpPr>
            <p:nvPr/>
          </p:nvSpPr>
          <p:spPr bwMode="auto">
            <a:xfrm>
              <a:off x="2965704"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7" name="Oval 26">
              <a:extLst>
                <a:ext uri="{FF2B5EF4-FFF2-40B4-BE49-F238E27FC236}">
                  <a16:creationId xmlns:a16="http://schemas.microsoft.com/office/drawing/2014/main" id="{BB332956-23A5-8F3C-81CA-730316CA10B3}"/>
                </a:ext>
              </a:extLst>
            </p:cNvPr>
            <p:cNvSpPr>
              <a:spLocks noChangeAspect="1"/>
            </p:cNvSpPr>
            <p:nvPr/>
          </p:nvSpPr>
          <p:spPr bwMode="auto">
            <a:xfrm>
              <a:off x="3215640"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8" name="Oval 27">
              <a:extLst>
                <a:ext uri="{FF2B5EF4-FFF2-40B4-BE49-F238E27FC236}">
                  <a16:creationId xmlns:a16="http://schemas.microsoft.com/office/drawing/2014/main" id="{9037D70C-C385-94A7-EB71-94FA725BF87F}"/>
                </a:ext>
              </a:extLst>
            </p:cNvPr>
            <p:cNvSpPr>
              <a:spLocks noChangeAspect="1"/>
            </p:cNvSpPr>
            <p:nvPr/>
          </p:nvSpPr>
          <p:spPr bwMode="auto">
            <a:xfrm>
              <a:off x="3465576"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9" name="Oval 28">
              <a:extLst>
                <a:ext uri="{FF2B5EF4-FFF2-40B4-BE49-F238E27FC236}">
                  <a16:creationId xmlns:a16="http://schemas.microsoft.com/office/drawing/2014/main" id="{1B667B71-937B-95BC-5266-FDCF50050F32}"/>
                </a:ext>
              </a:extLst>
            </p:cNvPr>
            <p:cNvSpPr>
              <a:spLocks noChangeAspect="1"/>
            </p:cNvSpPr>
            <p:nvPr/>
          </p:nvSpPr>
          <p:spPr bwMode="auto">
            <a:xfrm>
              <a:off x="3715512" y="4456010"/>
              <a:ext cx="182880" cy="18288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058320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B1FBE-7FA3-DD96-EAE4-47FCBE0C3A87}"/>
            </a:ext>
          </a:extLst>
        </p:cNvPr>
        <p:cNvGrpSpPr/>
        <p:nvPr/>
      </p:nvGrpSpPr>
      <p:grpSpPr>
        <a:xfrm>
          <a:off x="0" y="0"/>
          <a:ext cx="0" cy="0"/>
          <a:chOff x="0" y="0"/>
          <a:chExt cx="0" cy="0"/>
        </a:xfrm>
      </p:grpSpPr>
      <p:sp>
        <p:nvSpPr>
          <p:cNvPr id="54" name="Rounded Rectangle 53">
            <a:extLst>
              <a:ext uri="{FF2B5EF4-FFF2-40B4-BE49-F238E27FC236}">
                <a16:creationId xmlns:a16="http://schemas.microsoft.com/office/drawing/2014/main" id="{2041F354-F7C1-BC31-6135-B6E13048FF0D}"/>
              </a:ext>
              <a:ext uri="{C183D7F6-B498-43B3-948B-1728B52AA6E4}">
                <adec:decorative xmlns:adec="http://schemas.microsoft.com/office/drawing/2017/decorative" val="1"/>
              </a:ext>
            </a:extLst>
          </p:cNvPr>
          <p:cNvSpPr/>
          <p:nvPr/>
        </p:nvSpPr>
        <p:spPr bwMode="auto">
          <a:xfrm>
            <a:off x="1559756" y="3298785"/>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 name="Title 1">
            <a:extLst>
              <a:ext uri="{FF2B5EF4-FFF2-40B4-BE49-F238E27FC236}">
                <a16:creationId xmlns:a16="http://schemas.microsoft.com/office/drawing/2014/main" id="{8DDC4029-9325-F15F-46AE-197E9584532A}"/>
              </a:ext>
            </a:extLst>
          </p:cNvPr>
          <p:cNvSpPr>
            <a:spLocks noGrp="1"/>
          </p:cNvSpPr>
          <p:nvPr>
            <p:ph type="title"/>
          </p:nvPr>
        </p:nvSpPr>
        <p:spPr>
          <a:xfrm>
            <a:off x="588261" y="585216"/>
            <a:ext cx="10043983" cy="975360"/>
          </a:xfrm>
        </p:spPr>
        <p:txBody>
          <a:bodyPr/>
          <a:lstStyle/>
          <a:p>
            <a:r>
              <a:rPr lang="es-ES" sz="3200" b="1" i="0" strike="noStrike" cap="none" baseline="0" dirty="0">
                <a:solidFill>
                  <a:srgbClr val="000000"/>
                </a:solidFill>
                <a:effectLst/>
                <a:latin typeface="Segoe UI Semibold"/>
                <a:ea typeface="Segoe UI Semibold"/>
                <a:cs typeface="Segoe UI Semibold"/>
              </a:rPr>
              <a:t>Comparación del patrón de código por turno</a:t>
            </a:r>
            <a:endParaRPr lang="en-US" sz="3200" dirty="0"/>
          </a:p>
        </p:txBody>
      </p:sp>
      <p:sp>
        <p:nvSpPr>
          <p:cNvPr id="3" name="Footer Placeholder 2">
            <a:extLst>
              <a:ext uri="{FF2B5EF4-FFF2-40B4-BE49-F238E27FC236}">
                <a16:creationId xmlns:a16="http://schemas.microsoft.com/office/drawing/2014/main" id="{A2AB8F3A-1802-FDBC-604C-19BF74311A20}"/>
              </a:ext>
            </a:extLst>
          </p:cNvPr>
          <p:cNvSpPr>
            <a:spLocks noGrp="1"/>
          </p:cNvSpPr>
          <p:nvPr>
            <p:ph type="ftr" sz="quarter" idx="3"/>
          </p:nvPr>
        </p:nvSpPr>
        <p:spPr>
          <a:xfrm>
            <a:off x="579438" y="6421083"/>
            <a:ext cx="4779962" cy="182880"/>
          </a:xfrm>
        </p:spPr>
        <p:txBody>
          <a:bodyPr/>
          <a:lstStyle/>
          <a:p>
            <a:pPr defTabSz="914367">
              <a:defRPr/>
            </a:pPr>
            <a:r>
              <a:rPr lang="es-ES" sz="1200" b="0" i="0" strike="noStrike" cap="none" baseline="0" dirty="0">
                <a:solidFill>
                  <a:srgbClr val="000000"/>
                </a:solidFill>
                <a:effectLst/>
                <a:latin typeface="Segoe UI"/>
                <a:ea typeface="Segoe UI"/>
                <a:cs typeface="Segoe UI"/>
              </a:rPr>
              <a:t>© Copyright Microsoft </a:t>
            </a:r>
            <a:r>
              <a:rPr lang="es-ES" sz="1200" b="0" i="0" strike="noStrike" cap="none" baseline="0" dirty="0" err="1">
                <a:solidFill>
                  <a:srgbClr val="000000"/>
                </a:solidFill>
                <a:effectLst/>
                <a:latin typeface="Segoe UI"/>
                <a:ea typeface="Segoe UI"/>
                <a:cs typeface="Segoe UI"/>
              </a:rPr>
              <a:t>Corporation</a:t>
            </a:r>
            <a:r>
              <a:rPr lang="es-ES" sz="1200" b="0" i="0" strike="noStrike" cap="none" baseline="0" dirty="0">
                <a:solidFill>
                  <a:srgbClr val="000000"/>
                </a:solidFill>
                <a:effectLst/>
                <a:latin typeface="Segoe UI"/>
                <a:ea typeface="Segoe UI"/>
                <a:cs typeface="Segoe UI"/>
              </a:rPr>
              <a:t>. Todos los derechos reservados.</a:t>
            </a:r>
          </a:p>
        </p:txBody>
      </p:sp>
      <p:sp>
        <p:nvSpPr>
          <p:cNvPr id="6" name="Rounded Rectangle 5">
            <a:extLst>
              <a:ext uri="{FF2B5EF4-FFF2-40B4-BE49-F238E27FC236}">
                <a16:creationId xmlns:a16="http://schemas.microsoft.com/office/drawing/2014/main" id="{E0AF0931-4574-90FC-FF1C-38A4E75B8446}"/>
              </a:ext>
              <a:ext uri="{C183D7F6-B498-43B3-948B-1728B52AA6E4}">
                <adec:decorative xmlns:adec="http://schemas.microsoft.com/office/drawing/2017/decorative" val="1"/>
              </a:ext>
            </a:extLst>
          </p:cNvPr>
          <p:cNvSpPr/>
          <p:nvPr/>
        </p:nvSpPr>
        <p:spPr bwMode="auto">
          <a:xfrm flipH="1">
            <a:off x="1559755" y="1202435"/>
            <a:ext cx="5029200" cy="521373"/>
          </a:xfrm>
          <a:prstGeom prst="roundRect">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8" name="TextBox 7">
            <a:extLst>
              <a:ext uri="{FF2B5EF4-FFF2-40B4-BE49-F238E27FC236}">
                <a16:creationId xmlns:a16="http://schemas.microsoft.com/office/drawing/2014/main" id="{A78FF9AD-287B-421B-C404-9D483EF9E6D9}"/>
              </a:ext>
            </a:extLst>
          </p:cNvPr>
          <p:cNvSpPr txBox="1"/>
          <p:nvPr/>
        </p:nvSpPr>
        <p:spPr>
          <a:xfrm>
            <a:off x="2077949" y="1324622"/>
            <a:ext cx="3139408" cy="277063"/>
          </a:xfrm>
          <a:prstGeom prst="rect">
            <a:avLst/>
          </a:prstGeom>
          <a:noFill/>
        </p:spPr>
        <p:txBody>
          <a:bodyPr wrap="none" lIns="0" tIns="0" rIns="0" bIns="0" rtlCol="0">
            <a:spAutoFit/>
          </a:bodyPr>
          <a:lstStyle/>
          <a:p>
            <a:pPr algn="l"/>
            <a:r>
              <a:rPr lang="es-ES" sz="1800" b="1" i="0" strike="noStrike" cap="none" baseline="0">
                <a:solidFill>
                  <a:srgbClr val="0078D4"/>
                </a:solidFill>
                <a:effectLst/>
                <a:latin typeface="Segoe UI Semibold"/>
                <a:ea typeface="Segoe UI Semibold"/>
                <a:cs typeface="Segoe UI Semibold"/>
              </a:rPr>
              <a:t>API de ChatCompletions</a:t>
            </a:r>
          </a:p>
        </p:txBody>
      </p:sp>
      <p:grpSp>
        <p:nvGrpSpPr>
          <p:cNvPr id="50" name="Group 49">
            <a:extLst>
              <a:ext uri="{FF2B5EF4-FFF2-40B4-BE49-F238E27FC236}">
                <a16:creationId xmlns:a16="http://schemas.microsoft.com/office/drawing/2014/main" id="{503C1443-0BB1-8550-0D9B-DF5E23DC1DC1}"/>
              </a:ext>
              <a:ext uri="{C183D7F6-B498-43B3-948B-1728B52AA6E4}">
                <adec:decorative xmlns:adec="http://schemas.microsoft.com/office/drawing/2017/decorative" val="1"/>
              </a:ext>
            </a:extLst>
          </p:cNvPr>
          <p:cNvGrpSpPr>
            <a:grpSpLocks noChangeAspect="1"/>
          </p:cNvGrpSpPr>
          <p:nvPr/>
        </p:nvGrpSpPr>
        <p:grpSpPr>
          <a:xfrm>
            <a:off x="1645303" y="1280241"/>
            <a:ext cx="365760" cy="365760"/>
            <a:chOff x="1255329" y="1453729"/>
            <a:chExt cx="457200" cy="457200"/>
          </a:xfrm>
        </p:grpSpPr>
        <p:sp>
          <p:nvSpPr>
            <p:cNvPr id="7" name="Oval 6">
              <a:extLst>
                <a:ext uri="{FF2B5EF4-FFF2-40B4-BE49-F238E27FC236}">
                  <a16:creationId xmlns:a16="http://schemas.microsoft.com/office/drawing/2014/main" id="{8E354E20-A11B-18FE-B36B-6F9A84F37D34}"/>
                </a:ext>
              </a:extLst>
            </p:cNvPr>
            <p:cNvSpPr>
              <a:spLocks noChangeAspect="1"/>
            </p:cNvSpPr>
            <p:nvPr/>
          </p:nvSpPr>
          <p:spPr bwMode="auto">
            <a:xfrm>
              <a:off x="1255329" y="1453729"/>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9" name="Graphic 8" descr="Speech with solid fill">
              <a:extLst>
                <a:ext uri="{FF2B5EF4-FFF2-40B4-BE49-F238E27FC236}">
                  <a16:creationId xmlns:a16="http://schemas.microsoft.com/office/drawing/2014/main" id="{9A074EBE-8E11-A787-82A7-68BB5668B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8002" y="1517737"/>
              <a:ext cx="365760" cy="365760"/>
            </a:xfrm>
            <a:prstGeom prst="rect">
              <a:avLst/>
            </a:prstGeom>
          </p:spPr>
        </p:pic>
      </p:grpSp>
      <p:sp>
        <p:nvSpPr>
          <p:cNvPr id="5" name="Rounded Rectangle 4">
            <a:extLst>
              <a:ext uri="{FF2B5EF4-FFF2-40B4-BE49-F238E27FC236}">
                <a16:creationId xmlns:a16="http://schemas.microsoft.com/office/drawing/2014/main" id="{70267658-6C6B-1932-01AC-3B78D059CDBC}"/>
              </a:ext>
              <a:ext uri="{C183D7F6-B498-43B3-948B-1728B52AA6E4}">
                <adec:decorative xmlns:adec="http://schemas.microsoft.com/office/drawing/2017/decorative" val="1"/>
              </a:ext>
            </a:extLst>
          </p:cNvPr>
          <p:cNvSpPr/>
          <p:nvPr/>
        </p:nvSpPr>
        <p:spPr bwMode="auto">
          <a:xfrm>
            <a:off x="6695235" y="1202600"/>
            <a:ext cx="5029200" cy="521208"/>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1" name="TextBox 10">
            <a:extLst>
              <a:ext uri="{FF2B5EF4-FFF2-40B4-BE49-F238E27FC236}">
                <a16:creationId xmlns:a16="http://schemas.microsoft.com/office/drawing/2014/main" id="{B855690E-939D-048F-E794-2819458B8594}"/>
              </a:ext>
            </a:extLst>
          </p:cNvPr>
          <p:cNvSpPr txBox="1"/>
          <p:nvPr/>
        </p:nvSpPr>
        <p:spPr>
          <a:xfrm>
            <a:off x="7240106" y="1324705"/>
            <a:ext cx="2060074" cy="277063"/>
          </a:xfrm>
          <a:prstGeom prst="rect">
            <a:avLst/>
          </a:prstGeom>
          <a:noFill/>
        </p:spPr>
        <p:txBody>
          <a:bodyPr wrap="none" lIns="0" tIns="0" rIns="0" bIns="0" rtlCol="0">
            <a:spAutoFit/>
          </a:bodyPr>
          <a:lstStyle/>
          <a:p>
            <a:pPr algn="l"/>
            <a:r>
              <a:rPr lang="es-ES" sz="1800" b="0" i="0" strike="noStrike" cap="none" baseline="0">
                <a:solidFill>
                  <a:srgbClr val="702573"/>
                </a:solidFill>
                <a:effectLst/>
                <a:latin typeface="Segoe UI Semibold"/>
                <a:ea typeface="Segoe UI Semibold"/>
                <a:cs typeface="Segoe UI Semibold"/>
              </a:rPr>
              <a:t>API de respuestas</a:t>
            </a:r>
          </a:p>
        </p:txBody>
      </p:sp>
      <p:grpSp>
        <p:nvGrpSpPr>
          <p:cNvPr id="51" name="Group 50">
            <a:extLst>
              <a:ext uri="{FF2B5EF4-FFF2-40B4-BE49-F238E27FC236}">
                <a16:creationId xmlns:a16="http://schemas.microsoft.com/office/drawing/2014/main" id="{516F72CF-7CE4-F27A-C1B8-AFE0870ADB32}"/>
              </a:ext>
              <a:ext uri="{C183D7F6-B498-43B3-948B-1728B52AA6E4}">
                <adec:decorative xmlns:adec="http://schemas.microsoft.com/office/drawing/2017/decorative" val="1"/>
              </a:ext>
            </a:extLst>
          </p:cNvPr>
          <p:cNvGrpSpPr>
            <a:grpSpLocks noChangeAspect="1"/>
          </p:cNvGrpSpPr>
          <p:nvPr/>
        </p:nvGrpSpPr>
        <p:grpSpPr>
          <a:xfrm>
            <a:off x="6813726" y="1280324"/>
            <a:ext cx="365760" cy="365760"/>
            <a:chOff x="6743621" y="1490636"/>
            <a:chExt cx="457200" cy="457200"/>
          </a:xfrm>
        </p:grpSpPr>
        <p:sp>
          <p:nvSpPr>
            <p:cNvPr id="10" name="Oval 9">
              <a:extLst>
                <a:ext uri="{FF2B5EF4-FFF2-40B4-BE49-F238E27FC236}">
                  <a16:creationId xmlns:a16="http://schemas.microsoft.com/office/drawing/2014/main" id="{B754FBEB-2638-2077-FEA1-41BF8BD03DDF}"/>
                </a:ext>
              </a:extLst>
            </p:cNvPr>
            <p:cNvSpPr>
              <a:spLocks noChangeAspect="1"/>
            </p:cNvSpPr>
            <p:nvPr/>
          </p:nvSpPr>
          <p:spPr bwMode="auto">
            <a:xfrm>
              <a:off x="6743621" y="1490636"/>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solidFill>
                  <a:schemeClr val="accent1"/>
                </a:solidFill>
                <a:ea typeface="Segoe UI" pitchFamily="34" charset="0"/>
                <a:cs typeface="Segoe UI" pitchFamily="34" charset="0"/>
              </a:endParaRPr>
            </a:p>
          </p:txBody>
        </p:sp>
        <p:pic>
          <p:nvPicPr>
            <p:cNvPr id="12" name="Graphic 11" descr="Lightning bolt with solid fill">
              <a:extLst>
                <a:ext uri="{FF2B5EF4-FFF2-40B4-BE49-F238E27FC236}">
                  <a16:creationId xmlns:a16="http://schemas.microsoft.com/office/drawing/2014/main" id="{21A8BEA7-F169-08DB-DFCF-02647215F4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4690" y="1558802"/>
              <a:ext cx="365760" cy="365760"/>
            </a:xfrm>
            <a:prstGeom prst="rect">
              <a:avLst/>
            </a:prstGeom>
          </p:spPr>
        </p:pic>
      </p:grpSp>
      <p:sp>
        <p:nvSpPr>
          <p:cNvPr id="15" name="Rounded Rectangle 14">
            <a:extLst>
              <a:ext uri="{FF2B5EF4-FFF2-40B4-BE49-F238E27FC236}">
                <a16:creationId xmlns:a16="http://schemas.microsoft.com/office/drawing/2014/main" id="{DC77FFFE-E954-03E5-717E-7554436BEA66}"/>
              </a:ext>
              <a:ext uri="{C183D7F6-B498-43B3-948B-1728B52AA6E4}">
                <adec:decorative xmlns:adec="http://schemas.microsoft.com/office/drawing/2017/decorative" val="1"/>
              </a:ext>
            </a:extLst>
          </p:cNvPr>
          <p:cNvSpPr/>
          <p:nvPr/>
        </p:nvSpPr>
        <p:spPr bwMode="auto">
          <a:xfrm>
            <a:off x="1559756" y="1779334"/>
            <a:ext cx="5029199" cy="563249"/>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0" name="Rounded Rectangle 19">
            <a:extLst>
              <a:ext uri="{FF2B5EF4-FFF2-40B4-BE49-F238E27FC236}">
                <a16:creationId xmlns:a16="http://schemas.microsoft.com/office/drawing/2014/main" id="{74DCC00E-FBE4-2FB2-3910-0CF687E40BD6}"/>
              </a:ext>
              <a:ext uri="{C183D7F6-B498-43B3-948B-1728B52AA6E4}">
                <adec:decorative xmlns:adec="http://schemas.microsoft.com/office/drawing/2017/decorative" val="1"/>
              </a:ext>
            </a:extLst>
          </p:cNvPr>
          <p:cNvSpPr/>
          <p:nvPr/>
        </p:nvSpPr>
        <p:spPr bwMode="auto">
          <a:xfrm>
            <a:off x="1559756" y="2398109"/>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28" name="Rounded Rectangle 27">
            <a:extLst>
              <a:ext uri="{FF2B5EF4-FFF2-40B4-BE49-F238E27FC236}">
                <a16:creationId xmlns:a16="http://schemas.microsoft.com/office/drawing/2014/main" id="{E2183FE4-EFF6-E985-732F-A84D08D41C9A}"/>
              </a:ext>
              <a:ext uri="{C183D7F6-B498-43B3-948B-1728B52AA6E4}">
                <adec:decorative xmlns:adec="http://schemas.microsoft.com/office/drawing/2017/decorative" val="1"/>
              </a:ext>
            </a:extLst>
          </p:cNvPr>
          <p:cNvSpPr/>
          <p:nvPr/>
        </p:nvSpPr>
        <p:spPr bwMode="auto">
          <a:xfrm>
            <a:off x="6695236" y="3311002"/>
            <a:ext cx="5029199" cy="1059207"/>
          </a:xfrm>
          <a:prstGeom prst="roundRect">
            <a:avLst>
              <a:gd name="adj" fmla="val 10912"/>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1" name="TextBox 40">
            <a:extLst>
              <a:ext uri="{FF2B5EF4-FFF2-40B4-BE49-F238E27FC236}">
                <a16:creationId xmlns:a16="http://schemas.microsoft.com/office/drawing/2014/main" id="{817DB563-CA26-27E6-B67B-CA769C6D5E09}"/>
              </a:ext>
            </a:extLst>
          </p:cNvPr>
          <p:cNvSpPr txBox="1"/>
          <p:nvPr/>
        </p:nvSpPr>
        <p:spPr>
          <a:xfrm>
            <a:off x="1557618" y="1829930"/>
            <a:ext cx="5026060" cy="45720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conversation_messages</a:t>
            </a:r>
            <a:r>
              <a:rPr lang="es-ES" sz="1200" b="0" i="0" strike="noStrike" cap="none" baseline="0">
                <a:solidFill>
                  <a:srgbClr val="ABB2BF"/>
                </a:solidFill>
                <a:effectLst/>
                <a:latin typeface="Consolas"/>
                <a:ea typeface="Consolas"/>
                <a:cs typeface="Consolas"/>
              </a:rPr>
              <a:t> = [</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"system"</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"You are helpful..."</a:t>
            </a:r>
            <a:r>
              <a:rPr lang="es-ES" sz="1200" b="0" i="0" strike="noStrike" cap="none" baseline="0">
                <a:solidFill>
                  <a:srgbClr val="ABB2BF"/>
                </a:solidFill>
                <a:effectLst/>
                <a:latin typeface="Consolas"/>
                <a:ea typeface="Consolas"/>
                <a:cs typeface="Consolas"/>
              </a:rPr>
              <a:t>}]</a:t>
            </a:r>
            <a:endParaRPr lang="en-US" sz="1200"/>
          </a:p>
        </p:txBody>
      </p:sp>
      <p:sp>
        <p:nvSpPr>
          <p:cNvPr id="43" name="TextBox 42">
            <a:extLst>
              <a:ext uri="{FF2B5EF4-FFF2-40B4-BE49-F238E27FC236}">
                <a16:creationId xmlns:a16="http://schemas.microsoft.com/office/drawing/2014/main" id="{35A35AD2-85A5-0C97-3108-D837FAC19E41}"/>
              </a:ext>
            </a:extLst>
          </p:cNvPr>
          <p:cNvSpPr txBox="1"/>
          <p:nvPr/>
        </p:nvSpPr>
        <p:spPr>
          <a:xfrm>
            <a:off x="1554481" y="2484098"/>
            <a:ext cx="5029199" cy="64008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conversation_messages</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DCDCAA"/>
                </a:solidFill>
                <a:effectLst/>
                <a:latin typeface="Consolas"/>
                <a:ea typeface="Consolas"/>
                <a:cs typeface="Consolas"/>
              </a:rPr>
              <a:t>append</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"user"</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input_text</a:t>
            </a:r>
            <a:r>
              <a:rPr lang="es-ES" sz="1200" b="0" i="0" strike="noStrike" cap="none" baseline="0">
                <a:solidFill>
                  <a:srgbClr val="ABB2BF"/>
                </a:solidFill>
                <a:effectLst/>
                <a:latin typeface="Consolas"/>
                <a:ea typeface="Consolas"/>
                <a:cs typeface="Consolas"/>
              </a:rPr>
              <a:t>})</a:t>
            </a:r>
            <a:endParaRPr lang="en-US" sz="1200"/>
          </a:p>
        </p:txBody>
      </p:sp>
      <p:sp>
        <p:nvSpPr>
          <p:cNvPr id="45" name="TextBox 44">
            <a:extLst>
              <a:ext uri="{FF2B5EF4-FFF2-40B4-BE49-F238E27FC236}">
                <a16:creationId xmlns:a16="http://schemas.microsoft.com/office/drawing/2014/main" id="{92A5A684-7CE9-B1E8-E6A4-9B88D055CB7A}"/>
              </a:ext>
            </a:extLst>
          </p:cNvPr>
          <p:cNvSpPr txBox="1"/>
          <p:nvPr/>
        </p:nvSpPr>
        <p:spPr>
          <a:xfrm>
            <a:off x="1554481" y="3388560"/>
            <a:ext cx="5029199" cy="64008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completion</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9CDCFE"/>
                </a:solidFill>
                <a:effectLst/>
                <a:latin typeface="Consolas"/>
                <a:ea typeface="Consolas"/>
                <a:cs typeface="Consolas"/>
              </a:rPr>
              <a:t>openai_client</a:t>
            </a:r>
            <a:r>
              <a:rPr lang="es-ES" sz="1200" b="0" i="0" strike="noStrike" cap="none" baseline="0">
                <a:solidFill>
                  <a:srgbClr val="ABB2BF"/>
                </a:solidFill>
                <a:effectLst/>
                <a:latin typeface="Consolas"/>
                <a:ea typeface="Consolas"/>
                <a:cs typeface="Consolas"/>
              </a:rPr>
              <a:t>.chat.completions.</a:t>
            </a:r>
            <a:r>
              <a:rPr lang="es-ES" sz="1200" b="0" i="0" strike="noStrike" cap="none" baseline="0">
                <a:solidFill>
                  <a:srgbClr val="DCDCAA"/>
                </a:solidFill>
                <a:effectLst/>
                <a:latin typeface="Consolas"/>
                <a:ea typeface="Consolas"/>
                <a:cs typeface="Consolas"/>
              </a:rPr>
              <a:t>create</a:t>
            </a:r>
            <a:r>
              <a:rPr lang="es-ES" sz="1200" b="0" i="0" strike="noStrike" cap="none" baseline="0">
                <a:solidFill>
                  <a:srgbClr val="ABB2BF"/>
                </a:solidFill>
                <a:effectLst/>
                <a:latin typeface="Consolas"/>
                <a:ea typeface="Consolas"/>
                <a:cs typeface="Consolas"/>
              </a:rPr>
              <a:t>( </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model</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CE9178"/>
                </a:solidFill>
                <a:effectLst/>
                <a:latin typeface="Consolas"/>
                <a:ea typeface="Consolas"/>
                <a:cs typeface="Consolas"/>
              </a:rPr>
              <a:t>"gpt-4.1"</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messages</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conversation_messages</a:t>
            </a:r>
            <a:r>
              <a:rPr lang="es-ES" sz="1200" b="0" i="0" strike="noStrike" cap="none" baseline="0">
                <a:solidFill>
                  <a:srgbClr val="ABB2BF"/>
                </a:solidFill>
                <a:effectLst/>
                <a:latin typeface="Consolas"/>
                <a:ea typeface="Consolas"/>
                <a:cs typeface="Consolas"/>
              </a:rPr>
              <a:t>)</a:t>
            </a:r>
            <a:endParaRPr lang="en-US" sz="1200"/>
          </a:p>
        </p:txBody>
      </p:sp>
      <p:sp>
        <p:nvSpPr>
          <p:cNvPr id="52" name="Rounded Rectangle 51">
            <a:extLst>
              <a:ext uri="{FF2B5EF4-FFF2-40B4-BE49-F238E27FC236}">
                <a16:creationId xmlns:a16="http://schemas.microsoft.com/office/drawing/2014/main" id="{05CE2B58-310B-2ABE-BE0D-AF1E5613DCA8}"/>
              </a:ext>
              <a:ext uri="{C183D7F6-B498-43B3-948B-1728B52AA6E4}">
                <adec:decorative xmlns:adec="http://schemas.microsoft.com/office/drawing/2017/decorative" val="1"/>
              </a:ext>
            </a:extLst>
          </p:cNvPr>
          <p:cNvSpPr/>
          <p:nvPr/>
        </p:nvSpPr>
        <p:spPr bwMode="auto">
          <a:xfrm>
            <a:off x="6695236" y="1835549"/>
            <a:ext cx="5029199" cy="563249"/>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5" name="TextBox 34">
            <a:extLst>
              <a:ext uri="{FF2B5EF4-FFF2-40B4-BE49-F238E27FC236}">
                <a16:creationId xmlns:a16="http://schemas.microsoft.com/office/drawing/2014/main" id="{D4262AB6-47EF-25D7-6B4D-D813B5158399}"/>
              </a:ext>
            </a:extLst>
          </p:cNvPr>
          <p:cNvSpPr txBox="1"/>
          <p:nvPr/>
        </p:nvSpPr>
        <p:spPr>
          <a:xfrm>
            <a:off x="6708650" y="1957469"/>
            <a:ext cx="5018706" cy="274320"/>
          </a:xfrm>
          <a:prstGeom prst="rect">
            <a:avLst/>
          </a:prstGeom>
          <a:noFill/>
        </p:spPr>
        <p:txBody>
          <a:bodyPr wrap="square">
            <a:spAutoFit/>
          </a:bodyPr>
          <a:lstStyle/>
          <a:p>
            <a:pPr algn="l">
              <a:buNone/>
            </a:pPr>
            <a:r>
              <a:rPr lang="es-ES" sz="1200" b="0" i="0" strike="noStrike" cap="none" baseline="0">
                <a:solidFill>
                  <a:srgbClr val="9CDCFE"/>
                </a:solidFill>
                <a:effectLst/>
                <a:latin typeface="Consolas"/>
                <a:ea typeface="Consolas"/>
                <a:cs typeface="Consolas"/>
              </a:rPr>
              <a:t>last_response_id</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569CD6"/>
                </a:solidFill>
                <a:effectLst/>
                <a:latin typeface="Consolas"/>
                <a:ea typeface="Consolas"/>
                <a:cs typeface="Consolas"/>
              </a:rPr>
              <a:t>None</a:t>
            </a:r>
            <a:endParaRPr lang="en-US" sz="1200" b="0" i="0">
              <a:solidFill>
                <a:srgbClr val="ABB2BF"/>
              </a:solidFill>
              <a:effectLst/>
              <a:latin typeface="Consolas" panose="020B0609020204030204" pitchFamily="49" charset="0"/>
            </a:endParaRPr>
          </a:p>
        </p:txBody>
      </p:sp>
      <p:sp>
        <p:nvSpPr>
          <p:cNvPr id="55" name="Rounded Rectangle 54">
            <a:extLst>
              <a:ext uri="{FF2B5EF4-FFF2-40B4-BE49-F238E27FC236}">
                <a16:creationId xmlns:a16="http://schemas.microsoft.com/office/drawing/2014/main" id="{0F91F743-A49E-0F26-1449-4BB9EFDC4C48}"/>
              </a:ext>
              <a:ext uri="{C183D7F6-B498-43B3-948B-1728B52AA6E4}">
                <adec:decorative xmlns:adec="http://schemas.microsoft.com/office/drawing/2017/decorative" val="1"/>
              </a:ext>
            </a:extLst>
          </p:cNvPr>
          <p:cNvSpPr/>
          <p:nvPr/>
        </p:nvSpPr>
        <p:spPr bwMode="auto">
          <a:xfrm>
            <a:off x="1559756" y="4199461"/>
            <a:ext cx="5029199" cy="56096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7" name="TextBox 46">
            <a:extLst>
              <a:ext uri="{FF2B5EF4-FFF2-40B4-BE49-F238E27FC236}">
                <a16:creationId xmlns:a16="http://schemas.microsoft.com/office/drawing/2014/main" id="{7AA3CA38-A1FC-B9A0-0BF5-A0239C1B6A17}"/>
              </a:ext>
            </a:extLst>
          </p:cNvPr>
          <p:cNvSpPr txBox="1"/>
          <p:nvPr/>
        </p:nvSpPr>
        <p:spPr>
          <a:xfrm>
            <a:off x="1554480" y="4209544"/>
            <a:ext cx="5029199" cy="45720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assistant_msg</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9CDCFE"/>
                </a:solidFill>
                <a:effectLst/>
                <a:latin typeface="Consolas"/>
                <a:ea typeface="Consolas"/>
                <a:cs typeface="Consolas"/>
              </a:rPr>
              <a:t>completion</a:t>
            </a:r>
            <a:r>
              <a:rPr lang="es-ES" sz="1200" b="0" i="0" strike="noStrike" cap="none" baseline="0">
                <a:solidFill>
                  <a:srgbClr val="ABB2BF"/>
                </a:solidFill>
                <a:effectLst/>
                <a:latin typeface="Consolas"/>
                <a:ea typeface="Consolas"/>
                <a:cs typeface="Consolas"/>
              </a:rPr>
              <a:t>.choices[</a:t>
            </a:r>
            <a:r>
              <a:rPr lang="es-ES" sz="1200" b="0" i="0" strike="noStrike" cap="none" baseline="0">
                <a:solidFill>
                  <a:srgbClr val="B5CEA8"/>
                </a:solidFill>
                <a:effectLst/>
                <a:latin typeface="Consolas"/>
                <a:ea typeface="Consolas"/>
                <a:cs typeface="Consolas"/>
              </a:rPr>
              <a:t>0</a:t>
            </a:r>
            <a:r>
              <a:rPr lang="es-ES" sz="1200" b="0" i="0" strike="noStrike" cap="none" baseline="0">
                <a:solidFill>
                  <a:srgbClr val="ABB2BF"/>
                </a:solidFill>
                <a:effectLst/>
                <a:latin typeface="Consolas"/>
                <a:ea typeface="Consolas"/>
                <a:cs typeface="Consolas"/>
              </a:rPr>
              <a:t>].message.content</a:t>
            </a:r>
            <a:endParaRPr lang="en-US" sz="1200" b="0" i="0">
              <a:solidFill>
                <a:srgbClr val="ABB2BF"/>
              </a:solidFill>
              <a:effectLst/>
              <a:latin typeface="Consolas" panose="020B0609020204030204" pitchFamily="49" charset="0"/>
            </a:endParaRPr>
          </a:p>
          <a:p>
            <a:r>
              <a:rPr lang="es-ES" sz="1200" b="0" i="0" strike="noStrike" cap="none" baseline="0">
                <a:solidFill>
                  <a:srgbClr val="DCDCAA"/>
                </a:solidFill>
                <a:effectLst/>
                <a:latin typeface="Consolas"/>
                <a:ea typeface="Consolas"/>
                <a:cs typeface="Consolas"/>
              </a:rPr>
              <a:t>print</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assistant_msg</a:t>
            </a:r>
            <a:r>
              <a:rPr lang="es-ES" sz="1200" b="0" i="0" strike="noStrike" cap="none" baseline="0">
                <a:solidFill>
                  <a:srgbClr val="ABB2BF"/>
                </a:solidFill>
                <a:effectLst/>
                <a:latin typeface="Consolas"/>
                <a:ea typeface="Consolas"/>
                <a:cs typeface="Consolas"/>
              </a:rPr>
              <a:t>)</a:t>
            </a:r>
            <a:endParaRPr lang="en-US" sz="1200"/>
          </a:p>
        </p:txBody>
      </p:sp>
      <p:sp>
        <p:nvSpPr>
          <p:cNvPr id="56" name="Rounded Rectangle 55">
            <a:extLst>
              <a:ext uri="{FF2B5EF4-FFF2-40B4-BE49-F238E27FC236}">
                <a16:creationId xmlns:a16="http://schemas.microsoft.com/office/drawing/2014/main" id="{FA72C1EC-57AC-ED05-A3DE-F414B7078C87}"/>
              </a:ext>
              <a:ext uri="{C183D7F6-B498-43B3-948B-1728B52AA6E4}">
                <adec:decorative xmlns:adec="http://schemas.microsoft.com/office/drawing/2017/decorative" val="1"/>
              </a:ext>
            </a:extLst>
          </p:cNvPr>
          <p:cNvSpPr/>
          <p:nvPr/>
        </p:nvSpPr>
        <p:spPr bwMode="auto">
          <a:xfrm>
            <a:off x="1559756" y="4815947"/>
            <a:ext cx="5029199" cy="845150"/>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49" name="TextBox 48">
            <a:extLst>
              <a:ext uri="{FF2B5EF4-FFF2-40B4-BE49-F238E27FC236}">
                <a16:creationId xmlns:a16="http://schemas.microsoft.com/office/drawing/2014/main" id="{F3B6110C-5015-1C57-7130-9690B644C2A2}"/>
              </a:ext>
            </a:extLst>
          </p:cNvPr>
          <p:cNvSpPr txBox="1"/>
          <p:nvPr/>
        </p:nvSpPr>
        <p:spPr>
          <a:xfrm>
            <a:off x="1554479" y="4891786"/>
            <a:ext cx="5029199" cy="64008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conversation_messages</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DCDCAA"/>
                </a:solidFill>
                <a:effectLst/>
                <a:latin typeface="Consolas"/>
                <a:ea typeface="Consolas"/>
                <a:cs typeface="Consolas"/>
              </a:rPr>
              <a:t>append</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"role"</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"assistant"</a:t>
            </a:r>
            <a:r>
              <a:rPr lang="es-ES" sz="1200" b="0" i="0" strike="noStrike" cap="none" baseline="0">
                <a:solidFill>
                  <a:srgbClr val="ABB2BF"/>
                </a:solidFill>
                <a:effectLst/>
                <a:latin typeface="Consolas"/>
                <a:ea typeface="Consolas"/>
                <a:cs typeface="Consolas"/>
              </a:rPr>
              <a:t>,</a:t>
            </a:r>
          </a:p>
          <a:p>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CE9178"/>
                </a:solidFill>
                <a:effectLst/>
                <a:latin typeface="Consolas"/>
                <a:ea typeface="Consolas"/>
                <a:cs typeface="Consolas"/>
              </a:rPr>
              <a:t>"content"</a:t>
            </a:r>
            <a:r>
              <a:rPr lang="es-ES" sz="1200" b="0" i="0" strike="noStrike" cap="none" baseline="0">
                <a:solidFill>
                  <a:srgbClr val="ABB2BF"/>
                </a:solidFill>
                <a:effectLst/>
                <a:latin typeface="Consolas"/>
                <a:ea typeface="Consolas"/>
                <a:cs typeface="Consolas"/>
              </a:rPr>
              <a:t>: </a:t>
            </a:r>
            <a:r>
              <a:rPr lang="es-ES" sz="1200" b="0" i="0" strike="noStrike" cap="none" baseline="0">
                <a:solidFill>
                  <a:srgbClr val="9CDCFE"/>
                </a:solidFill>
                <a:effectLst/>
                <a:latin typeface="Consolas"/>
                <a:ea typeface="Consolas"/>
                <a:cs typeface="Consolas"/>
              </a:rPr>
              <a:t>assistant_msg</a:t>
            </a:r>
            <a:r>
              <a:rPr lang="es-ES" sz="1200" b="0" i="0" strike="noStrike" cap="none" baseline="0">
                <a:solidFill>
                  <a:srgbClr val="ABB2BF"/>
                </a:solidFill>
                <a:effectLst/>
                <a:latin typeface="Consolas"/>
                <a:ea typeface="Consolas"/>
                <a:cs typeface="Consolas"/>
              </a:rPr>
              <a:t>})</a:t>
            </a:r>
            <a:endParaRPr lang="en-US" sz="1200"/>
          </a:p>
        </p:txBody>
      </p:sp>
      <p:sp>
        <p:nvSpPr>
          <p:cNvPr id="57" name="Rounded Rectangle 56">
            <a:extLst>
              <a:ext uri="{FF2B5EF4-FFF2-40B4-BE49-F238E27FC236}">
                <a16:creationId xmlns:a16="http://schemas.microsoft.com/office/drawing/2014/main" id="{2B234CCF-5F11-06E9-8CFA-37151413BA54}"/>
              </a:ext>
              <a:ext uri="{C183D7F6-B498-43B3-948B-1728B52AA6E4}">
                <adec:decorative xmlns:adec="http://schemas.microsoft.com/office/drawing/2017/decorative" val="1"/>
              </a:ext>
            </a:extLst>
          </p:cNvPr>
          <p:cNvSpPr/>
          <p:nvPr/>
        </p:nvSpPr>
        <p:spPr bwMode="auto">
          <a:xfrm>
            <a:off x="6695236" y="4405911"/>
            <a:ext cx="5029199" cy="461665"/>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7" name="TextBox 36">
            <a:extLst>
              <a:ext uri="{FF2B5EF4-FFF2-40B4-BE49-F238E27FC236}">
                <a16:creationId xmlns:a16="http://schemas.microsoft.com/office/drawing/2014/main" id="{01F360FA-363B-4743-2158-7CC34B94FF15}"/>
              </a:ext>
            </a:extLst>
          </p:cNvPr>
          <p:cNvSpPr txBox="1"/>
          <p:nvPr/>
        </p:nvSpPr>
        <p:spPr>
          <a:xfrm>
            <a:off x="6692315" y="4491255"/>
            <a:ext cx="5018706" cy="274320"/>
          </a:xfrm>
          <a:prstGeom prst="rect">
            <a:avLst/>
          </a:prstGeom>
          <a:noFill/>
        </p:spPr>
        <p:txBody>
          <a:bodyPr wrap="square">
            <a:spAutoFit/>
          </a:bodyPr>
          <a:lstStyle/>
          <a:p>
            <a:pPr algn="l">
              <a:buNone/>
            </a:pPr>
            <a:r>
              <a:rPr lang="es-ES" sz="1200" b="0" i="0" strike="noStrike" cap="none" baseline="0">
                <a:solidFill>
                  <a:srgbClr val="DCDCAA"/>
                </a:solidFill>
                <a:effectLst/>
                <a:latin typeface="Consolas"/>
                <a:ea typeface="Consolas"/>
                <a:cs typeface="Consolas"/>
              </a:rPr>
              <a:t>print</a:t>
            </a:r>
            <a:r>
              <a:rPr lang="es-ES" sz="1200" b="0" i="0" strike="noStrike" cap="none" baseline="0">
                <a:solidFill>
                  <a:srgbClr val="ABB2BF"/>
                </a:solidFill>
                <a:effectLst/>
                <a:latin typeface="Consolas"/>
                <a:ea typeface="Consolas"/>
                <a:cs typeface="Consolas"/>
              </a:rPr>
              <a:t>(</a:t>
            </a:r>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.output_text)</a:t>
            </a:r>
            <a:endParaRPr lang="en-US" sz="1200"/>
          </a:p>
        </p:txBody>
      </p:sp>
      <p:sp>
        <p:nvSpPr>
          <p:cNvPr id="58" name="Rounded Rectangle 57">
            <a:extLst>
              <a:ext uri="{FF2B5EF4-FFF2-40B4-BE49-F238E27FC236}">
                <a16:creationId xmlns:a16="http://schemas.microsoft.com/office/drawing/2014/main" id="{579E7E8D-B48E-3DE9-219A-B8AD3AEAB062}"/>
              </a:ext>
              <a:ext uri="{C183D7F6-B498-43B3-948B-1728B52AA6E4}">
                <adec:decorative xmlns:adec="http://schemas.microsoft.com/office/drawing/2017/decorative" val="1"/>
              </a:ext>
            </a:extLst>
          </p:cNvPr>
          <p:cNvSpPr/>
          <p:nvPr/>
        </p:nvSpPr>
        <p:spPr bwMode="auto">
          <a:xfrm>
            <a:off x="6681822" y="5202634"/>
            <a:ext cx="5029199" cy="461665"/>
          </a:xfrm>
          <a:prstGeom prst="round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39" name="TextBox 38">
            <a:extLst>
              <a:ext uri="{FF2B5EF4-FFF2-40B4-BE49-F238E27FC236}">
                <a16:creationId xmlns:a16="http://schemas.microsoft.com/office/drawing/2014/main" id="{AA9D12CD-1077-F82C-2C40-82D01678AFA1}"/>
              </a:ext>
            </a:extLst>
          </p:cNvPr>
          <p:cNvSpPr txBox="1"/>
          <p:nvPr/>
        </p:nvSpPr>
        <p:spPr>
          <a:xfrm>
            <a:off x="6681822" y="5285903"/>
            <a:ext cx="4991878" cy="274320"/>
          </a:xfrm>
          <a:prstGeom prst="rect">
            <a:avLst/>
          </a:prstGeom>
          <a:noFill/>
        </p:spPr>
        <p:txBody>
          <a:bodyPr wrap="square">
            <a:spAutoFit/>
          </a:bodyPr>
          <a:lstStyle/>
          <a:p>
            <a:r>
              <a:rPr lang="es-ES" sz="1200" b="0" i="0" strike="noStrike" cap="none" baseline="0">
                <a:solidFill>
                  <a:srgbClr val="9CDCFE"/>
                </a:solidFill>
                <a:effectLst/>
                <a:latin typeface="Consolas"/>
                <a:ea typeface="Consolas"/>
                <a:cs typeface="Consolas"/>
              </a:rPr>
              <a:t>last_response_id</a:t>
            </a:r>
            <a:r>
              <a:rPr lang="es-ES" sz="1200" b="0" i="0" strike="noStrike" cap="none" baseline="0">
                <a:solidFill>
                  <a:srgbClr val="ABB2BF"/>
                </a:solidFill>
                <a:effectLst/>
                <a:latin typeface="Consolas"/>
                <a:ea typeface="Consolas"/>
                <a:cs typeface="Consolas"/>
              </a:rPr>
              <a:t> = </a:t>
            </a:r>
            <a:r>
              <a:rPr lang="es-ES" sz="1200" b="0" i="0" strike="noStrike" cap="none" baseline="0">
                <a:solidFill>
                  <a:srgbClr val="9CDCFE"/>
                </a:solidFill>
                <a:effectLst/>
                <a:latin typeface="Consolas"/>
                <a:ea typeface="Consolas"/>
                <a:cs typeface="Consolas"/>
              </a:rPr>
              <a:t>response</a:t>
            </a:r>
            <a:r>
              <a:rPr lang="es-ES" sz="1200" b="0" i="0" strike="noStrike" cap="none" baseline="0">
                <a:solidFill>
                  <a:srgbClr val="ABB2BF"/>
                </a:solidFill>
                <a:effectLst/>
                <a:latin typeface="Consolas"/>
                <a:ea typeface="Consolas"/>
                <a:cs typeface="Consolas"/>
              </a:rPr>
              <a:t>.id</a:t>
            </a:r>
            <a:endParaRPr lang="en-US" sz="1200"/>
          </a:p>
        </p:txBody>
      </p:sp>
      <p:grpSp>
        <p:nvGrpSpPr>
          <p:cNvPr id="70" name="Group 69">
            <a:extLst>
              <a:ext uri="{FF2B5EF4-FFF2-40B4-BE49-F238E27FC236}">
                <a16:creationId xmlns:a16="http://schemas.microsoft.com/office/drawing/2014/main" id="{8F325D51-7BD7-12ED-DAF4-708BBA3CAFD8}"/>
              </a:ext>
              <a:ext uri="{C183D7F6-B498-43B3-948B-1728B52AA6E4}">
                <adec:decorative xmlns:adec="http://schemas.microsoft.com/office/drawing/2017/decorative" val="1"/>
              </a:ext>
            </a:extLst>
          </p:cNvPr>
          <p:cNvGrpSpPr/>
          <p:nvPr/>
        </p:nvGrpSpPr>
        <p:grpSpPr>
          <a:xfrm>
            <a:off x="544191" y="1901997"/>
            <a:ext cx="849838" cy="338554"/>
            <a:chOff x="544191" y="1901997"/>
            <a:chExt cx="849838" cy="338554"/>
          </a:xfrm>
        </p:grpSpPr>
        <p:sp>
          <p:nvSpPr>
            <p:cNvPr id="59" name="Oval 58">
              <a:extLst>
                <a:ext uri="{FF2B5EF4-FFF2-40B4-BE49-F238E27FC236}">
                  <a16:creationId xmlns:a16="http://schemas.microsoft.com/office/drawing/2014/main" id="{7625B65B-3181-A87F-4BA2-9982A0CBBEE0}"/>
                </a:ext>
              </a:extLst>
            </p:cNvPr>
            <p:cNvSpPr>
              <a:spLocks noChangeAspect="1"/>
            </p:cNvSpPr>
            <p:nvPr/>
          </p:nvSpPr>
          <p:spPr bwMode="auto">
            <a:xfrm>
              <a:off x="544191" y="1979834"/>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808080"/>
                  </a:solidFill>
                  <a:effectLst/>
                  <a:latin typeface="Segoe UI"/>
                  <a:ea typeface="Segoe UI"/>
                  <a:cs typeface="Segoe UI"/>
                </a:rPr>
                <a:t>1</a:t>
              </a:r>
            </a:p>
          </p:txBody>
        </p:sp>
        <p:sp>
          <p:nvSpPr>
            <p:cNvPr id="64" name="TextBox 63">
              <a:extLst>
                <a:ext uri="{FF2B5EF4-FFF2-40B4-BE49-F238E27FC236}">
                  <a16:creationId xmlns:a16="http://schemas.microsoft.com/office/drawing/2014/main" id="{EB508759-FE10-B119-39AC-8A17154F9483}"/>
                </a:ext>
              </a:extLst>
            </p:cNvPr>
            <p:cNvSpPr txBox="1"/>
            <p:nvPr/>
          </p:nvSpPr>
          <p:spPr>
            <a:xfrm>
              <a:off x="842523" y="1901997"/>
              <a:ext cx="626920" cy="338633"/>
            </a:xfrm>
            <a:prstGeom prst="rect">
              <a:avLst/>
            </a:prstGeom>
            <a:noFill/>
          </p:spPr>
          <p:txBody>
            <a:bodyPr wrap="none" lIns="0" tIns="0" rIns="0" bIns="0" rtlCol="0">
              <a:spAutoFit/>
            </a:bodyPr>
            <a:lstStyle/>
            <a:p>
              <a:pPr algn="ctr"/>
              <a:r>
                <a:rPr lang="es-ES" sz="1100" b="0" i="0" strike="noStrike" cap="none" baseline="0">
                  <a:solidFill>
                    <a:srgbClr val="808080"/>
                  </a:solidFill>
                  <a:effectLst/>
                  <a:latin typeface="Segoe UI Semibold"/>
                  <a:ea typeface="Segoe UI Semibold"/>
                  <a:cs typeface="Segoe UI Semibold"/>
                </a:rPr>
                <a:t>INITIAL</a:t>
              </a:r>
            </a:p>
            <a:p>
              <a:pPr algn="ctr"/>
              <a:r>
                <a:rPr lang="es-ES" sz="1100" b="0" i="0" strike="noStrike" cap="none" baseline="0">
                  <a:solidFill>
                    <a:srgbClr val="808080"/>
                  </a:solidFill>
                  <a:effectLst/>
                  <a:latin typeface="Segoe UI Semibold"/>
                  <a:ea typeface="Segoe UI Semibold"/>
                  <a:cs typeface="Segoe UI Semibold"/>
                </a:rPr>
                <a:t> ESTADO</a:t>
              </a:r>
            </a:p>
          </p:txBody>
        </p:sp>
      </p:grpSp>
      <p:grpSp>
        <p:nvGrpSpPr>
          <p:cNvPr id="71" name="Group 70">
            <a:extLst>
              <a:ext uri="{FF2B5EF4-FFF2-40B4-BE49-F238E27FC236}">
                <a16:creationId xmlns:a16="http://schemas.microsoft.com/office/drawing/2014/main" id="{7933073B-54AB-7039-0D15-4F448645C600}"/>
              </a:ext>
              <a:ext uri="{C183D7F6-B498-43B3-948B-1728B52AA6E4}">
                <adec:decorative xmlns:adec="http://schemas.microsoft.com/office/drawing/2017/decorative" val="1"/>
              </a:ext>
            </a:extLst>
          </p:cNvPr>
          <p:cNvGrpSpPr/>
          <p:nvPr/>
        </p:nvGrpSpPr>
        <p:grpSpPr>
          <a:xfrm>
            <a:off x="544191" y="2632315"/>
            <a:ext cx="816976" cy="338554"/>
            <a:chOff x="544191" y="2632315"/>
            <a:chExt cx="816976" cy="338554"/>
          </a:xfrm>
        </p:grpSpPr>
        <p:sp>
          <p:nvSpPr>
            <p:cNvPr id="63" name="Oval 62">
              <a:extLst>
                <a:ext uri="{FF2B5EF4-FFF2-40B4-BE49-F238E27FC236}">
                  <a16:creationId xmlns:a16="http://schemas.microsoft.com/office/drawing/2014/main" id="{553C555A-D0DB-C982-0B4E-C918D426AB92}"/>
                </a:ext>
              </a:extLst>
            </p:cNvPr>
            <p:cNvSpPr>
              <a:spLocks noChangeAspect="1"/>
            </p:cNvSpPr>
            <p:nvPr/>
          </p:nvSpPr>
          <p:spPr bwMode="auto">
            <a:xfrm>
              <a:off x="544191" y="271015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808080"/>
                  </a:solidFill>
                  <a:effectLst/>
                  <a:latin typeface="Segoe UI"/>
                  <a:ea typeface="Segoe UI"/>
                  <a:cs typeface="Segoe UI"/>
                </a:rPr>
                <a:t>2</a:t>
              </a:r>
            </a:p>
          </p:txBody>
        </p:sp>
        <p:sp>
          <p:nvSpPr>
            <p:cNvPr id="65" name="TextBox 64">
              <a:extLst>
                <a:ext uri="{FF2B5EF4-FFF2-40B4-BE49-F238E27FC236}">
                  <a16:creationId xmlns:a16="http://schemas.microsoft.com/office/drawing/2014/main" id="{500C522F-8F48-F177-36DF-E9E162F2F042}"/>
                </a:ext>
              </a:extLst>
            </p:cNvPr>
            <p:cNvSpPr txBox="1"/>
            <p:nvPr/>
          </p:nvSpPr>
          <p:spPr>
            <a:xfrm>
              <a:off x="945138" y="2632315"/>
              <a:ext cx="421688" cy="338633"/>
            </a:xfrm>
            <a:prstGeom prst="rect">
              <a:avLst/>
            </a:prstGeom>
            <a:noFill/>
          </p:spPr>
          <p:txBody>
            <a:bodyPr wrap="none" lIns="0" tIns="0" rIns="0" bIns="0" rtlCol="0">
              <a:spAutoFit/>
            </a:bodyPr>
            <a:lstStyle/>
            <a:p>
              <a:pPr algn="ctr"/>
              <a:r>
                <a:rPr lang="es-ES" sz="1100" b="0" i="0" strike="noStrike" cap="none" baseline="0">
                  <a:solidFill>
                    <a:srgbClr val="808080"/>
                  </a:solidFill>
                  <a:effectLst/>
                  <a:latin typeface="Segoe UI Semibold"/>
                  <a:ea typeface="Segoe UI Semibold"/>
                  <a:cs typeface="Segoe UI Semibold"/>
                </a:rPr>
                <a:t>ADD</a:t>
              </a:r>
            </a:p>
            <a:p>
              <a:pPr algn="ctr"/>
              <a:r>
                <a:rPr lang="es-ES" sz="1100" b="0" i="0" strike="noStrike" cap="none" baseline="0">
                  <a:solidFill>
                    <a:srgbClr val="808080"/>
                  </a:solidFill>
                  <a:effectLst/>
                  <a:latin typeface="Segoe UI Semibold"/>
                  <a:ea typeface="Segoe UI Semibold"/>
                  <a:cs typeface="Segoe UI Semibold"/>
                </a:rPr>
                <a:t>INPUT</a:t>
              </a:r>
            </a:p>
          </p:txBody>
        </p:sp>
      </p:grpSp>
      <p:grpSp>
        <p:nvGrpSpPr>
          <p:cNvPr id="72" name="Group 71">
            <a:extLst>
              <a:ext uri="{FF2B5EF4-FFF2-40B4-BE49-F238E27FC236}">
                <a16:creationId xmlns:a16="http://schemas.microsoft.com/office/drawing/2014/main" id="{E634B46F-844E-CE7A-CD6D-251B877F859E}"/>
              </a:ext>
              <a:ext uri="{C183D7F6-B498-43B3-948B-1728B52AA6E4}">
                <adec:decorative xmlns:adec="http://schemas.microsoft.com/office/drawing/2017/decorative" val="1"/>
              </a:ext>
            </a:extLst>
          </p:cNvPr>
          <p:cNvGrpSpPr/>
          <p:nvPr/>
        </p:nvGrpSpPr>
        <p:grpSpPr>
          <a:xfrm>
            <a:off x="544191" y="3547779"/>
            <a:ext cx="772093" cy="338554"/>
            <a:chOff x="544191" y="3462435"/>
            <a:chExt cx="772093" cy="338554"/>
          </a:xfrm>
        </p:grpSpPr>
        <p:sp>
          <p:nvSpPr>
            <p:cNvPr id="62" name="Oval 61">
              <a:extLst>
                <a:ext uri="{FF2B5EF4-FFF2-40B4-BE49-F238E27FC236}">
                  <a16:creationId xmlns:a16="http://schemas.microsoft.com/office/drawing/2014/main" id="{9A8C4A1C-000A-C076-777C-09CD657C2946}"/>
                </a:ext>
              </a:extLst>
            </p:cNvPr>
            <p:cNvSpPr>
              <a:spLocks noChangeAspect="1"/>
            </p:cNvSpPr>
            <p:nvPr/>
          </p:nvSpPr>
          <p:spPr bwMode="auto">
            <a:xfrm>
              <a:off x="544191" y="354027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808080"/>
                  </a:solidFill>
                  <a:effectLst/>
                  <a:latin typeface="Segoe UI"/>
                  <a:ea typeface="Segoe UI"/>
                  <a:cs typeface="Segoe UI"/>
                </a:rPr>
                <a:t>3</a:t>
              </a:r>
            </a:p>
          </p:txBody>
        </p:sp>
        <p:sp>
          <p:nvSpPr>
            <p:cNvPr id="66" name="TextBox 65">
              <a:extLst>
                <a:ext uri="{FF2B5EF4-FFF2-40B4-BE49-F238E27FC236}">
                  <a16:creationId xmlns:a16="http://schemas.microsoft.com/office/drawing/2014/main" id="{2A2DF0D3-B712-93A5-CC54-470889861D09}"/>
                </a:ext>
              </a:extLst>
            </p:cNvPr>
            <p:cNvSpPr txBox="1"/>
            <p:nvPr/>
          </p:nvSpPr>
          <p:spPr>
            <a:xfrm>
              <a:off x="980414" y="3462436"/>
              <a:ext cx="351139" cy="338633"/>
            </a:xfrm>
            <a:prstGeom prst="rect">
              <a:avLst/>
            </a:prstGeom>
            <a:noFill/>
          </p:spPr>
          <p:txBody>
            <a:bodyPr wrap="none" lIns="0" tIns="0" rIns="0" bIns="0" rtlCol="0">
              <a:spAutoFit/>
            </a:bodyPr>
            <a:lstStyle/>
            <a:p>
              <a:pPr algn="ctr"/>
              <a:r>
                <a:rPr lang="es-ES" sz="1100" b="0" i="0" strike="noStrike" cap="none" baseline="0">
                  <a:solidFill>
                    <a:srgbClr val="808080"/>
                  </a:solidFill>
                  <a:effectLst/>
                  <a:latin typeface="Segoe UI Semibold"/>
                  <a:ea typeface="Segoe UI Semibold"/>
                  <a:cs typeface="Segoe UI Semibold"/>
                </a:rPr>
                <a:t>CALL</a:t>
              </a:r>
            </a:p>
            <a:p>
              <a:pPr algn="ctr"/>
              <a:r>
                <a:rPr lang="es-ES" sz="1100" b="0" i="0" strike="noStrike" cap="none" baseline="0">
                  <a:solidFill>
                    <a:srgbClr val="808080"/>
                  </a:solidFill>
                  <a:effectLst/>
                  <a:latin typeface="Segoe UI Semibold"/>
                  <a:ea typeface="Segoe UI Semibold"/>
                  <a:cs typeface="Segoe UI Semibold"/>
                </a:rPr>
                <a:t>API</a:t>
              </a:r>
            </a:p>
          </p:txBody>
        </p:sp>
      </p:grpSp>
      <p:grpSp>
        <p:nvGrpSpPr>
          <p:cNvPr id="73" name="Group 72">
            <a:extLst>
              <a:ext uri="{FF2B5EF4-FFF2-40B4-BE49-F238E27FC236}">
                <a16:creationId xmlns:a16="http://schemas.microsoft.com/office/drawing/2014/main" id="{3F8D5B28-9F19-9CF2-D455-084978BD2A90}"/>
              </a:ext>
              <a:ext uri="{C183D7F6-B498-43B3-948B-1728B52AA6E4}">
                <adec:decorative xmlns:adec="http://schemas.microsoft.com/office/drawing/2017/decorative" val="1"/>
              </a:ext>
            </a:extLst>
          </p:cNvPr>
          <p:cNvGrpSpPr/>
          <p:nvPr/>
        </p:nvGrpSpPr>
        <p:grpSpPr>
          <a:xfrm>
            <a:off x="544191" y="4303096"/>
            <a:ext cx="884303" cy="338554"/>
            <a:chOff x="544191" y="4303096"/>
            <a:chExt cx="884303" cy="338554"/>
          </a:xfrm>
        </p:grpSpPr>
        <p:sp>
          <p:nvSpPr>
            <p:cNvPr id="61" name="Oval 60">
              <a:extLst>
                <a:ext uri="{FF2B5EF4-FFF2-40B4-BE49-F238E27FC236}">
                  <a16:creationId xmlns:a16="http://schemas.microsoft.com/office/drawing/2014/main" id="{488997FF-C833-30D9-3BFE-189CA31D1525}"/>
                </a:ext>
              </a:extLst>
            </p:cNvPr>
            <p:cNvSpPr>
              <a:spLocks noChangeAspect="1"/>
            </p:cNvSpPr>
            <p:nvPr/>
          </p:nvSpPr>
          <p:spPr bwMode="auto">
            <a:xfrm>
              <a:off x="544191" y="4380933"/>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808080"/>
                  </a:solidFill>
                  <a:effectLst/>
                  <a:latin typeface="Segoe UI"/>
                  <a:ea typeface="Segoe UI"/>
                  <a:cs typeface="Segoe UI"/>
                </a:rPr>
                <a:t>4</a:t>
              </a:r>
            </a:p>
          </p:txBody>
        </p:sp>
        <p:sp>
          <p:nvSpPr>
            <p:cNvPr id="67" name="TextBox 66">
              <a:extLst>
                <a:ext uri="{FF2B5EF4-FFF2-40B4-BE49-F238E27FC236}">
                  <a16:creationId xmlns:a16="http://schemas.microsoft.com/office/drawing/2014/main" id="{85C5BD3D-9CFA-A5F6-4C76-2A76877E52A7}"/>
                </a:ext>
              </a:extLst>
            </p:cNvPr>
            <p:cNvSpPr txBox="1"/>
            <p:nvPr/>
          </p:nvSpPr>
          <p:spPr>
            <a:xfrm>
              <a:off x="868979" y="4303096"/>
              <a:ext cx="574008" cy="338633"/>
            </a:xfrm>
            <a:prstGeom prst="rect">
              <a:avLst/>
            </a:prstGeom>
            <a:noFill/>
          </p:spPr>
          <p:txBody>
            <a:bodyPr wrap="none" lIns="0" tIns="0" rIns="0" bIns="0" rtlCol="0">
              <a:spAutoFit/>
            </a:bodyPr>
            <a:lstStyle/>
            <a:p>
              <a:pPr algn="ctr"/>
              <a:r>
                <a:rPr lang="es-ES" sz="1100" b="0" i="0" strike="noStrike" cap="none" baseline="0">
                  <a:solidFill>
                    <a:srgbClr val="808080"/>
                  </a:solidFill>
                  <a:effectLst/>
                  <a:latin typeface="Segoe UI Semibold"/>
                  <a:ea typeface="Segoe UI Semibold"/>
                  <a:cs typeface="Segoe UI Semibold"/>
                </a:rPr>
                <a:t>GET</a:t>
              </a:r>
            </a:p>
            <a:p>
              <a:pPr algn="ctr"/>
              <a:r>
                <a:rPr lang="es-ES" sz="1100" b="0" i="0" strike="noStrike" cap="none" baseline="0">
                  <a:solidFill>
                    <a:srgbClr val="808080"/>
                  </a:solidFill>
                  <a:effectLst/>
                  <a:latin typeface="Segoe UI Semibold"/>
                  <a:ea typeface="Segoe UI Semibold"/>
                  <a:cs typeface="Segoe UI Semibold"/>
                </a:rPr>
                <a:t>OUTPUT</a:t>
              </a:r>
            </a:p>
          </p:txBody>
        </p:sp>
      </p:grpSp>
      <p:grpSp>
        <p:nvGrpSpPr>
          <p:cNvPr id="74" name="Group 73">
            <a:extLst>
              <a:ext uri="{FF2B5EF4-FFF2-40B4-BE49-F238E27FC236}">
                <a16:creationId xmlns:a16="http://schemas.microsoft.com/office/drawing/2014/main" id="{860C29B7-1423-24DC-7922-462CDC642B6B}"/>
              </a:ext>
              <a:ext uri="{C183D7F6-B498-43B3-948B-1728B52AA6E4}">
                <adec:decorative xmlns:adec="http://schemas.microsoft.com/office/drawing/2017/decorative" val="1"/>
              </a:ext>
            </a:extLst>
          </p:cNvPr>
          <p:cNvGrpSpPr/>
          <p:nvPr/>
        </p:nvGrpSpPr>
        <p:grpSpPr>
          <a:xfrm>
            <a:off x="544191" y="5069245"/>
            <a:ext cx="876288" cy="338554"/>
            <a:chOff x="544191" y="5069245"/>
            <a:chExt cx="876288" cy="338554"/>
          </a:xfrm>
        </p:grpSpPr>
        <p:sp>
          <p:nvSpPr>
            <p:cNvPr id="60" name="Oval 59">
              <a:extLst>
                <a:ext uri="{FF2B5EF4-FFF2-40B4-BE49-F238E27FC236}">
                  <a16:creationId xmlns:a16="http://schemas.microsoft.com/office/drawing/2014/main" id="{2DA51554-7863-F3C2-64A1-3DD9078B6E67}"/>
                </a:ext>
              </a:extLst>
            </p:cNvPr>
            <p:cNvSpPr>
              <a:spLocks noChangeAspect="1"/>
            </p:cNvSpPr>
            <p:nvPr/>
          </p:nvSpPr>
          <p:spPr bwMode="auto">
            <a:xfrm>
              <a:off x="544191" y="5147082"/>
              <a:ext cx="182880" cy="182880"/>
            </a:xfrm>
            <a:prstGeom prst="ellipse">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1" i="0" strike="noStrike" cap="none" baseline="0">
                  <a:solidFill>
                    <a:srgbClr val="808080"/>
                  </a:solidFill>
                  <a:effectLst/>
                  <a:latin typeface="Segoe UI"/>
                  <a:ea typeface="Segoe UI"/>
                  <a:cs typeface="Segoe UI"/>
                </a:rPr>
                <a:t>5</a:t>
              </a:r>
            </a:p>
          </p:txBody>
        </p:sp>
        <p:sp>
          <p:nvSpPr>
            <p:cNvPr id="68" name="TextBox 67">
              <a:extLst>
                <a:ext uri="{FF2B5EF4-FFF2-40B4-BE49-F238E27FC236}">
                  <a16:creationId xmlns:a16="http://schemas.microsoft.com/office/drawing/2014/main" id="{5F9D335E-1E1B-221F-CC28-9C4735919FA0}"/>
                </a:ext>
              </a:extLst>
            </p:cNvPr>
            <p:cNvSpPr txBox="1"/>
            <p:nvPr/>
          </p:nvSpPr>
          <p:spPr>
            <a:xfrm>
              <a:off x="864971" y="5069245"/>
              <a:ext cx="582025" cy="338633"/>
            </a:xfrm>
            <a:prstGeom prst="rect">
              <a:avLst/>
            </a:prstGeom>
            <a:noFill/>
          </p:spPr>
          <p:txBody>
            <a:bodyPr wrap="none" lIns="0" tIns="0" rIns="0" bIns="0" rtlCol="0">
              <a:spAutoFit/>
            </a:bodyPr>
            <a:lstStyle/>
            <a:p>
              <a:pPr algn="ctr"/>
              <a:r>
                <a:rPr lang="es-ES" sz="1100" b="0" i="0" strike="noStrike" cap="none" baseline="0">
                  <a:solidFill>
                    <a:srgbClr val="808080"/>
                  </a:solidFill>
                  <a:effectLst/>
                  <a:latin typeface="Segoe UI Semibold"/>
                  <a:ea typeface="Segoe UI Semibold"/>
                  <a:cs typeface="Segoe UI Semibold"/>
                </a:rPr>
                <a:t>UPDATE</a:t>
              </a:r>
            </a:p>
            <a:p>
              <a:pPr algn="ctr"/>
              <a:r>
                <a:rPr lang="es-ES" sz="1100" b="0" i="0" strike="noStrike" cap="none" baseline="0">
                  <a:solidFill>
                    <a:srgbClr val="808080"/>
                  </a:solidFill>
                  <a:effectLst/>
                  <a:latin typeface="Segoe UI Semibold"/>
                  <a:ea typeface="Segoe UI Semibold"/>
                  <a:cs typeface="Segoe UI Semibold"/>
                </a:rPr>
                <a:t>ESTADO</a:t>
              </a:r>
            </a:p>
          </p:txBody>
        </p:sp>
      </p:grpSp>
      <p:sp>
        <p:nvSpPr>
          <p:cNvPr id="4" name="TextBox 3">
            <a:extLst>
              <a:ext uri="{FF2B5EF4-FFF2-40B4-BE49-F238E27FC236}">
                <a16:creationId xmlns:a16="http://schemas.microsoft.com/office/drawing/2014/main" id="{56A5FF1B-A1C0-FB7C-5D86-21D3B51FED2E}"/>
              </a:ext>
            </a:extLst>
          </p:cNvPr>
          <p:cNvSpPr txBox="1"/>
          <p:nvPr/>
        </p:nvSpPr>
        <p:spPr>
          <a:xfrm>
            <a:off x="6708650" y="3311002"/>
            <a:ext cx="5018706" cy="1015663"/>
          </a:xfrm>
          <a:prstGeom prst="rect">
            <a:avLst/>
          </a:prstGeom>
          <a:noFill/>
        </p:spPr>
        <p:txBody>
          <a:bodyPr wrap="square">
            <a:spAutoFit/>
          </a:bodyPr>
          <a:lstStyle/>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openai_client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"gpt-4.1"</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instructions</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"You are helpful..."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input_text</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previous_response_id</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last_response_id</a:t>
            </a:r>
            <a:r>
              <a:rPr lang="en-US" sz="1200" b="0" i="0" dirty="0">
                <a:solidFill>
                  <a:srgbClr val="ABB2BF"/>
                </a:solidFill>
                <a:effectLst/>
                <a:latin typeface="Consolas" panose="020B0609020204030204" pitchFamily="49" charset="0"/>
              </a:rPr>
              <a:t>)</a:t>
            </a:r>
            <a:endParaRPr lang="en-US" sz="1200" dirty="0"/>
          </a:p>
        </p:txBody>
      </p:sp>
    </p:spTree>
    <p:extLst>
      <p:ext uri="{BB962C8B-B14F-4D97-AF65-F5344CB8AC3E}">
        <p14:creationId xmlns:p14="http://schemas.microsoft.com/office/powerpoint/2010/main" val="95605917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0C4DAC6-4F15-A82F-893A-9E8239DD31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7E5CC3-269A-44E9-2B1A-FC281588CBF7}"/>
              </a:ext>
            </a:extLst>
          </p:cNvPr>
          <p:cNvSpPr>
            <a:spLocks noGrp="1"/>
          </p:cNvSpPr>
          <p:nvPr>
            <p:ph type="title"/>
          </p:nvPr>
        </p:nvSpPr>
        <p:spPr>
          <a:xfrm>
            <a:off x="588262" y="585216"/>
            <a:ext cx="8193024" cy="492443"/>
          </a:xfrm>
        </p:spPr>
        <p:txBody>
          <a:bodyPr/>
          <a:lstStyle/>
          <a:p>
            <a:r>
              <a:rPr lang="en-US" sz="3200"/>
              <a:t>Using the </a:t>
            </a:r>
            <a:r>
              <a:rPr lang="en-US" sz="3200" i="1"/>
              <a:t>Responses</a:t>
            </a:r>
            <a:r>
              <a:rPr lang="en-US" sz="3200"/>
              <a:t> API</a:t>
            </a:r>
          </a:p>
        </p:txBody>
      </p:sp>
      <p:sp>
        <p:nvSpPr>
          <p:cNvPr id="3" name="Footer Placeholder 2">
            <a:extLst>
              <a:ext uri="{FF2B5EF4-FFF2-40B4-BE49-F238E27FC236}">
                <a16:creationId xmlns:a16="http://schemas.microsoft.com/office/drawing/2014/main" id="{5B0334F4-BE05-A931-E337-7A3A5C54148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TextBox 4">
            <a:extLst>
              <a:ext uri="{FF2B5EF4-FFF2-40B4-BE49-F238E27FC236}">
                <a16:creationId xmlns:a16="http://schemas.microsoft.com/office/drawing/2014/main" id="{273B25A2-E977-DE2D-BE1D-8C7DD7BDA2CE}"/>
              </a:ext>
            </a:extLst>
          </p:cNvPr>
          <p:cNvSpPr txBox="1"/>
          <p:nvPr/>
        </p:nvSpPr>
        <p:spPr>
          <a:xfrm>
            <a:off x="588262" y="1259800"/>
            <a:ext cx="11015476" cy="3816429"/>
          </a:xfrm>
          <a:prstGeom prst="rect">
            <a:avLst/>
          </a:prstGeom>
          <a:solidFill>
            <a:schemeClr val="tx1">
              <a:lumMod val="95000"/>
              <a:lumOff val="5000"/>
            </a:schemeClr>
          </a:solidFill>
          <a:ln>
            <a:solidFill>
              <a:schemeClr val="tx2">
                <a:lumMod val="50000"/>
                <a:lumOff val="50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Track previous response</a:t>
            </a:r>
          </a:p>
          <a:p>
            <a:r>
              <a:rPr lang="en-US" sz="11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last_response_id = None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Loop until the user wants to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print("Assistant: Enter a prompt (or type 'quit' to exit)")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while True: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input_text = input('\nYou: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input_text.lower() ==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print("Assistant: Goodbye!")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break</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a response to the user’s prompt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openai_client.responses.create(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 helpful AI assistant that explains technology concepts.",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input=input_text,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previous_response_id=last_response_id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assistant_text = response.output_text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print("\nAssistant:", assistant_text)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Track the response for the next turn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last_response_id = response.id</a:t>
            </a:r>
          </a:p>
        </p:txBody>
      </p:sp>
      <p:sp>
        <p:nvSpPr>
          <p:cNvPr id="7" name="TextBox 6">
            <a:extLst>
              <a:ext uri="{FF2B5EF4-FFF2-40B4-BE49-F238E27FC236}">
                <a16:creationId xmlns:a16="http://schemas.microsoft.com/office/drawing/2014/main" id="{A4235EBD-9B12-C4DC-8FD1-833269EE05CC}"/>
              </a:ext>
            </a:extLst>
          </p:cNvPr>
          <p:cNvSpPr txBox="1"/>
          <p:nvPr/>
        </p:nvSpPr>
        <p:spPr>
          <a:xfrm>
            <a:off x="4870450" y="4398800"/>
            <a:ext cx="7057138" cy="1615827"/>
          </a:xfrm>
          <a:prstGeom prst="rect">
            <a:avLst/>
          </a:prstGeom>
          <a:solidFill>
            <a:schemeClr val="tx1">
              <a:lumMod val="95000"/>
              <a:lumOff val="5000"/>
            </a:schemeClr>
          </a:solidFill>
          <a:ln>
            <a:solidFill>
              <a:schemeClr val="accent2"/>
            </a:solidFill>
          </a:ln>
          <a:effectLst>
            <a:outerShdw blurRad="50800" dist="38100" dir="2700000" algn="tl" rotWithShape="0">
              <a:prstClr val="black">
                <a:alpha val="40000"/>
              </a:prstClr>
            </a:outerShdw>
          </a:effectLst>
        </p:spPr>
        <p:txBody>
          <a:bodyPr wrap="square">
            <a:spAutoFit/>
          </a:bodyPr>
          <a:lstStyle/>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Enter a prompt (or type 'quit' to exit)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What is machine learning?</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Machine learning is a type of artificial intelligence (AI) that enables computers to learn from data and predict unknown values based on learned patterns.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Can you give me an example?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Certainly! A simple example of supervised learning would be a model that predicts house prices based on features like size, location, and number of rooms.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Goodbye!</a:t>
            </a:r>
          </a:p>
        </p:txBody>
      </p:sp>
    </p:spTree>
    <p:extLst>
      <p:ext uri="{BB962C8B-B14F-4D97-AF65-F5344CB8AC3E}">
        <p14:creationId xmlns:p14="http://schemas.microsoft.com/office/powerpoint/2010/main" val="196366788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AE3EF-0ECE-C863-659C-AFDC032BAAE8}"/>
              </a:ext>
            </a:extLst>
          </p:cNvPr>
          <p:cNvSpPr>
            <a:spLocks noGrp="1"/>
          </p:cNvSpPr>
          <p:nvPr>
            <p:ph type="title"/>
          </p:nvPr>
        </p:nvSpPr>
        <p:spPr>
          <a:xfrm>
            <a:off x="588262" y="585216"/>
            <a:ext cx="8193024" cy="492443"/>
          </a:xfrm>
        </p:spPr>
        <p:txBody>
          <a:bodyPr/>
          <a:lstStyle/>
          <a:p>
            <a:r>
              <a:rPr lang="en-US" sz="3200"/>
              <a:t>Using the </a:t>
            </a:r>
            <a:r>
              <a:rPr lang="en-US" sz="3200" i="1" err="1"/>
              <a:t>ChatCompletions</a:t>
            </a:r>
            <a:r>
              <a:rPr lang="en-US" sz="3200"/>
              <a:t> API</a:t>
            </a:r>
          </a:p>
        </p:txBody>
      </p:sp>
      <p:sp>
        <p:nvSpPr>
          <p:cNvPr id="3" name="Footer Placeholder 2">
            <a:extLst>
              <a:ext uri="{FF2B5EF4-FFF2-40B4-BE49-F238E27FC236}">
                <a16:creationId xmlns:a16="http://schemas.microsoft.com/office/drawing/2014/main" id="{AA3F6D97-CD0D-3D72-BA68-EC2909C443C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TextBox 4">
            <a:extLst>
              <a:ext uri="{FF2B5EF4-FFF2-40B4-BE49-F238E27FC236}">
                <a16:creationId xmlns:a16="http://schemas.microsoft.com/office/drawing/2014/main" id="{72D670EC-6A04-D1B3-BDB7-63C72D3613FA}"/>
              </a:ext>
            </a:extLst>
          </p:cNvPr>
          <p:cNvSpPr txBox="1"/>
          <p:nvPr/>
        </p:nvSpPr>
        <p:spPr>
          <a:xfrm>
            <a:off x="579438" y="1202184"/>
            <a:ext cx="10990262" cy="4832092"/>
          </a:xfrm>
          <a:prstGeom prst="rect">
            <a:avLst/>
          </a:prstGeom>
          <a:solidFill>
            <a:schemeClr val="tx1">
              <a:lumMod val="95000"/>
              <a:lumOff val="5000"/>
            </a:schemeClr>
          </a:solidFill>
          <a:ln>
            <a:solidFill>
              <a:schemeClr val="tx2">
                <a:lumMod val="50000"/>
                <a:lumOff val="50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Initial system message</a:t>
            </a:r>
          </a:p>
          <a:p>
            <a:r>
              <a:rPr lang="en-US" sz="11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conversation_messages=[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"system", "content": "You are a helpful AI assistant that answers questions and provides information."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Loop until the user wants to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print("Assistant: Enter a prompt (or type 'quit' to exit)")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while True: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input_text = input('\nYou: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input_text.lower() ==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print("Assistant: Goodbye!")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break</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Add user message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conversation_messages.append(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"user", "content": input_text}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completion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completion = openai_client.chat.completions.create(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model="gpt-4.1",</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messages=conversation_messages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assistant_message = completion.choices[0].message.content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print("\nAssistant:", assistant_message)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Add assistant message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conversation_messages.append(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"assistant", "content": assistant_message}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p:txBody>
      </p:sp>
      <p:sp>
        <p:nvSpPr>
          <p:cNvPr id="7" name="TextBox 6">
            <a:extLst>
              <a:ext uri="{FF2B5EF4-FFF2-40B4-BE49-F238E27FC236}">
                <a16:creationId xmlns:a16="http://schemas.microsoft.com/office/drawing/2014/main" id="{573F9FBB-C4B7-F91A-98FD-F5DDDFD8DC72}"/>
              </a:ext>
            </a:extLst>
          </p:cNvPr>
          <p:cNvSpPr txBox="1"/>
          <p:nvPr/>
        </p:nvSpPr>
        <p:spPr>
          <a:xfrm>
            <a:off x="6292851" y="5133924"/>
            <a:ext cx="5670550" cy="1446550"/>
          </a:xfrm>
          <a:prstGeom prst="rect">
            <a:avLst/>
          </a:prstGeom>
          <a:solidFill>
            <a:schemeClr val="tx1">
              <a:lumMod val="95000"/>
              <a:lumOff val="5000"/>
            </a:schemeClr>
          </a:solidFill>
          <a:ln>
            <a:solidFill>
              <a:schemeClr val="accent2"/>
            </a:solidFill>
          </a:ln>
          <a:effectLst>
            <a:outerShdw blurRad="50800" dist="38100" dir="2700000" algn="tl" rotWithShape="0">
              <a:prstClr val="black">
                <a:alpha val="40000"/>
              </a:prstClr>
            </a:outerShdw>
          </a:effectLst>
        </p:spPr>
        <p:txBody>
          <a:bodyPr wrap="square">
            <a:spAutoFit/>
          </a:bodyPr>
          <a:lstStyle/>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Enter a prompt (or type 'quit' to exit)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When was Microsoft founded?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Microsoft was founded on April 4, 1975.</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Who founded 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Microsoft was founded by Bill Gates and Paul Allen.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You: quit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Assistant: Goodbye!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67131251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002D9-8063-F798-A754-F39E9317A7C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051AE39-977E-7021-4F1F-4B58F4C28AB1}"/>
              </a:ext>
              <a:ext uri="{C183D7F6-B498-43B3-948B-1728B52AA6E4}">
                <adec:decorative xmlns:adec="http://schemas.microsoft.com/office/drawing/2017/decorative" val="1"/>
              </a:ext>
            </a:extLst>
          </p:cNvPr>
          <p:cNvPicPr>
            <a:picLocks noChangeAspect="1"/>
          </p:cNvPicPr>
          <p:nvPr/>
        </p:nvPicPr>
        <p:blipFill>
          <a:blip r:embed="rId3"/>
          <a:srcRect l="1156" r="1156"/>
          <a:stretch/>
        </p:blipFill>
        <p:spPr>
          <a:xfrm>
            <a:off x="7723991" y="2044700"/>
            <a:ext cx="4468009" cy="3309257"/>
          </a:xfrm>
          <a:prstGeom prst="rect">
            <a:avLst/>
          </a:prstGeom>
        </p:spPr>
      </p:pic>
      <p:sp>
        <p:nvSpPr>
          <p:cNvPr id="5" name="Title 4">
            <a:extLst>
              <a:ext uri="{FF2B5EF4-FFF2-40B4-BE49-F238E27FC236}">
                <a16:creationId xmlns:a16="http://schemas.microsoft.com/office/drawing/2014/main" id="{CE96F367-A7D7-1A13-1109-6014179D5D17}"/>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3BDEFB77-A558-6F6E-E2A9-02913F8E1051}"/>
              </a:ext>
            </a:extLst>
          </p:cNvPr>
          <p:cNvSpPr>
            <a:spLocks noGrp="1"/>
          </p:cNvSpPr>
          <p:nvPr>
            <p:ph type="body" sz="quarter" idx="16"/>
          </p:nvPr>
        </p:nvSpPr>
        <p:spPr>
          <a:xfrm>
            <a:off x="584199" y="1594155"/>
            <a:ext cx="6438901" cy="609600"/>
          </a:xfrm>
        </p:spPr>
        <p:txBody>
          <a:bodyPr/>
          <a:lstStyle/>
          <a:p>
            <a:r>
              <a:rPr lang="es-ES" sz="2000" b="0" i="0" strike="noStrike" cap="none" baseline="0" dirty="0">
                <a:solidFill>
                  <a:srgbClr val="000000"/>
                </a:solidFill>
                <a:effectLst/>
                <a:latin typeface="Segoe UI Semibold"/>
                <a:ea typeface="Segoe UI Semibold"/>
                <a:cs typeface="Segoe UI Semibold"/>
              </a:rPr>
              <a:t>Creación de una aplicación de chat de IA generativa</a:t>
            </a:r>
            <a:endParaRPr lang="en-US" sz="2000" dirty="0"/>
          </a:p>
        </p:txBody>
      </p:sp>
      <p:sp>
        <p:nvSpPr>
          <p:cNvPr id="6" name="Text Placeholder 5">
            <a:extLst>
              <a:ext uri="{FF2B5EF4-FFF2-40B4-BE49-F238E27FC236}">
                <a16:creationId xmlns:a16="http://schemas.microsoft.com/office/drawing/2014/main" id="{FA39939E-35F4-0561-BCBC-16DBA34A8512}"/>
              </a:ext>
            </a:extLst>
          </p:cNvPr>
          <p:cNvSpPr>
            <a:spLocks noGrp="1"/>
          </p:cNvSpPr>
          <p:nvPr>
            <p:ph type="body" sz="quarter" idx="15"/>
          </p:nvPr>
        </p:nvSpPr>
        <p:spPr>
          <a:xfrm>
            <a:off x="586389" y="2085764"/>
            <a:ext cx="4607087" cy="147732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Creación de un proyecto de Microsoft </a:t>
            </a:r>
            <a:r>
              <a:rPr lang="es-ES" sz="1600" b="0" i="0" strike="noStrike" cap="none" baseline="0" dirty="0" err="1">
                <a:solidFill>
                  <a:srgbClr val="000000"/>
                </a:solidFill>
                <a:effectLst/>
                <a:latin typeface="Segoe UI"/>
                <a:ea typeface="Segoe UI"/>
                <a:cs typeface="Segoe UI"/>
              </a:rPr>
              <a:t>Foundry</a:t>
            </a:r>
            <a:endParaRPr lang="es-ES" sz="1600" b="0" i="0" strike="noStrike" cap="none" baseline="0" dirty="0">
              <a:solidFill>
                <a:srgbClr val="000000"/>
              </a:solidFill>
              <a:effectLst/>
              <a:latin typeface="Segoe UI"/>
              <a:ea typeface="Segoe UI"/>
              <a:cs typeface="Segoe UI"/>
            </a:endParaRP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Implementar un modelo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Obtención del punto de conexión y la clave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Creación de una aplicación cliente para chatear</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con el modelo</a:t>
            </a:r>
            <a:endParaRPr lang="en-US" dirty="0"/>
          </a:p>
        </p:txBody>
      </p:sp>
      <p:sp>
        <p:nvSpPr>
          <p:cNvPr id="10" name="TextBox 9">
            <a:extLst>
              <a:ext uri="{FF2B5EF4-FFF2-40B4-BE49-F238E27FC236}">
                <a16:creationId xmlns:a16="http://schemas.microsoft.com/office/drawing/2014/main" id="{E77527EB-873C-482F-CD04-56057D316F41}"/>
              </a:ext>
            </a:extLst>
          </p:cNvPr>
          <p:cNvSpPr txBox="1"/>
          <p:nvPr/>
        </p:nvSpPr>
        <p:spPr>
          <a:xfrm>
            <a:off x="487330" y="3967742"/>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strike="noStrike" cap="none" baseline="0">
                <a:solidFill>
                  <a:srgbClr val="000000"/>
                </a:solidFill>
                <a:effectLst/>
                <a:latin typeface="Segoe UI"/>
                <a:ea typeface="Segoe UI"/>
                <a:cs typeface="Segoe UI"/>
                <a:hlinkClick r:id="rId4" history="0"/>
              </a:rPr>
              <a:t>https://go.microsoft.com/fwlink/?linkid=2354411</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012759FF-F8A6-CE10-FAAF-2CAFCF25B86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0A905EB7-14AC-3C06-4A65-FF13E0E45C51}"/>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81532020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9D111-5947-7186-5556-3C97FCF28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8E845-E183-9EC3-9BAA-D8EC0AD190BA}"/>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F8B26BA0-300F-5087-6E2E-D3FE78F678B6}"/>
              </a:ext>
            </a:extLst>
          </p:cNvPr>
          <p:cNvSpPr>
            <a:spLocks noGrp="1"/>
          </p:cNvSpPr>
          <p:nvPr>
            <p:ph type="body" sz="quarter" idx="17"/>
          </p:nvPr>
        </p:nvSpPr>
        <p:spPr>
          <a:xfrm>
            <a:off x="1235075" y="1766085"/>
            <a:ext cx="8778782" cy="426720"/>
          </a:xfrm>
        </p:spPr>
        <p:txBody>
          <a:bodyPr/>
          <a:lstStyle/>
          <a:p>
            <a:r>
              <a:rPr lang="es-ES" sz="1400" b="1" i="0" strike="noStrike" cap="none" baseline="0">
                <a:solidFill>
                  <a:srgbClr val="000000"/>
                </a:solidFill>
                <a:effectLst/>
                <a:latin typeface="Segoe UI Semibold"/>
                <a:ea typeface="Segoe UI Semibold"/>
                <a:cs typeface="Segoe UI Semibold"/>
              </a:rPr>
              <a:t>¿Qué punto de conexión ofrece la compatibilidad más amplia con las API de OpenAI con Foundry Models?</a:t>
            </a:r>
          </a:p>
        </p:txBody>
      </p:sp>
      <p:sp>
        <p:nvSpPr>
          <p:cNvPr id="9" name="Text Placeholder 8">
            <a:extLst>
              <a:ext uri="{FF2B5EF4-FFF2-40B4-BE49-F238E27FC236}">
                <a16:creationId xmlns:a16="http://schemas.microsoft.com/office/drawing/2014/main" id="{2FA8BFD8-0FE8-890D-CC71-4A22BB58394A}"/>
              </a:ext>
            </a:extLst>
          </p:cNvPr>
          <p:cNvSpPr>
            <a:spLocks noGrp="1"/>
          </p:cNvSpPr>
          <p:nvPr>
            <p:ph type="body" sz="quarter" idx="15"/>
          </p:nvPr>
        </p:nvSpPr>
        <p:spPr>
          <a:xfrm>
            <a:off x="1235075" y="2084048"/>
            <a:ext cx="8775098" cy="725424"/>
          </a:xfrm>
          <a:noFill/>
        </p:spPr>
        <p:txBody>
          <a:bodyPr/>
          <a:lstStyle/>
          <a:p>
            <a:r>
              <a:rPr lang="es-ES" sz="1400" b="0" i="0" strike="noStrike" cap="none" baseline="0">
                <a:solidFill>
                  <a:srgbClr val="000000"/>
                </a:solidFill>
                <a:effectLst/>
                <a:latin typeface="Segoe UI"/>
                <a:ea typeface="Segoe UI"/>
                <a:cs typeface="Segoe UI"/>
              </a:rPr>
              <a:t>Punto de conexión del proyecto de Foundry</a:t>
            </a:r>
          </a:p>
          <a:p>
            <a:r>
              <a:rPr lang="es-ES" sz="1400" b="0" i="0" strike="noStrike" cap="none" baseline="0">
                <a:solidFill>
                  <a:srgbClr val="000000"/>
                </a:solidFill>
                <a:effectLst/>
                <a:latin typeface="Segoe UI"/>
                <a:ea typeface="Segoe UI"/>
                <a:cs typeface="Segoe UI"/>
              </a:rPr>
              <a:t>El punto de conexión de Azure OpenAI</a:t>
            </a:r>
          </a:p>
          <a:p>
            <a:r>
              <a:rPr lang="es-ES" sz="1400" b="0" i="0" strike="noStrike" cap="none" baseline="0">
                <a:solidFill>
                  <a:srgbClr val="000000"/>
                </a:solidFill>
                <a:effectLst/>
                <a:latin typeface="Segoe UI"/>
                <a:ea typeface="Segoe UI"/>
                <a:cs typeface="Segoe UI"/>
              </a:rPr>
              <a:t>El punto de conexión de Foundry Tools</a:t>
            </a:r>
          </a:p>
        </p:txBody>
      </p:sp>
      <p:sp>
        <p:nvSpPr>
          <p:cNvPr id="18" name="Text Placeholder 17">
            <a:extLst>
              <a:ext uri="{FF2B5EF4-FFF2-40B4-BE49-F238E27FC236}">
                <a16:creationId xmlns:a16="http://schemas.microsoft.com/office/drawing/2014/main" id="{DD68DF51-5E38-5B5C-089E-76C0E7FB2857}"/>
              </a:ext>
            </a:extLst>
          </p:cNvPr>
          <p:cNvSpPr>
            <a:spLocks noGrp="1"/>
          </p:cNvSpPr>
          <p:nvPr>
            <p:ph type="body" sz="quarter" idx="22"/>
          </p:nvPr>
        </p:nvSpPr>
        <p:spPr>
          <a:xfrm>
            <a:off x="1235076" y="4449589"/>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método usas para generar respuestas con la API de respuestas?</a:t>
            </a:r>
          </a:p>
        </p:txBody>
      </p:sp>
      <p:sp>
        <p:nvSpPr>
          <p:cNvPr id="19" name="Text Placeholder 18">
            <a:extLst>
              <a:ext uri="{FF2B5EF4-FFF2-40B4-BE49-F238E27FC236}">
                <a16:creationId xmlns:a16="http://schemas.microsoft.com/office/drawing/2014/main" id="{4659235A-2451-6D87-7098-A2494732FB09}"/>
              </a:ext>
            </a:extLst>
          </p:cNvPr>
          <p:cNvSpPr>
            <a:spLocks noGrp="1"/>
          </p:cNvSpPr>
          <p:nvPr>
            <p:ph type="body" sz="quarter" idx="23"/>
          </p:nvPr>
        </p:nvSpPr>
        <p:spPr>
          <a:xfrm>
            <a:off x="1235075" y="4784705"/>
            <a:ext cx="8775098" cy="725424"/>
          </a:xfrm>
        </p:spPr>
        <p:txBody>
          <a:bodyPr/>
          <a:lstStyle/>
          <a:p>
            <a:r>
              <a:rPr lang="es-ES" sz="1400" b="0" i="0" strike="noStrike" cap="none" baseline="0">
                <a:solidFill>
                  <a:srgbClr val="000000"/>
                </a:solidFill>
                <a:effectLst/>
                <a:latin typeface="Segoe UI"/>
                <a:ea typeface="Segoe UI"/>
                <a:cs typeface="Segoe UI"/>
              </a:rPr>
              <a:t>client.chat.completions.create()</a:t>
            </a:r>
          </a:p>
          <a:p>
            <a:r>
              <a:rPr lang="es-ES" sz="1400" b="0" i="0" strike="noStrike" cap="none" baseline="0">
                <a:solidFill>
                  <a:srgbClr val="000000"/>
                </a:solidFill>
                <a:effectLst/>
                <a:latin typeface="Segoe UI"/>
                <a:ea typeface="Segoe UI"/>
                <a:cs typeface="Segoe UI"/>
              </a:rPr>
              <a:t>client.get_response_id()</a:t>
            </a:r>
          </a:p>
          <a:p>
            <a:r>
              <a:rPr lang="es-ES" sz="1400" b="0" i="0" strike="noStrike" cap="none" baseline="0">
                <a:solidFill>
                  <a:srgbClr val="000000"/>
                </a:solidFill>
                <a:effectLst/>
                <a:latin typeface="Segoe UI"/>
                <a:ea typeface="Segoe UI"/>
                <a:cs typeface="Segoe UI"/>
              </a:rPr>
              <a:t>client.responses.create()</a:t>
            </a:r>
          </a:p>
        </p:txBody>
      </p:sp>
      <p:sp>
        <p:nvSpPr>
          <p:cNvPr id="76" name="Oval 75">
            <a:extLst>
              <a:ext uri="{FF2B5EF4-FFF2-40B4-BE49-F238E27FC236}">
                <a16:creationId xmlns:a16="http://schemas.microsoft.com/office/drawing/2014/main" id="{D93E5B35-AEF6-0834-9F0B-9FC9C5850A71}"/>
              </a:ext>
              <a:ext uri="{C183D7F6-B498-43B3-948B-1728B52AA6E4}">
                <adec:decorative xmlns:adec="http://schemas.microsoft.com/office/drawing/2017/decorative" val="1"/>
              </a:ext>
            </a:extLst>
          </p:cNvPr>
          <p:cNvSpPr/>
          <p:nvPr/>
        </p:nvSpPr>
        <p:spPr bwMode="auto">
          <a:xfrm>
            <a:off x="722582" y="16853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C0C83EFF-4C6F-9664-2419-4CA6D080A6C5}"/>
              </a:ext>
              <a:ext uri="{C183D7F6-B498-43B3-948B-1728B52AA6E4}">
                <adec:decorative xmlns:adec="http://schemas.microsoft.com/office/drawing/2017/decorative" val="1"/>
              </a:ext>
            </a:extLst>
          </p:cNvPr>
          <p:cNvSpPr/>
          <p:nvPr/>
        </p:nvSpPr>
        <p:spPr bwMode="auto">
          <a:xfrm>
            <a:off x="722582" y="31094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5047A999-0C75-588E-E61D-923404CB8630}"/>
              </a:ext>
              <a:ext uri="{C183D7F6-B498-43B3-948B-1728B52AA6E4}">
                <adec:decorative xmlns:adec="http://schemas.microsoft.com/office/drawing/2017/decorative" val="1"/>
              </a:ext>
            </a:extLst>
          </p:cNvPr>
          <p:cNvSpPr/>
          <p:nvPr/>
        </p:nvSpPr>
        <p:spPr>
          <a:xfrm>
            <a:off x="1263852" y="3760486"/>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386762AA-9B75-A856-0149-61DAEF1C3225}"/>
              </a:ext>
              <a:ext uri="{C183D7F6-B498-43B3-948B-1728B52AA6E4}">
                <adec:decorative xmlns:adec="http://schemas.microsoft.com/office/drawing/2017/decorative" val="1"/>
              </a:ext>
            </a:extLst>
          </p:cNvPr>
          <p:cNvSpPr/>
          <p:nvPr/>
        </p:nvSpPr>
        <p:spPr>
          <a:xfrm>
            <a:off x="1263852" y="238151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04C0F93D-4AAE-48C7-7C9D-5F3EE437394B}"/>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Text Placeholder 27">
            <a:extLst>
              <a:ext uri="{FF2B5EF4-FFF2-40B4-BE49-F238E27FC236}">
                <a16:creationId xmlns:a16="http://schemas.microsoft.com/office/drawing/2014/main" id="{C20EC539-A6AE-9533-28CB-EDA992D4A4FA}"/>
              </a:ext>
            </a:extLst>
          </p:cNvPr>
          <p:cNvSpPr>
            <a:spLocks noGrp="1"/>
          </p:cNvSpPr>
          <p:nvPr>
            <p:ph type="body" sz="quarter" idx="20"/>
          </p:nvPr>
        </p:nvSpPr>
        <p:spPr>
          <a:xfrm>
            <a:off x="1235075" y="317954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paquete debes instalar para usar el SDK de Microsoft Foundry en Python?</a:t>
            </a:r>
          </a:p>
        </p:txBody>
      </p:sp>
      <p:sp>
        <p:nvSpPr>
          <p:cNvPr id="6" name="Text Placeholder 28">
            <a:extLst>
              <a:ext uri="{FF2B5EF4-FFF2-40B4-BE49-F238E27FC236}">
                <a16:creationId xmlns:a16="http://schemas.microsoft.com/office/drawing/2014/main" id="{2D392A7B-0160-C92E-0CF0-51C670D49B4E}"/>
              </a:ext>
            </a:extLst>
          </p:cNvPr>
          <p:cNvSpPr>
            <a:spLocks noGrp="1"/>
          </p:cNvSpPr>
          <p:nvPr>
            <p:ph type="body" sz="quarter" idx="21"/>
          </p:nvPr>
        </p:nvSpPr>
        <p:spPr>
          <a:xfrm>
            <a:off x="1235075" y="3474065"/>
            <a:ext cx="8775700" cy="725424"/>
          </a:xfrm>
        </p:spPr>
        <p:txBody>
          <a:bodyPr/>
          <a:lstStyle/>
          <a:p>
            <a:r>
              <a:rPr lang="es-ES" sz="1400" b="0" i="0" strike="noStrike" cap="none" baseline="0" dirty="0" err="1">
                <a:solidFill>
                  <a:srgbClr val="000000"/>
                </a:solidFill>
                <a:effectLst/>
                <a:latin typeface="Segoe UI"/>
                <a:ea typeface="Segoe UI"/>
                <a:cs typeface="Segoe UI"/>
              </a:rPr>
              <a:t>azure-foundry</a:t>
            </a:r>
            <a:endParaRPr lang="es-ES" sz="1400" b="0" i="0" strike="noStrike" cap="none" baseline="0" dirty="0">
              <a:solidFill>
                <a:srgbClr val="000000"/>
              </a:solidFill>
              <a:effectLst/>
              <a:latin typeface="Segoe UI"/>
              <a:ea typeface="Segoe UI"/>
              <a:cs typeface="Segoe UI"/>
            </a:endParaRPr>
          </a:p>
          <a:p>
            <a:r>
              <a:rPr lang="es-ES" sz="1400" b="0" i="0" strike="noStrike" cap="none" baseline="0" dirty="0" err="1">
                <a:solidFill>
                  <a:srgbClr val="000000"/>
                </a:solidFill>
                <a:effectLst/>
                <a:latin typeface="Segoe UI"/>
                <a:ea typeface="Segoe UI"/>
                <a:cs typeface="Segoe UI"/>
              </a:rPr>
              <a:t>azure-ai-projects</a:t>
            </a:r>
            <a:endParaRPr lang="es-ES" sz="1400" b="0" i="0" strike="noStrike" cap="none" baseline="0" dirty="0">
              <a:solidFill>
                <a:srgbClr val="000000"/>
              </a:solidFill>
              <a:effectLst/>
              <a:latin typeface="Segoe UI"/>
              <a:ea typeface="Segoe UI"/>
              <a:cs typeface="Segoe UI"/>
            </a:endParaRPr>
          </a:p>
          <a:p>
            <a:r>
              <a:rPr lang="es-ES" sz="1400" b="0" i="0" strike="noStrike" cap="none" baseline="0" dirty="0" err="1">
                <a:solidFill>
                  <a:srgbClr val="000000"/>
                </a:solidFill>
                <a:effectLst/>
                <a:latin typeface="Segoe UI"/>
                <a:ea typeface="Segoe UI"/>
                <a:cs typeface="Segoe UI"/>
              </a:rPr>
              <a:t>microsoft-foundry-sdk</a:t>
            </a:r>
            <a:endParaRPr lang="en-US" sz="1400" dirty="0"/>
          </a:p>
        </p:txBody>
      </p:sp>
      <p:sp>
        <p:nvSpPr>
          <p:cNvPr id="7" name="Graphic 26" descr="Checkmark">
            <a:extLst>
              <a:ext uri="{FF2B5EF4-FFF2-40B4-BE49-F238E27FC236}">
                <a16:creationId xmlns:a16="http://schemas.microsoft.com/office/drawing/2014/main" id="{ABFACC98-2F1F-1F5C-1C61-8E8C1DF1F157}"/>
              </a:ext>
            </a:extLst>
          </p:cNvPr>
          <p:cNvSpPr/>
          <p:nvPr/>
        </p:nvSpPr>
        <p:spPr>
          <a:xfrm>
            <a:off x="1271873" y="5350959"/>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0D61F171-41B3-81CF-CD4E-0AA475947107}"/>
              </a:ext>
              <a:ext uri="{C183D7F6-B498-43B3-948B-1728B52AA6E4}">
                <adec:decorative xmlns:adec="http://schemas.microsoft.com/office/drawing/2017/decorative" val="1"/>
              </a:ext>
            </a:extLst>
          </p:cNvPr>
          <p:cNvSpPr/>
          <p:nvPr/>
        </p:nvSpPr>
        <p:spPr bwMode="auto">
          <a:xfrm>
            <a:off x="722582" y="437840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2059810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F4822-7AE6-A84B-1132-9B4545436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F6BB1D-BD36-FA01-EDDA-E3B0F0045D1B}"/>
              </a:ext>
            </a:extLst>
          </p:cNvPr>
          <p:cNvSpPr>
            <a:spLocks noGrp="1"/>
          </p:cNvSpPr>
          <p:nvPr>
            <p:ph type="title"/>
          </p:nvPr>
        </p:nvSpPr>
        <p:spPr>
          <a:xfrm>
            <a:off x="569911" y="1561763"/>
            <a:ext cx="6345239" cy="2438400"/>
          </a:xfrm>
        </p:spPr>
        <p:txBody>
          <a:bodyPr/>
          <a:lstStyle/>
          <a:p>
            <a:r>
              <a:rPr lang="es-ES" sz="4000" b="0" i="0" strike="noStrike" cap="none" baseline="0" dirty="0">
                <a:solidFill>
                  <a:srgbClr val="000000"/>
                </a:solidFill>
                <a:effectLst/>
                <a:latin typeface="Segoe UI"/>
                <a:ea typeface="Segoe UI"/>
                <a:cs typeface="Segoe UI"/>
              </a:rPr>
              <a:t>Desarrollo de aplicaciones de IA generativas que usan herramientas</a:t>
            </a:r>
          </a:p>
        </p:txBody>
      </p:sp>
      <p:sp>
        <p:nvSpPr>
          <p:cNvPr id="4" name="TextBox 3">
            <a:extLst>
              <a:ext uri="{FF2B5EF4-FFF2-40B4-BE49-F238E27FC236}">
                <a16:creationId xmlns:a16="http://schemas.microsoft.com/office/drawing/2014/main" id="{D219CF54-A26F-4E5B-6856-460A38AB36BD}"/>
              </a:ext>
            </a:extLst>
          </p:cNvPr>
          <p:cNvSpPr txBox="1"/>
          <p:nvPr/>
        </p:nvSpPr>
        <p:spPr>
          <a:xfrm>
            <a:off x="478471" y="4000163"/>
            <a:ext cx="4596449" cy="360426"/>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https://aka.ms/mslearn-model-tools</a:t>
            </a:r>
          </a:p>
        </p:txBody>
      </p:sp>
    </p:spTree>
    <p:extLst>
      <p:ext uri="{BB962C8B-B14F-4D97-AF65-F5344CB8AC3E}">
        <p14:creationId xmlns:p14="http://schemas.microsoft.com/office/powerpoint/2010/main" val="79954656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93FC-D62A-BF62-B04F-551DF38CEA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AF54C-8D00-06E7-018F-09A6F5E342FF}"/>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¿Qué son las herramientas?</a:t>
            </a:r>
          </a:p>
        </p:txBody>
      </p:sp>
      <p:sp>
        <p:nvSpPr>
          <p:cNvPr id="26" name="Text Placeholder 44">
            <a:extLst>
              <a:ext uri="{FF2B5EF4-FFF2-40B4-BE49-F238E27FC236}">
                <a16:creationId xmlns:a16="http://schemas.microsoft.com/office/drawing/2014/main" id="{5C23C9C6-AAD5-9930-2891-97FB18EE0536}"/>
              </a:ext>
            </a:extLst>
          </p:cNvPr>
          <p:cNvSpPr txBox="1"/>
          <p:nvPr/>
        </p:nvSpPr>
        <p:spPr>
          <a:xfrm>
            <a:off x="638440" y="1471541"/>
            <a:ext cx="5624342" cy="4124206"/>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Font typeface="Arial" panose="020B0604020202020204" pitchFamily="34" charset="0"/>
              <a:buNone/>
              <a:defRPr/>
            </a:pPr>
            <a:r>
              <a:rPr lang="es-ES" sz="2000" b="0" i="0" strike="noStrike" cap="none" baseline="0" dirty="0">
                <a:solidFill>
                  <a:srgbClr val="000000"/>
                </a:solidFill>
                <a:effectLst/>
                <a:latin typeface="Segoe UI Semibold"/>
                <a:ea typeface="Segoe UI Semibold"/>
                <a:cs typeface="Segoe UI Semibold"/>
              </a:rPr>
              <a:t>Los modelos usan herramientas para</a:t>
            </a:r>
          </a:p>
          <a:p>
            <a:r>
              <a:rPr lang="es-ES" sz="1600" b="0" i="0" strike="noStrike" cap="none" baseline="0" dirty="0">
                <a:solidFill>
                  <a:srgbClr val="000000"/>
                </a:solidFill>
                <a:effectLst/>
                <a:latin typeface="Segoe UI"/>
                <a:ea typeface="Segoe UI"/>
                <a:cs typeface="Segoe UI"/>
              </a:rPr>
              <a:t>Acceder a la información en tiempo real</a:t>
            </a:r>
          </a:p>
          <a:p>
            <a:r>
              <a:rPr lang="es-ES" sz="1600" b="0" i="0" strike="noStrike" cap="none" baseline="0" dirty="0">
                <a:solidFill>
                  <a:srgbClr val="000000"/>
                </a:solidFill>
                <a:effectLst/>
                <a:latin typeface="Segoe UI"/>
                <a:ea typeface="Segoe UI"/>
                <a:cs typeface="Segoe UI"/>
              </a:rPr>
              <a:t>Realizar las acciones pertinentes.</a:t>
            </a:r>
          </a:p>
          <a:p>
            <a:r>
              <a:rPr lang="es-ES" sz="1600" b="0" i="0" strike="noStrike" cap="none" baseline="0" dirty="0">
                <a:solidFill>
                  <a:srgbClr val="000000"/>
                </a:solidFill>
                <a:effectLst/>
                <a:latin typeface="Segoe UI"/>
                <a:ea typeface="Segoe UI"/>
                <a:cs typeface="Segoe UI"/>
              </a:rPr>
              <a:t>Fundamentar respuestas con hechos</a:t>
            </a:r>
          </a:p>
          <a:p>
            <a:r>
              <a:rPr lang="es-ES" sz="1600" b="0" i="0" strike="noStrike" cap="none" baseline="0" dirty="0">
                <a:solidFill>
                  <a:srgbClr val="000000"/>
                </a:solidFill>
                <a:effectLst/>
                <a:latin typeface="Segoe UI"/>
                <a:ea typeface="Segoe UI"/>
                <a:cs typeface="Segoe UI"/>
              </a:rPr>
              <a:t>Ampliación de la funcionalidad</a:t>
            </a:r>
          </a:p>
          <a:p>
            <a:r>
              <a:rPr lang="es-ES" sz="1600" b="0" i="0" strike="noStrike" cap="none" baseline="0" dirty="0">
                <a:solidFill>
                  <a:srgbClr val="000000"/>
                </a:solidFill>
                <a:effectLst/>
                <a:latin typeface="Segoe UI"/>
                <a:ea typeface="Segoe UI"/>
                <a:cs typeface="Segoe UI"/>
              </a:rPr>
              <a:t>Crear flujos de trabajo inteligentes</a:t>
            </a:r>
          </a:p>
          <a:p>
            <a:pPr marL="0" indent="0">
              <a:buNone/>
            </a:pPr>
            <a:endParaRPr lang="en-US" dirty="0"/>
          </a:p>
          <a:p>
            <a:pPr marL="0" indent="0">
              <a:buNone/>
            </a:pPr>
            <a:r>
              <a:rPr lang="es-ES" sz="2000" b="0" i="0" strike="noStrike" cap="none" baseline="0" dirty="0">
                <a:solidFill>
                  <a:srgbClr val="000000"/>
                </a:solidFill>
                <a:effectLst/>
                <a:latin typeface="Segoe UI Semibold"/>
                <a:ea typeface="Segoe UI Semibold"/>
                <a:cs typeface="Segoe UI Semibold"/>
              </a:rPr>
              <a:t>Herramientas comunes</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600" b="1" i="0" strike="noStrike" cap="none" baseline="0" dirty="0" err="1">
                <a:solidFill>
                  <a:srgbClr val="000000"/>
                </a:solidFill>
                <a:effectLst/>
                <a:latin typeface="Consolas"/>
                <a:ea typeface="Consolas"/>
                <a:cs typeface="Consolas"/>
              </a:rPr>
              <a:t>code_interpreter</a:t>
            </a:r>
            <a:r>
              <a:rPr lang="es-ES" sz="1600" b="0" i="0" strike="noStrike" cap="none" baseline="0" dirty="0">
                <a:solidFill>
                  <a:srgbClr val="000000"/>
                </a:solidFill>
                <a:effectLst/>
                <a:latin typeface="Segoe UI"/>
                <a:ea typeface="Segoe UI"/>
                <a:cs typeface="Segoe UI"/>
              </a:rPr>
              <a:t>: generación y ejecución de código</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600" b="1" i="0" strike="noStrike" cap="none" baseline="0" dirty="0" err="1">
                <a:solidFill>
                  <a:srgbClr val="000000"/>
                </a:solidFill>
                <a:effectLst/>
                <a:latin typeface="Consolas"/>
                <a:ea typeface="Consolas"/>
                <a:cs typeface="Consolas"/>
              </a:rPr>
              <a:t>web_search</a:t>
            </a:r>
            <a:r>
              <a:rPr lang="es-ES" sz="1600" b="0" i="0" strike="noStrike" cap="none" baseline="0" dirty="0">
                <a:solidFill>
                  <a:srgbClr val="000000"/>
                </a:solidFill>
                <a:effectLst/>
                <a:latin typeface="Segoe UI"/>
                <a:ea typeface="Segoe UI"/>
                <a:cs typeface="Segoe UI"/>
              </a:rPr>
              <a:t>: localización de información actual en Internet</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600" b="1" i="0" strike="noStrike" cap="none" baseline="0" dirty="0" err="1">
                <a:solidFill>
                  <a:srgbClr val="000000"/>
                </a:solidFill>
                <a:effectLst/>
                <a:latin typeface="Consolas"/>
                <a:ea typeface="Consolas"/>
                <a:cs typeface="Consolas"/>
              </a:rPr>
              <a:t>file_search</a:t>
            </a:r>
            <a:r>
              <a:rPr lang="es-ES" sz="1600" b="0" i="0" strike="noStrike" cap="none" baseline="0" dirty="0">
                <a:solidFill>
                  <a:srgbClr val="000000"/>
                </a:solidFill>
                <a:effectLst/>
                <a:latin typeface="Segoe UI"/>
                <a:ea typeface="Segoe UI"/>
                <a:cs typeface="Segoe UI"/>
              </a:rPr>
              <a:t>: búsqueda de archivos y respuestas básicas en conocimientos específicos</a:t>
            </a:r>
          </a:p>
          <a:p>
            <a:pPr marL="265176" marR="0" lvl="1"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a:pPr>
            <a:r>
              <a:rPr lang="es-ES" sz="1600" b="1" i="0" strike="noStrike" cap="none" baseline="0" dirty="0" err="1">
                <a:solidFill>
                  <a:srgbClr val="000000"/>
                </a:solidFill>
                <a:effectLst/>
                <a:latin typeface="Consolas"/>
                <a:ea typeface="Consolas"/>
                <a:cs typeface="Consolas"/>
              </a:rPr>
              <a:t>function</a:t>
            </a:r>
            <a:r>
              <a:rPr lang="es-ES" sz="1600" b="0" i="0" strike="noStrike" cap="none" baseline="0" dirty="0">
                <a:solidFill>
                  <a:srgbClr val="000000"/>
                </a:solidFill>
                <a:effectLst/>
                <a:latin typeface="Segoe UI"/>
                <a:ea typeface="Segoe UI"/>
                <a:cs typeface="Segoe UI"/>
              </a:rPr>
              <a:t>: llamada a funciones personalizadas</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en el código de tu aplicación</a:t>
            </a: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grpSp>
        <p:nvGrpSpPr>
          <p:cNvPr id="3" name="Group 2">
            <a:extLst>
              <a:ext uri="{FF2B5EF4-FFF2-40B4-BE49-F238E27FC236}">
                <a16:creationId xmlns:a16="http://schemas.microsoft.com/office/drawing/2014/main" id="{51B4123F-2EE8-83B3-C483-200086933FBB}"/>
              </a:ext>
              <a:ext uri="{C183D7F6-B498-43B3-948B-1728B52AA6E4}">
                <adec:decorative xmlns:adec="http://schemas.microsoft.com/office/drawing/2017/decorative" val="1"/>
              </a:ext>
            </a:extLst>
          </p:cNvPr>
          <p:cNvGrpSpPr/>
          <p:nvPr/>
        </p:nvGrpSpPr>
        <p:grpSpPr>
          <a:xfrm>
            <a:off x="6708369" y="1098413"/>
            <a:ext cx="3375111" cy="4322826"/>
            <a:chOff x="2650719" y="431663"/>
            <a:chExt cx="3375111" cy="4322826"/>
          </a:xfrm>
        </p:grpSpPr>
        <p:sp>
          <p:nvSpPr>
            <p:cNvPr id="5" name="Rectangle: Rounded Corners 4">
              <a:extLst>
                <a:ext uri="{FF2B5EF4-FFF2-40B4-BE49-F238E27FC236}">
                  <a16:creationId xmlns:a16="http://schemas.microsoft.com/office/drawing/2014/main" id="{29F2AE1E-49F7-8B31-7B26-406F045E095D}"/>
                </a:ext>
              </a:extLst>
            </p:cNvPr>
            <p:cNvSpPr/>
            <p:nvPr/>
          </p:nvSpPr>
          <p:spPr>
            <a:xfrm>
              <a:off x="3335258" y="868351"/>
              <a:ext cx="2690572" cy="187781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0D2847D4-07A9-581C-DF04-30F0448102FD}"/>
                </a:ext>
              </a:extLst>
            </p:cNvPr>
            <p:cNvGrpSpPr/>
            <p:nvPr/>
          </p:nvGrpSpPr>
          <p:grpSpPr>
            <a:xfrm>
              <a:off x="3909674" y="1630721"/>
              <a:ext cx="914400" cy="914400"/>
              <a:chOff x="5638800" y="2971800"/>
              <a:chExt cx="914400" cy="914400"/>
            </a:xfrm>
          </p:grpSpPr>
          <p:pic>
            <p:nvPicPr>
              <p:cNvPr id="21" name="Picture 20">
                <a:extLst>
                  <a:ext uri="{FF2B5EF4-FFF2-40B4-BE49-F238E27FC236}">
                    <a16:creationId xmlns:a16="http://schemas.microsoft.com/office/drawing/2014/main" id="{FACE4018-3289-23F8-E86B-F2F25B5C6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38" y="3243162"/>
                <a:ext cx="509496" cy="509496"/>
              </a:xfrm>
              <a:prstGeom prst="rect">
                <a:avLst/>
              </a:prstGeom>
              <a:scene3d>
                <a:camera prst="isometricOffAxis1Right"/>
                <a:lightRig rig="threePt" dir="t"/>
              </a:scene3d>
            </p:spPr>
          </p:pic>
          <p:pic>
            <p:nvPicPr>
              <p:cNvPr id="22" name="Graphic 21" descr="Cube outline">
                <a:extLst>
                  <a:ext uri="{FF2B5EF4-FFF2-40B4-BE49-F238E27FC236}">
                    <a16:creationId xmlns:a16="http://schemas.microsoft.com/office/drawing/2014/main" id="{B29628CD-55C2-67A6-15A3-453F3DE952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971800"/>
                <a:ext cx="914400" cy="914400"/>
              </a:xfrm>
              <a:prstGeom prst="rect">
                <a:avLst/>
              </a:prstGeom>
            </p:spPr>
          </p:pic>
        </p:grpSp>
        <p:grpSp>
          <p:nvGrpSpPr>
            <p:cNvPr id="7" name="Group 6">
              <a:extLst>
                <a:ext uri="{FF2B5EF4-FFF2-40B4-BE49-F238E27FC236}">
                  <a16:creationId xmlns:a16="http://schemas.microsoft.com/office/drawing/2014/main" id="{C410D735-A7FD-A763-0BD8-B92D4E32A190}"/>
                </a:ext>
              </a:extLst>
            </p:cNvPr>
            <p:cNvGrpSpPr/>
            <p:nvPr/>
          </p:nvGrpSpPr>
          <p:grpSpPr>
            <a:xfrm>
              <a:off x="3335258" y="3314912"/>
              <a:ext cx="1052876" cy="1052876"/>
              <a:chOff x="3239954" y="2992851"/>
              <a:chExt cx="1052876" cy="1052876"/>
            </a:xfrm>
          </p:grpSpPr>
          <p:pic>
            <p:nvPicPr>
              <p:cNvPr id="19" name="Graphic 18" descr="Browser window with solid fill">
                <a:extLst>
                  <a:ext uri="{FF2B5EF4-FFF2-40B4-BE49-F238E27FC236}">
                    <a16:creationId xmlns:a16="http://schemas.microsoft.com/office/drawing/2014/main" id="{3FC2FBD1-4F98-0D86-94BA-1816952327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39954" y="2992851"/>
                <a:ext cx="1052876" cy="1052876"/>
              </a:xfrm>
              <a:prstGeom prst="rect">
                <a:avLst/>
              </a:prstGeom>
            </p:spPr>
          </p:pic>
          <p:pic>
            <p:nvPicPr>
              <p:cNvPr id="20" name="Graphic 19" descr="List outline">
                <a:extLst>
                  <a:ext uri="{FF2B5EF4-FFF2-40B4-BE49-F238E27FC236}">
                    <a16:creationId xmlns:a16="http://schemas.microsoft.com/office/drawing/2014/main" id="{9BD5FC4A-1719-1EC2-BB16-8DDEEE6BCBD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37792" y="3341837"/>
                <a:ext cx="457200" cy="457200"/>
              </a:xfrm>
              <a:prstGeom prst="rect">
                <a:avLst/>
              </a:prstGeom>
            </p:spPr>
          </p:pic>
        </p:grpSp>
        <p:grpSp>
          <p:nvGrpSpPr>
            <p:cNvPr id="8" name="Group 7">
              <a:extLst>
                <a:ext uri="{FF2B5EF4-FFF2-40B4-BE49-F238E27FC236}">
                  <a16:creationId xmlns:a16="http://schemas.microsoft.com/office/drawing/2014/main" id="{8CAD9FC7-2D50-4E51-5B86-9A6C951EDD60}"/>
                </a:ext>
              </a:extLst>
            </p:cNvPr>
            <p:cNvGrpSpPr/>
            <p:nvPr/>
          </p:nvGrpSpPr>
          <p:grpSpPr>
            <a:xfrm>
              <a:off x="2650719" y="3314912"/>
              <a:ext cx="1439577" cy="1439577"/>
              <a:chOff x="5638799" y="2971799"/>
              <a:chExt cx="1439577" cy="1439577"/>
            </a:xfrm>
          </p:grpSpPr>
          <p:pic>
            <p:nvPicPr>
              <p:cNvPr id="17" name="Graphic 16" descr="User with solid fill">
                <a:extLst>
                  <a:ext uri="{FF2B5EF4-FFF2-40B4-BE49-F238E27FC236}">
                    <a16:creationId xmlns:a16="http://schemas.microsoft.com/office/drawing/2014/main" id="{860E6712-61D1-9554-8CA1-EC4598B2F53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38799" y="2971799"/>
                <a:ext cx="1439577" cy="1439577"/>
              </a:xfrm>
              <a:prstGeom prst="rect">
                <a:avLst/>
              </a:prstGeom>
            </p:spPr>
          </p:pic>
          <p:sp>
            <p:nvSpPr>
              <p:cNvPr id="18" name="Flowchart: Delay 17">
                <a:extLst>
                  <a:ext uri="{FF2B5EF4-FFF2-40B4-BE49-F238E27FC236}">
                    <a16:creationId xmlns:a16="http://schemas.microsoft.com/office/drawing/2014/main" id="{3E2AF520-5326-E61B-9F10-126F62AD9299}"/>
                  </a:ext>
                </a:extLst>
              </p:cNvPr>
              <p:cNvSpPr/>
              <p:nvPr/>
            </p:nvSpPr>
            <p:spPr>
              <a:xfrm rot="16200000">
                <a:off x="6090023" y="3212041"/>
                <a:ext cx="537128" cy="478252"/>
              </a:xfrm>
              <a:prstGeom prst="flowChartDelay">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37C76B2D-44A3-7781-B828-39EF1668E84B}"/>
                </a:ext>
              </a:extLst>
            </p:cNvPr>
            <p:cNvPicPr>
              <a:picLocks noChangeAspect="1"/>
            </p:cNvPicPr>
            <p:nvPr/>
          </p:nvPicPr>
          <p:blipFill>
            <a:blip r:embed="rId8">
              <a:extLst>
                <a:ext uri="{28A0092B-C50C-407E-A947-70E740481C1C}">
                  <a14:useLocalDpi xmlns:a14="http://schemas.microsoft.com/office/drawing/2010/main" val="0"/>
                </a:ext>
              </a:extLst>
            </a:blip>
            <a:srcRect l="28825" t="20527" r="38004" b="18561"/>
            <a:stretch>
              <a:fillRect/>
            </a:stretch>
          </p:blipFill>
          <p:spPr>
            <a:xfrm>
              <a:off x="2904142" y="431663"/>
              <a:ext cx="1052876" cy="1087507"/>
            </a:xfrm>
            <a:prstGeom prst="rect">
              <a:avLst/>
            </a:prstGeom>
          </p:spPr>
        </p:pic>
        <p:grpSp>
          <p:nvGrpSpPr>
            <p:cNvPr id="10" name="Group 9">
              <a:extLst>
                <a:ext uri="{FF2B5EF4-FFF2-40B4-BE49-F238E27FC236}">
                  <a16:creationId xmlns:a16="http://schemas.microsoft.com/office/drawing/2014/main" id="{F0E1E6FC-4CCE-8D5E-F791-187DBE3D6BC1}"/>
                </a:ext>
              </a:extLst>
            </p:cNvPr>
            <p:cNvGrpSpPr/>
            <p:nvPr/>
          </p:nvGrpSpPr>
          <p:grpSpPr>
            <a:xfrm>
              <a:off x="4985680" y="1119060"/>
              <a:ext cx="851347" cy="800219"/>
              <a:chOff x="7095726" y="5316090"/>
              <a:chExt cx="988900" cy="929510"/>
            </a:xfrm>
          </p:grpSpPr>
          <p:pic>
            <p:nvPicPr>
              <p:cNvPr id="13" name="Graphic 12" descr="Wrench with solid fill">
                <a:extLst>
                  <a:ext uri="{FF2B5EF4-FFF2-40B4-BE49-F238E27FC236}">
                    <a16:creationId xmlns:a16="http://schemas.microsoft.com/office/drawing/2014/main" id="{D13A3F10-8A84-6DB0-A982-E26423C98C0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95726" y="5316090"/>
                <a:ext cx="914400" cy="914400"/>
              </a:xfrm>
              <a:prstGeom prst="rect">
                <a:avLst/>
              </a:prstGeom>
            </p:spPr>
          </p:pic>
          <p:grpSp>
            <p:nvGrpSpPr>
              <p:cNvPr id="14" name="Group 13">
                <a:extLst>
                  <a:ext uri="{FF2B5EF4-FFF2-40B4-BE49-F238E27FC236}">
                    <a16:creationId xmlns:a16="http://schemas.microsoft.com/office/drawing/2014/main" id="{6B9ED114-42B9-EEA1-99CA-071E87A4FF0C}"/>
                  </a:ext>
                </a:extLst>
              </p:cNvPr>
              <p:cNvGrpSpPr/>
              <p:nvPr/>
            </p:nvGrpSpPr>
            <p:grpSpPr>
              <a:xfrm>
                <a:off x="7165657" y="5328660"/>
                <a:ext cx="918969" cy="916940"/>
                <a:chOff x="7165657" y="5328660"/>
                <a:chExt cx="918969" cy="916940"/>
              </a:xfrm>
            </p:grpSpPr>
            <p:pic>
              <p:nvPicPr>
                <p:cNvPr id="15" name="Graphic 14" descr="Screwdriver with solid fill">
                  <a:extLst>
                    <a:ext uri="{FF2B5EF4-FFF2-40B4-BE49-F238E27FC236}">
                      <a16:creationId xmlns:a16="http://schemas.microsoft.com/office/drawing/2014/main" id="{B0FCB243-80EB-7C3C-A559-8106AC16262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flipH="1">
                  <a:off x="7165657" y="5328660"/>
                  <a:ext cx="914400" cy="914400"/>
                </a:xfrm>
                <a:prstGeom prst="rect">
                  <a:avLst/>
                </a:prstGeom>
              </p:spPr>
            </p:pic>
            <p:pic>
              <p:nvPicPr>
                <p:cNvPr id="16" name="Graphic 15" descr="Screwdriver with solid fill">
                  <a:extLst>
                    <a:ext uri="{FF2B5EF4-FFF2-40B4-BE49-F238E27FC236}">
                      <a16:creationId xmlns:a16="http://schemas.microsoft.com/office/drawing/2014/main" id="{EED72B09-44E3-33CF-D012-258929386034}"/>
                    </a:ext>
                  </a:extLst>
                </p:cNvPr>
                <p:cNvPicPr>
                  <a:picLocks noChangeAspect="1"/>
                </p:cNvPicPr>
                <p:nvPr/>
              </p:nvPicPr>
              <p:blipFill>
                <a:blip>
                  <a:extLst>
                    <a:ext uri="{96DAC541-7B7A-43D3-8B79-37D633B846F1}">
                      <asvg:svgBlip xmlns:asvg="http://schemas.microsoft.com/office/drawing/2016/SVG/main" r:embed="rId11"/>
                    </a:ext>
                  </a:extLst>
                </a:blip>
                <a:srcRect t="48348" r="49223"/>
                <a:stretch>
                  <a:fillRect/>
                </a:stretch>
              </p:blipFill>
              <p:spPr>
                <a:xfrm flipH="1">
                  <a:off x="7620317" y="5773290"/>
                  <a:ext cx="464309" cy="472310"/>
                </a:xfrm>
                <a:prstGeom prst="snipRoundRect">
                  <a:avLst>
                    <a:gd name="adj1" fmla="val 16667"/>
                    <a:gd name="adj2" fmla="val 14959"/>
                  </a:avLst>
                </a:prstGeom>
              </p:spPr>
            </p:pic>
          </p:grpSp>
        </p:grpSp>
        <p:cxnSp>
          <p:nvCxnSpPr>
            <p:cNvPr id="11" name="Straight Arrow Connector 95">
              <a:extLst>
                <a:ext uri="{FF2B5EF4-FFF2-40B4-BE49-F238E27FC236}">
                  <a16:creationId xmlns:a16="http://schemas.microsoft.com/office/drawing/2014/main" id="{AF91854D-EE4A-8F64-1222-598B807124D8}"/>
                </a:ext>
              </a:extLst>
            </p:cNvPr>
            <p:cNvCxnSpPr/>
            <p:nvPr/>
          </p:nvCxnSpPr>
          <p:spPr>
            <a:xfrm rot="5400000" flipH="1" flipV="1">
              <a:off x="3623608" y="2625339"/>
              <a:ext cx="983746" cy="599995"/>
            </a:xfrm>
            <a:prstGeom prst="bentConnector3">
              <a:avLst>
                <a:gd name="adj1" fmla="val 50000"/>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95">
              <a:extLst>
                <a:ext uri="{FF2B5EF4-FFF2-40B4-BE49-F238E27FC236}">
                  <a16:creationId xmlns:a16="http://schemas.microsoft.com/office/drawing/2014/main" id="{2CBD1271-F5F5-F561-EFD9-45C5F96F26D4}"/>
                </a:ext>
              </a:extLst>
            </p:cNvPr>
            <p:cNvCxnSpPr/>
            <p:nvPr/>
          </p:nvCxnSpPr>
          <p:spPr>
            <a:xfrm flipV="1">
              <a:off x="4792944" y="1807256"/>
              <a:ext cx="644358" cy="280665"/>
            </a:xfrm>
            <a:prstGeom prst="bentConnector3">
              <a:avLst>
                <a:gd name="adj1" fmla="val 100025"/>
              </a:avLst>
            </a:prstGeom>
            <a:ln w="38100">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611802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F203-F6E5-0572-3A57-AF9263CBD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536AD-06AF-BF2F-0F65-FE536B1D4968}"/>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Uso de la herramienta </a:t>
            </a:r>
            <a:r>
              <a:rPr lang="es-ES" sz="3200" b="0" i="0" strike="noStrike" cap="none" baseline="0">
                <a:solidFill>
                  <a:srgbClr val="702573"/>
                </a:solidFill>
                <a:effectLst/>
                <a:latin typeface="Consolas"/>
                <a:ea typeface="Consolas"/>
                <a:cs typeface="Consolas"/>
              </a:rPr>
              <a:t>code_interpreter</a:t>
            </a:r>
          </a:p>
        </p:txBody>
      </p:sp>
      <p:sp>
        <p:nvSpPr>
          <p:cNvPr id="3" name="Footer Placeholder 2">
            <a:extLst>
              <a:ext uri="{FF2B5EF4-FFF2-40B4-BE49-F238E27FC236}">
                <a16:creationId xmlns:a16="http://schemas.microsoft.com/office/drawing/2014/main" id="{59720BC4-7D44-86F1-5351-AF4DD41CBE3F}"/>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Rounded Rectangle 5">
            <a:extLst>
              <a:ext uri="{FF2B5EF4-FFF2-40B4-BE49-F238E27FC236}">
                <a16:creationId xmlns:a16="http://schemas.microsoft.com/office/drawing/2014/main" id="{A21AB2CC-1E87-58F8-DE66-F329759D53F8}"/>
              </a:ext>
              <a:ext uri="{C183D7F6-B498-43B3-948B-1728B52AA6E4}">
                <adec:decorative xmlns:adec="http://schemas.microsoft.com/office/drawing/2017/decorative" val="1"/>
              </a:ext>
            </a:extLst>
          </p:cNvPr>
          <p:cNvSpPr/>
          <p:nvPr/>
        </p:nvSpPr>
        <p:spPr bwMode="auto">
          <a:xfrm>
            <a:off x="579438" y="1579517"/>
            <a:ext cx="6613842" cy="4297027"/>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Rounded Rectangle 9">
            <a:extLst>
              <a:ext uri="{FF2B5EF4-FFF2-40B4-BE49-F238E27FC236}">
                <a16:creationId xmlns:a16="http://schemas.microsoft.com/office/drawing/2014/main" id="{01899E66-3C08-4017-FD3D-419D8C8575B8}"/>
              </a:ext>
              <a:ext uri="{C183D7F6-B498-43B3-948B-1728B52AA6E4}">
                <adec:decorative xmlns:adec="http://schemas.microsoft.com/office/drawing/2017/decorative" val="1"/>
              </a:ext>
            </a:extLst>
          </p:cNvPr>
          <p:cNvSpPr/>
          <p:nvPr/>
        </p:nvSpPr>
        <p:spPr>
          <a:xfrm>
            <a:off x="7363968" y="1579516"/>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2" name="Oval 11">
            <a:extLst>
              <a:ext uri="{FF2B5EF4-FFF2-40B4-BE49-F238E27FC236}">
                <a16:creationId xmlns:a16="http://schemas.microsoft.com/office/drawing/2014/main" id="{1C698C2A-87EB-ED98-A3CD-A45EF5F09329}"/>
              </a:ext>
            </a:extLst>
          </p:cNvPr>
          <p:cNvSpPr/>
          <p:nvPr/>
        </p:nvSpPr>
        <p:spPr bwMode="auto">
          <a:xfrm>
            <a:off x="7447028" y="1826077"/>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1</a:t>
            </a:r>
          </a:p>
        </p:txBody>
      </p:sp>
      <p:sp>
        <p:nvSpPr>
          <p:cNvPr id="15" name="TextBox 14">
            <a:extLst>
              <a:ext uri="{FF2B5EF4-FFF2-40B4-BE49-F238E27FC236}">
                <a16:creationId xmlns:a16="http://schemas.microsoft.com/office/drawing/2014/main" id="{0823A35F-6FC5-23B6-9DEC-81F8A89EAC7F}"/>
              </a:ext>
            </a:extLst>
          </p:cNvPr>
          <p:cNvSpPr txBox="1"/>
          <p:nvPr/>
        </p:nvSpPr>
        <p:spPr>
          <a:xfrm>
            <a:off x="7895848" y="1608848"/>
            <a:ext cx="3707890" cy="769441"/>
          </a:xfrm>
          <a:prstGeom prst="rect">
            <a:avLst/>
          </a:prstGeom>
          <a:noFill/>
        </p:spPr>
        <p:txBody>
          <a:bodyPr wrap="square">
            <a:spAutoFit/>
          </a:bodyPr>
          <a:lstStyle/>
          <a:p>
            <a:r>
              <a:rPr lang="es-ES" sz="1700" b="1" i="0" strike="noStrike" cap="none" baseline="0" dirty="0">
                <a:solidFill>
                  <a:srgbClr val="702573"/>
                </a:solidFill>
                <a:effectLst/>
                <a:latin typeface="Segoe UI Semibold"/>
                <a:ea typeface="Segoe UI Semibold"/>
                <a:cs typeface="Segoe UI Semibold"/>
              </a:rPr>
              <a:t>El modelo recibe la pregunta</a:t>
            </a:r>
          </a:p>
          <a:p>
            <a:r>
              <a:rPr lang="es-ES" sz="1300" b="0" i="0" strike="noStrike" cap="none" baseline="0" dirty="0">
                <a:solidFill>
                  <a:srgbClr val="0D0D0D"/>
                </a:solidFill>
                <a:effectLst/>
                <a:latin typeface="Segoe UI"/>
                <a:ea typeface="Segoe UI"/>
                <a:cs typeface="Segoe UI"/>
              </a:rPr>
              <a:t>Ve que </a:t>
            </a:r>
            <a:r>
              <a:rPr lang="es-ES" sz="1300" b="0" i="0" strike="noStrike" cap="none" baseline="0" dirty="0" err="1">
                <a:solidFill>
                  <a:srgbClr val="0D0D0D"/>
                </a:solidFill>
                <a:effectLst/>
                <a:latin typeface="Consolas"/>
                <a:ea typeface="Consolas"/>
                <a:cs typeface="Consolas"/>
              </a:rPr>
              <a:t>code_interpreter</a:t>
            </a:r>
            <a:r>
              <a:rPr lang="es-ES" sz="1300" b="0" i="0" strike="noStrike" cap="none" baseline="0" dirty="0">
                <a:solidFill>
                  <a:srgbClr val="0D0D0D"/>
                </a:solidFill>
                <a:effectLst/>
                <a:latin typeface="Consolas"/>
                <a:ea typeface="Consolas"/>
                <a:cs typeface="Consolas"/>
              </a:rPr>
              <a:t> </a:t>
            </a:r>
            <a:r>
              <a:rPr lang="es-ES" sz="1300" b="0" i="0" strike="noStrike" cap="none" baseline="0" dirty="0">
                <a:solidFill>
                  <a:srgbClr val="0D0D0D"/>
                </a:solidFill>
                <a:effectLst/>
                <a:latin typeface="Segoe UI"/>
                <a:ea typeface="Segoe UI"/>
                <a:cs typeface="Segoe UI"/>
              </a:rPr>
              <a:t>está disponible</a:t>
            </a:r>
            <a:br>
              <a:rPr lang="es-ES" sz="1300" b="0" i="0" strike="noStrike" cap="none" baseline="0" dirty="0">
                <a:solidFill>
                  <a:srgbClr val="0D0D0D"/>
                </a:solidFill>
                <a:effectLst/>
                <a:latin typeface="Segoe UI"/>
                <a:ea typeface="Segoe UI"/>
                <a:cs typeface="Segoe UI"/>
              </a:rPr>
            </a:br>
            <a:r>
              <a:rPr lang="es-ES" sz="1300" b="0" i="0" strike="noStrike" cap="none" baseline="0" dirty="0">
                <a:solidFill>
                  <a:srgbClr val="0D0D0D"/>
                </a:solidFill>
                <a:effectLst/>
                <a:latin typeface="Segoe UI"/>
                <a:ea typeface="Segoe UI"/>
                <a:cs typeface="Segoe UI"/>
              </a:rPr>
              <a:t>y decide usarlo para calcular la respuesta.</a:t>
            </a:r>
          </a:p>
        </p:txBody>
      </p:sp>
      <p:sp>
        <p:nvSpPr>
          <p:cNvPr id="16" name="Rounded Rectangle 15">
            <a:extLst>
              <a:ext uri="{FF2B5EF4-FFF2-40B4-BE49-F238E27FC236}">
                <a16:creationId xmlns:a16="http://schemas.microsoft.com/office/drawing/2014/main" id="{C5117B90-C54B-CC49-F2D4-042815444363}"/>
              </a:ext>
              <a:ext uri="{C183D7F6-B498-43B3-948B-1728B52AA6E4}">
                <adec:decorative xmlns:adec="http://schemas.microsoft.com/office/drawing/2017/decorative" val="1"/>
              </a:ext>
            </a:extLst>
          </p:cNvPr>
          <p:cNvSpPr/>
          <p:nvPr/>
        </p:nvSpPr>
        <p:spPr>
          <a:xfrm>
            <a:off x="7372792" y="2510814"/>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7" name="Oval 16">
            <a:extLst>
              <a:ext uri="{FF2B5EF4-FFF2-40B4-BE49-F238E27FC236}">
                <a16:creationId xmlns:a16="http://schemas.microsoft.com/office/drawing/2014/main" id="{69993D41-6FDD-3A52-FC28-0EE00D55DCB4}"/>
              </a:ext>
            </a:extLst>
          </p:cNvPr>
          <p:cNvSpPr/>
          <p:nvPr/>
        </p:nvSpPr>
        <p:spPr bwMode="auto">
          <a:xfrm>
            <a:off x="7455852" y="2757375"/>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2</a:t>
            </a:r>
          </a:p>
        </p:txBody>
      </p:sp>
      <p:sp>
        <p:nvSpPr>
          <p:cNvPr id="18" name="TextBox 17">
            <a:extLst>
              <a:ext uri="{FF2B5EF4-FFF2-40B4-BE49-F238E27FC236}">
                <a16:creationId xmlns:a16="http://schemas.microsoft.com/office/drawing/2014/main" id="{A27D5035-FB21-611C-60ED-8B13E37E5E5E}"/>
              </a:ext>
            </a:extLst>
          </p:cNvPr>
          <p:cNvSpPr txBox="1"/>
          <p:nvPr/>
        </p:nvSpPr>
        <p:spPr>
          <a:xfrm>
            <a:off x="7904672" y="2540147"/>
            <a:ext cx="3707890" cy="754053"/>
          </a:xfrm>
          <a:prstGeom prst="rect">
            <a:avLst/>
          </a:prstGeom>
          <a:noFill/>
        </p:spPr>
        <p:txBody>
          <a:bodyPr wrap="square">
            <a:spAutoFit/>
          </a:bodyPr>
          <a:lstStyle/>
          <a:p>
            <a:r>
              <a:rPr lang="es-ES" sz="1700" b="1" i="0" strike="noStrike" cap="none" baseline="0" dirty="0">
                <a:solidFill>
                  <a:srgbClr val="702573"/>
                </a:solidFill>
                <a:effectLst/>
                <a:latin typeface="Segoe UI Semibold"/>
                <a:ea typeface="Segoe UI Semibold"/>
                <a:cs typeface="Segoe UI Semibold"/>
              </a:rPr>
              <a:t>El código se genera y ejecuta</a:t>
            </a:r>
          </a:p>
          <a:p>
            <a:r>
              <a:rPr lang="es-ES" sz="1300" b="0" i="0" strike="noStrike" cap="none" baseline="0" dirty="0">
                <a:solidFill>
                  <a:srgbClr val="0D0D0D"/>
                </a:solidFill>
                <a:effectLst/>
                <a:latin typeface="Segoe UI"/>
                <a:ea typeface="Segoe UI"/>
                <a:cs typeface="Segoe UI"/>
              </a:rPr>
              <a:t>El modelo escribe código de Python y lo ejecuta dentro de un contenedor de espacio aislado.</a:t>
            </a:r>
          </a:p>
        </p:txBody>
      </p:sp>
      <p:sp>
        <p:nvSpPr>
          <p:cNvPr id="19" name="Rounded Rectangle 18">
            <a:extLst>
              <a:ext uri="{FF2B5EF4-FFF2-40B4-BE49-F238E27FC236}">
                <a16:creationId xmlns:a16="http://schemas.microsoft.com/office/drawing/2014/main" id="{F98155FA-D193-C93B-D641-3DFEFE04AC8C}"/>
              </a:ext>
              <a:ext uri="{C183D7F6-B498-43B3-948B-1728B52AA6E4}">
                <adec:decorative xmlns:adec="http://schemas.microsoft.com/office/drawing/2017/decorative" val="1"/>
              </a:ext>
            </a:extLst>
          </p:cNvPr>
          <p:cNvSpPr/>
          <p:nvPr/>
        </p:nvSpPr>
        <p:spPr>
          <a:xfrm>
            <a:off x="7363968" y="3442112"/>
            <a:ext cx="4239770" cy="858883"/>
          </a:xfrm>
          <a:prstGeom prst="roundRect">
            <a:avLst>
              <a:gd name="adj" fmla="val 12000"/>
            </a:avLst>
          </a:prstGeom>
          <a:solidFill>
            <a:srgbClr val="ECC9EE">
              <a:alpha val="50196"/>
            </a:srgb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20" name="Oval 19">
            <a:extLst>
              <a:ext uri="{FF2B5EF4-FFF2-40B4-BE49-F238E27FC236}">
                <a16:creationId xmlns:a16="http://schemas.microsoft.com/office/drawing/2014/main" id="{BC225378-7591-0F1F-D449-9A4D760C82C6}"/>
              </a:ext>
            </a:extLst>
          </p:cNvPr>
          <p:cNvSpPr/>
          <p:nvPr/>
        </p:nvSpPr>
        <p:spPr bwMode="auto">
          <a:xfrm>
            <a:off x="7447028" y="3688673"/>
            <a:ext cx="365760" cy="365760"/>
          </a:xfrm>
          <a:prstGeom prst="ellipse">
            <a:avLst/>
          </a:prstGeom>
          <a:solidFill>
            <a:srgbClr val="70257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3</a:t>
            </a:r>
          </a:p>
        </p:txBody>
      </p:sp>
      <p:sp>
        <p:nvSpPr>
          <p:cNvPr id="21" name="TextBox 20">
            <a:extLst>
              <a:ext uri="{FF2B5EF4-FFF2-40B4-BE49-F238E27FC236}">
                <a16:creationId xmlns:a16="http://schemas.microsoft.com/office/drawing/2014/main" id="{8EE90AB8-6416-4D5D-399A-C4B8E0E7FFE4}"/>
              </a:ext>
            </a:extLst>
          </p:cNvPr>
          <p:cNvSpPr txBox="1"/>
          <p:nvPr/>
        </p:nvSpPr>
        <p:spPr>
          <a:xfrm>
            <a:off x="7895848" y="3369844"/>
            <a:ext cx="3707890" cy="954107"/>
          </a:xfrm>
          <a:prstGeom prst="rect">
            <a:avLst/>
          </a:prstGeom>
          <a:noFill/>
        </p:spPr>
        <p:txBody>
          <a:bodyPr wrap="square">
            <a:spAutoFit/>
          </a:bodyPr>
          <a:lstStyle/>
          <a:p>
            <a:r>
              <a:rPr lang="es-ES" sz="1700" b="1" i="0" strike="noStrike" cap="none" baseline="0" dirty="0">
                <a:solidFill>
                  <a:srgbClr val="702573"/>
                </a:solidFill>
                <a:effectLst/>
                <a:latin typeface="Segoe UI Semibold"/>
                <a:ea typeface="Segoe UI Semibold"/>
                <a:cs typeface="Segoe UI Semibold"/>
              </a:rPr>
              <a:t>Respuesta devuelta</a:t>
            </a:r>
          </a:p>
          <a:p>
            <a:r>
              <a:rPr lang="es-ES" sz="1300" b="0" i="0" strike="noStrike" cap="none" baseline="0" dirty="0">
                <a:solidFill>
                  <a:srgbClr val="0D0D0D"/>
                </a:solidFill>
                <a:effectLst/>
                <a:latin typeface="Segoe UI"/>
                <a:ea typeface="Segoe UI"/>
                <a:cs typeface="Segoe UI"/>
              </a:rPr>
              <a:t>El modelo formula una respuesta legible a partir del resultado de la ejecución del código, no del código sin procesar.</a:t>
            </a:r>
          </a:p>
        </p:txBody>
      </p:sp>
      <p:sp>
        <p:nvSpPr>
          <p:cNvPr id="22" name="Rounded Rectangle 21">
            <a:extLst>
              <a:ext uri="{FF2B5EF4-FFF2-40B4-BE49-F238E27FC236}">
                <a16:creationId xmlns:a16="http://schemas.microsoft.com/office/drawing/2014/main" id="{C870C27B-168D-82D1-CD7C-2DBE3D597611}"/>
              </a:ext>
              <a:ext uri="{C183D7F6-B498-43B3-948B-1728B52AA6E4}">
                <adec:decorative xmlns:adec="http://schemas.microsoft.com/office/drawing/2017/decorative" val="1"/>
              </a:ext>
            </a:extLst>
          </p:cNvPr>
          <p:cNvSpPr/>
          <p:nvPr/>
        </p:nvSpPr>
        <p:spPr>
          <a:xfrm>
            <a:off x="7372792" y="5017661"/>
            <a:ext cx="4239770" cy="858883"/>
          </a:xfrm>
          <a:prstGeom prst="roundRect">
            <a:avLst>
              <a:gd name="adj" fmla="val 12000"/>
            </a:avLst>
          </a:prstGeom>
          <a:solidFill>
            <a:srgbClr val="702573"/>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20BCADBB-4C8E-55DC-60E1-03A504A8B7E7}"/>
              </a:ext>
            </a:extLst>
          </p:cNvPr>
          <p:cNvSpPr txBox="1"/>
          <p:nvPr/>
        </p:nvSpPr>
        <p:spPr>
          <a:xfrm>
            <a:off x="7455852" y="5129322"/>
            <a:ext cx="3707890" cy="629412"/>
          </a:xfrm>
          <a:prstGeom prst="rect">
            <a:avLst/>
          </a:prstGeom>
          <a:noFill/>
        </p:spPr>
        <p:txBody>
          <a:bodyPr wrap="square">
            <a:spAutoFit/>
          </a:bodyPr>
          <a:lstStyle/>
          <a:p>
            <a:r>
              <a:rPr lang="es-ES" sz="1670" b="1" i="0" strike="noStrike" cap="all" baseline="0" dirty="0" err="1">
                <a:solidFill>
                  <a:srgbClr val="FFFFFF"/>
                </a:solidFill>
                <a:effectLst/>
                <a:latin typeface="Consolas"/>
                <a:ea typeface="Consolas"/>
                <a:cs typeface="Consolas"/>
              </a:rPr>
              <a:t>response.output_text</a:t>
            </a:r>
            <a:endParaRPr lang="en-US" sz="1670" b="1" cap="all" dirty="0">
              <a:solidFill>
                <a:schemeClr val="bg1"/>
              </a:solidFill>
              <a:latin typeface="Consolas" panose="020B0609020204030204" pitchFamily="49" charset="0"/>
              <a:cs typeface="Consolas" panose="020B0609020204030204" pitchFamily="49" charset="0"/>
            </a:endParaRPr>
          </a:p>
          <a:p>
            <a:r>
              <a:rPr lang="es-ES" sz="1670" b="0" i="0" strike="noStrike" cap="none" baseline="0" dirty="0">
                <a:solidFill>
                  <a:srgbClr val="FFFFFF"/>
                </a:solidFill>
                <a:effectLst/>
                <a:latin typeface="Consolas"/>
                <a:ea typeface="Consolas"/>
                <a:cs typeface="Consolas"/>
              </a:rPr>
              <a:t>La raíz cuadrada de 16 es 4.</a:t>
            </a:r>
            <a:endParaRPr lang="en-US" sz="1670" dirty="0">
              <a:solidFill>
                <a:schemeClr val="bg1"/>
              </a:solidFill>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9ADFA927-35DD-7E4C-BC03-BA8B6F5056F6}"/>
              </a:ext>
            </a:extLst>
          </p:cNvPr>
          <p:cNvSpPr txBox="1"/>
          <p:nvPr/>
        </p:nvSpPr>
        <p:spPr>
          <a:xfrm>
            <a:off x="838358" y="1778673"/>
            <a:ext cx="6206565" cy="2492990"/>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Get response using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code_interpreter</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a:t>
            </a:r>
          </a:p>
          <a:p>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2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model_deployment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are an AI assistant that provides information."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 the python tool to run code for math problems."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="What is the square root of 16?"</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p>
          <a:p>
            <a:r>
              <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Specify tools the model can use (including container settings)</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code_interpreter</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"container"</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"auto"</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Output is natural language</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p:txBody>
      </p:sp>
    </p:spTree>
    <p:extLst>
      <p:ext uri="{BB962C8B-B14F-4D97-AF65-F5344CB8AC3E}">
        <p14:creationId xmlns:p14="http://schemas.microsoft.com/office/powerpoint/2010/main" val="398461545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9CA0-A98E-776E-FF22-9D7AE2D19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05EDD-7E60-4786-640B-71EF06BF2CBB}"/>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Uso de la herramienta </a:t>
            </a:r>
            <a:r>
              <a:rPr lang="es-ES" sz="3200" b="0" i="0" strike="noStrike" cap="none" baseline="0">
                <a:solidFill>
                  <a:srgbClr val="1C5F8D"/>
                </a:solidFill>
                <a:effectLst/>
                <a:latin typeface="Consolas"/>
                <a:ea typeface="Consolas"/>
                <a:cs typeface="Consolas"/>
              </a:rPr>
              <a:t>web_search </a:t>
            </a:r>
          </a:p>
        </p:txBody>
      </p:sp>
      <p:sp>
        <p:nvSpPr>
          <p:cNvPr id="3" name="Footer Placeholder 2">
            <a:extLst>
              <a:ext uri="{FF2B5EF4-FFF2-40B4-BE49-F238E27FC236}">
                <a16:creationId xmlns:a16="http://schemas.microsoft.com/office/drawing/2014/main" id="{52B07012-6EFD-BB50-7D49-CC76A8CE481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Rounded Rectangle 5">
            <a:extLst>
              <a:ext uri="{FF2B5EF4-FFF2-40B4-BE49-F238E27FC236}">
                <a16:creationId xmlns:a16="http://schemas.microsoft.com/office/drawing/2014/main" id="{14FAF711-41BF-3788-BDD2-FDA7AC4CAB1B}"/>
              </a:ext>
              <a:ext uri="{C183D7F6-B498-43B3-948B-1728B52AA6E4}">
                <adec:decorative xmlns:adec="http://schemas.microsoft.com/office/drawing/2017/decorative" val="1"/>
              </a:ext>
            </a:extLst>
          </p:cNvPr>
          <p:cNvSpPr/>
          <p:nvPr/>
        </p:nvSpPr>
        <p:spPr bwMode="auto">
          <a:xfrm>
            <a:off x="579438" y="1579518"/>
            <a:ext cx="6613842" cy="3061478"/>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Rounded Rectangle 9">
            <a:extLst>
              <a:ext uri="{FF2B5EF4-FFF2-40B4-BE49-F238E27FC236}">
                <a16:creationId xmlns:a16="http://schemas.microsoft.com/office/drawing/2014/main" id="{90F2F6A7-F5E9-B26E-453F-51D0D38EAED9}"/>
              </a:ext>
              <a:ext uri="{C183D7F6-B498-43B3-948B-1728B52AA6E4}">
                <adec:decorative xmlns:adec="http://schemas.microsoft.com/office/drawing/2017/decorative" val="1"/>
              </a:ext>
            </a:extLst>
          </p:cNvPr>
          <p:cNvSpPr/>
          <p:nvPr/>
        </p:nvSpPr>
        <p:spPr>
          <a:xfrm>
            <a:off x="7363968" y="1579516"/>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12" name="Oval 11">
            <a:extLst>
              <a:ext uri="{FF2B5EF4-FFF2-40B4-BE49-F238E27FC236}">
                <a16:creationId xmlns:a16="http://schemas.microsoft.com/office/drawing/2014/main" id="{FBB9C092-7405-7D8F-910B-3942F3DDBBA9}"/>
              </a:ext>
            </a:extLst>
          </p:cNvPr>
          <p:cNvSpPr/>
          <p:nvPr/>
        </p:nvSpPr>
        <p:spPr bwMode="auto">
          <a:xfrm>
            <a:off x="7447028" y="1826077"/>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1</a:t>
            </a:r>
          </a:p>
        </p:txBody>
      </p:sp>
      <p:sp>
        <p:nvSpPr>
          <p:cNvPr id="15" name="TextBox 14">
            <a:extLst>
              <a:ext uri="{FF2B5EF4-FFF2-40B4-BE49-F238E27FC236}">
                <a16:creationId xmlns:a16="http://schemas.microsoft.com/office/drawing/2014/main" id="{4189364F-7A3F-5DE3-0637-B4DCB5C7544D}"/>
              </a:ext>
            </a:extLst>
          </p:cNvPr>
          <p:cNvSpPr txBox="1"/>
          <p:nvPr/>
        </p:nvSpPr>
        <p:spPr>
          <a:xfrm>
            <a:off x="7895848" y="1519948"/>
            <a:ext cx="3707890" cy="954107"/>
          </a:xfrm>
          <a:prstGeom prst="rect">
            <a:avLst/>
          </a:prstGeom>
          <a:noFill/>
        </p:spPr>
        <p:txBody>
          <a:bodyPr wrap="square">
            <a:spAutoFit/>
          </a:bodyPr>
          <a:lstStyle/>
          <a:p>
            <a:r>
              <a:rPr lang="es-ES" sz="1600" b="1" i="0" strike="noStrike" cap="none" baseline="0" dirty="0">
                <a:solidFill>
                  <a:srgbClr val="1C5F8D"/>
                </a:solidFill>
                <a:effectLst/>
                <a:latin typeface="Segoe UI Semibold"/>
                <a:ea typeface="Segoe UI Semibold"/>
                <a:cs typeface="Segoe UI Semibold"/>
              </a:rPr>
              <a:t>El modelo detecta la necesidad</a:t>
            </a:r>
            <a:br>
              <a:rPr lang="es-ES" sz="1600" b="1" i="0" strike="noStrike" cap="none" baseline="0" dirty="0">
                <a:solidFill>
                  <a:srgbClr val="1C5F8D"/>
                </a:solidFill>
                <a:effectLst/>
                <a:latin typeface="Segoe UI Semibold"/>
                <a:ea typeface="Segoe UI Semibold"/>
                <a:cs typeface="Segoe UI Semibold"/>
              </a:rPr>
            </a:br>
            <a:r>
              <a:rPr lang="es-ES" sz="1600" b="1" i="0" strike="noStrike" cap="none" baseline="0" dirty="0">
                <a:solidFill>
                  <a:srgbClr val="1C5F8D"/>
                </a:solidFill>
                <a:effectLst/>
                <a:latin typeface="Segoe UI Semibold"/>
                <a:ea typeface="Segoe UI Semibold"/>
                <a:cs typeface="Segoe UI Semibold"/>
              </a:rPr>
              <a:t>de datos activos</a:t>
            </a:r>
          </a:p>
          <a:p>
            <a:r>
              <a:rPr lang="es-ES" sz="1200" b="0" i="0" strike="noStrike" cap="none" baseline="0" dirty="0">
                <a:solidFill>
                  <a:srgbClr val="1C5F8D"/>
                </a:solidFill>
                <a:effectLst/>
                <a:latin typeface="Segoe UI"/>
                <a:ea typeface="Segoe UI"/>
                <a:cs typeface="Segoe UI"/>
              </a:rPr>
              <a:t>En función de la pregunta, el modelo encuentra que se necesita información en tiempo real actual.</a:t>
            </a:r>
          </a:p>
        </p:txBody>
      </p:sp>
      <p:sp>
        <p:nvSpPr>
          <p:cNvPr id="16" name="Rounded Rectangle 15">
            <a:extLst>
              <a:ext uri="{FF2B5EF4-FFF2-40B4-BE49-F238E27FC236}">
                <a16:creationId xmlns:a16="http://schemas.microsoft.com/office/drawing/2014/main" id="{38C9343E-EF4C-15B3-A3A4-41A3056A04D3}"/>
              </a:ext>
              <a:ext uri="{C183D7F6-B498-43B3-948B-1728B52AA6E4}">
                <adec:decorative xmlns:adec="http://schemas.microsoft.com/office/drawing/2017/decorative" val="1"/>
              </a:ext>
            </a:extLst>
          </p:cNvPr>
          <p:cNvSpPr/>
          <p:nvPr/>
        </p:nvSpPr>
        <p:spPr>
          <a:xfrm>
            <a:off x="7372792" y="2510814"/>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17" name="Oval 16">
            <a:extLst>
              <a:ext uri="{FF2B5EF4-FFF2-40B4-BE49-F238E27FC236}">
                <a16:creationId xmlns:a16="http://schemas.microsoft.com/office/drawing/2014/main" id="{25212EEE-E83C-BB0E-0D87-BFFECF881DE0}"/>
              </a:ext>
            </a:extLst>
          </p:cNvPr>
          <p:cNvSpPr/>
          <p:nvPr/>
        </p:nvSpPr>
        <p:spPr bwMode="auto">
          <a:xfrm>
            <a:off x="7455852" y="2757375"/>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2</a:t>
            </a:r>
          </a:p>
        </p:txBody>
      </p:sp>
      <p:sp>
        <p:nvSpPr>
          <p:cNvPr id="18" name="TextBox 17">
            <a:extLst>
              <a:ext uri="{FF2B5EF4-FFF2-40B4-BE49-F238E27FC236}">
                <a16:creationId xmlns:a16="http://schemas.microsoft.com/office/drawing/2014/main" id="{ED6DF113-BB03-76A0-037F-40800C6F4B22}"/>
              </a:ext>
            </a:extLst>
          </p:cNvPr>
          <p:cNvSpPr txBox="1"/>
          <p:nvPr/>
        </p:nvSpPr>
        <p:spPr>
          <a:xfrm>
            <a:off x="7904672" y="2540147"/>
            <a:ext cx="3707890" cy="707886"/>
          </a:xfrm>
          <a:prstGeom prst="rect">
            <a:avLst/>
          </a:prstGeom>
          <a:noFill/>
        </p:spPr>
        <p:txBody>
          <a:bodyPr wrap="square">
            <a:spAutoFit/>
          </a:bodyPr>
          <a:lstStyle/>
          <a:p>
            <a:r>
              <a:rPr lang="es-ES" sz="1600" b="1" i="0" strike="noStrike" cap="none" baseline="0" dirty="0">
                <a:solidFill>
                  <a:srgbClr val="1C5F8D"/>
                </a:solidFill>
                <a:effectLst/>
                <a:latin typeface="Segoe UI Semibold"/>
                <a:ea typeface="Segoe UI Semibold"/>
                <a:cs typeface="Segoe UI Semibold"/>
              </a:rPr>
              <a:t>La búsqueda web se realiza</a:t>
            </a:r>
          </a:p>
          <a:p>
            <a:r>
              <a:rPr lang="es-ES" sz="1200" b="0" i="0" strike="noStrike" cap="none" baseline="0" dirty="0">
                <a:solidFill>
                  <a:srgbClr val="1C5F8D"/>
                </a:solidFill>
                <a:effectLst/>
                <a:latin typeface="Segoe UI"/>
                <a:ea typeface="Segoe UI"/>
                <a:cs typeface="Segoe UI"/>
              </a:rPr>
              <a:t>El modelo reformula la consulta y realiza una búsqueda en Internet activa, sin código necesario.</a:t>
            </a:r>
          </a:p>
        </p:txBody>
      </p:sp>
      <p:sp>
        <p:nvSpPr>
          <p:cNvPr id="19" name="Rounded Rectangle 18">
            <a:extLst>
              <a:ext uri="{FF2B5EF4-FFF2-40B4-BE49-F238E27FC236}">
                <a16:creationId xmlns:a16="http://schemas.microsoft.com/office/drawing/2014/main" id="{D5722D57-7608-4B9E-47A3-4BE9EBFE12BD}"/>
              </a:ext>
              <a:ext uri="{C183D7F6-B498-43B3-948B-1728B52AA6E4}">
                <adec:decorative xmlns:adec="http://schemas.microsoft.com/office/drawing/2017/decorative" val="1"/>
              </a:ext>
            </a:extLst>
          </p:cNvPr>
          <p:cNvSpPr/>
          <p:nvPr/>
        </p:nvSpPr>
        <p:spPr>
          <a:xfrm>
            <a:off x="7363968" y="3442112"/>
            <a:ext cx="4239770" cy="858883"/>
          </a:xfrm>
          <a:prstGeom prst="roundRect">
            <a:avLst>
              <a:gd name="adj" fmla="val 12000"/>
            </a:avLst>
          </a:prstGeom>
          <a:solidFill>
            <a:schemeClr val="tx2">
              <a:lumMod val="25000"/>
              <a:lumOff val="75000"/>
              <a:alpha val="50196"/>
            </a:schemeClr>
          </a:solidFill>
          <a:ln w="9525">
            <a:solidFill>
              <a:schemeClr val="tx2">
                <a:lumMod val="10000"/>
                <a:lumOff val="9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tx2">
                  <a:lumMod val="50000"/>
                  <a:lumOff val="50000"/>
                </a:schemeClr>
              </a:solidFill>
            </a:endParaRPr>
          </a:p>
        </p:txBody>
      </p:sp>
      <p:sp>
        <p:nvSpPr>
          <p:cNvPr id="20" name="Oval 19">
            <a:extLst>
              <a:ext uri="{FF2B5EF4-FFF2-40B4-BE49-F238E27FC236}">
                <a16:creationId xmlns:a16="http://schemas.microsoft.com/office/drawing/2014/main" id="{942DDE9F-EA6A-BECD-8322-D9D3327522C3}"/>
              </a:ext>
            </a:extLst>
          </p:cNvPr>
          <p:cNvSpPr/>
          <p:nvPr/>
        </p:nvSpPr>
        <p:spPr bwMode="auto">
          <a:xfrm>
            <a:off x="7447028" y="3688673"/>
            <a:ext cx="365760" cy="365760"/>
          </a:xfrm>
          <a:prstGeom prst="ellipse">
            <a:avLst/>
          </a:prstGeom>
          <a:solidFill>
            <a:schemeClr val="tx2">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3</a:t>
            </a:r>
          </a:p>
        </p:txBody>
      </p:sp>
      <p:sp>
        <p:nvSpPr>
          <p:cNvPr id="21" name="TextBox 20">
            <a:extLst>
              <a:ext uri="{FF2B5EF4-FFF2-40B4-BE49-F238E27FC236}">
                <a16:creationId xmlns:a16="http://schemas.microsoft.com/office/drawing/2014/main" id="{2B9D4463-FEDE-EE0A-6878-D100A5C34BD9}"/>
              </a:ext>
            </a:extLst>
          </p:cNvPr>
          <p:cNvSpPr txBox="1"/>
          <p:nvPr/>
        </p:nvSpPr>
        <p:spPr>
          <a:xfrm>
            <a:off x="7895848" y="3414294"/>
            <a:ext cx="3790950" cy="892552"/>
          </a:xfrm>
          <a:prstGeom prst="rect">
            <a:avLst/>
          </a:prstGeom>
          <a:noFill/>
        </p:spPr>
        <p:txBody>
          <a:bodyPr wrap="square">
            <a:spAutoFit/>
          </a:bodyPr>
          <a:lstStyle/>
          <a:p>
            <a:r>
              <a:rPr lang="es-ES" sz="1600" b="1" i="0" strike="noStrike" cap="none" baseline="0" dirty="0">
                <a:solidFill>
                  <a:srgbClr val="1C5F8D"/>
                </a:solidFill>
                <a:effectLst/>
                <a:latin typeface="Segoe UI Semibold"/>
                <a:ea typeface="Segoe UI Semibold"/>
                <a:cs typeface="Segoe UI Semibold"/>
              </a:rPr>
              <a:t>Respuesta fundamentada devuelta</a:t>
            </a:r>
          </a:p>
          <a:p>
            <a:r>
              <a:rPr lang="es-ES" sz="1200" b="0" i="0" strike="noStrike" cap="none" baseline="0" dirty="0">
                <a:solidFill>
                  <a:srgbClr val="1C5F8D"/>
                </a:solidFill>
                <a:effectLst/>
                <a:latin typeface="Segoe UI"/>
                <a:ea typeface="Segoe UI"/>
                <a:cs typeface="Segoe UI"/>
              </a:rPr>
              <a:t>Los resultados de la búsqueda se agregan como contexto; el modelo crea una respuesta que incluye direcciones URL.</a:t>
            </a:r>
          </a:p>
        </p:txBody>
      </p:sp>
      <p:sp>
        <p:nvSpPr>
          <p:cNvPr id="22" name="Rounded Rectangle 21">
            <a:extLst>
              <a:ext uri="{FF2B5EF4-FFF2-40B4-BE49-F238E27FC236}">
                <a16:creationId xmlns:a16="http://schemas.microsoft.com/office/drawing/2014/main" id="{111D1E5F-8C4B-19A4-263A-6797E45F8F3F}"/>
              </a:ext>
              <a:ext uri="{C183D7F6-B498-43B3-948B-1728B52AA6E4}">
                <adec:decorative xmlns:adec="http://schemas.microsoft.com/office/drawing/2017/decorative" val="1"/>
              </a:ext>
            </a:extLst>
          </p:cNvPr>
          <p:cNvSpPr/>
          <p:nvPr/>
        </p:nvSpPr>
        <p:spPr>
          <a:xfrm>
            <a:off x="548220" y="4759989"/>
            <a:ext cx="11055518" cy="1360739"/>
          </a:xfrm>
          <a:prstGeom prst="roundRect">
            <a:avLst>
              <a:gd name="adj" fmla="val 12000"/>
            </a:avLst>
          </a:prstGeom>
          <a:solidFill>
            <a:schemeClr val="tx2">
              <a:lumMod val="75000"/>
              <a:lumOff val="25000"/>
            </a:schemeClr>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B56D33C4-6ED7-FFCD-9BF5-A7CE702B304E}"/>
              </a:ext>
            </a:extLst>
          </p:cNvPr>
          <p:cNvSpPr txBox="1"/>
          <p:nvPr/>
        </p:nvSpPr>
        <p:spPr>
          <a:xfrm>
            <a:off x="623315" y="4785626"/>
            <a:ext cx="10945370" cy="1331134"/>
          </a:xfrm>
          <a:prstGeom prst="rect">
            <a:avLst/>
          </a:prstGeom>
          <a:noFill/>
        </p:spPr>
        <p:txBody>
          <a:bodyPr wrap="square">
            <a:spAutoFit/>
          </a:bodyPr>
          <a:lstStyle/>
          <a:p>
            <a:r>
              <a:rPr lang="es-ES" sz="1150" b="1" i="0" strike="noStrike" cap="all" baseline="0" dirty="0" err="1">
                <a:solidFill>
                  <a:srgbClr val="FFFFFF"/>
                </a:solidFill>
                <a:effectLst/>
                <a:latin typeface="Consolas"/>
                <a:ea typeface="Consolas"/>
                <a:cs typeface="Consolas"/>
              </a:rPr>
              <a:t>response.output_text</a:t>
            </a:r>
            <a:endParaRPr lang="en-US" sz="1150" b="1" cap="all" dirty="0">
              <a:solidFill>
                <a:schemeClr val="bg1"/>
              </a:solidFill>
              <a:latin typeface="Consolas" panose="020B0609020204030204" pitchFamily="49" charset="0"/>
              <a:cs typeface="Consolas" panose="020B0609020204030204" pitchFamily="49" charset="0"/>
            </a:endParaRPr>
          </a:p>
          <a:p>
            <a:r>
              <a:rPr lang="es-ES" sz="1150" b="0" i="0" strike="noStrike" cap="none" baseline="0" dirty="0">
                <a:solidFill>
                  <a:srgbClr val="FFFFFF"/>
                </a:solidFill>
                <a:effectLst/>
                <a:latin typeface="Consolas"/>
                <a:ea typeface="Consolas"/>
                <a:cs typeface="Consolas"/>
              </a:rPr>
              <a:t>Estos son tres anuncios principales de Microsoft </a:t>
            </a:r>
            <a:r>
              <a:rPr lang="es-ES" sz="1150" b="0" i="0" strike="noStrike" cap="none" baseline="0" dirty="0" err="1">
                <a:solidFill>
                  <a:srgbClr val="FFFFFF"/>
                </a:solidFill>
                <a:effectLst/>
                <a:latin typeface="Consolas"/>
                <a:ea typeface="Consolas"/>
                <a:cs typeface="Consolas"/>
              </a:rPr>
              <a:t>Build</a:t>
            </a:r>
            <a:r>
              <a:rPr lang="es-ES" sz="1150" b="0" i="0" strike="noStrike" cap="none" baseline="0" dirty="0">
                <a:solidFill>
                  <a:srgbClr val="FFFFFF"/>
                </a:solidFill>
                <a:effectLst/>
                <a:latin typeface="Consolas"/>
                <a:ea typeface="Consolas"/>
                <a:cs typeface="Consolas"/>
              </a:rPr>
              <a:t>:</a:t>
            </a:r>
          </a:p>
          <a:p>
            <a:endParaRPr lang="en-US" sz="1050" dirty="0">
              <a:solidFill>
                <a:schemeClr val="bg1"/>
              </a:solidFill>
              <a:latin typeface="Consolas" panose="020B0609020204030204" pitchFamily="49" charset="0"/>
              <a:cs typeface="Consolas" panose="020B0609020204030204" pitchFamily="49" charset="0"/>
            </a:endParaRPr>
          </a:p>
          <a:p>
            <a:pPr marL="228600" indent="-228600">
              <a:buFont typeface="+mj-lt"/>
              <a:buAutoNum type="arabicPeriod"/>
            </a:pPr>
            <a:r>
              <a:rPr lang="es-ES" sz="1150" b="0" i="0" strike="noStrike" cap="none" baseline="0" dirty="0">
                <a:solidFill>
                  <a:srgbClr val="FFFFFF"/>
                </a:solidFill>
                <a:effectLst/>
                <a:latin typeface="Consolas"/>
                <a:ea typeface="Consolas"/>
                <a:cs typeface="Consolas"/>
              </a:rPr>
              <a:t>API mejoradas para el desarrollo de agentes en Microsoft </a:t>
            </a:r>
            <a:r>
              <a:rPr lang="es-ES" sz="1150" b="0" i="0" strike="noStrike" cap="none" baseline="0" dirty="0" err="1">
                <a:solidFill>
                  <a:srgbClr val="FFFFFF"/>
                </a:solidFill>
                <a:effectLst/>
                <a:latin typeface="Consolas"/>
                <a:ea typeface="Consolas"/>
                <a:cs typeface="Consolas"/>
              </a:rPr>
              <a:t>Foundry</a:t>
            </a:r>
            <a:r>
              <a:rPr lang="es-ES" sz="1150" b="0" i="0" strike="noStrike" cap="none" baseline="0" dirty="0">
                <a:solidFill>
                  <a:srgbClr val="FFFFFF"/>
                </a:solidFill>
                <a:effectLst/>
                <a:latin typeface="Consolas"/>
                <a:ea typeface="Consolas"/>
                <a:cs typeface="Consolas"/>
              </a:rPr>
              <a:t>: </a:t>
            </a:r>
            <a:r>
              <a:rPr lang="es-ES" sz="1150" b="0" i="0" u="sng" strike="noStrike" cap="none" baseline="0" dirty="0">
                <a:solidFill>
                  <a:srgbClr val="FFFFFF"/>
                </a:solidFill>
                <a:effectLst/>
                <a:uFill>
                  <a:solidFill>
                    <a:srgbClr val="FFFFFF"/>
                  </a:solidFill>
                </a:uFill>
                <a:latin typeface="Consolas"/>
                <a:ea typeface="Consolas"/>
                <a:cs typeface="Consolas"/>
              </a:rPr>
              <a:t>nuevas funcionalidades de agente de </a:t>
            </a:r>
            <a:r>
              <a:rPr lang="es-ES" sz="1150" b="0" i="0" u="sng" strike="noStrike" cap="none" baseline="0" dirty="0" err="1">
                <a:solidFill>
                  <a:srgbClr val="FFFFFF"/>
                </a:solidFill>
                <a:effectLst/>
                <a:uFill>
                  <a:solidFill>
                    <a:srgbClr val="FFFFFF"/>
                  </a:solidFill>
                </a:uFill>
                <a:latin typeface="Consolas"/>
                <a:ea typeface="Consolas"/>
                <a:cs typeface="Consolas"/>
              </a:rPr>
              <a:t>Foundry</a:t>
            </a:r>
            <a:r>
              <a:rPr lang="es-ES" sz="1150" b="0" i="0" u="sng" strike="noStrike" cap="none" baseline="0" dirty="0">
                <a:solidFill>
                  <a:srgbClr val="FFFFFF"/>
                </a:solidFill>
                <a:effectLst/>
                <a:uFill>
                  <a:solidFill>
                    <a:srgbClr val="FFFFFF"/>
                  </a:solidFill>
                </a:uFill>
                <a:latin typeface="Consolas"/>
                <a:ea typeface="Consolas"/>
                <a:cs typeface="Consolas"/>
              </a:rPr>
              <a:t> (vínculo)</a:t>
            </a:r>
          </a:p>
          <a:p>
            <a:pPr marL="228600" indent="-228600">
              <a:buFont typeface="+mj-lt"/>
              <a:buAutoNum type="arabicPeriod"/>
            </a:pPr>
            <a:r>
              <a:rPr lang="es-ES" sz="1150" b="0" i="0" strike="noStrike" cap="none" baseline="0" dirty="0">
                <a:solidFill>
                  <a:srgbClr val="FFFFFF"/>
                </a:solidFill>
                <a:effectLst/>
                <a:latin typeface="Consolas"/>
                <a:ea typeface="Consolas"/>
                <a:cs typeface="Consolas"/>
              </a:rPr>
              <a:t>Nuevas tecnologías de datos para almacenes de conocimiento escalables: </a:t>
            </a:r>
            <a:r>
              <a:rPr lang="es-ES" sz="1150" b="0" i="0" u="sng" strike="noStrike" cap="none" baseline="0" dirty="0">
                <a:solidFill>
                  <a:srgbClr val="FFFFFF"/>
                </a:solidFill>
                <a:effectLst/>
                <a:uFill>
                  <a:solidFill>
                    <a:srgbClr val="FFFFFF"/>
                  </a:solidFill>
                </a:uFill>
                <a:latin typeface="Consolas"/>
                <a:ea typeface="Consolas"/>
                <a:cs typeface="Consolas"/>
              </a:rPr>
              <a:t>anuncio del almacén de datos en la nube (vínculo)</a:t>
            </a:r>
          </a:p>
          <a:p>
            <a:pPr marL="228600" indent="-228600">
              <a:buFont typeface="+mj-lt"/>
              <a:buAutoNum type="arabicPeriod"/>
            </a:pPr>
            <a:r>
              <a:rPr lang="es-ES" sz="1150" b="0" i="0" strike="noStrike" cap="none" baseline="0" dirty="0">
                <a:solidFill>
                  <a:srgbClr val="FFFFFF"/>
                </a:solidFill>
                <a:effectLst/>
                <a:latin typeface="Consolas"/>
                <a:ea typeface="Consolas"/>
                <a:cs typeface="Consolas"/>
              </a:rPr>
              <a:t>Nuevas soluciones de entrenamiento de Microsoft para crear habilidades de IA: </a:t>
            </a:r>
            <a:r>
              <a:rPr lang="es-ES" sz="1150" b="0" i="0" u="sng" strike="noStrike" cap="none" baseline="0" dirty="0">
                <a:solidFill>
                  <a:srgbClr val="FFFFFF"/>
                </a:solidFill>
                <a:effectLst/>
                <a:uFill>
                  <a:solidFill>
                    <a:srgbClr val="FFFFFF"/>
                  </a:solidFill>
                </a:uFill>
                <a:latin typeface="Consolas"/>
                <a:ea typeface="Consolas"/>
                <a:cs typeface="Consolas"/>
              </a:rPr>
              <a:t>Microsoft Global Skilling lleva el aprendizaje</a:t>
            </a:r>
            <a:br>
              <a:rPr lang="es-ES" sz="1150" b="0" i="0" u="sng" strike="noStrike" cap="none" baseline="0" dirty="0">
                <a:solidFill>
                  <a:srgbClr val="FFFFFF"/>
                </a:solidFill>
                <a:effectLst/>
                <a:uFill>
                  <a:solidFill>
                    <a:srgbClr val="FFFFFF"/>
                  </a:solidFill>
                </a:uFill>
                <a:latin typeface="Consolas"/>
                <a:ea typeface="Consolas"/>
                <a:cs typeface="Consolas"/>
              </a:rPr>
            </a:br>
            <a:r>
              <a:rPr lang="es-ES" sz="1150" b="0" i="0" u="sng" strike="noStrike" cap="none" baseline="0" dirty="0">
                <a:solidFill>
                  <a:srgbClr val="FFFFFF"/>
                </a:solidFill>
                <a:effectLst/>
                <a:uFill>
                  <a:solidFill>
                    <a:srgbClr val="FFFFFF"/>
                  </a:solidFill>
                </a:uFill>
                <a:latin typeface="Consolas"/>
                <a:ea typeface="Consolas"/>
                <a:cs typeface="Consolas"/>
              </a:rPr>
              <a:t>en todo el mundo (vínculo)</a:t>
            </a:r>
          </a:p>
        </p:txBody>
      </p:sp>
      <p:sp>
        <p:nvSpPr>
          <p:cNvPr id="4" name="TextBox 3">
            <a:extLst>
              <a:ext uri="{FF2B5EF4-FFF2-40B4-BE49-F238E27FC236}">
                <a16:creationId xmlns:a16="http://schemas.microsoft.com/office/drawing/2014/main" id="{6A680187-D14F-8492-64F0-406BB4E01AFB}"/>
              </a:ext>
            </a:extLst>
          </p:cNvPr>
          <p:cNvSpPr txBox="1"/>
          <p:nvPr/>
        </p:nvSpPr>
        <p:spPr>
          <a:xfrm>
            <a:off x="838358" y="1778673"/>
            <a:ext cx="6354921" cy="2862322"/>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Add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 to the API call</a:t>
            </a:r>
          </a:p>
          <a:p>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2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model_deployment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are an AI assistant." </a:t>
            </a:r>
          </a:p>
          <a:p>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 web search when current information is required.",</a:t>
            </a:r>
          </a:p>
          <a:p>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input="What are three major announcements from Microsoft Build?"</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p>
          <a:p>
            <a:r>
              <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Specify the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tool type</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web_search</a:t>
            </a:r>
            <a:r>
              <a:rPr lang="en-US" sz="12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Response is grounded in live search results</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65153223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3C45-BA0E-7527-610D-19FC41FBA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3AD9B-1733-301D-11A3-D8E87D09CB5F}"/>
              </a:ext>
            </a:extLst>
          </p:cNvPr>
          <p:cNvSpPr>
            <a:spLocks noGrp="1"/>
          </p:cNvSpPr>
          <p:nvPr>
            <p:ph type="title"/>
          </p:nvPr>
        </p:nvSpPr>
        <p:spPr>
          <a:xfrm>
            <a:off x="588262" y="585216"/>
            <a:ext cx="9622538" cy="487680"/>
          </a:xfrm>
        </p:spPr>
        <p:txBody>
          <a:bodyPr/>
          <a:lstStyle/>
          <a:p>
            <a:r>
              <a:rPr lang="es-ES" sz="3200" b="0" i="0" strike="noStrike" cap="none" baseline="0">
                <a:solidFill>
                  <a:srgbClr val="000000"/>
                </a:solidFill>
                <a:effectLst/>
                <a:latin typeface="Segoe UI Semibold"/>
                <a:ea typeface="Segoe UI Semibold"/>
                <a:cs typeface="Segoe UI Semibold"/>
              </a:rPr>
              <a:t>Uso de la herramienta </a:t>
            </a:r>
            <a:r>
              <a:rPr lang="es-ES" sz="3200" b="0" i="0" strike="noStrike" cap="none" baseline="0">
                <a:solidFill>
                  <a:srgbClr val="FE5B38"/>
                </a:solidFill>
                <a:effectLst/>
                <a:latin typeface="Consolas"/>
                <a:ea typeface="Consolas"/>
                <a:cs typeface="Consolas"/>
              </a:rPr>
              <a:t>file_search</a:t>
            </a:r>
          </a:p>
        </p:txBody>
      </p:sp>
      <p:sp>
        <p:nvSpPr>
          <p:cNvPr id="3" name="Footer Placeholder 2">
            <a:extLst>
              <a:ext uri="{FF2B5EF4-FFF2-40B4-BE49-F238E27FC236}">
                <a16:creationId xmlns:a16="http://schemas.microsoft.com/office/drawing/2014/main" id="{18A1C249-23DB-573D-929B-1AFF37258CBD}"/>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Rounded Rectangle 5">
            <a:extLst>
              <a:ext uri="{FF2B5EF4-FFF2-40B4-BE49-F238E27FC236}">
                <a16:creationId xmlns:a16="http://schemas.microsoft.com/office/drawing/2014/main" id="{9CDCB0B5-021D-0379-A5EA-CBCE78E6EAE9}"/>
              </a:ext>
              <a:ext uri="{C183D7F6-B498-43B3-948B-1728B52AA6E4}">
                <adec:decorative xmlns:adec="http://schemas.microsoft.com/office/drawing/2017/decorative" val="1"/>
              </a:ext>
            </a:extLst>
          </p:cNvPr>
          <p:cNvSpPr/>
          <p:nvPr/>
        </p:nvSpPr>
        <p:spPr bwMode="auto">
          <a:xfrm>
            <a:off x="579438" y="1311292"/>
            <a:ext cx="6613842" cy="4760324"/>
          </a:xfrm>
          <a:prstGeom prst="roundRect">
            <a:avLst>
              <a:gd name="adj" fmla="val 6169"/>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Rounded Rectangle 9">
            <a:extLst>
              <a:ext uri="{FF2B5EF4-FFF2-40B4-BE49-F238E27FC236}">
                <a16:creationId xmlns:a16="http://schemas.microsoft.com/office/drawing/2014/main" id="{141650A3-4D1C-DA95-0495-88FE44784155}"/>
              </a:ext>
              <a:ext uri="{C183D7F6-B498-43B3-948B-1728B52AA6E4}">
                <adec:decorative xmlns:adec="http://schemas.microsoft.com/office/drawing/2017/decorative" val="1"/>
              </a:ext>
            </a:extLst>
          </p:cNvPr>
          <p:cNvSpPr/>
          <p:nvPr/>
        </p:nvSpPr>
        <p:spPr>
          <a:xfrm>
            <a:off x="7363968" y="1311292"/>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2" name="Oval 11">
            <a:extLst>
              <a:ext uri="{FF2B5EF4-FFF2-40B4-BE49-F238E27FC236}">
                <a16:creationId xmlns:a16="http://schemas.microsoft.com/office/drawing/2014/main" id="{F5C54FFB-9F50-4926-E012-A35A226B9E0C}"/>
              </a:ext>
            </a:extLst>
          </p:cNvPr>
          <p:cNvSpPr/>
          <p:nvPr/>
        </p:nvSpPr>
        <p:spPr bwMode="auto">
          <a:xfrm>
            <a:off x="7447028" y="1557853"/>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1</a:t>
            </a:r>
          </a:p>
        </p:txBody>
      </p:sp>
      <p:sp>
        <p:nvSpPr>
          <p:cNvPr id="15" name="TextBox 14">
            <a:extLst>
              <a:ext uri="{FF2B5EF4-FFF2-40B4-BE49-F238E27FC236}">
                <a16:creationId xmlns:a16="http://schemas.microsoft.com/office/drawing/2014/main" id="{AF901BEB-A074-57B0-430A-0DFDCED72330}"/>
              </a:ext>
            </a:extLst>
          </p:cNvPr>
          <p:cNvSpPr txBox="1"/>
          <p:nvPr/>
        </p:nvSpPr>
        <p:spPr>
          <a:xfrm>
            <a:off x="7895848" y="1340624"/>
            <a:ext cx="3707890" cy="707886"/>
          </a:xfrm>
          <a:prstGeom prst="rect">
            <a:avLst/>
          </a:prstGeom>
          <a:noFill/>
        </p:spPr>
        <p:txBody>
          <a:bodyPr wrap="square">
            <a:spAutoFit/>
          </a:bodyPr>
          <a:lstStyle/>
          <a:p>
            <a:r>
              <a:rPr lang="es-ES" sz="1600" b="1" i="0" strike="noStrike" cap="none" baseline="0" dirty="0">
                <a:solidFill>
                  <a:srgbClr val="FE5B38"/>
                </a:solidFill>
                <a:effectLst/>
                <a:latin typeface="Segoe UI Semibold"/>
                <a:ea typeface="Segoe UI Semibold"/>
                <a:cs typeface="Segoe UI Semibold"/>
              </a:rPr>
              <a:t>Creación de un almacén de vectores</a:t>
            </a:r>
          </a:p>
          <a:p>
            <a:r>
              <a:rPr lang="es-ES" sz="1200" b="0" i="0" strike="noStrike" cap="none" baseline="0" dirty="0">
                <a:solidFill>
                  <a:srgbClr val="0D0D0D"/>
                </a:solidFill>
                <a:effectLst/>
                <a:latin typeface="Segoe UI"/>
                <a:ea typeface="Segoe UI"/>
                <a:cs typeface="Segoe UI"/>
              </a:rPr>
              <a:t>Un almacén administrado que contiene los documentos y sus incrustaciones.</a:t>
            </a:r>
          </a:p>
        </p:txBody>
      </p:sp>
      <p:sp>
        <p:nvSpPr>
          <p:cNvPr id="16" name="Rounded Rectangle 15">
            <a:extLst>
              <a:ext uri="{FF2B5EF4-FFF2-40B4-BE49-F238E27FC236}">
                <a16:creationId xmlns:a16="http://schemas.microsoft.com/office/drawing/2014/main" id="{49A7C7B4-E1BF-40D8-A8C4-1BAB4F2AEDAC}"/>
              </a:ext>
              <a:ext uri="{C183D7F6-B498-43B3-948B-1728B52AA6E4}">
                <adec:decorative xmlns:adec="http://schemas.microsoft.com/office/drawing/2017/decorative" val="1"/>
              </a:ext>
            </a:extLst>
          </p:cNvPr>
          <p:cNvSpPr/>
          <p:nvPr/>
        </p:nvSpPr>
        <p:spPr>
          <a:xfrm>
            <a:off x="7372792" y="2242590"/>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7" name="Oval 16">
            <a:extLst>
              <a:ext uri="{FF2B5EF4-FFF2-40B4-BE49-F238E27FC236}">
                <a16:creationId xmlns:a16="http://schemas.microsoft.com/office/drawing/2014/main" id="{48DDB19D-54E6-7716-6741-D7DCD2C6244D}"/>
              </a:ext>
            </a:extLst>
          </p:cNvPr>
          <p:cNvSpPr/>
          <p:nvPr/>
        </p:nvSpPr>
        <p:spPr bwMode="auto">
          <a:xfrm>
            <a:off x="7455852" y="2489151"/>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2</a:t>
            </a:r>
          </a:p>
        </p:txBody>
      </p:sp>
      <p:sp>
        <p:nvSpPr>
          <p:cNvPr id="18" name="TextBox 17">
            <a:extLst>
              <a:ext uri="{FF2B5EF4-FFF2-40B4-BE49-F238E27FC236}">
                <a16:creationId xmlns:a16="http://schemas.microsoft.com/office/drawing/2014/main" id="{A8CC7F39-5969-F2DF-180B-84508E9403EB}"/>
              </a:ext>
            </a:extLst>
          </p:cNvPr>
          <p:cNvSpPr txBox="1"/>
          <p:nvPr/>
        </p:nvSpPr>
        <p:spPr>
          <a:xfrm>
            <a:off x="7904672" y="2271923"/>
            <a:ext cx="3707890" cy="707886"/>
          </a:xfrm>
          <a:prstGeom prst="rect">
            <a:avLst/>
          </a:prstGeom>
          <a:noFill/>
        </p:spPr>
        <p:txBody>
          <a:bodyPr wrap="square">
            <a:spAutoFit/>
          </a:bodyPr>
          <a:lstStyle/>
          <a:p>
            <a:r>
              <a:rPr lang="es-ES" sz="1600" b="1" i="0" strike="noStrike" cap="none" baseline="0" dirty="0">
                <a:solidFill>
                  <a:srgbClr val="FE5B38"/>
                </a:solidFill>
                <a:effectLst/>
                <a:latin typeface="Segoe UI Semibold"/>
                <a:ea typeface="Segoe UI Semibold"/>
                <a:cs typeface="Segoe UI Semibold"/>
              </a:rPr>
              <a:t>Carga e indexación de documentos</a:t>
            </a:r>
          </a:p>
          <a:p>
            <a:r>
              <a:rPr lang="es-ES" sz="1200" b="0" i="0" strike="noStrike" cap="none" baseline="0" dirty="0">
                <a:solidFill>
                  <a:srgbClr val="0D0D0D"/>
                </a:solidFill>
                <a:effectLst/>
                <a:latin typeface="Segoe UI"/>
                <a:ea typeface="Segoe UI"/>
                <a:cs typeface="Segoe UI"/>
              </a:rPr>
              <a:t>Los archivos se fragmentan, incrustan y almacenan de forma automática, listos para realizar búsquedas.</a:t>
            </a:r>
          </a:p>
        </p:txBody>
      </p:sp>
      <p:sp>
        <p:nvSpPr>
          <p:cNvPr id="19" name="Rounded Rectangle 18">
            <a:extLst>
              <a:ext uri="{FF2B5EF4-FFF2-40B4-BE49-F238E27FC236}">
                <a16:creationId xmlns:a16="http://schemas.microsoft.com/office/drawing/2014/main" id="{DCA7DEEF-543E-3C71-DD3A-6B75D2FEB76F}"/>
              </a:ext>
              <a:ext uri="{C183D7F6-B498-43B3-948B-1728B52AA6E4}">
                <adec:decorative xmlns:adec="http://schemas.microsoft.com/office/drawing/2017/decorative" val="1"/>
              </a:ext>
            </a:extLst>
          </p:cNvPr>
          <p:cNvSpPr/>
          <p:nvPr/>
        </p:nvSpPr>
        <p:spPr>
          <a:xfrm>
            <a:off x="7363968" y="3173888"/>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20" name="Oval 19">
            <a:extLst>
              <a:ext uri="{FF2B5EF4-FFF2-40B4-BE49-F238E27FC236}">
                <a16:creationId xmlns:a16="http://schemas.microsoft.com/office/drawing/2014/main" id="{D6FDD298-6BC3-8A13-4CDC-56FC49DAA22C}"/>
              </a:ext>
            </a:extLst>
          </p:cNvPr>
          <p:cNvSpPr/>
          <p:nvPr/>
        </p:nvSpPr>
        <p:spPr bwMode="auto">
          <a:xfrm>
            <a:off x="7447028" y="3420449"/>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3</a:t>
            </a:r>
          </a:p>
        </p:txBody>
      </p:sp>
      <p:sp>
        <p:nvSpPr>
          <p:cNvPr id="21" name="TextBox 20">
            <a:extLst>
              <a:ext uri="{FF2B5EF4-FFF2-40B4-BE49-F238E27FC236}">
                <a16:creationId xmlns:a16="http://schemas.microsoft.com/office/drawing/2014/main" id="{A1E19CBA-F07A-5DDD-5F2A-24E05ABD43E4}"/>
              </a:ext>
            </a:extLst>
          </p:cNvPr>
          <p:cNvSpPr txBox="1"/>
          <p:nvPr/>
        </p:nvSpPr>
        <p:spPr>
          <a:xfrm>
            <a:off x="7895848" y="3127021"/>
            <a:ext cx="3707890" cy="892552"/>
          </a:xfrm>
          <a:prstGeom prst="rect">
            <a:avLst/>
          </a:prstGeom>
          <a:noFill/>
        </p:spPr>
        <p:txBody>
          <a:bodyPr wrap="square">
            <a:spAutoFit/>
          </a:bodyPr>
          <a:lstStyle/>
          <a:p>
            <a:r>
              <a:rPr lang="es-ES" sz="1600" b="1" i="0" strike="noStrike" cap="none" baseline="0" dirty="0">
                <a:solidFill>
                  <a:srgbClr val="FE5B38"/>
                </a:solidFill>
                <a:effectLst/>
                <a:latin typeface="Segoe UI Semibold"/>
                <a:ea typeface="Segoe UI Semibold"/>
                <a:cs typeface="Segoe UI Semibold"/>
              </a:rPr>
              <a:t>Se recuperan fragmentos pertinentes</a:t>
            </a:r>
          </a:p>
          <a:p>
            <a:r>
              <a:rPr lang="es-ES" sz="1200" b="0" i="0" strike="noStrike" cap="none" baseline="0" dirty="0">
                <a:solidFill>
                  <a:srgbClr val="0D0D0D"/>
                </a:solidFill>
                <a:effectLst/>
                <a:latin typeface="Segoe UI"/>
                <a:ea typeface="Segoe UI"/>
                <a:cs typeface="Segoe UI"/>
              </a:rPr>
              <a:t>En el momento de la consulta, los pasajes semánticamente relevantes se encuentran</a:t>
            </a:r>
            <a:br>
              <a:rPr lang="es-ES" sz="1200" b="0" i="0" strike="noStrike" cap="none" baseline="0" dirty="0">
                <a:solidFill>
                  <a:srgbClr val="0D0D0D"/>
                </a:solidFill>
                <a:effectLst/>
                <a:latin typeface="Segoe UI"/>
                <a:ea typeface="Segoe UI"/>
                <a:cs typeface="Segoe UI"/>
              </a:rPr>
            </a:br>
            <a:r>
              <a:rPr lang="es-ES" sz="1200" b="0" i="0" strike="noStrike" cap="none" baseline="0" dirty="0">
                <a:solidFill>
                  <a:srgbClr val="0D0D0D"/>
                </a:solidFill>
                <a:effectLst/>
                <a:latin typeface="Segoe UI"/>
                <a:ea typeface="Segoe UI"/>
                <a:cs typeface="Segoe UI"/>
              </a:rPr>
              <a:t>y se proporcionan como contexto.</a:t>
            </a:r>
          </a:p>
        </p:txBody>
      </p:sp>
      <p:sp>
        <p:nvSpPr>
          <p:cNvPr id="22" name="Rounded Rectangle 21">
            <a:extLst>
              <a:ext uri="{FF2B5EF4-FFF2-40B4-BE49-F238E27FC236}">
                <a16:creationId xmlns:a16="http://schemas.microsoft.com/office/drawing/2014/main" id="{AFCEC303-6C1C-BAB9-6F0E-BC9B11935B72}"/>
              </a:ext>
              <a:ext uri="{C183D7F6-B498-43B3-948B-1728B52AA6E4}">
                <adec:decorative xmlns:adec="http://schemas.microsoft.com/office/drawing/2017/decorative" val="1"/>
              </a:ext>
            </a:extLst>
          </p:cNvPr>
          <p:cNvSpPr/>
          <p:nvPr/>
        </p:nvSpPr>
        <p:spPr>
          <a:xfrm>
            <a:off x="7372792" y="5212733"/>
            <a:ext cx="4239770" cy="858883"/>
          </a:xfrm>
          <a:prstGeom prst="roundRect">
            <a:avLst>
              <a:gd name="adj" fmla="val 12000"/>
            </a:avLst>
          </a:prstGeom>
          <a:solidFill>
            <a:schemeClr val="accent3"/>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73FD8F6F-A5A6-B267-398D-E79C79ED82DC}"/>
              </a:ext>
            </a:extLst>
          </p:cNvPr>
          <p:cNvSpPr txBox="1"/>
          <p:nvPr/>
        </p:nvSpPr>
        <p:spPr>
          <a:xfrm>
            <a:off x="7455852" y="5254544"/>
            <a:ext cx="4147886" cy="769441"/>
          </a:xfrm>
          <a:prstGeom prst="rect">
            <a:avLst/>
          </a:prstGeom>
          <a:noFill/>
        </p:spPr>
        <p:txBody>
          <a:bodyPr wrap="square">
            <a:spAutoFit/>
          </a:bodyPr>
          <a:lstStyle/>
          <a:p>
            <a:r>
              <a:rPr lang="es-ES" sz="1100" b="1" i="0" strike="noStrike" cap="all" baseline="0" dirty="0" err="1">
                <a:solidFill>
                  <a:srgbClr val="FFFFFF"/>
                </a:solidFill>
                <a:effectLst/>
                <a:latin typeface="Consolas"/>
                <a:ea typeface="Consolas"/>
                <a:cs typeface="Consolas"/>
              </a:rPr>
              <a:t>response.output_text</a:t>
            </a:r>
            <a:endParaRPr lang="en-US" sz="1100" b="1" cap="all" dirty="0">
              <a:solidFill>
                <a:schemeClr val="bg1"/>
              </a:solidFill>
              <a:latin typeface="Consolas" panose="020B0609020204030204" pitchFamily="49" charset="0"/>
              <a:cs typeface="Consolas" panose="020B0609020204030204" pitchFamily="49" charset="0"/>
            </a:endParaRPr>
          </a:p>
          <a:p>
            <a:r>
              <a:rPr lang="es-ES" sz="1100" b="0" i="0" strike="noStrike" cap="none" baseline="0" dirty="0">
                <a:solidFill>
                  <a:srgbClr val="FFFFFF"/>
                </a:solidFill>
                <a:effectLst/>
                <a:latin typeface="Consolas"/>
                <a:ea typeface="Consolas"/>
                <a:cs typeface="Consolas"/>
              </a:rPr>
              <a:t>En función de la directiva de gastos, la cantidad máxima que puedes reclamar para un viaje en taxi</a:t>
            </a:r>
            <a:br>
              <a:rPr lang="es-ES" sz="1100" b="0" i="0" strike="noStrike" cap="none" baseline="0" dirty="0">
                <a:solidFill>
                  <a:srgbClr val="FFFFFF"/>
                </a:solidFill>
                <a:effectLst/>
                <a:latin typeface="Consolas"/>
                <a:ea typeface="Consolas"/>
                <a:cs typeface="Consolas"/>
              </a:rPr>
            </a:br>
            <a:r>
              <a:rPr lang="es-ES" sz="1100" b="0" i="0" strike="noStrike" cap="none" baseline="0" dirty="0">
                <a:solidFill>
                  <a:srgbClr val="FFFFFF"/>
                </a:solidFill>
                <a:effectLst/>
                <a:latin typeface="Consolas"/>
                <a:ea typeface="Consolas"/>
                <a:cs typeface="Consolas"/>
              </a:rPr>
              <a:t>es de 75,00 $.</a:t>
            </a:r>
            <a:endParaRPr lang="en-US" sz="1100" dirty="0">
              <a:solidFill>
                <a:schemeClr val="bg1"/>
              </a:solidFill>
              <a:latin typeface="Consolas" panose="020B0609020204030204" pitchFamily="49" charset="0"/>
              <a:cs typeface="Consolas" panose="020B0609020204030204" pitchFamily="49" charset="0"/>
            </a:endParaRPr>
          </a:p>
        </p:txBody>
      </p:sp>
      <p:sp>
        <p:nvSpPr>
          <p:cNvPr id="4" name="Rounded Rectangle 3">
            <a:extLst>
              <a:ext uri="{FF2B5EF4-FFF2-40B4-BE49-F238E27FC236}">
                <a16:creationId xmlns:a16="http://schemas.microsoft.com/office/drawing/2014/main" id="{13BD5F3D-913B-7E9B-6F81-820CA9A63D74}"/>
              </a:ext>
              <a:ext uri="{C183D7F6-B498-43B3-948B-1728B52AA6E4}">
                <adec:decorative xmlns:adec="http://schemas.microsoft.com/office/drawing/2017/decorative" val="1"/>
              </a:ext>
            </a:extLst>
          </p:cNvPr>
          <p:cNvSpPr/>
          <p:nvPr/>
        </p:nvSpPr>
        <p:spPr>
          <a:xfrm>
            <a:off x="7372792" y="4105186"/>
            <a:ext cx="4239770" cy="858883"/>
          </a:xfrm>
          <a:prstGeom prst="roundRect">
            <a:avLst>
              <a:gd name="adj" fmla="val 12000"/>
            </a:avLst>
          </a:prstGeom>
          <a:solidFill>
            <a:schemeClr val="accent3">
              <a:lumMod val="20000"/>
              <a:lumOff val="8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5" name="Oval 4">
            <a:extLst>
              <a:ext uri="{FF2B5EF4-FFF2-40B4-BE49-F238E27FC236}">
                <a16:creationId xmlns:a16="http://schemas.microsoft.com/office/drawing/2014/main" id="{C2D173E8-41EA-980F-16C4-F35D48C4EE68}"/>
              </a:ext>
            </a:extLst>
          </p:cNvPr>
          <p:cNvSpPr/>
          <p:nvPr/>
        </p:nvSpPr>
        <p:spPr bwMode="auto">
          <a:xfrm>
            <a:off x="7455852" y="4351747"/>
            <a:ext cx="365760" cy="365760"/>
          </a:xfrm>
          <a:prstGeom prst="ellipse">
            <a:avLst/>
          </a:prstGeom>
          <a:solidFill>
            <a:schemeClr val="accent3"/>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dirty="0">
                <a:solidFill>
                  <a:srgbClr val="FFFFFF"/>
                </a:solidFill>
                <a:effectLst/>
                <a:latin typeface="Segoe UI"/>
                <a:ea typeface="Segoe UI"/>
                <a:cs typeface="Segoe UI"/>
              </a:rPr>
              <a:t>4</a:t>
            </a:r>
          </a:p>
        </p:txBody>
      </p:sp>
      <p:sp>
        <p:nvSpPr>
          <p:cNvPr id="7" name="TextBox 6">
            <a:extLst>
              <a:ext uri="{FF2B5EF4-FFF2-40B4-BE49-F238E27FC236}">
                <a16:creationId xmlns:a16="http://schemas.microsoft.com/office/drawing/2014/main" id="{E2E26F89-AAE5-E2DB-1158-F5ADC9065DB5}"/>
              </a:ext>
            </a:extLst>
          </p:cNvPr>
          <p:cNvSpPr txBox="1"/>
          <p:nvPr/>
        </p:nvSpPr>
        <p:spPr>
          <a:xfrm>
            <a:off x="7904672" y="4159918"/>
            <a:ext cx="3790950" cy="707886"/>
          </a:xfrm>
          <a:prstGeom prst="rect">
            <a:avLst/>
          </a:prstGeom>
          <a:noFill/>
        </p:spPr>
        <p:txBody>
          <a:bodyPr wrap="square">
            <a:spAutoFit/>
          </a:bodyPr>
          <a:lstStyle/>
          <a:p>
            <a:r>
              <a:rPr lang="es-ES" sz="1600" b="1" i="0" strike="noStrike" cap="none" baseline="0" dirty="0">
                <a:solidFill>
                  <a:srgbClr val="FE5B38"/>
                </a:solidFill>
                <a:effectLst/>
                <a:latin typeface="Segoe UI Semibold"/>
                <a:ea typeface="Segoe UI Semibold"/>
                <a:cs typeface="Segoe UI Semibold"/>
              </a:rPr>
              <a:t>Respuestas del modelo del documento</a:t>
            </a:r>
          </a:p>
          <a:p>
            <a:r>
              <a:rPr lang="es-ES" sz="1200" b="0" i="0" strike="noStrike" cap="none" baseline="0" dirty="0">
                <a:solidFill>
                  <a:srgbClr val="0D0D0D"/>
                </a:solidFill>
                <a:effectLst/>
                <a:latin typeface="Segoe UI"/>
                <a:ea typeface="Segoe UI"/>
                <a:cs typeface="Segoe UI"/>
              </a:rPr>
              <a:t>La respuesta se basa en el contenido recuperado, opcionalmente con citas de nivel de fragmento.</a:t>
            </a:r>
          </a:p>
        </p:txBody>
      </p:sp>
      <p:sp>
        <p:nvSpPr>
          <p:cNvPr id="9" name="TextBox 8">
            <a:extLst>
              <a:ext uri="{FF2B5EF4-FFF2-40B4-BE49-F238E27FC236}">
                <a16:creationId xmlns:a16="http://schemas.microsoft.com/office/drawing/2014/main" id="{B9F71748-6691-334A-83AE-8495A3434A32}"/>
              </a:ext>
            </a:extLst>
          </p:cNvPr>
          <p:cNvSpPr txBox="1"/>
          <p:nvPr/>
        </p:nvSpPr>
        <p:spPr>
          <a:xfrm>
            <a:off x="728631" y="1487639"/>
            <a:ext cx="6096000" cy="4241930"/>
          </a:xfrm>
          <a:prstGeom prst="rect">
            <a:avLst/>
          </a:prstGeom>
          <a:noFill/>
        </p:spPr>
        <p:txBody>
          <a:bodyPr wrap="square">
            <a:spAutoFit/>
          </a:bodyPr>
          <a:lstStyle/>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Create a vector store to hold your documents</a:t>
            </a:r>
          </a:p>
          <a:p>
            <a:r>
              <a:rPr lang="en-US" sz="1200" b="0" i="0" dirty="0" err="1">
                <a:solidFill>
                  <a:srgbClr val="9CDCFE"/>
                </a:solidFill>
                <a:effectLst/>
                <a:latin typeface="Consolas" panose="020B0609020204030204" pitchFamily="49" charset="0"/>
              </a:rPr>
              <a:t>vector_store</a:t>
            </a:r>
            <a:r>
              <a:rPr lang="en-US" sz="1200" b="0" i="0" dirty="0">
                <a:solidFill>
                  <a:srgbClr val="9CDCFE"/>
                </a:solidFill>
                <a:effectLst/>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.vector_stores.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r>
              <a:rPr lang="en-US" sz="1200" b="0" i="0" dirty="0">
                <a:solidFill>
                  <a:srgbClr val="9CDCFE"/>
                </a:solidFill>
                <a:effectLst/>
                <a:latin typeface="Consolas" panose="020B0609020204030204" pitchFamily="49" charset="0"/>
              </a:rPr>
              <a:t>name</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"policy-docs"</a:t>
            </a:r>
            <a:r>
              <a:rPr lang="en-US" sz="1200" b="0" i="0" dirty="0">
                <a:solidFill>
                  <a:srgbClr val="ABB2BF"/>
                </a:solidFill>
                <a:effectLst/>
                <a:latin typeface="Consolas" panose="020B0609020204030204" pitchFamily="49" charset="0"/>
              </a:rPr>
              <a:t>)</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Upload a file — it is chunked and embedded automatically</a:t>
            </a:r>
          </a:p>
          <a:p>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.vector_stores.files.</a:t>
            </a:r>
            <a:r>
              <a:rPr lang="en-US" sz="1200" b="0" i="0" dirty="0" err="1">
                <a:solidFill>
                  <a:srgbClr val="DCDCAA"/>
                </a:solidFill>
                <a:effectLst/>
                <a:latin typeface="Consolas" panose="020B0609020204030204" pitchFamily="49" charset="0"/>
              </a:rPr>
              <a:t>upload_and_poll</a:t>
            </a:r>
            <a:r>
              <a:rPr lang="en-US" sz="1200" b="0" i="0" dirty="0">
                <a:solidFill>
                  <a:srgbClr val="ABB2BF"/>
                </a:solidFill>
                <a:effectLst/>
                <a:latin typeface="Consolas" panose="020B0609020204030204" pitchFamily="49" charset="0"/>
              </a:rPr>
              <a:t>(</a:t>
            </a:r>
          </a:p>
          <a:p>
            <a:r>
              <a:rPr lang="en-US" sz="1200" b="0" i="0" dirty="0">
                <a:solidFill>
                  <a:srgbClr val="ABB2BF"/>
                </a:solidFill>
                <a:effectLst/>
                <a:latin typeface="Consolas" panose="020B0609020204030204" pitchFamily="49" charset="0"/>
              </a:rPr>
              <a:t>    </a:t>
            </a:r>
            <a:r>
              <a:rPr lang="en-US" sz="1200" b="0" i="0" dirty="0" err="1">
                <a:solidFill>
                  <a:srgbClr val="9CDCFE"/>
                </a:solidFill>
                <a:effectLst/>
                <a:latin typeface="Consolas" panose="020B0609020204030204" pitchFamily="49" charset="0"/>
              </a:rPr>
              <a:t>vector_store_id</a:t>
            </a:r>
            <a:r>
              <a:rPr lang="en-US" sz="1200" b="0" i="0" dirty="0">
                <a:solidFill>
                  <a:srgbClr val="ABB2BF"/>
                </a:solidFill>
                <a:effectLst/>
                <a:latin typeface="Consolas" panose="020B0609020204030204" pitchFamily="49" charset="0"/>
              </a:rPr>
              <a:t>=</a:t>
            </a:r>
            <a:r>
              <a:rPr lang="en-US" sz="1200" b="0" i="0" dirty="0">
                <a:solidFill>
                  <a:srgbClr val="9CDCFE"/>
                </a:solidFill>
                <a:effectLst/>
                <a:latin typeface="Consolas" panose="020B0609020204030204" pitchFamily="49" charset="0"/>
              </a:rPr>
              <a:t>vector_store</a:t>
            </a:r>
            <a:r>
              <a:rPr lang="en-US" sz="1200" b="0" i="0" dirty="0">
                <a:solidFill>
                  <a:srgbClr val="ABB2BF"/>
                </a:solidFill>
                <a:effectLst/>
                <a:latin typeface="Consolas" panose="020B0609020204030204" pitchFamily="49" charset="0"/>
              </a:rPr>
              <a:t>.id,</a:t>
            </a:r>
          </a:p>
          <a:p>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file</a:t>
            </a:r>
            <a:r>
              <a:rPr lang="en-US" sz="1200" b="0" i="0" dirty="0">
                <a:solidFill>
                  <a:srgbClr val="ABB2BF"/>
                </a:solidFill>
                <a:effectLst/>
                <a:latin typeface="Consolas" panose="020B0609020204030204" pitchFamily="49" charset="0"/>
              </a:rPr>
              <a:t>=</a:t>
            </a:r>
            <a:r>
              <a:rPr lang="en-US" sz="1200" b="0" i="0" dirty="0">
                <a:solidFill>
                  <a:srgbClr val="DCDCAA"/>
                </a:solidFill>
                <a:effectLst/>
                <a:latin typeface="Consolas" panose="020B0609020204030204" pitchFamily="49" charset="0"/>
              </a:rPr>
              <a:t>open</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"expenses_policy.pdf"</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rb</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Query using </a:t>
            </a:r>
            <a:r>
              <a:rPr lang="en-US" sz="1200" dirty="0" err="1">
                <a:solidFill>
                  <a:srgbClr val="4CBC89"/>
                </a:solidFill>
                <a:latin typeface="Consolas" panose="020B0609020204030204" pitchFamily="49" charset="0"/>
                <a:ea typeface="Cascadia Code Light" panose="020B0609020000020004" pitchFamily="49" charset="0"/>
                <a:cs typeface="Consolas" panose="020B0609020204030204" pitchFamily="49" charset="0"/>
              </a:rPr>
              <a:t>file_search</a:t>
            </a:r>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linked to your vector store</a:t>
            </a:r>
          </a:p>
          <a:p>
            <a:r>
              <a:rPr lang="en-US" sz="1200" b="0" i="0" dirty="0">
                <a:solidFill>
                  <a:srgbClr val="9CDCFE"/>
                </a:solidFill>
                <a:effectLst/>
                <a:latin typeface="Consolas" panose="020B0609020204030204" pitchFamily="49" charset="0"/>
              </a:rPr>
              <a:t>response</a:t>
            </a:r>
            <a:r>
              <a:rPr lang="en-US" sz="1200" b="0" i="0" dirty="0">
                <a:solidFill>
                  <a:srgbClr val="ABB2BF"/>
                </a:solidFill>
                <a:effectLst/>
                <a:latin typeface="Consolas" panose="020B0609020204030204" pitchFamily="49" charset="0"/>
              </a:rPr>
              <a:t> = </a:t>
            </a:r>
            <a:r>
              <a:rPr lang="en-US" sz="1200" b="0" i="0" dirty="0" err="1">
                <a:solidFill>
                  <a:srgbClr val="9CDCFE"/>
                </a:solidFill>
                <a:effectLst/>
                <a:latin typeface="Consolas" panose="020B0609020204030204" pitchFamily="49" charset="0"/>
              </a:rPr>
              <a:t>client</a:t>
            </a:r>
            <a:r>
              <a:rPr lang="en-US" sz="1200" b="0" i="0" dirty="0" err="1">
                <a:solidFill>
                  <a:srgbClr val="ABB2BF"/>
                </a:solidFill>
                <a:effectLst/>
                <a:latin typeface="Consolas" panose="020B0609020204030204" pitchFamily="49" charset="0"/>
              </a:rPr>
              <a:t>.responses.</a:t>
            </a:r>
            <a:r>
              <a:rPr lang="en-US" sz="1200" b="0" i="0" dirty="0" err="1">
                <a:solidFill>
                  <a:srgbClr val="DCDCAA"/>
                </a:solidFill>
                <a:effectLst/>
                <a:latin typeface="Consolas" panose="020B0609020204030204" pitchFamily="49" charset="0"/>
              </a:rPr>
              <a:t>create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model</a:t>
            </a:r>
            <a:r>
              <a:rPr lang="en-US" sz="1200" b="0" i="0" dirty="0">
                <a:solidFill>
                  <a:srgbClr val="ABB2BF"/>
                </a:solidFill>
                <a:effectLst/>
                <a:latin typeface="Consolas" panose="020B0609020204030204" pitchFamily="49" charset="0"/>
              </a:rPr>
              <a:t>=</a:t>
            </a:r>
            <a:r>
              <a:rPr lang="en-US" sz="1200" b="0" i="0" dirty="0" err="1">
                <a:solidFill>
                  <a:srgbClr val="9CDCFE"/>
                </a:solidFill>
                <a:effectLst/>
                <a:latin typeface="Consolas" panose="020B0609020204030204" pitchFamily="49" charset="0"/>
              </a:rPr>
              <a:t>model_deployment</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instructions</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"Provide information from HR policy documents."</a:t>
            </a:r>
            <a:r>
              <a:rPr lang="en-US" sz="1200" b="0" i="0" dirty="0">
                <a:solidFill>
                  <a:srgbClr val="ABB2BF"/>
                </a:solidFill>
                <a:effectLst/>
                <a:latin typeface="Consolas" panose="020B0609020204030204" pitchFamily="49" charset="0"/>
              </a:rPr>
              <a:t>,  </a:t>
            </a:r>
          </a:p>
          <a:p>
            <a:r>
              <a:rPr lang="en-US" sz="1200" dirty="0">
                <a:solidFill>
                  <a:srgbClr val="ABB2BF"/>
                </a:solidFill>
                <a:latin typeface="Consolas" panose="020B0609020204030204" pitchFamily="49" charset="0"/>
              </a:rPr>
              <a:t>    </a:t>
            </a:r>
            <a:r>
              <a:rPr lang="en-US" sz="1200" b="0" i="0" dirty="0">
                <a:solidFill>
                  <a:srgbClr val="9CDCFE"/>
                </a:solidFill>
                <a:effectLst/>
                <a:latin typeface="Consolas" panose="020B0609020204030204" pitchFamily="49" charset="0"/>
              </a:rPr>
              <a:t>input</a:t>
            </a:r>
            <a:r>
              <a:rPr lang="en-US" sz="1200" b="0" i="0" dirty="0">
                <a:solidFill>
                  <a:srgbClr val="ABB2BF"/>
                </a:solidFill>
                <a:effectLst/>
                <a:latin typeface="Consolas" panose="020B0609020204030204" pitchFamily="49" charset="0"/>
              </a:rPr>
              <a:t>=</a:t>
            </a:r>
            <a:r>
              <a:rPr lang="en-US" sz="1200" b="0" i="0" dirty="0">
                <a:solidFill>
                  <a:srgbClr val="CE9178"/>
                </a:solidFill>
                <a:effectLst/>
                <a:latin typeface="Consolas" panose="020B0609020204030204" pitchFamily="49" charset="0"/>
              </a:rPr>
              <a:t>"What's the maximum amount I can claim for a taxi ride?"</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tools</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"type"</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file_search</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a:t>
            </a:r>
          </a:p>
          <a:p>
            <a:r>
              <a:rPr lang="en-US" sz="1200" dirty="0">
                <a:solidFill>
                  <a:srgbClr val="ABB2BF"/>
                </a:solidFill>
                <a:latin typeface="Consolas" panose="020B0609020204030204" pitchFamily="49" charset="0"/>
              </a:rPr>
              <a:t>       </a:t>
            </a:r>
            <a:r>
              <a:rPr lang="en-US" sz="1200" b="0" i="0" dirty="0">
                <a:solidFill>
                  <a:srgbClr val="ABB2BF"/>
                </a:solidFill>
                <a:effectLst/>
                <a:latin typeface="Consolas" panose="020B0609020204030204" pitchFamily="49" charset="0"/>
              </a:rPr>
              <a:t> </a:t>
            </a:r>
            <a:r>
              <a:rPr lang="en-US" sz="1200" b="0" i="0" dirty="0">
                <a:solidFill>
                  <a:srgbClr val="CE9178"/>
                </a:solidFill>
                <a:effectLst/>
                <a:latin typeface="Consolas" panose="020B0609020204030204" pitchFamily="49" charset="0"/>
              </a:rPr>
              <a:t>"</a:t>
            </a:r>
            <a:r>
              <a:rPr lang="en-US" sz="1200" b="0" i="0" dirty="0" err="1">
                <a:solidFill>
                  <a:srgbClr val="CE9178"/>
                </a:solidFill>
                <a:effectLst/>
                <a:latin typeface="Consolas" panose="020B0609020204030204" pitchFamily="49" charset="0"/>
              </a:rPr>
              <a:t>vector_store_ids</a:t>
            </a:r>
            <a:r>
              <a:rPr lang="en-US" sz="1200" b="0" i="0" dirty="0">
                <a:solidFill>
                  <a:srgbClr val="CE9178"/>
                </a:solidFill>
                <a:effectLst/>
                <a:latin typeface="Consolas" panose="020B0609020204030204" pitchFamily="49" charset="0"/>
              </a:rPr>
              <a:t>"</a:t>
            </a:r>
            <a:r>
              <a:rPr lang="en-US" sz="1200" b="0" i="0" dirty="0">
                <a:solidFill>
                  <a:srgbClr val="ABB2BF"/>
                </a:solidFill>
                <a:effectLst/>
                <a:latin typeface="Consolas" panose="020B0609020204030204" pitchFamily="49" charset="0"/>
              </a:rPr>
              <a:t>: [</a:t>
            </a:r>
            <a:r>
              <a:rPr lang="en-US" sz="1200" b="0" i="0" dirty="0">
                <a:solidFill>
                  <a:srgbClr val="9CDCFE"/>
                </a:solidFill>
                <a:effectLst/>
                <a:latin typeface="Consolas" panose="020B0609020204030204" pitchFamily="49" charset="0"/>
              </a:rPr>
              <a:t>vector_store</a:t>
            </a:r>
            <a:r>
              <a:rPr lang="en-US" sz="1200" b="0" i="0" dirty="0">
                <a:solidFill>
                  <a:srgbClr val="ABB2BF"/>
                </a:solidFill>
                <a:effectLst/>
                <a:latin typeface="Consolas" panose="020B0609020204030204" pitchFamily="49" charset="0"/>
              </a:rPr>
              <a:t>.id]}], </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200" dirty="0">
                <a:solidFill>
                  <a:srgbClr val="4CBC89"/>
                </a:solidFill>
                <a:latin typeface="Consolas" panose="020B0609020204030204" pitchFamily="49" charset="0"/>
                <a:cs typeface="Consolas" panose="020B0609020204030204" pitchFamily="49" charset="0"/>
              </a:rPr>
              <a:t># Include citation details in the results</a:t>
            </a:r>
          </a:p>
          <a:p>
            <a:r>
              <a:rPr lang="en-US" sz="1200" dirty="0">
                <a:solidFill>
                  <a:srgbClr val="E8E8E8"/>
                </a:solidFill>
                <a:latin typeface="Consolas" panose="020B0609020204030204" pitchFamily="49" charset="0"/>
              </a:rPr>
              <a:t>    </a:t>
            </a:r>
            <a:r>
              <a:rPr lang="en-US" sz="1200" dirty="0">
                <a:solidFill>
                  <a:srgbClr val="9CDCFE"/>
                </a:solidFill>
                <a:latin typeface="Consolas" panose="020B0609020204030204" pitchFamily="49" charset="0"/>
              </a:rPr>
              <a:t>include</a:t>
            </a:r>
            <a:r>
              <a:rPr lang="en-US" sz="1200" dirty="0">
                <a:solidFill>
                  <a:srgbClr val="ABB2BF"/>
                </a:solidFill>
                <a:latin typeface="Consolas" panose="020B0609020204030204" pitchFamily="49" charset="0"/>
              </a:rPr>
              <a:t>=[</a:t>
            </a:r>
            <a:r>
              <a:rPr lang="en-US" sz="1200" dirty="0">
                <a:solidFill>
                  <a:srgbClr val="CE9178"/>
                </a:solidFill>
                <a:latin typeface="Consolas" panose="020B0609020204030204" pitchFamily="49" charset="0"/>
              </a:rPr>
              <a:t>"file_search_call.results"</a:t>
            </a:r>
            <a:r>
              <a:rPr lang="en-US" sz="1200" dirty="0">
                <a:solidFill>
                  <a:srgbClr val="ABB2BF"/>
                </a:solidFill>
                <a:latin typeface="Consolas" panose="020B0609020204030204" pitchFamily="49" charset="0"/>
              </a:rPr>
              <a:t>]</a:t>
            </a:r>
            <a:endPar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200" dirty="0">
              <a:solidFill>
                <a:srgbClr val="92D050"/>
              </a:solidFill>
              <a:latin typeface="Consolas" panose="020B0609020204030204" pitchFamily="49" charset="0"/>
              <a:ea typeface="Cascadia Code Light" panose="020B0609020000020004" pitchFamily="49" charset="0"/>
              <a:cs typeface="Consolas" panose="020B0609020204030204" pitchFamily="49" charset="0"/>
            </a:endParaRPr>
          </a:p>
          <a:p>
            <a:r>
              <a:rPr lang="en-US" sz="12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4. Output is natural language</a:t>
            </a:r>
          </a:p>
          <a:p>
            <a:r>
              <a:rPr lang="en-US" sz="12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2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2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2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2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p:txBody>
      </p:sp>
    </p:spTree>
    <p:extLst>
      <p:ext uri="{BB962C8B-B14F-4D97-AF65-F5344CB8AC3E}">
        <p14:creationId xmlns:p14="http://schemas.microsoft.com/office/powerpoint/2010/main" val="154420826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130BB-FF69-2524-D4D9-F3FCA2947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361AC5-71F5-9AFF-3FD1-E9E61493A744}"/>
              </a:ext>
            </a:extLst>
          </p:cNvPr>
          <p:cNvSpPr>
            <a:spLocks noGrp="1"/>
          </p:cNvSpPr>
          <p:nvPr>
            <p:ph type="title"/>
          </p:nvPr>
        </p:nvSpPr>
        <p:spPr>
          <a:xfrm>
            <a:off x="588262" y="585216"/>
            <a:ext cx="8193024" cy="487680"/>
          </a:xfrm>
        </p:spPr>
        <p:txBody>
          <a:bodyPr/>
          <a:lstStyle/>
          <a:p>
            <a:r>
              <a:rPr lang="es-ES" sz="3200" b="0" i="0" strike="noStrike" cap="none" baseline="0">
                <a:solidFill>
                  <a:srgbClr val="000000"/>
                </a:solidFill>
                <a:effectLst/>
                <a:latin typeface="Segoe UI Semibold"/>
                <a:ea typeface="Segoe UI Semibold"/>
                <a:cs typeface="Segoe UI Semibold"/>
              </a:rPr>
              <a:t>Uso de la herramienta de </a:t>
            </a:r>
            <a:r>
              <a:rPr lang="es-ES" sz="3200" b="0" i="0" strike="noStrike" cap="none" baseline="0">
                <a:solidFill>
                  <a:srgbClr val="0078D4"/>
                </a:solidFill>
                <a:effectLst/>
                <a:latin typeface="Consolas"/>
                <a:ea typeface="Consolas"/>
                <a:cs typeface="Consolas"/>
              </a:rPr>
              <a:t>función</a:t>
            </a:r>
          </a:p>
        </p:txBody>
      </p:sp>
      <p:sp>
        <p:nvSpPr>
          <p:cNvPr id="3" name="Footer Placeholder 2">
            <a:extLst>
              <a:ext uri="{FF2B5EF4-FFF2-40B4-BE49-F238E27FC236}">
                <a16:creationId xmlns:a16="http://schemas.microsoft.com/office/drawing/2014/main" id="{4BC89B8D-F34D-E6A3-D7B2-5C443F7AF2B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Rounded Rectangle 5">
            <a:extLst>
              <a:ext uri="{FF2B5EF4-FFF2-40B4-BE49-F238E27FC236}">
                <a16:creationId xmlns:a16="http://schemas.microsoft.com/office/drawing/2014/main" id="{AFB3B6EC-5AB7-A883-C822-CAA828EFC076}"/>
              </a:ext>
              <a:ext uri="{C183D7F6-B498-43B3-948B-1728B52AA6E4}">
                <adec:decorative xmlns:adec="http://schemas.microsoft.com/office/drawing/2017/decorative" val="1"/>
              </a:ext>
            </a:extLst>
          </p:cNvPr>
          <p:cNvSpPr/>
          <p:nvPr/>
        </p:nvSpPr>
        <p:spPr bwMode="auto">
          <a:xfrm>
            <a:off x="579438" y="1170433"/>
            <a:ext cx="7183498" cy="4852415"/>
          </a:xfrm>
          <a:prstGeom prst="roundRect">
            <a:avLst>
              <a:gd name="adj" fmla="val 3578"/>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a:gradFill>
                <a:gsLst>
                  <a:gs pos="0">
                    <a:srgbClr val="FFFFFF"/>
                  </a:gs>
                  <a:gs pos="100000">
                    <a:srgbClr val="FFFFFF"/>
                  </a:gs>
                </a:gsLst>
                <a:lin ang="5400000" scaled="0"/>
              </a:gradFill>
              <a:latin typeface="Consolas" panose="020B0609020204030204" pitchFamily="49" charset="0"/>
              <a:ea typeface="Segoe UI" pitchFamily="34" charset="0"/>
              <a:cs typeface="Consolas" panose="020B0609020204030204" pitchFamily="49" charset="0"/>
            </a:endParaRPr>
          </a:p>
        </p:txBody>
      </p:sp>
      <p:sp>
        <p:nvSpPr>
          <p:cNvPr id="10" name="Rounded Rectangle 9">
            <a:extLst>
              <a:ext uri="{FF2B5EF4-FFF2-40B4-BE49-F238E27FC236}">
                <a16:creationId xmlns:a16="http://schemas.microsoft.com/office/drawing/2014/main" id="{CDFA8E21-BD0A-1C40-7589-7C614D2B3A84}"/>
              </a:ext>
              <a:ext uri="{C183D7F6-B498-43B3-948B-1728B52AA6E4}">
                <adec:decorative xmlns:adec="http://schemas.microsoft.com/office/drawing/2017/decorative" val="1"/>
              </a:ext>
            </a:extLst>
          </p:cNvPr>
          <p:cNvSpPr/>
          <p:nvPr/>
        </p:nvSpPr>
        <p:spPr>
          <a:xfrm>
            <a:off x="7872664" y="1170433"/>
            <a:ext cx="3731074"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2" name="Oval 11">
            <a:extLst>
              <a:ext uri="{FF2B5EF4-FFF2-40B4-BE49-F238E27FC236}">
                <a16:creationId xmlns:a16="http://schemas.microsoft.com/office/drawing/2014/main" id="{631FF6E4-A0F1-A036-389E-324D6B1C46FF}"/>
              </a:ext>
            </a:extLst>
          </p:cNvPr>
          <p:cNvSpPr/>
          <p:nvPr/>
        </p:nvSpPr>
        <p:spPr bwMode="auto">
          <a:xfrm>
            <a:off x="7946900" y="1405441"/>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1</a:t>
            </a:r>
          </a:p>
        </p:txBody>
      </p:sp>
      <p:sp>
        <p:nvSpPr>
          <p:cNvPr id="15" name="TextBox 14">
            <a:extLst>
              <a:ext uri="{FF2B5EF4-FFF2-40B4-BE49-F238E27FC236}">
                <a16:creationId xmlns:a16="http://schemas.microsoft.com/office/drawing/2014/main" id="{4C34A4C7-820C-1014-C8CB-885FCEF9D935}"/>
              </a:ext>
            </a:extLst>
          </p:cNvPr>
          <p:cNvSpPr txBox="1"/>
          <p:nvPr/>
        </p:nvSpPr>
        <p:spPr>
          <a:xfrm>
            <a:off x="8386896" y="1234378"/>
            <a:ext cx="3216842" cy="661720"/>
          </a:xfrm>
          <a:prstGeom prst="rect">
            <a:avLst/>
          </a:prstGeom>
          <a:noFill/>
        </p:spPr>
        <p:txBody>
          <a:bodyPr wrap="square">
            <a:spAutoFit/>
          </a:bodyPr>
          <a:lstStyle/>
          <a:p>
            <a:r>
              <a:rPr lang="es-ES" sz="1450" b="1" i="0" strike="noStrike" cap="none" baseline="0" dirty="0">
                <a:solidFill>
                  <a:srgbClr val="0078D4"/>
                </a:solidFill>
                <a:effectLst/>
                <a:latin typeface="Segoe UI Semibold"/>
                <a:ea typeface="Segoe UI Semibold"/>
                <a:cs typeface="Segoe UI Semibold"/>
              </a:rPr>
              <a:t>Definición de la función</a:t>
            </a:r>
          </a:p>
          <a:p>
            <a:r>
              <a:rPr lang="es-ES" sz="1100" b="0" i="0" strike="noStrike" cap="none" baseline="0" dirty="0">
                <a:solidFill>
                  <a:srgbClr val="0D0D0D"/>
                </a:solidFill>
                <a:effectLst/>
                <a:latin typeface="Segoe UI"/>
                <a:ea typeface="Segoe UI"/>
                <a:cs typeface="Segoe UI"/>
              </a:rPr>
              <a:t>Describe la función para que el modelo sepa cuándo ejecutarla.</a:t>
            </a:r>
          </a:p>
        </p:txBody>
      </p:sp>
      <p:sp>
        <p:nvSpPr>
          <p:cNvPr id="16" name="Rounded Rectangle 15">
            <a:extLst>
              <a:ext uri="{FF2B5EF4-FFF2-40B4-BE49-F238E27FC236}">
                <a16:creationId xmlns:a16="http://schemas.microsoft.com/office/drawing/2014/main" id="{2A4530F0-DA9C-8863-0631-45AA42E8FBEB}"/>
              </a:ext>
              <a:ext uri="{C183D7F6-B498-43B3-948B-1728B52AA6E4}">
                <adec:decorative xmlns:adec="http://schemas.microsoft.com/office/drawing/2017/decorative" val="1"/>
              </a:ext>
            </a:extLst>
          </p:cNvPr>
          <p:cNvSpPr/>
          <p:nvPr/>
        </p:nvSpPr>
        <p:spPr>
          <a:xfrm>
            <a:off x="7881488" y="2127300"/>
            <a:ext cx="3731074"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17" name="Oval 16">
            <a:extLst>
              <a:ext uri="{FF2B5EF4-FFF2-40B4-BE49-F238E27FC236}">
                <a16:creationId xmlns:a16="http://schemas.microsoft.com/office/drawing/2014/main" id="{8C4EAE0E-FFED-4D80-B137-8EA2F7B786ED}"/>
              </a:ext>
            </a:extLst>
          </p:cNvPr>
          <p:cNvSpPr/>
          <p:nvPr/>
        </p:nvSpPr>
        <p:spPr bwMode="auto">
          <a:xfrm>
            <a:off x="7955724" y="2362308"/>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2</a:t>
            </a:r>
          </a:p>
        </p:txBody>
      </p:sp>
      <p:sp>
        <p:nvSpPr>
          <p:cNvPr id="18" name="TextBox 17">
            <a:extLst>
              <a:ext uri="{FF2B5EF4-FFF2-40B4-BE49-F238E27FC236}">
                <a16:creationId xmlns:a16="http://schemas.microsoft.com/office/drawing/2014/main" id="{907EBC54-D605-5821-88BE-26D67D3AA0AD}"/>
              </a:ext>
            </a:extLst>
          </p:cNvPr>
          <p:cNvSpPr txBox="1"/>
          <p:nvPr/>
        </p:nvSpPr>
        <p:spPr>
          <a:xfrm>
            <a:off x="8395720" y="2098913"/>
            <a:ext cx="3216842" cy="830997"/>
          </a:xfrm>
          <a:prstGeom prst="rect">
            <a:avLst/>
          </a:prstGeom>
          <a:noFill/>
        </p:spPr>
        <p:txBody>
          <a:bodyPr wrap="square">
            <a:spAutoFit/>
          </a:bodyPr>
          <a:lstStyle/>
          <a:p>
            <a:r>
              <a:rPr lang="es-ES" sz="1450" b="1" i="0" strike="noStrike" cap="none" baseline="0" dirty="0">
                <a:solidFill>
                  <a:srgbClr val="0078D4"/>
                </a:solidFill>
                <a:effectLst/>
                <a:latin typeface="Segoe UI Semibold"/>
                <a:ea typeface="Segoe UI Semibold"/>
                <a:cs typeface="Segoe UI Semibold"/>
              </a:rPr>
              <a:t>Herramientas de configuración</a:t>
            </a:r>
          </a:p>
          <a:p>
            <a:r>
              <a:rPr lang="es-ES" sz="1100" b="0" i="0" strike="noStrike" cap="none" baseline="0" dirty="0">
                <a:solidFill>
                  <a:srgbClr val="0D0D0D"/>
                </a:solidFill>
                <a:effectLst/>
                <a:latin typeface="Segoe UI"/>
                <a:ea typeface="Segoe UI"/>
                <a:cs typeface="Segoe UI"/>
              </a:rPr>
              <a:t>Registra la función como herramienta</a:t>
            </a:r>
            <a:br>
              <a:rPr lang="es-ES" sz="1100" b="0" i="0" strike="noStrike" cap="none" baseline="0" dirty="0">
                <a:solidFill>
                  <a:srgbClr val="0D0D0D"/>
                </a:solidFill>
                <a:effectLst/>
                <a:latin typeface="Segoe UI"/>
                <a:ea typeface="Segoe UI"/>
                <a:cs typeface="Segoe UI"/>
              </a:rPr>
            </a:br>
            <a:r>
              <a:rPr lang="es-ES" sz="1100" b="0" i="0" strike="noStrike" cap="none" baseline="0" dirty="0">
                <a:solidFill>
                  <a:srgbClr val="0D0D0D"/>
                </a:solidFill>
                <a:effectLst/>
                <a:latin typeface="Segoe UI"/>
                <a:ea typeface="Segoe UI"/>
                <a:cs typeface="Segoe UI"/>
              </a:rPr>
              <a:t>e inicializa la conversación con los mensajes</a:t>
            </a:r>
            <a:br>
              <a:rPr lang="es-ES" sz="1100" b="0" i="0" strike="noStrike" cap="none" baseline="0" dirty="0">
                <a:solidFill>
                  <a:srgbClr val="0D0D0D"/>
                </a:solidFill>
                <a:effectLst/>
                <a:latin typeface="Segoe UI"/>
                <a:ea typeface="Segoe UI"/>
                <a:cs typeface="Segoe UI"/>
              </a:rPr>
            </a:br>
            <a:r>
              <a:rPr lang="es-ES" sz="1100" b="0" i="0" strike="noStrike" cap="none" baseline="0" dirty="0">
                <a:solidFill>
                  <a:srgbClr val="0D0D0D"/>
                </a:solidFill>
                <a:effectLst/>
                <a:latin typeface="Segoe UI"/>
                <a:ea typeface="Segoe UI"/>
                <a:cs typeface="Segoe UI"/>
              </a:rPr>
              <a:t>de desarrollador y usuario.</a:t>
            </a:r>
          </a:p>
        </p:txBody>
      </p:sp>
      <p:sp>
        <p:nvSpPr>
          <p:cNvPr id="19" name="Rounded Rectangle 18">
            <a:extLst>
              <a:ext uri="{FF2B5EF4-FFF2-40B4-BE49-F238E27FC236}">
                <a16:creationId xmlns:a16="http://schemas.microsoft.com/office/drawing/2014/main" id="{933AD7A1-C6C4-A910-3938-2FD52F3D17D9}"/>
              </a:ext>
              <a:ext uri="{C183D7F6-B498-43B3-948B-1728B52AA6E4}">
                <adec:decorative xmlns:adec="http://schemas.microsoft.com/office/drawing/2017/decorative" val="1"/>
              </a:ext>
            </a:extLst>
          </p:cNvPr>
          <p:cNvSpPr/>
          <p:nvPr/>
        </p:nvSpPr>
        <p:spPr>
          <a:xfrm>
            <a:off x="7904672" y="3058599"/>
            <a:ext cx="3699066"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20" name="Oval 19">
            <a:extLst>
              <a:ext uri="{FF2B5EF4-FFF2-40B4-BE49-F238E27FC236}">
                <a16:creationId xmlns:a16="http://schemas.microsoft.com/office/drawing/2014/main" id="{BCC8CB48-E57D-E392-87CE-DE65FC27AB34}"/>
              </a:ext>
            </a:extLst>
          </p:cNvPr>
          <p:cNvSpPr/>
          <p:nvPr/>
        </p:nvSpPr>
        <p:spPr bwMode="auto">
          <a:xfrm>
            <a:off x="7946900" y="3293607"/>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3</a:t>
            </a:r>
          </a:p>
        </p:txBody>
      </p:sp>
      <p:sp>
        <p:nvSpPr>
          <p:cNvPr id="21" name="TextBox 20">
            <a:extLst>
              <a:ext uri="{FF2B5EF4-FFF2-40B4-BE49-F238E27FC236}">
                <a16:creationId xmlns:a16="http://schemas.microsoft.com/office/drawing/2014/main" id="{DDB435B8-C1F7-2267-7CE4-827806F500B1}"/>
              </a:ext>
            </a:extLst>
          </p:cNvPr>
          <p:cNvSpPr txBox="1"/>
          <p:nvPr/>
        </p:nvSpPr>
        <p:spPr>
          <a:xfrm>
            <a:off x="8386896" y="3055612"/>
            <a:ext cx="3216842" cy="830997"/>
          </a:xfrm>
          <a:prstGeom prst="rect">
            <a:avLst/>
          </a:prstGeom>
          <a:noFill/>
        </p:spPr>
        <p:txBody>
          <a:bodyPr wrap="square">
            <a:spAutoFit/>
          </a:bodyPr>
          <a:lstStyle/>
          <a:p>
            <a:r>
              <a:rPr lang="es-ES" sz="1450" b="1" i="0" strike="noStrike" cap="none" baseline="0" dirty="0">
                <a:solidFill>
                  <a:srgbClr val="0078D4"/>
                </a:solidFill>
                <a:effectLst/>
                <a:latin typeface="Segoe UI Semibold"/>
                <a:ea typeface="Segoe UI Semibold"/>
                <a:cs typeface="Segoe UI Semibold"/>
              </a:rPr>
              <a:t>Ejecución de función ejecutiva</a:t>
            </a:r>
          </a:p>
          <a:p>
            <a:r>
              <a:rPr lang="es-ES" sz="1100" b="0" i="0" strike="noStrike" cap="none" baseline="0" dirty="0">
                <a:solidFill>
                  <a:srgbClr val="0D0D0D"/>
                </a:solidFill>
                <a:effectLst/>
                <a:latin typeface="Segoe UI"/>
                <a:ea typeface="Segoe UI"/>
                <a:cs typeface="Segoe UI"/>
              </a:rPr>
              <a:t>Ejecuta la función solicitada cuando el modelo desencadene una llamada de función y capture su salida.</a:t>
            </a:r>
          </a:p>
        </p:txBody>
      </p:sp>
      <p:sp>
        <p:nvSpPr>
          <p:cNvPr id="22" name="Rounded Rectangle 21">
            <a:extLst>
              <a:ext uri="{FF2B5EF4-FFF2-40B4-BE49-F238E27FC236}">
                <a16:creationId xmlns:a16="http://schemas.microsoft.com/office/drawing/2014/main" id="{2933FE0B-038B-C725-FE1C-6A55861A498E}"/>
              </a:ext>
              <a:ext uri="{C183D7F6-B498-43B3-948B-1728B52AA6E4}">
                <adec:decorative xmlns:adec="http://schemas.microsoft.com/office/drawing/2017/decorative" val="1"/>
              </a:ext>
            </a:extLst>
          </p:cNvPr>
          <p:cNvSpPr/>
          <p:nvPr/>
        </p:nvSpPr>
        <p:spPr>
          <a:xfrm>
            <a:off x="7863840" y="5163965"/>
            <a:ext cx="3748722" cy="858883"/>
          </a:xfrm>
          <a:prstGeom prst="roundRect">
            <a:avLst>
              <a:gd name="adj" fmla="val 12000"/>
            </a:avLst>
          </a:prstGeom>
          <a:solidFill>
            <a:srgbClr val="0078D4"/>
          </a:solidFill>
          <a:ln w="9525">
            <a:solidFill>
              <a:schemeClr val="accent2">
                <a:lumMod val="20000"/>
                <a:lumOff val="8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chemeClr val="bg1"/>
              </a:solidFill>
            </a:endParaRPr>
          </a:p>
        </p:txBody>
      </p:sp>
      <p:sp>
        <p:nvSpPr>
          <p:cNvPr id="24" name="TextBox 23">
            <a:extLst>
              <a:ext uri="{FF2B5EF4-FFF2-40B4-BE49-F238E27FC236}">
                <a16:creationId xmlns:a16="http://schemas.microsoft.com/office/drawing/2014/main" id="{949DE2EB-FC3E-64B4-7709-50D198EABEEE}"/>
              </a:ext>
            </a:extLst>
          </p:cNvPr>
          <p:cNvSpPr txBox="1"/>
          <p:nvPr/>
        </p:nvSpPr>
        <p:spPr>
          <a:xfrm>
            <a:off x="7904672" y="5236266"/>
            <a:ext cx="3592384" cy="692497"/>
          </a:xfrm>
          <a:prstGeom prst="rect">
            <a:avLst/>
          </a:prstGeom>
          <a:noFill/>
        </p:spPr>
        <p:txBody>
          <a:bodyPr wrap="square">
            <a:spAutoFit/>
          </a:bodyPr>
          <a:lstStyle/>
          <a:p>
            <a:r>
              <a:rPr lang="es-ES" sz="1300" b="1" i="0" strike="noStrike" cap="all" baseline="0" dirty="0" err="1">
                <a:solidFill>
                  <a:srgbClr val="FFFFFF"/>
                </a:solidFill>
                <a:effectLst/>
                <a:latin typeface="Consolas"/>
                <a:ea typeface="Consolas"/>
                <a:cs typeface="Consolas"/>
              </a:rPr>
              <a:t>response.output_text</a:t>
            </a:r>
            <a:endParaRPr lang="en-US" sz="1300" b="1" cap="all" dirty="0">
              <a:solidFill>
                <a:schemeClr val="bg1"/>
              </a:solidFill>
              <a:latin typeface="Consolas" panose="020B0609020204030204" pitchFamily="49" charset="0"/>
              <a:cs typeface="Consolas" panose="020B0609020204030204" pitchFamily="49" charset="0"/>
            </a:endParaRPr>
          </a:p>
          <a:p>
            <a:r>
              <a:rPr lang="es-ES" sz="1300" b="0" i="0" strike="noStrike" cap="none" baseline="0" dirty="0">
                <a:solidFill>
                  <a:srgbClr val="FFFFFF"/>
                </a:solidFill>
                <a:effectLst/>
                <a:latin typeface="Consolas"/>
                <a:ea typeface="Consolas"/>
                <a:cs typeface="Consolas"/>
              </a:rPr>
              <a:t>La hora actual es 09:05:00 el 27 de marzo de 2026.</a:t>
            </a:r>
            <a:endParaRPr lang="en-US" sz="1300" dirty="0">
              <a:solidFill>
                <a:schemeClr val="bg1"/>
              </a:solidFill>
              <a:latin typeface="Consolas" panose="020B0609020204030204" pitchFamily="49" charset="0"/>
              <a:cs typeface="Consolas" panose="020B0609020204030204" pitchFamily="49" charset="0"/>
            </a:endParaRPr>
          </a:p>
        </p:txBody>
      </p:sp>
      <p:sp>
        <p:nvSpPr>
          <p:cNvPr id="5" name="Rounded Rectangle 4">
            <a:extLst>
              <a:ext uri="{FF2B5EF4-FFF2-40B4-BE49-F238E27FC236}">
                <a16:creationId xmlns:a16="http://schemas.microsoft.com/office/drawing/2014/main" id="{A95F66B3-9F0A-7E33-0058-C194396DC936}"/>
              </a:ext>
              <a:ext uri="{C183D7F6-B498-43B3-948B-1728B52AA6E4}">
                <adec:decorative xmlns:adec="http://schemas.microsoft.com/office/drawing/2017/decorative" val="1"/>
              </a:ext>
            </a:extLst>
          </p:cNvPr>
          <p:cNvSpPr/>
          <p:nvPr/>
        </p:nvSpPr>
        <p:spPr>
          <a:xfrm>
            <a:off x="7913496" y="3972460"/>
            <a:ext cx="3699066" cy="835776"/>
          </a:xfrm>
          <a:prstGeom prst="roundRect">
            <a:avLst>
              <a:gd name="adj" fmla="val 12000"/>
            </a:avLst>
          </a:prstGeom>
          <a:solidFill>
            <a:schemeClr val="tx2">
              <a:lumMod val="10000"/>
              <a:lumOff val="90000"/>
              <a:alpha val="50196"/>
            </a:schemeClr>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endParaRPr lang="en-US" sz="1400">
              <a:solidFill>
                <a:srgbClr val="4A5568"/>
              </a:solidFill>
            </a:endParaRPr>
          </a:p>
        </p:txBody>
      </p:sp>
      <p:sp>
        <p:nvSpPr>
          <p:cNvPr id="7" name="Oval 6">
            <a:extLst>
              <a:ext uri="{FF2B5EF4-FFF2-40B4-BE49-F238E27FC236}">
                <a16:creationId xmlns:a16="http://schemas.microsoft.com/office/drawing/2014/main" id="{DC6906FE-03F5-2E08-83A6-262B5F2429BF}"/>
              </a:ext>
            </a:extLst>
          </p:cNvPr>
          <p:cNvSpPr/>
          <p:nvPr/>
        </p:nvSpPr>
        <p:spPr bwMode="auto">
          <a:xfrm>
            <a:off x="7955724" y="4207468"/>
            <a:ext cx="365760" cy="365760"/>
          </a:xfrm>
          <a:prstGeom prst="ellipse">
            <a:avLst/>
          </a:prstGeom>
          <a:solidFill>
            <a:srgbClr val="0078D4"/>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1" i="0" strike="noStrike" cap="none" baseline="0">
                <a:solidFill>
                  <a:srgbClr val="FFFFFF"/>
                </a:solidFill>
                <a:effectLst/>
                <a:latin typeface="Segoe UI"/>
                <a:ea typeface="Segoe UI"/>
                <a:cs typeface="Segoe UI"/>
              </a:rPr>
              <a:t>4</a:t>
            </a:r>
          </a:p>
        </p:txBody>
      </p:sp>
      <p:sp>
        <p:nvSpPr>
          <p:cNvPr id="8" name="TextBox 7">
            <a:extLst>
              <a:ext uri="{FF2B5EF4-FFF2-40B4-BE49-F238E27FC236}">
                <a16:creationId xmlns:a16="http://schemas.microsoft.com/office/drawing/2014/main" id="{D3004AD8-67B3-8A63-FC37-0BD7FAC50798}"/>
              </a:ext>
            </a:extLst>
          </p:cNvPr>
          <p:cNvSpPr txBox="1"/>
          <p:nvPr/>
        </p:nvSpPr>
        <p:spPr>
          <a:xfrm>
            <a:off x="8395720" y="4036405"/>
            <a:ext cx="3291078" cy="661720"/>
          </a:xfrm>
          <a:prstGeom prst="rect">
            <a:avLst/>
          </a:prstGeom>
          <a:noFill/>
        </p:spPr>
        <p:txBody>
          <a:bodyPr wrap="square">
            <a:spAutoFit/>
          </a:bodyPr>
          <a:lstStyle/>
          <a:p>
            <a:r>
              <a:rPr lang="es-ES" sz="1450" b="1" i="0" strike="noStrike" cap="none" baseline="0" dirty="0">
                <a:solidFill>
                  <a:srgbClr val="0078D4"/>
                </a:solidFill>
                <a:effectLst/>
                <a:latin typeface="Segoe UI Semibold"/>
                <a:ea typeface="Segoe UI Semibold"/>
                <a:cs typeface="Segoe UI Semibold"/>
              </a:rPr>
              <a:t>El modelo formula la respuesta final</a:t>
            </a:r>
          </a:p>
          <a:p>
            <a:r>
              <a:rPr lang="es-ES" sz="1100" b="0" i="0" strike="noStrike" cap="none" baseline="0" dirty="0">
                <a:solidFill>
                  <a:srgbClr val="0D0D0D"/>
                </a:solidFill>
                <a:effectLst/>
                <a:latin typeface="Segoe UI"/>
                <a:ea typeface="Segoe UI"/>
                <a:cs typeface="Segoe UI"/>
              </a:rPr>
              <a:t>Envía el resultado de la función al modelo para generar la respuesta final orientada al usuario.</a:t>
            </a:r>
          </a:p>
        </p:txBody>
      </p:sp>
      <p:sp>
        <p:nvSpPr>
          <p:cNvPr id="9" name="TextBox 8">
            <a:extLst>
              <a:ext uri="{FF2B5EF4-FFF2-40B4-BE49-F238E27FC236}">
                <a16:creationId xmlns:a16="http://schemas.microsoft.com/office/drawing/2014/main" id="{A2569CE0-0DC2-B5F4-0E0F-FCA92EEC1F8D}"/>
              </a:ext>
            </a:extLst>
          </p:cNvPr>
          <p:cNvSpPr txBox="1"/>
          <p:nvPr/>
        </p:nvSpPr>
        <p:spPr>
          <a:xfrm>
            <a:off x="588262" y="1179387"/>
            <a:ext cx="7275578" cy="4832092"/>
          </a:xfrm>
          <a:prstGeom prst="rect">
            <a:avLst/>
          </a:prstGeom>
          <a:noFill/>
          <a:ln>
            <a:noFill/>
          </a:ln>
        </p:spPr>
        <p:txBody>
          <a:bodyPr wrap="square">
            <a:spAutoFit/>
          </a:bodyPr>
          <a:lstStyle/>
          <a:p>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1. Define the callable function</a:t>
            </a:r>
          </a:p>
          <a:p>
            <a:r>
              <a:rPr lang="en-US" sz="1100" dirty="0">
                <a:solidFill>
                  <a:srgbClr val="569CD6"/>
                </a:solidFill>
                <a:latin typeface="Consolas" panose="020B0609020204030204" pitchFamily="49" charset="0"/>
              </a:rPr>
              <a:t>def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return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f</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"The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time is {</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time.</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strftime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'%Y-%m-%d %H:%M:%S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time.</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localtime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rgbClr val="569CD6"/>
                </a:solidFill>
                <a:latin typeface="Consolas" panose="020B0609020204030204" pitchFamily="49" charset="0"/>
              </a:rPr>
              <a:t>def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main</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2. Set up tools and initial message</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"name"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"description"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"Get the current 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"role"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"developer"</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"content"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"You can use functions to provide information."</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append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"role"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"user"</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"content"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"What’s the current 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"gpt-4.1"</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a:t>
            </a:r>
            <a:endPar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endParaRP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3. Was there a function call in the model's response? If so, call the function</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for</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in</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if</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function_call</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569CD6"/>
                </a:solidFill>
                <a:latin typeface="Consolas" panose="020B0609020204030204" pitchFamily="49" charset="0"/>
              </a:rPr>
              <a:t>and</a:t>
            </a:r>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.name ==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current_time</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get_time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append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"type"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function_call_output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CE9178"/>
                </a:solidFill>
                <a:latin typeface="Consolas" panose="020B0609020204030204" pitchFamily="49" charset="0"/>
                <a:ea typeface="Cascadia Code Light" panose="020B0609020000020004" pitchFamily="49" charset="0"/>
                <a:cs typeface="Consolas" panose="020B0609020204030204" pitchFamily="49" charset="0"/>
              </a:rPr>
              <a:t>call_id</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item</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.call_id</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current_time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endPar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endParaRPr>
          </a:p>
          <a:p>
            <a:r>
              <a:rPr lang="en-US" sz="1100" dirty="0">
                <a:solidFill>
                  <a:schemeClr val="bg1"/>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4CBC89"/>
                </a:solidFill>
                <a:latin typeface="Consolas" panose="020B0609020204030204" pitchFamily="49" charset="0"/>
                <a:ea typeface="Cascadia Code Light" panose="020B0609020000020004" pitchFamily="49" charset="0"/>
                <a:cs typeface="Consolas" panose="020B0609020204030204" pitchFamily="49" charset="0"/>
              </a:rPr>
              <a:t># 4. Get a follow up response using the tool output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client</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.responses.</a:t>
            </a:r>
            <a:r>
              <a:rPr lang="en-US" sz="1100" dirty="0" err="1">
                <a:solidFill>
                  <a:srgbClr val="DCDCAA"/>
                </a:solidFill>
                <a:latin typeface="Consolas" panose="020B0609020204030204" pitchFamily="49" charset="0"/>
                <a:ea typeface="Cascadia Code Light" panose="020B0609020000020004" pitchFamily="49" charset="0"/>
                <a:cs typeface="Consolas" panose="020B0609020204030204" pitchFamily="49" charset="0"/>
              </a:rPr>
              <a:t>create</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model</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"gpt-4.1"</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messages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instructions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a:solidFill>
                  <a:srgbClr val="CE9178"/>
                </a:solidFill>
                <a:latin typeface="Consolas" panose="020B0609020204030204" pitchFamily="49" charset="0"/>
                <a:ea typeface="Cascadia Code Light" panose="020B0609020000020004" pitchFamily="49" charset="0"/>
                <a:cs typeface="Consolas" panose="020B0609020204030204" pitchFamily="49" charset="0"/>
              </a:rPr>
              <a:t>"Answer only with the tool output."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9CDCFE"/>
                </a:solidFill>
                <a:latin typeface="Consolas" panose="020B0609020204030204" pitchFamily="49" charset="0"/>
                <a:ea typeface="Cascadia Code Light" panose="020B0609020000020004" pitchFamily="49" charset="0"/>
                <a:cs typeface="Consolas" panose="020B0609020204030204" pitchFamily="49" charset="0"/>
              </a:rPr>
              <a:t>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function_tools</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a:p>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        </a:t>
            </a:r>
            <a:r>
              <a:rPr lang="en-US" sz="1100" dirty="0">
                <a:solidFill>
                  <a:srgbClr val="DCDCAA"/>
                </a:solidFill>
                <a:latin typeface="Consolas" panose="020B0609020204030204" pitchFamily="49" charset="0"/>
                <a:ea typeface="Cascadia Code Light" panose="020B0609020000020004" pitchFamily="49" charset="0"/>
                <a:cs typeface="Consolas" panose="020B0609020204030204" pitchFamily="49" charset="0"/>
              </a:rPr>
              <a:t>print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r>
              <a:rPr lang="en-US" sz="1100" dirty="0" err="1">
                <a:solidFill>
                  <a:srgbClr val="9CDCFE"/>
                </a:solidFill>
                <a:latin typeface="Consolas" panose="020B0609020204030204" pitchFamily="49" charset="0"/>
                <a:ea typeface="Cascadia Code Light" panose="020B0609020000020004" pitchFamily="49" charset="0"/>
                <a:cs typeface="Consolas" panose="020B0609020204030204" pitchFamily="49" charset="0"/>
              </a:rPr>
              <a:t>response</a:t>
            </a:r>
            <a:r>
              <a:rPr lang="en-US" sz="1100" dirty="0" err="1">
                <a:solidFill>
                  <a:srgbClr val="ABB2BF"/>
                </a:solidFill>
                <a:latin typeface="Consolas" panose="020B0609020204030204" pitchFamily="49" charset="0"/>
                <a:ea typeface="Cascadia Code Light" panose="020B0609020000020004" pitchFamily="49" charset="0"/>
                <a:cs typeface="Consolas" panose="020B0609020204030204" pitchFamily="49" charset="0"/>
              </a:rPr>
              <a:t>.output_text</a:t>
            </a:r>
            <a:r>
              <a:rPr lang="en-US" sz="1100" dirty="0">
                <a:solidFill>
                  <a:srgbClr val="ABB2BF"/>
                </a:solidFill>
                <a:latin typeface="Consolas" panose="020B0609020204030204" pitchFamily="49" charset="0"/>
                <a:ea typeface="Cascadia Code Light" panose="020B0609020000020004" pitchFamily="49" charset="0"/>
                <a:cs typeface="Consolas" panose="020B0609020204030204" pitchFamily="49" charset="0"/>
              </a:rPr>
              <a:t>)</a:t>
            </a:r>
          </a:p>
        </p:txBody>
      </p:sp>
    </p:spTree>
    <p:extLst>
      <p:ext uri="{BB962C8B-B14F-4D97-AF65-F5344CB8AC3E}">
        <p14:creationId xmlns:p14="http://schemas.microsoft.com/office/powerpoint/2010/main" val="209243389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a:t>Using the </a:t>
            </a:r>
            <a:r>
              <a:rPr lang="en-US" sz="3200" i="1" err="1"/>
              <a:t>code_interpreter </a:t>
            </a:r>
            <a:r>
              <a:rPr lang="en-US" sz="320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2503293"/>
            <a:ext cx="10708388" cy="1785104"/>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code_interpreter tool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client.responses.create(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model={model_deployment},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that provides information. Use the python tool to run code for math problems.",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 is the square root of 16?",</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tools the model can use (including container settings)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tools=[{"type": "code_interpreter",</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"container": {"type": "auto"}}]</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print(response.output_text)</a:t>
            </a:r>
          </a:p>
        </p:txBody>
      </p:sp>
      <p:sp>
        <p:nvSpPr>
          <p:cNvPr id="5" name="TextBox 4">
            <a:extLst>
              <a:ext uri="{FF2B5EF4-FFF2-40B4-BE49-F238E27FC236}">
                <a16:creationId xmlns:a16="http://schemas.microsoft.com/office/drawing/2014/main" id="{FC0E9404-D73D-D567-F16E-06C3C0D58A81}"/>
              </a:ext>
            </a:extLst>
          </p:cNvPr>
          <p:cNvSpPr txBox="1"/>
          <p:nvPr/>
        </p:nvSpPr>
        <p:spPr>
          <a:xfrm>
            <a:off x="6178551" y="3898496"/>
            <a:ext cx="5670550" cy="600164"/>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square root of 16 is 4.</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221329297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a:t>Using the </a:t>
            </a:r>
            <a:r>
              <a:rPr lang="en-US" sz="3200" i="1" err="1"/>
              <a:t>web_search </a:t>
            </a:r>
            <a:r>
              <a:rPr lang="en-US" sz="320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2071988"/>
            <a:ext cx="10708388" cy="1785104"/>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web_search tool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client.responses.create(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model={model_deployment},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Use web search when current information is required.",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 are three major announcements from Microsoft Build this week?",</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the web_search tool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tools=[{"type": "web_search_preview"}]</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print(response.output_text)</a:t>
            </a:r>
          </a:p>
        </p:txBody>
      </p:sp>
      <p:sp>
        <p:nvSpPr>
          <p:cNvPr id="5" name="TextBox 4">
            <a:extLst>
              <a:ext uri="{FF2B5EF4-FFF2-40B4-BE49-F238E27FC236}">
                <a16:creationId xmlns:a16="http://schemas.microsoft.com/office/drawing/2014/main" id="{FC0E9404-D73D-D567-F16E-06C3C0D58A81}"/>
              </a:ext>
            </a:extLst>
          </p:cNvPr>
          <p:cNvSpPr txBox="1"/>
          <p:nvPr/>
        </p:nvSpPr>
        <p:spPr>
          <a:xfrm>
            <a:off x="6096000" y="3320646"/>
            <a:ext cx="5670550" cy="1615827"/>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Here are three major announcements from Microsoft Build:</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pPr marL="228600" indent="-228600">
              <a:buAutoNum type="arabicPeriod"/>
            </a:pPr>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Enhanced APIs for agent development in Microsoft Foundry: </a:t>
            </a:r>
            <a:r>
              <a:rPr lang="en-US" sz="1100" u="sng">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New Foundry Agentic capabilities</a:t>
            </a:r>
          </a:p>
          <a:p>
            <a:pPr marL="228600" indent="-228600">
              <a:buAutoNum type="arabicPeriod"/>
            </a:pPr>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New data technologies for scalable knowledge stores: </a:t>
            </a:r>
            <a:r>
              <a:rPr lang="en-US" sz="1100" u="sng">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Cloud data store announcement</a:t>
            </a:r>
          </a:p>
          <a:p>
            <a:pPr marL="228600" indent="-228600">
              <a:buAutoNum type="arabicPeriod"/>
            </a:pPr>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New Microsoft training solutions to build AI skills: </a:t>
            </a:r>
            <a:r>
              <a:rPr lang="en-US" sz="1100" u="sng">
                <a:solidFill>
                  <a:srgbClr val="8DC8E8"/>
                </a:solidFill>
                <a:latin typeface="Cascadia Code Light" panose="020B0609020000020004" pitchFamily="49" charset="0"/>
                <a:ea typeface="Cascadia Code Light" panose="020B0609020000020004" pitchFamily="49" charset="0"/>
                <a:cs typeface="Cascadia Code Light" panose="020B0609020000020004" pitchFamily="49" charset="0"/>
              </a:rPr>
              <a:t>Microsoft Global Skilling takes learning worldwide</a:t>
            </a:r>
          </a:p>
        </p:txBody>
      </p:sp>
    </p:spTree>
    <p:extLst>
      <p:ext uri="{BB962C8B-B14F-4D97-AF65-F5344CB8AC3E}">
        <p14:creationId xmlns:p14="http://schemas.microsoft.com/office/powerpoint/2010/main" val="97233664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a:t>Using the </a:t>
            </a:r>
            <a:r>
              <a:rPr lang="en-US" sz="3200" b="1" i="1" err="1"/>
              <a:t>file_search</a:t>
            </a:r>
            <a:r>
              <a:rPr lang="en-US" sz="3200" i="1"/>
              <a:t> </a:t>
            </a:r>
            <a:r>
              <a:rPr lang="en-US" sz="320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0662" y="1774701"/>
            <a:ext cx="10708388" cy="3647152"/>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Create vector store and upload a file</a:t>
            </a:r>
          </a:p>
          <a:p>
            <a:r>
              <a:rPr lang="en-US" sz="11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vector_store = client.vector_stores.create(name="policy-docs")</a:t>
            </a:r>
          </a:p>
          <a:p>
            <a:r>
              <a:rPr lang="en-US" sz="1100" err="1">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client.vector_stores.files.upload_and_poll(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vector_store_id=vector_store.id,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file=open("expenses_policy.pdf", "rb")</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response using the file_search tool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response = client.responses.create(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model=model_deployment,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instructions="You are an AI assistant that provides information from HR policy documents.",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input="What's the maximum amount I can claim for a taxi ride?",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Specify the file_search tool and the vector store to use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tools=[{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"type": "file_search",</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"vector_store_ids": [vector_store.id]</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Include citation details in the results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include=["file_search_call.results"]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print(response.output_text)</a:t>
            </a:r>
          </a:p>
        </p:txBody>
      </p:sp>
      <p:sp>
        <p:nvSpPr>
          <p:cNvPr id="5" name="TextBox 4">
            <a:extLst>
              <a:ext uri="{FF2B5EF4-FFF2-40B4-BE49-F238E27FC236}">
                <a16:creationId xmlns:a16="http://schemas.microsoft.com/office/drawing/2014/main" id="{FC0E9404-D73D-D567-F16E-06C3C0D58A81}"/>
              </a:ext>
            </a:extLst>
          </p:cNvPr>
          <p:cNvSpPr txBox="1"/>
          <p:nvPr/>
        </p:nvSpPr>
        <p:spPr>
          <a:xfrm>
            <a:off x="6094856" y="4698578"/>
            <a:ext cx="5670550" cy="769441"/>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Based on the expenses policy, the maximum amount you can claim for a taxi ride is $75.00</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21714101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ED0CF-999C-9223-DA94-8AEC1439CCCD}"/>
              </a:ext>
            </a:extLst>
          </p:cNvPr>
          <p:cNvSpPr>
            <a:spLocks noGrp="1"/>
          </p:cNvSpPr>
          <p:nvPr>
            <p:ph type="title"/>
          </p:nvPr>
        </p:nvSpPr>
        <p:spPr>
          <a:xfrm>
            <a:off x="588262" y="585216"/>
            <a:ext cx="8193024" cy="492443"/>
          </a:xfrm>
        </p:spPr>
        <p:txBody>
          <a:bodyPr/>
          <a:lstStyle/>
          <a:p>
            <a:r>
              <a:rPr lang="en-US" sz="3200"/>
              <a:t>Using the </a:t>
            </a:r>
            <a:r>
              <a:rPr lang="en-US" sz="3200" b="1" i="1"/>
              <a:t>function </a:t>
            </a:r>
            <a:r>
              <a:rPr lang="en-US" sz="3200"/>
              <a:t>tool</a:t>
            </a:r>
          </a:p>
        </p:txBody>
      </p:sp>
      <p:sp>
        <p:nvSpPr>
          <p:cNvPr id="3" name="Footer Placeholder 2">
            <a:extLst>
              <a:ext uri="{FF2B5EF4-FFF2-40B4-BE49-F238E27FC236}">
                <a16:creationId xmlns:a16="http://schemas.microsoft.com/office/drawing/2014/main" id="{2ACF27C9-5F03-9BC4-4B09-73CDFEC6F74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4" name="TextBox 3">
            <a:extLst>
              <a:ext uri="{FF2B5EF4-FFF2-40B4-BE49-F238E27FC236}">
                <a16:creationId xmlns:a16="http://schemas.microsoft.com/office/drawing/2014/main" id="{B25AB4FE-C5C4-C094-C139-68466B7595C4}"/>
              </a:ext>
            </a:extLst>
          </p:cNvPr>
          <p:cNvSpPr txBox="1"/>
          <p:nvPr/>
        </p:nvSpPr>
        <p:spPr>
          <a:xfrm>
            <a:off x="741806" y="1194771"/>
            <a:ext cx="10708388" cy="5170646"/>
          </a:xfrm>
          <a:prstGeom prst="rect">
            <a:avLst/>
          </a:prstGeom>
          <a:solidFill>
            <a:schemeClr val="tx1">
              <a:lumMod val="95000"/>
              <a:lumOff val="5000"/>
            </a:schemeClr>
          </a:solidFill>
          <a:ln>
            <a:solidFill>
              <a:schemeClr val="bg1">
                <a:lumMod val="85000"/>
              </a:schemeClr>
            </a:solidFill>
          </a:ln>
        </p:spPr>
        <p:txBody>
          <a:bodyPr wrap="square">
            <a:spAutoFit/>
          </a:bodyPr>
          <a:lstStyle/>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Function to get the current time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def get_time():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return f"The time is {time.strftime('%Y-%m-%d %H:%M:%S', time.localtime())}"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Main function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def main():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Define tools including the function tool</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function_tools = [{"type": "function", "name": "get_time", "description": "Get the current time"}]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Initialize messages</a:t>
            </a:r>
          </a:p>
          <a:p>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messages =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{"role": "developer", "content": "You are an AI assistant that can use functions to provides information."},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messages.append({"role": "user", "content": "What’s the current time?"})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initial response, and add it to the messages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client.responses.create(model="gpt-4.1", input=messages, tools= function_tools)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 += response.output</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Was there a function call in the model's response? If so, call the function</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for item in response.output: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if item.type == "function_call" and item.name == "get_time":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current_time = get_time()</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messages.append({"type": "function_call_output", "call_id": item.call_id, "output": current_time})</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a:t>
            </a:r>
            <a:r>
              <a:rPr lang="en-US" sz="1100">
                <a:solidFill>
                  <a:srgbClr val="92D050"/>
                </a:solidFill>
                <a:latin typeface="Cascadia Code Light" panose="020B0609020000020004" pitchFamily="49" charset="0"/>
                <a:ea typeface="Cascadia Code Light" panose="020B0609020000020004" pitchFamily="49" charset="0"/>
                <a:cs typeface="Cascadia Code Light" panose="020B0609020000020004" pitchFamily="49" charset="0"/>
              </a:rPr>
              <a:t># Get a follow up response using the tool output</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response = client.responses.create(model="gpt-4.1", input=messages,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instructions="Answer only with the tool output.", tools= function_tools)</a:t>
            </a: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            print(response.output_text)</a:t>
            </a:r>
          </a:p>
        </p:txBody>
      </p:sp>
      <p:sp>
        <p:nvSpPr>
          <p:cNvPr id="5" name="TextBox 4">
            <a:extLst>
              <a:ext uri="{FF2B5EF4-FFF2-40B4-BE49-F238E27FC236}">
                <a16:creationId xmlns:a16="http://schemas.microsoft.com/office/drawing/2014/main" id="{FC0E9404-D73D-D567-F16E-06C3C0D58A81}"/>
              </a:ext>
            </a:extLst>
          </p:cNvPr>
          <p:cNvSpPr txBox="1"/>
          <p:nvPr/>
        </p:nvSpPr>
        <p:spPr>
          <a:xfrm>
            <a:off x="6621906" y="8329102"/>
            <a:ext cx="5670550" cy="769441"/>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Based on the expenses policy, the maximum amount you can claim for a taxi ride is $75.00</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
        <p:nvSpPr>
          <p:cNvPr id="6" name="TextBox 5">
            <a:extLst>
              <a:ext uri="{FF2B5EF4-FFF2-40B4-BE49-F238E27FC236}">
                <a16:creationId xmlns:a16="http://schemas.microsoft.com/office/drawing/2014/main" id="{B9ECAEF2-6BFA-E444-0CDD-23F8399CC179}"/>
              </a:ext>
            </a:extLst>
          </p:cNvPr>
          <p:cNvSpPr txBox="1"/>
          <p:nvPr/>
        </p:nvSpPr>
        <p:spPr>
          <a:xfrm>
            <a:off x="6096000" y="6139308"/>
            <a:ext cx="5670550" cy="600164"/>
          </a:xfrm>
          <a:prstGeom prst="rect">
            <a:avLst/>
          </a:prstGeom>
          <a:solidFill>
            <a:schemeClr val="tx1">
              <a:lumMod val="95000"/>
              <a:lumOff val="5000"/>
            </a:schemeClr>
          </a:solidFill>
          <a:ln>
            <a:solidFill>
              <a:schemeClr val="accent1"/>
            </a:solidFill>
          </a:ln>
          <a:effectLst>
            <a:outerShdw blurRad="50800" dist="38100" dir="2700000" algn="tl" rotWithShape="0">
              <a:prstClr val="black">
                <a:alpha val="40000"/>
              </a:prstClr>
            </a:outerShdw>
          </a:effectLst>
        </p:spPr>
        <p:txBody>
          <a:bodyPr wrap="square">
            <a:spAutoFit/>
          </a:bodyPr>
          <a:lstStyle/>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a:p>
            <a:r>
              <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rPr>
              <a:t>The time is 2026-03-07 09:05:00</a:t>
            </a:r>
          </a:p>
          <a:p>
            <a:endParaRPr lang="en-US" sz="1100">
              <a:solidFill>
                <a:schemeClr val="bg1"/>
              </a:solidFill>
              <a:latin typeface="Cascadia Code Light" panose="020B0609020000020004" pitchFamily="49" charset="0"/>
              <a:ea typeface="Cascadia Code Light" panose="020B0609020000020004" pitchFamily="49" charset="0"/>
              <a:cs typeface="Cascadia Code Light" panose="020B0609020000020004" pitchFamily="49" charset="0"/>
            </a:endParaRPr>
          </a:p>
        </p:txBody>
      </p:sp>
    </p:spTree>
    <p:extLst>
      <p:ext uri="{BB962C8B-B14F-4D97-AF65-F5344CB8AC3E}">
        <p14:creationId xmlns:p14="http://schemas.microsoft.com/office/powerpoint/2010/main" val="1800285234"/>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64CF2-4F24-746C-E7A1-9B98074A608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CCA2E8D-185E-F17B-E808-A06AA711A17E}"/>
              </a:ext>
              <a:ext uri="{C183D7F6-B498-43B3-948B-1728B52AA6E4}">
                <adec:decorative xmlns:adec="http://schemas.microsoft.com/office/drawing/2017/decorative" val="1"/>
              </a:ext>
            </a:extLst>
          </p:cNvPr>
          <p:cNvPicPr>
            <a:picLocks noChangeAspect="1"/>
          </p:cNvPicPr>
          <p:nvPr/>
        </p:nvPicPr>
        <p:blipFill>
          <a:blip r:embed="rId3"/>
          <a:srcRect l="2650" r="2650"/>
          <a:stretch/>
        </p:blipFill>
        <p:spPr>
          <a:xfrm>
            <a:off x="7723991" y="2044700"/>
            <a:ext cx="4468009" cy="3309257"/>
          </a:xfrm>
          <a:prstGeom prst="rect">
            <a:avLst/>
          </a:prstGeom>
        </p:spPr>
      </p:pic>
      <p:sp>
        <p:nvSpPr>
          <p:cNvPr id="5" name="Title 4">
            <a:extLst>
              <a:ext uri="{FF2B5EF4-FFF2-40B4-BE49-F238E27FC236}">
                <a16:creationId xmlns:a16="http://schemas.microsoft.com/office/drawing/2014/main" id="{3E174D0D-55B7-ACAD-8355-409216EEE86F}"/>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778B6FE3-5F96-6B74-0338-D61E69057A37}"/>
              </a:ext>
            </a:extLst>
          </p:cNvPr>
          <p:cNvSpPr>
            <a:spLocks noGrp="1"/>
          </p:cNvSpPr>
          <p:nvPr>
            <p:ph type="body" sz="quarter" idx="16"/>
          </p:nvPr>
        </p:nvSpPr>
        <p:spPr>
          <a:xfrm>
            <a:off x="584199" y="1594155"/>
            <a:ext cx="5654573" cy="609600"/>
          </a:xfrm>
        </p:spPr>
        <p:txBody>
          <a:bodyPr/>
          <a:lstStyle/>
          <a:p>
            <a:r>
              <a:rPr lang="es-ES" sz="2000" b="0" i="0" strike="noStrike" cap="none" baseline="0" dirty="0">
                <a:solidFill>
                  <a:srgbClr val="000000"/>
                </a:solidFill>
                <a:effectLst/>
                <a:latin typeface="Segoe UI Semibold"/>
                <a:ea typeface="Segoe UI Semibold"/>
                <a:cs typeface="Segoe UI Semibold"/>
              </a:rPr>
              <a:t>Creación de una aplicación de chat de IA generativa que use herramientas</a:t>
            </a:r>
          </a:p>
        </p:txBody>
      </p:sp>
      <p:sp>
        <p:nvSpPr>
          <p:cNvPr id="6" name="Text Placeholder 5">
            <a:extLst>
              <a:ext uri="{FF2B5EF4-FFF2-40B4-BE49-F238E27FC236}">
                <a16:creationId xmlns:a16="http://schemas.microsoft.com/office/drawing/2014/main" id="{85C50DC0-85DD-DC54-CB55-C6A40B84BF94}"/>
              </a:ext>
            </a:extLst>
          </p:cNvPr>
          <p:cNvSpPr>
            <a:spLocks noGrp="1"/>
          </p:cNvSpPr>
          <p:nvPr>
            <p:ph type="body" sz="quarter" idx="15"/>
          </p:nvPr>
        </p:nvSpPr>
        <p:spPr>
          <a:xfrm>
            <a:off x="586389" y="2314364"/>
            <a:ext cx="5105751" cy="822960"/>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Experimentar con herramientas en el área de juegos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Crear una aplicación que use herramientas</a:t>
            </a:r>
            <a:endParaRPr lang="en-US" dirty="0"/>
          </a:p>
        </p:txBody>
      </p:sp>
      <p:sp>
        <p:nvSpPr>
          <p:cNvPr id="10" name="TextBox 9">
            <a:extLst>
              <a:ext uri="{FF2B5EF4-FFF2-40B4-BE49-F238E27FC236}">
                <a16:creationId xmlns:a16="http://schemas.microsoft.com/office/drawing/2014/main" id="{EFB7D5B6-D591-49C7-D25A-ECEC9E0CAB39}"/>
              </a:ext>
            </a:extLst>
          </p:cNvPr>
          <p:cNvSpPr txBox="1"/>
          <p:nvPr/>
        </p:nvSpPr>
        <p:spPr>
          <a:xfrm>
            <a:off x="487330" y="3967742"/>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Inicia el ejercicio en:</a:t>
            </a:r>
          </a:p>
          <a:p>
            <a:pPr lvl="0">
              <a:defRPr/>
            </a:pPr>
            <a:r>
              <a:rPr lang="es-ES" sz="1600" b="0" i="0" strike="noStrike" cap="none" baseline="0" dirty="0">
                <a:solidFill>
                  <a:srgbClr val="000000"/>
                </a:solidFill>
                <a:effectLst/>
                <a:latin typeface="Segoe UI"/>
                <a:ea typeface="Segoe UI"/>
                <a:cs typeface="Segoe UI"/>
                <a:hlinkClick r:id="rId4" history="0"/>
              </a:rPr>
              <a:t>https://go.microsoft.com/fwlink/?linkid=2356945</a:t>
            </a:r>
            <a:r>
              <a:rPr lang="es-ES" sz="1600" b="0" i="0" strike="noStrike" cap="none" baseline="0" dirty="0">
                <a:solidFill>
                  <a:srgbClr val="000000"/>
                </a:solidFill>
                <a:effectLst/>
                <a:latin typeface="Segoe UI"/>
                <a:ea typeface="Segoe UI"/>
                <a:cs typeface="Segoe UI"/>
              </a:rPr>
              <a:t> </a:t>
            </a: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66CD48D1-9348-4C8A-76CB-575AAF0D5D5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ACE2BA90-570D-F134-ED45-1DCE174C436F}"/>
              </a:ext>
              <a:ext uri="{C183D7F6-B498-43B3-948B-1728B52AA6E4}">
                <adec:decorative xmlns:adec="http://schemas.microsoft.com/office/drawing/2017/decorative" val="0"/>
              </a:ext>
            </a:extLst>
          </p:cNvPr>
          <p:cNvSpPr/>
          <p:nvPr/>
        </p:nvSpPr>
        <p:spPr bwMode="auto">
          <a:xfrm rot="5400000">
            <a:off x="5960050" y="2617672"/>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00" b="0" i="0" strike="noStrike" cap="none" baseline="0" dirty="0">
                <a:solidFill>
                  <a:srgbClr val="FFFFFF"/>
                </a:solidFill>
                <a:effectLst/>
                <a:latin typeface="Segoe UI"/>
                <a:ea typeface="Segoe UI"/>
                <a:cs typeface="Segoe UI"/>
              </a:rPr>
              <a:t>Personaliza esta diapositiva para incluir el vínculo</a:t>
            </a:r>
            <a:br>
              <a:rPr lang="es-ES" sz="1200" b="0" i="0" strike="noStrike" cap="none" baseline="0" dirty="0">
                <a:solidFill>
                  <a:srgbClr val="FFFFFF"/>
                </a:solidFill>
                <a:effectLst/>
                <a:latin typeface="Segoe UI"/>
                <a:ea typeface="Segoe UI"/>
                <a:cs typeface="Segoe UI"/>
              </a:rPr>
            </a:br>
            <a:r>
              <a:rPr lang="es-ES" sz="120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00" b="0" i="0" strike="noStrike" cap="none" baseline="0" dirty="0">
                <a:solidFill>
                  <a:srgbClr val="FFFFFF"/>
                </a:solidFill>
                <a:effectLst/>
                <a:latin typeface="Segoe UI"/>
                <a:ea typeface="Segoe UI"/>
                <a:cs typeface="Segoe UI"/>
              </a:rPr>
              <a:t>(a continuación, quita esta flecha)</a:t>
            </a:r>
          </a:p>
        </p:txBody>
      </p:sp>
    </p:spTree>
    <p:extLst>
      <p:ext uri="{BB962C8B-B14F-4D97-AF65-F5344CB8AC3E}">
        <p14:creationId xmlns:p14="http://schemas.microsoft.com/office/powerpoint/2010/main" val="253487881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EE4A-59EB-5C4C-C272-2455C39E3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B5146-2304-6E63-78B7-B982ECC7E057}"/>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A21381FA-7356-B336-A844-AF1063D34A8A}"/>
              </a:ext>
            </a:extLst>
          </p:cNvPr>
          <p:cNvSpPr>
            <a:spLocks noGrp="1"/>
          </p:cNvSpPr>
          <p:nvPr>
            <p:ph type="body" sz="quarter" idx="17"/>
          </p:nvPr>
        </p:nvSpPr>
        <p:spPr>
          <a:xfrm>
            <a:off x="1235074" y="1766085"/>
            <a:ext cx="8867775" cy="426720"/>
          </a:xfrm>
        </p:spPr>
        <p:txBody>
          <a:bodyPr/>
          <a:lstStyle/>
          <a:p>
            <a:r>
              <a:rPr lang="es-ES" sz="1400" b="1" i="0" strike="noStrike" cap="none" baseline="0">
                <a:solidFill>
                  <a:srgbClr val="000000"/>
                </a:solidFill>
                <a:effectLst/>
                <a:latin typeface="Segoe UI Semibold"/>
                <a:ea typeface="Segoe UI Semibold"/>
                <a:cs typeface="Segoe UI Semibold"/>
              </a:rPr>
              <a:t>¿Qué herramienta deberías usar cuando un modelo necesite responder a preguntas de tus propios documentos de directiva cargados?</a:t>
            </a:r>
          </a:p>
        </p:txBody>
      </p:sp>
      <p:sp>
        <p:nvSpPr>
          <p:cNvPr id="9" name="Text Placeholder 8">
            <a:extLst>
              <a:ext uri="{FF2B5EF4-FFF2-40B4-BE49-F238E27FC236}">
                <a16:creationId xmlns:a16="http://schemas.microsoft.com/office/drawing/2014/main" id="{1269CCDE-0C66-539F-D148-47739BE7FA7C}"/>
              </a:ext>
            </a:extLst>
          </p:cNvPr>
          <p:cNvSpPr>
            <a:spLocks noGrp="1"/>
          </p:cNvSpPr>
          <p:nvPr>
            <p:ph type="body" sz="quarter" idx="15"/>
          </p:nvPr>
        </p:nvSpPr>
        <p:spPr>
          <a:xfrm>
            <a:off x="1235075" y="2198348"/>
            <a:ext cx="8775098" cy="725424"/>
          </a:xfrm>
          <a:noFill/>
        </p:spPr>
        <p:txBody>
          <a:bodyPr/>
          <a:lstStyle/>
          <a:p>
            <a:r>
              <a:rPr lang="es-ES" sz="1400" b="0" i="0" strike="noStrike" cap="none" baseline="0">
                <a:solidFill>
                  <a:srgbClr val="000000"/>
                </a:solidFill>
                <a:effectLst/>
                <a:latin typeface="Segoe UI"/>
                <a:ea typeface="Segoe UI"/>
                <a:cs typeface="Segoe UI"/>
              </a:rPr>
              <a:t>web_search</a:t>
            </a:r>
            <a:endParaRPr lang="en-US" noProof="0"/>
          </a:p>
          <a:p>
            <a:r>
              <a:rPr lang="es-ES" sz="1400" b="0" i="0" strike="noStrike" cap="none" baseline="0">
                <a:solidFill>
                  <a:srgbClr val="000000"/>
                </a:solidFill>
                <a:effectLst/>
                <a:latin typeface="Segoe UI"/>
                <a:ea typeface="Segoe UI"/>
                <a:cs typeface="Segoe UI"/>
              </a:rPr>
              <a:t>file_search</a:t>
            </a:r>
            <a:endParaRPr lang="en-US" noProof="0"/>
          </a:p>
          <a:p>
            <a:r>
              <a:rPr lang="es-ES" sz="1400" b="0" i="0" strike="noStrike" cap="none" baseline="0">
                <a:solidFill>
                  <a:srgbClr val="000000"/>
                </a:solidFill>
                <a:effectLst/>
                <a:latin typeface="Segoe UI"/>
                <a:ea typeface="Segoe UI"/>
                <a:cs typeface="Segoe UI"/>
              </a:rPr>
              <a:t>code_interpreter</a:t>
            </a:r>
            <a:endParaRPr lang="en-US" noProof="0"/>
          </a:p>
        </p:txBody>
      </p:sp>
      <p:sp>
        <p:nvSpPr>
          <p:cNvPr id="18" name="Text Placeholder 17">
            <a:extLst>
              <a:ext uri="{FF2B5EF4-FFF2-40B4-BE49-F238E27FC236}">
                <a16:creationId xmlns:a16="http://schemas.microsoft.com/office/drawing/2014/main" id="{F27B3A54-6BEA-7A85-A06A-C76D6603903E}"/>
              </a:ext>
            </a:extLst>
          </p:cNvPr>
          <p:cNvSpPr>
            <a:spLocks noGrp="1"/>
          </p:cNvSpPr>
          <p:nvPr>
            <p:ph type="body" sz="quarter" idx="22"/>
          </p:nvPr>
        </p:nvSpPr>
        <p:spPr>
          <a:xfrm>
            <a:off x="1235075" y="3139966"/>
            <a:ext cx="8778782" cy="426720"/>
          </a:xfrm>
        </p:spPr>
        <p:txBody>
          <a:bodyPr/>
          <a:lstStyle/>
          <a:p>
            <a:r>
              <a:rPr lang="es-ES" sz="1400" b="0" i="0" strike="noStrike" cap="none" baseline="0" dirty="0">
                <a:solidFill>
                  <a:srgbClr val="000000"/>
                </a:solidFill>
                <a:effectLst/>
                <a:latin typeface="Segoe UI Semibold"/>
                <a:ea typeface="Segoe UI Semibold"/>
                <a:cs typeface="Segoe UI Semibold"/>
              </a:rPr>
              <a:t>En un flujo de trabajo de llamada a funciones, ¿qué debería hacer la aplicación después de que el modelo devuelva un elemento de </a:t>
            </a:r>
            <a:r>
              <a:rPr lang="es-ES" sz="1400" b="0" i="0" strike="noStrike" cap="none" baseline="0" dirty="0" err="1">
                <a:solidFill>
                  <a:srgbClr val="000000"/>
                </a:solidFill>
                <a:effectLst/>
                <a:latin typeface="Segoe UI Semibold"/>
                <a:ea typeface="Segoe UI Semibold"/>
                <a:cs typeface="Segoe UI Semibold"/>
              </a:rPr>
              <a:t>function_call</a:t>
            </a:r>
            <a:r>
              <a:rPr lang="es-ES" sz="1400" b="0" i="0" strike="noStrike" cap="none" baseline="0" dirty="0">
                <a:solidFill>
                  <a:srgbClr val="000000"/>
                </a:solidFill>
                <a:effectLst/>
                <a:latin typeface="Segoe UI Semibold"/>
                <a:ea typeface="Segoe UI Semibold"/>
                <a:cs typeface="Segoe UI Semibold"/>
              </a:rPr>
              <a:t>?</a:t>
            </a:r>
          </a:p>
        </p:txBody>
      </p:sp>
      <p:sp>
        <p:nvSpPr>
          <p:cNvPr id="19" name="Text Placeholder 18">
            <a:extLst>
              <a:ext uri="{FF2B5EF4-FFF2-40B4-BE49-F238E27FC236}">
                <a16:creationId xmlns:a16="http://schemas.microsoft.com/office/drawing/2014/main" id="{411F5F2D-0312-1EA7-60A1-97D285035407}"/>
              </a:ext>
            </a:extLst>
          </p:cNvPr>
          <p:cNvSpPr>
            <a:spLocks noGrp="1"/>
          </p:cNvSpPr>
          <p:nvPr>
            <p:ph type="body" sz="quarter" idx="23"/>
          </p:nvPr>
        </p:nvSpPr>
        <p:spPr>
          <a:xfrm>
            <a:off x="1235074" y="3592289"/>
            <a:ext cx="8775098" cy="725424"/>
          </a:xfrm>
        </p:spPr>
        <p:txBody>
          <a:bodyPr/>
          <a:lstStyle/>
          <a:p>
            <a:r>
              <a:rPr lang="es-ES" sz="1400" b="0" i="0" strike="noStrike" cap="none" baseline="0" dirty="0">
                <a:solidFill>
                  <a:srgbClr val="000000"/>
                </a:solidFill>
                <a:effectLst/>
                <a:latin typeface="Segoe UI"/>
                <a:ea typeface="Segoe UI"/>
                <a:cs typeface="Segoe UI"/>
              </a:rPr>
              <a:t>Espera a que el modelo ejecute de forma automática la función</a:t>
            </a:r>
          </a:p>
          <a:p>
            <a:r>
              <a:rPr lang="es-ES" sz="1400" b="0" i="0" strike="noStrike" cap="none" baseline="0" dirty="0">
                <a:solidFill>
                  <a:srgbClr val="000000"/>
                </a:solidFill>
                <a:effectLst/>
                <a:latin typeface="Segoe UI"/>
                <a:ea typeface="Segoe UI"/>
                <a:cs typeface="Segoe UI"/>
              </a:rPr>
              <a:t>Ejecuta la función en el código y envía un </a:t>
            </a:r>
            <a:r>
              <a:rPr lang="es-ES" sz="1400" b="0" i="0" strike="noStrike" cap="none" baseline="0" dirty="0" err="1">
                <a:solidFill>
                  <a:srgbClr val="000000"/>
                </a:solidFill>
                <a:effectLst/>
                <a:latin typeface="Segoe UI"/>
                <a:ea typeface="Segoe UI"/>
                <a:cs typeface="Segoe UI"/>
              </a:rPr>
              <a:t>function_call_output</a:t>
            </a:r>
            <a:r>
              <a:rPr lang="es-ES" sz="1400" b="0" i="0" strike="noStrike" cap="none" baseline="0" dirty="0">
                <a:solidFill>
                  <a:srgbClr val="000000"/>
                </a:solidFill>
                <a:effectLst/>
                <a:latin typeface="Segoe UI"/>
                <a:ea typeface="Segoe UI"/>
                <a:cs typeface="Segoe UI"/>
              </a:rPr>
              <a:t> de nuevo al modelo.</a:t>
            </a:r>
          </a:p>
          <a:p>
            <a:r>
              <a:rPr lang="es-ES" sz="1400" b="0" i="0" strike="noStrike" cap="none" baseline="0" dirty="0">
                <a:solidFill>
                  <a:srgbClr val="000000"/>
                </a:solidFill>
                <a:effectLst/>
                <a:latin typeface="Segoe UI"/>
                <a:ea typeface="Segoe UI"/>
                <a:cs typeface="Segoe UI"/>
              </a:rPr>
              <a:t>Convertir la llamada de función en una solicitud de </a:t>
            </a:r>
            <a:r>
              <a:rPr lang="es-ES" sz="1400" b="0" i="0" strike="noStrike" cap="none" baseline="0" dirty="0" err="1">
                <a:solidFill>
                  <a:srgbClr val="000000"/>
                </a:solidFill>
                <a:effectLst/>
                <a:latin typeface="Segoe UI"/>
                <a:ea typeface="Segoe UI"/>
                <a:cs typeface="Segoe UI"/>
              </a:rPr>
              <a:t>web_search</a:t>
            </a:r>
            <a:endParaRPr lang="es-ES" sz="1400" b="0" i="0" strike="noStrike" cap="none" baseline="0" dirty="0">
              <a:solidFill>
                <a:srgbClr val="000000"/>
              </a:solidFill>
              <a:effectLst/>
              <a:latin typeface="Segoe UI"/>
              <a:ea typeface="Segoe UI"/>
              <a:cs typeface="Segoe UI"/>
            </a:endParaRPr>
          </a:p>
        </p:txBody>
      </p:sp>
      <p:sp>
        <p:nvSpPr>
          <p:cNvPr id="76" name="Oval 75">
            <a:extLst>
              <a:ext uri="{FF2B5EF4-FFF2-40B4-BE49-F238E27FC236}">
                <a16:creationId xmlns:a16="http://schemas.microsoft.com/office/drawing/2014/main" id="{90FE9CE8-8AE4-DF8A-85D8-A4B5ED0391D2}"/>
              </a:ext>
              <a:ext uri="{C183D7F6-B498-43B3-948B-1728B52AA6E4}">
                <adec:decorative xmlns:adec="http://schemas.microsoft.com/office/drawing/2017/decorative" val="1"/>
              </a:ext>
            </a:extLst>
          </p:cNvPr>
          <p:cNvSpPr/>
          <p:nvPr/>
        </p:nvSpPr>
        <p:spPr bwMode="auto">
          <a:xfrm>
            <a:off x="722582" y="17361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559477CC-0C47-E008-F382-479C239551C9}"/>
              </a:ext>
              <a:ext uri="{C183D7F6-B498-43B3-948B-1728B52AA6E4}">
                <adec:decorative xmlns:adec="http://schemas.microsoft.com/office/drawing/2017/decorative" val="1"/>
              </a:ext>
            </a:extLst>
          </p:cNvPr>
          <p:cNvSpPr/>
          <p:nvPr/>
        </p:nvSpPr>
        <p:spPr bwMode="auto">
          <a:xfrm>
            <a:off x="722582" y="31404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86850359-2A5A-4DD2-545C-AEDACFD7AA45}"/>
              </a:ext>
              <a:ext uri="{C183D7F6-B498-43B3-948B-1728B52AA6E4}">
                <adec:decorative xmlns:adec="http://schemas.microsoft.com/office/drawing/2017/decorative" val="1"/>
              </a:ext>
            </a:extLst>
          </p:cNvPr>
          <p:cNvSpPr/>
          <p:nvPr/>
        </p:nvSpPr>
        <p:spPr>
          <a:xfrm>
            <a:off x="1263852" y="3878338"/>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7FC07E89-3603-5FF0-4A3B-256ABD233A72}"/>
              </a:ext>
              <a:ext uri="{C183D7F6-B498-43B3-948B-1728B52AA6E4}">
                <adec:decorative xmlns:adec="http://schemas.microsoft.com/office/drawing/2017/decorative" val="1"/>
              </a:ext>
            </a:extLst>
          </p:cNvPr>
          <p:cNvSpPr/>
          <p:nvPr/>
        </p:nvSpPr>
        <p:spPr>
          <a:xfrm>
            <a:off x="1263852" y="24894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A969DBF7-B870-653D-C648-ED00A42131D7}"/>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Text Placeholder 27">
            <a:extLst>
              <a:ext uri="{FF2B5EF4-FFF2-40B4-BE49-F238E27FC236}">
                <a16:creationId xmlns:a16="http://schemas.microsoft.com/office/drawing/2014/main" id="{B598AE3B-E1E8-A076-DC9D-DC12D36E09F5}"/>
              </a:ext>
            </a:extLst>
          </p:cNvPr>
          <p:cNvSpPr>
            <a:spLocks noGrp="1"/>
          </p:cNvSpPr>
          <p:nvPr>
            <p:ph type="body" sz="quarter" idx="20"/>
          </p:nvPr>
        </p:nvSpPr>
        <p:spPr>
          <a:xfrm>
            <a:off x="1235075" y="452671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instrucción sobre la herramienta de code_interpreter es correcta?</a:t>
            </a:r>
          </a:p>
        </p:txBody>
      </p:sp>
      <p:sp>
        <p:nvSpPr>
          <p:cNvPr id="6" name="Text Placeholder 28">
            <a:extLst>
              <a:ext uri="{FF2B5EF4-FFF2-40B4-BE49-F238E27FC236}">
                <a16:creationId xmlns:a16="http://schemas.microsoft.com/office/drawing/2014/main" id="{540EDA7E-EB36-D37C-C761-646333986FFD}"/>
              </a:ext>
            </a:extLst>
          </p:cNvPr>
          <p:cNvSpPr>
            <a:spLocks noGrp="1"/>
          </p:cNvSpPr>
          <p:nvPr>
            <p:ph type="body" sz="quarter" idx="21"/>
          </p:nvPr>
        </p:nvSpPr>
        <p:spPr>
          <a:xfrm>
            <a:off x="1235074" y="4821235"/>
            <a:ext cx="9191625" cy="938784"/>
          </a:xfrm>
        </p:spPr>
        <p:txBody>
          <a:bodyPr/>
          <a:lstStyle/>
          <a:p>
            <a:r>
              <a:rPr lang="es-ES" sz="1400" b="0" i="0" strike="noStrike" cap="none" baseline="0" dirty="0">
                <a:solidFill>
                  <a:srgbClr val="000000"/>
                </a:solidFill>
                <a:effectLst/>
                <a:latin typeface="Segoe UI"/>
                <a:ea typeface="Segoe UI"/>
                <a:cs typeface="Segoe UI"/>
              </a:rPr>
              <a:t>Puede ejecutar código de Python en un entorno de ejecución de espacio aislado para ayudar a resolver tareas</a:t>
            </a:r>
          </a:p>
          <a:p>
            <a:r>
              <a:rPr lang="es-ES" sz="1400" b="0" i="0" strike="noStrike" cap="none" baseline="0" dirty="0">
                <a:solidFill>
                  <a:srgbClr val="000000"/>
                </a:solidFill>
                <a:effectLst/>
                <a:latin typeface="Segoe UI"/>
                <a:ea typeface="Segoe UI"/>
                <a:cs typeface="Segoe UI"/>
              </a:rPr>
              <a:t>Puede examinar sitios web externos directamente durante la ejecución del código</a:t>
            </a:r>
          </a:p>
          <a:p>
            <a:r>
              <a:rPr lang="es-ES" sz="1400" b="0" i="0" strike="noStrike" cap="none" baseline="0" dirty="0">
                <a:solidFill>
                  <a:srgbClr val="000000"/>
                </a:solidFill>
                <a:effectLst/>
                <a:latin typeface="Segoe UI"/>
                <a:ea typeface="Segoe UI"/>
                <a:cs typeface="Segoe UI"/>
              </a:rPr>
              <a:t>Solo admite cargas de archivos y no puede realizar cálculos</a:t>
            </a:r>
          </a:p>
        </p:txBody>
      </p:sp>
      <p:sp>
        <p:nvSpPr>
          <p:cNvPr id="7" name="Graphic 26" descr="Checkmark">
            <a:extLst>
              <a:ext uri="{FF2B5EF4-FFF2-40B4-BE49-F238E27FC236}">
                <a16:creationId xmlns:a16="http://schemas.microsoft.com/office/drawing/2014/main" id="{ABD48ABB-EB17-B754-ED38-844E6524E637}"/>
              </a:ext>
            </a:extLst>
          </p:cNvPr>
          <p:cNvSpPr/>
          <p:nvPr/>
        </p:nvSpPr>
        <p:spPr>
          <a:xfrm>
            <a:off x="1265523" y="486845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7A7A5E6C-1755-13F2-3C82-0B0346069FA1}"/>
              </a:ext>
              <a:ext uri="{C183D7F6-B498-43B3-948B-1728B52AA6E4}">
                <adec:decorative xmlns:adec="http://schemas.microsoft.com/office/drawing/2017/decorative" val="1"/>
              </a:ext>
            </a:extLst>
          </p:cNvPr>
          <p:cNvSpPr/>
          <p:nvPr/>
        </p:nvSpPr>
        <p:spPr bwMode="auto">
          <a:xfrm>
            <a:off x="722582" y="447645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2318091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D50B-D26B-8B16-EB35-09D0AF52B8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BAF91-AFF1-7645-2919-FD94289C0094}"/>
              </a:ext>
            </a:extLst>
          </p:cNvPr>
          <p:cNvSpPr>
            <a:spLocks noGrp="1"/>
          </p:cNvSpPr>
          <p:nvPr>
            <p:ph type="title"/>
          </p:nvPr>
        </p:nvSpPr>
        <p:spPr>
          <a:xfrm>
            <a:off x="430211" y="2171363"/>
            <a:ext cx="8167689" cy="1828800"/>
          </a:xfrm>
        </p:spPr>
        <p:txBody>
          <a:bodyPr/>
          <a:lstStyle/>
          <a:p>
            <a:r>
              <a:rPr lang="es-ES" sz="4000" b="0" i="0" strike="noStrike" cap="none" baseline="0" dirty="0">
                <a:solidFill>
                  <a:srgbClr val="000000"/>
                </a:solidFill>
                <a:effectLst/>
                <a:latin typeface="Segoe UI"/>
                <a:ea typeface="Segoe UI"/>
                <a:cs typeface="Segoe UI"/>
              </a:rPr>
              <a:t>Optimización del rendimiento</a:t>
            </a:r>
            <a:br>
              <a:rPr lang="es-ES" sz="4000" b="0" i="0" strike="noStrike" cap="none" baseline="0" dirty="0">
                <a:solidFill>
                  <a:srgbClr val="000000"/>
                </a:solidFill>
                <a:effectLst/>
                <a:latin typeface="Segoe UI"/>
                <a:ea typeface="Segoe UI"/>
                <a:cs typeface="Segoe UI"/>
              </a:rPr>
            </a:br>
            <a:r>
              <a:rPr lang="es-ES" sz="4000" b="0" i="0" strike="noStrike" cap="none" baseline="0" dirty="0">
                <a:solidFill>
                  <a:srgbClr val="000000"/>
                </a:solidFill>
                <a:effectLst/>
                <a:latin typeface="Segoe UI"/>
                <a:ea typeface="Segoe UI"/>
                <a:cs typeface="Segoe UI"/>
              </a:rPr>
              <a:t>del modelo de IA generativa</a:t>
            </a:r>
            <a:br>
              <a:rPr lang="es-ES" sz="4000" b="0" i="0" strike="noStrike" cap="none" baseline="0" dirty="0">
                <a:solidFill>
                  <a:srgbClr val="000000"/>
                </a:solidFill>
                <a:effectLst/>
                <a:latin typeface="Segoe UI"/>
                <a:ea typeface="Segoe UI"/>
                <a:cs typeface="Segoe UI"/>
              </a:rPr>
            </a:br>
            <a:r>
              <a:rPr lang="es-ES" sz="4000" b="0" i="0" strike="noStrike" cap="none" baseline="0" dirty="0">
                <a:solidFill>
                  <a:srgbClr val="000000"/>
                </a:solidFill>
                <a:effectLst/>
                <a:latin typeface="Segoe UI"/>
                <a:ea typeface="Segoe UI"/>
                <a:cs typeface="Segoe UI"/>
              </a:rPr>
              <a:t>con Microsoft </a:t>
            </a:r>
            <a:r>
              <a:rPr lang="es-ES" sz="4000" b="0" i="0" strike="noStrike" cap="none" baseline="0" dirty="0" err="1">
                <a:solidFill>
                  <a:srgbClr val="000000"/>
                </a:solidFill>
                <a:effectLst/>
                <a:latin typeface="Segoe UI"/>
                <a:ea typeface="Segoe UI"/>
                <a:cs typeface="Segoe UI"/>
              </a:rPr>
              <a:t>Foundry</a:t>
            </a:r>
            <a:endParaRPr lang="es-ES" sz="4000" b="0" i="0" strike="noStrike" cap="none" baseline="0" dirty="0">
              <a:solidFill>
                <a:srgbClr val="000000"/>
              </a:solidFill>
              <a:effectLst/>
              <a:latin typeface="Segoe UI"/>
              <a:ea typeface="Segoe UI"/>
              <a:cs typeface="Segoe UI"/>
            </a:endParaRPr>
          </a:p>
        </p:txBody>
      </p:sp>
      <p:sp>
        <p:nvSpPr>
          <p:cNvPr id="4" name="TextBox 3">
            <a:extLst>
              <a:ext uri="{FF2B5EF4-FFF2-40B4-BE49-F238E27FC236}">
                <a16:creationId xmlns:a16="http://schemas.microsoft.com/office/drawing/2014/main" id="{7ABC232D-C76C-720A-C3AB-DB35F34AF8A7}"/>
              </a:ext>
            </a:extLst>
          </p:cNvPr>
          <p:cNvSpPr txBox="1"/>
          <p:nvPr/>
        </p:nvSpPr>
        <p:spPr>
          <a:xfrm>
            <a:off x="338771" y="4000163"/>
            <a:ext cx="4596449" cy="629412"/>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https://aka.ms/mslearn-optimize-models</a:t>
            </a:r>
          </a:p>
        </p:txBody>
      </p:sp>
    </p:spTree>
    <p:extLst>
      <p:ext uri="{BB962C8B-B14F-4D97-AF65-F5344CB8AC3E}">
        <p14:creationId xmlns:p14="http://schemas.microsoft.com/office/powerpoint/2010/main" val="25857470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Optimización del rendimiento del modelo</a:t>
            </a:r>
          </a:p>
        </p:txBody>
      </p:sp>
      <p:sp>
        <p:nvSpPr>
          <p:cNvPr id="21" name="TextBox 20">
            <a:extLst>
              <a:ext uri="{FF2B5EF4-FFF2-40B4-BE49-F238E27FC236}">
                <a16:creationId xmlns:a16="http://schemas.microsoft.com/office/drawing/2014/main" id="{C006003A-5499-E35F-5034-91F447252954}"/>
              </a:ext>
            </a:extLst>
          </p:cNvPr>
          <p:cNvSpPr txBox="1"/>
          <p:nvPr/>
        </p:nvSpPr>
        <p:spPr>
          <a:xfrm>
            <a:off x="413558" y="1731351"/>
            <a:ext cx="8603133" cy="701040"/>
          </a:xfrm>
          <a:prstGeom prst="rect">
            <a:avLst/>
          </a:prstGeom>
          <a:noFill/>
        </p:spPr>
        <p:txBody>
          <a:bodyPr wrap="square">
            <a:spAutoFit/>
          </a:bodyPr>
          <a:lstStyle/>
          <a:p>
            <a:pPr marL="0" marR="0" lvl="0" indent="0" algn="l" defTabSz="932742" rtl="0" eaLnBrk="1" fontAlgn="auto" latinLnBrk="0" hangingPunct="1">
              <a:lnSpc>
                <a:spcPct val="100000"/>
              </a:lnSpc>
              <a:spcBef>
                <a:spcPct val="20000"/>
              </a:spcBef>
              <a:spcAft>
                <a:spcPct val="0"/>
              </a:spcAft>
              <a:buClrTx/>
              <a:buSzPct val="90000"/>
              <a:buFont typeface="Arial" panose="020B0604020202020204" pitchFamily="34" charset="0"/>
              <a:buNone/>
              <a:defRPr/>
            </a:pPr>
            <a:r>
              <a:rPr lang="es-ES" sz="2000" b="0" i="0" strike="noStrike" cap="none" baseline="0">
                <a:solidFill>
                  <a:srgbClr val="000000"/>
                </a:solidFill>
                <a:effectLst/>
                <a:latin typeface="Segoe UI"/>
                <a:ea typeface="Segoe UI"/>
                <a:cs typeface="Segoe UI"/>
              </a:rPr>
              <a:t>La elección de estrategia de optimización dependerá de tus requisitos:</a:t>
            </a:r>
          </a:p>
        </p:txBody>
      </p:sp>
      <p:sp>
        <p:nvSpPr>
          <p:cNvPr id="17" name="Text Placeholder 10">
            <a:extLst>
              <a:ext uri="{FF2B5EF4-FFF2-40B4-BE49-F238E27FC236}">
                <a16:creationId xmlns:a16="http://schemas.microsoft.com/office/drawing/2014/main" id="{4DBC20B1-7F63-8CD2-7739-D21E678E0D77}"/>
              </a:ext>
            </a:extLst>
          </p:cNvPr>
          <p:cNvSpPr>
            <a:spLocks noGrp="1"/>
          </p:cNvSpPr>
          <p:nvPr>
            <p:ph type="body" sz="quarter" idx="15"/>
          </p:nvPr>
        </p:nvSpPr>
        <p:spPr>
          <a:xfrm>
            <a:off x="574443" y="2131461"/>
            <a:ext cx="3764733" cy="3385542"/>
          </a:xfrm>
        </p:spPr>
        <p:txBody>
          <a:bodyPr/>
          <a:lstStyle/>
          <a:p>
            <a:pPr marL="0" indent="0">
              <a:buNone/>
            </a:pPr>
            <a:endParaRPr lang="en-US" sz="2000" noProof="0" dirty="0"/>
          </a:p>
          <a:p>
            <a:pPr>
              <a:spcBef>
                <a:spcPts val="1200"/>
              </a:spcBef>
            </a:pPr>
            <a:r>
              <a:rPr lang="es-ES" sz="1800" b="1" i="0" strike="noStrike" cap="none" baseline="0" dirty="0">
                <a:solidFill>
                  <a:srgbClr val="000000"/>
                </a:solidFill>
                <a:effectLst/>
                <a:latin typeface="Segoe UI"/>
                <a:ea typeface="Segoe UI"/>
                <a:cs typeface="Segoe UI"/>
              </a:rPr>
              <a:t>Optimiza para obtener el </a:t>
            </a:r>
            <a:r>
              <a:rPr lang="es-ES" sz="1800" b="1" i="1" strike="noStrike" cap="none" baseline="0" dirty="0" err="1">
                <a:solidFill>
                  <a:srgbClr val="000000"/>
                </a:solidFill>
                <a:effectLst/>
                <a:latin typeface="Segoe UI"/>
                <a:ea typeface="Segoe UI"/>
                <a:cs typeface="Segoe UI"/>
              </a:rPr>
              <a:t>contexto</a:t>
            </a:r>
            <a:r>
              <a:rPr lang="es-ES" sz="1800" b="0" i="0" strike="noStrike" cap="none" baseline="0" dirty="0" err="1">
                <a:solidFill>
                  <a:srgbClr val="000000"/>
                </a:solidFill>
                <a:effectLst/>
                <a:latin typeface="Segoe UI"/>
                <a:ea typeface="Segoe UI"/>
                <a:cs typeface="Segoe UI"/>
              </a:rPr>
              <a:t>cuando</a:t>
            </a:r>
            <a:r>
              <a:rPr lang="es-ES" sz="1800" b="0" i="0" strike="noStrike" cap="none" baseline="0" dirty="0">
                <a:solidFill>
                  <a:srgbClr val="000000"/>
                </a:solidFill>
                <a:effectLst/>
                <a:latin typeface="Segoe UI"/>
                <a:ea typeface="Segoe UI"/>
                <a:cs typeface="Segoe UI"/>
              </a:rPr>
              <a:t> el modelo carezca de conocimientos contextuales</a:t>
            </a:r>
            <a:br>
              <a:rPr lang="es-ES" sz="1800" b="0" i="0" strike="noStrike" cap="none" baseline="0" dirty="0">
                <a:solidFill>
                  <a:srgbClr val="000000"/>
                </a:solidFill>
                <a:effectLst/>
                <a:latin typeface="Segoe UI"/>
                <a:ea typeface="Segoe UI"/>
                <a:cs typeface="Segoe UI"/>
              </a:rPr>
            </a:br>
            <a:r>
              <a:rPr lang="es-ES" sz="1800" b="0" i="0" strike="noStrike" cap="none" baseline="0" dirty="0">
                <a:solidFill>
                  <a:srgbClr val="000000"/>
                </a:solidFill>
                <a:effectLst/>
                <a:latin typeface="Segoe UI"/>
                <a:ea typeface="Segoe UI"/>
                <a:cs typeface="Segoe UI"/>
              </a:rPr>
              <a:t>y quieras </a:t>
            </a:r>
            <a:r>
              <a:rPr lang="es-ES" sz="1800" b="1" i="0" strike="noStrike" cap="none" baseline="0" dirty="0">
                <a:solidFill>
                  <a:srgbClr val="000000"/>
                </a:solidFill>
                <a:effectLst/>
                <a:latin typeface="Segoe UI"/>
                <a:ea typeface="Segoe UI"/>
                <a:cs typeface="Segoe UI"/>
              </a:rPr>
              <a:t>maximizar la precisión de la respuesta</a:t>
            </a:r>
            <a:endParaRPr lang="en-US" sz="1800" noProof="0" dirty="0"/>
          </a:p>
          <a:p>
            <a:pPr>
              <a:spcBef>
                <a:spcPts val="1200"/>
              </a:spcBef>
            </a:pPr>
            <a:r>
              <a:rPr lang="es-ES" sz="1800" b="1" i="0" strike="noStrike" cap="none" baseline="0" dirty="0">
                <a:solidFill>
                  <a:srgbClr val="000000"/>
                </a:solidFill>
                <a:effectLst/>
                <a:latin typeface="Segoe UI"/>
                <a:ea typeface="Segoe UI"/>
                <a:cs typeface="Segoe UI"/>
              </a:rPr>
              <a:t>Optimiza el </a:t>
            </a:r>
            <a:r>
              <a:rPr lang="es-ES" sz="1800" b="1" i="1" strike="noStrike" cap="none" baseline="0" dirty="0" err="1">
                <a:solidFill>
                  <a:srgbClr val="000000"/>
                </a:solidFill>
                <a:effectLst/>
                <a:latin typeface="Segoe UI"/>
                <a:ea typeface="Segoe UI"/>
                <a:cs typeface="Segoe UI"/>
              </a:rPr>
              <a:t>modelo</a:t>
            </a:r>
            <a:r>
              <a:rPr lang="es-ES" sz="1800" b="0" i="0" strike="noStrike" cap="none" baseline="0" dirty="0" err="1">
                <a:solidFill>
                  <a:srgbClr val="000000"/>
                </a:solidFill>
                <a:effectLst/>
                <a:latin typeface="Segoe UI"/>
                <a:ea typeface="Segoe UI"/>
                <a:cs typeface="Segoe UI"/>
              </a:rPr>
              <a:t>cuando</a:t>
            </a:r>
            <a:r>
              <a:rPr lang="es-ES" sz="1800" b="0" i="0" strike="noStrike" cap="none" baseline="0" dirty="0">
                <a:solidFill>
                  <a:srgbClr val="000000"/>
                </a:solidFill>
                <a:effectLst/>
                <a:latin typeface="Segoe UI"/>
                <a:ea typeface="Segoe UI"/>
                <a:cs typeface="Segoe UI"/>
              </a:rPr>
              <a:t> quieras mejorar el formato de respuesta, el estilo o el discurso mediante la </a:t>
            </a:r>
            <a:r>
              <a:rPr lang="es-ES" sz="1800" b="1" i="0" strike="noStrike" cap="none" baseline="0" dirty="0">
                <a:solidFill>
                  <a:srgbClr val="000000"/>
                </a:solidFill>
                <a:effectLst/>
                <a:latin typeface="Segoe UI"/>
                <a:ea typeface="Segoe UI"/>
                <a:cs typeface="Segoe UI"/>
              </a:rPr>
              <a:t>maximización de la coherencia del comportamiento</a:t>
            </a:r>
            <a:endParaRPr lang="en-US" sz="1800" noProof="0" dirty="0"/>
          </a:p>
        </p:txBody>
      </p:sp>
      <p:grpSp>
        <p:nvGrpSpPr>
          <p:cNvPr id="22" name="Group 21" descr="Diagram showing model optimization strategies, including prompt engineering, retrieval augmented generation (RAG), fine-tuning, and a combination of all three.">
            <a:extLst>
              <a:ext uri="{FF2B5EF4-FFF2-40B4-BE49-F238E27FC236}">
                <a16:creationId xmlns:a16="http://schemas.microsoft.com/office/drawing/2014/main" id="{7C763600-BA97-7A28-A421-332831A8FD6A}"/>
              </a:ext>
            </a:extLst>
          </p:cNvPr>
          <p:cNvGrpSpPr/>
          <p:nvPr/>
        </p:nvGrpSpPr>
        <p:grpSpPr>
          <a:xfrm>
            <a:off x="4730750" y="2439237"/>
            <a:ext cx="6912767" cy="4105388"/>
            <a:chOff x="4442414" y="1812173"/>
            <a:chExt cx="6912767" cy="4105388"/>
          </a:xfrm>
        </p:grpSpPr>
        <p:sp>
          <p:nvSpPr>
            <p:cNvPr id="5" name="TextBox 4">
              <a:extLst>
                <a:ext uri="{FF2B5EF4-FFF2-40B4-BE49-F238E27FC236}">
                  <a16:creationId xmlns:a16="http://schemas.microsoft.com/office/drawing/2014/main" id="{0AA19C4A-03FF-E693-8FD2-DDA1BD64458B}"/>
                </a:ext>
                <a:ext uri="{C183D7F6-B498-43B3-948B-1728B52AA6E4}">
                  <adec:decorative xmlns:adec="http://schemas.microsoft.com/office/drawing/2017/decorative" val="1"/>
                </a:ext>
              </a:extLst>
            </p:cNvPr>
            <p:cNvSpPr txBox="1"/>
            <p:nvPr/>
          </p:nvSpPr>
          <p:spPr>
            <a:xfrm>
              <a:off x="4442414" y="3267039"/>
              <a:ext cx="1250353" cy="861774"/>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Optimización del contexto</a:t>
              </a:r>
            </a:p>
            <a:p>
              <a:pPr marL="0" marR="0" lvl="0" indent="0" algn="ctr" defTabSz="914367" rtl="0" eaLnBrk="1" fontAlgn="auto" latinLnBrk="0" hangingPunct="1">
                <a:lnSpc>
                  <a:spcPct val="100000"/>
                </a:lnSpc>
                <a:spcBef>
                  <a:spcPct val="0"/>
                </a:spcBef>
                <a:spcAft>
                  <a:spcPct val="0"/>
                </a:spcAft>
                <a:buClrTx/>
                <a:buSzTx/>
                <a:buFontTx/>
                <a:buNone/>
                <a:defRPr/>
              </a:pPr>
              <a:r>
                <a:rPr lang="es-ES" sz="1300" b="0" i="1" strike="noStrike" cap="none" baseline="0" dirty="0">
                  <a:solidFill>
                    <a:srgbClr val="000000"/>
                  </a:solidFill>
                  <a:effectLst/>
                  <a:latin typeface="Segoe UI"/>
                  <a:ea typeface="Segoe UI"/>
                  <a:cs typeface="Segoe UI"/>
                </a:rPr>
                <a:t>Qué necesita saber el modelo</a:t>
              </a:r>
            </a:p>
          </p:txBody>
        </p:sp>
        <p:cxnSp>
          <p:nvCxnSpPr>
            <p:cNvPr id="7" name="Straight Arrow Connector 6">
              <a:extLst>
                <a:ext uri="{FF2B5EF4-FFF2-40B4-BE49-F238E27FC236}">
                  <a16:creationId xmlns:a16="http://schemas.microsoft.com/office/drawing/2014/main" id="{38C175B9-B762-1189-8431-F32A86732E50}"/>
                </a:ext>
                <a:ext uri="{C183D7F6-B498-43B3-948B-1728B52AA6E4}">
                  <adec:decorative xmlns:adec="http://schemas.microsoft.com/office/drawing/2017/decorative" val="1"/>
                </a:ext>
              </a:extLst>
            </p:cNvPr>
            <p:cNvCxnSpPr/>
            <p:nvPr/>
          </p:nvCxnSpPr>
          <p:spPr>
            <a:xfrm flipH="1" flipV="1">
              <a:off x="5763427" y="1812174"/>
              <a:ext cx="0" cy="3358342"/>
            </a:xfrm>
            <a:prstGeom prst="straightConnector1">
              <a:avLst/>
            </a:prstGeom>
            <a:ln w="381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B2B1E5-0A34-F340-613A-6D4B57AEA557}"/>
                </a:ext>
                <a:ext uri="{C183D7F6-B498-43B3-948B-1728B52AA6E4}">
                  <adec:decorative xmlns:adec="http://schemas.microsoft.com/office/drawing/2017/decorative" val="1"/>
                </a:ext>
              </a:extLst>
            </p:cNvPr>
            <p:cNvSpPr txBox="1"/>
            <p:nvPr/>
          </p:nvSpPr>
          <p:spPr>
            <a:xfrm>
              <a:off x="7864670" y="5471285"/>
              <a:ext cx="2293483" cy="446276"/>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Optimización del modelo</a:t>
              </a:r>
            </a:p>
            <a:p>
              <a:pPr marL="0" marR="0" lvl="0" indent="0" algn="ctr" defTabSz="914367" rtl="0" eaLnBrk="1" fontAlgn="auto" latinLnBrk="0" hangingPunct="1">
                <a:lnSpc>
                  <a:spcPct val="100000"/>
                </a:lnSpc>
                <a:spcBef>
                  <a:spcPct val="0"/>
                </a:spcBef>
                <a:spcAft>
                  <a:spcPct val="0"/>
                </a:spcAft>
                <a:buClrTx/>
                <a:buSzTx/>
                <a:buFontTx/>
                <a:buNone/>
                <a:defRPr/>
              </a:pPr>
              <a:r>
                <a:rPr lang="es-ES" sz="1300" b="0" i="1" strike="noStrike" cap="none" baseline="0" dirty="0">
                  <a:solidFill>
                    <a:srgbClr val="000000"/>
                  </a:solidFill>
                  <a:effectLst/>
                  <a:latin typeface="Segoe UI"/>
                  <a:ea typeface="Segoe UI"/>
                  <a:cs typeface="Segoe UI"/>
                </a:rPr>
                <a:t>Cómo debe actuar el modelo</a:t>
              </a:r>
            </a:p>
          </p:txBody>
        </p:sp>
        <p:cxnSp>
          <p:nvCxnSpPr>
            <p:cNvPr id="10" name="Straight Arrow Connector 9">
              <a:extLst>
                <a:ext uri="{FF2B5EF4-FFF2-40B4-BE49-F238E27FC236}">
                  <a16:creationId xmlns:a16="http://schemas.microsoft.com/office/drawing/2014/main" id="{B84F3189-B5A1-18F8-DE88-4B58397AEEF1}"/>
                </a:ext>
                <a:ext uri="{C183D7F6-B498-43B3-948B-1728B52AA6E4}">
                  <adec:decorative xmlns:adec="http://schemas.microsoft.com/office/drawing/2017/decorative" val="1"/>
                </a:ext>
              </a:extLst>
            </p:cNvPr>
            <p:cNvCxnSpPr/>
            <p:nvPr/>
          </p:nvCxnSpPr>
          <p:spPr>
            <a:xfrm>
              <a:off x="6395258" y="5372793"/>
              <a:ext cx="4743797" cy="0"/>
            </a:xfrm>
            <a:prstGeom prst="straightConnector1">
              <a:avLst/>
            </a:prstGeom>
            <a:ln w="381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C057DBB-EBD2-1A96-0455-EC986BEBF383}"/>
                </a:ext>
                <a:ext uri="{C183D7F6-B498-43B3-948B-1728B52AA6E4}">
                  <adec:decorative xmlns:adec="http://schemas.microsoft.com/office/drawing/2017/decorative" val="1"/>
                </a:ext>
              </a:extLst>
            </p:cNvPr>
            <p:cNvSpPr/>
            <p:nvPr/>
          </p:nvSpPr>
          <p:spPr bwMode="auto">
            <a:xfrm>
              <a:off x="6242858" y="1812174"/>
              <a:ext cx="2485501" cy="1592598"/>
            </a:xfrm>
            <a:prstGeom prst="rect">
              <a:avLst/>
            </a:prstGeom>
            <a:solidFill>
              <a:schemeClr val="accent1">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r>
                <a:rPr lang="es-ES" sz="15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Generación aumentada por recuperación (RAG)</a:t>
              </a:r>
            </a:p>
            <a:p>
              <a:pPr marL="0" marR="0" lvl="0" indent="0" algn="l"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Adición de resultados de búsqueda contextual a la solicitud</a:t>
              </a:r>
            </a:p>
          </p:txBody>
        </p:sp>
        <p:sp>
          <p:nvSpPr>
            <p:cNvPr id="13" name="Rectangle 12">
              <a:extLst>
                <a:ext uri="{FF2B5EF4-FFF2-40B4-BE49-F238E27FC236}">
                  <a16:creationId xmlns:a16="http://schemas.microsoft.com/office/drawing/2014/main" id="{FDF94B42-17F0-B0A0-98A1-0542D4C9E101}"/>
                </a:ext>
                <a:ext uri="{C183D7F6-B498-43B3-948B-1728B52AA6E4}">
                  <adec:decorative xmlns:adec="http://schemas.microsoft.com/office/drawing/2017/decorative" val="1"/>
                </a:ext>
              </a:extLst>
            </p:cNvPr>
            <p:cNvSpPr/>
            <p:nvPr/>
          </p:nvSpPr>
          <p:spPr bwMode="auto">
            <a:xfrm>
              <a:off x="6242858" y="3546135"/>
              <a:ext cx="2485501" cy="1592598"/>
            </a:xfrm>
            <a:prstGeom prst="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r>
                <a:rPr lang="es-ES" sz="15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Ingeniería de solicitudes</a:t>
              </a:r>
            </a:p>
            <a:p>
              <a:pPr marL="0" marR="0" lvl="0" indent="0" algn="l"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Los mensajes del sistema especifican el tono, el formato y las expectativas de contenido.</a:t>
              </a:r>
            </a:p>
            <a:p>
              <a:pPr marL="0" marR="0" lvl="0" indent="0" algn="l"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Solicitudes de usuario detalladas y explícitas para mejores respuestas</a:t>
              </a:r>
            </a:p>
          </p:txBody>
        </p:sp>
        <p:sp>
          <p:nvSpPr>
            <p:cNvPr id="14" name="Rectangle 13">
              <a:extLst>
                <a:ext uri="{FF2B5EF4-FFF2-40B4-BE49-F238E27FC236}">
                  <a16:creationId xmlns:a16="http://schemas.microsoft.com/office/drawing/2014/main" id="{6D422A90-4CA4-84CC-2B62-FF86C0F23507}"/>
                </a:ext>
                <a:ext uri="{C183D7F6-B498-43B3-948B-1728B52AA6E4}">
                  <adec:decorative xmlns:adec="http://schemas.microsoft.com/office/drawing/2017/decorative" val="1"/>
                </a:ext>
              </a:extLst>
            </p:cNvPr>
            <p:cNvSpPr/>
            <p:nvPr/>
          </p:nvSpPr>
          <p:spPr bwMode="auto">
            <a:xfrm>
              <a:off x="8869680" y="3546134"/>
              <a:ext cx="2485501" cy="1592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r>
                <a:rPr lang="es-ES" sz="15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Ajuste preciso</a:t>
              </a:r>
            </a:p>
            <a:p>
              <a:pPr marL="0" marR="0" lvl="0" indent="0" algn="l"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Entrenamiento de modelos adicional con mensajes</a:t>
              </a:r>
              <a:b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b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de ejemplo y respuestas</a:t>
              </a:r>
            </a:p>
          </p:txBody>
        </p:sp>
        <p:sp>
          <p:nvSpPr>
            <p:cNvPr id="15" name="Rectangle 14">
              <a:extLst>
                <a:ext uri="{FF2B5EF4-FFF2-40B4-BE49-F238E27FC236}">
                  <a16:creationId xmlns:a16="http://schemas.microsoft.com/office/drawing/2014/main" id="{2370F347-2797-8A24-FEF0-D5317D813779}"/>
                </a:ext>
                <a:ext uri="{C183D7F6-B498-43B3-948B-1728B52AA6E4}">
                  <adec:decorative xmlns:adec="http://schemas.microsoft.com/office/drawing/2017/decorative" val="1"/>
                </a:ext>
              </a:extLst>
            </p:cNvPr>
            <p:cNvSpPr/>
            <p:nvPr/>
          </p:nvSpPr>
          <p:spPr bwMode="auto">
            <a:xfrm>
              <a:off x="8869680" y="1812173"/>
              <a:ext cx="2485501" cy="159259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r>
                <a:rPr lang="es-ES" sz="15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Estrategias combinadas</a:t>
              </a:r>
            </a:p>
            <a:p>
              <a:pPr marL="0" marR="0" lvl="0" indent="0" algn="ctr"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Ingeniería de solicitudes</a:t>
              </a:r>
            </a:p>
            <a:p>
              <a:pPr marL="0" marR="0" lvl="0" indent="0" algn="ctr" defTabSz="932472" rtl="0" eaLnBrk="1" fontAlgn="base" latinLnBrk="0" hangingPunct="1">
                <a:lnSpc>
                  <a:spcPct val="100000"/>
                </a:lnSpc>
                <a:spcBef>
                  <a:spcPct val="0"/>
                </a:spcBef>
                <a:spcAft>
                  <a:spcPct val="0"/>
                </a:spcAft>
                <a:buClrTx/>
                <a:buSzTx/>
                <a:buFontTx/>
                <a:buNone/>
                <a:defRPr/>
              </a:pPr>
              <a:r>
                <a:rPr kumimoji="0" lang="en-US" sz="13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t>
              </a:r>
            </a:p>
            <a:p>
              <a:pPr marL="0" marR="0" lvl="0" indent="0" algn="ctr"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RAG</a:t>
              </a:r>
            </a:p>
            <a:p>
              <a:pPr marL="0" marR="0" lvl="0" indent="0" algn="ctr" defTabSz="932472" rtl="0" eaLnBrk="1" fontAlgn="base" latinLnBrk="0" hangingPunct="1">
                <a:lnSpc>
                  <a:spcPct val="100000"/>
                </a:lnSpc>
                <a:spcBef>
                  <a:spcPct val="0"/>
                </a:spcBef>
                <a:spcAft>
                  <a:spcPct val="0"/>
                </a:spcAft>
                <a:buClrTx/>
                <a:buSzTx/>
                <a:buFontTx/>
                <a:buNone/>
                <a:defRPr/>
              </a:pPr>
              <a:r>
                <a:rPr kumimoji="0" lang="en-US" sz="13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rPr>
                <a:t>+</a:t>
              </a:r>
            </a:p>
            <a:p>
              <a:pPr marL="0" marR="0" lvl="0" indent="0" algn="ctr" defTabSz="932472" rtl="0" eaLnBrk="1" fontAlgn="base" latinLnBrk="0" hangingPunct="1">
                <a:lnSpc>
                  <a:spcPct val="100000"/>
                </a:lnSpc>
                <a:spcBef>
                  <a:spcPct val="0"/>
                </a:spcBef>
                <a:spcAft>
                  <a:spcPct val="0"/>
                </a:spcAft>
                <a:buClrTx/>
                <a:buSzTx/>
                <a:buFontTx/>
                <a:buNone/>
                <a:defRPr/>
              </a:pPr>
              <a:r>
                <a:rPr lang="es-ES" sz="1300" b="0" i="0" strike="noStrike" cap="none" baseline="0" dirty="0">
                  <a:gradFill>
                    <a:gsLst>
                      <a:gs pos="0">
                        <a:srgbClr val="FFFFFF"/>
                      </a:gs>
                      <a:gs pos="100000">
                        <a:srgbClr val="FFFFFF"/>
                      </a:gs>
                    </a:gsLst>
                    <a:lin ang="5400000"/>
                    <a:tileRect l="-100000" t="-100000"/>
                  </a:gradFill>
                  <a:effectLst/>
                  <a:latin typeface="Segoe UI"/>
                  <a:ea typeface="Segoe UI"/>
                  <a:cs typeface="Segoe UI"/>
                </a:rPr>
                <a:t>Ajuste preciso</a:t>
              </a:r>
            </a:p>
          </p:txBody>
        </p:sp>
      </p:gr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57986549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Ingeniería rápida</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graphicFrame>
        <p:nvGraphicFramePr>
          <p:cNvPr id="9" name="Table 8">
            <a:extLst>
              <a:ext uri="{FF2B5EF4-FFF2-40B4-BE49-F238E27FC236}">
                <a16:creationId xmlns:a16="http://schemas.microsoft.com/office/drawing/2014/main" id="{AAC233E9-1915-E515-0D42-A389840D7D2C}"/>
              </a:ext>
            </a:extLst>
          </p:cNvPr>
          <p:cNvGraphicFramePr>
            <a:graphicFrameLocks noGrp="1"/>
          </p:cNvGraphicFramePr>
          <p:nvPr>
            <p:extLst>
              <p:ext uri="{D42A27DB-BD31-4B8C-83A1-F6EECF244321}">
                <p14:modId xmlns:p14="http://schemas.microsoft.com/office/powerpoint/2010/main" val="251834752"/>
              </p:ext>
            </p:extLst>
          </p:nvPr>
        </p:nvGraphicFramePr>
        <p:xfrm>
          <a:off x="588262" y="1178450"/>
          <a:ext cx="11013474" cy="5227320"/>
        </p:xfrm>
        <a:graphic>
          <a:graphicData uri="http://schemas.openxmlformats.org/drawingml/2006/table">
            <a:tbl>
              <a:tblPr bandRow="1">
                <a:tableStyleId>{17292A2E-F333-43FB-9621-5CBBE7FDCDCB}</a:tableStyleId>
              </a:tblPr>
              <a:tblGrid>
                <a:gridCol w="3272538">
                  <a:extLst>
                    <a:ext uri="{9D8B030D-6E8A-4147-A177-3AD203B41FA5}">
                      <a16:colId xmlns:a16="http://schemas.microsoft.com/office/drawing/2014/main" val="1040516807"/>
                    </a:ext>
                  </a:extLst>
                </a:gridCol>
                <a:gridCol w="7740936">
                  <a:extLst>
                    <a:ext uri="{9D8B030D-6E8A-4147-A177-3AD203B41FA5}">
                      <a16:colId xmlns:a16="http://schemas.microsoft.com/office/drawing/2014/main" val="4227747407"/>
                    </a:ext>
                  </a:extLst>
                </a:gridCol>
              </a:tblGrid>
              <a:tr h="1063757">
                <a:tc>
                  <a:txBody>
                    <a:bodyPr/>
                    <a:lstStyle/>
                    <a:p>
                      <a:r>
                        <a:rPr lang="es-ES" sz="1700" b="0" i="0" strike="noStrike" cap="none" baseline="0" dirty="0">
                          <a:solidFill>
                            <a:srgbClr val="000000"/>
                          </a:solidFill>
                          <a:effectLst/>
                          <a:latin typeface="Segoe UI Semibold"/>
                          <a:ea typeface="Segoe UI Semibold"/>
                          <a:cs typeface="Segoe UI Semibold"/>
                        </a:rPr>
                        <a:t>Uso de avisos detallados</a:t>
                      </a:r>
                      <a:br>
                        <a:rPr lang="es-ES" sz="1700" b="0" i="0" strike="noStrike" cap="none" baseline="0" dirty="0">
                          <a:solidFill>
                            <a:srgbClr val="000000"/>
                          </a:solidFill>
                          <a:effectLst/>
                          <a:latin typeface="Segoe UI Semibold"/>
                          <a:ea typeface="Segoe UI Semibold"/>
                          <a:cs typeface="Segoe UI Semibold"/>
                        </a:rPr>
                      </a:br>
                      <a:r>
                        <a:rPr lang="es-ES" sz="1700" b="0" i="0" strike="noStrike" cap="none" baseline="0" dirty="0">
                          <a:solidFill>
                            <a:srgbClr val="000000"/>
                          </a:solidFill>
                          <a:effectLst/>
                          <a:latin typeface="Segoe UI Semibold"/>
                          <a:ea typeface="Segoe UI Semibold"/>
                          <a:cs typeface="Segoe UI Semibold"/>
                        </a:rPr>
                        <a:t>y explícitos del sistema</a:t>
                      </a:r>
                    </a:p>
                  </a:txBody>
                  <a:tcPr>
                    <a:lnL w="12700" cap="flat" cmpd="sng" algn="ctr">
                      <a:no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tc>
                  <a:txBody>
                    <a:bodyPr/>
                    <a:lstStyle/>
                    <a:p>
                      <a:r>
                        <a:rPr lang="es-ES" sz="1300" b="0" i="0" strike="noStrike" cap="none" baseline="0" dirty="0">
                          <a:solidFill>
                            <a:srgbClr val="000000"/>
                          </a:solidFill>
                          <a:effectLst/>
                          <a:latin typeface="Segoe UI"/>
                          <a:ea typeface="Segoe UI"/>
                          <a:cs typeface="Segoe UI"/>
                        </a:rPr>
                        <a:t>Eres un simpático asesor de viajes de </a:t>
                      </a:r>
                      <a:r>
                        <a:rPr lang="es-ES" sz="1300" b="0" i="0" strike="noStrike" cap="none" baseline="0" dirty="0" err="1">
                          <a:solidFill>
                            <a:srgbClr val="000000"/>
                          </a:solidFill>
                          <a:effectLst/>
                          <a:latin typeface="Segoe UI"/>
                          <a:ea typeface="Segoe UI"/>
                          <a:cs typeface="Segoe UI"/>
                        </a:rPr>
                        <a:t>Margie's</a:t>
                      </a:r>
                      <a:r>
                        <a:rPr lang="es-ES" sz="1300" b="0" i="0" strike="noStrike" cap="none" baseline="0" dirty="0">
                          <a:solidFill>
                            <a:srgbClr val="000000"/>
                          </a:solidFill>
                          <a:effectLst/>
                          <a:latin typeface="Segoe UI"/>
                          <a:ea typeface="Segoe UI"/>
                          <a:cs typeface="Segoe UI"/>
                        </a:rPr>
                        <a:t> Travel.</a:t>
                      </a:r>
                    </a:p>
                    <a:p>
                      <a:r>
                        <a:rPr lang="es-ES" sz="1300" b="0" i="0" strike="noStrike" cap="none" baseline="0" dirty="0">
                          <a:solidFill>
                            <a:srgbClr val="000000"/>
                          </a:solidFill>
                          <a:effectLst/>
                          <a:latin typeface="Segoe UI"/>
                          <a:ea typeface="Segoe UI"/>
                          <a:cs typeface="Segoe UI"/>
                        </a:rPr>
                        <a:t>Responde solo a preguntas relacionadas con viajes, hoteles y planificación de viajes.</a:t>
                      </a:r>
                    </a:p>
                    <a:p>
                      <a:r>
                        <a:rPr lang="es-ES" sz="1300" b="0" i="0" strike="noStrike" cap="none" baseline="0" dirty="0">
                          <a:solidFill>
                            <a:srgbClr val="000000"/>
                          </a:solidFill>
                          <a:effectLst/>
                          <a:latin typeface="Segoe UI"/>
                          <a:ea typeface="Segoe UI"/>
                          <a:cs typeface="Segoe UI"/>
                        </a:rPr>
                        <a:t>Usa un tono cordial y cercano.</a:t>
                      </a:r>
                    </a:p>
                    <a:p>
                      <a:r>
                        <a:rPr lang="es-ES" sz="1300" b="0" i="0" strike="noStrike" cap="none" baseline="0" dirty="0">
                          <a:solidFill>
                            <a:srgbClr val="000000"/>
                          </a:solidFill>
                          <a:effectLst/>
                          <a:latin typeface="Segoe UI"/>
                          <a:ea typeface="Segoe UI"/>
                          <a:cs typeface="Segoe UI"/>
                        </a:rPr>
                        <a:t>Si no tienes suficiente información para responder, haz una pregunta aclaratoria.</a:t>
                      </a:r>
                    </a:p>
                    <a:p>
                      <a:r>
                        <a:rPr lang="es-ES" sz="1300" b="0" i="0" strike="noStrike" cap="none" baseline="0" dirty="0">
                          <a:solidFill>
                            <a:srgbClr val="000000"/>
                          </a:solidFill>
                          <a:effectLst/>
                          <a:latin typeface="Segoe UI"/>
                          <a:ea typeface="Segoe UI"/>
                          <a:cs typeface="Segoe UI"/>
                        </a:rPr>
                        <a:t>Formatea las recomendaciones del hotel a modo lista con viñetas con el nombre,</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la ubicación y el intervalo de precios del hotel.</a:t>
                      </a:r>
                    </a:p>
                  </a:txBody>
                  <a:tcPr>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13255101"/>
                  </a:ext>
                </a:extLst>
              </a:tr>
              <a:tr h="340589">
                <a:tc>
                  <a:txBody>
                    <a:bodyPr/>
                    <a:lstStyle/>
                    <a:p>
                      <a:r>
                        <a:rPr lang="es-ES" sz="1700" b="0" i="0" strike="noStrike" cap="none" baseline="0">
                          <a:solidFill>
                            <a:srgbClr val="000000"/>
                          </a:solidFill>
                          <a:effectLst/>
                          <a:latin typeface="Segoe UI Semibold"/>
                          <a:ea typeface="Segoe UI Semibold"/>
                          <a:cs typeface="Segoe UI Semibold"/>
                        </a:rPr>
                        <a:t>Usa patrones de solicitud:</a:t>
                      </a:r>
                    </a:p>
                  </a:txBody>
                  <a:tcPr>
                    <a:lnL w="12700" cap="flat" cmpd="sng" algn="ctr">
                      <a:noFill/>
                      <a:prstDash val="solid"/>
                      <a:round/>
                      <a:headEnd type="none" w="med" len="med"/>
                      <a:tailEnd type="none" w="med" len="med"/>
                    </a:lnL>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kumimoji="0" lang="en-US" sz="900" b="0" i="0" u="none" strike="noStrike" kern="1200" cap="none" spc="0" normalizeH="0" baseline="0" dirty="0">
                        <a:ln>
                          <a:noFill/>
                        </a:ln>
                        <a:solidFill>
                          <a:srgbClr val="000000"/>
                        </a:solidFill>
                        <a:effectLst/>
                        <a:uLnTx/>
                        <a:uFillTx/>
                        <a:latin typeface="+mn-lt"/>
                        <a:ea typeface="+mn-ea"/>
                        <a:cs typeface="+mn-cs"/>
                      </a:endParaRPr>
                    </a:p>
                  </a:txBody>
                  <a:tcPr>
                    <a:lnR w="12700" cap="flat" cmpd="sng" algn="ctr">
                      <a:no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661460355"/>
                  </a:ext>
                </a:extLst>
              </a:tr>
              <a:tr h="1259713">
                <a:tc>
                  <a:txBody>
                    <a:bodyPr/>
                    <a:lstStyle/>
                    <a:p>
                      <a:r>
                        <a:rPr lang="es-ES" sz="1700" b="0" i="0" strike="noStrike" cap="none" baseline="0" dirty="0">
                          <a:solidFill>
                            <a:srgbClr val="000000"/>
                          </a:solidFill>
                          <a:effectLst/>
                          <a:latin typeface="Segoe UI"/>
                          <a:ea typeface="Segoe UI"/>
                          <a:cs typeface="Segoe UI"/>
                        </a:rPr>
                        <a:t>Formatea el patrón de plantilla</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r>
                        <a:rPr lang="es-ES" sz="1300" b="0" i="0" strike="noStrike" cap="none" baseline="0" dirty="0">
                          <a:solidFill>
                            <a:srgbClr val="000000"/>
                          </a:solidFill>
                          <a:effectLst/>
                          <a:latin typeface="Segoe UI"/>
                          <a:ea typeface="Segoe UI"/>
                          <a:cs typeface="Segoe UI"/>
                        </a:rPr>
                        <a:t>Sugiere hoteles en Nueva York.</a:t>
                      </a:r>
                    </a:p>
                    <a:p>
                      <a:pPr marL="0" algn="l" defTabSz="932742" rtl="0" eaLnBrk="1" latinLnBrk="0" hangingPunct="1"/>
                      <a:r>
                        <a:rPr lang="es-ES" sz="1300" b="0" i="0" strike="noStrike" cap="none" baseline="0" dirty="0">
                          <a:solidFill>
                            <a:srgbClr val="000000"/>
                          </a:solidFill>
                          <a:effectLst/>
                          <a:latin typeface="Segoe UI"/>
                          <a:ea typeface="Segoe UI"/>
                          <a:cs typeface="Segoe UI"/>
                        </a:rPr>
                        <a:t>Formatea los resultados para mostrar:</a:t>
                      </a:r>
                    </a:p>
                    <a:p>
                      <a:pPr marL="0" algn="l" defTabSz="932742" rtl="0" eaLnBrk="1" latinLnBrk="0" hangingPunct="1"/>
                      <a:r>
                        <a:rPr lang="es-ES" sz="1300" b="0" i="0" strike="noStrike" cap="none" baseline="0" dirty="0">
                          <a:solidFill>
                            <a:srgbClr val="000000"/>
                          </a:solidFill>
                          <a:effectLst/>
                          <a:latin typeface="Segoe UI"/>
                          <a:ea typeface="Segoe UI"/>
                          <a:cs typeface="Segoe UI"/>
                        </a:rPr>
                        <a:t>- Nombre del hotel</a:t>
                      </a:r>
                    </a:p>
                    <a:p>
                      <a:pPr marL="0" algn="l" defTabSz="932742" rtl="0" eaLnBrk="1" latinLnBrk="0" hangingPunct="1"/>
                      <a:r>
                        <a:rPr lang="es-ES" sz="1300" b="0" i="0" strike="noStrike" cap="none" baseline="0" dirty="0">
                          <a:solidFill>
                            <a:srgbClr val="000000"/>
                          </a:solidFill>
                          <a:effectLst/>
                          <a:latin typeface="Segoe UI"/>
                          <a:ea typeface="Segoe UI"/>
                          <a:cs typeface="Segoe UI"/>
                        </a:rPr>
                        <a:t>- Ubicación</a:t>
                      </a:r>
                    </a:p>
                    <a:p>
                      <a:pPr marL="0" algn="l" defTabSz="932742" rtl="0" eaLnBrk="1" latinLnBrk="0" hangingPunct="1"/>
                      <a:r>
                        <a:rPr lang="es-ES" sz="1300" b="0" i="0" strike="noStrike" cap="none" baseline="0" dirty="0">
                          <a:solidFill>
                            <a:srgbClr val="000000"/>
                          </a:solidFill>
                          <a:effectLst/>
                          <a:latin typeface="Segoe UI"/>
                          <a:ea typeface="Segoe UI"/>
                          <a:cs typeface="Segoe UI"/>
                        </a:rPr>
                        <a:t>- Clasificación por estrellas</a:t>
                      </a:r>
                    </a:p>
                    <a:p>
                      <a:pPr marL="0" algn="l" defTabSz="932742" rtl="0" eaLnBrk="1" latinLnBrk="0" hangingPunct="1"/>
                      <a:r>
                        <a:rPr lang="es-ES" sz="1300" b="0" i="0" strike="noStrike" cap="none" baseline="0" dirty="0">
                          <a:solidFill>
                            <a:srgbClr val="000000"/>
                          </a:solidFill>
                          <a:effectLst/>
                          <a:latin typeface="Segoe UI"/>
                          <a:ea typeface="Segoe UI"/>
                          <a:cs typeface="Segoe UI"/>
                        </a:rPr>
                        <a:t>- Intervalo de precios por noche</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1091953"/>
                  </a:ext>
                </a:extLst>
              </a:tr>
              <a:tr h="475891">
                <a:tc>
                  <a:txBody>
                    <a:bodyPr/>
                    <a:lstStyle/>
                    <a:p>
                      <a:r>
                        <a:rPr lang="es-ES" sz="1700" b="0" i="0" strike="noStrike" cap="none" baseline="0" dirty="0">
                          <a:solidFill>
                            <a:srgbClr val="000000"/>
                          </a:solidFill>
                          <a:effectLst/>
                          <a:latin typeface="Segoe UI"/>
                          <a:ea typeface="Segoe UI"/>
                          <a:cs typeface="Segoe UI"/>
                        </a:rPr>
                        <a:t>Patrón de cadena de pensamiento</a:t>
                      </a:r>
                    </a:p>
                  </a:txBody>
                  <a:tcPr>
                    <a:lnL w="9525" cap="flat" cmpd="sng" algn="ctr">
                      <a:noFill/>
                      <a:prstDash val="soli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r>
                        <a:rPr lang="es-ES" sz="1400" b="0" i="0" strike="noStrike" cap="none" baseline="0">
                          <a:solidFill>
                            <a:srgbClr val="000000"/>
                          </a:solidFill>
                          <a:effectLst/>
                          <a:latin typeface="Segoe UI"/>
                          <a:ea typeface="Segoe UI"/>
                          <a:cs typeface="Segoe UI"/>
                        </a:rPr>
                        <a:t>¿Qué hotel es mejor para una familia de cuatro? Realiza un enfoque paso a paso: </a:t>
                      </a:r>
                    </a:p>
                    <a:p>
                      <a:pPr marL="0" algn="l" defTabSz="932742" rtl="0" eaLnBrk="1" latinLnBrk="0" hangingPunct="1"/>
                      <a:r>
                        <a:rPr lang="es-ES" sz="1400" b="0" i="0" strike="noStrike" cap="none" baseline="0">
                          <a:solidFill>
                            <a:srgbClr val="000000"/>
                          </a:solidFill>
                          <a:effectLst/>
                          <a:latin typeface="Segoe UI"/>
                          <a:ea typeface="Segoe UI"/>
                          <a:cs typeface="Segoe UI"/>
                        </a:rPr>
                        <a:t>ten en cuenta el tamaño de la habitación, las comodidades para niños, la ubicación y el precio.</a:t>
                      </a:r>
                    </a:p>
                  </a:txBody>
                  <a:tcPr>
                    <a:lnL>
                      <a:noFill/>
                    </a:lnL>
                    <a:lnR w="9525" cap="flat" cmpd="sng" algn="ctr">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31162354"/>
                  </a:ext>
                </a:extLst>
              </a:tr>
              <a:tr h="1665620">
                <a:tc>
                  <a:txBody>
                    <a:bodyPr/>
                    <a:lstStyle/>
                    <a:p>
                      <a:r>
                        <a:rPr lang="es-ES" sz="1700" b="0" i="0" strike="noStrike" cap="none" baseline="0" dirty="0">
                          <a:solidFill>
                            <a:srgbClr val="000000"/>
                          </a:solidFill>
                          <a:effectLst/>
                          <a:latin typeface="Segoe UI"/>
                          <a:ea typeface="Segoe UI"/>
                          <a:cs typeface="Segoe UI"/>
                        </a:rPr>
                        <a:t>Patrón de aprendizaje de pocas capturas</a:t>
                      </a:r>
                    </a:p>
                  </a:txBody>
                  <a:tcPr>
                    <a:lnL w="9525" cap="flat" cmpd="sng" algn="ctr">
                      <a:noFill/>
                      <a:prstDash val="solid"/>
                    </a:lnL>
                    <a:lnR>
                      <a:noFill/>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32742" rtl="0" eaLnBrk="1" latinLnBrk="0" hangingPunct="1">
                        <a:spcAft>
                          <a:spcPts val="600"/>
                        </a:spcAft>
                      </a:pPr>
                      <a:r>
                        <a:rPr lang="es-ES" sz="1300" b="0" i="0" strike="noStrike" cap="none" baseline="0" dirty="0">
                          <a:solidFill>
                            <a:srgbClr val="000000"/>
                          </a:solidFill>
                          <a:effectLst/>
                          <a:latin typeface="Segoe UI"/>
                          <a:ea typeface="Segoe UI"/>
                          <a:cs typeface="Segoe UI"/>
                        </a:rPr>
                        <a:t>Clasifica los siguientes mensajes de cliente:</a:t>
                      </a:r>
                    </a:p>
                    <a:p>
                      <a:pPr marL="0" algn="l" defTabSz="932742" rtl="0" eaLnBrk="1" latinLnBrk="0" hangingPunct="1"/>
                      <a:r>
                        <a:rPr lang="es-ES" sz="1300" b="0" i="0" strike="noStrike" cap="none" baseline="0" dirty="0">
                          <a:solidFill>
                            <a:srgbClr val="000000"/>
                          </a:solidFill>
                          <a:effectLst/>
                          <a:latin typeface="Segoe UI"/>
                          <a:ea typeface="Segoe UI"/>
                          <a:cs typeface="Segoe UI"/>
                        </a:rPr>
                        <a:t>Mensaje: "Necesito cambiar mi vuelo a Roma"</a:t>
                      </a:r>
                    </a:p>
                    <a:p>
                      <a:pPr marL="0" algn="l" defTabSz="932742" rtl="0" eaLnBrk="1" latinLnBrk="0" hangingPunct="1">
                        <a:spcAft>
                          <a:spcPts val="600"/>
                        </a:spcAft>
                      </a:pPr>
                      <a:r>
                        <a:rPr lang="es-ES" sz="1300" b="0" i="0" strike="noStrike" cap="none" baseline="0" dirty="0">
                          <a:solidFill>
                            <a:srgbClr val="000000"/>
                          </a:solidFill>
                          <a:effectLst/>
                          <a:latin typeface="Segoe UI"/>
                          <a:ea typeface="Segoe UI"/>
                          <a:cs typeface="Segoe UI"/>
                        </a:rPr>
                        <a:t>Categoría: Cambio de reserva</a:t>
                      </a:r>
                    </a:p>
                    <a:p>
                      <a:pPr marL="0" algn="l" defTabSz="932742" rtl="0" eaLnBrk="1" latinLnBrk="0" hangingPunct="1"/>
                      <a:r>
                        <a:rPr lang="es-ES" sz="1300" b="0" i="0" strike="noStrike" cap="none" baseline="0" dirty="0">
                          <a:solidFill>
                            <a:srgbClr val="000000"/>
                          </a:solidFill>
                          <a:effectLst/>
                          <a:latin typeface="Segoe UI"/>
                          <a:ea typeface="Segoe UI"/>
                          <a:cs typeface="Segoe UI"/>
                        </a:rPr>
                        <a:t>Mensaje: "¿Qué tiempo hace en Bali en marzo?"</a:t>
                      </a:r>
                    </a:p>
                    <a:p>
                      <a:pPr marL="0" algn="l" defTabSz="932742" rtl="0" eaLnBrk="1" latinLnBrk="0" hangingPunct="1">
                        <a:spcAft>
                          <a:spcPts val="600"/>
                        </a:spcAft>
                      </a:pPr>
                      <a:r>
                        <a:rPr lang="es-ES" sz="1300" b="0" i="0" strike="noStrike" cap="none" baseline="0" dirty="0">
                          <a:solidFill>
                            <a:srgbClr val="000000"/>
                          </a:solidFill>
                          <a:effectLst/>
                          <a:latin typeface="Segoe UI"/>
                          <a:ea typeface="Segoe UI"/>
                          <a:cs typeface="Segoe UI"/>
                        </a:rPr>
                        <a:t>Categoría: Información de viaje</a:t>
                      </a:r>
                    </a:p>
                    <a:p>
                      <a:pPr marL="0" algn="l" defTabSz="932742" rtl="0" eaLnBrk="1" latinLnBrk="0" hangingPunct="1"/>
                      <a:r>
                        <a:rPr lang="es-ES" sz="1300" b="0" i="0" strike="noStrike" cap="none" baseline="0" dirty="0">
                          <a:solidFill>
                            <a:srgbClr val="000000"/>
                          </a:solidFill>
                          <a:effectLst/>
                          <a:latin typeface="Segoe UI"/>
                          <a:ea typeface="Segoe UI"/>
                          <a:cs typeface="Segoe UI"/>
                        </a:rPr>
                        <a:t>Mensaje: "¿Puedo obtener un reembolso de mi excursión cancelado?"</a:t>
                      </a:r>
                    </a:p>
                    <a:p>
                      <a:pPr marL="0" algn="l" defTabSz="932742" rtl="0" eaLnBrk="1" latinLnBrk="0" hangingPunct="1"/>
                      <a:r>
                        <a:rPr lang="es-ES" sz="1300" b="0" i="0" strike="noStrike" cap="none" baseline="0" dirty="0">
                          <a:solidFill>
                            <a:srgbClr val="000000"/>
                          </a:solidFill>
                          <a:effectLst/>
                          <a:latin typeface="Segoe UI"/>
                          <a:ea typeface="Segoe UI"/>
                          <a:cs typeface="Segoe UI"/>
                        </a:rPr>
                        <a:t>Categoría:</a:t>
                      </a:r>
                    </a:p>
                  </a:txBody>
                  <a:tcPr>
                    <a:lnL>
                      <a:noFill/>
                    </a:lnL>
                    <a:lnR w="9525" cap="flat" cmpd="sng" algn="ctr">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3261746"/>
                  </a:ext>
                </a:extLst>
              </a:tr>
            </a:tbl>
          </a:graphicData>
        </a:graphic>
      </p:graphicFrame>
    </p:spTree>
    <p:extLst>
      <p:ext uri="{BB962C8B-B14F-4D97-AF65-F5344CB8AC3E}">
        <p14:creationId xmlns:p14="http://schemas.microsoft.com/office/powerpoint/2010/main" val="115375075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787888" cy="975360"/>
          </a:xfrm>
        </p:spPr>
        <p:txBody>
          <a:bodyPr/>
          <a:lstStyle/>
          <a:p>
            <a:r>
              <a:rPr lang="es-ES" sz="3200" b="0" i="0" strike="noStrike" cap="none" baseline="0" dirty="0">
                <a:solidFill>
                  <a:srgbClr val="000000"/>
                </a:solidFill>
                <a:effectLst/>
                <a:latin typeface="Segoe UI Semibold"/>
                <a:ea typeface="Segoe UI Semibold"/>
                <a:cs typeface="Segoe UI Semibold"/>
              </a:rPr>
              <a:t>Basar su modelo en la generación aumentada de recuperación</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
        <p:nvSpPr>
          <p:cNvPr id="3" name="Subtitle">
            <a:extLst>
              <a:ext uri="{FF2B5EF4-FFF2-40B4-BE49-F238E27FC236}">
                <a16:creationId xmlns:a16="http://schemas.microsoft.com/office/drawing/2014/main" id="{3DD11B7A-A520-705C-785A-C22E64020D7D}"/>
              </a:ext>
            </a:extLst>
          </p:cNvPr>
          <p:cNvSpPr txBox="1"/>
          <p:nvPr/>
        </p:nvSpPr>
        <p:spPr>
          <a:xfrm>
            <a:off x="588264" y="1398294"/>
            <a:ext cx="11018520" cy="157889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lang="en-US"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a:pPr>
            <a:r>
              <a:rPr lang="es-ES" sz="1900" b="1" i="0" strike="noStrike" cap="none" baseline="0" dirty="0">
                <a:solidFill>
                  <a:srgbClr val="000000"/>
                </a:solidFill>
                <a:effectLst/>
                <a:latin typeface="Segoe UI"/>
                <a:ea typeface="Segoe UI"/>
                <a:cs typeface="Segoe UI"/>
              </a:rPr>
              <a:t>RAG</a:t>
            </a:r>
            <a:r>
              <a:rPr lang="es-ES" sz="1900" b="0" i="0" strike="noStrike" cap="none" baseline="0" dirty="0">
                <a:solidFill>
                  <a:srgbClr val="000000"/>
                </a:solidFill>
                <a:effectLst/>
                <a:latin typeface="Segoe UI"/>
                <a:ea typeface="Segoe UI"/>
                <a:cs typeface="Segoe UI"/>
              </a:rPr>
              <a:t> recopila datos relevantes para incluirlos con una solicitud para que el modelo de lenguaje</a:t>
            </a:r>
            <a:br>
              <a:rPr lang="es-ES" sz="1900" b="0" i="0" strike="noStrike" cap="none" baseline="0" dirty="0">
                <a:solidFill>
                  <a:srgbClr val="000000"/>
                </a:solidFill>
                <a:effectLst/>
                <a:latin typeface="Segoe UI"/>
                <a:ea typeface="Segoe UI"/>
                <a:cs typeface="Segoe UI"/>
              </a:rPr>
            </a:br>
            <a:r>
              <a:rPr lang="es-ES" sz="1900" b="0" i="0" strike="noStrike" cap="none" baseline="0" dirty="0">
                <a:solidFill>
                  <a:srgbClr val="000000"/>
                </a:solidFill>
                <a:effectLst/>
                <a:latin typeface="Segoe UI"/>
                <a:ea typeface="Segoe UI"/>
                <a:cs typeface="Segoe UI"/>
              </a:rPr>
              <a:t>se use para el contexto base.</a:t>
            </a:r>
          </a:p>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a:pPr>
            <a:endParaRPr lang="en-US" sz="1900" noProof="0" dirty="0">
              <a:solidFill>
                <a:srgbClr val="000000"/>
              </a:solidFill>
              <a:latin typeface="Segoe UI"/>
            </a:endParaRPr>
          </a:p>
          <a:p>
            <a:pPr marL="0" marR="0" lvl="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a:pPr>
            <a:r>
              <a:rPr lang="es-ES" sz="1900" b="0" i="0" strike="noStrike" cap="none" baseline="0" dirty="0">
                <a:solidFill>
                  <a:srgbClr val="000000"/>
                </a:solidFill>
                <a:effectLst/>
                <a:latin typeface="Segoe UI"/>
                <a:ea typeface="Segoe UI"/>
                <a:cs typeface="Segoe UI"/>
              </a:rPr>
              <a:t>Un </a:t>
            </a:r>
            <a:r>
              <a:rPr lang="es-ES" sz="1900" b="1" i="0" strike="noStrike" cap="none" baseline="0" dirty="0">
                <a:solidFill>
                  <a:srgbClr val="000000"/>
                </a:solidFill>
                <a:effectLst/>
                <a:latin typeface="Segoe UI"/>
                <a:ea typeface="Segoe UI"/>
                <a:cs typeface="Segoe UI"/>
              </a:rPr>
              <a:t>patrón RAG</a:t>
            </a:r>
            <a:r>
              <a:rPr lang="es-ES" sz="1900" b="0" i="0" strike="noStrike" cap="none" baseline="0" dirty="0">
                <a:solidFill>
                  <a:srgbClr val="000000"/>
                </a:solidFill>
                <a:effectLst/>
                <a:latin typeface="Segoe UI"/>
                <a:ea typeface="Segoe UI"/>
                <a:cs typeface="Segoe UI"/>
              </a:rPr>
              <a:t> es un diseño arquitectónico para RAG mediante la inclusión de datos relevantes recuperados en una solicitud:</a:t>
            </a:r>
          </a:p>
        </p:txBody>
      </p:sp>
      <p:cxnSp>
        <p:nvCxnSpPr>
          <p:cNvPr id="5" name="Straight Connector 4">
            <a:extLst>
              <a:ext uri="{FF2B5EF4-FFF2-40B4-BE49-F238E27FC236}">
                <a16:creationId xmlns:a16="http://schemas.microsoft.com/office/drawing/2014/main" id="{81B69DB7-238C-34B8-2A89-8424C09C4380}"/>
              </a:ext>
              <a:ext uri="{C183D7F6-B498-43B3-948B-1728B52AA6E4}">
                <adec:decorative xmlns:adec="http://schemas.microsoft.com/office/drawing/2017/decorative" val="1"/>
              </a:ext>
            </a:extLst>
          </p:cNvPr>
          <p:cNvCxnSpPr/>
          <p:nvPr/>
        </p:nvCxnSpPr>
        <p:spPr>
          <a:xfrm>
            <a:off x="823609" y="2996119"/>
            <a:ext cx="10518842"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6" name="Group 5" descr="Diagram showing a user input being used to retrieve grounding data from a vector-based index, which is used to augment the prompt used by the model to generate a response.">
            <a:extLst>
              <a:ext uri="{FF2B5EF4-FFF2-40B4-BE49-F238E27FC236}">
                <a16:creationId xmlns:a16="http://schemas.microsoft.com/office/drawing/2014/main" id="{96322AA7-BA7D-49FC-7EBE-EF4B864B42F1}"/>
              </a:ext>
            </a:extLst>
          </p:cNvPr>
          <p:cNvGrpSpPr/>
          <p:nvPr/>
        </p:nvGrpSpPr>
        <p:grpSpPr>
          <a:xfrm>
            <a:off x="328853" y="3429000"/>
            <a:ext cx="11534294" cy="2844840"/>
            <a:chOff x="328853" y="3429000"/>
            <a:chExt cx="11534294" cy="2844840"/>
          </a:xfrm>
        </p:grpSpPr>
        <p:grpSp>
          <p:nvGrpSpPr>
            <p:cNvPr id="7" name="Group 6" descr="Diagram showing the flow of a RAG pattern to augment the prompt with pertinent data">
              <a:extLst>
                <a:ext uri="{FF2B5EF4-FFF2-40B4-BE49-F238E27FC236}">
                  <a16:creationId xmlns:a16="http://schemas.microsoft.com/office/drawing/2014/main" id="{448C7E9A-152A-D4A0-8295-20058EE3E8A9}"/>
                </a:ext>
              </a:extLst>
            </p:cNvPr>
            <p:cNvGrpSpPr/>
            <p:nvPr/>
          </p:nvGrpSpPr>
          <p:grpSpPr>
            <a:xfrm>
              <a:off x="328853" y="3429000"/>
              <a:ext cx="11534294" cy="2555298"/>
              <a:chOff x="401032" y="3176162"/>
              <a:chExt cx="11634514" cy="2555298"/>
            </a:xfrm>
          </p:grpSpPr>
          <p:pic>
            <p:nvPicPr>
              <p:cNvPr id="16" name="Graphic 15" descr="User with solid fill">
                <a:extLst>
                  <a:ext uri="{FF2B5EF4-FFF2-40B4-BE49-F238E27FC236}">
                    <a16:creationId xmlns:a16="http://schemas.microsoft.com/office/drawing/2014/main" id="{89C34F05-EAA2-B448-08DB-C9AB3758D1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3782493"/>
                <a:ext cx="914400" cy="914400"/>
              </a:xfrm>
              <a:prstGeom prst="rect">
                <a:avLst/>
              </a:prstGeom>
            </p:spPr>
          </p:pic>
          <p:pic>
            <p:nvPicPr>
              <p:cNvPr id="17" name="Graphic 16" descr="Cube with solid fill">
                <a:extLst>
                  <a:ext uri="{FF2B5EF4-FFF2-40B4-BE49-F238E27FC236}">
                    <a16:creationId xmlns:a16="http://schemas.microsoft.com/office/drawing/2014/main" id="{EA6C4D00-EEB5-3AFE-1409-DD143A97FCC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43341" y="3852378"/>
                <a:ext cx="914401" cy="906524"/>
              </a:xfrm>
              <a:prstGeom prst="rect">
                <a:avLst/>
              </a:prstGeom>
            </p:spPr>
          </p:pic>
          <p:pic>
            <p:nvPicPr>
              <p:cNvPr id="18" name="Graphic 17" descr="Database with solid fill">
                <a:extLst>
                  <a:ext uri="{FF2B5EF4-FFF2-40B4-BE49-F238E27FC236}">
                    <a16:creationId xmlns:a16="http://schemas.microsoft.com/office/drawing/2014/main" id="{66C7BA0E-D514-9A96-1B2C-27DF86B125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2327" y="3677254"/>
                <a:ext cx="1124878" cy="1124878"/>
              </a:xfrm>
              <a:prstGeom prst="rect">
                <a:avLst/>
              </a:prstGeom>
            </p:spPr>
          </p:pic>
          <p:cxnSp>
            <p:nvCxnSpPr>
              <p:cNvPr id="19" name="Straight Arrow Connector 18">
                <a:extLst>
                  <a:ext uri="{FF2B5EF4-FFF2-40B4-BE49-F238E27FC236}">
                    <a16:creationId xmlns:a16="http://schemas.microsoft.com/office/drawing/2014/main" id="{C94A31B1-919F-BDE9-A85A-E43DC1186FAB}"/>
                  </a:ext>
                </a:extLst>
              </p:cNvPr>
              <p:cNvCxnSpPr/>
              <p:nvPr/>
            </p:nvCxnSpPr>
            <p:spPr>
              <a:xfrm>
                <a:off x="3013853" y="4239693"/>
                <a:ext cx="573315" cy="0"/>
              </a:xfrm>
              <a:prstGeom prst="straightConnector1">
                <a:avLst/>
              </a:prstGeom>
              <a:noFill/>
              <a:ln w="38100" cap="flat" cmpd="sng" algn="ctr">
                <a:solidFill>
                  <a:srgbClr val="000000"/>
                </a:solidFill>
                <a:prstDash val="solid"/>
                <a:headEnd type="none" w="lg" len="med"/>
                <a:tailEnd type="triangle"/>
              </a:ln>
              <a:effectLst/>
            </p:spPr>
          </p:cxnSp>
          <p:sp>
            <p:nvSpPr>
              <p:cNvPr id="20" name="Speech Bubble: Rectangle 19">
                <a:extLst>
                  <a:ext uri="{FF2B5EF4-FFF2-40B4-BE49-F238E27FC236}">
                    <a16:creationId xmlns:a16="http://schemas.microsoft.com/office/drawing/2014/main" id="{EE5B987D-E9C5-0E75-FB8E-E63C1D334584}"/>
                  </a:ext>
                </a:extLst>
              </p:cNvPr>
              <p:cNvSpPr/>
              <p:nvPr/>
            </p:nvSpPr>
            <p:spPr bwMode="auto">
              <a:xfrm>
                <a:off x="1620232" y="3988046"/>
                <a:ext cx="1310821" cy="503295"/>
              </a:xfrm>
              <a:prstGeom prst="wedgeRectCallout">
                <a:avLst>
                  <a:gd name="adj1" fmla="val -93825"/>
                  <a:gd name="adj2" fmla="val -18931"/>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Entrada de usuario</a:t>
                </a:r>
              </a:p>
            </p:txBody>
          </p:sp>
          <p:pic>
            <p:nvPicPr>
              <p:cNvPr id="21" name="Graphic 20" descr="Magnifying glass with solid fill">
                <a:extLst>
                  <a:ext uri="{FF2B5EF4-FFF2-40B4-BE49-F238E27FC236}">
                    <a16:creationId xmlns:a16="http://schemas.microsoft.com/office/drawing/2014/main" id="{A31253DA-7E68-A707-818F-4B9477B32F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62705" y="3988046"/>
                <a:ext cx="914400" cy="914400"/>
              </a:xfrm>
              <a:prstGeom prst="rect">
                <a:avLst/>
              </a:prstGeom>
            </p:spPr>
          </p:pic>
          <p:cxnSp>
            <p:nvCxnSpPr>
              <p:cNvPr id="22" name="Straight Arrow Connector 21">
                <a:extLst>
                  <a:ext uri="{FF2B5EF4-FFF2-40B4-BE49-F238E27FC236}">
                    <a16:creationId xmlns:a16="http://schemas.microsoft.com/office/drawing/2014/main" id="{11A36DCF-97DE-40CF-01EF-BB9A73F3DAC3}"/>
                  </a:ext>
                </a:extLst>
              </p:cNvPr>
              <p:cNvCxnSpPr/>
              <p:nvPr/>
            </p:nvCxnSpPr>
            <p:spPr>
              <a:xfrm>
                <a:off x="4341910" y="4249501"/>
                <a:ext cx="1020286" cy="0"/>
              </a:xfrm>
              <a:prstGeom prst="straightConnector1">
                <a:avLst/>
              </a:prstGeom>
              <a:noFill/>
              <a:ln w="38100" cap="flat" cmpd="sng" algn="ctr">
                <a:solidFill>
                  <a:srgbClr val="000000"/>
                </a:solidFill>
                <a:prstDash val="solid"/>
                <a:headEnd type="none" w="lg" len="med"/>
                <a:tailEnd type="triangle"/>
              </a:ln>
              <a:effectLst/>
            </p:spPr>
          </p:cxnSp>
          <p:sp>
            <p:nvSpPr>
              <p:cNvPr id="23" name="Speech Bubble: Rectangle 22">
                <a:extLst>
                  <a:ext uri="{FF2B5EF4-FFF2-40B4-BE49-F238E27FC236}">
                    <a16:creationId xmlns:a16="http://schemas.microsoft.com/office/drawing/2014/main" id="{147BD4B5-A85F-274C-E589-71B37E3606F4}"/>
                  </a:ext>
                </a:extLst>
              </p:cNvPr>
              <p:cNvSpPr/>
              <p:nvPr/>
            </p:nvSpPr>
            <p:spPr bwMode="auto">
              <a:xfrm>
                <a:off x="5513694" y="3903502"/>
                <a:ext cx="1723018" cy="804277"/>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Entrada de usuario</a:t>
                </a:r>
              </a:p>
              <a:p>
                <a:pPr marL="0" marR="0" lvl="0" indent="0" defTabSz="932472" eaLnBrk="1" fontAlgn="base"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a:t>
                </a:r>
                <a:r>
                  <a:rPr lang="es-ES" sz="1500" b="0" i="0" strike="noStrike" cap="none" baseline="0" dirty="0" err="1">
                    <a:solidFill>
                      <a:srgbClr val="000000"/>
                    </a:solidFill>
                    <a:effectLst/>
                    <a:latin typeface="Segoe UI"/>
                    <a:ea typeface="Segoe UI"/>
                    <a:cs typeface="Segoe UI"/>
                  </a:rPr>
                  <a:t>search</a:t>
                </a:r>
                <a:r>
                  <a:rPr lang="es-ES" sz="1500" b="0" i="0" strike="noStrike" cap="none" baseline="0" dirty="0">
                    <a:solidFill>
                      <a:srgbClr val="000000"/>
                    </a:solidFill>
                    <a:effectLst/>
                    <a:latin typeface="Segoe UI"/>
                    <a:ea typeface="Segoe UI"/>
                    <a:cs typeface="Segoe UI"/>
                  </a:rPr>
                  <a:t> </a:t>
                </a:r>
                <a:r>
                  <a:rPr lang="es-ES" sz="1500" b="0" i="0" strike="noStrike" cap="none" baseline="0" dirty="0" err="1">
                    <a:solidFill>
                      <a:srgbClr val="000000"/>
                    </a:solidFill>
                    <a:effectLst/>
                    <a:latin typeface="Segoe UI"/>
                    <a:ea typeface="Segoe UI"/>
                    <a:cs typeface="Segoe UI"/>
                  </a:rPr>
                  <a:t>results</a:t>
                </a:r>
                <a:r>
                  <a:rPr lang="es-ES" sz="1500" b="0" i="0" strike="noStrike" cap="none" baseline="0" dirty="0">
                    <a:solidFill>
                      <a:srgbClr val="000000"/>
                    </a:solidFill>
                    <a:effectLst/>
                    <a:latin typeface="Segoe UI"/>
                    <a:ea typeface="Segoe UI"/>
                    <a:cs typeface="Segoe UI"/>
                  </a:rPr>
                  <a:t>}</a:t>
                </a:r>
                <a:endParaRPr kumimoji="0" lang="en-US" sz="1500" b="0" i="0" u="none" strike="noStrike" kern="0" cap="none" spc="0" normalizeH="0" baseline="0" noProof="0" dirty="0">
                  <a:ln>
                    <a:noFill/>
                  </a:ln>
                  <a:solidFill>
                    <a:srgbClr val="000000"/>
                  </a:solidFill>
                  <a:effectLst/>
                  <a:uLnTx/>
                  <a:uFillTx/>
                  <a:latin typeface="Segoe UI"/>
                  <a:ea typeface="Segoe UI" pitchFamily="34" charset="0"/>
                  <a:cs typeface="Segoe UI" pitchFamily="34" charset="0"/>
                </a:endParaRPr>
              </a:p>
            </p:txBody>
          </p:sp>
          <p:cxnSp>
            <p:nvCxnSpPr>
              <p:cNvPr id="24" name="Straight Arrow Connector 23">
                <a:extLst>
                  <a:ext uri="{FF2B5EF4-FFF2-40B4-BE49-F238E27FC236}">
                    <a16:creationId xmlns:a16="http://schemas.microsoft.com/office/drawing/2014/main" id="{5928F6F7-B2D1-5BC2-6B1C-C259E0319FB9}"/>
                  </a:ext>
                </a:extLst>
              </p:cNvPr>
              <p:cNvCxnSpPr>
                <a:stCxn id="23" idx="3"/>
                <a:endCxn id="17" idx="1"/>
              </p:cNvCxnSpPr>
              <p:nvPr/>
            </p:nvCxnSpPr>
            <p:spPr>
              <a:xfrm flipV="1">
                <a:off x="7236712" y="4305640"/>
                <a:ext cx="806629" cy="1"/>
              </a:xfrm>
              <a:prstGeom prst="straightConnector1">
                <a:avLst/>
              </a:prstGeom>
              <a:noFill/>
              <a:ln w="38100" cap="flat" cmpd="sng" algn="ctr">
                <a:solidFill>
                  <a:srgbClr val="000000"/>
                </a:solidFill>
                <a:prstDash val="solid"/>
                <a:headEnd type="none" w="lg" len="med"/>
                <a:tailEnd type="triangle"/>
              </a:ln>
              <a:effectLst/>
            </p:spPr>
          </p:cxnSp>
          <p:cxnSp>
            <p:nvCxnSpPr>
              <p:cNvPr id="25" name="Straight Arrow Connector 24">
                <a:extLst>
                  <a:ext uri="{FF2B5EF4-FFF2-40B4-BE49-F238E27FC236}">
                    <a16:creationId xmlns:a16="http://schemas.microsoft.com/office/drawing/2014/main" id="{2178E501-3A69-F3F3-5A8E-FB5104EC7ADA}"/>
                  </a:ext>
                </a:extLst>
              </p:cNvPr>
              <p:cNvCxnSpPr/>
              <p:nvPr/>
            </p:nvCxnSpPr>
            <p:spPr>
              <a:xfrm>
                <a:off x="8819618" y="4305640"/>
                <a:ext cx="1419380" cy="0"/>
              </a:xfrm>
              <a:prstGeom prst="straightConnector1">
                <a:avLst/>
              </a:prstGeom>
              <a:noFill/>
              <a:ln w="38100" cap="flat" cmpd="sng" algn="ctr">
                <a:solidFill>
                  <a:srgbClr val="000000"/>
                </a:solidFill>
                <a:prstDash val="solid"/>
                <a:headEnd type="none" w="lg" len="med"/>
                <a:tailEnd type="triangle"/>
              </a:ln>
              <a:effectLst/>
            </p:spPr>
          </p:cxnSp>
          <p:sp>
            <p:nvSpPr>
              <p:cNvPr id="26" name="Speech Bubble: Rectangle 25">
                <a:extLst>
                  <a:ext uri="{FF2B5EF4-FFF2-40B4-BE49-F238E27FC236}">
                    <a16:creationId xmlns:a16="http://schemas.microsoft.com/office/drawing/2014/main" id="{04F75C02-A2BB-91F8-C230-820CB4AE7314}"/>
                  </a:ext>
                </a:extLst>
              </p:cNvPr>
              <p:cNvSpPr/>
              <p:nvPr/>
            </p:nvSpPr>
            <p:spPr bwMode="auto">
              <a:xfrm>
                <a:off x="10329199" y="4050153"/>
                <a:ext cx="1277584" cy="510974"/>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Respuesta</a:t>
                </a:r>
              </a:p>
            </p:txBody>
          </p:sp>
          <p:sp>
            <p:nvSpPr>
              <p:cNvPr id="27" name="TextBox 26">
                <a:extLst>
                  <a:ext uri="{FF2B5EF4-FFF2-40B4-BE49-F238E27FC236}">
                    <a16:creationId xmlns:a16="http://schemas.microsoft.com/office/drawing/2014/main" id="{FA941C28-8818-9F29-4543-818D29121934}"/>
                  </a:ext>
                </a:extLst>
              </p:cNvPr>
              <p:cNvSpPr txBox="1"/>
              <p:nvPr/>
            </p:nvSpPr>
            <p:spPr>
              <a:xfrm>
                <a:off x="3770469" y="3176162"/>
                <a:ext cx="3466242"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800" b="1" i="0" strike="noStrike" cap="none" baseline="0" dirty="0">
                    <a:solidFill>
                      <a:srgbClr val="000000"/>
                    </a:solidFill>
                    <a:effectLst/>
                    <a:latin typeface="Segoe UI"/>
                    <a:ea typeface="Segoe UI"/>
                    <a:cs typeface="Segoe UI"/>
                  </a:rPr>
                  <a:t>Recuperar</a:t>
                </a:r>
                <a:r>
                  <a:rPr lang="es-ES" sz="1800" b="0" i="0" strike="noStrike" cap="none" baseline="0" dirty="0">
                    <a:solidFill>
                      <a:srgbClr val="000000"/>
                    </a:solidFill>
                    <a:effectLst/>
                    <a:latin typeface="Segoe UI"/>
                    <a:ea typeface="Segoe UI"/>
                    <a:cs typeface="Segoe UI"/>
                  </a:rPr>
                  <a:t> los datos de base en función de la entrada del usuario</a:t>
                </a:r>
              </a:p>
            </p:txBody>
          </p:sp>
          <p:sp>
            <p:nvSpPr>
              <p:cNvPr id="28" name="TextBox 27">
                <a:extLst>
                  <a:ext uri="{FF2B5EF4-FFF2-40B4-BE49-F238E27FC236}">
                    <a16:creationId xmlns:a16="http://schemas.microsoft.com/office/drawing/2014/main" id="{3C5531C1-9E1C-D211-CBA9-3352AC408869}"/>
                  </a:ext>
                </a:extLst>
              </p:cNvPr>
              <p:cNvSpPr txBox="1"/>
              <p:nvPr/>
            </p:nvSpPr>
            <p:spPr>
              <a:xfrm>
                <a:off x="5805625" y="4908500"/>
                <a:ext cx="2409699" cy="82296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800" b="1" i="0" strike="noStrike" cap="none" baseline="0" dirty="0">
                    <a:solidFill>
                      <a:srgbClr val="000000"/>
                    </a:solidFill>
                    <a:effectLst/>
                    <a:latin typeface="Segoe UI"/>
                    <a:ea typeface="Segoe UI"/>
                    <a:cs typeface="Segoe UI"/>
                  </a:rPr>
                  <a:t>Aumentar</a:t>
                </a:r>
                <a:r>
                  <a:rPr lang="es-ES" sz="1800" b="0" i="0" strike="noStrike" cap="none" baseline="0" dirty="0">
                    <a:solidFill>
                      <a:srgbClr val="000000"/>
                    </a:solidFill>
                    <a:effectLst/>
                    <a:latin typeface="Segoe UI"/>
                    <a:ea typeface="Segoe UI"/>
                    <a:cs typeface="Segoe UI"/>
                  </a:rPr>
                  <a:t> la pregunta con datos de base</a:t>
                </a:r>
              </a:p>
            </p:txBody>
          </p:sp>
          <p:sp>
            <p:nvSpPr>
              <p:cNvPr id="29" name="TextBox 28">
                <a:extLst>
                  <a:ext uri="{FF2B5EF4-FFF2-40B4-BE49-F238E27FC236}">
                    <a16:creationId xmlns:a16="http://schemas.microsoft.com/office/drawing/2014/main" id="{C580EC62-407A-72BF-DE78-E822A64F00F7}"/>
                  </a:ext>
                </a:extLst>
              </p:cNvPr>
              <p:cNvSpPr txBox="1"/>
              <p:nvPr/>
            </p:nvSpPr>
            <p:spPr>
              <a:xfrm>
                <a:off x="9574563" y="3176162"/>
                <a:ext cx="2460983" cy="82296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800" b="1" i="0" strike="noStrike" cap="none" baseline="0">
                    <a:solidFill>
                      <a:srgbClr val="000000"/>
                    </a:solidFill>
                    <a:effectLst/>
                    <a:latin typeface="Segoe UI"/>
                    <a:ea typeface="Segoe UI"/>
                    <a:cs typeface="Segoe UI"/>
                  </a:rPr>
                  <a:t>Generar</a:t>
                </a:r>
                <a:r>
                  <a:rPr lang="es-ES" sz="1800" b="0" i="0" strike="noStrike" cap="none" baseline="0">
                    <a:solidFill>
                      <a:srgbClr val="000000"/>
                    </a:solidFill>
                    <a:effectLst/>
                    <a:latin typeface="Segoe UI"/>
                    <a:ea typeface="Segoe UI"/>
                    <a:cs typeface="Segoe UI"/>
                  </a:rPr>
                  <a:t> una respuesta contextualizada</a:t>
                </a:r>
              </a:p>
            </p:txBody>
          </p:sp>
          <p:pic>
            <p:nvPicPr>
              <p:cNvPr id="30" name="Graphic 29" descr="Badge with solid fill">
                <a:extLst>
                  <a:ext uri="{FF2B5EF4-FFF2-40B4-BE49-F238E27FC236}">
                    <a16:creationId xmlns:a16="http://schemas.microsoft.com/office/drawing/2014/main" id="{88EA7B1C-FFAC-5BA3-4183-E68C5186A0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78722" y="4908500"/>
                <a:ext cx="503296" cy="503296"/>
              </a:xfrm>
              <a:prstGeom prst="rect">
                <a:avLst/>
              </a:prstGeom>
            </p:spPr>
          </p:pic>
          <p:pic>
            <p:nvPicPr>
              <p:cNvPr id="31" name="Graphic 30" descr="Badge 3 with solid fill">
                <a:extLst>
                  <a:ext uri="{FF2B5EF4-FFF2-40B4-BE49-F238E27FC236}">
                    <a16:creationId xmlns:a16="http://schemas.microsoft.com/office/drawing/2014/main" id="{2721ABEE-5ABD-C0EF-8C85-CF9CA0DC94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71267" y="3214135"/>
                <a:ext cx="503296" cy="503296"/>
              </a:xfrm>
              <a:prstGeom prst="rect">
                <a:avLst/>
              </a:prstGeom>
            </p:spPr>
          </p:pic>
          <p:pic>
            <p:nvPicPr>
              <p:cNvPr id="32" name="Graphic 31" descr="Badge 1 with solid fill">
                <a:extLst>
                  <a:ext uri="{FF2B5EF4-FFF2-40B4-BE49-F238E27FC236}">
                    <a16:creationId xmlns:a16="http://schemas.microsoft.com/office/drawing/2014/main" id="{D5A08C44-9AC5-78A3-41A3-5405C11D43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55813" y="3223098"/>
                <a:ext cx="503296" cy="503296"/>
              </a:xfrm>
              <a:prstGeom prst="rect">
                <a:avLst/>
              </a:prstGeom>
            </p:spPr>
          </p:pic>
        </p:grpSp>
        <p:grpSp>
          <p:nvGrpSpPr>
            <p:cNvPr id="8" name="Group 7">
              <a:extLst>
                <a:ext uri="{FF2B5EF4-FFF2-40B4-BE49-F238E27FC236}">
                  <a16:creationId xmlns:a16="http://schemas.microsoft.com/office/drawing/2014/main" id="{B3C4FE68-47BA-DC4A-375A-F8832B1B5DE0}"/>
                </a:ext>
              </a:extLst>
            </p:cNvPr>
            <p:cNvGrpSpPr/>
            <p:nvPr/>
          </p:nvGrpSpPr>
          <p:grpSpPr>
            <a:xfrm>
              <a:off x="2415297" y="5438337"/>
              <a:ext cx="1842363" cy="835503"/>
              <a:chOff x="2651759" y="5405086"/>
              <a:chExt cx="1842363" cy="835503"/>
            </a:xfrm>
          </p:grpSpPr>
          <p:sp>
            <p:nvSpPr>
              <p:cNvPr id="14" name="Rectangle 13">
                <a:extLst>
                  <a:ext uri="{FF2B5EF4-FFF2-40B4-BE49-F238E27FC236}">
                    <a16:creationId xmlns:a16="http://schemas.microsoft.com/office/drawing/2014/main" id="{F7C18D5C-3D71-B2F5-604D-B4AAD17978D0}"/>
                  </a:ext>
                </a:extLst>
              </p:cNvPr>
              <p:cNvSpPr/>
              <p:nvPr/>
            </p:nvSpPr>
            <p:spPr bwMode="auto">
              <a:xfrm>
                <a:off x="2651759" y="5405086"/>
                <a:ext cx="1820487" cy="835503"/>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5" name="TextBox 14">
                <a:extLst>
                  <a:ext uri="{FF2B5EF4-FFF2-40B4-BE49-F238E27FC236}">
                    <a16:creationId xmlns:a16="http://schemas.microsoft.com/office/drawing/2014/main" id="{1503D378-B186-C705-C5B1-B186ED4F166E}"/>
                  </a:ext>
                </a:extLst>
              </p:cNvPr>
              <p:cNvSpPr txBox="1"/>
              <p:nvPr/>
            </p:nvSpPr>
            <p:spPr>
              <a:xfrm>
                <a:off x="2754204" y="5475643"/>
                <a:ext cx="1739918" cy="1066800"/>
              </a:xfrm>
              <a:prstGeom prst="rect">
                <a:avLst/>
              </a:prstGeom>
              <a:noFill/>
            </p:spPr>
            <p:txBody>
              <a:bodyPr wrap="square" lIns="0" tIns="0" rIns="0" bIns="0" rtlCol="0">
                <a:spAutoFit/>
              </a:bodyPr>
              <a:lstStyle/>
              <a:p>
                <a:pPr algn="l"/>
                <a:r>
                  <a:rPr lang="es-ES" sz="1400" b="0" i="1" strike="noStrike" cap="none" baseline="0" dirty="0">
                    <a:solidFill>
                      <a:srgbClr val="000000"/>
                    </a:solidFill>
                    <a:effectLst/>
                    <a:latin typeface="Abadi"/>
                    <a:ea typeface="Abadi"/>
                    <a:cs typeface="Abadi"/>
                  </a:rPr>
                  <a:t>Lorem -&gt; [1,34,76,…]</a:t>
                </a:r>
              </a:p>
              <a:p>
                <a:pPr algn="l"/>
                <a:r>
                  <a:rPr lang="es-ES" sz="1400" b="0" i="1" strike="noStrike" cap="none" baseline="0" dirty="0" err="1">
                    <a:solidFill>
                      <a:srgbClr val="000000"/>
                    </a:solidFill>
                    <a:effectLst/>
                    <a:latin typeface="Abadi"/>
                    <a:ea typeface="Abadi"/>
                    <a:cs typeface="Abadi"/>
                  </a:rPr>
                  <a:t>Ipsum</a:t>
                </a:r>
                <a:r>
                  <a:rPr lang="es-ES" sz="1400" b="0" i="1" strike="noStrike" cap="none" baseline="0" dirty="0">
                    <a:solidFill>
                      <a:srgbClr val="000000"/>
                    </a:solidFill>
                    <a:effectLst/>
                    <a:latin typeface="Abadi"/>
                    <a:ea typeface="Abadi"/>
                    <a:cs typeface="Abadi"/>
                  </a:rPr>
                  <a:t> -&gt; [6,59,54,…]</a:t>
                </a:r>
              </a:p>
              <a:p>
                <a:pPr algn="l"/>
                <a:r>
                  <a:rPr lang="en-US" sz="1400" i="1" dirty="0">
                    <a:latin typeface="Abadi" panose="020F0502020204030204" pitchFamily="34" charset="0"/>
                  </a:rPr>
                  <a:t>…</a:t>
                </a:r>
              </a:p>
            </p:txBody>
          </p:sp>
        </p:grpSp>
        <p:cxnSp>
          <p:nvCxnSpPr>
            <p:cNvPr id="10" name="Straight Connector 9">
              <a:extLst>
                <a:ext uri="{FF2B5EF4-FFF2-40B4-BE49-F238E27FC236}">
                  <a16:creationId xmlns:a16="http://schemas.microsoft.com/office/drawing/2014/main" id="{F811DA4B-AB9D-455D-E694-E5F4F3749588}"/>
                </a:ext>
              </a:extLst>
            </p:cNvPr>
            <p:cNvCxnSpPr/>
            <p:nvPr/>
          </p:nvCxnSpPr>
          <p:spPr>
            <a:xfrm flipH="1">
              <a:off x="2435629" y="4660387"/>
              <a:ext cx="932581" cy="752599"/>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CA12770-F0C3-E625-B082-1021883C8F36}"/>
                </a:ext>
              </a:extLst>
            </p:cNvPr>
            <p:cNvCxnSpPr/>
            <p:nvPr/>
          </p:nvCxnSpPr>
          <p:spPr>
            <a:xfrm>
              <a:off x="3368210" y="4660387"/>
              <a:ext cx="863592" cy="77795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0F45025-5E7F-6FA2-7589-53BED159ABBF}"/>
                </a:ext>
              </a:extLst>
            </p:cNvPr>
            <p:cNvSpPr txBox="1"/>
            <p:nvPr/>
          </p:nvSpPr>
          <p:spPr>
            <a:xfrm>
              <a:off x="2485226" y="5167983"/>
              <a:ext cx="2196370" cy="230832"/>
            </a:xfrm>
            <a:prstGeom prst="rect">
              <a:avLst/>
            </a:prstGeom>
            <a:solidFill>
              <a:schemeClr val="bg1"/>
            </a:solid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Índice basado en vectores</a:t>
              </a:r>
            </a:p>
          </p:txBody>
        </p:sp>
        <p:sp>
          <p:nvSpPr>
            <p:cNvPr id="13" name="TextBox 12">
              <a:extLst>
                <a:ext uri="{FF2B5EF4-FFF2-40B4-BE49-F238E27FC236}">
                  <a16:creationId xmlns:a16="http://schemas.microsoft.com/office/drawing/2014/main" id="{32DB6E8D-8CAD-5406-21B7-152A912FBD2F}"/>
                </a:ext>
              </a:extLst>
            </p:cNvPr>
            <p:cNvSpPr txBox="1"/>
            <p:nvPr/>
          </p:nvSpPr>
          <p:spPr>
            <a:xfrm>
              <a:off x="8093030" y="3847158"/>
              <a:ext cx="740759" cy="246278"/>
            </a:xfrm>
            <a:prstGeom prst="rect">
              <a:avLst/>
            </a:prstGeom>
            <a:noFill/>
          </p:spPr>
          <p:txBody>
            <a:bodyPr wrap="none" lIns="0" tIns="0" rIns="0" bIns="0" rtlCol="0">
              <a:spAutoFit/>
            </a:bodyPr>
            <a:lstStyle/>
            <a:p>
              <a:pPr algn="l"/>
              <a:r>
                <a:rPr lang="es-ES" sz="1600" b="0" i="0" strike="noStrike" cap="none" baseline="0">
                  <a:solidFill>
                    <a:srgbClr val="000000"/>
                  </a:solidFill>
                  <a:effectLst/>
                  <a:latin typeface="Segoe UI"/>
                  <a:ea typeface="Segoe UI"/>
                  <a:cs typeface="Segoe UI"/>
                </a:rPr>
                <a:t>Modelo</a:t>
              </a:r>
            </a:p>
          </p:txBody>
        </p:sp>
      </p:grpSp>
    </p:spTree>
    <p:extLst>
      <p:ext uri="{BB962C8B-B14F-4D97-AF65-F5344CB8AC3E}">
        <p14:creationId xmlns:p14="http://schemas.microsoft.com/office/powerpoint/2010/main" val="108538812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DAB7-BCB8-C4F5-FD0E-8F0B860DD214}"/>
              </a:ext>
            </a:extLst>
          </p:cNvPr>
          <p:cNvSpPr>
            <a:spLocks noGrp="1"/>
          </p:cNvSpPr>
          <p:nvPr>
            <p:ph type="title"/>
          </p:nvPr>
        </p:nvSpPr>
        <p:spPr>
          <a:xfrm>
            <a:off x="588262" y="585216"/>
            <a:ext cx="11013474" cy="975360"/>
          </a:xfrm>
        </p:spPr>
        <p:txBody>
          <a:bodyPr/>
          <a:lstStyle/>
          <a:p>
            <a:r>
              <a:rPr lang="es-ES" sz="3200" b="0" i="0" strike="noStrike" cap="none" baseline="0">
                <a:solidFill>
                  <a:srgbClr val="000000"/>
                </a:solidFill>
                <a:effectLst/>
                <a:latin typeface="Segoe UI Semibold"/>
                <a:ea typeface="Segoe UI Semibold"/>
                <a:cs typeface="Segoe UI Semibold"/>
              </a:rPr>
              <a:t>Ajuste de un modelo para un comportamiento coherente</a:t>
            </a:r>
          </a:p>
        </p:txBody>
      </p:sp>
      <p:sp>
        <p:nvSpPr>
          <p:cNvPr id="4" name="Footer Placeholder 3">
            <a:extLst>
              <a:ext uri="{FF2B5EF4-FFF2-40B4-BE49-F238E27FC236}">
                <a16:creationId xmlns:a16="http://schemas.microsoft.com/office/drawing/2014/main" id="{F3606F89-1D6A-F94B-1BD2-C07B74591974}"/>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
        <p:nvSpPr>
          <p:cNvPr id="9" name="Text Placeholder 2">
            <a:extLst>
              <a:ext uri="{FF2B5EF4-FFF2-40B4-BE49-F238E27FC236}">
                <a16:creationId xmlns:a16="http://schemas.microsoft.com/office/drawing/2014/main" id="{A12AD542-1514-73E7-1991-F7160FCFD7EE}"/>
              </a:ext>
            </a:extLst>
          </p:cNvPr>
          <p:cNvSpPr>
            <a:spLocks noGrp="1"/>
          </p:cNvSpPr>
          <p:nvPr>
            <p:ph type="body" sz="quarter" idx="15"/>
          </p:nvPr>
        </p:nvSpPr>
        <p:spPr>
          <a:xfrm>
            <a:off x="588262" y="2083498"/>
            <a:ext cx="4860254" cy="2438400"/>
          </a:xfrm>
        </p:spPr>
        <p:txBody>
          <a:bodyPr/>
          <a:lstStyle/>
          <a:p>
            <a:pPr>
              <a:spcBef>
                <a:spcPts val="1200"/>
              </a:spcBef>
            </a:pPr>
            <a:r>
              <a:rPr lang="es-ES" sz="2000" b="0" i="0" strike="noStrike" cap="none" baseline="0" dirty="0">
                <a:solidFill>
                  <a:srgbClr val="000000"/>
                </a:solidFill>
                <a:effectLst/>
                <a:latin typeface="Segoe UI"/>
                <a:ea typeface="Segoe UI"/>
                <a:cs typeface="Segoe UI"/>
              </a:rPr>
              <a:t>Entrenamiento adicional para un</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modelo básico</a:t>
            </a:r>
          </a:p>
          <a:p>
            <a:pPr>
              <a:spcBef>
                <a:spcPts val="1200"/>
              </a:spcBef>
            </a:pPr>
            <a:r>
              <a:rPr lang="es-ES" sz="2000" b="0" i="0" strike="noStrike" cap="none" baseline="0" dirty="0">
                <a:solidFill>
                  <a:srgbClr val="000000"/>
                </a:solidFill>
                <a:effectLst/>
                <a:latin typeface="Segoe UI"/>
                <a:ea typeface="Segoe UI"/>
                <a:cs typeface="Segoe UI"/>
              </a:rPr>
              <a:t>Proporciona al modelo mensajes</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y respuestas de ejemplo</a:t>
            </a:r>
          </a:p>
          <a:p>
            <a:pPr>
              <a:spcBef>
                <a:spcPts val="1200"/>
              </a:spcBef>
            </a:pPr>
            <a:r>
              <a:rPr lang="es-ES" sz="2000" b="0" i="0" strike="noStrike" cap="none" baseline="0" dirty="0">
                <a:solidFill>
                  <a:srgbClr val="000000"/>
                </a:solidFill>
                <a:effectLst/>
                <a:latin typeface="Segoe UI"/>
                <a:ea typeface="Segoe UI"/>
                <a:cs typeface="Segoe UI"/>
              </a:rPr>
              <a:t>Se usa para maximizar la coherencia</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del tono </a:t>
            </a:r>
            <a:r>
              <a:rPr lang="es-ES" sz="2000" b="0" i="1" strike="noStrike" cap="none" baseline="0" dirty="0" err="1">
                <a:solidFill>
                  <a:srgbClr val="000000"/>
                </a:solidFill>
                <a:effectLst/>
                <a:latin typeface="Segoe UI"/>
                <a:ea typeface="Segoe UI"/>
                <a:cs typeface="Segoe UI"/>
              </a:rPr>
              <a:t>tono</a:t>
            </a:r>
            <a:r>
              <a:rPr lang="es-ES" sz="2000" b="0" i="1" strike="noStrike" cap="none" baseline="0" dirty="0">
                <a:solidFill>
                  <a:srgbClr val="000000"/>
                </a:solidFill>
                <a:effectLst/>
                <a:latin typeface="Segoe UI"/>
                <a:ea typeface="Segoe UI"/>
                <a:cs typeface="Segoe UI"/>
              </a:rPr>
              <a:t> </a:t>
            </a:r>
            <a:r>
              <a:rPr lang="es-ES" sz="2000" b="0" i="0" strike="noStrike" cap="none" baseline="0" dirty="0">
                <a:solidFill>
                  <a:srgbClr val="000000"/>
                </a:solidFill>
                <a:effectLst/>
                <a:latin typeface="Segoe UI"/>
                <a:ea typeface="Segoe UI"/>
                <a:cs typeface="Segoe UI"/>
              </a:rPr>
              <a:t>y</a:t>
            </a:r>
            <a:r>
              <a:rPr lang="es-ES" sz="2000" b="0" i="1" strike="noStrike" cap="none" baseline="0" dirty="0">
                <a:solidFill>
                  <a:srgbClr val="000000"/>
                </a:solidFill>
                <a:effectLst/>
                <a:latin typeface="Segoe UI"/>
                <a:ea typeface="Segoe UI"/>
                <a:cs typeface="Segoe UI"/>
              </a:rPr>
              <a:t> estilo </a:t>
            </a:r>
            <a:r>
              <a:rPr lang="es-ES" sz="2000" b="0" i="0" strike="noStrike" cap="none" baseline="0" dirty="0">
                <a:solidFill>
                  <a:srgbClr val="000000"/>
                </a:solidFill>
                <a:effectLst/>
                <a:latin typeface="Segoe UI"/>
                <a:ea typeface="Segoe UI"/>
                <a:cs typeface="Segoe UI"/>
              </a:rPr>
              <a:t>del modelo en</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las respuestas (cómo debe </a:t>
            </a:r>
            <a:r>
              <a:rPr lang="es-ES" sz="2000" b="0" i="1" strike="noStrike" cap="none" baseline="0" dirty="0">
                <a:solidFill>
                  <a:srgbClr val="000000"/>
                </a:solidFill>
                <a:effectLst/>
                <a:latin typeface="Segoe UI"/>
                <a:ea typeface="Segoe UI"/>
                <a:cs typeface="Segoe UI"/>
              </a:rPr>
              <a:t>actuar</a:t>
            </a:r>
            <a:r>
              <a:rPr lang="es-ES" sz="2000" b="0" i="0" strike="noStrike" cap="none" baseline="0" dirty="0">
                <a:solidFill>
                  <a:srgbClr val="000000"/>
                </a:solidFill>
                <a:effectLst/>
                <a:latin typeface="Segoe UI"/>
                <a:ea typeface="Segoe UI"/>
                <a:cs typeface="Segoe UI"/>
              </a:rPr>
              <a:t>)</a:t>
            </a:r>
          </a:p>
        </p:txBody>
      </p:sp>
      <p:grpSp>
        <p:nvGrpSpPr>
          <p:cNvPr id="33" name="Group 32">
            <a:extLst>
              <a:ext uri="{FF2B5EF4-FFF2-40B4-BE49-F238E27FC236}">
                <a16:creationId xmlns:a16="http://schemas.microsoft.com/office/drawing/2014/main" id="{75070A97-6059-8B7B-EBA1-AAFAD5E0BE52}"/>
              </a:ext>
              <a:ext uri="{C183D7F6-B498-43B3-948B-1728B52AA6E4}">
                <adec:decorative xmlns:adec="http://schemas.microsoft.com/office/drawing/2017/decorative" val="1"/>
              </a:ext>
            </a:extLst>
          </p:cNvPr>
          <p:cNvGrpSpPr/>
          <p:nvPr/>
        </p:nvGrpSpPr>
        <p:grpSpPr>
          <a:xfrm>
            <a:off x="5797826" y="2083498"/>
            <a:ext cx="5327374" cy="2289719"/>
            <a:chOff x="5797826" y="2083498"/>
            <a:chExt cx="5327374" cy="2289719"/>
          </a:xfrm>
        </p:grpSpPr>
        <p:sp>
          <p:nvSpPr>
            <p:cNvPr id="34" name="Rectangle 33">
              <a:extLst>
                <a:ext uri="{FF2B5EF4-FFF2-40B4-BE49-F238E27FC236}">
                  <a16:creationId xmlns:a16="http://schemas.microsoft.com/office/drawing/2014/main" id="{CC7241D6-E1FF-D238-12A7-54F17DA98F91}"/>
                </a:ext>
              </a:extLst>
            </p:cNvPr>
            <p:cNvSpPr/>
            <p:nvPr/>
          </p:nvSpPr>
          <p:spPr bwMode="auto">
            <a:xfrm>
              <a:off x="5797826" y="2083498"/>
              <a:ext cx="5327374" cy="2289719"/>
            </a:xfrm>
            <a:prstGeom prst="rect">
              <a:avLst/>
            </a:prstGeom>
            <a:solidFill>
              <a:schemeClr val="bg1">
                <a:lumMod val="95000"/>
              </a:schemeClr>
            </a:solidFill>
            <a:ln>
              <a:solidFill>
                <a:schemeClr val="bg1">
                  <a:lumMod val="6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35" name="Group 34">
              <a:extLst>
                <a:ext uri="{FF2B5EF4-FFF2-40B4-BE49-F238E27FC236}">
                  <a16:creationId xmlns:a16="http://schemas.microsoft.com/office/drawing/2014/main" id="{4B69CBE5-0D02-ED7B-DCF2-E5E4CAFD75A8}"/>
                </a:ext>
              </a:extLst>
            </p:cNvPr>
            <p:cNvGrpSpPr/>
            <p:nvPr/>
          </p:nvGrpSpPr>
          <p:grpSpPr>
            <a:xfrm>
              <a:off x="6416943" y="2376305"/>
              <a:ext cx="4089139" cy="1699340"/>
              <a:chOff x="6380569" y="2276972"/>
              <a:chExt cx="4089139" cy="1699340"/>
            </a:xfrm>
          </p:grpSpPr>
          <p:grpSp>
            <p:nvGrpSpPr>
              <p:cNvPr id="36" name="Group 35">
                <a:extLst>
                  <a:ext uri="{FF2B5EF4-FFF2-40B4-BE49-F238E27FC236}">
                    <a16:creationId xmlns:a16="http://schemas.microsoft.com/office/drawing/2014/main" id="{722FC41B-46F5-0F7E-D8D5-45F5F33E0DE7}"/>
                  </a:ext>
                </a:extLst>
              </p:cNvPr>
              <p:cNvGrpSpPr/>
              <p:nvPr/>
            </p:nvGrpSpPr>
            <p:grpSpPr>
              <a:xfrm>
                <a:off x="7933498" y="2427259"/>
                <a:ext cx="881270" cy="881270"/>
                <a:chOff x="5638800" y="2971800"/>
                <a:chExt cx="914400" cy="914400"/>
              </a:xfrm>
              <a:solidFill>
                <a:srgbClr val="0078D4"/>
              </a:solidFill>
            </p:grpSpPr>
            <p:pic>
              <p:nvPicPr>
                <p:cNvPr id="46" name="Graphic 45" descr="Document with solid fill">
                  <a:extLst>
                    <a:ext uri="{FF2B5EF4-FFF2-40B4-BE49-F238E27FC236}">
                      <a16:creationId xmlns:a16="http://schemas.microsoft.com/office/drawing/2014/main" id="{A9077B0A-4993-9E23-3499-B32B6885DF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2971800"/>
                  <a:ext cx="914400" cy="914400"/>
                </a:xfrm>
                <a:prstGeom prst="rect">
                  <a:avLst/>
                </a:prstGeom>
              </p:spPr>
            </p:pic>
            <p:cxnSp>
              <p:nvCxnSpPr>
                <p:cNvPr id="47" name="Straight Connector 46">
                  <a:extLst>
                    <a:ext uri="{FF2B5EF4-FFF2-40B4-BE49-F238E27FC236}">
                      <a16:creationId xmlns:a16="http://schemas.microsoft.com/office/drawing/2014/main" id="{4FDA66B0-251E-9F63-D496-06F95AD6786A}"/>
                    </a:ext>
                  </a:extLst>
                </p:cNvPr>
                <p:cNvCxnSpPr/>
                <p:nvPr/>
              </p:nvCxnSpPr>
              <p:spPr>
                <a:xfrm flipH="1">
                  <a:off x="6094999" y="3313957"/>
                  <a:ext cx="0" cy="403278"/>
                </a:xfrm>
                <a:prstGeom prst="line">
                  <a:avLst/>
                </a:prstGeom>
                <a:grpFill/>
                <a:ln w="762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743DA84-9634-5422-35CD-E165C2C3253E}"/>
                    </a:ext>
                  </a:extLst>
                </p:cNvPr>
                <p:cNvCxnSpPr/>
                <p:nvPr/>
              </p:nvCxnSpPr>
              <p:spPr>
                <a:xfrm>
                  <a:off x="5897217" y="3327209"/>
                  <a:ext cx="197782" cy="0"/>
                </a:xfrm>
                <a:prstGeom prst="line">
                  <a:avLst/>
                </a:prstGeom>
                <a:grpFill/>
                <a:ln w="762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pic>
            <p:nvPicPr>
              <p:cNvPr id="37" name="Graphic 36" descr="Cube with solid fill">
                <a:extLst>
                  <a:ext uri="{FF2B5EF4-FFF2-40B4-BE49-F238E27FC236}">
                    <a16:creationId xmlns:a16="http://schemas.microsoft.com/office/drawing/2014/main" id="{0E00983B-74DE-CFCF-FD58-AC33F673C4B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80569" y="2276972"/>
                <a:ext cx="1181843" cy="1181843"/>
              </a:xfrm>
              <a:prstGeom prst="rect">
                <a:avLst/>
              </a:prstGeom>
            </p:spPr>
          </p:pic>
          <p:sp>
            <p:nvSpPr>
              <p:cNvPr id="38" name="TextBox 37">
                <a:extLst>
                  <a:ext uri="{FF2B5EF4-FFF2-40B4-BE49-F238E27FC236}">
                    <a16:creationId xmlns:a16="http://schemas.microsoft.com/office/drawing/2014/main" id="{7BF63221-A8E1-1C0F-38E9-EA99F784946C}"/>
                  </a:ext>
                </a:extLst>
              </p:cNvPr>
              <p:cNvSpPr txBox="1"/>
              <p:nvPr/>
            </p:nvSpPr>
            <p:spPr>
              <a:xfrm>
                <a:off x="7577124" y="2606718"/>
                <a:ext cx="320601" cy="553998"/>
              </a:xfrm>
              <a:prstGeom prst="rect">
                <a:avLst/>
              </a:prstGeom>
              <a:noFill/>
            </p:spPr>
            <p:txBody>
              <a:bodyPr wrap="none" lIns="0" tIns="0" rIns="0" bIns="0" rtlCol="0">
                <a:spAutoFit/>
              </a:bodyPr>
              <a:lstStyle/>
              <a:p>
                <a:pPr algn="l"/>
                <a:r>
                  <a:rPr lang="en-US" sz="3600">
                    <a:solidFill>
                      <a:schemeClr val="accent2"/>
                    </a:solidFill>
                    <a:latin typeface="+mj-lt"/>
                  </a:rPr>
                  <a:t>+</a:t>
                </a:r>
              </a:p>
            </p:txBody>
          </p:sp>
          <p:sp>
            <p:nvSpPr>
              <p:cNvPr id="39" name="TextBox 38">
                <a:extLst>
                  <a:ext uri="{FF2B5EF4-FFF2-40B4-BE49-F238E27FC236}">
                    <a16:creationId xmlns:a16="http://schemas.microsoft.com/office/drawing/2014/main" id="{8EDDFAB3-DC4D-6EB1-8EF2-1B1E658D9F62}"/>
                  </a:ext>
                </a:extLst>
              </p:cNvPr>
              <p:cNvSpPr txBox="1"/>
              <p:nvPr/>
            </p:nvSpPr>
            <p:spPr>
              <a:xfrm>
                <a:off x="8812838" y="2606718"/>
                <a:ext cx="320601" cy="553998"/>
              </a:xfrm>
              <a:prstGeom prst="rect">
                <a:avLst/>
              </a:prstGeom>
              <a:noFill/>
            </p:spPr>
            <p:txBody>
              <a:bodyPr wrap="none" lIns="0" tIns="0" rIns="0" bIns="0" rtlCol="0">
                <a:spAutoFit/>
              </a:bodyPr>
              <a:lstStyle/>
              <a:p>
                <a:pPr algn="l"/>
                <a:r>
                  <a:rPr lang="en-US" sz="3600">
                    <a:solidFill>
                      <a:schemeClr val="accent2"/>
                    </a:solidFill>
                    <a:latin typeface="+mj-lt"/>
                  </a:rPr>
                  <a:t>=</a:t>
                </a:r>
              </a:p>
            </p:txBody>
          </p:sp>
          <p:sp>
            <p:nvSpPr>
              <p:cNvPr id="40" name="TextBox 39">
                <a:extLst>
                  <a:ext uri="{FF2B5EF4-FFF2-40B4-BE49-F238E27FC236}">
                    <a16:creationId xmlns:a16="http://schemas.microsoft.com/office/drawing/2014/main" id="{1430566F-0C14-61BD-7AB5-4A2FAEC93A9D}"/>
                  </a:ext>
                </a:extLst>
              </p:cNvPr>
              <p:cNvSpPr txBox="1"/>
              <p:nvPr/>
            </p:nvSpPr>
            <p:spPr>
              <a:xfrm>
                <a:off x="6380569" y="3429000"/>
                <a:ext cx="1196555" cy="487680"/>
              </a:xfrm>
              <a:prstGeom prst="rect">
                <a:avLst/>
              </a:prstGeom>
              <a:noFill/>
            </p:spPr>
            <p:txBody>
              <a:bodyPr wrap="square" lIns="0" tIns="0" rIns="0" bIns="0" rtlCol="0">
                <a:spAutoFit/>
              </a:bodyPr>
              <a:lstStyle/>
              <a:p>
                <a:pPr algn="ctr"/>
                <a:r>
                  <a:rPr lang="es-ES" sz="1600" b="0" i="0" strike="noStrike" cap="none" baseline="0">
                    <a:solidFill>
                      <a:srgbClr val="000000"/>
                    </a:solidFill>
                    <a:effectLst/>
                    <a:latin typeface="Segoe UI"/>
                    <a:ea typeface="Segoe UI"/>
                    <a:cs typeface="Segoe UI"/>
                  </a:rPr>
                  <a:t>Modelo básico</a:t>
                </a:r>
              </a:p>
            </p:txBody>
          </p:sp>
          <p:sp>
            <p:nvSpPr>
              <p:cNvPr id="41" name="TextBox 40">
                <a:extLst>
                  <a:ext uri="{FF2B5EF4-FFF2-40B4-BE49-F238E27FC236}">
                    <a16:creationId xmlns:a16="http://schemas.microsoft.com/office/drawing/2014/main" id="{D0CD71B0-DC21-8DF2-1CFB-743DCDA2DAAF}"/>
                  </a:ext>
                </a:extLst>
              </p:cNvPr>
              <p:cNvSpPr txBox="1"/>
              <p:nvPr/>
            </p:nvSpPr>
            <p:spPr>
              <a:xfrm>
                <a:off x="7897725" y="3458816"/>
                <a:ext cx="1121001" cy="492443"/>
              </a:xfrm>
              <a:prstGeom prst="rect">
                <a:avLst/>
              </a:prstGeom>
              <a:noFill/>
            </p:spPr>
            <p:txBody>
              <a:bodyPr wrap="square" lIns="0" tIns="0" rIns="0" bIns="0" rtlCol="0">
                <a:spAutoFit/>
              </a:bodyPr>
              <a:lstStyle/>
              <a:p>
                <a:pPr algn="ctr"/>
                <a:r>
                  <a:rPr lang="es-ES" sz="1600" b="0" i="0" strike="noStrike" cap="none" baseline="0" dirty="0">
                    <a:solidFill>
                      <a:srgbClr val="000000"/>
                    </a:solidFill>
                    <a:effectLst/>
                    <a:latin typeface="Segoe UI"/>
                    <a:ea typeface="Segoe UI"/>
                    <a:cs typeface="Segoe UI"/>
                  </a:rPr>
                  <a:t>Datos de aprendizaje.</a:t>
                </a:r>
              </a:p>
            </p:txBody>
          </p:sp>
          <p:sp>
            <p:nvSpPr>
              <p:cNvPr id="42" name="TextBox 41">
                <a:extLst>
                  <a:ext uri="{FF2B5EF4-FFF2-40B4-BE49-F238E27FC236}">
                    <a16:creationId xmlns:a16="http://schemas.microsoft.com/office/drawing/2014/main" id="{E72F7154-C9F6-6ACA-3A71-B2C14A400C8C}"/>
                  </a:ext>
                </a:extLst>
              </p:cNvPr>
              <p:cNvSpPr txBox="1"/>
              <p:nvPr/>
            </p:nvSpPr>
            <p:spPr>
              <a:xfrm>
                <a:off x="9414881" y="3488632"/>
                <a:ext cx="1054827" cy="487680"/>
              </a:xfrm>
              <a:prstGeom prst="rect">
                <a:avLst/>
              </a:prstGeom>
              <a:noFill/>
            </p:spPr>
            <p:txBody>
              <a:bodyPr wrap="square" lIns="0" tIns="0" rIns="0" bIns="0" rtlCol="0">
                <a:spAutoFit/>
              </a:bodyPr>
              <a:lstStyle/>
              <a:p>
                <a:pPr algn="ctr"/>
                <a:r>
                  <a:rPr lang="es-ES" sz="1600" b="0" i="0" strike="noStrike" cap="none" baseline="0" dirty="0" err="1">
                    <a:solidFill>
                      <a:srgbClr val="000000"/>
                    </a:solidFill>
                    <a:effectLst/>
                    <a:latin typeface="Segoe UI"/>
                    <a:ea typeface="Segoe UI"/>
                    <a:cs typeface="Segoe UI"/>
                  </a:rPr>
                  <a:t>fine_tuned_model</a:t>
                </a:r>
                <a:endParaRPr lang="es-ES" sz="1600" b="0" i="0" strike="noStrike" cap="none" baseline="0" dirty="0">
                  <a:solidFill>
                    <a:srgbClr val="000000"/>
                  </a:solidFill>
                  <a:effectLst/>
                  <a:latin typeface="Segoe UI"/>
                  <a:ea typeface="Segoe UI"/>
                  <a:cs typeface="Segoe UI"/>
                </a:endParaRPr>
              </a:p>
            </p:txBody>
          </p:sp>
          <p:grpSp>
            <p:nvGrpSpPr>
              <p:cNvPr id="43" name="Group 42">
                <a:extLst>
                  <a:ext uri="{FF2B5EF4-FFF2-40B4-BE49-F238E27FC236}">
                    <a16:creationId xmlns:a16="http://schemas.microsoft.com/office/drawing/2014/main" id="{E5B09E02-0A1C-80FB-B008-FE7420881AE8}"/>
                  </a:ext>
                </a:extLst>
              </p:cNvPr>
              <p:cNvGrpSpPr/>
              <p:nvPr/>
            </p:nvGrpSpPr>
            <p:grpSpPr>
              <a:xfrm>
                <a:off x="9254438" y="2276972"/>
                <a:ext cx="1181843" cy="1181843"/>
                <a:chOff x="9254438" y="2276972"/>
                <a:chExt cx="1181843" cy="1181843"/>
              </a:xfrm>
            </p:grpSpPr>
            <p:pic>
              <p:nvPicPr>
                <p:cNvPr id="44" name="Graphic 43" descr="Cube with solid fill">
                  <a:extLst>
                    <a:ext uri="{FF2B5EF4-FFF2-40B4-BE49-F238E27FC236}">
                      <a16:creationId xmlns:a16="http://schemas.microsoft.com/office/drawing/2014/main" id="{B7523DDB-72D2-97D0-E111-07C89685A5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54438" y="2276972"/>
                  <a:ext cx="1181843" cy="1181843"/>
                </a:xfrm>
                <a:prstGeom prst="rect">
                  <a:avLst/>
                </a:prstGeom>
              </p:spPr>
            </p:pic>
            <p:sp>
              <p:nvSpPr>
                <p:cNvPr id="45" name="TextBox 44">
                  <a:extLst>
                    <a:ext uri="{FF2B5EF4-FFF2-40B4-BE49-F238E27FC236}">
                      <a16:creationId xmlns:a16="http://schemas.microsoft.com/office/drawing/2014/main" id="{29641BE8-9B2B-41D4-0CFA-97CCF90D2D5B}"/>
                    </a:ext>
                  </a:extLst>
                </p:cNvPr>
                <p:cNvSpPr txBox="1"/>
                <p:nvPr/>
              </p:nvSpPr>
              <p:spPr>
                <a:xfrm>
                  <a:off x="9942564" y="2631421"/>
                  <a:ext cx="245260" cy="677108"/>
                </a:xfrm>
                <a:prstGeom prst="rect">
                  <a:avLst/>
                </a:prstGeom>
                <a:noFill/>
              </p:spPr>
              <p:txBody>
                <a:bodyPr wrap="none" lIns="0" tIns="0" rIns="0" bIns="0" rtlCol="0">
                  <a:spAutoFit/>
                </a:bodyPr>
                <a:lstStyle/>
                <a:p>
                  <a:pPr algn="l"/>
                  <a:r>
                    <a:rPr lang="en-US" sz="4400">
                      <a:solidFill>
                        <a:schemeClr val="accent2"/>
                      </a:solidFill>
                      <a:latin typeface="+mj-lt"/>
                    </a:rPr>
                    <a:t>*</a:t>
                  </a:r>
                </a:p>
              </p:txBody>
            </p:sp>
          </p:grpSp>
        </p:grpSp>
      </p:grpSp>
    </p:spTree>
    <p:extLst>
      <p:ext uri="{BB962C8B-B14F-4D97-AF65-F5344CB8AC3E}">
        <p14:creationId xmlns:p14="http://schemas.microsoft.com/office/powerpoint/2010/main" val="118769378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2F1E5-D3A3-49BA-06EE-3DCB08A95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D6A2B-B26C-A7BC-922E-4EFD0BD9D0B1}"/>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4704FC6E-5738-4EA1-7A25-8D69F2ADC850}"/>
              </a:ext>
            </a:extLst>
          </p:cNvPr>
          <p:cNvSpPr>
            <a:spLocks noGrp="1"/>
          </p:cNvSpPr>
          <p:nvPr>
            <p:ph type="body" sz="quarter" idx="17"/>
          </p:nvPr>
        </p:nvSpPr>
        <p:spPr>
          <a:xfrm>
            <a:off x="1235074" y="1766085"/>
            <a:ext cx="8867775" cy="213360"/>
          </a:xfrm>
        </p:spPr>
        <p:txBody>
          <a:bodyPr/>
          <a:lstStyle/>
          <a:p>
            <a:r>
              <a:rPr lang="es-ES" sz="1400" b="1" i="0" strike="noStrike" cap="none" baseline="0">
                <a:solidFill>
                  <a:srgbClr val="000000"/>
                </a:solidFill>
                <a:effectLst/>
                <a:latin typeface="Segoe UI Semibold"/>
                <a:ea typeface="Segoe UI Semibold"/>
                <a:cs typeface="Segoe UI Semibold"/>
              </a:rPr>
              <a:t>¿Cuál es la finalidad del mensaje del sistema en una solicitud?</a:t>
            </a:r>
          </a:p>
        </p:txBody>
      </p:sp>
      <p:sp>
        <p:nvSpPr>
          <p:cNvPr id="9" name="Text Placeholder 8">
            <a:extLst>
              <a:ext uri="{FF2B5EF4-FFF2-40B4-BE49-F238E27FC236}">
                <a16:creationId xmlns:a16="http://schemas.microsoft.com/office/drawing/2014/main" id="{9F711E4F-18C7-7C8A-D10F-213AC70B99F2}"/>
              </a:ext>
            </a:extLst>
          </p:cNvPr>
          <p:cNvSpPr>
            <a:spLocks noGrp="1"/>
          </p:cNvSpPr>
          <p:nvPr>
            <p:ph type="body" sz="quarter" idx="15"/>
          </p:nvPr>
        </p:nvSpPr>
        <p:spPr>
          <a:xfrm>
            <a:off x="1235075" y="2071348"/>
            <a:ext cx="8775098" cy="725424"/>
          </a:xfrm>
          <a:noFill/>
        </p:spPr>
        <p:txBody>
          <a:bodyPr/>
          <a:lstStyle/>
          <a:p>
            <a:r>
              <a:rPr lang="es-ES" sz="1400" b="0" i="0" strike="noStrike" cap="none" baseline="0">
                <a:solidFill>
                  <a:srgbClr val="000000"/>
                </a:solidFill>
                <a:effectLst/>
                <a:latin typeface="Segoe UI"/>
                <a:ea typeface="Segoe UI"/>
                <a:cs typeface="Segoe UI"/>
              </a:rPr>
              <a:t>Definir las restricciones de salida, así como el comportamiento y rol del modelo</a:t>
            </a:r>
          </a:p>
          <a:p>
            <a:r>
              <a:rPr lang="es-ES" sz="1400" b="0" i="0" strike="noStrike" cap="none" baseline="0">
                <a:solidFill>
                  <a:srgbClr val="000000"/>
                </a:solidFill>
                <a:effectLst/>
                <a:latin typeface="Segoe UI"/>
                <a:ea typeface="Segoe UI"/>
                <a:cs typeface="Segoe UI"/>
              </a:rPr>
              <a:t>Proporcionar datos de entrenamiento que cambien de forma permanente el modelo</a:t>
            </a:r>
          </a:p>
          <a:p>
            <a:r>
              <a:rPr lang="es-ES" sz="1400" b="0" i="0" strike="noStrike" cap="none" baseline="0">
                <a:solidFill>
                  <a:srgbClr val="000000"/>
                </a:solidFill>
                <a:effectLst/>
                <a:latin typeface="Segoe UI"/>
                <a:ea typeface="Segoe UI"/>
                <a:cs typeface="Segoe UI"/>
              </a:rPr>
              <a:t>Recuperar datos de una fuente de datos externos</a:t>
            </a:r>
          </a:p>
        </p:txBody>
      </p:sp>
      <p:sp>
        <p:nvSpPr>
          <p:cNvPr id="18" name="Text Placeholder 17">
            <a:extLst>
              <a:ext uri="{FF2B5EF4-FFF2-40B4-BE49-F238E27FC236}">
                <a16:creationId xmlns:a16="http://schemas.microsoft.com/office/drawing/2014/main" id="{4BC0E30B-5CCF-F56B-7BCB-387C8D489304}"/>
              </a:ext>
            </a:extLst>
          </p:cNvPr>
          <p:cNvSpPr>
            <a:spLocks noGrp="1"/>
          </p:cNvSpPr>
          <p:nvPr>
            <p:ph type="body" sz="quarter" idx="22"/>
          </p:nvPr>
        </p:nvSpPr>
        <p:spPr>
          <a:xfrm>
            <a:off x="1235074" y="3000266"/>
            <a:ext cx="9210675" cy="426720"/>
          </a:xfrm>
        </p:spPr>
        <p:txBody>
          <a:bodyPr/>
          <a:lstStyle/>
          <a:p>
            <a:r>
              <a:rPr lang="es-ES" sz="1400" b="0" i="0" strike="noStrike" cap="none" baseline="0" dirty="0">
                <a:solidFill>
                  <a:srgbClr val="000000"/>
                </a:solidFill>
                <a:effectLst/>
                <a:latin typeface="Segoe UI Semibold"/>
                <a:ea typeface="Segoe UI Semibold"/>
                <a:cs typeface="Segoe UI Semibold"/>
              </a:rPr>
              <a:t>¿Cuándo debería usar la generación aumentada de recuperación (RAG) en lugar de confiar únicamente</a:t>
            </a:r>
            <a:br>
              <a:rPr lang="es-ES" sz="1400" b="0" i="0" strike="noStrike" cap="none" baseline="0" dirty="0">
                <a:solidFill>
                  <a:srgbClr val="000000"/>
                </a:solidFill>
                <a:effectLst/>
                <a:latin typeface="Segoe UI Semibold"/>
                <a:ea typeface="Segoe UI Semibold"/>
                <a:cs typeface="Segoe UI Semibold"/>
              </a:rPr>
            </a:br>
            <a:r>
              <a:rPr lang="es-ES" sz="1400" b="0" i="0" strike="noStrike" cap="none" baseline="0" dirty="0">
                <a:solidFill>
                  <a:srgbClr val="000000"/>
                </a:solidFill>
                <a:effectLst/>
                <a:latin typeface="Segoe UI Semibold"/>
                <a:ea typeface="Segoe UI Semibold"/>
                <a:cs typeface="Segoe UI Semibold"/>
              </a:rPr>
              <a:t>en la ingeniería de solicitudes?</a:t>
            </a:r>
          </a:p>
        </p:txBody>
      </p:sp>
      <p:sp>
        <p:nvSpPr>
          <p:cNvPr id="19" name="Text Placeholder 18">
            <a:extLst>
              <a:ext uri="{FF2B5EF4-FFF2-40B4-BE49-F238E27FC236}">
                <a16:creationId xmlns:a16="http://schemas.microsoft.com/office/drawing/2014/main" id="{1FF6BCE5-62A7-D68F-C7E9-C221E7463818}"/>
              </a:ext>
            </a:extLst>
          </p:cNvPr>
          <p:cNvSpPr>
            <a:spLocks noGrp="1"/>
          </p:cNvSpPr>
          <p:nvPr>
            <p:ph type="body" sz="quarter" idx="23"/>
          </p:nvPr>
        </p:nvSpPr>
        <p:spPr>
          <a:xfrm>
            <a:off x="1235073" y="3433539"/>
            <a:ext cx="9210675" cy="938784"/>
          </a:xfrm>
        </p:spPr>
        <p:txBody>
          <a:bodyPr/>
          <a:lstStyle/>
          <a:p>
            <a:r>
              <a:rPr lang="es-ES" sz="1400" b="0" i="0" strike="noStrike" cap="none" baseline="0" dirty="0">
                <a:solidFill>
                  <a:srgbClr val="000000"/>
                </a:solidFill>
                <a:effectLst/>
                <a:latin typeface="Segoe UI"/>
                <a:ea typeface="Segoe UI"/>
                <a:cs typeface="Segoe UI"/>
              </a:rPr>
              <a:t>Cuando quieras que el modelo responda con un estilo y formato coherentes</a:t>
            </a:r>
          </a:p>
          <a:p>
            <a:r>
              <a:rPr lang="es-ES" sz="1400" b="0" i="0" strike="noStrike" cap="none" baseline="0" dirty="0">
                <a:solidFill>
                  <a:srgbClr val="000000"/>
                </a:solidFill>
                <a:effectLst/>
                <a:latin typeface="Segoe UI"/>
                <a:ea typeface="Segoe UI"/>
                <a:cs typeface="Segoe UI"/>
              </a:rPr>
              <a:t>Cuando el modelo necesite acceso a datos específicos del dominio o actuales en los que no se haya entrenado</a:t>
            </a:r>
          </a:p>
          <a:p>
            <a:r>
              <a:rPr lang="es-ES" sz="1400" b="0" i="0" strike="noStrike" cap="none" baseline="0" dirty="0">
                <a:solidFill>
                  <a:srgbClr val="000000"/>
                </a:solidFill>
                <a:effectLst/>
                <a:latin typeface="Segoe UI"/>
                <a:ea typeface="Segoe UI"/>
                <a:cs typeface="Segoe UI"/>
              </a:rPr>
              <a:t>Cuando quieras reducir la longitud de las solicitudes enviadas al modelo</a:t>
            </a:r>
          </a:p>
        </p:txBody>
      </p:sp>
      <p:sp>
        <p:nvSpPr>
          <p:cNvPr id="76" name="Oval 75">
            <a:extLst>
              <a:ext uri="{FF2B5EF4-FFF2-40B4-BE49-F238E27FC236}">
                <a16:creationId xmlns:a16="http://schemas.microsoft.com/office/drawing/2014/main" id="{FCFECC27-784A-98B9-2AE3-30BA95C1C3A5}"/>
              </a:ext>
              <a:ext uri="{C183D7F6-B498-43B3-948B-1728B52AA6E4}">
                <adec:decorative xmlns:adec="http://schemas.microsoft.com/office/drawing/2017/decorative" val="1"/>
              </a:ext>
            </a:extLst>
          </p:cNvPr>
          <p:cNvSpPr/>
          <p:nvPr/>
        </p:nvSpPr>
        <p:spPr bwMode="auto">
          <a:xfrm>
            <a:off x="722582" y="167265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8236945E-9E24-E434-73B7-69AAB75B8BC3}"/>
              </a:ext>
              <a:ext uri="{C183D7F6-B498-43B3-948B-1728B52AA6E4}">
                <adec:decorative xmlns:adec="http://schemas.microsoft.com/office/drawing/2017/decorative" val="1"/>
              </a:ext>
            </a:extLst>
          </p:cNvPr>
          <p:cNvSpPr/>
          <p:nvPr/>
        </p:nvSpPr>
        <p:spPr bwMode="auto">
          <a:xfrm>
            <a:off x="722582" y="3000730"/>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F4E116E8-136E-8697-3DD2-AF9E168D00E5}"/>
              </a:ext>
              <a:ext uri="{C183D7F6-B498-43B3-948B-1728B52AA6E4}">
                <adec:decorative xmlns:adec="http://schemas.microsoft.com/office/drawing/2017/decorative" val="1"/>
              </a:ext>
            </a:extLst>
          </p:cNvPr>
          <p:cNvSpPr/>
          <p:nvPr/>
        </p:nvSpPr>
        <p:spPr>
          <a:xfrm>
            <a:off x="1263852" y="373233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534B3B53-E16A-B67C-0BDB-108ABAB8CEBA}"/>
              </a:ext>
              <a:ext uri="{C183D7F6-B498-43B3-948B-1728B52AA6E4}">
                <adec:decorative xmlns:adec="http://schemas.microsoft.com/office/drawing/2017/decorative" val="1"/>
              </a:ext>
            </a:extLst>
          </p:cNvPr>
          <p:cNvSpPr/>
          <p:nvPr/>
        </p:nvSpPr>
        <p:spPr>
          <a:xfrm>
            <a:off x="1263852" y="210075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25F12A9C-25FF-7C79-CE06-0E2871A3DF2C}"/>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Text Placeholder 27">
            <a:extLst>
              <a:ext uri="{FF2B5EF4-FFF2-40B4-BE49-F238E27FC236}">
                <a16:creationId xmlns:a16="http://schemas.microsoft.com/office/drawing/2014/main" id="{EA962D85-2C2B-F8B3-94DA-B0131D7F937F}"/>
              </a:ext>
            </a:extLst>
          </p:cNvPr>
          <p:cNvSpPr>
            <a:spLocks noGrp="1"/>
          </p:cNvSpPr>
          <p:nvPr>
            <p:ph type="body" sz="quarter" idx="20"/>
          </p:nvPr>
        </p:nvSpPr>
        <p:spPr>
          <a:xfrm>
            <a:off x="1235075" y="4418761"/>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optimiza el ajuste en tu modelo de lenguaje?</a:t>
            </a:r>
          </a:p>
        </p:txBody>
      </p:sp>
      <p:sp>
        <p:nvSpPr>
          <p:cNvPr id="6" name="Text Placeholder 28">
            <a:extLst>
              <a:ext uri="{FF2B5EF4-FFF2-40B4-BE49-F238E27FC236}">
                <a16:creationId xmlns:a16="http://schemas.microsoft.com/office/drawing/2014/main" id="{FC728625-946C-BDD3-C82D-0B1989DEED93}"/>
              </a:ext>
            </a:extLst>
          </p:cNvPr>
          <p:cNvSpPr>
            <a:spLocks noGrp="1"/>
          </p:cNvSpPr>
          <p:nvPr>
            <p:ph type="body" sz="quarter" idx="21"/>
          </p:nvPr>
        </p:nvSpPr>
        <p:spPr>
          <a:xfrm>
            <a:off x="1235075" y="4713285"/>
            <a:ext cx="8775700" cy="725424"/>
          </a:xfrm>
        </p:spPr>
        <p:txBody>
          <a:bodyPr/>
          <a:lstStyle/>
          <a:p>
            <a:r>
              <a:rPr lang="es-ES" sz="1400" b="0" i="0" strike="noStrike" cap="none" baseline="0">
                <a:solidFill>
                  <a:srgbClr val="000000"/>
                </a:solidFill>
                <a:effectLst/>
                <a:latin typeface="Segoe UI"/>
                <a:ea typeface="Segoe UI"/>
                <a:cs typeface="Segoe UI"/>
              </a:rPr>
              <a:t>La precisión fáctica de las respuestas mediante la conexión a datos externos</a:t>
            </a:r>
          </a:p>
          <a:p>
            <a:r>
              <a:rPr lang="es-ES" sz="1400" b="0" i="0" strike="noStrike" cap="none" baseline="0">
                <a:solidFill>
                  <a:srgbClr val="000000"/>
                </a:solidFill>
                <a:effectLst/>
                <a:latin typeface="Segoe UI"/>
                <a:ea typeface="Segoe UI"/>
                <a:cs typeface="Segoe UI"/>
              </a:rPr>
              <a:t>La coherencia del comportamiento, el estilo y el formato de salida del modelo</a:t>
            </a:r>
          </a:p>
          <a:p>
            <a:r>
              <a:rPr lang="es-ES" sz="1400" b="0" i="0" strike="noStrike" cap="none" baseline="0">
                <a:solidFill>
                  <a:srgbClr val="000000"/>
                </a:solidFill>
                <a:effectLst/>
                <a:latin typeface="Segoe UI"/>
                <a:ea typeface="Segoe UI"/>
                <a:cs typeface="Segoe UI"/>
              </a:rPr>
              <a:t>El número de tokens que el modelo puede procesar en una sola solicitud</a:t>
            </a:r>
          </a:p>
        </p:txBody>
      </p:sp>
      <p:sp>
        <p:nvSpPr>
          <p:cNvPr id="7" name="Graphic 26" descr="Checkmark">
            <a:extLst>
              <a:ext uri="{FF2B5EF4-FFF2-40B4-BE49-F238E27FC236}">
                <a16:creationId xmlns:a16="http://schemas.microsoft.com/office/drawing/2014/main" id="{93F74B62-5EEF-D626-4419-13962B143AA2}"/>
              </a:ext>
            </a:extLst>
          </p:cNvPr>
          <p:cNvSpPr/>
          <p:nvPr/>
        </p:nvSpPr>
        <p:spPr>
          <a:xfrm>
            <a:off x="1269842" y="5018660"/>
            <a:ext cx="135234" cy="94984"/>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solidFill>
            <a:srgbClr val="0070C0"/>
          </a:solidFill>
          <a:ln w="31750" cap="flat">
            <a:solidFill>
              <a:schemeClr val="accent2"/>
            </a:solidFill>
            <a:prstDash val="solid"/>
            <a:miter/>
          </a:ln>
        </p:spPr>
        <p:txBody>
          <a:bodyPr rtlCol="0" anchor="ctr"/>
          <a:lstStyle/>
          <a:p>
            <a:endParaRPr lang="en-US">
              <a:solidFill>
                <a:schemeClr val="accent1"/>
              </a:solidFill>
            </a:endParaRPr>
          </a:p>
        </p:txBody>
      </p:sp>
      <p:sp>
        <p:nvSpPr>
          <p:cNvPr id="8" name="Oval 7">
            <a:extLst>
              <a:ext uri="{FF2B5EF4-FFF2-40B4-BE49-F238E27FC236}">
                <a16:creationId xmlns:a16="http://schemas.microsoft.com/office/drawing/2014/main" id="{F8867F8C-9146-F622-EF9E-6E7B85D6C1EA}"/>
              </a:ext>
              <a:ext uri="{C183D7F6-B498-43B3-948B-1728B52AA6E4}">
                <adec:decorative xmlns:adec="http://schemas.microsoft.com/office/drawing/2017/decorative" val="1"/>
              </a:ext>
            </a:extLst>
          </p:cNvPr>
          <p:cNvSpPr/>
          <p:nvPr/>
        </p:nvSpPr>
        <p:spPr bwMode="auto">
          <a:xfrm>
            <a:off x="722582" y="436215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3</a:t>
            </a:r>
            <a:endParaRPr kumimoji="0" lang="en-IN" sz="1800" b="1" i="0" u="none" strike="noStrike" cap="none" spc="0" normalizeH="0" baseline="0" noProof="0">
              <a:ln>
                <a:noFill/>
              </a:ln>
              <a:solidFill>
                <a:schemeClr val="tx1"/>
              </a:solidFill>
              <a:effectLst/>
              <a:uLnTx/>
              <a:uFillTx/>
            </a:endParaRPr>
          </a:p>
        </p:txBody>
      </p:sp>
    </p:spTree>
    <p:extLst>
      <p:ext uri="{BB962C8B-B14F-4D97-AF65-F5344CB8AC3E}">
        <p14:creationId xmlns:p14="http://schemas.microsoft.com/office/powerpoint/2010/main" val="1292785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8F35-0737-A3B3-4C3F-8DB65C2EA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742FE-9C7E-9CE3-E78B-801E374C4494}"/>
              </a:ext>
            </a:extLst>
          </p:cNvPr>
          <p:cNvSpPr>
            <a:spLocks noGrp="1"/>
          </p:cNvSpPr>
          <p:nvPr>
            <p:ph type="title"/>
          </p:nvPr>
        </p:nvSpPr>
        <p:spPr>
          <a:xfrm>
            <a:off x="430211" y="2171363"/>
            <a:ext cx="6902081" cy="1828800"/>
          </a:xfrm>
        </p:spPr>
        <p:txBody>
          <a:bodyPr/>
          <a:lstStyle/>
          <a:p>
            <a:r>
              <a:rPr lang="es-ES" sz="4000" b="0" i="0" strike="noStrike" cap="none" baseline="0" dirty="0">
                <a:solidFill>
                  <a:srgbClr val="000000"/>
                </a:solidFill>
                <a:effectLst/>
                <a:latin typeface="Segoe UI"/>
                <a:ea typeface="Segoe UI"/>
                <a:cs typeface="Segoe UI"/>
              </a:rPr>
              <a:t>Implementar una solución de IA generativa responsable en Microsoft </a:t>
            </a:r>
            <a:r>
              <a:rPr lang="es-ES" sz="4000" b="0" i="0" strike="noStrike" cap="none" baseline="0" dirty="0" err="1">
                <a:solidFill>
                  <a:srgbClr val="000000"/>
                </a:solidFill>
                <a:effectLst/>
                <a:latin typeface="Segoe UI"/>
                <a:ea typeface="Segoe UI"/>
                <a:cs typeface="Segoe UI"/>
              </a:rPr>
              <a:t>Foundry</a:t>
            </a:r>
            <a:endParaRPr lang="es-ES" sz="4000" b="0" i="0" strike="noStrike" cap="none" baseline="0" dirty="0">
              <a:solidFill>
                <a:srgbClr val="000000"/>
              </a:solidFill>
              <a:effectLst/>
              <a:latin typeface="Segoe UI"/>
              <a:ea typeface="Segoe UI"/>
              <a:cs typeface="Segoe UI"/>
            </a:endParaRPr>
          </a:p>
        </p:txBody>
      </p:sp>
      <p:sp>
        <p:nvSpPr>
          <p:cNvPr id="4" name="TextBox 3">
            <a:extLst>
              <a:ext uri="{FF2B5EF4-FFF2-40B4-BE49-F238E27FC236}">
                <a16:creationId xmlns:a16="http://schemas.microsoft.com/office/drawing/2014/main" id="{C13D14D6-960B-BABC-5F8E-C7DDDD504573}"/>
              </a:ext>
            </a:extLst>
          </p:cNvPr>
          <p:cNvSpPr txBox="1"/>
          <p:nvPr/>
        </p:nvSpPr>
        <p:spPr>
          <a:xfrm>
            <a:off x="338771" y="4000163"/>
            <a:ext cx="4596449" cy="360426"/>
          </a:xfrm>
          <a:prstGeom prst="rect">
            <a:avLst/>
          </a:prstGeom>
          <a:noFill/>
        </p:spPr>
        <p:txBody>
          <a:bodyPr wrap="square">
            <a:spAutoFit/>
          </a:bodyPr>
          <a:lstStyle/>
          <a:p>
            <a:r>
              <a:rPr lang="es-ES" sz="1765" b="0" i="0" strike="noStrike" cap="none" baseline="0">
                <a:solidFill>
                  <a:srgbClr val="BF3AC4"/>
                </a:solidFill>
                <a:effectLst/>
                <a:latin typeface="Segoe UI"/>
                <a:ea typeface="Segoe UI"/>
                <a:cs typeface="Segoe UI"/>
              </a:rPr>
              <a:t>https://aka.ms/mslearn-responsible-ai</a:t>
            </a:r>
          </a:p>
        </p:txBody>
      </p:sp>
    </p:spTree>
    <p:extLst>
      <p:ext uri="{BB962C8B-B14F-4D97-AF65-F5344CB8AC3E}">
        <p14:creationId xmlns:p14="http://schemas.microsoft.com/office/powerpoint/2010/main" val="386700846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C4449-859D-0A59-ED97-F079036041E7}"/>
              </a:ext>
            </a:extLst>
          </p:cNvPr>
          <p:cNvSpPr>
            <a:spLocks noGrp="1"/>
          </p:cNvSpPr>
          <p:nvPr>
            <p:ph type="title"/>
          </p:nvPr>
        </p:nvSpPr>
        <p:spPr>
          <a:xfrm>
            <a:off x="588262" y="585216"/>
            <a:ext cx="11013474" cy="975360"/>
          </a:xfrm>
        </p:spPr>
        <p:txBody>
          <a:bodyPr/>
          <a:lstStyle/>
          <a:p>
            <a:r>
              <a:rPr lang="es-ES" sz="3200" b="0" i="0" strike="noStrike" cap="none" baseline="0">
                <a:solidFill>
                  <a:srgbClr val="000000"/>
                </a:solidFill>
                <a:effectLst/>
                <a:latin typeface="Segoe UI Semibold"/>
                <a:ea typeface="Segoe UI Semibold"/>
                <a:cs typeface="Segoe UI Semibold"/>
              </a:rPr>
              <a:t>Planeamiento de una solución de inteligencia artificial generativa responsable</a:t>
            </a:r>
            <a:endParaRPr lang="en-US"/>
          </a:p>
        </p:txBody>
      </p:sp>
      <p:sp>
        <p:nvSpPr>
          <p:cNvPr id="3" name="Text Placeholder 2">
            <a:extLst>
              <a:ext uri="{FF2B5EF4-FFF2-40B4-BE49-F238E27FC236}">
                <a16:creationId xmlns:a16="http://schemas.microsoft.com/office/drawing/2014/main" id="{4BE62073-D441-59F8-454A-5269F6E54287}"/>
              </a:ext>
            </a:extLst>
          </p:cNvPr>
          <p:cNvSpPr>
            <a:spLocks noGrp="1"/>
          </p:cNvSpPr>
          <p:nvPr>
            <p:ph type="body" sz="quarter" idx="15"/>
          </p:nvPr>
        </p:nvSpPr>
        <p:spPr>
          <a:xfrm>
            <a:off x="588262" y="2083499"/>
            <a:ext cx="6010664" cy="2923877"/>
          </a:xfrm>
        </p:spPr>
        <p:txBody>
          <a:bodyPr/>
          <a:lstStyle/>
          <a:p>
            <a:pPr marL="342900" indent="-342900">
              <a:spcBef>
                <a:spcPts val="1200"/>
              </a:spcBef>
              <a:buFont typeface="+mj-lt"/>
              <a:buAutoNum type="arabicPeriod"/>
            </a:pPr>
            <a:r>
              <a:rPr lang="es-ES" sz="2000" b="1" i="0" strike="noStrike" cap="none" baseline="0" dirty="0">
                <a:solidFill>
                  <a:srgbClr val="000000"/>
                </a:solidFill>
                <a:effectLst/>
                <a:latin typeface="Segoe UI"/>
                <a:ea typeface="Segoe UI"/>
                <a:cs typeface="Segoe UI"/>
              </a:rPr>
              <a:t>Asignar</a:t>
            </a:r>
            <a:r>
              <a:rPr lang="es-ES" sz="2000" b="0" i="0" strike="noStrike" cap="none" baseline="0" dirty="0">
                <a:solidFill>
                  <a:srgbClr val="000000"/>
                </a:solidFill>
                <a:effectLst/>
                <a:latin typeface="Segoe UI"/>
                <a:ea typeface="Segoe UI"/>
                <a:cs typeface="Segoe UI"/>
              </a:rPr>
              <a:t> daños posibles que son relevantes para</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la solución planeada</a:t>
            </a:r>
            <a:endParaRPr lang="en-US" sz="2000" dirty="0"/>
          </a:p>
          <a:p>
            <a:pPr marL="342900" indent="-342900">
              <a:spcBef>
                <a:spcPts val="1200"/>
              </a:spcBef>
              <a:buFont typeface="+mj-lt"/>
              <a:buAutoNum type="arabicPeriod"/>
            </a:pPr>
            <a:r>
              <a:rPr lang="es-ES" sz="2000" b="1" i="0" strike="noStrike" cap="none" baseline="0" dirty="0">
                <a:solidFill>
                  <a:srgbClr val="000000"/>
                </a:solidFill>
                <a:effectLst/>
                <a:latin typeface="Segoe UI"/>
                <a:ea typeface="Segoe UI"/>
                <a:cs typeface="Segoe UI"/>
              </a:rPr>
              <a:t>Medir</a:t>
            </a:r>
            <a:r>
              <a:rPr lang="es-ES" sz="2000" b="0" i="0" strike="noStrike" cap="none" baseline="0" dirty="0">
                <a:solidFill>
                  <a:srgbClr val="000000"/>
                </a:solidFill>
                <a:effectLst/>
                <a:latin typeface="Segoe UI"/>
                <a:ea typeface="Segoe UI"/>
                <a:cs typeface="Segoe UI"/>
              </a:rPr>
              <a:t> la presencia de estos daños en las salidas que genera la solución</a:t>
            </a:r>
          </a:p>
          <a:p>
            <a:pPr marL="342900" indent="-342900">
              <a:spcBef>
                <a:spcPts val="1200"/>
              </a:spcBef>
              <a:buFont typeface="+mj-lt"/>
              <a:buAutoNum type="arabicPeriod"/>
            </a:pPr>
            <a:r>
              <a:rPr lang="es-ES" sz="2000" b="1" i="0" strike="noStrike" cap="none" baseline="0" dirty="0">
                <a:solidFill>
                  <a:srgbClr val="000000"/>
                </a:solidFill>
                <a:effectLst/>
                <a:latin typeface="Segoe UI"/>
                <a:ea typeface="Segoe UI"/>
                <a:cs typeface="Segoe UI"/>
              </a:rPr>
              <a:t>Mitigar</a:t>
            </a:r>
            <a:r>
              <a:rPr lang="es-ES" sz="2000" b="0" i="0" strike="noStrike" cap="none" baseline="0" dirty="0">
                <a:solidFill>
                  <a:srgbClr val="000000"/>
                </a:solidFill>
                <a:effectLst/>
                <a:latin typeface="Segoe UI"/>
                <a:ea typeface="Segoe UI"/>
                <a:cs typeface="Segoe UI"/>
              </a:rPr>
              <a:t> los daños en varias capas en la solución </a:t>
            </a:r>
          </a:p>
          <a:p>
            <a:pPr marL="342900" indent="-342900">
              <a:spcBef>
                <a:spcPts val="1200"/>
              </a:spcBef>
              <a:buFont typeface="+mj-lt"/>
              <a:buAutoNum type="arabicPeriod"/>
            </a:pPr>
            <a:r>
              <a:rPr lang="es-ES" sz="2000" b="1" i="0" strike="noStrike" cap="none" baseline="0" dirty="0">
                <a:solidFill>
                  <a:srgbClr val="000000"/>
                </a:solidFill>
                <a:effectLst/>
                <a:latin typeface="Segoe UI"/>
                <a:ea typeface="Segoe UI"/>
                <a:cs typeface="Segoe UI"/>
              </a:rPr>
              <a:t>Administrar</a:t>
            </a:r>
            <a:r>
              <a:rPr lang="es-ES" sz="2000" b="0" i="0" strike="noStrike" cap="none" baseline="0" dirty="0">
                <a:solidFill>
                  <a:srgbClr val="000000"/>
                </a:solidFill>
                <a:effectLst/>
                <a:latin typeface="Segoe UI"/>
                <a:ea typeface="Segoe UI"/>
                <a:cs typeface="Segoe UI"/>
              </a:rPr>
              <a:t> la solución de manera responsable</a:t>
            </a:r>
            <a:br>
              <a:rPr lang="es-ES" sz="2000" b="0" i="0" strike="noStrike" cap="none" baseline="0" dirty="0">
                <a:solidFill>
                  <a:srgbClr val="000000"/>
                </a:solidFill>
                <a:effectLst/>
                <a:latin typeface="Segoe UI"/>
                <a:ea typeface="Segoe UI"/>
                <a:cs typeface="Segoe UI"/>
              </a:rPr>
            </a:br>
            <a:r>
              <a:rPr lang="es-ES" sz="2000" b="0" i="0" strike="noStrike" cap="none" baseline="0" dirty="0">
                <a:solidFill>
                  <a:srgbClr val="000000"/>
                </a:solidFill>
                <a:effectLst/>
                <a:latin typeface="Segoe UI"/>
                <a:ea typeface="Segoe UI"/>
                <a:cs typeface="Segoe UI"/>
              </a:rPr>
              <a:t>al definir y seguir un plan de preparación de la implementación y las operaciones</a:t>
            </a:r>
          </a:p>
        </p:txBody>
      </p:sp>
      <p:sp>
        <p:nvSpPr>
          <p:cNvPr id="4" name="Footer Placeholder 3">
            <a:extLst>
              <a:ext uri="{FF2B5EF4-FFF2-40B4-BE49-F238E27FC236}">
                <a16:creationId xmlns:a16="http://schemas.microsoft.com/office/drawing/2014/main" id="{2B4FDA13-1E96-BC71-9439-72306D02940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8" name="Group 27" descr="Diagram of four layers: model, safety system, system message &amp; grounding, and user experience.">
            <a:extLst>
              <a:ext uri="{FF2B5EF4-FFF2-40B4-BE49-F238E27FC236}">
                <a16:creationId xmlns:a16="http://schemas.microsoft.com/office/drawing/2014/main" id="{27DD94C5-7294-D93B-435C-1EC4D5A9368A}"/>
              </a:ext>
            </a:extLst>
          </p:cNvPr>
          <p:cNvGrpSpPr/>
          <p:nvPr/>
        </p:nvGrpSpPr>
        <p:grpSpPr>
          <a:xfrm>
            <a:off x="7039872" y="1757466"/>
            <a:ext cx="3771291" cy="3938285"/>
            <a:chOff x="7039872" y="1757466"/>
            <a:chExt cx="3771291" cy="3938285"/>
          </a:xfrm>
        </p:grpSpPr>
        <p:grpSp>
          <p:nvGrpSpPr>
            <p:cNvPr id="26" name="Group 25">
              <a:extLst>
                <a:ext uri="{FF2B5EF4-FFF2-40B4-BE49-F238E27FC236}">
                  <a16:creationId xmlns:a16="http://schemas.microsoft.com/office/drawing/2014/main" id="{B7EAA1E7-CF5F-EEAA-5C92-85E22E3522BE}"/>
                </a:ext>
              </a:extLst>
            </p:cNvPr>
            <p:cNvGrpSpPr/>
            <p:nvPr/>
          </p:nvGrpSpPr>
          <p:grpSpPr>
            <a:xfrm>
              <a:off x="7631080" y="1757466"/>
              <a:ext cx="3180083" cy="3938285"/>
              <a:chOff x="7503268" y="1815830"/>
              <a:chExt cx="3180083" cy="3938285"/>
            </a:xfrm>
          </p:grpSpPr>
          <p:pic>
            <p:nvPicPr>
              <p:cNvPr id="9" name="Graphic 8" descr="Browser window with solid fill">
                <a:extLst>
                  <a:ext uri="{FF2B5EF4-FFF2-40B4-BE49-F238E27FC236}">
                    <a16:creationId xmlns:a16="http://schemas.microsoft.com/office/drawing/2014/main" id="{91F76E9E-AFD5-2619-AC95-57FFFD564AD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8650" y="2048379"/>
                <a:ext cx="479332" cy="479332"/>
              </a:xfrm>
              <a:prstGeom prst="rect">
                <a:avLst/>
              </a:prstGeom>
            </p:spPr>
          </p:pic>
          <p:pic>
            <p:nvPicPr>
              <p:cNvPr id="10" name="Graphic 9" descr="Shield Tick with solid fill">
                <a:extLst>
                  <a:ext uri="{FF2B5EF4-FFF2-40B4-BE49-F238E27FC236}">
                    <a16:creationId xmlns:a16="http://schemas.microsoft.com/office/drawing/2014/main" id="{0D7CBD1A-8D25-2759-F166-42D0025596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98650" y="3796223"/>
                <a:ext cx="479332" cy="479332"/>
              </a:xfrm>
              <a:prstGeom prst="rect">
                <a:avLst/>
              </a:prstGeom>
            </p:spPr>
          </p:pic>
          <p:sp>
            <p:nvSpPr>
              <p:cNvPr id="12" name="Rectangle: Rounded Corners 11">
                <a:extLst>
                  <a:ext uri="{FF2B5EF4-FFF2-40B4-BE49-F238E27FC236}">
                    <a16:creationId xmlns:a16="http://schemas.microsoft.com/office/drawing/2014/main" id="{6FED20DB-0667-F1C0-1576-D18F4990BA3B}"/>
                  </a:ext>
                </a:extLst>
              </p:cNvPr>
              <p:cNvSpPr/>
              <p:nvPr/>
            </p:nvSpPr>
            <p:spPr>
              <a:xfrm>
                <a:off x="8055179" y="4354912"/>
                <a:ext cx="2076260" cy="1105174"/>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ct val="0"/>
                  </a:spcBef>
                  <a:spcAft>
                    <a:spcPct val="0"/>
                  </a:spcAft>
                  <a:buClrTx/>
                  <a:buSzTx/>
                  <a:buFontTx/>
                  <a:buNone/>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3" name="Rectangle: Rounded Corners 12">
                <a:extLst>
                  <a:ext uri="{FF2B5EF4-FFF2-40B4-BE49-F238E27FC236}">
                    <a16:creationId xmlns:a16="http://schemas.microsoft.com/office/drawing/2014/main" id="{0D5CCF1E-33F4-9EAE-2878-9C500D6D699F}"/>
                  </a:ext>
                </a:extLst>
              </p:cNvPr>
              <p:cNvSpPr/>
              <p:nvPr/>
            </p:nvSpPr>
            <p:spPr>
              <a:xfrm>
                <a:off x="7804252" y="3483405"/>
                <a:ext cx="2578114" cy="2055622"/>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ct val="0"/>
                  </a:spcBef>
                  <a:spcAft>
                    <a:spcPct val="0"/>
                  </a:spcAft>
                  <a:buClrTx/>
                  <a:buSzTx/>
                  <a:buFontTx/>
                  <a:buNone/>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4" name="Rectangle: Rounded Corners 13">
                <a:extLst>
                  <a:ext uri="{FF2B5EF4-FFF2-40B4-BE49-F238E27FC236}">
                    <a16:creationId xmlns:a16="http://schemas.microsoft.com/office/drawing/2014/main" id="{B7E4DE64-4FCC-F3EE-8DDF-C994A0387A69}"/>
                  </a:ext>
                </a:extLst>
              </p:cNvPr>
              <p:cNvSpPr/>
              <p:nvPr/>
            </p:nvSpPr>
            <p:spPr>
              <a:xfrm>
                <a:off x="7645387" y="2527712"/>
                <a:ext cx="2895844" cy="3127432"/>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ct val="0"/>
                  </a:spcBef>
                  <a:spcAft>
                    <a:spcPct val="0"/>
                  </a:spcAft>
                  <a:buClrTx/>
                  <a:buSzTx/>
                  <a:buFontTx/>
                  <a:buNone/>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 name="Rectangle: Rounded Corners 14">
                <a:extLst>
                  <a:ext uri="{FF2B5EF4-FFF2-40B4-BE49-F238E27FC236}">
                    <a16:creationId xmlns:a16="http://schemas.microsoft.com/office/drawing/2014/main" id="{899749D6-8DC1-AA20-A8E2-EE70FE720EE5}"/>
                  </a:ext>
                </a:extLst>
              </p:cNvPr>
              <p:cNvSpPr/>
              <p:nvPr/>
            </p:nvSpPr>
            <p:spPr>
              <a:xfrm>
                <a:off x="7503268" y="1815830"/>
                <a:ext cx="3180083" cy="3938285"/>
              </a:xfrm>
              <a:prstGeom prst="round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ct val="0"/>
                  </a:spcBef>
                  <a:spcAft>
                    <a:spcPct val="0"/>
                  </a:spcAft>
                  <a:buClrTx/>
                  <a:buSzTx/>
                  <a:buFontTx/>
                  <a:buNone/>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pic>
            <p:nvPicPr>
              <p:cNvPr id="7" name="Graphic 6" descr="Speech with solid fill">
                <a:extLst>
                  <a:ext uri="{FF2B5EF4-FFF2-40B4-BE49-F238E27FC236}">
                    <a16:creationId xmlns:a16="http://schemas.microsoft.com/office/drawing/2014/main" id="{82100586-2F36-CFC8-BDE9-473725E66C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8748596" y="2931107"/>
                <a:ext cx="601616" cy="601616"/>
              </a:xfrm>
              <a:prstGeom prst="rect">
                <a:avLst/>
              </a:prstGeom>
            </p:spPr>
          </p:pic>
          <p:sp>
            <p:nvSpPr>
              <p:cNvPr id="20" name="TextBox 19">
                <a:extLst>
                  <a:ext uri="{FF2B5EF4-FFF2-40B4-BE49-F238E27FC236}">
                    <a16:creationId xmlns:a16="http://schemas.microsoft.com/office/drawing/2014/main" id="{9CA6650D-B46D-BAC0-6A73-F8B5CEE7DAF0}"/>
                  </a:ext>
                </a:extLst>
              </p:cNvPr>
              <p:cNvSpPr txBox="1"/>
              <p:nvPr/>
            </p:nvSpPr>
            <p:spPr>
              <a:xfrm>
                <a:off x="8708272" y="4380225"/>
                <a:ext cx="740759" cy="246278"/>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BF3AC4"/>
                    </a:solidFill>
                    <a:effectLst/>
                    <a:latin typeface="Segoe UI"/>
                    <a:ea typeface="Segoe UI"/>
                    <a:cs typeface="Segoe UI"/>
                  </a:rPr>
                  <a:t>Modelo</a:t>
                </a:r>
              </a:p>
            </p:txBody>
          </p:sp>
          <p:sp>
            <p:nvSpPr>
              <p:cNvPr id="21" name="TextBox 20">
                <a:extLst>
                  <a:ext uri="{FF2B5EF4-FFF2-40B4-BE49-F238E27FC236}">
                    <a16:creationId xmlns:a16="http://schemas.microsoft.com/office/drawing/2014/main" id="{7205469E-4DA4-140B-504E-0E4B15DD55A6}"/>
                  </a:ext>
                </a:extLst>
              </p:cNvPr>
              <p:cNvSpPr txBox="1"/>
              <p:nvPr/>
            </p:nvSpPr>
            <p:spPr>
              <a:xfrm>
                <a:off x="8130967" y="3531882"/>
                <a:ext cx="1920271" cy="246221"/>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BF3AC4"/>
                    </a:solidFill>
                    <a:effectLst/>
                    <a:latin typeface="Segoe UI"/>
                    <a:ea typeface="Segoe UI"/>
                    <a:cs typeface="Segoe UI"/>
                  </a:rPr>
                  <a:t>Sistema de seguridad</a:t>
                </a:r>
              </a:p>
            </p:txBody>
          </p:sp>
          <p:sp>
            <p:nvSpPr>
              <p:cNvPr id="22" name="TextBox 21">
                <a:extLst>
                  <a:ext uri="{FF2B5EF4-FFF2-40B4-BE49-F238E27FC236}">
                    <a16:creationId xmlns:a16="http://schemas.microsoft.com/office/drawing/2014/main" id="{16CF84B0-3161-8E3A-33DB-5776852A7DF4}"/>
                  </a:ext>
                </a:extLst>
              </p:cNvPr>
              <p:cNvSpPr txBox="1"/>
              <p:nvPr/>
            </p:nvSpPr>
            <p:spPr>
              <a:xfrm>
                <a:off x="8173384" y="2539876"/>
                <a:ext cx="1822615" cy="492443"/>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BF3AC4"/>
                    </a:solidFill>
                    <a:effectLst/>
                    <a:latin typeface="Segoe UI"/>
                    <a:ea typeface="Segoe UI"/>
                    <a:cs typeface="Segoe UI"/>
                  </a:rPr>
                  <a:t>Mensaje del sistema</a:t>
                </a:r>
                <a:br>
                  <a:rPr lang="es-ES" sz="1600" b="0" i="0" strike="noStrike" cap="none" baseline="0" dirty="0">
                    <a:solidFill>
                      <a:srgbClr val="BF3AC4"/>
                    </a:solidFill>
                    <a:effectLst/>
                    <a:latin typeface="Segoe UI"/>
                    <a:ea typeface="Segoe UI"/>
                    <a:cs typeface="Segoe UI"/>
                  </a:rPr>
                </a:br>
                <a:r>
                  <a:rPr lang="es-ES" sz="1600" b="0" i="0" strike="noStrike" cap="none" baseline="0" dirty="0">
                    <a:solidFill>
                      <a:srgbClr val="BF3AC4"/>
                    </a:solidFill>
                    <a:effectLst/>
                    <a:latin typeface="Segoe UI"/>
                    <a:ea typeface="Segoe UI"/>
                    <a:cs typeface="Segoe UI"/>
                  </a:rPr>
                  <a:t>y puesta en tierra</a:t>
                </a:r>
              </a:p>
            </p:txBody>
          </p:sp>
          <p:sp>
            <p:nvSpPr>
              <p:cNvPr id="23" name="TextBox 22">
                <a:extLst>
                  <a:ext uri="{FF2B5EF4-FFF2-40B4-BE49-F238E27FC236}">
                    <a16:creationId xmlns:a16="http://schemas.microsoft.com/office/drawing/2014/main" id="{8931A526-C1AC-1C01-C8F1-B5E06AC394EF}"/>
                  </a:ext>
                </a:extLst>
              </p:cNvPr>
              <p:cNvSpPr txBox="1"/>
              <p:nvPr/>
            </p:nvSpPr>
            <p:spPr>
              <a:xfrm>
                <a:off x="8034674" y="1823755"/>
                <a:ext cx="2107375" cy="246221"/>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BF3AC4"/>
                    </a:solidFill>
                    <a:effectLst/>
                    <a:latin typeface="Segoe UI"/>
                    <a:ea typeface="Segoe UI"/>
                    <a:cs typeface="Segoe UI"/>
                  </a:rPr>
                  <a:t>Experiencia del usuario</a:t>
                </a:r>
              </a:p>
            </p:txBody>
          </p:sp>
          <p:pic>
            <p:nvPicPr>
              <p:cNvPr id="25" name="Graphic 24" descr="Cube with solid fill">
                <a:extLst>
                  <a:ext uri="{FF2B5EF4-FFF2-40B4-BE49-F238E27FC236}">
                    <a16:creationId xmlns:a16="http://schemas.microsoft.com/office/drawing/2014/main" id="{3402CFB6-ACB3-B8F8-C3D0-B14DA9AA5E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99350" y="4675026"/>
                <a:ext cx="528229" cy="528229"/>
              </a:xfrm>
              <a:prstGeom prst="rect">
                <a:avLst/>
              </a:prstGeom>
            </p:spPr>
          </p:pic>
        </p:grpSp>
        <p:sp>
          <p:nvSpPr>
            <p:cNvPr id="27" name="Left Brace 26">
              <a:extLst>
                <a:ext uri="{FF2B5EF4-FFF2-40B4-BE49-F238E27FC236}">
                  <a16:creationId xmlns:a16="http://schemas.microsoft.com/office/drawing/2014/main" id="{C096BD32-617B-89A6-6B3B-79B8C9EDA40C}"/>
                </a:ext>
              </a:extLst>
            </p:cNvPr>
            <p:cNvSpPr/>
            <p:nvPr/>
          </p:nvSpPr>
          <p:spPr>
            <a:xfrm>
              <a:off x="7039872" y="1757466"/>
              <a:ext cx="390169" cy="3938285"/>
            </a:xfrm>
            <a:prstGeom prst="leftBrace">
              <a:avLst>
                <a:gd name="adj1" fmla="val 8333"/>
                <a:gd name="adj2" fmla="val 51635"/>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367" rtl="0" eaLnBrk="1" fontAlgn="auto" latinLnBrk="0" hangingPunct="1">
                <a:lnSpc>
                  <a:spcPct val="100000"/>
                </a:lnSpc>
                <a:spcBef>
                  <a:spcPct val="0"/>
                </a:spcBef>
                <a:spcAft>
                  <a:spcPct val="0"/>
                </a:spcAft>
                <a:buClrTx/>
                <a:buSzTx/>
                <a:buFontTx/>
                <a:buNone/>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Tree>
    <p:extLst>
      <p:ext uri="{BB962C8B-B14F-4D97-AF65-F5344CB8AC3E}">
        <p14:creationId xmlns:p14="http://schemas.microsoft.com/office/powerpoint/2010/main" val="157746276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8DF5-4B9C-DA9D-92CB-ED26F73C57A5}"/>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Límites de protección</a:t>
            </a:r>
          </a:p>
        </p:txBody>
      </p:sp>
      <p:sp>
        <p:nvSpPr>
          <p:cNvPr id="3" name="Text Placeholder 2">
            <a:extLst>
              <a:ext uri="{FF2B5EF4-FFF2-40B4-BE49-F238E27FC236}">
                <a16:creationId xmlns:a16="http://schemas.microsoft.com/office/drawing/2014/main" id="{90B94450-61A4-D375-D66B-3B83795BC977}"/>
              </a:ext>
            </a:extLst>
          </p:cNvPr>
          <p:cNvSpPr>
            <a:spLocks noGrp="1"/>
          </p:cNvSpPr>
          <p:nvPr>
            <p:ph type="body" sz="quarter" idx="15"/>
          </p:nvPr>
        </p:nvSpPr>
        <p:spPr>
          <a:xfrm>
            <a:off x="634566" y="1322331"/>
            <a:ext cx="11013474" cy="304800"/>
          </a:xfrm>
        </p:spPr>
        <p:txBody>
          <a:bodyPr/>
          <a:lstStyle/>
          <a:p>
            <a:pPr marL="0" indent="0">
              <a:buNone/>
            </a:pPr>
            <a:r>
              <a:rPr lang="es-ES" sz="2000" b="0" i="0" strike="noStrike" cap="none" baseline="0">
                <a:solidFill>
                  <a:srgbClr val="000000"/>
                </a:solidFill>
                <a:effectLst/>
                <a:latin typeface="Segoe UI"/>
                <a:ea typeface="Segoe UI"/>
                <a:cs typeface="Segoe UI"/>
              </a:rPr>
              <a:t>Recopilaciones de </a:t>
            </a:r>
            <a:r>
              <a:rPr lang="es-ES" sz="2000" b="0" i="1" strike="noStrike" cap="none" baseline="0">
                <a:solidFill>
                  <a:srgbClr val="000000"/>
                </a:solidFill>
                <a:effectLst/>
                <a:latin typeface="Segoe UI"/>
                <a:ea typeface="Segoe UI"/>
                <a:cs typeface="Segoe UI"/>
              </a:rPr>
              <a:t>controles</a:t>
            </a:r>
            <a:r>
              <a:rPr lang="es-ES" sz="2000" b="0" i="0" strike="noStrike" cap="none" baseline="0">
                <a:solidFill>
                  <a:srgbClr val="000000"/>
                </a:solidFill>
                <a:effectLst/>
                <a:latin typeface="Segoe UI"/>
                <a:ea typeface="Segoe UI"/>
                <a:cs typeface="Segoe UI"/>
              </a:rPr>
              <a:t> para detectar y mitigar el riesgo</a:t>
            </a:r>
          </a:p>
        </p:txBody>
      </p:sp>
      <p:graphicFrame>
        <p:nvGraphicFramePr>
          <p:cNvPr id="5" name="Table 4">
            <a:extLst>
              <a:ext uri="{FF2B5EF4-FFF2-40B4-BE49-F238E27FC236}">
                <a16:creationId xmlns:a16="http://schemas.microsoft.com/office/drawing/2014/main" id="{18828A62-F73B-6D68-ED77-1016DFCBB382}"/>
              </a:ext>
            </a:extLst>
          </p:cNvPr>
          <p:cNvGraphicFramePr>
            <a:graphicFrameLocks noGrp="1"/>
          </p:cNvGraphicFramePr>
          <p:nvPr>
            <p:extLst>
              <p:ext uri="{D42A27DB-BD31-4B8C-83A1-F6EECF244321}">
                <p14:modId xmlns:p14="http://schemas.microsoft.com/office/powerpoint/2010/main" val="1382640590"/>
              </p:ext>
            </p:extLst>
          </p:nvPr>
        </p:nvGraphicFramePr>
        <p:xfrm>
          <a:off x="642389" y="1716124"/>
          <a:ext cx="10905220" cy="4428456"/>
        </p:xfrm>
        <a:graphic>
          <a:graphicData uri="http://schemas.openxmlformats.org/drawingml/2006/table">
            <a:tbl>
              <a:tblPr firstRow="1" bandRow="1">
                <a:tableStyleId>{72833802-FEF1-4C79-8D5D-14CF1EAF98D9}</a:tableStyleId>
              </a:tblPr>
              <a:tblGrid>
                <a:gridCol w="2983461">
                  <a:extLst>
                    <a:ext uri="{9D8B030D-6E8A-4147-A177-3AD203B41FA5}">
                      <a16:colId xmlns:a16="http://schemas.microsoft.com/office/drawing/2014/main" val="4294025085"/>
                    </a:ext>
                  </a:extLst>
                </a:gridCol>
                <a:gridCol w="7921759">
                  <a:extLst>
                    <a:ext uri="{9D8B030D-6E8A-4147-A177-3AD203B41FA5}">
                      <a16:colId xmlns:a16="http://schemas.microsoft.com/office/drawing/2014/main" val="392215767"/>
                    </a:ext>
                  </a:extLst>
                </a:gridCol>
              </a:tblGrid>
              <a:tr h="317857">
                <a:tc>
                  <a:txBody>
                    <a:bodyPr/>
                    <a:lstStyle/>
                    <a:p>
                      <a:pPr algn="l"/>
                      <a:r>
                        <a:rPr lang="es-ES" sz="1300" b="0" i="0" strike="noStrike" cap="none" baseline="0">
                          <a:solidFill>
                            <a:srgbClr val="000000"/>
                          </a:solidFill>
                          <a:effectLst/>
                          <a:latin typeface="Segoe UI Semibold"/>
                          <a:ea typeface="Segoe UI Semibold"/>
                          <a:cs typeface="Segoe UI Semibold"/>
                        </a:rPr>
                        <a:t>Violencia</a:t>
                      </a:r>
                    </a:p>
                  </a:txBody>
                  <a:tcPr anchor="ctr">
                    <a:solidFill>
                      <a:schemeClr val="bg1"/>
                    </a:solidFill>
                  </a:tcPr>
                </a:tc>
                <a:tc>
                  <a:txBody>
                    <a:bodyPr/>
                    <a:lstStyle/>
                    <a:p>
                      <a:r>
                        <a:rPr lang="es-ES" sz="1300" b="0" i="0" strike="noStrike" cap="none" baseline="0" dirty="0">
                          <a:solidFill>
                            <a:srgbClr val="000000"/>
                          </a:solidFill>
                          <a:effectLst/>
                          <a:latin typeface="Segoe UI"/>
                          <a:ea typeface="Segoe UI"/>
                          <a:cs typeface="Segoe UI"/>
                        </a:rPr>
                        <a:t>Lenguaje relacionado con acciones físicas destinadas a causar daños físicos o lesiones o que describen armas y entidades relacionadas</a:t>
                      </a:r>
                    </a:p>
                  </a:txBody>
                  <a:tcPr anchor="ctr">
                    <a:solidFill>
                      <a:schemeClr val="bg1"/>
                    </a:solidFill>
                  </a:tcPr>
                </a:tc>
                <a:extLst>
                  <a:ext uri="{0D108BD9-81ED-4DB2-BD59-A6C34878D82A}">
                    <a16:rowId xmlns:a16="http://schemas.microsoft.com/office/drawing/2014/main" val="950768733"/>
                  </a:ext>
                </a:extLst>
              </a:tr>
              <a:tr h="448739">
                <a:tc>
                  <a:txBody>
                    <a:bodyPr/>
                    <a:lstStyle/>
                    <a:p>
                      <a:pPr algn="l"/>
                      <a:r>
                        <a:rPr lang="es-ES" sz="1300" b="0" i="0" strike="noStrike" cap="none" baseline="0">
                          <a:solidFill>
                            <a:srgbClr val="000000"/>
                          </a:solidFill>
                          <a:effectLst/>
                          <a:latin typeface="Segoe UI Semibold"/>
                          <a:ea typeface="Segoe UI Semibold"/>
                          <a:cs typeface="Segoe UI Semibold"/>
                        </a:rPr>
                        <a:t>Odiar</a:t>
                      </a:r>
                    </a:p>
                  </a:txBody>
                  <a:tcPr anchor="ctr"/>
                </a:tc>
                <a:tc>
                  <a:txBody>
                    <a:bodyPr/>
                    <a:lstStyle/>
                    <a:p>
                      <a:r>
                        <a:rPr lang="es-ES" sz="1300" b="0" i="0" strike="noStrike" cap="none" baseline="0" dirty="0">
                          <a:solidFill>
                            <a:srgbClr val="000000"/>
                          </a:solidFill>
                          <a:effectLst/>
                          <a:latin typeface="Segoe UI"/>
                          <a:ea typeface="Segoe UI"/>
                          <a:cs typeface="Segoe UI"/>
                        </a:rPr>
                        <a:t>Contenido que ataque o use lenguaje discriminatorio con referencia a una persona o grupo</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de identidades basado en determinados atributos diferenciadores de estos grupos</a:t>
                      </a:r>
                    </a:p>
                  </a:txBody>
                  <a:tcPr anchor="ctr"/>
                </a:tc>
                <a:extLst>
                  <a:ext uri="{0D108BD9-81ED-4DB2-BD59-A6C34878D82A}">
                    <a16:rowId xmlns:a16="http://schemas.microsoft.com/office/drawing/2014/main" val="2296457987"/>
                  </a:ext>
                </a:extLst>
              </a:tr>
              <a:tr h="315839">
                <a:tc>
                  <a:txBody>
                    <a:bodyPr/>
                    <a:lstStyle/>
                    <a:p>
                      <a:pPr algn="l"/>
                      <a:r>
                        <a:rPr lang="es-ES" sz="1300" b="0" i="0" strike="noStrike" cap="none" baseline="0">
                          <a:solidFill>
                            <a:srgbClr val="000000"/>
                          </a:solidFill>
                          <a:effectLst/>
                          <a:latin typeface="Segoe UI Semibold"/>
                          <a:ea typeface="Segoe UI Semibold"/>
                          <a:cs typeface="Segoe UI Semibold"/>
                        </a:rPr>
                        <a:t>Contenido sexual</a:t>
                      </a:r>
                    </a:p>
                  </a:txBody>
                  <a:tcPr anchor="ctr"/>
                </a:tc>
                <a:tc>
                  <a:txBody>
                    <a:bodyPr/>
                    <a:lstStyle/>
                    <a:p>
                      <a:r>
                        <a:rPr lang="es-ES" sz="1300" b="0" i="0" strike="noStrike" cap="none" baseline="0" dirty="0">
                          <a:solidFill>
                            <a:srgbClr val="000000"/>
                          </a:solidFill>
                          <a:effectLst/>
                          <a:latin typeface="Segoe UI"/>
                          <a:ea typeface="Segoe UI"/>
                          <a:cs typeface="Segoe UI"/>
                        </a:rPr>
                        <a:t>Lenguaje relacionado con la anatomía sexual, las relaciones románticas y los actos sexuales</a:t>
                      </a:r>
                    </a:p>
                  </a:txBody>
                  <a:tcPr anchor="ctr"/>
                </a:tc>
                <a:extLst>
                  <a:ext uri="{0D108BD9-81ED-4DB2-BD59-A6C34878D82A}">
                    <a16:rowId xmlns:a16="http://schemas.microsoft.com/office/drawing/2014/main" val="3390222183"/>
                  </a:ext>
                </a:extLst>
              </a:tr>
              <a:tr h="317857">
                <a:tc>
                  <a:txBody>
                    <a:bodyPr/>
                    <a:lstStyle/>
                    <a:p>
                      <a:pPr algn="l"/>
                      <a:r>
                        <a:rPr lang="es-ES" sz="1300" b="0" i="0" strike="noStrike" cap="none" baseline="0">
                          <a:solidFill>
                            <a:srgbClr val="000000"/>
                          </a:solidFill>
                          <a:effectLst/>
                          <a:latin typeface="Segoe UI Semibold"/>
                          <a:ea typeface="Segoe UI Semibold"/>
                          <a:cs typeface="Segoe UI Semibold"/>
                        </a:rPr>
                        <a:t>Daño autoinfligido</a:t>
                      </a:r>
                    </a:p>
                  </a:txBody>
                  <a:tcPr anchor="ctr"/>
                </a:tc>
                <a:tc>
                  <a:txBody>
                    <a:bodyPr/>
                    <a:lstStyle/>
                    <a:p>
                      <a:r>
                        <a:rPr lang="es-ES" sz="1300" b="0" i="0" strike="noStrike" cap="none" baseline="0" dirty="0">
                          <a:solidFill>
                            <a:srgbClr val="000000"/>
                          </a:solidFill>
                          <a:effectLst/>
                          <a:latin typeface="Segoe UI"/>
                          <a:ea typeface="Segoe UI"/>
                          <a:cs typeface="Segoe UI"/>
                        </a:rPr>
                        <a:t>Lenguaje relacionado con acciones físicas destinadas a causar daño físico a sí mismo</a:t>
                      </a:r>
                    </a:p>
                  </a:txBody>
                  <a:tcPr anchor="ctr"/>
                </a:tc>
                <a:extLst>
                  <a:ext uri="{0D108BD9-81ED-4DB2-BD59-A6C34878D82A}">
                    <a16:rowId xmlns:a16="http://schemas.microsoft.com/office/drawing/2014/main" val="2896427074"/>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Ataques de mensajes de usuario</a:t>
                      </a:r>
                    </a:p>
                  </a:txBody>
                  <a:tcPr anchor="ctr"/>
                </a:tc>
                <a:tc>
                  <a:txBody>
                    <a:bodyPr/>
                    <a:lstStyle/>
                    <a:p>
                      <a:r>
                        <a:rPr lang="es-ES" sz="1300" b="0" i="0" strike="noStrike" cap="none" baseline="0">
                          <a:solidFill>
                            <a:srgbClr val="000000"/>
                          </a:solidFill>
                          <a:effectLst/>
                          <a:latin typeface="Segoe UI"/>
                          <a:ea typeface="Segoe UI"/>
                          <a:cs typeface="Segoe UI"/>
                        </a:rPr>
                        <a:t>El usuario intenta eludir las reglas del sistema; por ejemplo, cambiando el aviso del sistema</a:t>
                      </a:r>
                    </a:p>
                  </a:txBody>
                  <a:tcPr anchor="ctr"/>
                </a:tc>
                <a:extLst>
                  <a:ext uri="{0D108BD9-81ED-4DB2-BD59-A6C34878D82A}">
                    <a16:rowId xmlns:a16="http://schemas.microsoft.com/office/drawing/2014/main" val="1826199071"/>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Ataques indirectos</a:t>
                      </a:r>
                    </a:p>
                  </a:txBody>
                  <a:tcPr anchor="ctr"/>
                </a:tc>
                <a:tc>
                  <a:txBody>
                    <a:bodyPr/>
                    <a:lstStyle/>
                    <a:p>
                      <a:r>
                        <a:rPr lang="es-ES" sz="1300" b="0" i="0" strike="noStrike" cap="none" baseline="0" dirty="0">
                          <a:solidFill>
                            <a:srgbClr val="000000"/>
                          </a:solidFill>
                          <a:effectLst/>
                          <a:latin typeface="Segoe UI"/>
                          <a:ea typeface="Segoe UI"/>
                          <a:cs typeface="Segoe UI"/>
                        </a:rPr>
                        <a:t>El atacante intenta insertar instrucciones en datos fundamentados proporcionados por el usuario</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para obtener el control malintencionado del sistema </a:t>
                      </a:r>
                    </a:p>
                  </a:txBody>
                  <a:tcPr anchor="ctr"/>
                </a:tc>
                <a:extLst>
                  <a:ext uri="{0D108BD9-81ED-4DB2-BD59-A6C34878D82A}">
                    <a16:rowId xmlns:a16="http://schemas.microsoft.com/office/drawing/2014/main" val="4291039472"/>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Destacar</a:t>
                      </a:r>
                    </a:p>
                  </a:txBody>
                  <a:tcPr anchor="ctr"/>
                </a:tc>
                <a:tc>
                  <a:txBody>
                    <a:bodyPr/>
                    <a:lstStyle/>
                    <a:p>
                      <a:r>
                        <a:rPr lang="es-ES" sz="1300" b="0" i="0" strike="noStrike" cap="none" baseline="0" dirty="0">
                          <a:solidFill>
                            <a:srgbClr val="000000"/>
                          </a:solidFill>
                          <a:effectLst/>
                          <a:latin typeface="Segoe UI"/>
                          <a:ea typeface="Segoe UI"/>
                          <a:cs typeface="Segoe UI"/>
                        </a:rPr>
                        <a:t>Protección mejorada contra ataques indirectos cuando la aplicación procesa documentos de terceros</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que podrían contener instrucciones malintencionadas incrustadas</a:t>
                      </a:r>
                    </a:p>
                  </a:txBody>
                  <a:tcPr anchor="ctr"/>
                </a:tc>
                <a:extLst>
                  <a:ext uri="{0D108BD9-81ED-4DB2-BD59-A6C34878D82A}">
                    <a16:rowId xmlns:a16="http://schemas.microsoft.com/office/drawing/2014/main" val="3417873376"/>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Material protegido para código</a:t>
                      </a:r>
                    </a:p>
                  </a:txBody>
                  <a:tcPr anchor="ctr"/>
                </a:tc>
                <a:tc>
                  <a:txBody>
                    <a:bodyPr/>
                    <a:lstStyle/>
                    <a:p>
                      <a:r>
                        <a:rPr lang="es-ES" sz="1300" b="0" i="0" strike="noStrike" cap="none" baseline="0" dirty="0">
                          <a:solidFill>
                            <a:srgbClr val="000000"/>
                          </a:solidFill>
                          <a:effectLst/>
                          <a:latin typeface="Segoe UI"/>
                          <a:ea typeface="Segoe UI"/>
                          <a:cs typeface="Segoe UI"/>
                        </a:rPr>
                        <a:t>Identificación de salidas de IA que coinciden con el código de repositorios de GitHub existentes</a:t>
                      </a:r>
                    </a:p>
                  </a:txBody>
                  <a:tcPr anchor="ctr"/>
                </a:tc>
                <a:extLst>
                  <a:ext uri="{0D108BD9-81ED-4DB2-BD59-A6C34878D82A}">
                    <a16:rowId xmlns:a16="http://schemas.microsoft.com/office/drawing/2014/main" val="3819656101"/>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Material protegido para texto</a:t>
                      </a:r>
                    </a:p>
                  </a:txBody>
                  <a:tcPr anchor="ctr"/>
                </a:tc>
                <a:tc>
                  <a:txBody>
                    <a:bodyPr/>
                    <a:lstStyle/>
                    <a:p>
                      <a:r>
                        <a:rPr lang="es-ES" sz="1300" b="0" i="0" strike="noStrike" cap="none" baseline="0" dirty="0">
                          <a:solidFill>
                            <a:srgbClr val="000000"/>
                          </a:solidFill>
                          <a:effectLst/>
                          <a:latin typeface="Segoe UI"/>
                          <a:ea typeface="Segoe UI"/>
                          <a:cs typeface="Segoe UI"/>
                        </a:rPr>
                        <a:t>Contenido de identificación que coincide con texto conocido de fuentes protegidas por derechos de autor, como letras de canciones, artículos, recetas u otro contenido web seleccionado</a:t>
                      </a:r>
                    </a:p>
                  </a:txBody>
                  <a:tcPr anchor="ctr"/>
                </a:tc>
                <a:extLst>
                  <a:ext uri="{0D108BD9-81ED-4DB2-BD59-A6C34878D82A}">
                    <a16:rowId xmlns:a16="http://schemas.microsoft.com/office/drawing/2014/main" val="4271667716"/>
                  </a:ext>
                </a:extLst>
              </a:tr>
              <a:tr h="227486">
                <a:tc>
                  <a:txBody>
                    <a:bodyPr/>
                    <a:lstStyle/>
                    <a:p>
                      <a:pPr marL="0" algn="l" defTabSz="932742" rtl="0" eaLnBrk="1" fontAlgn="t" latinLnBrk="0" hangingPunct="1">
                        <a:buNone/>
                      </a:pPr>
                      <a:r>
                        <a:rPr lang="es-ES" sz="1300" b="0" i="0" strike="noStrike" cap="none" baseline="0">
                          <a:solidFill>
                            <a:srgbClr val="000000"/>
                          </a:solidFill>
                          <a:effectLst/>
                          <a:latin typeface="Segoe UI Semibold"/>
                          <a:ea typeface="Segoe UI Semibold"/>
                          <a:cs typeface="Segoe UI Semibold"/>
                        </a:rPr>
                        <a:t>Base</a:t>
                      </a:r>
                      <a:endParaRPr lang="en-US" sz="1300" b="0" kern="1200">
                        <a:solidFill>
                          <a:schemeClr val="tx1"/>
                        </a:solidFill>
                        <a:latin typeface="+mj-lt"/>
                        <a:ea typeface="+mn-ea"/>
                        <a:cs typeface="+mn-cs"/>
                      </a:endParaRPr>
                    </a:p>
                  </a:txBody>
                  <a:tcPr anchor="ctr"/>
                </a:tc>
                <a:tc>
                  <a:txBody>
                    <a:bodyPr/>
                    <a:lstStyle/>
                    <a:p>
                      <a:r>
                        <a:rPr lang="es-ES" sz="1300" b="0" i="0" strike="noStrike" cap="none" baseline="0" dirty="0">
                          <a:solidFill>
                            <a:srgbClr val="000000"/>
                          </a:solidFill>
                          <a:effectLst/>
                          <a:latin typeface="Segoe UI"/>
                          <a:ea typeface="Segoe UI"/>
                          <a:cs typeface="Segoe UI"/>
                        </a:rPr>
                        <a:t>Asegúrate de que el contenido generado esté alineado con referencias fácticas o previstas en fuentes</a:t>
                      </a:r>
                    </a:p>
                  </a:txBody>
                  <a:tcPr anchor="ctr"/>
                </a:tc>
                <a:extLst>
                  <a:ext uri="{0D108BD9-81ED-4DB2-BD59-A6C34878D82A}">
                    <a16:rowId xmlns:a16="http://schemas.microsoft.com/office/drawing/2014/main" val="943435144"/>
                  </a:ext>
                </a:extLst>
              </a:tr>
              <a:tr h="227486">
                <a:tc>
                  <a:txBody>
                    <a:bodyPr/>
                    <a:lstStyle/>
                    <a:p>
                      <a:pPr marL="0" algn="l" defTabSz="932742" rtl="0" eaLnBrk="1" fontAlgn="t" latinLnBrk="0" hangingPunct="1">
                        <a:buNone/>
                      </a:pPr>
                      <a:r>
                        <a:rPr lang="es-ES" sz="1300" b="0" i="0" strike="noStrike" cap="none" baseline="0" dirty="0">
                          <a:solidFill>
                            <a:srgbClr val="000000"/>
                          </a:solidFill>
                          <a:effectLst/>
                          <a:latin typeface="Segoe UI Semibold"/>
                          <a:ea typeface="Segoe UI Semibold"/>
                          <a:cs typeface="Segoe UI Semibold"/>
                        </a:rPr>
                        <a:t>Información de identificación personal</a:t>
                      </a:r>
                    </a:p>
                  </a:txBody>
                  <a:tcPr anchor="ctr"/>
                </a:tc>
                <a:tc>
                  <a:txBody>
                    <a:bodyPr/>
                    <a:lstStyle/>
                    <a:p>
                      <a:r>
                        <a:rPr lang="es-ES" sz="1300" b="0" i="0" strike="noStrike" cap="none" baseline="0" dirty="0">
                          <a:solidFill>
                            <a:srgbClr val="000000"/>
                          </a:solidFill>
                          <a:effectLst/>
                          <a:latin typeface="Segoe UI"/>
                          <a:ea typeface="Segoe UI"/>
                          <a:cs typeface="Segoe UI"/>
                        </a:rPr>
                        <a:t>Exposición de datos PII, incluidos nombres, direcciones, detalles de contacto y otros detalles personales</a:t>
                      </a:r>
                    </a:p>
                  </a:txBody>
                  <a:tcPr anchor="ctr"/>
                </a:tc>
                <a:extLst>
                  <a:ext uri="{0D108BD9-81ED-4DB2-BD59-A6C34878D82A}">
                    <a16:rowId xmlns:a16="http://schemas.microsoft.com/office/drawing/2014/main" val="4221312469"/>
                  </a:ext>
                </a:extLst>
              </a:tr>
            </a:tbl>
          </a:graphicData>
        </a:graphic>
      </p:graphicFrame>
      <p:sp>
        <p:nvSpPr>
          <p:cNvPr id="4" name="Footer Placeholder 3">
            <a:extLst>
              <a:ext uri="{FF2B5EF4-FFF2-40B4-BE49-F238E27FC236}">
                <a16:creationId xmlns:a16="http://schemas.microsoft.com/office/drawing/2014/main" id="{49B0CD66-2DDF-5FD4-398C-1868CAA7B75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7084374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4489A-E637-15AD-E012-109900A18804}"/>
            </a:ext>
          </a:extLst>
        </p:cNvPr>
        <p:cNvGrpSpPr/>
        <p:nvPr/>
      </p:nvGrpSpPr>
      <p:grpSpPr>
        <a:xfrm>
          <a:off x="0" y="0"/>
          <a:ext cx="0" cy="0"/>
          <a:chOff x="0" y="0"/>
          <a:chExt cx="0" cy="0"/>
        </a:xfrm>
      </p:grpSpPr>
      <p:pic>
        <p:nvPicPr>
          <p:cNvPr id="8" name="Picture Placeholder 8">
            <a:extLst>
              <a:ext uri="{FF2B5EF4-FFF2-40B4-BE49-F238E27FC236}">
                <a16:creationId xmlns:a16="http://schemas.microsoft.com/office/drawing/2014/main" id="{06094194-4E03-A718-BB85-6D0868E14FC5}"/>
              </a:ext>
              <a:ext uri="{C183D7F6-B498-43B3-948B-1728B52AA6E4}">
                <adec:decorative xmlns:adec="http://schemas.microsoft.com/office/drawing/2017/decorative" val="1"/>
              </a:ext>
            </a:extLst>
          </p:cNvPr>
          <p:cNvPicPr>
            <a:picLocks noGrp="1" noChangeAspect="1"/>
          </p:cNvPicPr>
          <p:nvPr>
            <p:ph type="pic" sz="quarter" idx="20"/>
          </p:nvPr>
        </p:nvPicPr>
        <p:blipFill>
          <a:blip r:embed="rId3"/>
          <a:srcRect l="132" r="132"/>
          <a:stretch/>
        </p:blipFill>
        <p:spPr>
          <a:xfrm>
            <a:off x="7724775" y="2041526"/>
            <a:ext cx="4467225" cy="3311524"/>
          </a:xfrm>
        </p:spPr>
      </p:pic>
      <p:sp>
        <p:nvSpPr>
          <p:cNvPr id="5" name="Title 4">
            <a:extLst>
              <a:ext uri="{FF2B5EF4-FFF2-40B4-BE49-F238E27FC236}">
                <a16:creationId xmlns:a16="http://schemas.microsoft.com/office/drawing/2014/main" id="{93B95085-303F-0F25-AD2A-4E038A443F33}"/>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39F933B9-724E-404B-EA0D-FF2D7CD6818C}"/>
              </a:ext>
            </a:extLst>
          </p:cNvPr>
          <p:cNvSpPr>
            <a:spLocks noGrp="1"/>
          </p:cNvSpPr>
          <p:nvPr>
            <p:ph type="body" sz="quarter" idx="16"/>
          </p:nvPr>
        </p:nvSpPr>
        <p:spPr>
          <a:xfrm>
            <a:off x="579438" y="1248004"/>
            <a:ext cx="5999481" cy="609600"/>
          </a:xfrm>
        </p:spPr>
        <p:txBody>
          <a:bodyPr/>
          <a:lstStyle/>
          <a:p>
            <a:r>
              <a:rPr lang="es-ES" sz="2000" b="0" i="0" strike="noStrike" cap="none" baseline="0" dirty="0">
                <a:solidFill>
                  <a:srgbClr val="000000"/>
                </a:solidFill>
                <a:effectLst/>
                <a:latin typeface="Segoe UI Semibold"/>
                <a:ea typeface="Segoe UI Semibold"/>
                <a:cs typeface="Segoe UI Semibold"/>
              </a:rPr>
              <a:t>Aplicación de filtros de contenido para evitar</a:t>
            </a:r>
            <a:br>
              <a:rPr lang="es-ES" sz="2000" b="0" i="0" strike="noStrike" cap="none" baseline="0" dirty="0">
                <a:solidFill>
                  <a:srgbClr val="000000"/>
                </a:solidFill>
                <a:effectLst/>
                <a:latin typeface="Segoe UI Semibold"/>
                <a:ea typeface="Segoe UI Semibold"/>
                <a:cs typeface="Segoe UI Semibold"/>
              </a:rPr>
            </a:br>
            <a:r>
              <a:rPr lang="es-ES" sz="2000" b="0" i="0" strike="noStrike" cap="none" baseline="0" dirty="0">
                <a:solidFill>
                  <a:srgbClr val="000000"/>
                </a:solidFill>
                <a:effectLst/>
                <a:latin typeface="Segoe UI Semibold"/>
                <a:ea typeface="Segoe UI Semibold"/>
                <a:cs typeface="Segoe UI Semibold"/>
              </a:rPr>
              <a:t>la salida de contenido dañino</a:t>
            </a:r>
          </a:p>
        </p:txBody>
      </p:sp>
      <p:sp>
        <p:nvSpPr>
          <p:cNvPr id="6" name="Text Placeholder 5">
            <a:extLst>
              <a:ext uri="{FF2B5EF4-FFF2-40B4-BE49-F238E27FC236}">
                <a16:creationId xmlns:a16="http://schemas.microsoft.com/office/drawing/2014/main" id="{47F93EBA-31D7-A6AE-F9CC-2CA4D68386F8}"/>
              </a:ext>
            </a:extLst>
          </p:cNvPr>
          <p:cNvSpPr>
            <a:spLocks noGrp="1"/>
          </p:cNvSpPr>
          <p:nvPr>
            <p:ph type="body" sz="quarter" idx="15"/>
          </p:nvPr>
        </p:nvSpPr>
        <p:spPr>
          <a:xfrm>
            <a:off x="586389" y="1952762"/>
            <a:ext cx="5189571" cy="984885"/>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usarás el portal de Microsoft </a:t>
            </a:r>
            <a:r>
              <a:rPr lang="es-ES" sz="1600" b="0" i="0" strike="noStrike" cap="none" baseline="0" dirty="0" err="1">
                <a:solidFill>
                  <a:srgbClr val="000000"/>
                </a:solidFill>
                <a:effectLst/>
                <a:latin typeface="Segoe UI"/>
                <a:ea typeface="Segoe UI"/>
                <a:cs typeface="Segoe UI"/>
              </a:rPr>
              <a:t>Foundry</a:t>
            </a:r>
            <a:r>
              <a:rPr lang="es-ES" sz="1600" b="0" i="0" strike="noStrike" cap="none" baseline="0" dirty="0">
                <a:solidFill>
                  <a:srgbClr val="000000"/>
                </a:solidFill>
                <a:effectLst/>
                <a:latin typeface="Segoe UI"/>
                <a:ea typeface="Segoe UI"/>
                <a:cs typeface="Segoe UI"/>
              </a:rPr>
              <a:t> para lo siguiente: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Chatear con el límite de protección predeterminado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Crear y aplicar un límite de protección personalizado</a:t>
            </a:r>
            <a:endParaRPr lang="en-US" dirty="0">
              <a:solidFill>
                <a:srgbClr val="000000"/>
              </a:solidFill>
              <a:latin typeface="Segoe UI"/>
              <a:cs typeface="+mn-cs"/>
            </a:endParaRPr>
          </a:p>
        </p:txBody>
      </p:sp>
      <p:sp>
        <p:nvSpPr>
          <p:cNvPr id="10" name="TextBox 9">
            <a:extLst>
              <a:ext uri="{FF2B5EF4-FFF2-40B4-BE49-F238E27FC236}">
                <a16:creationId xmlns:a16="http://schemas.microsoft.com/office/drawing/2014/main" id="{BDCD7E8E-15AD-FA07-993E-90B3A0FD6EDF}"/>
              </a:ext>
            </a:extLst>
          </p:cNvPr>
          <p:cNvSpPr txBox="1"/>
          <p:nvPr/>
        </p:nvSpPr>
        <p:spPr>
          <a:xfrm>
            <a:off x="487330" y="3710970"/>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hlinkClick r:id="rId4" history="0"/>
              </a:rPr>
              <a:t>https://go.microsoft.com/fwlink/?linkid=2353440</a:t>
            </a:r>
            <a:r>
              <a:rPr lang="es-ES" sz="1600" b="0" i="0" strike="noStrike" cap="none" baseline="0">
                <a:solidFill>
                  <a:srgbClr val="000000"/>
                </a:solidFill>
                <a:effectLst/>
                <a:latin typeface="Segoe UI"/>
                <a:ea typeface="Segoe UI"/>
                <a:cs typeface="Segoe UI"/>
              </a:rPr>
              <a:t> </a:t>
            </a:r>
          </a:p>
        </p:txBody>
      </p:sp>
      <p:sp>
        <p:nvSpPr>
          <p:cNvPr id="3" name="Footer Placeholder 2">
            <a:extLst>
              <a:ext uri="{FF2B5EF4-FFF2-40B4-BE49-F238E27FC236}">
                <a16:creationId xmlns:a16="http://schemas.microsoft.com/office/drawing/2014/main" id="{4878D65D-19B0-C923-07DC-663854BA0CB2}"/>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94CFC71C-699F-47EB-31E5-6A2998099F9D}"/>
              </a:ext>
              <a:ext uri="{C183D7F6-B498-43B3-948B-1728B52AA6E4}">
                <adec:decorative xmlns:adec="http://schemas.microsoft.com/office/drawing/2017/decorative" val="1"/>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2403635736"/>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5FCF-B252-4FCE-BD44-0A5779C8AFE7}"/>
              </a:ext>
            </a:extLst>
          </p:cNvPr>
          <p:cNvSpPr>
            <a:spLocks noGrp="1"/>
          </p:cNvSpPr>
          <p:nvPr>
            <p:ph type="title"/>
          </p:nvPr>
        </p:nvSpPr>
        <p:spPr/>
        <p:txBody>
          <a:bodyPr/>
          <a:lstStyle/>
          <a:p>
            <a:r>
              <a:rPr lang="es-ES" sz="20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2BB91D5E-20DE-97FE-6AAB-A18132335615}"/>
              </a:ext>
            </a:extLst>
          </p:cNvPr>
          <p:cNvSpPr>
            <a:spLocks noGrp="1"/>
          </p:cNvSpPr>
          <p:nvPr>
            <p:ph type="body" sz="quarter" idx="17"/>
          </p:nvPr>
        </p:nvSpPr>
        <p:spPr>
          <a:xfrm>
            <a:off x="1235075" y="1586106"/>
            <a:ext cx="8778782" cy="426720"/>
          </a:xfrm>
        </p:spPr>
        <p:txBody>
          <a:bodyPr/>
          <a:lstStyle/>
          <a:p>
            <a:r>
              <a:rPr lang="es-ES" sz="1400" b="1" i="0" strike="noStrike" cap="none" baseline="0" dirty="0">
                <a:solidFill>
                  <a:srgbClr val="000000"/>
                </a:solidFill>
                <a:effectLst/>
                <a:latin typeface="Segoe UI Semibold"/>
                <a:ea typeface="Segoe UI Semibold"/>
                <a:cs typeface="Segoe UI Semibold"/>
              </a:rPr>
              <a:t>¿Por qué debes considerar la posibilidad de crear una valoración de impacto de la IA al diseñar una solución de IA generativa?</a:t>
            </a:r>
            <a:endParaRPr lang="en-US" b="1" noProof="0" dirty="0"/>
          </a:p>
        </p:txBody>
      </p:sp>
      <p:sp>
        <p:nvSpPr>
          <p:cNvPr id="9" name="Text Placeholder 8">
            <a:extLst>
              <a:ext uri="{FF2B5EF4-FFF2-40B4-BE49-F238E27FC236}">
                <a16:creationId xmlns:a16="http://schemas.microsoft.com/office/drawing/2014/main" id="{6BD2CD61-EA12-FBFF-FE4D-8ABB0630E116}"/>
              </a:ext>
            </a:extLst>
          </p:cNvPr>
          <p:cNvSpPr>
            <a:spLocks noGrp="1"/>
          </p:cNvSpPr>
          <p:nvPr>
            <p:ph type="body" sz="quarter" idx="15"/>
          </p:nvPr>
        </p:nvSpPr>
        <p:spPr>
          <a:xfrm>
            <a:off x="1235075" y="2012919"/>
            <a:ext cx="7992745" cy="938784"/>
          </a:xfrm>
          <a:noFill/>
        </p:spPr>
        <p:txBody>
          <a:bodyPr/>
          <a:lstStyle/>
          <a:p>
            <a:r>
              <a:rPr lang="es-ES" sz="1400" b="0" i="0" strike="noStrike" cap="none" baseline="0" dirty="0">
                <a:solidFill>
                  <a:srgbClr val="000000"/>
                </a:solidFill>
                <a:effectLst/>
                <a:latin typeface="Segoe UI"/>
                <a:ea typeface="Segoe UI"/>
                <a:cs typeface="Segoe UI"/>
              </a:rPr>
              <a:t>Para construir un caso legal que le permita eximirse de responsabilidad por los daños provocados por la solución </a:t>
            </a:r>
          </a:p>
          <a:p>
            <a:r>
              <a:rPr lang="es-ES" sz="1400" b="0" i="0" strike="noStrike" cap="none" baseline="0" dirty="0">
                <a:solidFill>
                  <a:srgbClr val="000000"/>
                </a:solidFill>
                <a:effectLst/>
                <a:latin typeface="Segoe UI"/>
                <a:ea typeface="Segoe UI"/>
                <a:cs typeface="Segoe UI"/>
              </a:rPr>
              <a:t>Para documentar el propósito, el uso esperado y los daños posibles para la solución </a:t>
            </a:r>
          </a:p>
          <a:p>
            <a:r>
              <a:rPr lang="es-ES" sz="1400" b="0" i="0" strike="noStrike" cap="none" baseline="0" dirty="0">
                <a:solidFill>
                  <a:srgbClr val="000000"/>
                </a:solidFill>
                <a:effectLst/>
                <a:latin typeface="Segoe UI"/>
                <a:ea typeface="Segoe UI"/>
                <a:cs typeface="Segoe UI"/>
              </a:rPr>
              <a:t>Para evaluar el costo de los servicios en la nube necesarios para implementar la solución</a:t>
            </a:r>
          </a:p>
        </p:txBody>
      </p:sp>
      <p:sp>
        <p:nvSpPr>
          <p:cNvPr id="18" name="Text Placeholder 17">
            <a:extLst>
              <a:ext uri="{FF2B5EF4-FFF2-40B4-BE49-F238E27FC236}">
                <a16:creationId xmlns:a16="http://schemas.microsoft.com/office/drawing/2014/main" id="{95A8C63B-6169-9A98-B0F7-479F68890332}"/>
              </a:ext>
            </a:extLst>
          </p:cNvPr>
          <p:cNvSpPr>
            <a:spLocks noGrp="1"/>
          </p:cNvSpPr>
          <p:nvPr>
            <p:ph type="body" sz="quarter" idx="22"/>
          </p:nvPr>
        </p:nvSpPr>
        <p:spPr>
          <a:xfrm>
            <a:off x="1235075" y="3184800"/>
            <a:ext cx="8778782" cy="426720"/>
          </a:xfrm>
        </p:spPr>
        <p:txBody>
          <a:bodyPr/>
          <a:lstStyle/>
          <a:p>
            <a:pPr>
              <a:buNone/>
            </a:pPr>
            <a:r>
              <a:rPr lang="es-ES" sz="1400" b="0" i="0" strike="noStrike" cap="none" baseline="0">
                <a:solidFill>
                  <a:srgbClr val="000000"/>
                </a:solidFill>
                <a:effectLst/>
                <a:latin typeface="Segoe UI Semibold"/>
                <a:ea typeface="Segoe UI Semibold"/>
                <a:cs typeface="Segoe UI Semibold"/>
              </a:rPr>
              <a:t>¿Qué funcionalidad de Microsoft Foundry ayuda a mitigar la generación de contenido perjudicial en el nivel de sistema de seguridad?</a:t>
            </a:r>
          </a:p>
        </p:txBody>
      </p:sp>
      <p:sp>
        <p:nvSpPr>
          <p:cNvPr id="19" name="Text Placeholder 18">
            <a:extLst>
              <a:ext uri="{FF2B5EF4-FFF2-40B4-BE49-F238E27FC236}">
                <a16:creationId xmlns:a16="http://schemas.microsoft.com/office/drawing/2014/main" id="{34A41BD7-1086-C355-3E5F-4AAE0B778651}"/>
              </a:ext>
            </a:extLst>
          </p:cNvPr>
          <p:cNvSpPr>
            <a:spLocks noGrp="1"/>
          </p:cNvSpPr>
          <p:nvPr>
            <p:ph type="body" sz="quarter" idx="23"/>
          </p:nvPr>
        </p:nvSpPr>
        <p:spPr>
          <a:xfrm>
            <a:off x="1237265" y="3647941"/>
            <a:ext cx="8775098" cy="725424"/>
          </a:xfrm>
        </p:spPr>
        <p:txBody>
          <a:bodyPr/>
          <a:lstStyle/>
          <a:p>
            <a:r>
              <a:rPr lang="es-ES" sz="1400" b="0" i="0" strike="noStrike" cap="none" baseline="0" dirty="0">
                <a:solidFill>
                  <a:srgbClr val="000000"/>
                </a:solidFill>
                <a:effectLst/>
                <a:latin typeface="Segoe UI"/>
                <a:ea typeface="Segoe UI"/>
                <a:cs typeface="Segoe UI"/>
              </a:rPr>
              <a:t>Compatibilidad con los modelos DALL-E</a:t>
            </a:r>
          </a:p>
          <a:p>
            <a:r>
              <a:rPr lang="es-ES" sz="1400" b="0" i="0" strike="noStrike" cap="none" baseline="0" dirty="0">
                <a:solidFill>
                  <a:srgbClr val="000000"/>
                </a:solidFill>
                <a:effectLst/>
                <a:latin typeface="Segoe UI"/>
                <a:ea typeface="Segoe UI"/>
                <a:cs typeface="Segoe UI"/>
              </a:rPr>
              <a:t>Ajuste preciso</a:t>
            </a:r>
          </a:p>
          <a:p>
            <a:r>
              <a:rPr lang="es-ES" sz="1400" b="0" i="0" strike="noStrike" cap="none" baseline="0" dirty="0">
                <a:solidFill>
                  <a:srgbClr val="000000"/>
                </a:solidFill>
                <a:effectLst/>
                <a:latin typeface="Segoe UI"/>
                <a:ea typeface="Segoe UI"/>
                <a:cs typeface="Segoe UI"/>
              </a:rPr>
              <a:t>Límites de protección</a:t>
            </a:r>
          </a:p>
        </p:txBody>
      </p:sp>
      <p:sp>
        <p:nvSpPr>
          <p:cNvPr id="15" name="Text Placeholder 14">
            <a:extLst>
              <a:ext uri="{FF2B5EF4-FFF2-40B4-BE49-F238E27FC236}">
                <a16:creationId xmlns:a16="http://schemas.microsoft.com/office/drawing/2014/main" id="{40689312-8095-CCFD-22A6-F89AAB2992CD}"/>
              </a:ext>
            </a:extLst>
          </p:cNvPr>
          <p:cNvSpPr>
            <a:spLocks noGrp="1"/>
          </p:cNvSpPr>
          <p:nvPr>
            <p:ph type="body" sz="quarter" idx="20"/>
          </p:nvPr>
        </p:nvSpPr>
        <p:spPr>
          <a:xfrm>
            <a:off x="1235074" y="4588103"/>
            <a:ext cx="8957333" cy="213360"/>
          </a:xfrm>
        </p:spPr>
        <p:txBody>
          <a:bodyPr/>
          <a:lstStyle/>
          <a:p>
            <a:pPr>
              <a:buNone/>
            </a:pPr>
            <a:r>
              <a:rPr lang="es-ES" sz="1400" b="0" i="0" strike="noStrike" cap="none" baseline="0">
                <a:solidFill>
                  <a:srgbClr val="000000"/>
                </a:solidFill>
                <a:effectLst/>
                <a:latin typeface="Segoe UI Semibold"/>
                <a:ea typeface="Segoe UI Semibold"/>
                <a:cs typeface="Segoe UI Semibold"/>
              </a:rPr>
              <a:t>¿Por qué debe considerar un plan de entrega por fases para la solución de IA generativa?</a:t>
            </a:r>
          </a:p>
        </p:txBody>
      </p:sp>
      <p:sp>
        <p:nvSpPr>
          <p:cNvPr id="17" name="Text Placeholder 16">
            <a:extLst>
              <a:ext uri="{FF2B5EF4-FFF2-40B4-BE49-F238E27FC236}">
                <a16:creationId xmlns:a16="http://schemas.microsoft.com/office/drawing/2014/main" id="{1D49697D-DE0C-2ACF-7A46-2A7D4EA740A1}"/>
              </a:ext>
            </a:extLst>
          </p:cNvPr>
          <p:cNvSpPr>
            <a:spLocks noGrp="1"/>
          </p:cNvSpPr>
          <p:nvPr>
            <p:ph type="body" sz="quarter" idx="21"/>
          </p:nvPr>
        </p:nvSpPr>
        <p:spPr>
          <a:xfrm>
            <a:off x="1235074" y="4867373"/>
            <a:ext cx="9159875" cy="938784"/>
          </a:xfrm>
        </p:spPr>
        <p:txBody>
          <a:bodyPr/>
          <a:lstStyle/>
          <a:p>
            <a:r>
              <a:rPr lang="es-ES" sz="1400" b="0" i="0" strike="noStrike" cap="none" baseline="0" dirty="0">
                <a:solidFill>
                  <a:srgbClr val="000000"/>
                </a:solidFill>
                <a:effectLst/>
                <a:latin typeface="Segoe UI"/>
                <a:ea typeface="Segoe UI"/>
                <a:cs typeface="Segoe UI"/>
              </a:rPr>
              <a:t>Para permitirle recopilar comentarios e identificar problemas antes de publicar la solución de manera más amplia</a:t>
            </a:r>
          </a:p>
          <a:p>
            <a:r>
              <a:rPr lang="es-ES" sz="1400" b="0" i="0" strike="noStrike" cap="none" baseline="0" dirty="0">
                <a:solidFill>
                  <a:srgbClr val="000000"/>
                </a:solidFill>
                <a:effectLst/>
                <a:latin typeface="Segoe UI"/>
                <a:ea typeface="Segoe UI"/>
                <a:cs typeface="Segoe UI"/>
              </a:rPr>
              <a:t>Para eliminar la necesidad de asignar, medir, mitigar y administrar daños posibles </a:t>
            </a:r>
          </a:p>
          <a:p>
            <a:r>
              <a:rPr lang="es-ES" sz="1400" b="0" i="0" strike="noStrike" cap="none" baseline="0" dirty="0">
                <a:solidFill>
                  <a:srgbClr val="000000"/>
                </a:solidFill>
                <a:effectLst/>
                <a:latin typeface="Segoe UI"/>
                <a:ea typeface="Segoe UI"/>
                <a:cs typeface="Segoe UI"/>
              </a:rPr>
              <a:t>Para permitirle cobrar más por la solución</a:t>
            </a:r>
          </a:p>
        </p:txBody>
      </p:sp>
      <p:sp>
        <p:nvSpPr>
          <p:cNvPr id="76" name="Oval 75">
            <a:extLst>
              <a:ext uri="{FF2B5EF4-FFF2-40B4-BE49-F238E27FC236}">
                <a16:creationId xmlns:a16="http://schemas.microsoft.com/office/drawing/2014/main" id="{407114A2-8BF6-A1A6-2CD6-2CBFBD1551C7}"/>
              </a:ext>
              <a:ext uri="{C183D7F6-B498-43B3-948B-1728B52AA6E4}">
                <adec:decorative xmlns:adec="http://schemas.microsoft.com/office/drawing/2017/decorative" val="1"/>
              </a:ext>
            </a:extLst>
          </p:cNvPr>
          <p:cNvSpPr/>
          <p:nvPr/>
        </p:nvSpPr>
        <p:spPr bwMode="auto">
          <a:xfrm>
            <a:off x="722582" y="159427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lang="es-ES" sz="1800" b="1" i="0" strike="noStrike" cap="none" baseline="0" dirty="0">
              <a:solidFill>
                <a:srgbClr val="000000"/>
              </a:solidFill>
              <a:effectLst/>
              <a:latin typeface="Segoe UI"/>
              <a:ea typeface="Segoe UI"/>
              <a:cs typeface="Segoe UI"/>
            </a:endParaRPr>
          </a:p>
          <a:p>
            <a:pPr marL="0" marR="0" lvl="0" indent="0" algn="ctr" defTabSz="914400" rtl="0" eaLnBrk="1" fontAlgn="auto" latinLnBrk="0" hangingPunct="1">
              <a:lnSpc>
                <a:spcPct val="100000"/>
              </a:lnSpc>
              <a:spcBef>
                <a:spcPct val="0"/>
              </a:spcBef>
              <a:spcAft>
                <a:spcPct val="0"/>
              </a:spcAft>
              <a:buClrTx/>
              <a:buSzTx/>
              <a:buFontTx/>
              <a:buNone/>
              <a:defRPr/>
            </a:pPr>
            <a:r>
              <a:rPr lang="es-ES" sz="1800" b="1" i="0" strike="noStrike" cap="none" baseline="0" dirty="0">
                <a:solidFill>
                  <a:srgbClr val="000000"/>
                </a:solidFill>
                <a:effectLst/>
                <a:latin typeface="Segoe UI"/>
                <a:ea typeface="Segoe UI"/>
                <a:cs typeface="Segoe UI"/>
              </a:rPr>
              <a:t>1</a:t>
            </a:r>
            <a:r>
              <a:rPr lang="es-ES" sz="1800" b="0" i="0" strike="noStrike" cap="none" baseline="0" dirty="0">
                <a:solidFill>
                  <a:srgbClr val="000000"/>
                </a:solidFill>
                <a:effectLst/>
                <a:latin typeface="Segoe UI"/>
                <a:ea typeface="Segoe UI"/>
                <a:cs typeface="Segoe UI"/>
              </a:rPr>
              <a:t>
          </a:t>
            </a:r>
          </a:p>
        </p:txBody>
      </p:sp>
      <p:sp>
        <p:nvSpPr>
          <p:cNvPr id="77" name="Oval 76">
            <a:extLst>
              <a:ext uri="{FF2B5EF4-FFF2-40B4-BE49-F238E27FC236}">
                <a16:creationId xmlns:a16="http://schemas.microsoft.com/office/drawing/2014/main" id="{14ACD916-6FAD-9782-1B88-1B0BC3A12F7E}"/>
              </a:ext>
              <a:ext uri="{C183D7F6-B498-43B3-948B-1728B52AA6E4}">
                <adec:decorative xmlns:adec="http://schemas.microsoft.com/office/drawing/2017/decorative" val="1"/>
              </a:ext>
            </a:extLst>
          </p:cNvPr>
          <p:cNvSpPr/>
          <p:nvPr/>
        </p:nvSpPr>
        <p:spPr bwMode="auto">
          <a:xfrm>
            <a:off x="722582" y="3186534"/>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33232D8E-9600-037A-525E-D1CEB4DF77B9}"/>
              </a:ext>
              <a:ext uri="{C183D7F6-B498-43B3-948B-1728B52AA6E4}">
                <adec:decorative xmlns:adec="http://schemas.microsoft.com/office/drawing/2017/decorative" val="1"/>
              </a:ext>
            </a:extLst>
          </p:cNvPr>
          <p:cNvSpPr/>
          <p:nvPr/>
        </p:nvSpPr>
        <p:spPr>
          <a:xfrm>
            <a:off x="1278720" y="4197050"/>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latin typeface="Segoe UI"/>
              <a:ea typeface="+mn-ea"/>
              <a:cs typeface="+mn-cs"/>
            </a:endParaRPr>
          </a:p>
        </p:txBody>
      </p:sp>
      <p:sp>
        <p:nvSpPr>
          <p:cNvPr id="78" name="Oval 77">
            <a:extLst>
              <a:ext uri="{FF2B5EF4-FFF2-40B4-BE49-F238E27FC236}">
                <a16:creationId xmlns:a16="http://schemas.microsoft.com/office/drawing/2014/main" id="{FABD4A0D-F27D-198E-C389-B8C1471825CB}"/>
              </a:ext>
              <a:ext uri="{C183D7F6-B498-43B3-948B-1728B52AA6E4}">
                <adec:decorative xmlns:adec="http://schemas.microsoft.com/office/drawing/2017/decorative" val="1"/>
              </a:ext>
            </a:extLst>
          </p:cNvPr>
          <p:cNvSpPr/>
          <p:nvPr/>
        </p:nvSpPr>
        <p:spPr bwMode="auto">
          <a:xfrm>
            <a:off x="722582" y="4496221"/>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lang="es-ES" sz="1800" b="1" i="0" strike="noStrike" cap="none" baseline="0" dirty="0">
              <a:solidFill>
                <a:srgbClr val="000000"/>
              </a:solidFill>
              <a:effectLst/>
              <a:latin typeface="Segoe UI"/>
              <a:ea typeface="Segoe UI"/>
              <a:cs typeface="Segoe UI"/>
            </a:endParaRPr>
          </a:p>
          <a:p>
            <a:pPr marL="0" marR="0" lvl="0" indent="0" algn="ctr" defTabSz="914400" rtl="0" eaLnBrk="1" fontAlgn="auto" latinLnBrk="0" hangingPunct="1">
              <a:lnSpc>
                <a:spcPct val="100000"/>
              </a:lnSpc>
              <a:spcBef>
                <a:spcPct val="0"/>
              </a:spcBef>
              <a:spcAft>
                <a:spcPct val="0"/>
              </a:spcAft>
              <a:buClrTx/>
              <a:buSzTx/>
              <a:buFontTx/>
              <a:buNone/>
              <a:defRPr/>
            </a:pPr>
            <a:r>
              <a:rPr lang="es-ES" sz="1800" b="1" i="0" strike="noStrike" cap="none" baseline="0" dirty="0">
                <a:solidFill>
                  <a:srgbClr val="000000"/>
                </a:solidFill>
                <a:effectLst/>
                <a:latin typeface="Segoe UI"/>
                <a:ea typeface="Segoe UI"/>
                <a:cs typeface="Segoe UI"/>
              </a:rPr>
              <a:t>3</a:t>
            </a:r>
            <a:r>
              <a:rPr lang="es-ES" sz="1800" b="0" i="0" strike="noStrike" cap="none" baseline="0" dirty="0">
                <a:solidFill>
                  <a:srgbClr val="000000"/>
                </a:solidFill>
                <a:effectLst/>
                <a:latin typeface="Segoe UI"/>
                <a:ea typeface="Segoe UI"/>
                <a:cs typeface="Segoe UI"/>
              </a:rPr>
              <a:t>
          </a:t>
            </a:r>
          </a:p>
        </p:txBody>
      </p:sp>
      <p:sp>
        <p:nvSpPr>
          <p:cNvPr id="81" name="Graphic 26">
            <a:extLst>
              <a:ext uri="{FF2B5EF4-FFF2-40B4-BE49-F238E27FC236}">
                <a16:creationId xmlns:a16="http://schemas.microsoft.com/office/drawing/2014/main" id="{0971EFD5-5C2D-6201-133A-7531D6D2C7C1}"/>
              </a:ext>
              <a:ext uri="{C183D7F6-B498-43B3-948B-1728B52AA6E4}">
                <adec:decorative xmlns:adec="http://schemas.microsoft.com/office/drawing/2017/decorative" val="1"/>
              </a:ext>
            </a:extLst>
          </p:cNvPr>
          <p:cNvSpPr/>
          <p:nvPr/>
        </p:nvSpPr>
        <p:spPr>
          <a:xfrm>
            <a:off x="1265077" y="490332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latin typeface="Segoe UI"/>
              <a:ea typeface="+mn-ea"/>
              <a:cs typeface="+mn-cs"/>
            </a:endParaRPr>
          </a:p>
        </p:txBody>
      </p:sp>
      <p:sp>
        <p:nvSpPr>
          <p:cNvPr id="3" name="Graphic 26">
            <a:extLst>
              <a:ext uri="{FF2B5EF4-FFF2-40B4-BE49-F238E27FC236}">
                <a16:creationId xmlns:a16="http://schemas.microsoft.com/office/drawing/2014/main" id="{73EFA5EC-BE50-D924-BC3E-285D8A5882FE}"/>
              </a:ext>
              <a:ext uri="{C183D7F6-B498-43B3-948B-1728B52AA6E4}">
                <adec:decorative xmlns:adec="http://schemas.microsoft.com/office/drawing/2017/decorative" val="1"/>
              </a:ext>
            </a:extLst>
          </p:cNvPr>
          <p:cNvSpPr/>
          <p:nvPr/>
        </p:nvSpPr>
        <p:spPr>
          <a:xfrm>
            <a:off x="1271225" y="25122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latin typeface="Segoe UI"/>
              <a:ea typeface="+mn-ea"/>
              <a:cs typeface="+mn-cs"/>
            </a:endParaRPr>
          </a:p>
        </p:txBody>
      </p:sp>
      <p:sp>
        <p:nvSpPr>
          <p:cNvPr id="4" name="Footer Placeholder 2">
            <a:extLst>
              <a:ext uri="{FF2B5EF4-FFF2-40B4-BE49-F238E27FC236}">
                <a16:creationId xmlns:a16="http://schemas.microsoft.com/office/drawing/2014/main" id="{2352CCF7-2544-5670-0B0A-04192D2781BE}"/>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kumimoji="0" lang="en-US" sz="10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63224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
                                        </p:tgtEl>
                                        <p:attrNameLst>
                                          <p:attrName>style.visibility</p:attrName>
                                        </p:attrNameLst>
                                      </p:cBhvr>
                                      <p:to>
                                        <p:strVal val="visible"/>
                                      </p:to>
                                    </p:set>
                                    <p:animEffect transition="in" filter="fade">
                                      <p:cBhvr>
                                        <p:cTn id="17"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54243"/>
            <a:ext cx="5274629" cy="1645920"/>
          </a:xfrm>
        </p:spPr>
        <p:txBody>
          <a:bodyPr/>
          <a:lstStyle/>
          <a:p>
            <a:r>
              <a:rPr lang="es-ES" sz="3600" b="0" i="0" strike="noStrike" cap="none" baseline="0" dirty="0">
                <a:solidFill>
                  <a:srgbClr val="000000"/>
                </a:solidFill>
                <a:effectLst/>
                <a:latin typeface="Segoe UI"/>
                <a:ea typeface="Segoe UI"/>
                <a:cs typeface="Segoe UI"/>
              </a:rPr>
              <a:t>Desarrollo de agentes de IA con Microsoft </a:t>
            </a:r>
            <a:r>
              <a:rPr lang="es-ES" sz="3600" b="0" i="0" strike="noStrike" cap="none" baseline="0" dirty="0" err="1">
                <a:solidFill>
                  <a:srgbClr val="000000"/>
                </a:solidFill>
                <a:effectLst/>
                <a:latin typeface="Segoe UI"/>
                <a:ea typeface="Segoe UI"/>
                <a:cs typeface="Segoe UI"/>
              </a:rPr>
              <a:t>Foundry</a:t>
            </a:r>
            <a:r>
              <a:rPr lang="es-ES" sz="3600" b="0" i="0" strike="noStrike" cap="none" baseline="0" dirty="0">
                <a:solidFill>
                  <a:srgbClr val="000000"/>
                </a:solidFill>
                <a:effectLst/>
                <a:latin typeface="Segoe UI"/>
                <a:ea typeface="Segoe UI"/>
                <a:cs typeface="Segoe UI"/>
              </a:rPr>
              <a:t> y Visual Studio Code</a:t>
            </a:r>
            <a:endParaRPr lang="en-US" sz="3600" dirty="0"/>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TextBox 1">
            <a:extLst>
              <a:ext uri="{FF2B5EF4-FFF2-40B4-BE49-F238E27FC236}">
                <a16:creationId xmlns:a16="http://schemas.microsoft.com/office/drawing/2014/main" id="{1F591574-CCA3-6084-9EB1-07BB1B526ACB}"/>
              </a:ext>
            </a:extLst>
          </p:cNvPr>
          <p:cNvSpPr txBox="1"/>
          <p:nvPr/>
        </p:nvSpPr>
        <p:spPr>
          <a:xfrm>
            <a:off x="497341" y="4000163"/>
            <a:ext cx="6096000" cy="360426"/>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https://aka.ms/develop-agents-vs-code</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0C07C-EADE-429C-9D45-D6EAD312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3090F-6780-9CDB-90CA-7A4D1482FC06}"/>
              </a:ext>
            </a:extLst>
          </p:cNvPr>
          <p:cNvSpPr>
            <a:spLocks noGrp="1"/>
          </p:cNvSpPr>
          <p:nvPr>
            <p:ph type="title"/>
          </p:nvPr>
        </p:nvSpPr>
        <p:spPr>
          <a:xfrm>
            <a:off x="588262" y="500000"/>
            <a:ext cx="8193024" cy="487680"/>
          </a:xfrm>
        </p:spPr>
        <p:txBody>
          <a:bodyPr/>
          <a:lstStyle/>
          <a:p>
            <a:r>
              <a:rPr lang="es-ES" sz="3200" b="1" i="0" strike="noStrike" cap="none" baseline="0">
                <a:solidFill>
                  <a:srgbClr val="000000"/>
                </a:solidFill>
                <a:effectLst/>
                <a:latin typeface="Segoe UI Semibold"/>
                <a:ea typeface="Segoe UI Semibold"/>
                <a:cs typeface="Segoe UI Semibold"/>
              </a:rPr>
              <a:t>Comprensión de agentes de IA</a:t>
            </a:r>
          </a:p>
        </p:txBody>
      </p:sp>
      <p:sp>
        <p:nvSpPr>
          <p:cNvPr id="3" name="Footer Placeholder 1">
            <a:extLst>
              <a:ext uri="{FF2B5EF4-FFF2-40B4-BE49-F238E27FC236}">
                <a16:creationId xmlns:a16="http://schemas.microsoft.com/office/drawing/2014/main" id="{B40A941E-D99C-96C4-2A85-91793271CBC3}"/>
              </a:ext>
            </a:extLst>
          </p:cNvPr>
          <p:cNvSpPr>
            <a:spLocks noGrp="1"/>
          </p:cNvSpPr>
          <p:nvPr>
            <p:ph type="ftr" sz="quarter" idx="3"/>
          </p:nvPr>
        </p:nvSpPr>
        <p:spPr>
          <a:xfrm>
            <a:off x="579438" y="6421083"/>
            <a:ext cx="4151312" cy="197976"/>
          </a:xfrm>
        </p:spPr>
        <p:txBody>
          <a:body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3" name="Container">
            <a:extLst>
              <a:ext uri="{FF2B5EF4-FFF2-40B4-BE49-F238E27FC236}">
                <a16:creationId xmlns:a16="http://schemas.microsoft.com/office/drawing/2014/main" id="{FD5B3090-406D-723B-F0AE-C5D8C7A45F25}"/>
              </a:ext>
              <a:ext uri="{C183D7F6-B498-43B3-948B-1728B52AA6E4}">
                <adec:decorative xmlns:adec="http://schemas.microsoft.com/office/drawing/2017/decorative" val="1"/>
              </a:ext>
            </a:extLst>
          </p:cNvPr>
          <p:cNvSpPr/>
          <p:nvPr/>
        </p:nvSpPr>
        <p:spPr>
          <a:xfrm>
            <a:off x="2200000" y="2450000"/>
            <a:ext cx="7792000" cy="2530000"/>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687CC572-C645-131C-781A-0FACE0EC3EA8}"/>
              </a:ext>
              <a:ext uri="{C183D7F6-B498-43B3-948B-1728B52AA6E4}">
                <adec:decorative xmlns:adec="http://schemas.microsoft.com/office/drawing/2017/decorative" val="1"/>
              </a:ext>
            </a:extLst>
          </p:cNvPr>
          <p:cNvSpPr/>
          <p:nvPr/>
        </p:nvSpPr>
        <p:spPr>
          <a:xfrm>
            <a:off x="2700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DE48A074-AACE-4BDA-86A7-C8427DA80862}"/>
              </a:ext>
            </a:extLst>
          </p:cNvPr>
          <p:cNvSpPr/>
          <p:nvPr/>
        </p:nvSpPr>
        <p:spPr>
          <a:xfrm>
            <a:off x="2875000" y="4030000"/>
            <a:ext cx="1350000" cy="380000"/>
          </a:xfrm>
          <a:prstGeom prst="roundRect">
            <a:avLst>
              <a:gd name="adj" fmla="val 50000"/>
            </a:avLst>
          </a:prstGeom>
          <a:solidFill>
            <a:srgbClr val="1D68E8"/>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LLM</a:t>
            </a:r>
          </a:p>
        </p:txBody>
      </p:sp>
      <p:sp>
        <p:nvSpPr>
          <p:cNvPr id="17" name="Plus1">
            <a:extLst>
              <a:ext uri="{FF2B5EF4-FFF2-40B4-BE49-F238E27FC236}">
                <a16:creationId xmlns:a16="http://schemas.microsoft.com/office/drawing/2014/main" id="{FD3497AC-8056-3596-4029-12DDE8D062EA}"/>
              </a:ext>
            </a:extLst>
          </p:cNvPr>
          <p:cNvSpPr/>
          <p:nvPr/>
        </p:nvSpPr>
        <p:spPr>
          <a:xfrm>
            <a:off x="458000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7B419330-7DCB-14DB-DA8E-9BC675FA6D9F}"/>
              </a:ext>
            </a:extLst>
          </p:cNvPr>
          <p:cNvSpPr/>
          <p:nvPr/>
        </p:nvSpPr>
        <p:spPr>
          <a:xfrm>
            <a:off x="7126000"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0938E88C-0E31-BA72-A394-838B8E5823AB}"/>
              </a:ext>
              <a:ext uri="{C183D7F6-B498-43B3-948B-1728B52AA6E4}">
                <adec:decorative xmlns:adec="http://schemas.microsoft.com/office/drawing/2017/decorative" val="1"/>
              </a:ext>
            </a:extLst>
          </p:cNvPr>
          <p:cNvSpPr/>
          <p:nvPr/>
        </p:nvSpPr>
        <p:spPr>
          <a:xfrm>
            <a:off x="7792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AC264313-746D-586B-513A-9C9620F78908}"/>
              </a:ext>
            </a:extLst>
          </p:cNvPr>
          <p:cNvSpPr/>
          <p:nvPr/>
        </p:nvSpPr>
        <p:spPr>
          <a:xfrm>
            <a:off x="7967000" y="4030000"/>
            <a:ext cx="1350000" cy="380000"/>
          </a:xfrm>
          <a:prstGeom prst="roundRect">
            <a:avLst>
              <a:gd name="adj" fmla="val 50000"/>
            </a:avLst>
          </a:prstGeom>
          <a:solidFill>
            <a:srgbClr val="EC4899"/>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Herramientas</a:t>
            </a:r>
          </a:p>
        </p:txBody>
      </p:sp>
      <p:pic>
        <p:nvPicPr>
          <p:cNvPr id="5" name="Graphic 4" descr="Processor outline">
            <a:extLst>
              <a:ext uri="{FF2B5EF4-FFF2-40B4-BE49-F238E27FC236}">
                <a16:creationId xmlns:a16="http://schemas.microsoft.com/office/drawing/2014/main" id="{3EE1ACC4-F4D6-BA09-91DD-BD45DC4633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50385" y="3092800"/>
            <a:ext cx="914400" cy="914400"/>
          </a:xfrm>
          <a:prstGeom prst="rect">
            <a:avLst/>
          </a:prstGeom>
        </p:spPr>
      </p:pic>
      <p:sp>
        <p:nvSpPr>
          <p:cNvPr id="10" name="Input">
            <a:extLst>
              <a:ext uri="{FF2B5EF4-FFF2-40B4-BE49-F238E27FC236}">
                <a16:creationId xmlns:a16="http://schemas.microsoft.com/office/drawing/2014/main" id="{F2BA9FFC-1928-91EF-FABD-1A0DF9902241}"/>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a:solidFill>
                  <a:srgbClr val="FFFFFF"/>
                </a:solidFill>
                <a:effectLst/>
                <a:latin typeface="Segoe UI"/>
                <a:ea typeface="Segoe UI"/>
                <a:cs typeface="Segoe UI"/>
              </a:rPr>
              <a:t>Entrada</a:t>
            </a:r>
          </a:p>
        </p:txBody>
      </p:sp>
      <p:sp>
        <p:nvSpPr>
          <p:cNvPr id="11" name="Arrow1">
            <a:extLst>
              <a:ext uri="{FF2B5EF4-FFF2-40B4-BE49-F238E27FC236}">
                <a16:creationId xmlns:a16="http://schemas.microsoft.com/office/drawing/2014/main" id="{597AD65C-F79B-103D-6A2B-575A03D5187A}"/>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65E36592-D347-3BDF-F958-AB3F1F7FBB98}"/>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a:solidFill>
                  <a:srgbClr val="FFFFFF"/>
                </a:solidFill>
                <a:effectLst/>
                <a:latin typeface="Segoe UI"/>
                <a:ea typeface="Segoe UI"/>
                <a:cs typeface="Segoe UI"/>
              </a:rPr>
              <a:t>Agent</a:t>
            </a:r>
          </a:p>
        </p:txBody>
      </p:sp>
      <p:sp>
        <p:nvSpPr>
          <p:cNvPr id="18" name="CardInstructions">
            <a:extLst>
              <a:ext uri="{FF2B5EF4-FFF2-40B4-BE49-F238E27FC236}">
                <a16:creationId xmlns:a16="http://schemas.microsoft.com/office/drawing/2014/main" id="{CDEA92DE-5BBE-921B-406F-3B682CAED41D}"/>
              </a:ext>
              <a:ext uri="{C183D7F6-B498-43B3-948B-1728B52AA6E4}">
                <adec:decorative xmlns:adec="http://schemas.microsoft.com/office/drawing/2017/decorative" val="1"/>
              </a:ext>
            </a:extLst>
          </p:cNvPr>
          <p:cNvSpPr/>
          <p:nvPr/>
        </p:nvSpPr>
        <p:spPr>
          <a:xfrm>
            <a:off x="5246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7488C622-EEFA-1031-F6A4-DEBF8B12EBBD}"/>
              </a:ext>
            </a:extLst>
          </p:cNvPr>
          <p:cNvSpPr/>
          <p:nvPr/>
        </p:nvSpPr>
        <p:spPr>
          <a:xfrm>
            <a:off x="5421000" y="4030000"/>
            <a:ext cx="1350000" cy="380000"/>
          </a:xfrm>
          <a:prstGeom prst="roundRect">
            <a:avLst>
              <a:gd name="adj" fmla="val 50000"/>
            </a:avLst>
          </a:prstGeom>
          <a:solidFill>
            <a:srgbClr val="9333EA"/>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Instrucciones</a:t>
            </a:r>
          </a:p>
        </p:txBody>
      </p:sp>
      <p:sp>
        <p:nvSpPr>
          <p:cNvPr id="25" name="Arrow2">
            <a:extLst>
              <a:ext uri="{FF2B5EF4-FFF2-40B4-BE49-F238E27FC236}">
                <a16:creationId xmlns:a16="http://schemas.microsoft.com/office/drawing/2014/main" id="{B5CCAC02-23E6-CA19-5F9A-81BD21DB4E31}"/>
              </a:ext>
              <a:ext uri="{C183D7F6-B498-43B3-948B-1728B52AA6E4}">
                <adec:decorative xmlns:adec="http://schemas.microsoft.com/office/drawing/2017/decorative" val="1"/>
              </a:ext>
            </a:extLst>
          </p:cNvPr>
          <p:cNvSpPr/>
          <p:nvPr/>
        </p:nvSpPr>
        <p:spPr>
          <a:xfrm>
            <a:off x="5971000" y="5030000"/>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B6C9D9E4-6FE9-4CFE-8409-CF24E6EE4BC9}"/>
              </a:ext>
            </a:extLst>
          </p:cNvPr>
          <p:cNvSpPr/>
          <p:nvPr/>
        </p:nvSpPr>
        <p:spPr>
          <a:xfrm>
            <a:off x="4953000" y="5380000"/>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dirty="0">
                <a:solidFill>
                  <a:srgbClr val="FFFFFF"/>
                </a:solidFill>
                <a:effectLst/>
                <a:latin typeface="Segoe UI"/>
                <a:ea typeface="Segoe UI"/>
                <a:cs typeface="Segoe UI"/>
              </a:rPr>
              <a:t>Salida</a:t>
            </a:r>
          </a:p>
        </p:txBody>
      </p:sp>
      <p:pic>
        <p:nvPicPr>
          <p:cNvPr id="7" name="Graphic 6" descr="Document outline">
            <a:extLst>
              <a:ext uri="{FF2B5EF4-FFF2-40B4-BE49-F238E27FC236}">
                <a16:creationId xmlns:a16="http://schemas.microsoft.com/office/drawing/2014/main" id="{BD508CDA-8FAE-253F-ABB4-0C7F1DA99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3070600"/>
            <a:ext cx="914400" cy="914400"/>
          </a:xfrm>
          <a:prstGeom prst="rect">
            <a:avLst/>
          </a:prstGeom>
        </p:spPr>
      </p:pic>
      <p:pic>
        <p:nvPicPr>
          <p:cNvPr id="9" name="Graphic 8" descr="Wrench outline">
            <a:extLst>
              <a:ext uri="{FF2B5EF4-FFF2-40B4-BE49-F238E27FC236}">
                <a16:creationId xmlns:a16="http://schemas.microsoft.com/office/drawing/2014/main" id="{F7150396-E62B-873A-CBB7-85444F5F1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323" y="3186647"/>
            <a:ext cx="743353" cy="743353"/>
          </a:xfrm>
          <a:prstGeom prst="rect">
            <a:avLst/>
          </a:prstGeom>
        </p:spPr>
      </p:pic>
    </p:spTree>
    <p:extLst>
      <p:ext uri="{BB962C8B-B14F-4D97-AF65-F5344CB8AC3E}">
        <p14:creationId xmlns:p14="http://schemas.microsoft.com/office/powerpoint/2010/main" val="52206813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2D9B5-9CB5-4E0A-80A4-3EF9323C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F0B48-5FD9-0278-B355-0630BCC197B0}"/>
              </a:ext>
            </a:extLst>
          </p:cNvPr>
          <p:cNvSpPr>
            <a:spLocks noGrp="1"/>
          </p:cNvSpPr>
          <p:nvPr>
            <p:ph type="title"/>
          </p:nvPr>
        </p:nvSpPr>
        <p:spPr>
          <a:xfrm>
            <a:off x="588262" y="500000"/>
            <a:ext cx="8193024" cy="487680"/>
          </a:xfrm>
        </p:spPr>
        <p:txBody>
          <a:bodyPr/>
          <a:lstStyle/>
          <a:p>
            <a:r>
              <a:rPr lang="es-ES" sz="3200" b="1" i="0" strike="noStrike" cap="none" baseline="0">
                <a:solidFill>
                  <a:srgbClr val="000000"/>
                </a:solidFill>
                <a:effectLst/>
                <a:latin typeface="Segoe UI Semibold"/>
                <a:ea typeface="Segoe UI Semibold"/>
                <a:cs typeface="Segoe UI Semibold"/>
              </a:rPr>
              <a:t>Comprensión de agentes de IA</a:t>
            </a:r>
          </a:p>
        </p:txBody>
      </p:sp>
      <p:sp>
        <p:nvSpPr>
          <p:cNvPr id="3" name="Footer Placeholder 1">
            <a:extLst>
              <a:ext uri="{FF2B5EF4-FFF2-40B4-BE49-F238E27FC236}">
                <a16:creationId xmlns:a16="http://schemas.microsoft.com/office/drawing/2014/main" id="{90E6FA54-C0AD-017D-FFF3-47C90AF127BB}"/>
              </a:ext>
            </a:extLst>
          </p:cNvPr>
          <p:cNvSpPr>
            <a:spLocks noGrp="1"/>
          </p:cNvSpPr>
          <p:nvPr>
            <p:ph type="ftr" sz="quarter" idx="3"/>
          </p:nvPr>
        </p:nvSpPr>
        <p:spPr>
          <a:xfrm>
            <a:off x="579438" y="6421083"/>
            <a:ext cx="4151312" cy="197976"/>
          </a:xfrm>
        </p:spPr>
        <p:txBody>
          <a:body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3" name="Container">
            <a:extLst>
              <a:ext uri="{FF2B5EF4-FFF2-40B4-BE49-F238E27FC236}">
                <a16:creationId xmlns:a16="http://schemas.microsoft.com/office/drawing/2014/main" id="{0415F0EB-A204-E7C9-3555-DE95307292D2}"/>
              </a:ext>
              <a:ext uri="{C183D7F6-B498-43B3-948B-1728B52AA6E4}">
                <adec:decorative xmlns:adec="http://schemas.microsoft.com/office/drawing/2017/decorative" val="1"/>
              </a:ext>
            </a:extLst>
          </p:cNvPr>
          <p:cNvSpPr/>
          <p:nvPr/>
        </p:nvSpPr>
        <p:spPr>
          <a:xfrm>
            <a:off x="588261" y="2450000"/>
            <a:ext cx="11011601" cy="2754012"/>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E743E604-C68C-C49B-E3C7-FC44A9ECFC4F}"/>
              </a:ext>
              <a:ext uri="{C183D7F6-B498-43B3-948B-1728B52AA6E4}">
                <adec:decorative xmlns:adec="http://schemas.microsoft.com/office/drawing/2017/decorative" val="1"/>
              </a:ext>
            </a:extLst>
          </p:cNvPr>
          <p:cNvSpPr/>
          <p:nvPr/>
        </p:nvSpPr>
        <p:spPr>
          <a:xfrm>
            <a:off x="909919" y="2970000"/>
            <a:ext cx="2593803" cy="2032306"/>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700E0B79-6C54-7D5A-0B13-BA4A232F941B}"/>
              </a:ext>
            </a:extLst>
          </p:cNvPr>
          <p:cNvSpPr/>
          <p:nvPr/>
        </p:nvSpPr>
        <p:spPr>
          <a:xfrm>
            <a:off x="1531820" y="4508398"/>
            <a:ext cx="1350000" cy="380000"/>
          </a:xfrm>
          <a:prstGeom prst="roundRect">
            <a:avLst>
              <a:gd name="adj" fmla="val 50000"/>
            </a:avLst>
          </a:prstGeom>
          <a:solidFill>
            <a:srgbClr val="1D68E8"/>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LLM</a:t>
            </a:r>
          </a:p>
        </p:txBody>
      </p:sp>
      <p:grpSp>
        <p:nvGrpSpPr>
          <p:cNvPr id="8" name="Group 7">
            <a:extLst>
              <a:ext uri="{FF2B5EF4-FFF2-40B4-BE49-F238E27FC236}">
                <a16:creationId xmlns:a16="http://schemas.microsoft.com/office/drawing/2014/main" id="{E36F5DB3-D7EC-4F1F-3EE5-5E4DE6AF81E6}"/>
              </a:ext>
              <a:ext uri="{C183D7F6-B498-43B3-948B-1728B52AA6E4}">
                <adec:decorative xmlns:adec="http://schemas.microsoft.com/office/drawing/2017/decorative" val="1"/>
              </a:ext>
            </a:extLst>
          </p:cNvPr>
          <p:cNvGrpSpPr/>
          <p:nvPr/>
        </p:nvGrpSpPr>
        <p:grpSpPr>
          <a:xfrm>
            <a:off x="3944757" y="2882510"/>
            <a:ext cx="4302487" cy="2130002"/>
            <a:chOff x="3953435" y="2882510"/>
            <a:chExt cx="4302487" cy="2130002"/>
          </a:xfrm>
        </p:grpSpPr>
        <p:sp>
          <p:nvSpPr>
            <p:cNvPr id="18" name="CardInstructions">
              <a:extLst>
                <a:ext uri="{FF2B5EF4-FFF2-40B4-BE49-F238E27FC236}">
                  <a16:creationId xmlns:a16="http://schemas.microsoft.com/office/drawing/2014/main" id="{3F9B603E-6B36-0994-80A2-8ECD8351285E}"/>
                </a:ext>
              </a:extLst>
            </p:cNvPr>
            <p:cNvSpPr/>
            <p:nvPr/>
          </p:nvSpPr>
          <p:spPr>
            <a:xfrm>
              <a:off x="3953435" y="2882510"/>
              <a:ext cx="4302487" cy="2130002"/>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8C857BE9-12A4-67AC-DE0F-02FF6944E285}"/>
                </a:ext>
              </a:extLst>
            </p:cNvPr>
            <p:cNvSpPr/>
            <p:nvPr/>
          </p:nvSpPr>
          <p:spPr>
            <a:xfrm>
              <a:off x="5419061" y="4553646"/>
              <a:ext cx="1350000" cy="380000"/>
            </a:xfrm>
            <a:prstGeom prst="roundRect">
              <a:avLst>
                <a:gd name="adj" fmla="val 50000"/>
              </a:avLst>
            </a:prstGeom>
            <a:solidFill>
              <a:srgbClr val="9333EA"/>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Instrucciones</a:t>
              </a:r>
            </a:p>
          </p:txBody>
        </p:sp>
        <p:sp>
          <p:nvSpPr>
            <p:cNvPr id="6" name="InstrText">
              <a:extLst>
                <a:ext uri="{FF2B5EF4-FFF2-40B4-BE49-F238E27FC236}">
                  <a16:creationId xmlns:a16="http://schemas.microsoft.com/office/drawing/2014/main" id="{26FBF377-7C75-9592-C966-3E1F392A450E}"/>
                </a:ext>
              </a:extLst>
            </p:cNvPr>
            <p:cNvSpPr/>
            <p:nvPr/>
          </p:nvSpPr>
          <p:spPr>
            <a:xfrm>
              <a:off x="4116079" y="3012424"/>
              <a:ext cx="3959843" cy="1470000"/>
            </a:xfrm>
            <a:prstGeom prst="roundRect">
              <a:avLst>
                <a:gd name="adj" fmla="val 5000"/>
              </a:avLst>
            </a:prstGeom>
            <a:solidFill>
              <a:srgbClr val="F8F8F8"/>
            </a:solidFill>
            <a:ln w="9525">
              <a:solidFill>
                <a:srgbClr val="DEDEDE"/>
              </a:solidFill>
            </a:ln>
          </p:spPr>
          <p:txBody>
            <a:bodyPr wrap="square" lIns="91440" tIns="91440" rIns="91440" bIns="91440"/>
            <a:lstStyle/>
            <a:p>
              <a:r>
                <a:rPr lang="es-ES" sz="1100" b="0" i="0" strike="noStrike" cap="none" baseline="0" dirty="0">
                  <a:solidFill>
                    <a:srgbClr val="404040"/>
                  </a:solidFill>
                  <a:effectLst/>
                  <a:latin typeface="Courier New"/>
                  <a:ea typeface="Courier New"/>
                  <a:cs typeface="Courier New"/>
                </a:rPr>
                <a:t>Eres un asistente de gestión de gastos</a:t>
              </a:r>
              <a:br>
                <a:rPr lang="es-ES" sz="1100" b="0" i="0" strike="noStrike" cap="none" baseline="0" dirty="0">
                  <a:solidFill>
                    <a:srgbClr val="404040"/>
                  </a:solidFill>
                  <a:effectLst/>
                  <a:latin typeface="Courier New"/>
                  <a:ea typeface="Courier New"/>
                  <a:cs typeface="Courier New"/>
                </a:rPr>
              </a:br>
              <a:r>
                <a:rPr lang="es-ES" sz="1100" b="0" i="0" strike="noStrike" cap="none" baseline="0" dirty="0">
                  <a:solidFill>
                    <a:srgbClr val="404040"/>
                  </a:solidFill>
                  <a:effectLst/>
                  <a:latin typeface="Courier New"/>
                  <a:ea typeface="Courier New"/>
                  <a:cs typeface="Courier New"/>
                </a:rPr>
                <a:t>y reservas de viajes diseñado para ayudar</a:t>
              </a:r>
              <a:br>
                <a:rPr lang="es-ES" sz="1100" b="0" i="0" strike="noStrike" cap="none" baseline="0" dirty="0">
                  <a:solidFill>
                    <a:srgbClr val="404040"/>
                  </a:solidFill>
                  <a:effectLst/>
                  <a:latin typeface="Courier New"/>
                  <a:ea typeface="Courier New"/>
                  <a:cs typeface="Courier New"/>
                </a:rPr>
              </a:br>
              <a:r>
                <a:rPr lang="es-ES" sz="1100" b="0" i="0" strike="noStrike" cap="none" baseline="0" dirty="0">
                  <a:solidFill>
                    <a:srgbClr val="404040"/>
                  </a:solidFill>
                  <a:effectLst/>
                  <a:latin typeface="Courier New"/>
                  <a:ea typeface="Courier New"/>
                  <a:cs typeface="Courier New"/>
                </a:rPr>
                <a:t>a los empleados a planificar, reservar</a:t>
              </a:r>
              <a:br>
                <a:rPr lang="es-ES" sz="1100" b="0" i="0" strike="noStrike" cap="none" baseline="0" dirty="0">
                  <a:solidFill>
                    <a:srgbClr val="404040"/>
                  </a:solidFill>
                  <a:effectLst/>
                  <a:latin typeface="Courier New"/>
                  <a:ea typeface="Courier New"/>
                  <a:cs typeface="Courier New"/>
                </a:rPr>
              </a:br>
              <a:r>
                <a:rPr lang="es-ES" sz="1100" b="0" i="0" strike="noStrike" cap="none" baseline="0" dirty="0">
                  <a:solidFill>
                    <a:srgbClr val="404040"/>
                  </a:solidFill>
                  <a:effectLst/>
                  <a:latin typeface="Courier New"/>
                  <a:ea typeface="Courier New"/>
                  <a:cs typeface="Courier New"/>
                </a:rPr>
                <a:t>y administrar viajes de negocios. Confirma siempre las fechas de viaje y el presupuesto antes de realizar reservas. Prioriza vuelos directos cuando la diferencia de coste</a:t>
              </a:r>
              <a:br>
                <a:rPr lang="es-ES" sz="1100" b="0" i="0" strike="noStrike" cap="none" baseline="0" dirty="0">
                  <a:solidFill>
                    <a:srgbClr val="404040"/>
                  </a:solidFill>
                  <a:effectLst/>
                  <a:latin typeface="Courier New"/>
                  <a:ea typeface="Courier New"/>
                  <a:cs typeface="Courier New"/>
                </a:rPr>
              </a:br>
              <a:r>
                <a:rPr lang="es-ES" sz="1100" b="0" i="0" strike="noStrike" cap="none" baseline="0" dirty="0">
                  <a:solidFill>
                    <a:srgbClr val="404040"/>
                  </a:solidFill>
                  <a:effectLst/>
                  <a:latin typeface="Courier New"/>
                  <a:ea typeface="Courier New"/>
                  <a:cs typeface="Courier New"/>
                </a:rPr>
                <a:t>es &lt; 20 %.</a:t>
              </a:r>
            </a:p>
          </p:txBody>
        </p:sp>
      </p:grpSp>
      <p:sp>
        <p:nvSpPr>
          <p:cNvPr id="17" name="Plus1">
            <a:extLst>
              <a:ext uri="{FF2B5EF4-FFF2-40B4-BE49-F238E27FC236}">
                <a16:creationId xmlns:a16="http://schemas.microsoft.com/office/drawing/2014/main" id="{72EB8BDB-315B-11DE-2D9F-C03C5C54F577}"/>
              </a:ext>
            </a:extLst>
          </p:cNvPr>
          <p:cNvSpPr/>
          <p:nvPr/>
        </p:nvSpPr>
        <p:spPr>
          <a:xfrm>
            <a:off x="350424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D36710B0-41A6-7795-881A-44BB414BA59F}"/>
              </a:ext>
            </a:extLst>
          </p:cNvPr>
          <p:cNvSpPr/>
          <p:nvPr/>
        </p:nvSpPr>
        <p:spPr>
          <a:xfrm>
            <a:off x="8242101"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741EF7D3-04E1-5F9F-E1B2-00E885A23543}"/>
              </a:ext>
              <a:ext uri="{C183D7F6-B498-43B3-948B-1728B52AA6E4}">
                <adec:decorative xmlns:adec="http://schemas.microsoft.com/office/drawing/2017/decorative" val="1"/>
              </a:ext>
            </a:extLst>
          </p:cNvPr>
          <p:cNvSpPr/>
          <p:nvPr/>
        </p:nvSpPr>
        <p:spPr>
          <a:xfrm>
            <a:off x="8682101" y="2970000"/>
            <a:ext cx="2599980" cy="2032306"/>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174A659F-9030-B3F4-F5B8-154EF058CFAE}"/>
              </a:ext>
            </a:extLst>
          </p:cNvPr>
          <p:cNvSpPr/>
          <p:nvPr/>
        </p:nvSpPr>
        <p:spPr>
          <a:xfrm>
            <a:off x="9307091" y="4528140"/>
            <a:ext cx="1350000" cy="380000"/>
          </a:xfrm>
          <a:prstGeom prst="roundRect">
            <a:avLst>
              <a:gd name="adj" fmla="val 50000"/>
            </a:avLst>
          </a:prstGeom>
          <a:solidFill>
            <a:srgbClr val="EC4899"/>
          </a:solidFill>
          <a:ln>
            <a:noFill/>
          </a:ln>
        </p:spPr>
        <p:txBody>
          <a:bodyPr anchor="ctr"/>
          <a:lstStyle/>
          <a:p>
            <a:pPr algn="ctr"/>
            <a:r>
              <a:rPr lang="es-ES" sz="1300" b="1" i="0" strike="noStrike" cap="none" baseline="0" dirty="0">
                <a:solidFill>
                  <a:srgbClr val="FFFFFF"/>
                </a:solidFill>
                <a:effectLst/>
                <a:latin typeface="Segoe UI"/>
                <a:ea typeface="Segoe UI"/>
                <a:cs typeface="Segoe UI"/>
              </a:rPr>
              <a:t>Herramientas</a:t>
            </a:r>
          </a:p>
        </p:txBody>
      </p:sp>
      <p:sp>
        <p:nvSpPr>
          <p:cNvPr id="10" name="Input">
            <a:extLst>
              <a:ext uri="{FF2B5EF4-FFF2-40B4-BE49-F238E27FC236}">
                <a16:creationId xmlns:a16="http://schemas.microsoft.com/office/drawing/2014/main" id="{FCCC854D-765F-156B-1AEC-14FD0D03D4E0}"/>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a:solidFill>
                  <a:srgbClr val="FFFFFF"/>
                </a:solidFill>
                <a:effectLst/>
                <a:latin typeface="Segoe UI"/>
                <a:ea typeface="Segoe UI"/>
                <a:cs typeface="Segoe UI"/>
              </a:rPr>
              <a:t>Entrada</a:t>
            </a:r>
          </a:p>
        </p:txBody>
      </p:sp>
      <p:sp>
        <p:nvSpPr>
          <p:cNvPr id="11" name="Arrow1">
            <a:extLst>
              <a:ext uri="{FF2B5EF4-FFF2-40B4-BE49-F238E27FC236}">
                <a16:creationId xmlns:a16="http://schemas.microsoft.com/office/drawing/2014/main" id="{53E20D0E-955C-24DA-80AD-B83C772E2E96}"/>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A4DD7553-C407-0FBB-CB77-BDF5491F7C99}"/>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a:solidFill>
                  <a:srgbClr val="FFFFFF"/>
                </a:solidFill>
                <a:effectLst/>
                <a:latin typeface="Segoe UI"/>
                <a:ea typeface="Segoe UI"/>
                <a:cs typeface="Segoe UI"/>
              </a:rPr>
              <a:t>Agent</a:t>
            </a:r>
          </a:p>
        </p:txBody>
      </p:sp>
      <p:sp>
        <p:nvSpPr>
          <p:cNvPr id="25" name="Arrow2">
            <a:extLst>
              <a:ext uri="{FF2B5EF4-FFF2-40B4-BE49-F238E27FC236}">
                <a16:creationId xmlns:a16="http://schemas.microsoft.com/office/drawing/2014/main" id="{9B4F6E66-305A-E8D1-131C-905E2A5CE8D5}"/>
              </a:ext>
              <a:ext uri="{C183D7F6-B498-43B3-948B-1728B52AA6E4}">
                <adec:decorative xmlns:adec="http://schemas.microsoft.com/office/drawing/2017/decorative" val="1"/>
              </a:ext>
            </a:extLst>
          </p:cNvPr>
          <p:cNvSpPr/>
          <p:nvPr/>
        </p:nvSpPr>
        <p:spPr>
          <a:xfrm>
            <a:off x="5971000" y="5393069"/>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7A47CD81-4837-F028-CCC4-A46A32859043}"/>
              </a:ext>
            </a:extLst>
          </p:cNvPr>
          <p:cNvSpPr/>
          <p:nvPr/>
        </p:nvSpPr>
        <p:spPr>
          <a:xfrm>
            <a:off x="4953000" y="5743069"/>
            <a:ext cx="2286000" cy="480000"/>
          </a:xfrm>
          <a:prstGeom prst="roundRect">
            <a:avLst>
              <a:gd name="adj" fmla="val 50000"/>
            </a:avLst>
          </a:prstGeom>
          <a:solidFill>
            <a:srgbClr val="252536"/>
          </a:solidFill>
          <a:ln>
            <a:noFill/>
          </a:ln>
        </p:spPr>
        <p:txBody>
          <a:bodyPr anchor="ctr"/>
          <a:lstStyle/>
          <a:p>
            <a:pPr algn="ctr"/>
            <a:r>
              <a:rPr lang="es-ES" sz="1800" b="1" i="0" strike="noStrike" cap="none" baseline="0">
                <a:solidFill>
                  <a:srgbClr val="FFFFFF"/>
                </a:solidFill>
                <a:effectLst/>
                <a:latin typeface="Segoe UI"/>
                <a:ea typeface="Segoe UI"/>
                <a:cs typeface="Segoe UI"/>
              </a:rPr>
              <a:t>Salida</a:t>
            </a:r>
          </a:p>
        </p:txBody>
      </p:sp>
      <p:sp>
        <p:nvSpPr>
          <p:cNvPr id="4" name="Text Placeholder 3">
            <a:extLst>
              <a:ext uri="{FF2B5EF4-FFF2-40B4-BE49-F238E27FC236}">
                <a16:creationId xmlns:a16="http://schemas.microsoft.com/office/drawing/2014/main" id="{8ED08A49-9140-27B4-107C-89B31D4618D1}"/>
              </a:ext>
            </a:extLst>
          </p:cNvPr>
          <p:cNvSpPr>
            <a:spLocks noGrp="1"/>
          </p:cNvSpPr>
          <p:nvPr>
            <p:ph type="body" sz="quarter" idx="17"/>
          </p:nvPr>
        </p:nvSpPr>
        <p:spPr>
          <a:xfrm>
            <a:off x="590199" y="1117176"/>
            <a:ext cx="11011601" cy="304800"/>
          </a:xfrm>
        </p:spPr>
        <p:txBody>
          <a:bodyPr/>
          <a:lstStyle/>
          <a:p>
            <a:r>
              <a:rPr lang="es-ES" sz="2000" b="0" i="0" strike="noStrike" cap="none" baseline="0">
                <a:solidFill>
                  <a:srgbClr val="000000"/>
                </a:solidFill>
                <a:effectLst/>
                <a:latin typeface="Segoe UI Semibold"/>
                <a:ea typeface="Segoe UI Semibold"/>
                <a:cs typeface="Segoe UI Semibold"/>
              </a:rPr>
              <a:t>Exploración de los tres componentes</a:t>
            </a:r>
          </a:p>
        </p:txBody>
      </p:sp>
      <p:sp>
        <p:nvSpPr>
          <p:cNvPr id="15" name="RetrievalCard">
            <a:extLst>
              <a:ext uri="{FF2B5EF4-FFF2-40B4-BE49-F238E27FC236}">
                <a16:creationId xmlns:a16="http://schemas.microsoft.com/office/drawing/2014/main" id="{C8AC56DF-FE37-CA9A-2547-A92482EF4836}"/>
              </a:ext>
            </a:extLst>
          </p:cNvPr>
          <p:cNvSpPr/>
          <p:nvPr/>
        </p:nvSpPr>
        <p:spPr>
          <a:xfrm>
            <a:off x="1229570" y="3093638"/>
            <a:ext cx="876899" cy="592994"/>
          </a:xfrm>
          <a:prstGeom prst="roundRect">
            <a:avLst>
              <a:gd name="adj" fmla="val 12000"/>
            </a:avLst>
          </a:prstGeom>
          <a:solidFill>
            <a:srgbClr val="F8F8F8"/>
          </a:solidFill>
          <a:ln w="9525">
            <a:solidFill>
              <a:srgbClr val="DEDEDE"/>
            </a:solidFill>
          </a:ln>
        </p:spPr>
        <p:txBody>
          <a:bodyPr anchor="ctr"/>
          <a:lstStyle/>
          <a:p>
            <a:pPr algn="ctr"/>
            <a:r>
              <a:rPr lang="es-ES" sz="2400" b="1" i="0" strike="noStrike" cap="none" baseline="0" dirty="0">
                <a:solidFill>
                  <a:srgbClr val="000000"/>
                </a:solidFill>
                <a:effectLst/>
                <a:latin typeface="Segoe UI"/>
                <a:ea typeface="Segoe UI"/>
                <a:cs typeface="Segoe UI"/>
              </a:rPr>
              <a:t>G</a:t>
            </a:r>
            <a:endParaRPr lang="nl-NL" sz="1200" b="1" dirty="0"/>
          </a:p>
          <a:p>
            <a:pPr algn="ctr"/>
            <a:r>
              <a:rPr lang="es-ES" sz="1100" b="0" i="0" strike="noStrike" cap="none" baseline="0" dirty="0">
                <a:solidFill>
                  <a:srgbClr val="000000"/>
                </a:solidFill>
                <a:effectLst/>
                <a:latin typeface="Segoe UI"/>
                <a:ea typeface="Segoe UI"/>
                <a:cs typeface="Segoe UI"/>
              </a:rPr>
              <a:t>GPT</a:t>
            </a:r>
            <a:endParaRPr sz="1100" dirty="0"/>
          </a:p>
        </p:txBody>
      </p:sp>
      <p:sp>
        <p:nvSpPr>
          <p:cNvPr id="19" name="RetrievalCard">
            <a:extLst>
              <a:ext uri="{FF2B5EF4-FFF2-40B4-BE49-F238E27FC236}">
                <a16:creationId xmlns:a16="http://schemas.microsoft.com/office/drawing/2014/main" id="{0543EA3E-D9B7-A141-1DAB-E0BF05F3C577}"/>
              </a:ext>
            </a:extLst>
          </p:cNvPr>
          <p:cNvSpPr/>
          <p:nvPr/>
        </p:nvSpPr>
        <p:spPr>
          <a:xfrm>
            <a:off x="2320214" y="3093638"/>
            <a:ext cx="866245" cy="592994"/>
          </a:xfrm>
          <a:prstGeom prst="roundRect">
            <a:avLst>
              <a:gd name="adj" fmla="val 12000"/>
            </a:avLst>
          </a:prstGeom>
          <a:solidFill>
            <a:srgbClr val="F8F8F8"/>
          </a:solidFill>
          <a:ln w="9525">
            <a:solidFill>
              <a:srgbClr val="DEDEDE"/>
            </a:solidFill>
          </a:ln>
        </p:spPr>
        <p:txBody>
          <a:bodyPr anchor="ctr"/>
          <a:lstStyle/>
          <a:p>
            <a:pPr algn="ctr"/>
            <a:r>
              <a:rPr lang="es-ES" sz="2400" b="1" i="0" strike="noStrike" cap="none" baseline="0" dirty="0">
                <a:solidFill>
                  <a:srgbClr val="000000"/>
                </a:solidFill>
                <a:effectLst/>
                <a:latin typeface="Segoe UI"/>
                <a:ea typeface="Segoe UI"/>
                <a:cs typeface="Segoe UI"/>
              </a:rPr>
              <a:t>L</a:t>
            </a:r>
            <a:endParaRPr lang="nl-NL" sz="1200" dirty="0"/>
          </a:p>
          <a:p>
            <a:pPr algn="ctr"/>
            <a:r>
              <a:rPr lang="es-ES" sz="1100" b="0" i="0" strike="noStrike" cap="none" baseline="0" dirty="0">
                <a:solidFill>
                  <a:srgbClr val="000000"/>
                </a:solidFill>
                <a:effectLst/>
                <a:latin typeface="Segoe UI"/>
                <a:ea typeface="Segoe UI"/>
                <a:cs typeface="Segoe UI"/>
              </a:rPr>
              <a:t>Llama</a:t>
            </a:r>
            <a:endParaRPr sz="1100" dirty="0"/>
          </a:p>
        </p:txBody>
      </p:sp>
      <p:sp>
        <p:nvSpPr>
          <p:cNvPr id="23" name="RetrievalCard">
            <a:extLst>
              <a:ext uri="{FF2B5EF4-FFF2-40B4-BE49-F238E27FC236}">
                <a16:creationId xmlns:a16="http://schemas.microsoft.com/office/drawing/2014/main" id="{4AD8022B-53E7-5644-80BE-64894031D654}"/>
              </a:ext>
            </a:extLst>
          </p:cNvPr>
          <p:cNvSpPr/>
          <p:nvPr/>
        </p:nvSpPr>
        <p:spPr>
          <a:xfrm>
            <a:off x="1229570" y="3791897"/>
            <a:ext cx="876899" cy="592994"/>
          </a:xfrm>
          <a:prstGeom prst="roundRect">
            <a:avLst>
              <a:gd name="adj" fmla="val 12000"/>
            </a:avLst>
          </a:prstGeom>
          <a:solidFill>
            <a:srgbClr val="F8F8F8"/>
          </a:solidFill>
          <a:ln w="9525">
            <a:solidFill>
              <a:srgbClr val="DEDEDE"/>
            </a:solidFill>
          </a:ln>
        </p:spPr>
        <p:txBody>
          <a:bodyPr anchor="ctr"/>
          <a:lstStyle/>
          <a:p>
            <a:pPr algn="ctr"/>
            <a:r>
              <a:rPr lang="es-ES" sz="2400" b="1" i="0" strike="noStrike" cap="none" baseline="0" dirty="0">
                <a:solidFill>
                  <a:srgbClr val="000000"/>
                </a:solidFill>
                <a:effectLst/>
                <a:latin typeface="Segoe UI"/>
                <a:ea typeface="Segoe UI"/>
                <a:cs typeface="Segoe UI"/>
              </a:rPr>
              <a:t>M</a:t>
            </a:r>
            <a:endParaRPr lang="nl-NL" sz="1200" dirty="0"/>
          </a:p>
          <a:p>
            <a:pPr algn="ctr"/>
            <a:r>
              <a:rPr lang="es-ES" sz="1100" b="0" i="0" strike="noStrike" cap="none" baseline="0" dirty="0">
                <a:solidFill>
                  <a:srgbClr val="000000"/>
                </a:solidFill>
                <a:effectLst/>
                <a:latin typeface="Segoe UI"/>
                <a:ea typeface="Segoe UI"/>
                <a:cs typeface="Segoe UI"/>
              </a:rPr>
              <a:t>Mistral</a:t>
            </a:r>
            <a:endParaRPr sz="1100" dirty="0"/>
          </a:p>
        </p:txBody>
      </p:sp>
      <p:sp>
        <p:nvSpPr>
          <p:cNvPr id="27" name="RetrievalCard">
            <a:extLst>
              <a:ext uri="{FF2B5EF4-FFF2-40B4-BE49-F238E27FC236}">
                <a16:creationId xmlns:a16="http://schemas.microsoft.com/office/drawing/2014/main" id="{F498F159-EC7E-964D-9E06-42ECBD2C0A95}"/>
              </a:ext>
            </a:extLst>
          </p:cNvPr>
          <p:cNvSpPr/>
          <p:nvPr/>
        </p:nvSpPr>
        <p:spPr>
          <a:xfrm>
            <a:off x="2286471" y="3791897"/>
            <a:ext cx="899988" cy="592994"/>
          </a:xfrm>
          <a:prstGeom prst="roundRect">
            <a:avLst>
              <a:gd name="adj" fmla="val 12000"/>
            </a:avLst>
          </a:prstGeom>
          <a:solidFill>
            <a:srgbClr val="F8F8F8"/>
          </a:solidFill>
          <a:ln w="9525">
            <a:solidFill>
              <a:srgbClr val="DEDEDE"/>
            </a:solidFill>
          </a:ln>
        </p:spPr>
        <p:txBody>
          <a:bodyPr anchor="ctr"/>
          <a:lstStyle/>
          <a:p>
            <a:pPr algn="ctr"/>
            <a:r>
              <a:rPr lang="es-ES" sz="2400" b="1" i="0" strike="noStrike" cap="none" baseline="0" dirty="0">
                <a:solidFill>
                  <a:srgbClr val="000000"/>
                </a:solidFill>
                <a:effectLst/>
                <a:latin typeface="Segoe UI"/>
                <a:ea typeface="Segoe UI"/>
                <a:cs typeface="Segoe UI"/>
              </a:rPr>
              <a:t>C</a:t>
            </a:r>
            <a:endParaRPr lang="nl-NL" sz="1200" dirty="0"/>
          </a:p>
          <a:p>
            <a:pPr algn="ctr"/>
            <a:r>
              <a:rPr lang="es-ES" sz="1100" b="0" i="0" strike="noStrike" cap="none" baseline="0" dirty="0">
                <a:solidFill>
                  <a:srgbClr val="000000"/>
                </a:solidFill>
                <a:effectLst/>
                <a:latin typeface="Segoe UI"/>
                <a:ea typeface="Segoe UI"/>
                <a:cs typeface="Segoe UI"/>
              </a:rPr>
              <a:t>Claude</a:t>
            </a:r>
            <a:endParaRPr sz="1100" dirty="0"/>
          </a:p>
        </p:txBody>
      </p:sp>
      <p:grpSp>
        <p:nvGrpSpPr>
          <p:cNvPr id="38" name="Group 37">
            <a:extLst>
              <a:ext uri="{FF2B5EF4-FFF2-40B4-BE49-F238E27FC236}">
                <a16:creationId xmlns:a16="http://schemas.microsoft.com/office/drawing/2014/main" id="{6E0C41BE-D27F-FD3A-06B6-630D7187ED66}"/>
              </a:ext>
              <a:ext uri="{C183D7F6-B498-43B3-948B-1728B52AA6E4}">
                <adec:decorative xmlns:adec="http://schemas.microsoft.com/office/drawing/2017/decorative" val="1"/>
              </a:ext>
            </a:extLst>
          </p:cNvPr>
          <p:cNvGrpSpPr/>
          <p:nvPr/>
        </p:nvGrpSpPr>
        <p:grpSpPr>
          <a:xfrm>
            <a:off x="9130996" y="3106320"/>
            <a:ext cx="1737360" cy="1322878"/>
            <a:chOff x="8888950" y="3106320"/>
            <a:chExt cx="1737360" cy="1322878"/>
          </a:xfrm>
        </p:grpSpPr>
        <p:sp>
          <p:nvSpPr>
            <p:cNvPr id="29" name="RetrievalCard">
              <a:extLst>
                <a:ext uri="{FF2B5EF4-FFF2-40B4-BE49-F238E27FC236}">
                  <a16:creationId xmlns:a16="http://schemas.microsoft.com/office/drawing/2014/main" id="{6C7C77DA-6F76-BDCB-9D21-F72CF92F304A}"/>
                </a:ext>
              </a:extLst>
            </p:cNvPr>
            <p:cNvSpPr/>
            <p:nvPr/>
          </p:nvSpPr>
          <p:spPr>
            <a:xfrm>
              <a:off x="8888950" y="3106320"/>
              <a:ext cx="1737360" cy="380000"/>
            </a:xfrm>
            <a:prstGeom prst="roundRect">
              <a:avLst>
                <a:gd name="adj" fmla="val 12000"/>
              </a:avLst>
            </a:prstGeom>
            <a:solidFill>
              <a:srgbClr val="F8F8F8"/>
            </a:solidFill>
            <a:ln w="9525">
              <a:solidFill>
                <a:srgbClr val="DEDEDE"/>
              </a:solidFill>
            </a:ln>
          </p:spPr>
          <p:txBody>
            <a:bodyPr anchor="ctr"/>
            <a:lstStyle/>
            <a:p>
              <a:pPr algn="ctr"/>
              <a:r>
                <a:rPr lang="es-ES" sz="1100" b="0" i="0" strike="noStrike" cap="none" baseline="0" dirty="0">
                  <a:solidFill>
                    <a:srgbClr val="000000"/>
                  </a:solidFill>
                  <a:effectLst/>
                  <a:latin typeface="Segoe UI"/>
                  <a:ea typeface="Segoe UI"/>
                  <a:cs typeface="Segoe UI"/>
                </a:rPr>
                <a:t>Recuperación</a:t>
              </a:r>
              <a:endParaRPr sz="1100" dirty="0"/>
            </a:p>
          </p:txBody>
        </p:sp>
        <p:sp>
          <p:nvSpPr>
            <p:cNvPr id="30" name="RetrievalCard">
              <a:extLst>
                <a:ext uri="{FF2B5EF4-FFF2-40B4-BE49-F238E27FC236}">
                  <a16:creationId xmlns:a16="http://schemas.microsoft.com/office/drawing/2014/main" id="{5B989AE8-7CAD-5DC5-6DC5-AC3E9191CA49}"/>
                </a:ext>
              </a:extLst>
            </p:cNvPr>
            <p:cNvSpPr/>
            <p:nvPr/>
          </p:nvSpPr>
          <p:spPr>
            <a:xfrm>
              <a:off x="8888950" y="3577759"/>
              <a:ext cx="1737360" cy="380000"/>
            </a:xfrm>
            <a:prstGeom prst="roundRect">
              <a:avLst>
                <a:gd name="adj" fmla="val 12000"/>
              </a:avLst>
            </a:prstGeom>
            <a:solidFill>
              <a:srgbClr val="F8F8F8"/>
            </a:solidFill>
            <a:ln w="9525">
              <a:solidFill>
                <a:srgbClr val="DEDEDE"/>
              </a:solidFill>
            </a:ln>
          </p:spPr>
          <p:txBody>
            <a:bodyPr anchor="ctr"/>
            <a:lstStyle/>
            <a:p>
              <a:pPr algn="ctr"/>
              <a:r>
                <a:rPr lang="es-ES" sz="1100" b="0" i="0" strike="noStrike" cap="none" baseline="0" dirty="0">
                  <a:solidFill>
                    <a:srgbClr val="000000"/>
                  </a:solidFill>
                  <a:effectLst/>
                  <a:latin typeface="Segoe UI"/>
                  <a:ea typeface="Segoe UI"/>
                  <a:cs typeface="Segoe UI"/>
                </a:rPr>
                <a:t>Acciones</a:t>
              </a:r>
              <a:endParaRPr sz="1100" dirty="0"/>
            </a:p>
          </p:txBody>
        </p:sp>
        <p:sp>
          <p:nvSpPr>
            <p:cNvPr id="31" name="RetrievalCard">
              <a:extLst>
                <a:ext uri="{FF2B5EF4-FFF2-40B4-BE49-F238E27FC236}">
                  <a16:creationId xmlns:a16="http://schemas.microsoft.com/office/drawing/2014/main" id="{7B857A60-7642-DFC4-C46F-F40F8742C561}"/>
                </a:ext>
              </a:extLst>
            </p:cNvPr>
            <p:cNvSpPr/>
            <p:nvPr/>
          </p:nvSpPr>
          <p:spPr>
            <a:xfrm>
              <a:off x="8888950" y="4049198"/>
              <a:ext cx="1737360" cy="380000"/>
            </a:xfrm>
            <a:prstGeom prst="roundRect">
              <a:avLst>
                <a:gd name="adj" fmla="val 12000"/>
              </a:avLst>
            </a:prstGeom>
            <a:solidFill>
              <a:srgbClr val="F8F8F8"/>
            </a:solidFill>
            <a:ln w="9525">
              <a:solidFill>
                <a:srgbClr val="DEDEDE"/>
              </a:solidFill>
            </a:ln>
          </p:spPr>
          <p:txBody>
            <a:bodyPr anchor="ctr"/>
            <a:lstStyle/>
            <a:p>
              <a:pPr algn="ctr"/>
              <a:r>
                <a:rPr lang="es-ES" sz="1100" b="0" i="0" strike="noStrike" cap="none" baseline="0" dirty="0">
                  <a:solidFill>
                    <a:srgbClr val="000000"/>
                  </a:solidFill>
                  <a:effectLst/>
                  <a:latin typeface="Segoe UI"/>
                  <a:ea typeface="Segoe UI"/>
                  <a:cs typeface="Segoe UI"/>
                </a:rPr>
                <a:t>Memoria</a:t>
              </a:r>
              <a:endParaRPr sz="1100" dirty="0"/>
            </a:p>
          </p:txBody>
        </p:sp>
      </p:grpSp>
      <p:pic>
        <p:nvPicPr>
          <p:cNvPr id="33" name="Graphic 32" descr="Magnifying glass with solid fill">
            <a:extLst>
              <a:ext uri="{FF2B5EF4-FFF2-40B4-BE49-F238E27FC236}">
                <a16:creationId xmlns:a16="http://schemas.microsoft.com/office/drawing/2014/main" id="{057B2716-8DE0-BB16-7F17-7D54D34DD3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49797" y="3147286"/>
            <a:ext cx="336307" cy="336307"/>
          </a:xfrm>
          <a:prstGeom prst="rect">
            <a:avLst/>
          </a:prstGeom>
        </p:spPr>
      </p:pic>
      <p:pic>
        <p:nvPicPr>
          <p:cNvPr id="35" name="Graphic 34" descr="Lightning bolt with solid fill">
            <a:extLst>
              <a:ext uri="{FF2B5EF4-FFF2-40B4-BE49-F238E27FC236}">
                <a16:creationId xmlns:a16="http://schemas.microsoft.com/office/drawing/2014/main" id="{55245E03-2BC6-121F-DE17-C7D7E2CF9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070" y="3612838"/>
            <a:ext cx="365760" cy="365760"/>
          </a:xfrm>
          <a:prstGeom prst="rect">
            <a:avLst/>
          </a:prstGeom>
        </p:spPr>
      </p:pic>
      <p:pic>
        <p:nvPicPr>
          <p:cNvPr id="37" name="Graphic 36" descr="Database with solid fill">
            <a:extLst>
              <a:ext uri="{FF2B5EF4-FFF2-40B4-BE49-F238E27FC236}">
                <a16:creationId xmlns:a16="http://schemas.microsoft.com/office/drawing/2014/main" id="{24F7094C-BC6F-0F34-BFDC-398AF95F0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8786" y="4080949"/>
            <a:ext cx="338328" cy="338328"/>
          </a:xfrm>
          <a:prstGeom prst="rect">
            <a:avLst/>
          </a:prstGeom>
        </p:spPr>
      </p:pic>
    </p:spTree>
    <p:extLst>
      <p:ext uri="{BB962C8B-B14F-4D97-AF65-F5344CB8AC3E}">
        <p14:creationId xmlns:p14="http://schemas.microsoft.com/office/powerpoint/2010/main" val="2813178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4="http://schemas.microsoft.com/office/powerpoint/2010/main" xmlns:p15="http://schemas.microsoft.com/office/powerpoint/2012/main">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E4D3-5E14-7BDE-2558-DEE1BF5E5865}"/>
              </a:ext>
            </a:extLst>
          </p:cNvPr>
          <p:cNvSpPr>
            <a:spLocks noGrp="1"/>
          </p:cNvSpPr>
          <p:nvPr>
            <p:ph type="title"/>
          </p:nvPr>
        </p:nvSpPr>
        <p:spPr>
          <a:xfrm>
            <a:off x="588261" y="585216"/>
            <a:ext cx="11011601" cy="487680"/>
          </a:xfrm>
        </p:spPr>
        <p:txBody>
          <a:bodyPr/>
          <a:lstStyle/>
          <a:p>
            <a:r>
              <a:rPr lang="es-ES" sz="3200" b="0" i="0" strike="noStrike" cap="none" baseline="0">
                <a:solidFill>
                  <a:srgbClr val="000000"/>
                </a:solidFill>
                <a:effectLst/>
                <a:latin typeface="Segoe UI Semibold"/>
                <a:ea typeface="Segoe UI Semibold"/>
                <a:cs typeface="Segoe UI Semibold"/>
              </a:rPr>
              <a:t>Por qué son útiles los agentes</a:t>
            </a:r>
          </a:p>
        </p:txBody>
      </p:sp>
      <p:sp>
        <p:nvSpPr>
          <p:cNvPr id="3" name="Footer Placeholder 2">
            <a:extLst>
              <a:ext uri="{FF2B5EF4-FFF2-40B4-BE49-F238E27FC236}">
                <a16:creationId xmlns:a16="http://schemas.microsoft.com/office/drawing/2014/main" id="{BC39DD98-245E-C7C8-AC97-C68A8E6612CD}"/>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Oval 4">
            <a:extLst>
              <a:ext uri="{FF2B5EF4-FFF2-40B4-BE49-F238E27FC236}">
                <a16:creationId xmlns:a16="http://schemas.microsoft.com/office/drawing/2014/main" id="{598080E3-1F96-C90F-0995-FDB51F3BE56E}"/>
              </a:ext>
              <a:ext uri="{C183D7F6-B498-43B3-948B-1728B52AA6E4}">
                <adec:decorative xmlns:adec="http://schemas.microsoft.com/office/drawing/2017/decorative" val="1"/>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Agent">
            <a:extLst>
              <a:ext uri="{FF2B5EF4-FFF2-40B4-BE49-F238E27FC236}">
                <a16:creationId xmlns:a16="http://schemas.microsoft.com/office/drawing/2014/main" id="{8D6E3945-20F7-6CC6-380E-D5A10227456F}"/>
              </a:ext>
            </a:extLst>
          </p:cNvPr>
          <p:cNvSpPr/>
          <p:nvPr/>
        </p:nvSpPr>
        <p:spPr>
          <a:xfrm>
            <a:off x="4953000" y="3888748"/>
            <a:ext cx="2286000" cy="480000"/>
          </a:xfrm>
          <a:prstGeom prst="roundRect">
            <a:avLst>
              <a:gd name="adj" fmla="val 50000"/>
            </a:avLst>
          </a:prstGeom>
          <a:solidFill>
            <a:srgbClr val="252536"/>
          </a:solidFill>
          <a:ln>
            <a:noFill/>
          </a:ln>
        </p:spPr>
        <p:txBody>
          <a:bodyPr anchor="ctr"/>
          <a:lstStyle/>
          <a:p>
            <a:pPr algn="ctr"/>
            <a:r>
              <a:rPr lang="es-ES" sz="1700" b="1" i="0" strike="noStrike" cap="none" baseline="0" dirty="0">
                <a:solidFill>
                  <a:srgbClr val="FFFFFF"/>
                </a:solidFill>
                <a:effectLst/>
                <a:latin typeface="Segoe UI"/>
                <a:ea typeface="Segoe UI"/>
                <a:cs typeface="Segoe UI"/>
              </a:rPr>
              <a:t>Agent</a:t>
            </a:r>
          </a:p>
        </p:txBody>
      </p:sp>
      <p:pic>
        <p:nvPicPr>
          <p:cNvPr id="8" name="Graphic 7" descr="Robot with solid fill">
            <a:extLst>
              <a:ext uri="{FF2B5EF4-FFF2-40B4-BE49-F238E27FC236}">
                <a16:creationId xmlns:a16="http://schemas.microsoft.com/office/drawing/2014/main" id="{DBE8209C-A127-3744-CD2A-F82EF59E74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sp>
        <p:nvSpPr>
          <p:cNvPr id="9" name="RetrievalCard">
            <a:extLst>
              <a:ext uri="{FF2B5EF4-FFF2-40B4-BE49-F238E27FC236}">
                <a16:creationId xmlns:a16="http://schemas.microsoft.com/office/drawing/2014/main" id="{3C9E7835-3C91-7E05-E060-D418D0347AB4}"/>
              </a:ext>
            </a:extLst>
          </p:cNvPr>
          <p:cNvSpPr/>
          <p:nvPr/>
        </p:nvSpPr>
        <p:spPr>
          <a:xfrm>
            <a:off x="7676030" y="1386482"/>
            <a:ext cx="4030662" cy="2111646"/>
          </a:xfrm>
          <a:prstGeom prst="roundRect">
            <a:avLst>
              <a:gd name="adj" fmla="val 12000"/>
            </a:avLst>
          </a:prstGeom>
          <a:solidFill>
            <a:srgbClr val="F8F8F8"/>
          </a:solidFill>
          <a:ln w="9525">
            <a:solidFill>
              <a:srgbClr val="DEDEDE"/>
            </a:solidFill>
          </a:ln>
        </p:spPr>
        <p:txBody>
          <a:bodyPr anchor="b"/>
          <a:lstStyle/>
          <a:p>
            <a:r>
              <a:rPr lang="es-ES" sz="1800" b="0" i="0" strike="noStrike" cap="none" baseline="0" dirty="0">
                <a:solidFill>
                  <a:srgbClr val="000000"/>
                </a:solidFill>
                <a:effectLst/>
                <a:latin typeface="Segoe UI Semibold"/>
                <a:ea typeface="Segoe UI Semibold"/>
                <a:cs typeface="Segoe UI Semibold"/>
              </a:rPr>
              <a:t>Toma de decisiones mejorada</a:t>
            </a:r>
          </a:p>
          <a:p>
            <a:r>
              <a:rPr lang="es-ES" sz="1500" b="0" i="0" strike="noStrike" cap="none" baseline="0" dirty="0">
                <a:solidFill>
                  <a:srgbClr val="000000"/>
                </a:solidFill>
                <a:effectLst/>
                <a:latin typeface="Segoe UI"/>
                <a:ea typeface="Segoe UI"/>
                <a:cs typeface="Segoe UI"/>
              </a:rPr>
              <a:t>Analiza datos para exponer información, predecir resultados y recomendar acciones en tiempo real.</a:t>
            </a:r>
            <a:endParaRPr lang="en-US" sz="1500" noProof="0" dirty="0">
              <a:latin typeface="+mj-lt"/>
            </a:endParaRPr>
          </a:p>
        </p:txBody>
      </p:sp>
      <p:sp>
        <p:nvSpPr>
          <p:cNvPr id="10" name="RetrievalCard">
            <a:extLst>
              <a:ext uri="{FF2B5EF4-FFF2-40B4-BE49-F238E27FC236}">
                <a16:creationId xmlns:a16="http://schemas.microsoft.com/office/drawing/2014/main" id="{BF307BE4-1AC5-26E9-9F50-3E87B9D033FD}"/>
              </a:ext>
            </a:extLst>
          </p:cNvPr>
          <p:cNvSpPr/>
          <p:nvPr/>
        </p:nvSpPr>
        <p:spPr>
          <a:xfrm>
            <a:off x="7676030" y="3750846"/>
            <a:ext cx="4030662" cy="2111646"/>
          </a:xfrm>
          <a:prstGeom prst="roundRect">
            <a:avLst>
              <a:gd name="adj" fmla="val 12000"/>
            </a:avLst>
          </a:prstGeom>
          <a:solidFill>
            <a:srgbClr val="F8F8F8"/>
          </a:solidFill>
          <a:ln w="9525">
            <a:solidFill>
              <a:srgbClr val="DEDEDE"/>
            </a:solidFill>
          </a:ln>
        </p:spPr>
        <p:txBody>
          <a:bodyPr anchor="b"/>
          <a:lstStyle/>
          <a:p>
            <a:r>
              <a:rPr lang="es-ES" sz="1800" b="0" i="0" strike="noStrike" cap="none" baseline="0" dirty="0">
                <a:solidFill>
                  <a:srgbClr val="000000"/>
                </a:solidFill>
                <a:effectLst/>
                <a:latin typeface="Segoe UI Semibold"/>
                <a:ea typeface="Segoe UI Semibold"/>
                <a:cs typeface="Segoe UI Semibold"/>
              </a:rPr>
              <a:t>Disponibilidad 24/7</a:t>
            </a:r>
          </a:p>
          <a:p>
            <a:r>
              <a:rPr lang="es-ES" sz="1500" b="0" i="0" strike="noStrike" cap="none" baseline="0" dirty="0">
                <a:solidFill>
                  <a:srgbClr val="000000"/>
                </a:solidFill>
                <a:effectLst/>
                <a:latin typeface="Segoe UI"/>
                <a:ea typeface="Segoe UI"/>
                <a:cs typeface="Segoe UI"/>
              </a:rPr>
              <a:t>Funciona de manera continua sin interrupciones, manteniendo los servicios disponibles en todo momento.</a:t>
            </a:r>
            <a:endParaRPr lang="en-US" sz="1500" noProof="0" dirty="0">
              <a:latin typeface="+mj-lt"/>
            </a:endParaRPr>
          </a:p>
        </p:txBody>
      </p:sp>
      <p:pic>
        <p:nvPicPr>
          <p:cNvPr id="12" name="Graphic 11" descr="Clock with solid fill">
            <a:extLst>
              <a:ext uri="{FF2B5EF4-FFF2-40B4-BE49-F238E27FC236}">
                <a16:creationId xmlns:a16="http://schemas.microsoft.com/office/drawing/2014/main" id="{51AE13F7-CD55-15E9-EE3C-0D5709CBD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9291" y="3853427"/>
            <a:ext cx="731520" cy="731520"/>
          </a:xfrm>
          <a:prstGeom prst="rect">
            <a:avLst/>
          </a:prstGeom>
        </p:spPr>
      </p:pic>
      <p:pic>
        <p:nvPicPr>
          <p:cNvPr id="14" name="Graphic 13" descr="Heartbeat with solid fill">
            <a:extLst>
              <a:ext uri="{FF2B5EF4-FFF2-40B4-BE49-F238E27FC236}">
                <a16:creationId xmlns:a16="http://schemas.microsoft.com/office/drawing/2014/main" id="{635838E0-CD26-E348-68CB-00EF06F8B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3231" y="1498820"/>
            <a:ext cx="731520" cy="731520"/>
          </a:xfrm>
          <a:prstGeom prst="rect">
            <a:avLst/>
          </a:prstGeom>
        </p:spPr>
      </p:pic>
      <p:sp>
        <p:nvSpPr>
          <p:cNvPr id="15" name="RetrievalCard">
            <a:extLst>
              <a:ext uri="{FF2B5EF4-FFF2-40B4-BE49-F238E27FC236}">
                <a16:creationId xmlns:a16="http://schemas.microsoft.com/office/drawing/2014/main" id="{B3F415E8-BDA1-E65A-23E1-CC850BA8A4FC}"/>
              </a:ext>
            </a:extLst>
          </p:cNvPr>
          <p:cNvSpPr/>
          <p:nvPr/>
        </p:nvSpPr>
        <p:spPr>
          <a:xfrm>
            <a:off x="579438" y="1393885"/>
            <a:ext cx="4030662" cy="2111646"/>
          </a:xfrm>
          <a:prstGeom prst="roundRect">
            <a:avLst>
              <a:gd name="adj" fmla="val 12000"/>
            </a:avLst>
          </a:prstGeom>
          <a:solidFill>
            <a:srgbClr val="F8F8F8"/>
          </a:solidFill>
          <a:ln w="9525">
            <a:solidFill>
              <a:srgbClr val="DEDEDE"/>
            </a:solidFill>
          </a:ln>
        </p:spPr>
        <p:txBody>
          <a:bodyPr anchor="b"/>
          <a:lstStyle/>
          <a:p>
            <a:r>
              <a:rPr lang="es-ES" sz="1800" b="0" i="0" strike="noStrike" cap="none" baseline="0" dirty="0">
                <a:solidFill>
                  <a:srgbClr val="000000"/>
                </a:solidFill>
                <a:effectLst/>
                <a:latin typeface="Segoe UI Semibold"/>
                <a:ea typeface="Segoe UI Semibold"/>
                <a:cs typeface="Segoe UI Semibold"/>
              </a:rPr>
              <a:t>Automatización de tareas rutinarias</a:t>
            </a:r>
          </a:p>
          <a:p>
            <a:r>
              <a:rPr lang="es-ES" sz="1500" b="0" i="0" strike="noStrike" cap="none" baseline="0" dirty="0">
                <a:solidFill>
                  <a:srgbClr val="000000"/>
                </a:solidFill>
                <a:effectLst/>
                <a:latin typeface="Segoe UI"/>
                <a:ea typeface="Segoe UI"/>
                <a:cs typeface="Segoe UI"/>
              </a:rPr>
              <a:t>Se ocupa de las actividades repetitivas, liberando a los seres humanos para</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que puedan centrarse en el trabajo estratégico y creativo.</a:t>
            </a:r>
            <a:endParaRPr lang="en-US" sz="1500" noProof="0" dirty="0">
              <a:latin typeface="+mj-lt"/>
            </a:endParaRPr>
          </a:p>
        </p:txBody>
      </p:sp>
      <p:pic>
        <p:nvPicPr>
          <p:cNvPr id="17" name="Graphic 16" descr="Single gear with solid fill">
            <a:extLst>
              <a:ext uri="{FF2B5EF4-FFF2-40B4-BE49-F238E27FC236}">
                <a16:creationId xmlns:a16="http://schemas.microsoft.com/office/drawing/2014/main" id="{3318A568-A1F7-B420-548A-266AD8208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187" y="1514969"/>
            <a:ext cx="731520" cy="731520"/>
          </a:xfrm>
          <a:prstGeom prst="rect">
            <a:avLst/>
          </a:prstGeom>
        </p:spPr>
      </p:pic>
      <p:sp>
        <p:nvSpPr>
          <p:cNvPr id="18" name="RetrievalCard">
            <a:extLst>
              <a:ext uri="{FF2B5EF4-FFF2-40B4-BE49-F238E27FC236}">
                <a16:creationId xmlns:a16="http://schemas.microsoft.com/office/drawing/2014/main" id="{3519FB66-6EAD-EE3B-C24C-419940415455}"/>
              </a:ext>
            </a:extLst>
          </p:cNvPr>
          <p:cNvSpPr/>
          <p:nvPr/>
        </p:nvSpPr>
        <p:spPr>
          <a:xfrm>
            <a:off x="596200" y="3750846"/>
            <a:ext cx="4030662" cy="2111646"/>
          </a:xfrm>
          <a:prstGeom prst="roundRect">
            <a:avLst>
              <a:gd name="adj" fmla="val 12000"/>
            </a:avLst>
          </a:prstGeom>
          <a:solidFill>
            <a:srgbClr val="F8F8F8"/>
          </a:solidFill>
          <a:ln w="9525">
            <a:solidFill>
              <a:srgbClr val="DEDEDE"/>
            </a:solidFill>
          </a:ln>
        </p:spPr>
        <p:txBody>
          <a:bodyPr anchor="b"/>
          <a:lstStyle/>
          <a:p>
            <a:r>
              <a:rPr lang="es-ES" sz="1800" b="0" i="0" strike="noStrike" cap="none" baseline="0" dirty="0">
                <a:solidFill>
                  <a:srgbClr val="000000"/>
                </a:solidFill>
                <a:effectLst/>
                <a:latin typeface="Segoe UI Semibold"/>
                <a:ea typeface="Segoe UI Semibold"/>
                <a:cs typeface="Segoe UI Semibold"/>
              </a:rPr>
              <a:t>Escalabilidad</a:t>
            </a:r>
          </a:p>
          <a:p>
            <a:r>
              <a:rPr lang="es-ES" sz="1500" b="0" i="0" strike="noStrike" cap="none" baseline="0" dirty="0">
                <a:solidFill>
                  <a:srgbClr val="000000"/>
                </a:solidFill>
                <a:effectLst/>
                <a:latin typeface="Segoe UI"/>
                <a:ea typeface="Segoe UI"/>
                <a:cs typeface="Segoe UI"/>
              </a:rPr>
              <a:t>Aumenta las funcionalidades sin aumentos proporcionales en el número de empleados o en los costes operativos.</a:t>
            </a:r>
            <a:endParaRPr lang="en-US" sz="1500" noProof="0" dirty="0">
              <a:latin typeface="+mj-lt"/>
            </a:endParaRPr>
          </a:p>
        </p:txBody>
      </p:sp>
      <p:pic>
        <p:nvPicPr>
          <p:cNvPr id="20" name="Graphic 19" descr="Maximize with solid fill">
            <a:extLst>
              <a:ext uri="{FF2B5EF4-FFF2-40B4-BE49-F238E27FC236}">
                <a16:creationId xmlns:a16="http://schemas.microsoft.com/office/drawing/2014/main" id="{6C7E8F3D-FAEE-3A7C-5874-14BE6949B1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681" y="3913270"/>
            <a:ext cx="640080" cy="640080"/>
          </a:xfrm>
          <a:prstGeom prst="rect">
            <a:avLst/>
          </a:prstGeom>
        </p:spPr>
      </p:pic>
    </p:spTree>
    <p:extLst>
      <p:ext uri="{BB962C8B-B14F-4D97-AF65-F5344CB8AC3E}">
        <p14:creationId xmlns:p14="http://schemas.microsoft.com/office/powerpoint/2010/main" val="1307323023"/>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3271-EF7B-32A2-8344-47ADB32E21D5}"/>
              </a:ext>
            </a:extLst>
          </p:cNvPr>
          <p:cNvSpPr>
            <a:spLocks noGrp="1"/>
          </p:cNvSpPr>
          <p:nvPr>
            <p:ph type="title"/>
          </p:nvPr>
        </p:nvSpPr>
        <p:spPr>
          <a:xfrm>
            <a:off x="588261" y="585216"/>
            <a:ext cx="11011601" cy="487680"/>
          </a:xfrm>
        </p:spPr>
        <p:txBody>
          <a:bodyPr/>
          <a:lstStyle/>
          <a:p>
            <a:r>
              <a:rPr lang="es-ES" sz="3200" b="0" i="0" strike="noStrike" cap="none" baseline="0">
                <a:solidFill>
                  <a:srgbClr val="000000"/>
                </a:solidFill>
                <a:effectLst/>
                <a:latin typeface="Segoe UI Semibold"/>
                <a:ea typeface="Segoe UI Semibold"/>
                <a:cs typeface="Segoe UI Semibold"/>
              </a:rPr>
              <a:t>Casos de uso del agente de IA</a:t>
            </a:r>
          </a:p>
        </p:txBody>
      </p:sp>
      <p:sp>
        <p:nvSpPr>
          <p:cNvPr id="5" name="Rounded Rectangle 4">
            <a:extLst>
              <a:ext uri="{FF2B5EF4-FFF2-40B4-BE49-F238E27FC236}">
                <a16:creationId xmlns:a16="http://schemas.microsoft.com/office/drawing/2014/main" id="{B0E46325-966E-41AA-A98F-F2290122CE53}"/>
              </a:ext>
              <a:ext uri="{C183D7F6-B498-43B3-948B-1728B52AA6E4}">
                <adec:decorative xmlns:adec="http://schemas.microsoft.com/office/drawing/2017/decorative" val="1"/>
              </a:ext>
            </a:extLst>
          </p:cNvPr>
          <p:cNvSpPr/>
          <p:nvPr/>
        </p:nvSpPr>
        <p:spPr>
          <a:xfrm>
            <a:off x="546354" y="1180651"/>
            <a:ext cx="5490972" cy="2525750"/>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Rounded Rectangle 58">
            <a:extLst>
              <a:ext uri="{FF2B5EF4-FFF2-40B4-BE49-F238E27FC236}">
                <a16:creationId xmlns:a16="http://schemas.microsoft.com/office/drawing/2014/main" id="{04237723-B165-1935-7E85-689EED7725C4}"/>
              </a:ext>
              <a:ext uri="{C183D7F6-B498-43B3-948B-1728B52AA6E4}">
                <adec:decorative xmlns:adec="http://schemas.microsoft.com/office/drawing/2017/decorative" val="1"/>
              </a:ext>
            </a:extLst>
          </p:cNvPr>
          <p:cNvSpPr/>
          <p:nvPr/>
        </p:nvSpPr>
        <p:spPr>
          <a:xfrm>
            <a:off x="502920" y="1157501"/>
            <a:ext cx="5577840" cy="4572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Oval 7">
            <a:extLst>
              <a:ext uri="{FF2B5EF4-FFF2-40B4-BE49-F238E27FC236}">
                <a16:creationId xmlns:a16="http://schemas.microsoft.com/office/drawing/2014/main" id="{02AEC30F-A500-91A2-A534-B67307835279}"/>
              </a:ext>
              <a:ext uri="{C183D7F6-B498-43B3-948B-1728B52AA6E4}">
                <adec:decorative xmlns:adec="http://schemas.microsoft.com/office/drawing/2017/decorative" val="1"/>
              </a:ext>
            </a:extLst>
          </p:cNvPr>
          <p:cNvSpPr/>
          <p:nvPr/>
        </p:nvSpPr>
        <p:spPr>
          <a:xfrm>
            <a:off x="640080" y="1281235"/>
            <a:ext cx="256032" cy="25603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8A4F5831-BFAC-CBC8-A95B-B73E3AF9C955}"/>
              </a:ext>
            </a:extLst>
          </p:cNvPr>
          <p:cNvSpPr txBox="1"/>
          <p:nvPr/>
        </p:nvSpPr>
        <p:spPr>
          <a:xfrm>
            <a:off x="978408" y="1242531"/>
            <a:ext cx="4878324" cy="335280"/>
          </a:xfrm>
          <a:prstGeom prst="rect">
            <a:avLst/>
          </a:prstGeom>
          <a:noFill/>
        </p:spPr>
        <p:txBody>
          <a:bodyPr wrap="square" anchor="ctr">
            <a:spAutoFit/>
          </a:bodyPr>
          <a:lstStyle/>
          <a:p>
            <a:pPr algn="l"/>
            <a:r>
              <a:rPr lang="es-ES" sz="1600" b="1" i="0" strike="noStrike" cap="none" baseline="0">
                <a:solidFill>
                  <a:srgbClr val="005A9E"/>
                </a:solidFill>
                <a:effectLst/>
                <a:latin typeface="Segoe UI"/>
                <a:ea typeface="Segoe UI"/>
                <a:cs typeface="Segoe UI"/>
              </a:rPr>
              <a:t>Productividad personal</a:t>
            </a:r>
          </a:p>
        </p:txBody>
      </p:sp>
      <p:sp>
        <p:nvSpPr>
          <p:cNvPr id="10" name="Rounded Rectangle 9">
            <a:extLst>
              <a:ext uri="{FF2B5EF4-FFF2-40B4-BE49-F238E27FC236}">
                <a16:creationId xmlns:a16="http://schemas.microsoft.com/office/drawing/2014/main" id="{D76925EA-E83E-B772-9EF0-2F71DF941288}"/>
              </a:ext>
              <a:ext uri="{C183D7F6-B498-43B3-948B-1728B52AA6E4}">
                <adec:decorative xmlns:adec="http://schemas.microsoft.com/office/drawing/2017/decorative" val="1"/>
              </a:ext>
            </a:extLst>
          </p:cNvPr>
          <p:cNvSpPr/>
          <p:nvPr/>
        </p:nvSpPr>
        <p:spPr>
          <a:xfrm>
            <a:off x="1903232" y="1747579"/>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587FE110-01A6-794C-75F7-5310401AE207}"/>
              </a:ext>
            </a:extLst>
          </p:cNvPr>
          <p:cNvSpPr txBox="1"/>
          <p:nvPr/>
        </p:nvSpPr>
        <p:spPr>
          <a:xfrm>
            <a:off x="1985528" y="1802443"/>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Programa nuestro equipo para la próxima semana.</a:t>
            </a:r>
          </a:p>
        </p:txBody>
      </p:sp>
      <p:sp>
        <p:nvSpPr>
          <p:cNvPr id="12" name="Rounded Rectangle 11">
            <a:extLst>
              <a:ext uri="{FF2B5EF4-FFF2-40B4-BE49-F238E27FC236}">
                <a16:creationId xmlns:a16="http://schemas.microsoft.com/office/drawing/2014/main" id="{8B9F1247-7B2E-99A1-43A1-4FFBCC9505C1}"/>
              </a:ext>
              <a:ext uri="{C183D7F6-B498-43B3-948B-1728B52AA6E4}">
                <adec:decorative xmlns:adec="http://schemas.microsoft.com/office/drawing/2017/decorative" val="1"/>
              </a:ext>
            </a:extLst>
          </p:cNvPr>
          <p:cNvSpPr/>
          <p:nvPr/>
        </p:nvSpPr>
        <p:spPr>
          <a:xfrm>
            <a:off x="640080" y="2177347"/>
            <a:ext cx="4291827"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B974C1D9-688E-02C8-0551-3FB1D80FADC5}"/>
              </a:ext>
            </a:extLst>
          </p:cNvPr>
          <p:cNvSpPr txBox="1"/>
          <p:nvPr/>
        </p:nvSpPr>
        <p:spPr>
          <a:xfrm>
            <a:off x="722376" y="2143311"/>
            <a:ext cx="4113150" cy="400110"/>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¡Listo! Lun.-Vier. a las 9:00: invitaciones enviadas a los 6 miembros</a:t>
            </a:r>
            <a:br>
              <a:rPr lang="es-ES" sz="1000" b="0" i="0" strike="noStrike" cap="none" baseline="0" dirty="0">
                <a:solidFill>
                  <a:srgbClr val="333333"/>
                </a:solidFill>
                <a:effectLst/>
                <a:latin typeface="Segoe UI"/>
                <a:ea typeface="Segoe UI"/>
                <a:cs typeface="Segoe UI"/>
              </a:rPr>
            </a:br>
            <a:r>
              <a:rPr lang="es-ES" sz="1000" b="0" i="0" strike="noStrike" cap="none" baseline="0" dirty="0">
                <a:solidFill>
                  <a:srgbClr val="333333"/>
                </a:solidFill>
                <a:effectLst/>
                <a:latin typeface="Segoe UI"/>
                <a:ea typeface="Segoe UI"/>
                <a:cs typeface="Segoe UI"/>
              </a:rPr>
              <a:t>del equipo.</a:t>
            </a:r>
          </a:p>
        </p:txBody>
      </p:sp>
      <p:sp>
        <p:nvSpPr>
          <p:cNvPr id="14" name="Rounded Rectangle 13">
            <a:extLst>
              <a:ext uri="{FF2B5EF4-FFF2-40B4-BE49-F238E27FC236}">
                <a16:creationId xmlns:a16="http://schemas.microsoft.com/office/drawing/2014/main" id="{0684EDF4-970F-1831-F743-497D0694D48B}"/>
              </a:ext>
              <a:ext uri="{C183D7F6-B498-43B3-948B-1728B52AA6E4}">
                <adec:decorative xmlns:adec="http://schemas.microsoft.com/office/drawing/2017/decorative" val="1"/>
              </a:ext>
            </a:extLst>
          </p:cNvPr>
          <p:cNvSpPr/>
          <p:nvPr/>
        </p:nvSpPr>
        <p:spPr>
          <a:xfrm>
            <a:off x="1903232" y="2607115"/>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a:extLst>
              <a:ext uri="{FF2B5EF4-FFF2-40B4-BE49-F238E27FC236}">
                <a16:creationId xmlns:a16="http://schemas.microsoft.com/office/drawing/2014/main" id="{00ACD12C-AA74-A53E-1B65-E99ECF1865B4}"/>
              </a:ext>
            </a:extLst>
          </p:cNvPr>
          <p:cNvSpPr txBox="1"/>
          <p:nvPr/>
        </p:nvSpPr>
        <p:spPr>
          <a:xfrm>
            <a:off x="1985528" y="2579429"/>
            <a:ext cx="3788907" cy="400110"/>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Redacta también un correo electrónico de resumen de las notas de ayer.</a:t>
            </a:r>
          </a:p>
        </p:txBody>
      </p:sp>
      <p:sp>
        <p:nvSpPr>
          <p:cNvPr id="16" name="Rounded Rectangle 15">
            <a:extLst>
              <a:ext uri="{FF2B5EF4-FFF2-40B4-BE49-F238E27FC236}">
                <a16:creationId xmlns:a16="http://schemas.microsoft.com/office/drawing/2014/main" id="{19337AA6-8BA5-BC3E-82E0-C588852298BE}"/>
              </a:ext>
              <a:ext uri="{C183D7F6-B498-43B3-948B-1728B52AA6E4}">
                <adec:decorative xmlns:adec="http://schemas.microsoft.com/office/drawing/2017/decorative" val="1"/>
              </a:ext>
            </a:extLst>
          </p:cNvPr>
          <p:cNvSpPr/>
          <p:nvPr/>
        </p:nvSpPr>
        <p:spPr>
          <a:xfrm>
            <a:off x="640080" y="3036883"/>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70F48770-C3DE-ADE0-4EF4-5CDCB7763952}"/>
              </a:ext>
            </a:extLst>
          </p:cNvPr>
          <p:cNvSpPr txBox="1"/>
          <p:nvPr/>
        </p:nvSpPr>
        <p:spPr>
          <a:xfrm>
            <a:off x="722376" y="3091747"/>
            <a:ext cx="3788907" cy="246221"/>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Borrador listo en la carpeta Borradores. ¿Quieres que lo envíe?</a:t>
            </a:r>
          </a:p>
        </p:txBody>
      </p:sp>
      <p:sp>
        <p:nvSpPr>
          <p:cNvPr id="18" name="Rounded Rectangle 17">
            <a:extLst>
              <a:ext uri="{FF2B5EF4-FFF2-40B4-BE49-F238E27FC236}">
                <a16:creationId xmlns:a16="http://schemas.microsoft.com/office/drawing/2014/main" id="{431FEB76-3C5B-6CB2-FE30-852630DFA86C}"/>
              </a:ext>
              <a:ext uri="{C183D7F6-B498-43B3-948B-1728B52AA6E4}">
                <adec:decorative xmlns:adec="http://schemas.microsoft.com/office/drawing/2017/decorative" val="1"/>
              </a:ext>
            </a:extLst>
          </p:cNvPr>
          <p:cNvSpPr/>
          <p:nvPr/>
        </p:nvSpPr>
        <p:spPr>
          <a:xfrm>
            <a:off x="6238494" y="1171380"/>
            <a:ext cx="5490972" cy="2557223"/>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a:extLst>
              <a:ext uri="{FF2B5EF4-FFF2-40B4-BE49-F238E27FC236}">
                <a16:creationId xmlns:a16="http://schemas.microsoft.com/office/drawing/2014/main" id="{056DBA50-83BF-5B91-161F-12A8875A6120}"/>
              </a:ext>
              <a:ext uri="{C183D7F6-B498-43B3-948B-1728B52AA6E4}">
                <adec:decorative xmlns:adec="http://schemas.microsoft.com/office/drawing/2017/decorative" val="1"/>
              </a:ext>
            </a:extLst>
          </p:cNvPr>
          <p:cNvSpPr/>
          <p:nvPr/>
        </p:nvSpPr>
        <p:spPr>
          <a:xfrm>
            <a:off x="6195060" y="1148230"/>
            <a:ext cx="5577840" cy="45720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Oval 20">
            <a:extLst>
              <a:ext uri="{FF2B5EF4-FFF2-40B4-BE49-F238E27FC236}">
                <a16:creationId xmlns:a16="http://schemas.microsoft.com/office/drawing/2014/main" id="{8A947D61-624D-8D81-2C22-FFF25B71082F}"/>
              </a:ext>
              <a:ext uri="{C183D7F6-B498-43B3-948B-1728B52AA6E4}">
                <adec:decorative xmlns:adec="http://schemas.microsoft.com/office/drawing/2017/decorative" val="1"/>
              </a:ext>
            </a:extLst>
          </p:cNvPr>
          <p:cNvSpPr/>
          <p:nvPr/>
        </p:nvSpPr>
        <p:spPr>
          <a:xfrm>
            <a:off x="6332220" y="1294682"/>
            <a:ext cx="256032" cy="25603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a:extLst>
              <a:ext uri="{FF2B5EF4-FFF2-40B4-BE49-F238E27FC236}">
                <a16:creationId xmlns:a16="http://schemas.microsoft.com/office/drawing/2014/main" id="{E7D60CDC-7F29-0460-5E95-420D640AF86E}"/>
              </a:ext>
            </a:extLst>
          </p:cNvPr>
          <p:cNvSpPr txBox="1"/>
          <p:nvPr/>
        </p:nvSpPr>
        <p:spPr>
          <a:xfrm>
            <a:off x="6670548" y="1244403"/>
            <a:ext cx="4878324" cy="335280"/>
          </a:xfrm>
          <a:prstGeom prst="rect">
            <a:avLst/>
          </a:prstGeom>
          <a:noFill/>
        </p:spPr>
        <p:txBody>
          <a:bodyPr wrap="square" anchor="ctr">
            <a:spAutoFit/>
          </a:bodyPr>
          <a:lstStyle/>
          <a:p>
            <a:pPr algn="l"/>
            <a:r>
              <a:rPr lang="es-ES" sz="1600" b="1" i="0" strike="noStrike" cap="none" baseline="0">
                <a:solidFill>
                  <a:srgbClr val="5B21B6"/>
                </a:solidFill>
                <a:effectLst/>
                <a:latin typeface="Segoe UI"/>
                <a:ea typeface="Segoe UI"/>
                <a:cs typeface="Segoe UI"/>
              </a:rPr>
              <a:t>Investigación</a:t>
            </a:r>
          </a:p>
        </p:txBody>
      </p:sp>
      <p:sp>
        <p:nvSpPr>
          <p:cNvPr id="23" name="Rounded Rectangle 22">
            <a:extLst>
              <a:ext uri="{FF2B5EF4-FFF2-40B4-BE49-F238E27FC236}">
                <a16:creationId xmlns:a16="http://schemas.microsoft.com/office/drawing/2014/main" id="{AF650BC3-BC6D-4C4B-3EB0-96B4EE05D0B0}"/>
              </a:ext>
              <a:ext uri="{C183D7F6-B498-43B3-948B-1728B52AA6E4}">
                <adec:decorative xmlns:adec="http://schemas.microsoft.com/office/drawing/2017/decorative" val="1"/>
              </a:ext>
            </a:extLst>
          </p:cNvPr>
          <p:cNvSpPr/>
          <p:nvPr/>
        </p:nvSpPr>
        <p:spPr>
          <a:xfrm>
            <a:off x="7595372" y="1761026"/>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a:extLst>
              <a:ext uri="{FF2B5EF4-FFF2-40B4-BE49-F238E27FC236}">
                <a16:creationId xmlns:a16="http://schemas.microsoft.com/office/drawing/2014/main" id="{5A07094F-FC98-B757-F1CF-ECA47CD84D18}"/>
              </a:ext>
            </a:extLst>
          </p:cNvPr>
          <p:cNvSpPr txBox="1"/>
          <p:nvPr/>
        </p:nvSpPr>
        <p:spPr>
          <a:xfrm>
            <a:off x="7677668" y="1815890"/>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¿Algún cambio importante en el mercado de IA esta semana?</a:t>
            </a:r>
          </a:p>
        </p:txBody>
      </p:sp>
      <p:sp>
        <p:nvSpPr>
          <p:cNvPr id="25" name="Rounded Rectangle 24">
            <a:extLst>
              <a:ext uri="{FF2B5EF4-FFF2-40B4-BE49-F238E27FC236}">
                <a16:creationId xmlns:a16="http://schemas.microsoft.com/office/drawing/2014/main" id="{E20DAF62-BEEE-FD3E-68ED-53A3C3767273}"/>
              </a:ext>
              <a:ext uri="{C183D7F6-B498-43B3-948B-1728B52AA6E4}">
                <adec:decorative xmlns:adec="http://schemas.microsoft.com/office/drawing/2017/decorative" val="1"/>
              </a:ext>
            </a:extLst>
          </p:cNvPr>
          <p:cNvSpPr/>
          <p:nvPr/>
        </p:nvSpPr>
        <p:spPr>
          <a:xfrm>
            <a:off x="6332220" y="2190793"/>
            <a:ext cx="4492662" cy="50664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a:extLst>
              <a:ext uri="{FF2B5EF4-FFF2-40B4-BE49-F238E27FC236}">
                <a16:creationId xmlns:a16="http://schemas.microsoft.com/office/drawing/2014/main" id="{D35256B1-48A9-0219-CEB4-16FB74E238D0}"/>
              </a:ext>
            </a:extLst>
          </p:cNvPr>
          <p:cNvSpPr txBox="1"/>
          <p:nvPr/>
        </p:nvSpPr>
        <p:spPr>
          <a:xfrm>
            <a:off x="6414516" y="2163108"/>
            <a:ext cx="4305624" cy="553998"/>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Hay 3 novedades clave: la adopción de la IA sube un 40 %;</a:t>
            </a:r>
            <a:br>
              <a:rPr lang="es-ES" sz="1000" b="0" i="0" strike="noStrike" cap="none" baseline="0" dirty="0">
                <a:solidFill>
                  <a:srgbClr val="333333"/>
                </a:solidFill>
                <a:effectLst/>
                <a:latin typeface="Segoe UI"/>
                <a:ea typeface="Segoe UI"/>
                <a:cs typeface="Segoe UI"/>
              </a:rPr>
            </a:br>
            <a:r>
              <a:rPr lang="es-ES" sz="1000" b="0" i="0" strike="noStrike" cap="none" baseline="0" dirty="0">
                <a:solidFill>
                  <a:srgbClr val="333333"/>
                </a:solidFill>
                <a:effectLst/>
                <a:latin typeface="Segoe UI"/>
                <a:ea typeface="Segoe UI"/>
                <a:cs typeface="Segoe UI"/>
              </a:rPr>
              <a:t>ha comenzado la aplicación de la Ley de IA de la UE; la financiación</a:t>
            </a:r>
            <a:br>
              <a:rPr lang="es-ES" sz="1000" b="0" i="0" strike="noStrike" cap="none" baseline="0" dirty="0">
                <a:solidFill>
                  <a:srgbClr val="333333"/>
                </a:solidFill>
                <a:effectLst/>
                <a:latin typeface="Segoe UI"/>
                <a:ea typeface="Segoe UI"/>
                <a:cs typeface="Segoe UI"/>
              </a:rPr>
            </a:br>
            <a:r>
              <a:rPr lang="es-ES" sz="1000" b="0" i="0" strike="noStrike" cap="none" baseline="0" dirty="0">
                <a:solidFill>
                  <a:srgbClr val="333333"/>
                </a:solidFill>
                <a:effectLst/>
                <a:latin typeface="Segoe UI"/>
                <a:ea typeface="Segoe UI"/>
                <a:cs typeface="Segoe UI"/>
              </a:rPr>
              <a:t>de la IA sanitaria alcanza un nivel récord.</a:t>
            </a:r>
          </a:p>
        </p:txBody>
      </p:sp>
      <p:grpSp>
        <p:nvGrpSpPr>
          <p:cNvPr id="57" name="Group 56">
            <a:extLst>
              <a:ext uri="{FF2B5EF4-FFF2-40B4-BE49-F238E27FC236}">
                <a16:creationId xmlns:a16="http://schemas.microsoft.com/office/drawing/2014/main" id="{C515FC7F-D2B7-461F-FB20-E84BB1F0A767}"/>
              </a:ext>
              <a:ext uri="{C183D7F6-B498-43B3-948B-1728B52AA6E4}">
                <adec:decorative xmlns:adec="http://schemas.microsoft.com/office/drawing/2017/decorative" val="1"/>
              </a:ext>
            </a:extLst>
          </p:cNvPr>
          <p:cNvGrpSpPr/>
          <p:nvPr/>
        </p:nvGrpSpPr>
        <p:grpSpPr>
          <a:xfrm>
            <a:off x="7595372" y="2781926"/>
            <a:ext cx="3953499" cy="347472"/>
            <a:chOff x="7595372" y="2620562"/>
            <a:chExt cx="3953499" cy="347472"/>
          </a:xfrm>
        </p:grpSpPr>
        <p:sp>
          <p:nvSpPr>
            <p:cNvPr id="27" name="Rounded Rectangle 26">
              <a:extLst>
                <a:ext uri="{FF2B5EF4-FFF2-40B4-BE49-F238E27FC236}">
                  <a16:creationId xmlns:a16="http://schemas.microsoft.com/office/drawing/2014/main" id="{B5FB9280-70E4-936E-EAAA-E80C442B8998}"/>
                </a:ext>
              </a:extLst>
            </p:cNvPr>
            <p:cNvSpPr/>
            <p:nvPr/>
          </p:nvSpPr>
          <p:spPr>
            <a:xfrm>
              <a:off x="7595372" y="2620562"/>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a:extLst>
                <a:ext uri="{FF2B5EF4-FFF2-40B4-BE49-F238E27FC236}">
                  <a16:creationId xmlns:a16="http://schemas.microsoft.com/office/drawing/2014/main" id="{D6E1DA7B-D8DC-85D6-4A12-1EF572559E6A}"/>
                </a:ext>
              </a:extLst>
            </p:cNvPr>
            <p:cNvSpPr txBox="1"/>
            <p:nvPr/>
          </p:nvSpPr>
          <p:spPr>
            <a:xfrm>
              <a:off x="7677668" y="2675426"/>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Genera un informe de resumen para el equipo.</a:t>
              </a:r>
            </a:p>
          </p:txBody>
        </p:sp>
      </p:grpSp>
      <p:grpSp>
        <p:nvGrpSpPr>
          <p:cNvPr id="58" name="Group 57">
            <a:extLst>
              <a:ext uri="{FF2B5EF4-FFF2-40B4-BE49-F238E27FC236}">
                <a16:creationId xmlns:a16="http://schemas.microsoft.com/office/drawing/2014/main" id="{C152AB72-4514-48CD-64C5-F0C625A586DF}"/>
              </a:ext>
              <a:ext uri="{C183D7F6-B498-43B3-948B-1728B52AA6E4}">
                <adec:decorative xmlns:adec="http://schemas.microsoft.com/office/drawing/2017/decorative" val="1"/>
              </a:ext>
            </a:extLst>
          </p:cNvPr>
          <p:cNvGrpSpPr/>
          <p:nvPr/>
        </p:nvGrpSpPr>
        <p:grpSpPr>
          <a:xfrm>
            <a:off x="6332220" y="3265497"/>
            <a:ext cx="4492662" cy="351641"/>
            <a:chOff x="6332220" y="3050330"/>
            <a:chExt cx="3953499" cy="347472"/>
          </a:xfrm>
        </p:grpSpPr>
        <p:sp>
          <p:nvSpPr>
            <p:cNvPr id="29" name="Rounded Rectangle 28">
              <a:extLst>
                <a:ext uri="{FF2B5EF4-FFF2-40B4-BE49-F238E27FC236}">
                  <a16:creationId xmlns:a16="http://schemas.microsoft.com/office/drawing/2014/main" id="{31561781-592A-54A9-8AE2-7C0866621F07}"/>
                </a:ext>
              </a:extLst>
            </p:cNvPr>
            <p:cNvSpPr/>
            <p:nvPr/>
          </p:nvSpPr>
          <p:spPr>
            <a:xfrm>
              <a:off x="6332220" y="3050330"/>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a:extLst>
                <a:ext uri="{FF2B5EF4-FFF2-40B4-BE49-F238E27FC236}">
                  <a16:creationId xmlns:a16="http://schemas.microsoft.com/office/drawing/2014/main" id="{13D940B3-A05C-1CBB-95A2-27729CB6FB99}"/>
                </a:ext>
              </a:extLst>
            </p:cNvPr>
            <p:cNvSpPr txBox="1"/>
            <p:nvPr/>
          </p:nvSpPr>
          <p:spPr>
            <a:xfrm>
              <a:off x="6414515" y="3107218"/>
              <a:ext cx="3871203" cy="243302"/>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Informe generado: resumen de 2 páginas con vínculos de fuente adjuntos.</a:t>
              </a:r>
            </a:p>
          </p:txBody>
        </p:sp>
      </p:grpSp>
      <p:grpSp>
        <p:nvGrpSpPr>
          <p:cNvPr id="89" name="Group 88">
            <a:extLst>
              <a:ext uri="{FF2B5EF4-FFF2-40B4-BE49-F238E27FC236}">
                <a16:creationId xmlns:a16="http://schemas.microsoft.com/office/drawing/2014/main" id="{D3571D52-BD9C-F805-6533-949B016C872D}"/>
              </a:ext>
              <a:ext uri="{C183D7F6-B498-43B3-948B-1728B52AA6E4}">
                <adec:decorative xmlns:adec="http://schemas.microsoft.com/office/drawing/2017/decorative" val="1"/>
              </a:ext>
            </a:extLst>
          </p:cNvPr>
          <p:cNvGrpSpPr/>
          <p:nvPr/>
        </p:nvGrpSpPr>
        <p:grpSpPr>
          <a:xfrm>
            <a:off x="502920" y="3789318"/>
            <a:ext cx="5577840" cy="2483466"/>
            <a:chOff x="502920" y="3789318"/>
            <a:chExt cx="5577840" cy="2483466"/>
          </a:xfrm>
        </p:grpSpPr>
        <p:sp>
          <p:nvSpPr>
            <p:cNvPr id="60" name="Rounded Rectangle 59">
              <a:extLst>
                <a:ext uri="{FF2B5EF4-FFF2-40B4-BE49-F238E27FC236}">
                  <a16:creationId xmlns:a16="http://schemas.microsoft.com/office/drawing/2014/main" id="{E3F91047-E82C-B772-F2CD-27933FEA53B8}"/>
                </a:ext>
              </a:extLst>
            </p:cNvPr>
            <p:cNvSpPr/>
            <p:nvPr/>
          </p:nvSpPr>
          <p:spPr>
            <a:xfrm>
              <a:off x="546354" y="3812468"/>
              <a:ext cx="5490972" cy="24603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dirty="0"/>
            </a:p>
          </p:txBody>
        </p:sp>
        <p:sp>
          <p:nvSpPr>
            <p:cNvPr id="61" name="Rounded Rectangle 60">
              <a:extLst>
                <a:ext uri="{FF2B5EF4-FFF2-40B4-BE49-F238E27FC236}">
                  <a16:creationId xmlns:a16="http://schemas.microsoft.com/office/drawing/2014/main" id="{5E24659F-D8D0-1DA4-D8E6-D90D4E7B99BD}"/>
                </a:ext>
              </a:extLst>
            </p:cNvPr>
            <p:cNvSpPr/>
            <p:nvPr/>
          </p:nvSpPr>
          <p:spPr>
            <a:xfrm>
              <a:off x="502920" y="3789318"/>
              <a:ext cx="5577840" cy="457200"/>
            </a:xfrm>
            <a:prstGeom prst="roundRect">
              <a:avLst/>
            </a:prstGeom>
            <a:solidFill>
              <a:srgbClr val="FF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a:extLst>
                <a:ext uri="{FF2B5EF4-FFF2-40B4-BE49-F238E27FC236}">
                  <a16:creationId xmlns:a16="http://schemas.microsoft.com/office/drawing/2014/main" id="{C371B687-449E-A5FA-8868-8F5F8ED97741}"/>
                </a:ext>
              </a:extLst>
            </p:cNvPr>
            <p:cNvSpPr/>
            <p:nvPr/>
          </p:nvSpPr>
          <p:spPr>
            <a:xfrm>
              <a:off x="640080" y="3878327"/>
              <a:ext cx="256032" cy="25603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a:extLst>
                <a:ext uri="{FF2B5EF4-FFF2-40B4-BE49-F238E27FC236}">
                  <a16:creationId xmlns:a16="http://schemas.microsoft.com/office/drawing/2014/main" id="{FF0F6D0D-38A5-333B-6FF9-C80A949FA119}"/>
                </a:ext>
              </a:extLst>
            </p:cNvPr>
            <p:cNvSpPr txBox="1"/>
            <p:nvPr/>
          </p:nvSpPr>
          <p:spPr>
            <a:xfrm>
              <a:off x="978408" y="3866753"/>
              <a:ext cx="4878324" cy="335280"/>
            </a:xfrm>
            <a:prstGeom prst="rect">
              <a:avLst/>
            </a:prstGeom>
            <a:noFill/>
          </p:spPr>
          <p:txBody>
            <a:bodyPr wrap="square">
              <a:spAutoFit/>
            </a:bodyPr>
            <a:lstStyle/>
            <a:p>
              <a:pPr algn="l"/>
              <a:r>
                <a:rPr lang="es-ES" sz="1600" b="1" i="0" strike="noStrike" cap="none" baseline="0">
                  <a:solidFill>
                    <a:srgbClr val="BE185D"/>
                  </a:solidFill>
                  <a:effectLst/>
                  <a:latin typeface="Segoe UI"/>
                  <a:ea typeface="Segoe UI"/>
                  <a:cs typeface="Segoe UI"/>
                </a:rPr>
                <a:t>Ventas</a:t>
              </a:r>
            </a:p>
          </p:txBody>
        </p:sp>
        <p:sp>
          <p:nvSpPr>
            <p:cNvPr id="65" name="Rounded Rectangle 64">
              <a:extLst>
                <a:ext uri="{FF2B5EF4-FFF2-40B4-BE49-F238E27FC236}">
                  <a16:creationId xmlns:a16="http://schemas.microsoft.com/office/drawing/2014/main" id="{3DC46DBF-8AFF-B7BE-B926-F30660CB8F95}"/>
                </a:ext>
              </a:extLst>
            </p:cNvPr>
            <p:cNvSpPr/>
            <p:nvPr/>
          </p:nvSpPr>
          <p:spPr>
            <a:xfrm>
              <a:off x="1903232" y="4425696"/>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a:extLst>
                <a:ext uri="{FF2B5EF4-FFF2-40B4-BE49-F238E27FC236}">
                  <a16:creationId xmlns:a16="http://schemas.microsoft.com/office/drawing/2014/main" id="{CE8BD59B-8909-DD12-6B6E-FBE6E7C5A794}"/>
                </a:ext>
              </a:extLst>
            </p:cNvPr>
            <p:cNvSpPr txBox="1"/>
            <p:nvPr/>
          </p:nvSpPr>
          <p:spPr>
            <a:xfrm>
              <a:off x="1985528" y="4398010"/>
              <a:ext cx="3788907" cy="400110"/>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Encuentra clientes potenciales en el sector minorista</a:t>
              </a:r>
              <a:br>
                <a:rPr lang="es-ES" sz="1000" b="0" i="0" strike="noStrike" cap="none" baseline="0" dirty="0">
                  <a:solidFill>
                    <a:srgbClr val="FFFFFF"/>
                  </a:solidFill>
                  <a:effectLst/>
                  <a:latin typeface="Segoe UI"/>
                  <a:ea typeface="Segoe UI"/>
                  <a:cs typeface="Segoe UI"/>
                </a:rPr>
              </a:br>
              <a:r>
                <a:rPr lang="es-ES" sz="1000" b="0" i="0" strike="noStrike" cap="none" baseline="0" dirty="0">
                  <a:solidFill>
                    <a:srgbClr val="FFFFFF"/>
                  </a:solidFill>
                  <a:effectLst/>
                  <a:latin typeface="Segoe UI"/>
                  <a:ea typeface="Segoe UI"/>
                  <a:cs typeface="Segoe UI"/>
                </a:rPr>
                <a:t>del Noroeste del Pacífico.</a:t>
              </a:r>
            </a:p>
          </p:txBody>
        </p:sp>
        <p:grpSp>
          <p:nvGrpSpPr>
            <p:cNvPr id="88" name="Group 87">
              <a:extLst>
                <a:ext uri="{FF2B5EF4-FFF2-40B4-BE49-F238E27FC236}">
                  <a16:creationId xmlns:a16="http://schemas.microsoft.com/office/drawing/2014/main" id="{604F13FC-8E2B-921E-EBC1-4FA036054386}"/>
                </a:ext>
              </a:extLst>
            </p:cNvPr>
            <p:cNvGrpSpPr/>
            <p:nvPr/>
          </p:nvGrpSpPr>
          <p:grpSpPr>
            <a:xfrm>
              <a:off x="640080" y="4812103"/>
              <a:ext cx="3953499" cy="553998"/>
              <a:chOff x="640080" y="4812103"/>
              <a:chExt cx="3953499" cy="553998"/>
            </a:xfrm>
          </p:grpSpPr>
          <p:sp>
            <p:nvSpPr>
              <p:cNvPr id="67" name="Rounded Rectangle 66">
                <a:extLst>
                  <a:ext uri="{FF2B5EF4-FFF2-40B4-BE49-F238E27FC236}">
                    <a16:creationId xmlns:a16="http://schemas.microsoft.com/office/drawing/2014/main" id="{C691F126-AF11-4B77-F83A-8A92942BED2F}"/>
                  </a:ext>
                </a:extLst>
              </p:cNvPr>
              <p:cNvSpPr/>
              <p:nvPr/>
            </p:nvSpPr>
            <p:spPr>
              <a:xfrm>
                <a:off x="640080" y="4855464"/>
                <a:ext cx="3953499" cy="476068"/>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a:extLst>
                  <a:ext uri="{FF2B5EF4-FFF2-40B4-BE49-F238E27FC236}">
                    <a16:creationId xmlns:a16="http://schemas.microsoft.com/office/drawing/2014/main" id="{2C16B915-9B71-360F-7FD4-D0F947624AB9}"/>
                  </a:ext>
                </a:extLst>
              </p:cNvPr>
              <p:cNvSpPr txBox="1"/>
              <p:nvPr/>
            </p:nvSpPr>
            <p:spPr>
              <a:xfrm>
                <a:off x="722376" y="4812103"/>
                <a:ext cx="3788907" cy="553998"/>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Se encontraron 14 clientes potenciales. Correos electrónicos personalizados redactados y 3 marcados como prioridad alta para las llamadas.</a:t>
                </a:r>
              </a:p>
            </p:txBody>
          </p:sp>
        </p:grpSp>
        <p:grpSp>
          <p:nvGrpSpPr>
            <p:cNvPr id="86" name="Group 85">
              <a:extLst>
                <a:ext uri="{FF2B5EF4-FFF2-40B4-BE49-F238E27FC236}">
                  <a16:creationId xmlns:a16="http://schemas.microsoft.com/office/drawing/2014/main" id="{DFAB7B37-0DB6-AFE3-D1A5-3B61B91E4C06}"/>
                </a:ext>
              </a:extLst>
            </p:cNvPr>
            <p:cNvGrpSpPr/>
            <p:nvPr/>
          </p:nvGrpSpPr>
          <p:grpSpPr>
            <a:xfrm>
              <a:off x="1903232" y="5424132"/>
              <a:ext cx="3953499" cy="347472"/>
              <a:chOff x="1903232" y="5331532"/>
              <a:chExt cx="3953499" cy="347472"/>
            </a:xfrm>
          </p:grpSpPr>
          <p:sp>
            <p:nvSpPr>
              <p:cNvPr id="69" name="Rounded Rectangle 68">
                <a:extLst>
                  <a:ext uri="{FF2B5EF4-FFF2-40B4-BE49-F238E27FC236}">
                    <a16:creationId xmlns:a16="http://schemas.microsoft.com/office/drawing/2014/main" id="{8A00B16B-DDA2-0FE2-BEAE-13697E6BBF87}"/>
                  </a:ext>
                </a:extLst>
              </p:cNvPr>
              <p:cNvSpPr/>
              <p:nvPr/>
            </p:nvSpPr>
            <p:spPr>
              <a:xfrm>
                <a:off x="1903232" y="5331532"/>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69">
                <a:extLst>
                  <a:ext uri="{FF2B5EF4-FFF2-40B4-BE49-F238E27FC236}">
                    <a16:creationId xmlns:a16="http://schemas.microsoft.com/office/drawing/2014/main" id="{7CEC2CE9-4384-E881-F57F-D85399792091}"/>
                  </a:ext>
                </a:extLst>
              </p:cNvPr>
              <p:cNvSpPr txBox="1"/>
              <p:nvPr/>
            </p:nvSpPr>
            <p:spPr>
              <a:xfrm>
                <a:off x="1985528" y="5386396"/>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Programa las llamadas de prioridad para esta semana.</a:t>
                </a:r>
              </a:p>
            </p:txBody>
          </p:sp>
        </p:grpSp>
        <p:grpSp>
          <p:nvGrpSpPr>
            <p:cNvPr id="87" name="Group 86">
              <a:extLst>
                <a:ext uri="{FF2B5EF4-FFF2-40B4-BE49-F238E27FC236}">
                  <a16:creationId xmlns:a16="http://schemas.microsoft.com/office/drawing/2014/main" id="{9849817D-5761-ADBF-EFFC-4FE13A82B8E1}"/>
                </a:ext>
              </a:extLst>
            </p:cNvPr>
            <p:cNvGrpSpPr/>
            <p:nvPr/>
          </p:nvGrpSpPr>
          <p:grpSpPr>
            <a:xfrm>
              <a:off x="640081" y="5838914"/>
              <a:ext cx="4195446" cy="400110"/>
              <a:chOff x="640081" y="5700014"/>
              <a:chExt cx="4195446" cy="400110"/>
            </a:xfrm>
          </p:grpSpPr>
          <p:sp>
            <p:nvSpPr>
              <p:cNvPr id="71" name="Rounded Rectangle 70">
                <a:extLst>
                  <a:ext uri="{FF2B5EF4-FFF2-40B4-BE49-F238E27FC236}">
                    <a16:creationId xmlns:a16="http://schemas.microsoft.com/office/drawing/2014/main" id="{A86BE341-F5A6-2828-6B75-0A696D109E8B}"/>
                  </a:ext>
                </a:extLst>
              </p:cNvPr>
              <p:cNvSpPr/>
              <p:nvPr/>
            </p:nvSpPr>
            <p:spPr>
              <a:xfrm>
                <a:off x="640081" y="5715000"/>
                <a:ext cx="4195446"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2" name="TextBox 71">
                <a:extLst>
                  <a:ext uri="{FF2B5EF4-FFF2-40B4-BE49-F238E27FC236}">
                    <a16:creationId xmlns:a16="http://schemas.microsoft.com/office/drawing/2014/main" id="{013C9FB1-80BB-C9A4-03C6-63A50D1F7C22}"/>
                  </a:ext>
                </a:extLst>
              </p:cNvPr>
              <p:cNvSpPr txBox="1"/>
              <p:nvPr/>
            </p:nvSpPr>
            <p:spPr>
              <a:xfrm>
                <a:off x="722377" y="5700014"/>
                <a:ext cx="4020782" cy="400110"/>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Llamadas reservadas martes y jueves: invitaciones de calendario enviadas.</a:t>
                </a:r>
              </a:p>
            </p:txBody>
          </p:sp>
        </p:grpSp>
      </p:grpSp>
      <p:grpSp>
        <p:nvGrpSpPr>
          <p:cNvPr id="90" name="Group 89">
            <a:extLst>
              <a:ext uri="{FF2B5EF4-FFF2-40B4-BE49-F238E27FC236}">
                <a16:creationId xmlns:a16="http://schemas.microsoft.com/office/drawing/2014/main" id="{7ED4B292-518E-7926-DB01-ED2C3BCFA377}"/>
              </a:ext>
              <a:ext uri="{C183D7F6-B498-43B3-948B-1728B52AA6E4}">
                <adec:decorative xmlns:adec="http://schemas.microsoft.com/office/drawing/2017/decorative" val="1"/>
              </a:ext>
            </a:extLst>
          </p:cNvPr>
          <p:cNvGrpSpPr/>
          <p:nvPr/>
        </p:nvGrpSpPr>
        <p:grpSpPr>
          <a:xfrm>
            <a:off x="6195060" y="3751753"/>
            <a:ext cx="5577840" cy="2497881"/>
            <a:chOff x="6195060" y="3774903"/>
            <a:chExt cx="5577840" cy="2497881"/>
          </a:xfrm>
        </p:grpSpPr>
        <p:sp>
          <p:nvSpPr>
            <p:cNvPr id="73" name="Rounded Rectangle 72">
              <a:extLst>
                <a:ext uri="{FF2B5EF4-FFF2-40B4-BE49-F238E27FC236}">
                  <a16:creationId xmlns:a16="http://schemas.microsoft.com/office/drawing/2014/main" id="{43700B30-2014-6B03-45DC-8FAD95BA8619}"/>
                </a:ext>
              </a:extLst>
            </p:cNvPr>
            <p:cNvSpPr/>
            <p:nvPr/>
          </p:nvSpPr>
          <p:spPr>
            <a:xfrm>
              <a:off x="6238494" y="3858768"/>
              <a:ext cx="5490972" cy="24140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1CE25FFD-90E5-06F9-3F76-580EE393A266}"/>
                </a:ext>
              </a:extLst>
            </p:cNvPr>
            <p:cNvSpPr/>
            <p:nvPr/>
          </p:nvSpPr>
          <p:spPr>
            <a:xfrm>
              <a:off x="6195060" y="3774903"/>
              <a:ext cx="5577840" cy="517915"/>
            </a:xfrm>
            <a:prstGeom prst="round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Oval 75">
              <a:extLst>
                <a:ext uri="{FF2B5EF4-FFF2-40B4-BE49-F238E27FC236}">
                  <a16:creationId xmlns:a16="http://schemas.microsoft.com/office/drawing/2014/main" id="{BCE6091C-4CA0-79BD-6FB0-59031A2B8EC5}"/>
                </a:ext>
              </a:extLst>
            </p:cNvPr>
            <p:cNvSpPr/>
            <p:nvPr/>
          </p:nvSpPr>
          <p:spPr>
            <a:xfrm>
              <a:off x="6332220" y="3959352"/>
              <a:ext cx="256032" cy="25603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TextBox 76">
              <a:extLst>
                <a:ext uri="{FF2B5EF4-FFF2-40B4-BE49-F238E27FC236}">
                  <a16:creationId xmlns:a16="http://schemas.microsoft.com/office/drawing/2014/main" id="{4A62D399-2B89-DE10-F0C4-F05BABA76E13}"/>
                </a:ext>
              </a:extLst>
            </p:cNvPr>
            <p:cNvSpPr txBox="1"/>
            <p:nvPr/>
          </p:nvSpPr>
          <p:spPr>
            <a:xfrm>
              <a:off x="6670548" y="3913052"/>
              <a:ext cx="4878324" cy="335280"/>
            </a:xfrm>
            <a:prstGeom prst="rect">
              <a:avLst/>
            </a:prstGeom>
            <a:noFill/>
          </p:spPr>
          <p:txBody>
            <a:bodyPr wrap="square">
              <a:spAutoFit/>
            </a:bodyPr>
            <a:lstStyle/>
            <a:p>
              <a:pPr algn="l"/>
              <a:r>
                <a:rPr lang="es-ES" sz="1600" b="1" i="0" strike="noStrike" cap="none" baseline="0">
                  <a:solidFill>
                    <a:srgbClr val="B91C1C"/>
                  </a:solidFill>
                  <a:effectLst/>
                  <a:latin typeface="Segoe UI"/>
                  <a:ea typeface="Segoe UI"/>
                  <a:cs typeface="Segoe UI"/>
                </a:rPr>
                <a:t>Servicio de atención al cliente</a:t>
              </a:r>
            </a:p>
          </p:txBody>
        </p:sp>
        <p:sp>
          <p:nvSpPr>
            <p:cNvPr id="78" name="Rounded Rectangle 77">
              <a:extLst>
                <a:ext uri="{FF2B5EF4-FFF2-40B4-BE49-F238E27FC236}">
                  <a16:creationId xmlns:a16="http://schemas.microsoft.com/office/drawing/2014/main" id="{DDA4853B-5EAD-B5A5-3930-C1863EC79F89}"/>
                </a:ext>
              </a:extLst>
            </p:cNvPr>
            <p:cNvSpPr/>
            <p:nvPr/>
          </p:nvSpPr>
          <p:spPr>
            <a:xfrm>
              <a:off x="7595372" y="4425696"/>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9" name="TextBox 78">
              <a:extLst>
                <a:ext uri="{FF2B5EF4-FFF2-40B4-BE49-F238E27FC236}">
                  <a16:creationId xmlns:a16="http://schemas.microsoft.com/office/drawing/2014/main" id="{21465D06-8A46-8483-A18B-7E3844AB7300}"/>
                </a:ext>
              </a:extLst>
            </p:cNvPr>
            <p:cNvSpPr txBox="1"/>
            <p:nvPr/>
          </p:nvSpPr>
          <p:spPr>
            <a:xfrm>
              <a:off x="7677668" y="4480560"/>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Necesito un reembolso para el pedido n.º 4821.</a:t>
              </a:r>
            </a:p>
          </p:txBody>
        </p:sp>
        <p:sp>
          <p:nvSpPr>
            <p:cNvPr id="80" name="Rounded Rectangle 79">
              <a:extLst>
                <a:ext uri="{FF2B5EF4-FFF2-40B4-BE49-F238E27FC236}">
                  <a16:creationId xmlns:a16="http://schemas.microsoft.com/office/drawing/2014/main" id="{2FFA906C-AF8D-98FC-AB53-F3E549749114}"/>
                </a:ext>
              </a:extLst>
            </p:cNvPr>
            <p:cNvSpPr/>
            <p:nvPr/>
          </p:nvSpPr>
          <p:spPr>
            <a:xfrm>
              <a:off x="6332220" y="4855464"/>
              <a:ext cx="4999395"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 name="TextBox 80">
              <a:extLst>
                <a:ext uri="{FF2B5EF4-FFF2-40B4-BE49-F238E27FC236}">
                  <a16:creationId xmlns:a16="http://schemas.microsoft.com/office/drawing/2014/main" id="{ABFF1C06-F41B-0062-9E80-3D686DDA45F2}"/>
                </a:ext>
              </a:extLst>
            </p:cNvPr>
            <p:cNvSpPr txBox="1"/>
            <p:nvPr/>
          </p:nvSpPr>
          <p:spPr>
            <a:xfrm>
              <a:off x="6414516" y="4827778"/>
              <a:ext cx="4791260" cy="400110"/>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¡Reembolso aprobado! Se te reembolsarán 47,99 $ en tu tarjeta</a:t>
              </a:r>
              <a:br>
                <a:rPr lang="es-ES" sz="1000" b="0" i="0" strike="noStrike" cap="none" baseline="0" dirty="0">
                  <a:solidFill>
                    <a:srgbClr val="333333"/>
                  </a:solidFill>
                  <a:effectLst/>
                  <a:latin typeface="Segoe UI"/>
                  <a:ea typeface="Segoe UI"/>
                  <a:cs typeface="Segoe UI"/>
                </a:rPr>
              </a:br>
              <a:r>
                <a:rPr lang="es-ES" sz="1000" b="0" i="0" strike="noStrike" cap="none" baseline="0" dirty="0">
                  <a:solidFill>
                    <a:srgbClr val="333333"/>
                  </a:solidFill>
                  <a:effectLst/>
                  <a:latin typeface="Segoe UI"/>
                  <a:ea typeface="Segoe UI"/>
                  <a:cs typeface="Segoe UI"/>
                </a:rPr>
                <a:t>en 2–3 días laborables.</a:t>
              </a:r>
            </a:p>
          </p:txBody>
        </p:sp>
        <p:sp>
          <p:nvSpPr>
            <p:cNvPr id="82" name="Rounded Rectangle 81">
              <a:extLst>
                <a:ext uri="{FF2B5EF4-FFF2-40B4-BE49-F238E27FC236}">
                  <a16:creationId xmlns:a16="http://schemas.microsoft.com/office/drawing/2014/main" id="{BBB5288F-C784-FD9E-C8AF-17DCC638D332}"/>
                </a:ext>
              </a:extLst>
            </p:cNvPr>
            <p:cNvSpPr/>
            <p:nvPr/>
          </p:nvSpPr>
          <p:spPr>
            <a:xfrm>
              <a:off x="7595372" y="5285232"/>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3" name="TextBox 82">
              <a:extLst>
                <a:ext uri="{FF2B5EF4-FFF2-40B4-BE49-F238E27FC236}">
                  <a16:creationId xmlns:a16="http://schemas.microsoft.com/office/drawing/2014/main" id="{CDE4D129-ED61-675A-D303-C62988D1EE9C}"/>
                </a:ext>
              </a:extLst>
            </p:cNvPr>
            <p:cNvSpPr txBox="1"/>
            <p:nvPr/>
          </p:nvSpPr>
          <p:spPr>
            <a:xfrm>
              <a:off x="7677668" y="5340095"/>
              <a:ext cx="3788907" cy="246221"/>
            </a:xfrm>
            <a:prstGeom prst="rect">
              <a:avLst/>
            </a:prstGeom>
            <a:noFill/>
          </p:spPr>
          <p:txBody>
            <a:bodyPr wrap="square">
              <a:spAutoFit/>
            </a:bodyPr>
            <a:lstStyle/>
            <a:p>
              <a:pPr algn="l"/>
              <a:r>
                <a:rPr lang="es-ES" sz="1000" b="0" i="0" strike="noStrike" cap="none" baseline="0" dirty="0">
                  <a:solidFill>
                    <a:srgbClr val="FFFFFF"/>
                  </a:solidFill>
                  <a:effectLst/>
                  <a:latin typeface="Segoe UI"/>
                  <a:ea typeface="Segoe UI"/>
                  <a:cs typeface="Segoe UI"/>
                </a:rPr>
                <a:t>¿Puedo recibir un correo electrónico de confirmación?</a:t>
              </a:r>
            </a:p>
          </p:txBody>
        </p:sp>
        <p:sp>
          <p:nvSpPr>
            <p:cNvPr id="84" name="Rounded Rectangle 83">
              <a:extLst>
                <a:ext uri="{FF2B5EF4-FFF2-40B4-BE49-F238E27FC236}">
                  <a16:creationId xmlns:a16="http://schemas.microsoft.com/office/drawing/2014/main" id="{E418917B-2396-4979-565A-688216F60BCC}"/>
                </a:ext>
              </a:extLst>
            </p:cNvPr>
            <p:cNvSpPr/>
            <p:nvPr/>
          </p:nvSpPr>
          <p:spPr>
            <a:xfrm>
              <a:off x="6332220" y="5715000"/>
              <a:ext cx="4695911"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a:extLst>
                <a:ext uri="{FF2B5EF4-FFF2-40B4-BE49-F238E27FC236}">
                  <a16:creationId xmlns:a16="http://schemas.microsoft.com/office/drawing/2014/main" id="{A35568EE-2669-FBD9-AB97-D0FE00898188}"/>
                </a:ext>
              </a:extLst>
            </p:cNvPr>
            <p:cNvSpPr txBox="1"/>
            <p:nvPr/>
          </p:nvSpPr>
          <p:spPr>
            <a:xfrm>
              <a:off x="6414516" y="5769864"/>
              <a:ext cx="4500411" cy="246221"/>
            </a:xfrm>
            <a:prstGeom prst="rect">
              <a:avLst/>
            </a:prstGeom>
            <a:noFill/>
          </p:spPr>
          <p:txBody>
            <a:bodyPr wrap="square">
              <a:spAutoFit/>
            </a:bodyPr>
            <a:lstStyle/>
            <a:p>
              <a:pPr algn="l"/>
              <a:r>
                <a:rPr lang="es-ES" sz="1000" b="0" i="0" strike="noStrike" cap="none" baseline="0" dirty="0">
                  <a:solidFill>
                    <a:srgbClr val="333333"/>
                  </a:solidFill>
                  <a:effectLst/>
                  <a:latin typeface="Segoe UI"/>
                  <a:ea typeface="Segoe UI"/>
                  <a:cs typeface="Segoe UI"/>
                </a:rPr>
                <a:t>Enviado al correo electrónico registrado. ¿Puedo ayudar con algo más?</a:t>
              </a:r>
            </a:p>
          </p:txBody>
        </p:sp>
      </p:grpSp>
    </p:spTree>
    <p:extLst>
      <p:ext uri="{BB962C8B-B14F-4D97-AF65-F5344CB8AC3E}">
        <p14:creationId xmlns:p14="http://schemas.microsoft.com/office/powerpoint/2010/main" val="251765587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659CCDC-0E78-32B8-1E82-6140BE8119B4}"/>
              </a:ext>
              <a:ext uri="{C183D7F6-B498-43B3-948B-1728B52AA6E4}">
                <adec:decorative xmlns:adec="http://schemas.microsoft.com/office/drawing/2017/decorative" val="1"/>
              </a:ext>
            </a:extLst>
          </p:cNvPr>
          <p:cNvCxnSpPr>
            <a:stCxn id="5" idx="6"/>
            <a:endCxn id="15" idx="2"/>
          </p:cNvCxnSpPr>
          <p:nvPr/>
        </p:nvCxnSpPr>
        <p:spPr>
          <a:xfrm>
            <a:off x="1149636" y="183379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E796111-5806-3E75-6093-BFDF7F55D278}"/>
              </a:ext>
            </a:extLst>
          </p:cNvPr>
          <p:cNvSpPr>
            <a:spLocks noGrp="1"/>
          </p:cNvSpPr>
          <p:nvPr>
            <p:ph type="title"/>
          </p:nvPr>
        </p:nvSpPr>
        <p:spPr>
          <a:xfrm>
            <a:off x="588261" y="585216"/>
            <a:ext cx="11011601" cy="487680"/>
          </a:xfrm>
        </p:spPr>
        <p:txBody>
          <a:bodyPr/>
          <a:lstStyle/>
          <a:p>
            <a:r>
              <a:rPr lang="es-ES" sz="3200" b="0" i="0" strike="noStrike" cap="none" baseline="0">
                <a:solidFill>
                  <a:srgbClr val="000000"/>
                </a:solidFill>
                <a:effectLst/>
                <a:latin typeface="Segoe UI Semibold"/>
                <a:ea typeface="Segoe UI Semibold"/>
                <a:cs typeface="Segoe UI Semibold"/>
              </a:rPr>
              <a:t>Flujo de trabajo de desarrollo típico</a:t>
            </a:r>
          </a:p>
        </p:txBody>
      </p:sp>
      <p:sp>
        <p:nvSpPr>
          <p:cNvPr id="3" name="Footer Placeholder 2">
            <a:extLst>
              <a:ext uri="{FF2B5EF4-FFF2-40B4-BE49-F238E27FC236}">
                <a16:creationId xmlns:a16="http://schemas.microsoft.com/office/drawing/2014/main" id="{102515E2-6117-C196-0D6E-7F183F13D40F}"/>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10" name="Group 9">
            <a:extLst>
              <a:ext uri="{FF2B5EF4-FFF2-40B4-BE49-F238E27FC236}">
                <a16:creationId xmlns:a16="http://schemas.microsoft.com/office/drawing/2014/main" id="{EB81A082-3E96-8FD0-5D4C-5FE6F20C4277}"/>
              </a:ext>
              <a:ext uri="{C183D7F6-B498-43B3-948B-1728B52AA6E4}">
                <adec:decorative xmlns:adec="http://schemas.microsoft.com/office/drawing/2017/decorative" val="1"/>
              </a:ext>
            </a:extLst>
          </p:cNvPr>
          <p:cNvGrpSpPr/>
          <p:nvPr/>
        </p:nvGrpSpPr>
        <p:grpSpPr>
          <a:xfrm>
            <a:off x="692436" y="1605195"/>
            <a:ext cx="2187907" cy="968418"/>
            <a:chOff x="588261" y="1805651"/>
            <a:chExt cx="2187907" cy="968418"/>
          </a:xfrm>
        </p:grpSpPr>
        <p:sp>
          <p:nvSpPr>
            <p:cNvPr id="5" name="Oval 4">
              <a:extLst>
                <a:ext uri="{FF2B5EF4-FFF2-40B4-BE49-F238E27FC236}">
                  <a16:creationId xmlns:a16="http://schemas.microsoft.com/office/drawing/2014/main" id="{9526C55F-9613-7F0D-D9D8-2D12B11F5D01}"/>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1</a:t>
              </a:r>
            </a:p>
          </p:txBody>
        </p:sp>
        <p:sp>
          <p:nvSpPr>
            <p:cNvPr id="6" name="TextBox 5">
              <a:extLst>
                <a:ext uri="{FF2B5EF4-FFF2-40B4-BE49-F238E27FC236}">
                  <a16:creationId xmlns:a16="http://schemas.microsoft.com/office/drawing/2014/main" id="{87952FD0-F365-024E-A710-4F482AEAA662}"/>
                </a:ext>
              </a:extLst>
            </p:cNvPr>
            <p:cNvSpPr txBox="1"/>
            <p:nvPr/>
          </p:nvSpPr>
          <p:spPr>
            <a:xfrm>
              <a:off x="588261" y="2312404"/>
              <a:ext cx="2187907"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Conexión con tu proyecto</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a:t>
              </a:r>
              <a:r>
                <a:rPr lang="es-ES" sz="1500" b="0" i="0" strike="noStrike" cap="none" baseline="0" dirty="0" err="1">
                  <a:solidFill>
                    <a:srgbClr val="000000"/>
                  </a:solidFill>
                  <a:effectLst/>
                  <a:latin typeface="Segoe UI"/>
                  <a:ea typeface="Segoe UI"/>
                  <a:cs typeface="Segoe UI"/>
                </a:rPr>
                <a:t>Foundry</a:t>
              </a:r>
              <a:endParaRPr lang="es-ES" sz="1500" b="0" i="0" strike="noStrike" cap="none" baseline="0" dirty="0">
                <a:solidFill>
                  <a:srgbClr val="000000"/>
                </a:solidFill>
                <a:effectLst/>
                <a:latin typeface="Segoe UI"/>
                <a:ea typeface="Segoe UI"/>
                <a:cs typeface="Segoe UI"/>
              </a:endParaRPr>
            </a:p>
          </p:txBody>
        </p:sp>
      </p:grpSp>
      <p:grpSp>
        <p:nvGrpSpPr>
          <p:cNvPr id="9" name="Group 8">
            <a:extLst>
              <a:ext uri="{FF2B5EF4-FFF2-40B4-BE49-F238E27FC236}">
                <a16:creationId xmlns:a16="http://schemas.microsoft.com/office/drawing/2014/main" id="{5E25BAAA-348B-1A5E-D531-AF1BE54C9B31}"/>
              </a:ext>
              <a:ext uri="{C183D7F6-B498-43B3-948B-1728B52AA6E4}">
                <adec:decorative xmlns:adec="http://schemas.microsoft.com/office/drawing/2017/decorative" val="1"/>
              </a:ext>
            </a:extLst>
          </p:cNvPr>
          <p:cNvGrpSpPr/>
          <p:nvPr/>
        </p:nvGrpSpPr>
        <p:grpSpPr>
          <a:xfrm>
            <a:off x="4011805" y="1605195"/>
            <a:ext cx="1360116" cy="968418"/>
            <a:chOff x="3761654" y="1805651"/>
            <a:chExt cx="1360116" cy="968418"/>
          </a:xfrm>
        </p:grpSpPr>
        <p:sp>
          <p:nvSpPr>
            <p:cNvPr id="7" name="Oval 6">
              <a:extLst>
                <a:ext uri="{FF2B5EF4-FFF2-40B4-BE49-F238E27FC236}">
                  <a16:creationId xmlns:a16="http://schemas.microsoft.com/office/drawing/2014/main" id="{C147F0BA-0EEA-1C73-F182-D8E9ACEA93AB}"/>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2</a:t>
              </a:r>
            </a:p>
          </p:txBody>
        </p:sp>
        <p:sp>
          <p:nvSpPr>
            <p:cNvPr id="8" name="TextBox 7">
              <a:extLst>
                <a:ext uri="{FF2B5EF4-FFF2-40B4-BE49-F238E27FC236}">
                  <a16:creationId xmlns:a16="http://schemas.microsoft.com/office/drawing/2014/main" id="{D04B4CE0-7A70-FF1B-D824-65AAE99FCE1A}"/>
                </a:ext>
              </a:extLst>
            </p:cNvPr>
            <p:cNvSpPr txBox="1"/>
            <p:nvPr/>
          </p:nvSpPr>
          <p:spPr>
            <a:xfrm>
              <a:off x="3761654" y="2312404"/>
              <a:ext cx="1360116"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Crear un agente</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IA</a:t>
              </a:r>
            </a:p>
          </p:txBody>
        </p:sp>
      </p:grpSp>
      <p:grpSp>
        <p:nvGrpSpPr>
          <p:cNvPr id="11" name="Group 10">
            <a:extLst>
              <a:ext uri="{FF2B5EF4-FFF2-40B4-BE49-F238E27FC236}">
                <a16:creationId xmlns:a16="http://schemas.microsoft.com/office/drawing/2014/main" id="{A72F68C7-45CB-E1CF-5BEF-7924DBE388C2}"/>
              </a:ext>
              <a:ext uri="{C183D7F6-B498-43B3-948B-1728B52AA6E4}">
                <adec:decorative xmlns:adec="http://schemas.microsoft.com/office/drawing/2017/decorative" val="1"/>
              </a:ext>
            </a:extLst>
          </p:cNvPr>
          <p:cNvGrpSpPr/>
          <p:nvPr/>
        </p:nvGrpSpPr>
        <p:grpSpPr>
          <a:xfrm>
            <a:off x="6115821" y="1605195"/>
            <a:ext cx="2059988" cy="968418"/>
            <a:chOff x="3761654" y="1805651"/>
            <a:chExt cx="2059988" cy="968418"/>
          </a:xfrm>
        </p:grpSpPr>
        <p:sp>
          <p:nvSpPr>
            <p:cNvPr id="12" name="Oval 11">
              <a:extLst>
                <a:ext uri="{FF2B5EF4-FFF2-40B4-BE49-F238E27FC236}">
                  <a16:creationId xmlns:a16="http://schemas.microsoft.com/office/drawing/2014/main" id="{39F5CBAA-52C3-21CC-BA8F-3D573AD7A1E2}"/>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3</a:t>
              </a:r>
            </a:p>
          </p:txBody>
        </p:sp>
        <p:sp>
          <p:nvSpPr>
            <p:cNvPr id="13" name="TextBox 12">
              <a:extLst>
                <a:ext uri="{FF2B5EF4-FFF2-40B4-BE49-F238E27FC236}">
                  <a16:creationId xmlns:a16="http://schemas.microsoft.com/office/drawing/2014/main" id="{3547E951-B718-10EF-E1EB-F3F733105BA6}"/>
                </a:ext>
              </a:extLst>
            </p:cNvPr>
            <p:cNvSpPr txBox="1"/>
            <p:nvPr/>
          </p:nvSpPr>
          <p:spPr>
            <a:xfrm>
              <a:off x="3761654" y="2312404"/>
              <a:ext cx="2059988"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Configuración de las</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instrucciones del agente</a:t>
              </a:r>
            </a:p>
          </p:txBody>
        </p:sp>
      </p:grpSp>
      <p:grpSp>
        <p:nvGrpSpPr>
          <p:cNvPr id="14" name="Group 13">
            <a:extLst>
              <a:ext uri="{FF2B5EF4-FFF2-40B4-BE49-F238E27FC236}">
                <a16:creationId xmlns:a16="http://schemas.microsoft.com/office/drawing/2014/main" id="{70F7C2A8-BB53-CABE-4050-F7C195B0DF9E}"/>
              </a:ext>
              <a:ext uri="{C183D7F6-B498-43B3-948B-1728B52AA6E4}">
                <adec:decorative xmlns:adec="http://schemas.microsoft.com/office/drawing/2017/decorative" val="1"/>
              </a:ext>
            </a:extLst>
          </p:cNvPr>
          <p:cNvGrpSpPr/>
          <p:nvPr/>
        </p:nvGrpSpPr>
        <p:grpSpPr>
          <a:xfrm>
            <a:off x="9203689" y="1605195"/>
            <a:ext cx="1376981" cy="968418"/>
            <a:chOff x="3761654" y="1805651"/>
            <a:chExt cx="1376981" cy="968418"/>
          </a:xfrm>
        </p:grpSpPr>
        <p:sp>
          <p:nvSpPr>
            <p:cNvPr id="15" name="Oval 14">
              <a:extLst>
                <a:ext uri="{FF2B5EF4-FFF2-40B4-BE49-F238E27FC236}">
                  <a16:creationId xmlns:a16="http://schemas.microsoft.com/office/drawing/2014/main" id="{80B566DF-753F-0B7A-EC25-69AF1099C6A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4</a:t>
              </a:r>
            </a:p>
          </p:txBody>
        </p:sp>
        <p:sp>
          <p:nvSpPr>
            <p:cNvPr id="16" name="TextBox 15">
              <a:extLst>
                <a:ext uri="{FF2B5EF4-FFF2-40B4-BE49-F238E27FC236}">
                  <a16:creationId xmlns:a16="http://schemas.microsoft.com/office/drawing/2014/main" id="{3EECC3F8-29B5-57FC-4B13-B49F757F01B8}"/>
                </a:ext>
              </a:extLst>
            </p:cNvPr>
            <p:cNvSpPr txBox="1"/>
            <p:nvPr/>
          </p:nvSpPr>
          <p:spPr>
            <a:xfrm>
              <a:off x="3761655" y="2312404"/>
              <a:ext cx="1376980"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Adición</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herramientas</a:t>
              </a:r>
            </a:p>
          </p:txBody>
        </p:sp>
      </p:grpSp>
      <p:cxnSp>
        <p:nvCxnSpPr>
          <p:cNvPr id="19" name="Straight Connector 18">
            <a:extLst>
              <a:ext uri="{FF2B5EF4-FFF2-40B4-BE49-F238E27FC236}">
                <a16:creationId xmlns:a16="http://schemas.microsoft.com/office/drawing/2014/main" id="{D814A76A-5A64-E8A3-EF02-F07ED7497AD4}"/>
              </a:ext>
              <a:ext uri="{C183D7F6-B498-43B3-948B-1728B52AA6E4}">
                <adec:decorative xmlns:adec="http://schemas.microsoft.com/office/drawing/2017/decorative" val="1"/>
              </a:ext>
            </a:extLst>
          </p:cNvPr>
          <p:cNvCxnSpPr>
            <a:stCxn id="21" idx="6"/>
            <a:endCxn id="30" idx="2"/>
          </p:cNvCxnSpPr>
          <p:nvPr/>
        </p:nvCxnSpPr>
        <p:spPr>
          <a:xfrm>
            <a:off x="1149636" y="323558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243F3C1-A673-0570-3BD0-A7CC704D1EC1}"/>
              </a:ext>
              <a:ext uri="{C183D7F6-B498-43B3-948B-1728B52AA6E4}">
                <adec:decorative xmlns:adec="http://schemas.microsoft.com/office/drawing/2017/decorative" val="1"/>
              </a:ext>
            </a:extLst>
          </p:cNvPr>
          <p:cNvGrpSpPr/>
          <p:nvPr/>
        </p:nvGrpSpPr>
        <p:grpSpPr>
          <a:xfrm>
            <a:off x="692436" y="3006985"/>
            <a:ext cx="2425151" cy="968418"/>
            <a:chOff x="588261" y="1805651"/>
            <a:chExt cx="2425151" cy="968418"/>
          </a:xfrm>
        </p:grpSpPr>
        <p:sp>
          <p:nvSpPr>
            <p:cNvPr id="21" name="Oval 20">
              <a:extLst>
                <a:ext uri="{FF2B5EF4-FFF2-40B4-BE49-F238E27FC236}">
                  <a16:creationId xmlns:a16="http://schemas.microsoft.com/office/drawing/2014/main" id="{E4B58AEA-791F-D230-F5E6-5AD8BED56022}"/>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5</a:t>
              </a:r>
            </a:p>
          </p:txBody>
        </p:sp>
        <p:sp>
          <p:nvSpPr>
            <p:cNvPr id="22" name="TextBox 21">
              <a:extLst>
                <a:ext uri="{FF2B5EF4-FFF2-40B4-BE49-F238E27FC236}">
                  <a16:creationId xmlns:a16="http://schemas.microsoft.com/office/drawing/2014/main" id="{CB84736D-5D0D-1F2E-5B41-DCAD25F55C1E}"/>
                </a:ext>
              </a:extLst>
            </p:cNvPr>
            <p:cNvSpPr txBox="1"/>
            <p:nvPr/>
          </p:nvSpPr>
          <p:spPr>
            <a:xfrm>
              <a:off x="588261" y="2312404"/>
              <a:ext cx="2425151"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Prueba del agente en el área</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 juegos</a:t>
              </a:r>
            </a:p>
          </p:txBody>
        </p:sp>
      </p:grpSp>
      <p:grpSp>
        <p:nvGrpSpPr>
          <p:cNvPr id="23" name="Group 22">
            <a:extLst>
              <a:ext uri="{FF2B5EF4-FFF2-40B4-BE49-F238E27FC236}">
                <a16:creationId xmlns:a16="http://schemas.microsoft.com/office/drawing/2014/main" id="{A9A136B2-3132-AD71-C9FA-D43B978738C3}"/>
              </a:ext>
              <a:ext uri="{C183D7F6-B498-43B3-948B-1728B52AA6E4}">
                <adec:decorative xmlns:adec="http://schemas.microsoft.com/office/drawing/2017/decorative" val="1"/>
              </a:ext>
            </a:extLst>
          </p:cNvPr>
          <p:cNvGrpSpPr/>
          <p:nvPr/>
        </p:nvGrpSpPr>
        <p:grpSpPr>
          <a:xfrm>
            <a:off x="4011805" y="3006985"/>
            <a:ext cx="1699311" cy="737585"/>
            <a:chOff x="3761654" y="1805651"/>
            <a:chExt cx="1699311" cy="737585"/>
          </a:xfrm>
        </p:grpSpPr>
        <p:sp>
          <p:nvSpPr>
            <p:cNvPr id="24" name="Oval 23">
              <a:extLst>
                <a:ext uri="{FF2B5EF4-FFF2-40B4-BE49-F238E27FC236}">
                  <a16:creationId xmlns:a16="http://schemas.microsoft.com/office/drawing/2014/main" id="{285B6D15-C07A-C8AE-961B-9FE59C5B21EA}"/>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6</a:t>
              </a:r>
            </a:p>
          </p:txBody>
        </p:sp>
        <p:sp>
          <p:nvSpPr>
            <p:cNvPr id="25" name="TextBox 24">
              <a:extLst>
                <a:ext uri="{FF2B5EF4-FFF2-40B4-BE49-F238E27FC236}">
                  <a16:creationId xmlns:a16="http://schemas.microsoft.com/office/drawing/2014/main" id="{AD01C592-8171-CB16-5340-236521D410F6}"/>
                </a:ext>
              </a:extLst>
            </p:cNvPr>
            <p:cNvSpPr txBox="1"/>
            <p:nvPr/>
          </p:nvSpPr>
          <p:spPr>
            <a:xfrm>
              <a:off x="3761654" y="2312404"/>
              <a:ext cx="1699311" cy="230832"/>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Iteración en diseños</a:t>
              </a:r>
            </a:p>
          </p:txBody>
        </p:sp>
      </p:grpSp>
      <p:grpSp>
        <p:nvGrpSpPr>
          <p:cNvPr id="26" name="Group 25">
            <a:extLst>
              <a:ext uri="{FF2B5EF4-FFF2-40B4-BE49-F238E27FC236}">
                <a16:creationId xmlns:a16="http://schemas.microsoft.com/office/drawing/2014/main" id="{0C04422B-B8BE-825B-B760-EA33A5A4E772}"/>
              </a:ext>
              <a:ext uri="{C183D7F6-B498-43B3-948B-1728B52AA6E4}">
                <adec:decorative xmlns:adec="http://schemas.microsoft.com/office/drawing/2017/decorative" val="1"/>
              </a:ext>
            </a:extLst>
          </p:cNvPr>
          <p:cNvGrpSpPr/>
          <p:nvPr/>
        </p:nvGrpSpPr>
        <p:grpSpPr>
          <a:xfrm>
            <a:off x="6115821" y="3006985"/>
            <a:ext cx="2326086" cy="968418"/>
            <a:chOff x="3761654" y="1805651"/>
            <a:chExt cx="2326086" cy="968418"/>
          </a:xfrm>
        </p:grpSpPr>
        <p:sp>
          <p:nvSpPr>
            <p:cNvPr id="27" name="Oval 26">
              <a:extLst>
                <a:ext uri="{FF2B5EF4-FFF2-40B4-BE49-F238E27FC236}">
                  <a16:creationId xmlns:a16="http://schemas.microsoft.com/office/drawing/2014/main" id="{7EA6C1AC-F007-A1D5-BDE1-F9BEF763492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7</a:t>
              </a:r>
            </a:p>
          </p:txBody>
        </p:sp>
        <p:sp>
          <p:nvSpPr>
            <p:cNvPr id="28" name="TextBox 27">
              <a:extLst>
                <a:ext uri="{FF2B5EF4-FFF2-40B4-BE49-F238E27FC236}">
                  <a16:creationId xmlns:a16="http://schemas.microsoft.com/office/drawing/2014/main" id="{C8D9D8D3-9DE3-A240-65F1-24168AED0A32}"/>
                </a:ext>
              </a:extLst>
            </p:cNvPr>
            <p:cNvSpPr txBox="1"/>
            <p:nvPr/>
          </p:nvSpPr>
          <p:spPr>
            <a:xfrm>
              <a:off x="3761654" y="2312404"/>
              <a:ext cx="2326086"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Implementación del agente</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en producción</a:t>
              </a:r>
            </a:p>
          </p:txBody>
        </p:sp>
      </p:grpSp>
      <p:grpSp>
        <p:nvGrpSpPr>
          <p:cNvPr id="29" name="Group 28">
            <a:extLst>
              <a:ext uri="{FF2B5EF4-FFF2-40B4-BE49-F238E27FC236}">
                <a16:creationId xmlns:a16="http://schemas.microsoft.com/office/drawing/2014/main" id="{D7B3AA4C-9438-936E-4C34-7FC3951BC1FD}"/>
              </a:ext>
              <a:ext uri="{C183D7F6-B498-43B3-948B-1728B52AA6E4}">
                <adec:decorative xmlns:adec="http://schemas.microsoft.com/office/drawing/2017/decorative" val="1"/>
              </a:ext>
            </a:extLst>
          </p:cNvPr>
          <p:cNvGrpSpPr/>
          <p:nvPr/>
        </p:nvGrpSpPr>
        <p:grpSpPr>
          <a:xfrm>
            <a:off x="9203689" y="3006985"/>
            <a:ext cx="1292020" cy="968418"/>
            <a:chOff x="3761654" y="1805651"/>
            <a:chExt cx="1292020" cy="968418"/>
          </a:xfrm>
        </p:grpSpPr>
        <p:sp>
          <p:nvSpPr>
            <p:cNvPr id="30" name="Oval 29">
              <a:extLst>
                <a:ext uri="{FF2B5EF4-FFF2-40B4-BE49-F238E27FC236}">
                  <a16:creationId xmlns:a16="http://schemas.microsoft.com/office/drawing/2014/main" id="{61130B8D-8364-CE9F-CCFB-B0118EBC4C5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8</a:t>
              </a:r>
            </a:p>
          </p:txBody>
        </p:sp>
        <p:sp>
          <p:nvSpPr>
            <p:cNvPr id="31" name="TextBox 30">
              <a:extLst>
                <a:ext uri="{FF2B5EF4-FFF2-40B4-BE49-F238E27FC236}">
                  <a16:creationId xmlns:a16="http://schemas.microsoft.com/office/drawing/2014/main" id="{9333A0A6-DD01-992E-AB50-C82A8E83E3D4}"/>
                </a:ext>
              </a:extLst>
            </p:cNvPr>
            <p:cNvSpPr txBox="1"/>
            <p:nvPr/>
          </p:nvSpPr>
          <p:spPr>
            <a:xfrm>
              <a:off x="3761654" y="2312404"/>
              <a:ext cx="1292020" cy="461665"/>
            </a:xfrm>
            <a:prstGeom prst="rect">
              <a:avLst/>
            </a:prstGeom>
            <a:noFill/>
          </p:spPr>
          <p:txBody>
            <a:bodyPr wrap="none" lIns="0" tIns="0" rIns="0" bIns="0" rtlCol="0">
              <a:spAutoFit/>
            </a:bodyPr>
            <a:lstStyle/>
            <a:p>
              <a:pPr algn="l"/>
              <a:r>
                <a:rPr lang="es-ES" sz="1500" b="0" i="0" strike="noStrike" cap="none" baseline="0" dirty="0">
                  <a:solidFill>
                    <a:srgbClr val="000000"/>
                  </a:solidFill>
                  <a:effectLst/>
                  <a:latin typeface="Segoe UI"/>
                  <a:ea typeface="Segoe UI"/>
                  <a:cs typeface="Segoe UI"/>
                </a:rPr>
                <a:t>Integración</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en aplicaciones</a:t>
              </a:r>
            </a:p>
          </p:txBody>
        </p:sp>
      </p:grpSp>
      <p:cxnSp>
        <p:nvCxnSpPr>
          <p:cNvPr id="41" name="Elbow Connector 40">
            <a:extLst>
              <a:ext uri="{FF2B5EF4-FFF2-40B4-BE49-F238E27FC236}">
                <a16:creationId xmlns:a16="http://schemas.microsoft.com/office/drawing/2014/main" id="{605783B8-1E23-4E9D-166F-27AABC1AD928}"/>
              </a:ext>
              <a:ext uri="{C183D7F6-B498-43B3-948B-1728B52AA6E4}">
                <adec:decorative xmlns:adec="http://schemas.microsoft.com/office/drawing/2017/decorative" val="1"/>
              </a:ext>
            </a:extLst>
          </p:cNvPr>
          <p:cNvCxnSpPr>
            <a:stCxn id="15" idx="6"/>
            <a:endCxn id="21" idx="0"/>
          </p:cNvCxnSpPr>
          <p:nvPr/>
        </p:nvCxnSpPr>
        <p:spPr>
          <a:xfrm flipH="1">
            <a:off x="921036" y="1833795"/>
            <a:ext cx="8739853" cy="1173190"/>
          </a:xfrm>
          <a:prstGeom prst="bentConnector4">
            <a:avLst>
              <a:gd name="adj1" fmla="val -14138"/>
              <a:gd name="adj2" fmla="val 72569"/>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trievalCard">
            <a:extLst>
              <a:ext uri="{FF2B5EF4-FFF2-40B4-BE49-F238E27FC236}">
                <a16:creationId xmlns:a16="http://schemas.microsoft.com/office/drawing/2014/main" id="{030913D9-5DB5-72AC-2E1C-249C9946BB50}"/>
              </a:ext>
            </a:extLst>
          </p:cNvPr>
          <p:cNvSpPr/>
          <p:nvPr/>
        </p:nvSpPr>
        <p:spPr>
          <a:xfrm>
            <a:off x="692435" y="4113000"/>
            <a:ext cx="4038315" cy="1805186"/>
          </a:xfrm>
          <a:prstGeom prst="roundRect">
            <a:avLst>
              <a:gd name="adj" fmla="val 12000"/>
            </a:avLst>
          </a:prstGeom>
          <a:solidFill>
            <a:srgbClr val="F8F8F8"/>
          </a:solidFill>
          <a:ln w="9525">
            <a:solidFill>
              <a:srgbClr val="DEDEDE"/>
            </a:solidFill>
          </a:ln>
        </p:spPr>
        <p:txBody>
          <a:bodyPr anchor="t"/>
          <a:lstStyle/>
          <a:p>
            <a:endParaRPr lang="en-US" sz="1600" b="1" noProof="0" dirty="0">
              <a:solidFill>
                <a:srgbClr val="4C4C4C"/>
              </a:solidFill>
              <a:latin typeface="+mj-lt"/>
            </a:endParaRPr>
          </a:p>
          <a:p>
            <a:endParaRPr lang="en-US" sz="1600" b="1" noProof="0" dirty="0">
              <a:solidFill>
                <a:srgbClr val="4C4C4C"/>
              </a:solidFill>
              <a:latin typeface="+mj-lt"/>
            </a:endParaRPr>
          </a:p>
          <a:p>
            <a:pPr marL="285750" indent="-285750">
              <a:buClr>
                <a:schemeClr val="accent2"/>
              </a:buClr>
              <a:buFont typeface="Arial" panose="020B0604020202020204" pitchFamily="34" charset="0"/>
              <a:buChar char="•"/>
            </a:pPr>
            <a:r>
              <a:rPr lang="es-ES" sz="1500" b="1" i="0" strike="noStrike" cap="none" baseline="0" dirty="0">
                <a:solidFill>
                  <a:srgbClr val="4C4C4C"/>
                </a:solidFill>
                <a:effectLst/>
                <a:latin typeface="Segoe UI Semibold"/>
                <a:ea typeface="Segoe UI Semibold"/>
                <a:cs typeface="Segoe UI Semibold"/>
              </a:rPr>
              <a:t>Proyecto Microsoft </a:t>
            </a:r>
            <a:r>
              <a:rPr lang="es-ES" sz="1500" b="1" i="0" strike="noStrike" cap="none" baseline="0" dirty="0" err="1">
                <a:solidFill>
                  <a:srgbClr val="4C4C4C"/>
                </a:solidFill>
                <a:effectLst/>
                <a:latin typeface="Segoe UI Semibold"/>
                <a:ea typeface="Segoe UI Semibold"/>
                <a:cs typeface="Segoe UI Semibold"/>
              </a:rPr>
              <a:t>Foundry</a:t>
            </a:r>
            <a:br>
              <a:rPr sz="1400" dirty="0"/>
            </a:br>
            <a:r>
              <a:rPr lang="es-ES" sz="1100" b="0" i="0" strike="noStrike" cap="none" baseline="0" dirty="0">
                <a:solidFill>
                  <a:srgbClr val="4C4C4C"/>
                </a:solidFill>
                <a:effectLst/>
                <a:latin typeface="Segoe UI"/>
                <a:ea typeface="Segoe UI"/>
                <a:cs typeface="Segoe UI"/>
              </a:rPr>
              <a:t>Organiza agentes, modelos y recursos</a:t>
            </a:r>
          </a:p>
          <a:p>
            <a:pPr marL="285750" indent="-285750">
              <a:buClr>
                <a:schemeClr val="accent2"/>
              </a:buClr>
              <a:buFont typeface="Arial" panose="020B0604020202020204" pitchFamily="34" charset="0"/>
              <a:buChar char="•"/>
            </a:pPr>
            <a:r>
              <a:rPr lang="es-ES" sz="1300" b="1" i="0" strike="noStrike" cap="none" baseline="0" dirty="0">
                <a:solidFill>
                  <a:srgbClr val="4C4C4C"/>
                </a:solidFill>
                <a:effectLst/>
                <a:latin typeface="Segoe UI Semibold"/>
                <a:ea typeface="Segoe UI Semibold"/>
                <a:cs typeface="Segoe UI Semibold"/>
              </a:rPr>
              <a:t>Implementación de modelo</a:t>
            </a:r>
            <a:br>
              <a:rPr sz="1400" dirty="0"/>
            </a:br>
            <a:r>
              <a:rPr lang="es-ES" sz="1100" b="0" i="0" strike="noStrike" cap="none" baseline="0" dirty="0">
                <a:solidFill>
                  <a:srgbClr val="4C4C4C"/>
                </a:solidFill>
                <a:effectLst/>
                <a:latin typeface="Segoe UI"/>
                <a:ea typeface="Segoe UI"/>
                <a:cs typeface="Segoe UI"/>
              </a:rPr>
              <a:t>Por ejemplo, GPT-4.1 o Claude Sonnet 4.6</a:t>
            </a:r>
            <a:endParaRPr lang="en-US" sz="1100" b="1" dirty="0">
              <a:solidFill>
                <a:srgbClr val="4C4C4C"/>
              </a:solidFill>
              <a:latin typeface="+mj-lt"/>
            </a:endParaRPr>
          </a:p>
        </p:txBody>
      </p:sp>
      <p:sp>
        <p:nvSpPr>
          <p:cNvPr id="51" name="Oval 50">
            <a:extLst>
              <a:ext uri="{FF2B5EF4-FFF2-40B4-BE49-F238E27FC236}">
                <a16:creationId xmlns:a16="http://schemas.microsoft.com/office/drawing/2014/main" id="{567AF073-99EA-94EF-BFC0-DBF04568519F}"/>
              </a:ext>
            </a:extLst>
          </p:cNvPr>
          <p:cNvSpPr/>
          <p:nvPr/>
        </p:nvSpPr>
        <p:spPr bwMode="auto">
          <a:xfrm>
            <a:off x="860319" y="4205020"/>
            <a:ext cx="365760" cy="36576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3" name="TextBox 52">
            <a:extLst>
              <a:ext uri="{FF2B5EF4-FFF2-40B4-BE49-F238E27FC236}">
                <a16:creationId xmlns:a16="http://schemas.microsoft.com/office/drawing/2014/main" id="{69891873-3655-D24A-9D32-E44BD9697504}"/>
              </a:ext>
            </a:extLst>
          </p:cNvPr>
          <p:cNvSpPr txBox="1"/>
          <p:nvPr/>
        </p:nvSpPr>
        <p:spPr>
          <a:xfrm>
            <a:off x="1232463" y="4213619"/>
            <a:ext cx="3137607" cy="335280"/>
          </a:xfrm>
          <a:prstGeom prst="rect">
            <a:avLst/>
          </a:prstGeom>
          <a:noFill/>
        </p:spPr>
        <p:txBody>
          <a:bodyPr wrap="square">
            <a:spAutoFit/>
          </a:bodyPr>
          <a:lstStyle/>
          <a:p>
            <a:r>
              <a:rPr lang="es-ES" sz="1500" b="1" i="0" strike="noStrike" cap="none" baseline="0" dirty="0">
                <a:solidFill>
                  <a:srgbClr val="BF3AC4"/>
                </a:solidFill>
                <a:effectLst/>
                <a:latin typeface="Segoe UI Semibold"/>
                <a:ea typeface="Segoe UI Semibold"/>
                <a:cs typeface="Segoe UI Semibold"/>
              </a:rPr>
              <a:t>Recursos necesarios</a:t>
            </a:r>
            <a:endParaRPr lang="en-US" sz="1500" dirty="0">
              <a:solidFill>
                <a:schemeClr val="accent2"/>
              </a:solidFill>
            </a:endParaRPr>
          </a:p>
        </p:txBody>
      </p:sp>
      <p:sp>
        <p:nvSpPr>
          <p:cNvPr id="54" name="RetrievalCard">
            <a:extLst>
              <a:ext uri="{FF2B5EF4-FFF2-40B4-BE49-F238E27FC236}">
                <a16:creationId xmlns:a16="http://schemas.microsoft.com/office/drawing/2014/main" id="{1821122D-C0FA-C1C2-6E21-E11DBFE020E3}"/>
              </a:ext>
            </a:extLst>
          </p:cNvPr>
          <p:cNvSpPr/>
          <p:nvPr/>
        </p:nvSpPr>
        <p:spPr>
          <a:xfrm>
            <a:off x="4988689" y="4113000"/>
            <a:ext cx="5970848" cy="1805191"/>
          </a:xfrm>
          <a:prstGeom prst="roundRect">
            <a:avLst>
              <a:gd name="adj" fmla="val 12000"/>
            </a:avLst>
          </a:prstGeom>
          <a:solidFill>
            <a:srgbClr val="F8F8F8"/>
          </a:solidFill>
          <a:ln w="9525">
            <a:solidFill>
              <a:srgbClr val="DEDEDE"/>
            </a:solidFill>
          </a:ln>
        </p:spPr>
        <p:txBody>
          <a:bodyPr anchor="t"/>
          <a:lstStyle/>
          <a:p>
            <a:endParaRPr lang="en-US" sz="1400" b="1" noProof="0" dirty="0">
              <a:solidFill>
                <a:srgbClr val="4C4C4C"/>
              </a:solidFill>
              <a:latin typeface="+mj-lt"/>
            </a:endParaRPr>
          </a:p>
          <a:p>
            <a:endParaRPr lang="en-US" sz="1400" b="1" noProof="0"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s-ES" sz="1300" b="1" i="0" strike="noStrike" cap="none" baseline="0" dirty="0">
                <a:solidFill>
                  <a:srgbClr val="4C4C4C"/>
                </a:solidFill>
                <a:effectLst/>
                <a:latin typeface="Segoe UI Semibold"/>
                <a:ea typeface="Segoe UI Semibold"/>
                <a:cs typeface="Segoe UI Semibold"/>
              </a:rPr>
              <a:t>Búsqueda de Azure AI</a:t>
            </a:r>
            <a:r>
              <a:rPr lang="es-ES" sz="1400" b="1" dirty="0">
                <a:solidFill>
                  <a:srgbClr val="4C4C4C"/>
                </a:solidFill>
                <a:latin typeface="Segoe UI Semibold"/>
                <a:ea typeface="Segoe UI Semibold"/>
                <a:cs typeface="Segoe UI Semibold"/>
              </a:rPr>
              <a:t>   </a:t>
            </a:r>
            <a:r>
              <a:rPr lang="es-ES" sz="1100" b="0" i="0" strike="noStrike" cap="none" baseline="0" dirty="0">
                <a:solidFill>
                  <a:srgbClr val="4C4C4C"/>
                </a:solidFill>
                <a:effectLst/>
                <a:latin typeface="Segoe UI"/>
                <a:ea typeface="Segoe UI"/>
                <a:cs typeface="Segoe UI"/>
              </a:rPr>
              <a:t>Recuperación de conocimientos para </a:t>
            </a:r>
            <a:r>
              <a:rPr lang="es-ES" sz="1100" b="0" i="0" strike="noStrike" cap="none" baseline="0" dirty="0" err="1">
                <a:solidFill>
                  <a:srgbClr val="4C4C4C"/>
                </a:solidFill>
                <a:effectLst/>
                <a:latin typeface="Segoe UI"/>
                <a:ea typeface="Segoe UI"/>
                <a:cs typeface="Segoe UI"/>
              </a:rPr>
              <a:t>Foundry</a:t>
            </a:r>
            <a:r>
              <a:rPr lang="es-ES" sz="1100" b="0" i="0" strike="noStrike" cap="none" baseline="0" dirty="0">
                <a:solidFill>
                  <a:srgbClr val="4C4C4C"/>
                </a:solidFill>
                <a:effectLst/>
                <a:latin typeface="Segoe UI"/>
                <a:ea typeface="Segoe UI"/>
                <a:cs typeface="Segoe UI"/>
              </a:rPr>
              <a:t> IQ</a:t>
            </a:r>
            <a:br>
              <a:rPr lang="es-ES" sz="1100" b="0" i="0" strike="noStrike" cap="none" baseline="0" dirty="0">
                <a:solidFill>
                  <a:srgbClr val="4C4C4C"/>
                </a:solidFill>
                <a:effectLst/>
                <a:latin typeface="Segoe UI"/>
                <a:ea typeface="Segoe UI"/>
                <a:cs typeface="Segoe UI"/>
              </a:rPr>
            </a:br>
            <a:r>
              <a:rPr lang="es-ES" sz="1100" b="0" i="0" strike="noStrike" cap="none" baseline="0" dirty="0">
                <a:solidFill>
                  <a:srgbClr val="4C4C4C"/>
                </a:solidFill>
                <a:effectLst/>
                <a:latin typeface="Segoe UI"/>
                <a:ea typeface="Segoe UI"/>
                <a:cs typeface="Segoe UI"/>
              </a:rPr>
              <a:t>                                               o File Search</a:t>
            </a:r>
            <a:endParaRPr lang="en-US" sz="11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s-ES" sz="1300" b="1" i="0" strike="noStrike" cap="none" baseline="0" dirty="0">
                <a:solidFill>
                  <a:srgbClr val="4C4C4C"/>
                </a:solidFill>
                <a:effectLst/>
                <a:latin typeface="Segoe UI Semibold"/>
                <a:ea typeface="Segoe UI Semibold"/>
                <a:cs typeface="Segoe UI Semibold"/>
              </a:rPr>
              <a:t>Azure Storage</a:t>
            </a:r>
            <a:r>
              <a:rPr lang="es-ES" sz="1400" b="1" i="0" strike="noStrike" cap="none" baseline="0" dirty="0">
                <a:solidFill>
                  <a:srgbClr val="4C4C4C"/>
                </a:solidFill>
                <a:effectLst/>
                <a:latin typeface="Segoe UI Semibold"/>
                <a:ea typeface="Segoe UI Semibold"/>
                <a:cs typeface="Segoe UI Semibold"/>
              </a:rPr>
              <a:t>	     </a:t>
            </a:r>
            <a:r>
              <a:rPr lang="es-ES" sz="1100" b="0" i="0" strike="noStrike" cap="none" baseline="0" dirty="0">
                <a:solidFill>
                  <a:srgbClr val="4C4C4C"/>
                </a:solidFill>
                <a:effectLst/>
                <a:latin typeface="Segoe UI"/>
                <a:ea typeface="Segoe UI"/>
                <a:cs typeface="Segoe UI"/>
              </a:rPr>
              <a:t>Los agentes de archivos pueden leer y escribir</a:t>
            </a:r>
          </a:p>
          <a:p>
            <a:pPr marL="285750" indent="-285750">
              <a:buClr>
                <a:schemeClr val="tx1">
                  <a:lumMod val="75000"/>
                  <a:lumOff val="25000"/>
                </a:schemeClr>
              </a:buClr>
              <a:buFont typeface="Arial" panose="020B0604020202020204" pitchFamily="34" charset="0"/>
              <a:buChar char="•"/>
            </a:pPr>
            <a:r>
              <a:rPr lang="es-ES" sz="1300" b="1" i="0" strike="noStrike" cap="none" baseline="0" dirty="0">
                <a:solidFill>
                  <a:srgbClr val="4C4C4C"/>
                </a:solidFill>
                <a:effectLst/>
                <a:latin typeface="Segoe UI Semibold"/>
                <a:ea typeface="Segoe UI Semibold"/>
                <a:cs typeface="Segoe UI Semibold"/>
              </a:rPr>
              <a:t>Azure Key Vault</a:t>
            </a:r>
            <a:r>
              <a:rPr lang="es-ES" sz="1400" b="1" i="0" strike="noStrike" cap="none" baseline="0" dirty="0">
                <a:solidFill>
                  <a:srgbClr val="4C4C4C"/>
                </a:solidFill>
                <a:effectLst/>
                <a:latin typeface="Segoe UI Semibold"/>
                <a:ea typeface="Segoe UI Semibold"/>
                <a:cs typeface="Segoe UI Semibold"/>
              </a:rPr>
              <a:t>	     </a:t>
            </a:r>
            <a:r>
              <a:rPr lang="es-ES" sz="1100" b="0" i="0" strike="noStrike" cap="none" baseline="0" dirty="0">
                <a:solidFill>
                  <a:srgbClr val="4C4C4C"/>
                </a:solidFill>
                <a:effectLst/>
                <a:latin typeface="Segoe UI"/>
                <a:ea typeface="Segoe UI"/>
                <a:cs typeface="Segoe UI"/>
              </a:rPr>
              <a:t>Almacena de forma segura secretos y credenciales</a:t>
            </a:r>
            <a:endParaRPr lang="en-US" sz="1100" b="1" dirty="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s-ES" sz="1300" b="1" i="0" strike="noStrike" cap="none" baseline="0" dirty="0">
                <a:solidFill>
                  <a:srgbClr val="4C4C4C"/>
                </a:solidFill>
                <a:effectLst/>
                <a:latin typeface="Segoe UI Semibold"/>
                <a:ea typeface="Segoe UI Semibold"/>
                <a:cs typeface="Segoe UI Semibold"/>
              </a:rPr>
              <a:t>Azure </a:t>
            </a:r>
            <a:r>
              <a:rPr lang="es-ES" sz="1300" b="1" i="0" strike="noStrike" cap="none" baseline="0" dirty="0" err="1">
                <a:solidFill>
                  <a:srgbClr val="4C4C4C"/>
                </a:solidFill>
                <a:effectLst/>
                <a:latin typeface="Segoe UI Semibold"/>
                <a:ea typeface="Segoe UI Semibold"/>
                <a:cs typeface="Segoe UI Semibold"/>
              </a:rPr>
              <a:t>Functions</a:t>
            </a:r>
            <a:r>
              <a:rPr lang="es-ES" sz="1400" b="1" i="0" strike="noStrike" cap="none" baseline="0" dirty="0">
                <a:solidFill>
                  <a:srgbClr val="4C4C4C"/>
                </a:solidFill>
                <a:effectLst/>
                <a:latin typeface="Segoe UI Semibold"/>
                <a:ea typeface="Segoe UI Semibold"/>
                <a:cs typeface="Segoe UI Semibold"/>
              </a:rPr>
              <a:t>	     </a:t>
            </a:r>
            <a:r>
              <a:rPr lang="es-ES" sz="1100" b="0" i="0" strike="noStrike" cap="none" baseline="0" dirty="0">
                <a:solidFill>
                  <a:srgbClr val="4C4C4C"/>
                </a:solidFill>
                <a:effectLst/>
                <a:latin typeface="Segoe UI"/>
                <a:ea typeface="Segoe UI"/>
                <a:cs typeface="Segoe UI"/>
              </a:rPr>
              <a:t>Implementaciones de herramientas personalizadas</a:t>
            </a:r>
            <a:br>
              <a:rPr lang="es-ES" sz="1100" b="0" i="0" strike="noStrike" cap="none" baseline="0" dirty="0">
                <a:solidFill>
                  <a:srgbClr val="4C4C4C"/>
                </a:solidFill>
                <a:effectLst/>
                <a:latin typeface="Segoe UI"/>
                <a:ea typeface="Segoe UI"/>
                <a:cs typeface="Segoe UI"/>
              </a:rPr>
            </a:br>
            <a:r>
              <a:rPr lang="es-ES" sz="1100" b="0" i="0" strike="noStrike" cap="none" baseline="0" dirty="0">
                <a:solidFill>
                  <a:srgbClr val="4C4C4C"/>
                </a:solidFill>
                <a:effectLst/>
                <a:latin typeface="Segoe UI"/>
                <a:ea typeface="Segoe UI"/>
                <a:cs typeface="Segoe UI"/>
              </a:rPr>
              <a:t>                                               y lógica de negocios</a:t>
            </a:r>
            <a:endParaRPr lang="en-US" sz="1100" b="1" dirty="0">
              <a:solidFill>
                <a:srgbClr val="4C4C4C"/>
              </a:solidFill>
              <a:latin typeface="+mj-lt"/>
            </a:endParaRPr>
          </a:p>
        </p:txBody>
      </p:sp>
      <p:sp>
        <p:nvSpPr>
          <p:cNvPr id="55" name="Oval 54">
            <a:extLst>
              <a:ext uri="{FF2B5EF4-FFF2-40B4-BE49-F238E27FC236}">
                <a16:creationId xmlns:a16="http://schemas.microsoft.com/office/drawing/2014/main" id="{C5771827-17F3-38FF-89FE-BB38839C131A}"/>
              </a:ext>
            </a:extLst>
          </p:cNvPr>
          <p:cNvSpPr/>
          <p:nvPr/>
        </p:nvSpPr>
        <p:spPr bwMode="auto">
          <a:xfrm>
            <a:off x="5149096" y="4205021"/>
            <a:ext cx="365760" cy="365760"/>
          </a:xfrm>
          <a:prstGeom prst="ellipse">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6" name="TextBox 55">
            <a:extLst>
              <a:ext uri="{FF2B5EF4-FFF2-40B4-BE49-F238E27FC236}">
                <a16:creationId xmlns:a16="http://schemas.microsoft.com/office/drawing/2014/main" id="{CD54D526-D86B-1EAC-02FA-B8CF1E8019E3}"/>
              </a:ext>
            </a:extLst>
          </p:cNvPr>
          <p:cNvSpPr txBox="1"/>
          <p:nvPr/>
        </p:nvSpPr>
        <p:spPr>
          <a:xfrm>
            <a:off x="5509665" y="4213620"/>
            <a:ext cx="3137607" cy="335280"/>
          </a:xfrm>
          <a:prstGeom prst="rect">
            <a:avLst/>
          </a:prstGeom>
          <a:noFill/>
        </p:spPr>
        <p:txBody>
          <a:bodyPr wrap="square">
            <a:spAutoFit/>
          </a:bodyPr>
          <a:lstStyle/>
          <a:p>
            <a:r>
              <a:rPr lang="es-ES" sz="1500" b="1" i="0" strike="noStrike" cap="none" baseline="0" dirty="0">
                <a:solidFill>
                  <a:srgbClr val="404040"/>
                </a:solidFill>
                <a:effectLst/>
                <a:latin typeface="Segoe UI Semibold"/>
                <a:ea typeface="Segoe UI Semibold"/>
                <a:cs typeface="Segoe UI Semibold"/>
              </a:rPr>
              <a:t>Recursos opcionales</a:t>
            </a:r>
            <a:endParaRPr lang="en-US" sz="1500" dirty="0">
              <a:solidFill>
                <a:schemeClr val="tx1">
                  <a:lumMod val="75000"/>
                  <a:lumOff val="25000"/>
                </a:schemeClr>
              </a:solidFill>
            </a:endParaRPr>
          </a:p>
        </p:txBody>
      </p:sp>
    </p:spTree>
    <p:extLst>
      <p:ext uri="{BB962C8B-B14F-4D97-AF65-F5344CB8AC3E}">
        <p14:creationId xmlns:p14="http://schemas.microsoft.com/office/powerpoint/2010/main" val="4197147778"/>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22E2-0001-ABDA-44AF-DC5A96AFD1B6}"/>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Elige tu estrategia de desarrollo</a:t>
            </a:r>
          </a:p>
        </p:txBody>
      </p:sp>
      <p:sp>
        <p:nvSpPr>
          <p:cNvPr id="6" name="Text Placeholder 5">
            <a:extLst>
              <a:ext uri="{FF2B5EF4-FFF2-40B4-BE49-F238E27FC236}">
                <a16:creationId xmlns:a16="http://schemas.microsoft.com/office/drawing/2014/main" id="{6B4F3C30-140A-7982-1739-CD6739638D90}"/>
              </a:ext>
            </a:extLst>
          </p:cNvPr>
          <p:cNvSpPr>
            <a:spLocks noGrp="1"/>
          </p:cNvSpPr>
          <p:nvPr>
            <p:ph type="body" sz="quarter" idx="16"/>
          </p:nvPr>
        </p:nvSpPr>
        <p:spPr>
          <a:xfrm>
            <a:off x="1273214" y="1442945"/>
            <a:ext cx="4530685" cy="800219"/>
          </a:xfrm>
        </p:spPr>
        <p:txBody>
          <a:bodyPr/>
          <a:lstStyle/>
          <a:p>
            <a:r>
              <a:rPr lang="es-ES" sz="2000" b="0" i="0" strike="noStrike" cap="none" baseline="0" dirty="0">
                <a:solidFill>
                  <a:srgbClr val="702573"/>
                </a:solidFill>
                <a:effectLst/>
                <a:latin typeface="Segoe UI Semibold"/>
                <a:ea typeface="Segoe UI Semibold"/>
                <a:cs typeface="Segoe UI Semibold"/>
              </a:rPr>
              <a:t>Portal de </a:t>
            </a:r>
            <a:r>
              <a:rPr lang="es-ES" sz="2000" b="0" i="0" strike="noStrike" cap="none" baseline="0" dirty="0" err="1">
                <a:solidFill>
                  <a:srgbClr val="702573"/>
                </a:solidFill>
                <a:effectLst/>
                <a:latin typeface="Segoe UI Semibold"/>
                <a:ea typeface="Segoe UI Semibold"/>
                <a:cs typeface="Segoe UI Semibold"/>
              </a:rPr>
              <a:t>Foundry</a:t>
            </a:r>
            <a:endParaRPr lang="es-ES" sz="2000" b="0" i="0" strike="noStrike" cap="none" baseline="0" dirty="0">
              <a:solidFill>
                <a:srgbClr val="702573"/>
              </a:solidFill>
              <a:effectLst/>
              <a:latin typeface="Segoe UI Semibold"/>
              <a:ea typeface="Segoe UI Semibold"/>
              <a:cs typeface="Segoe UI Semibold"/>
            </a:endParaRPr>
          </a:p>
          <a:p>
            <a:r>
              <a:rPr lang="es-ES" sz="1600" b="0" i="0" strike="noStrike" cap="none" baseline="0" dirty="0">
                <a:solidFill>
                  <a:srgbClr val="808080"/>
                </a:solidFill>
                <a:effectLst/>
                <a:latin typeface="Segoe UI"/>
                <a:ea typeface="Segoe UI"/>
                <a:cs typeface="Segoe UI"/>
              </a:rPr>
              <a:t>Visual, basado en web,</a:t>
            </a:r>
            <a:br>
              <a:rPr lang="es-ES" sz="1600" b="0" i="0" strike="noStrike" cap="none" baseline="0" dirty="0">
                <a:solidFill>
                  <a:srgbClr val="808080"/>
                </a:solidFill>
                <a:effectLst/>
                <a:latin typeface="Segoe UI"/>
                <a:ea typeface="Segoe UI"/>
                <a:cs typeface="Segoe UI"/>
              </a:rPr>
            </a:br>
            <a:r>
              <a:rPr lang="es-ES" sz="1600" b="0" i="0" strike="noStrike" cap="none" baseline="0" dirty="0">
                <a:solidFill>
                  <a:srgbClr val="808080"/>
                </a:solidFill>
                <a:effectLst/>
                <a:latin typeface="Segoe UI"/>
                <a:ea typeface="Segoe UI"/>
                <a:cs typeface="Segoe UI"/>
              </a:rPr>
              <a:t>no requiere</a:t>
            </a:r>
            <a:r>
              <a:rPr lang="es-ES" dirty="0">
                <a:solidFill>
                  <a:srgbClr val="808080"/>
                </a:solidFill>
                <a:latin typeface="Segoe UI"/>
                <a:ea typeface="Segoe UI"/>
                <a:cs typeface="Segoe UI"/>
              </a:rPr>
              <a:t> </a:t>
            </a:r>
            <a:r>
              <a:rPr lang="es-ES" sz="1600" b="0" i="0" strike="noStrike" cap="none" baseline="0" dirty="0">
                <a:solidFill>
                  <a:srgbClr val="808080"/>
                </a:solidFill>
                <a:effectLst/>
                <a:latin typeface="Segoe UI"/>
                <a:ea typeface="Segoe UI"/>
                <a:cs typeface="Segoe UI"/>
              </a:rPr>
              <a:t>configuración local</a:t>
            </a:r>
            <a:endParaRPr lang="en-US" sz="1800" dirty="0">
              <a:solidFill>
                <a:schemeClr val="tx1">
                  <a:lumMod val="50000"/>
                  <a:lumOff val="50000"/>
                </a:schemeClr>
              </a:solidFill>
              <a:latin typeface="+mn-lt"/>
            </a:endParaRPr>
          </a:p>
        </p:txBody>
      </p:sp>
      <p:sp>
        <p:nvSpPr>
          <p:cNvPr id="5" name="Text Placeholder 4">
            <a:extLst>
              <a:ext uri="{FF2B5EF4-FFF2-40B4-BE49-F238E27FC236}">
                <a16:creationId xmlns:a16="http://schemas.microsoft.com/office/drawing/2014/main" id="{E2E67AE3-7A40-0D89-3029-CA8E1037A693}"/>
              </a:ext>
            </a:extLst>
          </p:cNvPr>
          <p:cNvSpPr>
            <a:spLocks noGrp="1"/>
          </p:cNvSpPr>
          <p:nvPr>
            <p:ph type="body" sz="quarter" idx="15"/>
          </p:nvPr>
        </p:nvSpPr>
        <p:spPr>
          <a:xfrm>
            <a:off x="586390" y="2335989"/>
            <a:ext cx="5217510" cy="2856167"/>
          </a:xfrm>
        </p:spPr>
        <p:txBody>
          <a:bodyPr/>
          <a:lstStyle/>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Creación rápida de prototipos</a:t>
            </a:r>
            <a:br>
              <a:rPr sz="1600" dirty="0"/>
            </a:br>
            <a:r>
              <a:rPr lang="es-ES" sz="1400" b="0" i="0" strike="noStrike" cap="none" baseline="0" dirty="0">
                <a:solidFill>
                  <a:srgbClr val="808080"/>
                </a:solidFill>
                <a:effectLst/>
                <a:latin typeface="Segoe UI"/>
                <a:ea typeface="Segoe UI"/>
                <a:cs typeface="Segoe UI"/>
              </a:rPr>
              <a:t>Prueba conceptos de agentes sin configurar </a:t>
            </a:r>
            <a:br>
              <a:rPr sz="1400" dirty="0"/>
            </a:br>
            <a:r>
              <a:rPr lang="es-ES" sz="1400" b="0" i="0" strike="noStrike" cap="none" baseline="0" dirty="0">
                <a:solidFill>
                  <a:srgbClr val="808080"/>
                </a:solidFill>
                <a:effectLst/>
                <a:latin typeface="Segoe UI"/>
                <a:ea typeface="Segoe UI"/>
                <a:cs typeface="Segoe UI"/>
              </a:rPr>
              <a:t>un entorno de desarrollo local</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Configuración visual</a:t>
            </a:r>
            <a:br>
              <a:rPr sz="1600" dirty="0"/>
            </a:br>
            <a:r>
              <a:rPr lang="es-ES" sz="1400" b="0" i="0" strike="noStrike" cap="none" baseline="0" dirty="0">
                <a:solidFill>
                  <a:srgbClr val="808080"/>
                </a:solidFill>
                <a:effectLst/>
                <a:latin typeface="Segoe UI"/>
                <a:ea typeface="Segoe UI"/>
                <a:cs typeface="Segoe UI"/>
              </a:rPr>
              <a:t>Configura agentes mediante formularios intuitivos </a:t>
            </a:r>
            <a:br>
              <a:rPr sz="1400" dirty="0"/>
            </a:br>
            <a:r>
              <a:rPr lang="es-ES" sz="1400" b="0" i="0" strike="noStrike" cap="none" baseline="0" dirty="0">
                <a:solidFill>
                  <a:srgbClr val="808080"/>
                </a:solidFill>
                <a:effectLst/>
                <a:latin typeface="Segoe UI"/>
                <a:ea typeface="Segoe UI"/>
                <a:cs typeface="Segoe UI"/>
              </a:rPr>
              <a:t>y listas desplegables en lugar de código</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Administración centralizada</a:t>
            </a:r>
            <a:br>
              <a:rPr sz="1600" dirty="0"/>
            </a:br>
            <a:r>
              <a:rPr lang="es-ES" sz="1400" b="0" i="0" strike="noStrike" cap="none" baseline="0" dirty="0">
                <a:solidFill>
                  <a:srgbClr val="808080"/>
                </a:solidFill>
                <a:effectLst/>
                <a:latin typeface="Segoe UI"/>
                <a:ea typeface="Segoe UI"/>
                <a:cs typeface="Segoe UI"/>
              </a:rPr>
              <a:t>Visualiza y administra todos los agentes entre</a:t>
            </a:r>
            <a:br>
              <a:rPr lang="es-ES" sz="1400" b="0" i="0" strike="noStrike" cap="none" baseline="0" dirty="0">
                <a:solidFill>
                  <a:srgbClr val="808080"/>
                </a:solidFill>
                <a:effectLst/>
                <a:latin typeface="Segoe UI"/>
                <a:ea typeface="Segoe UI"/>
                <a:cs typeface="Segoe UI"/>
              </a:rPr>
            </a:br>
            <a:r>
              <a:rPr lang="es-ES" sz="1400" b="0" i="0" strike="noStrike" cap="none" baseline="0" dirty="0">
                <a:solidFill>
                  <a:srgbClr val="808080"/>
                </a:solidFill>
                <a:effectLst/>
                <a:latin typeface="Segoe UI"/>
                <a:ea typeface="Segoe UI"/>
                <a:cs typeface="Segoe UI"/>
              </a:rPr>
              <a:t>proyectos en un solo lugar con paneles</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Colaboración en equipo</a:t>
            </a:r>
            <a:br>
              <a:rPr sz="1600" dirty="0"/>
            </a:br>
            <a:r>
              <a:rPr lang="es-ES" sz="1400" b="0" i="0" strike="noStrike" cap="none" baseline="0" dirty="0">
                <a:solidFill>
                  <a:srgbClr val="808080"/>
                </a:solidFill>
                <a:effectLst/>
                <a:latin typeface="Segoe UI"/>
                <a:ea typeface="Segoe UI"/>
                <a:cs typeface="Segoe UI"/>
              </a:rPr>
              <a:t>Comparte configuraciones con las partes interesadas </a:t>
            </a:r>
            <a:br>
              <a:rPr sz="1400" dirty="0"/>
            </a:br>
            <a:r>
              <a:rPr lang="es-ES" sz="1400" b="0" i="0" strike="noStrike" cap="none" baseline="0" dirty="0">
                <a:solidFill>
                  <a:srgbClr val="808080"/>
                </a:solidFill>
                <a:effectLst/>
                <a:latin typeface="Segoe UI"/>
                <a:ea typeface="Segoe UI"/>
                <a:cs typeface="Segoe UI"/>
              </a:rPr>
              <a:t>que prefieren interfaces visuales</a:t>
            </a:r>
            <a:endParaRPr lang="en-US" dirty="0">
              <a:solidFill>
                <a:schemeClr val="tx1">
                  <a:lumMod val="50000"/>
                  <a:lumOff val="50000"/>
                </a:schemeClr>
              </a:solidFill>
            </a:endParaRPr>
          </a:p>
        </p:txBody>
      </p:sp>
      <p:sp>
        <p:nvSpPr>
          <p:cNvPr id="8" name="Text Placeholder 7">
            <a:extLst>
              <a:ext uri="{FF2B5EF4-FFF2-40B4-BE49-F238E27FC236}">
                <a16:creationId xmlns:a16="http://schemas.microsoft.com/office/drawing/2014/main" id="{1C845E65-0FE4-A65E-3D7C-C279F2962DD9}"/>
              </a:ext>
            </a:extLst>
          </p:cNvPr>
          <p:cNvSpPr>
            <a:spLocks noGrp="1"/>
          </p:cNvSpPr>
          <p:nvPr>
            <p:ph type="body" sz="quarter" idx="20"/>
          </p:nvPr>
        </p:nvSpPr>
        <p:spPr>
          <a:xfrm>
            <a:off x="6253664" y="2335989"/>
            <a:ext cx="5187106" cy="2856167"/>
          </a:xfrm>
        </p:spPr>
        <p:txBody>
          <a:bodyPr/>
          <a:lstStyle/>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Flujos de trabajo centrados en desarrolladores</a:t>
            </a:r>
            <a:br>
              <a:rPr sz="1600" dirty="0"/>
            </a:br>
            <a:r>
              <a:rPr lang="es-ES" sz="1400" b="0" i="0" strike="noStrike" cap="none" baseline="0" dirty="0">
                <a:solidFill>
                  <a:srgbClr val="808080"/>
                </a:solidFill>
                <a:effectLst/>
                <a:latin typeface="Segoe UI"/>
                <a:ea typeface="Segoe UI"/>
                <a:cs typeface="Segoe UI"/>
              </a:rPr>
              <a:t>Crea agentes junto con el código de aplicación</a:t>
            </a:r>
            <a:br>
              <a:rPr sz="1400" dirty="0"/>
            </a:br>
            <a:r>
              <a:rPr lang="es-ES" sz="1400" b="0" i="0" strike="noStrike" cap="none" baseline="0" dirty="0">
                <a:solidFill>
                  <a:srgbClr val="808080"/>
                </a:solidFill>
                <a:effectLst/>
                <a:latin typeface="Segoe UI"/>
                <a:ea typeface="Segoe UI"/>
                <a:cs typeface="Segoe UI"/>
              </a:rPr>
              <a:t>en un único entorno familiar</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Integración de control de versiones</a:t>
            </a:r>
            <a:br>
              <a:rPr sz="1600" dirty="0"/>
            </a:br>
            <a:r>
              <a:rPr lang="es-ES" sz="1400" b="0" i="0" strike="noStrike" cap="none" baseline="0" dirty="0">
                <a:solidFill>
                  <a:srgbClr val="808080"/>
                </a:solidFill>
                <a:effectLst/>
                <a:latin typeface="Segoe UI"/>
                <a:ea typeface="Segoe UI"/>
                <a:cs typeface="Segoe UI"/>
              </a:rPr>
              <a:t>Haz el seguimiento de las configuraciones en Git </a:t>
            </a:r>
            <a:br>
              <a:rPr sz="1400" dirty="0"/>
            </a:br>
            <a:r>
              <a:rPr lang="es-ES" sz="1400" b="0" i="0" strike="noStrike" cap="none" baseline="0" dirty="0">
                <a:solidFill>
                  <a:srgbClr val="808080"/>
                </a:solidFill>
                <a:effectLst/>
                <a:latin typeface="Segoe UI"/>
                <a:ea typeface="Segoe UI"/>
                <a:cs typeface="Segoe UI"/>
              </a:rPr>
              <a:t>junto con el código base</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Desarrollo primero en código</a:t>
            </a:r>
            <a:br>
              <a:rPr sz="1600" dirty="0"/>
            </a:br>
            <a:r>
              <a:rPr lang="es-ES" sz="1400" b="0" i="0" strike="noStrike" cap="none" baseline="0" dirty="0">
                <a:solidFill>
                  <a:srgbClr val="808080"/>
                </a:solidFill>
                <a:effectLst/>
                <a:latin typeface="Segoe UI"/>
                <a:ea typeface="Segoe UI"/>
                <a:cs typeface="Segoe UI"/>
              </a:rPr>
              <a:t>Edita las configuraciones de YAML directamente</a:t>
            </a:r>
            <a:br>
              <a:rPr lang="es-ES" sz="1400" b="0" i="0" strike="noStrike" cap="none" baseline="0" dirty="0">
                <a:solidFill>
                  <a:srgbClr val="808080"/>
                </a:solidFill>
                <a:effectLst/>
                <a:latin typeface="Segoe UI"/>
                <a:ea typeface="Segoe UI"/>
                <a:cs typeface="Segoe UI"/>
              </a:rPr>
            </a:br>
            <a:r>
              <a:rPr lang="es-ES" sz="1400" b="0" i="0" strike="noStrike" cap="none" baseline="0" dirty="0">
                <a:solidFill>
                  <a:srgbClr val="808080"/>
                </a:solidFill>
                <a:effectLst/>
                <a:latin typeface="Segoe UI"/>
                <a:ea typeface="Segoe UI"/>
                <a:cs typeface="Segoe UI"/>
              </a:rPr>
              <a:t>e integra agentes en la lógica de aplicación</a:t>
            </a:r>
          </a:p>
          <a:p>
            <a:pPr marL="287338" indent="-287338">
              <a:buFont typeface="System Font Regular"/>
              <a:buChar char="✓"/>
            </a:pPr>
            <a:r>
              <a:rPr lang="es-ES" sz="1600" b="1" i="0" strike="noStrike" cap="none" baseline="0" dirty="0">
                <a:solidFill>
                  <a:srgbClr val="000000"/>
                </a:solidFill>
                <a:effectLst/>
                <a:latin typeface="Segoe UI"/>
                <a:ea typeface="Segoe UI"/>
                <a:cs typeface="Segoe UI"/>
              </a:rPr>
              <a:t>Desarrollo local</a:t>
            </a:r>
            <a:br>
              <a:rPr sz="1600" dirty="0"/>
            </a:br>
            <a:r>
              <a:rPr lang="es-ES" sz="1400" b="0" i="0" strike="noStrike" cap="none" baseline="0" dirty="0">
                <a:solidFill>
                  <a:srgbClr val="808080"/>
                </a:solidFill>
                <a:effectLst/>
                <a:latin typeface="Segoe UI"/>
                <a:ea typeface="Segoe UI"/>
                <a:cs typeface="Segoe UI"/>
              </a:rPr>
              <a:t>Diseña y prueba agentes sin conexión antes</a:t>
            </a:r>
            <a:br>
              <a:rPr lang="es-ES" sz="1400" b="0" i="0" strike="noStrike" cap="none" baseline="0" dirty="0">
                <a:solidFill>
                  <a:srgbClr val="808080"/>
                </a:solidFill>
                <a:effectLst/>
                <a:latin typeface="Segoe UI"/>
                <a:ea typeface="Segoe UI"/>
                <a:cs typeface="Segoe UI"/>
              </a:rPr>
            </a:br>
            <a:r>
              <a:rPr lang="es-ES" sz="1400" b="0" i="0" strike="noStrike" cap="none" baseline="0" dirty="0">
                <a:solidFill>
                  <a:srgbClr val="808080"/>
                </a:solidFill>
                <a:effectLst/>
                <a:latin typeface="Segoe UI"/>
                <a:ea typeface="Segoe UI"/>
                <a:cs typeface="Segoe UI"/>
              </a:rPr>
              <a:t>de la implementación en Azure</a:t>
            </a:r>
            <a:endParaRPr lang="en-US"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BF23189A-8C36-C830-67B2-96B9FD1C1964}"/>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12" name="Group 11">
            <a:extLst>
              <a:ext uri="{FF2B5EF4-FFF2-40B4-BE49-F238E27FC236}">
                <a16:creationId xmlns:a16="http://schemas.microsoft.com/office/drawing/2014/main" id="{9A4B833E-08AB-0F52-A137-7B4D6839FF53}"/>
              </a:ext>
              <a:ext uri="{C183D7F6-B498-43B3-948B-1728B52AA6E4}">
                <adec:decorative xmlns:adec="http://schemas.microsoft.com/office/drawing/2017/decorative" val="1"/>
              </a:ext>
            </a:extLst>
          </p:cNvPr>
          <p:cNvGrpSpPr/>
          <p:nvPr/>
        </p:nvGrpSpPr>
        <p:grpSpPr>
          <a:xfrm>
            <a:off x="586390" y="1442945"/>
            <a:ext cx="548640" cy="548640"/>
            <a:chOff x="2558005" y="1190845"/>
            <a:chExt cx="914400" cy="914400"/>
          </a:xfrm>
        </p:grpSpPr>
        <p:sp>
          <p:nvSpPr>
            <p:cNvPr id="9" name="Oval 8">
              <a:extLst>
                <a:ext uri="{FF2B5EF4-FFF2-40B4-BE49-F238E27FC236}">
                  <a16:creationId xmlns:a16="http://schemas.microsoft.com/office/drawing/2014/main" id="{A9B5084B-B7CD-FB54-811E-B5FF55FC9446}"/>
                </a:ext>
              </a:extLst>
            </p:cNvPr>
            <p:cNvSpPr/>
            <p:nvPr/>
          </p:nvSpPr>
          <p:spPr bwMode="auto">
            <a:xfrm>
              <a:off x="2558005" y="1190845"/>
              <a:ext cx="914400" cy="9144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1" name="Graphic 10" descr="Browser window outline">
              <a:extLst>
                <a:ext uri="{FF2B5EF4-FFF2-40B4-BE49-F238E27FC236}">
                  <a16:creationId xmlns:a16="http://schemas.microsoft.com/office/drawing/2014/main" id="{1ACFFA8A-D7AE-55D3-32A1-969DA1388B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52028" y="1284868"/>
              <a:ext cx="726354" cy="726354"/>
            </a:xfrm>
            <a:prstGeom prst="rect">
              <a:avLst/>
            </a:prstGeom>
          </p:spPr>
        </p:pic>
      </p:grpSp>
      <p:sp>
        <p:nvSpPr>
          <p:cNvPr id="14" name="Oval 13">
            <a:extLst>
              <a:ext uri="{FF2B5EF4-FFF2-40B4-BE49-F238E27FC236}">
                <a16:creationId xmlns:a16="http://schemas.microsoft.com/office/drawing/2014/main" id="{A143ED69-AD14-16FE-69F2-5ABF968EE19F}"/>
              </a:ext>
              <a:ext uri="{C183D7F6-B498-43B3-948B-1728B52AA6E4}">
                <adec:decorative xmlns:adec="http://schemas.microsoft.com/office/drawing/2017/decorative" val="1"/>
              </a:ext>
            </a:extLst>
          </p:cNvPr>
          <p:cNvSpPr/>
          <p:nvPr/>
        </p:nvSpPr>
        <p:spPr bwMode="auto">
          <a:xfrm>
            <a:off x="6244220" y="1449909"/>
            <a:ext cx="548640" cy="54864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050">
              <a:gradFill>
                <a:gsLst>
                  <a:gs pos="0">
                    <a:srgbClr val="FFFFFF"/>
                  </a:gs>
                  <a:gs pos="100000">
                    <a:srgbClr val="FFFFFF"/>
                  </a:gs>
                </a:gsLst>
                <a:lin ang="5400000" scaled="0"/>
              </a:gradFill>
              <a:ea typeface="Segoe UI" pitchFamily="34" charset="0"/>
              <a:cs typeface="Segoe UI" pitchFamily="34" charset="0"/>
            </a:endParaRPr>
          </a:p>
        </p:txBody>
      </p:sp>
      <p:sp>
        <p:nvSpPr>
          <p:cNvPr id="16" name="TextBox 15">
            <a:extLst>
              <a:ext uri="{FF2B5EF4-FFF2-40B4-BE49-F238E27FC236}">
                <a16:creationId xmlns:a16="http://schemas.microsoft.com/office/drawing/2014/main" id="{79C00DAA-C6EB-1481-CDD5-AB6B2C1FA867}"/>
              </a:ext>
            </a:extLst>
          </p:cNvPr>
          <p:cNvSpPr txBox="1"/>
          <p:nvPr/>
        </p:nvSpPr>
        <p:spPr>
          <a:xfrm>
            <a:off x="6337400" y="1594155"/>
            <a:ext cx="362279" cy="246221"/>
          </a:xfrm>
          <a:prstGeom prst="rect">
            <a:avLst/>
          </a:prstGeom>
          <a:noFill/>
        </p:spPr>
        <p:txBody>
          <a:bodyPr wrap="none" lIns="0" tIns="0" rIns="0" bIns="0" rtlCol="0">
            <a:spAutoFit/>
          </a:bodyPr>
          <a:lstStyle/>
          <a:p>
            <a:pPr algn="l"/>
            <a:r>
              <a:rPr lang="en-US" sz="1600">
                <a:solidFill>
                  <a:schemeClr val="bg1"/>
                </a:solidFill>
              </a:rPr>
              <a:t>&lt;/&gt;</a:t>
            </a:r>
          </a:p>
        </p:txBody>
      </p:sp>
      <p:sp>
        <p:nvSpPr>
          <p:cNvPr id="17" name="Text Placeholder 5">
            <a:extLst>
              <a:ext uri="{FF2B5EF4-FFF2-40B4-BE49-F238E27FC236}">
                <a16:creationId xmlns:a16="http://schemas.microsoft.com/office/drawing/2014/main" id="{D8306866-220A-3428-A458-973B38B29091}"/>
              </a:ext>
            </a:extLst>
          </p:cNvPr>
          <p:cNvSpPr txBox="1"/>
          <p:nvPr/>
        </p:nvSpPr>
        <p:spPr>
          <a:xfrm>
            <a:off x="6886040" y="1449909"/>
            <a:ext cx="4530685" cy="792480"/>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sz="16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s-ES" sz="2000" b="0" i="0" strike="noStrike" cap="none" baseline="0">
                <a:solidFill>
                  <a:srgbClr val="BF3AC4"/>
                </a:solidFill>
                <a:effectLst/>
                <a:latin typeface="Segoe UI Semibold"/>
                <a:ea typeface="Segoe UI Semibold"/>
                <a:cs typeface="Segoe UI Semibold"/>
              </a:rPr>
              <a:t>Visual Studio Code</a:t>
            </a:r>
          </a:p>
          <a:p>
            <a:r>
              <a:rPr lang="es-ES" sz="1600" b="0" i="0" strike="noStrike" cap="none" baseline="0">
                <a:solidFill>
                  <a:srgbClr val="808080"/>
                </a:solidFill>
                <a:effectLst/>
                <a:latin typeface="Segoe UI"/>
                <a:ea typeface="Segoe UI"/>
                <a:cs typeface="Segoe UI"/>
              </a:rPr>
              <a:t>Centrado en el desarrollador, de código integrado, compatible con Git</a:t>
            </a:r>
          </a:p>
        </p:txBody>
      </p:sp>
      <p:sp>
        <p:nvSpPr>
          <p:cNvPr id="18" name="RetrievalCard">
            <a:extLst>
              <a:ext uri="{FF2B5EF4-FFF2-40B4-BE49-F238E27FC236}">
                <a16:creationId xmlns:a16="http://schemas.microsoft.com/office/drawing/2014/main" id="{F44C0644-EE7B-0C16-C90C-E32B02B33D3C}"/>
              </a:ext>
            </a:extLst>
          </p:cNvPr>
          <p:cNvSpPr/>
          <p:nvPr/>
        </p:nvSpPr>
        <p:spPr>
          <a:xfrm>
            <a:off x="586390" y="5404301"/>
            <a:ext cx="11009410" cy="377168"/>
          </a:xfrm>
          <a:prstGeom prst="roundRect">
            <a:avLst>
              <a:gd name="adj" fmla="val 12000"/>
            </a:avLst>
          </a:prstGeom>
          <a:solidFill>
            <a:srgbClr val="F8F8F8"/>
          </a:solidFill>
          <a:ln w="9525">
            <a:solidFill>
              <a:srgbClr val="DEDEDE"/>
            </a:solidFill>
          </a:ln>
        </p:spPr>
        <p:txBody>
          <a:bodyPr anchor="ctr"/>
          <a:lstStyle/>
          <a:p>
            <a:r>
              <a:rPr lang="es-ES" sz="1300" b="1" i="0" strike="noStrike" cap="none" baseline="0" dirty="0">
                <a:solidFill>
                  <a:srgbClr val="000000"/>
                </a:solidFill>
                <a:effectLst/>
                <a:latin typeface="Segoe UI"/>
                <a:ea typeface="Segoe UI"/>
                <a:cs typeface="Segoe UI"/>
              </a:rPr>
              <a:t>Muchos equipos usan ambos: </a:t>
            </a:r>
            <a:r>
              <a:rPr lang="es-ES" sz="1300" b="0" i="0" strike="noStrike" cap="none" baseline="0" dirty="0">
                <a:solidFill>
                  <a:srgbClr val="000000"/>
                </a:solidFill>
                <a:effectLst/>
                <a:latin typeface="Segoe UI"/>
                <a:ea typeface="Segoe UI"/>
                <a:cs typeface="Segoe UI"/>
              </a:rPr>
              <a:t>el portal de </a:t>
            </a:r>
            <a:r>
              <a:rPr lang="es-ES" sz="1300" b="0" i="0" strike="noStrike" cap="none" baseline="0" dirty="0" err="1">
                <a:solidFill>
                  <a:srgbClr val="000000"/>
                </a:solidFill>
                <a:effectLst/>
                <a:latin typeface="Segoe UI"/>
                <a:ea typeface="Segoe UI"/>
                <a:cs typeface="Segoe UI"/>
              </a:rPr>
              <a:t>Foundry</a:t>
            </a:r>
            <a:r>
              <a:rPr lang="es-ES" sz="1300" b="0" i="0" strike="noStrike" cap="none" baseline="0" dirty="0">
                <a:solidFill>
                  <a:srgbClr val="000000"/>
                </a:solidFill>
                <a:effectLst/>
                <a:latin typeface="Segoe UI"/>
                <a:ea typeface="Segoe UI"/>
                <a:cs typeface="Segoe UI"/>
              </a:rPr>
              <a:t> para la exploración inicial y las revisiones, y VS Code para implementaciones detalladas</a:t>
            </a:r>
            <a:br>
              <a:rPr lang="es-ES" sz="1300" b="0" i="0" strike="noStrike" cap="none" baseline="0" dirty="0">
                <a:solidFill>
                  <a:srgbClr val="000000"/>
                </a:solidFill>
                <a:effectLst/>
                <a:latin typeface="Segoe UI"/>
                <a:ea typeface="Segoe UI"/>
                <a:cs typeface="Segoe UI"/>
              </a:rPr>
            </a:br>
            <a:r>
              <a:rPr lang="es-ES" sz="1300" b="0" i="0" strike="noStrike" cap="none" baseline="0" dirty="0">
                <a:solidFill>
                  <a:srgbClr val="000000"/>
                </a:solidFill>
                <a:effectLst/>
                <a:latin typeface="Segoe UI"/>
                <a:ea typeface="Segoe UI"/>
                <a:cs typeface="Segoe UI"/>
              </a:rPr>
              <a:t>de desarrollo y producción.</a:t>
            </a:r>
          </a:p>
        </p:txBody>
      </p:sp>
      <p:cxnSp>
        <p:nvCxnSpPr>
          <p:cNvPr id="20" name="Straight Connector 19">
            <a:extLst>
              <a:ext uri="{FF2B5EF4-FFF2-40B4-BE49-F238E27FC236}">
                <a16:creationId xmlns:a16="http://schemas.microsoft.com/office/drawing/2014/main" id="{7DF6BB29-95CD-37B0-A3DD-E1D382B2635D}"/>
              </a:ext>
              <a:ext uri="{C183D7F6-B498-43B3-948B-1728B52AA6E4}">
                <adec:decorative xmlns:adec="http://schemas.microsoft.com/office/drawing/2017/decorative" val="1"/>
              </a:ext>
            </a:extLst>
          </p:cNvPr>
          <p:cNvCxnSpPr/>
          <p:nvPr/>
        </p:nvCxnSpPr>
        <p:spPr>
          <a:xfrm flipH="1">
            <a:off x="5644584" y="1449909"/>
            <a:ext cx="0" cy="3761316"/>
          </a:xfrm>
          <a:prstGeom prst="line">
            <a:avLst/>
          </a:prstGeom>
          <a:ln>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CFCDAC7-DB2E-2796-3BD6-E09FB85AE9D9}"/>
              </a:ext>
            </a:extLst>
          </p:cNvPr>
          <p:cNvSpPr txBox="1"/>
          <p:nvPr/>
        </p:nvSpPr>
        <p:spPr>
          <a:xfrm>
            <a:off x="5289222" y="3170778"/>
            <a:ext cx="713502" cy="246278"/>
          </a:xfrm>
          <a:prstGeom prst="rect">
            <a:avLst/>
          </a:prstGeom>
          <a:solidFill>
            <a:schemeClr val="bg1"/>
          </a:solidFill>
        </p:spPr>
        <p:txBody>
          <a:bodyPr wrap="none" lIns="0" tIns="0" rIns="0" bIns="0" rtlCol="0">
            <a:spAutoFit/>
          </a:bodyPr>
          <a:lstStyle/>
          <a:p>
            <a:pPr algn="l"/>
            <a:r>
              <a:rPr lang="es-ES" sz="1600" b="0" i="0" strike="noStrike" cap="none" baseline="0" dirty="0">
                <a:solidFill>
                  <a:srgbClr val="404040"/>
                </a:solidFill>
                <a:effectLst/>
                <a:latin typeface="Segoe UI"/>
                <a:ea typeface="Segoe UI"/>
                <a:cs typeface="Segoe UI"/>
              </a:rPr>
              <a:t>O BIEN</a:t>
            </a:r>
          </a:p>
        </p:txBody>
      </p:sp>
    </p:spTree>
    <p:extLst>
      <p:ext uri="{BB962C8B-B14F-4D97-AF65-F5344CB8AC3E}">
        <p14:creationId xmlns:p14="http://schemas.microsoft.com/office/powerpoint/2010/main" val="340699638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8410A5-750F-4F69-7BF1-0BCF5261F975}"/>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6229351" cy="609600"/>
          </a:xfrm>
        </p:spPr>
        <p:txBody>
          <a:bodyPr/>
          <a:lstStyle/>
          <a:p>
            <a:r>
              <a:rPr lang="es-ES" sz="2000" b="0" i="0" strike="noStrike" cap="none" baseline="0" dirty="0">
                <a:solidFill>
                  <a:srgbClr val="000000"/>
                </a:solidFill>
                <a:effectLst/>
                <a:latin typeface="Segoe UI Semibold"/>
                <a:ea typeface="Segoe UI Semibold"/>
                <a:cs typeface="Segoe UI Semibold"/>
              </a:rPr>
              <a:t>Creación de agentes de IA con el portal y VS Code</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365504"/>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esta demostración, verás cómo hacer lo siguiente:</a:t>
            </a:r>
          </a:p>
          <a:p>
            <a:r>
              <a:rPr lang="es-ES" sz="1600" b="0" i="0" strike="noStrike" cap="none" baseline="0" dirty="0">
                <a:solidFill>
                  <a:srgbClr val="000000"/>
                </a:solidFill>
                <a:effectLst/>
                <a:latin typeface="Segoe UI"/>
                <a:ea typeface="Segoe UI"/>
                <a:cs typeface="Segoe UI"/>
              </a:rPr>
              <a:t>Creación de agentes de IA en el portal de Microsoft </a:t>
            </a:r>
            <a:r>
              <a:rPr lang="es-ES" sz="1600" b="0" i="0" strike="noStrike" cap="none" baseline="0" dirty="0" err="1">
                <a:solidFill>
                  <a:srgbClr val="000000"/>
                </a:solidFill>
                <a:effectLst/>
                <a:latin typeface="Segoe UI"/>
                <a:ea typeface="Segoe UI"/>
                <a:cs typeface="Segoe UI"/>
              </a:rPr>
              <a:t>Foundry</a:t>
            </a:r>
            <a:endParaRPr lang="es-ES" sz="1600" b="0" i="0" strike="noStrike" cap="none" baseline="0" dirty="0">
              <a:solidFill>
                <a:srgbClr val="000000"/>
              </a:solidFill>
              <a:effectLst/>
              <a:latin typeface="Segoe UI"/>
              <a:ea typeface="Segoe UI"/>
              <a:cs typeface="Segoe UI"/>
            </a:endParaRPr>
          </a:p>
          <a:p>
            <a:r>
              <a:rPr lang="es-ES" sz="1600" b="0" i="0" strike="noStrike" cap="none" baseline="0" dirty="0">
                <a:solidFill>
                  <a:srgbClr val="000000"/>
                </a:solidFill>
                <a:effectLst/>
                <a:latin typeface="Segoe UI"/>
                <a:ea typeface="Segoe UI"/>
                <a:cs typeface="Segoe UI"/>
              </a:rPr>
              <a:t>Interacción con tu agente mediante VS Code</a:t>
            </a:r>
          </a:p>
          <a:p>
            <a:endParaRPr lang="en-US" dirty="0"/>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strike="noStrike" cap="none" baseline="0">
                <a:solidFill>
                  <a:srgbClr val="000000"/>
                </a:solidFill>
                <a:effectLst/>
                <a:latin typeface="Segoe UI"/>
                <a:ea typeface="Segoe UI"/>
                <a:cs typeface="Segoe UI"/>
                <a:hlinkClick r:id="rId4" history="0"/>
              </a:rPr>
              <a:t>https://go.microsoft.com/fwlink/?linkid=2352649</a:t>
            </a:r>
            <a:r>
              <a:rPr lang="es-ES" sz="1600" b="0" i="0" strike="noStrike" cap="none" baseline="0">
                <a:solidFill>
                  <a:srgbClr val="000000"/>
                </a:solidFill>
                <a:effectLst/>
                <a:latin typeface="Segoe UI"/>
                <a:ea typeface="Segoe UI"/>
                <a:cs typeface="Segoe UI"/>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14930760"/>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2230542"/>
            <a:ext cx="8778782" cy="426720"/>
          </a:xfrm>
        </p:spPr>
        <p:txBody>
          <a:bodyPr/>
          <a:lstStyle/>
          <a:p>
            <a:r>
              <a:rPr lang="es-ES" sz="1400" b="1" i="0" strike="noStrike" cap="none" baseline="0" dirty="0">
                <a:solidFill>
                  <a:srgbClr val="000000"/>
                </a:solidFill>
                <a:effectLst/>
                <a:latin typeface="Segoe UI Semibold"/>
                <a:ea typeface="Segoe UI Semibold"/>
                <a:cs typeface="Segoe UI Semibold"/>
              </a:rPr>
              <a:t>¿Cuál es la principal ventaja del uso de Microsoft </a:t>
            </a:r>
            <a:r>
              <a:rPr lang="es-ES" sz="1400" b="1" i="0" strike="noStrike" cap="none" baseline="0" dirty="0" err="1">
                <a:solidFill>
                  <a:srgbClr val="000000"/>
                </a:solidFill>
                <a:effectLst/>
                <a:latin typeface="Segoe UI Semibold"/>
                <a:ea typeface="Segoe UI Semibold"/>
                <a:cs typeface="Segoe UI Semibold"/>
              </a:rPr>
              <a:t>Foundry</a:t>
            </a:r>
            <a:r>
              <a:rPr lang="es-ES" sz="1400" b="1" i="0" strike="noStrike" cap="none" baseline="0" dirty="0">
                <a:solidFill>
                  <a:srgbClr val="000000"/>
                </a:solidFill>
                <a:effectLst/>
                <a:latin typeface="Segoe UI Semibold"/>
                <a:ea typeface="Segoe UI Semibold"/>
                <a:cs typeface="Segoe UI Semibold"/>
              </a:rPr>
              <a:t> Agent Service con respecto a la creación</a:t>
            </a:r>
            <a:br>
              <a:rPr lang="es-ES" sz="1400" b="1" i="0" strike="noStrike" cap="none" baseline="0" dirty="0">
                <a:solidFill>
                  <a:srgbClr val="000000"/>
                </a:solidFill>
                <a:effectLst/>
                <a:latin typeface="Segoe UI Semibold"/>
                <a:ea typeface="Segoe UI Semibold"/>
                <a:cs typeface="Segoe UI Semibold"/>
              </a:rPr>
            </a:br>
            <a:r>
              <a:rPr lang="es-ES" sz="1400" b="1" i="0" strike="noStrike" cap="none" baseline="0" dirty="0">
                <a:solidFill>
                  <a:srgbClr val="000000"/>
                </a:solidFill>
                <a:effectLst/>
                <a:latin typeface="Segoe UI Semibold"/>
                <a:ea typeface="Segoe UI Semibold"/>
                <a:cs typeface="Segoe UI Semibold"/>
              </a:rPr>
              <a:t>de agentes con API estándar?</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680037"/>
            <a:ext cx="8579485" cy="1194816"/>
          </a:xfrm>
          <a:noFill/>
        </p:spPr>
        <p:txBody>
          <a:bodyPr/>
          <a:lstStyle/>
          <a:p>
            <a:r>
              <a:rPr lang="es-ES" sz="1400" b="0" i="0" strike="noStrike" cap="none" baseline="0" dirty="0">
                <a:solidFill>
                  <a:srgbClr val="000000"/>
                </a:solidFill>
                <a:effectLst/>
                <a:latin typeface="Segoe UI"/>
                <a:ea typeface="Segoe UI"/>
                <a:cs typeface="Segoe UI"/>
              </a:rPr>
              <a:t>Proporciona acceso a modelos de IA más potentes </a:t>
            </a:r>
            <a:endParaRPr lang="en-US" dirty="0"/>
          </a:p>
          <a:p>
            <a:r>
              <a:rPr lang="es-ES" sz="1400" b="0" i="0" strike="noStrike" cap="none" baseline="0" dirty="0">
                <a:solidFill>
                  <a:srgbClr val="000000"/>
                </a:solidFill>
                <a:effectLst/>
                <a:latin typeface="Segoe UI"/>
                <a:ea typeface="Segoe UI"/>
                <a:cs typeface="Segoe UI"/>
              </a:rPr>
              <a:t>No requiere suscripción a Azure </a:t>
            </a:r>
            <a:endParaRPr lang="en-US" dirty="0"/>
          </a:p>
          <a:p>
            <a:r>
              <a:rPr lang="es-ES" sz="1400" b="0" i="0" strike="noStrike" cap="none" baseline="0" dirty="0">
                <a:solidFill>
                  <a:srgbClr val="000000"/>
                </a:solidFill>
                <a:effectLst/>
                <a:latin typeface="Segoe UI"/>
                <a:ea typeface="Segoe UI"/>
                <a:cs typeface="Segoe UI"/>
              </a:rPr>
              <a:t>Se encarga de gestionar automáticamente las llamadas a herramientas, la administración de estado</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y la infraestructura. </a:t>
            </a:r>
            <a:endParaRPr lang="en-US" dirty="0"/>
          </a:p>
          <a:p>
            <a:r>
              <a:rPr lang="es-ES" sz="1400" b="0" i="0" strike="noStrike" cap="none" baseline="0" dirty="0">
                <a:solidFill>
                  <a:srgbClr val="000000"/>
                </a:solidFill>
                <a:effectLst/>
                <a:latin typeface="Segoe UI"/>
                <a:ea typeface="Segoe UI"/>
                <a:cs typeface="Segoe UI"/>
              </a:rPr>
              <a:t>Solo funciona con Azure Portal</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4034002"/>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¿Cómo controla Microsoft Foundry Agent Service el estado de la conversación?</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4267495"/>
            <a:ext cx="8775098" cy="1194816"/>
          </a:xfrm>
        </p:spPr>
        <p:txBody>
          <a:bodyPr/>
          <a:lstStyle/>
          <a:p>
            <a:r>
              <a:rPr lang="es-ES" sz="1400" b="0" i="0" strike="noStrike" cap="none" baseline="0" dirty="0">
                <a:solidFill>
                  <a:srgbClr val="000000"/>
                </a:solidFill>
                <a:effectLst/>
                <a:latin typeface="Segoe UI"/>
                <a:ea typeface="Segoe UI"/>
                <a:cs typeface="Segoe UI"/>
              </a:rPr>
              <a:t>Exigiendo a los desarrolladores que administren manualmente el historial de conversaciones </a:t>
            </a:r>
          </a:p>
          <a:p>
            <a:r>
              <a:rPr lang="es-ES" sz="1400" b="0" i="0" strike="noStrike" cap="none" baseline="0" dirty="0">
                <a:solidFill>
                  <a:srgbClr val="000000"/>
                </a:solidFill>
                <a:effectLst/>
                <a:latin typeface="Segoe UI"/>
                <a:ea typeface="Segoe UI"/>
                <a:cs typeface="Segoe UI"/>
              </a:rPr>
              <a:t>A través de conexiones de base de datos externas </a:t>
            </a:r>
          </a:p>
          <a:p>
            <a:r>
              <a:rPr lang="es-ES" sz="1400" b="0" i="0" strike="noStrike" cap="none" baseline="0" dirty="0">
                <a:solidFill>
                  <a:srgbClr val="000000"/>
                </a:solidFill>
                <a:effectLst/>
                <a:latin typeface="Segoe UI"/>
                <a:ea typeface="Segoe UI"/>
                <a:cs typeface="Segoe UI"/>
              </a:rPr>
              <a:t>A través de la API de respuestas que administra de forma automática el contexto de la conversación </a:t>
            </a:r>
          </a:p>
          <a:p>
            <a:r>
              <a:rPr lang="es-ES" sz="1400" b="0" i="0" strike="noStrike" cap="none" baseline="0" dirty="0">
                <a:solidFill>
                  <a:srgbClr val="000000"/>
                </a:solidFill>
                <a:effectLst/>
                <a:latin typeface="Segoe UI"/>
                <a:ea typeface="Segoe UI"/>
                <a:cs typeface="Segoe UI"/>
              </a:rPr>
              <a:t>Mediante el uso del almacenamiento de archivos local en el dispositivo del cliente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p:nvPr/>
        </p:nvSpPr>
        <p:spPr bwMode="auto">
          <a:xfrm>
            <a:off x="722582" y="39836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p:nvPr/>
        </p:nvSpPr>
        <p:spPr>
          <a:xfrm>
            <a:off x="1263852" y="32175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
        <p:nvSpPr>
          <p:cNvPr id="5" name="Graphic 26">
            <a:extLst>
              <a:ext uri="{FF2B5EF4-FFF2-40B4-BE49-F238E27FC236}">
                <a16:creationId xmlns:a16="http://schemas.microsoft.com/office/drawing/2014/main" id="{1BC2DADB-2D77-0412-4D5B-67A9AEB8C86A}"/>
              </a:ext>
              <a:ext uri="{C183D7F6-B498-43B3-948B-1728B52AA6E4}">
                <adec:decorative xmlns:adec="http://schemas.microsoft.com/office/drawing/2017/decorative" val="1"/>
              </a:ext>
            </a:extLst>
          </p:cNvPr>
          <p:cNvSpPr/>
          <p:nvPr/>
        </p:nvSpPr>
        <p:spPr>
          <a:xfrm>
            <a:off x="1254460" y="479791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3253084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AF6C784-AA2B-54CE-A5D4-C5B6544A065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Tree>
    <p:extLst>
      <p:ext uri="{BB962C8B-B14F-4D97-AF65-F5344CB8AC3E}">
        <p14:creationId xmlns:p14="http://schemas.microsoft.com/office/powerpoint/2010/main" val="259232178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2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E32D07151C35047978CBB2C9B85873C" ma:contentTypeVersion="12" ma:contentTypeDescription="Create a new document." ma:contentTypeScope="" ma:versionID="3534ca723f0afde11e2a11eecba4c346">
  <xsd:schema xmlns:xsd="http://www.w3.org/2001/XMLSchema" xmlns:xs="http://www.w3.org/2001/XMLSchema" xmlns:p="http://schemas.microsoft.com/office/2006/metadata/properties" xmlns:ns1="http://schemas.microsoft.com/sharepoint/v3" xmlns:ns2="65939125-e560-4c0d-b0c5-36d0cbbdefe7" xmlns:ns3="e9b40ee8-a410-479f-a3f0-3e55b31bc197" targetNamespace="http://schemas.microsoft.com/office/2006/metadata/properties" ma:root="true" ma:fieldsID="f016192c923787f1dfe767fe6eb19d52" ns1:_="" ns2:_="" ns3:_="">
    <xsd:import namespace="http://schemas.microsoft.com/sharepoint/v3"/>
    <xsd:import namespace="65939125-e560-4c0d-b0c5-36d0cbbdefe7"/>
    <xsd:import namespace="e9b40ee8-a410-479f-a3f0-3e55b31bc19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939125-e560-4c0d-b0c5-36d0cbbdefe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b40ee8-a410-479f-a3f0-3e55b31bc19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0ae8649e-307b-442d-9f75-1cd1fb9eba4e}" ma:internalName="TaxCatchAll" ma:showField="CatchAllData" ma:web="e9b40ee8-a410-479f-a3f0-3e55b31bc1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5939125-e560-4c0d-b0c5-36d0cbbdefe7">
      <Terms xmlns="http://schemas.microsoft.com/office/infopath/2007/PartnerControls"/>
    </lcf76f155ced4ddcb4097134ff3c332f>
    <TaxCatchAll xmlns="e9b40ee8-a410-479f-a3f0-3e55b31bc197"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BE6BE5F-0F3E-4688-943B-6A75B88CACC0}">
  <ds:schemaRefs>
    <ds:schemaRef ds:uri="http://schemas.microsoft.com/sharepoint/v3/contenttype/forms"/>
  </ds:schemaRefs>
</ds:datastoreItem>
</file>

<file path=customXml/itemProps2.xml><?xml version="1.0" encoding="utf-8"?>
<ds:datastoreItem xmlns:ds="http://schemas.openxmlformats.org/officeDocument/2006/customXml" ds:itemID="{28683044-9CCF-49C2-86EF-175FB3A95D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5939125-e560-4c0d-b0c5-36d0cbbdefe7"/>
    <ds:schemaRef ds:uri="e9b40ee8-a410-479f-a3f0-3e55b31bc1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F4CE68-A85E-4373-86D0-F40255719C5F}">
  <ds:schemaRefs>
    <ds:schemaRef ds:uri="http://schemas.openxmlformats.org/package/2006/metadata/core-properties"/>
    <ds:schemaRef ds:uri="http://purl.org/dc/elements/1.1/"/>
    <ds:schemaRef ds:uri="65939125-e560-4c0d-b0c5-36d0cbbdefe7"/>
    <ds:schemaRef ds:uri="http://www.w3.org/XML/1998/namespace"/>
    <ds:schemaRef ds:uri="http://schemas.microsoft.com/sharepoint/v3"/>
    <ds:schemaRef ds:uri="http://schemas.microsoft.com/office/infopath/2007/PartnerControls"/>
    <ds:schemaRef ds:uri="http://schemas.microsoft.com/office/2006/documentManagement/types"/>
    <ds:schemaRef ds:uri="http://purl.org/dc/dcmitype/"/>
    <ds:schemaRef ds:uri="e9b40ee8-a410-479f-a3f0-3e55b31bc197"/>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12041</Words>
  <Application>Microsoft Office PowerPoint</Application>
  <PresentationFormat>Widescreen</PresentationFormat>
  <Paragraphs>1251</Paragraphs>
  <Slides>59</Slides>
  <Notes>53</Notes>
  <HiddenSlides>6</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59</vt:i4>
      </vt:variant>
    </vt:vector>
  </HeadingPairs>
  <TitlesOfParts>
    <vt:vector size="75" baseType="lpstr">
      <vt:lpstr>System Font Regular</vt:lpstr>
      <vt:lpstr>Abadi</vt:lpstr>
      <vt:lpstr>Aptos</vt:lpstr>
      <vt:lpstr>Arial</vt:lpstr>
      <vt:lpstr>Cambria Math</vt:lpstr>
      <vt:lpstr>Cascadia Code Light</vt:lpstr>
      <vt:lpstr>Consolas</vt:lpstr>
      <vt:lpstr>Courier New</vt:lpstr>
      <vt:lpstr>Segoe UI</vt:lpstr>
      <vt:lpstr>Segoe UI Black</vt:lpstr>
      <vt:lpstr>Segoe UI Light</vt:lpstr>
      <vt:lpstr>Segoe UI Semibold</vt:lpstr>
      <vt:lpstr>Wingdings</vt:lpstr>
      <vt:lpstr>1_LIGHT MODE</vt:lpstr>
      <vt:lpstr>LIGHT MODE</vt:lpstr>
      <vt:lpstr>2_LIGHT MODE</vt:lpstr>
      <vt:lpstr>Desarrollo de aplicaciones de IA generativa en Azure</vt:lpstr>
      <vt:lpstr>Cargas de trabajo de inteligencia artificial</vt:lpstr>
      <vt:lpstr>Nuestro enfoque actual</vt:lpstr>
      <vt:lpstr>Planificación y preparación para desarrollar soluciones de inteligencia artificial en Azure</vt:lpstr>
      <vt:lpstr>Microsoft Foundry</vt:lpstr>
      <vt:lpstr>Foundry Tools</vt:lpstr>
      <vt:lpstr>Herramientas y SDK para desarrolladores</vt:lpstr>
      <vt:lpstr>Principios de IA responsable</vt:lpstr>
      <vt:lpstr>Ejercicio</vt:lpstr>
      <vt:lpstr>Prueba de conocimientos</vt:lpstr>
      <vt:lpstr>Selección, implementación y evaluación de modelos de Microsoft Foundry</vt:lpstr>
      <vt:lpstr>Explorar el catálogo de modelos</vt:lpstr>
      <vt:lpstr>Selección de modelos mediante pruebas comparativas</vt:lpstr>
      <vt:lpstr>Implementación de modelos en puntos de conexión</vt:lpstr>
      <vt:lpstr>Evaluación del rendimiento del modelo</vt:lpstr>
      <vt:lpstr>Ejercicio</vt:lpstr>
      <vt:lpstr>Prueba de conocimientos</vt:lpstr>
      <vt:lpstr>Desarrollo de una aplicación de chat de IA generativa con Microsoft Foundry</vt:lpstr>
      <vt:lpstr>Explorar con el servicio de prueba de modelos</vt:lpstr>
      <vt:lpstr>Elección de un punto de conexión y un SDK</vt:lpstr>
      <vt:lpstr>Comparación de ChatCompletions con la API de respuestas</vt:lpstr>
      <vt:lpstr>Comparación del patrón de código por turno</vt:lpstr>
      <vt:lpstr>Using the Responses API</vt:lpstr>
      <vt:lpstr>Using the ChatCompletions API</vt:lpstr>
      <vt:lpstr>Ejercicio</vt:lpstr>
      <vt:lpstr>Prueba de conocimientos</vt:lpstr>
      <vt:lpstr>Desarrollo de aplicaciones de IA generativas que usan herramientas</vt:lpstr>
      <vt:lpstr>¿Qué son las herramientas?</vt:lpstr>
      <vt:lpstr>Uso de la herramienta code_interpreter</vt:lpstr>
      <vt:lpstr>Uso de la herramienta web_search </vt:lpstr>
      <vt:lpstr>Uso de la herramienta file_search</vt:lpstr>
      <vt:lpstr>Uso de la herramienta de función</vt:lpstr>
      <vt:lpstr>Using the code_interpreter tool</vt:lpstr>
      <vt:lpstr>Using the web_search tool</vt:lpstr>
      <vt:lpstr>Using the file_search tool</vt:lpstr>
      <vt:lpstr>Using the function tool</vt:lpstr>
      <vt:lpstr>Ejercicio</vt:lpstr>
      <vt:lpstr>Prueba de conocimientos</vt:lpstr>
      <vt:lpstr>Optimización del rendimiento del modelo de IA generativa con Microsoft Foundry</vt:lpstr>
      <vt:lpstr>Optimización del rendimiento del modelo</vt:lpstr>
      <vt:lpstr>Ingeniería rápida</vt:lpstr>
      <vt:lpstr>Basar su modelo en la generación aumentada de recuperación</vt:lpstr>
      <vt:lpstr>Ajuste de un modelo para un comportamiento coherente</vt:lpstr>
      <vt:lpstr>Prueba de conocimientos</vt:lpstr>
      <vt:lpstr>Implementar una solución de IA generativa responsable en Microsoft Foundry</vt:lpstr>
      <vt:lpstr>Planeamiento de una solución de inteligencia artificial generativa responsable</vt:lpstr>
      <vt:lpstr>Límites de protección</vt:lpstr>
      <vt:lpstr>Ejercicio</vt:lpstr>
      <vt:lpstr>Prueba de conocimientos</vt:lpstr>
      <vt:lpstr>Desarrollo de agentes de IA con Microsoft Foundry y Visual Studio Code</vt:lpstr>
      <vt:lpstr>Comprensión de agentes de IA</vt:lpstr>
      <vt:lpstr>Comprensión de agentes de IA</vt:lpstr>
      <vt:lpstr>Por qué son útiles los agentes</vt:lpstr>
      <vt:lpstr>Casos de uso del agente de IA</vt:lpstr>
      <vt:lpstr>Flujo de trabajo de desarrollo típico</vt:lpstr>
      <vt:lpstr>Elige tu estrategia de desarrollo</vt:lpstr>
      <vt:lpstr>Ejercicio</vt:lpstr>
      <vt:lpstr>Prueba de conocimientos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2023-08-17T11:36:13Z</dcterms:created>
  <dcterms:modified xsi:type="dcterms:W3CDTF">2026-05-26T07:07:54Z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policyId">
    <vt:lpwstr>0x01010070AB3889E58DB141A6E1281B02136174|-369733750</vt:lpwstr>
  </property>
  <property fmtid="{D5CDD505-2E9C-101B-9397-08002B2CF9AE}" pid="3" name="Audience">
    <vt:lpwstr/>
  </property>
  <property fmtid="{D5CDD505-2E9C-101B-9397-08002B2CF9AE}" pid="4" name="Campaign">
    <vt:lpwstr/>
  </property>
  <property fmtid="{D5CDD505-2E9C-101B-9397-08002B2CF9AE}" pid="5" name="ContentTypeId">
    <vt:lpwstr>0x0101002E32D07151C35047978CBB2C9B85873C</vt:lpwstr>
  </property>
  <property fmtid="{D5CDD505-2E9C-101B-9397-08002B2CF9AE}" pid="6" name="Event Location">
    <vt:lpwstr/>
  </property>
  <property fmtid="{D5CDD505-2E9C-101B-9397-08002B2CF9AE}" pid="7" name="Event Venue">
    <vt:lpwstr/>
  </property>
  <property fmtid="{D5CDD505-2E9C-101B-9397-08002B2CF9AE}" pid="8" name="Event1">
    <vt:lpwstr>622;#Unassigned|2c8af875-f38a-40b8-a0a9-056aed3fc8c0</vt:lpwstr>
  </property>
  <property fmtid="{D5CDD505-2E9C-101B-9397-08002B2CF9AE}" pid="9" name="IsMyDocuments">
    <vt:bool>true</vt:bool>
  </property>
  <property fmtid="{D5CDD505-2E9C-101B-9397-08002B2CF9AE}" pid="10"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1" name="MediaServiceImageTags">
    <vt:lpwstr/>
  </property>
  <property fmtid="{D5CDD505-2E9C-101B-9397-08002B2CF9AE}" pid="12" name="MSIP_Label_f42aa342-8706-4288-bd11-ebb85995028c_Application">
    <vt:lpwstr>Microsoft Azure Information Protection</vt:lpwstr>
  </property>
  <property fmtid="{D5CDD505-2E9C-101B-9397-08002B2CF9AE}" pid="13" name="MSIP_Label_f42aa342-8706-4288-bd11-ebb85995028c_Enabled">
    <vt:lpwstr>True</vt:lpwstr>
  </property>
  <property fmtid="{D5CDD505-2E9C-101B-9397-08002B2CF9AE}" pid="14" name="MSIP_Label_f42aa342-8706-4288-bd11-ebb85995028c_Extended_MSFT_Method">
    <vt:lpwstr>Automatic</vt:lpwstr>
  </property>
  <property fmtid="{D5CDD505-2E9C-101B-9397-08002B2CF9AE}" pid="15" name="MSIP_Label_f42aa342-8706-4288-bd11-ebb85995028c_Name">
    <vt:lpwstr>General</vt:lpwstr>
  </property>
  <property fmtid="{D5CDD505-2E9C-101B-9397-08002B2CF9AE}" pid="16" name="MSIP_Label_f42aa342-8706-4288-bd11-ebb85995028c_Owner">
    <vt:lpwstr>maryfj@microsoft.com</vt:lpwstr>
  </property>
  <property fmtid="{D5CDD505-2E9C-101B-9397-08002B2CF9AE}" pid="17" name="MSIP_Label_f42aa342-8706-4288-bd11-ebb85995028c_Ref">
    <vt:lpwstr>https://api.informationprotection.azure.com/api/72f988bf-86f1-41af-91ab-2d7cd011db47</vt:lpwstr>
  </property>
  <property fmtid="{D5CDD505-2E9C-101B-9397-08002B2CF9AE}" pid="18" name="MSIP_Label_f42aa342-8706-4288-bd11-ebb85995028c_SetDate">
    <vt:lpwstr>2017-08-29T14:27:20.8568347-07:00</vt:lpwstr>
  </property>
  <property fmtid="{D5CDD505-2E9C-101B-9397-08002B2CF9AE}" pid="19" name="MSIP_Label_f42aa342-8706-4288-bd11-ebb85995028c_SiteId">
    <vt:lpwstr>72f988bf-86f1-41af-91ab-2d7cd011db47</vt:lpwstr>
  </property>
  <property fmtid="{D5CDD505-2E9C-101B-9397-08002B2CF9AE}" pid="20" name="Product">
    <vt:lpwstr/>
  </property>
  <property fmtid="{D5CDD505-2E9C-101B-9397-08002B2CF9AE}" pid="21" name="Sensitivity">
    <vt:lpwstr>General</vt:lpwstr>
  </property>
  <property fmtid="{D5CDD505-2E9C-101B-9397-08002B2CF9AE}" pid="22" name="Track">
    <vt:lpwstr/>
  </property>
</Properties>
</file>