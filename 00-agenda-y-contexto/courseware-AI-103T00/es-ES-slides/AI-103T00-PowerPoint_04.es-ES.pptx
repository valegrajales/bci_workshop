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922" r:id="rId4"/>
    <p:sldMasterId id="2147484972" r:id="rId5"/>
  </p:sldMasterIdLst>
  <p:notesMasterIdLst>
    <p:notesMasterId r:id="rId50"/>
  </p:notesMasterIdLst>
  <p:handoutMasterIdLst>
    <p:handoutMasterId r:id="rId51"/>
  </p:handoutMasterIdLst>
  <p:sldIdLst>
    <p:sldId id="256" r:id="rId6"/>
    <p:sldId id="2147479835" r:id="rId7"/>
    <p:sldId id="2147479836" r:id="rId8"/>
    <p:sldId id="257" r:id="rId9"/>
    <p:sldId id="1798" r:id="rId10"/>
    <p:sldId id="2147479885" r:id="rId11"/>
    <p:sldId id="2147479802" r:id="rId12"/>
    <p:sldId id="2147479853" r:id="rId13"/>
    <p:sldId id="2147479813" r:id="rId14"/>
    <p:sldId id="2147479822" r:id="rId15"/>
    <p:sldId id="2147479814" r:id="rId16"/>
    <p:sldId id="1860" r:id="rId17"/>
    <p:sldId id="2147479854" r:id="rId18"/>
    <p:sldId id="2147479875" r:id="rId19"/>
    <p:sldId id="2147479844" r:id="rId20"/>
    <p:sldId id="2147479856" r:id="rId21"/>
    <p:sldId id="2147479816" r:id="rId22"/>
    <p:sldId id="2147479825" r:id="rId23"/>
    <p:sldId id="2147479857" r:id="rId24"/>
    <p:sldId id="2147479858" r:id="rId25"/>
    <p:sldId id="2147479859" r:id="rId26"/>
    <p:sldId id="2147479876" r:id="rId27"/>
    <p:sldId id="2147479862" r:id="rId28"/>
    <p:sldId id="2147479860" r:id="rId29"/>
    <p:sldId id="2147479861" r:id="rId30"/>
    <p:sldId id="2147479863" r:id="rId31"/>
    <p:sldId id="2147479872" r:id="rId32"/>
    <p:sldId id="2147479873" r:id="rId33"/>
    <p:sldId id="2147479874" r:id="rId34"/>
    <p:sldId id="2147479837" r:id="rId35"/>
    <p:sldId id="2147479806" r:id="rId36"/>
    <p:sldId id="2147479838" r:id="rId37"/>
    <p:sldId id="2147479839" r:id="rId38"/>
    <p:sldId id="2147479840" r:id="rId39"/>
    <p:sldId id="2147479811" r:id="rId40"/>
    <p:sldId id="2147479744" r:id="rId41"/>
    <p:sldId id="2147479820" r:id="rId42"/>
    <p:sldId id="2147479828" r:id="rId43"/>
    <p:sldId id="2147479829" r:id="rId44"/>
    <p:sldId id="2147479841" r:id="rId45"/>
    <p:sldId id="2147479830" r:id="rId46"/>
    <p:sldId id="2147479842" r:id="rId47"/>
    <p:sldId id="2147479832" r:id="rId48"/>
    <p:sldId id="2147479833" r:id="rId49"/>
  </p:sldIdLst>
  <p:sldSz cx="12192000" cy="6858000"/>
  <p:notesSz cx="6858000" cy="9144000"/>
  <p:custDataLst>
    <p:tags r:id="rId52"/>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E9F006-CD05-43D3-86DF-416740DE2C49}">
          <p14:sldIdLst>
            <p14:sldId id="256"/>
            <p14:sldId id="2147479835"/>
            <p14:sldId id="2147479836"/>
          </p14:sldIdLst>
        </p14:section>
        <p14:section name="vision-enabled generative AI" id="{39823CCC-CE8A-40FC-8767-752343AB3404}">
          <p14:sldIdLst>
            <p14:sldId id="257"/>
            <p14:sldId id="1798"/>
            <p14:sldId id="2147479885"/>
            <p14:sldId id="2147479802"/>
            <p14:sldId id="2147479853"/>
            <p14:sldId id="2147479813"/>
            <p14:sldId id="2147479822"/>
          </p14:sldIdLst>
        </p14:section>
        <p14:section name="Generate images and videos" id="{03CF8FF3-4D95-44B6-9C74-23E605949054}">
          <p14:sldIdLst>
            <p14:sldId id="2147479814"/>
            <p14:sldId id="1860"/>
            <p14:sldId id="2147479854"/>
            <p14:sldId id="2147479875"/>
            <p14:sldId id="2147479844"/>
            <p14:sldId id="2147479856"/>
            <p14:sldId id="2147479816"/>
            <p14:sldId id="2147479825"/>
          </p14:sldIdLst>
        </p14:section>
        <p14:section name="Content Understanding - Images" id="{E42FF3BD-2F72-477A-8E2F-23C15D73198F}">
          <p14:sldIdLst>
            <p14:sldId id="2147479857"/>
            <p14:sldId id="2147479858"/>
            <p14:sldId id="2147479859"/>
            <p14:sldId id="2147479876"/>
            <p14:sldId id="2147479862"/>
            <p14:sldId id="2147479860"/>
            <p14:sldId id="2147479861"/>
          </p14:sldIdLst>
        </p14:section>
        <p14:section name="Conten Understanding - Documents" id="{7DB5E253-9267-42F0-832A-9D6B89CCFE0A}">
          <p14:sldIdLst>
            <p14:sldId id="2147479863"/>
            <p14:sldId id="2147479872"/>
            <p14:sldId id="2147479873"/>
            <p14:sldId id="2147479874"/>
            <p14:sldId id="2147479837"/>
            <p14:sldId id="2147479806"/>
            <p14:sldId id="2147479838"/>
            <p14:sldId id="2147479839"/>
            <p14:sldId id="2147479840"/>
            <p14:sldId id="2147479811"/>
            <p14:sldId id="2147479744"/>
          </p14:sldIdLst>
        </p14:section>
        <p14:section name="Knowledge mining" id="{EBE97167-B09F-4895-B6F8-7D16C91ACF44}">
          <p14:sldIdLst>
            <p14:sldId id="2147479820"/>
            <p14:sldId id="2147479828"/>
            <p14:sldId id="2147479829"/>
            <p14:sldId id="2147479841"/>
            <p14:sldId id="2147479830"/>
            <p14:sldId id="2147479842"/>
            <p14:sldId id="2147479832"/>
            <p14:sldId id="2147479833"/>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1V>
      <a:tcStyle>
        <a:tcBdr>
          <a:top>
            <a:lnRef idx="1">
              <a:schemeClr val="accent6"/>
            </a:lnRef>
          </a:top>
          <a:bottom>
            <a:lnRef idx="1">
              <a:schemeClr val="accent6"/>
            </a:lnRef>
          </a:bottom>
        </a:tcBdr>
        <a:fill>
          <a:solidFill>
            <a:schemeClr val="accent6">
              <a:alpha val="40000"/>
            </a:schemeClr>
          </a:solidFill>
        </a:fill>
      </a:tcStyle>
    </a:band1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346" autoAdjust="0"/>
    <p:restoredTop sz="96144" autoAdjust="0"/>
  </p:normalViewPr>
  <p:slideViewPr>
    <p:cSldViewPr snapToGrid="0">
      <p:cViewPr>
        <p:scale>
          <a:sx n="100" d="100"/>
          <a:sy n="100" d="100"/>
        </p:scale>
        <p:origin x="2126" y="542"/>
      </p:cViewPr>
      <p:guideLst>
        <p:guide pos="4200"/>
        <p:guide orient="horz" pos="2160"/>
        <p:guide pos="584"/>
        <p:guide pos="3840"/>
      </p:guideLst>
    </p:cSldViewPr>
  </p:slideViewPr>
  <p:outlineViewPr>
    <p:cViewPr>
      <p:scale>
        <a:sx n="33" d="100"/>
        <a:sy n="33" d="100"/>
      </p:scale>
      <p:origin x="0" y="-22236"/>
    </p:cViewPr>
  </p:outlineViewPr>
  <p:notesTextViewPr>
    <p:cViewPr>
      <p:scale>
        <a:sx n="1" d="1"/>
        <a:sy n="1" d="1"/>
      </p:scale>
      <p:origin x="0" y="0"/>
    </p:cViewPr>
  </p:notesTextViewPr>
  <p:sorterViewPr>
    <p:cViewPr>
      <p:scale>
        <a:sx n="100" d="100"/>
        <a:sy n="100" d="100"/>
      </p:scale>
      <p:origin x="0" y="-2382"/>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commentAuthors" Target="commentAuthor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356221-FF75-4B28-B1B7-9C62EC26339F}" type="datetime8">
              <a:rPr lang="en-US" smtClean="0">
                <a:latin typeface="Segoe UI" panose="020B0502040204020203" pitchFamily="34" charset="0"/>
              </a:rPr>
              <a:t>5/26/2026 2:17 PM</a:t>
            </a:fld>
            <a:endParaRPr lang="en-US">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t>‹#›</a:t>
            </a:fld>
            <a:endParaRPr lang="en-US">
              <a:latin typeface="Segoe UI" panose="020B0502040204020203"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55E12198-D52A-4604-A7DE-05A0E5E96698}" type="datetime8">
              <a:rPr lang="en-US" smtClean="0"/>
              <a:t>5/26/2026 2:16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Usa el vínculo de la diapositiva para ver la ruta de aprendizaje de Microsoft Learn de la que se deriva esta presentación.</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1</a:t>
            </a:fld>
            <a:endParaRPr lang="en-US"/>
          </a:p>
        </p:txBody>
      </p:sp>
    </p:spTree>
    <p:extLst>
      <p:ext uri="{BB962C8B-B14F-4D97-AF65-F5344CB8AC3E}">
        <p14:creationId xmlns:p14="http://schemas.microsoft.com/office/powerpoint/2010/main" val="152145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Usa esta diapositiva para </a:t>
            </a:r>
            <a:r>
              <a:rPr lang="es-ES" sz="882" b="1" i="0" strike="noStrike" cap="none" baseline="0">
                <a:solidFill>
                  <a:srgbClr val="000000"/>
                </a:solidFill>
                <a:effectLst/>
                <a:latin typeface="Segoe UI Light"/>
                <a:ea typeface="Segoe UI Light"/>
                <a:cs typeface="Segoe UI Light"/>
              </a:rPr>
              <a:t>orientar a los alumnos</a:t>
            </a:r>
            <a:r>
              <a:rPr lang="es-ES" sz="882" b="0" i="0" strike="noStrike" cap="none" baseline="0">
                <a:solidFill>
                  <a:srgbClr val="000000"/>
                </a:solidFill>
                <a:effectLst/>
                <a:latin typeface="Segoe UI Light"/>
                <a:ea typeface="Segoe UI Light"/>
                <a:cs typeface="Segoe UI Light"/>
              </a:rPr>
              <a:t> al panorama de la carga de trabajo de IA. Enfatiza que el enfoque actual es </a:t>
            </a:r>
            <a:r>
              <a:rPr lang="es-ES" sz="882" b="1" i="0" strike="noStrike" cap="none" baseline="0">
                <a:solidFill>
                  <a:srgbClr val="000000"/>
                </a:solidFill>
                <a:effectLst/>
                <a:latin typeface="Segoe UI Light"/>
                <a:ea typeface="Segoe UI Light"/>
                <a:cs typeface="Segoe UI Light"/>
              </a:rPr>
              <a:t>Computer Vision </a:t>
            </a:r>
            <a:r>
              <a:rPr lang="es-ES" sz="882" b="0" i="0" strike="noStrike" cap="none" baseline="0">
                <a:solidFill>
                  <a:srgbClr val="000000"/>
                </a:solidFill>
                <a:effectLst/>
                <a:latin typeface="Segoe UI Light"/>
                <a:ea typeface="Segoe UI Light"/>
                <a:cs typeface="Segoe UI Light"/>
              </a:rPr>
              <a:t>y la</a:t>
            </a:r>
            <a:r>
              <a:rPr lang="es-ES" sz="882" b="1" i="0" strike="noStrike" cap="none" baseline="0">
                <a:solidFill>
                  <a:srgbClr val="000000"/>
                </a:solidFill>
                <a:effectLst/>
                <a:latin typeface="Segoe UI Light"/>
                <a:ea typeface="Segoe UI Light"/>
                <a:cs typeface="Segoe UI Light"/>
              </a:rPr>
              <a:t> extracción de información</a:t>
            </a:r>
            <a:r>
              <a:rPr lang="es-ES" sz="882" b="0" i="0" strike="noStrike" cap="none" baseline="0">
                <a:solidFill>
                  <a:srgbClr val="000000"/>
                </a:solidFill>
                <a:effectLst/>
                <a:latin typeface="Segoe UI Light"/>
                <a:ea typeface="Segoe UI Light"/>
                <a:cs typeface="Segoe UI Light"/>
              </a:rPr>
              <a:t>, pero los alumnos deben comprender cómo se adapta a la IA generativa, al lenguaje y a la voz, y al ML. Refuerza la idea de que la </a:t>
            </a:r>
            <a:r>
              <a:rPr lang="es-ES" sz="882" b="1" i="0" strike="noStrike" cap="none" baseline="0">
                <a:solidFill>
                  <a:srgbClr val="000000"/>
                </a:solidFill>
                <a:effectLst/>
                <a:latin typeface="Segoe UI Light"/>
                <a:ea typeface="Segoe UI Light"/>
                <a:cs typeface="Segoe UI Light"/>
              </a:rPr>
              <a:t>IA generativa y los agentes</a:t>
            </a:r>
            <a:r>
              <a:rPr lang="es-ES" sz="882" b="0" i="0" strike="noStrike" cap="none" baseline="0">
                <a:solidFill>
                  <a:srgbClr val="000000"/>
                </a:solidFill>
                <a:effectLst/>
                <a:latin typeface="Segoe UI Light"/>
                <a:ea typeface="Segoe UI Light"/>
                <a:cs typeface="Segoe UI Light"/>
              </a:rPr>
              <a:t> se sitúan cada vez más </a:t>
            </a:r>
            <a:r>
              <a:rPr lang="es-ES" sz="882" b="0" i="1" strike="noStrike" cap="none" baseline="0">
                <a:solidFill>
                  <a:srgbClr val="000000"/>
                </a:solidFill>
                <a:effectLst/>
                <a:latin typeface="Segoe UI Light"/>
                <a:ea typeface="Segoe UI Light"/>
                <a:cs typeface="Segoe UI Light"/>
              </a:rPr>
              <a:t>por encima de</a:t>
            </a:r>
            <a:r>
              <a:rPr lang="es-ES" sz="882" b="0" i="0" strike="noStrike" cap="none" baseline="0">
                <a:solidFill>
                  <a:srgbClr val="000000"/>
                </a:solidFill>
                <a:effectLst/>
                <a:latin typeface="Segoe UI Light"/>
                <a:ea typeface="Segoe UI Light"/>
                <a:cs typeface="Segoe UI Light"/>
              </a:rPr>
              <a:t> estas cargas de trabajo básicas.</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a:t>
            </a:fld>
            <a:endParaRPr lang="en-US"/>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endParaRPr lang="en-US" sz="882" b="0" i="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a:t>
            </a:fld>
            <a:endParaRPr lang="en-US"/>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a:t>
            </a:fld>
            <a:endParaRPr lang="en-US"/>
          </a:p>
        </p:txBody>
      </p:sp>
    </p:spTree>
    <p:extLst>
      <p:ext uri="{BB962C8B-B14F-4D97-AF65-F5344CB8AC3E}">
        <p14:creationId xmlns:p14="http://schemas.microsoft.com/office/powerpoint/2010/main" val="85155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55E12198-D52A-4604-A7DE-05A0E5E96698}"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5</a:t>
            </a:fld>
            <a:endParaRPr lang="en-US"/>
          </a:p>
        </p:txBody>
      </p:sp>
    </p:spTree>
    <p:extLst>
      <p:ext uri="{BB962C8B-B14F-4D97-AF65-F5344CB8AC3E}">
        <p14:creationId xmlns:p14="http://schemas.microsoft.com/office/powerpoint/2010/main" val="2715785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5339-4611-8CFA-F9D5-14017F5CC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DC907-6D68-3576-F64B-82FC4055F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F82FB-A050-FE1F-16E7-6508335B410D}"/>
              </a:ext>
            </a:extLst>
          </p:cNvPr>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API de chatCompletions: el cliente administra el historial de conversaciones completo; la carga aumenta cada turno.</a:t>
            </a:r>
            <a:br>
              <a:rPr sz="882"/>
            </a:br>
            <a:r>
              <a:rPr lang="es-ES" sz="882" b="0" i="0" strike="noStrike" cap="none" baseline="0">
                <a:solidFill>
                  <a:srgbClr val="000000"/>
                </a:solidFill>
                <a:effectLst/>
                <a:latin typeface="Segoe UI Light"/>
                <a:ea typeface="Segoe UI Light"/>
                <a:cs typeface="Segoe UI Light"/>
              </a:rPr>
              <a:t>API de respuestas: el servidor administra el estado; la aplicación envía solo la entrada y el identificador de respuesta más recientes; la carga permanece constante.</a:t>
            </a:r>
            <a:br>
              <a:rPr sz="882"/>
            </a:br>
            <a:r>
              <a:rPr lang="es-ES" sz="882" b="0" i="0" strike="noStrike" cap="none" baseline="0">
                <a:solidFill>
                  <a:srgbClr val="000000"/>
                </a:solidFill>
                <a:effectLst/>
                <a:latin typeface="Segoe UI Light"/>
                <a:ea typeface="Segoe UI Light"/>
                <a:cs typeface="Segoe UI Light"/>
              </a:rPr>
              <a:t>Ambas API siguen: inicializar → llamada → obtener la salida → estado de actualización.</a:t>
            </a:r>
            <a:br>
              <a:rPr sz="882"/>
            </a:br>
            <a:r>
              <a:rPr lang="es-ES" sz="882" b="0" i="0" strike="noStrike" cap="none" baseline="0">
                <a:solidFill>
                  <a:srgbClr val="000000"/>
                </a:solidFill>
                <a:effectLst/>
                <a:latin typeface="Segoe UI Light"/>
                <a:ea typeface="Segoe UI Light"/>
                <a:cs typeface="Segoe UI Light"/>
              </a:rPr>
              <a:t>ChatCompletions = más control, más complejidad; Respuestas = más sencillas, recomendadas para las nuevas aplicaciones.</a:t>
            </a:r>
            <a:br>
              <a:rPr sz="882"/>
            </a:br>
            <a:r>
              <a:rPr lang="es-ES" sz="882" b="0" i="0" strike="noStrike" cap="none" baseline="0">
                <a:solidFill>
                  <a:srgbClr val="000000"/>
                </a:solidFill>
                <a:effectLst/>
                <a:latin typeface="Segoe UI Light"/>
                <a:ea typeface="Segoe UI Light"/>
                <a:cs typeface="Segoe UI Light"/>
              </a:rPr>
              <a:t>Punto clave: decántate por la API de respuestas a menos que necesites un control de memoria personalizado.</a:t>
            </a:r>
          </a:p>
          <a:p>
            <a:pPr fontAlgn="t"/>
            <a:r>
              <a:rPr lang="es-ES" sz="882" b="0" i="0" strike="noStrike" cap="none" baseline="0">
                <a:solidFill>
                  <a:srgbClr val="000000"/>
                </a:solidFill>
                <a:effectLst/>
                <a:latin typeface="Segoe UI Light"/>
                <a:ea typeface="Segoe UI Light"/>
                <a:cs typeface="Segoe UI Light"/>
              </a:rPr>
              <a:t>Aclara que también puedes usar una dirección URL web.</a:t>
            </a:r>
          </a:p>
        </p:txBody>
      </p:sp>
      <p:sp>
        <p:nvSpPr>
          <p:cNvPr id="4" name="Header Placeholder 3">
            <a:extLst>
              <a:ext uri="{FF2B5EF4-FFF2-40B4-BE49-F238E27FC236}">
                <a16:creationId xmlns:a16="http://schemas.microsoft.com/office/drawing/2014/main" id="{FF96AB42-A09A-11D1-FFEF-8A13E817ED9F}"/>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962603D6-DAC6-1D2D-23B8-93306F7606ED}"/>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EE190E38-F07B-E89B-59C6-F2C4D6F15212}"/>
              </a:ext>
            </a:extLst>
          </p:cNvPr>
          <p:cNvSpPr>
            <a:spLocks noGrp="1"/>
          </p:cNvSpPr>
          <p:nvPr>
            <p:ph type="dt" idx="10"/>
          </p:nvPr>
        </p:nvSpPr>
        <p:spPr/>
        <p:txBody>
          <a:bodyPr/>
          <a:lstStyle/>
          <a:p>
            <a:fld id="{55E12198-D52A-4604-A7DE-05A0E5E96698}" type="datetime8">
              <a:rPr lang="en-US" smtClean="0"/>
              <a:t>5/26/2026 2:16 PM</a:t>
            </a:fld>
            <a:endParaRPr lang="en-US"/>
          </a:p>
        </p:txBody>
      </p:sp>
      <p:sp>
        <p:nvSpPr>
          <p:cNvPr id="7" name="Slide Number Placeholder 6">
            <a:extLst>
              <a:ext uri="{FF2B5EF4-FFF2-40B4-BE49-F238E27FC236}">
                <a16:creationId xmlns:a16="http://schemas.microsoft.com/office/drawing/2014/main" id="{83860EF4-7C80-5A01-7837-71C8105FFAF4}"/>
              </a:ext>
            </a:extLst>
          </p:cNvPr>
          <p:cNvSpPr>
            <a:spLocks noGrp="1"/>
          </p:cNvSpPr>
          <p:nvPr>
            <p:ph type="sldNum" sz="quarter" idx="5"/>
          </p:nvPr>
        </p:nvSpPr>
        <p:spPr/>
        <p:txBody>
          <a:bodyPr/>
          <a:lstStyle/>
          <a:p>
            <a:fld id="{B4008EB6-D09E-4580-8CD6-DDB14511944F}" type="slidenum">
              <a:rPr lang="en-US" smtClean="0"/>
              <a:t>6</a:t>
            </a:fld>
            <a:endParaRPr lang="en-US"/>
          </a:p>
        </p:txBody>
      </p:sp>
    </p:spTree>
    <p:extLst>
      <p:ext uri="{BB962C8B-B14F-4D97-AF65-F5344CB8AC3E}">
        <p14:creationId xmlns:p14="http://schemas.microsoft.com/office/powerpoint/2010/main" val="972302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7</a:t>
            </a:fld>
            <a:endParaRPr lang="en-US"/>
          </a:p>
        </p:txBody>
      </p:sp>
    </p:spTree>
    <p:extLst>
      <p:ext uri="{BB962C8B-B14F-4D97-AF65-F5344CB8AC3E}">
        <p14:creationId xmlns:p14="http://schemas.microsoft.com/office/powerpoint/2010/main" val="3400666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8</a:t>
            </a:fld>
            <a:endParaRPr lang="en-US"/>
          </a:p>
        </p:txBody>
      </p:sp>
    </p:spTree>
    <p:extLst>
      <p:ext uri="{BB962C8B-B14F-4D97-AF65-F5344CB8AC3E}">
        <p14:creationId xmlns:p14="http://schemas.microsoft.com/office/powerpoint/2010/main" val="3432374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2:16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9</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10</a:t>
            </a:fld>
            <a:endParaRPr lang="en-US"/>
          </a:p>
        </p:txBody>
      </p:sp>
    </p:spTree>
    <p:extLst>
      <p:ext uri="{BB962C8B-B14F-4D97-AF65-F5344CB8AC3E}">
        <p14:creationId xmlns:p14="http://schemas.microsoft.com/office/powerpoint/2010/main" val="1781579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71FE8-9F7E-E301-4804-3D627BCF7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A02D0-61F3-87D7-0259-B6274B9F2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94469-CFA5-C402-6E9D-406D7EC281BF}"/>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Use los vínculos de la diapositiva para ver los módulos de Microsoft Learn de los que se deriva esta lección.</a:t>
            </a:r>
          </a:p>
        </p:txBody>
      </p:sp>
      <p:sp>
        <p:nvSpPr>
          <p:cNvPr id="4" name="Header Placeholder 3">
            <a:extLst>
              <a:ext uri="{FF2B5EF4-FFF2-40B4-BE49-F238E27FC236}">
                <a16:creationId xmlns:a16="http://schemas.microsoft.com/office/drawing/2014/main" id="{14D2EA9D-DE00-5688-BA6C-3CC33E57F5FA}"/>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F2B49FFD-FB2F-57B4-F166-62B614EC8091}"/>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A657BF2-AEDA-C1A9-164C-8D62B7C1B10B}"/>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5E495C6F-685A-61F4-A187-83FE6216346D}"/>
              </a:ext>
            </a:extLst>
          </p:cNvPr>
          <p:cNvSpPr>
            <a:spLocks noGrp="1"/>
          </p:cNvSpPr>
          <p:nvPr>
            <p:ph type="sldNum" sz="quarter" idx="5"/>
          </p:nvPr>
        </p:nvSpPr>
        <p:spPr/>
        <p:txBody>
          <a:bodyPr/>
          <a:lstStyle/>
          <a:p>
            <a:fld id="{B4008EB6-D09E-4580-8CD6-DDB14511944F}" type="slidenum">
              <a:rPr lang="en-US" smtClean="0"/>
              <a:t>11</a:t>
            </a:fld>
            <a:endParaRPr lang="en-US"/>
          </a:p>
        </p:txBody>
      </p:sp>
    </p:spTree>
    <p:extLst>
      <p:ext uri="{BB962C8B-B14F-4D97-AF65-F5344CB8AC3E}">
        <p14:creationId xmlns:p14="http://schemas.microsoft.com/office/powerpoint/2010/main" val="320093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t>12</a:t>
            </a:fld>
            <a:endParaRPr lang="en-US"/>
          </a:p>
        </p:txBody>
      </p:sp>
    </p:spTree>
    <p:extLst>
      <p:ext uri="{BB962C8B-B14F-4D97-AF65-F5344CB8AC3E}">
        <p14:creationId xmlns:p14="http://schemas.microsoft.com/office/powerpoint/2010/main" val="1178128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1C2F-6FCC-FF65-487C-286868792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21A26-7069-E6BB-1C02-A5656BC0B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9D134-C513-F2D7-9562-0C2B78755835}"/>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E415508-2EE5-B2D6-ADA9-85FA734A20B7}"/>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A5D65F73-00F5-FC59-5E38-EB528FC027BE}"/>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63777812-1861-C628-A016-67B6D424FD19}"/>
              </a:ext>
            </a:extLst>
          </p:cNvPr>
          <p:cNvSpPr>
            <a:spLocks noGrp="1"/>
          </p:cNvSpPr>
          <p:nvPr>
            <p:ph type="sldNum" sz="quarter" idx="5"/>
          </p:nvPr>
        </p:nvSpPr>
        <p:spPr/>
        <p:txBody>
          <a:bodyPr/>
          <a:lstStyle/>
          <a:p>
            <a:fld id="{B4008EB6-D09E-4580-8CD6-DDB14511944F}" type="slidenum">
              <a:rPr lang="en-US" smtClean="0"/>
              <a:t>13</a:t>
            </a:fld>
            <a:endParaRPr lang="en-US"/>
          </a:p>
        </p:txBody>
      </p:sp>
    </p:spTree>
    <p:extLst>
      <p:ext uri="{BB962C8B-B14F-4D97-AF65-F5344CB8AC3E}">
        <p14:creationId xmlns:p14="http://schemas.microsoft.com/office/powerpoint/2010/main" val="3983761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DAE79-CB9E-8FCA-470E-BA8BAAA6B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B85DB-013F-9C01-65E1-4230FE664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BCFBB-99A4-0546-CCC1-49BFF7ABD40E}"/>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Aunque el enfoque de esta lección está en DALL-E, hay un número cada vez mayor de modelos de IA generativa con la capacidad de generar indicaciones visuales para las solicitudes.</a:t>
            </a:r>
          </a:p>
        </p:txBody>
      </p:sp>
      <p:sp>
        <p:nvSpPr>
          <p:cNvPr id="4" name="Header Placeholder 3">
            <a:extLst>
              <a:ext uri="{FF2B5EF4-FFF2-40B4-BE49-F238E27FC236}">
                <a16:creationId xmlns:a16="http://schemas.microsoft.com/office/drawing/2014/main" id="{89D23DAB-4C30-CB2C-BA5B-3E94867FDD8A}"/>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3478AAB7-7D2E-AA3F-01CC-357C88CE7915}"/>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30840DC-8BC9-2920-9AC9-E6A8CF8EC4DA}"/>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1357E70A-E1ED-0DA4-A7D1-2F46A86F6E1B}"/>
              </a:ext>
            </a:extLst>
          </p:cNvPr>
          <p:cNvSpPr>
            <a:spLocks noGrp="1"/>
          </p:cNvSpPr>
          <p:nvPr>
            <p:ph type="sldNum" sz="quarter" idx="5"/>
          </p:nvPr>
        </p:nvSpPr>
        <p:spPr/>
        <p:txBody>
          <a:bodyPr/>
          <a:lstStyle/>
          <a:p>
            <a:fld id="{B4008EB6-D09E-4580-8CD6-DDB14511944F}" type="slidenum">
              <a:rPr lang="en-US" smtClean="0"/>
              <a:t>14</a:t>
            </a:fld>
            <a:endParaRPr lang="en-US"/>
          </a:p>
        </p:txBody>
      </p:sp>
    </p:spTree>
    <p:extLst>
      <p:ext uri="{BB962C8B-B14F-4D97-AF65-F5344CB8AC3E}">
        <p14:creationId xmlns:p14="http://schemas.microsoft.com/office/powerpoint/2010/main" val="2240345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17339-A540-6765-9A15-CEA5CE94B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AD1DB-D079-31A9-2AF3-6677E110D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3B1536-2FC2-2A7F-22A8-7EEF021049E3}"/>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CD5EB82-9446-79E3-69BF-6B98D4E83D3C}"/>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B97F49E2-E4F1-45A2-495B-C94CFE8C76C9}"/>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BE867CE-CEBA-95F1-0DF8-A065BEEDC307}"/>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5AB2BCC6-D72E-93E8-E832-5803FBBC2A28}"/>
              </a:ext>
            </a:extLst>
          </p:cNvPr>
          <p:cNvSpPr>
            <a:spLocks noGrp="1"/>
          </p:cNvSpPr>
          <p:nvPr>
            <p:ph type="sldNum" sz="quarter" idx="5"/>
          </p:nvPr>
        </p:nvSpPr>
        <p:spPr/>
        <p:txBody>
          <a:bodyPr/>
          <a:lstStyle/>
          <a:p>
            <a:fld id="{B4008EB6-D09E-4580-8CD6-DDB14511944F}" type="slidenum">
              <a:rPr lang="en-US" smtClean="0"/>
              <a:t>15</a:t>
            </a:fld>
            <a:endParaRPr lang="en-US"/>
          </a:p>
        </p:txBody>
      </p:sp>
    </p:spTree>
    <p:extLst>
      <p:ext uri="{BB962C8B-B14F-4D97-AF65-F5344CB8AC3E}">
        <p14:creationId xmlns:p14="http://schemas.microsoft.com/office/powerpoint/2010/main" val="626952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t>16</a:t>
            </a:fld>
            <a:endParaRPr lang="en-US"/>
          </a:p>
        </p:txBody>
      </p:sp>
    </p:spTree>
    <p:extLst>
      <p:ext uri="{BB962C8B-B14F-4D97-AF65-F5344CB8AC3E}">
        <p14:creationId xmlns:p14="http://schemas.microsoft.com/office/powerpoint/2010/main" val="3851254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F81AC-DD05-5010-06B4-3408C2887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04358-4BC6-7789-AE1C-3763A5019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3508E-9B41-A249-EF24-7D7E5F58866C}"/>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AE4678EF-6C78-80E6-E580-1B9350D41D4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E90D370A-C15E-3359-C5C4-5C911C3C2FE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0D3ADC0-6AA3-517F-C70A-5EE28061E270}"/>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2:16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A3B0F305-96BE-302A-AB3D-8186A62A507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17</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932505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E1CC-91ED-72C3-5A04-ADFB9CB67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19BE6-067B-0B9A-62AE-E9BE588F6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3C823-DF22-203E-A6FC-C8832AC17A5E}"/>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Semibold"/>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5110AD05-4F7A-12ED-AF19-F455D7C8FB1E}"/>
              </a:ext>
            </a:extLst>
          </p:cNvPr>
          <p:cNvSpPr>
            <a:spLocks noGrp="1"/>
          </p:cNvSpPr>
          <p:nvPr>
            <p:ph type="sldNum" sz="quarter" idx="5"/>
          </p:nvPr>
        </p:nvSpPr>
        <p:spPr/>
        <p:txBody>
          <a:bodyPr/>
          <a:lstStyle/>
          <a:p>
            <a:fld id="{97E04F8E-88E9-481C-A2B3-C92BCE611EF5}" type="slidenum">
              <a:rPr lang="en-US" smtClean="0"/>
              <a:t>18</a:t>
            </a:fld>
            <a:endParaRPr lang="en-US"/>
          </a:p>
        </p:txBody>
      </p:sp>
    </p:spTree>
    <p:extLst>
      <p:ext uri="{BB962C8B-B14F-4D97-AF65-F5344CB8AC3E}">
        <p14:creationId xmlns:p14="http://schemas.microsoft.com/office/powerpoint/2010/main" val="618842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DF0C-314E-0875-A002-C0ACBE406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4E9CB-440C-A18E-0035-BD83FE4C3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1EBF6-475A-9518-0575-84CD1ACB87EF}"/>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Use los vínculos de la diapositiva para ver los módulos de Microsoft Learn de los que se deriva esta lección.</a:t>
            </a:r>
          </a:p>
        </p:txBody>
      </p:sp>
      <p:sp>
        <p:nvSpPr>
          <p:cNvPr id="4" name="Header Placeholder 3">
            <a:extLst>
              <a:ext uri="{FF2B5EF4-FFF2-40B4-BE49-F238E27FC236}">
                <a16:creationId xmlns:a16="http://schemas.microsoft.com/office/drawing/2014/main" id="{F07740C2-BEFE-9994-7E0E-D5774A8B806F}"/>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89973630-ACF6-7B36-BB47-757C11A9A271}"/>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7881479-7338-E277-B999-E0A65A7C4CF8}"/>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1D6EEFF3-7E0F-D8E7-71C9-0968643FDC82}"/>
              </a:ext>
            </a:extLst>
          </p:cNvPr>
          <p:cNvSpPr>
            <a:spLocks noGrp="1"/>
          </p:cNvSpPr>
          <p:nvPr>
            <p:ph type="sldNum" sz="quarter" idx="5"/>
          </p:nvPr>
        </p:nvSpPr>
        <p:spPr/>
        <p:txBody>
          <a:bodyPr/>
          <a:lstStyle/>
          <a:p>
            <a:fld id="{B4008EB6-D09E-4580-8CD6-DDB14511944F}" type="slidenum">
              <a:rPr lang="en-US" smtClean="0"/>
              <a:t>19</a:t>
            </a:fld>
            <a:endParaRPr lang="en-US"/>
          </a:p>
        </p:txBody>
      </p:sp>
    </p:spTree>
    <p:extLst>
      <p:ext uri="{BB962C8B-B14F-4D97-AF65-F5344CB8AC3E}">
        <p14:creationId xmlns:p14="http://schemas.microsoft.com/office/powerpoint/2010/main" val="3778850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t>20</a:t>
            </a:fld>
            <a:endParaRPr lang="en-US"/>
          </a:p>
        </p:txBody>
      </p:sp>
    </p:spTree>
    <p:extLst>
      <p:ext uri="{BB962C8B-B14F-4D97-AF65-F5344CB8AC3E}">
        <p14:creationId xmlns:p14="http://schemas.microsoft.com/office/powerpoint/2010/main" val="3434933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t>21</a:t>
            </a:fld>
            <a:endParaRPr lang="en-US"/>
          </a:p>
        </p:txBody>
      </p:sp>
    </p:spTree>
    <p:extLst>
      <p:ext uri="{BB962C8B-B14F-4D97-AF65-F5344CB8AC3E}">
        <p14:creationId xmlns:p14="http://schemas.microsoft.com/office/powerpoint/2010/main" val="279927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4603E-E307-21EB-CE60-CC6D4B743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1FA42-9269-237A-EB93-CE734594D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3C1F8-914E-95B7-D2EC-BA791D0B9DB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F35F56F-106A-653E-0378-9A77738512F9}"/>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82DAE6C2-2B81-C69B-C112-269A30152385}"/>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FC2A42EE-5147-4D5C-F363-C7E42E8825AC}"/>
              </a:ext>
            </a:extLst>
          </p:cNvPr>
          <p:cNvSpPr>
            <a:spLocks noGrp="1"/>
          </p:cNvSpPr>
          <p:nvPr>
            <p:ph type="sldNum" sz="quarter" idx="5"/>
          </p:nvPr>
        </p:nvSpPr>
        <p:spPr/>
        <p:txBody>
          <a:bodyPr/>
          <a:lstStyle/>
          <a:p>
            <a:fld id="{B4008EB6-D09E-4580-8CD6-DDB14511944F}" type="slidenum">
              <a:rPr lang="en-US" smtClean="0"/>
              <a:t>22</a:t>
            </a:fld>
            <a:endParaRPr lang="en-US"/>
          </a:p>
        </p:txBody>
      </p:sp>
    </p:spTree>
    <p:extLst>
      <p:ext uri="{BB962C8B-B14F-4D97-AF65-F5344CB8AC3E}">
        <p14:creationId xmlns:p14="http://schemas.microsoft.com/office/powerpoint/2010/main" val="3901661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Resalta los valores de respuesta JSON que se utilizarán en la aplicación.</a:t>
            </a:r>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t>23</a:t>
            </a:fld>
            <a:endParaRPr lang="en-US"/>
          </a:p>
        </p:txBody>
      </p:sp>
    </p:spTree>
    <p:extLst>
      <p:ext uri="{BB962C8B-B14F-4D97-AF65-F5344CB8AC3E}">
        <p14:creationId xmlns:p14="http://schemas.microsoft.com/office/powerpoint/2010/main" val="4151366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64CE5-1265-07D5-8433-6D481653D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BA34F-B0D4-DF1E-5683-9B79610F3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7E58E-A721-A951-7854-297E24553666}"/>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C5E24D8D-23E4-5607-A05B-94A93AA78AC9}"/>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DF78A9AB-37E8-E17C-EBB5-D18CBE257A0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60A5FCA-986A-0AD2-0075-7E1297DEB893}"/>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2:16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1F145E22-45C7-EDA4-449C-B345E529E32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24</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171689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E22BA-AE02-7B5F-3556-9A1A19DDF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DBCE7-9AA1-C9CA-00F3-6947C4007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E7C6E-CD9D-87B8-84CC-53029901776A}"/>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7141398A-8D17-31CB-6EFE-A1E91771EB3A}"/>
              </a:ext>
            </a:extLst>
          </p:cNvPr>
          <p:cNvSpPr>
            <a:spLocks noGrp="1"/>
          </p:cNvSpPr>
          <p:nvPr>
            <p:ph type="sldNum" sz="quarter" idx="5"/>
          </p:nvPr>
        </p:nvSpPr>
        <p:spPr/>
        <p:txBody>
          <a:bodyPr/>
          <a:lstStyle/>
          <a:p>
            <a:fld id="{97E04F8E-88E9-481C-A2B3-C92BCE611EF5}" type="slidenum">
              <a:rPr lang="en-US" smtClean="0"/>
              <a:t>25</a:t>
            </a:fld>
            <a:endParaRPr lang="en-US"/>
          </a:p>
        </p:txBody>
      </p:sp>
    </p:spTree>
    <p:extLst>
      <p:ext uri="{BB962C8B-B14F-4D97-AF65-F5344CB8AC3E}">
        <p14:creationId xmlns:p14="http://schemas.microsoft.com/office/powerpoint/2010/main" val="2259271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534D5-EEC3-FFC7-A41F-9D88295B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13CF8-B7ED-3CCA-23C8-390A71040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3B90-9563-ACB0-2ABD-2B01A5E9D155}"/>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Use los vínculos de la diapositiva para ver los módulos de Microsoft Learn de los que se deriva esta lección.</a:t>
            </a:r>
          </a:p>
        </p:txBody>
      </p:sp>
      <p:sp>
        <p:nvSpPr>
          <p:cNvPr id="4" name="Header Placeholder 3">
            <a:extLst>
              <a:ext uri="{FF2B5EF4-FFF2-40B4-BE49-F238E27FC236}">
                <a16:creationId xmlns:a16="http://schemas.microsoft.com/office/drawing/2014/main" id="{7C0E10E8-5FE1-E444-A223-2640D97C893F}"/>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790D3235-32F8-A1F0-70BA-13FD17C37091}"/>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65A0D44-0C0B-6AD5-11A5-C29D7A905E4A}"/>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95666246-F33D-6D09-43FF-9F2420B1BEB4}"/>
              </a:ext>
            </a:extLst>
          </p:cNvPr>
          <p:cNvSpPr>
            <a:spLocks noGrp="1"/>
          </p:cNvSpPr>
          <p:nvPr>
            <p:ph type="sldNum" sz="quarter" idx="5"/>
          </p:nvPr>
        </p:nvSpPr>
        <p:spPr/>
        <p:txBody>
          <a:bodyPr/>
          <a:lstStyle/>
          <a:p>
            <a:fld id="{B4008EB6-D09E-4580-8CD6-DDB14511944F}" type="slidenum">
              <a:rPr lang="en-US" smtClean="0"/>
              <a:t>26</a:t>
            </a:fld>
            <a:endParaRPr lang="en-US"/>
          </a:p>
        </p:txBody>
      </p:sp>
    </p:spTree>
    <p:extLst>
      <p:ext uri="{BB962C8B-B14F-4D97-AF65-F5344CB8AC3E}">
        <p14:creationId xmlns:p14="http://schemas.microsoft.com/office/powerpoint/2010/main" val="3975558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27</a:t>
            </a:fld>
            <a:endParaRPr lang="en-US"/>
          </a:p>
        </p:txBody>
      </p:sp>
    </p:spTree>
    <p:extLst>
      <p:ext uri="{BB962C8B-B14F-4D97-AF65-F5344CB8AC3E}">
        <p14:creationId xmlns:p14="http://schemas.microsoft.com/office/powerpoint/2010/main" val="3400666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28</a:t>
            </a:fld>
            <a:endParaRPr lang="en-US"/>
          </a:p>
        </p:txBody>
      </p:sp>
    </p:spTree>
    <p:extLst>
      <p:ext uri="{BB962C8B-B14F-4D97-AF65-F5344CB8AC3E}">
        <p14:creationId xmlns:p14="http://schemas.microsoft.com/office/powerpoint/2010/main" val="2433401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29</a:t>
            </a:fld>
            <a:endParaRPr lang="en-US"/>
          </a:p>
        </p:txBody>
      </p:sp>
    </p:spTree>
    <p:extLst>
      <p:ext uri="{BB962C8B-B14F-4D97-AF65-F5344CB8AC3E}">
        <p14:creationId xmlns:p14="http://schemas.microsoft.com/office/powerpoint/2010/main" val="20814082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30</a:t>
            </a:fld>
            <a:endParaRPr lang="en-US"/>
          </a:p>
        </p:txBody>
      </p:sp>
    </p:spTree>
    <p:extLst>
      <p:ext uri="{BB962C8B-B14F-4D97-AF65-F5344CB8AC3E}">
        <p14:creationId xmlns:p14="http://schemas.microsoft.com/office/powerpoint/2010/main" val="258439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supone un entorno nuevo, por lo que los alumnos deberán aprovisionar recursos de Azure y clonar el repositorio de laboratorio aunque hayan completado los ejercicios anteriores.</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31</a:t>
            </a:fld>
            <a:endParaRPr lang="en-US"/>
          </a:p>
        </p:txBody>
      </p:sp>
    </p:spTree>
    <p:extLst>
      <p:ext uri="{BB962C8B-B14F-4D97-AF65-F5344CB8AC3E}">
        <p14:creationId xmlns:p14="http://schemas.microsoft.com/office/powerpoint/2010/main" val="32066600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endParaRPr lang="en-US"/>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0"/>
          </p:nvPr>
        </p:nvSpPr>
        <p:spPr/>
        <p:txBody>
          <a:bodyPr/>
          <a:lstStyle/>
          <a:p>
            <a:fld id="{386CE63F-9E7F-4C04-9D0D-FCA25A8E9E86}" type="datetime8">
              <a:rPr lang="en-US" smtClean="0"/>
              <a:t>5/26/2026 2:16 PM</a:t>
            </a:fld>
            <a:endParaRPr lang="en-US"/>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t>32</a:t>
            </a:fld>
            <a:endParaRPr lang="en-US"/>
          </a:p>
        </p:txBody>
      </p:sp>
    </p:spTree>
    <p:extLst>
      <p:ext uri="{BB962C8B-B14F-4D97-AF65-F5344CB8AC3E}">
        <p14:creationId xmlns:p14="http://schemas.microsoft.com/office/powerpoint/2010/main" val="650855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Ten en cuenta que los analizadores personalizados se pueden basar en analizadores creados previamente, como el analizador de "documento" de compilación previa proporcionado con comprensión de contenidos.</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Consulta https://learn.microsoft.com/azure/ai-services/content-understanding/tutorial/create-custom-analyzer para obtener más detalles.</a:t>
            </a:r>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0"/>
          </p:nvPr>
        </p:nvSpPr>
        <p:spPr/>
        <p:txBody>
          <a:bodyPr/>
          <a:lstStyle/>
          <a:p>
            <a:fld id="{386CE63F-9E7F-4C04-9D0D-FCA25A8E9E86}" type="datetime8">
              <a:rPr lang="en-US" smtClean="0"/>
              <a:t>5/26/2026 2:16 PM</a:t>
            </a:fld>
            <a:endParaRPr lang="en-US"/>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t>33</a:t>
            </a:fld>
            <a:endParaRPr lang="en-US"/>
          </a:p>
        </p:txBody>
      </p:sp>
    </p:spTree>
    <p:extLst>
      <p:ext uri="{BB962C8B-B14F-4D97-AF65-F5344CB8AC3E}">
        <p14:creationId xmlns:p14="http://schemas.microsoft.com/office/powerpoint/2010/main" val="3946328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endParaRPr lang="en-US"/>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0"/>
          </p:nvPr>
        </p:nvSpPr>
        <p:spPr/>
        <p:txBody>
          <a:bodyPr/>
          <a:lstStyle/>
          <a:p>
            <a:fld id="{386CE63F-9E7F-4C04-9D0D-FCA25A8E9E86}" type="datetime8">
              <a:rPr lang="en-US" smtClean="0"/>
              <a:t>5/26/2026 2:16 PM</a:t>
            </a:fld>
            <a:endParaRPr lang="en-US"/>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t>34</a:t>
            </a:fld>
            <a:endParaRPr lang="en-US"/>
          </a:p>
        </p:txBody>
      </p:sp>
    </p:spTree>
    <p:extLst>
      <p:ext uri="{BB962C8B-B14F-4D97-AF65-F5344CB8AC3E}">
        <p14:creationId xmlns:p14="http://schemas.microsoft.com/office/powerpoint/2010/main" val="1085852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F28A-B710-A601-974E-DA4359746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CDE8F-0BF7-4874-8D9F-6E1C2BA11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31563-19C2-91E5-3BF7-884D976B97CF}"/>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supone un entorno nuevo, por lo que los alumnos deberán aprovisionar recursos de Azure y clonar el repositorio de laboratorio aunque hayan completado los ejercicios anteriores.</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a:p>
            <a:endParaRPr lang="en-US"/>
          </a:p>
        </p:txBody>
      </p:sp>
      <p:sp>
        <p:nvSpPr>
          <p:cNvPr id="4" name="Header Placeholder 3">
            <a:extLst>
              <a:ext uri="{FF2B5EF4-FFF2-40B4-BE49-F238E27FC236}">
                <a16:creationId xmlns:a16="http://schemas.microsoft.com/office/drawing/2014/main" id="{4A296D45-3428-749C-D322-C7FB2D8CC2DE}"/>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0FA7FF22-4AC1-623F-FD8F-D0BA9D1CE14C}"/>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698787F-A55C-1797-5954-55A9EE7942BF}"/>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4BF78862-4CF3-4546-0867-36B0B92FB386}"/>
              </a:ext>
            </a:extLst>
          </p:cNvPr>
          <p:cNvSpPr>
            <a:spLocks noGrp="1"/>
          </p:cNvSpPr>
          <p:nvPr>
            <p:ph type="sldNum" sz="quarter" idx="5"/>
          </p:nvPr>
        </p:nvSpPr>
        <p:spPr/>
        <p:txBody>
          <a:bodyPr/>
          <a:lstStyle/>
          <a:p>
            <a:fld id="{B4008EB6-D09E-4580-8CD6-DDB14511944F}" type="slidenum">
              <a:rPr lang="en-US" smtClean="0"/>
              <a:t>35</a:t>
            </a:fld>
            <a:endParaRPr lang="en-US"/>
          </a:p>
        </p:txBody>
      </p:sp>
    </p:spTree>
    <p:extLst>
      <p:ext uri="{BB962C8B-B14F-4D97-AF65-F5344CB8AC3E}">
        <p14:creationId xmlns:p14="http://schemas.microsoft.com/office/powerpoint/2010/main" val="3949885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estudiantes piensen las preguntas y, después, muestra las respuestas correctas.</a:t>
            </a:r>
          </a:p>
          <a:p>
            <a:endParaRPr lang="en-US"/>
          </a:p>
        </p:txBody>
      </p:sp>
      <p:sp>
        <p:nvSpPr>
          <p:cNvPr id="4" name="Slide Number Placeholder 3"/>
          <p:cNvSpPr>
            <a:spLocks noGrp="1"/>
          </p:cNvSpPr>
          <p:nvPr>
            <p:ph type="sldNum" sz="quarter" idx="5"/>
          </p:nvPr>
        </p:nvSpPr>
        <p:spPr/>
        <p:txBody>
          <a:bodyPr/>
          <a:lstStyle/>
          <a:p>
            <a:fld id="{97E04F8E-88E9-481C-A2B3-C92BCE611EF5}" type="slidenum">
              <a:rPr lang="en-US" smtClean="0"/>
              <a:t>36</a:t>
            </a:fld>
            <a:endParaRPr lang="en-US"/>
          </a:p>
        </p:txBody>
      </p:sp>
    </p:spTree>
    <p:extLst>
      <p:ext uri="{BB962C8B-B14F-4D97-AF65-F5344CB8AC3E}">
        <p14:creationId xmlns:p14="http://schemas.microsoft.com/office/powerpoint/2010/main" val="35658175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63D7-C7F9-2D69-40A8-C7973EE0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2F9B-B998-6D11-AE32-425089A2C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80E7A-DE67-C450-C25E-B50541093AE6}"/>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No dudes en omitir esta sección, se incluye para completar la información.</a:t>
            </a:r>
          </a:p>
          <a:p>
            <a:pPr marL="0" marR="0" lvl="0" indent="0" algn="l" defTabSz="914367" rtl="0" eaLnBrk="1" fontAlgn="auto" latinLnBrk="0" hangingPunct="1">
              <a:lnSpc>
                <a:spcPct val="90000"/>
              </a:lnSpc>
              <a:spcBef>
                <a:spcPct val="0"/>
              </a:spcBef>
              <a:spcAft>
                <a:spcPts val="333"/>
              </a:spcAft>
              <a:buClrTx/>
              <a:buSzTx/>
              <a:buFontTx/>
              <a:buNone/>
              <a:defRPr/>
            </a:pPr>
            <a:endParaRPr lang="en-US"/>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a:rPr>
              <a:t>Usa el vínculo de la diapositiva para ver el módulo de Microsoft Learn del que se deriva esta lección.</a:t>
            </a:r>
          </a:p>
          <a:p>
            <a:endParaRPr lang="en-US"/>
          </a:p>
          <a:p>
            <a:endParaRPr lang="en-US"/>
          </a:p>
        </p:txBody>
      </p:sp>
      <p:sp>
        <p:nvSpPr>
          <p:cNvPr id="4" name="Header Placeholder 3">
            <a:extLst>
              <a:ext uri="{FF2B5EF4-FFF2-40B4-BE49-F238E27FC236}">
                <a16:creationId xmlns:a16="http://schemas.microsoft.com/office/drawing/2014/main" id="{41318425-22FA-A779-9576-A75BEA8B7B27}"/>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6DCD50F7-C5D4-2D3F-0371-A62C3E226662}"/>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C85423C-CA8F-6898-1434-4D018159EB32}"/>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F4128134-15CE-A53C-9E7A-D8561BF84A9D}"/>
              </a:ext>
            </a:extLst>
          </p:cNvPr>
          <p:cNvSpPr>
            <a:spLocks noGrp="1"/>
          </p:cNvSpPr>
          <p:nvPr>
            <p:ph type="sldNum" sz="quarter" idx="5"/>
          </p:nvPr>
        </p:nvSpPr>
        <p:spPr/>
        <p:txBody>
          <a:bodyPr/>
          <a:lstStyle/>
          <a:p>
            <a:fld id="{B4008EB6-D09E-4580-8CD6-DDB14511944F}" type="slidenum">
              <a:rPr lang="en-US" smtClean="0"/>
              <a:t>37</a:t>
            </a:fld>
            <a:endParaRPr lang="en-US"/>
          </a:p>
        </p:txBody>
      </p:sp>
    </p:spTree>
    <p:extLst>
      <p:ext uri="{BB962C8B-B14F-4D97-AF65-F5344CB8AC3E}">
        <p14:creationId xmlns:p14="http://schemas.microsoft.com/office/powerpoint/2010/main" val="17480240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38</a:t>
            </a:fld>
            <a:endParaRPr lang="en-US"/>
          </a:p>
        </p:txBody>
      </p:sp>
    </p:spTree>
    <p:extLst>
      <p:ext uri="{BB962C8B-B14F-4D97-AF65-F5344CB8AC3E}">
        <p14:creationId xmlns:p14="http://schemas.microsoft.com/office/powerpoint/2010/main" val="17854168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39</a:t>
            </a:fld>
            <a:endParaRPr lang="en-US"/>
          </a:p>
        </p:txBody>
      </p:sp>
    </p:spTree>
    <p:extLst>
      <p:ext uri="{BB962C8B-B14F-4D97-AF65-F5344CB8AC3E}">
        <p14:creationId xmlns:p14="http://schemas.microsoft.com/office/powerpoint/2010/main" val="1491678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40</a:t>
            </a:fld>
            <a:endParaRPr lang="en-US"/>
          </a:p>
        </p:txBody>
      </p:sp>
    </p:spTree>
    <p:extLst>
      <p:ext uri="{BB962C8B-B14F-4D97-AF65-F5344CB8AC3E}">
        <p14:creationId xmlns:p14="http://schemas.microsoft.com/office/powerpoint/2010/main" val="32626671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EXPLÍCITA, IMPLÍCITA NI LEGAL,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41</a:t>
            </a:fld>
            <a:endParaRPr lang="en-US"/>
          </a:p>
        </p:txBody>
      </p:sp>
    </p:spTree>
    <p:extLst>
      <p:ext uri="{BB962C8B-B14F-4D97-AF65-F5344CB8AC3E}">
        <p14:creationId xmlns:p14="http://schemas.microsoft.com/office/powerpoint/2010/main" val="8408908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42</a:t>
            </a:fld>
            <a:endParaRPr lang="en-US"/>
          </a:p>
        </p:txBody>
      </p:sp>
    </p:spTree>
    <p:extLst>
      <p:ext uri="{BB962C8B-B14F-4D97-AF65-F5344CB8AC3E}">
        <p14:creationId xmlns:p14="http://schemas.microsoft.com/office/powerpoint/2010/main" val="42244528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DEFF-3814-B6DB-1CCE-5A54C12A0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30F49-0192-78F4-1A6A-345F35974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4F394-8C6B-1F54-45B9-DE1B1E51522D}"/>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Entrenadores, preparen esto con antelación para mostrar cómo funciona.</a:t>
            </a:r>
          </a:p>
          <a:p>
            <a:endParaRPr lang="en-US"/>
          </a:p>
          <a:p>
            <a:r>
              <a:rPr lang="es-ES" sz="882" b="0" i="0" strike="noStrike" cap="none" baseline="0">
                <a:solidFill>
                  <a:srgbClr val="000000"/>
                </a:solidFill>
                <a:effectLst/>
                <a:latin typeface="Segoe UI Light"/>
                <a:ea typeface="Segoe UI Light"/>
                <a:cs typeface="Segoe UI Light"/>
              </a:rPr>
              <a:t>Cada ejercicio supone un entorno nuevo, por lo que los alumnos deberán aprovisionar recursos de Azure y clonar el repositorio de laboratorio aunque hayan completado los ejercicios anteriores.</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a:p>
            <a:endParaRPr lang="en-US"/>
          </a:p>
        </p:txBody>
      </p:sp>
      <p:sp>
        <p:nvSpPr>
          <p:cNvPr id="4" name="Header Placeholder 3">
            <a:extLst>
              <a:ext uri="{FF2B5EF4-FFF2-40B4-BE49-F238E27FC236}">
                <a16:creationId xmlns:a16="http://schemas.microsoft.com/office/drawing/2014/main" id="{35599E87-5914-F87E-D186-43AC05D3F8C1}"/>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AC7F87C7-CBA8-68FA-D665-86EDF0208EFE}"/>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A3E3EB3E-2DB1-EF22-56F8-C89CEF8179B5}"/>
              </a:ext>
            </a:extLst>
          </p:cNvPr>
          <p:cNvSpPr>
            <a:spLocks noGrp="1"/>
          </p:cNvSpPr>
          <p:nvPr>
            <p:ph type="dt" idx="10"/>
          </p:nvPr>
        </p:nvSpPr>
        <p:spPr/>
        <p:txBody>
          <a:bodyPr/>
          <a:lstStyle/>
          <a:p>
            <a:fld id="{61486BA7-839C-4D2B-BD52-EF0BBA8433FD}" type="datetime8">
              <a:rPr lang="en-US" smtClean="0"/>
              <a:t>5/26/2026 2:16 PM</a:t>
            </a:fld>
            <a:endParaRPr lang="en-US"/>
          </a:p>
        </p:txBody>
      </p:sp>
      <p:sp>
        <p:nvSpPr>
          <p:cNvPr id="7" name="Slide Number Placeholder 6">
            <a:extLst>
              <a:ext uri="{FF2B5EF4-FFF2-40B4-BE49-F238E27FC236}">
                <a16:creationId xmlns:a16="http://schemas.microsoft.com/office/drawing/2014/main" id="{552A7B0D-DE21-8523-11D3-A7C963342B1C}"/>
              </a:ext>
            </a:extLst>
          </p:cNvPr>
          <p:cNvSpPr>
            <a:spLocks noGrp="1"/>
          </p:cNvSpPr>
          <p:nvPr>
            <p:ph type="sldNum" sz="quarter" idx="5"/>
          </p:nvPr>
        </p:nvSpPr>
        <p:spPr/>
        <p:txBody>
          <a:bodyPr/>
          <a:lstStyle/>
          <a:p>
            <a:fld id="{B4008EB6-D09E-4580-8CD6-DDB14511944F}" type="slidenum">
              <a:rPr lang="en-US" smtClean="0"/>
              <a:t>43</a:t>
            </a:fld>
            <a:endParaRPr lang="en-US"/>
          </a:p>
        </p:txBody>
      </p:sp>
    </p:spTree>
    <p:extLst>
      <p:ext uri="{BB962C8B-B14F-4D97-AF65-F5344CB8AC3E}">
        <p14:creationId xmlns:p14="http://schemas.microsoft.com/office/powerpoint/2010/main" val="9537472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B26D1-0BAD-8EB3-2756-9AD124DE4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E18DC-5E07-A160-07A7-3510FDA1B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F04D2-0671-FB92-F8EE-252342471FE8}"/>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DD79D5A9-7223-E5B1-C40B-852A07AFEE62}"/>
              </a:ext>
            </a:extLst>
          </p:cNvPr>
          <p:cNvSpPr>
            <a:spLocks noGrp="1"/>
          </p:cNvSpPr>
          <p:nvPr>
            <p:ph type="sldNum" sz="quarter" idx="5"/>
          </p:nvPr>
        </p:nvSpPr>
        <p:spPr/>
        <p:txBody>
          <a:bodyPr/>
          <a:lstStyle/>
          <a:p>
            <a:fld id="{97E04F8E-88E9-481C-A2B3-C92BCE611EF5}" type="slidenum">
              <a:rPr lang="en-US" smtClean="0"/>
              <a:t>44</a:t>
            </a:fld>
            <a:endParaRPr lang="en-US"/>
          </a:p>
        </p:txBody>
      </p:sp>
    </p:spTree>
    <p:extLst>
      <p:ext uri="{BB962C8B-B14F-4D97-AF65-F5344CB8AC3E}">
        <p14:creationId xmlns:p14="http://schemas.microsoft.com/office/powerpoint/2010/main" val="27081718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a:ext>
            </a:extLst>
          </a:blip>
          <a:stretch>
            <a:fill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bg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69332"/>
          </a:xfrm>
        </p:spPr>
        <p:txBody>
          <a:bodyPr/>
          <a:lstStyle>
            <a:lvl1pPr>
              <a:defRPr sz="24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507831"/>
          </a:xfrm>
          <a:gradFill flip="none" rotWithShape="1">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kumimoji="0" lang="en-US" sz="2400" b="0" i="0" u="none" strike="noStrike" cap="none" normalizeH="0">
                <a:ln>
                  <a:noFill/>
                </a:ln>
                <a:solidFill>
                  <a:srgbClr val="FFFFFF"/>
                </a:solidFill>
                <a:effectLst/>
                <a:uLnTx/>
                <a:uFillTx/>
                <a:latin typeface="+mj-lt"/>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ct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a:cs typeface="Segoe UI Semibold" charset="0"/>
              </a:defRPr>
            </a:lvl1pPr>
            <a:lvl2pPr marL="0" indent="0" algn="l" defTabSz="914132" rtl="0" eaLnBrk="1" latinLnBrk="0" hangingPunct="1">
              <a:lnSpc>
                <a:spcPct val="110000"/>
              </a:lnSpc>
              <a:spcBef>
                <a:spcPct val="0"/>
              </a:spcBef>
              <a:spcAft>
                <a:spcPts val="600"/>
              </a:spcAft>
              <a:buClrTx/>
              <a:buSzPct val="110000"/>
              <a:buFont typeface="Arial"/>
              <a:buNone/>
              <a:defRPr lang="en-US" sz="2000" b="0" i="0" kern="1200" smtClean="0">
                <a:solidFill>
                  <a:schemeClr val="tx1"/>
                </a:solidFill>
                <a:effectLst/>
                <a:latin typeface="Segoe UI"/>
                <a:ea typeface="Segoe UI"/>
                <a:cs typeface="Segoe UI" charset="0"/>
              </a:defRPr>
            </a:lvl2pPr>
            <a:lvl3pPr marL="288925" indent="-222250" algn="l" defTabSz="914132" rtl="0" eaLnBrk="1" latinLnBrk="0" hangingPunct="1">
              <a:lnSpc>
                <a:spcPct val="110000"/>
              </a:lnSpc>
              <a:spcBef>
                <a:spcPct val="0"/>
              </a:spcBef>
              <a:spcAft>
                <a:spcPts val="600"/>
              </a:spcAft>
              <a:buClrTx/>
              <a:buSzPct val="120000"/>
              <a:buFont typeface="Arial"/>
              <a:buChar char="•"/>
              <a:defRPr lang="en-US" sz="2000" b="0" i="0" kern="1200" smtClean="0">
                <a:solidFill>
                  <a:schemeClr val="tx1"/>
                </a:solidFill>
                <a:effectLst/>
                <a:latin typeface="Segoe UI"/>
                <a:ea typeface="Segoe UI"/>
                <a:cs typeface="Segoe UI" charset="0"/>
              </a:defRPr>
            </a:lvl3pPr>
            <a:lvl4pPr marL="631825" indent="-182880" algn="l" defTabSz="914132" rtl="0" eaLnBrk="1" latinLnBrk="0" hangingPunct="1">
              <a:lnSpc>
                <a:spcPct val="110000"/>
              </a:lnSpc>
              <a:spcBef>
                <a:spcPct val="0"/>
              </a:spcBef>
              <a:spcAft>
                <a:spcPts val="600"/>
              </a:spcAft>
              <a:buClrTx/>
              <a:buFont typeface="Arial"/>
              <a:buChar char="•"/>
              <a:defRPr lang="en-US" sz="1800" b="0" i="0" kern="1200" smtClean="0">
                <a:solidFill>
                  <a:schemeClr val="tx1"/>
                </a:solidFill>
                <a:effectLst/>
                <a:latin typeface="Segoe UI"/>
                <a:ea typeface="Segoe UI"/>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a:solidFill>
                  <a:schemeClr val="tx1"/>
                </a:solidFill>
                <a:effectLst/>
                <a:latin typeface="Segoe UI"/>
                <a:ea typeface="Segoe UI"/>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ct val="0"/>
              </a:spcBef>
              <a:spcAft>
                <a:spcPts val="600"/>
              </a:spcAft>
              <a:buClr>
                <a:srgbClr val="E9E9E9"/>
              </a:buClr>
              <a:buSzPct val="120000"/>
              <a:buFontTx/>
              <a:buNone/>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3"/>
                </a:solidFill>
                <a:effectLst/>
                <a:latin typeface="+mj-lt"/>
                <a:ea typeface="+mn-ea"/>
                <a:cs typeface="Segoe UI"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smtClean="0">
                <a:ln w="3175">
                  <a:noFill/>
                </a:ln>
                <a:solidFill>
                  <a:schemeClr val="tx1"/>
                </a:solidFill>
                <a:effectLst/>
                <a:latin typeface="+mn-lt"/>
                <a:ea typeface="+mn-ea"/>
                <a:cs typeface="Segoe UI" pitchFamily="34" charset="0"/>
              </a:defRPr>
            </a:lvl1pPr>
            <a:lvl2pPr marL="155448" indent="0">
              <a:buNone/>
              <a:defRPr lang="en-US" sz="2000" b="0" kern="1200" cap="none" spc="-50" baseline="0" smtClean="0">
                <a:ln w="3175">
                  <a:noFill/>
                </a:ln>
                <a:solidFill>
                  <a:schemeClr val="bg1"/>
                </a:solidFill>
                <a:effectLst/>
                <a:latin typeface="+mn-lt"/>
                <a:ea typeface="+mn-ea"/>
                <a:cs typeface="Segoe UI"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baseline="0">
                <a:solidFill>
                  <a:schemeClr val="bg1"/>
                </a:solidFill>
                <a:latin typeface="+mn-lt"/>
                <a:cs typeface="Segoe UI"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bg1"/>
                </a:solidFill>
                <a:latin typeface="+mn-lt"/>
                <a:cs typeface="Segoe UI"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baseline="0">
                <a:solidFill>
                  <a:schemeClr val="bg1"/>
                </a:solidFill>
                <a:latin typeface="+mn-lt"/>
                <a:cs typeface="Segoe UI"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a:p>
        </p:txBody>
      </p:sp>
    </p:spTree>
    <p:extLst>
      <p:ext uri="{BB962C8B-B14F-4D97-AF65-F5344CB8AC3E}">
        <p14:creationId xmlns:p14="http://schemas.microsoft.com/office/powerpoint/2010/main" val="55735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a:ext>
            </a:extLst>
          </a:blip>
          <a:stretch>
            <a:fill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bg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2522604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40692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595231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a:p>
        </p:txBody>
      </p:sp>
    </p:spTree>
    <p:extLst>
      <p:ext uri="{BB962C8B-B14F-4D97-AF65-F5344CB8AC3E}">
        <p14:creationId xmlns:p14="http://schemas.microsoft.com/office/powerpoint/2010/main" val="3140002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963953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495886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3066572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043652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7504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330515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43363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9598778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14714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168837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07914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815740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79646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9351809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513419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1005372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32003417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94329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812627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415012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59852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5539141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2990686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107828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733672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198626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96871091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527361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306512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0818427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6939594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kumimoji="0" lang="en-US" sz="1999" b="0" i="0" u="none" strike="noStrike" cap="none" normalizeH="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ct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a:cs typeface="Segoe UI Semibold" charset="0"/>
              </a:defRPr>
            </a:lvl1pPr>
            <a:lvl2pPr marL="0" indent="0" algn="l" defTabSz="914132" rtl="0" eaLnBrk="1" latinLnBrk="0" hangingPunct="1">
              <a:lnSpc>
                <a:spcPct val="110000"/>
              </a:lnSpc>
              <a:spcBef>
                <a:spcPct val="0"/>
              </a:spcBef>
              <a:spcAft>
                <a:spcPts val="600"/>
              </a:spcAft>
              <a:buClrTx/>
              <a:buSzPct val="110000"/>
              <a:buFont typeface="Arial"/>
              <a:buNone/>
              <a:defRPr lang="en-US" sz="2000" b="0" i="0" kern="1200" smtClean="0">
                <a:solidFill>
                  <a:schemeClr val="tx1"/>
                </a:solidFill>
                <a:effectLst/>
                <a:latin typeface="Segoe UI"/>
                <a:ea typeface="Segoe UI"/>
                <a:cs typeface="Segoe UI" charset="0"/>
              </a:defRPr>
            </a:lvl2pPr>
            <a:lvl3pPr marL="288925" indent="-222250" algn="l" defTabSz="914132" rtl="0" eaLnBrk="1" latinLnBrk="0" hangingPunct="1">
              <a:lnSpc>
                <a:spcPct val="110000"/>
              </a:lnSpc>
              <a:spcBef>
                <a:spcPct val="0"/>
              </a:spcBef>
              <a:spcAft>
                <a:spcPts val="600"/>
              </a:spcAft>
              <a:buClrTx/>
              <a:buSzPct val="120000"/>
              <a:buFont typeface="Arial"/>
              <a:buChar char="•"/>
              <a:defRPr lang="en-US" sz="2000" b="0" i="0" kern="1200" smtClean="0">
                <a:solidFill>
                  <a:schemeClr val="tx1"/>
                </a:solidFill>
                <a:effectLst/>
                <a:latin typeface="Segoe UI"/>
                <a:ea typeface="Segoe UI"/>
                <a:cs typeface="Segoe UI" charset="0"/>
              </a:defRPr>
            </a:lvl3pPr>
            <a:lvl4pPr marL="631825" indent="-182880" algn="l" defTabSz="914132" rtl="0" eaLnBrk="1" latinLnBrk="0" hangingPunct="1">
              <a:lnSpc>
                <a:spcPct val="110000"/>
              </a:lnSpc>
              <a:spcBef>
                <a:spcPct val="0"/>
              </a:spcBef>
              <a:spcAft>
                <a:spcPts val="600"/>
              </a:spcAft>
              <a:buClrTx/>
              <a:buFont typeface="Arial"/>
              <a:buChar char="•"/>
              <a:defRPr lang="en-US" sz="1800" b="0" i="0" kern="1200" smtClean="0">
                <a:solidFill>
                  <a:schemeClr val="tx1"/>
                </a:solidFill>
                <a:effectLst/>
                <a:latin typeface="Segoe UI"/>
                <a:ea typeface="Segoe UI"/>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a:solidFill>
                  <a:schemeClr val="tx1"/>
                </a:solidFill>
                <a:effectLst/>
                <a:latin typeface="Segoe UI"/>
                <a:ea typeface="Segoe UI"/>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ct val="0"/>
              </a:spcBef>
              <a:spcAft>
                <a:spcPts val="600"/>
              </a:spcAft>
              <a:buClr>
                <a:srgbClr val="E9E9E9"/>
              </a:buClr>
              <a:buSzPct val="120000"/>
              <a:buFontTx/>
              <a:buNone/>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764216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69596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116210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801290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3"/>
                </a:solidFill>
                <a:effectLst/>
                <a:latin typeface="+mj-lt"/>
                <a:ea typeface="+mn-ea"/>
                <a:cs typeface="Segoe UI"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smtClean="0">
                <a:ln w="3175">
                  <a:noFill/>
                </a:ln>
                <a:solidFill>
                  <a:schemeClr val="tx1"/>
                </a:solidFill>
                <a:effectLst/>
                <a:latin typeface="+mn-lt"/>
                <a:ea typeface="+mn-ea"/>
                <a:cs typeface="Segoe UI" pitchFamily="34" charset="0"/>
              </a:defRPr>
            </a:lvl1pPr>
            <a:lvl2pPr marL="155448" indent="0">
              <a:buNone/>
              <a:defRPr lang="en-US" sz="2000" b="0" kern="1200" cap="none" spc="-50" baseline="0" smtClean="0">
                <a:ln w="3175">
                  <a:noFill/>
                </a:ln>
                <a:solidFill>
                  <a:schemeClr val="bg1"/>
                </a:solidFill>
                <a:effectLst/>
                <a:latin typeface="+mn-lt"/>
                <a:ea typeface="+mn-ea"/>
                <a:cs typeface="Segoe UI"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63601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93383456"/>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59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324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slideLayout" Target="../slideLayouts/slideLayout83.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theme" Target="../theme/theme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6933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6" r:id="rId22"/>
    <p:sldLayoutId id="2147484947" r:id="rId23"/>
    <p:sldLayoutId id="2147484951" r:id="rId24"/>
    <p:sldLayoutId id="2147484952" r:id="rId25"/>
    <p:sldLayoutId id="2147484953" r:id="rId26"/>
    <p:sldLayoutId id="2147484954" r:id="rId27"/>
    <p:sldLayoutId id="2147484955" r:id="rId28"/>
    <p:sldLayoutId id="2147484956" r:id="rId29"/>
    <p:sldLayoutId id="2147484957" r:id="rId30"/>
    <p:sldLayoutId id="2147484958" r:id="rId31"/>
    <p:sldLayoutId id="2147484959" r:id="rId32"/>
    <p:sldLayoutId id="2147484960" r:id="rId33"/>
    <p:sldLayoutId id="2147484961" r:id="rId34"/>
    <p:sldLayoutId id="2147484962" r:id="rId35"/>
    <p:sldLayoutId id="2147484963" r:id="rId36"/>
    <p:sldLayoutId id="2147484964" r:id="rId37"/>
    <p:sldLayoutId id="2147484965" r:id="rId38"/>
    <p:sldLayoutId id="2147484966" r:id="rId39"/>
    <p:sldLayoutId id="2147484967" r:id="rId40"/>
    <p:sldLayoutId id="2147484970" r:id="rId41"/>
  </p:sldLayoutIdLst>
  <p:transition>
    <p:fade/>
  </p:transition>
  <p:hf sldNum="0" hdr="0" dt="0"/>
  <p:txStyles>
    <p:titleStyle>
      <a:lvl1pPr algn="l" defTabSz="932742" rtl="0" eaLnBrk="1" latinLnBrk="0" hangingPunct="1">
        <a:lnSpc>
          <a:spcPct val="100000"/>
        </a:lnSpc>
        <a:spcBef>
          <a:spcPct val="0"/>
        </a:spcBef>
        <a:buNone/>
        <a:defRPr lang="en-US" sz="2400" b="0" kern="1200" cap="none" spc="0" baseline="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96704705"/>
      </p:ext>
    </p:extLst>
  </p:cSld>
  <p:clrMap bg1="lt1" tx1="dk1" bg2="lt2" tx2="dk2" accent1="accent1" accent2="accent2" accent3="accent3" accent4="accent4" accent5="accent5" accent6="accent6" hlink="hlink" folHlink="folHlink"/>
  <p:sldLayoutIdLst>
    <p:sldLayoutId id="2147484973" r:id="rId1"/>
    <p:sldLayoutId id="2147484974" r:id="rId2"/>
    <p:sldLayoutId id="2147484975" r:id="rId3"/>
    <p:sldLayoutId id="2147484976" r:id="rId4"/>
    <p:sldLayoutId id="2147484977" r:id="rId5"/>
    <p:sldLayoutId id="2147484978" r:id="rId6"/>
    <p:sldLayoutId id="2147484979" r:id="rId7"/>
    <p:sldLayoutId id="2147484980" r:id="rId8"/>
    <p:sldLayoutId id="2147484981" r:id="rId9"/>
    <p:sldLayoutId id="2147484982" r:id="rId10"/>
    <p:sldLayoutId id="2147484983" r:id="rId11"/>
    <p:sldLayoutId id="2147484984" r:id="rId12"/>
    <p:sldLayoutId id="2147484985" r:id="rId13"/>
    <p:sldLayoutId id="2147484986" r:id="rId14"/>
    <p:sldLayoutId id="2147484987" r:id="rId15"/>
    <p:sldLayoutId id="2147484988" r:id="rId16"/>
    <p:sldLayoutId id="2147484989" r:id="rId17"/>
    <p:sldLayoutId id="2147484990" r:id="rId18"/>
    <p:sldLayoutId id="2147484991" r:id="rId19"/>
    <p:sldLayoutId id="2147484992" r:id="rId20"/>
    <p:sldLayoutId id="2147484993" r:id="rId21"/>
    <p:sldLayoutId id="2147484994" r:id="rId22"/>
    <p:sldLayoutId id="2147484995" r:id="rId23"/>
    <p:sldLayoutId id="2147484996" r:id="rId24"/>
    <p:sldLayoutId id="2147484997" r:id="rId25"/>
    <p:sldLayoutId id="2147484998" r:id="rId26"/>
    <p:sldLayoutId id="2147484999" r:id="rId27"/>
    <p:sldLayoutId id="2147485000" r:id="rId28"/>
    <p:sldLayoutId id="2147485001" r:id="rId29"/>
    <p:sldLayoutId id="2147485002" r:id="rId30"/>
    <p:sldLayoutId id="2147485003" r:id="rId31"/>
    <p:sldLayoutId id="2147485004" r:id="rId32"/>
    <p:sldLayoutId id="2147485005" r:id="rId33"/>
    <p:sldLayoutId id="2147485006" r:id="rId34"/>
    <p:sldLayoutId id="2147485007" r:id="rId35"/>
    <p:sldLayoutId id="2147485008" r:id="rId36"/>
    <p:sldLayoutId id="2147485009" r:id="rId37"/>
    <p:sldLayoutId id="2147485010" r:id="rId38"/>
    <p:sldLayoutId id="2147485011" r:id="rId39"/>
    <p:sldLayoutId id="2147485012" r:id="rId40"/>
    <p:sldLayoutId id="2147485013" r:id="rId41"/>
    <p:sldLayoutId id="2147485014" r:id="rId42"/>
    <p:sldLayoutId id="2147485015" r:id="rId43"/>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36.png"/><Relationship Id="rId4" Type="http://schemas.openxmlformats.org/officeDocument/2006/relationships/image" Target="../media/image20.svg"/><Relationship Id="rId9" Type="http://schemas.openxmlformats.org/officeDocument/2006/relationships/image" Target="../media/image25.svg"/></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36.png"/><Relationship Id="rId4" Type="http://schemas.openxmlformats.org/officeDocument/2006/relationships/image" Target="../media/image20.svg"/><Relationship Id="rId9" Type="http://schemas.openxmlformats.org/officeDocument/2006/relationships/image" Target="../media/image2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27.xml"/><Relationship Id="rId4" Type="http://schemas.openxmlformats.org/officeDocument/2006/relationships/image" Target="../media/image2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69.xml"/><Relationship Id="rId4" Type="http://schemas.openxmlformats.org/officeDocument/2006/relationships/hyperlink" Target="https://go.microsoft.com/fwlink/?linkid=2356866"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sv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hyperlink" Target="https://go.microsoft.com/fwlink/?linkid=2356876"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svg"/><Relationship Id="rId2" Type="http://schemas.openxmlformats.org/officeDocument/2006/relationships/notesSlide" Target="../notesSlides/notesSlide20.xml"/><Relationship Id="rId1" Type="http://schemas.openxmlformats.org/officeDocument/2006/relationships/slideLayout" Target="../slideLayouts/slideLayout20.xml"/><Relationship Id="rId6" Type="http://schemas.openxmlformats.org/officeDocument/2006/relationships/image" Target="../media/image44.svg"/><Relationship Id="rId11" Type="http://schemas.openxmlformats.org/officeDocument/2006/relationships/image" Target="../media/image49.svg"/><Relationship Id="rId5" Type="http://schemas.openxmlformats.org/officeDocument/2006/relationships/image" Target="../media/image43.sv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sv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0.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26.xml"/><Relationship Id="rId4" Type="http://schemas.openxmlformats.org/officeDocument/2006/relationships/hyperlink" Target="https://go.microsoft.com/fwlink/?linkid=2356972"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svg"/><Relationship Id="rId3" Type="http://schemas.openxmlformats.org/officeDocument/2006/relationships/image" Target="../media/image58.svg"/><Relationship Id="rId7" Type="http://schemas.openxmlformats.org/officeDocument/2006/relationships/image" Target="../media/image62.svg"/><Relationship Id="rId12" Type="http://schemas.openxmlformats.org/officeDocument/2006/relationships/image" Target="../media/image67.sv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61.svg"/><Relationship Id="rId11" Type="http://schemas.openxmlformats.org/officeDocument/2006/relationships/image" Target="../media/image66.svg"/><Relationship Id="rId5" Type="http://schemas.openxmlformats.org/officeDocument/2006/relationships/image" Target="../media/image60.sv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sv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1.xml"/><Relationship Id="rId1" Type="http://schemas.openxmlformats.org/officeDocument/2006/relationships/slideLayout" Target="../slideLayouts/slideLayout26.xml"/><Relationship Id="rId4" Type="http://schemas.openxmlformats.org/officeDocument/2006/relationships/hyperlink" Target="https://go.microsoft.com/fwlink/?linkid=2320174"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5.xml"/><Relationship Id="rId1" Type="http://schemas.openxmlformats.org/officeDocument/2006/relationships/slideLayout" Target="../slideLayouts/slideLayout26.xml"/><Relationship Id="rId4" Type="http://schemas.openxmlformats.org/officeDocument/2006/relationships/hyperlink" Target="https://go.microsoft.com/fwlink/?linkid=2320464"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82.svg"/><Relationship Id="rId3" Type="http://schemas.openxmlformats.org/officeDocument/2006/relationships/image" Target="../media/image73.svg"/><Relationship Id="rId7" Type="http://schemas.openxmlformats.org/officeDocument/2006/relationships/image" Target="../media/image77.svg"/><Relationship Id="rId12" Type="http://schemas.openxmlformats.org/officeDocument/2006/relationships/image" Target="../media/image81.svg"/><Relationship Id="rId2" Type="http://schemas.openxmlformats.org/officeDocument/2006/relationships/notesSlide" Target="../notesSlides/notesSlide38.xml"/><Relationship Id="rId1" Type="http://schemas.openxmlformats.org/officeDocument/2006/relationships/slideLayout" Target="../slideLayouts/slideLayout27.xml"/><Relationship Id="rId6" Type="http://schemas.openxmlformats.org/officeDocument/2006/relationships/image" Target="../media/image76.svg"/><Relationship Id="rId11" Type="http://schemas.openxmlformats.org/officeDocument/2006/relationships/image" Target="../media/image80.svg"/><Relationship Id="rId5" Type="http://schemas.openxmlformats.org/officeDocument/2006/relationships/image" Target="../media/image75.svg"/><Relationship Id="rId10" Type="http://schemas.openxmlformats.org/officeDocument/2006/relationships/image" Target="../media/image79.svg"/><Relationship Id="rId4" Type="http://schemas.openxmlformats.org/officeDocument/2006/relationships/image" Target="../media/image74.svg"/><Relationship Id="rId9" Type="http://schemas.openxmlformats.org/officeDocument/2006/relationships/image" Target="../media/image78.svg"/></Relationships>
</file>

<file path=ppt/slides/_rels/slide39.xml.rels><?xml version="1.0" encoding="UTF-8" standalone="yes"?>
<Relationships xmlns="http://schemas.openxmlformats.org/package/2006/relationships"><Relationship Id="rId3" Type="http://schemas.openxmlformats.org/officeDocument/2006/relationships/image" Target="../media/image83.svg"/><Relationship Id="rId7" Type="http://schemas.openxmlformats.org/officeDocument/2006/relationships/image" Target="../media/image73.svg"/><Relationship Id="rId2" Type="http://schemas.openxmlformats.org/officeDocument/2006/relationships/notesSlide" Target="../notesSlides/notesSlide39.xml"/><Relationship Id="rId1" Type="http://schemas.openxmlformats.org/officeDocument/2006/relationships/slideLayout" Target="../slideLayouts/slideLayout27.xml"/><Relationship Id="rId6" Type="http://schemas.openxmlformats.org/officeDocument/2006/relationships/image" Target="../media/image84.svg"/><Relationship Id="rId5" Type="http://schemas.openxmlformats.org/officeDocument/2006/relationships/image" Target="../media/image77.svg"/><Relationship Id="rId4" Type="http://schemas.openxmlformats.org/officeDocument/2006/relationships/image" Target="../media/image60.svg"/></Relationships>
</file>

<file path=ppt/slides/_rels/slide40.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83.svg"/><Relationship Id="rId7" Type="http://schemas.openxmlformats.org/officeDocument/2006/relationships/image" Target="../media/image85.svg"/><Relationship Id="rId2" Type="http://schemas.openxmlformats.org/officeDocument/2006/relationships/notesSlide" Target="../notesSlides/notesSlide40.xml"/><Relationship Id="rId1" Type="http://schemas.openxmlformats.org/officeDocument/2006/relationships/slideLayout" Target="../slideLayouts/slideLayout27.xml"/><Relationship Id="rId6" Type="http://schemas.openxmlformats.org/officeDocument/2006/relationships/image" Target="../media/image84.svg"/><Relationship Id="rId5" Type="http://schemas.openxmlformats.org/officeDocument/2006/relationships/image" Target="../media/image77.svg"/><Relationship Id="rId10" Type="http://schemas.openxmlformats.org/officeDocument/2006/relationships/image" Target="../media/image87.svg"/><Relationship Id="rId4" Type="http://schemas.openxmlformats.org/officeDocument/2006/relationships/image" Target="../media/image60.svg"/><Relationship Id="rId9" Type="http://schemas.openxmlformats.org/officeDocument/2006/relationships/image" Target="../media/image86.svg"/></Relationships>
</file>

<file path=ppt/slides/_rels/slide41.xml.rels><?xml version="1.0" encoding="UTF-8" standalone="yes"?>
<Relationships xmlns="http://schemas.openxmlformats.org/package/2006/relationships"><Relationship Id="rId3" Type="http://schemas.openxmlformats.org/officeDocument/2006/relationships/image" Target="../media/image74.svg"/><Relationship Id="rId7" Type="http://schemas.openxmlformats.org/officeDocument/2006/relationships/image" Target="../media/image73.svg"/><Relationship Id="rId2" Type="http://schemas.openxmlformats.org/officeDocument/2006/relationships/notesSlide" Target="../notesSlides/notesSlide41.xml"/><Relationship Id="rId1" Type="http://schemas.openxmlformats.org/officeDocument/2006/relationships/slideLayout" Target="../slideLayouts/slideLayout27.xml"/><Relationship Id="rId6" Type="http://schemas.openxmlformats.org/officeDocument/2006/relationships/image" Target="../media/image60.svg"/><Relationship Id="rId5" Type="http://schemas.openxmlformats.org/officeDocument/2006/relationships/image" Target="../media/image76.svg"/><Relationship Id="rId4" Type="http://schemas.openxmlformats.org/officeDocument/2006/relationships/image" Target="../media/image75.svg"/></Relationships>
</file>

<file path=ppt/slides/_rels/slide42.xml.rels><?xml version="1.0" encoding="UTF-8" standalone="yes"?>
<Relationships xmlns="http://schemas.openxmlformats.org/package/2006/relationships"><Relationship Id="rId8" Type="http://schemas.openxmlformats.org/officeDocument/2006/relationships/image" Target="../media/image73.svg"/><Relationship Id="rId13" Type="http://schemas.openxmlformats.org/officeDocument/2006/relationships/image" Target="../media/image90.svg"/><Relationship Id="rId3" Type="http://schemas.openxmlformats.org/officeDocument/2006/relationships/image" Target="../media/image83.svg"/><Relationship Id="rId7" Type="http://schemas.openxmlformats.org/officeDocument/2006/relationships/image" Target="../media/image85.svg"/><Relationship Id="rId12" Type="http://schemas.openxmlformats.org/officeDocument/2006/relationships/image" Target="../media/image89.svg"/><Relationship Id="rId2" Type="http://schemas.openxmlformats.org/officeDocument/2006/relationships/notesSlide" Target="../notesSlides/notesSlide42.xml"/><Relationship Id="rId1" Type="http://schemas.openxmlformats.org/officeDocument/2006/relationships/slideLayout" Target="../slideLayouts/slideLayout27.xml"/><Relationship Id="rId6" Type="http://schemas.openxmlformats.org/officeDocument/2006/relationships/image" Target="../media/image84.svg"/><Relationship Id="rId11" Type="http://schemas.openxmlformats.org/officeDocument/2006/relationships/image" Target="../media/image88.svg"/><Relationship Id="rId5" Type="http://schemas.openxmlformats.org/officeDocument/2006/relationships/image" Target="../media/image77.svg"/><Relationship Id="rId10" Type="http://schemas.openxmlformats.org/officeDocument/2006/relationships/image" Target="../media/image87.svg"/><Relationship Id="rId4" Type="http://schemas.openxmlformats.org/officeDocument/2006/relationships/image" Target="../media/image60.svg"/><Relationship Id="rId9" Type="http://schemas.openxmlformats.org/officeDocument/2006/relationships/image" Target="../media/image86.svg"/><Relationship Id="rId14" Type="http://schemas.openxmlformats.org/officeDocument/2006/relationships/image" Target="../media/image91.svg"/></Relationships>
</file>

<file path=ppt/slides/_rels/slide4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3.xml"/><Relationship Id="rId1" Type="http://schemas.openxmlformats.org/officeDocument/2006/relationships/slideLayout" Target="../slideLayouts/slideLayout26.xml"/><Relationship Id="rId4" Type="http://schemas.openxmlformats.org/officeDocument/2006/relationships/hyperlink" Target="https://go.microsoft.com/fwlink/?linkid=2320469"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3" y="3552110"/>
            <a:ext cx="5526088" cy="1107996"/>
          </a:xfrm>
        </p:spPr>
        <p:txBody>
          <a:bodyPr/>
          <a:lstStyle/>
          <a:p>
            <a:pPr>
              <a:defRPr sz="3200"/>
            </a:pPr>
            <a:r>
              <a:rPr lang="es-ES" sz="3600" b="0" i="0" strike="noStrike" cap="none" baseline="0" dirty="0">
                <a:solidFill>
                  <a:srgbClr val="000000"/>
                </a:solidFill>
                <a:effectLst/>
                <a:latin typeface="Segoe UI"/>
                <a:ea typeface="Segoe UI"/>
                <a:cs typeface="Segoe UI"/>
              </a:rPr>
              <a:t>Extracción de información de datos visuales en Azure</a:t>
            </a:r>
            <a:endParaRPr lang="en-US" sz="3600" noProof="0" dirty="0"/>
          </a:p>
        </p:txBody>
      </p:sp>
      <p:sp>
        <p:nvSpPr>
          <p:cNvPr id="3" name="Text Placeholder 2"/>
          <p:cNvSpPr>
            <a:spLocks noGrp="1"/>
          </p:cNvSpPr>
          <p:nvPr>
            <p:ph type="body" sz="quarter" idx="13"/>
          </p:nvPr>
        </p:nvSpPr>
        <p:spPr>
          <a:xfrm>
            <a:off x="4756150" y="6446520"/>
            <a:ext cx="1645920" cy="152400"/>
          </a:xfrm>
        </p:spPr>
        <p:txBody>
          <a:bodyPr/>
          <a:lstStyle/>
          <a:p>
            <a:r>
              <a:rPr lang="es-ES" sz="1000" b="0" i="0" strike="noStrike" cap="none" baseline="0">
                <a:solidFill>
                  <a:srgbClr val="000000"/>
                </a:solidFill>
                <a:effectLst/>
                <a:latin typeface="Segoe UI"/>
                <a:ea typeface="Segoe UI"/>
                <a:cs typeface="Segoe UI"/>
              </a:rPr>
              <a:t>Junio de 2025</a:t>
            </a:r>
          </a:p>
        </p:txBody>
      </p:sp>
      <p:sp>
        <p:nvSpPr>
          <p:cNvPr id="5" name="TextBox 4">
            <a:extLst>
              <a:ext uri="{FF2B5EF4-FFF2-40B4-BE49-F238E27FC236}">
                <a16:creationId xmlns:a16="http://schemas.microsoft.com/office/drawing/2014/main" id="{193A691E-CDA7-5B29-A2DA-58D91CA4B1D4}"/>
              </a:ext>
            </a:extLst>
          </p:cNvPr>
          <p:cNvSpPr txBox="1"/>
          <p:nvPr/>
        </p:nvSpPr>
        <p:spPr>
          <a:xfrm>
            <a:off x="510540" y="4660106"/>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https://aka.ms/mslearn-visual-insights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975360"/>
          </a:xfrm>
        </p:spPr>
        <p:txBody>
          <a:bodyPr vert="horz" wrap="square" lIns="0" tIns="0" rIns="0" bIns="0" rtlCol="0" anchor="t">
            <a:spAutoFit/>
          </a:bodyPr>
          <a:lstStyle/>
          <a:p>
            <a:r>
              <a:rPr lang="es-ES" sz="3200" b="0" i="0" strike="noStrike" cap="none" baseline="0">
                <a:solidFill>
                  <a:srgbClr val="000000"/>
                </a:solidFill>
                <a:effectLst/>
                <a:latin typeface="Segoe UI Semibold"/>
                <a:ea typeface="Segoe UI Semibold"/>
                <a:cs typeface="Segoe UI Semibold"/>
              </a:rPr>
              <a:t>Cargas de trabajo de inteligencia artificial</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709352" y="3805837"/>
            <a:ext cx="1956957"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IA generativa y agentes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183742" y="3805836"/>
            <a:ext cx="1391581" cy="30480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Texto y lenguaje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64237" y="3805836"/>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12638" y="3805836"/>
            <a:ext cx="1500601"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4859"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358151" y="3805836"/>
            <a:ext cx="2196536"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Segoe UI"/>
              </a:rPr>
              <a:t>Extracción de información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a:ln>
                          <a:noFill/>
                        </a:ln>
                        <a:solidFill>
                          <a:prstClr val="white"/>
                        </a:solidFill>
                        <a:effectLst/>
                        <a:uLnTx/>
                        <a:uFillTx/>
                      </a:endParaRP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4984134" y="5458868"/>
              <a:ext cx="2270007"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Segoe UI"/>
                </a:rPr>
                <a:t>Aprendizaje automático</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87680"/>
          </a:xfrm>
        </p:spPr>
        <p:txBody>
          <a:bodyPr vert="horz" wrap="square" lIns="0" tIns="0" rIns="0" bIns="0" rtlCol="0" anchor="t">
            <a:spAutoFit/>
          </a:bodyPr>
          <a:lstStyle/>
          <a:p>
            <a:r>
              <a:rPr lang="es-ES" sz="3200" b="0" i="0" strike="noStrike" cap="none" baseline="0">
                <a:solidFill>
                  <a:srgbClr val="000000"/>
                </a:solidFill>
                <a:effectLst/>
                <a:latin typeface="Segoe UI Semibold"/>
                <a:ea typeface="Segoe UI Semibold"/>
                <a:cs typeface="Segoe UI Semibold"/>
              </a:rPr>
              <a:t>Nuestro enfoque actual</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718445" y="3805837"/>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IA generativa y agentes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D9D9D9"/>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183742" y="3805836"/>
            <a:ext cx="1391581" cy="30480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Segoe UI"/>
              </a:rPr>
              <a:t>Texto y lenguaje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D9D9D9"/>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48042" y="3805836"/>
            <a:ext cx="1646386"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12638" y="3805836"/>
            <a:ext cx="1500601"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Segoe UI"/>
              </a:rPr>
              <a:t>Computer</a:t>
            </a:r>
            <a:r>
              <a:rPr lang="es-ES" sz="1400" b="0" i="0" strike="noStrike" cap="none" baseline="0" dirty="0">
                <a:solidFill>
                  <a:srgbClr val="FFFFFF"/>
                </a:solidFill>
                <a:effectLst/>
                <a:latin typeface="Aptos"/>
                <a:ea typeface="Aptos"/>
                <a:cs typeface="Segoe UI"/>
              </a:rPr>
              <a:t>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9748"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353260" y="3805836"/>
            <a:ext cx="2216096"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Extracción de información</a:t>
            </a:r>
          </a:p>
        </p:txBody>
      </p:sp>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a:ln>
                        <a:noFill/>
                      </a:ln>
                      <a:solidFill>
                        <a:prstClr val="white"/>
                      </a:solidFill>
                      <a:effectLst/>
                      <a:uLnTx/>
                      <a:uFillTx/>
                    </a:endParaRP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2" name="TextBox 1">
            <a:extLst>
              <a:ext uri="{FF2B5EF4-FFF2-40B4-BE49-F238E27FC236}">
                <a16:creationId xmlns:a16="http://schemas.microsoft.com/office/drawing/2014/main" id="{69D52106-696D-882C-A92B-FB40AD688E79}"/>
              </a:ext>
            </a:extLst>
          </p:cNvPr>
          <p:cNvSpPr txBox="1"/>
          <p:nvPr/>
        </p:nvSpPr>
        <p:spPr>
          <a:xfrm>
            <a:off x="4984134" y="5458868"/>
            <a:ext cx="2270007"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Segoe UI"/>
              </a:rPr>
              <a:t>Aprendizaje automático</a:t>
            </a:r>
          </a:p>
        </p:txBody>
      </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0" y="2892167"/>
            <a:ext cx="6984892" cy="1107996"/>
          </a:xfrm>
        </p:spPr>
        <p:txBody>
          <a:bodyPr/>
          <a:lstStyle/>
          <a:p>
            <a:r>
              <a:rPr lang="es-ES" sz="3600" b="0" i="0" strike="noStrike" cap="none" baseline="0" dirty="0">
                <a:solidFill>
                  <a:srgbClr val="000000"/>
                </a:solidFill>
                <a:effectLst/>
                <a:latin typeface="Segoe UI"/>
                <a:ea typeface="Segoe UI"/>
                <a:cs typeface="Segoe UI"/>
              </a:rPr>
              <a:t>Desarrollo de una aplicación de</a:t>
            </a:r>
            <a:br>
              <a:rPr lang="es-ES" sz="3600" b="0" i="0" strike="noStrike" cap="none" baseline="0" dirty="0">
                <a:solidFill>
                  <a:srgbClr val="000000"/>
                </a:solidFill>
                <a:effectLst/>
                <a:latin typeface="Segoe UI"/>
                <a:ea typeface="Segoe UI"/>
                <a:cs typeface="Segoe UI"/>
              </a:rPr>
            </a:br>
            <a:r>
              <a:rPr lang="es-ES" sz="3600" b="0" i="0" strike="noStrike" cap="none" baseline="0" dirty="0">
                <a:solidFill>
                  <a:srgbClr val="000000"/>
                </a:solidFill>
                <a:effectLst/>
                <a:latin typeface="Segoe UI"/>
                <a:ea typeface="Segoe UI"/>
                <a:cs typeface="Segoe UI"/>
              </a:rPr>
              <a:t>IA generativa habilitada para visión</a:t>
            </a:r>
          </a:p>
        </p:txBody>
      </p:sp>
      <p:sp>
        <p:nvSpPr>
          <p:cNvPr id="4" name="TextBox 3">
            <a:extLst>
              <a:ext uri="{FF2B5EF4-FFF2-40B4-BE49-F238E27FC236}">
                <a16:creationId xmlns:a16="http://schemas.microsoft.com/office/drawing/2014/main" id="{F1E17AE1-6F4B-DCA2-B7E0-6061D1ED8619}"/>
              </a:ext>
            </a:extLst>
          </p:cNvPr>
          <p:cNvSpPr txBox="1"/>
          <p:nvPr/>
        </p:nvSpPr>
        <p:spPr>
          <a:xfrm>
            <a:off x="478471" y="4000163"/>
            <a:ext cx="4596449" cy="361188"/>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https://aka.ms/mslearn-gen-ai-vision</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1DC8-3147-4BB0-B44B-37EE38FF779C}"/>
              </a:ext>
            </a:extLst>
          </p:cNvPr>
          <p:cNvSpPr>
            <a:spLocks noGrp="1"/>
          </p:cNvSpPr>
          <p:nvPr>
            <p:ph type="title"/>
          </p:nvPr>
        </p:nvSpPr>
        <p:spPr>
          <a:xfrm>
            <a:off x="588260" y="585216"/>
            <a:ext cx="11343354" cy="487680"/>
          </a:xfrm>
        </p:spPr>
        <p:txBody>
          <a:bodyPr/>
          <a:lstStyle/>
          <a:p>
            <a:r>
              <a:rPr lang="es-ES" sz="3200" b="0" i="0" strike="noStrike" cap="none" baseline="0">
                <a:solidFill>
                  <a:srgbClr val="000000"/>
                </a:solidFill>
                <a:effectLst/>
                <a:latin typeface="Segoe UI Semibold"/>
                <a:ea typeface="Segoe UI Semibold"/>
                <a:cs typeface="Segoe UI Semibold"/>
              </a:rPr>
              <a:t>Uso de un modelo con capacidades de visión</a:t>
            </a:r>
          </a:p>
        </p:txBody>
      </p:sp>
      <p:sp>
        <p:nvSpPr>
          <p:cNvPr id="5" name="Text Placeholder 4">
            <a:extLst>
              <a:ext uri="{FF2B5EF4-FFF2-40B4-BE49-F238E27FC236}">
                <a16:creationId xmlns:a16="http://schemas.microsoft.com/office/drawing/2014/main" id="{0616B650-0E57-FB88-A571-F39976BD5D3B}"/>
              </a:ext>
            </a:extLst>
          </p:cNvPr>
          <p:cNvSpPr>
            <a:spLocks noGrp="1"/>
          </p:cNvSpPr>
          <p:nvPr>
            <p:ph type="body" sz="quarter" idx="16"/>
          </p:nvPr>
        </p:nvSpPr>
        <p:spPr>
          <a:xfrm>
            <a:off x="584199" y="1594155"/>
            <a:ext cx="4675481" cy="5161280"/>
          </a:xfrm>
        </p:spPr>
        <p:txBody>
          <a:bodyPr/>
          <a:lstStyle/>
          <a:p>
            <a:pPr marL="0" lvl="1" indent="0">
              <a:spcBef>
                <a:spcPts val="1200"/>
              </a:spcBef>
              <a:buNone/>
            </a:pPr>
            <a:r>
              <a:rPr lang="es-ES" sz="2000" b="0" i="0" strike="noStrike" cap="none" baseline="0" dirty="0">
                <a:solidFill>
                  <a:srgbClr val="000000"/>
                </a:solidFill>
                <a:effectLst/>
                <a:latin typeface="Segoe UI"/>
                <a:ea typeface="Segoe UI"/>
                <a:cs typeface="Segoe UI"/>
              </a:rPr>
              <a:t>Modelos multimodales para datos</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de texto e imagen:</a:t>
            </a:r>
          </a:p>
          <a:p>
            <a:pPr marL="220853" lvl="1" indent="-231775">
              <a:spcBef>
                <a:spcPts val="600"/>
              </a:spcBef>
              <a:spcAft>
                <a:spcPts val="400"/>
              </a:spcAft>
              <a:buSzTx/>
            </a:pPr>
            <a:r>
              <a:rPr lang="es-ES" sz="2000" b="0" i="0" strike="noStrike" cap="none" baseline="0" dirty="0">
                <a:solidFill>
                  <a:srgbClr val="000000"/>
                </a:solidFill>
                <a:effectLst/>
                <a:latin typeface="Segoe UI"/>
                <a:ea typeface="Segoe UI"/>
                <a:cs typeface="Segoe UI"/>
              </a:rPr>
              <a:t>Indicaciones de texto</a:t>
            </a:r>
          </a:p>
          <a:p>
            <a:pPr marL="220853" lvl="1" indent="-231775">
              <a:spcBef>
                <a:spcPts val="600"/>
              </a:spcBef>
              <a:spcAft>
                <a:spcPts val="400"/>
              </a:spcAft>
              <a:buSzTx/>
            </a:pPr>
            <a:r>
              <a:rPr lang="es-ES" sz="2000" b="0" i="0" strike="noStrike" cap="none" baseline="0" dirty="0">
                <a:solidFill>
                  <a:srgbClr val="000000"/>
                </a:solidFill>
                <a:effectLst/>
                <a:latin typeface="Segoe UI"/>
                <a:ea typeface="Segoe UI"/>
                <a:cs typeface="Segoe UI"/>
              </a:rPr>
              <a:t>Solicitudes de imagen</a:t>
            </a:r>
          </a:p>
          <a:p>
            <a:pPr marL="220853" lvl="1" indent="-231775">
              <a:spcBef>
                <a:spcPts val="600"/>
              </a:spcBef>
              <a:spcAft>
                <a:spcPts val="400"/>
              </a:spcAft>
              <a:buSzTx/>
            </a:pPr>
            <a:r>
              <a:rPr lang="es-ES" sz="2000" b="0" i="0" strike="noStrike" cap="none" baseline="0" dirty="0" err="1">
                <a:solidFill>
                  <a:srgbClr val="000000"/>
                </a:solidFill>
                <a:effectLst/>
                <a:latin typeface="Segoe UI"/>
                <a:ea typeface="Segoe UI"/>
                <a:cs typeface="Segoe UI"/>
              </a:rPr>
              <a:t>Indicaiones</a:t>
            </a:r>
            <a:r>
              <a:rPr lang="es-ES" sz="2000" b="0" i="0" strike="noStrike" cap="none" baseline="0" dirty="0">
                <a:solidFill>
                  <a:srgbClr val="000000"/>
                </a:solidFill>
                <a:effectLst/>
                <a:latin typeface="Segoe UI"/>
                <a:ea typeface="Segoe UI"/>
                <a:cs typeface="Segoe UI"/>
              </a:rPr>
              <a:t> multimodales</a:t>
            </a:r>
          </a:p>
          <a:p>
            <a:pPr marL="0" lvl="1" indent="0">
              <a:spcBef>
                <a:spcPts val="600"/>
              </a:spcBef>
              <a:spcAft>
                <a:spcPts val="400"/>
              </a:spcAft>
              <a:buSzTx/>
              <a:buNone/>
            </a:pPr>
            <a:endParaRPr lang="en-US" sz="2000" dirty="0"/>
          </a:p>
          <a:p>
            <a:pPr marL="0" lvl="1" indent="0">
              <a:spcBef>
                <a:spcPts val="600"/>
              </a:spcBef>
              <a:spcAft>
                <a:spcPts val="400"/>
              </a:spcAft>
              <a:buSzTx/>
              <a:buNone/>
            </a:pPr>
            <a:r>
              <a:rPr lang="es-ES" sz="2000" b="0" i="0" strike="noStrike" cap="none" baseline="0" dirty="0">
                <a:solidFill>
                  <a:srgbClr val="161616"/>
                </a:solidFill>
                <a:effectLst/>
                <a:latin typeface="Segoe UI"/>
                <a:ea typeface="Segoe UI"/>
                <a:cs typeface="Segoe UI"/>
              </a:rPr>
              <a:t>Normalmente, las indicaciones multimodales de entrada basadas</a:t>
            </a:r>
            <a:br>
              <a:rPr lang="es-ES" sz="2000" b="0" i="0" strike="noStrike" cap="none" baseline="0" dirty="0">
                <a:solidFill>
                  <a:srgbClr val="161616"/>
                </a:solidFill>
                <a:effectLst/>
                <a:latin typeface="Segoe UI"/>
                <a:ea typeface="Segoe UI"/>
                <a:cs typeface="Segoe UI"/>
              </a:rPr>
            </a:br>
            <a:r>
              <a:rPr lang="es-ES" sz="2000" b="0" i="0" strike="noStrike" cap="none" baseline="0" dirty="0">
                <a:solidFill>
                  <a:srgbClr val="161616"/>
                </a:solidFill>
                <a:effectLst/>
                <a:latin typeface="Segoe UI"/>
                <a:ea typeface="Segoe UI"/>
                <a:cs typeface="Segoe UI"/>
              </a:rPr>
              <a:t>en visión incluyen varias partes</a:t>
            </a:r>
            <a:br>
              <a:rPr lang="es-ES" sz="2000" b="0" i="0" strike="noStrike" cap="none" baseline="0" dirty="0">
                <a:solidFill>
                  <a:srgbClr val="161616"/>
                </a:solidFill>
                <a:effectLst/>
                <a:latin typeface="Segoe UI"/>
                <a:ea typeface="Segoe UI"/>
                <a:cs typeface="Segoe UI"/>
              </a:rPr>
            </a:br>
            <a:r>
              <a:rPr lang="es-ES" sz="2000" b="0" i="0" strike="noStrike" cap="none" baseline="0" dirty="0">
                <a:solidFill>
                  <a:srgbClr val="161616"/>
                </a:solidFill>
                <a:effectLst/>
                <a:latin typeface="Segoe UI"/>
                <a:ea typeface="Segoe UI"/>
                <a:cs typeface="Segoe UI"/>
              </a:rPr>
              <a:t>(por ejemplo, una parte de texto</a:t>
            </a:r>
            <a:br>
              <a:rPr lang="es-ES" sz="2000" b="0" i="0" strike="noStrike" cap="none" baseline="0" dirty="0">
                <a:solidFill>
                  <a:srgbClr val="161616"/>
                </a:solidFill>
                <a:effectLst/>
                <a:latin typeface="Segoe UI"/>
                <a:ea typeface="Segoe UI"/>
                <a:cs typeface="Segoe UI"/>
              </a:rPr>
            </a:br>
            <a:r>
              <a:rPr lang="es-ES" sz="2000" b="0" i="0" strike="noStrike" cap="none" baseline="0" dirty="0">
                <a:solidFill>
                  <a:srgbClr val="161616"/>
                </a:solidFill>
                <a:effectLst/>
                <a:latin typeface="Segoe UI"/>
                <a:ea typeface="Segoe UI"/>
                <a:cs typeface="Segoe UI"/>
              </a:rPr>
              <a:t>y una parte de imagen)</a:t>
            </a:r>
          </a:p>
          <a:p>
            <a:pPr marL="0" lvl="1" indent="0">
              <a:spcBef>
                <a:spcPts val="600"/>
              </a:spcBef>
              <a:spcAft>
                <a:spcPts val="400"/>
              </a:spcAft>
              <a:buSzTx/>
              <a:buNone/>
            </a:pPr>
            <a:endParaRPr lang="en-US" sz="2200" dirty="0"/>
          </a:p>
          <a:p>
            <a:pPr marL="339725" lvl="2" indent="-231775">
              <a:spcBef>
                <a:spcPts val="200"/>
              </a:spcBef>
              <a:spcAft>
                <a:spcPts val="400"/>
              </a:spcAft>
              <a:buSzTx/>
            </a:pPr>
            <a:endParaRPr lang="en-US" sz="2000" dirty="0"/>
          </a:p>
          <a:p>
            <a:pPr marL="339725" lvl="2" indent="-231775">
              <a:spcBef>
                <a:spcPts val="200"/>
              </a:spcBef>
              <a:spcAft>
                <a:spcPts val="400"/>
              </a:spcAft>
              <a:buSzTx/>
            </a:pPr>
            <a:endParaRPr lang="en-US" sz="2000" dirty="0"/>
          </a:p>
        </p:txBody>
      </p:sp>
      <p:sp>
        <p:nvSpPr>
          <p:cNvPr id="3" name="Footer Placeholder 2">
            <a:extLst>
              <a:ext uri="{FF2B5EF4-FFF2-40B4-BE49-F238E27FC236}">
                <a16:creationId xmlns:a16="http://schemas.microsoft.com/office/drawing/2014/main" id="{483FBBAD-E9A6-CF01-E9B8-F55935BB3032}"/>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pic>
        <p:nvPicPr>
          <p:cNvPr id="4" name="Picture 3">
            <a:extLst>
              <a:ext uri="{FF2B5EF4-FFF2-40B4-BE49-F238E27FC236}">
                <a16:creationId xmlns:a16="http://schemas.microsoft.com/office/drawing/2014/main" id="{8A21574C-0354-E037-85AF-E0EF6046E4BC}"/>
              </a:ext>
            </a:extLst>
          </p:cNvPr>
          <p:cNvPicPr>
            <a:picLocks noChangeAspect="1"/>
          </p:cNvPicPr>
          <p:nvPr/>
        </p:nvPicPr>
        <p:blipFill>
          <a:blip r:embed="rId3"/>
          <a:srcRect/>
          <a:stretch/>
        </p:blipFill>
        <p:spPr>
          <a:xfrm>
            <a:off x="5259680" y="1386114"/>
            <a:ext cx="6671933" cy="4886670"/>
          </a:xfrm>
          <a:prstGeom prst="rect">
            <a:avLst/>
          </a:prstGeom>
        </p:spPr>
      </p:pic>
    </p:spTree>
    <p:extLst>
      <p:ext uri="{BB962C8B-B14F-4D97-AF65-F5344CB8AC3E}">
        <p14:creationId xmlns:p14="http://schemas.microsoft.com/office/powerpoint/2010/main" val="224222934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1FBE-7FA3-DD96-EAE4-47FCBE0C3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C4029-9325-F15F-46AE-197E9584532A}"/>
              </a:ext>
            </a:extLst>
          </p:cNvPr>
          <p:cNvSpPr>
            <a:spLocks noGrp="1"/>
          </p:cNvSpPr>
          <p:nvPr>
            <p:ph type="title"/>
          </p:nvPr>
        </p:nvSpPr>
        <p:spPr>
          <a:xfrm>
            <a:off x="588261" y="585216"/>
            <a:ext cx="11802591" cy="477054"/>
          </a:xfrm>
        </p:spPr>
        <p:txBody>
          <a:bodyPr/>
          <a:lstStyle/>
          <a:p>
            <a:r>
              <a:rPr lang="es-ES" sz="3100" b="1" i="0" strike="noStrike" cap="none" baseline="0" dirty="0">
                <a:solidFill>
                  <a:srgbClr val="000000"/>
                </a:solidFill>
                <a:effectLst/>
                <a:latin typeface="Segoe UI Semibold"/>
                <a:ea typeface="Segoe UI Semibold"/>
                <a:cs typeface="Segoe UI Semibold"/>
              </a:rPr>
              <a:t>Comparación de las API para indicaciones basadas en imágenes</a:t>
            </a:r>
            <a:endParaRPr lang="en-US" sz="3100" dirty="0"/>
          </a:p>
        </p:txBody>
      </p:sp>
      <p:grpSp>
        <p:nvGrpSpPr>
          <p:cNvPr id="70" name="Group 69">
            <a:extLst>
              <a:ext uri="{FF2B5EF4-FFF2-40B4-BE49-F238E27FC236}">
                <a16:creationId xmlns:a16="http://schemas.microsoft.com/office/drawing/2014/main" id="{8F325D51-7BD7-12ED-DAF4-708BBA3CAFD8}"/>
              </a:ext>
              <a:ext uri="{C183D7F6-B498-43B3-948B-1728B52AA6E4}">
                <adec:decorative xmlns:adec="http://schemas.microsoft.com/office/drawing/2017/decorative" val="1"/>
              </a:ext>
            </a:extLst>
          </p:cNvPr>
          <p:cNvGrpSpPr/>
          <p:nvPr/>
        </p:nvGrpSpPr>
        <p:grpSpPr>
          <a:xfrm>
            <a:off x="544191" y="1901997"/>
            <a:ext cx="830603" cy="338554"/>
            <a:chOff x="544191" y="1901997"/>
            <a:chExt cx="830603" cy="338554"/>
          </a:xfrm>
        </p:grpSpPr>
        <p:sp>
          <p:nvSpPr>
            <p:cNvPr id="59" name="Oval 58">
              <a:extLst>
                <a:ext uri="{FF2B5EF4-FFF2-40B4-BE49-F238E27FC236}">
                  <a16:creationId xmlns:a16="http://schemas.microsoft.com/office/drawing/2014/main" id="{7625B65B-3181-A87F-4BA2-9982A0CBBEE0}"/>
                </a:ext>
              </a:extLst>
            </p:cNvPr>
            <p:cNvSpPr>
              <a:spLocks noChangeAspect="1"/>
            </p:cNvSpPr>
            <p:nvPr/>
          </p:nvSpPr>
          <p:spPr bwMode="auto">
            <a:xfrm>
              <a:off x="544191" y="1979834"/>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404040"/>
                  </a:solidFill>
                  <a:effectLst/>
                  <a:latin typeface="Segoe UI"/>
                  <a:ea typeface="Segoe UI"/>
                  <a:cs typeface="Segoe UI"/>
                </a:rPr>
                <a:t>1</a:t>
              </a:r>
            </a:p>
          </p:txBody>
        </p:sp>
        <p:sp>
          <p:nvSpPr>
            <p:cNvPr id="64" name="TextBox 63">
              <a:extLst>
                <a:ext uri="{FF2B5EF4-FFF2-40B4-BE49-F238E27FC236}">
                  <a16:creationId xmlns:a16="http://schemas.microsoft.com/office/drawing/2014/main" id="{EB508759-FE10-B119-39AC-8A17154F9483}"/>
                </a:ext>
              </a:extLst>
            </p:cNvPr>
            <p:cNvSpPr txBox="1"/>
            <p:nvPr/>
          </p:nvSpPr>
          <p:spPr>
            <a:xfrm>
              <a:off x="873790" y="1901997"/>
              <a:ext cx="564388" cy="338633"/>
            </a:xfrm>
            <a:prstGeom prst="rect">
              <a:avLst/>
            </a:prstGeom>
            <a:noFill/>
          </p:spPr>
          <p:txBody>
            <a:bodyPr wrap="none" lIns="0" tIns="0" rIns="0" bIns="0" rtlCol="0">
              <a:spAutoFit/>
            </a:bodyPr>
            <a:lstStyle/>
            <a:p>
              <a:pPr algn="ctr"/>
              <a:r>
                <a:rPr lang="es-ES" sz="1100" b="0" i="0" strike="noStrike" cap="none" baseline="0">
                  <a:solidFill>
                    <a:srgbClr val="404040"/>
                  </a:solidFill>
                  <a:effectLst/>
                  <a:latin typeface="Segoe UI Semibold"/>
                  <a:ea typeface="Segoe UI Semibold"/>
                  <a:cs typeface="Segoe UI Semibold"/>
                </a:rPr>
                <a:t>LOAD</a:t>
              </a:r>
            </a:p>
            <a:p>
              <a:pPr algn="ctr"/>
              <a:r>
                <a:rPr lang="es-ES" sz="1100" b="0" i="0" strike="noStrike" cap="none" baseline="0">
                  <a:solidFill>
                    <a:srgbClr val="404040"/>
                  </a:solidFill>
                  <a:effectLst/>
                  <a:latin typeface="Segoe UI Semibold"/>
                  <a:ea typeface="Segoe UI Semibold"/>
                  <a:cs typeface="Segoe UI Semibold"/>
                </a:rPr>
                <a:t>IMAGEN</a:t>
              </a:r>
            </a:p>
          </p:txBody>
        </p:sp>
      </p:grpSp>
      <p:grpSp>
        <p:nvGrpSpPr>
          <p:cNvPr id="71" name="Group 70">
            <a:extLst>
              <a:ext uri="{FF2B5EF4-FFF2-40B4-BE49-F238E27FC236}">
                <a16:creationId xmlns:a16="http://schemas.microsoft.com/office/drawing/2014/main" id="{7933073B-54AB-7039-0D15-4F448645C600}"/>
              </a:ext>
              <a:ext uri="{C183D7F6-B498-43B3-948B-1728B52AA6E4}">
                <adec:decorative xmlns:adec="http://schemas.microsoft.com/office/drawing/2017/decorative" val="1"/>
              </a:ext>
            </a:extLst>
          </p:cNvPr>
          <p:cNvGrpSpPr/>
          <p:nvPr/>
        </p:nvGrpSpPr>
        <p:grpSpPr>
          <a:xfrm>
            <a:off x="544191" y="2978001"/>
            <a:ext cx="860258" cy="338554"/>
            <a:chOff x="544191" y="2632315"/>
            <a:chExt cx="860258" cy="338554"/>
          </a:xfrm>
        </p:grpSpPr>
        <p:sp>
          <p:nvSpPr>
            <p:cNvPr id="63" name="Oval 62">
              <a:extLst>
                <a:ext uri="{FF2B5EF4-FFF2-40B4-BE49-F238E27FC236}">
                  <a16:creationId xmlns:a16="http://schemas.microsoft.com/office/drawing/2014/main" id="{553C555A-D0DB-C982-0B4E-C918D426AB92}"/>
                </a:ext>
              </a:extLst>
            </p:cNvPr>
            <p:cNvSpPr>
              <a:spLocks noChangeAspect="1"/>
            </p:cNvSpPr>
            <p:nvPr/>
          </p:nvSpPr>
          <p:spPr bwMode="auto">
            <a:xfrm>
              <a:off x="544191" y="271015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404040"/>
                  </a:solidFill>
                  <a:effectLst/>
                  <a:latin typeface="Segoe UI"/>
                  <a:ea typeface="Segoe UI"/>
                  <a:cs typeface="Segoe UI"/>
                </a:rPr>
                <a:t>2</a:t>
              </a:r>
            </a:p>
          </p:txBody>
        </p:sp>
        <p:sp>
          <p:nvSpPr>
            <p:cNvPr id="65" name="TextBox 64">
              <a:extLst>
                <a:ext uri="{FF2B5EF4-FFF2-40B4-BE49-F238E27FC236}">
                  <a16:creationId xmlns:a16="http://schemas.microsoft.com/office/drawing/2014/main" id="{500C522F-8F48-F177-36DF-E9E162F2F042}"/>
                </a:ext>
              </a:extLst>
            </p:cNvPr>
            <p:cNvSpPr txBox="1"/>
            <p:nvPr/>
          </p:nvSpPr>
          <p:spPr>
            <a:xfrm>
              <a:off x="876996" y="2632315"/>
              <a:ext cx="557975" cy="338633"/>
            </a:xfrm>
            <a:prstGeom prst="rect">
              <a:avLst/>
            </a:prstGeom>
            <a:noFill/>
          </p:spPr>
          <p:txBody>
            <a:bodyPr wrap="none" lIns="0" tIns="0" rIns="0" bIns="0" rtlCol="0">
              <a:spAutoFit/>
            </a:bodyPr>
            <a:lstStyle/>
            <a:p>
              <a:pPr algn="ctr"/>
              <a:r>
                <a:rPr lang="es-ES" sz="1100" b="0" i="0" strike="noStrike" cap="none" baseline="0">
                  <a:solidFill>
                    <a:srgbClr val="404040"/>
                  </a:solidFill>
                  <a:effectLst/>
                  <a:latin typeface="Segoe UI Semibold"/>
                  <a:ea typeface="Segoe UI Semibold"/>
                  <a:cs typeface="Segoe UI Semibold"/>
                </a:rPr>
                <a:t>CREATE</a:t>
              </a:r>
            </a:p>
            <a:p>
              <a:pPr algn="ctr"/>
              <a:r>
                <a:rPr lang="es-ES" sz="1100" b="0" i="0" strike="noStrike" cap="none" baseline="0">
                  <a:solidFill>
                    <a:srgbClr val="404040"/>
                  </a:solidFill>
                  <a:effectLst/>
                  <a:latin typeface="Segoe UI Semibold"/>
                  <a:ea typeface="Segoe UI Semibold"/>
                  <a:cs typeface="Segoe UI Semibold"/>
                </a:rPr>
                <a:t>URL</a:t>
              </a:r>
            </a:p>
          </p:txBody>
        </p:sp>
      </p:grpSp>
      <p:grpSp>
        <p:nvGrpSpPr>
          <p:cNvPr id="72" name="Group 71">
            <a:extLst>
              <a:ext uri="{FF2B5EF4-FFF2-40B4-BE49-F238E27FC236}">
                <a16:creationId xmlns:a16="http://schemas.microsoft.com/office/drawing/2014/main" id="{E634B46F-844E-CE7A-CD6D-251B877F859E}"/>
              </a:ext>
              <a:ext uri="{C183D7F6-B498-43B3-948B-1728B52AA6E4}">
                <adec:decorative xmlns:adec="http://schemas.microsoft.com/office/drawing/2017/decorative" val="1"/>
              </a:ext>
            </a:extLst>
          </p:cNvPr>
          <p:cNvGrpSpPr/>
          <p:nvPr/>
        </p:nvGrpSpPr>
        <p:grpSpPr>
          <a:xfrm>
            <a:off x="544191" y="3492024"/>
            <a:ext cx="772093" cy="338554"/>
            <a:chOff x="544191" y="3462435"/>
            <a:chExt cx="772093" cy="338554"/>
          </a:xfrm>
        </p:grpSpPr>
        <p:sp>
          <p:nvSpPr>
            <p:cNvPr id="62" name="Oval 61">
              <a:extLst>
                <a:ext uri="{FF2B5EF4-FFF2-40B4-BE49-F238E27FC236}">
                  <a16:creationId xmlns:a16="http://schemas.microsoft.com/office/drawing/2014/main" id="{9A8C4A1C-000A-C076-777C-09CD657C2946}"/>
                </a:ext>
              </a:extLst>
            </p:cNvPr>
            <p:cNvSpPr>
              <a:spLocks noChangeAspect="1"/>
            </p:cNvSpPr>
            <p:nvPr/>
          </p:nvSpPr>
          <p:spPr bwMode="auto">
            <a:xfrm>
              <a:off x="544191" y="354027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404040"/>
                  </a:solidFill>
                  <a:effectLst/>
                  <a:latin typeface="Segoe UI"/>
                  <a:ea typeface="Segoe UI"/>
                  <a:cs typeface="Segoe UI"/>
                </a:rPr>
                <a:t>3</a:t>
              </a:r>
            </a:p>
          </p:txBody>
        </p:sp>
        <p:sp>
          <p:nvSpPr>
            <p:cNvPr id="66" name="TextBox 65">
              <a:extLst>
                <a:ext uri="{FF2B5EF4-FFF2-40B4-BE49-F238E27FC236}">
                  <a16:creationId xmlns:a16="http://schemas.microsoft.com/office/drawing/2014/main" id="{2A2DF0D3-B712-93A5-CC54-470889861D09}"/>
                </a:ext>
              </a:extLst>
            </p:cNvPr>
            <p:cNvSpPr txBox="1"/>
            <p:nvPr/>
          </p:nvSpPr>
          <p:spPr>
            <a:xfrm>
              <a:off x="980414" y="3462435"/>
              <a:ext cx="351139" cy="338633"/>
            </a:xfrm>
            <a:prstGeom prst="rect">
              <a:avLst/>
            </a:prstGeom>
            <a:noFill/>
          </p:spPr>
          <p:txBody>
            <a:bodyPr wrap="none" lIns="0" tIns="0" rIns="0" bIns="0" rtlCol="0">
              <a:spAutoFit/>
            </a:bodyPr>
            <a:lstStyle/>
            <a:p>
              <a:pPr algn="ctr"/>
              <a:r>
                <a:rPr lang="es-ES" sz="1100" b="0" i="0" strike="noStrike" cap="none" baseline="0">
                  <a:solidFill>
                    <a:srgbClr val="404040"/>
                  </a:solidFill>
                  <a:effectLst/>
                  <a:latin typeface="Segoe UI Semibold"/>
                  <a:ea typeface="Segoe UI Semibold"/>
                  <a:cs typeface="Segoe UI Semibold"/>
                </a:rPr>
                <a:t>CALL</a:t>
              </a:r>
            </a:p>
            <a:p>
              <a:pPr algn="ctr"/>
              <a:r>
                <a:rPr lang="es-ES" sz="1100" b="0" i="0" strike="noStrike" cap="none" baseline="0">
                  <a:solidFill>
                    <a:srgbClr val="404040"/>
                  </a:solidFill>
                  <a:effectLst/>
                  <a:latin typeface="Segoe UI Semibold"/>
                  <a:ea typeface="Segoe UI Semibold"/>
                  <a:cs typeface="Segoe UI Semibold"/>
                </a:rPr>
                <a:t>API</a:t>
              </a:r>
            </a:p>
          </p:txBody>
        </p:sp>
      </p:grpSp>
      <p:grpSp>
        <p:nvGrpSpPr>
          <p:cNvPr id="73" name="Group 72">
            <a:extLst>
              <a:ext uri="{FF2B5EF4-FFF2-40B4-BE49-F238E27FC236}">
                <a16:creationId xmlns:a16="http://schemas.microsoft.com/office/drawing/2014/main" id="{3F8D5B28-9F19-9CF2-D455-084978BD2A90}"/>
              </a:ext>
              <a:ext uri="{C183D7F6-B498-43B3-948B-1728B52AA6E4}">
                <adec:decorative xmlns:adec="http://schemas.microsoft.com/office/drawing/2017/decorative" val="1"/>
              </a:ext>
            </a:extLst>
          </p:cNvPr>
          <p:cNvGrpSpPr/>
          <p:nvPr/>
        </p:nvGrpSpPr>
        <p:grpSpPr>
          <a:xfrm>
            <a:off x="544191" y="5563183"/>
            <a:ext cx="884303" cy="338554"/>
            <a:chOff x="544191" y="4303096"/>
            <a:chExt cx="884303" cy="338554"/>
          </a:xfrm>
        </p:grpSpPr>
        <p:sp>
          <p:nvSpPr>
            <p:cNvPr id="61" name="Oval 60">
              <a:extLst>
                <a:ext uri="{FF2B5EF4-FFF2-40B4-BE49-F238E27FC236}">
                  <a16:creationId xmlns:a16="http://schemas.microsoft.com/office/drawing/2014/main" id="{488997FF-C833-30D9-3BFE-189CA31D1525}"/>
                </a:ext>
              </a:extLst>
            </p:cNvPr>
            <p:cNvSpPr>
              <a:spLocks noChangeAspect="1"/>
            </p:cNvSpPr>
            <p:nvPr/>
          </p:nvSpPr>
          <p:spPr bwMode="auto">
            <a:xfrm>
              <a:off x="544191" y="4380933"/>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404040"/>
                  </a:solidFill>
                  <a:effectLst/>
                  <a:latin typeface="Segoe UI"/>
                  <a:ea typeface="Segoe UI"/>
                  <a:cs typeface="Segoe UI"/>
                </a:rPr>
                <a:t>4</a:t>
              </a:r>
            </a:p>
          </p:txBody>
        </p:sp>
        <p:sp>
          <p:nvSpPr>
            <p:cNvPr id="67" name="TextBox 66">
              <a:extLst>
                <a:ext uri="{FF2B5EF4-FFF2-40B4-BE49-F238E27FC236}">
                  <a16:creationId xmlns:a16="http://schemas.microsoft.com/office/drawing/2014/main" id="{85C5BD3D-9CFA-A5F6-4C76-2A76877E52A7}"/>
                </a:ext>
              </a:extLst>
            </p:cNvPr>
            <p:cNvSpPr txBox="1"/>
            <p:nvPr/>
          </p:nvSpPr>
          <p:spPr>
            <a:xfrm>
              <a:off x="868979" y="4303096"/>
              <a:ext cx="574008" cy="338633"/>
            </a:xfrm>
            <a:prstGeom prst="rect">
              <a:avLst/>
            </a:prstGeom>
            <a:noFill/>
          </p:spPr>
          <p:txBody>
            <a:bodyPr wrap="none" lIns="0" tIns="0" rIns="0" bIns="0" rtlCol="0">
              <a:spAutoFit/>
            </a:bodyPr>
            <a:lstStyle/>
            <a:p>
              <a:pPr algn="ctr"/>
              <a:r>
                <a:rPr lang="es-ES" sz="1100" b="0" i="0" strike="noStrike" cap="none" baseline="0">
                  <a:solidFill>
                    <a:srgbClr val="404040"/>
                  </a:solidFill>
                  <a:effectLst/>
                  <a:latin typeface="Segoe UI Semibold"/>
                  <a:ea typeface="Segoe UI Semibold"/>
                  <a:cs typeface="Segoe UI Semibold"/>
                </a:rPr>
                <a:t>GET</a:t>
              </a:r>
            </a:p>
            <a:p>
              <a:pPr algn="ctr"/>
              <a:r>
                <a:rPr lang="es-ES" sz="1100" b="0" i="0" strike="noStrike" cap="none" baseline="0">
                  <a:solidFill>
                    <a:srgbClr val="404040"/>
                  </a:solidFill>
                  <a:effectLst/>
                  <a:latin typeface="Segoe UI Semibold"/>
                  <a:ea typeface="Segoe UI Semibold"/>
                  <a:cs typeface="Segoe UI Semibold"/>
                </a:rPr>
                <a:t>OUTPUT</a:t>
              </a:r>
            </a:p>
          </p:txBody>
        </p:sp>
      </p:grpSp>
      <p:sp>
        <p:nvSpPr>
          <p:cNvPr id="3" name="Footer Placeholder 2">
            <a:extLst>
              <a:ext uri="{FF2B5EF4-FFF2-40B4-BE49-F238E27FC236}">
                <a16:creationId xmlns:a16="http://schemas.microsoft.com/office/drawing/2014/main" id="{A2AB8F3A-1802-FDBC-604C-19BF74311A20}"/>
              </a:ext>
              <a:ext uri="{C183D7F6-B498-43B3-948B-1728B52AA6E4}">
                <adec:decorative xmlns:adec="http://schemas.microsoft.com/office/drawing/2017/decorative" val="1"/>
              </a:ext>
            </a:extLst>
          </p:cNvPr>
          <p:cNvSpPr>
            <a:spLocks noGrp="1"/>
          </p:cNvSpPr>
          <p:nvPr>
            <p:ph type="ftr" sz="quarter" idx="3"/>
          </p:nvPr>
        </p:nvSpPr>
        <p:spPr>
          <a:xfrm>
            <a:off x="579437" y="6421083"/>
            <a:ext cx="4701589" cy="197976"/>
          </a:xfrm>
        </p:spPr>
        <p:txBody>
          <a:bodyPr/>
          <a:lstStyle/>
          <a:p>
            <a:pPr defTabSz="914367">
              <a:defRPr/>
            </a:pPr>
            <a:r>
              <a:rPr lang="es-ES" sz="1200" b="0" i="0" strike="noStrike" cap="none" baseline="0" dirty="0">
                <a:solidFill>
                  <a:srgbClr val="000000"/>
                </a:solidFill>
                <a:effectLst/>
                <a:latin typeface="Segoe UI"/>
                <a:ea typeface="Segoe UI"/>
                <a:cs typeface="Segoe UI"/>
              </a:rPr>
              <a:t>© Copyright Microsoft </a:t>
            </a:r>
            <a:r>
              <a:rPr lang="es-ES" sz="1200" b="0" i="0" strike="noStrike" cap="none" baseline="0" dirty="0" err="1">
                <a:solidFill>
                  <a:srgbClr val="000000"/>
                </a:solidFill>
                <a:effectLst/>
                <a:latin typeface="Segoe UI"/>
                <a:ea typeface="Segoe UI"/>
                <a:cs typeface="Segoe UI"/>
              </a:rPr>
              <a:t>Corporation</a:t>
            </a:r>
            <a:r>
              <a:rPr lang="es-ES" sz="1200" b="0" i="0" strike="noStrike" cap="none" baseline="0" dirty="0">
                <a:solidFill>
                  <a:srgbClr val="000000"/>
                </a:solidFill>
                <a:effectLst/>
                <a:latin typeface="Segoe UI"/>
                <a:ea typeface="Segoe UI"/>
                <a:cs typeface="Segoe UI"/>
              </a:rPr>
              <a:t>. Todos los derechos reservados.</a:t>
            </a:r>
          </a:p>
        </p:txBody>
      </p:sp>
      <p:sp>
        <p:nvSpPr>
          <p:cNvPr id="6" name="Rounded Rectangle 5">
            <a:extLst>
              <a:ext uri="{FF2B5EF4-FFF2-40B4-BE49-F238E27FC236}">
                <a16:creationId xmlns:a16="http://schemas.microsoft.com/office/drawing/2014/main" id="{E0AF0931-4574-90FC-FF1C-38A4E75B8446}"/>
              </a:ext>
              <a:ext uri="{C183D7F6-B498-43B3-948B-1728B52AA6E4}">
                <adec:decorative xmlns:adec="http://schemas.microsoft.com/office/drawing/2017/decorative" val="1"/>
              </a:ext>
            </a:extLst>
          </p:cNvPr>
          <p:cNvSpPr/>
          <p:nvPr/>
        </p:nvSpPr>
        <p:spPr bwMode="auto">
          <a:xfrm flipH="1">
            <a:off x="1559755" y="1202435"/>
            <a:ext cx="5119480" cy="521373"/>
          </a:xfrm>
          <a:prstGeom prst="roundRect">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50" name="Group 49">
            <a:extLst>
              <a:ext uri="{FF2B5EF4-FFF2-40B4-BE49-F238E27FC236}">
                <a16:creationId xmlns:a16="http://schemas.microsoft.com/office/drawing/2014/main" id="{503C1443-0BB1-8550-0D9B-DF5E23DC1DC1}"/>
              </a:ext>
              <a:ext uri="{C183D7F6-B498-43B3-948B-1728B52AA6E4}">
                <adec:decorative xmlns:adec="http://schemas.microsoft.com/office/drawing/2017/decorative" val="1"/>
              </a:ext>
            </a:extLst>
          </p:cNvPr>
          <p:cNvGrpSpPr>
            <a:grpSpLocks noChangeAspect="1"/>
          </p:cNvGrpSpPr>
          <p:nvPr/>
        </p:nvGrpSpPr>
        <p:grpSpPr>
          <a:xfrm>
            <a:off x="1645303" y="1280241"/>
            <a:ext cx="365760" cy="365760"/>
            <a:chOff x="1255329" y="1453729"/>
            <a:chExt cx="457200" cy="457200"/>
          </a:xfrm>
        </p:grpSpPr>
        <p:sp>
          <p:nvSpPr>
            <p:cNvPr id="7" name="Oval 6">
              <a:extLst>
                <a:ext uri="{FF2B5EF4-FFF2-40B4-BE49-F238E27FC236}">
                  <a16:creationId xmlns:a16="http://schemas.microsoft.com/office/drawing/2014/main" id="{8E354E20-A11B-18FE-B36B-6F9A84F37D34}"/>
                </a:ext>
              </a:extLst>
            </p:cNvPr>
            <p:cNvSpPr>
              <a:spLocks noChangeAspect="1"/>
            </p:cNvSpPr>
            <p:nvPr/>
          </p:nvSpPr>
          <p:spPr bwMode="auto">
            <a:xfrm>
              <a:off x="1255329" y="1453729"/>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9" name="Graphic 8" descr="Speech with solid fill">
              <a:extLst>
                <a:ext uri="{FF2B5EF4-FFF2-40B4-BE49-F238E27FC236}">
                  <a16:creationId xmlns:a16="http://schemas.microsoft.com/office/drawing/2014/main" id="{9A074EBE-8E11-A787-82A7-68BB5668BC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8002" y="1517737"/>
              <a:ext cx="365760" cy="365760"/>
            </a:xfrm>
            <a:prstGeom prst="rect">
              <a:avLst/>
            </a:prstGeom>
          </p:spPr>
        </p:pic>
      </p:grpSp>
      <p:sp>
        <p:nvSpPr>
          <p:cNvPr id="8" name="TextBox 7">
            <a:extLst>
              <a:ext uri="{FF2B5EF4-FFF2-40B4-BE49-F238E27FC236}">
                <a16:creationId xmlns:a16="http://schemas.microsoft.com/office/drawing/2014/main" id="{A78FF9AD-287B-421B-C404-9D483EF9E6D9}"/>
              </a:ext>
            </a:extLst>
          </p:cNvPr>
          <p:cNvSpPr txBox="1"/>
          <p:nvPr/>
        </p:nvSpPr>
        <p:spPr>
          <a:xfrm>
            <a:off x="2077949" y="1324622"/>
            <a:ext cx="2736961" cy="277063"/>
          </a:xfrm>
          <a:prstGeom prst="rect">
            <a:avLst/>
          </a:prstGeom>
          <a:noFill/>
        </p:spPr>
        <p:txBody>
          <a:bodyPr wrap="none" lIns="0" tIns="0" rIns="0" bIns="0" rtlCol="0">
            <a:spAutoFit/>
          </a:bodyPr>
          <a:lstStyle/>
          <a:p>
            <a:pPr algn="l"/>
            <a:r>
              <a:rPr lang="es-ES" sz="1800" b="1" i="0" strike="noStrike" cap="none" baseline="0">
                <a:solidFill>
                  <a:srgbClr val="0078D4"/>
                </a:solidFill>
                <a:effectLst/>
                <a:latin typeface="Segoe UI Semibold"/>
                <a:ea typeface="Segoe UI Semibold"/>
                <a:cs typeface="Segoe UI Semibold"/>
              </a:rPr>
              <a:t>API ChatCompletions</a:t>
            </a:r>
          </a:p>
        </p:txBody>
      </p:sp>
      <p:sp>
        <p:nvSpPr>
          <p:cNvPr id="15" name="Rounded Rectangle 14">
            <a:extLst>
              <a:ext uri="{FF2B5EF4-FFF2-40B4-BE49-F238E27FC236}">
                <a16:creationId xmlns:a16="http://schemas.microsoft.com/office/drawing/2014/main" id="{DC77FFFE-E954-03E5-717E-7554436BEA66}"/>
              </a:ext>
              <a:ext uri="{C183D7F6-B498-43B3-948B-1728B52AA6E4}">
                <adec:decorative xmlns:adec="http://schemas.microsoft.com/office/drawing/2017/decorative" val="1"/>
              </a:ext>
            </a:extLst>
          </p:cNvPr>
          <p:cNvSpPr/>
          <p:nvPr/>
        </p:nvSpPr>
        <p:spPr bwMode="auto">
          <a:xfrm>
            <a:off x="1559754" y="1779334"/>
            <a:ext cx="5135478" cy="1077758"/>
          </a:xfrm>
          <a:prstGeom prst="roundRect">
            <a:avLst>
              <a:gd name="adj" fmla="val 735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1" name="TextBox 40">
            <a:extLst>
              <a:ext uri="{FF2B5EF4-FFF2-40B4-BE49-F238E27FC236}">
                <a16:creationId xmlns:a16="http://schemas.microsoft.com/office/drawing/2014/main" id="{817DB563-CA26-27E6-B67B-CA769C6D5E09}"/>
              </a:ext>
            </a:extLst>
          </p:cNvPr>
          <p:cNvSpPr txBox="1"/>
          <p:nvPr/>
        </p:nvSpPr>
        <p:spPr>
          <a:xfrm>
            <a:off x="1559754" y="1810382"/>
            <a:ext cx="4906382" cy="1005840"/>
          </a:xfrm>
          <a:prstGeom prst="rect">
            <a:avLst/>
          </a:prstGeom>
          <a:noFill/>
        </p:spPr>
        <p:txBody>
          <a:bodyPr wrap="square">
            <a:spAutoFit/>
          </a:bodyPr>
          <a:lstStyle/>
          <a:p>
            <a:pPr algn="l">
              <a:buNone/>
            </a:pPr>
            <a:r>
              <a:rPr lang="es-ES" sz="1200" b="0" i="0" strike="noStrike" cap="none" baseline="0" dirty="0" err="1">
                <a:solidFill>
                  <a:srgbClr val="9CDCFE"/>
                </a:solidFill>
                <a:effectLst/>
                <a:latin typeface="Consolas"/>
                <a:ea typeface="Consolas"/>
                <a:cs typeface="Consolas"/>
              </a:rPr>
              <a:t>image_path</a:t>
            </a:r>
            <a:r>
              <a:rPr lang="es-ES" sz="1200" b="0" i="0" strike="noStrike" cap="none" baseline="0" dirty="0">
                <a:solidFill>
                  <a:srgbClr val="ABB2BF"/>
                </a:solidFill>
                <a:effectLst/>
                <a:latin typeface="Consolas"/>
                <a:ea typeface="Consolas"/>
                <a:cs typeface="Consolas"/>
              </a:rPr>
              <a:t> = </a:t>
            </a:r>
            <a:r>
              <a:rPr lang="es-ES" sz="1200" b="0" i="0" strike="noStrike" cap="none" baseline="0" dirty="0">
                <a:solidFill>
                  <a:srgbClr val="DCDCAA"/>
                </a:solidFill>
                <a:effectLst/>
                <a:latin typeface="Consolas"/>
                <a:ea typeface="Consolas"/>
                <a:cs typeface="Consolas"/>
              </a:rPr>
              <a:t>Path</a:t>
            </a:r>
            <a:r>
              <a:rPr lang="es-ES" sz="1200" b="0" i="0" strike="noStrike" cap="none" baseline="0" dirty="0">
                <a:solidFill>
                  <a:srgbClr val="ABB2BF"/>
                </a:solidFill>
                <a:effectLst/>
                <a:latin typeface="Consolas"/>
                <a:ea typeface="Consolas"/>
                <a:cs typeface="Consolas"/>
              </a:rPr>
              <a:t>(</a:t>
            </a:r>
            <a:r>
              <a:rPr lang="es-ES" sz="1200" b="0" i="0" strike="noStrike" cap="none" baseline="0" dirty="0">
                <a:solidFill>
                  <a:srgbClr val="CE9178"/>
                </a:solidFill>
                <a:effectLst/>
                <a:latin typeface="Consolas"/>
                <a:ea typeface="Consolas"/>
                <a:cs typeface="Consolas"/>
              </a:rPr>
              <a:t>"fruit.jpeg"</a:t>
            </a:r>
            <a:r>
              <a:rPr lang="es-ES" sz="1200" b="0" i="0" strike="noStrike" cap="none" baseline="0" dirty="0">
                <a:solidFill>
                  <a:srgbClr val="ABB2BF"/>
                </a:solidFill>
                <a:effectLst/>
                <a:latin typeface="Consolas"/>
                <a:ea typeface="Consolas"/>
                <a:cs typeface="Consolas"/>
              </a:rPr>
              <a:t>)</a:t>
            </a:r>
          </a:p>
          <a:p>
            <a:pPr algn="l">
              <a:buNone/>
            </a:pPr>
            <a:r>
              <a:rPr lang="es-ES" sz="1200" b="0" i="0" strike="noStrike" cap="none" baseline="0" dirty="0" err="1">
                <a:solidFill>
                  <a:srgbClr val="9CDCFE"/>
                </a:solidFill>
                <a:effectLst/>
                <a:latin typeface="Consolas"/>
                <a:ea typeface="Consolas"/>
                <a:cs typeface="Consolas"/>
              </a:rPr>
              <a:t>image_format</a:t>
            </a:r>
            <a:r>
              <a:rPr lang="es-ES" sz="1200" b="0" i="0" strike="noStrike" cap="none" baseline="0" dirty="0">
                <a:solidFill>
                  <a:srgbClr val="ABB2BF"/>
                </a:solidFill>
                <a:effectLst/>
                <a:latin typeface="Consolas"/>
                <a:ea typeface="Consolas"/>
                <a:cs typeface="Consolas"/>
              </a:rPr>
              <a:t> = </a:t>
            </a:r>
            <a:r>
              <a:rPr lang="es-ES" sz="1200" b="0" i="0" strike="noStrike" cap="none" baseline="0" dirty="0">
                <a:solidFill>
                  <a:srgbClr val="CE9178"/>
                </a:solidFill>
                <a:effectLst/>
                <a:latin typeface="Consolas"/>
                <a:ea typeface="Consolas"/>
                <a:cs typeface="Consolas"/>
              </a:rPr>
              <a:t>"</a:t>
            </a:r>
            <a:r>
              <a:rPr lang="es-ES" sz="1200" b="0" i="0" strike="noStrike" cap="none" baseline="0" dirty="0" err="1">
                <a:solidFill>
                  <a:srgbClr val="CE9178"/>
                </a:solidFill>
                <a:effectLst/>
                <a:latin typeface="Consolas"/>
                <a:ea typeface="Consolas"/>
                <a:cs typeface="Consolas"/>
              </a:rPr>
              <a:t>jpeg</a:t>
            </a:r>
            <a:r>
              <a:rPr lang="es-ES" sz="1200" b="0" i="0" strike="noStrike" cap="none" baseline="0" dirty="0">
                <a:solidFill>
                  <a:srgbClr val="CE9178"/>
                </a:solidFill>
                <a:effectLst/>
                <a:latin typeface="Consolas"/>
                <a:ea typeface="Consolas"/>
                <a:cs typeface="Consolas"/>
              </a:rPr>
              <a:t>"</a:t>
            </a:r>
          </a:p>
          <a:p>
            <a:pPr algn="l">
              <a:buNone/>
            </a:pPr>
            <a:r>
              <a:rPr lang="es-ES" sz="1200" b="0" i="0" strike="noStrike" cap="none" baseline="0" dirty="0" err="1">
                <a:solidFill>
                  <a:srgbClr val="569CD6"/>
                </a:solidFill>
                <a:effectLst/>
                <a:latin typeface="Consolas"/>
                <a:ea typeface="Consolas"/>
                <a:cs typeface="Consolas"/>
              </a:rPr>
              <a:t>with</a:t>
            </a:r>
            <a:r>
              <a:rPr lang="es-ES" sz="1200" b="0" i="0" strike="noStrike" cap="none" baseline="0" dirty="0">
                <a:solidFill>
                  <a:srgbClr val="ABB2BF"/>
                </a:solidFill>
                <a:effectLst/>
                <a:latin typeface="Consolas"/>
                <a:ea typeface="Consolas"/>
                <a:cs typeface="Consolas"/>
              </a:rPr>
              <a:t> </a:t>
            </a:r>
            <a:r>
              <a:rPr lang="es-ES" sz="1200" b="0" i="0" strike="noStrike" cap="none" baseline="0" dirty="0">
                <a:solidFill>
                  <a:srgbClr val="DCDCAA"/>
                </a:solidFill>
                <a:effectLst/>
                <a:latin typeface="Consolas"/>
                <a:ea typeface="Consolas"/>
                <a:cs typeface="Consolas"/>
              </a:rPr>
              <a:t>open</a:t>
            </a:r>
            <a:r>
              <a:rPr lang="es-ES" sz="1200" b="0" i="0" strike="noStrike" cap="none" baseline="0" dirty="0">
                <a:solidFill>
                  <a:srgbClr val="ABB2BF"/>
                </a:solidFill>
                <a:effectLst/>
                <a:latin typeface="Consolas"/>
                <a:ea typeface="Consolas"/>
                <a:cs typeface="Consolas"/>
              </a:rPr>
              <a:t>(</a:t>
            </a:r>
            <a:r>
              <a:rPr lang="es-ES" sz="1200" b="0" i="0" strike="noStrike" cap="none" baseline="0" dirty="0" err="1">
                <a:solidFill>
                  <a:srgbClr val="9CDCFE"/>
                </a:solidFill>
                <a:effectLst/>
                <a:latin typeface="Consolas"/>
                <a:ea typeface="Consolas"/>
                <a:cs typeface="Consolas"/>
              </a:rPr>
              <a:t>image_path</a:t>
            </a:r>
            <a:r>
              <a:rPr lang="es-ES" sz="1200" b="0" i="0" strike="noStrike" cap="none" baseline="0" dirty="0">
                <a:solidFill>
                  <a:srgbClr val="ABB2BF"/>
                </a:solidFill>
                <a:effectLst/>
                <a:latin typeface="Consolas"/>
                <a:ea typeface="Consolas"/>
                <a:cs typeface="Consolas"/>
              </a:rPr>
              <a:t>, </a:t>
            </a:r>
            <a:r>
              <a:rPr lang="es-ES" sz="1200" b="0" i="0" strike="noStrike" cap="none" baseline="0" dirty="0">
                <a:solidFill>
                  <a:srgbClr val="CE9178"/>
                </a:solidFill>
                <a:effectLst/>
                <a:latin typeface="Consolas"/>
                <a:ea typeface="Consolas"/>
                <a:cs typeface="Consolas"/>
              </a:rPr>
              <a:t>"</a:t>
            </a:r>
            <a:r>
              <a:rPr lang="es-ES" sz="1200" b="0" i="0" strike="noStrike" cap="none" baseline="0" dirty="0" err="1">
                <a:solidFill>
                  <a:srgbClr val="CE9178"/>
                </a:solidFill>
                <a:effectLst/>
                <a:latin typeface="Consolas"/>
                <a:ea typeface="Consolas"/>
                <a:cs typeface="Consolas"/>
              </a:rPr>
              <a:t>rb</a:t>
            </a:r>
            <a:r>
              <a:rPr lang="es-ES" sz="1200" b="0" i="0" strike="noStrike" cap="none" baseline="0" dirty="0">
                <a:solidFill>
                  <a:srgbClr val="CE9178"/>
                </a:solidFill>
                <a:effectLst/>
                <a:latin typeface="Consolas"/>
                <a:ea typeface="Consolas"/>
                <a:cs typeface="Consolas"/>
              </a:rPr>
              <a:t>"</a:t>
            </a:r>
            <a:r>
              <a:rPr lang="es-ES" sz="1200" b="0" i="0" strike="noStrike" cap="none" baseline="0" dirty="0">
                <a:solidFill>
                  <a:srgbClr val="ABB2BF"/>
                </a:solidFill>
                <a:effectLst/>
                <a:latin typeface="Consolas"/>
                <a:ea typeface="Consolas"/>
                <a:cs typeface="Consolas"/>
              </a:rPr>
              <a:t>) </a:t>
            </a:r>
            <a:r>
              <a:rPr lang="es-ES" sz="1200" b="0" i="0" strike="noStrike" cap="none" baseline="0" dirty="0">
                <a:solidFill>
                  <a:srgbClr val="569CD6"/>
                </a:solidFill>
                <a:effectLst/>
                <a:latin typeface="Consolas"/>
                <a:ea typeface="Consolas"/>
                <a:cs typeface="Consolas"/>
              </a:rPr>
              <a:t>as</a:t>
            </a:r>
            <a:r>
              <a:rPr lang="es-ES" sz="1200" b="0" i="0" strike="noStrike" cap="none" baseline="0" dirty="0">
                <a:solidFill>
                  <a:srgbClr val="ABB2BF"/>
                </a:solidFill>
                <a:effectLst/>
                <a:latin typeface="Consolas"/>
                <a:ea typeface="Consolas"/>
                <a:cs typeface="Consolas"/>
              </a:rPr>
              <a:t> </a:t>
            </a:r>
            <a:r>
              <a:rPr lang="es-ES" sz="1200" b="0" i="0" strike="noStrike" cap="none" baseline="0" dirty="0" err="1">
                <a:solidFill>
                  <a:srgbClr val="9CDCFE"/>
                </a:solidFill>
                <a:effectLst/>
                <a:latin typeface="Consolas"/>
                <a:ea typeface="Consolas"/>
                <a:cs typeface="Consolas"/>
              </a:rPr>
              <a:t>image_file</a:t>
            </a:r>
            <a:r>
              <a:rPr lang="es-ES" sz="1200" b="0" i="0" strike="noStrike" cap="none" baseline="0" dirty="0">
                <a:solidFill>
                  <a:srgbClr val="ABB2BF"/>
                </a:solidFill>
                <a:effectLst/>
                <a:latin typeface="Consolas"/>
                <a:ea typeface="Consolas"/>
                <a:cs typeface="Consolas"/>
              </a:rPr>
              <a:t>:</a:t>
            </a:r>
          </a:p>
          <a:p>
            <a:pPr algn="l">
              <a:buNone/>
            </a:pPr>
            <a:r>
              <a:rPr lang="es-ES" sz="1200" b="0" i="0" strike="noStrike" cap="none" baseline="0" dirty="0">
                <a:solidFill>
                  <a:srgbClr val="ABB2BF"/>
                </a:solidFill>
                <a:effectLst/>
                <a:latin typeface="Consolas"/>
                <a:ea typeface="Consolas"/>
                <a:cs typeface="Consolas"/>
              </a:rPr>
              <a:t>  </a:t>
            </a:r>
            <a:r>
              <a:rPr lang="es-ES" sz="1200" b="0" i="0" strike="noStrike" cap="none" baseline="0" dirty="0" err="1">
                <a:solidFill>
                  <a:srgbClr val="9CDCFE"/>
                </a:solidFill>
                <a:effectLst/>
                <a:latin typeface="Consolas"/>
                <a:ea typeface="Consolas"/>
                <a:cs typeface="Consolas"/>
              </a:rPr>
              <a:t>image_data</a:t>
            </a:r>
            <a:r>
              <a:rPr lang="es-ES" sz="1200" b="0" i="0" strike="noStrike" cap="none" baseline="0" dirty="0">
                <a:solidFill>
                  <a:srgbClr val="ABB2BF"/>
                </a:solidFill>
                <a:effectLst/>
                <a:latin typeface="Consolas"/>
                <a:ea typeface="Consolas"/>
                <a:cs typeface="Consolas"/>
              </a:rPr>
              <a:t> = base64.</a:t>
            </a:r>
            <a:r>
              <a:rPr lang="es-ES" sz="1200" b="0" i="0" strike="noStrike" cap="none" baseline="0" dirty="0">
                <a:solidFill>
                  <a:srgbClr val="DCDCAA"/>
                </a:solidFill>
                <a:effectLst/>
                <a:latin typeface="Consolas"/>
                <a:ea typeface="Consolas"/>
                <a:cs typeface="Consolas"/>
              </a:rPr>
              <a:t>b64encode</a:t>
            </a:r>
            <a:r>
              <a:rPr lang="es-ES" sz="1200" b="0" i="0" strike="noStrike" cap="none" baseline="0" dirty="0">
                <a:solidFill>
                  <a:srgbClr val="ABB2BF"/>
                </a:solidFill>
                <a:effectLst/>
                <a:latin typeface="Consolas"/>
                <a:ea typeface="Consolas"/>
                <a:cs typeface="Consolas"/>
              </a:rPr>
              <a:t>(</a:t>
            </a:r>
          </a:p>
          <a:p>
            <a:pPr algn="l">
              <a:buNone/>
            </a:pPr>
            <a:r>
              <a:rPr lang="es-ES" sz="1200" b="0" i="0" strike="noStrike" cap="none" baseline="0" dirty="0">
                <a:solidFill>
                  <a:srgbClr val="ABB2BF"/>
                </a:solidFill>
                <a:effectLst/>
                <a:latin typeface="Consolas"/>
                <a:ea typeface="Consolas"/>
                <a:cs typeface="Consolas"/>
              </a:rPr>
              <a:t>    </a:t>
            </a:r>
            <a:r>
              <a:rPr lang="es-ES" sz="1200" b="0" i="0" strike="noStrike" cap="none" baseline="0" dirty="0" err="1">
                <a:solidFill>
                  <a:srgbClr val="9CDCFE"/>
                </a:solidFill>
                <a:effectLst/>
                <a:latin typeface="Consolas"/>
                <a:ea typeface="Consolas"/>
                <a:cs typeface="Consolas"/>
              </a:rPr>
              <a:t>image_file</a:t>
            </a:r>
            <a:r>
              <a:rPr lang="es-ES" sz="1200" b="0" i="0" strike="noStrike" cap="none" baseline="0" dirty="0" err="1">
                <a:solidFill>
                  <a:srgbClr val="ABB2BF"/>
                </a:solidFill>
                <a:effectLst/>
                <a:latin typeface="Consolas"/>
                <a:ea typeface="Consolas"/>
                <a:cs typeface="Consolas"/>
              </a:rPr>
              <a:t>.</a:t>
            </a:r>
            <a:r>
              <a:rPr lang="es-ES" sz="1200" b="0" i="0" strike="noStrike" cap="none" baseline="0" dirty="0" err="1">
                <a:solidFill>
                  <a:srgbClr val="DCDCAA"/>
                </a:solidFill>
                <a:effectLst/>
                <a:latin typeface="Consolas"/>
                <a:ea typeface="Consolas"/>
                <a:cs typeface="Consolas"/>
              </a:rPr>
              <a:t>read</a:t>
            </a:r>
            <a:r>
              <a:rPr lang="es-ES" sz="1200" b="0" i="0" strike="noStrike" cap="none" baseline="0" dirty="0">
                <a:solidFill>
                  <a:srgbClr val="ABB2BF"/>
                </a:solidFill>
                <a:effectLst/>
                <a:latin typeface="Consolas"/>
                <a:ea typeface="Consolas"/>
                <a:cs typeface="Consolas"/>
              </a:rPr>
              <a:t>()).</a:t>
            </a:r>
            <a:r>
              <a:rPr lang="es-ES" sz="1200" b="0" i="0" strike="noStrike" cap="none" baseline="0" dirty="0" err="1">
                <a:solidFill>
                  <a:srgbClr val="DCDCAA"/>
                </a:solidFill>
                <a:effectLst/>
                <a:latin typeface="Consolas"/>
                <a:ea typeface="Consolas"/>
                <a:cs typeface="Consolas"/>
              </a:rPr>
              <a:t>decode</a:t>
            </a:r>
            <a:r>
              <a:rPr lang="es-ES" sz="1200" b="0" i="0" strike="noStrike" cap="none" baseline="0" dirty="0">
                <a:solidFill>
                  <a:srgbClr val="ABB2BF"/>
                </a:solidFill>
                <a:effectLst/>
                <a:latin typeface="Consolas"/>
                <a:ea typeface="Consolas"/>
                <a:cs typeface="Consolas"/>
              </a:rPr>
              <a:t>(</a:t>
            </a:r>
            <a:r>
              <a:rPr lang="es-ES" sz="1200" b="0" i="0" strike="noStrike" cap="none" baseline="0" dirty="0">
                <a:solidFill>
                  <a:srgbClr val="CE9178"/>
                </a:solidFill>
                <a:effectLst/>
                <a:latin typeface="Consolas"/>
                <a:ea typeface="Consolas"/>
                <a:cs typeface="Consolas"/>
              </a:rPr>
              <a:t>"utf-8"</a:t>
            </a:r>
            <a:r>
              <a:rPr lang="es-ES" sz="1200" b="0" i="0" strike="noStrike" cap="none" baseline="0" dirty="0">
                <a:solidFill>
                  <a:srgbClr val="ABB2BF"/>
                </a:solidFill>
                <a:effectLst/>
                <a:latin typeface="Consolas"/>
                <a:ea typeface="Consolas"/>
                <a:cs typeface="Consolas"/>
              </a:rPr>
              <a:t>)</a:t>
            </a:r>
          </a:p>
        </p:txBody>
      </p:sp>
      <p:sp>
        <p:nvSpPr>
          <p:cNvPr id="52" name="Rounded Rectangle 51">
            <a:extLst>
              <a:ext uri="{FF2B5EF4-FFF2-40B4-BE49-F238E27FC236}">
                <a16:creationId xmlns:a16="http://schemas.microsoft.com/office/drawing/2014/main" id="{05CE2B58-310B-2ABE-BE0D-AF1E5613DCA8}"/>
              </a:ext>
              <a:ext uri="{C183D7F6-B498-43B3-948B-1728B52AA6E4}">
                <adec:decorative xmlns:adec="http://schemas.microsoft.com/office/drawing/2017/decorative" val="1"/>
              </a:ext>
            </a:extLst>
          </p:cNvPr>
          <p:cNvSpPr/>
          <p:nvPr/>
        </p:nvSpPr>
        <p:spPr bwMode="auto">
          <a:xfrm>
            <a:off x="1559754" y="2912619"/>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7" name="TextBox 16">
            <a:extLst>
              <a:ext uri="{FF2B5EF4-FFF2-40B4-BE49-F238E27FC236}">
                <a16:creationId xmlns:a16="http://schemas.microsoft.com/office/drawing/2014/main" id="{CD63EB87-E950-F2DD-6490-C6FAC19A88A5}"/>
              </a:ext>
            </a:extLst>
          </p:cNvPr>
          <p:cNvSpPr txBox="1"/>
          <p:nvPr/>
        </p:nvSpPr>
        <p:spPr>
          <a:xfrm>
            <a:off x="1559754" y="3008338"/>
            <a:ext cx="5253972" cy="27432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data_url</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DCDCAA"/>
                </a:solidFill>
                <a:effectLst/>
                <a:latin typeface="Consolas"/>
                <a:ea typeface="Consolas"/>
                <a:cs typeface="Consolas"/>
              </a:rPr>
              <a:t>f</a:t>
            </a:r>
            <a:r>
              <a:rPr lang="es-ES" sz="1200" b="0" i="0" strike="noStrike" cap="none" baseline="0">
                <a:solidFill>
                  <a:srgbClr val="CE9178"/>
                </a:solidFill>
                <a:effectLst/>
                <a:latin typeface="Consolas"/>
                <a:ea typeface="Consolas"/>
                <a:cs typeface="Consolas"/>
              </a:rPr>
              <a:t>"data:image/{</a:t>
            </a:r>
            <a:r>
              <a:rPr lang="es-ES" sz="1200" b="0" i="0" strike="noStrike" cap="none" baseline="0">
                <a:solidFill>
                  <a:srgbClr val="9CDCFE"/>
                </a:solidFill>
                <a:effectLst/>
                <a:latin typeface="Consolas"/>
                <a:ea typeface="Consolas"/>
                <a:cs typeface="Consolas"/>
              </a:rPr>
              <a:t>image_format</a:t>
            </a:r>
            <a:r>
              <a:rPr lang="es-ES" sz="1200" b="0" i="0" strike="noStrike" cap="none" baseline="0">
                <a:solidFill>
                  <a:srgbClr val="CE9178"/>
                </a:solidFill>
                <a:effectLst/>
                <a:latin typeface="Consolas"/>
                <a:ea typeface="Consolas"/>
                <a:cs typeface="Consolas"/>
              </a:rPr>
              <a:t>};base64,{</a:t>
            </a:r>
            <a:r>
              <a:rPr lang="es-ES" sz="1200" b="0" i="0" strike="noStrike" cap="none" baseline="0">
                <a:solidFill>
                  <a:srgbClr val="9CDCFE"/>
                </a:solidFill>
                <a:effectLst/>
                <a:latin typeface="Consolas"/>
                <a:ea typeface="Consolas"/>
                <a:cs typeface="Consolas"/>
              </a:rPr>
              <a:t>image_data</a:t>
            </a:r>
            <a:r>
              <a:rPr lang="es-ES" sz="1200" b="0" i="0" strike="noStrike" cap="none" baseline="0">
                <a:solidFill>
                  <a:srgbClr val="CE9178"/>
                </a:solidFill>
                <a:effectLst/>
                <a:latin typeface="Consolas"/>
                <a:ea typeface="Consolas"/>
                <a:cs typeface="Consolas"/>
              </a:rPr>
              <a:t>}"</a:t>
            </a:r>
            <a:endParaRPr lang="en-US" sz="1200"/>
          </a:p>
        </p:txBody>
      </p:sp>
      <p:grpSp>
        <p:nvGrpSpPr>
          <p:cNvPr id="4" name="Group 3">
            <a:extLst>
              <a:ext uri="{FF2B5EF4-FFF2-40B4-BE49-F238E27FC236}">
                <a16:creationId xmlns:a16="http://schemas.microsoft.com/office/drawing/2014/main" id="{5DAA4749-5524-E608-B9A8-4B9697C2BF3D}"/>
              </a:ext>
              <a:ext uri="{C183D7F6-B498-43B3-948B-1728B52AA6E4}">
                <adec:decorative xmlns:adec="http://schemas.microsoft.com/office/drawing/2017/decorative" val="1"/>
              </a:ext>
            </a:extLst>
          </p:cNvPr>
          <p:cNvGrpSpPr/>
          <p:nvPr/>
        </p:nvGrpSpPr>
        <p:grpSpPr>
          <a:xfrm>
            <a:off x="1559752" y="3436580"/>
            <a:ext cx="5180102" cy="2002051"/>
            <a:chOff x="1559752" y="3436580"/>
            <a:chExt cx="5180102" cy="2002051"/>
          </a:xfrm>
        </p:grpSpPr>
        <p:sp>
          <p:nvSpPr>
            <p:cNvPr id="23" name="Rounded Rectangle 22">
              <a:extLst>
                <a:ext uri="{FF2B5EF4-FFF2-40B4-BE49-F238E27FC236}">
                  <a16:creationId xmlns:a16="http://schemas.microsoft.com/office/drawing/2014/main" id="{840EA521-4018-87DC-C3DF-0C9E30389B84}"/>
                </a:ext>
              </a:extLst>
            </p:cNvPr>
            <p:cNvSpPr/>
            <p:nvPr/>
          </p:nvSpPr>
          <p:spPr bwMode="auto">
            <a:xfrm>
              <a:off x="1559754" y="3436580"/>
              <a:ext cx="5135480" cy="2002051"/>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5" name="TextBox 24">
              <a:extLst>
                <a:ext uri="{FF2B5EF4-FFF2-40B4-BE49-F238E27FC236}">
                  <a16:creationId xmlns:a16="http://schemas.microsoft.com/office/drawing/2014/main" id="{36A0C4ED-B189-E787-CC38-434E885E3B1B}"/>
                </a:ext>
              </a:extLst>
            </p:cNvPr>
            <p:cNvSpPr txBox="1"/>
            <p:nvPr/>
          </p:nvSpPr>
          <p:spPr>
            <a:xfrm>
              <a:off x="1559752" y="3470488"/>
              <a:ext cx="5180102" cy="192024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response</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9CDCFE"/>
                  </a:solidFill>
                  <a:effectLst/>
                  <a:latin typeface="Consolas"/>
                  <a:ea typeface="Consolas"/>
                  <a:cs typeface="Consolas"/>
                </a:rPr>
                <a:t>client</a:t>
              </a:r>
              <a:r>
                <a:rPr lang="es-ES" sz="1200" b="0" i="0" strike="noStrike" cap="none" baseline="0">
                  <a:solidFill>
                    <a:srgbClr val="ABB2BF"/>
                  </a:solidFill>
                  <a:effectLst/>
                  <a:latin typeface="Consolas"/>
                  <a:ea typeface="Consolas"/>
                  <a:cs typeface="Consolas"/>
                </a:rPr>
                <a:t>.chat.completions.</a:t>
              </a:r>
              <a:r>
                <a:rPr lang="es-ES" sz="1200" b="0" i="0" strike="noStrike" cap="none" baseline="0">
                  <a:solidFill>
                    <a:srgbClr val="DCDCAA"/>
                  </a:solidFill>
                  <a:effectLst/>
                  <a:latin typeface="Consolas"/>
                  <a:ea typeface="Consolas"/>
                  <a:cs typeface="Consolas"/>
                </a:rPr>
                <a:t>create</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model</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CE9178"/>
                  </a:solidFill>
                  <a:effectLst/>
                  <a:latin typeface="Consolas"/>
                  <a:ea typeface="Consolas"/>
                  <a:cs typeface="Consolas"/>
                </a:rPr>
                <a:t>"Phi-4-multimodal-instruct"</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messages</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"role"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"system"</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"content"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"You are a chef."</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"role"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"user"</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"content"</a:t>
              </a:r>
              <a:r>
                <a:rPr lang="es-ES" sz="1200" b="0" i="0" strike="noStrike" cap="none" baseline="0">
                  <a:solidFill>
                    <a:srgbClr val="ABB2BF"/>
                  </a:solidFill>
                  <a:effectLst/>
                  <a:latin typeface="Consolas"/>
                  <a:ea typeface="Consolas"/>
                  <a:cs typeface="Consolas"/>
                </a:rPr>
                <a:t>: [</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"type"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"text"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"text"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"What can I make?"</a:t>
              </a:r>
              <a:r>
                <a:rPr lang="es-ES" sz="1200" b="0" i="0" strike="noStrike" cap="none" baseline="0">
                  <a:solidFill>
                    <a:srgbClr val="ABB2BF"/>
                  </a:solidFill>
                  <a:effectLst/>
                  <a:latin typeface="Consolas"/>
                  <a:ea typeface="Consolas"/>
                  <a:cs typeface="Consolas"/>
                </a:rPr>
                <a:t>}, </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"type"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"image_url"</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"image_url"</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"url"</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data_url</a:t>
              </a:r>
              <a:r>
                <a:rPr lang="es-ES" sz="1200" b="0" i="0" strike="noStrike" cap="none" baseline="0">
                  <a:solidFill>
                    <a:srgbClr val="ABB2BF"/>
                  </a:solidFill>
                  <a:effectLst/>
                  <a:latin typeface="Consolas"/>
                  <a:ea typeface="Consolas"/>
                  <a:cs typeface="Consolas"/>
                </a:rPr>
                <a:t>}}</a:t>
              </a:r>
            </a:p>
            <a:p>
              <a:r>
                <a:rPr lang="en-US" sz="1200" b="0" i="0">
                  <a:solidFill>
                    <a:srgbClr val="ABB2BF"/>
                  </a:solidFill>
                  <a:effectLst/>
                  <a:latin typeface="Consolas" panose="020B0609020204030204" pitchFamily="49" charset="0"/>
                </a:rPr>
                <a:t>    ]}</a:t>
              </a:r>
            </a:p>
            <a:p>
              <a:r>
                <a:rPr lang="en-US" sz="1200">
                  <a:solidFill>
                    <a:srgbClr val="ABB2BF"/>
                  </a:solidFill>
                  <a:latin typeface="Consolas" panose="020B0609020204030204" pitchFamily="49" charset="0"/>
                </a:rPr>
                <a:t>  </a:t>
              </a:r>
              <a:r>
                <a:rPr lang="en-US" sz="1200" b="0" i="0">
                  <a:solidFill>
                    <a:srgbClr val="ABB2BF"/>
                  </a:solidFill>
                  <a:effectLst/>
                  <a:latin typeface="Consolas" panose="020B0609020204030204" pitchFamily="49" charset="0"/>
                </a:rPr>
                <a:t>]</a:t>
              </a:r>
            </a:p>
            <a:p>
              <a:r>
                <a:rPr lang="en-US" sz="1200" b="0" i="0">
                  <a:solidFill>
                    <a:srgbClr val="ABB2BF"/>
                  </a:solidFill>
                  <a:effectLst/>
                  <a:latin typeface="Consolas" panose="020B0609020204030204" pitchFamily="49" charset="0"/>
                </a:rPr>
                <a:t>)</a:t>
              </a:r>
              <a:endParaRPr lang="en-US" sz="1200"/>
            </a:p>
          </p:txBody>
        </p:sp>
      </p:grpSp>
      <p:sp>
        <p:nvSpPr>
          <p:cNvPr id="31" name="Rounded Rectangle 30">
            <a:extLst>
              <a:ext uri="{FF2B5EF4-FFF2-40B4-BE49-F238E27FC236}">
                <a16:creationId xmlns:a16="http://schemas.microsoft.com/office/drawing/2014/main" id="{28C62CF6-746F-F983-17CD-2D7D84C5D60A}"/>
              </a:ext>
              <a:ext uri="{C183D7F6-B498-43B3-948B-1728B52AA6E4}">
                <adec:decorative xmlns:adec="http://schemas.microsoft.com/office/drawing/2017/decorative" val="1"/>
              </a:ext>
            </a:extLst>
          </p:cNvPr>
          <p:cNvSpPr/>
          <p:nvPr/>
        </p:nvSpPr>
        <p:spPr bwMode="auto">
          <a:xfrm>
            <a:off x="1559752" y="5502455"/>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6" name="TextBox 35">
            <a:extLst>
              <a:ext uri="{FF2B5EF4-FFF2-40B4-BE49-F238E27FC236}">
                <a16:creationId xmlns:a16="http://schemas.microsoft.com/office/drawing/2014/main" id="{97541D7F-3668-58C3-79AC-04D51A59DDDC}"/>
              </a:ext>
            </a:extLst>
          </p:cNvPr>
          <p:cNvSpPr txBox="1"/>
          <p:nvPr/>
        </p:nvSpPr>
        <p:spPr>
          <a:xfrm>
            <a:off x="1559752" y="5582991"/>
            <a:ext cx="5086415" cy="274320"/>
          </a:xfrm>
          <a:prstGeom prst="rect">
            <a:avLst/>
          </a:prstGeom>
          <a:noFill/>
        </p:spPr>
        <p:txBody>
          <a:bodyPr wrap="square">
            <a:spAutoFit/>
          </a:bodyPr>
          <a:lstStyle/>
          <a:p>
            <a:pPr algn="l">
              <a:buNone/>
            </a:pPr>
            <a:r>
              <a:rPr lang="es-ES" sz="1200" b="0" i="0" strike="noStrike" cap="none" baseline="0">
                <a:solidFill>
                  <a:srgbClr val="DCDCAA"/>
                </a:solidFill>
                <a:effectLst/>
                <a:latin typeface="Consolas"/>
                <a:ea typeface="Consolas"/>
                <a:cs typeface="Consolas"/>
              </a:rPr>
              <a:t>print</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9CDCFE"/>
                </a:solidFill>
                <a:effectLst/>
                <a:latin typeface="Consolas"/>
                <a:ea typeface="Consolas"/>
                <a:cs typeface="Consolas"/>
              </a:rPr>
              <a:t>response</a:t>
            </a:r>
            <a:r>
              <a:rPr lang="es-ES" sz="1200" b="0" i="0" strike="noStrike" cap="none" baseline="0">
                <a:solidFill>
                  <a:srgbClr val="ABB2BF"/>
                </a:solidFill>
                <a:effectLst/>
                <a:latin typeface="Consolas"/>
                <a:ea typeface="Consolas"/>
                <a:cs typeface="Consolas"/>
              </a:rPr>
              <a:t>.choices[</a:t>
            </a:r>
            <a:r>
              <a:rPr lang="es-ES" sz="1200" b="0" i="0" strike="noStrike" cap="none" baseline="0">
                <a:solidFill>
                  <a:srgbClr val="B5CEA8"/>
                </a:solidFill>
                <a:effectLst/>
                <a:latin typeface="Consolas"/>
                <a:ea typeface="Consolas"/>
                <a:cs typeface="Consolas"/>
              </a:rPr>
              <a:t>0</a:t>
            </a:r>
            <a:r>
              <a:rPr lang="es-ES" sz="1200" b="0" i="0" strike="noStrike" cap="none" baseline="0">
                <a:solidFill>
                  <a:srgbClr val="ABB2BF"/>
                </a:solidFill>
                <a:effectLst/>
                <a:latin typeface="Consolas"/>
                <a:ea typeface="Consolas"/>
                <a:cs typeface="Consolas"/>
              </a:rPr>
              <a:t>].message.content)</a:t>
            </a:r>
          </a:p>
        </p:txBody>
      </p:sp>
      <p:sp>
        <p:nvSpPr>
          <p:cNvPr id="5" name="Rounded Rectangle 4">
            <a:extLst>
              <a:ext uri="{FF2B5EF4-FFF2-40B4-BE49-F238E27FC236}">
                <a16:creationId xmlns:a16="http://schemas.microsoft.com/office/drawing/2014/main" id="{70267658-6C6B-1932-01AC-3B78D059CDBC}"/>
              </a:ext>
              <a:ext uri="{C183D7F6-B498-43B3-948B-1728B52AA6E4}">
                <adec:decorative xmlns:adec="http://schemas.microsoft.com/office/drawing/2017/decorative" val="1"/>
              </a:ext>
            </a:extLst>
          </p:cNvPr>
          <p:cNvSpPr/>
          <p:nvPr/>
        </p:nvSpPr>
        <p:spPr bwMode="auto">
          <a:xfrm>
            <a:off x="6739855" y="1202600"/>
            <a:ext cx="5135480" cy="521208"/>
          </a:xfrm>
          <a:prstGeom prst="round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51" name="Group 50">
            <a:extLst>
              <a:ext uri="{FF2B5EF4-FFF2-40B4-BE49-F238E27FC236}">
                <a16:creationId xmlns:a16="http://schemas.microsoft.com/office/drawing/2014/main" id="{516F72CF-7CE4-F27A-C1B8-AFE0870ADB32}"/>
              </a:ext>
              <a:ext uri="{C183D7F6-B498-43B3-948B-1728B52AA6E4}">
                <adec:decorative xmlns:adec="http://schemas.microsoft.com/office/drawing/2017/decorative" val="1"/>
              </a:ext>
            </a:extLst>
          </p:cNvPr>
          <p:cNvGrpSpPr>
            <a:grpSpLocks noChangeAspect="1"/>
          </p:cNvGrpSpPr>
          <p:nvPr/>
        </p:nvGrpSpPr>
        <p:grpSpPr>
          <a:xfrm>
            <a:off x="6824877" y="1280324"/>
            <a:ext cx="365760" cy="365760"/>
            <a:chOff x="6743621" y="1490636"/>
            <a:chExt cx="457200" cy="457200"/>
          </a:xfrm>
        </p:grpSpPr>
        <p:sp>
          <p:nvSpPr>
            <p:cNvPr id="10" name="Oval 9">
              <a:extLst>
                <a:ext uri="{FF2B5EF4-FFF2-40B4-BE49-F238E27FC236}">
                  <a16:creationId xmlns:a16="http://schemas.microsoft.com/office/drawing/2014/main" id="{B754FBEB-2638-2077-FEA1-41BF8BD03DDF}"/>
                </a:ext>
              </a:extLst>
            </p:cNvPr>
            <p:cNvSpPr>
              <a:spLocks noChangeAspect="1"/>
            </p:cNvSpPr>
            <p:nvPr/>
          </p:nvSpPr>
          <p:spPr bwMode="auto">
            <a:xfrm>
              <a:off x="6743621" y="1490636"/>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solidFill>
                  <a:schemeClr val="accent1"/>
                </a:solidFill>
                <a:ea typeface="Segoe UI" pitchFamily="34" charset="0"/>
                <a:cs typeface="Segoe UI" pitchFamily="34" charset="0"/>
              </a:endParaRPr>
            </a:p>
          </p:txBody>
        </p:sp>
        <p:pic>
          <p:nvPicPr>
            <p:cNvPr id="12" name="Graphic 11" descr="Lightning bolt with solid fill">
              <a:extLst>
                <a:ext uri="{FF2B5EF4-FFF2-40B4-BE49-F238E27FC236}">
                  <a16:creationId xmlns:a16="http://schemas.microsoft.com/office/drawing/2014/main" id="{21A8BEA7-F169-08DB-DFCF-02647215F4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4690" y="1558802"/>
              <a:ext cx="365760" cy="365760"/>
            </a:xfrm>
            <a:prstGeom prst="rect">
              <a:avLst/>
            </a:prstGeom>
          </p:spPr>
        </p:pic>
      </p:grpSp>
      <p:sp>
        <p:nvSpPr>
          <p:cNvPr id="11" name="TextBox 10">
            <a:extLst>
              <a:ext uri="{FF2B5EF4-FFF2-40B4-BE49-F238E27FC236}">
                <a16:creationId xmlns:a16="http://schemas.microsoft.com/office/drawing/2014/main" id="{B855690E-939D-048F-E794-2819458B8594}"/>
              </a:ext>
            </a:extLst>
          </p:cNvPr>
          <p:cNvSpPr txBox="1"/>
          <p:nvPr/>
        </p:nvSpPr>
        <p:spPr>
          <a:xfrm>
            <a:off x="7251257" y="1324705"/>
            <a:ext cx="2120514" cy="277063"/>
          </a:xfrm>
          <a:prstGeom prst="rect">
            <a:avLst/>
          </a:prstGeom>
          <a:noFill/>
        </p:spPr>
        <p:txBody>
          <a:bodyPr wrap="none" lIns="0" tIns="0" rIns="0" bIns="0" rtlCol="0">
            <a:spAutoFit/>
          </a:bodyPr>
          <a:lstStyle/>
          <a:p>
            <a:pPr algn="l"/>
            <a:r>
              <a:rPr lang="es-ES" sz="1800" b="0" i="0" strike="noStrike" cap="none" baseline="0">
                <a:solidFill>
                  <a:srgbClr val="702573"/>
                </a:solidFill>
                <a:effectLst/>
                <a:latin typeface="Segoe UI Semibold"/>
                <a:ea typeface="Segoe UI Semibold"/>
                <a:cs typeface="Segoe UI Semibold"/>
              </a:rPr>
              <a:t>Respuestas de API</a:t>
            </a:r>
          </a:p>
        </p:txBody>
      </p:sp>
      <p:sp>
        <p:nvSpPr>
          <p:cNvPr id="18" name="Rounded Rectangle 17">
            <a:extLst>
              <a:ext uri="{FF2B5EF4-FFF2-40B4-BE49-F238E27FC236}">
                <a16:creationId xmlns:a16="http://schemas.microsoft.com/office/drawing/2014/main" id="{9A890327-94D9-D1BB-A7EC-6F92135F61B3}"/>
              </a:ext>
              <a:ext uri="{C183D7F6-B498-43B3-948B-1728B52AA6E4}">
                <adec:decorative xmlns:adec="http://schemas.microsoft.com/office/drawing/2017/decorative" val="1"/>
              </a:ext>
            </a:extLst>
          </p:cNvPr>
          <p:cNvSpPr/>
          <p:nvPr/>
        </p:nvSpPr>
        <p:spPr bwMode="auto">
          <a:xfrm>
            <a:off x="6739858" y="1774368"/>
            <a:ext cx="5135478" cy="1077758"/>
          </a:xfrm>
          <a:prstGeom prst="roundRect">
            <a:avLst>
              <a:gd name="adj" fmla="val 735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9" name="TextBox 18">
            <a:extLst>
              <a:ext uri="{FF2B5EF4-FFF2-40B4-BE49-F238E27FC236}">
                <a16:creationId xmlns:a16="http://schemas.microsoft.com/office/drawing/2014/main" id="{35E4A7E4-5D2A-781E-E697-88B01A9DBDD9}"/>
              </a:ext>
            </a:extLst>
          </p:cNvPr>
          <p:cNvSpPr txBox="1"/>
          <p:nvPr/>
        </p:nvSpPr>
        <p:spPr>
          <a:xfrm>
            <a:off x="6741427" y="1805416"/>
            <a:ext cx="4906382" cy="1005840"/>
          </a:xfrm>
          <a:prstGeom prst="rect">
            <a:avLst/>
          </a:prstGeom>
          <a:noFill/>
        </p:spPr>
        <p:txBody>
          <a:bodyPr wrap="square">
            <a:spAutoFit/>
          </a:bodyPr>
          <a:lstStyle/>
          <a:p>
            <a:pPr algn="l">
              <a:buNone/>
            </a:pPr>
            <a:r>
              <a:rPr lang="es-ES" sz="1200" b="0" i="0" strike="noStrike" cap="none" baseline="0">
                <a:solidFill>
                  <a:srgbClr val="9CDCFE"/>
                </a:solidFill>
                <a:effectLst/>
                <a:latin typeface="Consolas"/>
                <a:ea typeface="Consolas"/>
                <a:cs typeface="Consolas"/>
              </a:rPr>
              <a:t>image_path</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DCDCAA"/>
                </a:solidFill>
                <a:effectLst/>
                <a:latin typeface="Consolas"/>
                <a:ea typeface="Consolas"/>
                <a:cs typeface="Consolas"/>
              </a:rPr>
              <a:t>Path</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CE9178"/>
                </a:solidFill>
                <a:effectLst/>
                <a:latin typeface="Consolas"/>
                <a:ea typeface="Consolas"/>
                <a:cs typeface="Consolas"/>
              </a:rPr>
              <a:t>"fruit.jpeg"</a:t>
            </a:r>
            <a:r>
              <a:rPr lang="es-ES" sz="1200" b="0" i="0" strike="noStrike" cap="none" baseline="0">
                <a:solidFill>
                  <a:srgbClr val="ABB2BF"/>
                </a:solidFill>
                <a:effectLst/>
                <a:latin typeface="Consolas"/>
                <a:ea typeface="Consolas"/>
                <a:cs typeface="Consolas"/>
              </a:rPr>
              <a:t>)</a:t>
            </a:r>
          </a:p>
          <a:p>
            <a:pPr algn="l">
              <a:buNone/>
            </a:pPr>
            <a:r>
              <a:rPr lang="es-ES" sz="1200" b="0" i="0" strike="noStrike" cap="none" baseline="0">
                <a:solidFill>
                  <a:srgbClr val="9CDCFE"/>
                </a:solidFill>
                <a:effectLst/>
                <a:latin typeface="Consolas"/>
                <a:ea typeface="Consolas"/>
                <a:cs typeface="Consolas"/>
              </a:rPr>
              <a:t>image_format</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CE9178"/>
                </a:solidFill>
                <a:effectLst/>
                <a:latin typeface="Consolas"/>
                <a:ea typeface="Consolas"/>
                <a:cs typeface="Consolas"/>
              </a:rPr>
              <a:t>"jpeg"</a:t>
            </a:r>
          </a:p>
          <a:p>
            <a:pPr algn="l">
              <a:buNone/>
            </a:pPr>
            <a:r>
              <a:rPr lang="es-ES" sz="1200" b="0" i="0" strike="noStrike" cap="none" baseline="0">
                <a:solidFill>
                  <a:srgbClr val="5295CD"/>
                </a:solidFill>
                <a:effectLst/>
                <a:latin typeface="Consolas"/>
                <a:ea typeface="Consolas"/>
                <a:cs typeface="Consolas"/>
              </a:rPr>
              <a:t>with</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DCDCAA"/>
                </a:solidFill>
                <a:effectLst/>
                <a:latin typeface="Consolas"/>
                <a:ea typeface="Consolas"/>
                <a:cs typeface="Consolas"/>
              </a:rPr>
              <a:t>open</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9CDCFE"/>
                </a:solidFill>
                <a:effectLst/>
                <a:latin typeface="Consolas"/>
                <a:ea typeface="Consolas"/>
                <a:cs typeface="Consolas"/>
              </a:rPr>
              <a:t>image_path</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"rb"</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569CD6"/>
                </a:solidFill>
                <a:effectLst/>
                <a:latin typeface="Consolas"/>
                <a:ea typeface="Consolas"/>
                <a:cs typeface="Consolas"/>
              </a:rPr>
              <a:t>as</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image_file</a:t>
            </a:r>
            <a:r>
              <a:rPr lang="es-ES" sz="1200" b="0" i="0" strike="noStrike" cap="none" baseline="0">
                <a:solidFill>
                  <a:srgbClr val="ABB2BF"/>
                </a:solidFill>
                <a:effectLst/>
                <a:latin typeface="Consolas"/>
                <a:ea typeface="Consolas"/>
                <a:cs typeface="Consolas"/>
              </a:rPr>
              <a:t>:</a:t>
            </a:r>
          </a:p>
          <a:p>
            <a:pPr algn="l">
              <a:buNone/>
            </a:pP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image_data</a:t>
            </a:r>
            <a:r>
              <a:rPr lang="es-ES" sz="1200" b="0" i="0" strike="noStrike" cap="none" baseline="0">
                <a:solidFill>
                  <a:srgbClr val="ABB2BF"/>
                </a:solidFill>
                <a:effectLst/>
                <a:latin typeface="Consolas"/>
                <a:ea typeface="Consolas"/>
                <a:cs typeface="Consolas"/>
              </a:rPr>
              <a:t> = base64.</a:t>
            </a:r>
            <a:r>
              <a:rPr lang="es-ES" sz="1200" b="0" i="0" strike="noStrike" cap="none" baseline="0">
                <a:solidFill>
                  <a:srgbClr val="DCDCAA"/>
                </a:solidFill>
                <a:effectLst/>
                <a:latin typeface="Consolas"/>
                <a:ea typeface="Consolas"/>
                <a:cs typeface="Consolas"/>
              </a:rPr>
              <a:t>b64encode</a:t>
            </a:r>
            <a:r>
              <a:rPr lang="es-ES" sz="1200" b="0" i="0" strike="noStrike" cap="none" baseline="0">
                <a:solidFill>
                  <a:srgbClr val="ABB2BF"/>
                </a:solidFill>
                <a:effectLst/>
                <a:latin typeface="Consolas"/>
                <a:ea typeface="Consolas"/>
                <a:cs typeface="Consolas"/>
              </a:rPr>
              <a:t>(</a:t>
            </a:r>
          </a:p>
          <a:p>
            <a:pPr algn="l">
              <a:buNone/>
            </a:pP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image_file</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DCDCAA"/>
                </a:solidFill>
                <a:effectLst/>
                <a:latin typeface="Consolas"/>
                <a:ea typeface="Consolas"/>
                <a:cs typeface="Consolas"/>
              </a:rPr>
              <a:t>read</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DCDCAA"/>
                </a:solidFill>
                <a:effectLst/>
                <a:latin typeface="Consolas"/>
                <a:ea typeface="Consolas"/>
                <a:cs typeface="Consolas"/>
              </a:rPr>
              <a:t>decode</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CE9178"/>
                </a:solidFill>
                <a:effectLst/>
                <a:latin typeface="Consolas"/>
                <a:ea typeface="Consolas"/>
                <a:cs typeface="Consolas"/>
              </a:rPr>
              <a:t>"utf-8"</a:t>
            </a:r>
            <a:r>
              <a:rPr lang="es-ES" sz="1200" b="0" i="0" strike="noStrike" cap="none" baseline="0">
                <a:solidFill>
                  <a:srgbClr val="ABB2BF"/>
                </a:solidFill>
                <a:effectLst/>
                <a:latin typeface="Consolas"/>
                <a:ea typeface="Consolas"/>
                <a:cs typeface="Consolas"/>
              </a:rPr>
              <a:t>)</a:t>
            </a:r>
          </a:p>
        </p:txBody>
      </p:sp>
      <p:sp>
        <p:nvSpPr>
          <p:cNvPr id="21" name="Rounded Rectangle 20">
            <a:extLst>
              <a:ext uri="{FF2B5EF4-FFF2-40B4-BE49-F238E27FC236}">
                <a16:creationId xmlns:a16="http://schemas.microsoft.com/office/drawing/2014/main" id="{A19E0ED1-77CF-8DB6-C5F1-0C0940BCD614}"/>
              </a:ext>
              <a:ext uri="{C183D7F6-B498-43B3-948B-1728B52AA6E4}">
                <adec:decorative xmlns:adec="http://schemas.microsoft.com/office/drawing/2017/decorative" val="1"/>
              </a:ext>
            </a:extLst>
          </p:cNvPr>
          <p:cNvSpPr/>
          <p:nvPr/>
        </p:nvSpPr>
        <p:spPr bwMode="auto">
          <a:xfrm>
            <a:off x="6739856" y="2907653"/>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2" name="TextBox 21">
            <a:extLst>
              <a:ext uri="{FF2B5EF4-FFF2-40B4-BE49-F238E27FC236}">
                <a16:creationId xmlns:a16="http://schemas.microsoft.com/office/drawing/2014/main" id="{4B11E2D3-3A26-E9ED-6BE6-1E85E38FF3B9}"/>
              </a:ext>
            </a:extLst>
          </p:cNvPr>
          <p:cNvSpPr txBox="1"/>
          <p:nvPr/>
        </p:nvSpPr>
        <p:spPr>
          <a:xfrm>
            <a:off x="6739856" y="3003372"/>
            <a:ext cx="5253972" cy="27432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data_url</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DCDCAA"/>
                </a:solidFill>
                <a:effectLst/>
                <a:latin typeface="Consolas"/>
                <a:ea typeface="Consolas"/>
                <a:cs typeface="Consolas"/>
              </a:rPr>
              <a:t>f</a:t>
            </a:r>
            <a:r>
              <a:rPr lang="es-ES" sz="1200" b="0" i="0" strike="noStrike" cap="none" baseline="0">
                <a:solidFill>
                  <a:srgbClr val="CE9178"/>
                </a:solidFill>
                <a:effectLst/>
                <a:latin typeface="Consolas"/>
                <a:ea typeface="Consolas"/>
                <a:cs typeface="Consolas"/>
              </a:rPr>
              <a:t>"data:image/{</a:t>
            </a:r>
            <a:r>
              <a:rPr lang="es-ES" sz="1200" b="0" i="0" strike="noStrike" cap="none" baseline="0">
                <a:solidFill>
                  <a:srgbClr val="9CDCFE"/>
                </a:solidFill>
                <a:effectLst/>
                <a:latin typeface="Consolas"/>
                <a:ea typeface="Consolas"/>
                <a:cs typeface="Consolas"/>
              </a:rPr>
              <a:t>image_format</a:t>
            </a:r>
            <a:r>
              <a:rPr lang="es-ES" sz="1200" b="0" i="0" strike="noStrike" cap="none" baseline="0">
                <a:solidFill>
                  <a:srgbClr val="CE9178"/>
                </a:solidFill>
                <a:effectLst/>
                <a:latin typeface="Consolas"/>
                <a:ea typeface="Consolas"/>
                <a:cs typeface="Consolas"/>
              </a:rPr>
              <a:t>};base64,{</a:t>
            </a:r>
            <a:r>
              <a:rPr lang="es-ES" sz="1200" b="0" i="0" strike="noStrike" cap="none" baseline="0">
                <a:solidFill>
                  <a:srgbClr val="9CDCFE"/>
                </a:solidFill>
                <a:effectLst/>
                <a:latin typeface="Consolas"/>
                <a:ea typeface="Consolas"/>
                <a:cs typeface="Consolas"/>
              </a:rPr>
              <a:t>image_data</a:t>
            </a:r>
            <a:r>
              <a:rPr lang="es-ES" sz="1200" b="0" i="0" strike="noStrike" cap="none" baseline="0">
                <a:solidFill>
                  <a:srgbClr val="CE9178"/>
                </a:solidFill>
                <a:effectLst/>
                <a:latin typeface="Consolas"/>
                <a:ea typeface="Consolas"/>
                <a:cs typeface="Consolas"/>
              </a:rPr>
              <a:t>}"</a:t>
            </a:r>
            <a:endParaRPr lang="en-US" sz="1200"/>
          </a:p>
        </p:txBody>
      </p:sp>
      <p:sp>
        <p:nvSpPr>
          <p:cNvPr id="26" name="Rounded Rectangle 25">
            <a:extLst>
              <a:ext uri="{FF2B5EF4-FFF2-40B4-BE49-F238E27FC236}">
                <a16:creationId xmlns:a16="http://schemas.microsoft.com/office/drawing/2014/main" id="{65335565-72E7-3262-D9FA-FBAF3272E110}"/>
              </a:ext>
              <a:ext uri="{C183D7F6-B498-43B3-948B-1728B52AA6E4}">
                <adec:decorative xmlns:adec="http://schemas.microsoft.com/office/drawing/2017/decorative" val="1"/>
              </a:ext>
            </a:extLst>
          </p:cNvPr>
          <p:cNvSpPr/>
          <p:nvPr/>
        </p:nvSpPr>
        <p:spPr bwMode="auto">
          <a:xfrm>
            <a:off x="6739856" y="3430570"/>
            <a:ext cx="5135480" cy="1815278"/>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0" name="TextBox 29">
            <a:extLst>
              <a:ext uri="{FF2B5EF4-FFF2-40B4-BE49-F238E27FC236}">
                <a16:creationId xmlns:a16="http://schemas.microsoft.com/office/drawing/2014/main" id="{89FF1AA7-C9E7-9C07-1063-8608C98CAC0A}"/>
              </a:ext>
            </a:extLst>
          </p:cNvPr>
          <p:cNvSpPr txBox="1"/>
          <p:nvPr/>
        </p:nvSpPr>
        <p:spPr>
          <a:xfrm>
            <a:off x="6739856" y="3444644"/>
            <a:ext cx="6094140" cy="173736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response</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9CDCFE"/>
                </a:solidFill>
                <a:effectLst/>
                <a:latin typeface="Consolas"/>
                <a:ea typeface="Consolas"/>
                <a:cs typeface="Consolas"/>
              </a:rPr>
              <a:t>client</a:t>
            </a:r>
            <a:r>
              <a:rPr lang="es-ES" sz="1200" b="0" i="0" strike="noStrike" cap="none" baseline="0">
                <a:solidFill>
                  <a:srgbClr val="ABB2BF"/>
                </a:solidFill>
                <a:effectLst/>
                <a:latin typeface="Consolas"/>
                <a:ea typeface="Consolas"/>
                <a:cs typeface="Consolas"/>
              </a:rPr>
              <a:t>.responses.</a:t>
            </a:r>
            <a:r>
              <a:rPr lang="es-ES" sz="1200" b="0" i="0" strike="noStrike" cap="none" baseline="0">
                <a:solidFill>
                  <a:srgbClr val="DCDCAA"/>
                </a:solidFill>
                <a:effectLst/>
                <a:latin typeface="Consolas"/>
                <a:ea typeface="Consolas"/>
                <a:cs typeface="Consolas"/>
              </a:rPr>
              <a:t>create</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model</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CE9178"/>
                </a:solidFill>
                <a:effectLst/>
                <a:latin typeface="Consolas"/>
                <a:ea typeface="Consolas"/>
                <a:cs typeface="Consolas"/>
              </a:rPr>
              <a:t>"gpt-4.1"</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input</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"role"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"developer"</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"content"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"You are a chef."</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"role"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"user"</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"content"</a:t>
            </a:r>
            <a:r>
              <a:rPr lang="es-ES" sz="1200" b="0" i="0" strike="noStrike" cap="none" baseline="0">
                <a:solidFill>
                  <a:srgbClr val="ABB2BF"/>
                </a:solidFill>
                <a:effectLst/>
                <a:latin typeface="Consolas"/>
                <a:ea typeface="Consolas"/>
                <a:cs typeface="Consolas"/>
              </a:rPr>
              <a:t>: [</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"type"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"input_text"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"text"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"What can I make?"</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"type"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"input_image"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"image_url"</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data_url</a:t>
            </a:r>
            <a:r>
              <a:rPr lang="es-ES" sz="1200" b="0" i="0" strike="noStrike" cap="none" baseline="0">
                <a:solidFill>
                  <a:srgbClr val="ABB2BF"/>
                </a:solidFill>
                <a:effectLst/>
                <a:latin typeface="Consolas"/>
                <a:ea typeface="Consolas"/>
                <a:cs typeface="Consolas"/>
              </a:rPr>
              <a:t>}</a:t>
            </a:r>
          </a:p>
          <a:p>
            <a:r>
              <a:rPr lang="en-US" sz="1200" b="0" i="0">
                <a:solidFill>
                  <a:srgbClr val="ABB2BF"/>
                </a:solidFill>
                <a:effectLst/>
                <a:latin typeface="Consolas" panose="020B0609020204030204" pitchFamily="49" charset="0"/>
              </a:rPr>
              <a:t>    ]}</a:t>
            </a:r>
          </a:p>
          <a:p>
            <a:r>
              <a:rPr lang="en-US" sz="1200" b="0" i="0">
                <a:solidFill>
                  <a:srgbClr val="ABB2BF"/>
                </a:solidFill>
                <a:effectLst/>
                <a:latin typeface="Consolas" panose="020B0609020204030204" pitchFamily="49" charset="0"/>
              </a:rPr>
              <a:t>  ]</a:t>
            </a:r>
          </a:p>
          <a:p>
            <a:r>
              <a:rPr lang="en-US" sz="1200" b="0" i="0">
                <a:solidFill>
                  <a:srgbClr val="ABB2BF"/>
                </a:solidFill>
                <a:effectLst/>
                <a:latin typeface="Consolas" panose="020B0609020204030204" pitchFamily="49" charset="0"/>
              </a:rPr>
              <a:t>)</a:t>
            </a:r>
            <a:endParaRPr lang="en-US" sz="1200"/>
          </a:p>
        </p:txBody>
      </p:sp>
      <p:sp>
        <p:nvSpPr>
          <p:cNvPr id="38" name="Rounded Rectangle 37">
            <a:extLst>
              <a:ext uri="{FF2B5EF4-FFF2-40B4-BE49-F238E27FC236}">
                <a16:creationId xmlns:a16="http://schemas.microsoft.com/office/drawing/2014/main" id="{B7ED0F02-8017-0A61-A51D-A139B43E7835}"/>
              </a:ext>
              <a:ext uri="{C183D7F6-B498-43B3-948B-1728B52AA6E4}">
                <adec:decorative xmlns:adec="http://schemas.microsoft.com/office/drawing/2017/decorative" val="1"/>
              </a:ext>
            </a:extLst>
          </p:cNvPr>
          <p:cNvSpPr/>
          <p:nvPr/>
        </p:nvSpPr>
        <p:spPr bwMode="auto">
          <a:xfrm>
            <a:off x="6739856" y="5502455"/>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0" name="TextBox 39">
            <a:extLst>
              <a:ext uri="{FF2B5EF4-FFF2-40B4-BE49-F238E27FC236}">
                <a16:creationId xmlns:a16="http://schemas.microsoft.com/office/drawing/2014/main" id="{22E75E4F-68C7-31DE-131F-F12D80C8D266}"/>
              </a:ext>
            </a:extLst>
          </p:cNvPr>
          <p:cNvSpPr txBox="1"/>
          <p:nvPr/>
        </p:nvSpPr>
        <p:spPr>
          <a:xfrm>
            <a:off x="6739856" y="5582991"/>
            <a:ext cx="5086415" cy="274320"/>
          </a:xfrm>
          <a:prstGeom prst="rect">
            <a:avLst/>
          </a:prstGeom>
          <a:noFill/>
        </p:spPr>
        <p:txBody>
          <a:bodyPr wrap="square">
            <a:spAutoFit/>
          </a:bodyPr>
          <a:lstStyle/>
          <a:p>
            <a:pPr algn="l">
              <a:buNone/>
            </a:pPr>
            <a:r>
              <a:rPr lang="es-ES" sz="1200" b="0" i="0" strike="noStrike" cap="none" baseline="0">
                <a:solidFill>
                  <a:srgbClr val="DCDCAA"/>
                </a:solidFill>
                <a:effectLst/>
                <a:latin typeface="Consolas"/>
                <a:ea typeface="Consolas"/>
                <a:cs typeface="Consolas"/>
              </a:rPr>
              <a:t>print</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9CDCFE"/>
                </a:solidFill>
                <a:effectLst/>
                <a:latin typeface="Consolas"/>
                <a:ea typeface="Consolas"/>
                <a:cs typeface="Consolas"/>
              </a:rPr>
              <a:t>response</a:t>
            </a:r>
            <a:r>
              <a:rPr lang="es-ES" sz="1200" b="0" i="0" strike="noStrike" cap="none" baseline="0">
                <a:solidFill>
                  <a:srgbClr val="ABB2BF"/>
                </a:solidFill>
                <a:effectLst/>
                <a:latin typeface="Consolas"/>
                <a:ea typeface="Consolas"/>
                <a:cs typeface="Consolas"/>
              </a:rPr>
              <a:t>.output_text)</a:t>
            </a:r>
          </a:p>
        </p:txBody>
      </p:sp>
    </p:spTree>
    <p:extLst>
      <p:ext uri="{BB962C8B-B14F-4D97-AF65-F5344CB8AC3E}">
        <p14:creationId xmlns:p14="http://schemas.microsoft.com/office/powerpoint/2010/main" val="9560591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a:t>Using the </a:t>
            </a:r>
            <a:r>
              <a:rPr lang="en-US" sz="3200" i="1"/>
              <a:t>Responses</a:t>
            </a:r>
            <a:r>
              <a:rPr lang="en-US" sz="3200"/>
              <a:t> API for image-based prompts</a:t>
            </a:r>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a:solidFill>
                  <a:srgbClr val="000000"/>
                </a:solidFill>
              </a:rPr>
              <a:t>© Copyright Microsoft Corporation. All rights reserved.</a:t>
            </a:r>
          </a:p>
        </p:txBody>
      </p:sp>
      <p:sp>
        <p:nvSpPr>
          <p:cNvPr id="12" name="TextBox 11">
            <a:extLst>
              <a:ext uri="{FF2B5EF4-FFF2-40B4-BE49-F238E27FC236}">
                <a16:creationId xmlns:a16="http://schemas.microsoft.com/office/drawing/2014/main" id="{94834900-58FB-B304-39E4-C3D5052A1060}"/>
              </a:ext>
            </a:extLst>
          </p:cNvPr>
          <p:cNvSpPr txBox="1"/>
          <p:nvPr/>
        </p:nvSpPr>
        <p:spPr>
          <a:xfrm>
            <a:off x="718455" y="1435922"/>
            <a:ext cx="10733316" cy="4401205"/>
          </a:xfrm>
          <a:prstGeom prst="rect">
            <a:avLst/>
          </a:prstGeom>
          <a:solidFill>
            <a:schemeClr val="tx1"/>
          </a:solidFill>
        </p:spPr>
        <p:txBody>
          <a:bodyPr wrap="square">
            <a:spAutoFit/>
          </a:bodyPr>
          <a:lstStyle/>
          <a:p>
            <a:r>
              <a:rPr lang="en-US" sz="14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Read the image data from a local file</a:t>
            </a:r>
          </a:p>
          <a:p>
            <a:r>
              <a:rPr lang="en-US" sz="14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 = Path("dragon-fruit.jpeg")</a:t>
            </a:r>
          </a:p>
          <a:p>
            <a:r>
              <a:rPr lang="en-US" sz="14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 = "jpeg"</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with open(image_path, "rb") as image_file:</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image_data = base64.b64encode(image_file.read()).decode("utf-8")</a:t>
            </a:r>
          </a:p>
          <a:p>
            <a:endPar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 = f"data:image/{image_format};base64,{image_data}" </a:t>
            </a:r>
            <a:r>
              <a:rPr lang="en-US" sz="14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You can also use a web URL</a:t>
            </a:r>
          </a:p>
          <a:p>
            <a:endPar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Send the image data in a prompt to the model</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client.responses.create(</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model="gpt-4.1",</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"developer", "content": "You are an AI assistant for chefs planning recipes."},</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"user", "content": [  </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"input_text", "text": "What desserts could I make with this?"},</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"input_image", "image_url": data_url}</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 </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print(response.output_text)</a:t>
            </a:r>
          </a:p>
        </p:txBody>
      </p:sp>
      <p:sp>
        <p:nvSpPr>
          <p:cNvPr id="13" name="TextBox 12">
            <a:extLst>
              <a:ext uri="{FF2B5EF4-FFF2-40B4-BE49-F238E27FC236}">
                <a16:creationId xmlns:a16="http://schemas.microsoft.com/office/drawing/2014/main" id="{1E727F28-8A4B-7117-21D4-D71E0886537B}"/>
              </a:ext>
            </a:extLst>
          </p:cNvPr>
          <p:cNvSpPr txBox="1"/>
          <p:nvPr/>
        </p:nvSpPr>
        <p:spPr>
          <a:xfrm>
            <a:off x="3860800" y="5256959"/>
            <a:ext cx="8171543" cy="1169551"/>
          </a:xfrm>
          <a:prstGeom prst="rect">
            <a:avLst/>
          </a:prstGeom>
          <a:solidFill>
            <a:schemeClr val="tx1"/>
          </a:solidFill>
          <a:ln>
            <a:solidFill>
              <a:schemeClr val="accent1"/>
            </a:solidFill>
          </a:ln>
          <a:effectLst>
            <a:outerShdw blurRad="50800" dist="38100" dir="2700000" algn="tl" rotWithShape="0">
              <a:prstClr val="black">
                <a:alpha val="40000"/>
              </a:prstClr>
            </a:outerShdw>
          </a:effectLst>
        </p:spPr>
        <p:txBody>
          <a:bodyPr wrap="square">
            <a:spAutoFit/>
          </a:bodyPr>
          <a:lstStyle/>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fruit in the image is a dragon fruit. Here are some recipes you can try:</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1. Dragon Fruit Sorbet</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Blend dragon fruit pulp with lime juice and a bit of sugar; then freeze.</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Dragon Fruit Parfait</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Layer Greek yogurt, dragon fruit chunks, granola, and a drizzle of honey.</a:t>
            </a:r>
          </a:p>
        </p:txBody>
      </p:sp>
    </p:spTree>
    <p:extLst>
      <p:ext uri="{BB962C8B-B14F-4D97-AF65-F5344CB8AC3E}">
        <p14:creationId xmlns:p14="http://schemas.microsoft.com/office/powerpoint/2010/main" val="11123207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a:t>Using the </a:t>
            </a:r>
            <a:r>
              <a:rPr lang="en-US" sz="3200" i="1" err="1"/>
              <a:t>ChatCompletions</a:t>
            </a:r>
            <a:r>
              <a:rPr lang="en-US" sz="3200"/>
              <a:t> API for image-based prompts</a:t>
            </a:r>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a:solidFill>
                  <a:srgbClr val="000000"/>
                </a:solidFill>
              </a:rPr>
              <a:t>© Copyright Microsoft Corporation. All rights reserved.</a:t>
            </a:r>
          </a:p>
        </p:txBody>
      </p:sp>
      <p:sp>
        <p:nvSpPr>
          <p:cNvPr id="12" name="TextBox 11">
            <a:extLst>
              <a:ext uri="{FF2B5EF4-FFF2-40B4-BE49-F238E27FC236}">
                <a16:creationId xmlns:a16="http://schemas.microsoft.com/office/drawing/2014/main" id="{94834900-58FB-B304-39E4-C3D5052A1060}"/>
              </a:ext>
            </a:extLst>
          </p:cNvPr>
          <p:cNvSpPr txBox="1"/>
          <p:nvPr/>
        </p:nvSpPr>
        <p:spPr>
          <a:xfrm>
            <a:off x="718455" y="1435922"/>
            <a:ext cx="10733316" cy="4401205"/>
          </a:xfrm>
          <a:prstGeom prst="rect">
            <a:avLst/>
          </a:prstGeom>
          <a:solidFill>
            <a:schemeClr val="tx1"/>
          </a:solidFill>
        </p:spPr>
        <p:txBody>
          <a:bodyPr wrap="square">
            <a:spAutoFit/>
          </a:bodyPr>
          <a:lstStyle/>
          <a:p>
            <a:r>
              <a:rPr lang="en-US" sz="14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Read the image data from a local file</a:t>
            </a:r>
          </a:p>
          <a:p>
            <a:r>
              <a:rPr lang="en-US" sz="14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 = Path("orange.jpeg")</a:t>
            </a:r>
          </a:p>
          <a:p>
            <a:r>
              <a:rPr lang="en-US" sz="14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 = "jpeg"</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with open(image_path, "rb") as image_file:</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image_data = base64.b64encode(image_file.read()).decode("utf-8")</a:t>
            </a:r>
          </a:p>
          <a:p>
            <a:endPar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 = f"data:image/{image_format};base64,{image_data}" </a:t>
            </a:r>
            <a:r>
              <a:rPr lang="en-US" sz="14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You can also use a web URL</a:t>
            </a:r>
          </a:p>
          <a:p>
            <a:endPar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Send the image data in a prompt to the model</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client.chat.completions.create(</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model="Phi-4-multimodal-instruct",</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"system", "content": "You are an AI assistant for chefs planning recipes."},</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"role": "user", "content": [  </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"text", "text": "What can I make with this fruit?"},</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"image_url", "image_url": {"url": data_url}}</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print(response.choices[0].message.content)</a:t>
            </a:r>
          </a:p>
        </p:txBody>
      </p:sp>
      <p:sp>
        <p:nvSpPr>
          <p:cNvPr id="13" name="TextBox 12">
            <a:extLst>
              <a:ext uri="{FF2B5EF4-FFF2-40B4-BE49-F238E27FC236}">
                <a16:creationId xmlns:a16="http://schemas.microsoft.com/office/drawing/2014/main" id="{1E727F28-8A4B-7117-21D4-D71E0886537B}"/>
              </a:ext>
            </a:extLst>
          </p:cNvPr>
          <p:cNvSpPr txBox="1"/>
          <p:nvPr/>
        </p:nvSpPr>
        <p:spPr>
          <a:xfrm>
            <a:off x="5421086" y="5422078"/>
            <a:ext cx="6495143" cy="954107"/>
          </a:xfrm>
          <a:prstGeom prst="rect">
            <a:avLst/>
          </a:prstGeom>
          <a:solidFill>
            <a:schemeClr val="tx1"/>
          </a:solidFill>
          <a:ln>
            <a:solidFill>
              <a:schemeClr val="accent1"/>
            </a:solidFill>
          </a:ln>
          <a:effectLst>
            <a:outerShdw blurRad="50800" dist="38100" dir="2700000" algn="tl" rotWithShape="0">
              <a:prstClr val="black">
                <a:alpha val="40000"/>
              </a:prstClr>
            </a:outerShdw>
          </a:effectLst>
        </p:spPr>
        <p:txBody>
          <a:bodyPr wrap="square">
            <a:spAutoFit/>
          </a:bodyPr>
          <a:lstStyle/>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fruit in the image is an orange. You can use it to make:</a:t>
            </a:r>
          </a:p>
          <a:p>
            <a:pPr marL="342900" indent="-342900">
              <a:buAutoNum type="arabicPeriod"/>
            </a:pPr>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Orange juice</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Marmalade</a:t>
            </a:r>
          </a:p>
          <a:p>
            <a:r>
              <a:rPr lang="en-US" sz="14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3. Orange sorbet</a:t>
            </a:r>
          </a:p>
        </p:txBody>
      </p:sp>
    </p:spTree>
    <p:extLst>
      <p:ext uri="{BB962C8B-B14F-4D97-AF65-F5344CB8AC3E}">
        <p14:creationId xmlns:p14="http://schemas.microsoft.com/office/powerpoint/2010/main" val="298447934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B516A9-D96A-6270-73A0-9C0566899346}"/>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8858" y="2018379"/>
            <a:ext cx="4572300" cy="3351905"/>
          </a:xfrm>
          <a:prstGeom prst="rect">
            <a:avLst/>
          </a:prstGeom>
          <a:effectLst/>
        </p:spPr>
      </p:pic>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054601" cy="609600"/>
          </a:xfrm>
        </p:spPr>
        <p:txBody>
          <a:bodyPr/>
          <a:lstStyle/>
          <a:p>
            <a:r>
              <a:rPr lang="es-ES" sz="2000" b="0" i="0" strike="noStrike" cap="none" baseline="0" dirty="0">
                <a:solidFill>
                  <a:srgbClr val="000000"/>
                </a:solidFill>
                <a:effectLst/>
                <a:latin typeface="Segoe UI Semibold"/>
                <a:ea typeface="Segoe UI Semibold"/>
                <a:cs typeface="Segoe UI Semibold"/>
              </a:rPr>
              <a:t>Desarrollo de una aplicación de chat habilitada para visión</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291139"/>
            <a:ext cx="5341971" cy="2019014"/>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usarás un modelo de IA generativa para</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lo siguiente: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Implementación de un modelo compatible con visión</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Interacción con indicaciones que incluyen imágenes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Desarrollo de una aplicación que acepta imágenes</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y texto Generación de respuestas basadas en</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datos visuales</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425081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Inicia el ejercicio en:</a:t>
            </a:r>
          </a:p>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hlinkClick r:id="rId4" history="0"/>
              </a:rPr>
              <a:t>https://go.microsoft.com/fwlink/?linkid=2356866</a:t>
            </a:r>
            <a:r>
              <a:rPr lang="es-ES" sz="1600" b="0" i="0" strike="noStrike" cap="none" baseline="0" dirty="0">
                <a:solidFill>
                  <a:srgbClr val="000000"/>
                </a:solidFill>
                <a:effectLst/>
                <a:latin typeface="Segoe UI"/>
                <a:ea typeface="Segoe UI"/>
                <a:cs typeface="Segoe UI"/>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1787855"/>
            <a:ext cx="8778782" cy="213360"/>
          </a:xfrm>
        </p:spPr>
        <p:txBody>
          <a:bodyPr/>
          <a:lstStyle/>
          <a:p>
            <a:r>
              <a:rPr lang="es-ES" sz="1400" b="1" i="0" strike="noStrike" cap="none" baseline="0">
                <a:solidFill>
                  <a:srgbClr val="000000"/>
                </a:solidFill>
                <a:effectLst/>
                <a:latin typeface="Segoe UI Semibold"/>
                <a:ea typeface="Segoe UI Semibold"/>
                <a:cs typeface="Segoe UI Semibold"/>
              </a:rPr>
              <a:t>¿Qué tipo de modelo puedes usar para responder a la entrada visual?</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084046"/>
            <a:ext cx="8775098" cy="725424"/>
          </a:xfrm>
          <a:noFill/>
        </p:spPr>
        <p:txBody>
          <a:bodyPr/>
          <a:lstStyle/>
          <a:p>
            <a:r>
              <a:rPr lang="es-ES" sz="1400" b="0" i="0" strike="noStrike" cap="none" baseline="0">
                <a:solidFill>
                  <a:srgbClr val="000000"/>
                </a:solidFill>
                <a:effectLst/>
                <a:latin typeface="Segoe UI"/>
                <a:ea typeface="Segoe UI"/>
                <a:cs typeface="Segoe UI"/>
              </a:rPr>
              <a:t>Solo modelos de OpenAI GPT</a:t>
            </a:r>
            <a:endParaRPr lang="en-US" noProof="0">
              <a:solidFill>
                <a:srgbClr val="000000"/>
              </a:solidFill>
            </a:endParaRPr>
          </a:p>
          <a:p>
            <a:r>
              <a:rPr lang="es-ES" sz="1400" b="0" i="0" strike="noStrike" cap="none" baseline="0">
                <a:solidFill>
                  <a:srgbClr val="000000"/>
                </a:solidFill>
                <a:effectLst/>
                <a:latin typeface="Segoe UI"/>
                <a:ea typeface="Segoe UI"/>
                <a:cs typeface="Segoe UI"/>
              </a:rPr>
              <a:t>Modelos de inserción</a:t>
            </a:r>
          </a:p>
          <a:p>
            <a:r>
              <a:rPr lang="es-ES" sz="1400" b="0" i="0" strike="noStrike" cap="none" baseline="0">
                <a:solidFill>
                  <a:srgbClr val="000000"/>
                </a:solidFill>
                <a:effectLst/>
                <a:latin typeface="Segoe UI"/>
                <a:ea typeface="Segoe UI"/>
                <a:cs typeface="Segoe UI"/>
              </a:rPr>
              <a:t>Modelos multimodales</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3003521"/>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¿Cómo puedes enviar una solicitud que pida a un modelo que analice una imagen?</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3248107"/>
            <a:ext cx="8775098" cy="1163395"/>
          </a:xfrm>
        </p:spPr>
        <p:txBody>
          <a:bodyPr/>
          <a:lstStyle/>
          <a:p>
            <a:r>
              <a:rPr lang="es-ES" sz="1400" b="0" i="0" strike="noStrike" cap="none" baseline="0" dirty="0">
                <a:solidFill>
                  <a:srgbClr val="000000"/>
                </a:solidFill>
                <a:effectLst/>
                <a:latin typeface="Segoe UI"/>
                <a:ea typeface="Segoe UI"/>
                <a:cs typeface="Segoe UI"/>
              </a:rPr>
              <a:t>Enviar una indicación con un mensaje basado en imágenes seguido de otra indicación con un mensaje basado en texto</a:t>
            </a:r>
          </a:p>
          <a:p>
            <a:r>
              <a:rPr lang="es-ES" sz="1400" b="0" i="0" strike="noStrike" cap="none" baseline="0" dirty="0">
                <a:solidFill>
                  <a:srgbClr val="000000"/>
                </a:solidFill>
                <a:effectLst/>
                <a:latin typeface="Segoe UI"/>
                <a:ea typeface="Segoe UI"/>
                <a:cs typeface="Segoe UI"/>
              </a:rPr>
              <a:t>Enviar una indicación que contenga un mensaje de usuario de varias partes, que contenga contenido</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de texto y contenido de imagen</a:t>
            </a:r>
          </a:p>
          <a:p>
            <a:r>
              <a:rPr lang="es-ES" sz="1400" b="0" i="0" strike="noStrike" cap="none" baseline="0" dirty="0">
                <a:solidFill>
                  <a:srgbClr val="000000"/>
                </a:solidFill>
                <a:effectLst/>
                <a:latin typeface="Segoe UI"/>
                <a:ea typeface="Segoe UI"/>
                <a:cs typeface="Segoe UI"/>
              </a:rPr>
              <a:t>Enviar la imagen como mensaje del sistema y la instrucción o pregunta como mensaje de usuario</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p:nvPr/>
        </p:nvSpPr>
        <p:spPr bwMode="auto">
          <a:xfrm>
            <a:off x="722582" y="169442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p:nvPr/>
        </p:nvSpPr>
        <p:spPr bwMode="auto">
          <a:xfrm>
            <a:off x="722582" y="3003985"/>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0940ADA0-4512-A138-9B73-83CB59A176E6}"/>
              </a:ext>
              <a:ext uri="{C183D7F6-B498-43B3-948B-1728B52AA6E4}">
                <adec:decorative xmlns:adec="http://schemas.microsoft.com/office/drawing/2017/decorative" val="1"/>
              </a:ext>
            </a:extLst>
          </p:cNvPr>
          <p:cNvSpPr/>
          <p:nvPr/>
        </p:nvSpPr>
        <p:spPr>
          <a:xfrm>
            <a:off x="1264848" y="374458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p:nvPr/>
        </p:nvSpPr>
        <p:spPr>
          <a:xfrm>
            <a:off x="1263852" y="263133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
        <p:nvSpPr>
          <p:cNvPr id="5" name="Text Placeholder 27">
            <a:extLst>
              <a:ext uri="{FF2B5EF4-FFF2-40B4-BE49-F238E27FC236}">
                <a16:creationId xmlns:a16="http://schemas.microsoft.com/office/drawing/2014/main" id="{C56E9CF9-30FF-EBAE-7A70-B76B3DF79BAE}"/>
              </a:ext>
            </a:extLst>
          </p:cNvPr>
          <p:cNvSpPr>
            <a:spLocks noGrp="1"/>
          </p:cNvSpPr>
          <p:nvPr>
            <p:ph type="body" sz="quarter" idx="20"/>
          </p:nvPr>
        </p:nvSpPr>
        <p:spPr>
          <a:xfrm>
            <a:off x="1235075" y="4585680"/>
            <a:ext cx="8778782" cy="243840"/>
          </a:xfrm>
        </p:spPr>
        <p:txBody>
          <a:bodyPr/>
          <a:lstStyle/>
          <a:p>
            <a:r>
              <a:rPr lang="es-ES" sz="1600" b="0" i="0" strike="noStrike" cap="none" baseline="0">
                <a:solidFill>
                  <a:srgbClr val="000000"/>
                </a:solidFill>
                <a:effectLst/>
                <a:latin typeface="Segoe UI Semibold"/>
                <a:ea typeface="Segoe UI Semibold"/>
                <a:cs typeface="Segoe UI Semibold"/>
              </a:rPr>
              <a:t>¿Cómo puedes incluir una imagen en un mensaje?</a:t>
            </a:r>
          </a:p>
        </p:txBody>
      </p:sp>
      <p:sp>
        <p:nvSpPr>
          <p:cNvPr id="6" name="Text Placeholder 28">
            <a:extLst>
              <a:ext uri="{FF2B5EF4-FFF2-40B4-BE49-F238E27FC236}">
                <a16:creationId xmlns:a16="http://schemas.microsoft.com/office/drawing/2014/main" id="{A351DA40-D3B6-4D60-0383-0AA5482C2176}"/>
              </a:ext>
            </a:extLst>
          </p:cNvPr>
          <p:cNvSpPr>
            <a:spLocks noGrp="1"/>
          </p:cNvSpPr>
          <p:nvPr>
            <p:ph type="body" sz="quarter" idx="21"/>
          </p:nvPr>
        </p:nvSpPr>
        <p:spPr>
          <a:xfrm>
            <a:off x="1235075" y="4938257"/>
            <a:ext cx="8775700" cy="725424"/>
          </a:xfrm>
        </p:spPr>
        <p:txBody>
          <a:bodyPr/>
          <a:lstStyle/>
          <a:p>
            <a:r>
              <a:rPr lang="es-ES" sz="1400" b="0" i="0" strike="noStrike" cap="none" baseline="0">
                <a:solidFill>
                  <a:srgbClr val="000000"/>
                </a:solidFill>
                <a:effectLst/>
                <a:latin typeface="Segoe UI"/>
                <a:ea typeface="Segoe UI"/>
                <a:cs typeface="Segoe UI"/>
              </a:rPr>
              <a:t>Como dirección URL o como datos binarios</a:t>
            </a:r>
          </a:p>
          <a:p>
            <a:r>
              <a:rPr lang="es-ES" sz="1400" b="0" i="0" strike="noStrike" cap="none" baseline="0">
                <a:solidFill>
                  <a:srgbClr val="000000"/>
                </a:solidFill>
                <a:effectLst/>
                <a:latin typeface="Segoe UI"/>
                <a:ea typeface="Segoe UI"/>
                <a:cs typeface="Segoe UI"/>
              </a:rPr>
              <a:t>Solo como dirección URL de una imagen en línea</a:t>
            </a:r>
          </a:p>
          <a:p>
            <a:r>
              <a:rPr lang="es-ES" sz="1400" b="0" i="0" strike="noStrike" cap="none" baseline="0">
                <a:solidFill>
                  <a:srgbClr val="000000"/>
                </a:solidFill>
                <a:effectLst/>
                <a:latin typeface="Segoe UI"/>
                <a:ea typeface="Segoe UI"/>
                <a:cs typeface="Segoe UI"/>
              </a:rPr>
              <a:t>Solo como datos binarios</a:t>
            </a:r>
          </a:p>
        </p:txBody>
      </p:sp>
      <p:sp>
        <p:nvSpPr>
          <p:cNvPr id="7" name="Graphic 26" descr="Checkmark">
            <a:extLst>
              <a:ext uri="{FF2B5EF4-FFF2-40B4-BE49-F238E27FC236}">
                <a16:creationId xmlns:a16="http://schemas.microsoft.com/office/drawing/2014/main" id="{C858DB19-C522-304E-9DC3-D7721DB7C04C}"/>
              </a:ext>
            </a:extLst>
          </p:cNvPr>
          <p:cNvSpPr/>
          <p:nvPr/>
        </p:nvSpPr>
        <p:spPr>
          <a:xfrm>
            <a:off x="1263852" y="4984595"/>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F8703400-7B95-52F1-EE12-C081596ABB3F}"/>
              </a:ext>
              <a:ext uri="{C183D7F6-B498-43B3-948B-1728B52AA6E4}">
                <adec:decorative xmlns:adec="http://schemas.microsoft.com/office/drawing/2017/decorative" val="1"/>
              </a:ext>
            </a:extLst>
          </p:cNvPr>
          <p:cNvSpPr/>
          <p:nvPr/>
        </p:nvSpPr>
        <p:spPr bwMode="auto">
          <a:xfrm>
            <a:off x="722582" y="453904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3</a:t>
            </a:r>
            <a:endParaRPr kumimoji="0" lang="en-IN" sz="1800" b="1" i="0" u="none" strike="noStrike" cap="none" spc="0" normalizeH="0" baseline="0" noProof="0">
              <a:ln>
                <a:noFill/>
              </a:ln>
              <a:solidFill>
                <a:schemeClr val="tx1"/>
              </a:solidFill>
              <a:effectLst/>
              <a:uLnTx/>
              <a:uFillTx/>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2B27-FDC3-82E1-88D9-8B498949C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33109-1251-2BDD-6EBE-AB012B8DE579}"/>
              </a:ext>
            </a:extLst>
          </p:cNvPr>
          <p:cNvSpPr>
            <a:spLocks noGrp="1"/>
          </p:cNvSpPr>
          <p:nvPr>
            <p:ph type="title"/>
          </p:nvPr>
        </p:nvSpPr>
        <p:spPr>
          <a:xfrm>
            <a:off x="569911" y="2902883"/>
            <a:ext cx="6984775" cy="1097280"/>
          </a:xfrm>
        </p:spPr>
        <p:txBody>
          <a:bodyPr/>
          <a:lstStyle/>
          <a:p>
            <a:r>
              <a:rPr lang="es-ES" sz="3600" b="0" i="0" strike="noStrike" cap="none" baseline="0">
                <a:solidFill>
                  <a:srgbClr val="000000"/>
                </a:solidFill>
                <a:effectLst/>
                <a:latin typeface="Segoe UI"/>
                <a:ea typeface="Segoe UI"/>
                <a:cs typeface="Segoe UI"/>
              </a:rPr>
              <a:t>Generación de imágenes y vídeo</a:t>
            </a:r>
            <a:endParaRPr lang="en-US" sz="3600" noProof="0"/>
          </a:p>
        </p:txBody>
      </p:sp>
      <p:sp>
        <p:nvSpPr>
          <p:cNvPr id="4" name="TextBox 3">
            <a:extLst>
              <a:ext uri="{FF2B5EF4-FFF2-40B4-BE49-F238E27FC236}">
                <a16:creationId xmlns:a16="http://schemas.microsoft.com/office/drawing/2014/main" id="{498BBD85-A39F-869A-AFA1-313B3561225E}"/>
              </a:ext>
            </a:extLst>
          </p:cNvPr>
          <p:cNvSpPr txBox="1"/>
          <p:nvPr/>
        </p:nvSpPr>
        <p:spPr>
          <a:xfrm>
            <a:off x="478471" y="4000163"/>
            <a:ext cx="5879298" cy="630936"/>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https://aka.ms/mslearn-generate-images</a:t>
            </a:r>
          </a:p>
          <a:p>
            <a:r>
              <a:rPr lang="es-ES" sz="1765" b="0" i="0" strike="noStrike" cap="none" baseline="0">
                <a:solidFill>
                  <a:srgbClr val="BF3AC4"/>
                </a:solidFill>
                <a:effectLst/>
                <a:latin typeface="Segoe UI"/>
                <a:ea typeface="Segoe UI"/>
                <a:cs typeface="Segoe UI"/>
              </a:rPr>
              <a:t>https://aka.ms/mslearn-generate-video</a:t>
            </a:r>
          </a:p>
        </p:txBody>
      </p:sp>
    </p:spTree>
    <p:extLst>
      <p:ext uri="{BB962C8B-B14F-4D97-AF65-F5344CB8AC3E}">
        <p14:creationId xmlns:p14="http://schemas.microsoft.com/office/powerpoint/2010/main" val="387221150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7832C6-F4A5-4728-82DE-85FDED224047}"/>
              </a:ext>
            </a:extLst>
          </p:cNvPr>
          <p:cNvSpPr>
            <a:spLocks noGrp="1"/>
          </p:cNvSpPr>
          <p:nvPr>
            <p:ph type="title"/>
          </p:nvPr>
        </p:nvSpPr>
        <p:spPr>
          <a:xfrm>
            <a:off x="588262" y="585216"/>
            <a:ext cx="10506784" cy="975360"/>
          </a:xfrm>
        </p:spPr>
        <p:txBody>
          <a:bodyPr/>
          <a:lstStyle/>
          <a:p>
            <a:r>
              <a:rPr lang="es-ES" sz="3200" b="0" i="0" strike="noStrike" cap="none" baseline="0" dirty="0">
                <a:solidFill>
                  <a:srgbClr val="000000"/>
                </a:solidFill>
                <a:effectLst/>
                <a:latin typeface="Segoe UI Semibold"/>
                <a:ea typeface="Segoe UI Semibold"/>
                <a:cs typeface="Segoe UI Semibold"/>
              </a:rPr>
              <a:t>Uso de un modelo de generación de imágenes</a:t>
            </a:r>
          </a:p>
        </p:txBody>
      </p:sp>
      <p:sp>
        <p:nvSpPr>
          <p:cNvPr id="35" name="Footer Placeholder 34">
            <a:extLst>
              <a:ext uri="{FF2B5EF4-FFF2-40B4-BE49-F238E27FC236}">
                <a16:creationId xmlns:a16="http://schemas.microsoft.com/office/drawing/2014/main" id="{7D43CBA2-48F0-6667-B80C-5A2CA1CF6973}"/>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12" name="Group 11" descr="Diagram showing the flow of using an image generation model in Foundry">
            <a:extLst>
              <a:ext uri="{FF2B5EF4-FFF2-40B4-BE49-F238E27FC236}">
                <a16:creationId xmlns:a16="http://schemas.microsoft.com/office/drawing/2014/main" id="{7BA23228-BEAC-5138-4D6D-AF7340353232}"/>
              </a:ext>
            </a:extLst>
          </p:cNvPr>
          <p:cNvGrpSpPr/>
          <p:nvPr/>
        </p:nvGrpSpPr>
        <p:grpSpPr>
          <a:xfrm>
            <a:off x="693864" y="3008057"/>
            <a:ext cx="4858052" cy="3169669"/>
            <a:chOff x="2314576" y="1622144"/>
            <a:chExt cx="5530849" cy="3381832"/>
          </a:xfrm>
        </p:grpSpPr>
        <p:grpSp>
          <p:nvGrpSpPr>
            <p:cNvPr id="2" name="Group 1">
              <a:extLst>
                <a:ext uri="{FF2B5EF4-FFF2-40B4-BE49-F238E27FC236}">
                  <a16:creationId xmlns:a16="http://schemas.microsoft.com/office/drawing/2014/main" id="{A5CE6D1E-80B9-8D8A-45A3-F0E274D4AB75}"/>
                </a:ext>
                <a:ext uri="{C183D7F6-B498-43B3-948B-1728B52AA6E4}">
                  <adec:decorative xmlns:adec="http://schemas.microsoft.com/office/drawing/2017/decorative" val="1"/>
                </a:ext>
              </a:extLst>
            </p:cNvPr>
            <p:cNvGrpSpPr/>
            <p:nvPr/>
          </p:nvGrpSpPr>
          <p:grpSpPr>
            <a:xfrm>
              <a:off x="2314576" y="1622144"/>
              <a:ext cx="5530849" cy="3381832"/>
              <a:chOff x="907525" y="965832"/>
              <a:chExt cx="5073887" cy="3367227"/>
            </a:xfrm>
          </p:grpSpPr>
          <p:pic>
            <p:nvPicPr>
              <p:cNvPr id="3" name="Graphic 2" descr="Cube with solid fill">
                <a:extLst>
                  <a:ext uri="{FF2B5EF4-FFF2-40B4-BE49-F238E27FC236}">
                    <a16:creationId xmlns:a16="http://schemas.microsoft.com/office/drawing/2014/main" id="{338E00CB-55E7-BF51-B828-49B806A4A0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55647" y="992161"/>
                <a:ext cx="1325765" cy="1325765"/>
              </a:xfrm>
              <a:prstGeom prst="rect">
                <a:avLst/>
              </a:prstGeom>
            </p:spPr>
          </p:pic>
          <p:grpSp>
            <p:nvGrpSpPr>
              <p:cNvPr id="6" name="Group 5">
                <a:extLst>
                  <a:ext uri="{FF2B5EF4-FFF2-40B4-BE49-F238E27FC236}">
                    <a16:creationId xmlns:a16="http://schemas.microsoft.com/office/drawing/2014/main" id="{1F2AAA80-B107-CB99-CFE9-6396D65B5A76}"/>
                  </a:ext>
                </a:extLst>
              </p:cNvPr>
              <p:cNvGrpSpPr/>
              <p:nvPr/>
            </p:nvGrpSpPr>
            <p:grpSpPr>
              <a:xfrm>
                <a:off x="907525" y="965832"/>
                <a:ext cx="3047668" cy="1572893"/>
                <a:chOff x="907525" y="965832"/>
                <a:chExt cx="3047668" cy="1572893"/>
              </a:xfrm>
            </p:grpSpPr>
            <p:pic>
              <p:nvPicPr>
                <p:cNvPr id="9" name="Graphic 8" descr="Speech outline">
                  <a:extLst>
                    <a:ext uri="{FF2B5EF4-FFF2-40B4-BE49-F238E27FC236}">
                      <a16:creationId xmlns:a16="http://schemas.microsoft.com/office/drawing/2014/main" id="{8ADA9D7D-9334-ECC6-B804-D98A92B96C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907525" y="965832"/>
                  <a:ext cx="3047668" cy="1572893"/>
                </a:xfrm>
                <a:prstGeom prst="rect">
                  <a:avLst/>
                </a:prstGeom>
              </p:spPr>
            </p:pic>
            <p:sp>
              <p:nvSpPr>
                <p:cNvPr id="10" name="TextBox 9">
                  <a:extLst>
                    <a:ext uri="{FF2B5EF4-FFF2-40B4-BE49-F238E27FC236}">
                      <a16:creationId xmlns:a16="http://schemas.microsoft.com/office/drawing/2014/main" id="{EB7F6447-E8BE-4A15-02BD-58C9E315BD74}"/>
                    </a:ext>
                  </a:extLst>
                </p:cNvPr>
                <p:cNvSpPr txBox="1"/>
                <p:nvPr/>
              </p:nvSpPr>
              <p:spPr>
                <a:xfrm>
                  <a:off x="1381617" y="1366263"/>
                  <a:ext cx="2137517" cy="49044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150" b="0" i="0" strike="noStrike" cap="none" baseline="0" dirty="0">
                      <a:solidFill>
                        <a:srgbClr val="000000"/>
                      </a:solidFill>
                      <a:effectLst/>
                      <a:latin typeface="Aptos"/>
                      <a:ea typeface="Aptos"/>
                      <a:cs typeface="Aptos"/>
                    </a:rPr>
                    <a:t>Creación de una imagen de una ardilla en un </a:t>
                  </a:r>
                  <a:r>
                    <a:rPr lang="es-ES" sz="1150" b="0" i="0" strike="noStrike" cap="none" baseline="0" dirty="0" err="1">
                      <a:solidFill>
                        <a:srgbClr val="000000"/>
                      </a:solidFill>
                      <a:effectLst/>
                      <a:latin typeface="Aptos"/>
                      <a:ea typeface="Aptos"/>
                      <a:cs typeface="Aptos"/>
                    </a:rPr>
                    <a:t>skateboard</a:t>
                  </a:r>
                  <a:endParaRPr kumimoji="0" lang="en-US" sz="1150" b="0" i="0" u="none" strike="noStrike" kern="0" cap="none" spc="0" normalizeH="0" baseline="0" noProof="0" dirty="0">
                    <a:ln>
                      <a:noFill/>
                    </a:ln>
                    <a:solidFill>
                      <a:prstClr val="black"/>
                    </a:solidFill>
                    <a:effectLst/>
                    <a:uLnTx/>
                    <a:uFillTx/>
                    <a:latin typeface="Aptos" panose="02110004020202020204"/>
                  </a:endParaRPr>
                </a:p>
              </p:txBody>
            </p:sp>
          </p:grpSp>
          <p:pic>
            <p:nvPicPr>
              <p:cNvPr id="7" name="Graphic 6" descr="Speech outline">
                <a:extLst>
                  <a:ext uri="{FF2B5EF4-FFF2-40B4-BE49-F238E27FC236}">
                    <a16:creationId xmlns:a16="http://schemas.microsoft.com/office/drawing/2014/main" id="{9AE88497-7B5E-1CCF-6D2D-D66106FCBA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V="1">
                <a:off x="3133201" y="1713613"/>
                <a:ext cx="2619446" cy="2619446"/>
              </a:xfrm>
              <a:prstGeom prst="rect">
                <a:avLst/>
              </a:prstGeom>
            </p:spPr>
          </p:pic>
          <p:sp>
            <p:nvSpPr>
              <p:cNvPr id="8" name="Arrow: Right 7">
                <a:extLst>
                  <a:ext uri="{FF2B5EF4-FFF2-40B4-BE49-F238E27FC236}">
                    <a16:creationId xmlns:a16="http://schemas.microsoft.com/office/drawing/2014/main" id="{971C4BDE-CB4D-5602-1738-96A6376A64B0}"/>
                  </a:ext>
                </a:extLst>
              </p:cNvPr>
              <p:cNvSpPr/>
              <p:nvPr/>
            </p:nvSpPr>
            <p:spPr>
              <a:xfrm>
                <a:off x="3630099" y="1353496"/>
                <a:ext cx="1106906" cy="713595"/>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pic>
          <p:nvPicPr>
            <p:cNvPr id="11" name="Picture 10">
              <a:extLst>
                <a:ext uri="{FF2B5EF4-FFF2-40B4-BE49-F238E27FC236}">
                  <a16:creationId xmlns:a16="http://schemas.microsoft.com/office/drawing/2014/main" id="{79C02A6C-5294-6473-C513-4A6A7ADEB14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Lst>
            </a:blip>
            <a:srcRect r="-2279" b="12582"/>
            <a:stretch>
              <a:fillRect/>
            </a:stretch>
          </p:blipFill>
          <p:spPr>
            <a:xfrm>
              <a:off x="5737056" y="3429000"/>
              <a:ext cx="862643" cy="8910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13" name="TextBox 12">
            <a:extLst>
              <a:ext uri="{FF2B5EF4-FFF2-40B4-BE49-F238E27FC236}">
                <a16:creationId xmlns:a16="http://schemas.microsoft.com/office/drawing/2014/main" id="{CD86800C-B72C-8FCC-5A93-F471FA028493}"/>
              </a:ext>
            </a:extLst>
          </p:cNvPr>
          <p:cNvSpPr txBox="1"/>
          <p:nvPr/>
        </p:nvSpPr>
        <p:spPr>
          <a:xfrm>
            <a:off x="6640084" y="1357809"/>
            <a:ext cx="4728955" cy="1754326"/>
          </a:xfrm>
          <a:prstGeom prst="rect">
            <a:avLst/>
          </a:prstGeom>
          <a:noFill/>
        </p:spPr>
        <p:txBody>
          <a:bodyPr wrap="square" numCol="1">
            <a:spAutoFit/>
          </a:bodyPr>
          <a:lstStyle/>
          <a:p>
            <a:r>
              <a:rPr lang="es-ES" sz="1800" b="0" i="0" strike="noStrike" cap="none" baseline="0" dirty="0">
                <a:solidFill>
                  <a:srgbClr val="000000"/>
                </a:solidFill>
                <a:effectLst/>
                <a:latin typeface="Segoe UI"/>
                <a:ea typeface="Segoe UI"/>
                <a:cs typeface="Segoe UI"/>
              </a:rPr>
              <a:t>Prueba del modelo en el área de juegos</a:t>
            </a:r>
          </a:p>
          <a:p>
            <a:pPr marL="285750" indent="-28575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Seleccionar un tipo de imagen</a:t>
            </a:r>
          </a:p>
          <a:p>
            <a:pPr marL="285750" indent="-28575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Agregar una imagen de referencia</a:t>
            </a:r>
          </a:p>
          <a:p>
            <a:pPr marL="285750" indent="-28575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(si se admite y es necesario)</a:t>
            </a:r>
          </a:p>
          <a:p>
            <a:pPr marL="285750" indent="-28575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Escribir las indicaciones que describan</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la imagen deseada</a:t>
            </a:r>
          </a:p>
        </p:txBody>
      </p:sp>
      <p:sp>
        <p:nvSpPr>
          <p:cNvPr id="14" name="TextBox 13">
            <a:extLst>
              <a:ext uri="{FF2B5EF4-FFF2-40B4-BE49-F238E27FC236}">
                <a16:creationId xmlns:a16="http://schemas.microsoft.com/office/drawing/2014/main" id="{475B2E87-36C6-6939-CAAD-6D3FC26735CC}"/>
              </a:ext>
            </a:extLst>
          </p:cNvPr>
          <p:cNvSpPr txBox="1"/>
          <p:nvPr/>
        </p:nvSpPr>
        <p:spPr>
          <a:xfrm>
            <a:off x="693864" y="1362115"/>
            <a:ext cx="4652473" cy="1463040"/>
          </a:xfrm>
          <a:prstGeom prst="rect">
            <a:avLst/>
          </a:prstGeom>
          <a:noFill/>
        </p:spPr>
        <p:txBody>
          <a:bodyPr wrap="square" numCol="1">
            <a:spAutoFit/>
          </a:bodyPr>
          <a:lstStyle/>
          <a:p>
            <a:r>
              <a:rPr lang="es-ES" sz="1800" b="0" i="0" strike="noStrike" cap="none" baseline="0" dirty="0">
                <a:solidFill>
                  <a:srgbClr val="000000"/>
                </a:solidFill>
                <a:effectLst/>
                <a:latin typeface="Segoe UI"/>
                <a:ea typeface="Segoe UI"/>
                <a:cs typeface="Segoe UI"/>
              </a:rPr>
              <a:t>Implementar un modelo de generación</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de imágenes:</a:t>
            </a:r>
          </a:p>
          <a:p>
            <a:pPr marL="285750" indent="-28575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GPT-</a:t>
            </a:r>
            <a:r>
              <a:rPr lang="es-ES" sz="1800" b="0" i="0" strike="noStrike" cap="none" baseline="0" dirty="0" err="1">
                <a:solidFill>
                  <a:srgbClr val="000000"/>
                </a:solidFill>
                <a:effectLst/>
                <a:latin typeface="Segoe UI"/>
                <a:ea typeface="Segoe UI"/>
                <a:cs typeface="Segoe UI"/>
              </a:rPr>
              <a:t>Image</a:t>
            </a:r>
            <a:endParaRPr lang="es-ES" sz="1800" b="0" i="0" strike="noStrike" cap="none" baseline="0" dirty="0">
              <a:solidFill>
                <a:srgbClr val="000000"/>
              </a:solidFill>
              <a:effectLst/>
              <a:latin typeface="Segoe UI"/>
              <a:ea typeface="Segoe UI"/>
              <a:cs typeface="Segoe UI"/>
            </a:endParaRPr>
          </a:p>
          <a:p>
            <a:pPr marL="285750" indent="-28575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FLUX.1-Kontext-pro</a:t>
            </a:r>
          </a:p>
          <a:p>
            <a:pPr marL="285750" indent="-285750">
              <a:buFont typeface="Arial" panose="020B0604020202020204" pitchFamily="34" charset="0"/>
              <a:buChar char="•"/>
            </a:pPr>
            <a:r>
              <a:rPr lang="en-US" sz="1800" dirty="0"/>
              <a:t>…</a:t>
            </a:r>
            <a:endParaRPr lang="en-US" sz="1800" dirty="0">
              <a:effectLst/>
            </a:endParaRPr>
          </a:p>
        </p:txBody>
      </p:sp>
      <p:pic>
        <p:nvPicPr>
          <p:cNvPr id="15" name="Picture 14">
            <a:extLst>
              <a:ext uri="{FF2B5EF4-FFF2-40B4-BE49-F238E27FC236}">
                <a16:creationId xmlns:a16="http://schemas.microsoft.com/office/drawing/2014/main" id="{345300EC-BC5A-5415-84E1-D33390FE1FD1}"/>
              </a:ext>
            </a:extLst>
          </p:cNvPr>
          <p:cNvPicPr>
            <a:picLocks noChangeAspect="1"/>
          </p:cNvPicPr>
          <p:nvPr/>
        </p:nvPicPr>
        <p:blipFill>
          <a:blip r:embed="rId7"/>
          <a:srcRect/>
          <a:stretch/>
        </p:blipFill>
        <p:spPr>
          <a:xfrm>
            <a:off x="6391738" y="3240122"/>
            <a:ext cx="4652472" cy="3409446"/>
          </a:xfrm>
          <a:prstGeom prst="rect">
            <a:avLst/>
          </a:prstGeom>
        </p:spPr>
      </p:pic>
    </p:spTree>
    <p:extLst>
      <p:ext uri="{BB962C8B-B14F-4D97-AF65-F5344CB8AC3E}">
        <p14:creationId xmlns:p14="http://schemas.microsoft.com/office/powerpoint/2010/main" val="194839014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4562-0EFB-99D3-5FED-CB1648014E75}"/>
            </a:ext>
          </a:extLst>
        </p:cNvPr>
        <p:cNvGrpSpPr/>
        <p:nvPr/>
      </p:nvGrpSpPr>
      <p:grpSpPr>
        <a:xfrm>
          <a:off x="0" y="0"/>
          <a:ext cx="0" cy="0"/>
          <a:chOff x="0" y="0"/>
          <a:chExt cx="0" cy="0"/>
        </a:xfrm>
      </p:grpSpPr>
      <p:sp>
        <p:nvSpPr>
          <p:cNvPr id="5" name="Rounded Rectangle 22">
            <a:extLst>
              <a:ext uri="{FF2B5EF4-FFF2-40B4-BE49-F238E27FC236}">
                <a16:creationId xmlns:a16="http://schemas.microsoft.com/office/drawing/2014/main" id="{189D142F-73BA-952A-A5C2-69640FC8F172}"/>
              </a:ext>
            </a:extLst>
          </p:cNvPr>
          <p:cNvSpPr/>
          <p:nvPr/>
        </p:nvSpPr>
        <p:spPr bwMode="auto">
          <a:xfrm>
            <a:off x="780101" y="1328878"/>
            <a:ext cx="5915341"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 name="Title 3">
            <a:extLst>
              <a:ext uri="{FF2B5EF4-FFF2-40B4-BE49-F238E27FC236}">
                <a16:creationId xmlns:a16="http://schemas.microsoft.com/office/drawing/2014/main" id="{F030B244-75CA-9673-F1C3-2E3947E08408}"/>
              </a:ext>
            </a:extLst>
          </p:cNvPr>
          <p:cNvSpPr>
            <a:spLocks noGrp="1"/>
          </p:cNvSpPr>
          <p:nvPr>
            <p:ph type="title"/>
          </p:nvPr>
        </p:nvSpPr>
        <p:spPr>
          <a:xfrm>
            <a:off x="588261" y="585216"/>
            <a:ext cx="11259819" cy="975360"/>
          </a:xfrm>
        </p:spPr>
        <p:txBody>
          <a:bodyPr/>
          <a:lstStyle/>
          <a:p>
            <a:r>
              <a:rPr lang="es-ES" sz="3200" b="0" i="0" strike="noStrike" cap="none" baseline="0" dirty="0">
                <a:solidFill>
                  <a:srgbClr val="000000"/>
                </a:solidFill>
                <a:effectLst/>
                <a:latin typeface="Segoe UI Semibold"/>
                <a:ea typeface="Segoe UI Semibold"/>
                <a:cs typeface="Segoe UI"/>
              </a:rPr>
              <a:t>Generación de una imagen con la API </a:t>
            </a:r>
            <a:r>
              <a:rPr lang="es-ES" sz="3200" b="0" i="1" strike="noStrike" cap="none" baseline="0" dirty="0">
                <a:solidFill>
                  <a:srgbClr val="000000"/>
                </a:solidFill>
                <a:effectLst/>
                <a:latin typeface="Segoe UI Semibold"/>
                <a:ea typeface="Segoe UI Semibold"/>
                <a:cs typeface="Segoe UI Semibold"/>
              </a:rPr>
              <a:t>Imágenes</a:t>
            </a:r>
            <a:r>
              <a:rPr lang="es-ES" sz="3200" b="0" i="0" strike="noStrike" cap="none" baseline="0" dirty="0">
                <a:solidFill>
                  <a:srgbClr val="000000"/>
                </a:solidFill>
                <a:effectLst/>
                <a:latin typeface="Segoe UI Semibold"/>
                <a:ea typeface="Segoe UI Semibold"/>
                <a:cs typeface="Segoe UI Semibold"/>
              </a:rPr>
              <a:t> de </a:t>
            </a:r>
            <a:r>
              <a:rPr lang="es-ES" sz="3200" b="0" i="0" strike="noStrike" cap="none" baseline="0" dirty="0" err="1">
                <a:solidFill>
                  <a:srgbClr val="000000"/>
                </a:solidFill>
                <a:effectLst/>
                <a:latin typeface="Segoe UI Semibold"/>
                <a:ea typeface="Segoe UI Semibold"/>
                <a:cs typeface="Segoe UI Semibold"/>
              </a:rPr>
              <a:t>OpenAI</a:t>
            </a:r>
            <a:endParaRPr lang="es-ES" sz="3200" b="0" i="0" strike="noStrike" cap="none" baseline="0" dirty="0">
              <a:solidFill>
                <a:srgbClr val="000000"/>
              </a:solidFill>
              <a:effectLst/>
              <a:latin typeface="Segoe UI Semibold"/>
              <a:ea typeface="Segoe UI Semibold"/>
              <a:cs typeface="Segoe UI Semibold"/>
            </a:endParaRPr>
          </a:p>
        </p:txBody>
      </p:sp>
      <p:sp>
        <p:nvSpPr>
          <p:cNvPr id="35" name="Footer Placeholder 34">
            <a:extLst>
              <a:ext uri="{FF2B5EF4-FFF2-40B4-BE49-F238E27FC236}">
                <a16:creationId xmlns:a16="http://schemas.microsoft.com/office/drawing/2014/main" id="{92388852-438F-2DEA-3116-9AE2303397A9}"/>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pic>
        <p:nvPicPr>
          <p:cNvPr id="9" name="Picture 8" descr="A generated image showing a robot eating a hamburger.">
            <a:extLst>
              <a:ext uri="{FF2B5EF4-FFF2-40B4-BE49-F238E27FC236}">
                <a16:creationId xmlns:a16="http://schemas.microsoft.com/office/drawing/2014/main" id="{288F8A89-3B9E-BF43-FD79-ADDC56D47CD1}"/>
              </a:ext>
            </a:extLst>
          </p:cNvPr>
          <p:cNvPicPr>
            <a:picLocks noChangeAspect="1"/>
          </p:cNvPicPr>
          <p:nvPr/>
        </p:nvPicPr>
        <p:blipFill>
          <a:blip r:embed="rId3"/>
          <a:stretch>
            <a:fillRect/>
          </a:stretch>
        </p:blipFill>
        <p:spPr>
          <a:xfrm>
            <a:off x="6981371" y="1972927"/>
            <a:ext cx="4299857" cy="4299857"/>
          </a:xfrm>
          <a:prstGeom prst="rect">
            <a:avLst/>
          </a:prstGeom>
          <a:ln>
            <a:solidFill>
              <a:schemeClr val="accent1"/>
            </a:solid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D48D6D6-0197-91E9-0A88-A6128136976C}"/>
              </a:ext>
            </a:extLst>
          </p:cNvPr>
          <p:cNvSpPr txBox="1"/>
          <p:nvPr/>
        </p:nvSpPr>
        <p:spPr>
          <a:xfrm>
            <a:off x="888157" y="1445199"/>
            <a:ext cx="6719986" cy="2677656"/>
          </a:xfrm>
          <a:prstGeom prst="rect">
            <a:avLst/>
          </a:prstGeom>
          <a:noFill/>
        </p:spPr>
        <p:txBody>
          <a:bodyPr wrap="square">
            <a:spAutoFit/>
          </a:bodyPr>
          <a:lstStyle/>
          <a:p>
            <a:r>
              <a:rPr lang="en-US" sz="1200" dirty="0">
                <a:solidFill>
                  <a:srgbClr val="4CBC89"/>
                </a:solidFill>
                <a:latin typeface="Consolas" panose="020B0609020204030204" pitchFamily="49" charset="0"/>
              </a:rPr>
              <a:t># Generate an image</a:t>
            </a:r>
          </a:p>
          <a:p>
            <a:r>
              <a:rPr lang="en-US" sz="1200" dirty="0" err="1">
                <a:solidFill>
                  <a:srgbClr val="9CDCFE"/>
                </a:solidFill>
                <a:latin typeface="Consolas" panose="020B0609020204030204" pitchFamily="49" charset="0"/>
              </a:rPr>
              <a:t>img_results</a:t>
            </a:r>
            <a:r>
              <a:rPr lang="en-US" sz="1200" dirty="0">
                <a:solidFill>
                  <a:srgbClr val="9CDCFE"/>
                </a:solidFill>
                <a:latin typeface="Consolas" panose="020B0609020204030204" pitchFamily="49" charset="0"/>
              </a:rPr>
              <a:t> =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images</a:t>
            </a:r>
            <a:r>
              <a:rPr lang="en-US" sz="1200" dirty="0" err="1">
                <a:solidFill>
                  <a:srgbClr val="9CDCFE"/>
                </a:solidFill>
                <a:latin typeface="Consolas" panose="020B0609020204030204" pitchFamily="49" charset="0"/>
              </a:rPr>
              <a:t>.</a:t>
            </a:r>
            <a:r>
              <a:rPr lang="en-US" sz="1200" dirty="0" err="1">
                <a:solidFill>
                  <a:srgbClr val="DCDCAA"/>
                </a:solidFill>
                <a:latin typeface="Consolas" panose="020B0609020204030204" pitchFamily="49" charset="0"/>
              </a:rPr>
              <a:t>generate</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model</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"FLUX.1-Kontext-pro"</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prompt</a:t>
            </a:r>
            <a:r>
              <a:rPr lang="en-US" sz="1200" dirty="0">
                <a:solidFill>
                  <a:srgbClr val="CE9178"/>
                </a:solidFill>
                <a:latin typeface="Consolas" panose="020B0609020204030204" pitchFamily="49" charset="0"/>
              </a:rPr>
              <a:t>="A robot eating a cheeseburger."</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n</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1</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size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"1024x1024"</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4CBC89"/>
                </a:solidFill>
                <a:latin typeface="Consolas" panose="020B0609020204030204" pitchFamily="49" charset="0"/>
              </a:rPr>
              <a:t># Save the generated image</a:t>
            </a:r>
          </a:p>
          <a:p>
            <a:r>
              <a:rPr lang="en-US" sz="1200" dirty="0" err="1">
                <a:solidFill>
                  <a:srgbClr val="9CDCFE"/>
                </a:solidFill>
                <a:latin typeface="Consolas" panose="020B0609020204030204" pitchFamily="49" charset="0"/>
              </a:rPr>
              <a:t>image_data</a:t>
            </a:r>
            <a:r>
              <a:rPr lang="en-US" sz="1200" dirty="0">
                <a:solidFill>
                  <a:srgbClr val="9CDCFE"/>
                </a:solidFill>
                <a:latin typeface="Consolas" panose="020B0609020204030204" pitchFamily="49" charset="0"/>
              </a:rPr>
              <a:t> = </a:t>
            </a:r>
            <a:r>
              <a:rPr lang="en-US" sz="1200" dirty="0">
                <a:solidFill>
                  <a:srgbClr val="ABB2BF"/>
                </a:solidFill>
                <a:latin typeface="Consolas" panose="020B0609020204030204" pitchFamily="49" charset="0"/>
              </a:rPr>
              <a:t>base64.</a:t>
            </a:r>
            <a:r>
              <a:rPr lang="en-US" sz="1200" dirty="0">
                <a:solidFill>
                  <a:srgbClr val="DCDCAA"/>
                </a:solidFill>
                <a:latin typeface="Consolas" panose="020B0609020204030204" pitchFamily="49" charset="0"/>
              </a:rPr>
              <a:t>b64decode</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img_results</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data</a:t>
            </a:r>
            <a:r>
              <a:rPr lang="en-US" sz="1200" dirty="0">
                <a:solidFill>
                  <a:srgbClr val="ABB2BF"/>
                </a:solidFill>
                <a:latin typeface="Consolas" panose="020B0609020204030204" pitchFamily="49" charset="0"/>
              </a:rPr>
              <a:t>[0].</a:t>
            </a:r>
            <a:r>
              <a:rPr lang="en-US" sz="1200" dirty="0">
                <a:solidFill>
                  <a:srgbClr val="DCDCAA"/>
                </a:solidFill>
                <a:latin typeface="Consolas" panose="020B0609020204030204" pitchFamily="49" charset="0"/>
              </a:rPr>
              <a:t>b64_json</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5295CD"/>
                </a:solidFill>
                <a:latin typeface="Consolas" panose="020B0609020204030204" pitchFamily="49" charset="0"/>
              </a:rPr>
              <a:t>with</a:t>
            </a:r>
            <a:r>
              <a:rPr lang="en-US" sz="1200" dirty="0">
                <a:solidFill>
                  <a:srgbClr val="9CDCFE"/>
                </a:solidFill>
                <a:latin typeface="Consolas" panose="020B0609020204030204" pitchFamily="49" charset="0"/>
              </a:rPr>
              <a:t> </a:t>
            </a:r>
            <a:r>
              <a:rPr lang="en-US" sz="1200" dirty="0">
                <a:solidFill>
                  <a:srgbClr val="DCDCAA"/>
                </a:solidFill>
                <a:latin typeface="Consolas" panose="020B0609020204030204" pitchFamily="49" charset="0"/>
              </a:rPr>
              <a:t>open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"image.png"</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 </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wb</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 </a:t>
            </a:r>
            <a:r>
              <a:rPr lang="en-US" sz="1200" dirty="0">
                <a:solidFill>
                  <a:srgbClr val="5295CD"/>
                </a:solidFill>
                <a:latin typeface="Consolas" panose="020B0609020204030204" pitchFamily="49" charset="0"/>
              </a:rPr>
              <a:t>as</a:t>
            </a:r>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image_file</a:t>
            </a:r>
            <a:r>
              <a:rPr lang="en-US" sz="1200" dirty="0">
                <a:solidFill>
                  <a:srgbClr val="9CDCFE"/>
                </a:solidFill>
                <a:latin typeface="Consolas" panose="020B0609020204030204" pitchFamily="49" charset="0"/>
              </a:rPr>
              <a:t>:</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image_file</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write</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image_data</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spTree>
    <p:extLst>
      <p:ext uri="{BB962C8B-B14F-4D97-AF65-F5344CB8AC3E}">
        <p14:creationId xmlns:p14="http://schemas.microsoft.com/office/powerpoint/2010/main" val="29455039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EC2DE-9A51-FC97-12EC-A64F26049C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97220E-4E15-E71C-4A93-806C2411C2D9}"/>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Modelos de generación de vídeo</a:t>
            </a:r>
          </a:p>
        </p:txBody>
      </p:sp>
      <p:sp>
        <p:nvSpPr>
          <p:cNvPr id="3" name="Footer Placeholder 2">
            <a:extLst>
              <a:ext uri="{FF2B5EF4-FFF2-40B4-BE49-F238E27FC236}">
                <a16:creationId xmlns:a16="http://schemas.microsoft.com/office/drawing/2014/main" id="{954DD07B-89C0-E91E-C2B1-A8B4728657F8}"/>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21" name="Group 20">
            <a:extLst>
              <a:ext uri="{FF2B5EF4-FFF2-40B4-BE49-F238E27FC236}">
                <a16:creationId xmlns:a16="http://schemas.microsoft.com/office/drawing/2014/main" id="{874BD97D-2039-931F-BADD-447AE9EFBBC7}"/>
              </a:ext>
              <a:ext uri="{C183D7F6-B498-43B3-948B-1728B52AA6E4}">
                <adec:decorative xmlns:adec="http://schemas.microsoft.com/office/drawing/2017/decorative" val="1"/>
              </a:ext>
            </a:extLst>
          </p:cNvPr>
          <p:cNvGrpSpPr/>
          <p:nvPr/>
        </p:nvGrpSpPr>
        <p:grpSpPr>
          <a:xfrm>
            <a:off x="6436848" y="2206262"/>
            <a:ext cx="5073887" cy="3367227"/>
            <a:chOff x="907525" y="965832"/>
            <a:chExt cx="5073887" cy="3367227"/>
          </a:xfrm>
        </p:grpSpPr>
        <p:pic>
          <p:nvPicPr>
            <p:cNvPr id="24" name="Graphic 23" descr="Cube with solid fill">
              <a:extLst>
                <a:ext uri="{FF2B5EF4-FFF2-40B4-BE49-F238E27FC236}">
                  <a16:creationId xmlns:a16="http://schemas.microsoft.com/office/drawing/2014/main" id="{B605C6EC-1DBC-690B-C18E-7AFA9B349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55647" y="992161"/>
              <a:ext cx="1325765" cy="1325765"/>
            </a:xfrm>
            <a:prstGeom prst="rect">
              <a:avLst/>
            </a:prstGeom>
          </p:spPr>
        </p:pic>
        <p:grpSp>
          <p:nvGrpSpPr>
            <p:cNvPr id="25" name="Group 24">
              <a:extLst>
                <a:ext uri="{FF2B5EF4-FFF2-40B4-BE49-F238E27FC236}">
                  <a16:creationId xmlns:a16="http://schemas.microsoft.com/office/drawing/2014/main" id="{2BEB0BD7-4DF4-A892-66CC-460C354D5F00}"/>
                </a:ext>
              </a:extLst>
            </p:cNvPr>
            <p:cNvGrpSpPr/>
            <p:nvPr/>
          </p:nvGrpSpPr>
          <p:grpSpPr>
            <a:xfrm>
              <a:off x="907525" y="965832"/>
              <a:ext cx="3047668" cy="1572893"/>
              <a:chOff x="907525" y="965832"/>
              <a:chExt cx="3047668" cy="1572893"/>
            </a:xfrm>
          </p:grpSpPr>
          <p:pic>
            <p:nvPicPr>
              <p:cNvPr id="51" name="Graphic 50" descr="Speech outline">
                <a:extLst>
                  <a:ext uri="{FF2B5EF4-FFF2-40B4-BE49-F238E27FC236}">
                    <a16:creationId xmlns:a16="http://schemas.microsoft.com/office/drawing/2014/main" id="{F5423CB9-9764-61AA-DF06-8BCDEBA5FF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907525" y="965832"/>
                <a:ext cx="3047668" cy="1572893"/>
              </a:xfrm>
              <a:prstGeom prst="rect">
                <a:avLst/>
              </a:prstGeom>
            </p:spPr>
          </p:pic>
          <p:sp>
            <p:nvSpPr>
              <p:cNvPr id="55" name="TextBox 54">
                <a:extLst>
                  <a:ext uri="{FF2B5EF4-FFF2-40B4-BE49-F238E27FC236}">
                    <a16:creationId xmlns:a16="http://schemas.microsoft.com/office/drawing/2014/main" id="{7EE67114-9EE6-0815-8792-8852407B1C72}"/>
                  </a:ext>
                </a:extLst>
              </p:cNvPr>
              <p:cNvSpPr txBox="1"/>
              <p:nvPr/>
            </p:nvSpPr>
            <p:spPr>
              <a:xfrm>
                <a:off x="1381617" y="1366263"/>
                <a:ext cx="2088681" cy="73152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a:solidFill>
                      <a:srgbClr val="000000"/>
                    </a:solidFill>
                    <a:effectLst/>
                    <a:latin typeface="Aptos"/>
                    <a:ea typeface="Aptos"/>
                    <a:cs typeface="Aptos"/>
                  </a:rPr>
                  <a:t>Crea un vídeo de una ardilla en un monopatín.</a:t>
                </a:r>
                <a:endParaRPr kumimoji="0" lang="en-US" sz="1400" b="0" i="0" u="none" strike="noStrike" kern="0" cap="none" spc="0" normalizeH="0" baseline="0" noProof="0">
                  <a:ln>
                    <a:noFill/>
                  </a:ln>
                  <a:solidFill>
                    <a:prstClr val="black"/>
                  </a:solidFill>
                  <a:effectLst/>
                  <a:uLnTx/>
                  <a:uFillTx/>
                  <a:latin typeface="Aptos" panose="02110004020202020204"/>
                </a:endParaRPr>
              </a:p>
            </p:txBody>
          </p:sp>
        </p:grpSp>
        <p:pic>
          <p:nvPicPr>
            <p:cNvPr id="47" name="Graphic 46" descr="Speech outline">
              <a:extLst>
                <a:ext uri="{FF2B5EF4-FFF2-40B4-BE49-F238E27FC236}">
                  <a16:creationId xmlns:a16="http://schemas.microsoft.com/office/drawing/2014/main" id="{7EC84AB6-C9A4-209D-030B-0A22BAD804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V="1">
              <a:off x="3133201" y="1713613"/>
              <a:ext cx="2619446" cy="2619446"/>
            </a:xfrm>
            <a:prstGeom prst="rect">
              <a:avLst/>
            </a:prstGeom>
          </p:spPr>
        </p:pic>
        <p:sp>
          <p:nvSpPr>
            <p:cNvPr id="45" name="Arrow: Right 44">
              <a:extLst>
                <a:ext uri="{FF2B5EF4-FFF2-40B4-BE49-F238E27FC236}">
                  <a16:creationId xmlns:a16="http://schemas.microsoft.com/office/drawing/2014/main" id="{C64DD5DA-F4E6-BB13-16D3-F452771BD85E}"/>
                </a:ext>
              </a:extLst>
            </p:cNvPr>
            <p:cNvSpPr/>
            <p:nvPr/>
          </p:nvSpPr>
          <p:spPr>
            <a:xfrm>
              <a:off x="3630099" y="1353496"/>
              <a:ext cx="1106906" cy="713595"/>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sp>
        <p:nvSpPr>
          <p:cNvPr id="58" name="TextBox 57">
            <a:extLst>
              <a:ext uri="{FF2B5EF4-FFF2-40B4-BE49-F238E27FC236}">
                <a16:creationId xmlns:a16="http://schemas.microsoft.com/office/drawing/2014/main" id="{B8B43E06-9957-44BC-B34C-9A76D251A9A8}"/>
              </a:ext>
            </a:extLst>
          </p:cNvPr>
          <p:cNvSpPr txBox="1"/>
          <p:nvPr/>
        </p:nvSpPr>
        <p:spPr>
          <a:xfrm>
            <a:off x="476238" y="2012439"/>
            <a:ext cx="5619762" cy="2438400"/>
          </a:xfrm>
          <a:prstGeom prst="rect">
            <a:avLst/>
          </a:prstGeom>
          <a:noFill/>
        </p:spPr>
        <p:txBody>
          <a:bodyPr wrap="square">
            <a:spAutoFit/>
          </a:bodyPr>
          <a:lstStyle/>
          <a:p>
            <a:pPr>
              <a:spcAft>
                <a:spcPts val="600"/>
              </a:spcAft>
              <a:buClr>
                <a:schemeClr val="accent2">
                  <a:lumMod val="75000"/>
                </a:schemeClr>
              </a:buClr>
            </a:pPr>
            <a:r>
              <a:rPr lang="es-ES" sz="1800" b="0" i="0" strike="noStrike" cap="none" baseline="0" dirty="0">
                <a:solidFill>
                  <a:srgbClr val="000000"/>
                </a:solidFill>
                <a:effectLst/>
                <a:latin typeface="Segoe UI"/>
                <a:ea typeface="Segoe UI"/>
                <a:cs typeface="Segoe UI"/>
              </a:rPr>
              <a:t>Algunos modelos de IA generativa pueden crear escenas de vídeo a partir de indicaciones de texto.</a:t>
            </a:r>
          </a:p>
          <a:p>
            <a:pPr>
              <a:spcAft>
                <a:spcPts val="600"/>
              </a:spcAft>
              <a:buClr>
                <a:schemeClr val="accent2">
                  <a:lumMod val="75000"/>
                </a:schemeClr>
              </a:buClr>
            </a:pPr>
            <a:r>
              <a:rPr lang="es-ES" sz="1800" b="0" i="0" strike="noStrike" cap="none" baseline="0" dirty="0">
                <a:solidFill>
                  <a:srgbClr val="000000"/>
                </a:solidFill>
                <a:effectLst/>
                <a:latin typeface="Segoe UI"/>
                <a:ea typeface="Segoe UI"/>
                <a:cs typeface="Segoe UI"/>
              </a:rPr>
              <a:t>Por ejemplo, Sora 2 es un modelo que puede crear escenas realistas a partir de indicaciones de texto, imágenes de referencia o mediante la remezcla de vídeos existentes.</a:t>
            </a:r>
          </a:p>
          <a:p>
            <a:pPr>
              <a:spcAft>
                <a:spcPts val="600"/>
              </a:spcAft>
              <a:buClr>
                <a:schemeClr val="accent2">
                  <a:lumMod val="75000"/>
                </a:schemeClr>
              </a:buClr>
            </a:pPr>
            <a:r>
              <a:rPr lang="es-ES" sz="1800" b="0" i="0" strike="noStrike" cap="none" baseline="0" dirty="0">
                <a:solidFill>
                  <a:srgbClr val="000000"/>
                </a:solidFill>
                <a:effectLst/>
                <a:latin typeface="Segoe UI"/>
                <a:ea typeface="Segoe UI"/>
                <a:cs typeface="Segoe UI Semibold"/>
              </a:rPr>
              <a:t>Puedes implementar y usar el modelo Sora 2 en proyectos de Microsoft </a:t>
            </a:r>
            <a:r>
              <a:rPr lang="es-ES" sz="1800" b="0" i="0" strike="noStrike" cap="none" baseline="0" dirty="0" err="1">
                <a:solidFill>
                  <a:srgbClr val="000000"/>
                </a:solidFill>
                <a:effectLst/>
                <a:latin typeface="Segoe UI"/>
                <a:ea typeface="Segoe UI"/>
                <a:cs typeface="Segoe UI Semibold"/>
              </a:rPr>
              <a:t>Foundry</a:t>
            </a:r>
            <a:r>
              <a:rPr lang="es-ES" sz="1800" b="0" i="0" strike="noStrike" cap="none" baseline="0" dirty="0">
                <a:solidFill>
                  <a:srgbClr val="000000"/>
                </a:solidFill>
                <a:effectLst/>
                <a:latin typeface="Segoe UI"/>
                <a:ea typeface="Segoe UI"/>
                <a:cs typeface="Segoe UI Semibold"/>
              </a:rPr>
              <a:t>.</a:t>
            </a:r>
          </a:p>
        </p:txBody>
      </p:sp>
      <p:pic>
        <p:nvPicPr>
          <p:cNvPr id="13" name="Picture 12">
            <a:extLst>
              <a:ext uri="{FF2B5EF4-FFF2-40B4-BE49-F238E27FC236}">
                <a16:creationId xmlns:a16="http://schemas.microsoft.com/office/drawing/2014/main" id="{46522D70-260E-AD88-8CFE-A31D85BB7C8F}"/>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Lst>
          </a:blip>
          <a:srcRect r="-2279" b="12582"/>
          <a:stretch>
            <a:fillRect/>
          </a:stretch>
        </p:blipFill>
        <p:spPr>
          <a:xfrm>
            <a:off x="9492798" y="3996189"/>
            <a:ext cx="862643" cy="8910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634700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5CA4-2D36-DEF4-034D-21FB4EEAC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65E44-4F31-EEF2-301F-57E60F7E9B9E}"/>
              </a:ext>
            </a:extLst>
          </p:cNvPr>
          <p:cNvSpPr>
            <a:spLocks noGrp="1"/>
          </p:cNvSpPr>
          <p:nvPr>
            <p:ph type="title"/>
          </p:nvPr>
        </p:nvSpPr>
        <p:spPr>
          <a:xfrm>
            <a:off x="588262" y="585216"/>
            <a:ext cx="10694408" cy="487680"/>
          </a:xfrm>
        </p:spPr>
        <p:txBody>
          <a:bodyPr/>
          <a:lstStyle/>
          <a:p>
            <a:r>
              <a:rPr lang="es-ES" sz="3200" b="0" i="0" strike="noStrike" cap="none" baseline="0">
                <a:solidFill>
                  <a:srgbClr val="000000"/>
                </a:solidFill>
                <a:effectLst/>
                <a:latin typeface="Segoe UI Semibold"/>
                <a:ea typeface="Segoe UI Semibold"/>
                <a:cs typeface="Segoe UI Semibold"/>
              </a:rPr>
              <a:t>Generación de vídeos a partir de indicaciones</a:t>
            </a:r>
          </a:p>
        </p:txBody>
      </p:sp>
      <p:sp>
        <p:nvSpPr>
          <p:cNvPr id="3" name="Footer Placeholder 2">
            <a:extLst>
              <a:ext uri="{FF2B5EF4-FFF2-40B4-BE49-F238E27FC236}">
                <a16:creationId xmlns:a16="http://schemas.microsoft.com/office/drawing/2014/main" id="{47088AAE-F26C-EBBF-B323-AF5041FB67D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sp>
        <p:nvSpPr>
          <p:cNvPr id="4" name="TextBox 3">
            <a:extLst>
              <a:ext uri="{FF2B5EF4-FFF2-40B4-BE49-F238E27FC236}">
                <a16:creationId xmlns:a16="http://schemas.microsoft.com/office/drawing/2014/main" id="{B3010A08-4EE8-FDE3-2B72-6F6FCC8D13FD}"/>
              </a:ext>
            </a:extLst>
          </p:cNvPr>
          <p:cNvSpPr txBox="1"/>
          <p:nvPr/>
        </p:nvSpPr>
        <p:spPr>
          <a:xfrm>
            <a:off x="588262" y="1457109"/>
            <a:ext cx="5815902" cy="3185160"/>
          </a:xfrm>
          <a:prstGeom prst="rect">
            <a:avLst/>
          </a:prstGeom>
          <a:noFill/>
        </p:spPr>
        <p:txBody>
          <a:bodyPr wrap="square" lIns="0" tIns="0" rIns="0" bIns="0" rtlCol="0">
            <a:spAutoFit/>
          </a:bodyPr>
          <a:lstStyle/>
          <a:p>
            <a:pPr algn="l"/>
            <a:r>
              <a:rPr lang="es-ES" sz="1800" b="0" i="0" strike="noStrike" cap="none" baseline="0" dirty="0">
                <a:solidFill>
                  <a:srgbClr val="000000"/>
                </a:solidFill>
                <a:effectLst/>
                <a:latin typeface="Segoe UI"/>
                <a:ea typeface="Segoe UI"/>
                <a:cs typeface="Segoe UI"/>
              </a:rPr>
              <a:t>Para crear indicaciones de vídeo eficaces, se describe un plano para un guion gráfico. Incluya todos los detalles posibles, tales como:</a:t>
            </a:r>
          </a:p>
          <a:p>
            <a:pPr marL="342900" indent="-342900" algn="l">
              <a:lnSpc>
                <a:spcPct val="150000"/>
              </a:lnSpc>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Encuadre de la cámara</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(plano general, plano medio, primer plano)</a:t>
            </a:r>
          </a:p>
          <a:p>
            <a:pPr marL="342900" indent="-342900" algn="l">
              <a:lnSpc>
                <a:spcPct val="150000"/>
              </a:lnSpc>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Descripción del sujeto con detalles distintivos</a:t>
            </a:r>
          </a:p>
          <a:p>
            <a:pPr marL="342900" indent="-342900" algn="l">
              <a:lnSpc>
                <a:spcPct val="150000"/>
              </a:lnSpc>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Acción descrita en pequeños pasos</a:t>
            </a:r>
          </a:p>
          <a:p>
            <a:pPr marL="342900" indent="-342900" algn="l">
              <a:lnSpc>
                <a:spcPct val="150000"/>
              </a:lnSpc>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Iluminación, paleta de colores y estilo</a:t>
            </a:r>
          </a:p>
          <a:p>
            <a:pPr algn="l"/>
            <a:endParaRPr lang="en-US" sz="2000" dirty="0"/>
          </a:p>
        </p:txBody>
      </p:sp>
      <p:sp>
        <p:nvSpPr>
          <p:cNvPr id="9" name="TextBox 8">
            <a:extLst>
              <a:ext uri="{FF2B5EF4-FFF2-40B4-BE49-F238E27FC236}">
                <a16:creationId xmlns:a16="http://schemas.microsoft.com/office/drawing/2014/main" id="{F5F4941E-DCFF-DF3E-1517-CBFBD314E3B3}"/>
              </a:ext>
            </a:extLst>
          </p:cNvPr>
          <p:cNvSpPr txBox="1"/>
          <p:nvPr/>
        </p:nvSpPr>
        <p:spPr>
          <a:xfrm>
            <a:off x="588262" y="4554590"/>
            <a:ext cx="895095" cy="548640"/>
          </a:xfrm>
          <a:prstGeom prst="rect">
            <a:avLst/>
          </a:prstGeom>
          <a:noFill/>
        </p:spPr>
        <p:txBody>
          <a:bodyPr wrap="square" lIns="0" tIns="0" rIns="0" bIns="0" rtlCol="0">
            <a:spAutoFit/>
          </a:bodyPr>
          <a:lstStyle/>
          <a:p>
            <a:pPr algn="l"/>
            <a:r>
              <a:rPr lang="es-ES" sz="1800" b="0" i="0" strike="noStrike" cap="none" baseline="0">
                <a:solidFill>
                  <a:srgbClr val="702573"/>
                </a:solidFill>
                <a:effectLst/>
                <a:latin typeface="Segoe UI Semibold"/>
                <a:ea typeface="Segoe UI Semibold"/>
                <a:cs typeface="Segoe UI Semibold"/>
              </a:rPr>
              <a:t>Ejemplo</a:t>
            </a:r>
          </a:p>
        </p:txBody>
      </p:sp>
      <p:sp>
        <p:nvSpPr>
          <p:cNvPr id="7" name="TextBox 6">
            <a:extLst>
              <a:ext uri="{FF2B5EF4-FFF2-40B4-BE49-F238E27FC236}">
                <a16:creationId xmlns:a16="http://schemas.microsoft.com/office/drawing/2014/main" id="{A88D56FE-2D6C-AE90-CED4-89A5333A9EE1}"/>
              </a:ext>
            </a:extLst>
          </p:cNvPr>
          <p:cNvSpPr txBox="1"/>
          <p:nvPr/>
        </p:nvSpPr>
        <p:spPr>
          <a:xfrm>
            <a:off x="588261" y="4862849"/>
            <a:ext cx="11466087" cy="1178784"/>
          </a:xfrm>
          <a:prstGeom prst="rect">
            <a:avLst/>
          </a:prstGeom>
          <a:solidFill>
            <a:schemeClr val="bg1">
              <a:lumMod val="95000"/>
            </a:schemeClr>
          </a:solidFill>
        </p:spPr>
        <p:txBody>
          <a:bodyPr wrap="square">
            <a:spAutoFit/>
          </a:bodyPr>
          <a:lstStyle/>
          <a:p>
            <a:r>
              <a:rPr lang="es-ES" sz="1765" b="0" i="0" strike="noStrike" cap="none" baseline="0" dirty="0">
                <a:solidFill>
                  <a:srgbClr val="000000"/>
                </a:solidFill>
                <a:effectLst/>
                <a:latin typeface="Segoe UI"/>
                <a:ea typeface="Segoe UI"/>
                <a:cs typeface="Segoe UI"/>
              </a:rPr>
              <a:t>En un estilo de película de ciencia ficción de 1980, un primer plano medio en el nivel de los ojos captura a </a:t>
            </a:r>
            <a:br>
              <a:rPr lang="es-ES" sz="1765" b="0" i="0" strike="noStrike" cap="none" baseline="0" dirty="0">
                <a:solidFill>
                  <a:srgbClr val="000000"/>
                </a:solidFill>
                <a:effectLst/>
                <a:latin typeface="Segoe UI"/>
                <a:ea typeface="Segoe UI"/>
                <a:cs typeface="Segoe UI"/>
              </a:rPr>
            </a:br>
            <a:r>
              <a:rPr lang="es-ES" sz="1765" b="0" i="0" strike="noStrike" cap="none" baseline="0" dirty="0">
                <a:solidFill>
                  <a:srgbClr val="000000"/>
                </a:solidFill>
                <a:effectLst/>
                <a:latin typeface="Segoe UI"/>
                <a:ea typeface="Segoe UI"/>
                <a:cs typeface="Segoe UI"/>
              </a:rPr>
              <a:t>una joven que se encuentra en el borde de una azotea empapada de lluvia. Da dos pasos lentos hacia delante,</a:t>
            </a:r>
            <a:br>
              <a:rPr lang="es-ES" sz="1765" b="0" i="0" strike="noStrike" cap="none" baseline="0" dirty="0">
                <a:solidFill>
                  <a:srgbClr val="000000"/>
                </a:solidFill>
                <a:effectLst/>
                <a:latin typeface="Segoe UI"/>
                <a:ea typeface="Segoe UI"/>
                <a:cs typeface="Segoe UI"/>
              </a:rPr>
            </a:br>
            <a:r>
              <a:rPr lang="es-ES" sz="1765" b="0" i="0" strike="noStrike" cap="none" baseline="0" dirty="0">
                <a:solidFill>
                  <a:srgbClr val="000000"/>
                </a:solidFill>
                <a:effectLst/>
                <a:latin typeface="Segoe UI"/>
                <a:ea typeface="Segoe UI"/>
                <a:cs typeface="Segoe UI"/>
              </a:rPr>
              <a:t>se detiene y gira la cabeza para mirar sobre su hombro. Una luz rosa y azul neón irradia de las vallas publicitarias a sus espaldas. Los anclajes de la paleta de colores son azul eléctrico, rosa intenso y gris acero.</a:t>
            </a:r>
          </a:p>
        </p:txBody>
      </p:sp>
      <p:pic>
        <p:nvPicPr>
          <p:cNvPr id="11" name="Picture 10" descr="A frame from the example prompt video generated by an AI model.">
            <a:extLst>
              <a:ext uri="{FF2B5EF4-FFF2-40B4-BE49-F238E27FC236}">
                <a16:creationId xmlns:a16="http://schemas.microsoft.com/office/drawing/2014/main" id="{A8110EDA-F913-C536-E10A-75464EC6B8FD}"/>
              </a:ext>
            </a:extLst>
          </p:cNvPr>
          <p:cNvPicPr>
            <a:picLocks noChangeAspect="1"/>
          </p:cNvPicPr>
          <p:nvPr/>
        </p:nvPicPr>
        <p:blipFill>
          <a:blip r:embed="rId3"/>
          <a:stretch>
            <a:fillRect/>
          </a:stretch>
        </p:blipFill>
        <p:spPr>
          <a:xfrm>
            <a:off x="6404164" y="1405759"/>
            <a:ext cx="5650185" cy="3182989"/>
          </a:xfrm>
          <a:prstGeom prst="rect">
            <a:avLst/>
          </a:prstGeom>
        </p:spPr>
      </p:pic>
    </p:spTree>
    <p:extLst>
      <p:ext uri="{BB962C8B-B14F-4D97-AF65-F5344CB8AC3E}">
        <p14:creationId xmlns:p14="http://schemas.microsoft.com/office/powerpoint/2010/main" val="261835370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B0CDDF-1CC8-4F2C-661D-FA29F683BC9E}"/>
              </a:ext>
            </a:extLst>
          </p:cNvPr>
          <p:cNvPicPr>
            <a:picLocks noChangeAspect="1"/>
          </p:cNvPicPr>
          <p:nvPr/>
        </p:nvPicPr>
        <p:blipFill>
          <a:blip r:embed="rId3"/>
          <a:srcRect/>
          <a:stretch/>
        </p:blipFill>
        <p:spPr>
          <a:xfrm>
            <a:off x="588261" y="1297908"/>
            <a:ext cx="6893853" cy="5049208"/>
          </a:xfrm>
          <a:prstGeom prst="rect">
            <a:avLst/>
          </a:prstGeom>
        </p:spPr>
      </p:pic>
      <p:sp>
        <p:nvSpPr>
          <p:cNvPr id="4" name="Title 3">
            <a:extLst>
              <a:ext uri="{FF2B5EF4-FFF2-40B4-BE49-F238E27FC236}">
                <a16:creationId xmlns:a16="http://schemas.microsoft.com/office/drawing/2014/main" id="{937832C6-F4A5-4728-82DE-85FDED224047}"/>
              </a:ext>
            </a:extLst>
          </p:cNvPr>
          <p:cNvSpPr>
            <a:spLocks noGrp="1"/>
          </p:cNvSpPr>
          <p:nvPr>
            <p:ph type="title"/>
          </p:nvPr>
        </p:nvSpPr>
        <p:spPr>
          <a:xfrm>
            <a:off x="588262" y="585216"/>
            <a:ext cx="8193024" cy="975360"/>
          </a:xfrm>
        </p:spPr>
        <p:txBody>
          <a:bodyPr/>
          <a:lstStyle/>
          <a:p>
            <a:r>
              <a:rPr lang="es-ES" sz="3200" b="0" i="0" strike="noStrike" cap="none" baseline="0">
                <a:solidFill>
                  <a:srgbClr val="000000"/>
                </a:solidFill>
                <a:effectLst/>
                <a:latin typeface="Segoe UI Semibold"/>
                <a:ea typeface="Segoe UI Semibold"/>
                <a:cs typeface="Segoe UI Semibold"/>
              </a:rPr>
              <a:t>Uso de un modelo de generación de vídeo</a:t>
            </a:r>
          </a:p>
        </p:txBody>
      </p:sp>
      <p:sp>
        <p:nvSpPr>
          <p:cNvPr id="35" name="Footer Placeholder 34">
            <a:extLst>
              <a:ext uri="{FF2B5EF4-FFF2-40B4-BE49-F238E27FC236}">
                <a16:creationId xmlns:a16="http://schemas.microsoft.com/office/drawing/2014/main" id="{7D43CBA2-48F0-6667-B80C-5A2CA1CF6973}"/>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3" name="Rounded Rectangle 22">
            <a:extLst>
              <a:ext uri="{FF2B5EF4-FFF2-40B4-BE49-F238E27FC236}">
                <a16:creationId xmlns:a16="http://schemas.microsoft.com/office/drawing/2014/main" id="{EFB8147D-43DF-EE3B-96C6-6B3065C1F6EC}"/>
              </a:ext>
            </a:extLst>
          </p:cNvPr>
          <p:cNvSpPr/>
          <p:nvPr/>
        </p:nvSpPr>
        <p:spPr bwMode="auto">
          <a:xfrm>
            <a:off x="5187001" y="2319478"/>
            <a:ext cx="6500174" cy="3713022"/>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6" name="TextBox 5">
            <a:extLst>
              <a:ext uri="{FF2B5EF4-FFF2-40B4-BE49-F238E27FC236}">
                <a16:creationId xmlns:a16="http://schemas.microsoft.com/office/drawing/2014/main" id="{D3F13E77-3D43-B464-4868-B4B3790A1824}"/>
              </a:ext>
            </a:extLst>
          </p:cNvPr>
          <p:cNvSpPr txBox="1"/>
          <p:nvPr/>
        </p:nvSpPr>
        <p:spPr>
          <a:xfrm>
            <a:off x="5295057" y="2480777"/>
            <a:ext cx="6719986" cy="2637221"/>
          </a:xfrm>
          <a:prstGeom prst="rect">
            <a:avLst/>
          </a:prstGeom>
          <a:noFill/>
        </p:spPr>
        <p:txBody>
          <a:bodyPr wrap="square">
            <a:spAutoFit/>
          </a:bodyPr>
          <a:lstStyle/>
          <a:p>
            <a:r>
              <a:rPr lang="en-US" sz="1200" dirty="0">
                <a:solidFill>
                  <a:srgbClr val="4CBC89"/>
                </a:solidFill>
                <a:latin typeface="Consolas" panose="020B0609020204030204" pitchFamily="49" charset="0"/>
              </a:rPr>
              <a:t># Create the video generation job</a:t>
            </a:r>
          </a:p>
          <a:p>
            <a:r>
              <a:rPr lang="en-US" sz="1200" dirty="0">
                <a:solidFill>
                  <a:srgbClr val="9CDCFE"/>
                </a:solidFill>
                <a:latin typeface="Consolas" panose="020B0609020204030204" pitchFamily="49" charset="0"/>
              </a:rPr>
              <a:t>video</a:t>
            </a:r>
            <a:r>
              <a:rPr lang="en-US" sz="1200" dirty="0">
                <a:solidFill>
                  <a:srgbClr val="CE9178"/>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create</a:t>
            </a:r>
            <a:r>
              <a:rPr lang="en-US" sz="1200" dirty="0">
                <a:solidFill>
                  <a:srgbClr val="CE9178"/>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model</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"sora-2"</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prompt</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"A robot waiter in a restaurant."</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size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"1280x720"</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seconds</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"4"</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4CBC89"/>
                </a:solidFill>
                <a:latin typeface="Consolas" panose="020B0609020204030204" pitchFamily="49" charset="0"/>
              </a:rPr>
              <a:t># Poll for completion</a:t>
            </a:r>
          </a:p>
          <a:p>
            <a:r>
              <a:rPr lang="en-US" sz="1200" dirty="0">
                <a:solidFill>
                  <a:srgbClr val="5295CD"/>
                </a:solidFill>
                <a:latin typeface="Consolas" panose="020B0609020204030204" pitchFamily="49" charset="0"/>
              </a:rPr>
              <a:t>while</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video</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status</a:t>
            </a:r>
            <a:r>
              <a:rPr lang="en-US" sz="1200" dirty="0">
                <a:solidFill>
                  <a:srgbClr val="4CBC89"/>
                </a:solidFill>
                <a:latin typeface="Consolas" panose="020B0609020204030204" pitchFamily="49" charset="0"/>
              </a:rPr>
              <a:t> </a:t>
            </a:r>
            <a:r>
              <a:rPr lang="en-US" sz="1200" dirty="0">
                <a:solidFill>
                  <a:srgbClr val="5295CD"/>
                </a:solidFill>
                <a:latin typeface="Consolas" panose="020B0609020204030204" pitchFamily="49" charset="0"/>
              </a:rPr>
              <a:t>not in </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completed"</a:t>
            </a:r>
            <a:r>
              <a:rPr lang="en-US" sz="1200" dirty="0" err="1">
                <a:solidFill>
                  <a:srgbClr val="ABB2BF"/>
                </a:solidFill>
                <a:latin typeface="Consolas" panose="020B0609020204030204" pitchFamily="49" charset="0"/>
              </a:rPr>
              <a:t>,</a:t>
            </a:r>
            <a:r>
              <a:rPr lang="en-US" sz="1200" dirty="0" err="1">
                <a:solidFill>
                  <a:srgbClr val="CE9178"/>
                </a:solidFill>
                <a:latin typeface="Consolas" panose="020B0609020204030204" pitchFamily="49" charset="0"/>
              </a:rPr>
              <a:t>"failed"</a:t>
            </a:r>
            <a:r>
              <a:rPr lang="en-US" sz="1200" dirty="0" err="1">
                <a:solidFill>
                  <a:srgbClr val="ABB2BF"/>
                </a:solidFill>
                <a:latin typeface="Consolas" panose="020B0609020204030204" pitchFamily="49" charset="0"/>
              </a:rPr>
              <a:t>,</a:t>
            </a:r>
            <a:r>
              <a:rPr lang="en-US" sz="1200" dirty="0" err="1">
                <a:solidFill>
                  <a:srgbClr val="CE9178"/>
                </a:solidFill>
                <a:latin typeface="Consolas" panose="020B0609020204030204" pitchFamily="49" charset="0"/>
              </a:rPr>
              <a:t>"cancelled</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a:solidFill>
                  <a:srgbClr val="DCDCAA"/>
                </a:solidFill>
                <a:latin typeface="Consolas" panose="020B0609020204030204" pitchFamily="49" charset="0"/>
              </a:rPr>
              <a:t>print</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f</a:t>
            </a:r>
            <a:r>
              <a:rPr lang="en-US" sz="1200" dirty="0" err="1">
                <a:solidFill>
                  <a:srgbClr val="CE9178"/>
                </a:solidFill>
                <a:latin typeface="Consolas" panose="020B0609020204030204" pitchFamily="49" charset="0"/>
              </a:rPr>
              <a:t>"Status</a:t>
            </a:r>
            <a:r>
              <a:rPr lang="en-US" sz="1200" dirty="0">
                <a:solidFill>
                  <a:srgbClr val="CE9178"/>
                </a:solidFill>
                <a:latin typeface="Consolas" panose="020B0609020204030204" pitchFamily="49" charset="0"/>
              </a:rPr>
              <a:t>: {</a:t>
            </a:r>
            <a:r>
              <a:rPr lang="en-US" sz="1200" dirty="0" err="1">
                <a:solidFill>
                  <a:srgbClr val="CE9178"/>
                </a:solidFill>
                <a:latin typeface="Consolas" panose="020B0609020204030204" pitchFamily="49" charset="0"/>
              </a:rPr>
              <a:t>video.status</a:t>
            </a:r>
            <a:r>
              <a:rPr lang="en-US" sz="1200" dirty="0">
                <a:solidFill>
                  <a:srgbClr val="CE9178"/>
                </a:solidFill>
                <a:latin typeface="Consolas" panose="020B0609020204030204" pitchFamily="49" charset="0"/>
              </a:rPr>
              <a:t>}. ..."</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err="1">
                <a:solidFill>
                  <a:srgbClr val="ABB2BF"/>
                </a:solidFill>
                <a:latin typeface="Consolas" panose="020B0609020204030204" pitchFamily="49" charset="0"/>
              </a:rPr>
              <a:t>time</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sleep</a:t>
            </a:r>
            <a:r>
              <a:rPr lang="en-US" sz="1200" dirty="0">
                <a:solidFill>
                  <a:srgbClr val="ABB2BF"/>
                </a:solidFill>
                <a:latin typeface="Consolas" panose="020B0609020204030204" pitchFamily="49" charset="0"/>
              </a:rPr>
              <a:t>(20)</a:t>
            </a:r>
          </a:p>
          <a:p>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video</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retrieve</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video</a:t>
            </a:r>
            <a:r>
              <a:rPr lang="en-US" sz="1200" dirty="0">
                <a:solidFill>
                  <a:srgbClr val="ABB2BF"/>
                </a:solidFill>
                <a:latin typeface="Consolas" panose="020B0609020204030204" pitchFamily="49" charset="0"/>
              </a:rPr>
              <a:t>.</a:t>
            </a:r>
            <a:r>
              <a:rPr lang="en-US" sz="1200" dirty="0">
                <a:solidFill>
                  <a:srgbClr val="DCDCAA"/>
                </a:solidFill>
                <a:latin typeface="Consolas" panose="020B0609020204030204" pitchFamily="49" charset="0"/>
              </a:rPr>
              <a:t>id</a:t>
            </a:r>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Download when complete</a:t>
            </a:r>
          </a:p>
          <a:p>
            <a:r>
              <a:rPr lang="en-US" sz="1200" dirty="0">
                <a:solidFill>
                  <a:srgbClr val="5295CD"/>
                </a:solidFill>
                <a:latin typeface="Consolas" panose="020B0609020204030204" pitchFamily="49" charset="0"/>
              </a:rPr>
              <a:t>if</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video</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status</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a:solidFill>
                  <a:srgbClr val="CE9178"/>
                </a:solidFill>
                <a:latin typeface="Consolas" panose="020B0609020204030204" pitchFamily="49" charset="0"/>
              </a:rPr>
              <a:t>"completed"</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content</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download_content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video</a:t>
            </a:r>
            <a:r>
              <a:rPr lang="en-US" sz="1200" dirty="0">
                <a:solidFill>
                  <a:srgbClr val="ABB2BF"/>
                </a:solidFill>
                <a:latin typeface="Consolas" panose="020B0609020204030204" pitchFamily="49" charset="0"/>
              </a:rPr>
              <a:t>.</a:t>
            </a:r>
            <a:r>
              <a:rPr lang="en-US" sz="1200" dirty="0">
                <a:solidFill>
                  <a:srgbClr val="DCDCAA"/>
                </a:solidFill>
                <a:latin typeface="Consolas" panose="020B0609020204030204" pitchFamily="49" charset="0"/>
              </a:rPr>
              <a:t>id</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variant</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"video"</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content</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write_to_file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"output.mp4"</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spTree>
    <p:extLst>
      <p:ext uri="{BB962C8B-B14F-4D97-AF65-F5344CB8AC3E}">
        <p14:creationId xmlns:p14="http://schemas.microsoft.com/office/powerpoint/2010/main" val="359112880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7552-EEAE-49ED-0FC6-A9EBF357EB5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D6A1983-4AD9-0FDF-D7D0-1B00596EC3F0}"/>
              </a:ext>
              <a:ext uri="{C183D7F6-B498-43B3-948B-1728B52AA6E4}">
                <adec:decorative xmlns:adec="http://schemas.microsoft.com/office/drawing/2017/decorative" val="1"/>
              </a:ext>
            </a:extLst>
          </p:cNvPr>
          <p:cNvPicPr>
            <a:picLocks noChangeAspect="1"/>
          </p:cNvPicPr>
          <p:nvPr/>
        </p:nvPicPr>
        <p:blipFill>
          <a:blip r:embed="rId3"/>
          <a:srcRect t="337" b="337"/>
          <a:stretch/>
        </p:blipFill>
        <p:spPr>
          <a:xfrm>
            <a:off x="7699682" y="2014938"/>
            <a:ext cx="4598998" cy="3344462"/>
          </a:xfrm>
          <a:prstGeom prst="rect">
            <a:avLst/>
          </a:prstGeom>
        </p:spPr>
      </p:pic>
      <p:sp>
        <p:nvSpPr>
          <p:cNvPr id="5" name="Title 4">
            <a:extLst>
              <a:ext uri="{FF2B5EF4-FFF2-40B4-BE49-F238E27FC236}">
                <a16:creationId xmlns:a16="http://schemas.microsoft.com/office/drawing/2014/main" id="{4CDC83EA-47A7-7D0F-E2CF-0952D2B0483B}"/>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1BED4495-5A6B-65EE-D726-A5C072FE47D0}"/>
              </a:ext>
            </a:extLst>
          </p:cNvPr>
          <p:cNvSpPr>
            <a:spLocks noGrp="1"/>
          </p:cNvSpPr>
          <p:nvPr>
            <p:ph type="body" sz="quarter" idx="16"/>
          </p:nvPr>
        </p:nvSpPr>
        <p:spPr>
          <a:xfrm>
            <a:off x="584199" y="1594155"/>
            <a:ext cx="5654573" cy="304800"/>
          </a:xfrm>
        </p:spPr>
        <p:txBody>
          <a:bodyPr/>
          <a:lstStyle/>
          <a:p>
            <a:r>
              <a:rPr lang="es-ES" sz="2000" b="0" i="0" strike="noStrike" cap="none" baseline="0">
                <a:solidFill>
                  <a:srgbClr val="000000"/>
                </a:solidFill>
                <a:effectLst/>
                <a:latin typeface="Segoe UI Semibold"/>
                <a:ea typeface="Segoe UI Semibold"/>
                <a:cs typeface="Segoe UI Semibold"/>
              </a:rPr>
              <a:t>Generación de imágenes con IA</a:t>
            </a:r>
          </a:p>
        </p:txBody>
      </p:sp>
      <p:sp>
        <p:nvSpPr>
          <p:cNvPr id="6" name="Text Placeholder 5">
            <a:extLst>
              <a:ext uri="{FF2B5EF4-FFF2-40B4-BE49-F238E27FC236}">
                <a16:creationId xmlns:a16="http://schemas.microsoft.com/office/drawing/2014/main" id="{53027B89-0569-77D0-F1A0-77E3D7925406}"/>
              </a:ext>
            </a:extLst>
          </p:cNvPr>
          <p:cNvSpPr>
            <a:spLocks noGrp="1"/>
          </p:cNvSpPr>
          <p:nvPr>
            <p:ph type="body" sz="quarter" idx="15"/>
          </p:nvPr>
        </p:nvSpPr>
        <p:spPr>
          <a:xfrm>
            <a:off x="586389" y="2085764"/>
            <a:ext cx="6010005" cy="1511808"/>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defTabSz="914367">
              <a:spcBef>
                <a:spcPct val="0"/>
              </a:spcBef>
              <a:buSzTx/>
              <a:defRPr/>
            </a:pPr>
            <a:r>
              <a:rPr lang="es-ES" sz="1600" b="0" i="0" strike="noStrike" cap="none" baseline="0" dirty="0">
                <a:solidFill>
                  <a:srgbClr val="000000"/>
                </a:solidFill>
                <a:effectLst/>
                <a:latin typeface="Segoe UI"/>
                <a:ea typeface="Segoe UI"/>
                <a:cs typeface="Segoe UI"/>
              </a:rPr>
              <a:t>Usar un modelo de generación de imágenes en el área de juegos</a:t>
            </a:r>
          </a:p>
          <a:p>
            <a:pPr defTabSz="914367">
              <a:spcBef>
                <a:spcPct val="0"/>
              </a:spcBef>
              <a:buSzTx/>
              <a:defRPr/>
            </a:pPr>
            <a:r>
              <a:rPr lang="es-ES" sz="1600" b="0" i="0" strike="noStrike" cap="none" baseline="0" dirty="0">
                <a:solidFill>
                  <a:srgbClr val="000000"/>
                </a:solidFill>
                <a:effectLst/>
                <a:latin typeface="Segoe UI"/>
                <a:ea typeface="Segoe UI"/>
                <a:cs typeface="Segoe UI"/>
              </a:rPr>
              <a:t>Desarrollar una aplicación cliente que genera imágenes</a:t>
            </a:r>
          </a:p>
          <a:p>
            <a:endParaRPr lang="en-US" dirty="0"/>
          </a:p>
        </p:txBody>
      </p:sp>
      <p:sp>
        <p:nvSpPr>
          <p:cNvPr id="10" name="TextBox 9">
            <a:extLst>
              <a:ext uri="{FF2B5EF4-FFF2-40B4-BE49-F238E27FC236}">
                <a16:creationId xmlns:a16="http://schemas.microsoft.com/office/drawing/2014/main" id="{F41FA5DB-9671-EC85-80C8-6BC6769B39C4}"/>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strike="noStrike" cap="none" baseline="0">
                <a:solidFill>
                  <a:srgbClr val="000000"/>
                </a:solidFill>
                <a:effectLst/>
                <a:latin typeface="Segoe UI"/>
                <a:ea typeface="Segoe UI"/>
                <a:cs typeface="Segoe UI"/>
                <a:hlinkClick r:id="rId4" history="0"/>
              </a:rPr>
              <a:t>https://go.microsoft.com/fwlink/?linkid=2356876</a:t>
            </a:r>
            <a:r>
              <a:rPr lang="es-ES" sz="1600" b="0" i="0" strike="noStrike" cap="none" baseline="0">
                <a:solidFill>
                  <a:srgbClr val="000000"/>
                </a:solidFill>
                <a:effectLst/>
                <a:latin typeface="Segoe UI"/>
                <a:ea typeface="Segoe UI"/>
                <a:cs typeface="Segoe UI"/>
              </a:rPr>
              <a:t> </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99D66C76-E130-ED46-BEA5-56A6CFF05CC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4F05B9B2-0A07-5BE4-6F8A-150D4C29A259}"/>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a:rPr>
              <a:t>Instructores:</a:t>
            </a:r>
            <a:r>
              <a:rPr lang="es-ES" sz="1800" b="1" i="0" strike="noStrike" cap="none" baseline="0" dirty="0">
                <a:solidFill>
                  <a:srgbClr val="FFFFFF"/>
                </a:solidFill>
                <a:effectLst/>
                <a:latin typeface="Segoe UI Semibold"/>
                <a:ea typeface="Segoe UI Semibold"/>
                <a:cs typeface="Segoe UI"/>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199500335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DC152-A6E3-6F33-7CA2-CA9F67824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76E6D-D0D9-2B59-A302-8D7E5FD41019}"/>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A15826A6-6599-C39F-FB74-667354C560AF}"/>
              </a:ext>
            </a:extLst>
          </p:cNvPr>
          <p:cNvSpPr>
            <a:spLocks noGrp="1"/>
          </p:cNvSpPr>
          <p:nvPr>
            <p:ph type="body" sz="quarter" idx="17"/>
          </p:nvPr>
        </p:nvSpPr>
        <p:spPr>
          <a:xfrm>
            <a:off x="1235074" y="2191629"/>
            <a:ext cx="9024803" cy="426720"/>
          </a:xfrm>
        </p:spPr>
        <p:txBody>
          <a:bodyPr/>
          <a:lstStyle/>
          <a:p>
            <a:r>
              <a:rPr lang="es-ES" sz="1400" b="1" i="0" strike="noStrike" cap="none" baseline="0" dirty="0">
                <a:solidFill>
                  <a:srgbClr val="000000"/>
                </a:solidFill>
                <a:effectLst/>
                <a:latin typeface="Segoe UI Semibold"/>
                <a:ea typeface="Segoe UI Semibold"/>
                <a:cs typeface="Segoe UI Semibold"/>
              </a:rPr>
              <a:t>Quieres encontrar un modelo en Microsoft </a:t>
            </a:r>
            <a:r>
              <a:rPr lang="es-ES" sz="1400" b="1" i="0" strike="noStrike" cap="none" baseline="0" dirty="0" err="1">
                <a:solidFill>
                  <a:srgbClr val="000000"/>
                </a:solidFill>
                <a:effectLst/>
                <a:latin typeface="Segoe UI Semibold"/>
                <a:ea typeface="Segoe UI Semibold"/>
                <a:cs typeface="Segoe UI Semibold"/>
              </a:rPr>
              <a:t>Foundry</a:t>
            </a:r>
            <a:r>
              <a:rPr lang="es-ES" sz="1400" b="1" i="0" strike="noStrike" cap="none" baseline="0" dirty="0">
                <a:solidFill>
                  <a:srgbClr val="000000"/>
                </a:solidFill>
                <a:effectLst/>
                <a:latin typeface="Segoe UI Semibold"/>
                <a:ea typeface="Segoe UI Semibold"/>
                <a:cs typeface="Segoe UI Semibold"/>
              </a:rPr>
              <a:t> para generar imágenes. ¿Por qué tarea de inferencia deberías filtrar?</a:t>
            </a:r>
          </a:p>
        </p:txBody>
      </p:sp>
      <p:sp>
        <p:nvSpPr>
          <p:cNvPr id="9" name="Text Placeholder 8">
            <a:extLst>
              <a:ext uri="{FF2B5EF4-FFF2-40B4-BE49-F238E27FC236}">
                <a16:creationId xmlns:a16="http://schemas.microsoft.com/office/drawing/2014/main" id="{54B120D2-420C-9741-DA22-426253811E9C}"/>
              </a:ext>
            </a:extLst>
          </p:cNvPr>
          <p:cNvSpPr>
            <a:spLocks noGrp="1"/>
          </p:cNvSpPr>
          <p:nvPr>
            <p:ph type="body" sz="quarter" idx="15"/>
          </p:nvPr>
        </p:nvSpPr>
        <p:spPr>
          <a:xfrm>
            <a:off x="1235075" y="2673319"/>
            <a:ext cx="8775098" cy="725424"/>
          </a:xfrm>
          <a:noFill/>
        </p:spPr>
        <p:txBody>
          <a:bodyPr/>
          <a:lstStyle/>
          <a:p>
            <a:r>
              <a:rPr lang="es-ES" sz="1400" b="0" i="0" strike="noStrike" cap="none" baseline="0">
                <a:solidFill>
                  <a:srgbClr val="000000"/>
                </a:solidFill>
                <a:effectLst/>
                <a:latin typeface="Segoe UI"/>
                <a:ea typeface="Segoe UI"/>
                <a:cs typeface="Segoe UI"/>
              </a:rPr>
              <a:t>De texto a imagen</a:t>
            </a:r>
          </a:p>
          <a:p>
            <a:r>
              <a:rPr lang="es-ES" sz="1400" b="0" i="0" strike="noStrike" cap="none" baseline="0">
                <a:solidFill>
                  <a:srgbClr val="000000"/>
                </a:solidFill>
                <a:effectLst/>
                <a:latin typeface="Segoe UI"/>
                <a:ea typeface="Segoe UI"/>
                <a:cs typeface="Segoe UI"/>
              </a:rPr>
              <a:t>De imagen a texto</a:t>
            </a:r>
          </a:p>
          <a:p>
            <a:r>
              <a:rPr lang="es-ES" sz="1400" b="0" i="0" strike="noStrike" cap="none" baseline="0">
                <a:solidFill>
                  <a:srgbClr val="000000"/>
                </a:solidFill>
                <a:effectLst/>
                <a:latin typeface="Segoe UI"/>
                <a:ea typeface="Segoe UI"/>
                <a:cs typeface="Segoe UI"/>
              </a:rPr>
              <a:t>Inserciones</a:t>
            </a:r>
          </a:p>
        </p:txBody>
      </p:sp>
      <p:sp>
        <p:nvSpPr>
          <p:cNvPr id="18" name="Text Placeholder 17">
            <a:extLst>
              <a:ext uri="{FF2B5EF4-FFF2-40B4-BE49-F238E27FC236}">
                <a16:creationId xmlns:a16="http://schemas.microsoft.com/office/drawing/2014/main" id="{310D9CF5-5AD8-3F28-6509-E6D4A9D46513}"/>
              </a:ext>
            </a:extLst>
          </p:cNvPr>
          <p:cNvSpPr>
            <a:spLocks noGrp="1"/>
          </p:cNvSpPr>
          <p:nvPr>
            <p:ph type="body" sz="quarter" idx="22"/>
          </p:nvPr>
        </p:nvSpPr>
        <p:spPr>
          <a:xfrm>
            <a:off x="1235075" y="4081535"/>
            <a:ext cx="8778782" cy="213360"/>
          </a:xfrm>
        </p:spPr>
        <p:txBody>
          <a:bodyPr/>
          <a:lstStyle/>
          <a:p>
            <a:r>
              <a:rPr lang="es-ES" sz="1400" b="1" i="0" strike="noStrike" cap="none" baseline="0">
                <a:solidFill>
                  <a:srgbClr val="000000"/>
                </a:solidFill>
                <a:effectLst/>
                <a:latin typeface="Segoe UI Semibold"/>
                <a:ea typeface="Segoe UI Semibold"/>
                <a:cs typeface="Segoe UI Semibold"/>
              </a:rPr>
              <a:t>¿Qué API de OpenAI puedes usar con modelos de generación de imágenes?</a:t>
            </a:r>
            <a:endParaRPr lang="en-US" noProof="0"/>
          </a:p>
        </p:txBody>
      </p:sp>
      <p:sp>
        <p:nvSpPr>
          <p:cNvPr id="19" name="Text Placeholder 18">
            <a:extLst>
              <a:ext uri="{FF2B5EF4-FFF2-40B4-BE49-F238E27FC236}">
                <a16:creationId xmlns:a16="http://schemas.microsoft.com/office/drawing/2014/main" id="{85615F16-5D3B-2FD7-4DB2-9595560BBCC4}"/>
              </a:ext>
            </a:extLst>
          </p:cNvPr>
          <p:cNvSpPr>
            <a:spLocks noGrp="1"/>
          </p:cNvSpPr>
          <p:nvPr>
            <p:ph type="body" sz="quarter" idx="23"/>
          </p:nvPr>
        </p:nvSpPr>
        <p:spPr>
          <a:xfrm>
            <a:off x="1235074" y="4383273"/>
            <a:ext cx="8775098" cy="725424"/>
          </a:xfrm>
        </p:spPr>
        <p:txBody>
          <a:bodyPr/>
          <a:lstStyle/>
          <a:p>
            <a:r>
              <a:rPr lang="es-ES" sz="1400" b="0" i="0" strike="noStrike" cap="none" baseline="0">
                <a:solidFill>
                  <a:srgbClr val="000000"/>
                </a:solidFill>
                <a:effectLst/>
                <a:latin typeface="Segoe UI"/>
                <a:ea typeface="Segoe UI"/>
                <a:cs typeface="Segoe UI"/>
              </a:rPr>
              <a:t>Video</a:t>
            </a:r>
          </a:p>
          <a:p>
            <a:r>
              <a:rPr lang="es-ES" sz="1400" b="0" i="0" strike="noStrike" cap="none" baseline="0">
                <a:solidFill>
                  <a:srgbClr val="000000"/>
                </a:solidFill>
                <a:effectLst/>
                <a:latin typeface="Segoe UI"/>
                <a:ea typeface="Segoe UI"/>
                <a:cs typeface="Segoe UI"/>
              </a:rPr>
              <a:t>Imagen</a:t>
            </a:r>
          </a:p>
          <a:p>
            <a:r>
              <a:rPr lang="es-ES" sz="1400" b="0" i="0" strike="noStrike" cap="none" baseline="0">
                <a:solidFill>
                  <a:srgbClr val="000000"/>
                </a:solidFill>
                <a:effectLst/>
                <a:latin typeface="Segoe UI"/>
                <a:ea typeface="Segoe UI"/>
                <a:cs typeface="Segoe UI"/>
              </a:rPr>
              <a:t>Gráficos</a:t>
            </a:r>
          </a:p>
        </p:txBody>
      </p:sp>
      <p:sp>
        <p:nvSpPr>
          <p:cNvPr id="76" name="Oval 75">
            <a:extLst>
              <a:ext uri="{FF2B5EF4-FFF2-40B4-BE49-F238E27FC236}">
                <a16:creationId xmlns:a16="http://schemas.microsoft.com/office/drawing/2014/main" id="{404D9578-F100-2D27-DEF8-9703F8D67833}"/>
              </a:ext>
              <a:ext uri="{C183D7F6-B498-43B3-948B-1728B52AA6E4}">
                <adec:decorative xmlns:adec="http://schemas.microsoft.com/office/drawing/2017/decorative" val="1"/>
              </a:ext>
            </a:extLst>
          </p:cNvPr>
          <p:cNvSpPr/>
          <p:nvPr/>
        </p:nvSpPr>
        <p:spPr bwMode="auto">
          <a:xfrm>
            <a:off x="722582" y="219599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CA0DE29A-C331-F24E-4543-D1D46F54BB6C}"/>
              </a:ext>
              <a:ext uri="{C183D7F6-B498-43B3-948B-1728B52AA6E4}">
                <adec:decorative xmlns:adec="http://schemas.microsoft.com/office/drawing/2017/decorative" val="1"/>
              </a:ext>
            </a:extLst>
          </p:cNvPr>
          <p:cNvSpPr/>
          <p:nvPr/>
        </p:nvSpPr>
        <p:spPr bwMode="auto">
          <a:xfrm>
            <a:off x="722582" y="408199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2B49D44A-D582-8833-4A99-5DA197C758F2}"/>
              </a:ext>
              <a:ext uri="{C183D7F6-B498-43B3-948B-1728B52AA6E4}">
                <adec:decorative xmlns:adec="http://schemas.microsoft.com/office/drawing/2017/decorative" val="1"/>
              </a:ext>
            </a:extLst>
          </p:cNvPr>
          <p:cNvSpPr/>
          <p:nvPr/>
        </p:nvSpPr>
        <p:spPr>
          <a:xfrm>
            <a:off x="1263852" y="469194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1C179E01-8A91-4C85-2C92-1ABCFAFBA829}"/>
              </a:ext>
              <a:ext uri="{C183D7F6-B498-43B3-948B-1728B52AA6E4}">
                <adec:decorative xmlns:adec="http://schemas.microsoft.com/office/drawing/2017/decorative" val="1"/>
              </a:ext>
            </a:extLst>
          </p:cNvPr>
          <p:cNvSpPr/>
          <p:nvPr/>
        </p:nvSpPr>
        <p:spPr>
          <a:xfrm>
            <a:off x="1263852" y="273021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779C37C-59DB-5718-00C0-4E21AC635426}"/>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108677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FC10-0C08-3404-6D02-064A87DF9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E6E4F-37B8-4F01-F0CC-83CD4A2DB6C1}"/>
              </a:ext>
            </a:extLst>
          </p:cNvPr>
          <p:cNvSpPr>
            <a:spLocks noGrp="1"/>
          </p:cNvSpPr>
          <p:nvPr>
            <p:ph type="title"/>
          </p:nvPr>
        </p:nvSpPr>
        <p:spPr>
          <a:xfrm>
            <a:off x="569911" y="2902883"/>
            <a:ext cx="6984775" cy="1097280"/>
          </a:xfrm>
        </p:spPr>
        <p:txBody>
          <a:bodyPr/>
          <a:lstStyle/>
          <a:p>
            <a:r>
              <a:rPr lang="es-ES" sz="3600" b="0" i="0" strike="noStrike" cap="none" baseline="0">
                <a:solidFill>
                  <a:srgbClr val="000000"/>
                </a:solidFill>
                <a:effectLst/>
                <a:latin typeface="Segoe UI"/>
                <a:ea typeface="Segoe UI"/>
                <a:cs typeface="Segoe UI"/>
              </a:rPr>
              <a:t>Análisis de imágenes con</a:t>
            </a:r>
            <a:br>
              <a:rPr sz="3600"/>
            </a:br>
            <a:r>
              <a:rPr lang="es-ES" sz="3600" b="0" i="0" strike="noStrike" cap="none" baseline="0">
                <a:solidFill>
                  <a:srgbClr val="000000"/>
                </a:solidFill>
                <a:effectLst/>
                <a:latin typeface="Segoe UI"/>
                <a:ea typeface="Segoe UI"/>
                <a:cs typeface="Segoe UI"/>
              </a:rPr>
              <a:t>Content Understanding</a:t>
            </a:r>
            <a:endParaRPr lang="en-US" sz="3600" noProof="0"/>
          </a:p>
        </p:txBody>
      </p:sp>
      <p:sp>
        <p:nvSpPr>
          <p:cNvPr id="4" name="TextBox 3">
            <a:extLst>
              <a:ext uri="{FF2B5EF4-FFF2-40B4-BE49-F238E27FC236}">
                <a16:creationId xmlns:a16="http://schemas.microsoft.com/office/drawing/2014/main" id="{EAE45745-ABF2-8869-A65F-9D6556ECCF0A}"/>
              </a:ext>
            </a:extLst>
          </p:cNvPr>
          <p:cNvSpPr txBox="1"/>
          <p:nvPr/>
        </p:nvSpPr>
        <p:spPr>
          <a:xfrm>
            <a:off x="478471" y="4000163"/>
            <a:ext cx="5879298" cy="630936"/>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https://aka.ms/mslearn-image-content-understanding</a:t>
            </a:r>
          </a:p>
        </p:txBody>
      </p:sp>
    </p:spTree>
    <p:extLst>
      <p:ext uri="{BB962C8B-B14F-4D97-AF65-F5344CB8AC3E}">
        <p14:creationId xmlns:p14="http://schemas.microsoft.com/office/powerpoint/2010/main" val="417387854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975360"/>
          </a:xfrm>
        </p:spPr>
        <p:txBody>
          <a:bodyPr/>
          <a:lstStyle/>
          <a:p>
            <a:r>
              <a:rPr lang="es-ES" sz="3200" b="0" i="0" strike="noStrike" cap="none" baseline="0">
                <a:solidFill>
                  <a:srgbClr val="000000"/>
                </a:solidFill>
                <a:effectLst/>
                <a:latin typeface="Segoe UI Semibold"/>
                <a:ea typeface="Segoe UI Semibold"/>
                <a:cs typeface="Segoe UI Semibold"/>
              </a:rPr>
              <a:t>¿Qué es Azure Content Understanding en Foundry Tools?</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4" name="TextBox 63">
            <a:extLst>
              <a:ext uri="{FF2B5EF4-FFF2-40B4-BE49-F238E27FC236}">
                <a16:creationId xmlns:a16="http://schemas.microsoft.com/office/drawing/2014/main" id="{EA7D8650-A7A7-E5BD-9151-016C93A27AD0}"/>
              </a:ext>
            </a:extLst>
          </p:cNvPr>
          <p:cNvSpPr txBox="1"/>
          <p:nvPr/>
        </p:nvSpPr>
        <p:spPr>
          <a:xfrm>
            <a:off x="981674" y="2127465"/>
            <a:ext cx="4943249" cy="3992880"/>
          </a:xfrm>
          <a:prstGeom prst="rect">
            <a:avLst/>
          </a:prstGeom>
          <a:noFill/>
        </p:spPr>
        <p:txBody>
          <a:bodyPr wrap="square">
            <a:spAutoFit/>
          </a:bodyPr>
          <a:lstStyle/>
          <a:p>
            <a:pPr algn="l">
              <a:spcAft>
                <a:spcPts val="600"/>
              </a:spcAft>
              <a:buClr>
                <a:schemeClr val="accent1"/>
              </a:buClr>
              <a:buSzPct val="110000"/>
            </a:pPr>
            <a:r>
              <a:rPr lang="es-ES" sz="1800" b="0" i="0" strike="noStrike" cap="none" baseline="0">
                <a:solidFill>
                  <a:srgbClr val="161616"/>
                </a:solidFill>
                <a:effectLst/>
                <a:latin typeface="Segoe UI"/>
                <a:ea typeface="Segoe UI"/>
                <a:cs typeface="Segoe UI"/>
              </a:rPr>
              <a:t>Análisis de contenido multimodal:</a:t>
            </a:r>
          </a:p>
          <a:p>
            <a:pPr marL="285750" indent="-285750" algn="l">
              <a:spcAft>
                <a:spcPts val="600"/>
              </a:spcAft>
              <a:buClr>
                <a:schemeClr val="accent1"/>
              </a:buClr>
              <a:buSzPct val="110000"/>
              <a:buFont typeface="Arial" panose="020B0604020202020204" pitchFamily="34" charset="0"/>
              <a:buChar char="•"/>
            </a:pPr>
            <a:r>
              <a:rPr lang="es-ES" sz="1800" b="0" i="0" strike="noStrike" cap="none" baseline="0">
                <a:solidFill>
                  <a:srgbClr val="161616"/>
                </a:solidFill>
                <a:effectLst/>
                <a:latin typeface="Segoe UI"/>
                <a:ea typeface="Segoe UI"/>
                <a:cs typeface="Segoe UI"/>
              </a:rPr>
              <a:t>Imágenes</a:t>
            </a:r>
          </a:p>
          <a:p>
            <a:pPr marL="285750" indent="-285750" algn="l">
              <a:spcAft>
                <a:spcPts val="600"/>
              </a:spcAft>
              <a:buClr>
                <a:schemeClr val="accent1"/>
              </a:buClr>
              <a:buSzPct val="110000"/>
              <a:buFont typeface="Arial" panose="020B0604020202020204" pitchFamily="34" charset="0"/>
              <a:buChar char="•"/>
            </a:pPr>
            <a:r>
              <a:rPr lang="es-ES" sz="1800" b="0" i="0" strike="noStrike" cap="none" baseline="0">
                <a:solidFill>
                  <a:srgbClr val="161616"/>
                </a:solidFill>
                <a:effectLst/>
                <a:latin typeface="Segoe UI"/>
                <a:ea typeface="Segoe UI"/>
                <a:cs typeface="Segoe UI"/>
              </a:rPr>
              <a:t>Documentos y formularios</a:t>
            </a:r>
          </a:p>
          <a:p>
            <a:pPr marL="285750" indent="-285750" algn="l">
              <a:spcAft>
                <a:spcPts val="600"/>
              </a:spcAft>
              <a:buClr>
                <a:schemeClr val="accent1"/>
              </a:buClr>
              <a:buSzPct val="110000"/>
              <a:buFont typeface="Arial" panose="020B0604020202020204" pitchFamily="34" charset="0"/>
              <a:buChar char="•"/>
            </a:pPr>
            <a:r>
              <a:rPr lang="es-ES" sz="1800" b="0" i="0" strike="noStrike" cap="none" baseline="0">
                <a:solidFill>
                  <a:srgbClr val="161616"/>
                </a:solidFill>
                <a:effectLst/>
                <a:latin typeface="Segoe UI"/>
                <a:ea typeface="Segoe UI"/>
                <a:cs typeface="Segoe UI"/>
              </a:rPr>
              <a:t>Audio</a:t>
            </a:r>
          </a:p>
          <a:p>
            <a:pPr marL="285750" indent="-285750" algn="l">
              <a:spcAft>
                <a:spcPts val="600"/>
              </a:spcAft>
              <a:buClr>
                <a:schemeClr val="accent1"/>
              </a:buClr>
              <a:buSzPct val="110000"/>
              <a:buFont typeface="Arial" panose="020B0604020202020204" pitchFamily="34" charset="0"/>
              <a:buChar char="•"/>
            </a:pPr>
            <a:r>
              <a:rPr lang="es-ES" sz="1800" b="0" i="0" strike="noStrike" cap="none" baseline="0">
                <a:solidFill>
                  <a:srgbClr val="161616"/>
                </a:solidFill>
                <a:effectLst/>
                <a:latin typeface="Segoe UI"/>
                <a:ea typeface="Segoe UI"/>
                <a:cs typeface="Segoe UI"/>
              </a:rPr>
              <a:t>Video</a:t>
            </a:r>
          </a:p>
          <a:p>
            <a:pPr marL="285750" indent="-285750" algn="l">
              <a:spcAft>
                <a:spcPts val="600"/>
              </a:spcAft>
              <a:buClr>
                <a:schemeClr val="accent1"/>
              </a:buClr>
              <a:buSzPct val="110000"/>
              <a:buFont typeface="Arial" panose="020B0604020202020204" pitchFamily="34" charset="0"/>
              <a:buChar char="•"/>
            </a:pPr>
            <a:endParaRPr lang="en-US" sz="1800" b="0" i="0">
              <a:solidFill>
                <a:srgbClr val="161616"/>
              </a:solidFill>
              <a:effectLst/>
              <a:latin typeface="Segoe UI" panose="020B0502040204020203" pitchFamily="34" charset="0"/>
            </a:endParaRPr>
          </a:p>
          <a:p>
            <a:pPr algn="l">
              <a:spcAft>
                <a:spcPts val="600"/>
              </a:spcAft>
              <a:buClr>
                <a:schemeClr val="accent1"/>
              </a:buClr>
              <a:buSzPct val="110000"/>
            </a:pPr>
            <a:r>
              <a:rPr lang="es-ES" sz="1800" b="0" i="0" strike="noStrike" cap="none" baseline="0">
                <a:solidFill>
                  <a:srgbClr val="161616"/>
                </a:solidFill>
                <a:effectLst/>
                <a:latin typeface="Segoe UI"/>
                <a:ea typeface="Segoe UI"/>
                <a:cs typeface="Segoe UI"/>
              </a:rPr>
              <a:t>Extracción de información con tecnología de IA</a:t>
            </a:r>
          </a:p>
          <a:p>
            <a:pPr marL="285750" indent="-285750" algn="l">
              <a:spcAft>
                <a:spcPts val="600"/>
              </a:spcAft>
              <a:buClr>
                <a:schemeClr val="accent1"/>
              </a:buClr>
              <a:buSzPct val="110000"/>
              <a:buFont typeface="Arial" panose="020B0604020202020204" pitchFamily="34" charset="0"/>
              <a:buChar char="•"/>
            </a:pPr>
            <a:r>
              <a:rPr lang="es-ES" sz="1800" b="0" i="0" strike="noStrike" cap="none" baseline="0">
                <a:solidFill>
                  <a:srgbClr val="161616"/>
                </a:solidFill>
                <a:effectLst/>
                <a:latin typeface="Segoe UI"/>
                <a:ea typeface="Segoe UI"/>
                <a:cs typeface="Segoe UI"/>
              </a:rPr>
              <a:t>Analizadores predefinidos y personalizados</a:t>
            </a:r>
          </a:p>
          <a:p>
            <a:pPr marL="285750" indent="-285750" algn="l">
              <a:buClr>
                <a:schemeClr val="accent1"/>
              </a:buClr>
              <a:buSzPct val="110000"/>
              <a:buFont typeface="Arial" panose="020B0604020202020204" pitchFamily="34" charset="0"/>
              <a:buChar char="•"/>
            </a:pPr>
            <a:r>
              <a:rPr lang="es-ES" sz="1800" b="0" i="0" strike="noStrike" cap="none" baseline="0">
                <a:solidFill>
                  <a:srgbClr val="161616"/>
                </a:solidFill>
                <a:effectLst/>
                <a:latin typeface="Segoe UI"/>
                <a:ea typeface="Segoe UI"/>
                <a:cs typeface="Segoe UI"/>
              </a:rPr>
              <a:t>Entrenamiento de esquema de una/varias capturas</a:t>
            </a:r>
          </a:p>
        </p:txBody>
      </p:sp>
      <p:grpSp>
        <p:nvGrpSpPr>
          <p:cNvPr id="48" name="Group 47" descr="A diagram showing the flow of documents and other media through Azure Content Understanding, resulting in structured data.">
            <a:extLst>
              <a:ext uri="{FF2B5EF4-FFF2-40B4-BE49-F238E27FC236}">
                <a16:creationId xmlns:a16="http://schemas.microsoft.com/office/drawing/2014/main" id="{6E1A7D63-F969-50C1-C811-7E0C14C6CD54}"/>
              </a:ext>
            </a:extLst>
          </p:cNvPr>
          <p:cNvGrpSpPr/>
          <p:nvPr/>
        </p:nvGrpSpPr>
        <p:grpSpPr>
          <a:xfrm>
            <a:off x="6518988" y="2066009"/>
            <a:ext cx="4874571" cy="3572381"/>
            <a:chOff x="6526245" y="2254694"/>
            <a:chExt cx="4874571" cy="3572381"/>
          </a:xfrm>
        </p:grpSpPr>
        <p:pic>
          <p:nvPicPr>
            <p:cNvPr id="3" name="Picture 2">
              <a:extLst>
                <a:ext uri="{FF2B5EF4-FFF2-40B4-BE49-F238E27FC236}">
                  <a16:creationId xmlns:a16="http://schemas.microsoft.com/office/drawing/2014/main" id="{091C5245-9566-01FD-83C5-44CE858BC2C1}"/>
                </a:ext>
              </a:extLst>
            </p:cNvPr>
            <p:cNvPicPr>
              <a:picLocks noChangeAspect="1"/>
            </p:cNvPicPr>
            <p:nvPr/>
          </p:nvPicPr>
          <p:blipFill>
            <a:blip r:embed="rId3"/>
            <a:stretch>
              <a:fillRect/>
            </a:stretch>
          </p:blipFill>
          <p:spPr>
            <a:xfrm>
              <a:off x="8058828" y="3458162"/>
              <a:ext cx="1077685" cy="1077685"/>
            </a:xfrm>
            <a:prstGeom prst="rect">
              <a:avLst/>
            </a:prstGeom>
          </p:spPr>
        </p:pic>
        <p:pic>
          <p:nvPicPr>
            <p:cNvPr id="25" name="Graphic 24" descr="List with solid fill">
              <a:extLst>
                <a:ext uri="{FF2B5EF4-FFF2-40B4-BE49-F238E27FC236}">
                  <a16:creationId xmlns:a16="http://schemas.microsoft.com/office/drawing/2014/main" id="{F6F31B25-6DA6-670A-9E42-711A1610F2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9886" y="3539804"/>
              <a:ext cx="914400" cy="914400"/>
            </a:xfrm>
            <a:prstGeom prst="rect">
              <a:avLst/>
            </a:prstGeom>
          </p:spPr>
        </p:pic>
        <p:pic>
          <p:nvPicPr>
            <p:cNvPr id="17" name="Graphic 16" descr="Document with solid fill">
              <a:extLst>
                <a:ext uri="{FF2B5EF4-FFF2-40B4-BE49-F238E27FC236}">
                  <a16:creationId xmlns:a16="http://schemas.microsoft.com/office/drawing/2014/main" id="{530347D7-EE46-EB98-4A10-2ACA6C5DA2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86107" y="3267442"/>
              <a:ext cx="682171" cy="682171"/>
            </a:xfrm>
            <a:prstGeom prst="rect">
              <a:avLst/>
            </a:prstGeom>
          </p:spPr>
        </p:pic>
        <p:grpSp>
          <p:nvGrpSpPr>
            <p:cNvPr id="29" name="Group 28">
              <a:extLst>
                <a:ext uri="{FF2B5EF4-FFF2-40B4-BE49-F238E27FC236}">
                  <a16:creationId xmlns:a16="http://schemas.microsoft.com/office/drawing/2014/main" id="{6267754C-7C17-1619-4192-FDA2660AC7EF}"/>
                </a:ext>
              </a:extLst>
            </p:cNvPr>
            <p:cNvGrpSpPr/>
            <p:nvPr/>
          </p:nvGrpSpPr>
          <p:grpSpPr>
            <a:xfrm>
              <a:off x="6806518" y="4225427"/>
              <a:ext cx="682171" cy="682171"/>
              <a:chOff x="5638800" y="2971800"/>
              <a:chExt cx="914400" cy="914400"/>
            </a:xfrm>
          </p:grpSpPr>
          <p:pic>
            <p:nvPicPr>
              <p:cNvPr id="15" name="Graphic 14" descr="Paper with solid fill">
                <a:extLst>
                  <a:ext uri="{FF2B5EF4-FFF2-40B4-BE49-F238E27FC236}">
                    <a16:creationId xmlns:a16="http://schemas.microsoft.com/office/drawing/2014/main" id="{9238A304-466D-83E2-30B2-634F3680823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8800" y="2971800"/>
                <a:ext cx="914400" cy="914400"/>
              </a:xfrm>
              <a:prstGeom prst="rect">
                <a:avLst/>
              </a:prstGeom>
            </p:spPr>
          </p:pic>
          <p:pic>
            <p:nvPicPr>
              <p:cNvPr id="19" name="Graphic 18" descr="Voice with solid fill">
                <a:extLst>
                  <a:ext uri="{FF2B5EF4-FFF2-40B4-BE49-F238E27FC236}">
                    <a16:creationId xmlns:a16="http://schemas.microsoft.com/office/drawing/2014/main" id="{C4D31386-D8F6-376E-2328-CD4A2240E0C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58857" y="3248877"/>
                <a:ext cx="473000" cy="473000"/>
              </a:xfrm>
              <a:prstGeom prst="rect">
                <a:avLst/>
              </a:prstGeom>
            </p:spPr>
          </p:pic>
        </p:grpSp>
        <p:grpSp>
          <p:nvGrpSpPr>
            <p:cNvPr id="28" name="Group 27">
              <a:extLst>
                <a:ext uri="{FF2B5EF4-FFF2-40B4-BE49-F238E27FC236}">
                  <a16:creationId xmlns:a16="http://schemas.microsoft.com/office/drawing/2014/main" id="{3918CB5D-F492-BF34-B9DF-198F9D22FF13}"/>
                </a:ext>
              </a:extLst>
            </p:cNvPr>
            <p:cNvGrpSpPr/>
            <p:nvPr/>
          </p:nvGrpSpPr>
          <p:grpSpPr>
            <a:xfrm>
              <a:off x="6806518" y="5144904"/>
              <a:ext cx="682171" cy="682171"/>
              <a:chOff x="6471834" y="3725562"/>
              <a:chExt cx="914400" cy="914400"/>
            </a:xfrm>
          </p:grpSpPr>
          <p:pic>
            <p:nvPicPr>
              <p:cNvPr id="21" name="Graphic 20" descr="Film strip with solid fill">
                <a:extLst>
                  <a:ext uri="{FF2B5EF4-FFF2-40B4-BE49-F238E27FC236}">
                    <a16:creationId xmlns:a16="http://schemas.microsoft.com/office/drawing/2014/main" id="{4437CF2B-2224-63F0-1B83-44FCA242D7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38030" y="4054425"/>
                <a:ext cx="408717" cy="408717"/>
              </a:xfrm>
              <a:prstGeom prst="rect">
                <a:avLst/>
              </a:prstGeom>
            </p:spPr>
          </p:pic>
          <p:pic>
            <p:nvPicPr>
              <p:cNvPr id="26" name="Graphic 25" descr="Paper with solid fill">
                <a:extLst>
                  <a:ext uri="{FF2B5EF4-FFF2-40B4-BE49-F238E27FC236}">
                    <a16:creationId xmlns:a16="http://schemas.microsoft.com/office/drawing/2014/main" id="{287FF2F6-C437-F89F-5C36-CF75BED036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1834" y="3725562"/>
                <a:ext cx="914400" cy="914400"/>
              </a:xfrm>
              <a:prstGeom prst="rect">
                <a:avLst/>
              </a:prstGeom>
            </p:spPr>
          </p:pic>
        </p:grpSp>
        <p:grpSp>
          <p:nvGrpSpPr>
            <p:cNvPr id="30" name="Group 29">
              <a:extLst>
                <a:ext uri="{FF2B5EF4-FFF2-40B4-BE49-F238E27FC236}">
                  <a16:creationId xmlns:a16="http://schemas.microsoft.com/office/drawing/2014/main" id="{5CCEECDC-0CCC-2093-9A81-5A831F9BC9E1}"/>
                </a:ext>
              </a:extLst>
            </p:cNvPr>
            <p:cNvGrpSpPr/>
            <p:nvPr/>
          </p:nvGrpSpPr>
          <p:grpSpPr>
            <a:xfrm>
              <a:off x="6786106" y="2254694"/>
              <a:ext cx="682171" cy="682171"/>
              <a:chOff x="5602514" y="5393724"/>
              <a:chExt cx="914400" cy="914400"/>
            </a:xfrm>
          </p:grpSpPr>
          <p:pic>
            <p:nvPicPr>
              <p:cNvPr id="23" name="Graphic 22" descr="Image with solid fill">
                <a:extLst>
                  <a:ext uri="{FF2B5EF4-FFF2-40B4-BE49-F238E27FC236}">
                    <a16:creationId xmlns:a16="http://schemas.microsoft.com/office/drawing/2014/main" id="{36C17563-B7B1-6EA5-9C63-F91A5E8650F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36028" y="5693751"/>
                <a:ext cx="424020" cy="424020"/>
              </a:xfrm>
              <a:prstGeom prst="rect">
                <a:avLst/>
              </a:prstGeom>
            </p:spPr>
          </p:pic>
          <p:pic>
            <p:nvPicPr>
              <p:cNvPr id="27" name="Graphic 26" descr="Paper with solid fill">
                <a:extLst>
                  <a:ext uri="{FF2B5EF4-FFF2-40B4-BE49-F238E27FC236}">
                    <a16:creationId xmlns:a16="http://schemas.microsoft.com/office/drawing/2014/main" id="{5AE4FB6F-0656-8240-1EFF-2E28B6BB42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02514" y="5393724"/>
                <a:ext cx="914400" cy="914400"/>
              </a:xfrm>
              <a:prstGeom prst="rect">
                <a:avLst/>
              </a:prstGeom>
            </p:spPr>
          </p:pic>
        </p:grpSp>
        <p:grpSp>
          <p:nvGrpSpPr>
            <p:cNvPr id="33" name="Group 32">
              <a:extLst>
                <a:ext uri="{FF2B5EF4-FFF2-40B4-BE49-F238E27FC236}">
                  <a16:creationId xmlns:a16="http://schemas.microsoft.com/office/drawing/2014/main" id="{A6139956-2E6D-E8EE-3AD6-56006BB8844F}"/>
                </a:ext>
              </a:extLst>
            </p:cNvPr>
            <p:cNvGrpSpPr/>
            <p:nvPr/>
          </p:nvGrpSpPr>
          <p:grpSpPr>
            <a:xfrm>
              <a:off x="9376780" y="3603042"/>
              <a:ext cx="566512" cy="716135"/>
              <a:chOff x="9122228" y="2917371"/>
              <a:chExt cx="566512" cy="716135"/>
            </a:xfrm>
          </p:grpSpPr>
          <p:grpSp>
            <p:nvGrpSpPr>
              <p:cNvPr id="13" name="Group 12">
                <a:extLst>
                  <a:ext uri="{FF2B5EF4-FFF2-40B4-BE49-F238E27FC236}">
                    <a16:creationId xmlns:a16="http://schemas.microsoft.com/office/drawing/2014/main" id="{FBEB2383-86A5-F500-1CE5-918A3BC5A770}"/>
                  </a:ext>
                </a:extLst>
              </p:cNvPr>
              <p:cNvGrpSpPr/>
              <p:nvPr/>
            </p:nvGrpSpPr>
            <p:grpSpPr>
              <a:xfrm>
                <a:off x="9122228" y="2917371"/>
                <a:ext cx="508908" cy="631371"/>
                <a:chOff x="6349999" y="3519715"/>
                <a:chExt cx="678543" cy="841827"/>
              </a:xfrm>
              <a:solidFill>
                <a:srgbClr val="0070C0"/>
              </a:solidFill>
            </p:grpSpPr>
            <p:pic>
              <p:nvPicPr>
                <p:cNvPr id="9" name="Graphic 8" descr="Document outline">
                  <a:extLst>
                    <a:ext uri="{FF2B5EF4-FFF2-40B4-BE49-F238E27FC236}">
                      <a16:creationId xmlns:a16="http://schemas.microsoft.com/office/drawing/2014/main" id="{F5F9E7C5-E24E-5587-CFEA-C315F510C3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49999" y="3682999"/>
                  <a:ext cx="678543" cy="678543"/>
                </a:xfrm>
                <a:prstGeom prst="rect">
                  <a:avLst/>
                </a:prstGeom>
              </p:spPr>
            </p:pic>
            <p:sp>
              <p:nvSpPr>
                <p:cNvPr id="11" name="Star: 4 Points 10">
                  <a:extLst>
                    <a:ext uri="{FF2B5EF4-FFF2-40B4-BE49-F238E27FC236}">
                      <a16:creationId xmlns:a16="http://schemas.microsoft.com/office/drawing/2014/main" id="{5FB4ABE4-673A-64D1-8468-ADCA9FC45EAE}"/>
                    </a:ext>
                  </a:extLst>
                </p:cNvPr>
                <p:cNvSpPr/>
                <p:nvPr/>
              </p:nvSpPr>
              <p:spPr bwMode="auto">
                <a:xfrm>
                  <a:off x="6625771" y="3519715"/>
                  <a:ext cx="290286" cy="341814"/>
                </a:xfrm>
                <a:prstGeom prst="star4">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2" name="Star: 4 Points 11">
                  <a:extLst>
                    <a:ext uri="{FF2B5EF4-FFF2-40B4-BE49-F238E27FC236}">
                      <a16:creationId xmlns:a16="http://schemas.microsoft.com/office/drawing/2014/main" id="{75B313CD-DA4F-2A34-24DB-D18C6B262A03}"/>
                    </a:ext>
                  </a:extLst>
                </p:cNvPr>
                <p:cNvSpPr/>
                <p:nvPr/>
              </p:nvSpPr>
              <p:spPr bwMode="auto">
                <a:xfrm>
                  <a:off x="6848929" y="3842657"/>
                  <a:ext cx="179613" cy="179613"/>
                </a:xfrm>
                <a:prstGeom prst="star4">
                  <a:avLst>
                    <a:gd name="adj" fmla="val 23611"/>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pic>
            <p:nvPicPr>
              <p:cNvPr id="32" name="Graphic 31" descr="Single gear with solid fill">
                <a:extLst>
                  <a:ext uri="{FF2B5EF4-FFF2-40B4-BE49-F238E27FC236}">
                    <a16:creationId xmlns:a16="http://schemas.microsoft.com/office/drawing/2014/main" id="{CAC65769-1F6F-3A3F-E5CB-092B46690C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04111" y="3248877"/>
                <a:ext cx="384629" cy="384629"/>
              </a:xfrm>
              <a:prstGeom prst="rect">
                <a:avLst/>
              </a:prstGeom>
            </p:spPr>
          </p:pic>
        </p:grpSp>
        <p:sp>
          <p:nvSpPr>
            <p:cNvPr id="36" name="Right Brace 35">
              <a:extLst>
                <a:ext uri="{FF2B5EF4-FFF2-40B4-BE49-F238E27FC236}">
                  <a16:creationId xmlns:a16="http://schemas.microsoft.com/office/drawing/2014/main" id="{1FDE7ACB-1ECB-31B7-142E-58C78EB827E5}"/>
                </a:ext>
              </a:extLst>
            </p:cNvPr>
            <p:cNvSpPr/>
            <p:nvPr/>
          </p:nvSpPr>
          <p:spPr>
            <a:xfrm>
              <a:off x="7496174" y="2623983"/>
              <a:ext cx="478289" cy="2766263"/>
            </a:xfrm>
            <a:prstGeom prst="rightBrace">
              <a:avLst/>
            </a:prstGeom>
            <a:ln w="381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D5F6E357-DDA0-3B2C-AEC9-5EE3EDEA1E93}"/>
                </a:ext>
              </a:extLst>
            </p:cNvPr>
            <p:cNvCxnSpPr/>
            <p:nvPr/>
          </p:nvCxnSpPr>
          <p:spPr>
            <a:xfrm>
              <a:off x="9071426" y="3976960"/>
              <a:ext cx="362858" cy="2999"/>
            </a:xfrm>
            <a:prstGeom prst="straightConnector1">
              <a:avLst/>
            </a:prstGeom>
            <a:ln w="381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ABE82D3-EE32-FCC6-D884-F96C19E85738}"/>
                </a:ext>
              </a:extLst>
            </p:cNvPr>
            <p:cNvCxnSpPr/>
            <p:nvPr/>
          </p:nvCxnSpPr>
          <p:spPr>
            <a:xfrm>
              <a:off x="9943058" y="3976960"/>
              <a:ext cx="362858" cy="2999"/>
            </a:xfrm>
            <a:prstGeom prst="straightConnector1">
              <a:avLst/>
            </a:prstGeom>
            <a:ln w="381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5169ACB-3FE5-25CC-5195-12989C794EA1}"/>
                </a:ext>
              </a:extLst>
            </p:cNvPr>
            <p:cNvSpPr txBox="1"/>
            <p:nvPr/>
          </p:nvSpPr>
          <p:spPr>
            <a:xfrm rot="16200000">
              <a:off x="6196599" y="2303407"/>
              <a:ext cx="877046" cy="215494"/>
            </a:xfrm>
            <a:prstGeom prst="rect">
              <a:avLst/>
            </a:prstGeom>
            <a:noFill/>
          </p:spPr>
          <p:txBody>
            <a:bodyPr wrap="none" lIns="0" tIns="0" rIns="0" bIns="0" rtlCol="0">
              <a:spAutoFit/>
            </a:bodyPr>
            <a:lstStyle/>
            <a:p>
              <a:pPr algn="l"/>
              <a:r>
                <a:rPr lang="es-ES" sz="1400" b="0" i="0" strike="noStrike" cap="none" baseline="0">
                  <a:solidFill>
                    <a:srgbClr val="000000"/>
                  </a:solidFill>
                  <a:effectLst/>
                  <a:latin typeface="Segoe UI"/>
                  <a:ea typeface="Segoe UI"/>
                  <a:cs typeface="Segoe UI"/>
                </a:rPr>
                <a:t>imágenes</a:t>
              </a:r>
            </a:p>
          </p:txBody>
        </p:sp>
        <p:sp>
          <p:nvSpPr>
            <p:cNvPr id="42" name="TextBox 41">
              <a:extLst>
                <a:ext uri="{FF2B5EF4-FFF2-40B4-BE49-F238E27FC236}">
                  <a16:creationId xmlns:a16="http://schemas.microsoft.com/office/drawing/2014/main" id="{BD8EED02-7E8C-4FF4-B9D8-8B3B264D8BAF}"/>
                </a:ext>
              </a:extLst>
            </p:cNvPr>
            <p:cNvSpPr txBox="1"/>
            <p:nvPr/>
          </p:nvSpPr>
          <p:spPr>
            <a:xfrm rot="16200000">
              <a:off x="6121714" y="3435064"/>
              <a:ext cx="1024557" cy="215494"/>
            </a:xfrm>
            <a:prstGeom prst="rect">
              <a:avLst/>
            </a:prstGeom>
            <a:noFill/>
          </p:spPr>
          <p:txBody>
            <a:bodyPr wrap="none" lIns="0" tIns="0" rIns="0" bIns="0" rtlCol="0">
              <a:spAutoFit/>
            </a:bodyPr>
            <a:lstStyle/>
            <a:p>
              <a:pPr algn="l"/>
              <a:r>
                <a:rPr lang="es-ES" sz="1400" b="0" i="0" strike="noStrike" cap="none" baseline="0">
                  <a:solidFill>
                    <a:srgbClr val="000000"/>
                  </a:solidFill>
                  <a:effectLst/>
                  <a:latin typeface="Segoe UI"/>
                  <a:ea typeface="Segoe UI"/>
                  <a:cs typeface="Segoe UI"/>
                </a:rPr>
                <a:t>Documents</a:t>
              </a:r>
            </a:p>
          </p:txBody>
        </p:sp>
        <p:sp>
          <p:nvSpPr>
            <p:cNvPr id="43" name="TextBox 42">
              <a:extLst>
                <a:ext uri="{FF2B5EF4-FFF2-40B4-BE49-F238E27FC236}">
                  <a16:creationId xmlns:a16="http://schemas.microsoft.com/office/drawing/2014/main" id="{B2E26E7C-EBB8-ECEC-5741-3CE1C66910B5}"/>
                </a:ext>
              </a:extLst>
            </p:cNvPr>
            <p:cNvSpPr txBox="1"/>
            <p:nvPr/>
          </p:nvSpPr>
          <p:spPr>
            <a:xfrm rot="16200000">
              <a:off x="6379383" y="4458594"/>
              <a:ext cx="511477" cy="215494"/>
            </a:xfrm>
            <a:prstGeom prst="rect">
              <a:avLst/>
            </a:prstGeom>
            <a:noFill/>
          </p:spPr>
          <p:txBody>
            <a:bodyPr wrap="none" lIns="0" tIns="0" rIns="0" bIns="0" rtlCol="0">
              <a:spAutoFit/>
            </a:bodyPr>
            <a:lstStyle/>
            <a:p>
              <a:pPr algn="l"/>
              <a:r>
                <a:rPr lang="es-ES" sz="1400" b="0" i="0" strike="noStrike" cap="none" baseline="0">
                  <a:solidFill>
                    <a:srgbClr val="000000"/>
                  </a:solidFill>
                  <a:effectLst/>
                  <a:latin typeface="Segoe UI"/>
                  <a:ea typeface="Segoe UI"/>
                  <a:cs typeface="Segoe UI"/>
                </a:rPr>
                <a:t>Audio</a:t>
              </a:r>
            </a:p>
          </p:txBody>
        </p:sp>
        <p:sp>
          <p:nvSpPr>
            <p:cNvPr id="44" name="TextBox 43">
              <a:extLst>
                <a:ext uri="{FF2B5EF4-FFF2-40B4-BE49-F238E27FC236}">
                  <a16:creationId xmlns:a16="http://schemas.microsoft.com/office/drawing/2014/main" id="{C752DD44-7551-717B-2236-68806D09DF22}"/>
                </a:ext>
              </a:extLst>
            </p:cNvPr>
            <p:cNvSpPr txBox="1"/>
            <p:nvPr/>
          </p:nvSpPr>
          <p:spPr>
            <a:xfrm rot="16200000">
              <a:off x="6381831" y="5377767"/>
              <a:ext cx="504324" cy="215494"/>
            </a:xfrm>
            <a:prstGeom prst="rect">
              <a:avLst/>
            </a:prstGeom>
            <a:noFill/>
          </p:spPr>
          <p:txBody>
            <a:bodyPr wrap="none" lIns="0" tIns="0" rIns="0" bIns="0" rtlCol="0">
              <a:spAutoFit/>
            </a:bodyPr>
            <a:lstStyle/>
            <a:p>
              <a:pPr algn="l"/>
              <a:r>
                <a:rPr lang="es-ES" sz="1400" b="0" i="0" strike="noStrike" cap="none" baseline="0">
                  <a:solidFill>
                    <a:srgbClr val="000000"/>
                  </a:solidFill>
                  <a:effectLst/>
                  <a:latin typeface="Segoe UI"/>
                  <a:ea typeface="Segoe UI"/>
                  <a:cs typeface="Segoe UI"/>
                </a:rPr>
                <a:t>Video</a:t>
              </a:r>
            </a:p>
          </p:txBody>
        </p:sp>
        <p:sp>
          <p:nvSpPr>
            <p:cNvPr id="45" name="TextBox 44">
              <a:extLst>
                <a:ext uri="{FF2B5EF4-FFF2-40B4-BE49-F238E27FC236}">
                  <a16:creationId xmlns:a16="http://schemas.microsoft.com/office/drawing/2014/main" id="{C242FC10-3B24-F090-0E5A-BDADC3DCF659}"/>
                </a:ext>
              </a:extLst>
            </p:cNvPr>
            <p:cNvSpPr txBox="1"/>
            <p:nvPr/>
          </p:nvSpPr>
          <p:spPr>
            <a:xfrm>
              <a:off x="7936920" y="4416853"/>
              <a:ext cx="1367461" cy="975360"/>
            </a:xfrm>
            <a:prstGeom prst="rect">
              <a:avLst/>
            </a:prstGeom>
            <a:noFill/>
          </p:spPr>
          <p:txBody>
            <a:bodyPr wrap="square" lIns="0" tIns="0" rIns="0" bIns="0" rtlCol="0">
              <a:spAutoFit/>
            </a:bodyPr>
            <a:lstStyle/>
            <a:p>
              <a:pPr algn="ctr"/>
              <a:r>
                <a:rPr lang="es-ES" sz="1600" b="0" i="0" strike="noStrike" cap="none" baseline="0" dirty="0">
                  <a:solidFill>
                    <a:srgbClr val="000000"/>
                  </a:solidFill>
                  <a:effectLst/>
                  <a:latin typeface="Segoe UI"/>
                  <a:ea typeface="Segoe UI"/>
                  <a:cs typeface="Segoe UI"/>
                </a:rPr>
                <a:t>Azure</a:t>
              </a:r>
            </a:p>
            <a:p>
              <a:pPr algn="ctr"/>
              <a:r>
                <a:rPr lang="es-ES" sz="1600" b="0" i="0" strike="noStrike" cap="none" baseline="0" dirty="0">
                  <a:solidFill>
                    <a:srgbClr val="000000"/>
                  </a:solidFill>
                  <a:effectLst/>
                  <a:latin typeface="Segoe UI"/>
                  <a:ea typeface="Segoe UI"/>
                  <a:cs typeface="Segoe UI"/>
                </a:rPr>
                <a:t>Comprensión de contenidos</a:t>
              </a:r>
            </a:p>
          </p:txBody>
        </p:sp>
        <p:sp>
          <p:nvSpPr>
            <p:cNvPr id="46" name="TextBox 45">
              <a:extLst>
                <a:ext uri="{FF2B5EF4-FFF2-40B4-BE49-F238E27FC236}">
                  <a16:creationId xmlns:a16="http://schemas.microsoft.com/office/drawing/2014/main" id="{737658AA-DF53-9528-B7E1-454620C7C3E5}"/>
                </a:ext>
              </a:extLst>
            </p:cNvPr>
            <p:cNvSpPr txBox="1"/>
            <p:nvPr/>
          </p:nvSpPr>
          <p:spPr>
            <a:xfrm>
              <a:off x="8994848" y="4276825"/>
              <a:ext cx="1367461" cy="182880"/>
            </a:xfrm>
            <a:prstGeom prst="rect">
              <a:avLst/>
            </a:prstGeom>
            <a:noFill/>
          </p:spPr>
          <p:txBody>
            <a:bodyPr wrap="square" lIns="0" tIns="0" rIns="0" bIns="0" rtlCol="0">
              <a:spAutoFit/>
            </a:bodyPr>
            <a:lstStyle/>
            <a:p>
              <a:pPr algn="ctr"/>
              <a:r>
                <a:rPr lang="es-ES" sz="1200" b="0" i="0" strike="noStrike" cap="none" baseline="0">
                  <a:solidFill>
                    <a:srgbClr val="000000"/>
                  </a:solidFill>
                  <a:effectLst/>
                  <a:latin typeface="Segoe UI"/>
                  <a:ea typeface="Segoe UI"/>
                  <a:cs typeface="Segoe UI"/>
                </a:rPr>
                <a:t>Analyzer</a:t>
              </a:r>
            </a:p>
          </p:txBody>
        </p:sp>
        <p:sp>
          <p:nvSpPr>
            <p:cNvPr id="47" name="TextBox 46">
              <a:extLst>
                <a:ext uri="{FF2B5EF4-FFF2-40B4-BE49-F238E27FC236}">
                  <a16:creationId xmlns:a16="http://schemas.microsoft.com/office/drawing/2014/main" id="{9218E9C9-3F86-1844-132D-45BC142A1352}"/>
                </a:ext>
              </a:extLst>
            </p:cNvPr>
            <p:cNvSpPr txBox="1"/>
            <p:nvPr/>
          </p:nvSpPr>
          <p:spPr>
            <a:xfrm>
              <a:off x="10033355" y="4423905"/>
              <a:ext cx="1367461" cy="365760"/>
            </a:xfrm>
            <a:prstGeom prst="rect">
              <a:avLst/>
            </a:prstGeom>
            <a:noFill/>
          </p:spPr>
          <p:txBody>
            <a:bodyPr wrap="square" lIns="0" tIns="0" rIns="0" bIns="0" rtlCol="0">
              <a:spAutoFit/>
            </a:bodyPr>
            <a:lstStyle/>
            <a:p>
              <a:pPr algn="ctr"/>
              <a:r>
                <a:rPr lang="es-ES" sz="1200" b="0" i="0" strike="noStrike" cap="none" baseline="0">
                  <a:solidFill>
                    <a:srgbClr val="000000"/>
                  </a:solidFill>
                  <a:effectLst/>
                  <a:latin typeface="Segoe UI"/>
                  <a:ea typeface="Segoe UI"/>
                  <a:cs typeface="Segoe UI"/>
                </a:rPr>
                <a:t>Datos estructurados</a:t>
              </a:r>
            </a:p>
          </p:txBody>
        </p:sp>
      </p:grpSp>
    </p:spTree>
    <p:extLst>
      <p:ext uri="{BB962C8B-B14F-4D97-AF65-F5344CB8AC3E}">
        <p14:creationId xmlns:p14="http://schemas.microsoft.com/office/powerpoint/2010/main" val="165730393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487680"/>
          </a:xfrm>
        </p:spPr>
        <p:txBody>
          <a:bodyPr/>
          <a:lstStyle/>
          <a:p>
            <a:r>
              <a:rPr lang="es-ES" sz="3200" b="0" i="0" strike="noStrike" cap="none" baseline="0">
                <a:solidFill>
                  <a:srgbClr val="000000"/>
                </a:solidFill>
                <a:effectLst/>
                <a:latin typeface="Segoe UI Semibold"/>
                <a:ea typeface="Segoe UI Semibold"/>
                <a:cs typeface="Segoe UI"/>
              </a:rPr>
              <a:t>Análisis de imágenes con Content Understanding</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2" name="Group 1">
            <a:extLst>
              <a:ext uri="{FF2B5EF4-FFF2-40B4-BE49-F238E27FC236}">
                <a16:creationId xmlns:a16="http://schemas.microsoft.com/office/drawing/2014/main" id="{47620156-DAFD-16B4-1322-41523AB4F6F3}"/>
              </a:ext>
              <a:ext uri="{C183D7F6-B498-43B3-948B-1728B52AA6E4}">
                <adec:decorative xmlns:adec="http://schemas.microsoft.com/office/drawing/2017/decorative" val="1"/>
              </a:ext>
            </a:extLst>
          </p:cNvPr>
          <p:cNvGrpSpPr/>
          <p:nvPr/>
        </p:nvGrpSpPr>
        <p:grpSpPr>
          <a:xfrm>
            <a:off x="-257561" y="1450494"/>
            <a:ext cx="11751668" cy="3957012"/>
            <a:chOff x="-431732" y="5922654"/>
            <a:chExt cx="11751668" cy="3957012"/>
          </a:xfrm>
        </p:grpSpPr>
        <p:pic>
          <p:nvPicPr>
            <p:cNvPr id="3" name="Picture 2">
              <a:extLst>
                <a:ext uri="{FF2B5EF4-FFF2-40B4-BE49-F238E27FC236}">
                  <a16:creationId xmlns:a16="http://schemas.microsoft.com/office/drawing/2014/main" id="{B9FAEC9F-0922-945C-4E86-6BF80F9BEF5A}"/>
                </a:ext>
              </a:extLst>
            </p:cNvPr>
            <p:cNvPicPr>
              <a:picLocks noChangeAspect="1"/>
            </p:cNvPicPr>
            <p:nvPr/>
          </p:nvPicPr>
          <p:blipFill>
            <a:blip r:embed="rId3"/>
            <a:stretch>
              <a:fillRect/>
            </a:stretch>
          </p:blipFill>
          <p:spPr>
            <a:xfrm>
              <a:off x="-431732" y="5922654"/>
              <a:ext cx="6029734" cy="3957012"/>
            </a:xfrm>
            <a:prstGeom prst="rect">
              <a:avLst/>
            </a:prstGeom>
          </p:spPr>
        </p:pic>
        <p:sp>
          <p:nvSpPr>
            <p:cNvPr id="7" name="TextBox 6">
              <a:extLst>
                <a:ext uri="{FF2B5EF4-FFF2-40B4-BE49-F238E27FC236}">
                  <a16:creationId xmlns:a16="http://schemas.microsoft.com/office/drawing/2014/main" id="{2D9CB1E8-6AAC-2652-74CB-DDF86112FFBE}"/>
                </a:ext>
              </a:extLst>
            </p:cNvPr>
            <p:cNvSpPr txBox="1"/>
            <p:nvPr/>
          </p:nvSpPr>
          <p:spPr>
            <a:xfrm>
              <a:off x="4858469" y="6910625"/>
              <a:ext cx="6461467" cy="1991186"/>
            </a:xfrm>
            <a:prstGeom prst="rect">
              <a:avLst/>
            </a:prstGeom>
            <a:solidFill>
              <a:schemeClr val="bg1">
                <a:lumMod val="95000"/>
              </a:schemeClr>
            </a:solidFill>
          </p:spPr>
          <p:txBody>
            <a:bodyPr wrap="square">
              <a:spAutoFit/>
            </a:bodyPr>
            <a:lstStyle/>
            <a:p>
              <a:pPr>
                <a:lnSpc>
                  <a:spcPct val="150000"/>
                </a:lnSpc>
              </a:pPr>
              <a:r>
                <a:rPr lang="es-ES" sz="1400" b="0" i="0" strike="noStrike" cap="none" baseline="0" dirty="0">
                  <a:solidFill>
                    <a:srgbClr val="000000"/>
                  </a:solidFill>
                  <a:effectLst/>
                  <a:latin typeface="Segoe UI"/>
                  <a:ea typeface="Segoe UI"/>
                  <a:cs typeface="Segoe UI"/>
                </a:rPr>
                <a:t>La imagen muestra el concurrido andén de una estación de tren subterránea, con un tren que pasa a alta velocidad, lo que crea un efecto de desenfoque</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de movimiento. Varias personas caminan a lo largo del andén, y algunas aparecen borrosas debido al movimiento. La estación tiene un techo curvado</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y arqueado con una estructura metálica visible e iluminación. Un cartel digital encima del andén indica la llegada de un tren dentro de 3 minutos.</a:t>
              </a:r>
            </a:p>
          </p:txBody>
        </p:sp>
        <p:sp>
          <p:nvSpPr>
            <p:cNvPr id="8" name="TextBox 7">
              <a:extLst>
                <a:ext uri="{FF2B5EF4-FFF2-40B4-BE49-F238E27FC236}">
                  <a16:creationId xmlns:a16="http://schemas.microsoft.com/office/drawing/2014/main" id="{AC1F60E4-1B4D-34FF-805E-6861B168AB6B}"/>
                </a:ext>
              </a:extLst>
            </p:cNvPr>
            <p:cNvSpPr txBox="1"/>
            <p:nvPr/>
          </p:nvSpPr>
          <p:spPr>
            <a:xfrm>
              <a:off x="4858469" y="6641943"/>
              <a:ext cx="2168164" cy="246278"/>
            </a:xfrm>
            <a:prstGeom prst="rect">
              <a:avLst/>
            </a:prstGeom>
            <a:noFill/>
          </p:spPr>
          <p:txBody>
            <a:bodyPr wrap="none" lIns="0" tIns="0" rIns="0" bIns="0" rtlCol="0">
              <a:spAutoFit/>
            </a:bodyPr>
            <a:lstStyle/>
            <a:p>
              <a:pPr algn="l"/>
              <a:r>
                <a:rPr lang="es-ES" sz="1600" b="0" i="0" strike="noStrike" cap="none" baseline="0">
                  <a:solidFill>
                    <a:srgbClr val="702573"/>
                  </a:solidFill>
                  <a:effectLst/>
                  <a:latin typeface="Segoe UI Semibold"/>
                  <a:ea typeface="Segoe UI Semibold"/>
                  <a:cs typeface="Segoe UI Semibold"/>
                </a:rPr>
                <a:t>Resumen del análisis</a:t>
              </a:r>
            </a:p>
          </p:txBody>
        </p:sp>
      </p:grpSp>
    </p:spTree>
    <p:extLst>
      <p:ext uri="{BB962C8B-B14F-4D97-AF65-F5344CB8AC3E}">
        <p14:creationId xmlns:p14="http://schemas.microsoft.com/office/powerpoint/2010/main" val="21373072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80A7-EDA2-9AEE-779F-3D14AE2557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77840C-813D-2707-FBAC-4C45ACEA36B8}"/>
              </a:ext>
            </a:extLst>
          </p:cNvPr>
          <p:cNvSpPr>
            <a:spLocks noGrp="1"/>
          </p:cNvSpPr>
          <p:nvPr>
            <p:ph type="title"/>
          </p:nvPr>
        </p:nvSpPr>
        <p:spPr>
          <a:xfrm>
            <a:off x="588261" y="585216"/>
            <a:ext cx="11015909" cy="487680"/>
          </a:xfrm>
        </p:spPr>
        <p:txBody>
          <a:bodyPr/>
          <a:lstStyle/>
          <a:p>
            <a:r>
              <a:rPr lang="es-ES" sz="3200" b="0" i="0" strike="noStrike" cap="none" baseline="0">
                <a:solidFill>
                  <a:srgbClr val="000000"/>
                </a:solidFill>
                <a:effectLst/>
                <a:latin typeface="Segoe UI Semibold"/>
                <a:ea typeface="Segoe UI Semibold"/>
                <a:cs typeface="Segoe UI Semibold"/>
              </a:rPr>
              <a:t>Análisis de imágenes con Content Understanding</a:t>
            </a:r>
          </a:p>
        </p:txBody>
      </p:sp>
      <p:sp>
        <p:nvSpPr>
          <p:cNvPr id="35" name="Footer Placeholder 34">
            <a:extLst>
              <a:ext uri="{FF2B5EF4-FFF2-40B4-BE49-F238E27FC236}">
                <a16:creationId xmlns:a16="http://schemas.microsoft.com/office/drawing/2014/main" id="{885ACE53-C851-C36F-2CE5-8D4C629811C2}"/>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TextBox 5">
            <a:extLst>
              <a:ext uri="{FF2B5EF4-FFF2-40B4-BE49-F238E27FC236}">
                <a16:creationId xmlns:a16="http://schemas.microsoft.com/office/drawing/2014/main" id="{6C8DE039-3878-8360-1C02-6E08765A15C1}"/>
              </a:ext>
            </a:extLst>
          </p:cNvPr>
          <p:cNvSpPr txBox="1"/>
          <p:nvPr/>
        </p:nvSpPr>
        <p:spPr>
          <a:xfrm>
            <a:off x="460269" y="5556338"/>
            <a:ext cx="5693457" cy="553998"/>
          </a:xfrm>
          <a:prstGeom prst="rect">
            <a:avLst/>
          </a:prstGeom>
          <a:noFill/>
        </p:spPr>
        <p:txBody>
          <a:bodyPr wrap="square" lIns="0" tIns="0" rIns="0" bIns="0" rtlCol="0">
            <a:spAutoFit/>
          </a:bodyPr>
          <a:lstStyle/>
          <a:p>
            <a:pPr algn="l"/>
            <a:r>
              <a:rPr lang="es-ES" sz="1800" b="0" i="0" strike="noStrike" cap="none" baseline="0" dirty="0">
                <a:solidFill>
                  <a:srgbClr val="000000"/>
                </a:solidFill>
                <a:effectLst/>
                <a:latin typeface="Segoe UI"/>
                <a:ea typeface="Segoe UI"/>
                <a:cs typeface="Segoe UI"/>
              </a:rPr>
              <a:t>Uso de una o de varias imágenes de entrenamiento para definir un esquema para un </a:t>
            </a:r>
            <a:r>
              <a:rPr lang="es-ES" sz="1800" b="0" i="1" strike="noStrike" cap="none" baseline="0" dirty="0">
                <a:solidFill>
                  <a:srgbClr val="000000"/>
                </a:solidFill>
                <a:effectLst/>
                <a:latin typeface="Segoe UI"/>
                <a:ea typeface="Segoe UI"/>
                <a:cs typeface="Segoe UI"/>
              </a:rPr>
              <a:t>analizador</a:t>
            </a:r>
            <a:r>
              <a:rPr lang="es-ES" sz="1800" b="0" i="0" strike="noStrike" cap="none" baseline="0" dirty="0">
                <a:solidFill>
                  <a:srgbClr val="000000"/>
                </a:solidFill>
                <a:effectLst/>
                <a:latin typeface="Segoe UI"/>
                <a:ea typeface="Segoe UI"/>
                <a:cs typeface="Segoe UI"/>
              </a:rPr>
              <a:t> personalizado</a:t>
            </a:r>
          </a:p>
        </p:txBody>
      </p:sp>
      <p:sp>
        <p:nvSpPr>
          <p:cNvPr id="16" name="TextBox 15">
            <a:extLst>
              <a:ext uri="{FF2B5EF4-FFF2-40B4-BE49-F238E27FC236}">
                <a16:creationId xmlns:a16="http://schemas.microsoft.com/office/drawing/2014/main" id="{17C173D9-9998-8E1D-8E08-3684F43DA668}"/>
              </a:ext>
            </a:extLst>
          </p:cNvPr>
          <p:cNvSpPr txBox="1"/>
          <p:nvPr/>
        </p:nvSpPr>
        <p:spPr>
          <a:xfrm>
            <a:off x="6902867" y="5556338"/>
            <a:ext cx="4612703" cy="553998"/>
          </a:xfrm>
          <a:prstGeom prst="rect">
            <a:avLst/>
          </a:prstGeom>
          <a:noFill/>
        </p:spPr>
        <p:txBody>
          <a:bodyPr wrap="square" lIns="0" tIns="0" rIns="0" bIns="0" rtlCol="0">
            <a:spAutoFit/>
          </a:bodyPr>
          <a:lstStyle/>
          <a:p>
            <a:pPr algn="l"/>
            <a:r>
              <a:rPr lang="es-ES" sz="1800" b="0" i="0" strike="noStrike" cap="none" baseline="0" dirty="0">
                <a:solidFill>
                  <a:srgbClr val="000000"/>
                </a:solidFill>
                <a:effectLst/>
                <a:latin typeface="Segoe UI"/>
                <a:ea typeface="Segoe UI"/>
                <a:cs typeface="Segoe UI"/>
              </a:rPr>
              <a:t>Uso de la API de Content </a:t>
            </a:r>
            <a:r>
              <a:rPr lang="es-ES" sz="1800" b="0" i="0" strike="noStrike" cap="none" baseline="0" dirty="0" err="1">
                <a:solidFill>
                  <a:srgbClr val="000000"/>
                </a:solidFill>
                <a:effectLst/>
                <a:latin typeface="Segoe UI"/>
                <a:ea typeface="Segoe UI"/>
                <a:cs typeface="Segoe UI"/>
              </a:rPr>
              <a:t>Understanding</a:t>
            </a:r>
            <a:r>
              <a:rPr lang="es-ES" sz="1800" b="0" i="0" strike="noStrike" cap="none" baseline="0" dirty="0">
                <a:solidFill>
                  <a:srgbClr val="000000"/>
                </a:solidFill>
                <a:effectLst/>
                <a:latin typeface="Segoe UI"/>
                <a:ea typeface="Segoe UI"/>
                <a:cs typeface="Segoe UI"/>
              </a:rPr>
              <a:t> para ejecutar analizadores y generar resultados</a:t>
            </a:r>
            <a:endParaRPr lang="en-US" sz="1800" i="1" dirty="0"/>
          </a:p>
        </p:txBody>
      </p:sp>
      <p:sp>
        <p:nvSpPr>
          <p:cNvPr id="3" name="Rounded Rectangle 22">
            <a:extLst>
              <a:ext uri="{FF2B5EF4-FFF2-40B4-BE49-F238E27FC236}">
                <a16:creationId xmlns:a16="http://schemas.microsoft.com/office/drawing/2014/main" id="{01AA8231-DF19-A732-51E5-E6DDB39C4EE0}"/>
              </a:ext>
            </a:extLst>
          </p:cNvPr>
          <p:cNvSpPr/>
          <p:nvPr/>
        </p:nvSpPr>
        <p:spPr bwMode="auto">
          <a:xfrm>
            <a:off x="6424215" y="1280149"/>
            <a:ext cx="5507224" cy="4185784"/>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8" name="TextBox 7">
            <a:extLst>
              <a:ext uri="{FF2B5EF4-FFF2-40B4-BE49-F238E27FC236}">
                <a16:creationId xmlns:a16="http://schemas.microsoft.com/office/drawing/2014/main" id="{E6CA04BD-5833-DE70-8DE1-8CD0347A893C}"/>
              </a:ext>
            </a:extLst>
          </p:cNvPr>
          <p:cNvSpPr txBox="1"/>
          <p:nvPr/>
        </p:nvSpPr>
        <p:spPr>
          <a:xfrm>
            <a:off x="6498542" y="1303094"/>
            <a:ext cx="5693458" cy="4162839"/>
          </a:xfrm>
          <a:prstGeom prst="rect">
            <a:avLst/>
          </a:prstGeom>
          <a:noFill/>
        </p:spPr>
        <p:txBody>
          <a:bodyPr wrap="square">
            <a:spAutoFit/>
          </a:bodyPr>
          <a:lstStyle/>
          <a:p>
            <a:r>
              <a:rPr lang="en-US" sz="1200" dirty="0">
                <a:solidFill>
                  <a:srgbClr val="4CBC89"/>
                </a:solidFill>
                <a:latin typeface="Consolas" panose="020B0609020204030204" pitchFamily="49" charset="0"/>
              </a:rPr>
              <a:t># Get a Content Understanding client</a:t>
            </a:r>
          </a:p>
          <a:p>
            <a:r>
              <a:rPr lang="en-US" sz="1200" dirty="0">
                <a:solidFill>
                  <a:srgbClr val="9CDCFE"/>
                </a:solidFill>
                <a:latin typeface="Consolas" panose="020B0609020204030204" pitchFamily="49" charset="0"/>
              </a:rPr>
              <a:t>client</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ContentUnderstandingClient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endpoint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FOUNDRY_ENDPOINT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KEY_OR_IDENTITY</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api_version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"2025-11-01"</a:t>
            </a:r>
          </a:p>
          <a:p>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Submit an image file to the analyzer</a:t>
            </a:r>
          </a:p>
          <a:p>
            <a:r>
              <a:rPr lang="en-US" sz="1200" dirty="0">
                <a:solidFill>
                  <a:srgbClr val="5295CD"/>
                </a:solidFill>
                <a:latin typeface="Consolas" panose="020B0609020204030204" pitchFamily="49" charset="0"/>
              </a:rPr>
              <a:t>with</a:t>
            </a:r>
            <a:r>
              <a:rPr lang="en-US" sz="1200" dirty="0">
                <a:solidFill>
                  <a:srgbClr val="ABB2BF"/>
                </a:solidFill>
                <a:latin typeface="Consolas" panose="020B0609020204030204" pitchFamily="49" charset="0"/>
              </a:rPr>
              <a:t> </a:t>
            </a:r>
            <a:r>
              <a:rPr lang="en-US" sz="1200" dirty="0">
                <a:solidFill>
                  <a:srgbClr val="DCDCAA"/>
                </a:solidFill>
                <a:latin typeface="Consolas" panose="020B0609020204030204" pitchFamily="49" charset="0"/>
              </a:rPr>
              <a:t>open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"my_image.png"</a:t>
            </a:r>
            <a:r>
              <a:rPr lang="en-US" sz="1200" dirty="0">
                <a:solidFill>
                  <a:srgbClr val="ABB2BF"/>
                </a:solidFill>
                <a:latin typeface="Consolas" panose="020B0609020204030204" pitchFamily="49" charset="0"/>
              </a:rPr>
              <a:t>, </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rb</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 </a:t>
            </a:r>
            <a:r>
              <a:rPr lang="en-US" sz="1200" dirty="0">
                <a:solidFill>
                  <a:srgbClr val="5295CD"/>
                </a:solidFill>
                <a:latin typeface="Consolas" panose="020B0609020204030204" pitchFamily="49" charset="0"/>
              </a:rPr>
              <a:t>as</a:t>
            </a:r>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f</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file_bytes</a:t>
            </a:r>
            <a:r>
              <a:rPr lang="en-US" sz="1200" dirty="0">
                <a:solidFill>
                  <a:srgbClr val="9CDCFE"/>
                </a:solidFill>
                <a:latin typeface="Consolas" panose="020B0609020204030204" pitchFamily="49" charset="0"/>
              </a:rPr>
              <a:t> </a:t>
            </a:r>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f</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read</a:t>
            </a:r>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err="1">
                <a:solidFill>
                  <a:srgbClr val="9CDCFE"/>
                </a:solidFill>
                <a:latin typeface="Consolas" panose="020B0609020204030204" pitchFamily="49" charset="0"/>
              </a:rPr>
              <a:t>poller</a:t>
            </a:r>
            <a:r>
              <a:rPr lang="en-US" sz="1200" dirty="0">
                <a:solidFill>
                  <a:srgbClr val="ABB2BF"/>
                </a:solidFill>
                <a:latin typeface="Consolas" panose="020B0609020204030204" pitchFamily="49" charset="0"/>
              </a:rPr>
              <a:t> =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begin_analyze</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analyzer_id</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ANALYSER_ID</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inputs</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AnalysisInput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data</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file_bytes</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a:solidFill>
                  <a:srgbClr val="4CBC89"/>
                </a:solidFill>
                <a:latin typeface="Consolas" panose="020B0609020204030204" pitchFamily="49" charset="0"/>
              </a:rPr>
              <a:t># Get results from </a:t>
            </a:r>
            <a:r>
              <a:rPr lang="en-US" sz="1200" dirty="0" err="1">
                <a:solidFill>
                  <a:srgbClr val="4CBC89"/>
                </a:solidFill>
                <a:latin typeface="Consolas" panose="020B0609020204030204" pitchFamily="49" charset="0"/>
              </a:rPr>
              <a:t>poller</a:t>
            </a:r>
            <a:endParaRPr lang="en-US" sz="1200" dirty="0">
              <a:solidFill>
                <a:srgbClr val="4CBC89"/>
              </a:solidFill>
              <a:latin typeface="Consolas" panose="020B0609020204030204" pitchFamily="49" charset="0"/>
            </a:endParaRPr>
          </a:p>
          <a:p>
            <a:r>
              <a:rPr lang="en-US" sz="1200" dirty="0">
                <a:solidFill>
                  <a:srgbClr val="9CDCFE"/>
                </a:solidFill>
                <a:latin typeface="Consolas" panose="020B0609020204030204" pitchFamily="49" charset="0"/>
              </a:rPr>
              <a:t>result</a:t>
            </a:r>
            <a:r>
              <a:rPr lang="en-US" sz="1200" dirty="0">
                <a:solidFill>
                  <a:srgbClr val="ABB2BF"/>
                </a:solidFill>
                <a:latin typeface="Consolas" panose="020B0609020204030204" pitchFamily="49" charset="0"/>
              </a:rPr>
              <a:t>: </a:t>
            </a:r>
            <a:r>
              <a:rPr lang="en-US" sz="1200" dirty="0" err="1">
                <a:solidFill>
                  <a:srgbClr val="DCDCAA"/>
                </a:solidFill>
                <a:latin typeface="Consolas" panose="020B0609020204030204" pitchFamily="49" charset="0"/>
              </a:rPr>
              <a:t>AnalysisResult</a:t>
            </a:r>
            <a:r>
              <a:rPr lang="en-US" sz="1200" dirty="0">
                <a:solidFill>
                  <a:srgbClr val="ABB2BF"/>
                </a:solidFill>
                <a:latin typeface="Consolas" panose="020B0609020204030204" pitchFamily="49" charset="0"/>
              </a:rPr>
              <a:t> = </a:t>
            </a:r>
            <a:r>
              <a:rPr lang="en-US" sz="1200" dirty="0" err="1">
                <a:solidFill>
                  <a:srgbClr val="9CDCFE"/>
                </a:solidFill>
                <a:latin typeface="Consolas" panose="020B0609020204030204" pitchFamily="49" charset="0"/>
              </a:rPr>
              <a:t>poller</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result</a:t>
            </a:r>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Display results</a:t>
            </a:r>
          </a:p>
          <a:p>
            <a:r>
              <a:rPr lang="en-US" sz="1200" dirty="0" err="1">
                <a:solidFill>
                  <a:srgbClr val="9CDCFE"/>
                </a:solidFill>
                <a:latin typeface="Consolas" panose="020B0609020204030204" pitchFamily="49" charset="0"/>
              </a:rPr>
              <a:t>result_str</a:t>
            </a:r>
            <a:r>
              <a:rPr lang="en-US" sz="1200" dirty="0">
                <a:solidFill>
                  <a:srgbClr val="9CDCFE"/>
                </a:solidFill>
                <a:latin typeface="Consolas" panose="020B0609020204030204" pitchFamily="49" charset="0"/>
              </a:rPr>
              <a:t> </a:t>
            </a:r>
            <a:r>
              <a:rPr lang="en-US" sz="1200" dirty="0">
                <a:solidFill>
                  <a:srgbClr val="ABB2BF"/>
                </a:solidFill>
                <a:latin typeface="Consolas" panose="020B0609020204030204" pitchFamily="49" charset="0"/>
              </a:rPr>
              <a:t>= </a:t>
            </a:r>
            <a:r>
              <a:rPr lang="en-US" sz="1200" dirty="0" err="1">
                <a:solidFill>
                  <a:srgbClr val="ABB2BF"/>
                </a:solidFill>
                <a:latin typeface="Consolas" panose="020B0609020204030204" pitchFamily="49" charset="0"/>
              </a:rPr>
              <a:t>json.</a:t>
            </a:r>
            <a:r>
              <a:rPr lang="en-US" sz="1200" dirty="0" err="1">
                <a:solidFill>
                  <a:srgbClr val="DCDCAA"/>
                </a:solidFill>
                <a:latin typeface="Consolas" panose="020B0609020204030204" pitchFamily="49" charset="0"/>
              </a:rPr>
              <a:t>dumps</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result</a:t>
            </a:r>
            <a:r>
              <a:rPr lang="en-US" sz="1200" dirty="0" err="1">
                <a:solidFill>
                  <a:srgbClr val="ABB2BF"/>
                </a:solidFill>
                <a:latin typeface="Consolas" panose="020B0609020204030204" pitchFamily="49" charset="0"/>
              </a:rPr>
              <a:t>.as_dict</a:t>
            </a:r>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indent</a:t>
            </a:r>
            <a:r>
              <a:rPr lang="en-US" sz="1200" dirty="0">
                <a:solidFill>
                  <a:srgbClr val="ABB2BF"/>
                </a:solidFill>
                <a:latin typeface="Consolas" panose="020B0609020204030204" pitchFamily="49" charset="0"/>
              </a:rPr>
              <a:t>=2)</a:t>
            </a:r>
          </a:p>
          <a:p>
            <a:r>
              <a:rPr lang="en-US" sz="1200" dirty="0">
                <a:solidFill>
                  <a:srgbClr val="DCDCAA"/>
                </a:solidFill>
                <a:latin typeface="Consolas" panose="020B0609020204030204" pitchFamily="49" charset="0"/>
              </a:rPr>
              <a:t>print</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result_str</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pic>
        <p:nvPicPr>
          <p:cNvPr id="2" name="Picture 1" descr="Screenshot of a content understanding studio interface showing an image analyzer tool with a photograph of an elephant standing in dry grassland. The interface includes file upload options, schema settings with fields for description and tags, and buttons for running analysis, saving, and discarding changes.&#10;">
            <a:extLst>
              <a:ext uri="{FF2B5EF4-FFF2-40B4-BE49-F238E27FC236}">
                <a16:creationId xmlns:a16="http://schemas.microsoft.com/office/drawing/2014/main" id="{B8C75131-6E5B-C40F-598C-6B1BDABE7238}"/>
              </a:ext>
            </a:extLst>
          </p:cNvPr>
          <p:cNvPicPr>
            <a:picLocks noChangeAspect="1"/>
          </p:cNvPicPr>
          <p:nvPr/>
        </p:nvPicPr>
        <p:blipFill>
          <a:blip r:embed="rId3"/>
          <a:stretch>
            <a:fillRect/>
          </a:stretch>
        </p:blipFill>
        <p:spPr>
          <a:xfrm>
            <a:off x="481942" y="1295549"/>
            <a:ext cx="5650112" cy="4154984"/>
          </a:xfrm>
          <a:prstGeom prst="rect">
            <a:avLst/>
          </a:prstGeom>
        </p:spPr>
      </p:pic>
    </p:spTree>
    <p:extLst>
      <p:ext uri="{BB962C8B-B14F-4D97-AF65-F5344CB8AC3E}">
        <p14:creationId xmlns:p14="http://schemas.microsoft.com/office/powerpoint/2010/main" val="273917685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7679439" cy="487680"/>
          </a:xfrm>
        </p:spPr>
        <p:txBody>
          <a:bodyPr/>
          <a:lstStyle/>
          <a:p>
            <a:r>
              <a:rPr lang="es-ES" sz="3200" b="0" i="0" strike="noStrike" cap="none" baseline="0" dirty="0">
                <a:solidFill>
                  <a:srgbClr val="000000"/>
                </a:solidFill>
                <a:effectLst/>
                <a:latin typeface="Segoe UI Semibold"/>
                <a:ea typeface="Segoe UI Semibold"/>
                <a:cs typeface="Segoe UI Semibold"/>
              </a:rPr>
              <a:t>Resultados del análisis</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pic>
        <p:nvPicPr>
          <p:cNvPr id="2" name="Picture 1" descr="Screenshot of Content Understanding Studio, showing a photograph of a person sitting cross-legged on a couch in a living room, using a laptop. Electric guitar is visible next to the couch, with natural light and indoor plants adding to a cozy atmosphere. The analysis results are in a pane to the side of the photograph.">
            <a:extLst>
              <a:ext uri="{FF2B5EF4-FFF2-40B4-BE49-F238E27FC236}">
                <a16:creationId xmlns:a16="http://schemas.microsoft.com/office/drawing/2014/main" id="{D1CB5CDD-363A-03FB-29F4-BA330A90974A}"/>
              </a:ext>
            </a:extLst>
          </p:cNvPr>
          <p:cNvPicPr>
            <a:picLocks noChangeAspect="1"/>
          </p:cNvPicPr>
          <p:nvPr/>
        </p:nvPicPr>
        <p:blipFill>
          <a:blip r:embed="rId3"/>
          <a:stretch>
            <a:fillRect/>
          </a:stretch>
        </p:blipFill>
        <p:spPr>
          <a:xfrm>
            <a:off x="4950200" y="1548384"/>
            <a:ext cx="6031503" cy="4724400"/>
          </a:xfrm>
          <a:prstGeom prst="rect">
            <a:avLst/>
          </a:prstGeom>
          <a:ln>
            <a:solidFill>
              <a:schemeClr val="bg1">
                <a:lumMod val="75000"/>
              </a:schemeClr>
            </a:solidFill>
          </a:ln>
        </p:spPr>
      </p:pic>
      <p:pic>
        <p:nvPicPr>
          <p:cNvPr id="5" name="Picture 4" descr="Screenshot of Content Understanding Studio showing a photograph of a person sitting on a purple couch with legs crossed, using a laptop, in a cozy living room setting. Key elements include an electric guitar resting on the couch, plants in the foreground, and a wooden coffee table with items on it, with the person dressed casually in a gray t-shirt and blue jeans. The analysis results are shown by field in a pane next to the photo.">
            <a:extLst>
              <a:ext uri="{FF2B5EF4-FFF2-40B4-BE49-F238E27FC236}">
                <a16:creationId xmlns:a16="http://schemas.microsoft.com/office/drawing/2014/main" id="{B1EE9D00-3276-FFC1-3AD2-60924D79D611}"/>
              </a:ext>
            </a:extLst>
          </p:cNvPr>
          <p:cNvPicPr>
            <a:picLocks noChangeAspect="1"/>
          </p:cNvPicPr>
          <p:nvPr/>
        </p:nvPicPr>
        <p:blipFill>
          <a:blip r:embed="rId4"/>
          <a:stretch>
            <a:fillRect/>
          </a:stretch>
        </p:blipFill>
        <p:spPr>
          <a:xfrm>
            <a:off x="1014865" y="1150534"/>
            <a:ext cx="5879419" cy="4570477"/>
          </a:xfrm>
          <a:prstGeom prst="rect">
            <a:avLst/>
          </a:prstGeom>
          <a:ln>
            <a:solidFill>
              <a:schemeClr val="bg1">
                <a:lumMod val="75000"/>
              </a:schemeClr>
            </a:solidFill>
          </a:ln>
        </p:spPr>
      </p:pic>
    </p:spTree>
    <p:extLst>
      <p:ext uri="{BB962C8B-B14F-4D97-AF65-F5344CB8AC3E}">
        <p14:creationId xmlns:p14="http://schemas.microsoft.com/office/powerpoint/2010/main" val="273527971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C4BA-1797-D27C-FF70-FC118A402B6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116FA83-6FE4-E3CF-F872-F325941FF7AA}"/>
              </a:ext>
              <a:ext uri="{C183D7F6-B498-43B3-948B-1728B52AA6E4}">
                <adec:decorative xmlns:adec="http://schemas.microsoft.com/office/drawing/2017/decorative" val="1"/>
              </a:ext>
            </a:extLst>
          </p:cNvPr>
          <p:cNvPicPr>
            <a:picLocks noChangeAspect="1"/>
          </p:cNvPicPr>
          <p:nvPr/>
        </p:nvPicPr>
        <p:blipFill>
          <a:blip r:embed="rId3"/>
          <a:srcRect t="505" b="505"/>
          <a:stretch>
            <a:fillRect/>
          </a:stretch>
        </p:blipFill>
        <p:spPr>
          <a:xfrm>
            <a:off x="7699682" y="2014938"/>
            <a:ext cx="4598998" cy="3344462"/>
          </a:xfrm>
          <a:prstGeom prst="rect">
            <a:avLst/>
          </a:prstGeom>
        </p:spPr>
      </p:pic>
      <p:sp>
        <p:nvSpPr>
          <p:cNvPr id="5" name="Title 4">
            <a:extLst>
              <a:ext uri="{FF2B5EF4-FFF2-40B4-BE49-F238E27FC236}">
                <a16:creationId xmlns:a16="http://schemas.microsoft.com/office/drawing/2014/main" id="{EFF1D4D4-CDB5-8A6B-7B7C-95EDCD5CB06C}"/>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9F36D34A-029A-B84E-FD6A-FB828018BB53}"/>
              </a:ext>
            </a:extLst>
          </p:cNvPr>
          <p:cNvSpPr>
            <a:spLocks noGrp="1"/>
          </p:cNvSpPr>
          <p:nvPr>
            <p:ph type="body" sz="quarter" idx="16"/>
          </p:nvPr>
        </p:nvSpPr>
        <p:spPr>
          <a:xfrm>
            <a:off x="584199" y="1594155"/>
            <a:ext cx="6672323" cy="292388"/>
          </a:xfrm>
        </p:spPr>
        <p:txBody>
          <a:bodyPr/>
          <a:lstStyle/>
          <a:p>
            <a:r>
              <a:rPr lang="es-ES" sz="1900" b="0" i="0" strike="noStrike" cap="none" baseline="0" dirty="0">
                <a:solidFill>
                  <a:srgbClr val="000000"/>
                </a:solidFill>
                <a:effectLst/>
                <a:latin typeface="Segoe UI Semibold"/>
                <a:ea typeface="Segoe UI Semibold"/>
                <a:cs typeface="Segoe UI Semibold"/>
              </a:rPr>
              <a:t>Análisis de imágenes con Azure Content </a:t>
            </a:r>
            <a:r>
              <a:rPr lang="es-ES" sz="1900" b="0" i="0" strike="noStrike" cap="none" baseline="0" dirty="0" err="1">
                <a:solidFill>
                  <a:srgbClr val="000000"/>
                </a:solidFill>
                <a:effectLst/>
                <a:latin typeface="Segoe UI Semibold"/>
                <a:ea typeface="Segoe UI Semibold"/>
                <a:cs typeface="Segoe UI Semibold"/>
              </a:rPr>
              <a:t>Understanding</a:t>
            </a:r>
            <a:endParaRPr lang="es-ES" sz="1900" b="0" i="0" strike="noStrike" cap="none" baseline="0" dirty="0">
              <a:solidFill>
                <a:srgbClr val="000000"/>
              </a:solidFill>
              <a:effectLst/>
              <a:latin typeface="Segoe UI Semibold"/>
              <a:ea typeface="Segoe UI Semibold"/>
              <a:cs typeface="Segoe UI Semibold"/>
            </a:endParaRPr>
          </a:p>
        </p:txBody>
      </p:sp>
      <p:sp>
        <p:nvSpPr>
          <p:cNvPr id="6" name="Text Placeholder 5">
            <a:extLst>
              <a:ext uri="{FF2B5EF4-FFF2-40B4-BE49-F238E27FC236}">
                <a16:creationId xmlns:a16="http://schemas.microsoft.com/office/drawing/2014/main" id="{85CEA152-B7FC-4EC3-972B-0345482ACCE2}"/>
              </a:ext>
            </a:extLst>
          </p:cNvPr>
          <p:cNvSpPr>
            <a:spLocks noGrp="1"/>
          </p:cNvSpPr>
          <p:nvPr>
            <p:ph type="body" sz="quarter" idx="15"/>
          </p:nvPr>
        </p:nvSpPr>
        <p:spPr>
          <a:xfrm>
            <a:off x="586389" y="2085764"/>
            <a:ext cx="6250247" cy="1267968"/>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defTabSz="914367">
              <a:spcBef>
                <a:spcPct val="0"/>
              </a:spcBef>
              <a:buSzTx/>
              <a:defRPr/>
            </a:pPr>
            <a:r>
              <a:rPr lang="es-ES" sz="1600" b="0" i="0" strike="noStrike" cap="none" baseline="0" dirty="0">
                <a:solidFill>
                  <a:srgbClr val="000000"/>
                </a:solidFill>
                <a:effectLst/>
                <a:latin typeface="Segoe UI"/>
                <a:ea typeface="Segoe UI"/>
                <a:cs typeface="Segoe UI"/>
              </a:rPr>
              <a:t>Crear un analizador de imágenes en Azure Content </a:t>
            </a:r>
            <a:r>
              <a:rPr lang="es-ES" sz="1600" b="0" i="0" strike="noStrike" cap="none" baseline="0" dirty="0" err="1">
                <a:solidFill>
                  <a:srgbClr val="000000"/>
                </a:solidFill>
                <a:effectLst/>
                <a:latin typeface="Segoe UI"/>
                <a:ea typeface="Segoe UI"/>
                <a:cs typeface="Segoe UI"/>
              </a:rPr>
              <a:t>Understanding</a:t>
            </a:r>
            <a:endParaRPr lang="es-ES" sz="1600" b="0" i="0" strike="noStrike" cap="none" baseline="0" dirty="0">
              <a:solidFill>
                <a:srgbClr val="000000"/>
              </a:solidFill>
              <a:effectLst/>
              <a:latin typeface="Segoe UI"/>
              <a:ea typeface="Segoe UI"/>
              <a:cs typeface="Segoe UI"/>
            </a:endParaRPr>
          </a:p>
          <a:p>
            <a:r>
              <a:rPr lang="es-ES" sz="1600" b="0" i="0" strike="noStrike" cap="none" baseline="0" dirty="0">
                <a:solidFill>
                  <a:srgbClr val="000000"/>
                </a:solidFill>
                <a:effectLst/>
                <a:latin typeface="Segoe UI"/>
                <a:ea typeface="Segoe UI"/>
                <a:cs typeface="Segoe UI"/>
              </a:rPr>
              <a:t>Usar la API de Content </a:t>
            </a:r>
            <a:r>
              <a:rPr lang="es-ES" sz="1600" b="0" i="0" strike="noStrike" cap="none" baseline="0" dirty="0" err="1">
                <a:solidFill>
                  <a:srgbClr val="000000"/>
                </a:solidFill>
                <a:effectLst/>
                <a:latin typeface="Segoe UI"/>
                <a:ea typeface="Segoe UI"/>
                <a:cs typeface="Segoe UI"/>
              </a:rPr>
              <a:t>Understanding</a:t>
            </a:r>
            <a:r>
              <a:rPr lang="es-ES" sz="1600" b="0" i="0" strike="noStrike" cap="none" baseline="0" dirty="0">
                <a:solidFill>
                  <a:srgbClr val="000000"/>
                </a:solidFill>
                <a:effectLst/>
                <a:latin typeface="Segoe UI"/>
                <a:ea typeface="Segoe UI"/>
                <a:cs typeface="Segoe UI"/>
              </a:rPr>
              <a:t> para enviar</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imágenes para su análisis</a:t>
            </a:r>
          </a:p>
        </p:txBody>
      </p:sp>
      <p:sp>
        <p:nvSpPr>
          <p:cNvPr id="10" name="TextBox 9">
            <a:extLst>
              <a:ext uri="{FF2B5EF4-FFF2-40B4-BE49-F238E27FC236}">
                <a16:creationId xmlns:a16="http://schemas.microsoft.com/office/drawing/2014/main" id="{A0F5B7AA-9422-9E06-8356-C7C2B94892E4}"/>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strike="noStrike" cap="none" baseline="0">
                <a:solidFill>
                  <a:srgbClr val="000000"/>
                </a:solidFill>
                <a:effectLst/>
                <a:latin typeface="Segoe UI"/>
                <a:ea typeface="Segoe UI"/>
                <a:cs typeface="Segoe UI"/>
                <a:hlinkClick r:id="rId4" history="0"/>
              </a:rPr>
              <a:t>https://go.microsoft.com/fwlink/?linkid=2356972</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B8BE9ADA-19DF-6468-CA96-F1C0B135EB73}"/>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50CFC637-DF0C-D923-2494-D1DB11DD23D0}"/>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28637865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5585-DBF8-782C-33D7-76B04196F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88FF5-8A54-2B3F-F784-678FDA6202EE}"/>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7EC1A9EC-28E9-9BD5-B24B-434B280AB9FB}"/>
              </a:ext>
            </a:extLst>
          </p:cNvPr>
          <p:cNvSpPr>
            <a:spLocks noGrp="1"/>
          </p:cNvSpPr>
          <p:nvPr>
            <p:ph type="body" sz="quarter" idx="17"/>
          </p:nvPr>
        </p:nvSpPr>
        <p:spPr>
          <a:xfrm>
            <a:off x="1235074" y="2206296"/>
            <a:ext cx="9024803" cy="426720"/>
          </a:xfrm>
        </p:spPr>
        <p:txBody>
          <a:bodyPr/>
          <a:lstStyle/>
          <a:p>
            <a:r>
              <a:rPr lang="es-ES" sz="1400" b="1" i="0" strike="noStrike" cap="none" baseline="0" dirty="0">
                <a:solidFill>
                  <a:srgbClr val="000000"/>
                </a:solidFill>
                <a:effectLst/>
                <a:latin typeface="Segoe UI Semibold"/>
                <a:ea typeface="Segoe UI Semibold"/>
                <a:cs typeface="Segoe UI Semibold"/>
              </a:rPr>
              <a:t>Quieres encontrar un modelo en Microsoft </a:t>
            </a:r>
            <a:r>
              <a:rPr lang="es-ES" sz="1400" b="1" i="0" strike="noStrike" cap="none" baseline="0" dirty="0" err="1">
                <a:solidFill>
                  <a:srgbClr val="000000"/>
                </a:solidFill>
                <a:effectLst/>
                <a:latin typeface="Segoe UI Semibold"/>
                <a:ea typeface="Segoe UI Semibold"/>
                <a:cs typeface="Segoe UI Semibold"/>
              </a:rPr>
              <a:t>Foundry</a:t>
            </a:r>
            <a:r>
              <a:rPr lang="es-ES" sz="1400" b="1" i="0" strike="noStrike" cap="none" baseline="0" dirty="0">
                <a:solidFill>
                  <a:srgbClr val="000000"/>
                </a:solidFill>
                <a:effectLst/>
                <a:latin typeface="Segoe UI Semibold"/>
                <a:ea typeface="Segoe UI Semibold"/>
                <a:cs typeface="Segoe UI Semibold"/>
              </a:rPr>
              <a:t> para generar imágenes. ¿Por qué tarea de inferencia deberías filtrar?</a:t>
            </a:r>
          </a:p>
        </p:txBody>
      </p:sp>
      <p:sp>
        <p:nvSpPr>
          <p:cNvPr id="9" name="Text Placeholder 8">
            <a:extLst>
              <a:ext uri="{FF2B5EF4-FFF2-40B4-BE49-F238E27FC236}">
                <a16:creationId xmlns:a16="http://schemas.microsoft.com/office/drawing/2014/main" id="{46E5798E-0AA9-228A-320E-2161C9A4D92C}"/>
              </a:ext>
            </a:extLst>
          </p:cNvPr>
          <p:cNvSpPr>
            <a:spLocks noGrp="1"/>
          </p:cNvSpPr>
          <p:nvPr>
            <p:ph type="body" sz="quarter" idx="15"/>
          </p:nvPr>
        </p:nvSpPr>
        <p:spPr>
          <a:xfrm>
            <a:off x="1235075" y="2673319"/>
            <a:ext cx="8775098" cy="725424"/>
          </a:xfrm>
          <a:noFill/>
        </p:spPr>
        <p:txBody>
          <a:bodyPr/>
          <a:lstStyle/>
          <a:p>
            <a:r>
              <a:rPr lang="es-ES" sz="1400" b="0" i="0" strike="noStrike" cap="none" baseline="0">
                <a:solidFill>
                  <a:srgbClr val="000000"/>
                </a:solidFill>
                <a:effectLst/>
                <a:latin typeface="Segoe UI"/>
                <a:ea typeface="Segoe UI"/>
                <a:cs typeface="Segoe UI"/>
              </a:rPr>
              <a:t>De texto a imagen</a:t>
            </a:r>
          </a:p>
          <a:p>
            <a:r>
              <a:rPr lang="es-ES" sz="1400" b="0" i="0" strike="noStrike" cap="none" baseline="0">
                <a:solidFill>
                  <a:srgbClr val="000000"/>
                </a:solidFill>
                <a:effectLst/>
                <a:latin typeface="Segoe UI"/>
                <a:ea typeface="Segoe UI"/>
                <a:cs typeface="Segoe UI"/>
              </a:rPr>
              <a:t>De imagen a texto</a:t>
            </a:r>
          </a:p>
          <a:p>
            <a:r>
              <a:rPr lang="es-ES" sz="1400" b="0" i="0" strike="noStrike" cap="none" baseline="0">
                <a:solidFill>
                  <a:srgbClr val="000000"/>
                </a:solidFill>
                <a:effectLst/>
                <a:latin typeface="Segoe UI"/>
                <a:ea typeface="Segoe UI"/>
                <a:cs typeface="Segoe UI"/>
              </a:rPr>
              <a:t>Inserciones</a:t>
            </a:r>
          </a:p>
        </p:txBody>
      </p:sp>
      <p:sp>
        <p:nvSpPr>
          <p:cNvPr id="18" name="Text Placeholder 17">
            <a:extLst>
              <a:ext uri="{FF2B5EF4-FFF2-40B4-BE49-F238E27FC236}">
                <a16:creationId xmlns:a16="http://schemas.microsoft.com/office/drawing/2014/main" id="{489E215E-4A79-F742-3F45-4D8527F5561C}"/>
              </a:ext>
            </a:extLst>
          </p:cNvPr>
          <p:cNvSpPr>
            <a:spLocks noGrp="1"/>
          </p:cNvSpPr>
          <p:nvPr>
            <p:ph type="body" sz="quarter" idx="22"/>
          </p:nvPr>
        </p:nvSpPr>
        <p:spPr>
          <a:xfrm>
            <a:off x="1235075" y="4081535"/>
            <a:ext cx="8778782" cy="213360"/>
          </a:xfrm>
        </p:spPr>
        <p:txBody>
          <a:bodyPr/>
          <a:lstStyle/>
          <a:p>
            <a:r>
              <a:rPr lang="es-ES" sz="1400" b="1" i="0" strike="noStrike" cap="none" baseline="0">
                <a:solidFill>
                  <a:srgbClr val="000000"/>
                </a:solidFill>
                <a:effectLst/>
                <a:latin typeface="Segoe UI Semibold"/>
                <a:ea typeface="Segoe UI Semibold"/>
                <a:cs typeface="Segoe UI Semibold"/>
              </a:rPr>
              <a:t>¿Qué API de OpenAI puedes usar con modelos de generación de imágenes?</a:t>
            </a:r>
            <a:endParaRPr lang="en-US" noProof="0"/>
          </a:p>
        </p:txBody>
      </p:sp>
      <p:sp>
        <p:nvSpPr>
          <p:cNvPr id="19" name="Text Placeholder 18">
            <a:extLst>
              <a:ext uri="{FF2B5EF4-FFF2-40B4-BE49-F238E27FC236}">
                <a16:creationId xmlns:a16="http://schemas.microsoft.com/office/drawing/2014/main" id="{7585EBAE-8264-DA88-2574-A0F1C323047B}"/>
              </a:ext>
            </a:extLst>
          </p:cNvPr>
          <p:cNvSpPr>
            <a:spLocks noGrp="1"/>
          </p:cNvSpPr>
          <p:nvPr>
            <p:ph type="body" sz="quarter" idx="23"/>
          </p:nvPr>
        </p:nvSpPr>
        <p:spPr>
          <a:xfrm>
            <a:off x="1235074" y="4383273"/>
            <a:ext cx="8775098" cy="725424"/>
          </a:xfrm>
        </p:spPr>
        <p:txBody>
          <a:bodyPr/>
          <a:lstStyle/>
          <a:p>
            <a:r>
              <a:rPr lang="es-ES" sz="1400" b="0" i="0" strike="noStrike" cap="none" baseline="0">
                <a:solidFill>
                  <a:srgbClr val="000000"/>
                </a:solidFill>
                <a:effectLst/>
                <a:latin typeface="Segoe UI"/>
                <a:ea typeface="Segoe UI"/>
                <a:cs typeface="Segoe UI"/>
              </a:rPr>
              <a:t>Video</a:t>
            </a:r>
          </a:p>
          <a:p>
            <a:r>
              <a:rPr lang="es-ES" sz="1400" b="0" i="0" strike="noStrike" cap="none" baseline="0">
                <a:solidFill>
                  <a:srgbClr val="000000"/>
                </a:solidFill>
                <a:effectLst/>
                <a:latin typeface="Segoe UI"/>
                <a:ea typeface="Segoe UI"/>
                <a:cs typeface="Segoe UI"/>
              </a:rPr>
              <a:t>Imagen</a:t>
            </a:r>
          </a:p>
          <a:p>
            <a:r>
              <a:rPr lang="es-ES" sz="1400" b="0" i="0" strike="noStrike" cap="none" baseline="0">
                <a:solidFill>
                  <a:srgbClr val="000000"/>
                </a:solidFill>
                <a:effectLst/>
                <a:latin typeface="Segoe UI"/>
                <a:ea typeface="Segoe UI"/>
                <a:cs typeface="Segoe UI"/>
              </a:rPr>
              <a:t>Gráficos</a:t>
            </a:r>
          </a:p>
        </p:txBody>
      </p:sp>
      <p:sp>
        <p:nvSpPr>
          <p:cNvPr id="76" name="Oval 75">
            <a:extLst>
              <a:ext uri="{FF2B5EF4-FFF2-40B4-BE49-F238E27FC236}">
                <a16:creationId xmlns:a16="http://schemas.microsoft.com/office/drawing/2014/main" id="{A4CB02A0-68FF-FF0A-AB16-7560E2622365}"/>
              </a:ext>
              <a:ext uri="{C183D7F6-B498-43B3-948B-1728B52AA6E4}">
                <adec:decorative xmlns:adec="http://schemas.microsoft.com/office/drawing/2017/decorative" val="1"/>
              </a:ext>
            </a:extLst>
          </p:cNvPr>
          <p:cNvSpPr/>
          <p:nvPr/>
        </p:nvSpPr>
        <p:spPr bwMode="auto">
          <a:xfrm>
            <a:off x="722582" y="222533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E6CF5213-14A5-9A54-5AED-56C8A725CCF6}"/>
              </a:ext>
              <a:ext uri="{C183D7F6-B498-43B3-948B-1728B52AA6E4}">
                <adec:decorative xmlns:adec="http://schemas.microsoft.com/office/drawing/2017/decorative" val="1"/>
              </a:ext>
            </a:extLst>
          </p:cNvPr>
          <p:cNvSpPr/>
          <p:nvPr/>
        </p:nvSpPr>
        <p:spPr bwMode="auto">
          <a:xfrm>
            <a:off x="722582" y="408199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A6F2A190-CF0E-84ED-2DE8-271882285E48}"/>
              </a:ext>
              <a:ext uri="{C183D7F6-B498-43B3-948B-1728B52AA6E4}">
                <adec:decorative xmlns:adec="http://schemas.microsoft.com/office/drawing/2017/decorative" val="1"/>
              </a:ext>
            </a:extLst>
          </p:cNvPr>
          <p:cNvSpPr/>
          <p:nvPr/>
        </p:nvSpPr>
        <p:spPr>
          <a:xfrm>
            <a:off x="1263852" y="469194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CB1A4439-0A67-BE55-4B20-DE24F3DC30E7}"/>
              </a:ext>
              <a:ext uri="{C183D7F6-B498-43B3-948B-1728B52AA6E4}">
                <adec:decorative xmlns:adec="http://schemas.microsoft.com/office/drawing/2017/decorative" val="1"/>
              </a:ext>
            </a:extLst>
          </p:cNvPr>
          <p:cNvSpPr/>
          <p:nvPr/>
        </p:nvSpPr>
        <p:spPr>
          <a:xfrm>
            <a:off x="1263852" y="273021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9E209B65-35BA-BD4D-15A6-161C378E43A2}"/>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135307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665B-9064-6386-0BF5-81006DD52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A478E-B67A-456F-2C2D-FCCBB2CF9FC7}"/>
              </a:ext>
            </a:extLst>
          </p:cNvPr>
          <p:cNvSpPr>
            <a:spLocks noGrp="1"/>
          </p:cNvSpPr>
          <p:nvPr>
            <p:ph type="title"/>
          </p:nvPr>
        </p:nvSpPr>
        <p:spPr>
          <a:xfrm>
            <a:off x="569911" y="2902883"/>
            <a:ext cx="6984775" cy="1097280"/>
          </a:xfrm>
        </p:spPr>
        <p:txBody>
          <a:bodyPr/>
          <a:lstStyle/>
          <a:p>
            <a:r>
              <a:rPr lang="es-ES" sz="3600" b="0" i="0" strike="noStrike" cap="none" baseline="0">
                <a:solidFill>
                  <a:srgbClr val="000000"/>
                </a:solidFill>
                <a:effectLst/>
                <a:latin typeface="Segoe UI"/>
                <a:ea typeface="Segoe UI"/>
                <a:cs typeface="Segoe UI"/>
              </a:rPr>
              <a:t>Análisis de documentos con</a:t>
            </a:r>
            <a:br>
              <a:rPr sz="3600"/>
            </a:br>
            <a:r>
              <a:rPr lang="es-ES" sz="3600" b="0" i="0" strike="noStrike" cap="none" baseline="0">
                <a:solidFill>
                  <a:srgbClr val="000000"/>
                </a:solidFill>
                <a:effectLst/>
                <a:latin typeface="Segoe UI"/>
                <a:ea typeface="Segoe UI"/>
                <a:cs typeface="Segoe UI"/>
              </a:rPr>
              <a:t>Content Understanding</a:t>
            </a:r>
            <a:endParaRPr lang="en-US" sz="3600" noProof="0"/>
          </a:p>
        </p:txBody>
      </p:sp>
      <p:sp>
        <p:nvSpPr>
          <p:cNvPr id="4" name="TextBox 3">
            <a:extLst>
              <a:ext uri="{FF2B5EF4-FFF2-40B4-BE49-F238E27FC236}">
                <a16:creationId xmlns:a16="http://schemas.microsoft.com/office/drawing/2014/main" id="{C9B660BC-B018-4D15-98E4-AC6B45B0578A}"/>
              </a:ext>
            </a:extLst>
          </p:cNvPr>
          <p:cNvSpPr txBox="1"/>
          <p:nvPr/>
        </p:nvSpPr>
        <p:spPr>
          <a:xfrm>
            <a:off x="478471" y="4000163"/>
            <a:ext cx="5879298" cy="1170432"/>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https://aka.ms/mslearn-analyze-content-understanding</a:t>
            </a:r>
          </a:p>
          <a:p>
            <a:r>
              <a:rPr lang="es-ES" sz="1765" b="0" i="0" strike="noStrike" cap="none" baseline="0">
                <a:solidFill>
                  <a:srgbClr val="BF3AC4"/>
                </a:solidFill>
                <a:effectLst/>
                <a:latin typeface="Segoe UI"/>
                <a:ea typeface="Segoe UI"/>
                <a:cs typeface="Segoe UI"/>
              </a:rPr>
              <a:t>https://aka.ms/mslearn-ai-content-understanding-api</a:t>
            </a:r>
            <a:endParaRPr lang="en-US">
              <a:solidFill>
                <a:schemeClr val="accent2"/>
              </a:solidFill>
              <a:highlight>
                <a:srgbClr val="FFFF00"/>
              </a:highlight>
            </a:endParaRPr>
          </a:p>
        </p:txBody>
      </p:sp>
    </p:spTree>
    <p:extLst>
      <p:ext uri="{BB962C8B-B14F-4D97-AF65-F5344CB8AC3E}">
        <p14:creationId xmlns:p14="http://schemas.microsoft.com/office/powerpoint/2010/main" val="145983101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Análisis de documentos</a:t>
            </a:r>
          </a:p>
        </p:txBody>
      </p:sp>
      <p:sp>
        <p:nvSpPr>
          <p:cNvPr id="10" name="TextBox 9">
            <a:extLst>
              <a:ext uri="{FF2B5EF4-FFF2-40B4-BE49-F238E27FC236}">
                <a16:creationId xmlns:a16="http://schemas.microsoft.com/office/drawing/2014/main" id="{9801FE67-9B0C-F188-1FFE-85F12BED7C77}"/>
              </a:ext>
            </a:extLst>
          </p:cNvPr>
          <p:cNvSpPr txBox="1"/>
          <p:nvPr/>
        </p:nvSpPr>
        <p:spPr>
          <a:xfrm>
            <a:off x="449580" y="1902348"/>
            <a:ext cx="4675185" cy="2031325"/>
          </a:xfrm>
          <a:prstGeom prst="rect">
            <a:avLst/>
          </a:prstGeom>
          <a:noFill/>
        </p:spPr>
        <p:txBody>
          <a:bodyPr wrap="square">
            <a:spAutoFit/>
          </a:bodyPr>
          <a:lstStyle/>
          <a:p>
            <a:r>
              <a:rPr lang="es-ES" sz="1800" b="0" i="0" strike="noStrike" cap="none" baseline="0" dirty="0">
                <a:solidFill>
                  <a:srgbClr val="171717"/>
                </a:solidFill>
                <a:effectLst/>
                <a:latin typeface="Segoe UI"/>
                <a:ea typeface="Segoe UI"/>
                <a:cs typeface="Segoe UI"/>
              </a:rPr>
              <a:t>Uso de la comprensión de contenidos</a:t>
            </a:r>
            <a:br>
              <a:rPr lang="es-ES" sz="1800" b="0" i="0" strike="noStrike" cap="none" baseline="0" dirty="0">
                <a:solidFill>
                  <a:srgbClr val="171717"/>
                </a:solidFill>
                <a:effectLst/>
                <a:latin typeface="Segoe UI"/>
                <a:ea typeface="Segoe UI"/>
                <a:cs typeface="Segoe UI"/>
              </a:rPr>
            </a:br>
            <a:r>
              <a:rPr lang="es-ES" sz="1800" b="0" i="0" strike="noStrike" cap="none" baseline="0" dirty="0">
                <a:solidFill>
                  <a:srgbClr val="171717"/>
                </a:solidFill>
                <a:effectLst/>
                <a:latin typeface="Segoe UI"/>
                <a:ea typeface="Segoe UI"/>
                <a:cs typeface="Segoe UI"/>
              </a:rPr>
              <a:t>para analizar documentos y formularios</a:t>
            </a:r>
            <a:br>
              <a:rPr lang="es-ES" sz="1800" b="0" i="0" strike="noStrike" cap="none" baseline="0" dirty="0">
                <a:solidFill>
                  <a:srgbClr val="171717"/>
                </a:solidFill>
                <a:effectLst/>
                <a:latin typeface="Segoe UI"/>
                <a:ea typeface="Segoe UI"/>
                <a:cs typeface="Segoe UI"/>
              </a:rPr>
            </a:br>
            <a:r>
              <a:rPr lang="es-ES" sz="1800" b="0" i="0" strike="noStrike" cap="none" baseline="0" dirty="0">
                <a:solidFill>
                  <a:srgbClr val="171717"/>
                </a:solidFill>
                <a:effectLst/>
                <a:latin typeface="Segoe UI"/>
                <a:ea typeface="Segoe UI"/>
                <a:cs typeface="Segoe UI"/>
              </a:rPr>
              <a:t>y recuperar valores de campo específicos</a:t>
            </a:r>
            <a:endParaRPr lang="en-US" sz="1800" dirty="0">
              <a:solidFill>
                <a:srgbClr val="171717"/>
              </a:solidFill>
              <a:latin typeface="Segoe UI" panose="020B0502040204020203" pitchFamily="34" charset="0"/>
            </a:endParaRPr>
          </a:p>
          <a:p>
            <a:endParaRPr lang="en-US" sz="1800" b="0" i="0" dirty="0">
              <a:solidFill>
                <a:srgbClr val="171717"/>
              </a:solidFill>
              <a:effectLst/>
              <a:latin typeface="Segoe UI" panose="020B0502040204020203" pitchFamily="34" charset="0"/>
            </a:endParaRPr>
          </a:p>
          <a:p>
            <a:r>
              <a:rPr lang="es-ES" sz="1800" b="0" i="0" strike="noStrike" cap="none" baseline="0" dirty="0">
                <a:solidFill>
                  <a:srgbClr val="171717"/>
                </a:solidFill>
                <a:effectLst/>
                <a:latin typeface="Segoe UI"/>
                <a:ea typeface="Segoe UI"/>
                <a:cs typeface="Segoe UI"/>
              </a:rPr>
              <a:t>Por ejemplo, extracción de valores de datos clave de una factura para automatizar el procesamiento de pagos</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pic>
        <p:nvPicPr>
          <p:cNvPr id="6" name="Picture 5" descr="Screenshot of a software interface displaying a document analysis tool with a sample invoice. The interface highlights extracted fields such as InvoiceNumber, InvoiceDate, DueDate, and InvoiceAmount with color-coded labels and confidence scores, showing structured data extraction and validation results.">
            <a:extLst>
              <a:ext uri="{FF2B5EF4-FFF2-40B4-BE49-F238E27FC236}">
                <a16:creationId xmlns:a16="http://schemas.microsoft.com/office/drawing/2014/main" id="{ADE4A065-D2EE-9338-5E00-B4DB59B2897A}"/>
              </a:ext>
            </a:extLst>
          </p:cNvPr>
          <p:cNvPicPr>
            <a:picLocks noChangeAspect="1"/>
          </p:cNvPicPr>
          <p:nvPr/>
        </p:nvPicPr>
        <p:blipFill>
          <a:blip r:embed="rId3"/>
          <a:stretch>
            <a:fillRect/>
          </a:stretch>
        </p:blipFill>
        <p:spPr>
          <a:xfrm>
            <a:off x="5124765" y="1401534"/>
            <a:ext cx="6720782" cy="4054931"/>
          </a:xfrm>
          <a:prstGeom prst="rect">
            <a:avLst/>
          </a:prstGeom>
        </p:spPr>
      </p:pic>
    </p:spTree>
    <p:extLst>
      <p:ext uri="{BB962C8B-B14F-4D97-AF65-F5344CB8AC3E}">
        <p14:creationId xmlns:p14="http://schemas.microsoft.com/office/powerpoint/2010/main" val="349208928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Análisis de audio</a:t>
            </a:r>
          </a:p>
        </p:txBody>
      </p:sp>
      <p:sp>
        <p:nvSpPr>
          <p:cNvPr id="3" name="TextBox 2">
            <a:extLst>
              <a:ext uri="{FF2B5EF4-FFF2-40B4-BE49-F238E27FC236}">
                <a16:creationId xmlns:a16="http://schemas.microsoft.com/office/drawing/2014/main" id="{C0EB7954-7B5D-47FA-2D93-71F947275603}"/>
              </a:ext>
            </a:extLst>
          </p:cNvPr>
          <p:cNvSpPr txBox="1"/>
          <p:nvPr/>
        </p:nvSpPr>
        <p:spPr>
          <a:xfrm>
            <a:off x="449580" y="1902348"/>
            <a:ext cx="4485277" cy="2438400"/>
          </a:xfrm>
          <a:prstGeom prst="rect">
            <a:avLst/>
          </a:prstGeom>
          <a:noFill/>
        </p:spPr>
        <p:txBody>
          <a:bodyPr wrap="square">
            <a:spAutoFit/>
          </a:bodyPr>
          <a:lstStyle/>
          <a:p>
            <a:pPr>
              <a:spcAft>
                <a:spcPts val="1200"/>
              </a:spcAft>
            </a:pPr>
            <a:r>
              <a:rPr lang="es-ES" sz="1800" b="0" i="0" strike="noStrike" cap="none" baseline="0">
                <a:solidFill>
                  <a:srgbClr val="171717"/>
                </a:solidFill>
                <a:effectLst/>
                <a:latin typeface="Segoe UI"/>
                <a:ea typeface="Segoe UI"/>
                <a:cs typeface="Segoe UI"/>
              </a:rPr>
              <a:t>Análisis de audio para: </a:t>
            </a:r>
          </a:p>
          <a:p>
            <a:pPr marL="285750" indent="-285750">
              <a:buFont typeface="Arial" panose="020B0604020202020204" pitchFamily="34" charset="0"/>
              <a:buChar char="•"/>
            </a:pPr>
            <a:r>
              <a:rPr lang="es-ES" sz="1800" b="0" i="0" strike="noStrike" cap="none" baseline="0">
                <a:solidFill>
                  <a:srgbClr val="171717"/>
                </a:solidFill>
                <a:effectLst/>
                <a:latin typeface="Segoe UI"/>
                <a:ea typeface="Segoe UI"/>
                <a:cs typeface="Segoe UI"/>
              </a:rPr>
              <a:t>Resumir llamadas de conferencia</a:t>
            </a:r>
          </a:p>
          <a:p>
            <a:pPr marL="285750" indent="-285750">
              <a:buFont typeface="Arial" panose="020B0604020202020204" pitchFamily="34" charset="0"/>
              <a:buChar char="•"/>
            </a:pPr>
            <a:r>
              <a:rPr lang="es-ES" sz="1800" b="0" i="0" strike="noStrike" cap="none" baseline="0">
                <a:solidFill>
                  <a:srgbClr val="171717"/>
                </a:solidFill>
                <a:effectLst/>
                <a:latin typeface="Segoe UI"/>
                <a:ea typeface="Segoe UI"/>
                <a:cs typeface="Segoe UI"/>
              </a:rPr>
              <a:t>Determinar la opinión de las conversaciones de clientes grabadas</a:t>
            </a:r>
          </a:p>
          <a:p>
            <a:pPr marL="285750" indent="-285750">
              <a:buFont typeface="Arial" panose="020B0604020202020204" pitchFamily="34" charset="0"/>
              <a:buChar char="•"/>
            </a:pPr>
            <a:r>
              <a:rPr lang="es-ES" sz="1800" b="0" i="0" strike="noStrike" cap="none" baseline="0">
                <a:solidFill>
                  <a:srgbClr val="171717"/>
                </a:solidFill>
                <a:effectLst/>
                <a:latin typeface="Segoe UI"/>
                <a:ea typeface="Segoe UI"/>
                <a:cs typeface="Segoe UI"/>
              </a:rPr>
              <a:t>Extraer datos clave de mensajes telefónicos</a:t>
            </a:r>
          </a:p>
          <a:p>
            <a:pPr marL="285750" indent="-285750">
              <a:buFont typeface="Arial" panose="020B0604020202020204" pitchFamily="34" charset="0"/>
              <a:buChar char="•"/>
            </a:pPr>
            <a:r>
              <a:rPr lang="en-US" sz="1800">
                <a:solidFill>
                  <a:srgbClr val="171717"/>
                </a:solidFill>
                <a:latin typeface="Segoe UI" panose="020B0502040204020203" pitchFamily="34" charset="0"/>
              </a:rPr>
              <a:t>…</a:t>
            </a:r>
            <a:endParaRPr lang="en-US" sz="180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pic>
        <p:nvPicPr>
          <p:cNvPr id="7" name="Picture 6" descr="Screenshot of an audio file being analyzed by Content Understanding.">
            <a:extLst>
              <a:ext uri="{FF2B5EF4-FFF2-40B4-BE49-F238E27FC236}">
                <a16:creationId xmlns:a16="http://schemas.microsoft.com/office/drawing/2014/main" id="{5B9A949E-F40B-9F2D-154E-C1E1CA6653B9}"/>
              </a:ext>
            </a:extLst>
          </p:cNvPr>
          <p:cNvPicPr>
            <a:picLocks noChangeAspect="1"/>
          </p:cNvPicPr>
          <p:nvPr/>
        </p:nvPicPr>
        <p:blipFill>
          <a:blip r:embed="rId3"/>
          <a:stretch>
            <a:fillRect/>
          </a:stretch>
        </p:blipFill>
        <p:spPr>
          <a:xfrm>
            <a:off x="5078295" y="1369477"/>
            <a:ext cx="6765725" cy="4119045"/>
          </a:xfrm>
          <a:prstGeom prst="rect">
            <a:avLst/>
          </a:prstGeom>
        </p:spPr>
      </p:pic>
    </p:spTree>
    <p:extLst>
      <p:ext uri="{BB962C8B-B14F-4D97-AF65-F5344CB8AC3E}">
        <p14:creationId xmlns:p14="http://schemas.microsoft.com/office/powerpoint/2010/main" val="257405660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Análisis de vídeo</a:t>
            </a:r>
          </a:p>
        </p:txBody>
      </p:sp>
      <p:sp>
        <p:nvSpPr>
          <p:cNvPr id="3" name="TextBox 2">
            <a:extLst>
              <a:ext uri="{FF2B5EF4-FFF2-40B4-BE49-F238E27FC236}">
                <a16:creationId xmlns:a16="http://schemas.microsoft.com/office/drawing/2014/main" id="{AC8BBFAD-B867-E19A-597C-DD07F911E6CA}"/>
              </a:ext>
            </a:extLst>
          </p:cNvPr>
          <p:cNvSpPr txBox="1"/>
          <p:nvPr/>
        </p:nvSpPr>
        <p:spPr>
          <a:xfrm>
            <a:off x="449580" y="1902348"/>
            <a:ext cx="4151312" cy="2462213"/>
          </a:xfrm>
          <a:prstGeom prst="rect">
            <a:avLst/>
          </a:prstGeom>
          <a:noFill/>
        </p:spPr>
        <p:txBody>
          <a:bodyPr wrap="square">
            <a:spAutoFit/>
          </a:bodyPr>
          <a:lstStyle/>
          <a:p>
            <a:pPr>
              <a:spcAft>
                <a:spcPts val="1200"/>
              </a:spcAft>
            </a:pPr>
            <a:r>
              <a:rPr lang="es-ES" sz="1800" b="0" i="0" strike="noStrike" cap="none" baseline="0" dirty="0">
                <a:solidFill>
                  <a:srgbClr val="171717"/>
                </a:solidFill>
                <a:effectLst/>
                <a:latin typeface="Segoe UI"/>
                <a:ea typeface="Segoe UI"/>
                <a:cs typeface="Segoe UI"/>
              </a:rPr>
              <a:t>Análisis de vídeo para:</a:t>
            </a:r>
          </a:p>
          <a:p>
            <a:pPr marL="285750" indent="-285750">
              <a:buFont typeface="Arial" panose="020B0604020202020204" pitchFamily="34" charset="0"/>
              <a:buChar char="•"/>
            </a:pPr>
            <a:r>
              <a:rPr lang="es-ES" sz="1800" b="0" i="0" strike="noStrike" cap="none" baseline="0" dirty="0">
                <a:solidFill>
                  <a:srgbClr val="171717"/>
                </a:solidFill>
                <a:effectLst/>
                <a:latin typeface="Segoe UI"/>
                <a:ea typeface="Segoe UI"/>
                <a:cs typeface="Segoe UI"/>
              </a:rPr>
              <a:t>Extraer puntos clave de las grabaciones de videoconferencias</a:t>
            </a:r>
          </a:p>
          <a:p>
            <a:pPr marL="285750" indent="-285750">
              <a:buFont typeface="Arial" panose="020B0604020202020204" pitchFamily="34" charset="0"/>
              <a:buChar char="•"/>
            </a:pPr>
            <a:r>
              <a:rPr lang="es-ES" sz="1800" b="0" i="0" strike="noStrike" cap="none" baseline="0" dirty="0">
                <a:solidFill>
                  <a:srgbClr val="171717"/>
                </a:solidFill>
                <a:effectLst/>
                <a:latin typeface="Segoe UI"/>
                <a:ea typeface="Segoe UI"/>
                <a:cs typeface="Segoe UI"/>
              </a:rPr>
              <a:t>Resumir presentaciones</a:t>
            </a:r>
          </a:p>
          <a:p>
            <a:pPr marL="285750" indent="-285750">
              <a:buFont typeface="Arial" panose="020B0604020202020204" pitchFamily="34" charset="0"/>
              <a:buChar char="•"/>
            </a:pPr>
            <a:r>
              <a:rPr lang="es-ES" sz="1800" b="0" i="0" strike="noStrike" cap="none" baseline="0" dirty="0">
                <a:solidFill>
                  <a:srgbClr val="171717"/>
                </a:solidFill>
                <a:effectLst/>
                <a:latin typeface="Segoe UI"/>
                <a:ea typeface="Segoe UI"/>
                <a:cs typeface="Segoe UI"/>
              </a:rPr>
              <a:t>Detectar la presencia de actividad específica en las imágenes</a:t>
            </a:r>
            <a:br>
              <a:rPr lang="es-ES" sz="1800" b="0" i="0" strike="noStrike" cap="none" baseline="0" dirty="0">
                <a:solidFill>
                  <a:srgbClr val="171717"/>
                </a:solidFill>
                <a:effectLst/>
                <a:latin typeface="Segoe UI"/>
                <a:ea typeface="Segoe UI"/>
                <a:cs typeface="Segoe UI"/>
              </a:rPr>
            </a:br>
            <a:r>
              <a:rPr lang="es-ES" sz="1800" b="0" i="0" strike="noStrike" cap="none" baseline="0" dirty="0">
                <a:solidFill>
                  <a:srgbClr val="171717"/>
                </a:solidFill>
                <a:effectLst/>
                <a:latin typeface="Segoe UI"/>
                <a:ea typeface="Segoe UI"/>
                <a:cs typeface="Segoe UI"/>
              </a:rPr>
              <a:t>de seguridad</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pic>
        <p:nvPicPr>
          <p:cNvPr id="5" name="Picture 4" descr="Screenshot of an video file being analyzed by Content Understanding.">
            <a:extLst>
              <a:ext uri="{FF2B5EF4-FFF2-40B4-BE49-F238E27FC236}">
                <a16:creationId xmlns:a16="http://schemas.microsoft.com/office/drawing/2014/main" id="{27E66905-94E4-E518-6CB0-A06122C07AD6}"/>
              </a:ext>
            </a:extLst>
          </p:cNvPr>
          <p:cNvPicPr>
            <a:picLocks noChangeAspect="1"/>
          </p:cNvPicPr>
          <p:nvPr/>
        </p:nvPicPr>
        <p:blipFill>
          <a:blip r:embed="rId3"/>
          <a:stretch>
            <a:fillRect/>
          </a:stretch>
        </p:blipFill>
        <p:spPr>
          <a:xfrm>
            <a:off x="4974990" y="1369477"/>
            <a:ext cx="6767430" cy="4119045"/>
          </a:xfrm>
          <a:prstGeom prst="rect">
            <a:avLst/>
          </a:prstGeom>
        </p:spPr>
      </p:pic>
    </p:spTree>
    <p:extLst>
      <p:ext uri="{BB962C8B-B14F-4D97-AF65-F5344CB8AC3E}">
        <p14:creationId xmlns:p14="http://schemas.microsoft.com/office/powerpoint/2010/main" val="91356169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Crear un analizador</a:t>
            </a:r>
          </a:p>
        </p:txBody>
      </p:sp>
      <p:sp>
        <p:nvSpPr>
          <p:cNvPr id="47" name="TextBox 46">
            <a:extLst>
              <a:ext uri="{FF2B5EF4-FFF2-40B4-BE49-F238E27FC236}">
                <a16:creationId xmlns:a16="http://schemas.microsoft.com/office/drawing/2014/main" id="{5701AC1B-CD99-87D0-F2D8-BF0FC7EDD400}"/>
              </a:ext>
            </a:extLst>
          </p:cNvPr>
          <p:cNvSpPr txBox="1"/>
          <p:nvPr/>
        </p:nvSpPr>
        <p:spPr>
          <a:xfrm>
            <a:off x="729683" y="2250360"/>
            <a:ext cx="5511545" cy="2769989"/>
          </a:xfrm>
          <a:prstGeom prst="rect">
            <a:avLst/>
          </a:prstGeom>
          <a:noFill/>
        </p:spPr>
        <p:txBody>
          <a:bodyPr wrap="square" lIns="0" tIns="0" rIns="0" bIns="0" rtlCol="0">
            <a:spAutoFit/>
          </a:bodyPr>
          <a:lstStyle/>
          <a:p>
            <a:pPr marL="342900" indent="-342900">
              <a:buClr>
                <a:schemeClr val="tx1"/>
              </a:buClr>
              <a:buFont typeface="+mj-lt"/>
              <a:buAutoNum type="arabicPeriod"/>
            </a:pPr>
            <a:r>
              <a:rPr lang="es-ES" sz="1800" b="0" i="0" strike="noStrike" cap="none" baseline="0" dirty="0">
                <a:solidFill>
                  <a:srgbClr val="000000"/>
                </a:solidFill>
                <a:effectLst/>
                <a:latin typeface="Segoe UI"/>
                <a:ea typeface="Segoe UI"/>
                <a:cs typeface="Segoe UI"/>
              </a:rPr>
              <a:t>Creación de un proyecto de Microsoft </a:t>
            </a:r>
            <a:r>
              <a:rPr lang="es-ES" sz="1800" b="0" i="0" strike="noStrike" cap="none" baseline="0" dirty="0" err="1">
                <a:solidFill>
                  <a:srgbClr val="000000"/>
                </a:solidFill>
                <a:effectLst/>
                <a:latin typeface="Segoe UI"/>
                <a:ea typeface="Segoe UI"/>
                <a:cs typeface="Segoe UI"/>
              </a:rPr>
              <a:t>Foundry</a:t>
            </a:r>
            <a:endParaRPr lang="es-ES" sz="1800" b="0" i="0" strike="noStrike" cap="none" baseline="0" dirty="0">
              <a:solidFill>
                <a:srgbClr val="000000"/>
              </a:solidFill>
              <a:effectLst/>
              <a:latin typeface="Segoe UI"/>
              <a:ea typeface="Segoe UI"/>
              <a:cs typeface="Segoe UI"/>
            </a:endParaRPr>
          </a:p>
          <a:p>
            <a:pPr marL="342900" indent="-342900">
              <a:buClr>
                <a:schemeClr val="tx1"/>
              </a:buClr>
              <a:buFont typeface="+mj-lt"/>
              <a:buAutoNum type="arabicPeriod"/>
            </a:pPr>
            <a:r>
              <a:rPr lang="es-ES" sz="1800" b="0" i="0" strike="noStrike" cap="none" baseline="0" dirty="0">
                <a:solidFill>
                  <a:srgbClr val="000000"/>
                </a:solidFill>
                <a:effectLst/>
                <a:latin typeface="Segoe UI"/>
                <a:ea typeface="Segoe UI"/>
                <a:cs typeface="Segoe UI"/>
              </a:rPr>
              <a:t>Definir un esquema de comprensión de contenidos para la información que se va a extraer</a:t>
            </a:r>
          </a:p>
          <a:p>
            <a:pPr marL="798512" lvl="1" indent="-342900">
              <a:buClr>
                <a:schemeClr val="tx1"/>
              </a:buClr>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Esto se puede basar en un ejemplo de contenido y en una plantilla del analizador</a:t>
            </a:r>
          </a:p>
          <a:p>
            <a:pPr marL="342900" indent="-342900">
              <a:buClr>
                <a:schemeClr val="tx1"/>
              </a:buClr>
              <a:buFont typeface="+mj-lt"/>
              <a:buAutoNum type="arabicPeriod"/>
            </a:pPr>
            <a:r>
              <a:rPr lang="es-ES" sz="1800" b="0" i="0" strike="noStrike" cap="none" baseline="0" dirty="0">
                <a:solidFill>
                  <a:srgbClr val="000000"/>
                </a:solidFill>
                <a:effectLst/>
                <a:latin typeface="Segoe UI"/>
                <a:ea typeface="Segoe UI"/>
                <a:cs typeface="Segoe UI"/>
              </a:rPr>
              <a:t>Compilar un analizador basado en el esquema completado</a:t>
            </a:r>
          </a:p>
          <a:p>
            <a:pPr marL="342900" indent="-342900">
              <a:buClr>
                <a:schemeClr val="tx1"/>
              </a:buClr>
              <a:buFont typeface="+mj-lt"/>
              <a:buAutoNum type="arabicPeriod"/>
            </a:pPr>
            <a:r>
              <a:rPr lang="es-ES" sz="1800" b="0" i="0" strike="noStrike" cap="none" baseline="0" dirty="0">
                <a:solidFill>
                  <a:srgbClr val="000000"/>
                </a:solidFill>
                <a:effectLst/>
                <a:latin typeface="Segoe UI"/>
                <a:ea typeface="Segoe UI"/>
                <a:cs typeface="Segoe UI"/>
              </a:rPr>
              <a:t>Usar el analizador para extraer o generar campos</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a partir de contenido nuevo</a:t>
            </a:r>
          </a:p>
          <a:p>
            <a:pPr marL="457200" indent="-457200" algn="l">
              <a:buFont typeface="+mj-lt"/>
              <a:buAutoNum type="arabicPeriod"/>
            </a:pPr>
            <a:endParaRPr lang="en-US" sz="1800" dirty="0">
              <a:solidFill>
                <a:sysClr val="windowText" lastClr="000000"/>
              </a:solidFill>
            </a:endParaRPr>
          </a:p>
        </p:txBody>
      </p:sp>
      <p:grpSp>
        <p:nvGrpSpPr>
          <p:cNvPr id="26" name="Group 25" descr="Diagram showing logical flow of creating an analyzer in Foundry.">
            <a:extLst>
              <a:ext uri="{FF2B5EF4-FFF2-40B4-BE49-F238E27FC236}">
                <a16:creationId xmlns:a16="http://schemas.microsoft.com/office/drawing/2014/main" id="{3232CC31-49FD-F19B-D3F2-CC4228414F8C}"/>
              </a:ext>
            </a:extLst>
          </p:cNvPr>
          <p:cNvGrpSpPr/>
          <p:nvPr/>
        </p:nvGrpSpPr>
        <p:grpSpPr>
          <a:xfrm>
            <a:off x="6374541" y="1457997"/>
            <a:ext cx="4842502" cy="4570520"/>
            <a:chOff x="6131482" y="1183499"/>
            <a:chExt cx="4256927" cy="3717399"/>
          </a:xfrm>
        </p:grpSpPr>
        <p:sp>
          <p:nvSpPr>
            <p:cNvPr id="28" name="Rectangle 27">
              <a:extLst>
                <a:ext uri="{FF2B5EF4-FFF2-40B4-BE49-F238E27FC236}">
                  <a16:creationId xmlns:a16="http://schemas.microsoft.com/office/drawing/2014/main" id="{120323A0-55D0-B52C-6B2D-8C5109040DAD}"/>
                </a:ext>
              </a:extLst>
            </p:cNvPr>
            <p:cNvSpPr/>
            <p:nvPr/>
          </p:nvSpPr>
          <p:spPr>
            <a:xfrm>
              <a:off x="6696433" y="1656920"/>
              <a:ext cx="3691976" cy="1645946"/>
            </a:xfrm>
            <a:prstGeom prst="rect">
              <a:avLst/>
            </a:prstGeom>
            <a:solidFill>
              <a:sysClr val="window" lastClr="FFFFFF"/>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9" name="Graphic 28">
              <a:extLst>
                <a:ext uri="{FF2B5EF4-FFF2-40B4-BE49-F238E27FC236}">
                  <a16:creationId xmlns:a16="http://schemas.microsoft.com/office/drawing/2014/main" id="{7E3EAB43-AF4B-2002-9C84-35E2A7748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1070" y="1183499"/>
              <a:ext cx="946842" cy="946842"/>
            </a:xfrm>
            <a:prstGeom prst="rect">
              <a:avLst/>
            </a:prstGeom>
          </p:spPr>
        </p:pic>
        <p:pic>
          <p:nvPicPr>
            <p:cNvPr id="30" name="Graphic 29" descr="Document outline">
              <a:extLst>
                <a:ext uri="{FF2B5EF4-FFF2-40B4-BE49-F238E27FC236}">
                  <a16:creationId xmlns:a16="http://schemas.microsoft.com/office/drawing/2014/main" id="{66C7CE3A-5017-9FC0-757C-4C09BEE961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7912" y="1954825"/>
              <a:ext cx="669180" cy="669180"/>
            </a:xfrm>
            <a:prstGeom prst="rect">
              <a:avLst/>
            </a:prstGeom>
          </p:spPr>
        </p:pic>
        <p:pic>
          <p:nvPicPr>
            <p:cNvPr id="31" name="Graphic 30" descr="List outline">
              <a:extLst>
                <a:ext uri="{FF2B5EF4-FFF2-40B4-BE49-F238E27FC236}">
                  <a16:creationId xmlns:a16="http://schemas.microsoft.com/office/drawing/2014/main" id="{8B413C31-AEBD-2BBC-32E3-80F5E2D5EE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10564" y="1974137"/>
              <a:ext cx="672828" cy="672828"/>
            </a:xfrm>
            <a:prstGeom prst="rect">
              <a:avLst/>
            </a:prstGeom>
          </p:spPr>
        </p:pic>
        <p:sp>
          <p:nvSpPr>
            <p:cNvPr id="32" name="Arrow: Right 31">
              <a:extLst>
                <a:ext uri="{FF2B5EF4-FFF2-40B4-BE49-F238E27FC236}">
                  <a16:creationId xmlns:a16="http://schemas.microsoft.com/office/drawing/2014/main" id="{2614EA11-D3FF-4D17-AC1E-1C1090C322D4}"/>
                </a:ext>
              </a:extLst>
            </p:cNvPr>
            <p:cNvSpPr/>
            <p:nvPr/>
          </p:nvSpPr>
          <p:spPr>
            <a:xfrm>
              <a:off x="7927092" y="2055845"/>
              <a:ext cx="1251284" cy="458743"/>
            </a:xfrm>
            <a:prstGeom prst="rightArrow">
              <a:avLst/>
            </a:prstGeom>
            <a:solidFill>
              <a:sysClr val="window" lastClr="FFFFFF">
                <a:lumMod val="95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33" name="Graphic 32">
              <a:extLst>
                <a:ext uri="{FF2B5EF4-FFF2-40B4-BE49-F238E27FC236}">
                  <a16:creationId xmlns:a16="http://schemas.microsoft.com/office/drawing/2014/main" id="{BE5842E7-8EBC-8214-8761-C7194F215F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4620" y="1879919"/>
              <a:ext cx="881851" cy="881851"/>
            </a:xfrm>
            <a:prstGeom prst="rect">
              <a:avLst/>
            </a:prstGeom>
          </p:spPr>
        </p:pic>
        <p:pic>
          <p:nvPicPr>
            <p:cNvPr id="34" name="Graphic 33" descr="Browser window outline">
              <a:extLst>
                <a:ext uri="{FF2B5EF4-FFF2-40B4-BE49-F238E27FC236}">
                  <a16:creationId xmlns:a16="http://schemas.microsoft.com/office/drawing/2014/main" id="{5B37B8D3-B33A-ED9F-C701-3AEFC48D6FC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58262" y="3830866"/>
              <a:ext cx="1070032" cy="1070032"/>
            </a:xfrm>
            <a:prstGeom prst="rect">
              <a:avLst/>
            </a:prstGeom>
          </p:spPr>
        </p:pic>
        <p:pic>
          <p:nvPicPr>
            <p:cNvPr id="35" name="Graphic 34" descr="Document outline">
              <a:extLst>
                <a:ext uri="{FF2B5EF4-FFF2-40B4-BE49-F238E27FC236}">
                  <a16:creationId xmlns:a16="http://schemas.microsoft.com/office/drawing/2014/main" id="{29DA9E53-A30A-2975-B132-B3B1077DA0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7455" y="4225966"/>
              <a:ext cx="419573" cy="419573"/>
            </a:xfrm>
            <a:prstGeom prst="rect">
              <a:avLst/>
            </a:prstGeom>
          </p:spPr>
        </p:pic>
        <p:pic>
          <p:nvPicPr>
            <p:cNvPr id="36" name="Graphic 35" descr="List outline">
              <a:extLst>
                <a:ext uri="{FF2B5EF4-FFF2-40B4-BE49-F238E27FC236}">
                  <a16:creationId xmlns:a16="http://schemas.microsoft.com/office/drawing/2014/main" id="{B238B5A3-20E7-C30E-4DEE-486E2E25D6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32003" y="4224564"/>
              <a:ext cx="421860" cy="421860"/>
            </a:xfrm>
            <a:prstGeom prst="rect">
              <a:avLst/>
            </a:prstGeom>
          </p:spPr>
        </p:pic>
        <p:cxnSp>
          <p:nvCxnSpPr>
            <p:cNvPr id="37" name="Straight Arrow Connector 36">
              <a:extLst>
                <a:ext uri="{FF2B5EF4-FFF2-40B4-BE49-F238E27FC236}">
                  <a16:creationId xmlns:a16="http://schemas.microsoft.com/office/drawing/2014/main" id="{E88C3084-50CA-C56C-698B-DE038DB373BE}"/>
                </a:ext>
              </a:extLst>
            </p:cNvPr>
            <p:cNvCxnSpPr/>
            <p:nvPr/>
          </p:nvCxnSpPr>
          <p:spPr>
            <a:xfrm flipH="1" flipV="1">
              <a:off x="8412331" y="3400908"/>
              <a:ext cx="0" cy="823656"/>
            </a:xfrm>
            <a:prstGeom prst="straightConnector1">
              <a:avLst/>
            </a:prstGeom>
            <a:noFill/>
            <a:ln w="38100" cap="flat" cmpd="sng" algn="ctr">
              <a:solidFill>
                <a:srgbClr val="A02B93"/>
              </a:solidFill>
              <a:prstDash val="solid"/>
              <a:miter lim="800000"/>
              <a:tailEnd type="triangle"/>
            </a:ln>
            <a:effectLst/>
          </p:spPr>
        </p:cxnSp>
        <p:cxnSp>
          <p:nvCxnSpPr>
            <p:cNvPr id="38" name="Straight Arrow Connector 37">
              <a:extLst>
                <a:ext uri="{FF2B5EF4-FFF2-40B4-BE49-F238E27FC236}">
                  <a16:creationId xmlns:a16="http://schemas.microsoft.com/office/drawing/2014/main" id="{462B75A4-92D8-124F-3DA0-732D83DE0EFE}"/>
                </a:ext>
              </a:extLst>
            </p:cNvPr>
            <p:cNvCxnSpPr/>
            <p:nvPr/>
          </p:nvCxnSpPr>
          <p:spPr>
            <a:xfrm flipH="1">
              <a:off x="8709110" y="3433588"/>
              <a:ext cx="0" cy="842779"/>
            </a:xfrm>
            <a:prstGeom prst="straightConnector1">
              <a:avLst/>
            </a:prstGeom>
            <a:noFill/>
            <a:ln w="38100" cap="flat" cmpd="sng" algn="ctr">
              <a:solidFill>
                <a:srgbClr val="A02B93"/>
              </a:solidFill>
              <a:prstDash val="solid"/>
              <a:miter lim="800000"/>
              <a:tailEnd type="triangle"/>
            </a:ln>
            <a:effectLst/>
          </p:spPr>
        </p:cxnSp>
        <p:pic>
          <p:nvPicPr>
            <p:cNvPr id="39" name="Graphic 38" descr="Badge with solid fill">
              <a:extLst>
                <a:ext uri="{FF2B5EF4-FFF2-40B4-BE49-F238E27FC236}">
                  <a16:creationId xmlns:a16="http://schemas.microsoft.com/office/drawing/2014/main" id="{D926656B-DA05-BCD2-8CD8-569788CAA8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47505" y="1708991"/>
              <a:ext cx="372269" cy="372269"/>
            </a:xfrm>
            <a:prstGeom prst="rect">
              <a:avLst/>
            </a:prstGeom>
          </p:spPr>
        </p:pic>
        <p:pic>
          <p:nvPicPr>
            <p:cNvPr id="40" name="Graphic 39" descr="Badge 3 with solid fill">
              <a:extLst>
                <a:ext uri="{FF2B5EF4-FFF2-40B4-BE49-F238E27FC236}">
                  <a16:creationId xmlns:a16="http://schemas.microsoft.com/office/drawing/2014/main" id="{736E5E39-0519-7D32-D412-C77C8B0C72F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19661" y="2827225"/>
              <a:ext cx="372269" cy="372269"/>
            </a:xfrm>
            <a:prstGeom prst="rect">
              <a:avLst/>
            </a:prstGeom>
          </p:spPr>
        </p:pic>
        <p:pic>
          <p:nvPicPr>
            <p:cNvPr id="41" name="Graphic 40" descr="Badge 1 with solid fill">
              <a:extLst>
                <a:ext uri="{FF2B5EF4-FFF2-40B4-BE49-F238E27FC236}">
                  <a16:creationId xmlns:a16="http://schemas.microsoft.com/office/drawing/2014/main" id="{9E65D94C-CA42-1DEF-13A6-6E3F0A0E3AA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31482" y="1284651"/>
              <a:ext cx="372269" cy="372269"/>
            </a:xfrm>
            <a:prstGeom prst="rect">
              <a:avLst/>
            </a:prstGeom>
          </p:spPr>
        </p:pic>
        <p:pic>
          <p:nvPicPr>
            <p:cNvPr id="42" name="Graphic 41" descr="Badge 4 with solid fill">
              <a:extLst>
                <a:ext uri="{FF2B5EF4-FFF2-40B4-BE49-F238E27FC236}">
                  <a16:creationId xmlns:a16="http://schemas.microsoft.com/office/drawing/2014/main" id="{3BF06976-8641-F36D-C3CE-16D8581B334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00773" y="3748233"/>
              <a:ext cx="372269" cy="372269"/>
            </a:xfrm>
            <a:prstGeom prst="rect">
              <a:avLst/>
            </a:prstGeom>
          </p:spPr>
        </p:pic>
        <p:sp>
          <p:nvSpPr>
            <p:cNvPr id="43" name="Right Brace 42">
              <a:extLst>
                <a:ext uri="{FF2B5EF4-FFF2-40B4-BE49-F238E27FC236}">
                  <a16:creationId xmlns:a16="http://schemas.microsoft.com/office/drawing/2014/main" id="{5F16E0A7-306B-133F-929E-DF78F243E1F7}"/>
                </a:ext>
              </a:extLst>
            </p:cNvPr>
            <p:cNvSpPr/>
            <p:nvPr/>
          </p:nvSpPr>
          <p:spPr>
            <a:xfrm rot="5400000">
              <a:off x="8427279" y="1989463"/>
              <a:ext cx="146488" cy="1645946"/>
            </a:xfrm>
            <a:prstGeom prst="rightBrac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nvGrpSpPr>
            <p:cNvPr id="44" name="Group 43">
              <a:extLst>
                <a:ext uri="{FF2B5EF4-FFF2-40B4-BE49-F238E27FC236}">
                  <a16:creationId xmlns:a16="http://schemas.microsoft.com/office/drawing/2014/main" id="{E85CC7F0-17C3-F9A9-3DA9-F9B77875B0EB}"/>
                </a:ext>
              </a:extLst>
            </p:cNvPr>
            <p:cNvGrpSpPr/>
            <p:nvPr/>
          </p:nvGrpSpPr>
          <p:grpSpPr>
            <a:xfrm>
              <a:off x="8251096" y="2882877"/>
              <a:ext cx="603276" cy="577279"/>
              <a:chOff x="5788800" y="3121800"/>
              <a:chExt cx="603276" cy="577279"/>
            </a:xfrm>
          </p:grpSpPr>
          <p:pic>
            <p:nvPicPr>
              <p:cNvPr id="45" name="Graphic 44" descr="Gears with solid fill">
                <a:extLst>
                  <a:ext uri="{FF2B5EF4-FFF2-40B4-BE49-F238E27FC236}">
                    <a16:creationId xmlns:a16="http://schemas.microsoft.com/office/drawing/2014/main" id="{A2BCB4BE-C9B9-14E0-5FFA-70F76FE2346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88800" y="3121800"/>
                <a:ext cx="488450" cy="488450"/>
              </a:xfrm>
              <a:prstGeom prst="rect">
                <a:avLst/>
              </a:prstGeom>
            </p:spPr>
          </p:pic>
          <p:pic>
            <p:nvPicPr>
              <p:cNvPr id="46" name="Graphic 45" descr="Magnifying glass with solid fill">
                <a:extLst>
                  <a:ext uri="{FF2B5EF4-FFF2-40B4-BE49-F238E27FC236}">
                    <a16:creationId xmlns:a16="http://schemas.microsoft.com/office/drawing/2014/main" id="{43423C4B-8B38-95A6-F7B7-B1306129199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40850" y="3247853"/>
                <a:ext cx="451226" cy="451226"/>
              </a:xfrm>
              <a:prstGeom prst="rect">
                <a:avLst/>
              </a:prstGeom>
            </p:spPr>
          </p:pic>
        </p:grpSp>
      </p:gr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262154975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15">
            <a:extLst>
              <a:ext uri="{FF2B5EF4-FFF2-40B4-BE49-F238E27FC236}">
                <a16:creationId xmlns:a16="http://schemas.microsoft.com/office/drawing/2014/main" id="{56779717-4F12-726C-8E23-C9E888C1CBBB}"/>
              </a:ex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5290" r="5290"/>
          <a:stretch>
            <a:fillRect/>
          </a:stretch>
        </p:blipFill>
        <p:spPr bwMode="ltGray">
          <a:xfrm>
            <a:off x="7724775" y="2041526"/>
            <a:ext cx="4467225" cy="3311524"/>
          </a:xfrm>
          <a:prstGeom prst="rect">
            <a:avLst/>
          </a:prstGeom>
          <a:solidFill>
            <a:srgbClr val="F4F4F7"/>
          </a:solidFill>
          <a:ln>
            <a:noFill/>
          </a:ln>
        </p:spPr>
      </p:pic>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609600"/>
          </a:xfrm>
        </p:spPr>
        <p:txBody>
          <a:bodyPr/>
          <a:lstStyle/>
          <a:p>
            <a:r>
              <a:rPr lang="es-ES" sz="2000" b="0" i="0" strike="noStrike" cap="none" baseline="0">
                <a:solidFill>
                  <a:srgbClr val="000000"/>
                </a:solidFill>
                <a:effectLst/>
                <a:latin typeface="Segoe UI Semibold"/>
                <a:ea typeface="Segoe UI Semibold"/>
                <a:cs typeface="Segoe UI Semibold"/>
              </a:rPr>
              <a:t>Extraer información del contenido multimodal</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755648"/>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usarás Azure Content </a:t>
            </a:r>
            <a:r>
              <a:rPr lang="es-ES" sz="1600" b="0" i="0" strike="noStrike" cap="none" baseline="0" dirty="0" err="1">
                <a:solidFill>
                  <a:srgbClr val="000000"/>
                </a:solidFill>
                <a:effectLst/>
                <a:latin typeface="Segoe UI"/>
                <a:ea typeface="Segoe UI"/>
                <a:cs typeface="Segoe UI"/>
              </a:rPr>
              <a:t>Understanding</a:t>
            </a:r>
            <a:r>
              <a:rPr lang="es-ES" sz="1600" b="0" i="0" strike="noStrike" cap="none" baseline="0" dirty="0">
                <a:solidFill>
                  <a:srgbClr val="000000"/>
                </a:solidFill>
                <a:effectLst/>
                <a:latin typeface="Segoe UI"/>
                <a:ea typeface="Segoe UI"/>
                <a:cs typeface="Segoe UI"/>
              </a:rPr>
              <a:t> para</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lo siguiente: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Análisis de documentos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Análisis de diapositivas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Análisis de audio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Analizar vídeos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761828"/>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Inicia el ejercicio en:</a:t>
            </a:r>
          </a:p>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hlinkClick r:id="rId4" history="0"/>
              </a:rPr>
              <a:t>https://go.microsoft.com/fwlink/?linkid=2320174</a:t>
            </a:r>
            <a:r>
              <a:rPr lang="es-ES" sz="1600" b="0" i="0" strike="noStrike" cap="none" baseline="0" dirty="0">
                <a:solidFill>
                  <a:srgbClr val="000000"/>
                </a:solidFill>
                <a:effectLst/>
                <a:latin typeface="Segoe UI"/>
                <a:ea typeface="Segoe UI"/>
                <a:cs typeface="Segoe UI"/>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353888554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53F1C9-B662-8DB1-506A-82405770726C}"/>
              </a:ext>
            </a:extLst>
          </p:cNvPr>
          <p:cNvPicPr>
            <a:picLocks noChangeAspect="1"/>
          </p:cNvPicPr>
          <p:nvPr/>
        </p:nvPicPr>
        <p:blipFill>
          <a:blip r:embed="rId3"/>
          <a:srcRect/>
          <a:stretch/>
        </p:blipFill>
        <p:spPr>
          <a:xfrm>
            <a:off x="6094999" y="1244900"/>
            <a:ext cx="5728785" cy="4368199"/>
          </a:xfrm>
          <a:prstGeom prst="rect">
            <a:avLst/>
          </a:prstGeom>
        </p:spPr>
      </p:pic>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975360"/>
          </a:xfrm>
        </p:spPr>
        <p:txBody>
          <a:bodyPr/>
          <a:lstStyle/>
          <a:p>
            <a:r>
              <a:rPr lang="es-ES" sz="3200" b="0" i="0" strike="noStrike" cap="none" baseline="0">
                <a:solidFill>
                  <a:srgbClr val="000000"/>
                </a:solidFill>
                <a:effectLst/>
                <a:latin typeface="Segoe UI Semibold"/>
                <a:ea typeface="Segoe UI Semibold"/>
                <a:cs typeface="Segoe UI Semibold"/>
              </a:rPr>
              <a:t>Preparación del uso de la API de Content Understanding</a:t>
            </a:r>
            <a:endParaRPr lang="en-US" sz="3200" noProof="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sp>
        <p:nvSpPr>
          <p:cNvPr id="7" name="Google Shape;453;g3d127db4489_0_312">
            <a:extLst>
              <a:ext uri="{FF2B5EF4-FFF2-40B4-BE49-F238E27FC236}">
                <a16:creationId xmlns:a16="http://schemas.microsoft.com/office/drawing/2014/main" id="{0348A324-49FD-F24C-9C8F-16C94BC4369C}"/>
              </a:ext>
            </a:extLst>
          </p:cNvPr>
          <p:cNvSpPr txBox="1"/>
          <p:nvPr/>
        </p:nvSpPr>
        <p:spPr>
          <a:xfrm>
            <a:off x="475652" y="1422823"/>
            <a:ext cx="5304137" cy="4056198"/>
          </a:xfrm>
          <a:prstGeom prst="rect">
            <a:avLst/>
          </a:prstGeom>
          <a:noFill/>
          <a:ln>
            <a:noFill/>
          </a:ln>
        </p:spPr>
        <p:txBody>
          <a:bodyPr spcFirstLastPara="1" wrap="square" lIns="91425" tIns="45700" rIns="91425" bIns="45700" anchor="t" anchorCtr="0">
            <a:spAutoFit/>
          </a:bodyPr>
          <a:lstStyle/>
          <a:p>
            <a:pPr marL="114300">
              <a:lnSpc>
                <a:spcPct val="115000"/>
              </a:lnSpc>
              <a:spcBef>
                <a:spcPts val="1000"/>
              </a:spcBef>
              <a:buClr>
                <a:srgbClr val="8F2B92"/>
              </a:buClr>
              <a:buSzPts val="1800"/>
            </a:pPr>
            <a:r>
              <a:rPr lang="es-ES" sz="1800" b="0" i="0" strike="noStrike" cap="none" baseline="0" dirty="0">
                <a:solidFill>
                  <a:srgbClr val="000000"/>
                </a:solidFill>
                <a:effectLst/>
                <a:latin typeface="Segoe UI"/>
                <a:ea typeface="Segoe UI"/>
                <a:cs typeface="Segoe UI"/>
              </a:rPr>
              <a:t>Para usar la API de Azure Content </a:t>
            </a:r>
            <a:r>
              <a:rPr lang="es-ES" sz="1800" b="0" i="0" strike="noStrike" cap="none" baseline="0" dirty="0" err="1">
                <a:solidFill>
                  <a:srgbClr val="000000"/>
                </a:solidFill>
                <a:effectLst/>
                <a:latin typeface="Segoe UI"/>
                <a:ea typeface="Segoe UI"/>
                <a:cs typeface="Segoe UI"/>
              </a:rPr>
              <a:t>Understanding</a:t>
            </a:r>
            <a:r>
              <a:rPr lang="es-ES" sz="1800" b="0" i="0" strike="noStrike" cap="none" baseline="0" dirty="0">
                <a:solidFill>
                  <a:srgbClr val="000000"/>
                </a:solidFill>
                <a:effectLst/>
                <a:latin typeface="Segoe UI"/>
                <a:ea typeface="Segoe UI"/>
                <a:cs typeface="Segoe UI"/>
              </a:rPr>
              <a:t>, debes hacer lo siguiente:</a:t>
            </a:r>
          </a:p>
          <a:p>
            <a:pPr marL="400050" lvl="0" indent="-285750" algn="l" rtl="0">
              <a:lnSpc>
                <a:spcPct val="115000"/>
              </a:lnSpc>
              <a:spcBef>
                <a:spcPts val="1000"/>
              </a:spcBef>
              <a:spcAft>
                <a:spcPct val="0"/>
              </a:spcAft>
              <a:buClr>
                <a:schemeClr val="tx1"/>
              </a:buClr>
              <a:buSzPts val="180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Crear un proyecto de Microsoft </a:t>
            </a:r>
            <a:r>
              <a:rPr lang="es-ES" sz="1800" b="0" i="0" strike="noStrike" cap="none" baseline="0" dirty="0" err="1">
                <a:solidFill>
                  <a:srgbClr val="000000"/>
                </a:solidFill>
                <a:effectLst/>
                <a:latin typeface="Segoe UI"/>
                <a:ea typeface="Segoe UI"/>
                <a:cs typeface="Segoe UI"/>
              </a:rPr>
              <a:t>Foundry</a:t>
            </a:r>
            <a:endParaRPr lang="es-ES" sz="1800" b="0" i="0" strike="noStrike" cap="none" baseline="0" dirty="0">
              <a:solidFill>
                <a:srgbClr val="000000"/>
              </a:solidFill>
              <a:effectLst/>
              <a:latin typeface="Segoe UI"/>
              <a:ea typeface="Segoe UI"/>
              <a:cs typeface="Segoe UI"/>
            </a:endParaRPr>
          </a:p>
          <a:p>
            <a:pPr marL="400050" lvl="0" indent="-285750" algn="l" rtl="0">
              <a:lnSpc>
                <a:spcPct val="115000"/>
              </a:lnSpc>
              <a:spcBef>
                <a:spcPts val="1000"/>
              </a:spcBef>
              <a:spcAft>
                <a:spcPct val="0"/>
              </a:spcAft>
              <a:buClr>
                <a:schemeClr val="tx1"/>
              </a:buClr>
              <a:buSzPts val="180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Autenticarte a través de Entra ID o del punto de conexión y de la clave de la API de Content </a:t>
            </a:r>
            <a:r>
              <a:rPr lang="es-ES" sz="1800" b="0" i="0" strike="noStrike" cap="none" baseline="0" dirty="0" err="1">
                <a:solidFill>
                  <a:srgbClr val="000000"/>
                </a:solidFill>
                <a:effectLst/>
                <a:latin typeface="Segoe UI"/>
                <a:ea typeface="Segoe UI"/>
                <a:cs typeface="Segoe UI"/>
              </a:rPr>
              <a:t>Understanding</a:t>
            </a:r>
            <a:r>
              <a:rPr lang="es-ES" sz="1800" b="0" i="0" strike="noStrike" cap="none" baseline="0" dirty="0">
                <a:solidFill>
                  <a:srgbClr val="000000"/>
                </a:solidFill>
                <a:effectLst/>
                <a:latin typeface="Segoe UI"/>
                <a:ea typeface="Segoe UI"/>
                <a:cs typeface="Segoe UI"/>
              </a:rPr>
              <a:t> </a:t>
            </a:r>
          </a:p>
          <a:p>
            <a:pPr marL="857233" lvl="1" indent="-285750">
              <a:lnSpc>
                <a:spcPct val="115000"/>
              </a:lnSpc>
              <a:spcBef>
                <a:spcPts val="1000"/>
              </a:spcBef>
              <a:buClr>
                <a:schemeClr val="tx1"/>
              </a:buClr>
              <a:buSzPts val="1800"/>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Para buscar tus credenciales mediante código: </a:t>
            </a:r>
            <a:r>
              <a:rPr lang="es-ES" sz="1700" b="0" i="0" strike="noStrike" cap="none" baseline="0" dirty="0">
                <a:solidFill>
                  <a:srgbClr val="000000"/>
                </a:solidFill>
                <a:effectLst/>
                <a:latin typeface="Segoe UI"/>
                <a:ea typeface="Segoe UI"/>
                <a:cs typeface="Segoe UI"/>
              </a:rPr>
              <a:t>usa el SDK de Microsoft </a:t>
            </a:r>
            <a:r>
              <a:rPr lang="es-ES" sz="1700" b="0" i="0" strike="noStrike" cap="none" baseline="0" dirty="0" err="1">
                <a:solidFill>
                  <a:srgbClr val="000000"/>
                </a:solidFill>
                <a:effectLst/>
                <a:latin typeface="Segoe UI"/>
                <a:ea typeface="Segoe UI"/>
                <a:cs typeface="Segoe UI"/>
              </a:rPr>
              <a:t>Foundry</a:t>
            </a:r>
            <a:r>
              <a:rPr lang="es-ES" sz="1700" b="0" i="0" strike="noStrike" cap="none" baseline="0" dirty="0">
                <a:solidFill>
                  <a:srgbClr val="000000"/>
                </a:solidFill>
                <a:effectLst/>
                <a:latin typeface="Segoe UI"/>
                <a:ea typeface="Segoe UI"/>
                <a:cs typeface="Segoe UI"/>
              </a:rPr>
              <a:t> con Microsoft Entra ID para recuperar automáticamente los detalles de conexión del proyecto.</a:t>
            </a:r>
            <a:endParaRPr sz="1800" dirty="0">
              <a:solidFill>
                <a:schemeClr val="dk1"/>
              </a:solidFill>
            </a:endParaRPr>
          </a:p>
        </p:txBody>
      </p:sp>
      <p:sp>
        <p:nvSpPr>
          <p:cNvPr id="5" name="Rounded Rectangle 22">
            <a:extLst>
              <a:ext uri="{FF2B5EF4-FFF2-40B4-BE49-F238E27FC236}">
                <a16:creationId xmlns:a16="http://schemas.microsoft.com/office/drawing/2014/main" id="{775E238F-2CD1-BFAE-808A-9B1F3E4A0999}"/>
              </a:ext>
            </a:extLst>
          </p:cNvPr>
          <p:cNvSpPr/>
          <p:nvPr/>
        </p:nvSpPr>
        <p:spPr bwMode="auto">
          <a:xfrm>
            <a:off x="6582662" y="4619515"/>
            <a:ext cx="5507224" cy="1999544"/>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8" name="TextBox 7">
            <a:extLst>
              <a:ext uri="{FF2B5EF4-FFF2-40B4-BE49-F238E27FC236}">
                <a16:creationId xmlns:a16="http://schemas.microsoft.com/office/drawing/2014/main" id="{199ED5FB-8CA4-1317-B818-9CE16748052D}"/>
              </a:ext>
            </a:extLst>
          </p:cNvPr>
          <p:cNvSpPr txBox="1"/>
          <p:nvPr/>
        </p:nvSpPr>
        <p:spPr>
          <a:xfrm>
            <a:off x="6656989" y="4630476"/>
            <a:ext cx="5693458" cy="1014469"/>
          </a:xfrm>
          <a:prstGeom prst="rect">
            <a:avLst/>
          </a:prstGeom>
          <a:noFill/>
        </p:spPr>
        <p:txBody>
          <a:bodyPr wrap="square">
            <a:spAutoFit/>
          </a:bodyPr>
          <a:lstStyle/>
          <a:p>
            <a:r>
              <a:rPr lang="en-US" sz="1200" dirty="0">
                <a:solidFill>
                  <a:srgbClr val="4CBC89"/>
                </a:solidFill>
                <a:latin typeface="Consolas" panose="020B0609020204030204" pitchFamily="49" charset="0"/>
              </a:rPr>
              <a:t># Create an OpenAI client</a:t>
            </a:r>
          </a:p>
          <a:p>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DefaultAzureCredential</a:t>
            </a:r>
            <a:r>
              <a:rPr lang="en-US" sz="1200" dirty="0">
                <a:solidFill>
                  <a:srgbClr val="ABB2BF"/>
                </a:solidFill>
                <a:latin typeface="Consolas" panose="020B0609020204030204" pitchFamily="49" charset="0"/>
              </a:rPr>
              <a:t>()</a:t>
            </a:r>
          </a:p>
          <a:p>
            <a:r>
              <a:rPr lang="en-US" sz="1200" dirty="0" err="1">
                <a:solidFill>
                  <a:srgbClr val="9CDCFE"/>
                </a:solidFill>
                <a:latin typeface="Consolas" panose="020B0609020204030204" pitchFamily="49" charset="0"/>
              </a:rPr>
              <a:t>token_provider</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get_bearer_token_provider</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CE9178"/>
                </a:solidFill>
                <a:latin typeface="Consolas" panose="020B0609020204030204" pitchFamily="49" charset="0"/>
              </a:rPr>
              <a:t>"https://ai.azure.com/.default"</a:t>
            </a:r>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a:solidFill>
                  <a:srgbClr val="9CDCFE"/>
                </a:solidFill>
                <a:latin typeface="Consolas" panose="020B0609020204030204" pitchFamily="49" charset="0"/>
              </a:rPr>
              <a:t>client</a:t>
            </a:r>
            <a:r>
              <a:rPr lang="en-US" sz="1200" dirty="0">
                <a:solidFill>
                  <a:srgbClr val="ABB2BF"/>
                </a:solidFill>
                <a:latin typeface="Consolas" panose="020B0609020204030204" pitchFamily="49" charset="0"/>
              </a:rPr>
              <a:t> = </a:t>
            </a:r>
            <a:r>
              <a:rPr lang="en-US" sz="1200" dirty="0">
                <a:solidFill>
                  <a:srgbClr val="DCDCAA"/>
                </a:solidFill>
                <a:latin typeface="Consolas" panose="020B0609020204030204" pitchFamily="49" charset="0"/>
              </a:rPr>
              <a:t>OpenAI</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base_url</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openai_endpoint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api_key</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token_provider</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spTree>
    <p:extLst>
      <p:ext uri="{BB962C8B-B14F-4D97-AF65-F5344CB8AC3E}">
        <p14:creationId xmlns:p14="http://schemas.microsoft.com/office/powerpoint/2010/main" val="5091921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Definición de tu esquema y creación del analizador</a:t>
            </a:r>
            <a:endParaRPr lang="en-US" sz="3200" noProof="0"/>
          </a:p>
        </p:txBody>
      </p:sp>
      <p:sp>
        <p:nvSpPr>
          <p:cNvPr id="5" name="Text Placeholder 4">
            <a:extLst>
              <a:ext uri="{FF2B5EF4-FFF2-40B4-BE49-F238E27FC236}">
                <a16:creationId xmlns:a16="http://schemas.microsoft.com/office/drawing/2014/main" id="{F7F8BE4E-D10A-E81F-9544-430F2D4C985A}"/>
              </a:ext>
            </a:extLst>
          </p:cNvPr>
          <p:cNvSpPr>
            <a:spLocks noGrp="1"/>
          </p:cNvSpPr>
          <p:nvPr>
            <p:ph type="body" sz="quarter" idx="15"/>
          </p:nvPr>
        </p:nvSpPr>
        <p:spPr>
          <a:xfrm>
            <a:off x="588262" y="1346915"/>
            <a:ext cx="4953317" cy="6660285"/>
          </a:xfrm>
        </p:spPr>
        <p:txBody>
          <a:bodyPr/>
          <a:lstStyle/>
          <a:p>
            <a:r>
              <a:rPr lang="es-ES" sz="1700" b="0" i="0" strike="noStrike" cap="none" baseline="0" dirty="0">
                <a:solidFill>
                  <a:srgbClr val="000000"/>
                </a:solidFill>
                <a:effectLst/>
                <a:latin typeface="Segoe UI"/>
                <a:ea typeface="Segoe UI"/>
                <a:cs typeface="Segoe UI"/>
              </a:rPr>
              <a:t>Definición de los campos que deseas extraer</a:t>
            </a:r>
            <a:br>
              <a:rPr lang="es-ES" sz="1700" b="0" i="0" strike="noStrike" cap="none" baseline="0" dirty="0">
                <a:solidFill>
                  <a:srgbClr val="000000"/>
                </a:solidFill>
                <a:effectLst/>
                <a:latin typeface="Segoe UI"/>
                <a:ea typeface="Segoe UI"/>
                <a:cs typeface="Segoe UI"/>
              </a:rPr>
            </a:br>
            <a:r>
              <a:rPr lang="es-ES" sz="1700" b="0" i="0" strike="noStrike" cap="none" baseline="0" dirty="0">
                <a:solidFill>
                  <a:srgbClr val="000000"/>
                </a:solidFill>
                <a:effectLst/>
                <a:latin typeface="Segoe UI"/>
                <a:ea typeface="Segoe UI"/>
                <a:cs typeface="Segoe UI"/>
              </a:rPr>
              <a:t>o generar</a:t>
            </a:r>
          </a:p>
          <a:p>
            <a:r>
              <a:rPr lang="es-ES" sz="1700" b="0" i="0" strike="noStrike" cap="none" baseline="0" dirty="0">
                <a:solidFill>
                  <a:srgbClr val="000000"/>
                </a:solidFill>
                <a:effectLst/>
                <a:latin typeface="Segoe UI"/>
                <a:ea typeface="Segoe UI"/>
                <a:cs typeface="Segoe UI"/>
              </a:rPr>
              <a:t>Especificación del analizador base y de los modelos generativos que se van a usar</a:t>
            </a:r>
          </a:p>
          <a:p>
            <a:r>
              <a:rPr lang="es-ES" sz="1700" b="0" i="0" strike="noStrike" cap="none" baseline="0" dirty="0">
                <a:solidFill>
                  <a:srgbClr val="000000"/>
                </a:solidFill>
                <a:effectLst/>
                <a:latin typeface="Segoe UI"/>
                <a:ea typeface="Segoe UI"/>
                <a:cs typeface="Segoe UI"/>
              </a:rPr>
              <a:t>Envío del esquema al cliente para crear</a:t>
            </a:r>
            <a:br>
              <a:rPr lang="es-ES" sz="1700" b="0" i="0" strike="noStrike" cap="none" baseline="0" dirty="0">
                <a:solidFill>
                  <a:srgbClr val="000000"/>
                </a:solidFill>
                <a:effectLst/>
                <a:latin typeface="Segoe UI"/>
                <a:ea typeface="Segoe UI"/>
                <a:cs typeface="Segoe UI"/>
              </a:rPr>
            </a:br>
            <a:r>
              <a:rPr lang="es-ES" sz="1700" b="0" i="0" strike="noStrike" cap="none" baseline="0" dirty="0">
                <a:solidFill>
                  <a:srgbClr val="000000"/>
                </a:solidFill>
                <a:effectLst/>
                <a:latin typeface="Segoe UI"/>
                <a:ea typeface="Segoe UI"/>
                <a:cs typeface="Segoe UI"/>
              </a:rPr>
              <a:t>el analizador</a:t>
            </a:r>
          </a:p>
          <a:p>
            <a:endParaRPr lang="en-US" sz="1800" dirty="0"/>
          </a:p>
          <a:p>
            <a:endParaRPr lang="en-US" sz="1800" dirty="0"/>
          </a:p>
          <a:p>
            <a:endParaRPr lang="en-US" sz="1800" dirty="0"/>
          </a:p>
          <a:p>
            <a:r>
              <a:rPr lang="es-ES" sz="1700" b="0" i="0" strike="noStrike" cap="none" baseline="0" dirty="0">
                <a:solidFill>
                  <a:srgbClr val="000000"/>
                </a:solidFill>
                <a:effectLst/>
                <a:latin typeface="Segoe UI"/>
                <a:ea typeface="Segoe UI"/>
                <a:cs typeface="Segoe UI"/>
              </a:rPr>
              <a:t>Componentes clave:</a:t>
            </a:r>
          </a:p>
          <a:p>
            <a:pPr lvl="1">
              <a:lnSpc>
                <a:spcPct val="150000"/>
              </a:lnSpc>
            </a:pPr>
            <a:r>
              <a:rPr lang="es-ES" sz="1300" b="0" i="0" strike="noStrike" cap="none" baseline="0" dirty="0" err="1">
                <a:solidFill>
                  <a:srgbClr val="000000"/>
                </a:solidFill>
                <a:effectLst/>
                <a:latin typeface="Consolas"/>
                <a:ea typeface="Consolas"/>
                <a:cs typeface="Consolas"/>
              </a:rPr>
              <a:t>baseAnalyzerId</a:t>
            </a:r>
            <a:r>
              <a:rPr lang="es-ES" sz="1300" b="0" i="0" strike="noStrike" cap="none" baseline="0" dirty="0">
                <a:solidFill>
                  <a:srgbClr val="000000"/>
                </a:solidFill>
                <a:effectLst/>
                <a:latin typeface="Segoe UI"/>
                <a:ea typeface="Segoe UI"/>
                <a:cs typeface="Segoe UI"/>
              </a:rPr>
              <a:t>: analizador base</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(por ejemplo, </a:t>
            </a:r>
            <a:r>
              <a:rPr lang="es-ES" sz="1300" b="0" i="0" strike="noStrike" cap="none" baseline="0" dirty="0" err="1">
                <a:solidFill>
                  <a:srgbClr val="000000"/>
                </a:solidFill>
                <a:effectLst/>
                <a:latin typeface="Segoe UI"/>
                <a:ea typeface="Segoe UI"/>
                <a:cs typeface="Segoe UI"/>
              </a:rPr>
              <a:t>prebuilt-document</a:t>
            </a:r>
            <a:r>
              <a:rPr lang="es-ES" sz="1300" b="0" i="0" strike="noStrike" cap="none" baseline="0" dirty="0">
                <a:solidFill>
                  <a:srgbClr val="000000"/>
                </a:solidFill>
                <a:effectLst/>
                <a:latin typeface="Segoe UI"/>
                <a:ea typeface="Segoe UI"/>
                <a:cs typeface="Segoe UI"/>
              </a:rPr>
              <a:t>)</a:t>
            </a:r>
          </a:p>
          <a:p>
            <a:pPr lvl="1">
              <a:lnSpc>
                <a:spcPct val="150000"/>
              </a:lnSpc>
            </a:pPr>
            <a:r>
              <a:rPr lang="es-ES" sz="1300" b="0" i="0" strike="noStrike" cap="none" baseline="0" dirty="0" err="1">
                <a:solidFill>
                  <a:srgbClr val="000000"/>
                </a:solidFill>
                <a:effectLst/>
                <a:latin typeface="Consolas"/>
                <a:ea typeface="Consolas"/>
                <a:cs typeface="Consolas"/>
              </a:rPr>
              <a:t>fieldSchema</a:t>
            </a:r>
            <a:r>
              <a:rPr lang="es-ES" sz="1300" b="0" i="0" strike="noStrike" cap="none" baseline="0" dirty="0">
                <a:solidFill>
                  <a:srgbClr val="000000"/>
                </a:solidFill>
                <a:effectLst/>
                <a:latin typeface="Segoe UI"/>
                <a:ea typeface="Segoe UI"/>
                <a:cs typeface="Segoe UI"/>
              </a:rPr>
              <a:t>: campos con tipo, método (extraer/generar)</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y descripción</a:t>
            </a:r>
          </a:p>
          <a:p>
            <a:pPr lvl="1">
              <a:lnSpc>
                <a:spcPct val="150000"/>
              </a:lnSpc>
            </a:pPr>
            <a:r>
              <a:rPr lang="es-ES" sz="1300" b="0" i="0" strike="noStrike" cap="none" baseline="0" dirty="0" err="1">
                <a:solidFill>
                  <a:srgbClr val="000000"/>
                </a:solidFill>
                <a:effectLst/>
                <a:latin typeface="Consolas"/>
                <a:ea typeface="Consolas"/>
                <a:cs typeface="Consolas"/>
              </a:rPr>
              <a:t>models</a:t>
            </a:r>
            <a:r>
              <a:rPr lang="es-ES" sz="1300" b="0" i="0" strike="noStrike" cap="none" baseline="0" dirty="0">
                <a:solidFill>
                  <a:srgbClr val="000000"/>
                </a:solidFill>
                <a:effectLst/>
                <a:latin typeface="Segoe UI"/>
                <a:ea typeface="Segoe UI"/>
                <a:cs typeface="Segoe UI"/>
              </a:rPr>
              <a:t>: finalización e inserción de modelos que se van</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a usar</a:t>
            </a:r>
          </a:p>
          <a:p>
            <a:pPr lvl="1"/>
            <a:endParaRPr lang="en-US" sz="1600" dirty="0"/>
          </a:p>
          <a:p>
            <a:endParaRPr lang="en-US" sz="1800" dirty="0"/>
          </a:p>
          <a:p>
            <a:endParaRPr lang="en-US" sz="1800" dirty="0"/>
          </a:p>
          <a:p>
            <a:pPr marL="0" indent="0">
              <a:buNone/>
            </a:pPr>
            <a:endParaRPr lang="en-US" sz="1800" dirty="0"/>
          </a:p>
          <a:p>
            <a:pPr marL="457200" indent="-457200">
              <a:buFont typeface="+mj-lt"/>
              <a:buAutoNum type="arabicPeriod"/>
            </a:pPr>
            <a:endParaRPr lang="en-US" i="1"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Rounded Rectangle 25">
            <a:extLst>
              <a:ext uri="{FF2B5EF4-FFF2-40B4-BE49-F238E27FC236}">
                <a16:creationId xmlns:a16="http://schemas.microsoft.com/office/drawing/2014/main" id="{CEC22047-C30D-1C26-EF5D-366E0C815580}"/>
              </a:ext>
            </a:extLst>
          </p:cNvPr>
          <p:cNvSpPr/>
          <p:nvPr/>
        </p:nvSpPr>
        <p:spPr bwMode="auto">
          <a:xfrm>
            <a:off x="665840" y="3051619"/>
            <a:ext cx="4039467" cy="942416"/>
          </a:xfrm>
          <a:prstGeom prst="roundRect">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fontAlgn="base">
              <a:spcBef>
                <a:spcPct val="0"/>
              </a:spcBef>
              <a:spcAft>
                <a:spcPct val="0"/>
              </a:spcAft>
            </a:pPr>
            <a:r>
              <a:rPr lang="es-ES" sz="1200" b="0" i="0" strike="noStrike" cap="none" baseline="0" dirty="0" err="1">
                <a:solidFill>
                  <a:srgbClr val="000000"/>
                </a:solidFill>
                <a:effectLst/>
                <a:latin typeface="Cascadia Code Light"/>
                <a:ea typeface="Cascadia Code Light"/>
                <a:cs typeface="Cascadia Code Light"/>
              </a:rPr>
              <a:t>client.begin_create_analyzer</a:t>
            </a:r>
            <a:r>
              <a:rPr lang="es-ES" sz="1200" b="0" i="0" strike="noStrike" cap="none" baseline="0" dirty="0">
                <a:solidFill>
                  <a:srgbClr val="000000"/>
                </a:solidFill>
                <a:effectLst/>
                <a:latin typeface="Cascadia Code Light"/>
                <a:ea typeface="Cascadia Code Light"/>
                <a:cs typeface="Cascadia Code Light"/>
              </a:rPr>
              <a:t>(</a:t>
            </a:r>
          </a:p>
          <a:p>
            <a:pPr fontAlgn="base">
              <a:spcBef>
                <a:spcPct val="0"/>
              </a:spcBef>
              <a:spcAft>
                <a:spcPct val="0"/>
              </a:spcAft>
            </a:pPr>
            <a:r>
              <a:rPr lang="es-ES" sz="1200" b="0" i="0" strike="noStrike" cap="none" baseline="0" dirty="0">
                <a:solidFill>
                  <a:srgbClr val="000000"/>
                </a:solidFill>
                <a:effectLst/>
                <a:latin typeface="Cascadia Code Light"/>
                <a:ea typeface="Cascadia Code Light"/>
                <a:cs typeface="Cascadia Code Light"/>
              </a:rPr>
              <a:t> </a:t>
            </a:r>
            <a:r>
              <a:rPr lang="es-ES" sz="1200" b="0" i="0" strike="noStrike" cap="none" baseline="0" dirty="0" err="1">
                <a:solidFill>
                  <a:srgbClr val="000000"/>
                </a:solidFill>
                <a:effectLst/>
                <a:latin typeface="Cascadia Code Light"/>
                <a:ea typeface="Cascadia Code Light"/>
                <a:cs typeface="Cascadia Code Light"/>
              </a:rPr>
              <a:t>analyzer_name</a:t>
            </a:r>
            <a:r>
              <a:rPr lang="es-ES" sz="1200" b="0" i="0" strike="noStrike" cap="none" baseline="0" dirty="0">
                <a:solidFill>
                  <a:srgbClr val="000000"/>
                </a:solidFill>
                <a:effectLst/>
                <a:latin typeface="Cascadia Code Light"/>
                <a:ea typeface="Cascadia Code Light"/>
                <a:cs typeface="Cascadia Code Light"/>
              </a:rPr>
              <a:t>,</a:t>
            </a:r>
          </a:p>
          <a:p>
            <a:pPr fontAlgn="base">
              <a:spcBef>
                <a:spcPct val="0"/>
              </a:spcBef>
              <a:spcAft>
                <a:spcPct val="0"/>
              </a:spcAft>
            </a:pPr>
            <a:r>
              <a:rPr lang="es-ES" sz="1200" b="0" i="0" strike="noStrike" cap="none" baseline="0" dirty="0">
                <a:solidFill>
                  <a:srgbClr val="000000"/>
                </a:solidFill>
                <a:effectLst/>
                <a:latin typeface="Cascadia Code Light"/>
                <a:ea typeface="Cascadia Code Light"/>
                <a:cs typeface="Cascadia Code Light"/>
              </a:rPr>
              <a:t> </a:t>
            </a:r>
            <a:r>
              <a:rPr lang="es-ES" sz="1200" b="0" i="0" strike="noStrike" cap="none" baseline="0" dirty="0" err="1">
                <a:solidFill>
                  <a:srgbClr val="000000"/>
                </a:solidFill>
                <a:effectLst/>
                <a:latin typeface="Cascadia Code Light"/>
                <a:ea typeface="Cascadia Code Light"/>
                <a:cs typeface="Cascadia Code Light"/>
              </a:rPr>
              <a:t>body</a:t>
            </a:r>
            <a:r>
              <a:rPr lang="es-ES" sz="1200" b="0" i="0" strike="noStrike" cap="none" baseline="0" dirty="0">
                <a:solidFill>
                  <a:srgbClr val="000000"/>
                </a:solidFill>
                <a:effectLst/>
                <a:latin typeface="Cascadia Code Light"/>
                <a:ea typeface="Cascadia Code Light"/>
                <a:cs typeface="Cascadia Code Light"/>
              </a:rPr>
              <a:t>=</a:t>
            </a:r>
            <a:r>
              <a:rPr lang="es-ES" sz="1200" b="0" i="0" strike="noStrike" cap="none" baseline="0" dirty="0" err="1">
                <a:solidFill>
                  <a:srgbClr val="000000"/>
                </a:solidFill>
                <a:effectLst/>
                <a:latin typeface="Cascadia Code Light"/>
                <a:ea typeface="Cascadia Code Light"/>
                <a:cs typeface="Cascadia Code Light"/>
              </a:rPr>
              <a:t>analyzer_definition</a:t>
            </a:r>
            <a:r>
              <a:rPr lang="es-ES" sz="1200" b="0" i="0" strike="noStrike" cap="none" baseline="0" dirty="0">
                <a:solidFill>
                  <a:srgbClr val="000000"/>
                </a:solidFill>
                <a:effectLst/>
                <a:latin typeface="Cascadia Code Light"/>
                <a:ea typeface="Cascadia Code Light"/>
                <a:cs typeface="Cascadia Code Light"/>
              </a:rPr>
              <a:t>)</a:t>
            </a:r>
          </a:p>
        </p:txBody>
      </p:sp>
      <p:sp>
        <p:nvSpPr>
          <p:cNvPr id="8" name="Rounded Rectangle 22">
            <a:extLst>
              <a:ext uri="{FF2B5EF4-FFF2-40B4-BE49-F238E27FC236}">
                <a16:creationId xmlns:a16="http://schemas.microsoft.com/office/drawing/2014/main" id="{58D9564D-458E-3935-07E5-D8C0E7AC10A9}"/>
              </a:ext>
            </a:extLst>
          </p:cNvPr>
          <p:cNvSpPr/>
          <p:nvPr/>
        </p:nvSpPr>
        <p:spPr bwMode="auto">
          <a:xfrm>
            <a:off x="5703122" y="1346915"/>
            <a:ext cx="5878960" cy="4942179"/>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 name="TextBox 3">
            <a:extLst>
              <a:ext uri="{FF2B5EF4-FFF2-40B4-BE49-F238E27FC236}">
                <a16:creationId xmlns:a16="http://schemas.microsoft.com/office/drawing/2014/main" id="{3C55A3A1-B11E-CBF7-955B-D453D6154E7A}"/>
              </a:ext>
            </a:extLst>
          </p:cNvPr>
          <p:cNvSpPr txBox="1"/>
          <p:nvPr/>
        </p:nvSpPr>
        <p:spPr>
          <a:xfrm>
            <a:off x="5908278" y="1509008"/>
            <a:ext cx="5693458" cy="4199774"/>
          </a:xfrm>
          <a:prstGeom prst="rect">
            <a:avLst/>
          </a:prstGeom>
          <a:noFill/>
        </p:spPr>
        <p:txBody>
          <a:bodyPr wrap="square">
            <a:spAutoFit/>
          </a:bodyPr>
          <a:lstStyle/>
          <a:p>
            <a:r>
              <a:rPr lang="en-US" sz="1200" dirty="0">
                <a:solidFill>
                  <a:schemeClr val="tx2">
                    <a:lumMod val="25000"/>
                    <a:lumOff val="7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endParaRPr lang="en-US" sz="1200" dirty="0">
              <a:solidFill>
                <a:srgbClr val="9CDCFE"/>
              </a:solidFill>
              <a:latin typeface="Consolas" panose="020B0609020204030204" pitchFamily="49" charset="0"/>
            </a:endParaRPr>
          </a:p>
          <a:p>
            <a:r>
              <a:rPr lang="en-US" sz="1200" dirty="0">
                <a:solidFill>
                  <a:srgbClr val="9CDCFE"/>
                </a:solidFill>
                <a:latin typeface="Consolas" panose="020B0609020204030204" pitchFamily="49" charset="0"/>
              </a:rPr>
              <a:t>    "description": "Simple business card",</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baseAnalyzerId</a:t>
            </a:r>
            <a:r>
              <a:rPr lang="en-US" sz="1200" dirty="0">
                <a:solidFill>
                  <a:srgbClr val="9CDCFE"/>
                </a:solidFill>
                <a:latin typeface="Consolas" panose="020B0609020204030204" pitchFamily="49" charset="0"/>
              </a:rPr>
              <a:t>": "prebuilt-document",</a:t>
            </a:r>
          </a:p>
          <a:p>
            <a:r>
              <a:rPr lang="en-US" sz="1200" dirty="0">
                <a:solidFill>
                  <a:srgbClr val="9CDCFE"/>
                </a:solidFill>
                <a:latin typeface="Consolas" panose="020B0609020204030204" pitchFamily="49" charset="0"/>
              </a:rPr>
              <a:t>    "config":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returnDetails</a:t>
            </a:r>
            <a:r>
              <a:rPr lang="en-US" sz="1200" dirty="0">
                <a:solidFill>
                  <a:srgbClr val="9CDCFE"/>
                </a:solidFill>
                <a:latin typeface="Consolas" panose="020B0609020204030204" pitchFamily="49" charset="0"/>
              </a:rPr>
              <a:t>": true</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fieldSchema</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"fields":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ContactName</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"method": "extract",</a:t>
            </a:r>
          </a:p>
          <a:p>
            <a:r>
              <a:rPr lang="en-US" sz="1200" dirty="0">
                <a:solidFill>
                  <a:srgbClr val="9CDCFE"/>
                </a:solidFill>
                <a:latin typeface="Consolas" panose="020B0609020204030204" pitchFamily="49" charset="0"/>
              </a:rPr>
              <a:t>                "description": "Name on business card"</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EmailAddress</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"method": "extract",</a:t>
            </a:r>
          </a:p>
          <a:p>
            <a:r>
              <a:rPr lang="en-US" sz="1200" dirty="0">
                <a:solidFill>
                  <a:srgbClr val="9CDCFE"/>
                </a:solidFill>
                <a:latin typeface="Consolas" panose="020B0609020204030204" pitchFamily="49" charset="0"/>
              </a:rPr>
              <a:t>                "description": "Email address on business card"</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"models": {</a:t>
            </a:r>
          </a:p>
          <a:p>
            <a:r>
              <a:rPr lang="en-US" sz="1200" dirty="0">
                <a:solidFill>
                  <a:srgbClr val="9CDCFE"/>
                </a:solidFill>
                <a:latin typeface="Consolas" panose="020B0609020204030204" pitchFamily="49" charset="0"/>
              </a:rPr>
              <a:t>        "completion": "gpt-4.1",</a:t>
            </a:r>
          </a:p>
          <a:p>
            <a:r>
              <a:rPr lang="en-US" sz="1200" dirty="0">
                <a:solidFill>
                  <a:srgbClr val="9CDCFE"/>
                </a:solidFill>
                <a:latin typeface="Consolas" panose="020B0609020204030204" pitchFamily="49" charset="0"/>
              </a:rPr>
              <a:t>        "embedding": "text-embedding-3-large"</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a:t>
            </a:r>
          </a:p>
        </p:txBody>
      </p:sp>
    </p:spTree>
    <p:extLst>
      <p:ext uri="{BB962C8B-B14F-4D97-AF65-F5344CB8AC3E}">
        <p14:creationId xmlns:p14="http://schemas.microsoft.com/office/powerpoint/2010/main" val="315305292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sp>
        <p:nvSpPr>
          <p:cNvPr id="9" name="Rounded Rectangle 22">
            <a:extLst>
              <a:ext uri="{FF2B5EF4-FFF2-40B4-BE49-F238E27FC236}">
                <a16:creationId xmlns:a16="http://schemas.microsoft.com/office/drawing/2014/main" id="{8702933B-DEEF-B64A-1FCE-D610C5D3457E}"/>
              </a:ext>
            </a:extLst>
          </p:cNvPr>
          <p:cNvSpPr/>
          <p:nvPr/>
        </p:nvSpPr>
        <p:spPr bwMode="auto">
          <a:xfrm>
            <a:off x="4985499" y="715772"/>
            <a:ext cx="7008911" cy="5760554"/>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Análisis de contenido</a:t>
            </a:r>
            <a:endParaRPr lang="en-US" sz="3200" noProof="0"/>
          </a:p>
        </p:txBody>
      </p:sp>
      <p:sp>
        <p:nvSpPr>
          <p:cNvPr id="5" name="Text Placeholder 4">
            <a:extLst>
              <a:ext uri="{FF2B5EF4-FFF2-40B4-BE49-F238E27FC236}">
                <a16:creationId xmlns:a16="http://schemas.microsoft.com/office/drawing/2014/main" id="{F7F8BE4E-D10A-E81F-9544-430F2D4C985A}"/>
              </a:ext>
            </a:extLst>
          </p:cNvPr>
          <p:cNvSpPr>
            <a:spLocks noGrp="1"/>
          </p:cNvSpPr>
          <p:nvPr>
            <p:ph type="body" sz="quarter" idx="15"/>
          </p:nvPr>
        </p:nvSpPr>
        <p:spPr>
          <a:xfrm>
            <a:off x="479246" y="1450218"/>
            <a:ext cx="6099456" cy="2825389"/>
          </a:xfrm>
        </p:spPr>
        <p:txBody>
          <a:bodyPr/>
          <a:lstStyle/>
          <a:p>
            <a:pPr marL="457200" indent="-457200">
              <a:buFont typeface="+mj-lt"/>
              <a:buAutoNum type="arabicPeriod"/>
            </a:pPr>
            <a:r>
              <a:rPr lang="es-ES" sz="1800" b="0" i="0" strike="noStrike" cap="none" baseline="0" dirty="0">
                <a:solidFill>
                  <a:srgbClr val="000000"/>
                </a:solidFill>
                <a:effectLst/>
                <a:latin typeface="Segoe UI"/>
                <a:ea typeface="Segoe UI"/>
                <a:cs typeface="Segoe UI"/>
              </a:rPr>
              <a:t>Autenticación en tu cliente</a:t>
            </a:r>
          </a:p>
          <a:p>
            <a:pPr marL="457200" indent="-457200">
              <a:buFont typeface="+mj-lt"/>
              <a:buAutoNum type="arabicPeriod"/>
            </a:pPr>
            <a:r>
              <a:rPr lang="es-ES" sz="1800" b="0" i="0" strike="noStrike" cap="none" baseline="0" dirty="0">
                <a:solidFill>
                  <a:srgbClr val="000000"/>
                </a:solidFill>
                <a:effectLst/>
                <a:latin typeface="Segoe UI"/>
                <a:ea typeface="Segoe UI"/>
                <a:cs typeface="Segoe UI"/>
              </a:rPr>
              <a:t>Inicio del análisis, proporcionando</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lo siguiente:</a:t>
            </a:r>
          </a:p>
          <a:p>
            <a:pPr marL="585216" lvl="1" indent="-457200"/>
            <a:r>
              <a:rPr lang="es-ES" sz="1800" b="0" i="0" strike="noStrike" cap="none" baseline="0" dirty="0" err="1">
                <a:solidFill>
                  <a:srgbClr val="000000"/>
                </a:solidFill>
                <a:effectLst/>
                <a:latin typeface="Segoe UI"/>
                <a:ea typeface="Segoe UI"/>
                <a:cs typeface="Segoe UI"/>
              </a:rPr>
              <a:t>analyzer_name</a:t>
            </a:r>
            <a:endParaRPr lang="en-US" sz="1800" dirty="0"/>
          </a:p>
          <a:p>
            <a:pPr marL="585216" lvl="1" indent="-457200"/>
            <a:r>
              <a:rPr lang="es-ES" sz="1800" b="0" i="0" strike="noStrike" cap="none" baseline="0" dirty="0">
                <a:solidFill>
                  <a:srgbClr val="000000"/>
                </a:solidFill>
                <a:effectLst/>
                <a:latin typeface="Segoe UI"/>
                <a:ea typeface="Segoe UI"/>
                <a:cs typeface="Segoe UI"/>
              </a:rPr>
              <a:t>Entrada</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(dirección URL o datos binarios)</a:t>
            </a:r>
          </a:p>
          <a:p>
            <a:pPr marL="457200" indent="-457200">
              <a:buFont typeface="+mj-lt"/>
              <a:buAutoNum type="arabicPeriod"/>
            </a:pPr>
            <a:r>
              <a:rPr lang="es-ES" sz="1800" b="0" i="0" strike="noStrike" cap="none" baseline="0" dirty="0">
                <a:solidFill>
                  <a:srgbClr val="000000"/>
                </a:solidFill>
                <a:effectLst/>
                <a:latin typeface="Segoe UI"/>
                <a:ea typeface="Segoe UI"/>
                <a:cs typeface="Segoe UI"/>
              </a:rPr>
              <a:t>Recuperación del resultado</a:t>
            </a:r>
          </a:p>
          <a:p>
            <a:pPr marL="457200" indent="-457200">
              <a:buFont typeface="+mj-lt"/>
              <a:buAutoNum type="arabicPeriod"/>
            </a:pPr>
            <a:r>
              <a:rPr lang="es-ES" sz="1800" b="0" i="0" strike="noStrike" cap="none" baseline="0" dirty="0">
                <a:solidFill>
                  <a:srgbClr val="000000"/>
                </a:solidFill>
                <a:effectLst/>
                <a:latin typeface="Segoe UI"/>
                <a:ea typeface="Segoe UI"/>
                <a:cs typeface="Segoe UI"/>
              </a:rPr>
              <a:t>Extracción del contenido</a:t>
            </a:r>
          </a:p>
          <a:p>
            <a:pPr marL="457200" indent="-457200">
              <a:buFont typeface="+mj-lt"/>
              <a:buAutoNum type="arabicPeriod"/>
            </a:pPr>
            <a:endParaRPr lang="en-US" sz="1800" i="1"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sp>
        <p:nvSpPr>
          <p:cNvPr id="4" name="TextBox 3">
            <a:extLst>
              <a:ext uri="{FF2B5EF4-FFF2-40B4-BE49-F238E27FC236}">
                <a16:creationId xmlns:a16="http://schemas.microsoft.com/office/drawing/2014/main" id="{56EE230E-93F0-67B7-4B42-CB3F7F44BB99}"/>
              </a:ext>
            </a:extLst>
          </p:cNvPr>
          <p:cNvSpPr txBox="1"/>
          <p:nvPr/>
        </p:nvSpPr>
        <p:spPr>
          <a:xfrm>
            <a:off x="9227305" y="6489329"/>
            <a:ext cx="3275695" cy="246278"/>
          </a:xfrm>
          <a:prstGeom prst="rect">
            <a:avLst/>
          </a:prstGeom>
          <a:noFill/>
        </p:spPr>
        <p:txBody>
          <a:bodyPr wrap="none" lIns="0" tIns="0" rIns="0" bIns="0" rtlCol="0">
            <a:spAutoFit/>
          </a:bodyPr>
          <a:lstStyle/>
          <a:p>
            <a:pPr algn="l"/>
            <a:r>
              <a:rPr lang="es-ES" sz="1600" b="0" i="1" strike="noStrike" cap="none" baseline="0" dirty="0">
                <a:solidFill>
                  <a:srgbClr val="000000"/>
                </a:solidFill>
                <a:effectLst/>
                <a:latin typeface="Segoe UI"/>
                <a:ea typeface="Segoe UI"/>
                <a:cs typeface="Segoe UI"/>
              </a:rPr>
              <a:t>Resultados parciales mostrados</a:t>
            </a:r>
          </a:p>
        </p:txBody>
      </p:sp>
      <p:sp>
        <p:nvSpPr>
          <p:cNvPr id="6" name="TextBox 5">
            <a:extLst>
              <a:ext uri="{FF2B5EF4-FFF2-40B4-BE49-F238E27FC236}">
                <a16:creationId xmlns:a16="http://schemas.microsoft.com/office/drawing/2014/main" id="{58261390-249D-928F-77A8-68B9B234DAAD}"/>
              </a:ext>
            </a:extLst>
          </p:cNvPr>
          <p:cNvSpPr txBox="1"/>
          <p:nvPr/>
        </p:nvSpPr>
        <p:spPr>
          <a:xfrm>
            <a:off x="5096076" y="831437"/>
            <a:ext cx="6787755" cy="5760555"/>
          </a:xfrm>
          <a:prstGeom prst="rect">
            <a:avLst/>
          </a:prstGeom>
          <a:noFill/>
        </p:spPr>
        <p:txBody>
          <a:bodyPr wrap="square">
            <a:spAutoFit/>
          </a:bodyPr>
          <a:lstStyle/>
          <a:p>
            <a:r>
              <a:rPr lang="en-US" sz="1200" dirty="0">
                <a:solidFill>
                  <a:srgbClr val="9CDCFE"/>
                </a:solidFill>
                <a:latin typeface="Consolas" panose="020B0609020204030204" pitchFamily="49" charset="0"/>
              </a:rPr>
              <a:t>"contents":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"markdown": "John Smith\</a:t>
            </a:r>
            <a:r>
              <a:rPr lang="en-US" sz="1200" dirty="0" err="1">
                <a:solidFill>
                  <a:srgbClr val="9CDCFE"/>
                </a:solidFill>
                <a:latin typeface="Consolas" panose="020B0609020204030204" pitchFamily="49" charset="0"/>
              </a:rPr>
              <a:t>nEmail</a:t>
            </a:r>
            <a:r>
              <a:rPr lang="en-US" sz="1200" dirty="0">
                <a:solidFill>
                  <a:srgbClr val="9CDCFE"/>
                </a:solidFill>
                <a:latin typeface="Consolas" panose="020B0609020204030204" pitchFamily="49" charset="0"/>
              </a:rPr>
              <a:t>: john@contoso.com\n",</a:t>
            </a:r>
          </a:p>
          <a:p>
            <a:r>
              <a:rPr lang="en-US" sz="1200" dirty="0">
                <a:solidFill>
                  <a:srgbClr val="9CDCFE"/>
                </a:solidFill>
                <a:latin typeface="Consolas" panose="020B0609020204030204" pitchFamily="49" charset="0"/>
              </a:rPr>
              <a:t>                "fields":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ContactName</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valueString</a:t>
            </a:r>
            <a:r>
              <a:rPr lang="en-US" sz="1200" dirty="0">
                <a:solidFill>
                  <a:srgbClr val="9CDCFE"/>
                </a:solidFill>
                <a:latin typeface="Consolas" panose="020B0609020204030204" pitchFamily="49" charset="0"/>
              </a:rPr>
              <a:t>": "John Smith",</a:t>
            </a:r>
          </a:p>
          <a:p>
            <a:r>
              <a:rPr lang="en-US" sz="1200" dirty="0">
                <a:solidFill>
                  <a:srgbClr val="9CDCFE"/>
                </a:solidFill>
                <a:latin typeface="Consolas" panose="020B0609020204030204" pitchFamily="49" charset="0"/>
              </a:rPr>
              <a:t>                        "spans":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"offset": 0,</a:t>
            </a:r>
          </a:p>
          <a:p>
            <a:r>
              <a:rPr lang="en-US" sz="1200" dirty="0">
                <a:solidFill>
                  <a:srgbClr val="9CDCFE"/>
                </a:solidFill>
                <a:latin typeface="Consolas" panose="020B0609020204030204" pitchFamily="49" charset="0"/>
              </a:rPr>
              <a:t>                                "length": 10</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"confidence": 0.994,</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EmailAddress</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valueString</a:t>
            </a:r>
            <a:r>
              <a:rPr lang="en-US" sz="1200" dirty="0">
                <a:solidFill>
                  <a:srgbClr val="9CDCFE"/>
                </a:solidFill>
                <a:latin typeface="Consolas" panose="020B0609020204030204" pitchFamily="49" charset="0"/>
              </a:rPr>
              <a:t>": "john@contoso.com",</a:t>
            </a:r>
          </a:p>
          <a:p>
            <a:r>
              <a:rPr lang="en-US" sz="1200" dirty="0">
                <a:solidFill>
                  <a:srgbClr val="9CDCFE"/>
                </a:solidFill>
                <a:latin typeface="Consolas" panose="020B0609020204030204" pitchFamily="49" charset="0"/>
              </a:rPr>
              <a:t>                        "spans":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"offset": 18,</a:t>
            </a:r>
          </a:p>
          <a:p>
            <a:r>
              <a:rPr lang="en-US" sz="1200" dirty="0">
                <a:solidFill>
                  <a:srgbClr val="9CDCFE"/>
                </a:solidFill>
                <a:latin typeface="Consolas" panose="020B0609020204030204" pitchFamily="49" charset="0"/>
              </a:rPr>
              <a:t>                                "length": 16</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"confidence": 0.998,</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p:txBody>
      </p:sp>
      <p:pic>
        <p:nvPicPr>
          <p:cNvPr id="8" name="Picture 7">
            <a:extLst>
              <a:ext uri="{FF2B5EF4-FFF2-40B4-BE49-F238E27FC236}">
                <a16:creationId xmlns:a16="http://schemas.microsoft.com/office/drawing/2014/main" id="{B58A6347-D99D-1A96-FACE-477F9634F1F2}"/>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2385878" y="3901094"/>
            <a:ext cx="3862522" cy="2394764"/>
          </a:xfrm>
          <a:prstGeom prst="rect">
            <a:avLst/>
          </a:prstGeom>
        </p:spPr>
      </p:pic>
    </p:spTree>
    <p:extLst>
      <p:ext uri="{BB962C8B-B14F-4D97-AF65-F5344CB8AC3E}">
        <p14:creationId xmlns:p14="http://schemas.microsoft.com/office/powerpoint/2010/main" val="96025260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6B54-D302-123E-B2BB-29AAD733B2C3}"/>
            </a:ext>
          </a:extLst>
        </p:cNvPr>
        <p:cNvGrpSpPr/>
        <p:nvPr/>
      </p:nvGrpSpPr>
      <p:grpSpPr>
        <a:xfrm>
          <a:off x="0" y="0"/>
          <a:ext cx="0" cy="0"/>
          <a:chOff x="0" y="0"/>
          <a:chExt cx="0" cy="0"/>
        </a:xfrm>
      </p:grpSpPr>
      <p:pic>
        <p:nvPicPr>
          <p:cNvPr id="9" name="Picture Placeholder 3">
            <a:extLst>
              <a:ext uri="{FF2B5EF4-FFF2-40B4-BE49-F238E27FC236}">
                <a16:creationId xmlns:a16="http://schemas.microsoft.com/office/drawing/2014/main" id="{1511CF28-0866-5812-4C9D-22037DB1F602}"/>
              </a:ex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t="760" b="760"/>
          <a:stretch/>
        </p:blipFill>
        <p:spPr>
          <a:xfrm>
            <a:off x="7724775" y="2041526"/>
            <a:ext cx="4467225" cy="3311524"/>
          </a:xfrm>
        </p:spPr>
      </p:pic>
      <p:sp>
        <p:nvSpPr>
          <p:cNvPr id="5" name="Title 4">
            <a:extLst>
              <a:ext uri="{FF2B5EF4-FFF2-40B4-BE49-F238E27FC236}">
                <a16:creationId xmlns:a16="http://schemas.microsoft.com/office/drawing/2014/main" id="{71EE0FB2-8EAB-5536-98AF-0AF7D0619602}"/>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028F1D29-0819-AB1D-272A-B75377E74716}"/>
              </a:ext>
            </a:extLst>
          </p:cNvPr>
          <p:cNvSpPr>
            <a:spLocks noGrp="1"/>
          </p:cNvSpPr>
          <p:nvPr>
            <p:ph type="body" sz="quarter" idx="16"/>
          </p:nvPr>
        </p:nvSpPr>
        <p:spPr>
          <a:xfrm>
            <a:off x="584199" y="1594155"/>
            <a:ext cx="6185435" cy="609600"/>
          </a:xfrm>
        </p:spPr>
        <p:txBody>
          <a:bodyPr/>
          <a:lstStyle/>
          <a:p>
            <a:r>
              <a:rPr lang="es-ES" sz="2000" b="0" i="0" strike="noStrike" cap="none" baseline="0">
                <a:solidFill>
                  <a:srgbClr val="000000"/>
                </a:solidFill>
                <a:effectLst/>
                <a:latin typeface="Segoe UI Semibold"/>
                <a:ea typeface="Segoe UI Semibold"/>
                <a:cs typeface="Segoe UI Semibold"/>
              </a:rPr>
              <a:t>Desarrollo de una aplicación cliente de comprensión de contenidos</a:t>
            </a:r>
          </a:p>
        </p:txBody>
      </p:sp>
      <p:sp>
        <p:nvSpPr>
          <p:cNvPr id="6" name="Text Placeholder 5">
            <a:extLst>
              <a:ext uri="{FF2B5EF4-FFF2-40B4-BE49-F238E27FC236}">
                <a16:creationId xmlns:a16="http://schemas.microsoft.com/office/drawing/2014/main" id="{728404BA-2DF0-008B-EDDC-05EDF2C8897D}"/>
              </a:ext>
            </a:extLst>
          </p:cNvPr>
          <p:cNvSpPr>
            <a:spLocks noGrp="1"/>
          </p:cNvSpPr>
          <p:nvPr>
            <p:ph type="body" sz="quarter" idx="15"/>
          </p:nvPr>
        </p:nvSpPr>
        <p:spPr>
          <a:xfrm>
            <a:off x="586389" y="2432944"/>
            <a:ext cx="6039344" cy="975360"/>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usarás la API de comprensión de contenidos para: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Creación de un analizador</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Análisis de contenido</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58C376FB-B6A9-B02A-3A29-20FD8FCF44BE}"/>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Inicia el ejercicio en:</a:t>
            </a:r>
          </a:p>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hlinkClick r:id="rId4" history="0"/>
              </a:rPr>
              <a:t>https://go.microsoft.com/fwlink/?linkid=2320464</a:t>
            </a:r>
            <a:r>
              <a:rPr lang="es-ES" sz="1600" b="0" i="0" strike="noStrike" cap="none" baseline="0" dirty="0">
                <a:solidFill>
                  <a:srgbClr val="000000"/>
                </a:solidFill>
                <a:effectLst/>
                <a:latin typeface="Segoe UI"/>
                <a:ea typeface="Segoe UI"/>
                <a:cs typeface="Segoe UI"/>
              </a:rPr>
              <a:t> </a:t>
            </a:r>
          </a:p>
        </p:txBody>
      </p:sp>
      <p:sp>
        <p:nvSpPr>
          <p:cNvPr id="11" name="Flowchart: Off-page Connector 44">
            <a:extLst>
              <a:ext uri="{FF2B5EF4-FFF2-40B4-BE49-F238E27FC236}">
                <a16:creationId xmlns:a16="http://schemas.microsoft.com/office/drawing/2014/main" id="{DD762FA1-20CF-13D3-5E19-91A63937461E}"/>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endParaRPr kumimoji="0" lang="en-US" sz="125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E929AF02-50A9-3470-8653-2A63CE3EDDAD}"/>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388762220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2BB91D5E-20DE-97FE-6AAB-A18132335615}"/>
              </a:ext>
            </a:extLst>
          </p:cNvPr>
          <p:cNvSpPr>
            <a:spLocks noGrp="1"/>
          </p:cNvSpPr>
          <p:nvPr>
            <p:ph type="body" sz="quarter" idx="17"/>
          </p:nvPr>
        </p:nvSpPr>
        <p:spPr>
          <a:xfrm>
            <a:off x="1235075" y="1687706"/>
            <a:ext cx="8778782" cy="213360"/>
          </a:xfrm>
        </p:spPr>
        <p:txBody>
          <a:bodyPr/>
          <a:lstStyle/>
          <a:p>
            <a:pPr>
              <a:buNone/>
            </a:pPr>
            <a:r>
              <a:rPr lang="es-ES" sz="1400" b="0" i="0" strike="noStrike" cap="none" baseline="0">
                <a:solidFill>
                  <a:srgbClr val="000000"/>
                </a:solidFill>
                <a:effectLst/>
                <a:latin typeface="Segoe UI Semibold"/>
                <a:ea typeface="Segoe UI Semibold"/>
                <a:cs typeface="Segoe UI Semibold"/>
              </a:rPr>
              <a:t>¿Qué tipo de soluciones de IA puede ayudarte a crear Azure Content Understanding?</a:t>
            </a:r>
          </a:p>
        </p:txBody>
      </p:sp>
      <p:sp>
        <p:nvSpPr>
          <p:cNvPr id="9" name="Text Placeholder 8">
            <a:extLst>
              <a:ext uri="{FF2B5EF4-FFF2-40B4-BE49-F238E27FC236}">
                <a16:creationId xmlns:a16="http://schemas.microsoft.com/office/drawing/2014/main" id="{6BD2CD61-EA12-FBFF-FE4D-8ABB0630E116}"/>
              </a:ext>
            </a:extLst>
          </p:cNvPr>
          <p:cNvSpPr>
            <a:spLocks noGrp="1"/>
          </p:cNvSpPr>
          <p:nvPr>
            <p:ph type="body" sz="quarter" idx="15"/>
          </p:nvPr>
        </p:nvSpPr>
        <p:spPr>
          <a:xfrm>
            <a:off x="1235075" y="2012919"/>
            <a:ext cx="8775098" cy="725424"/>
          </a:xfrm>
          <a:noFill/>
        </p:spPr>
        <p:txBody>
          <a:bodyPr/>
          <a:lstStyle/>
          <a:p>
            <a:r>
              <a:rPr lang="es-ES" sz="1400" b="0" i="0" strike="noStrike" cap="none" baseline="0">
                <a:solidFill>
                  <a:srgbClr val="000000"/>
                </a:solidFill>
                <a:effectLst/>
                <a:latin typeface="Segoe UI"/>
                <a:ea typeface="Segoe UI"/>
                <a:cs typeface="Segoe UI"/>
              </a:rPr>
              <a:t>Bots de chat que traducen automáticamente entre varios idiomas hablados y escritos.</a:t>
            </a:r>
            <a:endParaRPr lang="en-US" noProof="0">
              <a:solidFill>
                <a:srgbClr val="000000"/>
              </a:solidFill>
            </a:endParaRPr>
          </a:p>
          <a:p>
            <a:r>
              <a:rPr lang="es-ES" sz="1400" b="0" i="0" strike="noStrike" cap="none" baseline="0">
                <a:solidFill>
                  <a:srgbClr val="000000"/>
                </a:solidFill>
                <a:effectLst/>
                <a:latin typeface="Segoe UI"/>
                <a:ea typeface="Segoe UI"/>
                <a:cs typeface="Segoe UI"/>
              </a:rPr>
              <a:t>Analizadores que extraen información de documentos, imágenes, vídeos y archivos de audio</a:t>
            </a:r>
          </a:p>
          <a:p>
            <a:r>
              <a:rPr lang="es-ES" sz="1400" b="0" i="0" strike="noStrike" cap="none" baseline="0">
                <a:solidFill>
                  <a:srgbClr val="000000"/>
                </a:solidFill>
                <a:effectLst/>
                <a:latin typeface="Segoe UI"/>
                <a:ea typeface="Segoe UI"/>
                <a:cs typeface="Segoe UI"/>
              </a:rPr>
              <a:t>Generadores de imágenes que crean visualizaciones basadas en descripciones.</a:t>
            </a:r>
          </a:p>
        </p:txBody>
      </p:sp>
      <p:sp>
        <p:nvSpPr>
          <p:cNvPr id="18" name="Text Placeholder 17">
            <a:extLst>
              <a:ext uri="{FF2B5EF4-FFF2-40B4-BE49-F238E27FC236}">
                <a16:creationId xmlns:a16="http://schemas.microsoft.com/office/drawing/2014/main" id="{95A8C63B-6169-9A98-B0F7-479F68890332}"/>
              </a:ext>
            </a:extLst>
          </p:cNvPr>
          <p:cNvSpPr>
            <a:spLocks noGrp="1"/>
          </p:cNvSpPr>
          <p:nvPr>
            <p:ph type="body" sz="quarter" idx="22"/>
          </p:nvPr>
        </p:nvSpPr>
        <p:spPr>
          <a:xfrm>
            <a:off x="1235075" y="3046370"/>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herramienta gráfica debes usar para crear un proyecto de Azure Content Understanding?</a:t>
            </a:r>
            <a:endParaRPr lang="en-US" b="1" noProof="0"/>
          </a:p>
        </p:txBody>
      </p:sp>
      <p:sp>
        <p:nvSpPr>
          <p:cNvPr id="19" name="Text Placeholder 18">
            <a:extLst>
              <a:ext uri="{FF2B5EF4-FFF2-40B4-BE49-F238E27FC236}">
                <a16:creationId xmlns:a16="http://schemas.microsoft.com/office/drawing/2014/main" id="{34A41BD7-1086-C355-3E5F-4AAE0B778651}"/>
              </a:ext>
            </a:extLst>
          </p:cNvPr>
          <p:cNvSpPr>
            <a:spLocks noGrp="1"/>
          </p:cNvSpPr>
          <p:nvPr>
            <p:ph type="body" sz="quarter" idx="23"/>
          </p:nvPr>
        </p:nvSpPr>
        <p:spPr>
          <a:xfrm>
            <a:off x="1237265" y="3357111"/>
            <a:ext cx="8775098" cy="725424"/>
          </a:xfrm>
        </p:spPr>
        <p:txBody>
          <a:bodyPr/>
          <a:lstStyle/>
          <a:p>
            <a:r>
              <a:rPr lang="es-ES" sz="1400" b="0" i="0" strike="noStrike" cap="none" baseline="0">
                <a:solidFill>
                  <a:srgbClr val="000000"/>
                </a:solidFill>
                <a:effectLst/>
                <a:latin typeface="Segoe UI"/>
                <a:ea typeface="Segoe UI"/>
                <a:cs typeface="Segoe UI"/>
              </a:rPr>
              <a:t>Microsoft Visual Studio</a:t>
            </a:r>
          </a:p>
          <a:p>
            <a:r>
              <a:rPr lang="es-ES" sz="1400" b="0" i="0" strike="noStrike" cap="none" baseline="0">
                <a:solidFill>
                  <a:srgbClr val="000000"/>
                </a:solidFill>
                <a:effectLst/>
                <a:latin typeface="Segoe UI"/>
                <a:ea typeface="Segoe UI"/>
                <a:cs typeface="Segoe UI"/>
              </a:rPr>
              <a:t>Azure Machine Learning Studio</a:t>
            </a:r>
          </a:p>
          <a:p>
            <a:r>
              <a:rPr lang="es-ES" sz="1400" b="0" i="0" strike="noStrike" cap="none" baseline="0">
                <a:solidFill>
                  <a:srgbClr val="000000"/>
                </a:solidFill>
                <a:effectLst/>
                <a:latin typeface="Segoe UI"/>
                <a:ea typeface="Segoe UI"/>
                <a:cs typeface="Segoe UI"/>
              </a:rPr>
              <a:t>Content Understanding Studio</a:t>
            </a:r>
          </a:p>
        </p:txBody>
      </p:sp>
      <p:sp>
        <p:nvSpPr>
          <p:cNvPr id="15" name="Text Placeholder 14">
            <a:extLst>
              <a:ext uri="{FF2B5EF4-FFF2-40B4-BE49-F238E27FC236}">
                <a16:creationId xmlns:a16="http://schemas.microsoft.com/office/drawing/2014/main" id="{40689312-8095-CCFD-22A6-F89AAB2992CD}"/>
              </a:ext>
            </a:extLst>
          </p:cNvPr>
          <p:cNvSpPr>
            <a:spLocks noGrp="1"/>
          </p:cNvSpPr>
          <p:nvPr>
            <p:ph type="body" sz="quarter" idx="20"/>
          </p:nvPr>
        </p:nvSpPr>
        <p:spPr>
          <a:xfrm>
            <a:off x="1235074" y="4389983"/>
            <a:ext cx="8957333" cy="213360"/>
          </a:xfrm>
        </p:spPr>
        <p:txBody>
          <a:bodyPr/>
          <a:lstStyle/>
          <a:p>
            <a:r>
              <a:rPr lang="es-ES" sz="1400" b="1" i="0" strike="noStrike" cap="none" baseline="0">
                <a:solidFill>
                  <a:srgbClr val="000000"/>
                </a:solidFill>
                <a:effectLst/>
                <a:latin typeface="Segoe UI Semibold"/>
                <a:ea typeface="Segoe UI Semibold"/>
                <a:cs typeface="Segoe UI Semibold"/>
              </a:rPr>
              <a:t>¿Qué debes definir para la información que deseas extraer del contenido?</a:t>
            </a:r>
          </a:p>
        </p:txBody>
      </p:sp>
      <p:sp>
        <p:nvSpPr>
          <p:cNvPr id="17" name="Text Placeholder 16">
            <a:extLst>
              <a:ext uri="{FF2B5EF4-FFF2-40B4-BE49-F238E27FC236}">
                <a16:creationId xmlns:a16="http://schemas.microsoft.com/office/drawing/2014/main" id="{1D49697D-DE0C-2ACF-7A46-2A7D4EA740A1}"/>
              </a:ext>
            </a:extLst>
          </p:cNvPr>
          <p:cNvSpPr>
            <a:spLocks noGrp="1"/>
          </p:cNvSpPr>
          <p:nvPr>
            <p:ph type="body" sz="quarter" idx="21"/>
          </p:nvPr>
        </p:nvSpPr>
        <p:spPr>
          <a:xfrm>
            <a:off x="1235075" y="4725133"/>
            <a:ext cx="8775098" cy="725424"/>
          </a:xfrm>
        </p:spPr>
        <p:txBody>
          <a:bodyPr/>
          <a:lstStyle/>
          <a:p>
            <a:r>
              <a:rPr lang="es-ES" sz="1400" b="0" i="0" strike="noStrike" cap="none" baseline="0">
                <a:solidFill>
                  <a:srgbClr val="000000"/>
                </a:solidFill>
                <a:effectLst/>
                <a:latin typeface="Segoe UI"/>
                <a:ea typeface="Segoe UI"/>
                <a:cs typeface="Segoe UI"/>
              </a:rPr>
              <a:t>Un esquema </a:t>
            </a:r>
          </a:p>
          <a:p>
            <a:r>
              <a:rPr lang="es-ES" sz="1400" b="0" i="0" strike="noStrike" cap="none" baseline="0">
                <a:solidFill>
                  <a:srgbClr val="000000"/>
                </a:solidFill>
                <a:effectLst/>
                <a:latin typeface="Segoe UI"/>
                <a:ea typeface="Segoe UI"/>
                <a:cs typeface="Segoe UI"/>
              </a:rPr>
              <a:t>Un índice</a:t>
            </a:r>
          </a:p>
          <a:p>
            <a:r>
              <a:rPr lang="es-ES" sz="1400" b="0" i="0" strike="noStrike" cap="none" baseline="0">
                <a:solidFill>
                  <a:srgbClr val="000000"/>
                </a:solidFill>
                <a:effectLst/>
                <a:latin typeface="Segoe UI"/>
                <a:ea typeface="Segoe UI"/>
                <a:cs typeface="Segoe UI"/>
              </a:rPr>
              <a:t>Un clúster</a:t>
            </a:r>
          </a:p>
        </p:txBody>
      </p:sp>
      <p:sp>
        <p:nvSpPr>
          <p:cNvPr id="76" name="Oval 75">
            <a:extLst>
              <a:ext uri="{FF2B5EF4-FFF2-40B4-BE49-F238E27FC236}">
                <a16:creationId xmlns:a16="http://schemas.microsoft.com/office/drawing/2014/main" id="{407114A2-8BF6-A1A6-2CD6-2CBFBD1551C7}"/>
              </a:ext>
              <a:ext uri="{C183D7F6-B498-43B3-948B-1728B52AA6E4}">
                <adec:decorative xmlns:adec="http://schemas.microsoft.com/office/drawing/2017/decorative" val="1"/>
              </a:ext>
            </a:extLst>
          </p:cNvPr>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endParaRPr lang="es-ES" sz="1800" b="1" i="0" strike="noStrike" cap="none" baseline="0" dirty="0">
              <a:solidFill>
                <a:srgbClr val="000000"/>
              </a:solidFill>
              <a:effectLst/>
              <a:latin typeface="Segoe UI"/>
              <a:ea typeface="Segoe UI"/>
              <a:cs typeface="Segoe UI"/>
            </a:endParaRPr>
          </a:p>
          <a:p>
            <a:pPr marR="0" lvl="0" indent="0" algn="ctr" defTabSz="914400" fontAlgn="auto">
              <a:lnSpc>
                <a:spcPct val="100000"/>
              </a:lnSpc>
              <a:spcBef>
                <a:spcPct val="0"/>
              </a:spcBef>
              <a:spcAft>
                <a:spcPct val="0"/>
              </a:spcAft>
              <a:buClrTx/>
              <a:buSzTx/>
              <a:buFontTx/>
              <a:buNone/>
            </a:pPr>
            <a:r>
              <a:rPr lang="es-ES" sz="1800" b="1" i="0" strike="noStrike" cap="none" baseline="0" dirty="0">
                <a:solidFill>
                  <a:srgbClr val="000000"/>
                </a:solidFill>
                <a:effectLst/>
                <a:latin typeface="Segoe UI"/>
                <a:ea typeface="Segoe UI"/>
                <a:cs typeface="Segoe UI"/>
              </a:rPr>
              <a:t>1</a:t>
            </a:r>
            <a:r>
              <a:rPr lang="es-ES" sz="1800" b="0" i="0" strike="noStrike" cap="none" baseline="0" dirty="0">
                <a:solidFill>
                  <a:srgbClr val="000000"/>
                </a:solidFill>
                <a:effectLst/>
                <a:latin typeface="Segoe UI"/>
                <a:ea typeface="Segoe UI"/>
                <a:cs typeface="Segoe UI"/>
              </a:rPr>
              <a:t>
          </a:t>
            </a:r>
          </a:p>
        </p:txBody>
      </p:sp>
      <p:sp>
        <p:nvSpPr>
          <p:cNvPr id="77" name="Oval 76">
            <a:extLst>
              <a:ext uri="{FF2B5EF4-FFF2-40B4-BE49-F238E27FC236}">
                <a16:creationId xmlns:a16="http://schemas.microsoft.com/office/drawing/2014/main" id="{14ACD916-6FAD-9782-1B88-1B0BC3A12F7E}"/>
              </a:ext>
              <a:ext uri="{C183D7F6-B498-43B3-948B-1728B52AA6E4}">
                <adec:decorative xmlns:adec="http://schemas.microsoft.com/office/drawing/2017/decorative" val="1"/>
              </a:ext>
            </a:extLst>
          </p:cNvPr>
          <p:cNvSpPr/>
          <p:nvPr/>
        </p:nvSpPr>
        <p:spPr bwMode="auto">
          <a:xfrm>
            <a:off x="722582" y="297348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33232D8E-9600-037A-525E-D1CEB4DF77B9}"/>
              </a:ext>
              <a:ext uri="{C183D7F6-B498-43B3-948B-1728B52AA6E4}">
                <adec:decorative xmlns:adec="http://schemas.microsoft.com/office/drawing/2017/decorative" val="1"/>
              </a:ext>
            </a:extLst>
          </p:cNvPr>
          <p:cNvSpPr/>
          <p:nvPr/>
        </p:nvSpPr>
        <p:spPr>
          <a:xfrm>
            <a:off x="1263852" y="390612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78" name="Oval 77">
            <a:extLst>
              <a:ext uri="{FF2B5EF4-FFF2-40B4-BE49-F238E27FC236}">
                <a16:creationId xmlns:a16="http://schemas.microsoft.com/office/drawing/2014/main" id="{FABD4A0D-F27D-198E-C389-B8C1471825CB}"/>
              </a:ext>
              <a:ext uri="{C183D7F6-B498-43B3-948B-1728B52AA6E4}">
                <adec:decorative xmlns:adec="http://schemas.microsoft.com/office/drawing/2017/decorative" val="1"/>
              </a:ext>
            </a:extLst>
          </p:cNvPr>
          <p:cNvSpPr/>
          <p:nvPr/>
        </p:nvSpPr>
        <p:spPr bwMode="auto">
          <a:xfrm>
            <a:off x="722582" y="429810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endParaRPr lang="es-ES" sz="1800" b="1" i="0" strike="noStrike" cap="none" baseline="0" dirty="0">
              <a:solidFill>
                <a:srgbClr val="000000"/>
              </a:solidFill>
              <a:effectLst/>
              <a:latin typeface="Segoe UI"/>
              <a:ea typeface="Segoe UI"/>
              <a:cs typeface="Segoe UI"/>
            </a:endParaRPr>
          </a:p>
          <a:p>
            <a:pPr marR="0" lvl="0" indent="0" algn="ctr" defTabSz="914400" fontAlgn="auto">
              <a:lnSpc>
                <a:spcPct val="100000"/>
              </a:lnSpc>
              <a:spcBef>
                <a:spcPct val="0"/>
              </a:spcBef>
              <a:spcAft>
                <a:spcPct val="0"/>
              </a:spcAft>
              <a:buClrTx/>
              <a:buSzTx/>
              <a:buFontTx/>
              <a:buNone/>
            </a:pPr>
            <a:r>
              <a:rPr lang="es-ES" sz="1800" b="1" i="0" strike="noStrike" cap="none" baseline="0" dirty="0">
                <a:solidFill>
                  <a:srgbClr val="000000"/>
                </a:solidFill>
                <a:effectLst/>
                <a:latin typeface="Segoe UI"/>
                <a:ea typeface="Segoe UI"/>
                <a:cs typeface="Segoe UI"/>
              </a:rPr>
              <a:t>3</a:t>
            </a:r>
            <a:r>
              <a:rPr lang="es-ES" sz="1800" b="0" i="0" strike="noStrike" cap="none" baseline="0" dirty="0">
                <a:solidFill>
                  <a:srgbClr val="000000"/>
                </a:solidFill>
                <a:effectLst/>
                <a:latin typeface="Segoe UI"/>
                <a:ea typeface="Segoe UI"/>
                <a:cs typeface="Segoe UI"/>
              </a:rPr>
              <a:t>
          </a:t>
            </a:r>
          </a:p>
        </p:txBody>
      </p:sp>
      <p:sp>
        <p:nvSpPr>
          <p:cNvPr id="81" name="Graphic 26">
            <a:extLst>
              <a:ext uri="{FF2B5EF4-FFF2-40B4-BE49-F238E27FC236}">
                <a16:creationId xmlns:a16="http://schemas.microsoft.com/office/drawing/2014/main" id="{0971EFD5-5C2D-6201-133A-7531D6D2C7C1}"/>
              </a:ext>
              <a:ext uri="{C183D7F6-B498-43B3-948B-1728B52AA6E4}">
                <adec:decorative xmlns:adec="http://schemas.microsoft.com/office/drawing/2017/decorative" val="1"/>
              </a:ext>
            </a:extLst>
          </p:cNvPr>
          <p:cNvSpPr/>
          <p:nvPr/>
        </p:nvSpPr>
        <p:spPr>
          <a:xfrm>
            <a:off x="1263852" y="475721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73EFA5EC-BE50-D924-BC3E-285D8A5882FE}"/>
              </a:ext>
              <a:ext uri="{C183D7F6-B498-43B3-948B-1728B52AA6E4}">
                <adec:decorative xmlns:adec="http://schemas.microsoft.com/office/drawing/2017/decorative" val="1"/>
              </a:ext>
            </a:extLst>
          </p:cNvPr>
          <p:cNvSpPr/>
          <p:nvPr/>
        </p:nvSpPr>
        <p:spPr>
          <a:xfrm>
            <a:off x="1256418" y="230340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4112033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08CB-CE9F-2B72-DF31-7FAB911DF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CC04-9B76-E93C-972A-A2B467854D5E}"/>
              </a:ext>
            </a:extLst>
          </p:cNvPr>
          <p:cNvSpPr>
            <a:spLocks noGrp="1"/>
          </p:cNvSpPr>
          <p:nvPr>
            <p:ph type="title"/>
          </p:nvPr>
        </p:nvSpPr>
        <p:spPr>
          <a:xfrm>
            <a:off x="569911" y="1561763"/>
            <a:ext cx="6737669" cy="2438400"/>
          </a:xfrm>
        </p:spPr>
        <p:txBody>
          <a:bodyPr/>
          <a:lstStyle/>
          <a:p>
            <a:r>
              <a:rPr lang="es-ES" sz="4000" b="0" i="0" strike="noStrike" cap="none" baseline="0">
                <a:solidFill>
                  <a:srgbClr val="000000"/>
                </a:solidFill>
                <a:effectLst/>
                <a:latin typeface="Segoe UI"/>
                <a:ea typeface="Segoe UI"/>
                <a:cs typeface="Segoe UI"/>
              </a:rPr>
              <a:t>Creación de una solución de minería de conocimientos con Azure AI Search</a:t>
            </a:r>
          </a:p>
        </p:txBody>
      </p:sp>
      <p:sp>
        <p:nvSpPr>
          <p:cNvPr id="4" name="TextBox 3">
            <a:extLst>
              <a:ext uri="{FF2B5EF4-FFF2-40B4-BE49-F238E27FC236}">
                <a16:creationId xmlns:a16="http://schemas.microsoft.com/office/drawing/2014/main" id="{3FA8109B-8A88-0A91-A78B-DD790C3EA0AA}"/>
              </a:ext>
            </a:extLst>
          </p:cNvPr>
          <p:cNvSpPr txBox="1"/>
          <p:nvPr/>
        </p:nvSpPr>
        <p:spPr>
          <a:xfrm>
            <a:off x="495300" y="4000163"/>
            <a:ext cx="6096000" cy="361188"/>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https://aka.ms/mslearn-ai-knowledge-mining</a:t>
            </a:r>
            <a:endParaRPr lang="en-US">
              <a:solidFill>
                <a:schemeClr val="accent2"/>
              </a:solidFill>
              <a:highlight>
                <a:srgbClr val="FFFF00"/>
              </a:highlight>
            </a:endParaRPr>
          </a:p>
        </p:txBody>
      </p:sp>
    </p:spTree>
    <p:extLst>
      <p:ext uri="{BB962C8B-B14F-4D97-AF65-F5344CB8AC3E}">
        <p14:creationId xmlns:p14="http://schemas.microsoft.com/office/powerpoint/2010/main" val="386153404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644EFA-D468-C0F1-A9A7-E3B57B68976F}"/>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¿Qué es Azure AI Search?</a:t>
            </a:r>
          </a:p>
        </p:txBody>
      </p:sp>
      <p:sp>
        <p:nvSpPr>
          <p:cNvPr id="7" name="TextBox 6">
            <a:extLst>
              <a:ext uri="{FF2B5EF4-FFF2-40B4-BE49-F238E27FC236}">
                <a16:creationId xmlns:a16="http://schemas.microsoft.com/office/drawing/2014/main" id="{AA7F16D9-5EA3-E781-D513-1E5C2AA40E89}"/>
              </a:ext>
            </a:extLst>
          </p:cNvPr>
          <p:cNvSpPr txBox="1"/>
          <p:nvPr/>
        </p:nvSpPr>
        <p:spPr>
          <a:xfrm>
            <a:off x="522515" y="3859262"/>
            <a:ext cx="5573486" cy="1762021"/>
          </a:xfrm>
          <a:prstGeom prst="rect">
            <a:avLst/>
          </a:prstGeom>
          <a:noFill/>
        </p:spPr>
        <p:txBody>
          <a:bodyPr wrap="square">
            <a:spAutoFit/>
          </a:bodyPr>
          <a:lstStyle/>
          <a:p>
            <a:pPr algn="l">
              <a:buNone/>
            </a:pPr>
            <a:r>
              <a:rPr lang="es-ES" sz="1800" b="0" i="0" strike="noStrike" cap="none" baseline="0" dirty="0">
                <a:solidFill>
                  <a:srgbClr val="161616"/>
                </a:solidFill>
                <a:effectLst/>
                <a:latin typeface="Segoe UI"/>
                <a:ea typeface="Segoe UI"/>
                <a:cs typeface="Segoe UI"/>
              </a:rPr>
              <a:t>Principales funcionalidades:</a:t>
            </a:r>
          </a:p>
          <a:p>
            <a:pPr algn="l">
              <a:buNone/>
            </a:pPr>
            <a:endParaRPr lang="en-US" sz="12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s-ES" sz="1570" b="0" i="1" strike="noStrike" cap="none" baseline="0" dirty="0">
                <a:solidFill>
                  <a:srgbClr val="161616"/>
                </a:solidFill>
                <a:effectLst/>
                <a:latin typeface="Segoe UI"/>
                <a:ea typeface="Segoe UI"/>
                <a:cs typeface="Segoe UI"/>
              </a:rPr>
              <a:t>Indexación inteligente</a:t>
            </a:r>
            <a:r>
              <a:rPr lang="es-ES" sz="1570" b="0" i="0" strike="noStrike" cap="none" baseline="0" dirty="0">
                <a:solidFill>
                  <a:srgbClr val="161616"/>
                </a:solidFill>
                <a:effectLst/>
                <a:latin typeface="Segoe UI"/>
                <a:ea typeface="Segoe UI"/>
                <a:cs typeface="Segoe UI"/>
              </a:rPr>
              <a:t>: indexa documentos y datos</a:t>
            </a:r>
            <a:br>
              <a:rPr lang="es-ES" sz="1570" b="0" i="0" strike="noStrike" cap="none" baseline="0" dirty="0">
                <a:solidFill>
                  <a:srgbClr val="161616"/>
                </a:solidFill>
                <a:effectLst/>
                <a:latin typeface="Segoe UI"/>
                <a:ea typeface="Segoe UI"/>
                <a:cs typeface="Segoe UI"/>
              </a:rPr>
            </a:br>
            <a:r>
              <a:rPr lang="es-ES" sz="1570" b="0" i="0" strike="noStrike" cap="none" baseline="0" dirty="0">
                <a:solidFill>
                  <a:srgbClr val="161616"/>
                </a:solidFill>
                <a:effectLst/>
                <a:latin typeface="Segoe UI"/>
                <a:ea typeface="Segoe UI"/>
                <a:cs typeface="Segoe UI"/>
              </a:rPr>
              <a:t>de una variedad de orígenes, incluidas las imágenes.</a:t>
            </a:r>
          </a:p>
          <a:p>
            <a:pPr marL="285750" indent="-285750" algn="l">
              <a:buFont typeface="Arial" panose="020B0604020202020204" pitchFamily="34" charset="0"/>
              <a:buChar char="•"/>
            </a:pPr>
            <a:r>
              <a:rPr lang="es-ES" sz="1570" b="0" i="1" strike="noStrike" cap="none" baseline="0" dirty="0">
                <a:solidFill>
                  <a:srgbClr val="161616"/>
                </a:solidFill>
                <a:effectLst/>
                <a:latin typeface="Segoe UI"/>
                <a:ea typeface="Segoe UI"/>
                <a:cs typeface="Segoe UI"/>
              </a:rPr>
              <a:t>Enriquecimiento con IA</a:t>
            </a:r>
            <a:r>
              <a:rPr lang="es-ES" sz="1570" b="0" i="0" strike="noStrike" cap="none" baseline="0" dirty="0">
                <a:solidFill>
                  <a:srgbClr val="161616"/>
                </a:solidFill>
                <a:effectLst/>
                <a:latin typeface="Segoe UI"/>
                <a:ea typeface="Segoe UI"/>
                <a:cs typeface="Segoe UI"/>
              </a:rPr>
              <a:t>: usa habilidades de IA para enriquecer datos indexados.</a:t>
            </a:r>
          </a:p>
          <a:p>
            <a:pPr marL="285750" indent="-285750" algn="l">
              <a:buFont typeface="Arial" panose="020B0604020202020204" pitchFamily="34" charset="0"/>
              <a:buChar char="•"/>
            </a:pPr>
            <a:r>
              <a:rPr lang="es-ES" sz="1570" b="0" i="1" strike="noStrike" cap="none" baseline="0" dirty="0">
                <a:solidFill>
                  <a:srgbClr val="161616"/>
                </a:solidFill>
                <a:effectLst/>
                <a:latin typeface="Segoe UI"/>
                <a:ea typeface="Segoe UI"/>
                <a:cs typeface="Segoe UI"/>
              </a:rPr>
              <a:t>Vectorización</a:t>
            </a:r>
            <a:r>
              <a:rPr lang="es-ES" sz="1570" b="0" i="0" strike="noStrike" cap="none" baseline="0" dirty="0">
                <a:solidFill>
                  <a:srgbClr val="161616"/>
                </a:solidFill>
                <a:effectLst/>
                <a:latin typeface="Segoe UI"/>
                <a:ea typeface="Segoe UI"/>
                <a:cs typeface="Segoe UI"/>
              </a:rPr>
              <a:t>: admite cargas de trabajo de agentes.</a:t>
            </a:r>
            <a:endParaRPr lang="en-US" sz="1570" b="0" i="0" dirty="0">
              <a:solidFill>
                <a:srgbClr val="161616"/>
              </a:solidFill>
              <a:effectLst/>
              <a:latin typeface="Segoe UI" panose="020B0502040204020203" pitchFamily="34" charset="0"/>
            </a:endParaRPr>
          </a:p>
        </p:txBody>
      </p:sp>
      <p:sp>
        <p:nvSpPr>
          <p:cNvPr id="3" name="Footer Placeholder 2">
            <a:extLst>
              <a:ext uri="{FF2B5EF4-FFF2-40B4-BE49-F238E27FC236}">
                <a16:creationId xmlns:a16="http://schemas.microsoft.com/office/drawing/2014/main" id="{3F39ABD6-210D-502B-681C-C2D8B7FA5CE1}"/>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61" name="Group 60" descr="Diagram showing how Azure AI Search can apply to many different solutions.">
            <a:extLst>
              <a:ext uri="{FF2B5EF4-FFF2-40B4-BE49-F238E27FC236}">
                <a16:creationId xmlns:a16="http://schemas.microsoft.com/office/drawing/2014/main" id="{4C257740-4819-BCB6-7166-6F65DC0C4E68}"/>
              </a:ext>
            </a:extLst>
          </p:cNvPr>
          <p:cNvGrpSpPr/>
          <p:nvPr/>
        </p:nvGrpSpPr>
        <p:grpSpPr>
          <a:xfrm>
            <a:off x="3634549" y="1129554"/>
            <a:ext cx="4582728" cy="2676664"/>
            <a:chOff x="2710775" y="1202204"/>
            <a:chExt cx="4356917" cy="2550362"/>
          </a:xfrm>
        </p:grpSpPr>
        <p:pic>
          <p:nvPicPr>
            <p:cNvPr id="64" name="Graphic 63">
              <a:extLst>
                <a:ext uri="{FF2B5EF4-FFF2-40B4-BE49-F238E27FC236}">
                  <a16:creationId xmlns:a16="http://schemas.microsoft.com/office/drawing/2014/main" id="{5257B6D0-C62B-8B6E-DEA4-FEAF474DFD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1990" y="1202204"/>
              <a:ext cx="1100031" cy="1100031"/>
            </a:xfrm>
            <a:prstGeom prst="rect">
              <a:avLst/>
            </a:prstGeom>
          </p:spPr>
        </p:pic>
        <p:grpSp>
          <p:nvGrpSpPr>
            <p:cNvPr id="65" name="Group 64">
              <a:extLst>
                <a:ext uri="{FF2B5EF4-FFF2-40B4-BE49-F238E27FC236}">
                  <a16:creationId xmlns:a16="http://schemas.microsoft.com/office/drawing/2014/main" id="{70372824-5739-F328-8CB7-0A8871DD9561}"/>
                </a:ext>
              </a:extLst>
            </p:cNvPr>
            <p:cNvGrpSpPr/>
            <p:nvPr/>
          </p:nvGrpSpPr>
          <p:grpSpPr>
            <a:xfrm>
              <a:off x="2710775" y="2527830"/>
              <a:ext cx="1224736" cy="1224736"/>
              <a:chOff x="3025941" y="2344903"/>
              <a:chExt cx="1277817" cy="1277817"/>
            </a:xfrm>
          </p:grpSpPr>
          <p:pic>
            <p:nvPicPr>
              <p:cNvPr id="86" name="Graphic 85" descr="Magnifying glass with solid fill">
                <a:extLst>
                  <a:ext uri="{FF2B5EF4-FFF2-40B4-BE49-F238E27FC236}">
                    <a16:creationId xmlns:a16="http://schemas.microsoft.com/office/drawing/2014/main" id="{D2FBCB12-35BC-0BA3-BC4E-14EBF527C1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4848" y="2840291"/>
                <a:ext cx="287039" cy="287039"/>
              </a:xfrm>
              <a:prstGeom prst="rect">
                <a:avLst/>
              </a:prstGeom>
            </p:spPr>
          </p:pic>
          <p:pic>
            <p:nvPicPr>
              <p:cNvPr id="87" name="Graphic 86" descr="World outline">
                <a:extLst>
                  <a:ext uri="{FF2B5EF4-FFF2-40B4-BE49-F238E27FC236}">
                    <a16:creationId xmlns:a16="http://schemas.microsoft.com/office/drawing/2014/main" id="{CCD83263-2CAF-90C3-D281-8AC817CFF8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0417" y="2738043"/>
                <a:ext cx="328863" cy="328863"/>
              </a:xfrm>
              <a:prstGeom prst="rect">
                <a:avLst/>
              </a:prstGeom>
            </p:spPr>
          </p:pic>
          <p:pic>
            <p:nvPicPr>
              <p:cNvPr id="88" name="Graphic 87" descr="Laptop outline">
                <a:extLst>
                  <a:ext uri="{FF2B5EF4-FFF2-40B4-BE49-F238E27FC236}">
                    <a16:creationId xmlns:a16="http://schemas.microsoft.com/office/drawing/2014/main" id="{EF444ED9-695C-A372-C45D-9912D2087C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25941" y="2344903"/>
                <a:ext cx="1277817" cy="1277817"/>
              </a:xfrm>
              <a:prstGeom prst="rect">
                <a:avLst/>
              </a:prstGeom>
            </p:spPr>
          </p:pic>
        </p:grpSp>
        <p:grpSp>
          <p:nvGrpSpPr>
            <p:cNvPr id="66" name="Group 65">
              <a:extLst>
                <a:ext uri="{FF2B5EF4-FFF2-40B4-BE49-F238E27FC236}">
                  <a16:creationId xmlns:a16="http://schemas.microsoft.com/office/drawing/2014/main" id="{618B7A23-95B9-CC26-B722-EEC9A235572B}"/>
                </a:ext>
              </a:extLst>
            </p:cNvPr>
            <p:cNvGrpSpPr/>
            <p:nvPr/>
          </p:nvGrpSpPr>
          <p:grpSpPr>
            <a:xfrm>
              <a:off x="5640445" y="2666357"/>
              <a:ext cx="1427247" cy="947677"/>
              <a:chOff x="2150777" y="3946050"/>
              <a:chExt cx="2548413" cy="1692121"/>
            </a:xfrm>
          </p:grpSpPr>
          <p:sp>
            <p:nvSpPr>
              <p:cNvPr id="71" name="Arrow: Right 70">
                <a:extLst>
                  <a:ext uri="{FF2B5EF4-FFF2-40B4-BE49-F238E27FC236}">
                    <a16:creationId xmlns:a16="http://schemas.microsoft.com/office/drawing/2014/main" id="{70742238-66A3-A223-7A3D-3919E677F331}"/>
                  </a:ext>
                </a:extLst>
              </p:cNvPr>
              <p:cNvSpPr/>
              <p:nvPr/>
            </p:nvSpPr>
            <p:spPr>
              <a:xfrm>
                <a:off x="3066839" y="4507371"/>
                <a:ext cx="966485" cy="651638"/>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72" name="Group 71">
                <a:extLst>
                  <a:ext uri="{FF2B5EF4-FFF2-40B4-BE49-F238E27FC236}">
                    <a16:creationId xmlns:a16="http://schemas.microsoft.com/office/drawing/2014/main" id="{97341AA5-FE62-29A5-4F8D-F236DA024F2E}"/>
                  </a:ext>
                </a:extLst>
              </p:cNvPr>
              <p:cNvGrpSpPr/>
              <p:nvPr/>
            </p:nvGrpSpPr>
            <p:grpSpPr>
              <a:xfrm rot="372238">
                <a:off x="2213432" y="4723771"/>
                <a:ext cx="914400" cy="914400"/>
                <a:chOff x="3206996" y="3748009"/>
                <a:chExt cx="914400" cy="914400"/>
              </a:xfrm>
            </p:grpSpPr>
            <p:sp>
              <p:nvSpPr>
                <p:cNvPr id="84" name="Rectangle 83">
                  <a:extLst>
                    <a:ext uri="{FF2B5EF4-FFF2-40B4-BE49-F238E27FC236}">
                      <a16:creationId xmlns:a16="http://schemas.microsoft.com/office/drawing/2014/main" id="{9E9A6FBD-715C-408B-B394-3B63BD84F84F}"/>
                    </a:ext>
                  </a:extLst>
                </p:cNvPr>
                <p:cNvSpPr/>
                <p:nvPr/>
              </p:nvSpPr>
              <p:spPr>
                <a:xfrm>
                  <a:off x="3389467" y="3843230"/>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5" name="Graphic 84" descr="Contract outline">
                  <a:extLst>
                    <a:ext uri="{FF2B5EF4-FFF2-40B4-BE49-F238E27FC236}">
                      <a16:creationId xmlns:a16="http://schemas.microsoft.com/office/drawing/2014/main" id="{79228374-33E9-1A8C-FCA3-EED264323FA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06996" y="3748009"/>
                  <a:ext cx="914400" cy="914400"/>
                </a:xfrm>
                <a:prstGeom prst="rect">
                  <a:avLst/>
                </a:prstGeom>
              </p:spPr>
            </p:pic>
          </p:grpSp>
          <p:grpSp>
            <p:nvGrpSpPr>
              <p:cNvPr id="73" name="Group 72">
                <a:extLst>
                  <a:ext uri="{FF2B5EF4-FFF2-40B4-BE49-F238E27FC236}">
                    <a16:creationId xmlns:a16="http://schemas.microsoft.com/office/drawing/2014/main" id="{0684BAA2-CC41-D69D-873B-FDE63ABF3FC0}"/>
                  </a:ext>
                </a:extLst>
              </p:cNvPr>
              <p:cNvGrpSpPr/>
              <p:nvPr/>
            </p:nvGrpSpPr>
            <p:grpSpPr>
              <a:xfrm rot="21112204">
                <a:off x="2150777" y="3946050"/>
                <a:ext cx="914400" cy="914400"/>
                <a:chOff x="3116357" y="5130609"/>
                <a:chExt cx="914400" cy="914400"/>
              </a:xfrm>
            </p:grpSpPr>
            <p:sp>
              <p:nvSpPr>
                <p:cNvPr id="82" name="Rectangle 81">
                  <a:extLst>
                    <a:ext uri="{FF2B5EF4-FFF2-40B4-BE49-F238E27FC236}">
                      <a16:creationId xmlns:a16="http://schemas.microsoft.com/office/drawing/2014/main" id="{A5A8D2BC-CBFD-1297-A119-030FCB258DAF}"/>
                    </a:ext>
                  </a:extLst>
                </p:cNvPr>
                <p:cNvSpPr/>
                <p:nvPr/>
              </p:nvSpPr>
              <p:spPr>
                <a:xfrm>
                  <a:off x="3285078" y="5211691"/>
                  <a:ext cx="56620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3" name="Graphic 82" descr="Document outline">
                  <a:extLst>
                    <a:ext uri="{FF2B5EF4-FFF2-40B4-BE49-F238E27FC236}">
                      <a16:creationId xmlns:a16="http://schemas.microsoft.com/office/drawing/2014/main" id="{E9F0F14A-5061-8E1E-5BB1-CFB441EBEA3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16357" y="5130609"/>
                  <a:ext cx="914400" cy="914400"/>
                </a:xfrm>
                <a:prstGeom prst="rect">
                  <a:avLst/>
                </a:prstGeom>
              </p:spPr>
            </p:pic>
          </p:grpSp>
          <p:grpSp>
            <p:nvGrpSpPr>
              <p:cNvPr id="74" name="Group 73">
                <a:extLst>
                  <a:ext uri="{FF2B5EF4-FFF2-40B4-BE49-F238E27FC236}">
                    <a16:creationId xmlns:a16="http://schemas.microsoft.com/office/drawing/2014/main" id="{AA249131-2D4E-82CB-ABAA-A214BEB858A0}"/>
                  </a:ext>
                </a:extLst>
              </p:cNvPr>
              <p:cNvGrpSpPr/>
              <p:nvPr/>
            </p:nvGrpSpPr>
            <p:grpSpPr>
              <a:xfrm>
                <a:off x="3784790" y="4375990"/>
                <a:ext cx="914400" cy="914400"/>
                <a:chOff x="4105545" y="4389593"/>
                <a:chExt cx="914400" cy="914400"/>
              </a:xfrm>
            </p:grpSpPr>
            <p:sp>
              <p:nvSpPr>
                <p:cNvPr id="80" name="Rectangle 79">
                  <a:extLst>
                    <a:ext uri="{FF2B5EF4-FFF2-40B4-BE49-F238E27FC236}">
                      <a16:creationId xmlns:a16="http://schemas.microsoft.com/office/drawing/2014/main" id="{8324F1C1-B0EF-2359-6697-5A863B1A03FE}"/>
                    </a:ext>
                  </a:extLst>
                </p:cNvPr>
                <p:cNvSpPr/>
                <p:nvPr/>
              </p:nvSpPr>
              <p:spPr>
                <a:xfrm>
                  <a:off x="4286519" y="4472128"/>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1" name="Graphic 80" descr="Checklist outline">
                  <a:extLst>
                    <a:ext uri="{FF2B5EF4-FFF2-40B4-BE49-F238E27FC236}">
                      <a16:creationId xmlns:a16="http://schemas.microsoft.com/office/drawing/2014/main" id="{38E3B967-C1B3-6372-AEF6-51B042D268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05545" y="4389593"/>
                  <a:ext cx="914400" cy="914400"/>
                </a:xfrm>
                <a:prstGeom prst="rect">
                  <a:avLst/>
                </a:prstGeom>
              </p:spPr>
            </p:pic>
          </p:grpSp>
          <p:grpSp>
            <p:nvGrpSpPr>
              <p:cNvPr id="75" name="Group 74">
                <a:extLst>
                  <a:ext uri="{FF2B5EF4-FFF2-40B4-BE49-F238E27FC236}">
                    <a16:creationId xmlns:a16="http://schemas.microsoft.com/office/drawing/2014/main" id="{95B58738-2366-9D85-A5D7-D6EC1E134195}"/>
                  </a:ext>
                </a:extLst>
              </p:cNvPr>
              <p:cNvGrpSpPr/>
              <p:nvPr/>
            </p:nvGrpSpPr>
            <p:grpSpPr>
              <a:xfrm>
                <a:off x="2545194" y="4272326"/>
                <a:ext cx="914400" cy="914400"/>
                <a:chOff x="2627878" y="4280734"/>
                <a:chExt cx="914400" cy="914400"/>
              </a:xfrm>
            </p:grpSpPr>
            <p:sp>
              <p:nvSpPr>
                <p:cNvPr id="76" name="Rectangle 75">
                  <a:extLst>
                    <a:ext uri="{FF2B5EF4-FFF2-40B4-BE49-F238E27FC236}">
                      <a16:creationId xmlns:a16="http://schemas.microsoft.com/office/drawing/2014/main" id="{497BE9C0-A690-3E17-9D85-1750822CB3F5}"/>
                    </a:ext>
                  </a:extLst>
                </p:cNvPr>
                <p:cNvSpPr/>
                <p:nvPr/>
              </p:nvSpPr>
              <p:spPr>
                <a:xfrm>
                  <a:off x="2802808" y="4363269"/>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77" name="Group 76">
                  <a:extLst>
                    <a:ext uri="{FF2B5EF4-FFF2-40B4-BE49-F238E27FC236}">
                      <a16:creationId xmlns:a16="http://schemas.microsoft.com/office/drawing/2014/main" id="{EB538052-27D1-E376-CAF5-0D7B67A8516A}"/>
                    </a:ext>
                  </a:extLst>
                </p:cNvPr>
                <p:cNvGrpSpPr/>
                <p:nvPr/>
              </p:nvGrpSpPr>
              <p:grpSpPr>
                <a:xfrm>
                  <a:off x="2627878" y="4280734"/>
                  <a:ext cx="914400" cy="914400"/>
                  <a:chOff x="2627878" y="4280734"/>
                  <a:chExt cx="914400" cy="914400"/>
                </a:xfrm>
              </p:grpSpPr>
              <p:pic>
                <p:nvPicPr>
                  <p:cNvPr id="78" name="Graphic 77" descr="Paper outline">
                    <a:extLst>
                      <a:ext uri="{FF2B5EF4-FFF2-40B4-BE49-F238E27FC236}">
                        <a16:creationId xmlns:a16="http://schemas.microsoft.com/office/drawing/2014/main" id="{21FE4AC8-7FE2-0985-5902-AE8762F622B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27878" y="4280734"/>
                    <a:ext cx="914400" cy="914400"/>
                  </a:xfrm>
                  <a:prstGeom prst="rect">
                    <a:avLst/>
                  </a:prstGeom>
                </p:spPr>
              </p:pic>
              <p:pic>
                <p:nvPicPr>
                  <p:cNvPr id="79" name="Graphic 78" descr="Polaroid Pictures outline">
                    <a:extLst>
                      <a:ext uri="{FF2B5EF4-FFF2-40B4-BE49-F238E27FC236}">
                        <a16:creationId xmlns:a16="http://schemas.microsoft.com/office/drawing/2014/main" id="{4624C6AF-DD40-E1B3-EB56-7AFBC2B3A3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21106" y="4592559"/>
                    <a:ext cx="477336" cy="477336"/>
                  </a:xfrm>
                  <a:prstGeom prst="rect">
                    <a:avLst/>
                  </a:prstGeom>
                </p:spPr>
              </p:pic>
            </p:grpSp>
          </p:grpSp>
        </p:grpSp>
        <p:grpSp>
          <p:nvGrpSpPr>
            <p:cNvPr id="67" name="Group 66">
              <a:extLst>
                <a:ext uri="{FF2B5EF4-FFF2-40B4-BE49-F238E27FC236}">
                  <a16:creationId xmlns:a16="http://schemas.microsoft.com/office/drawing/2014/main" id="{0BC8AB45-BAD7-5604-5884-040CB6309002}"/>
                </a:ext>
              </a:extLst>
            </p:cNvPr>
            <p:cNvGrpSpPr/>
            <p:nvPr/>
          </p:nvGrpSpPr>
          <p:grpSpPr>
            <a:xfrm>
              <a:off x="4330048" y="2741961"/>
              <a:ext cx="914400" cy="955760"/>
              <a:chOff x="4386761" y="3118883"/>
              <a:chExt cx="914400" cy="955760"/>
            </a:xfrm>
          </p:grpSpPr>
          <p:pic>
            <p:nvPicPr>
              <p:cNvPr id="69" name="Graphic 68" descr="Cube with solid fill">
                <a:extLst>
                  <a:ext uri="{FF2B5EF4-FFF2-40B4-BE49-F238E27FC236}">
                    <a16:creationId xmlns:a16="http://schemas.microsoft.com/office/drawing/2014/main" id="{6E5416AA-80B7-B170-A80F-0647D68A5E5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905027" y="3118883"/>
                <a:ext cx="324798" cy="324798"/>
              </a:xfrm>
              <a:prstGeom prst="rect">
                <a:avLst/>
              </a:prstGeom>
            </p:spPr>
          </p:pic>
          <p:pic>
            <p:nvPicPr>
              <p:cNvPr id="70" name="Graphic 69" descr="Chat outline">
                <a:extLst>
                  <a:ext uri="{FF2B5EF4-FFF2-40B4-BE49-F238E27FC236}">
                    <a16:creationId xmlns:a16="http://schemas.microsoft.com/office/drawing/2014/main" id="{CABAAB33-F4E9-37FB-8A47-36C44883AA4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86761" y="3160243"/>
                <a:ext cx="914400" cy="914400"/>
              </a:xfrm>
              <a:prstGeom prst="rect">
                <a:avLst/>
              </a:prstGeom>
            </p:spPr>
          </p:pic>
        </p:grpSp>
        <p:sp>
          <p:nvSpPr>
            <p:cNvPr id="68" name="Left Brace 67">
              <a:extLst>
                <a:ext uri="{FF2B5EF4-FFF2-40B4-BE49-F238E27FC236}">
                  <a16:creationId xmlns:a16="http://schemas.microsoft.com/office/drawing/2014/main" id="{DEB79356-D00A-DF08-CC8A-BA866B7122A1}"/>
                </a:ext>
              </a:extLst>
            </p:cNvPr>
            <p:cNvSpPr/>
            <p:nvPr/>
          </p:nvSpPr>
          <p:spPr>
            <a:xfrm rot="5400000">
              <a:off x="4737898" y="952497"/>
              <a:ext cx="222454" cy="2928212"/>
            </a:xfrm>
            <a:prstGeom prst="lef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89" name="TextBox 88">
            <a:extLst>
              <a:ext uri="{FF2B5EF4-FFF2-40B4-BE49-F238E27FC236}">
                <a16:creationId xmlns:a16="http://schemas.microsoft.com/office/drawing/2014/main" id="{A0BBDD04-F2A7-9F29-8BFF-64D2AA1E48BA}"/>
              </a:ext>
            </a:extLst>
          </p:cNvPr>
          <p:cNvSpPr txBox="1"/>
          <p:nvPr/>
        </p:nvSpPr>
        <p:spPr>
          <a:xfrm>
            <a:off x="6394031" y="3859262"/>
            <a:ext cx="5367985" cy="2245230"/>
          </a:xfrm>
          <a:prstGeom prst="rect">
            <a:avLst/>
          </a:prstGeom>
          <a:noFill/>
        </p:spPr>
        <p:txBody>
          <a:bodyPr wrap="square">
            <a:spAutoFit/>
          </a:bodyPr>
          <a:lstStyle/>
          <a:p>
            <a:pPr algn="l">
              <a:buNone/>
            </a:pPr>
            <a:r>
              <a:rPr lang="es-ES" sz="1800" b="0" i="0" strike="noStrike" cap="none" baseline="0" dirty="0">
                <a:solidFill>
                  <a:srgbClr val="161616"/>
                </a:solidFill>
                <a:effectLst/>
                <a:latin typeface="Segoe UI"/>
                <a:ea typeface="Segoe UI"/>
                <a:cs typeface="Segoe UI"/>
              </a:rPr>
              <a:t>Aplicaciones principales:</a:t>
            </a:r>
          </a:p>
          <a:p>
            <a:pPr algn="l">
              <a:buNone/>
            </a:pPr>
            <a:endParaRPr lang="en-US" sz="1200" b="0" i="0" dirty="0">
              <a:solidFill>
                <a:srgbClr val="161616"/>
              </a:solidFill>
              <a:effectLst/>
              <a:latin typeface="Segoe UI" panose="020B0502040204020203" pitchFamily="34" charset="0"/>
            </a:endParaRPr>
          </a:p>
          <a:p>
            <a:pPr marL="285750" indent="-285750">
              <a:buFont typeface="Arial" panose="020B0604020202020204" pitchFamily="34" charset="0"/>
              <a:buChar char="•"/>
            </a:pPr>
            <a:r>
              <a:rPr lang="es-ES" sz="1570" b="0" i="1" strike="noStrike" cap="none" baseline="0" dirty="0">
                <a:solidFill>
                  <a:srgbClr val="161616"/>
                </a:solidFill>
                <a:effectLst/>
                <a:latin typeface="Segoe UI"/>
                <a:ea typeface="Segoe UI"/>
                <a:cs typeface="Segoe UI"/>
              </a:rPr>
              <a:t>Motor de búsqueda Enterprise Search</a:t>
            </a:r>
            <a:r>
              <a:rPr lang="es-ES" sz="1570" b="0" i="0" strike="noStrike" cap="none" baseline="0" dirty="0">
                <a:solidFill>
                  <a:srgbClr val="161616"/>
                </a:solidFill>
                <a:effectLst/>
                <a:latin typeface="Segoe UI"/>
                <a:ea typeface="Segoe UI"/>
                <a:cs typeface="Segoe UI"/>
              </a:rPr>
              <a:t>: potencia los</a:t>
            </a:r>
            <a:br>
              <a:rPr lang="es-ES" sz="1570" b="0" i="0" strike="noStrike" cap="none" baseline="0" dirty="0">
                <a:solidFill>
                  <a:srgbClr val="161616"/>
                </a:solidFill>
                <a:effectLst/>
                <a:latin typeface="Segoe UI"/>
                <a:ea typeface="Segoe UI"/>
                <a:cs typeface="Segoe UI"/>
              </a:rPr>
            </a:br>
            <a:r>
              <a:rPr lang="es-ES" sz="1570" b="0" i="0" strike="noStrike" cap="none" baseline="0" dirty="0">
                <a:solidFill>
                  <a:srgbClr val="161616"/>
                </a:solidFill>
                <a:effectLst/>
                <a:latin typeface="Segoe UI"/>
                <a:ea typeface="Segoe UI"/>
                <a:cs typeface="Segoe UI"/>
              </a:rPr>
              <a:t>sitios web y aplicaciones para encontrar información rápidamente.</a:t>
            </a:r>
          </a:p>
          <a:p>
            <a:pPr marL="285750" indent="-285750">
              <a:buFont typeface="Arial" panose="020B0604020202020204" pitchFamily="34" charset="0"/>
              <a:buChar char="•"/>
            </a:pPr>
            <a:r>
              <a:rPr lang="es-ES" sz="1570" b="0" i="1" strike="noStrike" cap="none" baseline="0" dirty="0">
                <a:solidFill>
                  <a:srgbClr val="161616"/>
                </a:solidFill>
                <a:effectLst/>
                <a:latin typeface="Segoe UI"/>
                <a:ea typeface="Segoe UI"/>
                <a:cs typeface="Segoe UI"/>
              </a:rPr>
              <a:t>RAG para IA generativa</a:t>
            </a:r>
            <a:r>
              <a:rPr lang="es-ES" sz="1570" b="0" i="0" strike="noStrike" cap="none" baseline="0" dirty="0">
                <a:solidFill>
                  <a:srgbClr val="161616"/>
                </a:solidFill>
                <a:effectLst/>
                <a:latin typeface="Segoe UI"/>
                <a:ea typeface="Segoe UI"/>
                <a:cs typeface="Segoe UI"/>
              </a:rPr>
              <a:t>: fundamentar las indicaciones en LLM. </a:t>
            </a:r>
          </a:p>
          <a:p>
            <a:pPr marL="285750" indent="-285750">
              <a:buFont typeface="Arial" panose="020B0604020202020204" pitchFamily="34" charset="0"/>
              <a:buChar char="•"/>
            </a:pPr>
            <a:r>
              <a:rPr lang="es-ES" sz="1570" b="0" i="1" strike="noStrike" cap="none" baseline="0" dirty="0">
                <a:solidFill>
                  <a:srgbClr val="161616"/>
                </a:solidFill>
                <a:effectLst/>
                <a:latin typeface="Segoe UI"/>
                <a:ea typeface="Segoe UI"/>
                <a:cs typeface="Segoe UI"/>
              </a:rPr>
              <a:t>Minería de conocimiento</a:t>
            </a:r>
            <a:r>
              <a:rPr lang="es-ES" sz="1570" b="0" i="0" strike="noStrike" cap="none" baseline="0" dirty="0">
                <a:solidFill>
                  <a:srgbClr val="161616"/>
                </a:solidFill>
                <a:effectLst/>
                <a:latin typeface="Segoe UI"/>
                <a:ea typeface="Segoe UI"/>
                <a:cs typeface="Segoe UI"/>
              </a:rPr>
              <a:t>: convertir enormes bibliotecas de documentos en recursos de datos para el análisis.</a:t>
            </a:r>
            <a:r>
              <a:rPr lang="es-ES" sz="1570" b="1" i="0" strike="noStrike" cap="none" baseline="0" dirty="0">
                <a:solidFill>
                  <a:srgbClr val="BF3AC4"/>
                </a:solidFill>
                <a:effectLst/>
                <a:latin typeface="Segoe UI"/>
                <a:ea typeface="Segoe UI"/>
                <a:cs typeface="Segoe UI"/>
              </a:rPr>
              <a:t>*</a:t>
            </a:r>
            <a:endParaRPr lang="en-US" sz="1570" b="1" dirty="0">
              <a:solidFill>
                <a:schemeClr val="accent2"/>
              </a:solidFill>
              <a:latin typeface="Segoe UI" panose="020B0502040204020203" pitchFamily="34" charset="0"/>
            </a:endParaRPr>
          </a:p>
        </p:txBody>
      </p:sp>
      <p:sp>
        <p:nvSpPr>
          <p:cNvPr id="90" name="TextBox 89">
            <a:extLst>
              <a:ext uri="{FF2B5EF4-FFF2-40B4-BE49-F238E27FC236}">
                <a16:creationId xmlns:a16="http://schemas.microsoft.com/office/drawing/2014/main" id="{13D3BDAD-D718-6098-6E24-AE8B03E41ACD}"/>
              </a:ext>
            </a:extLst>
          </p:cNvPr>
          <p:cNvSpPr txBox="1"/>
          <p:nvPr/>
        </p:nvSpPr>
        <p:spPr>
          <a:xfrm>
            <a:off x="9744769" y="6191873"/>
            <a:ext cx="2014590" cy="230832"/>
          </a:xfrm>
          <a:prstGeom prst="rect">
            <a:avLst/>
          </a:prstGeom>
          <a:noFill/>
        </p:spPr>
        <p:txBody>
          <a:bodyPr wrap="none" lIns="0" tIns="0" rIns="0" bIns="0" rtlCol="0">
            <a:spAutoFit/>
          </a:bodyPr>
          <a:lstStyle/>
          <a:p>
            <a:pPr algn="l"/>
            <a:r>
              <a:rPr lang="es-ES" sz="1500" b="0" i="0" strike="noStrike" cap="none" baseline="0" dirty="0">
                <a:solidFill>
                  <a:srgbClr val="BF3AC4"/>
                </a:solidFill>
                <a:effectLst/>
                <a:latin typeface="Segoe UI"/>
                <a:ea typeface="Segoe UI"/>
                <a:cs typeface="Segoe UI"/>
              </a:rPr>
              <a:t>*</a:t>
            </a:r>
            <a:r>
              <a:rPr lang="es-ES" sz="1500" b="0" i="1" strike="noStrike" cap="none" baseline="0" dirty="0">
                <a:solidFill>
                  <a:srgbClr val="000000"/>
                </a:solidFill>
                <a:effectLst/>
                <a:latin typeface="Segoe UI"/>
                <a:ea typeface="Segoe UI"/>
                <a:cs typeface="Segoe UI"/>
              </a:rPr>
              <a:t>Nuestro enfoque actual</a:t>
            </a:r>
          </a:p>
        </p:txBody>
      </p:sp>
    </p:spTree>
    <p:extLst>
      <p:ext uri="{BB962C8B-B14F-4D97-AF65-F5344CB8AC3E}">
        <p14:creationId xmlns:p14="http://schemas.microsoft.com/office/powerpoint/2010/main" val="107388199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87680"/>
          </a:xfrm>
        </p:spPr>
        <p:txBody>
          <a:bodyPr/>
          <a:lstStyle/>
          <a:p>
            <a:r>
              <a:rPr lang="es-ES" sz="3200" b="0" i="0" strike="noStrike" cap="none" baseline="0" dirty="0">
                <a:solidFill>
                  <a:srgbClr val="000000"/>
                </a:solidFill>
                <a:effectLst/>
                <a:latin typeface="Segoe UI Semibold"/>
                <a:ea typeface="Segoe UI Semibold"/>
                <a:cs typeface="Segoe UI Semibold"/>
              </a:rPr>
              <a:t>Extracción de datos con un indexador</a:t>
            </a:r>
          </a:p>
        </p:txBody>
      </p:sp>
      <p:sp>
        <p:nvSpPr>
          <p:cNvPr id="5" name="TextBox 4">
            <a:extLst>
              <a:ext uri="{FF2B5EF4-FFF2-40B4-BE49-F238E27FC236}">
                <a16:creationId xmlns:a16="http://schemas.microsoft.com/office/drawing/2014/main" id="{F6D92A1A-DF02-B7A8-CAB8-1B92D53934FA}"/>
              </a:ext>
            </a:extLst>
          </p:cNvPr>
          <p:cNvSpPr txBox="1"/>
          <p:nvPr/>
        </p:nvSpPr>
        <p:spPr>
          <a:xfrm>
            <a:off x="861626" y="1627291"/>
            <a:ext cx="6052106" cy="4062651"/>
          </a:xfrm>
          <a:prstGeom prst="rect">
            <a:avLst/>
          </a:prstGeom>
          <a:noFill/>
        </p:spPr>
        <p:txBody>
          <a:bodyPr wrap="square" lIns="0" tIns="0" rIns="0" bIns="0" rtlCol="0">
            <a:spAutoFit/>
          </a:bodyPr>
          <a:lstStyle/>
          <a:p>
            <a:pPr marL="285750" indent="-285750" algn="l">
              <a:spcBef>
                <a:spcPts val="600"/>
              </a:spcBef>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Un </a:t>
            </a:r>
            <a:r>
              <a:rPr lang="es-ES" sz="1800" b="0" i="1" strike="noStrike" cap="none" baseline="0" dirty="0">
                <a:solidFill>
                  <a:srgbClr val="000000"/>
                </a:solidFill>
                <a:effectLst/>
                <a:latin typeface="Segoe UI"/>
                <a:ea typeface="Segoe UI"/>
                <a:cs typeface="Segoe UI"/>
              </a:rPr>
              <a:t>indexador</a:t>
            </a:r>
            <a:r>
              <a:rPr lang="es-ES" sz="1800" b="0" i="0" strike="noStrike" cap="none" baseline="0" dirty="0">
                <a:solidFill>
                  <a:srgbClr val="000000"/>
                </a:solidFill>
                <a:effectLst/>
                <a:latin typeface="Segoe UI"/>
                <a:ea typeface="Segoe UI"/>
                <a:cs typeface="Segoe UI"/>
              </a:rPr>
              <a:t> extrae datos de un </a:t>
            </a:r>
            <a:r>
              <a:rPr lang="es-ES" sz="1800" b="0" i="1" strike="noStrike" cap="none" baseline="0" dirty="0">
                <a:solidFill>
                  <a:srgbClr val="000000"/>
                </a:solidFill>
                <a:effectLst/>
                <a:latin typeface="Segoe UI"/>
                <a:ea typeface="Segoe UI"/>
                <a:cs typeface="Segoe UI"/>
              </a:rPr>
              <a:t>origen de datos</a:t>
            </a:r>
          </a:p>
          <a:p>
            <a:pPr marL="285750" indent="-285750" algn="l">
              <a:spcBef>
                <a:spcPts val="600"/>
              </a:spcBef>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El </a:t>
            </a:r>
            <a:r>
              <a:rPr lang="es-ES" sz="1800" b="0" i="1" strike="noStrike" cap="none" baseline="0" dirty="0">
                <a:solidFill>
                  <a:srgbClr val="000000"/>
                </a:solidFill>
                <a:effectLst/>
                <a:latin typeface="Segoe UI"/>
                <a:ea typeface="Segoe UI"/>
                <a:cs typeface="Segoe UI"/>
              </a:rPr>
              <a:t>descifrado de documentos</a:t>
            </a:r>
            <a:r>
              <a:rPr lang="es-ES" sz="1800" b="0" i="0" strike="noStrike" cap="none" baseline="0" dirty="0">
                <a:solidFill>
                  <a:srgbClr val="000000"/>
                </a:solidFill>
                <a:effectLst/>
                <a:latin typeface="Segoe UI"/>
                <a:ea typeface="Segoe UI"/>
                <a:cs typeface="Segoe UI"/>
              </a:rPr>
              <a:t> recupera el contenido</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de texto del origen</a:t>
            </a:r>
            <a:endParaRPr lang="en-US" sz="1800" i="1" dirty="0"/>
          </a:p>
          <a:p>
            <a:pPr marL="285750" indent="-285750" algn="l">
              <a:spcBef>
                <a:spcPts val="600"/>
              </a:spcBef>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Una </a:t>
            </a:r>
            <a:r>
              <a:rPr lang="es-ES" sz="1800" b="0" i="1" strike="noStrike" cap="none" baseline="0" dirty="0">
                <a:solidFill>
                  <a:srgbClr val="000000"/>
                </a:solidFill>
                <a:effectLst/>
                <a:latin typeface="Segoe UI"/>
                <a:ea typeface="Segoe UI"/>
                <a:cs typeface="Segoe UI"/>
              </a:rPr>
              <a:t>canalización de enriquecimiento</a:t>
            </a:r>
            <a:r>
              <a:rPr lang="es-ES" sz="1800" b="0" i="0" strike="noStrike" cap="none" baseline="0" dirty="0">
                <a:solidFill>
                  <a:srgbClr val="000000"/>
                </a:solidFill>
                <a:effectLst/>
                <a:latin typeface="Segoe UI"/>
                <a:ea typeface="Segoe UI"/>
                <a:cs typeface="Segoe UI"/>
              </a:rPr>
              <a:t> compila de forma iterativa representaciones JSON de cada documento indexado</a:t>
            </a:r>
          </a:p>
          <a:p>
            <a:pPr marL="285750" indent="-285750" algn="l">
              <a:spcBef>
                <a:spcPts val="600"/>
              </a:spcBef>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Los </a:t>
            </a:r>
            <a:r>
              <a:rPr lang="es-ES" sz="1800" b="0" i="1" strike="noStrike" cap="none" baseline="0" dirty="0">
                <a:solidFill>
                  <a:srgbClr val="000000"/>
                </a:solidFill>
                <a:effectLst/>
                <a:latin typeface="Segoe UI"/>
                <a:ea typeface="Segoe UI"/>
                <a:cs typeface="Segoe UI"/>
              </a:rPr>
              <a:t>campos </a:t>
            </a:r>
            <a:r>
              <a:rPr lang="es-ES" sz="1800" b="0" i="0" strike="noStrike" cap="none" baseline="0" dirty="0">
                <a:solidFill>
                  <a:srgbClr val="000000"/>
                </a:solidFill>
                <a:effectLst/>
                <a:latin typeface="Segoe UI"/>
                <a:ea typeface="Segoe UI"/>
                <a:cs typeface="Segoe UI"/>
              </a:rPr>
              <a:t>de cada documento pueden ser:</a:t>
            </a:r>
          </a:p>
          <a:p>
            <a:pPr marL="742933" lvl="1" indent="-285750">
              <a:spcBef>
                <a:spcPts val="600"/>
              </a:spcBef>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Extraídos del origen (por ejemplo, nombre de archivo, fecha, tamaño)</a:t>
            </a:r>
          </a:p>
          <a:p>
            <a:pPr marL="742933" lvl="1" indent="-285750">
              <a:spcBef>
                <a:spcPts val="600"/>
              </a:spcBef>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Inferidos o generados en la canalización</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de enriquecimiento</a:t>
            </a:r>
          </a:p>
          <a:p>
            <a:pPr marL="285750" indent="-285750">
              <a:spcBef>
                <a:spcPts val="600"/>
              </a:spcBef>
              <a:buFont typeface="Arial" panose="020B0604020202020204" pitchFamily="34" charset="0"/>
              <a:buChar char="•"/>
            </a:pPr>
            <a:r>
              <a:rPr lang="es-ES" sz="1800" b="0" i="0" strike="noStrike" cap="none" baseline="0" dirty="0">
                <a:solidFill>
                  <a:srgbClr val="000000"/>
                </a:solidFill>
                <a:effectLst/>
                <a:latin typeface="Segoe UI"/>
                <a:ea typeface="Segoe UI"/>
                <a:cs typeface="Segoe UI"/>
              </a:rPr>
              <a:t>El resultado es un </a:t>
            </a:r>
            <a:r>
              <a:rPr lang="es-ES" sz="1800" b="0" i="1" strike="noStrike" cap="none" baseline="0" dirty="0">
                <a:solidFill>
                  <a:srgbClr val="000000"/>
                </a:solidFill>
                <a:effectLst/>
                <a:latin typeface="Segoe UI"/>
                <a:ea typeface="Segoe UI"/>
                <a:cs typeface="Segoe UI"/>
              </a:rPr>
              <a:t>índice</a:t>
            </a:r>
            <a:r>
              <a:rPr lang="es-ES" sz="1800" b="0" i="0" strike="noStrike" cap="none" baseline="0" dirty="0">
                <a:solidFill>
                  <a:srgbClr val="000000"/>
                </a:solidFill>
                <a:effectLst/>
                <a:latin typeface="Segoe UI"/>
                <a:ea typeface="Segoe UI"/>
                <a:cs typeface="Segoe UI"/>
              </a:rPr>
              <a:t> que contiene todos</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los documentos indexados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15" name="Group 14">
            <a:extLst>
              <a:ext uri="{FF2B5EF4-FFF2-40B4-BE49-F238E27FC236}">
                <a16:creationId xmlns:a16="http://schemas.microsoft.com/office/drawing/2014/main" id="{43A8653D-A4E1-9220-E5A9-9DDC797EDC59}"/>
              </a:ext>
              <a:ext uri="{C183D7F6-B498-43B3-948B-1728B52AA6E4}">
                <adec:decorative xmlns:adec="http://schemas.microsoft.com/office/drawing/2017/decorative" val="1"/>
              </a:ext>
            </a:extLst>
          </p:cNvPr>
          <p:cNvGrpSpPr/>
          <p:nvPr/>
        </p:nvGrpSpPr>
        <p:grpSpPr>
          <a:xfrm>
            <a:off x="7741065" y="1170091"/>
            <a:ext cx="1484803" cy="4862730"/>
            <a:chOff x="2951067" y="1109960"/>
            <a:chExt cx="1484803" cy="4862730"/>
          </a:xfrm>
        </p:grpSpPr>
        <p:sp>
          <p:nvSpPr>
            <p:cNvPr id="17" name="Arrow: Down 16">
              <a:extLst>
                <a:ext uri="{FF2B5EF4-FFF2-40B4-BE49-F238E27FC236}">
                  <a16:creationId xmlns:a16="http://schemas.microsoft.com/office/drawing/2014/main" id="{02DFA18C-B3D0-583D-ECFA-EBDC6502EF25}"/>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18" name="Graphic 17" descr="Gears with solid fill">
              <a:extLst>
                <a:ext uri="{FF2B5EF4-FFF2-40B4-BE49-F238E27FC236}">
                  <a16:creationId xmlns:a16="http://schemas.microsoft.com/office/drawing/2014/main" id="{48FCC780-5CAA-DD9D-2B2F-BB6E9B08D6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19" name="Graphic 18" descr="List outline">
              <a:extLst>
                <a:ext uri="{FF2B5EF4-FFF2-40B4-BE49-F238E27FC236}">
                  <a16:creationId xmlns:a16="http://schemas.microsoft.com/office/drawing/2014/main" id="{8A793624-C9BA-A0BA-7A43-CBE89DEC1B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20" name="Group 19">
              <a:extLst>
                <a:ext uri="{FF2B5EF4-FFF2-40B4-BE49-F238E27FC236}">
                  <a16:creationId xmlns:a16="http://schemas.microsoft.com/office/drawing/2014/main" id="{11C9E3C1-D6EF-6C96-CE55-986032E267C2}"/>
                </a:ext>
              </a:extLst>
            </p:cNvPr>
            <p:cNvGrpSpPr/>
            <p:nvPr/>
          </p:nvGrpSpPr>
          <p:grpSpPr>
            <a:xfrm>
              <a:off x="3204296" y="1109960"/>
              <a:ext cx="1231574" cy="1231574"/>
              <a:chOff x="2232474" y="1427224"/>
              <a:chExt cx="1231574" cy="1231574"/>
            </a:xfrm>
          </p:grpSpPr>
          <p:pic>
            <p:nvPicPr>
              <p:cNvPr id="22" name="Graphic 21" descr="Contract outline">
                <a:extLst>
                  <a:ext uri="{FF2B5EF4-FFF2-40B4-BE49-F238E27FC236}">
                    <a16:creationId xmlns:a16="http://schemas.microsoft.com/office/drawing/2014/main" id="{9ED88D2A-38FD-C96F-C564-1B45BA109E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23" name="Graphic 22" descr="Folder with solid fill">
                <a:extLst>
                  <a:ext uri="{FF2B5EF4-FFF2-40B4-BE49-F238E27FC236}">
                    <a16:creationId xmlns:a16="http://schemas.microsoft.com/office/drawing/2014/main" id="{1FB76A42-17F3-4860-7D1B-6A1AB036FC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21" name="Graphic 20">
              <a:extLst>
                <a:ext uri="{FF2B5EF4-FFF2-40B4-BE49-F238E27FC236}">
                  <a16:creationId xmlns:a16="http://schemas.microsoft.com/office/drawing/2014/main" id="{6EBDFCDC-1F21-A8A3-E5DC-2B8BB9D52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51067" y="5090840"/>
              <a:ext cx="881850" cy="881850"/>
            </a:xfrm>
            <a:prstGeom prst="rect">
              <a:avLst/>
            </a:prstGeom>
          </p:spPr>
        </p:pic>
      </p:grpSp>
    </p:spTree>
    <p:extLst>
      <p:ext uri="{BB962C8B-B14F-4D97-AF65-F5344CB8AC3E}">
        <p14:creationId xmlns:p14="http://schemas.microsoft.com/office/powerpoint/2010/main" val="6930228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887876DA-20F9-D541-6DED-ECFB974A8E5C}"/>
              </a:ext>
              <a:ext uri="{C183D7F6-B498-43B3-948B-1728B52AA6E4}">
                <adec:decorative xmlns:adec="http://schemas.microsoft.com/office/drawing/2017/decorative" val="1"/>
              </a:ext>
            </a:extLst>
          </p:cNvPr>
          <p:cNvGrpSpPr/>
          <p:nvPr/>
        </p:nvGrpSpPr>
        <p:grpSpPr>
          <a:xfrm>
            <a:off x="7544841" y="1179693"/>
            <a:ext cx="2273640" cy="4862730"/>
            <a:chOff x="2759631" y="1109960"/>
            <a:chExt cx="2273640" cy="4862730"/>
          </a:xfrm>
        </p:grpSpPr>
        <p:sp>
          <p:nvSpPr>
            <p:cNvPr id="36" name="Arrow: Down 35">
              <a:extLst>
                <a:ext uri="{FF2B5EF4-FFF2-40B4-BE49-F238E27FC236}">
                  <a16:creationId xmlns:a16="http://schemas.microsoft.com/office/drawing/2014/main" id="{B0878816-1D34-39CF-C32D-ECC240C9BA7D}"/>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37" name="Graphic 36" descr="Gears with solid fill">
              <a:extLst>
                <a:ext uri="{FF2B5EF4-FFF2-40B4-BE49-F238E27FC236}">
                  <a16:creationId xmlns:a16="http://schemas.microsoft.com/office/drawing/2014/main" id="{6A287D4B-D02C-04AA-F6F9-982175E7B8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38" name="Graphic 37" descr="List outline">
              <a:extLst>
                <a:ext uri="{FF2B5EF4-FFF2-40B4-BE49-F238E27FC236}">
                  <a16:creationId xmlns:a16="http://schemas.microsoft.com/office/drawing/2014/main" id="{7E9ADC37-CC49-2BC2-DB26-68D6802168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39" name="Group 38">
              <a:extLst>
                <a:ext uri="{FF2B5EF4-FFF2-40B4-BE49-F238E27FC236}">
                  <a16:creationId xmlns:a16="http://schemas.microsoft.com/office/drawing/2014/main" id="{5C1A7179-37A3-6E2D-E0B7-0DE9E1B313A6}"/>
                </a:ext>
              </a:extLst>
            </p:cNvPr>
            <p:cNvGrpSpPr/>
            <p:nvPr/>
          </p:nvGrpSpPr>
          <p:grpSpPr>
            <a:xfrm>
              <a:off x="3204296" y="1109960"/>
              <a:ext cx="1231574" cy="1231574"/>
              <a:chOff x="2232474" y="1427224"/>
              <a:chExt cx="1231574" cy="1231574"/>
            </a:xfrm>
          </p:grpSpPr>
          <p:pic>
            <p:nvPicPr>
              <p:cNvPr id="53" name="Graphic 52" descr="Contract outline">
                <a:extLst>
                  <a:ext uri="{FF2B5EF4-FFF2-40B4-BE49-F238E27FC236}">
                    <a16:creationId xmlns:a16="http://schemas.microsoft.com/office/drawing/2014/main" id="{E1633D25-BCD1-1F9D-8502-1FB40C6325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54" name="Graphic 53" descr="Folder with solid fill">
                <a:extLst>
                  <a:ext uri="{FF2B5EF4-FFF2-40B4-BE49-F238E27FC236}">
                    <a16:creationId xmlns:a16="http://schemas.microsoft.com/office/drawing/2014/main" id="{22660AA0-760F-C54D-B792-2C6A02BEE6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40" name="Graphic 39">
              <a:extLst>
                <a:ext uri="{FF2B5EF4-FFF2-40B4-BE49-F238E27FC236}">
                  <a16:creationId xmlns:a16="http://schemas.microsoft.com/office/drawing/2014/main" id="{907FD83D-96FF-E765-5FBD-97CCAA1B43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11318" y="3395120"/>
              <a:ext cx="503521" cy="503521"/>
            </a:xfrm>
            <a:prstGeom prst="rect">
              <a:avLst/>
            </a:prstGeom>
          </p:spPr>
        </p:pic>
        <p:pic>
          <p:nvPicPr>
            <p:cNvPr id="41" name="Graphic 40">
              <a:extLst>
                <a:ext uri="{FF2B5EF4-FFF2-40B4-BE49-F238E27FC236}">
                  <a16:creationId xmlns:a16="http://schemas.microsoft.com/office/drawing/2014/main" id="{BAE7C486-540E-98E4-B2A5-61068DB336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1067" y="5090840"/>
              <a:ext cx="881850" cy="881850"/>
            </a:xfrm>
            <a:prstGeom prst="rect">
              <a:avLst/>
            </a:prstGeom>
          </p:spPr>
        </p:pic>
        <p:pic>
          <p:nvPicPr>
            <p:cNvPr id="42" name="Graphic 41">
              <a:extLst>
                <a:ext uri="{FF2B5EF4-FFF2-40B4-BE49-F238E27FC236}">
                  <a16:creationId xmlns:a16="http://schemas.microsoft.com/office/drawing/2014/main" id="{E5E27509-32F3-1D34-CEC2-FBCF246866D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29750" y="2891599"/>
              <a:ext cx="503521" cy="503521"/>
            </a:xfrm>
            <a:prstGeom prst="rect">
              <a:avLst/>
            </a:prstGeom>
          </p:spPr>
        </p:pic>
        <p:pic>
          <p:nvPicPr>
            <p:cNvPr id="43" name="Graphic 42">
              <a:extLst>
                <a:ext uri="{FF2B5EF4-FFF2-40B4-BE49-F238E27FC236}">
                  <a16:creationId xmlns:a16="http://schemas.microsoft.com/office/drawing/2014/main" id="{B54BDC17-0BAF-015D-A0EA-F475A93FA10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59631" y="2411864"/>
              <a:ext cx="503521" cy="503521"/>
            </a:xfrm>
            <a:prstGeom prst="rect">
              <a:avLst/>
            </a:prstGeom>
          </p:spPr>
        </p:pic>
        <p:grpSp>
          <p:nvGrpSpPr>
            <p:cNvPr id="44" name="Group 43">
              <a:extLst>
                <a:ext uri="{FF2B5EF4-FFF2-40B4-BE49-F238E27FC236}">
                  <a16:creationId xmlns:a16="http://schemas.microsoft.com/office/drawing/2014/main" id="{188C4BAB-70BC-8471-51B1-0DC781648384}"/>
                </a:ext>
              </a:extLst>
            </p:cNvPr>
            <p:cNvGrpSpPr/>
            <p:nvPr/>
          </p:nvGrpSpPr>
          <p:grpSpPr>
            <a:xfrm>
              <a:off x="3263152" y="2590227"/>
              <a:ext cx="556931" cy="115873"/>
              <a:chOff x="3263152" y="2590227"/>
              <a:chExt cx="556931" cy="115873"/>
            </a:xfrm>
          </p:grpSpPr>
          <p:cxnSp>
            <p:nvCxnSpPr>
              <p:cNvPr id="51" name="Straight Arrow Connector 50">
                <a:extLst>
                  <a:ext uri="{FF2B5EF4-FFF2-40B4-BE49-F238E27FC236}">
                    <a16:creationId xmlns:a16="http://schemas.microsoft.com/office/drawing/2014/main" id="{423CFBF0-118C-8170-C272-10BC5AF21089}"/>
                  </a:ext>
                </a:extLst>
              </p:cNvPr>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52" name="Straight Arrow Connector 51">
                <a:extLst>
                  <a:ext uri="{FF2B5EF4-FFF2-40B4-BE49-F238E27FC236}">
                    <a16:creationId xmlns:a16="http://schemas.microsoft.com/office/drawing/2014/main" id="{F55A73A9-DE52-24F5-F093-3D9CD00CB291}"/>
                  </a:ext>
                </a:extLst>
              </p:cNvPr>
              <p:cNvCxnSpPr/>
              <p:nvPr/>
            </p:nvCxnSpPr>
            <p:spPr>
              <a:xfrm>
                <a:off x="3415865" y="2706100"/>
                <a:ext cx="404218"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45" name="Group 44">
              <a:extLst>
                <a:ext uri="{FF2B5EF4-FFF2-40B4-BE49-F238E27FC236}">
                  <a16:creationId xmlns:a16="http://schemas.microsoft.com/office/drawing/2014/main" id="{95827273-CEB9-5E27-ED3B-986B284B2EE0}"/>
                </a:ext>
              </a:extLst>
            </p:cNvPr>
            <p:cNvGrpSpPr/>
            <p:nvPr/>
          </p:nvGrpSpPr>
          <p:grpSpPr>
            <a:xfrm>
              <a:off x="3269921" y="3602731"/>
              <a:ext cx="601850" cy="115873"/>
              <a:chOff x="3263152" y="2590227"/>
              <a:chExt cx="601850" cy="115873"/>
            </a:xfrm>
          </p:grpSpPr>
          <p:cxnSp>
            <p:nvCxnSpPr>
              <p:cNvPr id="49" name="Straight Arrow Connector 48">
                <a:extLst>
                  <a:ext uri="{FF2B5EF4-FFF2-40B4-BE49-F238E27FC236}">
                    <a16:creationId xmlns:a16="http://schemas.microsoft.com/office/drawing/2014/main" id="{08332A43-CECF-60DB-9D7E-FAAD5B3250E6}"/>
                  </a:ext>
                </a:extLst>
              </p:cNvPr>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50" name="Straight Arrow Connector 49">
                <a:extLst>
                  <a:ext uri="{FF2B5EF4-FFF2-40B4-BE49-F238E27FC236}">
                    <a16:creationId xmlns:a16="http://schemas.microsoft.com/office/drawing/2014/main" id="{74F3222D-FFEE-DD2E-F7CC-CA9ADA26559D}"/>
                  </a:ext>
                </a:extLst>
              </p:cNvPr>
              <p:cNvCxnSpPr/>
              <p:nvPr/>
            </p:nvCxnSpPr>
            <p:spPr>
              <a:xfrm>
                <a:off x="3415865" y="2706100"/>
                <a:ext cx="449137"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46" name="Group 45">
              <a:extLst>
                <a:ext uri="{FF2B5EF4-FFF2-40B4-BE49-F238E27FC236}">
                  <a16:creationId xmlns:a16="http://schemas.microsoft.com/office/drawing/2014/main" id="{03F63C52-75CD-CBDB-7089-3574B80CC44C}"/>
                </a:ext>
              </a:extLst>
            </p:cNvPr>
            <p:cNvGrpSpPr/>
            <p:nvPr/>
          </p:nvGrpSpPr>
          <p:grpSpPr>
            <a:xfrm flipV="1">
              <a:off x="4038823" y="3082211"/>
              <a:ext cx="444155" cy="134091"/>
              <a:chOff x="3263152" y="2590227"/>
              <a:chExt cx="587533" cy="115873"/>
            </a:xfrm>
          </p:grpSpPr>
          <p:cxnSp>
            <p:nvCxnSpPr>
              <p:cNvPr id="47" name="Straight Arrow Connector 46">
                <a:extLst>
                  <a:ext uri="{FF2B5EF4-FFF2-40B4-BE49-F238E27FC236}">
                    <a16:creationId xmlns:a16="http://schemas.microsoft.com/office/drawing/2014/main" id="{184FC3AA-2A3D-4518-FD61-99AE8D73BD10}"/>
                  </a:ext>
                </a:extLst>
              </p:cNvPr>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48" name="Straight Arrow Connector 47">
                <a:extLst>
                  <a:ext uri="{FF2B5EF4-FFF2-40B4-BE49-F238E27FC236}">
                    <a16:creationId xmlns:a16="http://schemas.microsoft.com/office/drawing/2014/main" id="{ADB427C3-8D37-3C23-5CF1-89D9E28A4B36}"/>
                  </a:ext>
                </a:extLst>
              </p:cNvPr>
              <p:cNvCxnSpPr/>
              <p:nvPr/>
            </p:nvCxnSpPr>
            <p:spPr>
              <a:xfrm flipV="1">
                <a:off x="3415865" y="2706100"/>
                <a:ext cx="434820"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1" y="585216"/>
            <a:ext cx="11338057" cy="975360"/>
          </a:xfrm>
        </p:spPr>
        <p:txBody>
          <a:bodyPr/>
          <a:lstStyle/>
          <a:p>
            <a:r>
              <a:rPr lang="es-ES" sz="3200" b="0" i="0" strike="noStrike" cap="none" baseline="0" dirty="0">
                <a:solidFill>
                  <a:srgbClr val="000000"/>
                </a:solidFill>
                <a:effectLst/>
                <a:latin typeface="Segoe UI Semibold"/>
                <a:ea typeface="Segoe UI Semibold"/>
                <a:cs typeface="Segoe UI Semibold"/>
              </a:rPr>
              <a:t>Enriquecimiento de los datos extraídos con habilidades de IA</a:t>
            </a:r>
          </a:p>
        </p:txBody>
      </p:sp>
      <p:sp>
        <p:nvSpPr>
          <p:cNvPr id="5" name="TextBox 4">
            <a:extLst>
              <a:ext uri="{FF2B5EF4-FFF2-40B4-BE49-F238E27FC236}">
                <a16:creationId xmlns:a16="http://schemas.microsoft.com/office/drawing/2014/main" id="{F6D92A1A-DF02-B7A8-CAB8-1B92D53934FA}"/>
              </a:ext>
            </a:extLst>
          </p:cNvPr>
          <p:cNvSpPr txBox="1"/>
          <p:nvPr/>
        </p:nvSpPr>
        <p:spPr>
          <a:xfrm>
            <a:off x="866414" y="1502639"/>
            <a:ext cx="6052106" cy="4662815"/>
          </a:xfrm>
          <a:prstGeom prst="rect">
            <a:avLst/>
          </a:prstGeom>
          <a:noFill/>
        </p:spPr>
        <p:txBody>
          <a:bodyPr wrap="square" lIns="0" tIns="0" rIns="0" bIns="0" rtlCol="0">
            <a:spAutoFit/>
          </a:bodyPr>
          <a:lstStyle/>
          <a:p>
            <a:pPr algn="l">
              <a:spcBef>
                <a:spcPts val="600"/>
              </a:spcBef>
            </a:pPr>
            <a:r>
              <a:rPr lang="es-ES" sz="1900" b="0" i="0" strike="noStrike" cap="none" baseline="0" dirty="0">
                <a:solidFill>
                  <a:srgbClr val="000000"/>
                </a:solidFill>
                <a:effectLst/>
                <a:latin typeface="Segoe UI Semibold"/>
                <a:ea typeface="Segoe UI Semibold"/>
                <a:cs typeface="Segoe UI Semibold"/>
              </a:rPr>
              <a:t>Aptitudes integradas:</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Detección del idioma en que está escrito el texto</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Detección y extracción de lugares, ubicaciones y otras entidades</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del texto</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Determinación y extracción de frases clave de un texto</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Traducción de texto</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Identificación y extracción (o eliminación) de información</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 identificación personal (PII) dentro del texto</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Extracción de texto de las imágenes</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Generación de subtítulos y etiquetas para describir imágenes</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Vectorización de texto e imagen multimodal</a:t>
            </a:r>
          </a:p>
          <a:p>
            <a:pPr>
              <a:spcBef>
                <a:spcPts val="600"/>
              </a:spcBef>
            </a:pPr>
            <a:r>
              <a:rPr lang="es-ES" sz="1900" b="0" i="0" strike="noStrike" cap="none" baseline="0" dirty="0">
                <a:solidFill>
                  <a:srgbClr val="000000"/>
                </a:solidFill>
                <a:effectLst/>
                <a:latin typeface="Segoe UI Semibold"/>
                <a:ea typeface="Segoe UI Semibold"/>
                <a:cs typeface="Segoe UI Semibold"/>
              </a:rPr>
              <a:t>Aptitudes personalizadas:</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Implementación de lógica personalizada para devolver campos basados en la entrada</a:t>
            </a:r>
          </a:p>
          <a:p>
            <a:pPr marL="285750" indent="-285750" algn="l">
              <a:spcBef>
                <a:spcPts val="600"/>
              </a:spcBef>
              <a:buFont typeface="Arial" panose="020B0604020202020204" pitchFamily="34" charset="0"/>
              <a:buChar char="•"/>
            </a:pPr>
            <a:r>
              <a:rPr lang="es-ES" sz="1500" b="0" i="0" strike="noStrike" cap="none" baseline="0" dirty="0">
                <a:solidFill>
                  <a:srgbClr val="000000"/>
                </a:solidFill>
                <a:effectLst/>
                <a:latin typeface="Segoe UI"/>
                <a:ea typeface="Segoe UI"/>
                <a:cs typeface="Segoe UI"/>
              </a:rPr>
              <a:t>A menudo, "contenedores" en torno a los servicios,</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como Azure </a:t>
            </a:r>
            <a:r>
              <a:rPr lang="es-ES" sz="1500" b="0" i="0" strike="noStrike" cap="none" baseline="0" dirty="0" err="1">
                <a:solidFill>
                  <a:srgbClr val="000000"/>
                </a:solidFill>
                <a:effectLst/>
                <a:latin typeface="Segoe UI"/>
                <a:ea typeface="Segoe UI"/>
                <a:cs typeface="Segoe UI"/>
              </a:rPr>
              <a:t>Language</a:t>
            </a:r>
            <a:endParaRPr lang="es-ES" sz="1500" b="0" i="0" strike="noStrike" cap="none" baseline="0" dirty="0">
              <a:solidFill>
                <a:srgbClr val="000000"/>
              </a:solidFill>
              <a:effectLst/>
              <a:latin typeface="Segoe UI"/>
              <a:ea typeface="Segoe UI"/>
              <a:cs typeface="Segoe UI"/>
            </a:endParaRP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spTree>
    <p:extLst>
      <p:ext uri="{BB962C8B-B14F-4D97-AF65-F5344CB8AC3E}">
        <p14:creationId xmlns:p14="http://schemas.microsoft.com/office/powerpoint/2010/main" val="171531944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Búsqueda de un índice</a:t>
            </a:r>
          </a:p>
        </p:txBody>
      </p:sp>
      <p:sp>
        <p:nvSpPr>
          <p:cNvPr id="5" name="TextBox 4">
            <a:extLst>
              <a:ext uri="{FF2B5EF4-FFF2-40B4-BE49-F238E27FC236}">
                <a16:creationId xmlns:a16="http://schemas.microsoft.com/office/drawing/2014/main" id="{F6D92A1A-DF02-B7A8-CAB8-1B92D53934FA}"/>
              </a:ext>
            </a:extLst>
          </p:cNvPr>
          <p:cNvSpPr txBox="1"/>
          <p:nvPr/>
        </p:nvSpPr>
        <p:spPr>
          <a:xfrm>
            <a:off x="588262" y="1371469"/>
            <a:ext cx="5639183" cy="4801314"/>
          </a:xfrm>
          <a:prstGeom prst="rect">
            <a:avLst/>
          </a:prstGeom>
          <a:noFill/>
        </p:spPr>
        <p:txBody>
          <a:bodyPr wrap="square" lIns="0" tIns="0" rIns="0" bIns="0" rtlCol="0">
            <a:spAutoFit/>
          </a:bodyPr>
          <a:lstStyle/>
          <a:p>
            <a:pPr algn="l">
              <a:spcBef>
                <a:spcPts val="600"/>
              </a:spcBef>
              <a:spcAft>
                <a:spcPts val="1200"/>
              </a:spcAft>
            </a:pPr>
            <a:r>
              <a:rPr lang="es-ES" sz="1700" b="0" i="0" strike="noStrike" cap="none" baseline="0" dirty="0">
                <a:solidFill>
                  <a:srgbClr val="000000"/>
                </a:solidFill>
                <a:effectLst/>
                <a:latin typeface="Segoe UI"/>
                <a:ea typeface="Segoe UI"/>
                <a:cs typeface="Segoe UI"/>
              </a:rPr>
              <a:t>Cada campo de índice se puede configurar como:</a:t>
            </a:r>
          </a:p>
          <a:p>
            <a:pPr marL="285750" indent="-285750" algn="l">
              <a:spcBef>
                <a:spcPts val="600"/>
              </a:spcBef>
              <a:buFont typeface="Arial" panose="020B0604020202020204" pitchFamily="34" charset="0"/>
              <a:buChar char="•"/>
            </a:pPr>
            <a:r>
              <a:rPr lang="es-ES" sz="1700" b="1" i="0" strike="noStrike" cap="none" baseline="0" dirty="0" err="1">
                <a:solidFill>
                  <a:srgbClr val="000000"/>
                </a:solidFill>
                <a:effectLst/>
                <a:latin typeface="Segoe UI"/>
                <a:ea typeface="Segoe UI"/>
                <a:cs typeface="Segoe UI"/>
              </a:rPr>
              <a:t>key</a:t>
            </a:r>
            <a:r>
              <a:rPr lang="es-ES" sz="1700" b="0" i="0" strike="noStrike" cap="none" baseline="0" dirty="0">
                <a:solidFill>
                  <a:srgbClr val="000000"/>
                </a:solidFill>
                <a:effectLst/>
                <a:latin typeface="Segoe UI"/>
                <a:ea typeface="Segoe UI"/>
                <a:cs typeface="Segoe UI"/>
              </a:rPr>
              <a:t>: campos que definen una clave única para los registros del índice</a:t>
            </a:r>
          </a:p>
          <a:p>
            <a:pPr marL="285750" indent="-285750" algn="l">
              <a:spcBef>
                <a:spcPts val="600"/>
              </a:spcBef>
              <a:buFont typeface="Arial" panose="020B0604020202020204" pitchFamily="34" charset="0"/>
              <a:buChar char="•"/>
            </a:pPr>
            <a:r>
              <a:rPr lang="es-ES" sz="1700" b="1" i="0" strike="noStrike" cap="none" baseline="0" dirty="0" err="1">
                <a:solidFill>
                  <a:srgbClr val="000000"/>
                </a:solidFill>
                <a:effectLst/>
                <a:latin typeface="Segoe UI"/>
                <a:ea typeface="Segoe UI"/>
                <a:cs typeface="Segoe UI"/>
              </a:rPr>
              <a:t>searchable</a:t>
            </a:r>
            <a:r>
              <a:rPr lang="es-ES" sz="1700" b="0" i="0" strike="noStrike" cap="none" baseline="0" dirty="0">
                <a:solidFill>
                  <a:srgbClr val="000000"/>
                </a:solidFill>
                <a:effectLst/>
                <a:latin typeface="Segoe UI"/>
                <a:ea typeface="Segoe UI"/>
                <a:cs typeface="Segoe UI"/>
              </a:rPr>
              <a:t>: campos que se pueden consultar mediante la búsqueda de texto completo</a:t>
            </a:r>
          </a:p>
          <a:p>
            <a:pPr marL="285750" indent="-285750" algn="l">
              <a:spcBef>
                <a:spcPts val="600"/>
              </a:spcBef>
              <a:buFont typeface="Arial" panose="020B0604020202020204" pitchFamily="34" charset="0"/>
              <a:buChar char="•"/>
            </a:pPr>
            <a:r>
              <a:rPr lang="es-ES" sz="1700" b="1" i="0" strike="noStrike" cap="none" baseline="0" dirty="0" err="1">
                <a:solidFill>
                  <a:srgbClr val="000000"/>
                </a:solidFill>
                <a:effectLst/>
                <a:latin typeface="Segoe UI"/>
                <a:ea typeface="Segoe UI"/>
                <a:cs typeface="Segoe UI"/>
              </a:rPr>
              <a:t>filterable</a:t>
            </a:r>
            <a:r>
              <a:rPr lang="es-ES" sz="1700" b="0" i="0" strike="noStrike" cap="none" baseline="0" dirty="0">
                <a:solidFill>
                  <a:srgbClr val="000000"/>
                </a:solidFill>
                <a:effectLst/>
                <a:latin typeface="Segoe UI"/>
                <a:ea typeface="Segoe UI"/>
                <a:cs typeface="Segoe UI"/>
              </a:rPr>
              <a:t>: campos que se pueden incluir en expresiones de filtro para devolver solo los documentos que coincidan con las restricciones especificadas</a:t>
            </a:r>
          </a:p>
          <a:p>
            <a:pPr marL="285750" indent="-285750" algn="l">
              <a:spcBef>
                <a:spcPts val="600"/>
              </a:spcBef>
              <a:buFont typeface="Arial" panose="020B0604020202020204" pitchFamily="34" charset="0"/>
              <a:buChar char="•"/>
            </a:pPr>
            <a:r>
              <a:rPr lang="es-ES" sz="1700" b="1" i="0" strike="noStrike" cap="none" baseline="0" dirty="0" err="1">
                <a:solidFill>
                  <a:srgbClr val="000000"/>
                </a:solidFill>
                <a:effectLst/>
                <a:latin typeface="Segoe UI"/>
                <a:ea typeface="Segoe UI"/>
                <a:cs typeface="Segoe UI"/>
              </a:rPr>
              <a:t>sortable</a:t>
            </a:r>
            <a:r>
              <a:rPr lang="es-ES" sz="1700" b="0" i="0" strike="noStrike" cap="none" baseline="0" dirty="0">
                <a:solidFill>
                  <a:srgbClr val="000000"/>
                </a:solidFill>
                <a:effectLst/>
                <a:latin typeface="Segoe UI"/>
                <a:ea typeface="Segoe UI"/>
                <a:cs typeface="Segoe UI"/>
              </a:rPr>
              <a:t>: campos que se pueden usar para ordenar</a:t>
            </a:r>
            <a:br>
              <a:rPr lang="es-ES" sz="1700" b="0" i="0" strike="noStrike" cap="none" baseline="0" dirty="0">
                <a:solidFill>
                  <a:srgbClr val="000000"/>
                </a:solidFill>
                <a:effectLst/>
                <a:latin typeface="Segoe UI"/>
                <a:ea typeface="Segoe UI"/>
                <a:cs typeface="Segoe UI"/>
              </a:rPr>
            </a:br>
            <a:r>
              <a:rPr lang="es-ES" sz="1700" b="0" i="0" strike="noStrike" cap="none" baseline="0" dirty="0">
                <a:solidFill>
                  <a:srgbClr val="000000"/>
                </a:solidFill>
                <a:effectLst/>
                <a:latin typeface="Segoe UI"/>
                <a:ea typeface="Segoe UI"/>
                <a:cs typeface="Segoe UI"/>
              </a:rPr>
              <a:t>los resultados</a:t>
            </a:r>
          </a:p>
          <a:p>
            <a:pPr marL="285750" indent="-285750" algn="l">
              <a:spcBef>
                <a:spcPts val="600"/>
              </a:spcBef>
              <a:buFont typeface="Arial" panose="020B0604020202020204" pitchFamily="34" charset="0"/>
              <a:buChar char="•"/>
            </a:pPr>
            <a:r>
              <a:rPr lang="es-ES" sz="1700" b="1" i="0" strike="noStrike" cap="none" baseline="0" dirty="0" err="1">
                <a:solidFill>
                  <a:srgbClr val="000000"/>
                </a:solidFill>
                <a:effectLst/>
                <a:latin typeface="Segoe UI"/>
                <a:ea typeface="Segoe UI"/>
                <a:cs typeface="Segoe UI"/>
              </a:rPr>
              <a:t>facetable</a:t>
            </a:r>
            <a:r>
              <a:rPr lang="es-ES" sz="1700" b="0" i="0" strike="noStrike" cap="none" baseline="0" dirty="0">
                <a:solidFill>
                  <a:srgbClr val="000000"/>
                </a:solidFill>
                <a:effectLst/>
                <a:latin typeface="Segoe UI"/>
                <a:ea typeface="Segoe UI"/>
                <a:cs typeface="Segoe UI"/>
              </a:rPr>
              <a:t>: campos que se pueden usar para determinar los valores de las </a:t>
            </a:r>
            <a:r>
              <a:rPr lang="es-ES" sz="1700" b="0" i="1" strike="noStrike" cap="none" baseline="0" dirty="0">
                <a:solidFill>
                  <a:srgbClr val="000000"/>
                </a:solidFill>
                <a:effectLst/>
                <a:latin typeface="Segoe UI"/>
                <a:ea typeface="Segoe UI"/>
                <a:cs typeface="Segoe UI"/>
              </a:rPr>
              <a:t>facetas</a:t>
            </a:r>
            <a:r>
              <a:rPr lang="es-ES" sz="1700" b="0" i="0" strike="noStrike" cap="none" baseline="0" dirty="0">
                <a:solidFill>
                  <a:srgbClr val="000000"/>
                </a:solidFill>
                <a:effectLst/>
                <a:latin typeface="Segoe UI"/>
                <a:ea typeface="Segoe UI"/>
                <a:cs typeface="Segoe UI"/>
              </a:rPr>
              <a:t> (elementos de la interfaz</a:t>
            </a:r>
            <a:br>
              <a:rPr lang="es-ES" sz="1700" b="0" i="0" strike="noStrike" cap="none" baseline="0" dirty="0">
                <a:solidFill>
                  <a:srgbClr val="000000"/>
                </a:solidFill>
                <a:effectLst/>
                <a:latin typeface="Segoe UI"/>
                <a:ea typeface="Segoe UI"/>
                <a:cs typeface="Segoe UI"/>
              </a:rPr>
            </a:br>
            <a:r>
              <a:rPr lang="es-ES" sz="1700" b="0" i="0" strike="noStrike" cap="none" baseline="0" dirty="0">
                <a:solidFill>
                  <a:srgbClr val="000000"/>
                </a:solidFill>
                <a:effectLst/>
                <a:latin typeface="Segoe UI"/>
                <a:ea typeface="Segoe UI"/>
                <a:cs typeface="Segoe UI"/>
              </a:rPr>
              <a:t>de usuario que se usan para filtrar los resultados en función de una lista de valores de campo conocidos).</a:t>
            </a:r>
          </a:p>
          <a:p>
            <a:pPr marL="285750" indent="-285750" algn="l">
              <a:spcBef>
                <a:spcPts val="600"/>
              </a:spcBef>
              <a:buFont typeface="Arial" panose="020B0604020202020204" pitchFamily="34" charset="0"/>
              <a:buChar char="•"/>
            </a:pPr>
            <a:r>
              <a:rPr lang="es-ES" sz="1700" b="1" i="0" strike="noStrike" cap="none" baseline="0" dirty="0">
                <a:solidFill>
                  <a:srgbClr val="000000"/>
                </a:solidFill>
                <a:effectLst/>
                <a:latin typeface="Segoe UI"/>
                <a:ea typeface="Segoe UI"/>
                <a:cs typeface="Segoe UI"/>
              </a:rPr>
              <a:t>recuperable</a:t>
            </a:r>
            <a:r>
              <a:rPr lang="es-ES" sz="1700" b="0" i="0" strike="noStrike" cap="none" baseline="0" dirty="0">
                <a:solidFill>
                  <a:srgbClr val="000000"/>
                </a:solidFill>
                <a:effectLst/>
                <a:latin typeface="Segoe UI"/>
                <a:ea typeface="Segoe UI"/>
                <a:cs typeface="Segoe UI"/>
              </a:rPr>
              <a:t>: campos que se pueden incluir en los resultados de la búsqueda</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17" name="Group 16">
            <a:extLst>
              <a:ext uri="{FF2B5EF4-FFF2-40B4-BE49-F238E27FC236}">
                <a16:creationId xmlns:a16="http://schemas.microsoft.com/office/drawing/2014/main" id="{8841C52C-AA03-DBE1-C4F9-70677A75EEFD}"/>
              </a:ext>
              <a:ext uri="{C183D7F6-B498-43B3-948B-1728B52AA6E4}">
                <adec:decorative xmlns:adec="http://schemas.microsoft.com/office/drawing/2017/decorative" val="1"/>
              </a:ext>
            </a:extLst>
          </p:cNvPr>
          <p:cNvGrpSpPr/>
          <p:nvPr/>
        </p:nvGrpSpPr>
        <p:grpSpPr>
          <a:xfrm>
            <a:off x="8060373" y="1870574"/>
            <a:ext cx="1656978" cy="2912351"/>
            <a:chOff x="5568446" y="3333917"/>
            <a:chExt cx="1656978" cy="2912351"/>
          </a:xfrm>
        </p:grpSpPr>
        <p:grpSp>
          <p:nvGrpSpPr>
            <p:cNvPr id="19" name="Group 18">
              <a:extLst>
                <a:ext uri="{FF2B5EF4-FFF2-40B4-BE49-F238E27FC236}">
                  <a16:creationId xmlns:a16="http://schemas.microsoft.com/office/drawing/2014/main" id="{E0A50D9A-42A5-CDE2-0D63-FCB18CA842A1}"/>
                </a:ext>
              </a:extLst>
            </p:cNvPr>
            <p:cNvGrpSpPr/>
            <p:nvPr/>
          </p:nvGrpSpPr>
          <p:grpSpPr>
            <a:xfrm>
              <a:off x="5755185" y="5021532"/>
              <a:ext cx="1224736" cy="1224736"/>
              <a:chOff x="3025941" y="2344903"/>
              <a:chExt cx="1277817" cy="1277817"/>
            </a:xfrm>
          </p:grpSpPr>
          <p:pic>
            <p:nvPicPr>
              <p:cNvPr id="25" name="Graphic 24" descr="Magnifying glass with solid fill">
                <a:extLst>
                  <a:ext uri="{FF2B5EF4-FFF2-40B4-BE49-F238E27FC236}">
                    <a16:creationId xmlns:a16="http://schemas.microsoft.com/office/drawing/2014/main" id="{A842C313-80A0-E87B-4C58-0DBBDA224C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4848" y="2840291"/>
                <a:ext cx="287039" cy="287039"/>
              </a:xfrm>
              <a:prstGeom prst="rect">
                <a:avLst/>
              </a:prstGeom>
            </p:spPr>
          </p:pic>
          <p:pic>
            <p:nvPicPr>
              <p:cNvPr id="26" name="Graphic 25" descr="World outline">
                <a:extLst>
                  <a:ext uri="{FF2B5EF4-FFF2-40B4-BE49-F238E27FC236}">
                    <a16:creationId xmlns:a16="http://schemas.microsoft.com/office/drawing/2014/main" id="{B3432163-3D61-9595-B8CB-0380FECB49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0417" y="2738043"/>
                <a:ext cx="328863" cy="328863"/>
              </a:xfrm>
              <a:prstGeom prst="rect">
                <a:avLst/>
              </a:prstGeom>
            </p:spPr>
          </p:pic>
          <p:pic>
            <p:nvPicPr>
              <p:cNvPr id="27" name="Graphic 26" descr="Laptop outline">
                <a:extLst>
                  <a:ext uri="{FF2B5EF4-FFF2-40B4-BE49-F238E27FC236}">
                    <a16:creationId xmlns:a16="http://schemas.microsoft.com/office/drawing/2014/main" id="{83A1972C-B545-C276-E588-2C600B4C4A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5941" y="2344903"/>
                <a:ext cx="1277817" cy="1277817"/>
              </a:xfrm>
              <a:prstGeom prst="rect">
                <a:avLst/>
              </a:prstGeom>
            </p:spPr>
          </p:pic>
        </p:grpSp>
        <p:grpSp>
          <p:nvGrpSpPr>
            <p:cNvPr id="20" name="Group 19">
              <a:extLst>
                <a:ext uri="{FF2B5EF4-FFF2-40B4-BE49-F238E27FC236}">
                  <a16:creationId xmlns:a16="http://schemas.microsoft.com/office/drawing/2014/main" id="{E2D36F9E-90D4-2F04-39C1-465525B8AFF0}"/>
                </a:ext>
              </a:extLst>
            </p:cNvPr>
            <p:cNvGrpSpPr/>
            <p:nvPr/>
          </p:nvGrpSpPr>
          <p:grpSpPr>
            <a:xfrm>
              <a:off x="5568446" y="3333917"/>
              <a:ext cx="1656978" cy="1187881"/>
              <a:chOff x="5754685" y="2950106"/>
              <a:chExt cx="1656978" cy="1187881"/>
            </a:xfrm>
          </p:grpSpPr>
          <p:pic>
            <p:nvPicPr>
              <p:cNvPr id="23" name="Graphic 22" descr="List outline">
                <a:extLst>
                  <a:ext uri="{FF2B5EF4-FFF2-40B4-BE49-F238E27FC236}">
                    <a16:creationId xmlns:a16="http://schemas.microsoft.com/office/drawing/2014/main" id="{38397CC0-DDB8-4F9F-4D92-BE74C3CE56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97263" y="2950106"/>
                <a:ext cx="914400" cy="914400"/>
              </a:xfrm>
              <a:prstGeom prst="rect">
                <a:avLst/>
              </a:prstGeom>
            </p:spPr>
          </p:pic>
          <p:pic>
            <p:nvPicPr>
              <p:cNvPr id="24" name="Graphic 23">
                <a:extLst>
                  <a:ext uri="{FF2B5EF4-FFF2-40B4-BE49-F238E27FC236}">
                    <a16:creationId xmlns:a16="http://schemas.microsoft.com/office/drawing/2014/main" id="{67881636-82EE-FEE9-FEDC-C592A4B676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54685" y="3037956"/>
                <a:ext cx="1100031" cy="1100031"/>
              </a:xfrm>
              <a:prstGeom prst="rect">
                <a:avLst/>
              </a:prstGeom>
            </p:spPr>
          </p:pic>
        </p:grpSp>
        <p:cxnSp>
          <p:nvCxnSpPr>
            <p:cNvPr id="21" name="Straight Arrow Connector 20">
              <a:extLst>
                <a:ext uri="{FF2B5EF4-FFF2-40B4-BE49-F238E27FC236}">
                  <a16:creationId xmlns:a16="http://schemas.microsoft.com/office/drawing/2014/main" id="{7E2CFD74-308D-9728-6D49-6C28C9B19B24}"/>
                </a:ext>
              </a:extLst>
            </p:cNvPr>
            <p:cNvCxnSpPr/>
            <p:nvPr/>
          </p:nvCxnSpPr>
          <p:spPr>
            <a:xfrm flipH="1" flipV="1">
              <a:off x="6209951" y="4400120"/>
              <a:ext cx="0" cy="783772"/>
            </a:xfrm>
            <a:prstGeom prst="straightConnector1">
              <a:avLst/>
            </a:prstGeom>
            <a:noFill/>
            <a:ln w="57150" cap="flat" cmpd="sng" algn="ctr">
              <a:solidFill>
                <a:srgbClr val="A02B93"/>
              </a:solidFill>
              <a:prstDash val="solid"/>
              <a:miter lim="800000"/>
              <a:tailEnd type="triangle"/>
            </a:ln>
            <a:effectLst/>
          </p:spPr>
        </p:cxnSp>
        <p:cxnSp>
          <p:nvCxnSpPr>
            <p:cNvPr id="22" name="Straight Arrow Connector 21">
              <a:extLst>
                <a:ext uri="{FF2B5EF4-FFF2-40B4-BE49-F238E27FC236}">
                  <a16:creationId xmlns:a16="http://schemas.microsoft.com/office/drawing/2014/main" id="{4D7A2256-3E3F-A40A-12E6-814A167AFED3}"/>
                </a:ext>
              </a:extLst>
            </p:cNvPr>
            <p:cNvCxnSpPr/>
            <p:nvPr/>
          </p:nvCxnSpPr>
          <p:spPr>
            <a:xfrm flipH="1">
              <a:off x="6527955" y="4461995"/>
              <a:ext cx="0" cy="783772"/>
            </a:xfrm>
            <a:prstGeom prst="straightConnector1">
              <a:avLst/>
            </a:prstGeom>
            <a:noFill/>
            <a:ln w="57150" cap="flat" cmpd="sng" algn="ctr">
              <a:solidFill>
                <a:srgbClr val="A02B93"/>
              </a:solidFill>
              <a:prstDash val="solid"/>
              <a:miter lim="800000"/>
              <a:tailEnd type="triangle"/>
            </a:ln>
            <a:effectLst/>
          </p:spPr>
        </p:cxnSp>
      </p:grpSp>
      <p:sp>
        <p:nvSpPr>
          <p:cNvPr id="4" name="TextBox 3">
            <a:extLst>
              <a:ext uri="{FF2B5EF4-FFF2-40B4-BE49-F238E27FC236}">
                <a16:creationId xmlns:a16="http://schemas.microsoft.com/office/drawing/2014/main" id="{9AB22E7C-81F0-F93B-6AA0-43FF2814C57D}"/>
              </a:ext>
            </a:extLst>
          </p:cNvPr>
          <p:cNvSpPr txBox="1"/>
          <p:nvPr/>
        </p:nvSpPr>
        <p:spPr>
          <a:xfrm>
            <a:off x="6821368" y="4657745"/>
            <a:ext cx="4842994" cy="1177438"/>
          </a:xfrm>
          <a:prstGeom prst="rect">
            <a:avLst/>
          </a:prstGeom>
          <a:noFill/>
        </p:spPr>
        <p:txBody>
          <a:bodyPr wrap="square">
            <a:spAutoFit/>
          </a:bodyPr>
          <a:lstStyle/>
          <a:p>
            <a:pPr>
              <a:lnSpc>
                <a:spcPts val="1425"/>
              </a:lnSpc>
              <a:buNone/>
            </a:pP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"search"</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"New York"</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"select"</a:t>
            </a:r>
            <a:r>
              <a:rPr lang="en-US" sz="1600" b="0" dirty="0">
                <a:solidFill>
                  <a:srgbClr val="000000"/>
                </a:solidFill>
                <a:effectLst/>
                <a:latin typeface="Consolas" panose="020B0609020204030204" pitchFamily="49" charset="0"/>
              </a:rPr>
              <a:t>: </a:t>
            </a:r>
            <a:r>
              <a:rPr lang="en-US" sz="1600" dirty="0">
                <a:solidFill>
                  <a:srgbClr val="A31515"/>
                </a:solidFill>
                <a:latin typeface="Consolas" panose="020B0609020204030204" pitchFamily="49" charset="0"/>
              </a:rPr>
              <a:t>"</a:t>
            </a:r>
            <a:r>
              <a:rPr lang="en-US" sz="1600" b="0" dirty="0" err="1">
                <a:solidFill>
                  <a:srgbClr val="A31515"/>
                </a:solidFill>
                <a:effectLst/>
                <a:latin typeface="Consolas" panose="020B0609020204030204" pitchFamily="49" charset="0"/>
              </a:rPr>
              <a:t>title,locations,keyphrases</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"filter"</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author eq 'Reviewer'</a:t>
            </a:r>
            <a:r>
              <a:rPr lang="en-US" sz="1600" dirty="0">
                <a:solidFill>
                  <a:srgbClr val="A31515"/>
                </a:solidFill>
                <a:latin typeface="Consolas" panose="020B0609020204030204" pitchFamily="49" charset="0"/>
              </a:rPr>
              <a:t>",</a:t>
            </a:r>
            <a:endParaRPr lang="en-US" sz="1600" b="0" dirty="0">
              <a:solidFill>
                <a:srgbClr val="A31515"/>
              </a:solidFill>
              <a:effectLst/>
              <a:latin typeface="Consolas" panose="020B0609020204030204" pitchFamily="49" charset="0"/>
            </a:endParaRPr>
          </a:p>
          <a:p>
            <a:pPr>
              <a:lnSpc>
                <a:spcPts val="1425"/>
              </a:lnSpc>
              <a:buNone/>
            </a:pPr>
            <a:r>
              <a:rPr lang="en-US" sz="1600" dirty="0">
                <a:solidFill>
                  <a:srgbClr val="3B3B3B"/>
                </a:solidFill>
                <a:latin typeface="Consolas" panose="020B0609020204030204" pitchFamily="49" charset="0"/>
              </a:rPr>
              <a:t>  </a:t>
            </a:r>
            <a:r>
              <a:rPr lang="en-US" sz="1600" dirty="0">
                <a:solidFill>
                  <a:srgbClr val="0451A5"/>
                </a:solidFill>
                <a:latin typeface="Consolas" panose="020B0609020204030204" pitchFamily="49" charset="0"/>
              </a:rPr>
              <a:t>"</a:t>
            </a:r>
            <a:r>
              <a:rPr lang="en-US" sz="1600" dirty="0" err="1">
                <a:solidFill>
                  <a:srgbClr val="0451A5"/>
                </a:solidFill>
                <a:latin typeface="Consolas" panose="020B0609020204030204" pitchFamily="49" charset="0"/>
              </a:rPr>
              <a:t>orderby</a:t>
            </a:r>
            <a:r>
              <a:rPr lang="en-US" sz="1600" dirty="0">
                <a:solidFill>
                  <a:srgbClr val="0451A5"/>
                </a:solidFill>
                <a:latin typeface="Consolas" panose="020B0609020204030204" pitchFamily="49" charset="0"/>
              </a:rPr>
              <a: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metadata_storage_date</a:t>
            </a:r>
            <a:r>
              <a:rPr lang="en-US" sz="1600" dirty="0">
                <a:solidFill>
                  <a:srgbClr val="A31515"/>
                </a:solidFill>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pP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123640493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1" y="585216"/>
            <a:ext cx="10246225" cy="975360"/>
          </a:xfrm>
        </p:spPr>
        <p:txBody>
          <a:bodyPr/>
          <a:lstStyle/>
          <a:p>
            <a:r>
              <a:rPr lang="es-ES" sz="3200" b="0" i="0" strike="noStrike" cap="none" baseline="0">
                <a:solidFill>
                  <a:srgbClr val="000000"/>
                </a:solidFill>
                <a:effectLst/>
                <a:latin typeface="Segoe UI Semibold"/>
                <a:ea typeface="Segoe UI Semibold"/>
                <a:cs typeface="Segoe UI Semibold"/>
              </a:rPr>
              <a:t>Conservación de la información extraída en un almacén de conocimiento</a:t>
            </a:r>
          </a:p>
        </p:txBody>
      </p:sp>
      <p:sp>
        <p:nvSpPr>
          <p:cNvPr id="5" name="TextBox 4">
            <a:extLst>
              <a:ext uri="{FF2B5EF4-FFF2-40B4-BE49-F238E27FC236}">
                <a16:creationId xmlns:a16="http://schemas.microsoft.com/office/drawing/2014/main" id="{F6D92A1A-DF02-B7A8-CAB8-1B92D53934FA}"/>
              </a:ext>
            </a:extLst>
          </p:cNvPr>
          <p:cNvSpPr txBox="1"/>
          <p:nvPr/>
        </p:nvSpPr>
        <p:spPr>
          <a:xfrm>
            <a:off x="866414" y="1884120"/>
            <a:ext cx="6396274" cy="1508760"/>
          </a:xfrm>
          <a:prstGeom prst="rect">
            <a:avLst/>
          </a:prstGeom>
          <a:noFill/>
        </p:spPr>
        <p:txBody>
          <a:bodyPr wrap="square" lIns="0" tIns="0" rIns="0" bIns="0" rtlCol="0">
            <a:spAutoFit/>
          </a:bodyPr>
          <a:lstStyle/>
          <a:p>
            <a:pPr algn="l">
              <a:spcBef>
                <a:spcPts val="600"/>
              </a:spcBef>
              <a:spcAft>
                <a:spcPts val="1200"/>
              </a:spcAft>
            </a:pPr>
            <a:r>
              <a:rPr lang="es-ES" sz="2000" b="0" i="0" strike="noStrike" cap="none" baseline="0">
                <a:solidFill>
                  <a:srgbClr val="000000"/>
                </a:solidFill>
                <a:effectLst/>
                <a:latin typeface="Segoe UI Semibold"/>
                <a:ea typeface="Segoe UI Semibold"/>
                <a:cs typeface="Segoe UI Semibold"/>
              </a:rPr>
              <a:t>Almacenar </a:t>
            </a:r>
            <a:r>
              <a:rPr lang="es-ES" sz="2000" b="0" i="1" strike="noStrike" cap="none" baseline="0">
                <a:solidFill>
                  <a:srgbClr val="000000"/>
                </a:solidFill>
                <a:effectLst/>
                <a:latin typeface="Segoe UI Semibold"/>
                <a:ea typeface="Segoe UI Semibold"/>
                <a:cs typeface="Segoe UI Semibold"/>
              </a:rPr>
              <a:t>proyecciones</a:t>
            </a:r>
            <a:r>
              <a:rPr lang="es-ES" sz="2000" b="0" i="0" strike="noStrike" cap="none" baseline="0">
                <a:solidFill>
                  <a:srgbClr val="000000"/>
                </a:solidFill>
                <a:effectLst/>
                <a:latin typeface="Segoe UI Semibold"/>
                <a:ea typeface="Segoe UI Semibold"/>
                <a:cs typeface="Segoe UI Semibold"/>
              </a:rPr>
              <a:t> en Azure Storage:</a:t>
            </a:r>
          </a:p>
          <a:p>
            <a:pPr marL="285750" indent="-285750" algn="l">
              <a:spcBef>
                <a:spcPts val="600"/>
              </a:spcBef>
              <a:buFont typeface="Arial" panose="020B0604020202020204" pitchFamily="34" charset="0"/>
              <a:buChar char="•"/>
            </a:pPr>
            <a:r>
              <a:rPr lang="es-ES" sz="1800" b="1" i="0" strike="noStrike" cap="none" baseline="0">
                <a:solidFill>
                  <a:srgbClr val="000000"/>
                </a:solidFill>
                <a:effectLst/>
                <a:latin typeface="Segoe UI"/>
                <a:ea typeface="Segoe UI"/>
                <a:cs typeface="Segoe UI"/>
              </a:rPr>
              <a:t>Objetos</a:t>
            </a:r>
            <a:r>
              <a:rPr lang="es-ES" sz="1800" b="0" i="0" strike="noStrike" cap="none" baseline="0">
                <a:solidFill>
                  <a:srgbClr val="000000"/>
                </a:solidFill>
                <a:effectLst/>
                <a:latin typeface="Segoe UI"/>
                <a:ea typeface="Segoe UI"/>
                <a:cs typeface="Segoe UI"/>
              </a:rPr>
              <a:t>: documentos JSON</a:t>
            </a:r>
          </a:p>
          <a:p>
            <a:pPr marL="285750" indent="-285750" algn="l">
              <a:spcBef>
                <a:spcPts val="600"/>
              </a:spcBef>
              <a:buFont typeface="Arial" panose="020B0604020202020204" pitchFamily="34" charset="0"/>
              <a:buChar char="•"/>
            </a:pPr>
            <a:r>
              <a:rPr lang="es-ES" sz="1800" b="1" i="0" strike="noStrike" cap="none" baseline="0">
                <a:solidFill>
                  <a:srgbClr val="000000"/>
                </a:solidFill>
                <a:effectLst/>
                <a:latin typeface="Segoe UI"/>
                <a:ea typeface="Segoe UI"/>
                <a:cs typeface="Segoe UI"/>
              </a:rPr>
              <a:t>Tablas</a:t>
            </a:r>
            <a:r>
              <a:rPr lang="es-ES" sz="1800" b="0" i="0" strike="noStrike" cap="none" baseline="0">
                <a:solidFill>
                  <a:srgbClr val="000000"/>
                </a:solidFill>
                <a:effectLst/>
                <a:latin typeface="Segoe UI"/>
                <a:ea typeface="Segoe UI"/>
                <a:cs typeface="Segoe UI"/>
              </a:rPr>
              <a:t>: esquema relacional para campos extraídos</a:t>
            </a:r>
            <a:endParaRPr lang="en-US" sz="1800" b="1"/>
          </a:p>
          <a:p>
            <a:pPr marL="285750" indent="-285750" algn="l">
              <a:spcBef>
                <a:spcPts val="600"/>
              </a:spcBef>
              <a:buFont typeface="Arial" panose="020B0604020202020204" pitchFamily="34" charset="0"/>
              <a:buChar char="•"/>
            </a:pPr>
            <a:r>
              <a:rPr lang="es-ES" sz="1800" b="1" i="0" strike="noStrike" cap="none" baseline="0">
                <a:solidFill>
                  <a:srgbClr val="000000"/>
                </a:solidFill>
                <a:effectLst/>
                <a:latin typeface="Segoe UI"/>
                <a:ea typeface="Segoe UI"/>
                <a:cs typeface="Segoe UI"/>
              </a:rPr>
              <a:t>Archivos</a:t>
            </a:r>
            <a:r>
              <a:rPr lang="es-ES" sz="1800" b="0" i="0" strike="noStrike" cap="none" baseline="0">
                <a:solidFill>
                  <a:srgbClr val="000000"/>
                </a:solidFill>
                <a:effectLst/>
                <a:latin typeface="Segoe UI"/>
                <a:ea typeface="Segoe UI"/>
                <a:cs typeface="Segoe UI"/>
              </a:rPr>
              <a:t>: imágenes extraídas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4" name="Group 3">
            <a:extLst>
              <a:ext uri="{FF2B5EF4-FFF2-40B4-BE49-F238E27FC236}">
                <a16:creationId xmlns:a16="http://schemas.microsoft.com/office/drawing/2014/main" id="{B2AFFFFE-E885-36F9-DF8B-C552AE7051F4}"/>
              </a:ext>
              <a:ext uri="{C183D7F6-B498-43B3-948B-1728B52AA6E4}">
                <adec:decorative xmlns:adec="http://schemas.microsoft.com/office/drawing/2017/decorative" val="1"/>
              </a:ext>
            </a:extLst>
          </p:cNvPr>
          <p:cNvGrpSpPr/>
          <p:nvPr/>
        </p:nvGrpSpPr>
        <p:grpSpPr>
          <a:xfrm>
            <a:off x="7544841" y="1179693"/>
            <a:ext cx="3108167" cy="4862730"/>
            <a:chOff x="6925606" y="1109960"/>
            <a:chExt cx="3108167" cy="4862730"/>
          </a:xfrm>
        </p:grpSpPr>
        <p:grpSp>
          <p:nvGrpSpPr>
            <p:cNvPr id="6" name="Group 5">
              <a:extLst>
                <a:ext uri="{FF2B5EF4-FFF2-40B4-BE49-F238E27FC236}">
                  <a16:creationId xmlns:a16="http://schemas.microsoft.com/office/drawing/2014/main" id="{7C8630D8-8E32-4F4B-BD3A-F59F11F74391}"/>
                </a:ext>
              </a:extLst>
            </p:cNvPr>
            <p:cNvGrpSpPr/>
            <p:nvPr/>
          </p:nvGrpSpPr>
          <p:grpSpPr>
            <a:xfrm>
              <a:off x="6925606" y="1109960"/>
              <a:ext cx="2273640" cy="4862730"/>
              <a:chOff x="2759631" y="1109960"/>
              <a:chExt cx="2273640" cy="4862730"/>
            </a:xfrm>
          </p:grpSpPr>
          <p:sp>
            <p:nvSpPr>
              <p:cNvPr id="16" name="Arrow: Down 15">
                <a:extLst>
                  <a:ext uri="{FF2B5EF4-FFF2-40B4-BE49-F238E27FC236}">
                    <a16:creationId xmlns:a16="http://schemas.microsoft.com/office/drawing/2014/main" id="{CD7DC802-3A46-89B6-9576-049CE77A34D8}"/>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17" name="Graphic 16" descr="Gears with solid fill">
                <a:extLst>
                  <a:ext uri="{FF2B5EF4-FFF2-40B4-BE49-F238E27FC236}">
                    <a16:creationId xmlns:a16="http://schemas.microsoft.com/office/drawing/2014/main" id="{8CE26B88-D48D-05D5-D181-5AC3FFF7B4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18" name="Graphic 17" descr="List outline">
                <a:extLst>
                  <a:ext uri="{FF2B5EF4-FFF2-40B4-BE49-F238E27FC236}">
                    <a16:creationId xmlns:a16="http://schemas.microsoft.com/office/drawing/2014/main" id="{B27ED39D-740C-0B1B-31D0-662490DD0B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19" name="Group 18">
                <a:extLst>
                  <a:ext uri="{FF2B5EF4-FFF2-40B4-BE49-F238E27FC236}">
                    <a16:creationId xmlns:a16="http://schemas.microsoft.com/office/drawing/2014/main" id="{ACF9C98E-E30C-6D64-0F42-ABF3F1896750}"/>
                  </a:ext>
                </a:extLst>
              </p:cNvPr>
              <p:cNvGrpSpPr/>
              <p:nvPr/>
            </p:nvGrpSpPr>
            <p:grpSpPr>
              <a:xfrm>
                <a:off x="3204296" y="1109960"/>
                <a:ext cx="1231574" cy="1231574"/>
                <a:chOff x="2232474" y="1427224"/>
                <a:chExt cx="1231574" cy="1231574"/>
              </a:xfrm>
            </p:grpSpPr>
            <p:pic>
              <p:nvPicPr>
                <p:cNvPr id="33" name="Graphic 32" descr="Contract outline">
                  <a:extLst>
                    <a:ext uri="{FF2B5EF4-FFF2-40B4-BE49-F238E27FC236}">
                      <a16:creationId xmlns:a16="http://schemas.microsoft.com/office/drawing/2014/main" id="{BD183F0B-AC5C-6A78-00BB-7DE714C480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34" name="Graphic 33" descr="Folder with solid fill">
                  <a:extLst>
                    <a:ext uri="{FF2B5EF4-FFF2-40B4-BE49-F238E27FC236}">
                      <a16:creationId xmlns:a16="http://schemas.microsoft.com/office/drawing/2014/main" id="{A8E2F4D3-86A9-D0E5-D064-EF06ECE2CA3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20" name="Graphic 19">
                <a:extLst>
                  <a:ext uri="{FF2B5EF4-FFF2-40B4-BE49-F238E27FC236}">
                    <a16:creationId xmlns:a16="http://schemas.microsoft.com/office/drawing/2014/main" id="{2894D106-910C-B5B2-0550-75D775263AF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11318" y="3395120"/>
                <a:ext cx="503521" cy="503521"/>
              </a:xfrm>
              <a:prstGeom prst="rect">
                <a:avLst/>
              </a:prstGeom>
            </p:spPr>
          </p:pic>
          <p:pic>
            <p:nvPicPr>
              <p:cNvPr id="21" name="Graphic 20">
                <a:extLst>
                  <a:ext uri="{FF2B5EF4-FFF2-40B4-BE49-F238E27FC236}">
                    <a16:creationId xmlns:a16="http://schemas.microsoft.com/office/drawing/2014/main" id="{AF7B1A3C-D311-2CBA-CD8A-6B4EACA8E7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1067" y="5090840"/>
                <a:ext cx="881850" cy="881850"/>
              </a:xfrm>
              <a:prstGeom prst="rect">
                <a:avLst/>
              </a:prstGeom>
            </p:spPr>
          </p:pic>
          <p:pic>
            <p:nvPicPr>
              <p:cNvPr id="22" name="Graphic 21">
                <a:extLst>
                  <a:ext uri="{FF2B5EF4-FFF2-40B4-BE49-F238E27FC236}">
                    <a16:creationId xmlns:a16="http://schemas.microsoft.com/office/drawing/2014/main" id="{1C280440-FDD2-0972-C19B-09A67541ECD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29750" y="2891599"/>
                <a:ext cx="503521" cy="503521"/>
              </a:xfrm>
              <a:prstGeom prst="rect">
                <a:avLst/>
              </a:prstGeom>
            </p:spPr>
          </p:pic>
          <p:pic>
            <p:nvPicPr>
              <p:cNvPr id="23" name="Graphic 22">
                <a:extLst>
                  <a:ext uri="{FF2B5EF4-FFF2-40B4-BE49-F238E27FC236}">
                    <a16:creationId xmlns:a16="http://schemas.microsoft.com/office/drawing/2014/main" id="{09AB8372-A7F1-49F0-C558-D3987495B72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59631" y="2411864"/>
                <a:ext cx="503521" cy="503521"/>
              </a:xfrm>
              <a:prstGeom prst="rect">
                <a:avLst/>
              </a:prstGeom>
            </p:spPr>
          </p:pic>
          <p:grpSp>
            <p:nvGrpSpPr>
              <p:cNvPr id="24" name="Group 23">
                <a:extLst>
                  <a:ext uri="{FF2B5EF4-FFF2-40B4-BE49-F238E27FC236}">
                    <a16:creationId xmlns:a16="http://schemas.microsoft.com/office/drawing/2014/main" id="{41C538DB-5DBC-53B8-7282-A04D13FCF77C}"/>
                  </a:ext>
                </a:extLst>
              </p:cNvPr>
              <p:cNvGrpSpPr/>
              <p:nvPr/>
            </p:nvGrpSpPr>
            <p:grpSpPr>
              <a:xfrm>
                <a:off x="3263152" y="2590227"/>
                <a:ext cx="556931" cy="115873"/>
                <a:chOff x="3263152" y="2590227"/>
                <a:chExt cx="556931" cy="115873"/>
              </a:xfrm>
            </p:grpSpPr>
            <p:cxnSp>
              <p:nvCxnSpPr>
                <p:cNvPr id="31" name="Straight Arrow Connector 30">
                  <a:extLst>
                    <a:ext uri="{FF2B5EF4-FFF2-40B4-BE49-F238E27FC236}">
                      <a16:creationId xmlns:a16="http://schemas.microsoft.com/office/drawing/2014/main" id="{D7A6D55A-9EBF-FD2D-A03A-C8246E6A7BCA}"/>
                    </a:ext>
                  </a:extLst>
                </p:cNvPr>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32" name="Straight Arrow Connector 31">
                  <a:extLst>
                    <a:ext uri="{FF2B5EF4-FFF2-40B4-BE49-F238E27FC236}">
                      <a16:creationId xmlns:a16="http://schemas.microsoft.com/office/drawing/2014/main" id="{E8C21CA6-E5CB-BA9F-3D48-7E66C5B45C6F}"/>
                    </a:ext>
                  </a:extLst>
                </p:cNvPr>
                <p:cNvCxnSpPr/>
                <p:nvPr/>
              </p:nvCxnSpPr>
              <p:spPr>
                <a:xfrm>
                  <a:off x="3415865" y="2706100"/>
                  <a:ext cx="404218"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25" name="Group 24">
                <a:extLst>
                  <a:ext uri="{FF2B5EF4-FFF2-40B4-BE49-F238E27FC236}">
                    <a16:creationId xmlns:a16="http://schemas.microsoft.com/office/drawing/2014/main" id="{DCE61330-1777-A4E7-4175-9DEB1474667D}"/>
                  </a:ext>
                </a:extLst>
              </p:cNvPr>
              <p:cNvGrpSpPr/>
              <p:nvPr/>
            </p:nvGrpSpPr>
            <p:grpSpPr>
              <a:xfrm>
                <a:off x="3269921" y="3602731"/>
                <a:ext cx="601850" cy="115873"/>
                <a:chOff x="3263152" y="2590227"/>
                <a:chExt cx="601850" cy="115873"/>
              </a:xfrm>
            </p:grpSpPr>
            <p:cxnSp>
              <p:nvCxnSpPr>
                <p:cNvPr id="29" name="Straight Arrow Connector 28">
                  <a:extLst>
                    <a:ext uri="{FF2B5EF4-FFF2-40B4-BE49-F238E27FC236}">
                      <a16:creationId xmlns:a16="http://schemas.microsoft.com/office/drawing/2014/main" id="{7B7EABFF-3A73-C987-0F12-63AD92109B62}"/>
                    </a:ext>
                  </a:extLst>
                </p:cNvPr>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30" name="Straight Arrow Connector 29">
                  <a:extLst>
                    <a:ext uri="{FF2B5EF4-FFF2-40B4-BE49-F238E27FC236}">
                      <a16:creationId xmlns:a16="http://schemas.microsoft.com/office/drawing/2014/main" id="{89F640ED-0423-AE11-ACE2-3535EA8C3EB3}"/>
                    </a:ext>
                  </a:extLst>
                </p:cNvPr>
                <p:cNvCxnSpPr/>
                <p:nvPr/>
              </p:nvCxnSpPr>
              <p:spPr>
                <a:xfrm>
                  <a:off x="3415865" y="2706100"/>
                  <a:ext cx="449137"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26" name="Group 25">
                <a:extLst>
                  <a:ext uri="{FF2B5EF4-FFF2-40B4-BE49-F238E27FC236}">
                    <a16:creationId xmlns:a16="http://schemas.microsoft.com/office/drawing/2014/main" id="{1D628F77-C2AE-21BD-0C1A-8AA15DB47617}"/>
                  </a:ext>
                </a:extLst>
              </p:cNvPr>
              <p:cNvGrpSpPr/>
              <p:nvPr/>
            </p:nvGrpSpPr>
            <p:grpSpPr>
              <a:xfrm flipV="1">
                <a:off x="4038823" y="3082211"/>
                <a:ext cx="444155" cy="134091"/>
                <a:chOff x="3263152" y="2590227"/>
                <a:chExt cx="587533" cy="115873"/>
              </a:xfrm>
            </p:grpSpPr>
            <p:cxnSp>
              <p:nvCxnSpPr>
                <p:cNvPr id="27" name="Straight Arrow Connector 26">
                  <a:extLst>
                    <a:ext uri="{FF2B5EF4-FFF2-40B4-BE49-F238E27FC236}">
                      <a16:creationId xmlns:a16="http://schemas.microsoft.com/office/drawing/2014/main" id="{0225A890-EEF4-A743-5ADE-264F64CD8FE3}"/>
                    </a:ext>
                  </a:extLst>
                </p:cNvPr>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28" name="Straight Arrow Connector 27">
                  <a:extLst>
                    <a:ext uri="{FF2B5EF4-FFF2-40B4-BE49-F238E27FC236}">
                      <a16:creationId xmlns:a16="http://schemas.microsoft.com/office/drawing/2014/main" id="{B0339543-D2FE-32AE-8861-69A15992B49F}"/>
                    </a:ext>
                  </a:extLst>
                </p:cNvPr>
                <p:cNvCxnSpPr/>
                <p:nvPr/>
              </p:nvCxnSpPr>
              <p:spPr>
                <a:xfrm flipV="1">
                  <a:off x="3415865" y="2706100"/>
                  <a:ext cx="434820"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grpSp>
          <p:nvGrpSpPr>
            <p:cNvPr id="7" name="Group 6">
              <a:extLst>
                <a:ext uri="{FF2B5EF4-FFF2-40B4-BE49-F238E27FC236}">
                  <a16:creationId xmlns:a16="http://schemas.microsoft.com/office/drawing/2014/main" id="{0CA873E3-B1C1-3303-E015-E5E10FA85045}"/>
                </a:ext>
              </a:extLst>
            </p:cNvPr>
            <p:cNvGrpSpPr/>
            <p:nvPr/>
          </p:nvGrpSpPr>
          <p:grpSpPr>
            <a:xfrm>
              <a:off x="8750157" y="3614880"/>
              <a:ext cx="1283616" cy="1045362"/>
              <a:chOff x="8750157" y="3614880"/>
              <a:chExt cx="1283616" cy="1045362"/>
            </a:xfrm>
          </p:grpSpPr>
          <p:pic>
            <p:nvPicPr>
              <p:cNvPr id="9" name="Graphic 8">
                <a:extLst>
                  <a:ext uri="{FF2B5EF4-FFF2-40B4-BE49-F238E27FC236}">
                    <a16:creationId xmlns:a16="http://schemas.microsoft.com/office/drawing/2014/main" id="{563F6069-2073-780D-E762-E386404C9DB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14828" y="3614880"/>
                <a:ext cx="568181" cy="568181"/>
              </a:xfrm>
              <a:prstGeom prst="rect">
                <a:avLst/>
              </a:prstGeom>
            </p:spPr>
          </p:pic>
          <p:pic>
            <p:nvPicPr>
              <p:cNvPr id="10" name="Graphic 9" descr="Image outline">
                <a:extLst>
                  <a:ext uri="{FF2B5EF4-FFF2-40B4-BE49-F238E27FC236}">
                    <a16:creationId xmlns:a16="http://schemas.microsoft.com/office/drawing/2014/main" id="{A2FE7436-93B1-2CBF-571C-4BF40C35D24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155278" y="4281004"/>
                <a:ext cx="379238" cy="379238"/>
              </a:xfrm>
              <a:prstGeom prst="rect">
                <a:avLst/>
              </a:prstGeom>
            </p:spPr>
          </p:pic>
          <p:pic>
            <p:nvPicPr>
              <p:cNvPr id="11" name="Graphic 10" descr="Table outline">
                <a:extLst>
                  <a:ext uri="{FF2B5EF4-FFF2-40B4-BE49-F238E27FC236}">
                    <a16:creationId xmlns:a16="http://schemas.microsoft.com/office/drawing/2014/main" id="{F23BC9D9-BB32-2092-59DC-1D37502E044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57" y="4272154"/>
                <a:ext cx="379239" cy="379239"/>
              </a:xfrm>
              <a:prstGeom prst="rect">
                <a:avLst/>
              </a:prstGeom>
            </p:spPr>
          </p:pic>
          <p:grpSp>
            <p:nvGrpSpPr>
              <p:cNvPr id="12" name="Group 11">
                <a:extLst>
                  <a:ext uri="{FF2B5EF4-FFF2-40B4-BE49-F238E27FC236}">
                    <a16:creationId xmlns:a16="http://schemas.microsoft.com/office/drawing/2014/main" id="{DB229CB0-32CF-F05E-6030-6AEA7A001585}"/>
                  </a:ext>
                </a:extLst>
              </p:cNvPr>
              <p:cNvGrpSpPr/>
              <p:nvPr/>
            </p:nvGrpSpPr>
            <p:grpSpPr>
              <a:xfrm>
                <a:off x="9559861" y="4277202"/>
                <a:ext cx="473912" cy="379238"/>
                <a:chOff x="9317319" y="4989433"/>
                <a:chExt cx="473912" cy="379238"/>
              </a:xfrm>
            </p:grpSpPr>
            <p:pic>
              <p:nvPicPr>
                <p:cNvPr id="14" name="Graphic 13" descr="Paper outline">
                  <a:extLst>
                    <a:ext uri="{FF2B5EF4-FFF2-40B4-BE49-F238E27FC236}">
                      <a16:creationId xmlns:a16="http://schemas.microsoft.com/office/drawing/2014/main" id="{A583B055-3D1D-3EAF-A8B5-32B5D72DBA7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317319" y="4989433"/>
                  <a:ext cx="379238" cy="379238"/>
                </a:xfrm>
                <a:prstGeom prst="rect">
                  <a:avLst/>
                </a:prstGeom>
              </p:spPr>
            </p:pic>
            <p:sp>
              <p:nvSpPr>
                <p:cNvPr id="15" name="TextBox 14">
                  <a:extLst>
                    <a:ext uri="{FF2B5EF4-FFF2-40B4-BE49-F238E27FC236}">
                      <a16:creationId xmlns:a16="http://schemas.microsoft.com/office/drawing/2014/main" id="{306C566D-3233-9A62-063F-9E1DF1E6D3D0}"/>
                    </a:ext>
                  </a:extLst>
                </p:cNvPr>
                <p:cNvSpPr txBox="1"/>
                <p:nvPr/>
              </p:nvSpPr>
              <p:spPr>
                <a:xfrm>
                  <a:off x="9340467" y="5059264"/>
                  <a:ext cx="450764" cy="26161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kumimoji="0" lang="en-US" sz="1100" b="1" i="0" u="none" strike="noStrike" kern="0" cap="none" spc="0" normalizeH="0" baseline="0" noProof="0">
                      <a:ln>
                        <a:noFill/>
                      </a:ln>
                      <a:solidFill>
                        <a:prstClr val="black"/>
                      </a:solidFill>
                      <a:effectLst/>
                      <a:uLnTx/>
                      <a:uFillTx/>
                      <a:latin typeface="Aptos" panose="02110004020202020204"/>
                    </a:rPr>
                    <a:t>{.}</a:t>
                  </a:r>
                </a:p>
              </p:txBody>
            </p:sp>
          </p:grpSp>
          <p:sp>
            <p:nvSpPr>
              <p:cNvPr id="13" name="Left Brace 12">
                <a:extLst>
                  <a:ext uri="{FF2B5EF4-FFF2-40B4-BE49-F238E27FC236}">
                    <a16:creationId xmlns:a16="http://schemas.microsoft.com/office/drawing/2014/main" id="{6B3576FC-764C-8681-0703-15FCB282CDE1}"/>
                  </a:ext>
                </a:extLst>
              </p:cNvPr>
              <p:cNvSpPr/>
              <p:nvPr/>
            </p:nvSpPr>
            <p:spPr>
              <a:xfrm rot="5400000">
                <a:off x="9250348" y="3838290"/>
                <a:ext cx="139516" cy="745912"/>
              </a:xfrm>
              <a:prstGeom prst="lef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cxnSp>
          <p:nvCxnSpPr>
            <p:cNvPr id="8" name="Straight Arrow Connector 7">
              <a:extLst>
                <a:ext uri="{FF2B5EF4-FFF2-40B4-BE49-F238E27FC236}">
                  <a16:creationId xmlns:a16="http://schemas.microsoft.com/office/drawing/2014/main" id="{94874D26-A1C1-888E-21B2-D2AD1AD359AB}"/>
                </a:ext>
              </a:extLst>
            </p:cNvPr>
            <p:cNvCxnSpPr/>
            <p:nvPr/>
          </p:nvCxnSpPr>
          <p:spPr>
            <a:xfrm>
              <a:off x="8181375" y="3904991"/>
              <a:ext cx="833453" cy="0"/>
            </a:xfrm>
            <a:prstGeom prst="straightConnector1">
              <a:avLst/>
            </a:prstGeom>
            <a:noFill/>
            <a:ln w="38100" cap="flat" cmpd="sng" algn="ctr">
              <a:solidFill>
                <a:srgbClr val="00B0F0"/>
              </a:solidFill>
              <a:prstDash val="solid"/>
              <a:miter lim="800000"/>
              <a:tailEnd type="triangle"/>
            </a:ln>
            <a:effectLst/>
          </p:spPr>
        </p:cxnSp>
      </p:grpSp>
    </p:spTree>
    <p:extLst>
      <p:ext uri="{BB962C8B-B14F-4D97-AF65-F5344CB8AC3E}">
        <p14:creationId xmlns:p14="http://schemas.microsoft.com/office/powerpoint/2010/main" val="57148847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9303-3628-1EB4-BC15-16BF9BDA2975}"/>
            </a:ext>
          </a:extLst>
        </p:cNvPr>
        <p:cNvGrpSpPr/>
        <p:nvPr/>
      </p:nvGrpSpPr>
      <p:grpSpPr>
        <a:xfrm>
          <a:off x="0" y="0"/>
          <a:ext cx="0" cy="0"/>
          <a:chOff x="0" y="0"/>
          <a:chExt cx="0" cy="0"/>
        </a:xfrm>
      </p:grpSpPr>
      <p:pic>
        <p:nvPicPr>
          <p:cNvPr id="9" name="Picture Placeholder 3">
            <a:extLst>
              <a:ext uri="{FF2B5EF4-FFF2-40B4-BE49-F238E27FC236}">
                <a16:creationId xmlns:a16="http://schemas.microsoft.com/office/drawing/2014/main" id="{5D89172F-23A0-107D-9735-93566716F198}"/>
              </a:ex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t="760" b="760"/>
          <a:stretch/>
        </p:blipFill>
        <p:spPr>
          <a:xfrm>
            <a:off x="7724775" y="2041526"/>
            <a:ext cx="4467225" cy="3311524"/>
          </a:xfrm>
        </p:spPr>
      </p:pic>
      <p:sp>
        <p:nvSpPr>
          <p:cNvPr id="5" name="Title 4">
            <a:extLst>
              <a:ext uri="{FF2B5EF4-FFF2-40B4-BE49-F238E27FC236}">
                <a16:creationId xmlns:a16="http://schemas.microsoft.com/office/drawing/2014/main" id="{A310E826-05DE-CAAF-50E8-05F242CE95CD}"/>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Demostración</a:t>
            </a:r>
          </a:p>
        </p:txBody>
      </p:sp>
      <p:sp>
        <p:nvSpPr>
          <p:cNvPr id="7" name="Text Placeholder 6">
            <a:extLst>
              <a:ext uri="{FF2B5EF4-FFF2-40B4-BE49-F238E27FC236}">
                <a16:creationId xmlns:a16="http://schemas.microsoft.com/office/drawing/2014/main" id="{54022E4C-A7C9-8D98-7770-B5ACBDC12907}"/>
              </a:ext>
            </a:extLst>
          </p:cNvPr>
          <p:cNvSpPr>
            <a:spLocks noGrp="1"/>
          </p:cNvSpPr>
          <p:nvPr>
            <p:ph type="body" sz="quarter" idx="16"/>
          </p:nvPr>
        </p:nvSpPr>
        <p:spPr>
          <a:xfrm>
            <a:off x="584199" y="1594155"/>
            <a:ext cx="6418051" cy="292388"/>
          </a:xfrm>
        </p:spPr>
        <p:txBody>
          <a:bodyPr/>
          <a:lstStyle/>
          <a:p>
            <a:r>
              <a:rPr lang="es-ES" sz="1900" b="0" i="0" strike="noStrike" cap="none" baseline="0" dirty="0">
                <a:solidFill>
                  <a:srgbClr val="000000"/>
                </a:solidFill>
                <a:effectLst/>
                <a:latin typeface="Segoe UI Semibold"/>
                <a:ea typeface="Segoe UI Semibold"/>
                <a:cs typeface="Segoe UI Semibold"/>
              </a:rPr>
              <a:t>Creación de una solución de minería de conocimientos</a:t>
            </a:r>
          </a:p>
        </p:txBody>
      </p:sp>
      <p:sp>
        <p:nvSpPr>
          <p:cNvPr id="6" name="Text Placeholder 5">
            <a:extLst>
              <a:ext uri="{FF2B5EF4-FFF2-40B4-BE49-F238E27FC236}">
                <a16:creationId xmlns:a16="http://schemas.microsoft.com/office/drawing/2014/main" id="{A61BC78B-A9CD-6418-B74A-78D938349CEC}"/>
              </a:ext>
            </a:extLst>
          </p:cNvPr>
          <p:cNvSpPr>
            <a:spLocks noGrp="1"/>
          </p:cNvSpPr>
          <p:nvPr>
            <p:ph type="body" sz="quarter" idx="15"/>
          </p:nvPr>
        </p:nvSpPr>
        <p:spPr>
          <a:xfrm>
            <a:off x="588262" y="2054529"/>
            <a:ext cx="5652201" cy="1219200"/>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En este ejercicio, usarás Búsqueda de Azure AI para: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Creación de un índice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Consultar un índice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Conservar proyecciones en un almacén de conocimiento</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CEB385D9-6BDB-F76C-2007-390288CD8DC1}"/>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hlinkClick r:id="rId4" history="0"/>
              </a:rPr>
              <a:t>https://go.microsoft.com/fwlink/?linkid=2320469</a:t>
            </a:r>
            <a:r>
              <a:rPr lang="es-ES" sz="1600" b="0" i="0" strike="noStrike" cap="none" baseline="0">
                <a:solidFill>
                  <a:srgbClr val="000000"/>
                </a:solidFill>
                <a:effectLst/>
                <a:latin typeface="Segoe UI"/>
                <a:ea typeface="Segoe UI"/>
                <a:cs typeface="Segoe UI"/>
              </a:rPr>
              <a:t> </a:t>
            </a:r>
          </a:p>
        </p:txBody>
      </p:sp>
      <p:sp>
        <p:nvSpPr>
          <p:cNvPr id="3" name="Footer Placeholder 2">
            <a:extLst>
              <a:ext uri="{FF2B5EF4-FFF2-40B4-BE49-F238E27FC236}">
                <a16:creationId xmlns:a16="http://schemas.microsoft.com/office/drawing/2014/main" id="{F9EB15D2-3D72-BDA5-E6E4-DF96DB80555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0C59DE63-64DD-1412-E0DD-2B3D9B461261}"/>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endParaRPr kumimoji="0" lang="en-US" sz="125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9449605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37F4-7C45-5D9A-AF01-155D8FF6A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F4F27-854F-E1F4-267A-A60B885D39AA}"/>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C98BB81D-877C-A6E0-76D9-51E2E4ACA43F}"/>
              </a:ext>
            </a:extLst>
          </p:cNvPr>
          <p:cNvSpPr>
            <a:spLocks noGrp="1"/>
          </p:cNvSpPr>
          <p:nvPr>
            <p:ph type="body" sz="quarter" idx="17"/>
          </p:nvPr>
        </p:nvSpPr>
        <p:spPr>
          <a:xfrm>
            <a:off x="1235075" y="1687706"/>
            <a:ext cx="8775098" cy="426720"/>
          </a:xfrm>
        </p:spPr>
        <p:txBody>
          <a:bodyPr/>
          <a:lstStyle/>
          <a:p>
            <a:pPr>
              <a:buNone/>
            </a:pPr>
            <a:r>
              <a:rPr lang="es-ES" sz="1400" b="0" i="0" strike="noStrike" cap="none" baseline="0">
                <a:solidFill>
                  <a:srgbClr val="000000"/>
                </a:solidFill>
                <a:effectLst/>
                <a:latin typeface="Segoe UI Semibold"/>
                <a:ea typeface="Segoe UI Semibold"/>
                <a:cs typeface="Segoe UI Semibold"/>
              </a:rPr>
              <a:t>¿Qué componente de una solución de Búsqueda de Azure AI está programado para extraer y enriquecer datos para rellenar un índice?</a:t>
            </a:r>
          </a:p>
        </p:txBody>
      </p:sp>
      <p:sp>
        <p:nvSpPr>
          <p:cNvPr id="9" name="Text Placeholder 8">
            <a:extLst>
              <a:ext uri="{FF2B5EF4-FFF2-40B4-BE49-F238E27FC236}">
                <a16:creationId xmlns:a16="http://schemas.microsoft.com/office/drawing/2014/main" id="{45197A9C-8E5A-E390-8A59-40EF85833CA2}"/>
              </a:ext>
            </a:extLst>
          </p:cNvPr>
          <p:cNvSpPr>
            <a:spLocks noGrp="1"/>
          </p:cNvSpPr>
          <p:nvPr>
            <p:ph type="body" sz="quarter" idx="15"/>
          </p:nvPr>
        </p:nvSpPr>
        <p:spPr>
          <a:xfrm>
            <a:off x="1235074" y="2174283"/>
            <a:ext cx="9250045" cy="725424"/>
          </a:xfrm>
          <a:noFill/>
        </p:spPr>
        <p:txBody>
          <a:bodyPr/>
          <a:lstStyle/>
          <a:p>
            <a:r>
              <a:rPr lang="es-ES" sz="1400" b="0" i="0" strike="noStrike" cap="none" baseline="0">
                <a:solidFill>
                  <a:srgbClr val="000000"/>
                </a:solidFill>
                <a:effectLst/>
                <a:latin typeface="Segoe UI"/>
                <a:ea typeface="Segoe UI"/>
                <a:cs typeface="Segoe UI"/>
              </a:rPr>
              <a:t>indizador</a:t>
            </a:r>
            <a:endParaRPr lang="en-US" noProof="0">
              <a:solidFill>
                <a:srgbClr val="000000"/>
              </a:solidFill>
            </a:endParaRPr>
          </a:p>
          <a:p>
            <a:r>
              <a:rPr lang="es-ES" sz="1400" b="0" i="0" strike="noStrike" cap="none" baseline="0">
                <a:solidFill>
                  <a:srgbClr val="000000"/>
                </a:solidFill>
                <a:effectLst/>
                <a:latin typeface="Segoe UI"/>
                <a:ea typeface="Segoe UI"/>
                <a:cs typeface="Segoe UI"/>
              </a:rPr>
              <a:t>Projection</a:t>
            </a:r>
          </a:p>
          <a:p>
            <a:r>
              <a:rPr lang="es-ES" sz="1400" b="0" i="0" strike="noStrike" cap="none" baseline="0">
                <a:solidFill>
                  <a:srgbClr val="000000"/>
                </a:solidFill>
                <a:effectLst/>
                <a:latin typeface="Segoe UI"/>
                <a:ea typeface="Segoe UI"/>
                <a:cs typeface="Segoe UI"/>
              </a:rPr>
              <a:t>Consultar</a:t>
            </a:r>
          </a:p>
        </p:txBody>
      </p:sp>
      <p:sp>
        <p:nvSpPr>
          <p:cNvPr id="18" name="Text Placeholder 17">
            <a:extLst>
              <a:ext uri="{FF2B5EF4-FFF2-40B4-BE49-F238E27FC236}">
                <a16:creationId xmlns:a16="http://schemas.microsoft.com/office/drawing/2014/main" id="{6CEBF33F-E289-B690-A76F-17F41DEDFD55}"/>
              </a:ext>
            </a:extLst>
          </p:cNvPr>
          <p:cNvSpPr>
            <a:spLocks noGrp="1"/>
          </p:cNvSpPr>
          <p:nvPr>
            <p:ph type="body" sz="quarter" idx="22"/>
          </p:nvPr>
        </p:nvSpPr>
        <p:spPr>
          <a:xfrm>
            <a:off x="1235075" y="3153050"/>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servicio admite habilidades de IA integradas en Búsqueda de Azure AI?</a:t>
            </a:r>
            <a:endParaRPr lang="en-US" b="1" noProof="0"/>
          </a:p>
        </p:txBody>
      </p:sp>
      <p:sp>
        <p:nvSpPr>
          <p:cNvPr id="19" name="Text Placeholder 18">
            <a:extLst>
              <a:ext uri="{FF2B5EF4-FFF2-40B4-BE49-F238E27FC236}">
                <a16:creationId xmlns:a16="http://schemas.microsoft.com/office/drawing/2014/main" id="{0789A4C7-552C-0A9A-92D5-F501CD51DDEC}"/>
              </a:ext>
            </a:extLst>
          </p:cNvPr>
          <p:cNvSpPr>
            <a:spLocks noGrp="1"/>
          </p:cNvSpPr>
          <p:nvPr>
            <p:ph type="body" sz="quarter" idx="23"/>
          </p:nvPr>
        </p:nvSpPr>
        <p:spPr>
          <a:xfrm>
            <a:off x="1237265" y="3463791"/>
            <a:ext cx="8775098" cy="725424"/>
          </a:xfrm>
        </p:spPr>
        <p:txBody>
          <a:bodyPr/>
          <a:lstStyle/>
          <a:p>
            <a:r>
              <a:rPr lang="es-ES" sz="1400" b="0" i="0" strike="noStrike" cap="none" baseline="0">
                <a:solidFill>
                  <a:srgbClr val="000000"/>
                </a:solidFill>
                <a:effectLst/>
                <a:latin typeface="Segoe UI"/>
                <a:ea typeface="Segoe UI"/>
                <a:cs typeface="Segoe UI"/>
              </a:rPr>
              <a:t>Azure Functions</a:t>
            </a:r>
          </a:p>
          <a:p>
            <a:r>
              <a:rPr lang="es-ES" sz="1400" b="0" i="0" strike="noStrike" cap="none" baseline="0">
                <a:solidFill>
                  <a:srgbClr val="000000"/>
                </a:solidFill>
                <a:effectLst/>
                <a:latin typeface="Segoe UI"/>
                <a:ea typeface="Segoe UI"/>
                <a:cs typeface="Segoe UI"/>
              </a:rPr>
              <a:t>Foundry Tools</a:t>
            </a:r>
          </a:p>
          <a:p>
            <a:r>
              <a:rPr lang="es-ES" sz="1400" b="0" i="0" strike="noStrike" cap="none" baseline="0">
                <a:solidFill>
                  <a:srgbClr val="000000"/>
                </a:solidFill>
                <a:effectLst/>
                <a:latin typeface="Segoe UI"/>
                <a:ea typeface="Segoe UI"/>
                <a:cs typeface="Segoe UI"/>
              </a:rPr>
              <a:t>Azure Cosmos DB</a:t>
            </a:r>
          </a:p>
        </p:txBody>
      </p:sp>
      <p:sp>
        <p:nvSpPr>
          <p:cNvPr id="15" name="Text Placeholder 14">
            <a:extLst>
              <a:ext uri="{FF2B5EF4-FFF2-40B4-BE49-F238E27FC236}">
                <a16:creationId xmlns:a16="http://schemas.microsoft.com/office/drawing/2014/main" id="{EDAFA41C-D237-478A-411A-D8B08C907024}"/>
              </a:ext>
            </a:extLst>
          </p:cNvPr>
          <p:cNvSpPr>
            <a:spLocks noGrp="1"/>
          </p:cNvSpPr>
          <p:nvPr>
            <p:ph type="body" sz="quarter" idx="20"/>
          </p:nvPr>
        </p:nvSpPr>
        <p:spPr>
          <a:xfrm>
            <a:off x="1235074" y="4588103"/>
            <a:ext cx="8957333" cy="426720"/>
          </a:xfrm>
        </p:spPr>
        <p:txBody>
          <a:bodyPr/>
          <a:lstStyle/>
          <a:p>
            <a:r>
              <a:rPr lang="es-ES" sz="1400" b="1" i="0" strike="noStrike" cap="none" baseline="0">
                <a:solidFill>
                  <a:srgbClr val="000000"/>
                </a:solidFill>
                <a:effectLst/>
                <a:latin typeface="Segoe UI Semibold"/>
                <a:ea typeface="Segoe UI Semibold"/>
                <a:cs typeface="Segoe UI Semibold"/>
              </a:rPr>
              <a:t>¿Qué tipo de proyección da como resultado un esquema de datos relacionales para los campos extraídos?</a:t>
            </a:r>
          </a:p>
        </p:txBody>
      </p:sp>
      <p:sp>
        <p:nvSpPr>
          <p:cNvPr id="17" name="Text Placeholder 16">
            <a:extLst>
              <a:ext uri="{FF2B5EF4-FFF2-40B4-BE49-F238E27FC236}">
                <a16:creationId xmlns:a16="http://schemas.microsoft.com/office/drawing/2014/main" id="{95539CCC-24B5-4937-76F5-801E57AE9102}"/>
              </a:ext>
            </a:extLst>
          </p:cNvPr>
          <p:cNvSpPr>
            <a:spLocks noGrp="1"/>
          </p:cNvSpPr>
          <p:nvPr>
            <p:ph type="body" sz="quarter" idx="21"/>
          </p:nvPr>
        </p:nvSpPr>
        <p:spPr>
          <a:xfrm>
            <a:off x="1235075" y="4968973"/>
            <a:ext cx="8775098" cy="725424"/>
          </a:xfrm>
        </p:spPr>
        <p:txBody>
          <a:bodyPr/>
          <a:lstStyle/>
          <a:p>
            <a:r>
              <a:rPr lang="es-ES" sz="1400" b="0" i="0" strike="noStrike" cap="none" baseline="0" dirty="0">
                <a:solidFill>
                  <a:srgbClr val="000000"/>
                </a:solidFill>
                <a:effectLst/>
                <a:latin typeface="Segoe UI"/>
                <a:ea typeface="Segoe UI"/>
                <a:cs typeface="Segoe UI"/>
              </a:rPr>
              <a:t>Archivo </a:t>
            </a:r>
          </a:p>
          <a:p>
            <a:r>
              <a:rPr lang="es-ES" sz="1400" b="0" i="0" strike="noStrike" cap="none" baseline="0" dirty="0" err="1">
                <a:solidFill>
                  <a:srgbClr val="000000"/>
                </a:solidFill>
                <a:effectLst/>
                <a:latin typeface="Segoe UI"/>
                <a:ea typeface="Segoe UI"/>
                <a:cs typeface="Segoe UI"/>
              </a:rPr>
              <a:t>Object</a:t>
            </a:r>
            <a:endParaRPr lang="es-ES" sz="1400" b="0" i="0" strike="noStrike" cap="none" baseline="0" dirty="0">
              <a:solidFill>
                <a:srgbClr val="000000"/>
              </a:solidFill>
              <a:effectLst/>
              <a:latin typeface="Segoe UI"/>
              <a:ea typeface="Segoe UI"/>
              <a:cs typeface="Segoe UI"/>
            </a:endParaRPr>
          </a:p>
          <a:p>
            <a:r>
              <a:rPr lang="es-ES" sz="1400" b="0" i="0" strike="noStrike" cap="none" baseline="0" dirty="0">
                <a:solidFill>
                  <a:srgbClr val="000000"/>
                </a:solidFill>
                <a:effectLst/>
                <a:latin typeface="Segoe UI"/>
                <a:ea typeface="Segoe UI"/>
                <a:cs typeface="Segoe UI"/>
              </a:rPr>
              <a:t>Tabla</a:t>
            </a:r>
          </a:p>
        </p:txBody>
      </p:sp>
      <p:sp>
        <p:nvSpPr>
          <p:cNvPr id="76" name="Oval 75">
            <a:extLst>
              <a:ext uri="{FF2B5EF4-FFF2-40B4-BE49-F238E27FC236}">
                <a16:creationId xmlns:a16="http://schemas.microsoft.com/office/drawing/2014/main" id="{665B2774-978B-DE44-CEDC-06759CD6E5D3}"/>
              </a:ext>
              <a:ext uri="{C183D7F6-B498-43B3-948B-1728B52AA6E4}">
                <adec:decorative xmlns:adec="http://schemas.microsoft.com/office/drawing/2017/decorative" val="1"/>
              </a:ext>
            </a:extLst>
          </p:cNvPr>
          <p:cNvSpPr/>
          <p:nvPr/>
        </p:nvSpPr>
        <p:spPr bwMode="auto">
          <a:xfrm>
            <a:off x="722582" y="168229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br>
              <a:rPr lang="es-ES" sz="1800" b="1" i="0" strike="noStrike" cap="none" baseline="0" dirty="0">
                <a:solidFill>
                  <a:srgbClr val="000000"/>
                </a:solidFill>
                <a:effectLst/>
                <a:latin typeface="Segoe UI"/>
                <a:ea typeface="Segoe UI"/>
                <a:cs typeface="Segoe UI"/>
              </a:rPr>
            </a:br>
            <a:r>
              <a:rPr lang="es-ES" sz="1800" b="1" i="0" strike="noStrike" cap="none" baseline="0" dirty="0">
                <a:solidFill>
                  <a:srgbClr val="000000"/>
                </a:solidFill>
                <a:effectLst/>
                <a:latin typeface="Segoe UI"/>
                <a:ea typeface="Segoe UI"/>
                <a:cs typeface="Segoe UI"/>
              </a:rPr>
              <a:t>1</a:t>
            </a:r>
            <a:r>
              <a:rPr lang="es-ES" sz="1800" b="0" i="0" strike="noStrike" cap="none" baseline="0" dirty="0">
                <a:solidFill>
                  <a:srgbClr val="000000"/>
                </a:solidFill>
                <a:effectLst/>
                <a:latin typeface="Segoe UI"/>
                <a:ea typeface="Segoe UI"/>
                <a:cs typeface="Segoe UI"/>
              </a:rPr>
              <a:t>
          </a:t>
            </a:r>
          </a:p>
        </p:txBody>
      </p:sp>
      <p:sp>
        <p:nvSpPr>
          <p:cNvPr id="77" name="Oval 76">
            <a:extLst>
              <a:ext uri="{FF2B5EF4-FFF2-40B4-BE49-F238E27FC236}">
                <a16:creationId xmlns:a16="http://schemas.microsoft.com/office/drawing/2014/main" id="{8DEC3CE7-D7EC-4F25-3347-960C6F4F39AD}"/>
              </a:ext>
              <a:ext uri="{C183D7F6-B498-43B3-948B-1728B52AA6E4}">
                <adec:decorative xmlns:adec="http://schemas.microsoft.com/office/drawing/2017/decorative" val="1"/>
              </a:ext>
            </a:extLst>
          </p:cNvPr>
          <p:cNvSpPr/>
          <p:nvPr/>
        </p:nvSpPr>
        <p:spPr bwMode="auto">
          <a:xfrm>
            <a:off x="722582" y="307128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418E937C-CFE4-BFF7-66E6-3CF62230E72E}"/>
              </a:ext>
              <a:ext uri="{C183D7F6-B498-43B3-948B-1728B52AA6E4}">
                <adec:decorative xmlns:adec="http://schemas.microsoft.com/office/drawing/2017/decorative" val="1"/>
              </a:ext>
            </a:extLst>
          </p:cNvPr>
          <p:cNvSpPr/>
          <p:nvPr/>
        </p:nvSpPr>
        <p:spPr>
          <a:xfrm>
            <a:off x="1263852" y="374582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78" name="Oval 77">
            <a:extLst>
              <a:ext uri="{FF2B5EF4-FFF2-40B4-BE49-F238E27FC236}">
                <a16:creationId xmlns:a16="http://schemas.microsoft.com/office/drawing/2014/main" id="{3E81E59C-F713-B3B6-1A21-5412008CC242}"/>
              </a:ext>
              <a:ext uri="{C183D7F6-B498-43B3-948B-1728B52AA6E4}">
                <adec:decorative xmlns:adec="http://schemas.microsoft.com/office/drawing/2017/decorative" val="1"/>
              </a:ext>
            </a:extLst>
          </p:cNvPr>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br>
              <a:rPr lang="es-ES" sz="1800" b="1" i="0" strike="noStrike" cap="none" baseline="0" dirty="0">
                <a:solidFill>
                  <a:srgbClr val="000000"/>
                </a:solidFill>
                <a:effectLst/>
                <a:latin typeface="Segoe UI"/>
                <a:ea typeface="Segoe UI"/>
                <a:cs typeface="Segoe UI"/>
              </a:rPr>
            </a:br>
            <a:r>
              <a:rPr lang="es-ES" sz="1800" b="1" i="0" strike="noStrike" cap="none" baseline="0" dirty="0">
                <a:solidFill>
                  <a:srgbClr val="000000"/>
                </a:solidFill>
                <a:effectLst/>
                <a:latin typeface="Segoe UI"/>
                <a:ea typeface="Segoe UI"/>
                <a:cs typeface="Segoe UI"/>
              </a:rPr>
              <a:t>3</a:t>
            </a:r>
            <a:r>
              <a:rPr lang="es-ES" sz="1800" b="0" i="0" strike="noStrike" cap="none" baseline="0" dirty="0">
                <a:solidFill>
                  <a:srgbClr val="000000"/>
                </a:solidFill>
                <a:effectLst/>
                <a:latin typeface="Segoe UI"/>
                <a:ea typeface="Segoe UI"/>
                <a:cs typeface="Segoe UI"/>
              </a:rPr>
              <a:t>
          </a:t>
            </a:r>
          </a:p>
        </p:txBody>
      </p:sp>
      <p:sp>
        <p:nvSpPr>
          <p:cNvPr id="81" name="Graphic 26">
            <a:extLst>
              <a:ext uri="{FF2B5EF4-FFF2-40B4-BE49-F238E27FC236}">
                <a16:creationId xmlns:a16="http://schemas.microsoft.com/office/drawing/2014/main" id="{028574AF-01B9-3216-4869-8CE679BBE532}"/>
              </a:ext>
              <a:ext uri="{C183D7F6-B498-43B3-948B-1728B52AA6E4}">
                <adec:decorative xmlns:adec="http://schemas.microsoft.com/office/drawing/2017/decorative" val="1"/>
              </a:ext>
            </a:extLst>
          </p:cNvPr>
          <p:cNvSpPr/>
          <p:nvPr/>
        </p:nvSpPr>
        <p:spPr>
          <a:xfrm>
            <a:off x="1263852" y="551065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E49A37FE-7FC0-D112-B00A-1C253DC1806E}"/>
              </a:ext>
              <a:ext uri="{C183D7F6-B498-43B3-948B-1728B52AA6E4}">
                <adec:decorative xmlns:adec="http://schemas.microsoft.com/office/drawing/2017/decorative" val="1"/>
              </a:ext>
            </a:extLst>
          </p:cNvPr>
          <p:cNvSpPr/>
          <p:nvPr/>
        </p:nvSpPr>
        <p:spPr>
          <a:xfrm>
            <a:off x="1263852" y="221469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109478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5939125-e560-4c0d-b0c5-36d0cbbdefe7">
      <Terms xmlns="http://schemas.microsoft.com/office/infopath/2007/PartnerControls"/>
    </lcf76f155ced4ddcb4097134ff3c332f>
    <TaxCatchAll xmlns="e9b40ee8-a410-479f-a3f0-3e55b31bc197"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32D07151C35047978CBB2C9B85873C" ma:contentTypeVersion="12" ma:contentTypeDescription="Create a new document." ma:contentTypeScope="" ma:versionID="3534ca723f0afde11e2a11eecba4c346">
  <xsd:schema xmlns:xsd="http://www.w3.org/2001/XMLSchema" xmlns:xs="http://www.w3.org/2001/XMLSchema" xmlns:p="http://schemas.microsoft.com/office/2006/metadata/properties" xmlns:ns1="http://schemas.microsoft.com/sharepoint/v3" xmlns:ns2="65939125-e560-4c0d-b0c5-36d0cbbdefe7" xmlns:ns3="e9b40ee8-a410-479f-a3f0-3e55b31bc197" targetNamespace="http://schemas.microsoft.com/office/2006/metadata/properties" ma:root="true" ma:fieldsID="f016192c923787f1dfe767fe6eb19d52" ns1:_="" ns2:_="" ns3:_="">
    <xsd:import namespace="http://schemas.microsoft.com/sharepoint/v3"/>
    <xsd:import namespace="65939125-e560-4c0d-b0c5-36d0cbbdefe7"/>
    <xsd:import namespace="e9b40ee8-a410-479f-a3f0-3e55b31bc19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939125-e560-4c0d-b0c5-36d0cbbdefe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b40ee8-a410-479f-a3f0-3e55b31bc19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ae8649e-307b-442d-9f75-1cd1fb9eba4e}" ma:internalName="TaxCatchAll" ma:showField="CatchAllData" ma:web="e9b40ee8-a410-479f-a3f0-3e55b31bc1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F4CE68-A85E-4373-86D0-F40255719C5F}">
  <ds:schemaRefs>
    <ds:schemaRef ds:uri="http://purl.org/dc/terms/"/>
    <ds:schemaRef ds:uri="http://schemas.microsoft.com/office/2006/documentManagement/types"/>
    <ds:schemaRef ds:uri="http://schemas.microsoft.com/sharepoint/v3"/>
    <ds:schemaRef ds:uri="http://www.w3.org/XML/1998/namespace"/>
    <ds:schemaRef ds:uri="http://schemas.openxmlformats.org/package/2006/metadata/core-properties"/>
    <ds:schemaRef ds:uri="92cc7923-7bd6-4c52-a535-c267c30bc123"/>
    <ds:schemaRef ds:uri="http://schemas.microsoft.com/office/2006/metadata/properties"/>
    <ds:schemaRef ds:uri="http://schemas.microsoft.com/office/infopath/2007/PartnerControls"/>
    <ds:schemaRef ds:uri="http://purl.org/dc/dcmitype/"/>
    <ds:schemaRef ds:uri="http://purl.org/dc/elements/1.1/"/>
    <ds:schemaRef ds:uri="59afee55-fc30-40da-a84e-ff6fc62c4efa"/>
    <ds:schemaRef ds:uri="65939125-e560-4c0d-b0c5-36d0cbbdefe7"/>
    <ds:schemaRef ds:uri="e9b40ee8-a410-479f-a3f0-3e55b31bc197"/>
  </ds:schemaRefs>
</ds:datastoreItem>
</file>

<file path=customXml/itemProps2.xml><?xml version="1.0" encoding="utf-8"?>
<ds:datastoreItem xmlns:ds="http://schemas.openxmlformats.org/officeDocument/2006/customXml" ds:itemID="{28683044-9CCF-49C2-86EF-175FB3A95D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5939125-e560-4c0d-b0c5-36d0cbbdefe7"/>
    <ds:schemaRef ds:uri="e9b40ee8-a410-479f-a3f0-3e55b31bc1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BE6BE5F-0F3E-4688-943B-6A75B88CACC0}">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6443</Words>
  <Application>Microsoft Office PowerPoint</Application>
  <PresentationFormat>Widescreen</PresentationFormat>
  <Paragraphs>733</Paragraphs>
  <Slides>44</Slides>
  <Notes>44</Notes>
  <HiddenSlides>2</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44</vt:i4>
      </vt:variant>
    </vt:vector>
  </HeadingPairs>
  <TitlesOfParts>
    <vt:vector size="55" baseType="lpstr">
      <vt:lpstr>Aptos</vt:lpstr>
      <vt:lpstr>Arial</vt:lpstr>
      <vt:lpstr>Cambria Math</vt:lpstr>
      <vt:lpstr>Cascadia Code Light</vt:lpstr>
      <vt:lpstr>Consolas</vt:lpstr>
      <vt:lpstr>Segoe UI</vt:lpstr>
      <vt:lpstr>Segoe UI Light</vt:lpstr>
      <vt:lpstr>Segoe UI Semibold</vt:lpstr>
      <vt:lpstr>Wingdings</vt:lpstr>
      <vt:lpstr>1_LIGHT MODE</vt:lpstr>
      <vt:lpstr>LIGHT MODE</vt:lpstr>
      <vt:lpstr>Extracción de información de datos visuales en Azure</vt:lpstr>
      <vt:lpstr>Cargas de trabajo de inteligencia artificial</vt:lpstr>
      <vt:lpstr>Nuestro enfoque actual</vt:lpstr>
      <vt:lpstr>Desarrollo de una aplicación de IA generativa habilitada para visión</vt:lpstr>
      <vt:lpstr>Uso de un modelo con capacidades de visión</vt:lpstr>
      <vt:lpstr>Comparación de las API para indicaciones basadas en imágenes</vt:lpstr>
      <vt:lpstr>Using the Responses API for image-based prompts</vt:lpstr>
      <vt:lpstr>Using the ChatCompletions API for image-based prompts</vt:lpstr>
      <vt:lpstr>Ejercicio</vt:lpstr>
      <vt:lpstr>Prueba de conocimientos</vt:lpstr>
      <vt:lpstr>Generación de imágenes y vídeo</vt:lpstr>
      <vt:lpstr>Uso de un modelo de generación de imágenes</vt:lpstr>
      <vt:lpstr>Generación de una imagen con la API Imágenes de OpenAI</vt:lpstr>
      <vt:lpstr>Modelos de generación de vídeo</vt:lpstr>
      <vt:lpstr>Generación de vídeos a partir de indicaciones</vt:lpstr>
      <vt:lpstr>Uso de un modelo de generación de vídeo</vt:lpstr>
      <vt:lpstr>Ejercicio</vt:lpstr>
      <vt:lpstr>Prueba de conocimientos</vt:lpstr>
      <vt:lpstr>Análisis de imágenes con Content Understanding</vt:lpstr>
      <vt:lpstr>¿Qué es Azure Content Understanding en Foundry Tools?</vt:lpstr>
      <vt:lpstr>Análisis de imágenes con Content Understanding</vt:lpstr>
      <vt:lpstr>Análisis de imágenes con Content Understanding</vt:lpstr>
      <vt:lpstr>Resultados del análisis</vt:lpstr>
      <vt:lpstr>Ejercicio</vt:lpstr>
      <vt:lpstr>Prueba de conocimientos</vt:lpstr>
      <vt:lpstr>Análisis de documentos con Content Understanding</vt:lpstr>
      <vt:lpstr>Análisis de documentos</vt:lpstr>
      <vt:lpstr>Análisis de audio</vt:lpstr>
      <vt:lpstr>Análisis de vídeo</vt:lpstr>
      <vt:lpstr>Crear un analizador</vt:lpstr>
      <vt:lpstr>Ejercicio</vt:lpstr>
      <vt:lpstr>Preparación del uso de la API de Content Understanding</vt:lpstr>
      <vt:lpstr>Definición de tu esquema y creación del analizador</vt:lpstr>
      <vt:lpstr>Análisis de contenido</vt:lpstr>
      <vt:lpstr>Ejercicio</vt:lpstr>
      <vt:lpstr>Prueba de conocimientos</vt:lpstr>
      <vt:lpstr>Creación de una solución de minería de conocimientos con Azure AI Search</vt:lpstr>
      <vt:lpstr>¿Qué es Azure AI Search?</vt:lpstr>
      <vt:lpstr>Extracción de datos con un indexador</vt:lpstr>
      <vt:lpstr>Enriquecimiento de los datos extraídos con habilidades de IA</vt:lpstr>
      <vt:lpstr>Búsqueda de un índice</vt:lpstr>
      <vt:lpstr>Conservación de la información extraída en un almacén de conocimiento</vt:lpstr>
      <vt:lpstr>Demostración</vt:lpstr>
      <vt:lpstr>Prueba de conocimientos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2023-08-17T11:36:13Z</dcterms:created>
  <dcterms:modified xsi:type="dcterms:W3CDTF">2026-05-26T07:19:19Z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0x01010070AB3889E58DB141A6E1281B02136174|-369733750</vt:lpwstr>
  </property>
  <property fmtid="{D5CDD505-2E9C-101B-9397-08002B2CF9AE}" pid="3" name="Audience">
    <vt:lpwstr/>
  </property>
  <property fmtid="{D5CDD505-2E9C-101B-9397-08002B2CF9AE}" pid="4" name="Campaign">
    <vt:lpwstr/>
  </property>
  <property fmtid="{D5CDD505-2E9C-101B-9397-08002B2CF9AE}" pid="5" name="ContentTypeId">
    <vt:lpwstr>0x0101002E32D07151C35047978CBB2C9B85873C</vt:lpwstr>
  </property>
  <property fmtid="{D5CDD505-2E9C-101B-9397-08002B2CF9AE}" pid="6" name="Event Location">
    <vt:lpwstr/>
  </property>
  <property fmtid="{D5CDD505-2E9C-101B-9397-08002B2CF9AE}" pid="7" name="Event Venue">
    <vt:lpwstr/>
  </property>
  <property fmtid="{D5CDD505-2E9C-101B-9397-08002B2CF9AE}" pid="8" name="Event1">
    <vt:lpwstr>622;#Unassigned|2c8af875-f38a-40b8-a0a9-056aed3fc8c0</vt:lpwstr>
  </property>
  <property fmtid="{D5CDD505-2E9C-101B-9397-08002B2CF9AE}" pid="9" name="IsMyDocuments">
    <vt:bool>true</vt:bool>
  </property>
  <property fmtid="{D5CDD505-2E9C-101B-9397-08002B2CF9AE}" pid="10"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11" name="MediaServiceImageTags">
    <vt:lpwstr/>
  </property>
  <property fmtid="{D5CDD505-2E9C-101B-9397-08002B2CF9AE}" pid="12" name="MSIP_Label_f42aa342-8706-4288-bd11-ebb85995028c_Application">
    <vt:lpwstr>Microsoft Azure Information Protection</vt:lpwstr>
  </property>
  <property fmtid="{D5CDD505-2E9C-101B-9397-08002B2CF9AE}" pid="13" name="MSIP_Label_f42aa342-8706-4288-bd11-ebb85995028c_Enabled">
    <vt:lpwstr>True</vt:lpwstr>
  </property>
  <property fmtid="{D5CDD505-2E9C-101B-9397-08002B2CF9AE}" pid="14" name="MSIP_Label_f42aa342-8706-4288-bd11-ebb85995028c_Extended_MSFT_Method">
    <vt:lpwstr>Automatic</vt:lpwstr>
  </property>
  <property fmtid="{D5CDD505-2E9C-101B-9397-08002B2CF9AE}" pid="15" name="MSIP_Label_f42aa342-8706-4288-bd11-ebb85995028c_Name">
    <vt:lpwstr>General</vt:lpwstr>
  </property>
  <property fmtid="{D5CDD505-2E9C-101B-9397-08002B2CF9AE}" pid="16" name="MSIP_Label_f42aa342-8706-4288-bd11-ebb85995028c_Owner">
    <vt:lpwstr>maryfj@microsoft.com</vt:lpwstr>
  </property>
  <property fmtid="{D5CDD505-2E9C-101B-9397-08002B2CF9AE}" pid="17" name="MSIP_Label_f42aa342-8706-4288-bd11-ebb85995028c_Ref">
    <vt:lpwstr>https://api.informationprotection.azure.com/api/72f988bf-86f1-41af-91ab-2d7cd011db47</vt:lpwstr>
  </property>
  <property fmtid="{D5CDD505-2E9C-101B-9397-08002B2CF9AE}" pid="18" name="MSIP_Label_f42aa342-8706-4288-bd11-ebb85995028c_SetDate">
    <vt:lpwstr>2017-08-29T14:27:20.8568347-07:00</vt:lpwstr>
  </property>
  <property fmtid="{D5CDD505-2E9C-101B-9397-08002B2CF9AE}" pid="19" name="MSIP_Label_f42aa342-8706-4288-bd11-ebb85995028c_SiteId">
    <vt:lpwstr>72f988bf-86f1-41af-91ab-2d7cd011db47</vt:lpwstr>
  </property>
  <property fmtid="{D5CDD505-2E9C-101B-9397-08002B2CF9AE}" pid="20" name="Product">
    <vt:lpwstr/>
  </property>
  <property fmtid="{D5CDD505-2E9C-101B-9397-08002B2CF9AE}" pid="21" name="Sensitivity">
    <vt:lpwstr>General</vt:lpwstr>
  </property>
  <property fmtid="{D5CDD505-2E9C-101B-9397-08002B2CF9AE}" pid="22" name="Track">
    <vt:lpwstr/>
  </property>
</Properties>
</file>