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9" r:id="rId4"/>
    <p:sldMasterId id="2147484922" r:id="rId5"/>
    <p:sldMasterId id="2147484973" r:id="rId6"/>
  </p:sldMasterIdLst>
  <p:notesMasterIdLst>
    <p:notesMasterId r:id="rId62"/>
  </p:notesMasterIdLst>
  <p:handoutMasterIdLst>
    <p:handoutMasterId r:id="rId63"/>
  </p:handoutMasterIdLst>
  <p:sldIdLst>
    <p:sldId id="2076138181" r:id="rId7"/>
    <p:sldId id="2147479837" r:id="rId8"/>
    <p:sldId id="2147479838" r:id="rId9"/>
    <p:sldId id="1684" r:id="rId10"/>
    <p:sldId id="2147479725" r:id="rId11"/>
    <p:sldId id="2147479728" r:id="rId12"/>
    <p:sldId id="2147479729" r:id="rId13"/>
    <p:sldId id="2147479730" r:id="rId14"/>
    <p:sldId id="2147479731" r:id="rId15"/>
    <p:sldId id="2147479732" r:id="rId16"/>
    <p:sldId id="2147479813" r:id="rId17"/>
    <p:sldId id="2147479822" r:id="rId18"/>
    <p:sldId id="2147479733" r:id="rId19"/>
    <p:sldId id="2147479823" r:id="rId20"/>
    <p:sldId id="2147479825" r:id="rId21"/>
    <p:sldId id="2147479824" r:id="rId22"/>
    <p:sldId id="2147479826" r:id="rId23"/>
    <p:sldId id="2147479827" r:id="rId24"/>
    <p:sldId id="2147479830" r:id="rId25"/>
    <p:sldId id="2147479831" r:id="rId26"/>
    <p:sldId id="2147479828" r:id="rId27"/>
    <p:sldId id="2147479829" r:id="rId28"/>
    <p:sldId id="2147479832" r:id="rId29"/>
    <p:sldId id="2147479853" r:id="rId30"/>
    <p:sldId id="2147479854" r:id="rId31"/>
    <p:sldId id="2147479840" r:id="rId32"/>
    <p:sldId id="2147479841" r:id="rId33"/>
    <p:sldId id="2147479842" r:id="rId34"/>
    <p:sldId id="2147479843" r:id="rId35"/>
    <p:sldId id="2147479844" r:id="rId36"/>
    <p:sldId id="2147479835" r:id="rId37"/>
    <p:sldId id="2147479857" r:id="rId38"/>
    <p:sldId id="2147479856" r:id="rId39"/>
    <p:sldId id="2147479845" r:id="rId40"/>
    <p:sldId id="2147479846" r:id="rId41"/>
    <p:sldId id="2147479836" r:id="rId42"/>
    <p:sldId id="2147479858" r:id="rId43"/>
    <p:sldId id="2147479859" r:id="rId44"/>
    <p:sldId id="2147479860" r:id="rId45"/>
    <p:sldId id="2147479847" r:id="rId46"/>
    <p:sldId id="2147479848" r:id="rId47"/>
    <p:sldId id="2147479833" r:id="rId48"/>
    <p:sldId id="2147479861" r:id="rId49"/>
    <p:sldId id="2147479862" r:id="rId50"/>
    <p:sldId id="2147479868" r:id="rId51"/>
    <p:sldId id="2147479849" r:id="rId52"/>
    <p:sldId id="2147479850" r:id="rId53"/>
    <p:sldId id="2147479834" r:id="rId54"/>
    <p:sldId id="2147479863" r:id="rId55"/>
    <p:sldId id="2147479864" r:id="rId56"/>
    <p:sldId id="2147479866" r:id="rId57"/>
    <p:sldId id="2147479865" r:id="rId58"/>
    <p:sldId id="2147479867" r:id="rId59"/>
    <p:sldId id="2147479851" r:id="rId60"/>
    <p:sldId id="2147479852" r:id="rId6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1BCB01-20E9-314F-ACE8-C6EF320E2F2F}">
          <p14:sldIdLst>
            <p14:sldId id="2076138181"/>
            <p14:sldId id="2147479837"/>
            <p14:sldId id="2147479838"/>
          </p14:sldIdLst>
        </p14:section>
        <p14:section name="First agent in VS Code" id="{309E83C2-B3E8-426D-8E68-D1C16BE437C1}">
          <p14:sldIdLst>
            <p14:sldId id="1684"/>
            <p14:sldId id="2147479725"/>
            <p14:sldId id="2147479728"/>
            <p14:sldId id="2147479729"/>
            <p14:sldId id="2147479730"/>
            <p14:sldId id="2147479731"/>
            <p14:sldId id="2147479732"/>
            <p14:sldId id="2147479813"/>
            <p14:sldId id="2147479822"/>
          </p14:sldIdLst>
        </p14:section>
        <p14:section name="Integrate custom tools into your agent" id="{0EBA9724-2464-954D-9C1D-868A2EC52396}">
          <p14:sldIdLst>
            <p14:sldId id="2147479733"/>
            <p14:sldId id="2147479823"/>
            <p14:sldId id="2147479825"/>
            <p14:sldId id="2147479824"/>
            <p14:sldId id="2147479826"/>
          </p14:sldIdLst>
        </p14:section>
        <p14:section name="Integrate MCP Tools with Azure AI Agents" id="{34140886-E89E-314A-956F-F6C4D03DD73B}">
          <p14:sldIdLst>
            <p14:sldId id="2147479827"/>
            <p14:sldId id="2147479830"/>
            <p14:sldId id="2147479831"/>
            <p14:sldId id="2147479828"/>
            <p14:sldId id="2147479829"/>
          </p14:sldIdLst>
        </p14:section>
        <p14:section name="Build knowledge-enhanced AI agents with Foundry IQ" id="{C27B493D-9737-FF40-971A-E307736060E7}">
          <p14:sldIdLst>
            <p14:sldId id="2147479832"/>
            <p14:sldId id="2147479853"/>
            <p14:sldId id="2147479854"/>
            <p14:sldId id="2147479840"/>
            <p14:sldId id="2147479841"/>
            <p14:sldId id="2147479842"/>
            <p14:sldId id="2147479843"/>
            <p14:sldId id="2147479844"/>
          </p14:sldIdLst>
        </p14:section>
        <p14:section name="Integrate your agent with Microsoft 365" id="{1AE4777E-F476-5B4D-8D3C-C732E2795BB7}">
          <p14:sldIdLst>
            <p14:sldId id="2147479835"/>
            <p14:sldId id="2147479857"/>
            <p14:sldId id="2147479856"/>
            <p14:sldId id="2147479845"/>
            <p14:sldId id="2147479846"/>
          </p14:sldIdLst>
        </p14:section>
        <p14:section name="Build agent-driven workflows using Microsoft Foundry" id="{303FB2D2-CB60-7543-85CF-D78C3570BA75}">
          <p14:sldIdLst>
            <p14:sldId id="2147479836"/>
            <p14:sldId id="2147479858"/>
            <p14:sldId id="2147479859"/>
            <p14:sldId id="2147479860"/>
            <p14:sldId id="2147479847"/>
            <p14:sldId id="2147479848"/>
          </p14:sldIdLst>
        </p14:section>
        <p14:section name="Develop an AI agent with Microsoft Agent Framework" id="{368ABC35-4914-4341-81D0-78E4F66BA444}">
          <p14:sldIdLst>
            <p14:sldId id="2147479833"/>
            <p14:sldId id="2147479861"/>
            <p14:sldId id="2147479862"/>
            <p14:sldId id="2147479868"/>
            <p14:sldId id="2147479849"/>
            <p14:sldId id="2147479850"/>
          </p14:sldIdLst>
        </p14:section>
        <p14:section name="Orchestrate a multi-agent solution using the Microsoft Agent Framework" id="{4D9668C5-ECD6-3E46-AA62-29CFFB13657F}">
          <p14:sldIdLst>
            <p14:sldId id="2147479834"/>
            <p14:sldId id="2147479863"/>
            <p14:sldId id="2147479864"/>
            <p14:sldId id="2147479866"/>
            <p14:sldId id="2147479865"/>
            <p14:sldId id="2147479867"/>
            <p14:sldId id="2147479851"/>
            <p14:sldId id="2147479852"/>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7FD0D05-1B6C-B9DD-05F5-5BAF8705D900}" name="Ron Sasaki" initials="RS" userId="S::rsasaki@microsoft.com::d50e61ca-c12c-4489-bcc9-f00936fa5f6e" providerId="AD"/>
  <p188:author id="{999BBDA0-6DD0-1FC2-4156-10230AF06B33}" name="heidi@mindseyepdx.com" initials="h" userId="S::heidi@mindseyepdx.com::a1bc4856-633f-4b84-8338-4fab10310c7a" providerId="AD"/>
  <p188:author id="{2D7C0DE9-CAB2-3D67-0CB7-665236291F0D}" name="Heidi Laverty" initials="HL" userId="7f49b1eb0f3d108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3" name="Mary Feil-Jacobs" initials="MF" lastIdx="2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D7F3"/>
    <a:srgbClr val="E8E8E8"/>
    <a:srgbClr val="ECC9EE"/>
    <a:srgbClr val="4C4C4C"/>
    <a:srgbClr val="F9F9F9"/>
    <a:srgbClr val="141883"/>
    <a:srgbClr val="5B21B6"/>
    <a:srgbClr val="D9EBF8"/>
    <a:srgbClr val="EAE7E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98"/>
    <p:restoredTop sz="83060"/>
  </p:normalViewPr>
  <p:slideViewPr>
    <p:cSldViewPr snapToGrid="0">
      <p:cViewPr varScale="1">
        <p:scale>
          <a:sx n="96" d="100"/>
          <a:sy n="96" d="100"/>
        </p:scale>
        <p:origin x="556" y="60"/>
      </p:cViewPr>
      <p:guideLst>
        <p:guide pos="4200"/>
        <p:guide orient="horz" pos="2160"/>
        <p:guide pos="58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commentAuthors" Target="commentAuthors.xml"/><Relationship Id="rId69" Type="http://schemas.microsoft.com/office/2018/10/relationships/authors" Target="author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itchFamily="34" charset="0"/>
              </a:rPr>
              <a:t>5/13/2026 5:28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1486BA7-839C-4D2B-BD52-EF0BBA8433FD}" type="datetime8">
              <a:rPr lang="en-US" smtClean="0"/>
              <a:t>5/13/2026 5:07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Orient learners: “Azure AI spans multiple workload families—today we’re zooming in on </a:t>
            </a:r>
            <a:r>
              <a:rPr lang="en-US" sz="882" b="0" i="1"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a:t>
            </a:r>
          </a:p>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Quick contrast: classic ML (predictive, f(x)=y) vs. generative AI (language + reasoning + content generation).</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Reinforce scope control: “If you came for vision/speech/translation, those exist—but today’s focus is on agents.”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IMPORTANT: Only present this section if you’re using this as a 1 day course. If you are teaching AI-103, this section is a duplicate of the end from the previous day.</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20986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12</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2F0C-AC98-5BCF-83CF-91B9E4C48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C24B3-08E9-D17D-17A7-A2C091C61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27BA3-5E3A-60E6-640E-8CD6BC33DA16}"/>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2E0CD70D-804D-8995-58AD-2B9B2C801D5B}"/>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42782E25-2C07-68C6-2C63-30D7EC880884}"/>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D9689D2F-B424-397F-BB96-BB4652C2F6CC}"/>
              </a:ext>
            </a:extLst>
          </p:cNvPr>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741150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48E1-B36B-9816-497E-B2CEEAF0E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52535-A281-ABCC-F639-B021C7B38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10491-C45E-69E7-E705-3C3F5CFC00D4}"/>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D345C412-88D3-415A-28F6-4C09EC22AA0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39167419-E9EF-EBDA-08CA-F0FCD5D0EBD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C0EC48C-8A65-85F6-3CC6-35EB26420F5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B24970D-D26C-3534-BF20-330393D6035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18073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E36A-ABA9-B07B-716B-03790D508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65F9F-E1AC-13E9-15FD-2E9FCE7A1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27736-B7ED-CAA1-471F-A0F5F1A626BC}"/>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AFEDE449-B61A-C410-8F5C-519313E254FE}"/>
              </a:ext>
            </a:extLst>
          </p:cNvPr>
          <p:cNvSpPr>
            <a:spLocks noGrp="1"/>
          </p:cNvSpPr>
          <p:nvPr>
            <p:ph type="sldNum" sz="quarter" idx="5"/>
          </p:nvPr>
        </p:nvSpPr>
        <p:spPr/>
        <p:txBody>
          <a:bodyPr/>
          <a:lstStyle/>
          <a:p>
            <a:fld id="{97E04F8E-88E9-481C-A2B3-C92BCE611EF5}" type="slidenum">
              <a:rPr lang="en-US" smtClean="0"/>
              <a:t>17</a:t>
            </a:fld>
            <a:endParaRPr lang="en-US" dirty="0"/>
          </a:p>
        </p:txBody>
      </p:sp>
    </p:spTree>
    <p:extLst>
      <p:ext uri="{BB962C8B-B14F-4D97-AF65-F5344CB8AC3E}">
        <p14:creationId xmlns:p14="http://schemas.microsoft.com/office/powerpoint/2010/main" val="34991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6BF99-75F6-1D29-DD32-9D92B6D63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A63A3-D8F6-74B3-D0BF-524C808B0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6F5AA-8A04-5163-F915-D57FD43CF714}"/>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02CCD414-68DB-B666-6E38-86E86EDC6FDA}"/>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523AAC1D-338D-583A-3696-BF7529F19B06}"/>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1A069176-8C83-FFD7-6BEC-CAEDDFF43856}"/>
              </a:ext>
            </a:extLst>
          </p:cNvPr>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3487194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benefits of MCP, allowing configuration once to connect to various tools and making that same connection available to multiple agents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506996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1" i="0" kern="1200" dirty="0">
                <a:solidFill>
                  <a:schemeClr val="tx1"/>
                </a:solidFill>
                <a:effectLst/>
                <a:latin typeface="Segoe UI Light" pitchFamily="34" charset="0"/>
                <a:ea typeface="+mn-ea"/>
                <a:cs typeface="+mn-cs"/>
              </a:rPr>
              <a:t>Overview of MCP agent tool integration</a:t>
            </a:r>
            <a:endParaRPr lang="en-US" sz="882" b="0" i="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The </a:t>
            </a:r>
            <a:r>
              <a:rPr lang="en-US" sz="882" b="1" i="0" kern="1200" dirty="0">
                <a:solidFill>
                  <a:schemeClr val="tx1"/>
                </a:solidFill>
                <a:effectLst/>
                <a:latin typeface="Segoe UI Light" pitchFamily="34" charset="0"/>
                <a:ea typeface="+mn-ea"/>
                <a:cs typeface="+mn-cs"/>
              </a:rPr>
              <a:t>MCP server</a:t>
            </a:r>
            <a:r>
              <a:rPr lang="en-US" sz="882" b="0" i="0" kern="1200" dirty="0">
                <a:solidFill>
                  <a:schemeClr val="tx1"/>
                </a:solidFill>
                <a:effectLst/>
                <a:latin typeface="Segoe UI Light" pitchFamily="34" charset="0"/>
                <a:ea typeface="+mn-ea"/>
                <a:cs typeface="+mn-cs"/>
              </a:rPr>
              <a:t> hosts tool definitions decorated with @</a:t>
            </a:r>
            <a:r>
              <a:rPr lang="en-US" sz="882" b="0" i="0" kern="1200" dirty="0" err="1">
                <a:solidFill>
                  <a:schemeClr val="tx1"/>
                </a:solidFill>
                <a:effectLst/>
                <a:latin typeface="Segoe UI Light" pitchFamily="34" charset="0"/>
                <a:ea typeface="+mn-ea"/>
                <a:cs typeface="+mn-cs"/>
              </a:rPr>
              <a:t>mcp.tool</a:t>
            </a:r>
            <a:r>
              <a:rPr lang="en-US" sz="882" b="0" i="0" kern="1200" dirty="0">
                <a:solidFill>
                  <a:schemeClr val="tx1"/>
                </a:solidFill>
                <a:effectLst/>
                <a:latin typeface="Segoe UI Light" pitchFamily="34" charset="0"/>
                <a:ea typeface="+mn-ea"/>
                <a:cs typeface="+mn-cs"/>
              </a:rPr>
              <a:t>.</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The </a:t>
            </a:r>
            <a:r>
              <a:rPr lang="en-US" sz="882" b="1" i="0" kern="1200" dirty="0">
                <a:solidFill>
                  <a:schemeClr val="tx1"/>
                </a:solidFill>
                <a:effectLst/>
                <a:latin typeface="Segoe UI Light" pitchFamily="34" charset="0"/>
                <a:ea typeface="+mn-ea"/>
                <a:cs typeface="+mn-cs"/>
              </a:rPr>
              <a:t>MCP client</a:t>
            </a:r>
            <a:r>
              <a:rPr lang="en-US" sz="882" b="0" i="0" kern="1200" dirty="0">
                <a:solidFill>
                  <a:schemeClr val="tx1"/>
                </a:solidFill>
                <a:effectLst/>
                <a:latin typeface="Segoe UI Light" pitchFamily="34" charset="0"/>
                <a:ea typeface="+mn-ea"/>
                <a:cs typeface="+mn-cs"/>
              </a:rPr>
              <a:t> initializes an MCP client connection to the server.</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The </a:t>
            </a:r>
            <a:r>
              <a:rPr lang="en-US" sz="882" b="1" i="0" kern="1200" dirty="0">
                <a:solidFill>
                  <a:schemeClr val="tx1"/>
                </a:solidFill>
                <a:effectLst/>
                <a:latin typeface="Segoe UI Light" pitchFamily="34" charset="0"/>
                <a:ea typeface="+mn-ea"/>
                <a:cs typeface="+mn-cs"/>
              </a:rPr>
              <a:t>MCP client</a:t>
            </a:r>
            <a:r>
              <a:rPr lang="en-US" sz="882" b="0" i="0" kern="1200" dirty="0">
                <a:solidFill>
                  <a:schemeClr val="tx1"/>
                </a:solidFill>
                <a:effectLst/>
                <a:latin typeface="Segoe UI Light" pitchFamily="34" charset="0"/>
                <a:ea typeface="+mn-ea"/>
                <a:cs typeface="+mn-cs"/>
              </a:rPr>
              <a:t> fetches the available tool definitions with </a:t>
            </a:r>
            <a:r>
              <a:rPr lang="en-US" sz="882" b="0" i="0" kern="1200" dirty="0" err="1">
                <a:solidFill>
                  <a:schemeClr val="tx1"/>
                </a:solidFill>
                <a:effectLst/>
                <a:latin typeface="Segoe UI Light" pitchFamily="34" charset="0"/>
                <a:ea typeface="+mn-ea"/>
                <a:cs typeface="+mn-cs"/>
              </a:rPr>
              <a:t>session.list_tools</a:t>
            </a:r>
            <a:r>
              <a:rPr lang="en-US" sz="882" b="0" i="0" kern="1200" dirty="0">
                <a:solidFill>
                  <a:schemeClr val="tx1"/>
                </a:solidFill>
                <a:effectLst/>
                <a:latin typeface="Segoe UI Light" pitchFamily="34" charset="0"/>
                <a:ea typeface="+mn-ea"/>
                <a:cs typeface="+mn-cs"/>
              </a:rPr>
              <a:t>().</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Each tool is wrapped in an async function that invokes </a:t>
            </a:r>
            <a:r>
              <a:rPr lang="en-US" sz="882" b="0" i="0" kern="1200" dirty="0" err="1">
                <a:solidFill>
                  <a:schemeClr val="tx1"/>
                </a:solidFill>
                <a:effectLst/>
                <a:latin typeface="Segoe UI Light" pitchFamily="34" charset="0"/>
                <a:ea typeface="+mn-ea"/>
                <a:cs typeface="+mn-cs"/>
              </a:rPr>
              <a:t>session.call_tool</a:t>
            </a:r>
            <a:endParaRPr lang="en-US" sz="882" b="0" i="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The tool functions are bundled into </a:t>
            </a:r>
            <a:r>
              <a:rPr lang="en-US" sz="882" b="0" i="0" kern="1200" dirty="0" err="1">
                <a:solidFill>
                  <a:schemeClr val="tx1"/>
                </a:solidFill>
                <a:effectLst/>
                <a:latin typeface="Segoe UI Light" pitchFamily="34" charset="0"/>
                <a:ea typeface="+mn-ea"/>
                <a:cs typeface="+mn-cs"/>
              </a:rPr>
              <a:t>FunctionTool</a:t>
            </a:r>
            <a:r>
              <a:rPr lang="en-US" sz="882" b="0" i="0" kern="1200" dirty="0">
                <a:solidFill>
                  <a:schemeClr val="tx1"/>
                </a:solidFill>
                <a:effectLst/>
                <a:latin typeface="Segoe UI Light" pitchFamily="34" charset="0"/>
                <a:ea typeface="+mn-ea"/>
                <a:cs typeface="+mn-cs"/>
              </a:rPr>
              <a:t> that makes them usable by the agent.</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The </a:t>
            </a:r>
            <a:r>
              <a:rPr lang="en-US" sz="882" b="0" i="0" kern="1200" dirty="0" err="1">
                <a:solidFill>
                  <a:schemeClr val="tx1"/>
                </a:solidFill>
                <a:effectLst/>
                <a:latin typeface="Segoe UI Light" pitchFamily="34" charset="0"/>
                <a:ea typeface="+mn-ea"/>
                <a:cs typeface="+mn-cs"/>
              </a:rPr>
              <a:t>FunctionTool</a:t>
            </a:r>
            <a:r>
              <a:rPr lang="en-US" sz="882" b="0" i="0" kern="1200" dirty="0">
                <a:solidFill>
                  <a:schemeClr val="tx1"/>
                </a:solidFill>
                <a:effectLst/>
                <a:latin typeface="Segoe UI Light" pitchFamily="34" charset="0"/>
                <a:ea typeface="+mn-ea"/>
                <a:cs typeface="+mn-cs"/>
              </a:rPr>
              <a:t> is registered to the agent's toolset.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2650964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1EE2F-7138-39B8-830A-8F5D8433B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F81F1-D00F-9736-3B8D-0554D8AF7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7D180-BC1A-830F-955B-A010363094D3}"/>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2E6D8BC7-94CF-0476-FD38-21C1E18432E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2E2DC4-BEF5-294D-4781-52A97115A81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195F762-7391-7445-59F9-2ACF54C6F44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BEDBEC0-1EB1-60F0-8081-33DED4B38F7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98830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9368-5A4E-9404-D64D-56C203B80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AEF91-09EB-ED45-D9DE-1341C985C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64E2C-537C-E8DC-2A52-CD7E7B0A734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3F9B2418-0676-51A4-EA1D-BDBD9C7AF5B4}"/>
              </a:ext>
            </a:extLst>
          </p:cNvPr>
          <p:cNvSpPr>
            <a:spLocks noGrp="1"/>
          </p:cNvSpPr>
          <p:nvPr>
            <p:ph type="sldNum" sz="quarter" idx="5"/>
          </p:nvPr>
        </p:nvSpPr>
        <p:spPr/>
        <p:txBody>
          <a:bodyPr/>
          <a:lstStyle/>
          <a:p>
            <a:fld id="{97E04F8E-88E9-481C-A2B3-C92BCE611EF5}" type="slidenum">
              <a:rPr lang="en-US" smtClean="0"/>
              <a:t>22</a:t>
            </a:fld>
            <a:endParaRPr lang="en-US" dirty="0"/>
          </a:p>
        </p:txBody>
      </p:sp>
    </p:spTree>
    <p:extLst>
      <p:ext uri="{BB962C8B-B14F-4D97-AF65-F5344CB8AC3E}">
        <p14:creationId xmlns:p14="http://schemas.microsoft.com/office/powerpoint/2010/main" val="1988271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2DEAF-096B-135F-B2BC-1C27DD1A1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05B3B-73BA-4B8B-AAB4-027E09E82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A4625-3D1B-34A2-7F99-5FB7AD3E2FA0}"/>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767E430E-D347-A792-0434-8CEBB7F0B7FE}"/>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A210017C-E51A-75F2-C6BD-90FE25FDC178}"/>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AC6547BB-314B-1EB5-68D3-B166E6C6C8C0}"/>
              </a:ext>
            </a:extLst>
          </p:cNvPr>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529347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necessary to recall RAG</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234892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a:t>
            </a:r>
            <a:r>
              <a:rPr lang="en-US" dirty="0" err="1"/>
              <a:t>datasources</a:t>
            </a:r>
            <a:r>
              <a:rPr lang="en-US" dirty="0"/>
              <a:t> can be connected, this serves as an example of the most common ones.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2066596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8B83-9DDB-1E85-0F96-93F0303E7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7BDA9-D1A6-C018-9D42-A5A5550E2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D9F6F-E0FD-043C-1FAA-C9BDB28AB50F}"/>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179D1A8F-E42C-B99D-3C3E-5D462ED44FB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D14AEDE-A601-ABAB-F218-D70A26A7ACF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12006CB-9411-E93E-3E0B-1CEA556965C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CA1D6F7-0435-924E-8345-4C1A35A8A61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5992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1D44-49E4-7226-1B4F-78E59AF00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F54FB-2FF5-F239-8DA3-31C9DE6DF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64C59-EE0A-E6AC-6463-5214EB5AA00B}"/>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6632A96F-A127-D6CD-2203-13BC6D063B8C}"/>
              </a:ext>
            </a:extLst>
          </p:cNvPr>
          <p:cNvSpPr>
            <a:spLocks noGrp="1"/>
          </p:cNvSpPr>
          <p:nvPr>
            <p:ph type="sldNum" sz="quarter" idx="5"/>
          </p:nvPr>
        </p:nvSpPr>
        <p:spPr/>
        <p:txBody>
          <a:bodyPr/>
          <a:lstStyle/>
          <a:p>
            <a:fld id="{97E04F8E-88E9-481C-A2B3-C92BCE611EF5}" type="slidenum">
              <a:rPr lang="en-US" smtClean="0"/>
              <a:t>30</a:t>
            </a:fld>
            <a:endParaRPr lang="en-US" dirty="0"/>
          </a:p>
        </p:txBody>
      </p:sp>
    </p:spTree>
    <p:extLst>
      <p:ext uri="{BB962C8B-B14F-4D97-AF65-F5344CB8AC3E}">
        <p14:creationId xmlns:p14="http://schemas.microsoft.com/office/powerpoint/2010/main" val="18066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341-FA4F-F29F-5B5C-ABFC06EE9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69717-B818-EF8A-0D36-E5511A90A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46755-D000-66B7-5B5E-23C06AA6DD5E}"/>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45135448-EC3B-F277-13DE-829B9590BC76}"/>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0B633FA9-3AB5-328F-2DDF-3A0703A67E24}"/>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C3AD5C25-D869-A595-86EF-D68BAB6F180F}"/>
              </a:ext>
            </a:extLst>
          </p:cNvPr>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2894325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BBEB1-C37A-3B6D-F9B0-15FA9C039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8DF78-0571-3258-4B58-FF9C4D062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B7336-9DA9-4357-4728-BF449F952602}"/>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C0528B08-B430-F80F-A9FB-E4818F52AD0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5878703-7062-E2F2-72F2-02B0369FDD3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CF1463-6615-5032-1856-C9C25DB654E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34FFC61-BE66-5A2F-51CD-1545D6CCEF2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25743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0FD8-C44B-FC5A-702D-2FD2BFE0A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45D82-0FFD-E638-B4F0-2B187E5BA1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BAC0B-BFE3-06D7-7D23-826D77834633}"/>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69B777D2-D5C7-DE7F-DEC1-CF569B02270B}"/>
              </a:ext>
            </a:extLst>
          </p:cNvPr>
          <p:cNvSpPr>
            <a:spLocks noGrp="1"/>
          </p:cNvSpPr>
          <p:nvPr>
            <p:ph type="sldNum" sz="quarter" idx="5"/>
          </p:nvPr>
        </p:nvSpPr>
        <p:spPr/>
        <p:txBody>
          <a:bodyPr/>
          <a:lstStyle/>
          <a:p>
            <a:fld id="{97E04F8E-88E9-481C-A2B3-C92BCE611EF5}" type="slidenum">
              <a:rPr lang="en-US" smtClean="0"/>
              <a:t>35</a:t>
            </a:fld>
            <a:endParaRPr lang="en-US" dirty="0"/>
          </a:p>
        </p:txBody>
      </p:sp>
    </p:spTree>
    <p:extLst>
      <p:ext uri="{BB962C8B-B14F-4D97-AF65-F5344CB8AC3E}">
        <p14:creationId xmlns:p14="http://schemas.microsoft.com/office/powerpoint/2010/main" val="1658445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0EEBD-C38B-3FD2-20CC-FD812D503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80E59-C08D-AD5D-D8E5-F804AD9C6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0EAB0-63A4-5A62-9C07-189A37769F7B}"/>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459BE776-33B4-9C09-A76C-6DE156F89FE0}"/>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E2631917-C955-16B2-ECBA-A8E52C038F40}"/>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34E27A46-20B4-CC39-FDC3-D8BC0385AE88}"/>
              </a:ext>
            </a:extLst>
          </p:cNvPr>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1362978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310F-6C36-FFAB-FFAE-6F6107A03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4B38C-5FC9-1992-2438-EDEC69D78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6DB45-40B6-BC74-923F-54C2753A2E21}"/>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F0398314-3348-6A53-F0B8-0CE86E26116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0727513-61D3-5173-64BA-552A7D63D20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D9C64AB-2048-3B28-441A-8996B407286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9A4E9A4-15CB-B1AC-46A9-053C0F7AE01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82385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934B-7C1D-35AC-0E86-77F43FA22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F8E0D-CB39-7082-8CFC-B58499FAAF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8CEAE-060B-936C-A1BB-B30AD9DB6601}"/>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4E3964EA-F5B1-723F-AD73-B45A2692DC8C}"/>
              </a:ext>
            </a:extLst>
          </p:cNvPr>
          <p:cNvSpPr>
            <a:spLocks noGrp="1"/>
          </p:cNvSpPr>
          <p:nvPr>
            <p:ph type="sldNum" sz="quarter" idx="5"/>
          </p:nvPr>
        </p:nvSpPr>
        <p:spPr/>
        <p:txBody>
          <a:bodyPr/>
          <a:lstStyle/>
          <a:p>
            <a:fld id="{97E04F8E-88E9-481C-A2B3-C92BCE611EF5}" type="slidenum">
              <a:rPr lang="en-US" smtClean="0"/>
              <a:t>41</a:t>
            </a:fld>
            <a:endParaRPr lang="en-US" dirty="0"/>
          </a:p>
        </p:txBody>
      </p:sp>
    </p:spTree>
    <p:extLst>
      <p:ext uri="{BB962C8B-B14F-4D97-AF65-F5344CB8AC3E}">
        <p14:creationId xmlns:p14="http://schemas.microsoft.com/office/powerpoint/2010/main" val="2218855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4C925-C8B8-7295-25D6-D24D7FA60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4FECF-CA90-EE2A-1F45-574F7D458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AEC9E-B784-5F77-718E-391D376C0633}"/>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C6669318-10E9-7A3E-35DF-77FDD5496876}"/>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784B18C9-4373-260D-32A0-081F461FD81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4B1D0433-540F-4A97-6A6E-C6F709DF1077}"/>
              </a:ext>
            </a:extLst>
          </p:cNvPr>
          <p:cNvSpPr>
            <a:spLocks noGrp="1"/>
          </p:cNvSpPr>
          <p:nvPr>
            <p:ph type="sldNum" sz="quarter" idx="5"/>
          </p:nvPr>
        </p:nvSpPr>
        <p:spPr/>
        <p:txBody>
          <a:bodyPr/>
          <a:lstStyle/>
          <a:p>
            <a:fld id="{B4008EB6-D09E-4580-8CD6-DDB14511944F}" type="slidenum">
              <a:rPr lang="en-US" smtClean="0"/>
              <a:pPr/>
              <a:t>42</a:t>
            </a:fld>
            <a:endParaRPr lang="en-US"/>
          </a:p>
        </p:txBody>
      </p:sp>
    </p:spTree>
    <p:extLst>
      <p:ext uri="{BB962C8B-B14F-4D97-AF65-F5344CB8AC3E}">
        <p14:creationId xmlns:p14="http://schemas.microsoft.com/office/powerpoint/2010/main" val="1732237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differences of the Agent Framework</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43</a:t>
            </a:fld>
            <a:endParaRPr lang="en-US"/>
          </a:p>
        </p:txBody>
      </p:sp>
    </p:spTree>
    <p:extLst>
      <p:ext uri="{BB962C8B-B14F-4D97-AF65-F5344CB8AC3E}">
        <p14:creationId xmlns:p14="http://schemas.microsoft.com/office/powerpoint/2010/main" val="3477457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C69F-3FE4-D72D-2385-9B38DB634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1EF9E-D949-9795-2741-4FB28634A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788F0-CAD3-074A-089F-83BF2AA0BF9D}"/>
              </a:ext>
            </a:extLst>
          </p:cNvPr>
          <p:cNvSpPr>
            <a:spLocks noGrp="1"/>
          </p:cNvSpPr>
          <p:nvPr>
            <p:ph type="body" idx="1"/>
          </p:nvPr>
        </p:nvSpPr>
        <p:spPr/>
        <p:txBody>
          <a:bodyPr/>
          <a:lstStyle/>
          <a:p>
            <a:r>
              <a:rPr lang="en-US" dirty="0"/>
              <a:t>NOTE: If low on time, this is the best one to skip</a:t>
            </a:r>
          </a:p>
          <a:p>
            <a:endParaRPr lang="en-US" dirty="0"/>
          </a:p>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ED99CEF9-7A44-F290-CF37-D8E9E8126F1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1AC09232-76FC-2FB2-8AE8-2649C7227A3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1618744-3B95-83EB-44FE-ED6BD4E324A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38F8A25-462A-E4B1-CD08-26694E47D98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208338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0CB3-3656-CC1E-74A1-9C132FF5B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7EBE1-1787-1F50-2A39-C9DC5D05A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A91B9-4B17-3D69-4C17-CFCCCCC6EE47}"/>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F0790E90-26F8-ED45-2F90-7EA5D300FA89}"/>
              </a:ext>
            </a:extLst>
          </p:cNvPr>
          <p:cNvSpPr>
            <a:spLocks noGrp="1"/>
          </p:cNvSpPr>
          <p:nvPr>
            <p:ph type="sldNum" sz="quarter" idx="5"/>
          </p:nvPr>
        </p:nvSpPr>
        <p:spPr/>
        <p:txBody>
          <a:bodyPr/>
          <a:lstStyle/>
          <a:p>
            <a:fld id="{97E04F8E-88E9-481C-A2B3-C92BCE611EF5}" type="slidenum">
              <a:rPr lang="en-US" smtClean="0"/>
              <a:t>47</a:t>
            </a:fld>
            <a:endParaRPr lang="en-US" dirty="0"/>
          </a:p>
        </p:txBody>
      </p:sp>
    </p:spTree>
    <p:extLst>
      <p:ext uri="{BB962C8B-B14F-4D97-AF65-F5344CB8AC3E}">
        <p14:creationId xmlns:p14="http://schemas.microsoft.com/office/powerpoint/2010/main" val="1606705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A7E5-70A9-56C8-B580-13EA8C146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D8091-AB63-4524-E80C-20762860A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DA6D0-B997-F358-4558-F782EFA75D1B}"/>
              </a:ext>
            </a:extLst>
          </p:cNvPr>
          <p:cNvSpPr>
            <a:spLocks noGrp="1"/>
          </p:cNvSpPr>
          <p:nvPr>
            <p:ph type="body" idx="1"/>
          </p:nvPr>
        </p:nvSpPr>
        <p:spPr/>
        <p:txBody>
          <a:bodyPr/>
          <a:lstStyle/>
          <a:p>
            <a:r>
              <a:rPr lang="en-US" dirty="0"/>
              <a:t>Use the link on the slide to see the Microsoft Learn module from which this lesson is derived. </a:t>
            </a:r>
          </a:p>
        </p:txBody>
      </p:sp>
      <p:sp>
        <p:nvSpPr>
          <p:cNvPr id="4" name="Header Placeholder 3">
            <a:extLst>
              <a:ext uri="{FF2B5EF4-FFF2-40B4-BE49-F238E27FC236}">
                <a16:creationId xmlns:a16="http://schemas.microsoft.com/office/drawing/2014/main" id="{3443B0B1-9CB3-D696-2884-6716D37A3082}"/>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7CB17CF3-C7E3-1BC9-7754-2798E8F5189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CCA0C914-6D02-D5B3-C5F1-2493326D63E0}"/>
              </a:ext>
            </a:extLst>
          </p:cNvPr>
          <p:cNvSpPr>
            <a:spLocks noGrp="1"/>
          </p:cNvSpPr>
          <p:nvPr>
            <p:ph type="sldNum" sz="quarter" idx="5"/>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585255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Use concurrent orchestration when multiple agents or tasks can run in parallel without dependencies. This pattern reduces latency by executing work simultaneously and is ideal for independent analysis, enrichment, or validation steps. Emphasize that coordination happens after all agents complete.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49</a:t>
            </a:fld>
            <a:endParaRPr lang="en-US"/>
          </a:p>
        </p:txBody>
      </p:sp>
    </p:spTree>
    <p:extLst>
      <p:ext uri="{BB962C8B-B14F-4D97-AF65-F5344CB8AC3E}">
        <p14:creationId xmlns:p14="http://schemas.microsoft.com/office/powerpoint/2010/main" val="38476361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882" b="0" i="0" kern="1200" dirty="0">
                <a:solidFill>
                  <a:schemeClr val="tx1"/>
                </a:solidFill>
                <a:effectLst/>
                <a:latin typeface="Segoe UI Light" pitchFamily="34" charset="0"/>
                <a:ea typeface="+mn-ea"/>
                <a:cs typeface="+mn-cs"/>
              </a:rPr>
              <a:t>Sequential orchestration is used when each step depends on the output of the previous one. This pattern is best for predictable, ordered workflows such as data collection → analysis → response generation. Highlight its simplicity and ease of reasoning.</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41306069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Group chat orchestration enables multiple agents to collaborate dynamically in a shared conversation. Control can shift between agents based on context, allowing them to build on each other’s responses. This is well suited for brainstorming, research synthesis, and complex problem solving.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51</a:t>
            </a:fld>
            <a:endParaRPr lang="en-US"/>
          </a:p>
        </p:txBody>
      </p:sp>
    </p:spTree>
    <p:extLst>
      <p:ext uri="{BB962C8B-B14F-4D97-AF65-F5344CB8AC3E}">
        <p14:creationId xmlns:p14="http://schemas.microsoft.com/office/powerpoint/2010/main" val="24287356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Handoff orchestration transfers control from one agent to another based on expertise or task boundaries. This allows each agent to focus on what it does best while maintaining a coherent user experience. Call out its usefulness for multi‑stage or role‑based workflows.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52</a:t>
            </a:fld>
            <a:endParaRPr lang="en-US"/>
          </a:p>
        </p:txBody>
      </p:sp>
    </p:spTree>
    <p:extLst>
      <p:ext uri="{BB962C8B-B14F-4D97-AF65-F5344CB8AC3E}">
        <p14:creationId xmlns:p14="http://schemas.microsoft.com/office/powerpoint/2010/main" val="2433863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err="1">
                <a:solidFill>
                  <a:schemeClr val="tx1"/>
                </a:solidFill>
                <a:effectLst/>
                <a:latin typeface="Segoe UI Light" pitchFamily="34" charset="0"/>
                <a:ea typeface="+mn-ea"/>
                <a:cs typeface="+mn-cs"/>
              </a:rPr>
              <a:t>Magentic</a:t>
            </a:r>
            <a:r>
              <a:rPr lang="en-US" sz="882" b="0" i="0" kern="1200" dirty="0">
                <a:solidFill>
                  <a:schemeClr val="tx1"/>
                </a:solidFill>
                <a:effectLst/>
                <a:latin typeface="Segoe UI Light" pitchFamily="34" charset="0"/>
                <a:ea typeface="+mn-ea"/>
                <a:cs typeface="+mn-cs"/>
              </a:rPr>
              <a:t> orchestration enables flexible, adaptive collaboration where agents dynamically decide how to contribute. Instead of a fixed flow, agents self‑organize based on the problem and intermediate results. Position this as an advanced pattern for emergent, non‑linear problem solving.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5/13/2026 5:07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a:p>
        </p:txBody>
      </p:sp>
    </p:spTree>
    <p:extLst>
      <p:ext uri="{BB962C8B-B14F-4D97-AF65-F5344CB8AC3E}">
        <p14:creationId xmlns:p14="http://schemas.microsoft.com/office/powerpoint/2010/main" val="1862987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8D2B4-7624-CB7D-921E-E3D434623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41515-61CE-6F03-44C0-F67278A9F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E9112-B22E-59CF-5B07-EA722482F8A7}"/>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4D59A802-F94B-BB75-BB8B-D925774035B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D7ABF03-51AA-F1FD-1DB7-45D4A4E7AB4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90AD3A-A276-468E-85B6-BE58A2A6388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5:07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D36FB32-57EC-F833-0D13-F22FC5A577B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93154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B1683-B2A7-49B7-843F-9C589D7B9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7DAE5-AC61-04B4-5D5C-CBE4AB55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B58CD-18E3-29C0-32DA-4B59AF081F8F}"/>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67CD5745-7F75-F2E9-AD6C-DF565D79D82D}"/>
              </a:ext>
            </a:extLst>
          </p:cNvPr>
          <p:cNvSpPr>
            <a:spLocks noGrp="1"/>
          </p:cNvSpPr>
          <p:nvPr>
            <p:ph type="sldNum" sz="quarter" idx="5"/>
          </p:nvPr>
        </p:nvSpPr>
        <p:spPr/>
        <p:txBody>
          <a:bodyPr/>
          <a:lstStyle/>
          <a:p>
            <a:fld id="{97E04F8E-88E9-481C-A2B3-C92BCE611EF5}" type="slidenum">
              <a:rPr lang="en-US" smtClean="0"/>
              <a:t>55</a:t>
            </a:fld>
            <a:endParaRPr lang="en-US" dirty="0"/>
          </a:p>
        </p:txBody>
      </p:sp>
    </p:spTree>
    <p:extLst>
      <p:ext uri="{BB962C8B-B14F-4D97-AF65-F5344CB8AC3E}">
        <p14:creationId xmlns:p14="http://schemas.microsoft.com/office/powerpoint/2010/main" val="3573285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6.jpeg"/><Relationship Id="rId4" Type="http://schemas.openxmlformats.org/officeDocument/2006/relationships/image" Target="../media/image26.jpe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3.xml"/><Relationship Id="rId4" Type="http://schemas.openxmlformats.org/officeDocument/2006/relationships/image" Target="../media/image32.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35.jpe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7.jpeg"/><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7.jpeg"/><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50327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 r="15210"/>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79216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14910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999AE8AC-4BD3-270C-095A-CBDB57EBDCA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342229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8BE8869C-5952-747A-C0D5-069DD40B240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18735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Footer Placeholder 10">
            <a:extLst>
              <a:ext uri="{FF2B5EF4-FFF2-40B4-BE49-F238E27FC236}">
                <a16:creationId xmlns:a16="http://schemas.microsoft.com/office/drawing/2014/main" id="{59C58CD9-BE7F-91A5-A489-7701C46FA8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344209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 r="15210"/>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
        <p:nvSpPr>
          <p:cNvPr id="3" name="Footer Placeholder 10">
            <a:extLst>
              <a:ext uri="{FF2B5EF4-FFF2-40B4-BE49-F238E27FC236}">
                <a16:creationId xmlns:a16="http://schemas.microsoft.com/office/drawing/2014/main" id="{55F3B42E-49D5-A402-BB55-46E458419094}"/>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044055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1C4BDD7D-AB67-C540-A18F-6434E586C37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57716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0">
            <a:extLst>
              <a:ext uri="{FF2B5EF4-FFF2-40B4-BE49-F238E27FC236}">
                <a16:creationId xmlns:a16="http://schemas.microsoft.com/office/drawing/2014/main" id="{98D09561-FD4E-3066-64C2-824D66760B1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542492"/>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7142978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2" name="Footer Placeholder 10">
            <a:extLst>
              <a:ext uri="{FF2B5EF4-FFF2-40B4-BE49-F238E27FC236}">
                <a16:creationId xmlns:a16="http://schemas.microsoft.com/office/drawing/2014/main" id="{91010A63-B7F0-F2E2-B929-AA7970F2846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576115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4" name="Picture 3" descr="Microsoft Learn Spark possibility">
            <a:extLst>
              <a:ext uri="{FF2B5EF4-FFF2-40B4-BE49-F238E27FC236}">
                <a16:creationId xmlns:a16="http://schemas.microsoft.com/office/drawing/2014/main" id="{5DD74BAF-F737-DF24-4119-69612D6CEE2E}"/>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7"/>
          </a:xfrm>
          <a:prstGeom prst="rect">
            <a:avLst/>
          </a:prstGeom>
        </p:spPr>
      </p:pic>
    </p:spTree>
    <p:extLst>
      <p:ext uri="{BB962C8B-B14F-4D97-AF65-F5344CB8AC3E}">
        <p14:creationId xmlns:p14="http://schemas.microsoft.com/office/powerpoint/2010/main" val="1996189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2" name="Title 1">
            <a:extLst>
              <a:ext uri="{FF2B5EF4-FFF2-40B4-BE49-F238E27FC236}">
                <a16:creationId xmlns:a16="http://schemas.microsoft.com/office/drawing/2014/main" id="{C419B008-216D-CA1F-2D39-75B36E6A6972}"/>
              </a:ext>
            </a:extLst>
          </p:cNvPr>
          <p:cNvSpPr>
            <a:spLocks noGrp="1"/>
          </p:cNvSpPr>
          <p:nvPr>
            <p:ph type="title" hasCustomPrompt="1"/>
          </p:nvPr>
        </p:nvSpPr>
        <p:spPr>
          <a:xfrm>
            <a:off x="588263" y="2573338"/>
            <a:ext cx="11021125" cy="1676929"/>
          </a:xfrm>
        </p:spPr>
        <p:txBody>
          <a:bodyPr wrap="square" anchor="b" anchorCtr="0">
            <a:noAutofit/>
          </a:bodyPr>
          <a:lstStyle>
            <a:lvl1pPr>
              <a:lnSpc>
                <a:spcPct val="90000"/>
              </a:lnSpc>
              <a:defRPr sz="4800">
                <a:solidFill>
                  <a:schemeClr val="tx1"/>
                </a:solidFill>
              </a:defRPr>
            </a:lvl1pPr>
          </a:lstStyle>
          <a:p>
            <a:r>
              <a:rPr lang="en-US"/>
              <a:t>Microsoft Learn</a:t>
            </a:r>
            <a:br>
              <a:rPr lang="en-US"/>
            </a:br>
            <a:r>
              <a:rPr lang="en-US"/>
              <a:t>presentation title or event name</a:t>
            </a:r>
          </a:p>
        </p:txBody>
      </p:sp>
      <p:sp>
        <p:nvSpPr>
          <p:cNvPr id="13" name="Text Placeholder 4">
            <a:extLst>
              <a:ext uri="{FF2B5EF4-FFF2-40B4-BE49-F238E27FC236}">
                <a16:creationId xmlns:a16="http://schemas.microsoft.com/office/drawing/2014/main" id="{AA0EBFEA-E746-E760-148D-6B55E33CE98B}"/>
              </a:ext>
            </a:extLst>
          </p:cNvPr>
          <p:cNvSpPr>
            <a:spLocks noGrp="1"/>
          </p:cNvSpPr>
          <p:nvPr>
            <p:ph type="body" sz="quarter" idx="12" hasCustomPrompt="1"/>
          </p:nvPr>
        </p:nvSpPr>
        <p:spPr>
          <a:xfrm>
            <a:off x="582043" y="4445908"/>
            <a:ext cx="11021124"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658998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nSpc>
                <a:spcPct val="100000"/>
              </a:lnSpc>
              <a:defRPr sz="36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900723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6C68DE-B737-469C-0510-1CE6FB0FCD97}"/>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106072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A99E2-B1B8-F05E-79FB-6E5F6BA2198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79539"/>
            <a:ext cx="8680865" cy="553998"/>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867398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53631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18B55A-6C79-359D-87CF-515B5B5F6EF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cxnSp>
        <p:nvCxnSpPr>
          <p:cNvPr id="12" name="Straight Connector 11">
            <a:extLst>
              <a:ext uri="{FF2B5EF4-FFF2-40B4-BE49-F238E27FC236}">
                <a16:creationId xmlns:a16="http://schemas.microsoft.com/office/drawing/2014/main" id="{731143F6-2E66-B7DD-83D0-10E3BEE182CA}"/>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D47B2CB-325C-5073-D8C2-698C29B7BD94}"/>
              </a:ext>
            </a:extLst>
          </p:cNvPr>
          <p:cNvSpPr>
            <a:spLocks noGrp="1"/>
          </p:cNvSpPr>
          <p:nvPr>
            <p:ph type="body" sz="quarter" idx="13" hasCustomPrompt="1"/>
          </p:nvPr>
        </p:nvSpPr>
        <p:spPr>
          <a:xfrm>
            <a:off x="582043" y="426212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120714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7D666-BCD6-C322-9710-8EA204E6238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0"/>
            <a:ext cx="12191996" cy="685799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8547960" y="2099733"/>
            <a:ext cx="2863181" cy="2863181"/>
          </a:xfrm>
          <a:prstGeom prst="roundRect">
            <a:avLst>
              <a:gd name="adj" fmla="val 21738"/>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Click icon to add picture</a:t>
            </a:r>
          </a:p>
        </p:txBody>
      </p:sp>
    </p:spTree>
    <p:extLst>
      <p:ext uri="{BB962C8B-B14F-4D97-AF65-F5344CB8AC3E}">
        <p14:creationId xmlns:p14="http://schemas.microsoft.com/office/powerpoint/2010/main" val="1832841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Title Slide 5">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3A552F5-A279-E01D-8684-06A66C8E3A3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425541"/>
            <a:ext cx="4419602"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4" y="3962400"/>
            <a:ext cx="441960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6066182" y="1209017"/>
            <a:ext cx="4419601" cy="4419601"/>
          </a:xfrm>
          <a:prstGeom prst="roundRect">
            <a:avLst>
              <a:gd name="adj" fmla="val 21738"/>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Click icon to add picture</a:t>
            </a:r>
          </a:p>
        </p:txBody>
      </p:sp>
    </p:spTree>
    <p:extLst>
      <p:ext uri="{BB962C8B-B14F-4D97-AF65-F5344CB8AC3E}">
        <p14:creationId xmlns:p14="http://schemas.microsoft.com/office/powerpoint/2010/main" val="17588941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3393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4260778"/>
            <a:ext cx="4335897"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9C6438B-8AA6-6FF8-579B-E6859D9CFF89}"/>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8" name="Straight Connector 7">
            <a:extLst>
              <a:ext uri="{FF2B5EF4-FFF2-40B4-BE49-F238E27FC236}">
                <a16:creationId xmlns:a16="http://schemas.microsoft.com/office/drawing/2014/main" id="{D9E5E791-B100-3AA7-21F7-E48EDD0B5D63}"/>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5211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_Microso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601323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1026" name="Picture 2" descr="A black triangle on a white background  Description automatically generated">
            <a:extLst>
              <a:ext uri="{FF2B5EF4-FFF2-40B4-BE49-F238E27FC236}">
                <a16:creationId xmlns:a16="http://schemas.microsoft.com/office/drawing/2014/main" id="{D34FB095-B792-8E28-D887-870C3ECB52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711892" y="6232204"/>
            <a:ext cx="287452" cy="457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253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7" name="Text Placeholder 3">
            <a:extLst>
              <a:ext uri="{FF2B5EF4-FFF2-40B4-BE49-F238E27FC236}">
                <a16:creationId xmlns:a16="http://schemas.microsoft.com/office/drawing/2014/main" id="{86F2E5AA-B8E1-2D99-BFF6-55964406C169}"/>
              </a:ext>
            </a:extLst>
          </p:cNvPr>
          <p:cNvSpPr>
            <a:spLocks noGrp="1"/>
          </p:cNvSpPr>
          <p:nvPr>
            <p:ph type="body" sz="quarter" idx="10" hasCustomPrompt="1"/>
          </p:nvPr>
        </p:nvSpPr>
        <p:spPr>
          <a:xfrm>
            <a:off x="584200" y="1961079"/>
            <a:ext cx="11018521" cy="307777"/>
          </a:xfrm>
          <a:prstGeom prst="rect">
            <a:avLst/>
          </a:prstGeom>
        </p:spPr>
        <p:txBody>
          <a:bodyPr wrap="square" lIns="0" tIns="0" rIns="0" bIns="0">
            <a:spAutoFit/>
          </a:bodyPr>
          <a:lstStyle>
            <a:lvl1pPr marL="0" indent="0">
              <a:lnSpc>
                <a:spcPts val="2400"/>
              </a:lnSpc>
              <a:buNone/>
              <a:defRPr sz="2000" b="0" i="0" spc="0">
                <a:solidFill>
                  <a:srgbClr val="000000"/>
                </a:solidFill>
                <a:latin typeface="+mj-lt"/>
              </a:defRPr>
            </a:lvl1pPr>
            <a:lvl2pPr marL="0" indent="0">
              <a:lnSpc>
                <a:spcPts val="2400"/>
              </a:lnSpc>
              <a:buNone/>
              <a:defRPr spc="0">
                <a:solidFill>
                  <a:srgbClr val="000000"/>
                </a:solidFill>
                <a:latin typeface="+mn-lt"/>
              </a:defRPr>
            </a:lvl2pPr>
            <a:lvl3pPr marL="457200" indent="0">
              <a:buNone/>
              <a:defRPr/>
            </a:lvl3pPr>
            <a:lvl4pPr marL="685800" indent="0">
              <a:buNone/>
              <a:defRPr/>
            </a:lvl4pPr>
            <a:lvl5pPr marL="914400" indent="0">
              <a:buNone/>
              <a:defRPr/>
            </a:lvl5pPr>
          </a:lstStyle>
          <a:p>
            <a:pPr lvl="1"/>
            <a:r>
              <a:rPr lang="en-US"/>
              <a:t>Large: subhead Segoe UI Regular 20/24</a:t>
            </a:r>
          </a:p>
        </p:txBody>
      </p:sp>
      <p:sp>
        <p:nvSpPr>
          <p:cNvPr id="8" name="Text Placeholder 4">
            <a:extLst>
              <a:ext uri="{FF2B5EF4-FFF2-40B4-BE49-F238E27FC236}">
                <a16:creationId xmlns:a16="http://schemas.microsoft.com/office/drawing/2014/main" id="{24F7BF36-6F86-1AAC-B730-8494CAF9A2B5}"/>
              </a:ext>
            </a:extLst>
          </p:cNvPr>
          <p:cNvSpPr>
            <a:spLocks noGrp="1"/>
          </p:cNvSpPr>
          <p:nvPr>
            <p:ph type="body" sz="quarter" idx="11" hasCustomPrompt="1"/>
          </p:nvPr>
        </p:nvSpPr>
        <p:spPr>
          <a:xfrm>
            <a:off x="584200" y="3075739"/>
            <a:ext cx="11018521" cy="220510"/>
          </a:xfrm>
          <a:prstGeom prst="rect">
            <a:avLst/>
          </a:prstGeom>
        </p:spPr>
        <p:txBody>
          <a:bodyPr lIns="0" tIns="0" rIns="0" bIns="0"/>
          <a:lstStyle>
            <a:lvl1pPr marL="0" indent="0">
              <a:lnSpc>
                <a:spcPts val="1800"/>
              </a:lnSpc>
              <a:spcBef>
                <a:spcPts val="0"/>
              </a:spcBef>
              <a:buNone/>
              <a:defRPr sz="1400" b="0" spc="0">
                <a:solidFill>
                  <a:schemeClr val="accent1"/>
                </a:solidFill>
                <a:latin typeface="+mj-lt"/>
              </a:defRPr>
            </a:lvl1pPr>
            <a:lvl2pPr marL="0" indent="0">
              <a:lnSpc>
                <a:spcPts val="1800"/>
              </a:lnSpc>
              <a:spcBef>
                <a:spcPts val="0"/>
              </a:spcBef>
              <a:buNone/>
              <a:defRPr sz="1400" spc="0">
                <a:solidFill>
                  <a:srgbClr val="000000"/>
                </a:solidFill>
              </a:defRPr>
            </a:lvl2pPr>
            <a:lvl3pPr marL="457200" indent="0">
              <a:buNone/>
              <a:defRPr/>
            </a:lvl3pPr>
            <a:lvl4pPr marL="685800" indent="0">
              <a:buNone/>
              <a:defRPr/>
            </a:lvl4pPr>
            <a:lvl5pPr marL="914400" indent="0">
              <a:buNone/>
              <a:defRPr/>
            </a:lvl5pPr>
          </a:lstStyle>
          <a:p>
            <a:pPr lvl="0"/>
            <a:r>
              <a:rPr lang="en-US"/>
              <a:t>Medium: paragraph heading Segoe UI </a:t>
            </a:r>
            <a:r>
              <a:rPr lang="en-US" err="1"/>
              <a:t>Semibold</a:t>
            </a:r>
            <a:r>
              <a:rPr lang="en-US"/>
              <a:t> 14/18</a:t>
            </a:r>
          </a:p>
        </p:txBody>
      </p:sp>
      <p:sp>
        <p:nvSpPr>
          <p:cNvPr id="9" name="Text Placeholder 6">
            <a:extLst>
              <a:ext uri="{FF2B5EF4-FFF2-40B4-BE49-F238E27FC236}">
                <a16:creationId xmlns:a16="http://schemas.microsoft.com/office/drawing/2014/main" id="{345546AD-A5A5-3F3C-BA37-4B19AEF2A5DB}"/>
              </a:ext>
            </a:extLst>
          </p:cNvPr>
          <p:cNvSpPr>
            <a:spLocks noGrp="1"/>
          </p:cNvSpPr>
          <p:nvPr>
            <p:ph type="body" sz="quarter" idx="14" hasCustomPrompt="1"/>
          </p:nvPr>
        </p:nvSpPr>
        <p:spPr>
          <a:xfrm>
            <a:off x="584200" y="4593491"/>
            <a:ext cx="11018521" cy="153888"/>
          </a:xfrm>
          <a:prstGeom prst="rect">
            <a:avLst/>
          </a:prstGeom>
        </p:spPr>
        <p:txBody>
          <a:bodyPr lIns="0" tIns="0" rIns="0" bIns="0"/>
          <a:lstStyle>
            <a:lvl1pPr marL="0" indent="0">
              <a:lnSpc>
                <a:spcPts val="1200"/>
              </a:lnSpc>
              <a:spcBef>
                <a:spcPts val="0"/>
              </a:spcBef>
              <a:buNone/>
              <a:defRPr sz="1000" spc="0">
                <a:solidFill>
                  <a:schemeClr val="tx1"/>
                </a:solidFill>
              </a:defRPr>
            </a:lvl1pPr>
            <a:lvl2pPr marL="0" indent="0">
              <a:lnSpc>
                <a:spcPct val="100000"/>
              </a:lnSpc>
              <a:spcBef>
                <a:spcPts val="0"/>
              </a:spcBef>
              <a:buNone/>
              <a:defRPr sz="1000" spc="0">
                <a:solidFill>
                  <a:srgbClr val="000000"/>
                </a:solidFill>
              </a:defRPr>
            </a:lvl2pPr>
            <a:lvl3pPr marL="457200" indent="0">
              <a:buNone/>
              <a:defRPr/>
            </a:lvl3pPr>
            <a:lvl4pPr marL="68580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0" name="Text Placeholder 3">
            <a:extLst>
              <a:ext uri="{FF2B5EF4-FFF2-40B4-BE49-F238E27FC236}">
                <a16:creationId xmlns:a16="http://schemas.microsoft.com/office/drawing/2014/main" id="{90ACF05F-2419-331C-73AA-1456DD524AFE}"/>
              </a:ext>
            </a:extLst>
          </p:cNvPr>
          <p:cNvSpPr>
            <a:spLocks noGrp="1"/>
          </p:cNvSpPr>
          <p:nvPr>
            <p:ph type="body" sz="quarter" idx="24" hasCustomPrompt="1"/>
          </p:nvPr>
        </p:nvSpPr>
        <p:spPr>
          <a:xfrm>
            <a:off x="582338" y="4385524"/>
            <a:ext cx="11018521"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Small: caption title Segoe UI Bold 10/12. </a:t>
            </a:r>
          </a:p>
        </p:txBody>
      </p:sp>
      <p:sp>
        <p:nvSpPr>
          <p:cNvPr id="11" name="Text Placeholder 4">
            <a:extLst>
              <a:ext uri="{FF2B5EF4-FFF2-40B4-BE49-F238E27FC236}">
                <a16:creationId xmlns:a16="http://schemas.microsoft.com/office/drawing/2014/main" id="{F10E3B9C-87B7-FCD5-21F0-3C1505450B59}"/>
              </a:ext>
            </a:extLst>
          </p:cNvPr>
          <p:cNvSpPr>
            <a:spLocks noGrp="1"/>
          </p:cNvSpPr>
          <p:nvPr>
            <p:ph type="body" sz="quarter" idx="18" hasCustomPrompt="1"/>
          </p:nvPr>
        </p:nvSpPr>
        <p:spPr>
          <a:xfrm>
            <a:off x="582338" y="3385527"/>
            <a:ext cx="11018521" cy="220445"/>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Medium: body copy Segoe UI Regular 14/18</a:t>
            </a:r>
          </a:p>
        </p:txBody>
      </p:sp>
    </p:spTree>
    <p:extLst>
      <p:ext uri="{BB962C8B-B14F-4D97-AF65-F5344CB8AC3E}">
        <p14:creationId xmlns:p14="http://schemas.microsoft.com/office/powerpoint/2010/main" val="38779229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4F3F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89" y="2030760"/>
            <a:ext cx="9570435" cy="307777"/>
          </a:xfrm>
        </p:spPr>
        <p:txBody>
          <a:bodyPr wrap="square">
            <a:spAutoFit/>
          </a:bodyPr>
          <a:lstStyle>
            <a:lvl1pPr marL="0" indent="0">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a:t>Click to edit Master text styles</a:t>
            </a:r>
          </a:p>
        </p:txBody>
      </p:sp>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098998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44984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9388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66750" indent="-152400">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85800" indent="-136525">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1860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8667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wo Column Content with Subheads 2">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1"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514562"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199"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514562"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214729766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181862"/>
          </a:xfrm>
        </p:spPr>
        <p:txBody>
          <a:bodyPr wrap="square">
            <a:spAutoFit/>
          </a:bodyPr>
          <a:lstStyle>
            <a:lvl1pPr marL="176213" indent="-176213">
              <a:defRPr lang="en-US" sz="1800" dirty="0"/>
            </a:lvl1pPr>
            <a:lvl2pPr marL="322263" indent="-150813">
              <a:defRPr lang="en-US" sz="1600" dirty="0"/>
            </a:lvl2pPr>
            <a:lvl3pPr marL="466725" indent="-138113">
              <a:defRPr lang="en-US" sz="1100" dirty="0"/>
            </a:lvl3pPr>
            <a:lvl4pPr marL="595313" indent="-128588">
              <a:defRPr lang="en-US" sz="1050" dirty="0"/>
            </a:lvl4pPr>
            <a:lvl5pPr marL="731838" indent="-122238">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791767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24">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20" name="Text Placeholder 4">
            <a:extLst>
              <a:ext uri="{FF2B5EF4-FFF2-40B4-BE49-F238E27FC236}">
                <a16:creationId xmlns:a16="http://schemas.microsoft.com/office/drawing/2014/main" id="{8AB7BB6A-65B6-AEC7-836B-8D35242275AF}"/>
              </a:ext>
            </a:extLst>
          </p:cNvPr>
          <p:cNvSpPr>
            <a:spLocks noGrp="1"/>
          </p:cNvSpPr>
          <p:nvPr>
            <p:ph type="body" sz="quarter" idx="17" hasCustomPrompt="1"/>
          </p:nvPr>
        </p:nvSpPr>
        <p:spPr>
          <a:xfrm>
            <a:off x="582877"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sz="1400" b="0" i="0" spc="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FB0535AF-BE85-1E67-DD92-E38C21AF7E8C}"/>
              </a:ext>
            </a:extLst>
          </p:cNvPr>
          <p:cNvSpPr>
            <a:spLocks noGrp="1"/>
          </p:cNvSpPr>
          <p:nvPr>
            <p:ph type="body" sz="quarter" idx="18" hasCustomPrompt="1"/>
          </p:nvPr>
        </p:nvSpPr>
        <p:spPr>
          <a:xfrm>
            <a:off x="437134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8E1F9237-EE15-C9FE-E0CA-3A37C93F9063}"/>
              </a:ext>
            </a:extLst>
          </p:cNvPr>
          <p:cNvSpPr>
            <a:spLocks noGrp="1"/>
          </p:cNvSpPr>
          <p:nvPr>
            <p:ph type="body" sz="quarter" idx="19" hasCustomPrompt="1"/>
          </p:nvPr>
        </p:nvSpPr>
        <p:spPr>
          <a:xfrm>
            <a:off x="813655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6" name="Text Placeholder 4">
            <a:extLst>
              <a:ext uri="{FF2B5EF4-FFF2-40B4-BE49-F238E27FC236}">
                <a16:creationId xmlns:a16="http://schemas.microsoft.com/office/drawing/2014/main" id="{775241E4-9061-8DB7-2B87-BA0CCA011ACE}"/>
              </a:ext>
            </a:extLst>
          </p:cNvPr>
          <p:cNvSpPr>
            <a:spLocks noGrp="1"/>
          </p:cNvSpPr>
          <p:nvPr>
            <p:ph type="body" sz="quarter" idx="11" hasCustomPrompt="1"/>
          </p:nvPr>
        </p:nvSpPr>
        <p:spPr>
          <a:xfrm>
            <a:off x="582877"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7" name="Text Placeholder 4">
            <a:extLst>
              <a:ext uri="{FF2B5EF4-FFF2-40B4-BE49-F238E27FC236}">
                <a16:creationId xmlns:a16="http://schemas.microsoft.com/office/drawing/2014/main" id="{82D1AEC7-7020-CBA4-58E1-0D75BA2EF496}"/>
              </a:ext>
            </a:extLst>
          </p:cNvPr>
          <p:cNvSpPr>
            <a:spLocks noGrp="1"/>
          </p:cNvSpPr>
          <p:nvPr>
            <p:ph type="body" sz="quarter" idx="12" hasCustomPrompt="1"/>
          </p:nvPr>
        </p:nvSpPr>
        <p:spPr>
          <a:xfrm>
            <a:off x="437134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8" name="Text Placeholder 4">
            <a:extLst>
              <a:ext uri="{FF2B5EF4-FFF2-40B4-BE49-F238E27FC236}">
                <a16:creationId xmlns:a16="http://schemas.microsoft.com/office/drawing/2014/main" id="{6416719B-F50B-D496-C069-4C1F30AFEC70}"/>
              </a:ext>
            </a:extLst>
          </p:cNvPr>
          <p:cNvSpPr>
            <a:spLocks noGrp="1"/>
          </p:cNvSpPr>
          <p:nvPr>
            <p:ph type="body" sz="quarter" idx="13" hasCustomPrompt="1"/>
          </p:nvPr>
        </p:nvSpPr>
        <p:spPr>
          <a:xfrm>
            <a:off x="813655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Tree>
    <p:extLst>
      <p:ext uri="{BB962C8B-B14F-4D97-AF65-F5344CB8AC3E}">
        <p14:creationId xmlns:p14="http://schemas.microsoft.com/office/powerpoint/2010/main" val="23467923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3">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6" name="Text Placeholder 3">
            <a:extLst>
              <a:ext uri="{FF2B5EF4-FFF2-40B4-BE49-F238E27FC236}">
                <a16:creationId xmlns:a16="http://schemas.microsoft.com/office/drawing/2014/main" id="{46628952-3608-D408-E97B-C5509801C79B}"/>
              </a:ext>
            </a:extLst>
          </p:cNvPr>
          <p:cNvSpPr>
            <a:spLocks noGrp="1"/>
          </p:cNvSpPr>
          <p:nvPr>
            <p:ph type="body" sz="quarter" idx="10" hasCustomPrompt="1"/>
          </p:nvPr>
        </p:nvSpPr>
        <p:spPr>
          <a:xfrm>
            <a:off x="588263" y="1971020"/>
            <a:ext cx="9449500" cy="615553"/>
          </a:xfrm>
          <a:prstGeom prst="rect">
            <a:avLst/>
          </a:prstGeom>
        </p:spPr>
        <p:txBody>
          <a:bodyPr wrap="square" lIns="0" tIns="0" rIns="0" bIns="0">
            <a:spAutoFit/>
          </a:bodyPr>
          <a:lstStyle>
            <a:lvl1pPr marL="0" indent="0">
              <a:lnSpc>
                <a:spcPts val="2400"/>
              </a:lnSpc>
              <a:buNone/>
              <a:defRPr lang="en-US" sz="2000" kern="1200" spc="0" baseline="0" dirty="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lvl="0"/>
            <a:r>
              <a:rPr lang="en-US"/>
              <a:t>Subhead Segoe UI Regular 20/24.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2"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356101"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9" name="Text Placeholder 4">
            <a:extLst>
              <a:ext uri="{FF2B5EF4-FFF2-40B4-BE49-F238E27FC236}">
                <a16:creationId xmlns:a16="http://schemas.microsoft.com/office/drawing/2014/main" id="{A65E358F-5CAF-2294-2C8A-0C65BE0A268F}"/>
              </a:ext>
            </a:extLst>
          </p:cNvPr>
          <p:cNvSpPr>
            <a:spLocks noGrp="1"/>
          </p:cNvSpPr>
          <p:nvPr>
            <p:ph type="body" sz="quarter" idx="13" hasCustomPrompt="1"/>
          </p:nvPr>
        </p:nvSpPr>
        <p:spPr>
          <a:xfrm>
            <a:off x="8128000" y="3214124"/>
            <a:ext cx="3474445"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200"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356101"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602E34F2-8AEC-5D82-A459-7615DC29B15F}"/>
              </a:ext>
            </a:extLst>
          </p:cNvPr>
          <p:cNvSpPr>
            <a:spLocks noGrp="1"/>
          </p:cNvSpPr>
          <p:nvPr>
            <p:ph type="body" sz="quarter" idx="19" hasCustomPrompt="1"/>
          </p:nvPr>
        </p:nvSpPr>
        <p:spPr>
          <a:xfrm>
            <a:off x="8134943" y="3521898"/>
            <a:ext cx="3474445"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33156714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Oval 10">
            <a:extLst>
              <a:ext uri="{FF2B5EF4-FFF2-40B4-BE49-F238E27FC236}">
                <a16:creationId xmlns:a16="http://schemas.microsoft.com/office/drawing/2014/main" id="{F3C14C4D-447D-641B-9EE1-BB7D37876DFD}"/>
              </a:ext>
            </a:extLst>
          </p:cNvPr>
          <p:cNvSpPr/>
          <p:nvPr userDrawn="1"/>
        </p:nvSpPr>
        <p:spPr>
          <a:xfrm>
            <a:off x="8769505" y="1609347"/>
            <a:ext cx="2196790" cy="219679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A257B80-0E22-6118-D58C-8D479BE856CC}"/>
              </a:ext>
            </a:extLst>
          </p:cNvPr>
          <p:cNvSpPr/>
          <p:nvPr userDrawn="1"/>
        </p:nvSpPr>
        <p:spPr>
          <a:xfrm>
            <a:off x="1216757" y="1609347"/>
            <a:ext cx="2196790" cy="219679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C5F4DB-FE2F-3894-3C54-F1395F059BC1}"/>
              </a:ext>
            </a:extLst>
          </p:cNvPr>
          <p:cNvSpPr/>
          <p:nvPr userDrawn="1"/>
        </p:nvSpPr>
        <p:spPr>
          <a:xfrm>
            <a:off x="4997605" y="1609347"/>
            <a:ext cx="2196790" cy="2196790"/>
          </a:xfrm>
          <a:prstGeom prst="ellipse">
            <a:avLst/>
          </a:prstGeom>
          <a:solidFill>
            <a:srgbClr val="CD9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3772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2"/>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1"/>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chemeClr val="accent3"/>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8382403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6"/>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5"/>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rgbClr val="8DC8E8"/>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2951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60288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2">
    <p:bg>
      <p:bgPr>
        <a:solidFill>
          <a:srgbClr val="F4F3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4763AA-7A64-C315-54ED-405AA5F28928}"/>
              </a:ext>
            </a:extLst>
          </p:cNvPr>
          <p:cNvSpPr/>
          <p:nvPr userDrawn="1"/>
        </p:nvSpPr>
        <p:spPr bwMode="auto">
          <a:xfrm>
            <a:off x="0" y="0"/>
            <a:ext cx="12192000" cy="120898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accent2"/>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7" name="Text Placeholder 11">
            <a:extLst>
              <a:ext uri="{FF2B5EF4-FFF2-40B4-BE49-F238E27FC236}">
                <a16:creationId xmlns:a16="http://schemas.microsoft.com/office/drawing/2014/main" id="{0EA42F63-B2F3-3A38-57BC-24F6164484E0}"/>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1F284777-927E-F267-62FB-0ADA3AB8ABEF}"/>
              </a:ext>
            </a:extLst>
          </p:cNvPr>
          <p:cNvSpPr>
            <a:spLocks noGrp="1"/>
          </p:cNvSpPr>
          <p:nvPr>
            <p:ph type="body" sz="quarter" idx="14"/>
          </p:nvPr>
        </p:nvSpPr>
        <p:spPr>
          <a:xfrm>
            <a:off x="584200"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a:extLst>
              <a:ext uri="{FF2B5EF4-FFF2-40B4-BE49-F238E27FC236}">
                <a16:creationId xmlns:a16="http://schemas.microsoft.com/office/drawing/2014/main" id="{B6D7214D-CF27-5C85-22BE-C501CC3F79F6}"/>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1" name="Text Placeholder 9">
            <a:extLst>
              <a:ext uri="{FF2B5EF4-FFF2-40B4-BE49-F238E27FC236}">
                <a16:creationId xmlns:a16="http://schemas.microsoft.com/office/drawing/2014/main" id="{D0E08958-F760-A396-6DDC-ADDF12562EFC}"/>
              </a:ext>
            </a:extLst>
          </p:cNvPr>
          <p:cNvSpPr>
            <a:spLocks noGrp="1"/>
          </p:cNvSpPr>
          <p:nvPr>
            <p:ph type="body" sz="quarter" idx="15"/>
          </p:nvPr>
        </p:nvSpPr>
        <p:spPr>
          <a:xfrm>
            <a:off x="3413125"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2E8EB955-55F0-24FF-CDCC-B5A5FFFC6B4A}"/>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36792F0E-DEBA-6C31-5613-59E8E3706BAE}"/>
              </a:ext>
            </a:extLst>
          </p:cNvPr>
          <p:cNvSpPr>
            <a:spLocks noGrp="1"/>
          </p:cNvSpPr>
          <p:nvPr>
            <p:ph type="body" sz="quarter" idx="19"/>
          </p:nvPr>
        </p:nvSpPr>
        <p:spPr>
          <a:xfrm>
            <a:off x="6244208"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A858486-2BAB-90FA-E642-5FFCB8955993}"/>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6614B332-A4F9-7C7C-FA27-45DE478DA645}"/>
              </a:ext>
            </a:extLst>
          </p:cNvPr>
          <p:cNvSpPr>
            <a:spLocks noGrp="1"/>
          </p:cNvSpPr>
          <p:nvPr>
            <p:ph type="body" sz="quarter" idx="21"/>
          </p:nvPr>
        </p:nvSpPr>
        <p:spPr>
          <a:xfrm>
            <a:off x="9073133"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145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51958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2047496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6">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0">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307860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Tree>
    <p:extLst>
      <p:ext uri="{BB962C8B-B14F-4D97-AF65-F5344CB8AC3E}">
        <p14:creationId xmlns:p14="http://schemas.microsoft.com/office/powerpoint/2010/main" val="25076803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spl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2" y="457200"/>
            <a:ext cx="5687568" cy="553998"/>
          </a:xfrm>
        </p:spPr>
        <p:txBody>
          <a:bodyPr/>
          <a:lstStyle/>
          <a:p>
            <a:r>
              <a:rPr lang="en-US"/>
              <a:t>Click to edit title style</a:t>
            </a:r>
          </a:p>
        </p:txBody>
      </p:sp>
      <p:sp>
        <p:nvSpPr>
          <p:cNvPr id="4" name="Rectangle 3">
            <a:extLst>
              <a:ext uri="{FF2B5EF4-FFF2-40B4-BE49-F238E27FC236}">
                <a16:creationId xmlns:a16="http://schemas.microsoft.com/office/drawing/2014/main" id="{66ED9561-2D36-C7A9-8121-647D44F28482}"/>
              </a:ext>
              <a:ext uri="{C183D7F6-B498-43B3-948B-1728B52AA6E4}">
                <adec:decorative xmlns:adec="http://schemas.microsoft.com/office/drawing/2017/decorative" val="1"/>
              </a:ext>
            </a:extLst>
          </p:cNvPr>
          <p:cNvSpPr/>
          <p:nvPr userDrawn="1"/>
        </p:nvSpPr>
        <p:spPr bwMode="auto">
          <a:xfrm>
            <a:off x="6858000" y="0"/>
            <a:ext cx="5333999" cy="6858000"/>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959952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453303"/>
            <a:ext cx="4158362" cy="430887"/>
          </a:xfrm>
        </p:spPr>
        <p:txBody>
          <a:bodyPr anchor="b"/>
          <a:lstStyle>
            <a:lvl1pPr>
              <a:defRPr sz="2800"/>
            </a:lvl1pPr>
          </a:lstStyle>
          <a:p>
            <a:r>
              <a:rPr lang="en-US"/>
              <a:t>Click to edit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1971020"/>
            <a:ext cx="4162425" cy="307777"/>
          </a:xfrm>
        </p:spPr>
        <p:txBody>
          <a:bodyPr/>
          <a:lstStyle>
            <a:lvl1pPr marL="0" indent="0">
              <a:lnSpc>
                <a:spcPts val="2400"/>
              </a:lnSpc>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8" name="Text Placeholder 4">
            <a:extLst>
              <a:ext uri="{FF2B5EF4-FFF2-40B4-BE49-F238E27FC236}">
                <a16:creationId xmlns:a16="http://schemas.microsoft.com/office/drawing/2014/main" id="{AA4A25BE-EEC4-2D45-6B51-A6D5FDC0CD9E}"/>
              </a:ext>
            </a:extLst>
          </p:cNvPr>
          <p:cNvSpPr>
            <a:spLocks noGrp="1"/>
          </p:cNvSpPr>
          <p:nvPr>
            <p:ph type="body" sz="quarter" idx="13" hasCustomPrompt="1"/>
          </p:nvPr>
        </p:nvSpPr>
        <p:spPr>
          <a:xfrm>
            <a:off x="586062" y="3084755"/>
            <a:ext cx="4167188"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9" name="Text Placeholder 4">
            <a:extLst>
              <a:ext uri="{FF2B5EF4-FFF2-40B4-BE49-F238E27FC236}">
                <a16:creationId xmlns:a16="http://schemas.microsoft.com/office/drawing/2014/main" id="{B898ECC2-F025-9F52-FDDA-2757DC69BA28}"/>
              </a:ext>
            </a:extLst>
          </p:cNvPr>
          <p:cNvSpPr>
            <a:spLocks noGrp="1"/>
          </p:cNvSpPr>
          <p:nvPr>
            <p:ph type="body" sz="quarter" idx="17" hasCustomPrompt="1"/>
          </p:nvPr>
        </p:nvSpPr>
        <p:spPr>
          <a:xfrm>
            <a:off x="584200" y="3392529"/>
            <a:ext cx="4167188" cy="1598771"/>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AB1F49BE-32CF-300B-48DC-B74CA09F2E96}"/>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320885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28">
          <p15:clr>
            <a:srgbClr val="A4A3A4"/>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Square Photo 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7750147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07287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38664"/>
          </a:xfrm>
        </p:spPr>
        <p:txBody>
          <a:bodyPr anchor="t"/>
          <a:lstStyle>
            <a:lvl1pPr>
              <a:defRPr sz="24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520956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full bleed">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515920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2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991725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273711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760174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668854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1411285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wo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prstGeom prst="roundRect">
            <a:avLst>
              <a:gd name="adj" fmla="val 8178"/>
            </a:avLst>
          </a:prstGeo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prstGeom prst="roundRect">
            <a:avLst>
              <a:gd name="adj" fmla="val 7612"/>
            </a:avLst>
          </a:prstGeo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0722904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hree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9540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hree picture with subtitl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1332631"/>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1332631"/>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1332631"/>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4">
            <a:extLst>
              <a:ext uri="{FF2B5EF4-FFF2-40B4-BE49-F238E27FC236}">
                <a16:creationId xmlns:a16="http://schemas.microsoft.com/office/drawing/2014/main" id="{2BFE283E-20EE-6783-BD84-82B4E8AD3588}"/>
              </a:ext>
            </a:extLst>
          </p:cNvPr>
          <p:cNvSpPr>
            <a:spLocks noGrp="1"/>
          </p:cNvSpPr>
          <p:nvPr>
            <p:ph type="body" sz="quarter" idx="19" hasCustomPrompt="1"/>
          </p:nvPr>
        </p:nvSpPr>
        <p:spPr>
          <a:xfrm>
            <a:off x="584200"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4F92DA75-7E4D-567F-ECD8-2CA3158E6DF4}"/>
              </a:ext>
            </a:extLst>
          </p:cNvPr>
          <p:cNvSpPr>
            <a:spLocks noGrp="1"/>
          </p:cNvSpPr>
          <p:nvPr>
            <p:ph type="body" sz="quarter" idx="20" hasCustomPrompt="1"/>
          </p:nvPr>
        </p:nvSpPr>
        <p:spPr>
          <a:xfrm>
            <a:off x="4356101"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8" name="Text Placeholder 4">
            <a:extLst>
              <a:ext uri="{FF2B5EF4-FFF2-40B4-BE49-F238E27FC236}">
                <a16:creationId xmlns:a16="http://schemas.microsoft.com/office/drawing/2014/main" id="{1341BE00-329F-B62F-D11D-64896AE5DD0E}"/>
              </a:ext>
            </a:extLst>
          </p:cNvPr>
          <p:cNvSpPr>
            <a:spLocks noGrp="1"/>
          </p:cNvSpPr>
          <p:nvPr>
            <p:ph type="body" sz="quarter" idx="21" hasCustomPrompt="1"/>
          </p:nvPr>
        </p:nvSpPr>
        <p:spPr>
          <a:xfrm>
            <a:off x="8134943" y="5354468"/>
            <a:ext cx="3474445"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72166919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Four picture content">
    <p:bg>
      <p:bgPr>
        <a:solidFill>
          <a:srgbClr val="F4F3F5"/>
        </a:solidFill>
        <a:effectLst/>
      </p:bgPr>
    </p:bg>
    <p:spTree>
      <p:nvGrpSpPr>
        <p:cNvPr id="1" name=""/>
        <p:cNvGrpSpPr/>
        <p:nvPr/>
      </p:nvGrpSpPr>
      <p:grpSpPr>
        <a:xfrm>
          <a:off x="0" y="0"/>
          <a:ext cx="0" cy="0"/>
          <a:chOff x="0" y="0"/>
          <a:chExt cx="0" cy="0"/>
        </a:xfrm>
      </p:grpSpPr>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oundRect">
            <a:avLst>
              <a:gd name="adj" fmla="val 9291"/>
            </a:avLst>
          </a:prstGeo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oundRect">
            <a:avLst>
              <a:gd name="adj" fmla="val 9680"/>
            </a:avLst>
          </a:prstGeo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oundRect">
            <a:avLst>
              <a:gd name="adj" fmla="val 9679"/>
            </a:avLst>
          </a:prstGeo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prstGeom prst="roundRect">
            <a:avLst>
              <a:gd name="adj" fmla="val 9680"/>
            </a:avLst>
          </a:prstGeo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Tree>
    <p:extLst>
      <p:ext uri="{BB962C8B-B14F-4D97-AF65-F5344CB8AC3E}">
        <p14:creationId xmlns:p14="http://schemas.microsoft.com/office/powerpoint/2010/main" val="390691479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75950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hre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55697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our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35200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Fiv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017624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773487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Four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734221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iv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447725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3959225"/>
          </a:xfrm>
        </p:spPr>
        <p:txBody>
          <a:bodyPr anchor="t"/>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48370C-2FF9-EB05-1275-F0B9E34E40E3}"/>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57362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text side by side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FD366496-0526-A79B-C195-310BDEC5329D}"/>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8B9282B-2098-430D-B57F-67ED8C920ADA}"/>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F917A19-5353-F019-737D-CB017D70B4F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E9EDB421-EDBF-FF28-16C9-56834DF21C4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20" name="Text Placeholder 2">
            <a:extLst>
              <a:ext uri="{FF2B5EF4-FFF2-40B4-BE49-F238E27FC236}">
                <a16:creationId xmlns:a16="http://schemas.microsoft.com/office/drawing/2014/main" id="{8C86039A-AC59-0AA2-3B10-E7EE56A2CD57}"/>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84126602"/>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9"/>
            <a:ext cx="6667500" cy="5683248"/>
          </a:xfrm>
        </p:spPr>
        <p:txBody>
          <a:bodyPr anchor="ctr"/>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82075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EFC8378B-6E45-F469-0519-68B9FC5BEEA8}"/>
              </a:ext>
            </a:extLst>
          </p:cNvPr>
          <p:cNvSpPr>
            <a:spLocks noGrp="1"/>
          </p:cNvSpPr>
          <p:nvPr>
            <p:ph type="body" sz="quarter" idx="11" hasCustomPrompt="1"/>
          </p:nvPr>
        </p:nvSpPr>
        <p:spPr>
          <a:xfrm>
            <a:off x="5654082" y="1857800"/>
            <a:ext cx="5966418"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6" name="Text Placeholder 2">
            <a:extLst>
              <a:ext uri="{FF2B5EF4-FFF2-40B4-BE49-F238E27FC236}">
                <a16:creationId xmlns:a16="http://schemas.microsoft.com/office/drawing/2014/main" id="{6763BA2C-322D-A7E8-7431-EF84FFCD9B12}"/>
              </a:ext>
            </a:extLst>
          </p:cNvPr>
          <p:cNvSpPr>
            <a:spLocks noGrp="1"/>
          </p:cNvSpPr>
          <p:nvPr>
            <p:ph type="body" sz="quarter" idx="25" hasCustomPrompt="1"/>
          </p:nvPr>
        </p:nvSpPr>
        <p:spPr>
          <a:xfrm>
            <a:off x="5095668" y="1857800"/>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233279391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Pr>
        <a:solidFill>
          <a:srgbClr val="F4F3F5"/>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50BFCD8B-853E-92A8-FD5C-C5659CCB744A}"/>
              </a:ext>
              <a:ext uri="{C183D7F6-B498-43B3-948B-1728B52AA6E4}">
                <adec:decorative xmlns:adec="http://schemas.microsoft.com/office/drawing/2017/decorative" val="1"/>
              </a:ext>
            </a:extLst>
          </p:cNvPr>
          <p:cNvCxnSpPr>
            <a:cxnSpLocks/>
          </p:cNvCxnSpPr>
          <p:nvPr userDrawn="1"/>
        </p:nvCxnSpPr>
        <p:spPr>
          <a:xfrm>
            <a:off x="584200" y="2019300"/>
            <a:ext cx="3182112" cy="0"/>
          </a:xfrm>
          <a:prstGeom prst="line">
            <a:avLst/>
          </a:prstGeom>
          <a:ln w="76200" cap="rnd">
            <a:gradFill>
              <a:gsLst>
                <a:gs pos="0">
                  <a:schemeClr val="accent1"/>
                </a:gs>
                <a:gs pos="100000">
                  <a:schemeClr val="accent2"/>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1698F6FE-FA89-D09B-0F56-2F89F05F6E1E}"/>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1DBC7FD1-5168-7C9E-36DD-EFCBEFE2FAC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9" name="Text Placeholder 2">
            <a:extLst>
              <a:ext uri="{FF2B5EF4-FFF2-40B4-BE49-F238E27FC236}">
                <a16:creationId xmlns:a16="http://schemas.microsoft.com/office/drawing/2014/main" id="{AC81A518-CF66-2BAF-FE9A-48CB9F7E9C5C}"/>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3363125809"/>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F4F3F5"/>
        </a:solidFill>
        <a:effectLst/>
      </p:bgPr>
    </p:bg>
    <p:spTree>
      <p:nvGrpSpPr>
        <p:cNvPr id="1" name=""/>
        <p:cNvGrpSpPr/>
        <p:nvPr/>
      </p:nvGrpSpPr>
      <p:grpSpPr>
        <a:xfrm>
          <a:off x="0" y="0"/>
          <a:ext cx="0" cy="0"/>
          <a:chOff x="0" y="0"/>
          <a:chExt cx="0" cy="0"/>
        </a:xfrm>
      </p:grpSpPr>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Tree>
    <p:extLst>
      <p:ext uri="{BB962C8B-B14F-4D97-AF65-F5344CB8AC3E}">
        <p14:creationId xmlns:p14="http://schemas.microsoft.com/office/powerpoint/2010/main" val="258680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Developer cod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11567833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veloper 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79175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veloper 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9321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veloper code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07777"/>
          </a:xfrm>
        </p:spPr>
        <p:txBody>
          <a:bodyPr/>
          <a:lstStyle>
            <a:lvl1pPr marL="0" indent="0">
              <a:buNone/>
              <a:tabLst/>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682708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veloper code left">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302251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eveloper code left, image right">
    <p:bg>
      <p:bgPr>
        <a:solidFill>
          <a:srgbClr val="F4F3F5"/>
        </a:solidFill>
        <a:effectLst/>
      </p:bgPr>
    </p:bg>
    <p:spTree>
      <p:nvGrpSpPr>
        <p:cNvPr id="1" name=""/>
        <p:cNvGrpSpPr/>
        <p:nvPr/>
      </p:nvGrpSpPr>
      <p:grpSpPr>
        <a:xfrm>
          <a:off x="0" y="0"/>
          <a:ext cx="0" cy="0"/>
          <a:chOff x="0" y="0"/>
          <a:chExt cx="0" cy="0"/>
        </a:xfrm>
      </p:grpSpPr>
      <p:sp>
        <p:nvSpPr>
          <p:cNvPr id="9" name="Picture Placeholder 7" descr="This photo is a 'placeholder' only. Drag or drop your photo here, or click and tap the center to insert a photo.">
            <a:extLst>
              <a:ext uri="{FF2B5EF4-FFF2-40B4-BE49-F238E27FC236}">
                <a16:creationId xmlns:a16="http://schemas.microsoft.com/office/drawing/2014/main" id="{8456ECE7-2FD2-0E8A-D0BD-61173814D9B7}"/>
              </a:ext>
            </a:extLst>
          </p:cNvPr>
          <p:cNvSpPr>
            <a:spLocks noGrp="1"/>
          </p:cNvSpPr>
          <p:nvPr>
            <p:ph type="pic" sz="quarter" idx="10" hasCustomPrompt="1"/>
          </p:nvPr>
        </p:nvSpPr>
        <p:spPr bwMode="ltGray">
          <a:xfrm>
            <a:off x="8490856" y="707231"/>
            <a:ext cx="3116945" cy="5561808"/>
          </a:xfrm>
          <a:prstGeom prst="roundRect">
            <a:avLst>
              <a:gd name="adj" fmla="val 4445"/>
            </a:avLst>
          </a:prstGeom>
          <a:blipFill>
            <a:blip r:embed="rId2"/>
            <a:stretch>
              <a:fillRect l="-107368" r="-109854"/>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4213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Device 1">
    <p:bg>
      <p:bgPr>
        <a:solidFill>
          <a:srgbClr val="F4F3F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584200" y="464817"/>
            <a:ext cx="11023600"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584200" y="1922802"/>
            <a:ext cx="4630006" cy="615553"/>
          </a:xfrm>
          <a:prstGeom prst="rect">
            <a:avLst/>
          </a:prstGeom>
        </p:spPr>
        <p:txBody>
          <a:bodyPr wrap="square" lIns="0" tIns="0" rIns="0" bIns="0">
            <a:spAutoFit/>
          </a:bodyPr>
          <a:lstStyle>
            <a:lvl1pPr marL="0" indent="0">
              <a:lnSpc>
                <a:spcPts val="2400"/>
              </a:lnSpc>
              <a:buNone/>
              <a:defRPr sz="2000"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a:t>
            </a:r>
            <a:r>
              <a:rPr lang="da-DK"/>
              <a:t>Lorem ipsum dolor sit amet</a:t>
            </a:r>
            <a:r>
              <a:rPr lang="pt-BR"/>
              <a:t>.</a:t>
            </a:r>
            <a:endParaRPr lang="en-US"/>
          </a:p>
        </p:txBody>
      </p:sp>
      <p:sp>
        <p:nvSpPr>
          <p:cNvPr id="5" name="Text Placeholder 4"/>
          <p:cNvSpPr>
            <a:spLocks noGrp="1"/>
          </p:cNvSpPr>
          <p:nvPr>
            <p:ph type="body" sz="quarter" idx="11" hasCustomPrompt="1"/>
          </p:nvPr>
        </p:nvSpPr>
        <p:spPr>
          <a:xfrm>
            <a:off x="584199" y="2707597"/>
            <a:ext cx="4630005" cy="2521331"/>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690846582"/>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Device 2">
    <p:bg>
      <p:bgPr>
        <a:solidFill>
          <a:srgbClr val="F4F3F5"/>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593750"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521876"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59024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52160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Title 1">
            <a:extLst>
              <a:ext uri="{FF2B5EF4-FFF2-40B4-BE49-F238E27FC236}">
                <a16:creationId xmlns:a16="http://schemas.microsoft.com/office/drawing/2014/main" id="{41C62C6E-6C8D-E263-ED20-65125864F2C8}"/>
              </a:ext>
            </a:extLst>
          </p:cNvPr>
          <p:cNvSpPr>
            <a:spLocks noGrp="1"/>
          </p:cNvSpPr>
          <p:nvPr>
            <p:ph type="title" hasCustomPrompt="1"/>
          </p:nvPr>
        </p:nvSpPr>
        <p:spPr>
          <a:xfrm>
            <a:off x="582612" y="462415"/>
            <a:ext cx="11026776"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Tree>
    <p:extLst>
      <p:ext uri="{BB962C8B-B14F-4D97-AF65-F5344CB8AC3E}">
        <p14:creationId xmlns:p14="http://schemas.microsoft.com/office/powerpoint/2010/main" val="993326050"/>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Device 3">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1165843007"/>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hart with caption">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layout examples</a:t>
            </a:r>
          </a:p>
        </p:txBody>
      </p:sp>
      <p:sp>
        <p:nvSpPr>
          <p:cNvPr id="5" name="Chart Placeholder 6">
            <a:extLst>
              <a:ext uri="{FF2B5EF4-FFF2-40B4-BE49-F238E27FC236}">
                <a16:creationId xmlns:a16="http://schemas.microsoft.com/office/drawing/2014/main" id="{D9638BF3-12D1-2694-0190-0AB19FCB5432}"/>
              </a:ext>
            </a:extLst>
          </p:cNvPr>
          <p:cNvSpPr>
            <a:spLocks noGrp="1"/>
          </p:cNvSpPr>
          <p:nvPr>
            <p:ph type="chart" sz="quarter" idx="21"/>
          </p:nvPr>
        </p:nvSpPr>
        <p:spPr>
          <a:xfrm>
            <a:off x="584200"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6" name="Text Placeholder 4">
            <a:extLst>
              <a:ext uri="{FF2B5EF4-FFF2-40B4-BE49-F238E27FC236}">
                <a16:creationId xmlns:a16="http://schemas.microsoft.com/office/drawing/2014/main" id="{9FDA6635-EE72-35BC-5065-7C47B07E2AF7}"/>
              </a:ext>
            </a:extLst>
          </p:cNvPr>
          <p:cNvSpPr>
            <a:spLocks noGrp="1"/>
          </p:cNvSpPr>
          <p:nvPr>
            <p:ph type="body" sz="quarter" idx="12" hasCustomPrompt="1"/>
          </p:nvPr>
        </p:nvSpPr>
        <p:spPr>
          <a:xfrm>
            <a:off x="584201" y="5973763"/>
            <a:ext cx="3474720" cy="307777"/>
          </a:xfrm>
          <a:prstGeom prst="rect">
            <a:avLst/>
          </a:prstGeom>
        </p:spPr>
        <p:txBody>
          <a:bodyPr lIns="0" tIns="0" rIns="0" bIns="0"/>
          <a:lstStyle>
            <a:lvl1pPr marL="0" indent="0">
              <a:lnSpc>
                <a:spcPts val="1200"/>
              </a:lnSpc>
              <a:spcBef>
                <a:spcPts val="900"/>
              </a:spcBef>
              <a:buFont typeface="Arial" panose="020B0604020202020204" pitchFamily="34" charset="0"/>
              <a:buNone/>
              <a:defRPr sz="1000" b="0" i="0" spc="0">
                <a:solidFill>
                  <a:srgbClr val="000000"/>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7" name="Text Placeholder 4">
            <a:extLst>
              <a:ext uri="{FF2B5EF4-FFF2-40B4-BE49-F238E27FC236}">
                <a16:creationId xmlns:a16="http://schemas.microsoft.com/office/drawing/2014/main" id="{426EF772-758C-C1A7-A309-173E2AB9C395}"/>
              </a:ext>
            </a:extLst>
          </p:cNvPr>
          <p:cNvSpPr>
            <a:spLocks noGrp="1"/>
          </p:cNvSpPr>
          <p:nvPr>
            <p:ph type="body" sz="quarter" idx="18" hasCustomPrompt="1"/>
          </p:nvPr>
        </p:nvSpPr>
        <p:spPr>
          <a:xfrm>
            <a:off x="4358640"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9" name="Chart Placeholder 6">
            <a:extLst>
              <a:ext uri="{FF2B5EF4-FFF2-40B4-BE49-F238E27FC236}">
                <a16:creationId xmlns:a16="http://schemas.microsoft.com/office/drawing/2014/main" id="{C01D8C54-5478-2BF6-769F-9F0FC6FB57EA}"/>
              </a:ext>
            </a:extLst>
          </p:cNvPr>
          <p:cNvSpPr>
            <a:spLocks noGrp="1"/>
          </p:cNvSpPr>
          <p:nvPr>
            <p:ph type="chart" sz="quarter" idx="22"/>
          </p:nvPr>
        </p:nvSpPr>
        <p:spPr>
          <a:xfrm>
            <a:off x="4358641"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1" name="Chart Placeholder 6">
            <a:extLst>
              <a:ext uri="{FF2B5EF4-FFF2-40B4-BE49-F238E27FC236}">
                <a16:creationId xmlns:a16="http://schemas.microsoft.com/office/drawing/2014/main" id="{657835EA-5000-4043-FCC9-D8A17E147B1F}"/>
              </a:ext>
            </a:extLst>
          </p:cNvPr>
          <p:cNvSpPr>
            <a:spLocks noGrp="1"/>
          </p:cNvSpPr>
          <p:nvPr>
            <p:ph type="chart" sz="quarter" idx="23"/>
          </p:nvPr>
        </p:nvSpPr>
        <p:spPr>
          <a:xfrm>
            <a:off x="8132064"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2" name="Text Placeholder 3">
            <a:extLst>
              <a:ext uri="{FF2B5EF4-FFF2-40B4-BE49-F238E27FC236}">
                <a16:creationId xmlns:a16="http://schemas.microsoft.com/office/drawing/2014/main" id="{D11E6A22-8ABF-B71A-3401-3376773ED9AC}"/>
              </a:ext>
            </a:extLst>
          </p:cNvPr>
          <p:cNvSpPr>
            <a:spLocks noGrp="1"/>
          </p:cNvSpPr>
          <p:nvPr>
            <p:ph type="body" sz="quarter" idx="24" hasCustomPrompt="1"/>
          </p:nvPr>
        </p:nvSpPr>
        <p:spPr>
          <a:xfrm>
            <a:off x="584200"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3" name="Text Placeholder 3">
            <a:extLst>
              <a:ext uri="{FF2B5EF4-FFF2-40B4-BE49-F238E27FC236}">
                <a16:creationId xmlns:a16="http://schemas.microsoft.com/office/drawing/2014/main" id="{608861AB-092C-6472-7C72-ED6E47461F7C}"/>
              </a:ext>
            </a:extLst>
          </p:cNvPr>
          <p:cNvSpPr>
            <a:spLocks noGrp="1"/>
          </p:cNvSpPr>
          <p:nvPr>
            <p:ph type="body" sz="quarter" idx="25" hasCustomPrompt="1"/>
          </p:nvPr>
        </p:nvSpPr>
        <p:spPr>
          <a:xfrm>
            <a:off x="4369751"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4" name="Text Placeholder 3">
            <a:extLst>
              <a:ext uri="{FF2B5EF4-FFF2-40B4-BE49-F238E27FC236}">
                <a16:creationId xmlns:a16="http://schemas.microsoft.com/office/drawing/2014/main" id="{000561FE-DBFA-4AC4-AFCD-6B19B0C28254}"/>
              </a:ext>
            </a:extLst>
          </p:cNvPr>
          <p:cNvSpPr>
            <a:spLocks noGrp="1"/>
          </p:cNvSpPr>
          <p:nvPr>
            <p:ph type="body" sz="quarter" idx="26" hasCustomPrompt="1"/>
          </p:nvPr>
        </p:nvSpPr>
        <p:spPr>
          <a:xfrm>
            <a:off x="8132063"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4">
            <a:extLst>
              <a:ext uri="{FF2B5EF4-FFF2-40B4-BE49-F238E27FC236}">
                <a16:creationId xmlns:a16="http://schemas.microsoft.com/office/drawing/2014/main" id="{ABB165B4-FDFD-ADBC-4A1C-58CA8748A55C}"/>
              </a:ext>
            </a:extLst>
          </p:cNvPr>
          <p:cNvSpPr>
            <a:spLocks noGrp="1"/>
          </p:cNvSpPr>
          <p:nvPr>
            <p:ph type="body" sz="quarter" idx="27" hasCustomPrompt="1"/>
          </p:nvPr>
        </p:nvSpPr>
        <p:spPr>
          <a:xfrm>
            <a:off x="8132063"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Tree>
    <p:extLst>
      <p:ext uri="{BB962C8B-B14F-4D97-AF65-F5344CB8AC3E}">
        <p14:creationId xmlns:p14="http://schemas.microsoft.com/office/powerpoint/2010/main" val="1982342779"/>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able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1098-5BDB-3A14-0BC4-F3DC4A76BABB}"/>
              </a:ext>
            </a:extLst>
          </p:cNvPr>
          <p:cNvSpPr>
            <a:spLocks noGrp="1"/>
          </p:cNvSpPr>
          <p:nvPr>
            <p:ph type="title" hasCustomPrompt="1"/>
          </p:nvPr>
        </p:nvSpPr>
        <p:spPr/>
        <p:txBody>
          <a:bodyPr/>
          <a:lstStyle>
            <a:lvl1pPr>
              <a:defRPr/>
            </a:lvl1pPr>
          </a:lstStyle>
          <a:p>
            <a:r>
              <a:rPr lang="en-US"/>
              <a:t>Table layout</a:t>
            </a:r>
          </a:p>
        </p:txBody>
      </p:sp>
      <p:sp>
        <p:nvSpPr>
          <p:cNvPr id="4" name="Table Placeholder 3">
            <a:extLst>
              <a:ext uri="{FF2B5EF4-FFF2-40B4-BE49-F238E27FC236}">
                <a16:creationId xmlns:a16="http://schemas.microsoft.com/office/drawing/2014/main" id="{6DAF7D07-1867-0A94-96A1-88DE5F76DCC0}"/>
              </a:ext>
            </a:extLst>
          </p:cNvPr>
          <p:cNvSpPr>
            <a:spLocks noGrp="1"/>
          </p:cNvSpPr>
          <p:nvPr>
            <p:ph type="tbl" sz="quarter" idx="10"/>
          </p:nvPr>
        </p:nvSpPr>
        <p:spPr>
          <a:xfrm>
            <a:off x="584201" y="2201863"/>
            <a:ext cx="11025188" cy="4067176"/>
          </a:xfrm>
          <a:prstGeom prst="rect">
            <a:avLst/>
          </a:prstGeom>
        </p:spPr>
        <p:txBody>
          <a:bodyPr anchor="ctr" anchorCtr="0"/>
          <a:lstStyle>
            <a:lvl1pPr algn="ctr">
              <a:defRPr/>
            </a:lvl1pPr>
          </a:lstStyle>
          <a:p>
            <a:r>
              <a:rPr lang="en-US"/>
              <a:t>Click icon to add table</a:t>
            </a:r>
          </a:p>
        </p:txBody>
      </p:sp>
    </p:spTree>
    <p:extLst>
      <p:ext uri="{BB962C8B-B14F-4D97-AF65-F5344CB8AC3E}">
        <p14:creationId xmlns:p14="http://schemas.microsoft.com/office/powerpoint/2010/main" val="687834266"/>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8FF295-4867-A99B-E458-6E9396360BC0}"/>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1163637"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1163637"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1163637" y="850900"/>
            <a:ext cx="7256463" cy="3238500"/>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708572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95A0AA-74F0-F906-FF6C-5C3C4846A891}"/>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8" name="Picture 7" descr="Quotation marks">
            <a:extLst>
              <a:ext uri="{FF2B5EF4-FFF2-40B4-BE49-F238E27FC236}">
                <a16:creationId xmlns:a16="http://schemas.microsoft.com/office/drawing/2014/main" id="{04EC2229-8FBE-426A-CDA3-79B76E4E64E9}"/>
              </a:ext>
            </a:extLst>
          </p:cNvPr>
          <p:cNvPicPr>
            <a:picLocks noChangeAspect="1"/>
          </p:cNvPicPr>
          <p:nvPr userDrawn="1"/>
        </p:nvPicPr>
        <p:blipFill>
          <a:blip r:embed="rId3"/>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2459506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E79450-F76B-B7C6-BF65-EFBA04ADB473}"/>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11" name="Picture 10" descr="Quotation marks">
            <a:extLst>
              <a:ext uri="{FF2B5EF4-FFF2-40B4-BE49-F238E27FC236}">
                <a16:creationId xmlns:a16="http://schemas.microsoft.com/office/drawing/2014/main" id="{3425CD53-2A7D-2007-E862-FDADC36307A1}"/>
              </a:ext>
            </a:extLst>
          </p:cNvPr>
          <p:cNvPicPr>
            <a:picLocks noChangeAspect="1"/>
          </p:cNvPicPr>
          <p:nvPr userDrawn="1"/>
        </p:nvPicPr>
        <p:blipFill>
          <a:blip r:embed="rId3"/>
          <a:srcRect/>
          <a:stretch/>
        </p:blipFill>
        <p:spPr bwMode="black">
          <a:xfrm>
            <a:off x="564441" y="1042185"/>
            <a:ext cx="1271081" cy="1132055"/>
          </a:xfrm>
          <a:prstGeom prst="rect">
            <a:avLst/>
          </a:prstGeom>
        </p:spPr>
      </p:pic>
    </p:spTree>
    <p:extLst>
      <p:ext uri="{BB962C8B-B14F-4D97-AF65-F5344CB8AC3E}">
        <p14:creationId xmlns:p14="http://schemas.microsoft.com/office/powerpoint/2010/main" val="4224302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8C42C5-9D1B-8547-8199-B0D8C17707CB}"/>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5" y="3091208"/>
            <a:ext cx="4773168"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65764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emo slid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6AA0B9-027D-8539-FF20-AFB01D1F7528}"/>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7566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D5FC56-4517-D1AD-EA54-49ECDFA7612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7936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79DAA2-FFF6-E1D5-7BF6-E98C822B2F5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63608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Section Title 3">
    <p:bg bwMode="gray">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756D10-0030-D9D3-52FE-13D839CE63B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8542742"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368362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Demo slide 3">
    <p:bg bwMode="gray">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A2250-4B7E-6E63-E698-996FB39D2C14}"/>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4393121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4378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543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6" name="Title 1">
            <a:extLst>
              <a:ext uri="{FF2B5EF4-FFF2-40B4-BE49-F238E27FC236}">
                <a16:creationId xmlns:a16="http://schemas.microsoft.com/office/drawing/2014/main" id="{08079CCE-8626-53E5-1C9C-E9081D2B67CD}"/>
              </a:ext>
            </a:extLst>
          </p:cNvPr>
          <p:cNvSpPr>
            <a:spLocks noGrp="1"/>
          </p:cNvSpPr>
          <p:nvPr>
            <p:ph type="title"/>
          </p:nvPr>
        </p:nvSpPr>
        <p:spPr>
          <a:xfrm>
            <a:off x="4255769" y="1769814"/>
            <a:ext cx="550468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
        <p:nvSpPr>
          <p:cNvPr id="7" name="Text Placeholder 4">
            <a:extLst>
              <a:ext uri="{FF2B5EF4-FFF2-40B4-BE49-F238E27FC236}">
                <a16:creationId xmlns:a16="http://schemas.microsoft.com/office/drawing/2014/main" id="{8845B3A2-DAC2-0B7B-1866-377A5A244AC2}"/>
              </a:ext>
            </a:extLst>
          </p:cNvPr>
          <p:cNvSpPr>
            <a:spLocks noGrp="1"/>
          </p:cNvSpPr>
          <p:nvPr>
            <p:ph type="body" sz="quarter" idx="12" hasCustomPrompt="1"/>
          </p:nvPr>
        </p:nvSpPr>
        <p:spPr>
          <a:xfrm>
            <a:off x="585216" y="1572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Tree>
    <p:extLst>
      <p:ext uri="{BB962C8B-B14F-4D97-AF65-F5344CB8AC3E}">
        <p14:creationId xmlns:p14="http://schemas.microsoft.com/office/powerpoint/2010/main" val="8973908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1272">
          <p15:clr>
            <a:srgbClr val="FBAE40"/>
          </p15:clr>
        </p15:guide>
        <p15:guide id="3" orient="horz" pos="912">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losing logo slide 2">
    <p:bg>
      <p:bgPr>
        <a:solidFill>
          <a:schemeClr val="tx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F0F127D-8512-846C-2C30-5A85666BF445}"/>
              </a:ext>
            </a:extLst>
          </p:cNvPr>
          <p:cNvSpPr>
            <a:spLocks noGrp="1"/>
          </p:cNvSpPr>
          <p:nvPr>
            <p:ph type="body" sz="quarter" idx="12" hasCustomPrompt="1"/>
          </p:nvPr>
        </p:nvSpPr>
        <p:spPr>
          <a:xfrm>
            <a:off x="6090921" y="4612614"/>
            <a:ext cx="5524500" cy="553998"/>
          </a:xfrm>
          <a:noFill/>
        </p:spPr>
        <p:txBody>
          <a:bodyPr wrap="square" lIns="0" tIns="0" rIns="0" bIns="0">
            <a:spAutoFit/>
          </a:bodyPr>
          <a:lstStyle>
            <a:lvl1pPr marL="0" indent="0" algn="r"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7A38A2C9-D8C3-D252-BC8C-25222F314054}"/>
              </a:ext>
            </a:extLst>
          </p:cNvPr>
          <p:cNvSpPr>
            <a:spLocks noGrp="1"/>
          </p:cNvSpPr>
          <p:nvPr>
            <p:ph type="title"/>
          </p:nvPr>
        </p:nvSpPr>
        <p:spPr>
          <a:xfrm>
            <a:off x="588263" y="1766555"/>
            <a:ext cx="550265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427755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912">
          <p15:clr>
            <a:srgbClr val="FBAE40"/>
          </p15:clr>
        </p15:guide>
        <p15:guide id="3" orient="horz" pos="1272">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losing logo slide 3">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4F8C85E6-DBED-FCF3-8B7D-1F82C6DBBCB7}"/>
              </a:ext>
            </a:extLst>
          </p:cNvPr>
          <p:cNvSpPr>
            <a:spLocks noGrp="1"/>
          </p:cNvSpPr>
          <p:nvPr>
            <p:ph type="title"/>
          </p:nvPr>
        </p:nvSpPr>
        <p:spPr>
          <a:xfrm>
            <a:off x="588263" y="1845276"/>
            <a:ext cx="11018520" cy="553998"/>
          </a:xfrm>
        </p:spPr>
        <p:txBody>
          <a:bodyPr/>
          <a:lstStyle>
            <a:lvl1pPr marL="0" algn="l" defTabSz="457200" rtl="0" eaLnBrk="1" latinLnBrk="0" hangingPunct="1">
              <a:defRPr lang="en-US" sz="3600" b="1" kern="1200" dirty="0">
                <a:gradFill>
                  <a:gsLst>
                    <a:gs pos="0">
                      <a:srgbClr val="FF5C39"/>
                    </a:gs>
                    <a:gs pos="100000">
                      <a:srgbClr val="C73ECC"/>
                    </a:gs>
                  </a:gsLst>
                  <a:lin ang="3900000" scaled="0"/>
                </a:gradFill>
                <a:latin typeface="Segoe UI" panose="020B0502040204020203" pitchFamily="34" charset="0"/>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1438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1286506"/>
          </a:xfrm>
        </p:spPr>
        <p:txBody>
          <a:bodyPr>
            <a:spAutoFit/>
          </a:bodyPr>
          <a:lstStyle>
            <a:lvl1pPr>
              <a:defRPr sz="2000">
                <a:latin typeface="+mn-lt"/>
              </a:defRPr>
            </a:lvl1pPr>
            <a:lvl2pPr>
              <a:defRPr sz="1600">
                <a:latin typeface="+mn-lt"/>
              </a:defRPr>
            </a:lvl2pPr>
            <a:lvl3pPr>
              <a:defRPr sz="1400">
                <a:latin typeface="+mn-lt"/>
              </a:defRPr>
            </a:lvl3pPr>
            <a:lvl4pPr>
              <a:defRPr sz="1200">
                <a:latin typeface="+mn-lt"/>
              </a:defRPr>
            </a:lvl4pPr>
            <a:lvl5pP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9074012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50" Type="http://schemas.openxmlformats.org/officeDocument/2006/relationships/theme" Target="../theme/theme2.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8" Type="http://schemas.openxmlformats.org/officeDocument/2006/relationships/slideLayout" Target="../slideLayouts/slideLayout48.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slideLayout" Target="../slideLayouts/slideLayout86.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1" Type="http://schemas.openxmlformats.org/officeDocument/2006/relationships/slideLayout" Target="../slideLayouts/slideLayout41.xml"/><Relationship Id="rId6"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15.xml"/><Relationship Id="rId21" Type="http://schemas.openxmlformats.org/officeDocument/2006/relationships/slideLayout" Target="../slideLayouts/slideLayout110.xml"/><Relationship Id="rId42" Type="http://schemas.openxmlformats.org/officeDocument/2006/relationships/slideLayout" Target="../slideLayouts/slideLayout131.xml"/><Relationship Id="rId47" Type="http://schemas.openxmlformats.org/officeDocument/2006/relationships/slideLayout" Target="../slideLayouts/slideLayout136.xml"/><Relationship Id="rId63" Type="http://schemas.openxmlformats.org/officeDocument/2006/relationships/slideLayout" Target="../slideLayouts/slideLayout152.xml"/><Relationship Id="rId68" Type="http://schemas.openxmlformats.org/officeDocument/2006/relationships/slideLayout" Target="../slideLayouts/slideLayout157.xml"/><Relationship Id="rId84" Type="http://schemas.openxmlformats.org/officeDocument/2006/relationships/slideLayout" Target="../slideLayouts/slideLayout173.xml"/><Relationship Id="rId16" Type="http://schemas.openxmlformats.org/officeDocument/2006/relationships/slideLayout" Target="../slideLayouts/slideLayout105.xml"/><Relationship Id="rId11" Type="http://schemas.openxmlformats.org/officeDocument/2006/relationships/slideLayout" Target="../slideLayouts/slideLayout100.xml"/><Relationship Id="rId32" Type="http://schemas.openxmlformats.org/officeDocument/2006/relationships/slideLayout" Target="../slideLayouts/slideLayout121.xml"/><Relationship Id="rId37" Type="http://schemas.openxmlformats.org/officeDocument/2006/relationships/slideLayout" Target="../slideLayouts/slideLayout126.xml"/><Relationship Id="rId53" Type="http://schemas.openxmlformats.org/officeDocument/2006/relationships/slideLayout" Target="../slideLayouts/slideLayout142.xml"/><Relationship Id="rId58" Type="http://schemas.openxmlformats.org/officeDocument/2006/relationships/slideLayout" Target="../slideLayouts/slideLayout147.xml"/><Relationship Id="rId74" Type="http://schemas.openxmlformats.org/officeDocument/2006/relationships/slideLayout" Target="../slideLayouts/slideLayout163.xml"/><Relationship Id="rId79" Type="http://schemas.openxmlformats.org/officeDocument/2006/relationships/slideLayout" Target="../slideLayouts/slideLayout168.xml"/><Relationship Id="rId5" Type="http://schemas.openxmlformats.org/officeDocument/2006/relationships/slideLayout" Target="../slideLayouts/slideLayout94.xml"/><Relationship Id="rId19" Type="http://schemas.openxmlformats.org/officeDocument/2006/relationships/slideLayout" Target="../slideLayouts/slideLayout108.xml"/><Relationship Id="rId14" Type="http://schemas.openxmlformats.org/officeDocument/2006/relationships/slideLayout" Target="../slideLayouts/slideLayout103.xml"/><Relationship Id="rId22" Type="http://schemas.openxmlformats.org/officeDocument/2006/relationships/slideLayout" Target="../slideLayouts/slideLayout111.xml"/><Relationship Id="rId27" Type="http://schemas.openxmlformats.org/officeDocument/2006/relationships/slideLayout" Target="../slideLayouts/slideLayout116.xml"/><Relationship Id="rId30" Type="http://schemas.openxmlformats.org/officeDocument/2006/relationships/slideLayout" Target="../slideLayouts/slideLayout119.xml"/><Relationship Id="rId35" Type="http://schemas.openxmlformats.org/officeDocument/2006/relationships/slideLayout" Target="../slideLayouts/slideLayout124.xml"/><Relationship Id="rId43" Type="http://schemas.openxmlformats.org/officeDocument/2006/relationships/slideLayout" Target="../slideLayouts/slideLayout132.xml"/><Relationship Id="rId48" Type="http://schemas.openxmlformats.org/officeDocument/2006/relationships/slideLayout" Target="../slideLayouts/slideLayout137.xml"/><Relationship Id="rId56" Type="http://schemas.openxmlformats.org/officeDocument/2006/relationships/slideLayout" Target="../slideLayouts/slideLayout145.xml"/><Relationship Id="rId64" Type="http://schemas.openxmlformats.org/officeDocument/2006/relationships/slideLayout" Target="../slideLayouts/slideLayout153.xml"/><Relationship Id="rId69" Type="http://schemas.openxmlformats.org/officeDocument/2006/relationships/slideLayout" Target="../slideLayouts/slideLayout158.xml"/><Relationship Id="rId77" Type="http://schemas.openxmlformats.org/officeDocument/2006/relationships/slideLayout" Target="../slideLayouts/slideLayout166.xml"/><Relationship Id="rId8" Type="http://schemas.openxmlformats.org/officeDocument/2006/relationships/slideLayout" Target="../slideLayouts/slideLayout97.xml"/><Relationship Id="rId51" Type="http://schemas.openxmlformats.org/officeDocument/2006/relationships/slideLayout" Target="../slideLayouts/slideLayout140.xml"/><Relationship Id="rId72" Type="http://schemas.openxmlformats.org/officeDocument/2006/relationships/slideLayout" Target="../slideLayouts/slideLayout161.xml"/><Relationship Id="rId80" Type="http://schemas.openxmlformats.org/officeDocument/2006/relationships/slideLayout" Target="../slideLayouts/slideLayout169.xml"/><Relationship Id="rId85" Type="http://schemas.openxmlformats.org/officeDocument/2006/relationships/theme" Target="../theme/theme3.xml"/><Relationship Id="rId3" Type="http://schemas.openxmlformats.org/officeDocument/2006/relationships/slideLayout" Target="../slideLayouts/slideLayout92.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slideLayout" Target="../slideLayouts/slideLayout114.xml"/><Relationship Id="rId33" Type="http://schemas.openxmlformats.org/officeDocument/2006/relationships/slideLayout" Target="../slideLayouts/slideLayout122.xml"/><Relationship Id="rId38" Type="http://schemas.openxmlformats.org/officeDocument/2006/relationships/slideLayout" Target="../slideLayouts/slideLayout127.xml"/><Relationship Id="rId46" Type="http://schemas.openxmlformats.org/officeDocument/2006/relationships/slideLayout" Target="../slideLayouts/slideLayout135.xml"/><Relationship Id="rId59" Type="http://schemas.openxmlformats.org/officeDocument/2006/relationships/slideLayout" Target="../slideLayouts/slideLayout148.xml"/><Relationship Id="rId67" Type="http://schemas.openxmlformats.org/officeDocument/2006/relationships/slideLayout" Target="../slideLayouts/slideLayout156.xml"/><Relationship Id="rId20" Type="http://schemas.openxmlformats.org/officeDocument/2006/relationships/slideLayout" Target="../slideLayouts/slideLayout109.xml"/><Relationship Id="rId41" Type="http://schemas.openxmlformats.org/officeDocument/2006/relationships/slideLayout" Target="../slideLayouts/slideLayout130.xml"/><Relationship Id="rId54" Type="http://schemas.openxmlformats.org/officeDocument/2006/relationships/slideLayout" Target="../slideLayouts/slideLayout143.xml"/><Relationship Id="rId62" Type="http://schemas.openxmlformats.org/officeDocument/2006/relationships/slideLayout" Target="../slideLayouts/slideLayout151.xml"/><Relationship Id="rId70" Type="http://schemas.openxmlformats.org/officeDocument/2006/relationships/slideLayout" Target="../slideLayouts/slideLayout159.xml"/><Relationship Id="rId75" Type="http://schemas.openxmlformats.org/officeDocument/2006/relationships/slideLayout" Target="../slideLayouts/slideLayout164.xml"/><Relationship Id="rId83" Type="http://schemas.openxmlformats.org/officeDocument/2006/relationships/slideLayout" Target="../slideLayouts/slideLayout172.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5" Type="http://schemas.openxmlformats.org/officeDocument/2006/relationships/slideLayout" Target="../slideLayouts/slideLayout104.xml"/><Relationship Id="rId23" Type="http://schemas.openxmlformats.org/officeDocument/2006/relationships/slideLayout" Target="../slideLayouts/slideLayout112.xml"/><Relationship Id="rId28" Type="http://schemas.openxmlformats.org/officeDocument/2006/relationships/slideLayout" Target="../slideLayouts/slideLayout117.xml"/><Relationship Id="rId36" Type="http://schemas.openxmlformats.org/officeDocument/2006/relationships/slideLayout" Target="../slideLayouts/slideLayout125.xml"/><Relationship Id="rId49" Type="http://schemas.openxmlformats.org/officeDocument/2006/relationships/slideLayout" Target="../slideLayouts/slideLayout138.xml"/><Relationship Id="rId57" Type="http://schemas.openxmlformats.org/officeDocument/2006/relationships/slideLayout" Target="../slideLayouts/slideLayout146.xml"/><Relationship Id="rId10" Type="http://schemas.openxmlformats.org/officeDocument/2006/relationships/slideLayout" Target="../slideLayouts/slideLayout99.xml"/><Relationship Id="rId31" Type="http://schemas.openxmlformats.org/officeDocument/2006/relationships/slideLayout" Target="../slideLayouts/slideLayout120.xml"/><Relationship Id="rId44" Type="http://schemas.openxmlformats.org/officeDocument/2006/relationships/slideLayout" Target="../slideLayouts/slideLayout133.xml"/><Relationship Id="rId52" Type="http://schemas.openxmlformats.org/officeDocument/2006/relationships/slideLayout" Target="../slideLayouts/slideLayout141.xml"/><Relationship Id="rId60" Type="http://schemas.openxmlformats.org/officeDocument/2006/relationships/slideLayout" Target="../slideLayouts/slideLayout149.xml"/><Relationship Id="rId65" Type="http://schemas.openxmlformats.org/officeDocument/2006/relationships/slideLayout" Target="../slideLayouts/slideLayout154.xml"/><Relationship Id="rId73" Type="http://schemas.openxmlformats.org/officeDocument/2006/relationships/slideLayout" Target="../slideLayouts/slideLayout162.xml"/><Relationship Id="rId78" Type="http://schemas.openxmlformats.org/officeDocument/2006/relationships/slideLayout" Target="../slideLayouts/slideLayout167.xml"/><Relationship Id="rId81" Type="http://schemas.openxmlformats.org/officeDocument/2006/relationships/slideLayout" Target="../slideLayouts/slideLayout170.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9" Type="http://schemas.openxmlformats.org/officeDocument/2006/relationships/slideLayout" Target="../slideLayouts/slideLayout128.xml"/><Relationship Id="rId34" Type="http://schemas.openxmlformats.org/officeDocument/2006/relationships/slideLayout" Target="../slideLayouts/slideLayout123.xml"/><Relationship Id="rId50" Type="http://schemas.openxmlformats.org/officeDocument/2006/relationships/slideLayout" Target="../slideLayouts/slideLayout139.xml"/><Relationship Id="rId55" Type="http://schemas.openxmlformats.org/officeDocument/2006/relationships/slideLayout" Target="../slideLayouts/slideLayout144.xml"/><Relationship Id="rId76" Type="http://schemas.openxmlformats.org/officeDocument/2006/relationships/slideLayout" Target="../slideLayouts/slideLayout165.xml"/><Relationship Id="rId7" Type="http://schemas.openxmlformats.org/officeDocument/2006/relationships/slideLayout" Target="../slideLayouts/slideLayout96.xml"/><Relationship Id="rId71" Type="http://schemas.openxmlformats.org/officeDocument/2006/relationships/slideLayout" Target="../slideLayouts/slideLayout160.xml"/><Relationship Id="rId2" Type="http://schemas.openxmlformats.org/officeDocument/2006/relationships/slideLayout" Target="../slideLayouts/slideLayout91.xml"/><Relationship Id="rId29" Type="http://schemas.openxmlformats.org/officeDocument/2006/relationships/slideLayout" Target="../slideLayouts/slideLayout118.xml"/><Relationship Id="rId24" Type="http://schemas.openxmlformats.org/officeDocument/2006/relationships/slideLayout" Target="../slideLayouts/slideLayout113.xml"/><Relationship Id="rId40" Type="http://schemas.openxmlformats.org/officeDocument/2006/relationships/slideLayout" Target="../slideLayouts/slideLayout129.xml"/><Relationship Id="rId45" Type="http://schemas.openxmlformats.org/officeDocument/2006/relationships/slideLayout" Target="../slideLayouts/slideLayout134.xml"/><Relationship Id="rId66" Type="http://schemas.openxmlformats.org/officeDocument/2006/relationships/slideLayout" Target="../slideLayouts/slideLayout155.xml"/><Relationship Id="rId61" Type="http://schemas.openxmlformats.org/officeDocument/2006/relationships/slideLayout" Target="../slideLayouts/slideLayout150.xml"/><Relationship Id="rId82" Type="http://schemas.openxmlformats.org/officeDocument/2006/relationships/slideLayout" Target="../slideLayouts/slideLayout1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839" r:id="rId7"/>
    <p:sldLayoutId id="2147484742" r:id="rId8"/>
    <p:sldLayoutId id="2147484910" r:id="rId9"/>
    <p:sldLayoutId id="2147484817" r:id="rId10"/>
    <p:sldLayoutId id="2147484741" r:id="rId11"/>
    <p:sldLayoutId id="2147484807" r:id="rId12"/>
    <p:sldLayoutId id="2147484753" r:id="rId13"/>
    <p:sldLayoutId id="2147484808" r:id="rId14"/>
    <p:sldLayoutId id="2147484912" r:id="rId15"/>
    <p:sldLayoutId id="2147484914" r:id="rId16"/>
    <p:sldLayoutId id="2147484917" r:id="rId17"/>
    <p:sldLayoutId id="2147484915" r:id="rId18"/>
    <p:sldLayoutId id="2147484873" r:id="rId19"/>
    <p:sldLayoutId id="2147484886" r:id="rId20"/>
    <p:sldLayoutId id="2147484885" r:id="rId21"/>
    <p:sldLayoutId id="2147484874" r:id="rId22"/>
    <p:sldLayoutId id="2147484745" r:id="rId23"/>
    <p:sldLayoutId id="2147484743" r:id="rId24"/>
    <p:sldLayoutId id="2147484749" r:id="rId25"/>
    <p:sldLayoutId id="2147484875" r:id="rId26"/>
    <p:sldLayoutId id="2147484840" r:id="rId27"/>
    <p:sldLayoutId id="2147484887" r:id="rId28"/>
    <p:sldLayoutId id="2147484909" r:id="rId29"/>
    <p:sldLayoutId id="2147484907" r:id="rId30"/>
    <p:sldLayoutId id="2147484911" r:id="rId31"/>
    <p:sldLayoutId id="2147484899" r:id="rId32"/>
    <p:sldLayoutId id="2147484903" r:id="rId33"/>
    <p:sldLayoutId id="2147484905" r:id="rId34"/>
    <p:sldLayoutId id="2147484900" r:id="rId35"/>
    <p:sldLayoutId id="2147484906" r:id="rId36"/>
    <p:sldLayoutId id="2147484821" r:id="rId37"/>
    <p:sldLayoutId id="2147484728" r:id="rId38"/>
    <p:sldLayoutId id="2147484859" r:id="rId39"/>
    <p:sldLayoutId id="2147485058" r:id="rId40"/>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5" r:id="rId22"/>
    <p:sldLayoutId id="2147484946" r:id="rId23"/>
    <p:sldLayoutId id="2147484947" r:id="rId24"/>
    <p:sldLayoutId id="2147484948" r:id="rId25"/>
    <p:sldLayoutId id="2147484949" r:id="rId26"/>
    <p:sldLayoutId id="2147484950" r:id="rId27"/>
    <p:sldLayoutId id="2147484951" r:id="rId28"/>
    <p:sldLayoutId id="2147484952" r:id="rId29"/>
    <p:sldLayoutId id="2147484953" r:id="rId30"/>
    <p:sldLayoutId id="2147484954" r:id="rId31"/>
    <p:sldLayoutId id="2147484955" r:id="rId32"/>
    <p:sldLayoutId id="2147484956" r:id="rId33"/>
    <p:sldLayoutId id="2147484957" r:id="rId34"/>
    <p:sldLayoutId id="2147484958" r:id="rId35"/>
    <p:sldLayoutId id="2147484959" r:id="rId36"/>
    <p:sldLayoutId id="2147484960" r:id="rId37"/>
    <p:sldLayoutId id="2147484961" r:id="rId38"/>
    <p:sldLayoutId id="2147484962" r:id="rId39"/>
    <p:sldLayoutId id="2147484963" r:id="rId40"/>
    <p:sldLayoutId id="2147484964" r:id="rId41"/>
    <p:sldLayoutId id="2147484965" r:id="rId42"/>
    <p:sldLayoutId id="2147484966" r:id="rId43"/>
    <p:sldLayoutId id="2147484967" r:id="rId44"/>
    <p:sldLayoutId id="2147484968" r:id="rId45"/>
    <p:sldLayoutId id="2147484969" r:id="rId46"/>
    <p:sldLayoutId id="2147484970" r:id="rId47"/>
    <p:sldLayoutId id="2147484971" r:id="rId48"/>
    <p:sldLayoutId id="2147484972" r:id="rId49"/>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Click to edit Master text styles</a:t>
            </a:r>
          </a:p>
          <a:p>
            <a:pPr marL="2286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228600" marR="0" lvl="2"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228600" marR="0" lvl="3"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228600" marR="0" lvl="4"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258" name="Group 257">
            <a:extLst>
              <a:ext uri="{FF2B5EF4-FFF2-40B4-BE49-F238E27FC236}">
                <a16:creationId xmlns:a16="http://schemas.microsoft.com/office/drawing/2014/main" id="{566C3ED6-7167-1619-C333-B86D0D162316}"/>
              </a:ext>
            </a:extLst>
          </p:cNvPr>
          <p:cNvGrpSpPr>
            <a:grpSpLocks noChangeAspect="1"/>
          </p:cNvGrpSpPr>
          <p:nvPr userDrawn="1"/>
        </p:nvGrpSpPr>
        <p:grpSpPr bwMode="auto">
          <a:xfrm rot="5400000">
            <a:off x="10659863" y="3998558"/>
            <a:ext cx="4597400" cy="1169987"/>
            <a:chOff x="1529" y="1423"/>
            <a:chExt cx="2896" cy="737"/>
          </a:xfrm>
        </p:grpSpPr>
        <p:sp>
          <p:nvSpPr>
            <p:cNvPr id="259" name="AutoShape 3">
              <a:extLst>
                <a:ext uri="{FF2B5EF4-FFF2-40B4-BE49-F238E27FC236}">
                  <a16:creationId xmlns:a16="http://schemas.microsoft.com/office/drawing/2014/main" id="{894C58B4-3C22-9620-7C92-D65ED6617E67}"/>
                </a:ext>
              </a:extLst>
            </p:cNvPr>
            <p:cNvSpPr>
              <a:spLocks noChangeAspect="1" noChangeArrowheads="1" noTextEdit="1"/>
            </p:cNvSpPr>
            <p:nvPr/>
          </p:nvSpPr>
          <p:spPr bwMode="auto">
            <a:xfrm>
              <a:off x="1529" y="1423"/>
              <a:ext cx="2896"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Rectangle 5">
              <a:extLst>
                <a:ext uri="{FF2B5EF4-FFF2-40B4-BE49-F238E27FC236}">
                  <a16:creationId xmlns:a16="http://schemas.microsoft.com/office/drawing/2014/main" id="{B4F93CCF-3F88-5DCB-F12D-4DEBF36B9444}"/>
                </a:ext>
              </a:extLst>
            </p:cNvPr>
            <p:cNvSpPr>
              <a:spLocks noChangeArrowheads="1"/>
            </p:cNvSpPr>
            <p:nvPr/>
          </p:nvSpPr>
          <p:spPr bwMode="auto">
            <a:xfrm>
              <a:off x="2254" y="1727"/>
              <a:ext cx="707" cy="135"/>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Rectangle 6">
              <a:extLst>
                <a:ext uri="{FF2B5EF4-FFF2-40B4-BE49-F238E27FC236}">
                  <a16:creationId xmlns:a16="http://schemas.microsoft.com/office/drawing/2014/main" id="{7AC4893A-D0A3-D947-BE61-70B6DC4B9314}"/>
                </a:ext>
              </a:extLst>
            </p:cNvPr>
            <p:cNvSpPr>
              <a:spLocks noChangeArrowheads="1"/>
            </p:cNvSpPr>
            <p:nvPr/>
          </p:nvSpPr>
          <p:spPr bwMode="auto">
            <a:xfrm>
              <a:off x="2264"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62" name="Rectangle 7">
              <a:extLst>
                <a:ext uri="{FF2B5EF4-FFF2-40B4-BE49-F238E27FC236}">
                  <a16:creationId xmlns:a16="http://schemas.microsoft.com/office/drawing/2014/main" id="{DE65DAC6-345A-2542-166A-D2D08E76F806}"/>
                </a:ext>
              </a:extLst>
            </p:cNvPr>
            <p:cNvSpPr>
              <a:spLocks noChangeArrowheads="1"/>
            </p:cNvSpPr>
            <p:nvPr/>
          </p:nvSpPr>
          <p:spPr bwMode="auto">
            <a:xfrm>
              <a:off x="2264" y="1800"/>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263" name="Rectangle 8">
              <a:extLst>
                <a:ext uri="{FF2B5EF4-FFF2-40B4-BE49-F238E27FC236}">
                  <a16:creationId xmlns:a16="http://schemas.microsoft.com/office/drawing/2014/main" id="{1EADC519-4AB4-60A0-260A-EF7DC8229A97}"/>
                </a:ext>
              </a:extLst>
            </p:cNvPr>
            <p:cNvSpPr>
              <a:spLocks noChangeArrowheads="1"/>
            </p:cNvSpPr>
            <p:nvPr/>
          </p:nvSpPr>
          <p:spPr bwMode="auto">
            <a:xfrm>
              <a:off x="2254" y="1871"/>
              <a:ext cx="707" cy="1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Rectangle 9">
              <a:extLst>
                <a:ext uri="{FF2B5EF4-FFF2-40B4-BE49-F238E27FC236}">
                  <a16:creationId xmlns:a16="http://schemas.microsoft.com/office/drawing/2014/main" id="{B2CFF324-4BA8-188D-7395-AC042B4D6560}"/>
                </a:ext>
              </a:extLst>
            </p:cNvPr>
            <p:cNvSpPr>
              <a:spLocks noChangeArrowheads="1"/>
            </p:cNvSpPr>
            <p:nvPr/>
          </p:nvSpPr>
          <p:spPr bwMode="auto">
            <a:xfrm>
              <a:off x="2264"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265" name="Rectangle 10">
              <a:extLst>
                <a:ext uri="{FF2B5EF4-FFF2-40B4-BE49-F238E27FC236}">
                  <a16:creationId xmlns:a16="http://schemas.microsoft.com/office/drawing/2014/main" id="{03BDB961-C287-23C5-66DF-74F0AFDFB76B}"/>
                </a:ext>
              </a:extLst>
            </p:cNvPr>
            <p:cNvSpPr>
              <a:spLocks noChangeArrowheads="1"/>
            </p:cNvSpPr>
            <p:nvPr/>
          </p:nvSpPr>
          <p:spPr bwMode="auto">
            <a:xfrm>
              <a:off x="2329"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6" name="Rectangle 11">
              <a:extLst>
                <a:ext uri="{FF2B5EF4-FFF2-40B4-BE49-F238E27FC236}">
                  <a16:creationId xmlns:a16="http://schemas.microsoft.com/office/drawing/2014/main" id="{35ADEDE9-FB7B-876E-7225-4D3AB73422EF}"/>
                </a:ext>
              </a:extLst>
            </p:cNvPr>
            <p:cNvSpPr>
              <a:spLocks noChangeArrowheads="1"/>
            </p:cNvSpPr>
            <p:nvPr/>
          </p:nvSpPr>
          <p:spPr bwMode="auto">
            <a:xfrm>
              <a:off x="2264" y="1943"/>
              <a:ext cx="13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12">
              <a:extLst>
                <a:ext uri="{FF2B5EF4-FFF2-40B4-BE49-F238E27FC236}">
                  <a16:creationId xmlns:a16="http://schemas.microsoft.com/office/drawing/2014/main" id="{03DA7BF6-FE99-195F-2925-BD0968D0CE23}"/>
                </a:ext>
              </a:extLst>
            </p:cNvPr>
            <p:cNvSpPr>
              <a:spLocks noChangeArrowheads="1"/>
            </p:cNvSpPr>
            <p:nvPr/>
          </p:nvSpPr>
          <p:spPr bwMode="auto">
            <a:xfrm>
              <a:off x="2254" y="1582"/>
              <a:ext cx="707" cy="136"/>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Rectangle 13">
              <a:extLst>
                <a:ext uri="{FF2B5EF4-FFF2-40B4-BE49-F238E27FC236}">
                  <a16:creationId xmlns:a16="http://schemas.microsoft.com/office/drawing/2014/main" id="{AE1CAD70-4A31-E224-8481-B797DB87F72F}"/>
                </a:ext>
              </a:extLst>
            </p:cNvPr>
            <p:cNvSpPr>
              <a:spLocks noChangeArrowheads="1"/>
            </p:cNvSpPr>
            <p:nvPr/>
          </p:nvSpPr>
          <p:spPr bwMode="auto">
            <a:xfrm>
              <a:off x="2264"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269" name="Rectangle 14">
              <a:extLst>
                <a:ext uri="{FF2B5EF4-FFF2-40B4-BE49-F238E27FC236}">
                  <a16:creationId xmlns:a16="http://schemas.microsoft.com/office/drawing/2014/main" id="{50413BA8-271F-17E9-274D-A6681E4E35BE}"/>
                </a:ext>
              </a:extLst>
            </p:cNvPr>
            <p:cNvSpPr>
              <a:spLocks noChangeArrowheads="1"/>
            </p:cNvSpPr>
            <p:nvPr/>
          </p:nvSpPr>
          <p:spPr bwMode="auto">
            <a:xfrm>
              <a:off x="2329"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0" name="Rectangle 15">
              <a:extLst>
                <a:ext uri="{FF2B5EF4-FFF2-40B4-BE49-F238E27FC236}">
                  <a16:creationId xmlns:a16="http://schemas.microsoft.com/office/drawing/2014/main" id="{5E8A55D7-5C9F-19E4-44F8-0D5ED73A059E}"/>
                </a:ext>
              </a:extLst>
            </p:cNvPr>
            <p:cNvSpPr>
              <a:spLocks noChangeArrowheads="1"/>
            </p:cNvSpPr>
            <p:nvPr/>
          </p:nvSpPr>
          <p:spPr bwMode="auto">
            <a:xfrm>
              <a:off x="2264" y="1654"/>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16">
              <a:extLst>
                <a:ext uri="{FF2B5EF4-FFF2-40B4-BE49-F238E27FC236}">
                  <a16:creationId xmlns:a16="http://schemas.microsoft.com/office/drawing/2014/main" id="{AB98BB47-C797-09CC-A9F3-51FE51653B12}"/>
                </a:ext>
              </a:extLst>
            </p:cNvPr>
            <p:cNvSpPr>
              <a:spLocks noChangeArrowheads="1"/>
            </p:cNvSpPr>
            <p:nvPr/>
          </p:nvSpPr>
          <p:spPr bwMode="auto">
            <a:xfrm>
              <a:off x="2255" y="2022"/>
              <a:ext cx="706"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17">
              <a:extLst>
                <a:ext uri="{FF2B5EF4-FFF2-40B4-BE49-F238E27FC236}">
                  <a16:creationId xmlns:a16="http://schemas.microsoft.com/office/drawing/2014/main" id="{C52F19C0-13E8-0692-788F-02A274A980BA}"/>
                </a:ext>
              </a:extLst>
            </p:cNvPr>
            <p:cNvSpPr>
              <a:spLocks noChangeArrowheads="1"/>
            </p:cNvSpPr>
            <p:nvPr/>
          </p:nvSpPr>
          <p:spPr bwMode="auto">
            <a:xfrm>
              <a:off x="2255" y="2022"/>
              <a:ext cx="706"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Rectangle 18">
              <a:extLst>
                <a:ext uri="{FF2B5EF4-FFF2-40B4-BE49-F238E27FC236}">
                  <a16:creationId xmlns:a16="http://schemas.microsoft.com/office/drawing/2014/main" id="{0EF8B30C-1FB6-7C73-44FC-2C39DF7549A8}"/>
                </a:ext>
              </a:extLst>
            </p:cNvPr>
            <p:cNvSpPr>
              <a:spLocks noChangeArrowheads="1"/>
            </p:cNvSpPr>
            <p:nvPr/>
          </p:nvSpPr>
          <p:spPr bwMode="auto">
            <a:xfrm>
              <a:off x="2264" y="2024"/>
              <a:ext cx="12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4" name="Rectangle 50">
              <a:extLst>
                <a:ext uri="{FF2B5EF4-FFF2-40B4-BE49-F238E27FC236}">
                  <a16:creationId xmlns:a16="http://schemas.microsoft.com/office/drawing/2014/main" id="{D25297AC-6025-DA45-015A-AD5967168C02}"/>
                </a:ext>
              </a:extLst>
            </p:cNvPr>
            <p:cNvSpPr>
              <a:spLocks noChangeArrowheads="1"/>
            </p:cNvSpPr>
            <p:nvPr/>
          </p:nvSpPr>
          <p:spPr bwMode="auto">
            <a:xfrm>
              <a:off x="1533" y="1727"/>
              <a:ext cx="706" cy="135"/>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Rectangle 51">
              <a:extLst>
                <a:ext uri="{FF2B5EF4-FFF2-40B4-BE49-F238E27FC236}">
                  <a16:creationId xmlns:a16="http://schemas.microsoft.com/office/drawing/2014/main" id="{D895CA29-DE29-0BF3-3158-751FF8EC37F0}"/>
                </a:ext>
              </a:extLst>
            </p:cNvPr>
            <p:cNvSpPr>
              <a:spLocks noChangeArrowheads="1"/>
            </p:cNvSpPr>
            <p:nvPr/>
          </p:nvSpPr>
          <p:spPr bwMode="auto">
            <a:xfrm>
              <a:off x="1542"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76" name="Rectangle 52">
              <a:extLst>
                <a:ext uri="{FF2B5EF4-FFF2-40B4-BE49-F238E27FC236}">
                  <a16:creationId xmlns:a16="http://schemas.microsoft.com/office/drawing/2014/main" id="{7EFCFC16-4A98-86AC-7619-A114CF099F7D}"/>
                </a:ext>
              </a:extLst>
            </p:cNvPr>
            <p:cNvSpPr>
              <a:spLocks noChangeArrowheads="1"/>
            </p:cNvSpPr>
            <p:nvPr/>
          </p:nvSpPr>
          <p:spPr bwMode="auto">
            <a:xfrm>
              <a:off x="1608" y="1722"/>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7" name="Rectangle 53">
              <a:extLst>
                <a:ext uri="{FF2B5EF4-FFF2-40B4-BE49-F238E27FC236}">
                  <a16:creationId xmlns:a16="http://schemas.microsoft.com/office/drawing/2014/main" id="{B9712463-FD5D-ABC4-36B0-C830E76330F6}"/>
                </a:ext>
              </a:extLst>
            </p:cNvPr>
            <p:cNvSpPr>
              <a:spLocks noChangeArrowheads="1"/>
            </p:cNvSpPr>
            <p:nvPr/>
          </p:nvSpPr>
          <p:spPr bwMode="auto">
            <a:xfrm>
              <a:off x="1542" y="1800"/>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sp>
          <p:nvSpPr>
            <p:cNvPr id="278" name="Rectangle 54">
              <a:extLst>
                <a:ext uri="{FF2B5EF4-FFF2-40B4-BE49-F238E27FC236}">
                  <a16:creationId xmlns:a16="http://schemas.microsoft.com/office/drawing/2014/main" id="{8ACAB4E1-6417-0C0C-9E12-B1E8EEA4613E}"/>
                </a:ext>
              </a:extLst>
            </p:cNvPr>
            <p:cNvSpPr>
              <a:spLocks noChangeArrowheads="1"/>
            </p:cNvSpPr>
            <p:nvPr/>
          </p:nvSpPr>
          <p:spPr bwMode="auto">
            <a:xfrm>
              <a:off x="1533" y="1871"/>
              <a:ext cx="706" cy="1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Rectangle 55">
              <a:extLst>
                <a:ext uri="{FF2B5EF4-FFF2-40B4-BE49-F238E27FC236}">
                  <a16:creationId xmlns:a16="http://schemas.microsoft.com/office/drawing/2014/main" id="{7E6BE592-BF8C-8CF1-0798-04DA17C036E6}"/>
                </a:ext>
              </a:extLst>
            </p:cNvPr>
            <p:cNvSpPr>
              <a:spLocks noChangeArrowheads="1"/>
            </p:cNvSpPr>
            <p:nvPr/>
          </p:nvSpPr>
          <p:spPr bwMode="auto">
            <a:xfrm>
              <a:off x="1542"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280" name="Rectangle 56">
              <a:extLst>
                <a:ext uri="{FF2B5EF4-FFF2-40B4-BE49-F238E27FC236}">
                  <a16:creationId xmlns:a16="http://schemas.microsoft.com/office/drawing/2014/main" id="{F02A06DF-8715-F16B-5F10-11C5F2584525}"/>
                </a:ext>
              </a:extLst>
            </p:cNvPr>
            <p:cNvSpPr>
              <a:spLocks noChangeArrowheads="1"/>
            </p:cNvSpPr>
            <p:nvPr/>
          </p:nvSpPr>
          <p:spPr bwMode="auto">
            <a:xfrm>
              <a:off x="1608"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1" name="Rectangle 57">
              <a:extLst>
                <a:ext uri="{FF2B5EF4-FFF2-40B4-BE49-F238E27FC236}">
                  <a16:creationId xmlns:a16="http://schemas.microsoft.com/office/drawing/2014/main" id="{45F29D9D-6572-80B7-280A-53297335FBF7}"/>
                </a:ext>
              </a:extLst>
            </p:cNvPr>
            <p:cNvSpPr>
              <a:spLocks noChangeArrowheads="1"/>
            </p:cNvSpPr>
            <p:nvPr/>
          </p:nvSpPr>
          <p:spPr bwMode="auto">
            <a:xfrm>
              <a:off x="1542" y="1943"/>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2" name="Rectangle 58">
              <a:extLst>
                <a:ext uri="{FF2B5EF4-FFF2-40B4-BE49-F238E27FC236}">
                  <a16:creationId xmlns:a16="http://schemas.microsoft.com/office/drawing/2014/main" id="{013A62C5-A54C-C8BE-D34C-557861D50FBB}"/>
                </a:ext>
              </a:extLst>
            </p:cNvPr>
            <p:cNvSpPr>
              <a:spLocks noChangeArrowheads="1"/>
            </p:cNvSpPr>
            <p:nvPr/>
          </p:nvSpPr>
          <p:spPr bwMode="auto">
            <a:xfrm>
              <a:off x="1533" y="1582"/>
              <a:ext cx="706" cy="136"/>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Rectangle 59">
              <a:extLst>
                <a:ext uri="{FF2B5EF4-FFF2-40B4-BE49-F238E27FC236}">
                  <a16:creationId xmlns:a16="http://schemas.microsoft.com/office/drawing/2014/main" id="{A3D38249-2B2F-44FE-8004-78F738A54143}"/>
                </a:ext>
              </a:extLst>
            </p:cNvPr>
            <p:cNvSpPr>
              <a:spLocks noChangeArrowheads="1"/>
            </p:cNvSpPr>
            <p:nvPr/>
          </p:nvSpPr>
          <p:spPr bwMode="auto">
            <a:xfrm>
              <a:off x="1542"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284" name="Rectangle 60">
              <a:extLst>
                <a:ext uri="{FF2B5EF4-FFF2-40B4-BE49-F238E27FC236}">
                  <a16:creationId xmlns:a16="http://schemas.microsoft.com/office/drawing/2014/main" id="{6356C9D6-F46C-5F18-CC06-57CEDB989050}"/>
                </a:ext>
              </a:extLst>
            </p:cNvPr>
            <p:cNvSpPr>
              <a:spLocks noChangeArrowheads="1"/>
            </p:cNvSpPr>
            <p:nvPr/>
          </p:nvSpPr>
          <p:spPr bwMode="auto">
            <a:xfrm>
              <a:off x="1608"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5" name="Rectangle 61">
              <a:extLst>
                <a:ext uri="{FF2B5EF4-FFF2-40B4-BE49-F238E27FC236}">
                  <a16:creationId xmlns:a16="http://schemas.microsoft.com/office/drawing/2014/main" id="{809C64CC-0B9B-063B-F7A5-63EE36FBDCCD}"/>
                </a:ext>
              </a:extLst>
            </p:cNvPr>
            <p:cNvSpPr>
              <a:spLocks noChangeArrowheads="1"/>
            </p:cNvSpPr>
            <p:nvPr/>
          </p:nvSpPr>
          <p:spPr bwMode="auto">
            <a:xfrm>
              <a:off x="1542" y="1654"/>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6" name="Rectangle 62">
              <a:extLst>
                <a:ext uri="{FF2B5EF4-FFF2-40B4-BE49-F238E27FC236}">
                  <a16:creationId xmlns:a16="http://schemas.microsoft.com/office/drawing/2014/main" id="{94AB9329-702D-4A1F-E5A5-C3B78F016261}"/>
                </a:ext>
              </a:extLst>
            </p:cNvPr>
            <p:cNvSpPr>
              <a:spLocks noChangeArrowheads="1"/>
            </p:cNvSpPr>
            <p:nvPr/>
          </p:nvSpPr>
          <p:spPr bwMode="auto">
            <a:xfrm>
              <a:off x="1533" y="2022"/>
              <a:ext cx="707" cy="136"/>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Rectangle 63">
              <a:extLst>
                <a:ext uri="{FF2B5EF4-FFF2-40B4-BE49-F238E27FC236}">
                  <a16:creationId xmlns:a16="http://schemas.microsoft.com/office/drawing/2014/main" id="{24EB0818-3B44-BF17-FF2B-E025C738466C}"/>
                </a:ext>
              </a:extLst>
            </p:cNvPr>
            <p:cNvSpPr>
              <a:spLocks noChangeArrowheads="1"/>
            </p:cNvSpPr>
            <p:nvPr/>
          </p:nvSpPr>
          <p:spPr bwMode="auto">
            <a:xfrm>
              <a:off x="1533" y="2022"/>
              <a:ext cx="70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Rectangle 64">
              <a:extLst>
                <a:ext uri="{FF2B5EF4-FFF2-40B4-BE49-F238E27FC236}">
                  <a16:creationId xmlns:a16="http://schemas.microsoft.com/office/drawing/2014/main" id="{8D3440B3-96D8-0B26-9877-7E62CD77370D}"/>
                </a:ext>
              </a:extLst>
            </p:cNvPr>
            <p:cNvSpPr>
              <a:spLocks noChangeArrowheads="1"/>
            </p:cNvSpPr>
            <p:nvPr/>
          </p:nvSpPr>
          <p:spPr bwMode="auto">
            <a:xfrm>
              <a:off x="1542" y="2024"/>
              <a:ext cx="127"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9" name="Rectangle 65">
              <a:extLst>
                <a:ext uri="{FF2B5EF4-FFF2-40B4-BE49-F238E27FC236}">
                  <a16:creationId xmlns:a16="http://schemas.microsoft.com/office/drawing/2014/main" id="{64795BFF-26DD-4F9D-7E57-E8A3C163A079}"/>
                </a:ext>
              </a:extLst>
            </p:cNvPr>
            <p:cNvSpPr>
              <a:spLocks noChangeArrowheads="1"/>
            </p:cNvSpPr>
            <p:nvPr/>
          </p:nvSpPr>
          <p:spPr bwMode="auto">
            <a:xfrm>
              <a:off x="3698" y="1729"/>
              <a:ext cx="707" cy="13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Rectangle 66">
              <a:extLst>
                <a:ext uri="{FF2B5EF4-FFF2-40B4-BE49-F238E27FC236}">
                  <a16:creationId xmlns:a16="http://schemas.microsoft.com/office/drawing/2014/main" id="{973E90C8-2FFF-2256-D29B-6A3ABBA35099}"/>
                </a:ext>
              </a:extLst>
            </p:cNvPr>
            <p:cNvSpPr>
              <a:spLocks noChangeArrowheads="1"/>
            </p:cNvSpPr>
            <p:nvPr/>
          </p:nvSpPr>
          <p:spPr bwMode="auto">
            <a:xfrm>
              <a:off x="3707"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Rectangle 67">
              <a:extLst>
                <a:ext uri="{FF2B5EF4-FFF2-40B4-BE49-F238E27FC236}">
                  <a16:creationId xmlns:a16="http://schemas.microsoft.com/office/drawing/2014/main" id="{F146B7CE-CBC5-956E-DA0D-244A26F54704}"/>
                </a:ext>
              </a:extLst>
            </p:cNvPr>
            <p:cNvSpPr>
              <a:spLocks noChangeArrowheads="1"/>
            </p:cNvSpPr>
            <p:nvPr/>
          </p:nvSpPr>
          <p:spPr bwMode="auto">
            <a:xfrm>
              <a:off x="3773"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2" name="Rectangle 68">
              <a:extLst>
                <a:ext uri="{FF2B5EF4-FFF2-40B4-BE49-F238E27FC236}">
                  <a16:creationId xmlns:a16="http://schemas.microsoft.com/office/drawing/2014/main" id="{841A3A9C-7ABE-216A-7AAA-FC8E018652B9}"/>
                </a:ext>
              </a:extLst>
            </p:cNvPr>
            <p:cNvSpPr>
              <a:spLocks noChangeArrowheads="1"/>
            </p:cNvSpPr>
            <p:nvPr/>
          </p:nvSpPr>
          <p:spPr bwMode="auto">
            <a:xfrm>
              <a:off x="3707" y="1801"/>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93" name="Rectangle 69">
              <a:extLst>
                <a:ext uri="{FF2B5EF4-FFF2-40B4-BE49-F238E27FC236}">
                  <a16:creationId xmlns:a16="http://schemas.microsoft.com/office/drawing/2014/main" id="{B67B7695-C3C0-34B4-72B1-C7E58FF3275A}"/>
                </a:ext>
              </a:extLst>
            </p:cNvPr>
            <p:cNvSpPr>
              <a:spLocks noChangeArrowheads="1"/>
            </p:cNvSpPr>
            <p:nvPr/>
          </p:nvSpPr>
          <p:spPr bwMode="auto">
            <a:xfrm>
              <a:off x="3698" y="1873"/>
              <a:ext cx="707" cy="136"/>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Rectangle 70">
              <a:extLst>
                <a:ext uri="{FF2B5EF4-FFF2-40B4-BE49-F238E27FC236}">
                  <a16:creationId xmlns:a16="http://schemas.microsoft.com/office/drawing/2014/main" id="{F3BB6A3B-AD16-5C6E-2848-CC82A261CE5A}"/>
                </a:ext>
              </a:extLst>
            </p:cNvPr>
            <p:cNvSpPr>
              <a:spLocks noChangeArrowheads="1"/>
            </p:cNvSpPr>
            <p:nvPr/>
          </p:nvSpPr>
          <p:spPr bwMode="auto">
            <a:xfrm>
              <a:off x="3707" y="1866"/>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295" name="Rectangle 71">
              <a:extLst>
                <a:ext uri="{FF2B5EF4-FFF2-40B4-BE49-F238E27FC236}">
                  <a16:creationId xmlns:a16="http://schemas.microsoft.com/office/drawing/2014/main" id="{AF58A79C-F974-45C7-A85C-F40D9A65E853}"/>
                </a:ext>
              </a:extLst>
            </p:cNvPr>
            <p:cNvSpPr>
              <a:spLocks noChangeArrowheads="1"/>
            </p:cNvSpPr>
            <p:nvPr/>
          </p:nvSpPr>
          <p:spPr bwMode="auto">
            <a:xfrm>
              <a:off x="3773" y="1866"/>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6" name="Rectangle 72">
              <a:extLst>
                <a:ext uri="{FF2B5EF4-FFF2-40B4-BE49-F238E27FC236}">
                  <a16:creationId xmlns:a16="http://schemas.microsoft.com/office/drawing/2014/main" id="{9CAD9107-51BE-8F4A-FEBB-F3BD3DC96520}"/>
                </a:ext>
              </a:extLst>
            </p:cNvPr>
            <p:cNvSpPr>
              <a:spLocks noChangeArrowheads="1"/>
            </p:cNvSpPr>
            <p:nvPr/>
          </p:nvSpPr>
          <p:spPr bwMode="auto">
            <a:xfrm>
              <a:off x="3707" y="1944"/>
              <a:ext cx="135"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7" name="Rectangle 73">
              <a:extLst>
                <a:ext uri="{FF2B5EF4-FFF2-40B4-BE49-F238E27FC236}">
                  <a16:creationId xmlns:a16="http://schemas.microsoft.com/office/drawing/2014/main" id="{F0CA8CB9-EFF0-9A10-BBC0-A9A36D6E6ADF}"/>
                </a:ext>
              </a:extLst>
            </p:cNvPr>
            <p:cNvSpPr>
              <a:spLocks noChangeArrowheads="1"/>
            </p:cNvSpPr>
            <p:nvPr/>
          </p:nvSpPr>
          <p:spPr bwMode="auto">
            <a:xfrm>
              <a:off x="3698" y="1583"/>
              <a:ext cx="707" cy="1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Rectangle 74">
              <a:extLst>
                <a:ext uri="{FF2B5EF4-FFF2-40B4-BE49-F238E27FC236}">
                  <a16:creationId xmlns:a16="http://schemas.microsoft.com/office/drawing/2014/main" id="{CF1A989F-9EAE-5BC1-AD31-5728CD61EE81}"/>
                </a:ext>
              </a:extLst>
            </p:cNvPr>
            <p:cNvSpPr>
              <a:spLocks noChangeArrowheads="1"/>
            </p:cNvSpPr>
            <p:nvPr/>
          </p:nvSpPr>
          <p:spPr bwMode="auto">
            <a:xfrm>
              <a:off x="3707" y="1578"/>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299" name="Rectangle 75">
              <a:extLst>
                <a:ext uri="{FF2B5EF4-FFF2-40B4-BE49-F238E27FC236}">
                  <a16:creationId xmlns:a16="http://schemas.microsoft.com/office/drawing/2014/main" id="{957953AB-E9C6-D080-ADB2-1F206404C0B7}"/>
                </a:ext>
              </a:extLst>
            </p:cNvPr>
            <p:cNvSpPr>
              <a:spLocks noChangeArrowheads="1"/>
            </p:cNvSpPr>
            <p:nvPr/>
          </p:nvSpPr>
          <p:spPr bwMode="auto">
            <a:xfrm>
              <a:off x="3773" y="1578"/>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0" name="Rectangle 76">
              <a:extLst>
                <a:ext uri="{FF2B5EF4-FFF2-40B4-BE49-F238E27FC236}">
                  <a16:creationId xmlns:a16="http://schemas.microsoft.com/office/drawing/2014/main" id="{D3F9BD24-BF97-98DF-7799-FF5527E1F0E4}"/>
                </a:ext>
              </a:extLst>
            </p:cNvPr>
            <p:cNvSpPr>
              <a:spLocks noChangeArrowheads="1"/>
            </p:cNvSpPr>
            <p:nvPr/>
          </p:nvSpPr>
          <p:spPr bwMode="auto">
            <a:xfrm>
              <a:off x="3707" y="1655"/>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Rectangle 80">
              <a:extLst>
                <a:ext uri="{FF2B5EF4-FFF2-40B4-BE49-F238E27FC236}">
                  <a16:creationId xmlns:a16="http://schemas.microsoft.com/office/drawing/2014/main" id="{D9F904A4-74AE-C098-E989-4C11A3671B63}"/>
                </a:ext>
              </a:extLst>
            </p:cNvPr>
            <p:cNvSpPr>
              <a:spLocks noChangeArrowheads="1"/>
            </p:cNvSpPr>
            <p:nvPr/>
          </p:nvSpPr>
          <p:spPr bwMode="auto">
            <a:xfrm>
              <a:off x="2981" y="1438"/>
              <a:ext cx="1423" cy="135"/>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Rectangle 81">
              <a:extLst>
                <a:ext uri="{FF2B5EF4-FFF2-40B4-BE49-F238E27FC236}">
                  <a16:creationId xmlns:a16="http://schemas.microsoft.com/office/drawing/2014/main" id="{86561027-5502-5CBF-CC1E-E9283F7A3EA8}"/>
                </a:ext>
              </a:extLst>
            </p:cNvPr>
            <p:cNvSpPr>
              <a:spLocks noChangeArrowheads="1"/>
            </p:cNvSpPr>
            <p:nvPr/>
          </p:nvSpPr>
          <p:spPr bwMode="auto">
            <a:xfrm>
              <a:off x="2977" y="1437"/>
              <a:ext cx="1427"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82">
              <a:extLst>
                <a:ext uri="{FF2B5EF4-FFF2-40B4-BE49-F238E27FC236}">
                  <a16:creationId xmlns:a16="http://schemas.microsoft.com/office/drawing/2014/main" id="{815862B1-E237-764F-DF2A-70DEC4B6F67A}"/>
                </a:ext>
              </a:extLst>
            </p:cNvPr>
            <p:cNvSpPr>
              <a:spLocks noEditPoints="1"/>
            </p:cNvSpPr>
            <p:nvPr/>
          </p:nvSpPr>
          <p:spPr bwMode="auto">
            <a:xfrm>
              <a:off x="2978" y="1437"/>
              <a:ext cx="1427" cy="136"/>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Rectangle 83">
              <a:extLst>
                <a:ext uri="{FF2B5EF4-FFF2-40B4-BE49-F238E27FC236}">
                  <a16:creationId xmlns:a16="http://schemas.microsoft.com/office/drawing/2014/main" id="{F8634574-E07B-D28B-BCBE-E63D6F2B0F02}"/>
                </a:ext>
              </a:extLst>
            </p:cNvPr>
            <p:cNvSpPr>
              <a:spLocks noChangeArrowheads="1"/>
            </p:cNvSpPr>
            <p:nvPr/>
          </p:nvSpPr>
          <p:spPr bwMode="auto">
            <a:xfrm>
              <a:off x="2978" y="1437"/>
              <a:ext cx="1426"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Rectangle 84">
              <a:extLst>
                <a:ext uri="{FF2B5EF4-FFF2-40B4-BE49-F238E27FC236}">
                  <a16:creationId xmlns:a16="http://schemas.microsoft.com/office/drawing/2014/main" id="{12699538-90CB-E2BB-A02E-9CAD1104357C}"/>
                </a:ext>
              </a:extLst>
            </p:cNvPr>
            <p:cNvSpPr>
              <a:spLocks noChangeArrowheads="1"/>
            </p:cNvSpPr>
            <p:nvPr/>
          </p:nvSpPr>
          <p:spPr bwMode="auto">
            <a:xfrm>
              <a:off x="2989" y="1440"/>
              <a:ext cx="31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6" name="Rectangle 85">
              <a:extLst>
                <a:ext uri="{FF2B5EF4-FFF2-40B4-BE49-F238E27FC236}">
                  <a16:creationId xmlns:a16="http://schemas.microsoft.com/office/drawing/2014/main" id="{6FAB69FC-8CE4-AC4F-FDDF-81B46D7C1E11}"/>
                </a:ext>
              </a:extLst>
            </p:cNvPr>
            <p:cNvSpPr>
              <a:spLocks noChangeArrowheads="1"/>
            </p:cNvSpPr>
            <p:nvPr/>
          </p:nvSpPr>
          <p:spPr bwMode="auto">
            <a:xfrm>
              <a:off x="2989" y="1508"/>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 name="Rectangle 86">
              <a:extLst>
                <a:ext uri="{FF2B5EF4-FFF2-40B4-BE49-F238E27FC236}">
                  <a16:creationId xmlns:a16="http://schemas.microsoft.com/office/drawing/2014/main" id="{0B6C3A35-3676-F821-8B84-E8FCD2D7AEB0}"/>
                </a:ext>
              </a:extLst>
            </p:cNvPr>
            <p:cNvSpPr>
              <a:spLocks noChangeArrowheads="1"/>
            </p:cNvSpPr>
            <p:nvPr/>
          </p:nvSpPr>
          <p:spPr bwMode="auto">
            <a:xfrm>
              <a:off x="2977" y="1730"/>
              <a:ext cx="706" cy="136"/>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Rectangle 87">
              <a:extLst>
                <a:ext uri="{FF2B5EF4-FFF2-40B4-BE49-F238E27FC236}">
                  <a16:creationId xmlns:a16="http://schemas.microsoft.com/office/drawing/2014/main" id="{E31C635C-F918-E83E-41BB-6A05312AF804}"/>
                </a:ext>
              </a:extLst>
            </p:cNvPr>
            <p:cNvSpPr>
              <a:spLocks noChangeArrowheads="1"/>
            </p:cNvSpPr>
            <p:nvPr/>
          </p:nvSpPr>
          <p:spPr bwMode="auto">
            <a:xfrm>
              <a:off x="2985"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9" name="Rectangle 88">
              <a:extLst>
                <a:ext uri="{FF2B5EF4-FFF2-40B4-BE49-F238E27FC236}">
                  <a16:creationId xmlns:a16="http://schemas.microsoft.com/office/drawing/2014/main" id="{C72C7396-887D-00AF-02FC-A8E598F00631}"/>
                </a:ext>
              </a:extLst>
            </p:cNvPr>
            <p:cNvSpPr>
              <a:spLocks noChangeArrowheads="1"/>
            </p:cNvSpPr>
            <p:nvPr/>
          </p:nvSpPr>
          <p:spPr bwMode="auto">
            <a:xfrm>
              <a:off x="2985" y="1803"/>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310" name="Rectangle 89">
              <a:extLst>
                <a:ext uri="{FF2B5EF4-FFF2-40B4-BE49-F238E27FC236}">
                  <a16:creationId xmlns:a16="http://schemas.microsoft.com/office/drawing/2014/main" id="{D30DD6FD-51EB-19EC-8510-E1C9AF53735B}"/>
                </a:ext>
              </a:extLst>
            </p:cNvPr>
            <p:cNvSpPr>
              <a:spLocks noChangeArrowheads="1"/>
            </p:cNvSpPr>
            <p:nvPr/>
          </p:nvSpPr>
          <p:spPr bwMode="auto">
            <a:xfrm>
              <a:off x="2977" y="1875"/>
              <a:ext cx="706" cy="135"/>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Rectangle 90">
              <a:extLst>
                <a:ext uri="{FF2B5EF4-FFF2-40B4-BE49-F238E27FC236}">
                  <a16:creationId xmlns:a16="http://schemas.microsoft.com/office/drawing/2014/main" id="{FA8D36D1-67FD-B784-519E-C36BEA31B3C5}"/>
                </a:ext>
              </a:extLst>
            </p:cNvPr>
            <p:cNvSpPr>
              <a:spLocks noChangeArrowheads="1"/>
            </p:cNvSpPr>
            <p:nvPr/>
          </p:nvSpPr>
          <p:spPr bwMode="auto">
            <a:xfrm>
              <a:off x="2985" y="1869"/>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312" name="Rectangle 91">
              <a:extLst>
                <a:ext uri="{FF2B5EF4-FFF2-40B4-BE49-F238E27FC236}">
                  <a16:creationId xmlns:a16="http://schemas.microsoft.com/office/drawing/2014/main" id="{A2790CC1-ECD3-C2AA-C63A-83B06BB562FD}"/>
                </a:ext>
              </a:extLst>
            </p:cNvPr>
            <p:cNvSpPr>
              <a:spLocks noChangeArrowheads="1"/>
            </p:cNvSpPr>
            <p:nvPr/>
          </p:nvSpPr>
          <p:spPr bwMode="auto">
            <a:xfrm>
              <a:off x="3051" y="1869"/>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92">
              <a:extLst>
                <a:ext uri="{FF2B5EF4-FFF2-40B4-BE49-F238E27FC236}">
                  <a16:creationId xmlns:a16="http://schemas.microsoft.com/office/drawing/2014/main" id="{C2F74C0D-75FA-B70A-ED71-3CFA807964B4}"/>
                </a:ext>
              </a:extLst>
            </p:cNvPr>
            <p:cNvSpPr>
              <a:spLocks noChangeArrowheads="1"/>
            </p:cNvSpPr>
            <p:nvPr/>
          </p:nvSpPr>
          <p:spPr bwMode="auto">
            <a:xfrm>
              <a:off x="2985" y="1946"/>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Rectangle 93">
              <a:extLst>
                <a:ext uri="{FF2B5EF4-FFF2-40B4-BE49-F238E27FC236}">
                  <a16:creationId xmlns:a16="http://schemas.microsoft.com/office/drawing/2014/main" id="{4B629030-A380-3E24-758E-F1D167C23086}"/>
                </a:ext>
              </a:extLst>
            </p:cNvPr>
            <p:cNvSpPr>
              <a:spLocks noChangeArrowheads="1"/>
            </p:cNvSpPr>
            <p:nvPr/>
          </p:nvSpPr>
          <p:spPr bwMode="auto">
            <a:xfrm>
              <a:off x="2977" y="1586"/>
              <a:ext cx="706" cy="135"/>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5" name="Rectangle 94">
              <a:extLst>
                <a:ext uri="{FF2B5EF4-FFF2-40B4-BE49-F238E27FC236}">
                  <a16:creationId xmlns:a16="http://schemas.microsoft.com/office/drawing/2014/main" id="{6D81EE59-1E06-6AAB-A8EE-80D567AE752D}"/>
                </a:ext>
              </a:extLst>
            </p:cNvPr>
            <p:cNvSpPr>
              <a:spLocks noChangeArrowheads="1"/>
            </p:cNvSpPr>
            <p:nvPr/>
          </p:nvSpPr>
          <p:spPr bwMode="auto">
            <a:xfrm>
              <a:off x="2985" y="1580"/>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316" name="Rectangle 95">
              <a:extLst>
                <a:ext uri="{FF2B5EF4-FFF2-40B4-BE49-F238E27FC236}">
                  <a16:creationId xmlns:a16="http://schemas.microsoft.com/office/drawing/2014/main" id="{6AD9F2DD-3CC6-E096-A24F-323DA0D326AD}"/>
                </a:ext>
              </a:extLst>
            </p:cNvPr>
            <p:cNvSpPr>
              <a:spLocks noChangeArrowheads="1"/>
            </p:cNvSpPr>
            <p:nvPr/>
          </p:nvSpPr>
          <p:spPr bwMode="auto">
            <a:xfrm>
              <a:off x="3051" y="1580"/>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7" name="Rectangle 96">
              <a:extLst>
                <a:ext uri="{FF2B5EF4-FFF2-40B4-BE49-F238E27FC236}">
                  <a16:creationId xmlns:a16="http://schemas.microsoft.com/office/drawing/2014/main" id="{AFB34C5D-AB21-1047-2C41-96AAFC6CF230}"/>
                </a:ext>
              </a:extLst>
            </p:cNvPr>
            <p:cNvSpPr>
              <a:spLocks noChangeArrowheads="1"/>
            </p:cNvSpPr>
            <p:nvPr/>
          </p:nvSpPr>
          <p:spPr bwMode="auto">
            <a:xfrm>
              <a:off x="2985" y="1658"/>
              <a:ext cx="1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8" name="Rectangle 97">
              <a:extLst>
                <a:ext uri="{FF2B5EF4-FFF2-40B4-BE49-F238E27FC236}">
                  <a16:creationId xmlns:a16="http://schemas.microsoft.com/office/drawing/2014/main" id="{577AD0A0-7F00-AA4F-1B1B-61CFE55F937D}"/>
                </a:ext>
              </a:extLst>
            </p:cNvPr>
            <p:cNvSpPr>
              <a:spLocks noChangeArrowheads="1"/>
            </p:cNvSpPr>
            <p:nvPr/>
          </p:nvSpPr>
          <p:spPr bwMode="auto">
            <a:xfrm>
              <a:off x="2976" y="2023"/>
              <a:ext cx="1428" cy="1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9" name="Rectangle 98">
              <a:extLst>
                <a:ext uri="{FF2B5EF4-FFF2-40B4-BE49-F238E27FC236}">
                  <a16:creationId xmlns:a16="http://schemas.microsoft.com/office/drawing/2014/main" id="{AEE8AF68-7485-0DA2-1E8F-EA9EFEEF18D2}"/>
                </a:ext>
              </a:extLst>
            </p:cNvPr>
            <p:cNvSpPr>
              <a:spLocks noChangeArrowheads="1"/>
            </p:cNvSpPr>
            <p:nvPr/>
          </p:nvSpPr>
          <p:spPr bwMode="auto">
            <a:xfrm>
              <a:off x="2977" y="2024"/>
              <a:ext cx="142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Rectangle 99">
              <a:extLst>
                <a:ext uri="{FF2B5EF4-FFF2-40B4-BE49-F238E27FC236}">
                  <a16:creationId xmlns:a16="http://schemas.microsoft.com/office/drawing/2014/main" id="{00A4FA1A-2972-8EFD-C7DB-916888D02231}"/>
                </a:ext>
              </a:extLst>
            </p:cNvPr>
            <p:cNvSpPr>
              <a:spLocks noChangeArrowheads="1"/>
            </p:cNvSpPr>
            <p:nvPr/>
          </p:nvSpPr>
          <p:spPr bwMode="auto">
            <a:xfrm>
              <a:off x="2985" y="2028"/>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21" name="Rectangle 100">
              <a:extLst>
                <a:ext uri="{FF2B5EF4-FFF2-40B4-BE49-F238E27FC236}">
                  <a16:creationId xmlns:a16="http://schemas.microsoft.com/office/drawing/2014/main" id="{E02AE344-8FCD-07A4-1035-21E5745797EA}"/>
                </a:ext>
              </a:extLst>
            </p:cNvPr>
            <p:cNvSpPr>
              <a:spLocks noChangeArrowheads="1"/>
            </p:cNvSpPr>
            <p:nvPr/>
          </p:nvSpPr>
          <p:spPr bwMode="auto">
            <a:xfrm>
              <a:off x="1532" y="1439"/>
              <a:ext cx="1430" cy="136"/>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2" name="Rectangle 101">
              <a:extLst>
                <a:ext uri="{FF2B5EF4-FFF2-40B4-BE49-F238E27FC236}">
                  <a16:creationId xmlns:a16="http://schemas.microsoft.com/office/drawing/2014/main" id="{A8F0A57D-3D77-F52A-CEE5-C300AC719E97}"/>
                </a:ext>
              </a:extLst>
            </p:cNvPr>
            <p:cNvSpPr>
              <a:spLocks noChangeArrowheads="1"/>
            </p:cNvSpPr>
            <p:nvPr/>
          </p:nvSpPr>
          <p:spPr bwMode="auto">
            <a:xfrm>
              <a:off x="1532" y="1439"/>
              <a:ext cx="1429"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3" name="Rectangle 102">
              <a:extLst>
                <a:ext uri="{FF2B5EF4-FFF2-40B4-BE49-F238E27FC236}">
                  <a16:creationId xmlns:a16="http://schemas.microsoft.com/office/drawing/2014/main" id="{34755F26-EC65-BC3C-F00F-5952873E93B5}"/>
                </a:ext>
              </a:extLst>
            </p:cNvPr>
            <p:cNvSpPr>
              <a:spLocks noChangeArrowheads="1"/>
            </p:cNvSpPr>
            <p:nvPr/>
          </p:nvSpPr>
          <p:spPr bwMode="auto">
            <a:xfrm>
              <a:off x="1541" y="1435"/>
              <a:ext cx="38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4" name="Rectangle 103">
              <a:extLst>
                <a:ext uri="{FF2B5EF4-FFF2-40B4-BE49-F238E27FC236}">
                  <a16:creationId xmlns:a16="http://schemas.microsoft.com/office/drawing/2014/main" id="{B81AAAC1-86AE-E75F-941C-AB9A2CF58E0B}"/>
                </a:ext>
              </a:extLst>
            </p:cNvPr>
            <p:cNvSpPr>
              <a:spLocks noChangeArrowheads="1"/>
            </p:cNvSpPr>
            <p:nvPr/>
          </p:nvSpPr>
          <p:spPr bwMode="auto">
            <a:xfrm>
              <a:off x="1541" y="1502"/>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Rectangle 14">
              <a:extLst>
                <a:ext uri="{FF2B5EF4-FFF2-40B4-BE49-F238E27FC236}">
                  <a16:creationId xmlns:a16="http://schemas.microsoft.com/office/drawing/2014/main" id="{EB0437A5-6694-879B-F94E-9FA34DFD9D2C}"/>
                </a:ext>
              </a:extLst>
            </p:cNvPr>
            <p:cNvSpPr>
              <a:spLocks noChangeArrowheads="1"/>
            </p:cNvSpPr>
            <p:nvPr/>
          </p:nvSpPr>
          <p:spPr bwMode="auto">
            <a:xfrm>
              <a:off x="2329" y="1724"/>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6" name="Rectangle 95">
              <a:extLst>
                <a:ext uri="{FF2B5EF4-FFF2-40B4-BE49-F238E27FC236}">
                  <a16:creationId xmlns:a16="http://schemas.microsoft.com/office/drawing/2014/main" id="{7CF198F9-1D72-F8CC-3A2E-9B2DAE529DAF}"/>
                </a:ext>
              </a:extLst>
            </p:cNvPr>
            <p:cNvSpPr>
              <a:spLocks noChangeArrowheads="1"/>
            </p:cNvSpPr>
            <p:nvPr/>
          </p:nvSpPr>
          <p:spPr bwMode="auto">
            <a:xfrm>
              <a:off x="3051"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516608941"/>
      </p:ext>
    </p:extLst>
  </p:cSld>
  <p:clrMap bg1="lt1" tx1="dk1" bg2="lt2" tx2="dk2" accent1="accent1" accent2="accent2" accent3="accent3" accent4="accent4" accent5="accent5" accent6="accent6" hlink="hlink" folHlink="folHlink"/>
  <p:sldLayoutIdLst>
    <p:sldLayoutId id="2147484974" r:id="rId1"/>
    <p:sldLayoutId id="2147484975" r:id="rId2"/>
    <p:sldLayoutId id="2147484976" r:id="rId3"/>
    <p:sldLayoutId id="2147484977" r:id="rId4"/>
    <p:sldLayoutId id="2147484978" r:id="rId5"/>
    <p:sldLayoutId id="2147484979" r:id="rId6"/>
    <p:sldLayoutId id="2147484980" r:id="rId7"/>
    <p:sldLayoutId id="2147484981" r:id="rId8"/>
    <p:sldLayoutId id="2147484982" r:id="rId9"/>
    <p:sldLayoutId id="2147484983" r:id="rId10"/>
    <p:sldLayoutId id="2147484984" r:id="rId11"/>
    <p:sldLayoutId id="2147484985" r:id="rId12"/>
    <p:sldLayoutId id="2147484986" r:id="rId13"/>
    <p:sldLayoutId id="2147484987" r:id="rId14"/>
    <p:sldLayoutId id="2147484988" r:id="rId15"/>
    <p:sldLayoutId id="2147484989" r:id="rId16"/>
    <p:sldLayoutId id="2147484990" r:id="rId17"/>
    <p:sldLayoutId id="2147484991" r:id="rId18"/>
    <p:sldLayoutId id="2147484992" r:id="rId19"/>
    <p:sldLayoutId id="2147484993" r:id="rId20"/>
    <p:sldLayoutId id="2147484994" r:id="rId21"/>
    <p:sldLayoutId id="2147484995" r:id="rId22"/>
    <p:sldLayoutId id="2147484996" r:id="rId23"/>
    <p:sldLayoutId id="2147484997" r:id="rId24"/>
    <p:sldLayoutId id="2147484998" r:id="rId25"/>
    <p:sldLayoutId id="2147484999" r:id="rId26"/>
    <p:sldLayoutId id="2147485000" r:id="rId27"/>
    <p:sldLayoutId id="2147485001" r:id="rId28"/>
    <p:sldLayoutId id="2147485002" r:id="rId29"/>
    <p:sldLayoutId id="2147485003" r:id="rId30"/>
    <p:sldLayoutId id="2147485004" r:id="rId31"/>
    <p:sldLayoutId id="2147485005" r:id="rId32"/>
    <p:sldLayoutId id="2147485006" r:id="rId33"/>
    <p:sldLayoutId id="2147485007" r:id="rId34"/>
    <p:sldLayoutId id="2147485008" r:id="rId35"/>
    <p:sldLayoutId id="2147485009" r:id="rId36"/>
    <p:sldLayoutId id="2147485010" r:id="rId37"/>
    <p:sldLayoutId id="2147485011" r:id="rId38"/>
    <p:sldLayoutId id="2147485012" r:id="rId39"/>
    <p:sldLayoutId id="2147485013" r:id="rId40"/>
    <p:sldLayoutId id="2147485014" r:id="rId41"/>
    <p:sldLayoutId id="2147485015" r:id="rId42"/>
    <p:sldLayoutId id="2147485016" r:id="rId43"/>
    <p:sldLayoutId id="2147485017" r:id="rId44"/>
    <p:sldLayoutId id="2147485018" r:id="rId45"/>
    <p:sldLayoutId id="2147485019" r:id="rId46"/>
    <p:sldLayoutId id="2147485020" r:id="rId47"/>
    <p:sldLayoutId id="2147485021" r:id="rId48"/>
    <p:sldLayoutId id="2147485022" r:id="rId49"/>
    <p:sldLayoutId id="2147485023" r:id="rId50"/>
    <p:sldLayoutId id="2147485024" r:id="rId51"/>
    <p:sldLayoutId id="2147485025" r:id="rId52"/>
    <p:sldLayoutId id="2147485026" r:id="rId53"/>
    <p:sldLayoutId id="2147485027" r:id="rId54"/>
    <p:sldLayoutId id="2147485028" r:id="rId55"/>
    <p:sldLayoutId id="2147485029" r:id="rId56"/>
    <p:sldLayoutId id="2147485030" r:id="rId57"/>
    <p:sldLayoutId id="2147485031" r:id="rId58"/>
    <p:sldLayoutId id="2147485032" r:id="rId59"/>
    <p:sldLayoutId id="2147485033" r:id="rId60"/>
    <p:sldLayoutId id="2147485034" r:id="rId61"/>
    <p:sldLayoutId id="2147485035" r:id="rId62"/>
    <p:sldLayoutId id="2147485036" r:id="rId63"/>
    <p:sldLayoutId id="2147485037" r:id="rId64"/>
    <p:sldLayoutId id="2147485038" r:id="rId65"/>
    <p:sldLayoutId id="2147485039" r:id="rId66"/>
    <p:sldLayoutId id="2147485040" r:id="rId67"/>
    <p:sldLayoutId id="2147485041" r:id="rId68"/>
    <p:sldLayoutId id="2147485042" r:id="rId69"/>
    <p:sldLayoutId id="2147485043" r:id="rId70"/>
    <p:sldLayoutId id="2147485044" r:id="rId71"/>
    <p:sldLayoutId id="2147485045" r:id="rId72"/>
    <p:sldLayoutId id="2147485046" r:id="rId73"/>
    <p:sldLayoutId id="2147485047" r:id="rId74"/>
    <p:sldLayoutId id="2147485048" r:id="rId75"/>
    <p:sldLayoutId id="2147485049" r:id="rId76"/>
    <p:sldLayoutId id="2147485050" r:id="rId77"/>
    <p:sldLayoutId id="2147485051" r:id="rId78"/>
    <p:sldLayoutId id="2147485052" r:id="rId79"/>
    <p:sldLayoutId id="2147485053" r:id="rId80"/>
    <p:sldLayoutId id="2147485054" r:id="rId81"/>
    <p:sldLayoutId id="2147485055" r:id="rId82"/>
    <p:sldLayoutId id="2147485056" r:id="rId83"/>
    <p:sldLayoutId id="2147485057" r:id="rId8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2800" kern="1200" spc="0" baseline="0" dirty="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47.svg"/><Relationship Id="rId5" Type="http://schemas.openxmlformats.org/officeDocument/2006/relationships/image" Target="../media/image46.svg"/><Relationship Id="rId10" Type="http://schemas.openxmlformats.org/officeDocument/2006/relationships/image" Target="../media/image51.svg"/><Relationship Id="rId19" Type="http://schemas.openxmlformats.org/officeDocument/2006/relationships/image" Target="../media/image190.png"/><Relationship Id="rId4" Type="http://schemas.openxmlformats.org/officeDocument/2006/relationships/image" Target="../media/image45.svg"/><Relationship Id="rId9" Type="http://schemas.openxmlformats.org/officeDocument/2006/relationships/image" Target="../media/image50.svg"/></Relationships>
</file>

<file path=ppt/slides/_rels/slide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21" Type="http://schemas.openxmlformats.org/officeDocument/2006/relationships/image" Target="../media/image53.svg"/><Relationship Id="rId7" Type="http://schemas.openxmlformats.org/officeDocument/2006/relationships/image" Target="../media/image50.svg"/><Relationship Id="rId2" Type="http://schemas.openxmlformats.org/officeDocument/2006/relationships/notesSlide" Target="../notesSlides/notesSlide3.xml"/><Relationship Id="rId20" Type="http://schemas.openxmlformats.org/officeDocument/2006/relationships/image" Target="../media/image52.svg"/><Relationship Id="rId1" Type="http://schemas.openxmlformats.org/officeDocument/2006/relationships/slideLayout" Target="../slideLayouts/slideLayout28.xml"/><Relationship Id="rId6" Type="http://schemas.openxmlformats.org/officeDocument/2006/relationships/image" Target="../media/image49.svg"/><Relationship Id="rId5" Type="http://schemas.openxmlformats.org/officeDocument/2006/relationships/image" Target="../media/image48.svg"/><Relationship Id="rId19" Type="http://schemas.openxmlformats.org/officeDocument/2006/relationships/image" Target="../media/image190.png"/><Relationship Id="rId4" Type="http://schemas.openxmlformats.org/officeDocument/2006/relationships/image" Target="../media/image4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9.xml"/><Relationship Id="rId4" Type="http://schemas.openxmlformats.org/officeDocument/2006/relationships/image" Target="../media/image56.svg"/></Relationships>
</file>

<file path=ppt/slides/_rels/slide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svg"/><Relationship Id="rId1" Type="http://schemas.openxmlformats.org/officeDocument/2006/relationships/slideLayout" Target="../slideLayouts/slideLayout9.xml"/><Relationship Id="rId4" Type="http://schemas.openxmlformats.org/officeDocument/2006/relationships/image" Target="../media/image59.svg"/></Relationships>
</file>

<file path=ppt/slides/_rels/slide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slideLayout" Target="../slideLayouts/slideLayout9.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go.microsoft.com/fwlink/?linkid=2352649" TargetMode="External"/><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0.svg"/><Relationship Id="rId1" Type="http://schemas.openxmlformats.org/officeDocument/2006/relationships/slideLayout" Target="../slideLayouts/slideLayout9.xml"/><Relationship Id="rId6" Type="http://schemas.openxmlformats.org/officeDocument/2006/relationships/image" Target="../media/image70.svg"/><Relationship Id="rId5" Type="http://schemas.openxmlformats.org/officeDocument/2006/relationships/image" Target="../media/image69.svg"/><Relationship Id="rId4" Type="http://schemas.openxmlformats.org/officeDocument/2006/relationships/image" Target="../media/image68.svg"/></Relationships>
</file>

<file path=ppt/slides/_rels/slide15.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svg"/><Relationship Id="rId1" Type="http://schemas.openxmlformats.org/officeDocument/2006/relationships/slideLayout" Target="../slideLayouts/slideLayout9.xml"/><Relationship Id="rId4" Type="http://schemas.openxmlformats.org/officeDocument/2006/relationships/image" Target="../media/image75.svg"/></Relationships>
</file>

<file path=ppt/slides/_rels/slide16.xml.rels><?xml version="1.0" encoding="UTF-8" standalone="yes"?>
<Relationships xmlns="http://schemas.openxmlformats.org/package/2006/relationships"><Relationship Id="rId3" Type="http://schemas.openxmlformats.org/officeDocument/2006/relationships/hyperlink" Target="https://go.microsoft.com/fwlink/?linkid=2353623" TargetMode="External"/><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77.svg"/><Relationship Id="rId4" Type="http://schemas.openxmlformats.org/officeDocument/2006/relationships/image" Target="../media/image6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hyperlink" Target="https://go.microsoft.com/fwlink/?linkid=2353400" TargetMode="External"/><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svg"/><Relationship Id="rId7" Type="http://schemas.openxmlformats.org/officeDocument/2006/relationships/image" Target="../media/image82.sv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 Id="rId9" Type="http://schemas.openxmlformats.org/officeDocument/2006/relationships/image" Target="../media/image8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sv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89.svg"/><Relationship Id="rId4" Type="http://schemas.openxmlformats.org/officeDocument/2006/relationships/image" Target="../media/image88.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hyperlink" Target="https://go.microsoft.com/fwlink/?linkid=2347700" TargetMode="External"/><Relationship Id="rId2" Type="http://schemas.openxmlformats.org/officeDocument/2006/relationships/notesSlide" Target="../notesSlides/notesSlide18.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hyperlink" Target="https://go.microsoft.com/fwlink/?linkid=2352775" TargetMode="External"/><Relationship Id="rId2" Type="http://schemas.openxmlformats.org/officeDocument/2006/relationships/notesSlide" Target="../notesSlides/notesSlide21.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91.sv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hyperlink" Target="https://go.microsoft.com/fwlink/?linkid=2353408" TargetMode="External"/><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svg"/><Relationship Id="rId7" Type="http://schemas.openxmlformats.org/officeDocument/2006/relationships/image" Target="../media/image96.sv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95.svg"/><Relationship Id="rId5" Type="http://schemas.openxmlformats.org/officeDocument/2006/relationships/image" Target="../media/image94.svg"/><Relationship Id="rId4" Type="http://schemas.openxmlformats.org/officeDocument/2006/relationships/image" Target="../media/image93.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hyperlink" Target="https://go.microsoft.com/fwlink/?linkid=2353605" TargetMode="External"/><Relationship Id="rId2" Type="http://schemas.openxmlformats.org/officeDocument/2006/relationships/notesSlide" Target="../notesSlides/notesSlide28.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hyperlink" Target="https://go.microsoft.com/fwlink/?linkid=2353606" TargetMode="External"/><Relationship Id="rId2" Type="http://schemas.openxmlformats.org/officeDocument/2006/relationships/notesSlide" Target="../notesSlides/notesSlide36.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2" y="3429000"/>
            <a:ext cx="5686955" cy="1231106"/>
          </a:xfrm>
        </p:spPr>
        <p:txBody>
          <a:bodyPr/>
          <a:lstStyle/>
          <a:p>
            <a:r>
              <a:rPr lang="en-US" dirty="0"/>
              <a:t>Develop AI Agents on Azure</a:t>
            </a:r>
          </a:p>
        </p:txBody>
      </p:sp>
      <p:sp>
        <p:nvSpPr>
          <p:cNvPr id="26" name="Footer Placeholder 25">
            <a:extLst>
              <a:ext uri="{FF2B5EF4-FFF2-40B4-BE49-F238E27FC236}">
                <a16:creationId xmlns:a16="http://schemas.microsoft.com/office/drawing/2014/main" id="{8963EE6A-7DC5-CE7E-2AD5-B8FC6E39564F}"/>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p:txBody>
          <a:bodyPr/>
          <a:lstStyle/>
          <a:p>
            <a:endParaRPr lang="en-US"/>
          </a:p>
        </p:txBody>
      </p:sp>
      <p:sp>
        <p:nvSpPr>
          <p:cNvPr id="2" name="TextBox 1">
            <a:extLst>
              <a:ext uri="{FF2B5EF4-FFF2-40B4-BE49-F238E27FC236}">
                <a16:creationId xmlns:a16="http://schemas.microsoft.com/office/drawing/2014/main" id="{030FD8D8-5D8E-A5F3-6683-CFD385DCEFC6}"/>
              </a:ext>
            </a:extLst>
          </p:cNvPr>
          <p:cNvSpPr txBox="1"/>
          <p:nvPr/>
        </p:nvSpPr>
        <p:spPr>
          <a:xfrm>
            <a:off x="497342" y="4660106"/>
            <a:ext cx="6096000" cy="369332"/>
          </a:xfrm>
          <a:prstGeom prst="rect">
            <a:avLst/>
          </a:prstGeom>
          <a:noFill/>
        </p:spPr>
        <p:txBody>
          <a:bodyPr wrap="square">
            <a:spAutoFit/>
          </a:bodyPr>
          <a:lstStyle/>
          <a:p>
            <a:r>
              <a:rPr lang="en-US" sz="1770" dirty="0">
                <a:solidFill>
                  <a:schemeClr val="accent2"/>
                </a:solidFill>
              </a:rPr>
              <a:t>https://aka.ms/mslearn-develop-ai-agents</a:t>
            </a: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grpSp>
        <p:nvGrpSpPr>
          <p:cNvPr id="2" name="Group 1">
            <a:extLst>
              <a:ext uri="{FF2B5EF4-FFF2-40B4-BE49-F238E27FC236}">
                <a16:creationId xmlns:a16="http://schemas.microsoft.com/office/drawing/2014/main" id="{504EB00B-F7EA-F0F8-612D-4D74FCA81CCE}"/>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4" name="Group 3" descr="Generative AI.">
              <a:extLst>
                <a:ext uri="{FF2B5EF4-FFF2-40B4-BE49-F238E27FC236}">
                  <a16:creationId xmlns:a16="http://schemas.microsoft.com/office/drawing/2014/main" id="{1A586F1A-782C-0FDE-47CE-78790E1D35C3}"/>
                </a:ext>
              </a:extLst>
            </p:cNvPr>
            <p:cNvGrpSpPr/>
            <p:nvPr/>
          </p:nvGrpSpPr>
          <p:grpSpPr>
            <a:xfrm>
              <a:off x="636270" y="1878796"/>
              <a:ext cx="2103120" cy="2293814"/>
              <a:chOff x="636270" y="2540945"/>
              <a:chExt cx="2103120" cy="2293814"/>
            </a:xfrm>
          </p:grpSpPr>
          <p:sp>
            <p:nvSpPr>
              <p:cNvPr id="7" name="Rectangle 6" descr="Generative AI">
                <a:extLst>
                  <a:ext uri="{FF2B5EF4-FFF2-40B4-BE49-F238E27FC236}">
                    <a16:creationId xmlns:a16="http://schemas.microsoft.com/office/drawing/2014/main" id="{DD30944E-DBF6-4FFA-6EF8-B824138F6F79}"/>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8" name="Graphic 7" descr="Chat with solid fill">
                <a:extLst>
                  <a:ext uri="{FF2B5EF4-FFF2-40B4-BE49-F238E27FC236}">
                    <a16:creationId xmlns:a16="http://schemas.microsoft.com/office/drawing/2014/main" id="{06EF438B-2B7B-79EA-3019-6091645647B9}"/>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1115305" y="2540945"/>
                <a:ext cx="1143231" cy="1143231"/>
              </a:xfrm>
              <a:prstGeom prst="rect">
                <a:avLst/>
              </a:prstGeom>
            </p:spPr>
          </p:pic>
        </p:grpSp>
        <p:pic>
          <p:nvPicPr>
            <p:cNvPr id="6" name="Graphic 5" descr="Robot with solid fill">
              <a:extLst>
                <a:ext uri="{FF2B5EF4-FFF2-40B4-BE49-F238E27FC236}">
                  <a16:creationId xmlns:a16="http://schemas.microsoft.com/office/drawing/2014/main" id="{128D853D-5ECA-C54A-93EB-A69143F73C18}"/>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1267584" y="2813173"/>
              <a:ext cx="913022" cy="913022"/>
            </a:xfrm>
            <a:prstGeom prst="rect">
              <a:avLst/>
            </a:prstGeom>
          </p:spPr>
        </p:pic>
      </p:grpSp>
      <p:sp>
        <p:nvSpPr>
          <p:cNvPr id="9" name="TextBox 8">
            <a:extLst>
              <a:ext uri="{FF2B5EF4-FFF2-40B4-BE49-F238E27FC236}">
                <a16:creationId xmlns:a16="http://schemas.microsoft.com/office/drawing/2014/main" id="{0C5C4FF6-66C5-8D0B-2D0A-5360C0746E1F}"/>
              </a:ext>
            </a:extLst>
          </p:cNvPr>
          <p:cNvSpPr txBox="1"/>
          <p:nvPr/>
        </p:nvSpPr>
        <p:spPr>
          <a:xfrm>
            <a:off x="645237" y="3805836"/>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a:solidFill>
                  <a:schemeClr val="tx2">
                    <a:lumMod val="25000"/>
                    <a:lumOff val="75000"/>
                  </a:schemeClr>
                </a:solidFill>
                <a:latin typeface="Aptos" panose="02110004020202020204"/>
              </a:rPr>
              <a:t>Generative AI </a:t>
            </a:r>
            <a:r>
              <a:rPr kumimoji="0" lang="en-US" sz="1400" b="0" i="0" u="none" strike="noStrike" kern="0" cap="none" spc="0" normalizeH="0" baseline="0" noProof="0" dirty="0">
                <a:ln>
                  <a:noFill/>
                </a:ln>
                <a:solidFill>
                  <a:schemeClr val="tx2">
                    <a:lumMod val="25000"/>
                    <a:lumOff val="75000"/>
                  </a:schemeClr>
                </a:solidFill>
                <a:effectLst/>
                <a:uLnTx/>
                <a:uFillTx/>
                <a:latin typeface="Aptos" panose="02110004020202020204"/>
              </a:rPr>
              <a:t>and </a:t>
            </a:r>
            <a:r>
              <a:rPr kumimoji="0" lang="en-US" sz="1400" b="0" i="0" u="none" strike="noStrike" kern="0" cap="none" spc="0" normalizeH="0" baseline="0" noProof="0" dirty="0">
                <a:ln>
                  <a:noFill/>
                </a:ln>
                <a:solidFill>
                  <a:schemeClr val="bg1"/>
                </a:solidFill>
                <a:effectLst/>
                <a:uLnTx/>
                <a:uFillTx/>
                <a:latin typeface="Aptos" panose="02110004020202020204"/>
              </a:rPr>
              <a:t>Agents</a:t>
            </a:r>
          </a:p>
        </p:txBody>
      </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38170"/>
            <a:ext cx="6345239" cy="1661993"/>
          </a:xfrm>
        </p:spPr>
        <p:txBody>
          <a:bodyPr/>
          <a:lstStyle/>
          <a:p>
            <a:r>
              <a:rPr lang="en-US" altLang="zh-CN" sz="3600" dirty="0"/>
              <a:t>Develop AI agents with Microsoft Foundry and Visual Studio Code</a:t>
            </a:r>
            <a:endParaRPr lang="en-US" sz="3600" dirty="0"/>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TextBox 1">
            <a:extLst>
              <a:ext uri="{FF2B5EF4-FFF2-40B4-BE49-F238E27FC236}">
                <a16:creationId xmlns:a16="http://schemas.microsoft.com/office/drawing/2014/main" id="{1F591574-CCA3-6084-9EB1-07BB1B526ACB}"/>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https://aka.ms/develop-agents-vs-code</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40C07C-EADE-429C-9D45-D6EAD312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3090F-6780-9CDB-90CA-7A4D1482FC06}"/>
              </a:ext>
            </a:extLst>
          </p:cNvPr>
          <p:cNvSpPr>
            <a:spLocks noGrp="1"/>
          </p:cNvSpPr>
          <p:nvPr>
            <p:ph type="title"/>
          </p:nvPr>
        </p:nvSpPr>
        <p:spPr>
          <a:xfrm>
            <a:off x="588262" y="500000"/>
            <a:ext cx="8193024" cy="492443"/>
          </a:xfrm>
        </p:spPr>
        <p:txBody>
          <a:bodyPr/>
          <a:lstStyle/>
          <a:p>
            <a:r>
              <a:rPr lang="en-US" sz="3200" b="1" dirty="0"/>
              <a:t>Understand AI agents</a:t>
            </a:r>
          </a:p>
        </p:txBody>
      </p:sp>
      <p:sp>
        <p:nvSpPr>
          <p:cNvPr id="3" name="Footer Placeholder 1">
            <a:extLst>
              <a:ext uri="{FF2B5EF4-FFF2-40B4-BE49-F238E27FC236}">
                <a16:creationId xmlns:a16="http://schemas.microsoft.com/office/drawing/2014/main" id="{B40A941E-D99C-96C4-2A85-91793271CBC3}"/>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FD5B3090-406D-723B-F0AE-C5D8C7A45F25}"/>
              </a:ext>
              <a:ext uri="{C183D7F6-B498-43B3-948B-1728B52AA6E4}">
                <adec:decorative xmlns:adec="http://schemas.microsoft.com/office/drawing/2017/decorative" val="1"/>
              </a:ext>
            </a:extLst>
          </p:cNvPr>
          <p:cNvSpPr/>
          <p:nvPr/>
        </p:nvSpPr>
        <p:spPr>
          <a:xfrm>
            <a:off x="2200000" y="2450000"/>
            <a:ext cx="7792000" cy="2530000"/>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687CC572-C645-131C-781A-0FACE0EC3EA8}"/>
              </a:ext>
              <a:ext uri="{C183D7F6-B498-43B3-948B-1728B52AA6E4}">
                <adec:decorative xmlns:adec="http://schemas.microsoft.com/office/drawing/2017/decorative" val="1"/>
              </a:ext>
            </a:extLst>
          </p:cNvPr>
          <p:cNvSpPr/>
          <p:nvPr/>
        </p:nvSpPr>
        <p:spPr>
          <a:xfrm>
            <a:off x="2700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DE48A074-AACE-4BDA-86A7-C8427DA80862}"/>
              </a:ext>
            </a:extLst>
          </p:cNvPr>
          <p:cNvSpPr/>
          <p:nvPr/>
        </p:nvSpPr>
        <p:spPr>
          <a:xfrm>
            <a:off x="2875000" y="4030000"/>
            <a:ext cx="1350000" cy="380000"/>
          </a:xfrm>
          <a:prstGeom prst="roundRect">
            <a:avLst>
              <a:gd name="adj" fmla="val 50000"/>
            </a:avLst>
          </a:prstGeom>
          <a:solidFill>
            <a:srgbClr val="1D68E8"/>
          </a:solidFill>
          <a:ln>
            <a:noFill/>
          </a:ln>
        </p:spPr>
        <p:txBody>
          <a:bodyPr anchor="ctr"/>
          <a:lstStyle/>
          <a:p>
            <a:pPr algn="ctr"/>
            <a:r>
              <a:rPr lang="en-US" sz="1400" b="1" dirty="0">
                <a:solidFill>
                  <a:srgbClr val="FFFFFF"/>
                </a:solidFill>
              </a:rPr>
              <a:t>LLM</a:t>
            </a:r>
          </a:p>
        </p:txBody>
      </p:sp>
      <p:sp>
        <p:nvSpPr>
          <p:cNvPr id="17" name="Plus1">
            <a:extLst>
              <a:ext uri="{FF2B5EF4-FFF2-40B4-BE49-F238E27FC236}">
                <a16:creationId xmlns:a16="http://schemas.microsoft.com/office/drawing/2014/main" id="{FD3497AC-8056-3596-4029-12DDE8D062EA}"/>
              </a:ext>
            </a:extLst>
          </p:cNvPr>
          <p:cNvSpPr/>
          <p:nvPr/>
        </p:nvSpPr>
        <p:spPr>
          <a:xfrm>
            <a:off x="458000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7B419330-7DCB-14DB-DA8E-9BC675FA6D9F}"/>
              </a:ext>
            </a:extLst>
          </p:cNvPr>
          <p:cNvSpPr/>
          <p:nvPr/>
        </p:nvSpPr>
        <p:spPr>
          <a:xfrm>
            <a:off x="7126000"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0938E88C-0E31-BA72-A394-838B8E5823AB}"/>
              </a:ext>
              <a:ext uri="{C183D7F6-B498-43B3-948B-1728B52AA6E4}">
                <adec:decorative xmlns:adec="http://schemas.microsoft.com/office/drawing/2017/decorative" val="1"/>
              </a:ext>
            </a:extLst>
          </p:cNvPr>
          <p:cNvSpPr/>
          <p:nvPr/>
        </p:nvSpPr>
        <p:spPr>
          <a:xfrm>
            <a:off x="7792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AC264313-746D-586B-513A-9C9620F78908}"/>
              </a:ext>
            </a:extLst>
          </p:cNvPr>
          <p:cNvSpPr/>
          <p:nvPr/>
        </p:nvSpPr>
        <p:spPr>
          <a:xfrm>
            <a:off x="7967000" y="4030000"/>
            <a:ext cx="1350000" cy="380000"/>
          </a:xfrm>
          <a:prstGeom prst="roundRect">
            <a:avLst>
              <a:gd name="adj" fmla="val 50000"/>
            </a:avLst>
          </a:prstGeom>
          <a:solidFill>
            <a:srgbClr val="EC4899"/>
          </a:solidFill>
          <a:ln>
            <a:noFill/>
          </a:ln>
        </p:spPr>
        <p:txBody>
          <a:bodyPr anchor="ctr"/>
          <a:lstStyle/>
          <a:p>
            <a:pPr algn="ctr"/>
            <a:r>
              <a:rPr lang="en-US" sz="1400" b="1">
                <a:solidFill>
                  <a:srgbClr val="FFFFFF"/>
                </a:solidFill>
              </a:rPr>
              <a:t>Tools</a:t>
            </a:r>
          </a:p>
        </p:txBody>
      </p:sp>
      <p:pic>
        <p:nvPicPr>
          <p:cNvPr id="5" name="Graphic 4" descr="Processor outline">
            <a:extLst>
              <a:ext uri="{FF2B5EF4-FFF2-40B4-BE49-F238E27FC236}">
                <a16:creationId xmlns:a16="http://schemas.microsoft.com/office/drawing/2014/main" id="{3EE1ACC4-F4D6-BA09-91DD-BD45DC4633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50385" y="3092800"/>
            <a:ext cx="914400" cy="914400"/>
          </a:xfrm>
          <a:prstGeom prst="rect">
            <a:avLst/>
          </a:prstGeom>
        </p:spPr>
      </p:pic>
      <p:sp>
        <p:nvSpPr>
          <p:cNvPr id="10" name="Input">
            <a:extLst>
              <a:ext uri="{FF2B5EF4-FFF2-40B4-BE49-F238E27FC236}">
                <a16:creationId xmlns:a16="http://schemas.microsoft.com/office/drawing/2014/main" id="{F2BA9FFC-1928-91EF-FABD-1A0DF9902241}"/>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97AD65C-F79B-103D-6A2B-575A03D5187A}"/>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65E36592-D347-3BDF-F958-AB3F1F7FBB98}"/>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18" name="CardInstructions">
            <a:extLst>
              <a:ext uri="{FF2B5EF4-FFF2-40B4-BE49-F238E27FC236}">
                <a16:creationId xmlns:a16="http://schemas.microsoft.com/office/drawing/2014/main" id="{CDEA92DE-5BBE-921B-406F-3B682CAED41D}"/>
              </a:ext>
              <a:ext uri="{C183D7F6-B498-43B3-948B-1728B52AA6E4}">
                <adec:decorative xmlns:adec="http://schemas.microsoft.com/office/drawing/2017/decorative" val="1"/>
              </a:ext>
            </a:extLst>
          </p:cNvPr>
          <p:cNvSpPr/>
          <p:nvPr/>
        </p:nvSpPr>
        <p:spPr>
          <a:xfrm>
            <a:off x="5246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7488C622-EEFA-1031-F6A4-DEBF8B12EBBD}"/>
              </a:ext>
            </a:extLst>
          </p:cNvPr>
          <p:cNvSpPr/>
          <p:nvPr/>
        </p:nvSpPr>
        <p:spPr>
          <a:xfrm>
            <a:off x="5421000" y="4030000"/>
            <a:ext cx="1350000" cy="380000"/>
          </a:xfrm>
          <a:prstGeom prst="roundRect">
            <a:avLst>
              <a:gd name="adj" fmla="val 50000"/>
            </a:avLst>
          </a:prstGeom>
          <a:solidFill>
            <a:srgbClr val="9333EA"/>
          </a:solidFill>
          <a:ln>
            <a:noFill/>
          </a:ln>
        </p:spPr>
        <p:txBody>
          <a:bodyPr anchor="ctr"/>
          <a:lstStyle/>
          <a:p>
            <a:pPr algn="ctr"/>
            <a:r>
              <a:rPr lang="en-US" sz="1400" b="1" dirty="0">
                <a:solidFill>
                  <a:srgbClr val="FFFFFF"/>
                </a:solidFill>
              </a:rPr>
              <a:t>Instructions</a:t>
            </a:r>
          </a:p>
        </p:txBody>
      </p:sp>
      <p:sp>
        <p:nvSpPr>
          <p:cNvPr id="25" name="Arrow2">
            <a:extLst>
              <a:ext uri="{FF2B5EF4-FFF2-40B4-BE49-F238E27FC236}">
                <a16:creationId xmlns:a16="http://schemas.microsoft.com/office/drawing/2014/main" id="{B5CCAC02-23E6-CA19-5F9A-81BD21DB4E31}"/>
              </a:ext>
              <a:ext uri="{C183D7F6-B498-43B3-948B-1728B52AA6E4}">
                <adec:decorative xmlns:adec="http://schemas.microsoft.com/office/drawing/2017/decorative" val="1"/>
              </a:ext>
            </a:extLst>
          </p:cNvPr>
          <p:cNvSpPr/>
          <p:nvPr/>
        </p:nvSpPr>
        <p:spPr>
          <a:xfrm>
            <a:off x="5971000" y="5030000"/>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B6C9D9E4-6FE9-4CFE-8409-CF24E6EE4BC9}"/>
              </a:ext>
            </a:extLst>
          </p:cNvPr>
          <p:cNvSpPr/>
          <p:nvPr/>
        </p:nvSpPr>
        <p:spPr>
          <a:xfrm>
            <a:off x="4953000" y="5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pic>
        <p:nvPicPr>
          <p:cNvPr id="7" name="Graphic 6" descr="Document outline">
            <a:extLst>
              <a:ext uri="{FF2B5EF4-FFF2-40B4-BE49-F238E27FC236}">
                <a16:creationId xmlns:a16="http://schemas.microsoft.com/office/drawing/2014/main" id="{BD508CDA-8FAE-253F-ABB4-0C7F1DA99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3070600"/>
            <a:ext cx="914400" cy="914400"/>
          </a:xfrm>
          <a:prstGeom prst="rect">
            <a:avLst/>
          </a:prstGeom>
        </p:spPr>
      </p:pic>
      <p:pic>
        <p:nvPicPr>
          <p:cNvPr id="9" name="Graphic 8" descr="Wrench outline">
            <a:extLst>
              <a:ext uri="{FF2B5EF4-FFF2-40B4-BE49-F238E27FC236}">
                <a16:creationId xmlns:a16="http://schemas.microsoft.com/office/drawing/2014/main" id="{F7150396-E62B-873A-CBB7-85444F5F1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323" y="3186647"/>
            <a:ext cx="743353" cy="743353"/>
          </a:xfrm>
          <a:prstGeom prst="rect">
            <a:avLst/>
          </a:prstGeom>
        </p:spPr>
      </p:pic>
    </p:spTree>
    <p:extLst>
      <p:ext uri="{BB962C8B-B14F-4D97-AF65-F5344CB8AC3E}">
        <p14:creationId xmlns:p14="http://schemas.microsoft.com/office/powerpoint/2010/main" val="5220681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62D9B5-9CB5-4E0A-80A4-3EF9323C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F0B48-5FD9-0278-B355-0630BCC197B0}"/>
              </a:ext>
            </a:extLst>
          </p:cNvPr>
          <p:cNvSpPr>
            <a:spLocks noGrp="1"/>
          </p:cNvSpPr>
          <p:nvPr>
            <p:ph type="title"/>
          </p:nvPr>
        </p:nvSpPr>
        <p:spPr>
          <a:xfrm>
            <a:off x="588262" y="500000"/>
            <a:ext cx="8193024" cy="492443"/>
          </a:xfrm>
        </p:spPr>
        <p:txBody>
          <a:bodyPr/>
          <a:lstStyle/>
          <a:p>
            <a:r>
              <a:rPr lang="en-US" sz="3200" b="1" dirty="0"/>
              <a:t>Understand AI agents</a:t>
            </a:r>
          </a:p>
        </p:txBody>
      </p:sp>
      <p:sp>
        <p:nvSpPr>
          <p:cNvPr id="3" name="Footer Placeholder 1">
            <a:extLst>
              <a:ext uri="{FF2B5EF4-FFF2-40B4-BE49-F238E27FC236}">
                <a16:creationId xmlns:a16="http://schemas.microsoft.com/office/drawing/2014/main" id="{90E6FA54-C0AD-017D-FFF3-47C90AF127BB}"/>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0415F0EB-A204-E7C9-3555-DE95307292D2}"/>
              </a:ext>
              <a:ext uri="{C183D7F6-B498-43B3-948B-1728B52AA6E4}">
                <adec:decorative xmlns:adec="http://schemas.microsoft.com/office/drawing/2017/decorative" val="1"/>
              </a:ext>
            </a:extLst>
          </p:cNvPr>
          <p:cNvSpPr/>
          <p:nvPr/>
        </p:nvSpPr>
        <p:spPr>
          <a:xfrm>
            <a:off x="588261" y="2450000"/>
            <a:ext cx="11011601" cy="2754012"/>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E743E604-C68C-C49B-E3C7-FC44A9ECFC4F}"/>
              </a:ext>
              <a:ext uri="{C183D7F6-B498-43B3-948B-1728B52AA6E4}">
                <adec:decorative xmlns:adec="http://schemas.microsoft.com/office/drawing/2017/decorative" val="1"/>
              </a:ext>
            </a:extLst>
          </p:cNvPr>
          <p:cNvSpPr/>
          <p:nvPr/>
        </p:nvSpPr>
        <p:spPr>
          <a:xfrm>
            <a:off x="909919" y="2970000"/>
            <a:ext cx="2593803" cy="2032306"/>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700E0B79-6C54-7D5A-0B13-BA4A232F941B}"/>
              </a:ext>
            </a:extLst>
          </p:cNvPr>
          <p:cNvSpPr/>
          <p:nvPr/>
        </p:nvSpPr>
        <p:spPr>
          <a:xfrm>
            <a:off x="1531820" y="4508398"/>
            <a:ext cx="1350000" cy="380000"/>
          </a:xfrm>
          <a:prstGeom prst="roundRect">
            <a:avLst>
              <a:gd name="adj" fmla="val 50000"/>
            </a:avLst>
          </a:prstGeom>
          <a:solidFill>
            <a:srgbClr val="1D68E8"/>
          </a:solidFill>
          <a:ln>
            <a:noFill/>
          </a:ln>
        </p:spPr>
        <p:txBody>
          <a:bodyPr anchor="ctr"/>
          <a:lstStyle/>
          <a:p>
            <a:pPr algn="ctr"/>
            <a:r>
              <a:rPr lang="en-US" sz="1400" b="1" dirty="0">
                <a:solidFill>
                  <a:srgbClr val="FFFFFF"/>
                </a:solidFill>
              </a:rPr>
              <a:t>LLM</a:t>
            </a:r>
          </a:p>
        </p:txBody>
      </p:sp>
      <p:grpSp>
        <p:nvGrpSpPr>
          <p:cNvPr id="8" name="Group 7">
            <a:extLst>
              <a:ext uri="{FF2B5EF4-FFF2-40B4-BE49-F238E27FC236}">
                <a16:creationId xmlns:a16="http://schemas.microsoft.com/office/drawing/2014/main" id="{E36F5DB3-D7EC-4F1F-3EE5-5E4DE6AF81E6}"/>
              </a:ext>
            </a:extLst>
          </p:cNvPr>
          <p:cNvGrpSpPr/>
          <p:nvPr/>
        </p:nvGrpSpPr>
        <p:grpSpPr>
          <a:xfrm>
            <a:off x="3944757" y="2882510"/>
            <a:ext cx="4302487" cy="2130002"/>
            <a:chOff x="3953435" y="2882510"/>
            <a:chExt cx="4302487" cy="2130002"/>
          </a:xfrm>
        </p:grpSpPr>
        <p:sp>
          <p:nvSpPr>
            <p:cNvPr id="18" name="CardInstructions">
              <a:extLst>
                <a:ext uri="{FF2B5EF4-FFF2-40B4-BE49-F238E27FC236}">
                  <a16:creationId xmlns:a16="http://schemas.microsoft.com/office/drawing/2014/main" id="{3F9B603E-6B36-0994-80A2-8ECD8351285E}"/>
                </a:ext>
              </a:extLst>
            </p:cNvPr>
            <p:cNvSpPr/>
            <p:nvPr/>
          </p:nvSpPr>
          <p:spPr>
            <a:xfrm>
              <a:off x="3953435" y="2882510"/>
              <a:ext cx="4302487" cy="2130002"/>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8C857BE9-12A4-67AC-DE0F-02FF6944E285}"/>
                </a:ext>
              </a:extLst>
            </p:cNvPr>
            <p:cNvSpPr/>
            <p:nvPr/>
          </p:nvSpPr>
          <p:spPr>
            <a:xfrm>
              <a:off x="5419061" y="4553646"/>
              <a:ext cx="1350000" cy="380000"/>
            </a:xfrm>
            <a:prstGeom prst="roundRect">
              <a:avLst>
                <a:gd name="adj" fmla="val 50000"/>
              </a:avLst>
            </a:prstGeom>
            <a:solidFill>
              <a:srgbClr val="9333EA"/>
            </a:solidFill>
            <a:ln>
              <a:noFill/>
            </a:ln>
          </p:spPr>
          <p:txBody>
            <a:bodyPr anchor="ctr"/>
            <a:lstStyle/>
            <a:p>
              <a:pPr algn="ctr"/>
              <a:r>
                <a:rPr lang="en-US" sz="1400" b="1" dirty="0">
                  <a:solidFill>
                    <a:srgbClr val="FFFFFF"/>
                  </a:solidFill>
                </a:rPr>
                <a:t>Instructions</a:t>
              </a:r>
            </a:p>
          </p:txBody>
        </p:sp>
        <p:sp>
          <p:nvSpPr>
            <p:cNvPr id="6" name="InstrText">
              <a:extLst>
                <a:ext uri="{FF2B5EF4-FFF2-40B4-BE49-F238E27FC236}">
                  <a16:creationId xmlns:a16="http://schemas.microsoft.com/office/drawing/2014/main" id="{26FBF377-7C75-9592-C966-3E1F392A450E}"/>
                </a:ext>
              </a:extLst>
            </p:cNvPr>
            <p:cNvSpPr/>
            <p:nvPr/>
          </p:nvSpPr>
          <p:spPr>
            <a:xfrm>
              <a:off x="4116079" y="3012424"/>
              <a:ext cx="3959843" cy="1470000"/>
            </a:xfrm>
            <a:prstGeom prst="roundRect">
              <a:avLst>
                <a:gd name="adj" fmla="val 5000"/>
              </a:avLst>
            </a:prstGeom>
            <a:solidFill>
              <a:srgbClr val="F8F8F8"/>
            </a:solidFill>
            <a:ln w="9525">
              <a:solidFill>
                <a:srgbClr val="DEDEDE"/>
              </a:solidFill>
            </a:ln>
          </p:spPr>
          <p:txBody>
            <a:bodyPr wrap="square" lIns="91440" tIns="91440" rIns="91440" bIns="91440"/>
            <a:lstStyle/>
            <a:p>
              <a:r>
                <a:rPr lang="en-US" sz="1200" dirty="0">
                  <a:solidFill>
                    <a:srgbClr val="404040"/>
                  </a:solidFill>
                  <a:latin typeface="Courier New" panose="02070309020205020404" pitchFamily="49" charset="0"/>
                  <a:cs typeface="Courier New" panose="02070309020205020404" pitchFamily="49" charset="0"/>
                </a:rPr>
                <a:t>You are a travel booking and expense management assistant designed to help employees plan, book, and manage business travel. Always confirm trip dates and budget before making bookings. Prefer direct flights when cost difference is &lt; 20%.</a:t>
              </a:r>
            </a:p>
          </p:txBody>
        </p:sp>
      </p:grpSp>
      <p:sp>
        <p:nvSpPr>
          <p:cNvPr id="17" name="Plus1">
            <a:extLst>
              <a:ext uri="{FF2B5EF4-FFF2-40B4-BE49-F238E27FC236}">
                <a16:creationId xmlns:a16="http://schemas.microsoft.com/office/drawing/2014/main" id="{72EB8BDB-315B-11DE-2D9F-C03C5C54F577}"/>
              </a:ext>
            </a:extLst>
          </p:cNvPr>
          <p:cNvSpPr/>
          <p:nvPr/>
        </p:nvSpPr>
        <p:spPr>
          <a:xfrm>
            <a:off x="3504240" y="3720000"/>
            <a:ext cx="440000" cy="440000"/>
          </a:xfrm>
          <a:prstGeom prst="rect">
            <a:avLst/>
          </a:prstGeom>
          <a:noFill/>
          <a:ln>
            <a:noFill/>
          </a:ln>
        </p:spPr>
        <p:txBody>
          <a:bodyPr anchor="ctr"/>
          <a:lstStyle/>
          <a:p>
            <a:pPr algn="ctr"/>
            <a:r>
              <a:rPr lang="en-US" sz="3200" b="1" dirty="0">
                <a:solidFill>
                  <a:srgbClr val="1D68E8"/>
                </a:solidFill>
              </a:rPr>
              <a:t>+</a:t>
            </a:r>
          </a:p>
        </p:txBody>
      </p:sp>
      <p:sp>
        <p:nvSpPr>
          <p:cNvPr id="21" name="Plus2">
            <a:extLst>
              <a:ext uri="{FF2B5EF4-FFF2-40B4-BE49-F238E27FC236}">
                <a16:creationId xmlns:a16="http://schemas.microsoft.com/office/drawing/2014/main" id="{D36710B0-41A6-7795-881A-44BB414BA59F}"/>
              </a:ext>
            </a:extLst>
          </p:cNvPr>
          <p:cNvSpPr/>
          <p:nvPr/>
        </p:nvSpPr>
        <p:spPr>
          <a:xfrm>
            <a:off x="8242101" y="3720000"/>
            <a:ext cx="440000" cy="440000"/>
          </a:xfrm>
          <a:prstGeom prst="rect">
            <a:avLst/>
          </a:prstGeom>
          <a:noFill/>
          <a:ln>
            <a:noFill/>
          </a:ln>
        </p:spPr>
        <p:txBody>
          <a:bodyPr anchor="ctr"/>
          <a:lstStyle/>
          <a:p>
            <a:pPr algn="ctr"/>
            <a:r>
              <a:rPr lang="en-US" sz="3200" b="1" dirty="0">
                <a:solidFill>
                  <a:srgbClr val="1D68E8"/>
                </a:solidFill>
              </a:rPr>
              <a:t>+</a:t>
            </a:r>
          </a:p>
        </p:txBody>
      </p:sp>
      <p:sp>
        <p:nvSpPr>
          <p:cNvPr id="22" name="CardTools">
            <a:extLst>
              <a:ext uri="{FF2B5EF4-FFF2-40B4-BE49-F238E27FC236}">
                <a16:creationId xmlns:a16="http://schemas.microsoft.com/office/drawing/2014/main" id="{741EF7D3-04E1-5F9F-E1B2-00E885A23543}"/>
              </a:ext>
              <a:ext uri="{C183D7F6-B498-43B3-948B-1728B52AA6E4}">
                <adec:decorative xmlns:adec="http://schemas.microsoft.com/office/drawing/2017/decorative" val="1"/>
              </a:ext>
            </a:extLst>
          </p:cNvPr>
          <p:cNvSpPr/>
          <p:nvPr/>
        </p:nvSpPr>
        <p:spPr>
          <a:xfrm>
            <a:off x="8682101" y="2970000"/>
            <a:ext cx="2599980" cy="2032306"/>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174A659F-9030-B3F4-F5B8-154EF058CFAE}"/>
              </a:ext>
            </a:extLst>
          </p:cNvPr>
          <p:cNvSpPr/>
          <p:nvPr/>
        </p:nvSpPr>
        <p:spPr>
          <a:xfrm>
            <a:off x="9307091" y="4528140"/>
            <a:ext cx="1350000" cy="380000"/>
          </a:xfrm>
          <a:prstGeom prst="roundRect">
            <a:avLst>
              <a:gd name="adj" fmla="val 50000"/>
            </a:avLst>
          </a:prstGeom>
          <a:solidFill>
            <a:srgbClr val="EC4899"/>
          </a:solidFill>
          <a:ln>
            <a:noFill/>
          </a:ln>
        </p:spPr>
        <p:txBody>
          <a:bodyPr anchor="ctr"/>
          <a:lstStyle/>
          <a:p>
            <a:pPr algn="ctr"/>
            <a:r>
              <a:rPr lang="en-US" sz="1400" b="1" dirty="0">
                <a:solidFill>
                  <a:srgbClr val="FFFFFF"/>
                </a:solidFill>
              </a:rPr>
              <a:t>Tools</a:t>
            </a:r>
          </a:p>
        </p:txBody>
      </p:sp>
      <p:sp>
        <p:nvSpPr>
          <p:cNvPr id="10" name="Input">
            <a:extLst>
              <a:ext uri="{FF2B5EF4-FFF2-40B4-BE49-F238E27FC236}">
                <a16:creationId xmlns:a16="http://schemas.microsoft.com/office/drawing/2014/main" id="{FCCC854D-765F-156B-1AEC-14FD0D03D4E0}"/>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3E20D0E-955C-24DA-80AD-B83C772E2E96}"/>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A4DD7553-C407-0FBB-CB77-BDF5491F7C99}"/>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25" name="Arrow2">
            <a:extLst>
              <a:ext uri="{FF2B5EF4-FFF2-40B4-BE49-F238E27FC236}">
                <a16:creationId xmlns:a16="http://schemas.microsoft.com/office/drawing/2014/main" id="{9B4F6E66-305A-E8D1-131C-905E2A5CE8D5}"/>
              </a:ext>
              <a:ext uri="{C183D7F6-B498-43B3-948B-1728B52AA6E4}">
                <adec:decorative xmlns:adec="http://schemas.microsoft.com/office/drawing/2017/decorative" val="1"/>
              </a:ext>
            </a:extLst>
          </p:cNvPr>
          <p:cNvSpPr/>
          <p:nvPr/>
        </p:nvSpPr>
        <p:spPr>
          <a:xfrm>
            <a:off x="5971000" y="5393069"/>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7A47CD81-4837-F028-CCC4-A46A32859043}"/>
              </a:ext>
            </a:extLst>
          </p:cNvPr>
          <p:cNvSpPr/>
          <p:nvPr/>
        </p:nvSpPr>
        <p:spPr>
          <a:xfrm>
            <a:off x="4953000" y="5743069"/>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sp>
        <p:nvSpPr>
          <p:cNvPr id="4" name="Text Placeholder 3">
            <a:extLst>
              <a:ext uri="{FF2B5EF4-FFF2-40B4-BE49-F238E27FC236}">
                <a16:creationId xmlns:a16="http://schemas.microsoft.com/office/drawing/2014/main" id="{8ED08A49-9140-27B4-107C-89B31D4618D1}"/>
              </a:ext>
            </a:extLst>
          </p:cNvPr>
          <p:cNvSpPr>
            <a:spLocks noGrp="1"/>
          </p:cNvSpPr>
          <p:nvPr>
            <p:ph type="body" sz="quarter" idx="17"/>
          </p:nvPr>
        </p:nvSpPr>
        <p:spPr>
          <a:xfrm>
            <a:off x="590199" y="1117176"/>
            <a:ext cx="11011601" cy="307777"/>
          </a:xfrm>
        </p:spPr>
        <p:txBody>
          <a:bodyPr/>
          <a:lstStyle/>
          <a:p>
            <a:r>
              <a:rPr lang="en-US" sz="2000" dirty="0"/>
              <a:t>Explore the three components</a:t>
            </a:r>
          </a:p>
        </p:txBody>
      </p:sp>
      <p:sp>
        <p:nvSpPr>
          <p:cNvPr id="15" name="RetrievalCard">
            <a:extLst>
              <a:ext uri="{FF2B5EF4-FFF2-40B4-BE49-F238E27FC236}">
                <a16:creationId xmlns:a16="http://schemas.microsoft.com/office/drawing/2014/main" id="{C8AC56DF-FE37-CA9A-2547-A92482EF4836}"/>
              </a:ext>
            </a:extLst>
          </p:cNvPr>
          <p:cNvSpPr/>
          <p:nvPr/>
        </p:nvSpPr>
        <p:spPr>
          <a:xfrm>
            <a:off x="1229570" y="3093638"/>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dirty="0"/>
              <a:t>G</a:t>
            </a:r>
            <a:endParaRPr lang="nl-NL" sz="1200" b="1" dirty="0"/>
          </a:p>
          <a:p>
            <a:pPr algn="ctr"/>
            <a:r>
              <a:rPr lang="nl-NL" sz="1200" dirty="0"/>
              <a:t>GPT</a:t>
            </a:r>
            <a:endParaRPr sz="1200" dirty="0"/>
          </a:p>
        </p:txBody>
      </p:sp>
      <p:sp>
        <p:nvSpPr>
          <p:cNvPr id="19" name="RetrievalCard">
            <a:extLst>
              <a:ext uri="{FF2B5EF4-FFF2-40B4-BE49-F238E27FC236}">
                <a16:creationId xmlns:a16="http://schemas.microsoft.com/office/drawing/2014/main" id="{0543EA3E-D9B7-A141-1DAB-E0BF05F3C577}"/>
              </a:ext>
            </a:extLst>
          </p:cNvPr>
          <p:cNvSpPr/>
          <p:nvPr/>
        </p:nvSpPr>
        <p:spPr>
          <a:xfrm>
            <a:off x="2320214" y="3093638"/>
            <a:ext cx="866245" cy="592994"/>
          </a:xfrm>
          <a:prstGeom prst="roundRect">
            <a:avLst>
              <a:gd name="adj" fmla="val 12000"/>
            </a:avLst>
          </a:prstGeom>
          <a:solidFill>
            <a:srgbClr val="F8F8F8"/>
          </a:solidFill>
          <a:ln w="9525">
            <a:solidFill>
              <a:srgbClr val="DEDEDE"/>
            </a:solidFill>
          </a:ln>
        </p:spPr>
        <p:txBody>
          <a:bodyPr anchor="ctr"/>
          <a:lstStyle/>
          <a:p>
            <a:pPr algn="ctr"/>
            <a:r>
              <a:rPr lang="nl-NL" sz="2400" b="1" dirty="0">
                <a:solidFill>
                  <a:srgbClr val="000000"/>
                </a:solidFill>
                <a:latin typeface="Segoe UI"/>
              </a:rPr>
              <a:t>L</a:t>
            </a:r>
            <a:endParaRPr lang="nl-NL" sz="1200" dirty="0"/>
          </a:p>
          <a:p>
            <a:pPr algn="ctr"/>
            <a:r>
              <a:rPr lang="nl-NL" sz="1200" dirty="0" err="1"/>
              <a:t>Llama</a:t>
            </a:r>
            <a:endParaRPr sz="1200" dirty="0"/>
          </a:p>
        </p:txBody>
      </p:sp>
      <p:sp>
        <p:nvSpPr>
          <p:cNvPr id="23" name="RetrievalCard">
            <a:extLst>
              <a:ext uri="{FF2B5EF4-FFF2-40B4-BE49-F238E27FC236}">
                <a16:creationId xmlns:a16="http://schemas.microsoft.com/office/drawing/2014/main" id="{4AD8022B-53E7-5644-80BE-64894031D654}"/>
              </a:ext>
            </a:extLst>
          </p:cNvPr>
          <p:cNvSpPr/>
          <p:nvPr/>
        </p:nvSpPr>
        <p:spPr>
          <a:xfrm>
            <a:off x="1229570" y="3791897"/>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dirty="0"/>
              <a:t>M</a:t>
            </a:r>
            <a:endParaRPr lang="nl-NL" sz="1200" dirty="0"/>
          </a:p>
          <a:p>
            <a:pPr algn="ctr"/>
            <a:r>
              <a:rPr lang="nl-NL" sz="1200" dirty="0"/>
              <a:t>Mistral</a:t>
            </a:r>
            <a:endParaRPr sz="1200" dirty="0"/>
          </a:p>
        </p:txBody>
      </p:sp>
      <p:sp>
        <p:nvSpPr>
          <p:cNvPr id="27" name="RetrievalCard">
            <a:extLst>
              <a:ext uri="{FF2B5EF4-FFF2-40B4-BE49-F238E27FC236}">
                <a16:creationId xmlns:a16="http://schemas.microsoft.com/office/drawing/2014/main" id="{F498F159-EC7E-964D-9E06-42ECBD2C0A95}"/>
              </a:ext>
            </a:extLst>
          </p:cNvPr>
          <p:cNvSpPr/>
          <p:nvPr/>
        </p:nvSpPr>
        <p:spPr>
          <a:xfrm>
            <a:off x="2286471" y="3791897"/>
            <a:ext cx="899988" cy="592994"/>
          </a:xfrm>
          <a:prstGeom prst="roundRect">
            <a:avLst>
              <a:gd name="adj" fmla="val 12000"/>
            </a:avLst>
          </a:prstGeom>
          <a:solidFill>
            <a:srgbClr val="F8F8F8"/>
          </a:solidFill>
          <a:ln w="9525">
            <a:solidFill>
              <a:srgbClr val="DEDEDE"/>
            </a:solidFill>
          </a:ln>
        </p:spPr>
        <p:txBody>
          <a:bodyPr anchor="ctr"/>
          <a:lstStyle/>
          <a:p>
            <a:pPr algn="ctr"/>
            <a:r>
              <a:rPr lang="nl-NL" sz="2400" b="1" dirty="0">
                <a:solidFill>
                  <a:srgbClr val="000000"/>
                </a:solidFill>
                <a:latin typeface="Segoe UI"/>
              </a:rPr>
              <a:t>C</a:t>
            </a:r>
            <a:endParaRPr lang="nl-NL" sz="1200" dirty="0"/>
          </a:p>
          <a:p>
            <a:pPr algn="ctr"/>
            <a:r>
              <a:rPr lang="nl-NL" sz="1200" dirty="0"/>
              <a:t>Claude</a:t>
            </a:r>
            <a:endParaRPr sz="1200" dirty="0"/>
          </a:p>
        </p:txBody>
      </p:sp>
      <p:grpSp>
        <p:nvGrpSpPr>
          <p:cNvPr id="38" name="Group 37">
            <a:extLst>
              <a:ext uri="{FF2B5EF4-FFF2-40B4-BE49-F238E27FC236}">
                <a16:creationId xmlns:a16="http://schemas.microsoft.com/office/drawing/2014/main" id="{6E0C41BE-D27F-FD3A-06B6-630D7187ED66}"/>
              </a:ext>
            </a:extLst>
          </p:cNvPr>
          <p:cNvGrpSpPr/>
          <p:nvPr/>
        </p:nvGrpSpPr>
        <p:grpSpPr>
          <a:xfrm>
            <a:off x="9130996" y="3106320"/>
            <a:ext cx="1737360" cy="1322878"/>
            <a:chOff x="8888950" y="3106320"/>
            <a:chExt cx="1737360" cy="1322878"/>
          </a:xfrm>
        </p:grpSpPr>
        <p:sp>
          <p:nvSpPr>
            <p:cNvPr id="29" name="RetrievalCard">
              <a:extLst>
                <a:ext uri="{FF2B5EF4-FFF2-40B4-BE49-F238E27FC236}">
                  <a16:creationId xmlns:a16="http://schemas.microsoft.com/office/drawing/2014/main" id="{6C7C77DA-6F76-BDCB-9D21-F72CF92F304A}"/>
                </a:ext>
              </a:extLst>
            </p:cNvPr>
            <p:cNvSpPr/>
            <p:nvPr/>
          </p:nvSpPr>
          <p:spPr>
            <a:xfrm>
              <a:off x="8888950" y="3106320"/>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Retrieval</a:t>
              </a:r>
              <a:endParaRPr sz="1200" dirty="0"/>
            </a:p>
          </p:txBody>
        </p:sp>
        <p:sp>
          <p:nvSpPr>
            <p:cNvPr id="30" name="RetrievalCard">
              <a:extLst>
                <a:ext uri="{FF2B5EF4-FFF2-40B4-BE49-F238E27FC236}">
                  <a16:creationId xmlns:a16="http://schemas.microsoft.com/office/drawing/2014/main" id="{5B989AE8-7CAD-5DC5-6DC5-AC3E9191CA49}"/>
                </a:ext>
              </a:extLst>
            </p:cNvPr>
            <p:cNvSpPr/>
            <p:nvPr/>
          </p:nvSpPr>
          <p:spPr>
            <a:xfrm>
              <a:off x="8888950" y="3577759"/>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Actions</a:t>
              </a:r>
              <a:endParaRPr sz="1200" dirty="0"/>
            </a:p>
          </p:txBody>
        </p:sp>
        <p:sp>
          <p:nvSpPr>
            <p:cNvPr id="31" name="RetrievalCard">
              <a:extLst>
                <a:ext uri="{FF2B5EF4-FFF2-40B4-BE49-F238E27FC236}">
                  <a16:creationId xmlns:a16="http://schemas.microsoft.com/office/drawing/2014/main" id="{7B857A60-7642-DFC4-C46F-F40F8742C561}"/>
                </a:ext>
              </a:extLst>
            </p:cNvPr>
            <p:cNvSpPr/>
            <p:nvPr/>
          </p:nvSpPr>
          <p:spPr>
            <a:xfrm>
              <a:off x="8888950" y="4049198"/>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dirty="0"/>
                <a:t>Memory</a:t>
              </a:r>
              <a:endParaRPr sz="1200" dirty="0"/>
            </a:p>
          </p:txBody>
        </p:sp>
      </p:grpSp>
      <p:pic>
        <p:nvPicPr>
          <p:cNvPr id="33" name="Graphic 32" descr="Magnifying glass with solid fill">
            <a:extLst>
              <a:ext uri="{FF2B5EF4-FFF2-40B4-BE49-F238E27FC236}">
                <a16:creationId xmlns:a16="http://schemas.microsoft.com/office/drawing/2014/main" id="{057B2716-8DE0-BB16-7F17-7D54D34DD3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49797" y="3147286"/>
            <a:ext cx="336307" cy="336307"/>
          </a:xfrm>
          <a:prstGeom prst="rect">
            <a:avLst/>
          </a:prstGeom>
        </p:spPr>
      </p:pic>
      <p:pic>
        <p:nvPicPr>
          <p:cNvPr id="35" name="Graphic 34" descr="Lightning bolt with solid fill">
            <a:extLst>
              <a:ext uri="{FF2B5EF4-FFF2-40B4-BE49-F238E27FC236}">
                <a16:creationId xmlns:a16="http://schemas.microsoft.com/office/drawing/2014/main" id="{55245E03-2BC6-121F-DE17-C7D7E2CF9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070" y="3612838"/>
            <a:ext cx="365760" cy="365760"/>
          </a:xfrm>
          <a:prstGeom prst="rect">
            <a:avLst/>
          </a:prstGeom>
        </p:spPr>
      </p:pic>
      <p:pic>
        <p:nvPicPr>
          <p:cNvPr id="37" name="Graphic 36" descr="Database with solid fill">
            <a:extLst>
              <a:ext uri="{FF2B5EF4-FFF2-40B4-BE49-F238E27FC236}">
                <a16:creationId xmlns:a16="http://schemas.microsoft.com/office/drawing/2014/main" id="{24F7094C-BC6F-0F34-BFDC-398AF95F0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8786" y="4080949"/>
            <a:ext cx="338328" cy="338328"/>
          </a:xfrm>
          <a:prstGeom prst="rect">
            <a:avLst/>
          </a:prstGeom>
        </p:spPr>
      </p:pic>
    </p:spTree>
    <p:extLst>
      <p:ext uri="{BB962C8B-B14F-4D97-AF65-F5344CB8AC3E}">
        <p14:creationId xmlns:p14="http://schemas.microsoft.com/office/powerpoint/2010/main" val="2813178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E4D3-5E14-7BDE-2558-DEE1BF5E5865}"/>
              </a:ext>
            </a:extLst>
          </p:cNvPr>
          <p:cNvSpPr>
            <a:spLocks noGrp="1"/>
          </p:cNvSpPr>
          <p:nvPr>
            <p:ph type="title"/>
          </p:nvPr>
        </p:nvSpPr>
        <p:spPr>
          <a:xfrm>
            <a:off x="588261" y="585216"/>
            <a:ext cx="11011601" cy="492443"/>
          </a:xfrm>
        </p:spPr>
        <p:txBody>
          <a:bodyPr/>
          <a:lstStyle/>
          <a:p>
            <a:r>
              <a:rPr lang="en-US" sz="3200" dirty="0"/>
              <a:t>Why agents are useful</a:t>
            </a:r>
          </a:p>
        </p:txBody>
      </p:sp>
      <p:sp>
        <p:nvSpPr>
          <p:cNvPr id="3" name="Footer Placeholder 2">
            <a:extLst>
              <a:ext uri="{FF2B5EF4-FFF2-40B4-BE49-F238E27FC236}">
                <a16:creationId xmlns:a16="http://schemas.microsoft.com/office/drawing/2014/main" id="{BC39DD98-245E-C7C8-AC97-C68A8E6612C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Oval 4">
            <a:extLst>
              <a:ext uri="{FF2B5EF4-FFF2-40B4-BE49-F238E27FC236}">
                <a16:creationId xmlns:a16="http://schemas.microsoft.com/office/drawing/2014/main" id="{598080E3-1F96-C90F-0995-FDB51F3BE56E}"/>
              </a:ext>
              <a:ext uri="{C183D7F6-B498-43B3-948B-1728B52AA6E4}">
                <adec:decorative xmlns:adec="http://schemas.microsoft.com/office/drawing/2017/decorative" val="1"/>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Agent">
            <a:extLst>
              <a:ext uri="{FF2B5EF4-FFF2-40B4-BE49-F238E27FC236}">
                <a16:creationId xmlns:a16="http://schemas.microsoft.com/office/drawing/2014/main" id="{8D6E3945-20F7-6CC6-380E-D5A10227456F}"/>
              </a:ext>
            </a:extLst>
          </p:cNvPr>
          <p:cNvSpPr/>
          <p:nvPr/>
        </p:nvSpPr>
        <p:spPr>
          <a:xfrm>
            <a:off x="4953000" y="3888748"/>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pic>
        <p:nvPicPr>
          <p:cNvPr id="8" name="Graphic 7" descr="Robot with solid fill">
            <a:extLst>
              <a:ext uri="{FF2B5EF4-FFF2-40B4-BE49-F238E27FC236}">
                <a16:creationId xmlns:a16="http://schemas.microsoft.com/office/drawing/2014/main" id="{DBE8209C-A127-3744-CD2A-F82EF59E74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sp>
        <p:nvSpPr>
          <p:cNvPr id="9" name="RetrievalCard">
            <a:extLst>
              <a:ext uri="{FF2B5EF4-FFF2-40B4-BE49-F238E27FC236}">
                <a16:creationId xmlns:a16="http://schemas.microsoft.com/office/drawing/2014/main" id="{3C9E7835-3C91-7E05-E060-D418D0347AB4}"/>
              </a:ext>
            </a:extLst>
          </p:cNvPr>
          <p:cNvSpPr/>
          <p:nvPr/>
        </p:nvSpPr>
        <p:spPr>
          <a:xfrm>
            <a:off x="7676030" y="1386482"/>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Enhanced decision-making</a:t>
            </a:r>
          </a:p>
          <a:p>
            <a:r>
              <a:rPr lang="en-US" noProof="0" dirty="0"/>
              <a:t>Analyzes data to surface insights, predict outcomes, and recommend actions in real time.</a:t>
            </a:r>
            <a:endParaRPr lang="en-US" sz="2000" noProof="0" dirty="0">
              <a:latin typeface="+mj-lt"/>
            </a:endParaRPr>
          </a:p>
        </p:txBody>
      </p:sp>
      <p:sp>
        <p:nvSpPr>
          <p:cNvPr id="10" name="RetrievalCard">
            <a:extLst>
              <a:ext uri="{FF2B5EF4-FFF2-40B4-BE49-F238E27FC236}">
                <a16:creationId xmlns:a16="http://schemas.microsoft.com/office/drawing/2014/main" id="{BF307BE4-1AC5-26E9-9F50-3E87B9D033FD}"/>
              </a:ext>
            </a:extLst>
          </p:cNvPr>
          <p:cNvSpPr/>
          <p:nvPr/>
        </p:nvSpPr>
        <p:spPr>
          <a:xfrm>
            <a:off x="767603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24/7 availability</a:t>
            </a:r>
          </a:p>
          <a:p>
            <a:r>
              <a:rPr lang="en-US" dirty="0"/>
              <a:t>Operates continuously without breaks, keeping services available around the clock.</a:t>
            </a:r>
            <a:endParaRPr lang="en-US" sz="2000" noProof="0" dirty="0">
              <a:latin typeface="+mj-lt"/>
            </a:endParaRPr>
          </a:p>
        </p:txBody>
      </p:sp>
      <p:pic>
        <p:nvPicPr>
          <p:cNvPr id="12" name="Graphic 11" descr="Clock with solid fill">
            <a:extLst>
              <a:ext uri="{FF2B5EF4-FFF2-40B4-BE49-F238E27FC236}">
                <a16:creationId xmlns:a16="http://schemas.microsoft.com/office/drawing/2014/main" id="{51AE13F7-CD55-15E9-EE3C-0D5709CBD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9291" y="3853427"/>
            <a:ext cx="731520" cy="731520"/>
          </a:xfrm>
          <a:prstGeom prst="rect">
            <a:avLst/>
          </a:prstGeom>
        </p:spPr>
      </p:pic>
      <p:pic>
        <p:nvPicPr>
          <p:cNvPr id="14" name="Graphic 13" descr="Heartbeat with solid fill">
            <a:extLst>
              <a:ext uri="{FF2B5EF4-FFF2-40B4-BE49-F238E27FC236}">
                <a16:creationId xmlns:a16="http://schemas.microsoft.com/office/drawing/2014/main" id="{635838E0-CD26-E348-68CB-00EF06F8B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3231" y="1498820"/>
            <a:ext cx="731520" cy="731520"/>
          </a:xfrm>
          <a:prstGeom prst="rect">
            <a:avLst/>
          </a:prstGeom>
        </p:spPr>
      </p:pic>
      <p:sp>
        <p:nvSpPr>
          <p:cNvPr id="15" name="RetrievalCard">
            <a:extLst>
              <a:ext uri="{FF2B5EF4-FFF2-40B4-BE49-F238E27FC236}">
                <a16:creationId xmlns:a16="http://schemas.microsoft.com/office/drawing/2014/main" id="{B3F415E8-BDA1-E65A-23E1-CC850BA8A4FC}"/>
              </a:ext>
            </a:extLst>
          </p:cNvPr>
          <p:cNvSpPr/>
          <p:nvPr/>
        </p:nvSpPr>
        <p:spPr>
          <a:xfrm>
            <a:off x="579438" y="1393885"/>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Automation of routine tasks</a:t>
            </a:r>
          </a:p>
          <a:p>
            <a:r>
              <a:rPr lang="en-US" dirty="0"/>
              <a:t>Handles repetitive activities, freeing humans to focus on strategic and creative work.</a:t>
            </a:r>
            <a:endParaRPr lang="en-US" sz="2000" noProof="0" dirty="0">
              <a:latin typeface="+mj-lt"/>
            </a:endParaRPr>
          </a:p>
        </p:txBody>
      </p:sp>
      <p:pic>
        <p:nvPicPr>
          <p:cNvPr id="17" name="Graphic 16" descr="Single gear with solid fill">
            <a:extLst>
              <a:ext uri="{FF2B5EF4-FFF2-40B4-BE49-F238E27FC236}">
                <a16:creationId xmlns:a16="http://schemas.microsoft.com/office/drawing/2014/main" id="{3318A568-A1F7-B420-548A-266AD8208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187" y="1514969"/>
            <a:ext cx="731520" cy="731520"/>
          </a:xfrm>
          <a:prstGeom prst="rect">
            <a:avLst/>
          </a:prstGeom>
        </p:spPr>
      </p:pic>
      <p:sp>
        <p:nvSpPr>
          <p:cNvPr id="18" name="RetrievalCard">
            <a:extLst>
              <a:ext uri="{FF2B5EF4-FFF2-40B4-BE49-F238E27FC236}">
                <a16:creationId xmlns:a16="http://schemas.microsoft.com/office/drawing/2014/main" id="{3519FB66-6EAD-EE3B-C24C-419940415455}"/>
              </a:ext>
            </a:extLst>
          </p:cNvPr>
          <p:cNvSpPr/>
          <p:nvPr/>
        </p:nvSpPr>
        <p:spPr>
          <a:xfrm>
            <a:off x="59620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dirty="0">
                <a:latin typeface="+mj-lt"/>
              </a:rPr>
              <a:t>Scalability</a:t>
            </a:r>
          </a:p>
          <a:p>
            <a:r>
              <a:rPr lang="en-US" dirty="0"/>
              <a:t>Grows capabilities without proportional increases in headcount or operational costs.</a:t>
            </a:r>
            <a:endParaRPr lang="en-US" sz="2000" noProof="0" dirty="0">
              <a:latin typeface="+mj-lt"/>
            </a:endParaRPr>
          </a:p>
        </p:txBody>
      </p:sp>
      <p:pic>
        <p:nvPicPr>
          <p:cNvPr id="20" name="Graphic 19" descr="Maximize with solid fill">
            <a:extLst>
              <a:ext uri="{FF2B5EF4-FFF2-40B4-BE49-F238E27FC236}">
                <a16:creationId xmlns:a16="http://schemas.microsoft.com/office/drawing/2014/main" id="{6C7E8F3D-FAEE-3A7C-5874-14BE6949B1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681" y="3913270"/>
            <a:ext cx="640080" cy="640080"/>
          </a:xfrm>
          <a:prstGeom prst="rect">
            <a:avLst/>
          </a:prstGeom>
        </p:spPr>
      </p:pic>
    </p:spTree>
    <p:extLst>
      <p:ext uri="{BB962C8B-B14F-4D97-AF65-F5344CB8AC3E}">
        <p14:creationId xmlns:p14="http://schemas.microsoft.com/office/powerpoint/2010/main" val="13073230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3271-EF7B-32A2-8344-47ADB32E21D5}"/>
              </a:ext>
            </a:extLst>
          </p:cNvPr>
          <p:cNvSpPr>
            <a:spLocks noGrp="1"/>
          </p:cNvSpPr>
          <p:nvPr>
            <p:ph type="title"/>
          </p:nvPr>
        </p:nvSpPr>
        <p:spPr>
          <a:xfrm>
            <a:off x="588261" y="585216"/>
            <a:ext cx="11011601" cy="492443"/>
          </a:xfrm>
        </p:spPr>
        <p:txBody>
          <a:bodyPr/>
          <a:lstStyle/>
          <a:p>
            <a:r>
              <a:rPr lang="en-US" sz="3200" dirty="0"/>
              <a:t>AI agent use cases</a:t>
            </a:r>
          </a:p>
        </p:txBody>
      </p:sp>
      <p:sp>
        <p:nvSpPr>
          <p:cNvPr id="5" name="Rounded Rectangle 4">
            <a:extLst>
              <a:ext uri="{FF2B5EF4-FFF2-40B4-BE49-F238E27FC236}">
                <a16:creationId xmlns:a16="http://schemas.microsoft.com/office/drawing/2014/main" id="{B0E46325-966E-41AA-A98F-F2290122CE53}"/>
              </a:ext>
              <a:ext uri="{C183D7F6-B498-43B3-948B-1728B52AA6E4}">
                <adec:decorative xmlns:adec="http://schemas.microsoft.com/office/drawing/2017/decorative" val="1"/>
              </a:ext>
            </a:extLst>
          </p:cNvPr>
          <p:cNvSpPr/>
          <p:nvPr/>
        </p:nvSpPr>
        <p:spPr>
          <a:xfrm>
            <a:off x="546354" y="1180651"/>
            <a:ext cx="5490972" cy="2525750"/>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59" name="Rounded Rectangle 58">
            <a:extLst>
              <a:ext uri="{FF2B5EF4-FFF2-40B4-BE49-F238E27FC236}">
                <a16:creationId xmlns:a16="http://schemas.microsoft.com/office/drawing/2014/main" id="{04237723-B165-1935-7E85-689EED7725C4}"/>
              </a:ext>
              <a:ext uri="{C183D7F6-B498-43B3-948B-1728B52AA6E4}">
                <adec:decorative xmlns:adec="http://schemas.microsoft.com/office/drawing/2017/decorative" val="1"/>
              </a:ext>
            </a:extLst>
          </p:cNvPr>
          <p:cNvSpPr/>
          <p:nvPr/>
        </p:nvSpPr>
        <p:spPr>
          <a:xfrm>
            <a:off x="502920" y="1157501"/>
            <a:ext cx="5577840" cy="4572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Oval 7">
            <a:extLst>
              <a:ext uri="{FF2B5EF4-FFF2-40B4-BE49-F238E27FC236}">
                <a16:creationId xmlns:a16="http://schemas.microsoft.com/office/drawing/2014/main" id="{02AEC30F-A500-91A2-A534-B67307835279}"/>
              </a:ext>
              <a:ext uri="{C183D7F6-B498-43B3-948B-1728B52AA6E4}">
                <adec:decorative xmlns:adec="http://schemas.microsoft.com/office/drawing/2017/decorative" val="1"/>
              </a:ext>
            </a:extLst>
          </p:cNvPr>
          <p:cNvSpPr/>
          <p:nvPr/>
        </p:nvSpPr>
        <p:spPr>
          <a:xfrm>
            <a:off x="640080" y="1281235"/>
            <a:ext cx="256032" cy="25603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8A4F5831-BFAC-CBC8-A95B-B73E3AF9C955}"/>
              </a:ext>
            </a:extLst>
          </p:cNvPr>
          <p:cNvSpPr txBox="1"/>
          <p:nvPr/>
        </p:nvSpPr>
        <p:spPr>
          <a:xfrm>
            <a:off x="978408" y="1240894"/>
            <a:ext cx="4878324" cy="338554"/>
          </a:xfrm>
          <a:prstGeom prst="rect">
            <a:avLst/>
          </a:prstGeom>
          <a:noFill/>
        </p:spPr>
        <p:txBody>
          <a:bodyPr wrap="square" anchor="ctr">
            <a:spAutoFit/>
          </a:bodyPr>
          <a:lstStyle/>
          <a:p>
            <a:pPr algn="l"/>
            <a:r>
              <a:rPr sz="1600" b="1" dirty="0">
                <a:solidFill>
                  <a:srgbClr val="005A9E"/>
                </a:solidFill>
                <a:latin typeface="Segoe UI"/>
              </a:rPr>
              <a:t>Personal productivity</a:t>
            </a:r>
          </a:p>
        </p:txBody>
      </p:sp>
      <p:sp>
        <p:nvSpPr>
          <p:cNvPr id="10" name="Rounded Rectangle 9">
            <a:extLst>
              <a:ext uri="{FF2B5EF4-FFF2-40B4-BE49-F238E27FC236}">
                <a16:creationId xmlns:a16="http://schemas.microsoft.com/office/drawing/2014/main" id="{D76925EA-E83E-B772-9EF0-2F71DF941288}"/>
              </a:ext>
              <a:ext uri="{C183D7F6-B498-43B3-948B-1728B52AA6E4}">
                <adec:decorative xmlns:adec="http://schemas.microsoft.com/office/drawing/2017/decorative" val="1"/>
              </a:ext>
            </a:extLst>
          </p:cNvPr>
          <p:cNvSpPr/>
          <p:nvPr/>
        </p:nvSpPr>
        <p:spPr>
          <a:xfrm>
            <a:off x="1903232" y="1747579"/>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587FE110-01A6-794C-75F7-5310401AE207}"/>
              </a:ext>
            </a:extLst>
          </p:cNvPr>
          <p:cNvSpPr txBox="1"/>
          <p:nvPr/>
        </p:nvSpPr>
        <p:spPr>
          <a:xfrm>
            <a:off x="1985528" y="1802443"/>
            <a:ext cx="3788907" cy="261610"/>
          </a:xfrm>
          <a:prstGeom prst="rect">
            <a:avLst/>
          </a:prstGeom>
          <a:noFill/>
        </p:spPr>
        <p:txBody>
          <a:bodyPr wrap="square">
            <a:spAutoFit/>
          </a:bodyPr>
          <a:lstStyle/>
          <a:p>
            <a:pPr algn="l"/>
            <a:r>
              <a:rPr sz="1100" b="0" dirty="0">
                <a:solidFill>
                  <a:srgbClr val="FFFFFF"/>
                </a:solidFill>
                <a:latin typeface="Segoe UI"/>
              </a:rPr>
              <a:t>Schedule our team standup for next week.</a:t>
            </a:r>
          </a:p>
        </p:txBody>
      </p:sp>
      <p:sp>
        <p:nvSpPr>
          <p:cNvPr id="12" name="Rounded Rectangle 11">
            <a:extLst>
              <a:ext uri="{FF2B5EF4-FFF2-40B4-BE49-F238E27FC236}">
                <a16:creationId xmlns:a16="http://schemas.microsoft.com/office/drawing/2014/main" id="{8B9F1247-7B2E-99A1-43A1-4FFBCC9505C1}"/>
              </a:ext>
              <a:ext uri="{C183D7F6-B498-43B3-948B-1728B52AA6E4}">
                <adec:decorative xmlns:adec="http://schemas.microsoft.com/office/drawing/2017/decorative" val="1"/>
              </a:ext>
            </a:extLst>
          </p:cNvPr>
          <p:cNvSpPr/>
          <p:nvPr/>
        </p:nvSpPr>
        <p:spPr>
          <a:xfrm>
            <a:off x="640080" y="2177347"/>
            <a:ext cx="4291827"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B974C1D9-688E-02C8-0551-3FB1D80FADC5}"/>
              </a:ext>
            </a:extLst>
          </p:cNvPr>
          <p:cNvSpPr txBox="1"/>
          <p:nvPr/>
        </p:nvSpPr>
        <p:spPr>
          <a:xfrm>
            <a:off x="722376" y="2232211"/>
            <a:ext cx="4113150" cy="261610"/>
          </a:xfrm>
          <a:prstGeom prst="rect">
            <a:avLst/>
          </a:prstGeom>
          <a:noFill/>
        </p:spPr>
        <p:txBody>
          <a:bodyPr wrap="square">
            <a:spAutoFit/>
          </a:bodyPr>
          <a:lstStyle/>
          <a:p>
            <a:pPr algn="l"/>
            <a:r>
              <a:rPr sz="1100" b="0" dirty="0">
                <a:solidFill>
                  <a:srgbClr val="333333"/>
                </a:solidFill>
                <a:latin typeface="Segoe UI"/>
              </a:rPr>
              <a:t>Done! Mon–Fri at 9 AM — invites sent to all 6 team members.</a:t>
            </a:r>
          </a:p>
        </p:txBody>
      </p:sp>
      <p:sp>
        <p:nvSpPr>
          <p:cNvPr id="14" name="Rounded Rectangle 13">
            <a:extLst>
              <a:ext uri="{FF2B5EF4-FFF2-40B4-BE49-F238E27FC236}">
                <a16:creationId xmlns:a16="http://schemas.microsoft.com/office/drawing/2014/main" id="{0684EDF4-970F-1831-F743-497D0694D48B}"/>
              </a:ext>
              <a:ext uri="{C183D7F6-B498-43B3-948B-1728B52AA6E4}">
                <adec:decorative xmlns:adec="http://schemas.microsoft.com/office/drawing/2017/decorative" val="1"/>
              </a:ext>
            </a:extLst>
          </p:cNvPr>
          <p:cNvSpPr/>
          <p:nvPr/>
        </p:nvSpPr>
        <p:spPr>
          <a:xfrm>
            <a:off x="1903232" y="2607115"/>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a:extLst>
              <a:ext uri="{FF2B5EF4-FFF2-40B4-BE49-F238E27FC236}">
                <a16:creationId xmlns:a16="http://schemas.microsoft.com/office/drawing/2014/main" id="{00ACD12C-AA74-A53E-1B65-E99ECF1865B4}"/>
              </a:ext>
            </a:extLst>
          </p:cNvPr>
          <p:cNvSpPr txBox="1"/>
          <p:nvPr/>
        </p:nvSpPr>
        <p:spPr>
          <a:xfrm>
            <a:off x="1985528" y="2661979"/>
            <a:ext cx="3788907" cy="261610"/>
          </a:xfrm>
          <a:prstGeom prst="rect">
            <a:avLst/>
          </a:prstGeom>
          <a:noFill/>
        </p:spPr>
        <p:txBody>
          <a:bodyPr wrap="square">
            <a:spAutoFit/>
          </a:bodyPr>
          <a:lstStyle/>
          <a:p>
            <a:pPr algn="l"/>
            <a:r>
              <a:rPr sz="1100" b="0" dirty="0">
                <a:solidFill>
                  <a:srgbClr val="FFFFFF"/>
                </a:solidFill>
                <a:latin typeface="Segoe UI"/>
              </a:rPr>
              <a:t>Also draft a recap email from yesterday's notes.</a:t>
            </a:r>
          </a:p>
        </p:txBody>
      </p:sp>
      <p:sp>
        <p:nvSpPr>
          <p:cNvPr id="16" name="Rounded Rectangle 15">
            <a:extLst>
              <a:ext uri="{FF2B5EF4-FFF2-40B4-BE49-F238E27FC236}">
                <a16:creationId xmlns:a16="http://schemas.microsoft.com/office/drawing/2014/main" id="{19337AA6-8BA5-BC3E-82E0-C588852298BE}"/>
              </a:ext>
              <a:ext uri="{C183D7F6-B498-43B3-948B-1728B52AA6E4}">
                <adec:decorative xmlns:adec="http://schemas.microsoft.com/office/drawing/2017/decorative" val="1"/>
              </a:ext>
            </a:extLst>
          </p:cNvPr>
          <p:cNvSpPr/>
          <p:nvPr/>
        </p:nvSpPr>
        <p:spPr>
          <a:xfrm>
            <a:off x="640080" y="3036883"/>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70F48770-C3DE-ADE0-4EF4-5CDCB7763952}"/>
              </a:ext>
            </a:extLst>
          </p:cNvPr>
          <p:cNvSpPr txBox="1"/>
          <p:nvPr/>
        </p:nvSpPr>
        <p:spPr>
          <a:xfrm>
            <a:off x="722376" y="3091747"/>
            <a:ext cx="3788907" cy="261610"/>
          </a:xfrm>
          <a:prstGeom prst="rect">
            <a:avLst/>
          </a:prstGeom>
          <a:noFill/>
        </p:spPr>
        <p:txBody>
          <a:bodyPr wrap="square">
            <a:spAutoFit/>
          </a:bodyPr>
          <a:lstStyle/>
          <a:p>
            <a:pPr algn="l"/>
            <a:r>
              <a:rPr sz="1100" b="0">
                <a:solidFill>
                  <a:srgbClr val="333333"/>
                </a:solidFill>
                <a:latin typeface="Segoe UI"/>
              </a:rPr>
              <a:t>Draft ready in your Drafts folder. Want me to send it?</a:t>
            </a:r>
          </a:p>
        </p:txBody>
      </p:sp>
      <p:sp>
        <p:nvSpPr>
          <p:cNvPr id="18" name="Rounded Rectangle 17">
            <a:extLst>
              <a:ext uri="{FF2B5EF4-FFF2-40B4-BE49-F238E27FC236}">
                <a16:creationId xmlns:a16="http://schemas.microsoft.com/office/drawing/2014/main" id="{431FEB76-3C5B-6CB2-FE30-852630DFA86C}"/>
              </a:ext>
              <a:ext uri="{C183D7F6-B498-43B3-948B-1728B52AA6E4}">
                <adec:decorative xmlns:adec="http://schemas.microsoft.com/office/drawing/2017/decorative" val="1"/>
              </a:ext>
            </a:extLst>
          </p:cNvPr>
          <p:cNvSpPr/>
          <p:nvPr/>
        </p:nvSpPr>
        <p:spPr>
          <a:xfrm>
            <a:off x="6238494" y="1171380"/>
            <a:ext cx="5490972" cy="2557223"/>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a:extLst>
              <a:ext uri="{FF2B5EF4-FFF2-40B4-BE49-F238E27FC236}">
                <a16:creationId xmlns:a16="http://schemas.microsoft.com/office/drawing/2014/main" id="{056DBA50-83BF-5B91-161F-12A8875A6120}"/>
              </a:ext>
              <a:ext uri="{C183D7F6-B498-43B3-948B-1728B52AA6E4}">
                <adec:decorative xmlns:adec="http://schemas.microsoft.com/office/drawing/2017/decorative" val="1"/>
              </a:ext>
            </a:extLst>
          </p:cNvPr>
          <p:cNvSpPr/>
          <p:nvPr/>
        </p:nvSpPr>
        <p:spPr>
          <a:xfrm>
            <a:off x="6195060" y="1148230"/>
            <a:ext cx="5577840" cy="45720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Oval 20">
            <a:extLst>
              <a:ext uri="{FF2B5EF4-FFF2-40B4-BE49-F238E27FC236}">
                <a16:creationId xmlns:a16="http://schemas.microsoft.com/office/drawing/2014/main" id="{8A947D61-624D-8D81-2C22-FFF25B71082F}"/>
              </a:ext>
              <a:ext uri="{C183D7F6-B498-43B3-948B-1728B52AA6E4}">
                <adec:decorative xmlns:adec="http://schemas.microsoft.com/office/drawing/2017/decorative" val="1"/>
              </a:ext>
            </a:extLst>
          </p:cNvPr>
          <p:cNvSpPr/>
          <p:nvPr/>
        </p:nvSpPr>
        <p:spPr>
          <a:xfrm>
            <a:off x="6332220" y="1294682"/>
            <a:ext cx="256032" cy="25603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a:extLst>
              <a:ext uri="{FF2B5EF4-FFF2-40B4-BE49-F238E27FC236}">
                <a16:creationId xmlns:a16="http://schemas.microsoft.com/office/drawing/2014/main" id="{E7D60CDC-7F29-0460-5E95-420D640AF86E}"/>
              </a:ext>
            </a:extLst>
          </p:cNvPr>
          <p:cNvSpPr txBox="1"/>
          <p:nvPr/>
        </p:nvSpPr>
        <p:spPr>
          <a:xfrm>
            <a:off x="6670548" y="1242766"/>
            <a:ext cx="4878324" cy="338554"/>
          </a:xfrm>
          <a:prstGeom prst="rect">
            <a:avLst/>
          </a:prstGeom>
          <a:noFill/>
        </p:spPr>
        <p:txBody>
          <a:bodyPr wrap="square" anchor="ctr">
            <a:spAutoFit/>
          </a:bodyPr>
          <a:lstStyle/>
          <a:p>
            <a:pPr algn="l"/>
            <a:r>
              <a:rPr sz="1600" b="1" dirty="0">
                <a:solidFill>
                  <a:srgbClr val="5B21B6"/>
                </a:solidFill>
                <a:latin typeface="Segoe UI"/>
              </a:rPr>
              <a:t>Research</a:t>
            </a:r>
          </a:p>
        </p:txBody>
      </p:sp>
      <p:sp>
        <p:nvSpPr>
          <p:cNvPr id="23" name="Rounded Rectangle 22">
            <a:extLst>
              <a:ext uri="{FF2B5EF4-FFF2-40B4-BE49-F238E27FC236}">
                <a16:creationId xmlns:a16="http://schemas.microsoft.com/office/drawing/2014/main" id="{AF650BC3-BC6D-4C4B-3EB0-96B4EE05D0B0}"/>
              </a:ext>
              <a:ext uri="{C183D7F6-B498-43B3-948B-1728B52AA6E4}">
                <adec:decorative xmlns:adec="http://schemas.microsoft.com/office/drawing/2017/decorative" val="1"/>
              </a:ext>
            </a:extLst>
          </p:cNvPr>
          <p:cNvSpPr/>
          <p:nvPr/>
        </p:nvSpPr>
        <p:spPr>
          <a:xfrm>
            <a:off x="7595372" y="1761026"/>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a:extLst>
              <a:ext uri="{FF2B5EF4-FFF2-40B4-BE49-F238E27FC236}">
                <a16:creationId xmlns:a16="http://schemas.microsoft.com/office/drawing/2014/main" id="{5A07094F-FC98-B757-F1CF-ECA47CD84D18}"/>
              </a:ext>
            </a:extLst>
          </p:cNvPr>
          <p:cNvSpPr txBox="1"/>
          <p:nvPr/>
        </p:nvSpPr>
        <p:spPr>
          <a:xfrm>
            <a:off x="7677668" y="1815890"/>
            <a:ext cx="3788907" cy="261610"/>
          </a:xfrm>
          <a:prstGeom prst="rect">
            <a:avLst/>
          </a:prstGeom>
          <a:noFill/>
        </p:spPr>
        <p:txBody>
          <a:bodyPr wrap="square">
            <a:spAutoFit/>
          </a:bodyPr>
          <a:lstStyle/>
          <a:p>
            <a:pPr algn="l"/>
            <a:r>
              <a:rPr sz="1100" b="0">
                <a:solidFill>
                  <a:srgbClr val="FFFFFF"/>
                </a:solidFill>
                <a:latin typeface="Segoe UI"/>
              </a:rPr>
              <a:t>Any major shifts in the AI market this week?</a:t>
            </a:r>
          </a:p>
        </p:txBody>
      </p:sp>
      <p:sp>
        <p:nvSpPr>
          <p:cNvPr id="25" name="Rounded Rectangle 24">
            <a:extLst>
              <a:ext uri="{FF2B5EF4-FFF2-40B4-BE49-F238E27FC236}">
                <a16:creationId xmlns:a16="http://schemas.microsoft.com/office/drawing/2014/main" id="{E20DAF62-BEEE-FD3E-68ED-53A3C3767273}"/>
              </a:ext>
              <a:ext uri="{C183D7F6-B498-43B3-948B-1728B52AA6E4}">
                <adec:decorative xmlns:adec="http://schemas.microsoft.com/office/drawing/2017/decorative" val="1"/>
              </a:ext>
            </a:extLst>
          </p:cNvPr>
          <p:cNvSpPr/>
          <p:nvPr/>
        </p:nvSpPr>
        <p:spPr>
          <a:xfrm>
            <a:off x="6332220" y="2190793"/>
            <a:ext cx="4492662" cy="50664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a:extLst>
              <a:ext uri="{FF2B5EF4-FFF2-40B4-BE49-F238E27FC236}">
                <a16:creationId xmlns:a16="http://schemas.microsoft.com/office/drawing/2014/main" id="{D35256B1-48A9-0219-CEB4-16FB74E238D0}"/>
              </a:ext>
            </a:extLst>
          </p:cNvPr>
          <p:cNvSpPr txBox="1"/>
          <p:nvPr/>
        </p:nvSpPr>
        <p:spPr>
          <a:xfrm>
            <a:off x="6414516" y="2245658"/>
            <a:ext cx="4305624" cy="430887"/>
          </a:xfrm>
          <a:prstGeom prst="rect">
            <a:avLst/>
          </a:prstGeom>
          <a:noFill/>
        </p:spPr>
        <p:txBody>
          <a:bodyPr wrap="square">
            <a:spAutoFit/>
          </a:bodyPr>
          <a:lstStyle/>
          <a:p>
            <a:pPr algn="l"/>
            <a:r>
              <a:rPr sz="1100" b="0" dirty="0">
                <a:solidFill>
                  <a:srgbClr val="333333"/>
                </a:solidFill>
                <a:latin typeface="Segoe UI"/>
              </a:rPr>
              <a:t>3 key updates: AI adoption up 40%, EU AI Act enforcement started, healthcare AI funding at record high.</a:t>
            </a:r>
          </a:p>
        </p:txBody>
      </p:sp>
      <p:grpSp>
        <p:nvGrpSpPr>
          <p:cNvPr id="57" name="Group 56">
            <a:extLst>
              <a:ext uri="{FF2B5EF4-FFF2-40B4-BE49-F238E27FC236}">
                <a16:creationId xmlns:a16="http://schemas.microsoft.com/office/drawing/2014/main" id="{C515FC7F-D2B7-461F-FB20-E84BB1F0A767}"/>
              </a:ext>
            </a:extLst>
          </p:cNvPr>
          <p:cNvGrpSpPr/>
          <p:nvPr/>
        </p:nvGrpSpPr>
        <p:grpSpPr>
          <a:xfrm>
            <a:off x="7595372" y="2781926"/>
            <a:ext cx="3953499" cy="347472"/>
            <a:chOff x="7595372" y="2620562"/>
            <a:chExt cx="3953499" cy="347472"/>
          </a:xfrm>
        </p:grpSpPr>
        <p:sp>
          <p:nvSpPr>
            <p:cNvPr id="27" name="Rounded Rectangle 26">
              <a:extLst>
                <a:ext uri="{FF2B5EF4-FFF2-40B4-BE49-F238E27FC236}">
                  <a16:creationId xmlns:a16="http://schemas.microsoft.com/office/drawing/2014/main" id="{B5FB9280-70E4-936E-EAAA-E80C442B8998}"/>
                </a:ext>
              </a:extLst>
            </p:cNvPr>
            <p:cNvSpPr/>
            <p:nvPr/>
          </p:nvSpPr>
          <p:spPr>
            <a:xfrm>
              <a:off x="7595372" y="2620562"/>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a:extLst>
                <a:ext uri="{FF2B5EF4-FFF2-40B4-BE49-F238E27FC236}">
                  <a16:creationId xmlns:a16="http://schemas.microsoft.com/office/drawing/2014/main" id="{D6E1DA7B-D8DC-85D6-4A12-1EF572559E6A}"/>
                </a:ext>
              </a:extLst>
            </p:cNvPr>
            <p:cNvSpPr txBox="1"/>
            <p:nvPr/>
          </p:nvSpPr>
          <p:spPr>
            <a:xfrm>
              <a:off x="7677668" y="2675426"/>
              <a:ext cx="3788907" cy="261610"/>
            </a:xfrm>
            <a:prstGeom prst="rect">
              <a:avLst/>
            </a:prstGeom>
            <a:noFill/>
          </p:spPr>
          <p:txBody>
            <a:bodyPr wrap="square">
              <a:spAutoFit/>
            </a:bodyPr>
            <a:lstStyle/>
            <a:p>
              <a:pPr algn="l"/>
              <a:r>
                <a:rPr sz="1100" b="0" dirty="0">
                  <a:solidFill>
                    <a:srgbClr val="FFFFFF"/>
                  </a:solidFill>
                  <a:latin typeface="Segoe UI"/>
                </a:rPr>
                <a:t>Generate a summary report for the team.</a:t>
              </a:r>
            </a:p>
          </p:txBody>
        </p:sp>
      </p:grpSp>
      <p:grpSp>
        <p:nvGrpSpPr>
          <p:cNvPr id="58" name="Group 57">
            <a:extLst>
              <a:ext uri="{FF2B5EF4-FFF2-40B4-BE49-F238E27FC236}">
                <a16:creationId xmlns:a16="http://schemas.microsoft.com/office/drawing/2014/main" id="{C152AB72-4514-48CD-64C5-F0C625A586DF}"/>
              </a:ext>
            </a:extLst>
          </p:cNvPr>
          <p:cNvGrpSpPr/>
          <p:nvPr/>
        </p:nvGrpSpPr>
        <p:grpSpPr>
          <a:xfrm>
            <a:off x="6332220" y="3265485"/>
            <a:ext cx="4492662" cy="463118"/>
            <a:chOff x="6332220" y="3050330"/>
            <a:chExt cx="3953499" cy="457629"/>
          </a:xfrm>
        </p:grpSpPr>
        <p:sp>
          <p:nvSpPr>
            <p:cNvPr id="29" name="Rounded Rectangle 28">
              <a:extLst>
                <a:ext uri="{FF2B5EF4-FFF2-40B4-BE49-F238E27FC236}">
                  <a16:creationId xmlns:a16="http://schemas.microsoft.com/office/drawing/2014/main" id="{31561781-592A-54A9-8AE2-7C0866621F07}"/>
                </a:ext>
              </a:extLst>
            </p:cNvPr>
            <p:cNvSpPr/>
            <p:nvPr/>
          </p:nvSpPr>
          <p:spPr>
            <a:xfrm>
              <a:off x="6332220" y="3050330"/>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a:extLst>
                <a:ext uri="{FF2B5EF4-FFF2-40B4-BE49-F238E27FC236}">
                  <a16:creationId xmlns:a16="http://schemas.microsoft.com/office/drawing/2014/main" id="{13D940B3-A05C-1CBB-95A2-27729CB6FB99}"/>
                </a:ext>
              </a:extLst>
            </p:cNvPr>
            <p:cNvSpPr txBox="1"/>
            <p:nvPr/>
          </p:nvSpPr>
          <p:spPr>
            <a:xfrm>
              <a:off x="6414516" y="3077072"/>
              <a:ext cx="3788907" cy="430887"/>
            </a:xfrm>
            <a:prstGeom prst="rect">
              <a:avLst/>
            </a:prstGeom>
            <a:noFill/>
          </p:spPr>
          <p:txBody>
            <a:bodyPr wrap="square">
              <a:spAutoFit/>
            </a:bodyPr>
            <a:lstStyle/>
            <a:p>
              <a:pPr algn="l"/>
              <a:r>
                <a:rPr sz="1100" b="0" dirty="0">
                  <a:solidFill>
                    <a:srgbClr val="333333"/>
                  </a:solidFill>
                  <a:latin typeface="Segoe UI"/>
                </a:rPr>
                <a:t>Report generated — 2-page summary with source links attached.</a:t>
              </a:r>
            </a:p>
          </p:txBody>
        </p:sp>
      </p:grpSp>
      <p:grpSp>
        <p:nvGrpSpPr>
          <p:cNvPr id="89" name="Group 88">
            <a:extLst>
              <a:ext uri="{FF2B5EF4-FFF2-40B4-BE49-F238E27FC236}">
                <a16:creationId xmlns:a16="http://schemas.microsoft.com/office/drawing/2014/main" id="{D3571D52-BD9C-F805-6533-949B016C872D}"/>
              </a:ext>
            </a:extLst>
          </p:cNvPr>
          <p:cNvGrpSpPr/>
          <p:nvPr/>
        </p:nvGrpSpPr>
        <p:grpSpPr>
          <a:xfrm>
            <a:off x="502920" y="3789318"/>
            <a:ext cx="5577840" cy="2483466"/>
            <a:chOff x="502920" y="3789318"/>
            <a:chExt cx="5577840" cy="2483466"/>
          </a:xfrm>
        </p:grpSpPr>
        <p:sp>
          <p:nvSpPr>
            <p:cNvPr id="60" name="Rounded Rectangle 59">
              <a:extLst>
                <a:ext uri="{FF2B5EF4-FFF2-40B4-BE49-F238E27FC236}">
                  <a16:creationId xmlns:a16="http://schemas.microsoft.com/office/drawing/2014/main" id="{E3F91047-E82C-B772-F2CD-27933FEA53B8}"/>
                </a:ext>
              </a:extLst>
            </p:cNvPr>
            <p:cNvSpPr/>
            <p:nvPr/>
          </p:nvSpPr>
          <p:spPr>
            <a:xfrm>
              <a:off x="546354" y="3812468"/>
              <a:ext cx="5490972" cy="24603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ounded Rectangle 60">
              <a:extLst>
                <a:ext uri="{FF2B5EF4-FFF2-40B4-BE49-F238E27FC236}">
                  <a16:creationId xmlns:a16="http://schemas.microsoft.com/office/drawing/2014/main" id="{5E24659F-D8D0-1DA4-D8E6-D90D4E7B99BD}"/>
                </a:ext>
              </a:extLst>
            </p:cNvPr>
            <p:cNvSpPr/>
            <p:nvPr/>
          </p:nvSpPr>
          <p:spPr>
            <a:xfrm>
              <a:off x="502920" y="3789318"/>
              <a:ext cx="5577840" cy="457200"/>
            </a:xfrm>
            <a:prstGeom prst="roundRect">
              <a:avLst/>
            </a:prstGeom>
            <a:solidFill>
              <a:srgbClr val="FF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a:extLst>
                <a:ext uri="{FF2B5EF4-FFF2-40B4-BE49-F238E27FC236}">
                  <a16:creationId xmlns:a16="http://schemas.microsoft.com/office/drawing/2014/main" id="{C371B687-449E-A5FA-8868-8F5F8ED97741}"/>
                </a:ext>
              </a:extLst>
            </p:cNvPr>
            <p:cNvSpPr/>
            <p:nvPr/>
          </p:nvSpPr>
          <p:spPr>
            <a:xfrm>
              <a:off x="640080" y="3878327"/>
              <a:ext cx="256032" cy="25603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a:extLst>
                <a:ext uri="{FF2B5EF4-FFF2-40B4-BE49-F238E27FC236}">
                  <a16:creationId xmlns:a16="http://schemas.microsoft.com/office/drawing/2014/main" id="{FF0F6D0D-38A5-333B-6FF9-C80A949FA119}"/>
                </a:ext>
              </a:extLst>
            </p:cNvPr>
            <p:cNvSpPr txBox="1"/>
            <p:nvPr/>
          </p:nvSpPr>
          <p:spPr>
            <a:xfrm>
              <a:off x="978408" y="3866753"/>
              <a:ext cx="4878324" cy="338554"/>
            </a:xfrm>
            <a:prstGeom prst="rect">
              <a:avLst/>
            </a:prstGeom>
            <a:noFill/>
          </p:spPr>
          <p:txBody>
            <a:bodyPr wrap="square">
              <a:spAutoFit/>
            </a:bodyPr>
            <a:lstStyle/>
            <a:p>
              <a:pPr algn="l"/>
              <a:r>
                <a:rPr sz="1600" b="1" dirty="0">
                  <a:solidFill>
                    <a:srgbClr val="BE185D"/>
                  </a:solidFill>
                  <a:latin typeface="Segoe UI"/>
                </a:rPr>
                <a:t>Sales</a:t>
              </a:r>
            </a:p>
          </p:txBody>
        </p:sp>
        <p:sp>
          <p:nvSpPr>
            <p:cNvPr id="65" name="Rounded Rectangle 64">
              <a:extLst>
                <a:ext uri="{FF2B5EF4-FFF2-40B4-BE49-F238E27FC236}">
                  <a16:creationId xmlns:a16="http://schemas.microsoft.com/office/drawing/2014/main" id="{3DC46DBF-8AFF-B7BE-B926-F30660CB8F95}"/>
                </a:ext>
              </a:extLst>
            </p:cNvPr>
            <p:cNvSpPr/>
            <p:nvPr/>
          </p:nvSpPr>
          <p:spPr>
            <a:xfrm>
              <a:off x="1903232" y="4425696"/>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a:extLst>
                <a:ext uri="{FF2B5EF4-FFF2-40B4-BE49-F238E27FC236}">
                  <a16:creationId xmlns:a16="http://schemas.microsoft.com/office/drawing/2014/main" id="{CE8BD59B-8909-DD12-6B6E-FBE6E7C5A794}"/>
                </a:ext>
              </a:extLst>
            </p:cNvPr>
            <p:cNvSpPr txBox="1"/>
            <p:nvPr/>
          </p:nvSpPr>
          <p:spPr>
            <a:xfrm>
              <a:off x="1985528" y="4480560"/>
              <a:ext cx="3788907" cy="261610"/>
            </a:xfrm>
            <a:prstGeom prst="rect">
              <a:avLst/>
            </a:prstGeom>
            <a:noFill/>
          </p:spPr>
          <p:txBody>
            <a:bodyPr wrap="square">
              <a:spAutoFit/>
            </a:bodyPr>
            <a:lstStyle/>
            <a:p>
              <a:pPr algn="l"/>
              <a:r>
                <a:rPr sz="1100" b="0" dirty="0">
                  <a:solidFill>
                    <a:srgbClr val="FFFFFF"/>
                  </a:solidFill>
                  <a:latin typeface="Segoe UI"/>
                </a:rPr>
                <a:t>Find leads in the Pacific Northwest retail sector.</a:t>
              </a:r>
            </a:p>
          </p:txBody>
        </p:sp>
        <p:grpSp>
          <p:nvGrpSpPr>
            <p:cNvPr id="88" name="Group 87">
              <a:extLst>
                <a:ext uri="{FF2B5EF4-FFF2-40B4-BE49-F238E27FC236}">
                  <a16:creationId xmlns:a16="http://schemas.microsoft.com/office/drawing/2014/main" id="{604F13FC-8E2B-921E-EBC1-4FA036054386}"/>
                </a:ext>
              </a:extLst>
            </p:cNvPr>
            <p:cNvGrpSpPr/>
            <p:nvPr/>
          </p:nvGrpSpPr>
          <p:grpSpPr>
            <a:xfrm>
              <a:off x="640080" y="4855464"/>
              <a:ext cx="3953499" cy="476068"/>
              <a:chOff x="640080" y="4855464"/>
              <a:chExt cx="3953499" cy="476068"/>
            </a:xfrm>
          </p:grpSpPr>
          <p:sp>
            <p:nvSpPr>
              <p:cNvPr id="67" name="Rounded Rectangle 66">
                <a:extLst>
                  <a:ext uri="{FF2B5EF4-FFF2-40B4-BE49-F238E27FC236}">
                    <a16:creationId xmlns:a16="http://schemas.microsoft.com/office/drawing/2014/main" id="{C691F126-AF11-4B77-F83A-8A92942BED2F}"/>
                  </a:ext>
                </a:extLst>
              </p:cNvPr>
              <p:cNvSpPr/>
              <p:nvPr/>
            </p:nvSpPr>
            <p:spPr>
              <a:xfrm>
                <a:off x="640080" y="4855464"/>
                <a:ext cx="3953499" cy="476068"/>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a:extLst>
                  <a:ext uri="{FF2B5EF4-FFF2-40B4-BE49-F238E27FC236}">
                    <a16:creationId xmlns:a16="http://schemas.microsoft.com/office/drawing/2014/main" id="{2C16B915-9B71-360F-7FD4-D0F947624AB9}"/>
                  </a:ext>
                </a:extLst>
              </p:cNvPr>
              <p:cNvSpPr txBox="1"/>
              <p:nvPr/>
            </p:nvSpPr>
            <p:spPr>
              <a:xfrm>
                <a:off x="722376" y="4875603"/>
                <a:ext cx="3788907" cy="430887"/>
              </a:xfrm>
              <a:prstGeom prst="rect">
                <a:avLst/>
              </a:prstGeom>
              <a:noFill/>
            </p:spPr>
            <p:txBody>
              <a:bodyPr wrap="square">
                <a:spAutoFit/>
              </a:bodyPr>
              <a:lstStyle/>
              <a:p>
                <a:pPr algn="l"/>
                <a:r>
                  <a:rPr sz="1100" b="0" dirty="0">
                    <a:solidFill>
                      <a:srgbClr val="333333"/>
                    </a:solidFill>
                    <a:latin typeface="Segoe UI"/>
                  </a:rPr>
                  <a:t>Found 14 leads. Drafted personalized emails and flagged 3 as high-priority for calls.</a:t>
                </a:r>
              </a:p>
            </p:txBody>
          </p:sp>
        </p:grpSp>
        <p:grpSp>
          <p:nvGrpSpPr>
            <p:cNvPr id="86" name="Group 85">
              <a:extLst>
                <a:ext uri="{FF2B5EF4-FFF2-40B4-BE49-F238E27FC236}">
                  <a16:creationId xmlns:a16="http://schemas.microsoft.com/office/drawing/2014/main" id="{DFAB7B37-0DB6-AFE3-D1A5-3B61B91E4C06}"/>
                </a:ext>
              </a:extLst>
            </p:cNvPr>
            <p:cNvGrpSpPr/>
            <p:nvPr/>
          </p:nvGrpSpPr>
          <p:grpSpPr>
            <a:xfrm>
              <a:off x="1903232" y="5424132"/>
              <a:ext cx="3953499" cy="347472"/>
              <a:chOff x="1903232" y="5331532"/>
              <a:chExt cx="3953499" cy="347472"/>
            </a:xfrm>
          </p:grpSpPr>
          <p:sp>
            <p:nvSpPr>
              <p:cNvPr id="69" name="Rounded Rectangle 68">
                <a:extLst>
                  <a:ext uri="{FF2B5EF4-FFF2-40B4-BE49-F238E27FC236}">
                    <a16:creationId xmlns:a16="http://schemas.microsoft.com/office/drawing/2014/main" id="{8A00B16B-DDA2-0FE2-BEAE-13697E6BBF87}"/>
                  </a:ext>
                </a:extLst>
              </p:cNvPr>
              <p:cNvSpPr/>
              <p:nvPr/>
            </p:nvSpPr>
            <p:spPr>
              <a:xfrm>
                <a:off x="1903232" y="5331532"/>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69">
                <a:extLst>
                  <a:ext uri="{FF2B5EF4-FFF2-40B4-BE49-F238E27FC236}">
                    <a16:creationId xmlns:a16="http://schemas.microsoft.com/office/drawing/2014/main" id="{7CEC2CE9-4384-E881-F57F-D85399792091}"/>
                  </a:ext>
                </a:extLst>
              </p:cNvPr>
              <p:cNvSpPr txBox="1"/>
              <p:nvPr/>
            </p:nvSpPr>
            <p:spPr>
              <a:xfrm>
                <a:off x="1985528" y="5386396"/>
                <a:ext cx="3788907" cy="261610"/>
              </a:xfrm>
              <a:prstGeom prst="rect">
                <a:avLst/>
              </a:prstGeom>
              <a:noFill/>
            </p:spPr>
            <p:txBody>
              <a:bodyPr wrap="square">
                <a:spAutoFit/>
              </a:bodyPr>
              <a:lstStyle/>
              <a:p>
                <a:pPr algn="l"/>
                <a:r>
                  <a:rPr sz="1100" b="0" dirty="0">
                    <a:solidFill>
                      <a:srgbClr val="FFFFFF"/>
                    </a:solidFill>
                    <a:latin typeface="Segoe UI"/>
                  </a:rPr>
                  <a:t>Schedule the priority calls for this week.</a:t>
                </a:r>
              </a:p>
            </p:txBody>
          </p:sp>
        </p:grpSp>
        <p:grpSp>
          <p:nvGrpSpPr>
            <p:cNvPr id="87" name="Group 86">
              <a:extLst>
                <a:ext uri="{FF2B5EF4-FFF2-40B4-BE49-F238E27FC236}">
                  <a16:creationId xmlns:a16="http://schemas.microsoft.com/office/drawing/2014/main" id="{9849817D-5761-ADBF-EFFC-4FE13A82B8E1}"/>
                </a:ext>
              </a:extLst>
            </p:cNvPr>
            <p:cNvGrpSpPr/>
            <p:nvPr/>
          </p:nvGrpSpPr>
          <p:grpSpPr>
            <a:xfrm>
              <a:off x="640081" y="5853900"/>
              <a:ext cx="4195446" cy="347472"/>
              <a:chOff x="640081" y="5715000"/>
              <a:chExt cx="4195446" cy="347472"/>
            </a:xfrm>
          </p:grpSpPr>
          <p:sp>
            <p:nvSpPr>
              <p:cNvPr id="71" name="Rounded Rectangle 70">
                <a:extLst>
                  <a:ext uri="{FF2B5EF4-FFF2-40B4-BE49-F238E27FC236}">
                    <a16:creationId xmlns:a16="http://schemas.microsoft.com/office/drawing/2014/main" id="{A86BE341-F5A6-2828-6B75-0A696D109E8B}"/>
                  </a:ext>
                </a:extLst>
              </p:cNvPr>
              <p:cNvSpPr/>
              <p:nvPr/>
            </p:nvSpPr>
            <p:spPr>
              <a:xfrm>
                <a:off x="640081" y="5715000"/>
                <a:ext cx="4195446"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2" name="TextBox 71">
                <a:extLst>
                  <a:ext uri="{FF2B5EF4-FFF2-40B4-BE49-F238E27FC236}">
                    <a16:creationId xmlns:a16="http://schemas.microsoft.com/office/drawing/2014/main" id="{013C9FB1-80BB-C9A4-03C6-63A50D1F7C22}"/>
                  </a:ext>
                </a:extLst>
              </p:cNvPr>
              <p:cNvSpPr txBox="1"/>
              <p:nvPr/>
            </p:nvSpPr>
            <p:spPr>
              <a:xfrm>
                <a:off x="722377" y="5769864"/>
                <a:ext cx="4020782" cy="261610"/>
              </a:xfrm>
              <a:prstGeom prst="rect">
                <a:avLst/>
              </a:prstGeom>
              <a:noFill/>
            </p:spPr>
            <p:txBody>
              <a:bodyPr wrap="square">
                <a:spAutoFit/>
              </a:bodyPr>
              <a:lstStyle/>
              <a:p>
                <a:pPr algn="l"/>
                <a:r>
                  <a:rPr sz="1100" b="0" dirty="0">
                    <a:solidFill>
                      <a:srgbClr val="333333"/>
                    </a:solidFill>
                    <a:latin typeface="Segoe UI"/>
                  </a:rPr>
                  <a:t>Calls booked Tuesday and Thursday — calendar invites sent.</a:t>
                </a:r>
              </a:p>
            </p:txBody>
          </p:sp>
        </p:grpSp>
      </p:grpSp>
      <p:grpSp>
        <p:nvGrpSpPr>
          <p:cNvPr id="90" name="Group 89">
            <a:extLst>
              <a:ext uri="{FF2B5EF4-FFF2-40B4-BE49-F238E27FC236}">
                <a16:creationId xmlns:a16="http://schemas.microsoft.com/office/drawing/2014/main" id="{7ED4B292-518E-7926-DB01-ED2C3BCFA377}"/>
              </a:ext>
            </a:extLst>
          </p:cNvPr>
          <p:cNvGrpSpPr/>
          <p:nvPr/>
        </p:nvGrpSpPr>
        <p:grpSpPr>
          <a:xfrm>
            <a:off x="6195060" y="3751753"/>
            <a:ext cx="5577840" cy="2497881"/>
            <a:chOff x="6195060" y="3774903"/>
            <a:chExt cx="5577840" cy="2497881"/>
          </a:xfrm>
        </p:grpSpPr>
        <p:sp>
          <p:nvSpPr>
            <p:cNvPr id="73" name="Rounded Rectangle 72">
              <a:extLst>
                <a:ext uri="{FF2B5EF4-FFF2-40B4-BE49-F238E27FC236}">
                  <a16:creationId xmlns:a16="http://schemas.microsoft.com/office/drawing/2014/main" id="{43700B30-2014-6B03-45DC-8FAD95BA8619}"/>
                </a:ext>
              </a:extLst>
            </p:cNvPr>
            <p:cNvSpPr/>
            <p:nvPr/>
          </p:nvSpPr>
          <p:spPr>
            <a:xfrm>
              <a:off x="6238494" y="3858768"/>
              <a:ext cx="5490972" cy="24140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1CE25FFD-90E5-06F9-3F76-580EE393A266}"/>
                </a:ext>
              </a:extLst>
            </p:cNvPr>
            <p:cNvSpPr/>
            <p:nvPr/>
          </p:nvSpPr>
          <p:spPr>
            <a:xfrm>
              <a:off x="6195060" y="3774903"/>
              <a:ext cx="5577840" cy="517915"/>
            </a:xfrm>
            <a:prstGeom prst="round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Oval 75">
              <a:extLst>
                <a:ext uri="{FF2B5EF4-FFF2-40B4-BE49-F238E27FC236}">
                  <a16:creationId xmlns:a16="http://schemas.microsoft.com/office/drawing/2014/main" id="{BCE6091C-4CA0-79BD-6FB0-59031A2B8EC5}"/>
                </a:ext>
              </a:extLst>
            </p:cNvPr>
            <p:cNvSpPr/>
            <p:nvPr/>
          </p:nvSpPr>
          <p:spPr>
            <a:xfrm>
              <a:off x="6332220" y="3959352"/>
              <a:ext cx="256032" cy="25603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TextBox 76">
              <a:extLst>
                <a:ext uri="{FF2B5EF4-FFF2-40B4-BE49-F238E27FC236}">
                  <a16:creationId xmlns:a16="http://schemas.microsoft.com/office/drawing/2014/main" id="{4A62D399-2B89-DE10-F0C4-F05BABA76E13}"/>
                </a:ext>
              </a:extLst>
            </p:cNvPr>
            <p:cNvSpPr txBox="1"/>
            <p:nvPr/>
          </p:nvSpPr>
          <p:spPr>
            <a:xfrm>
              <a:off x="6670548" y="3913052"/>
              <a:ext cx="4878324" cy="338554"/>
            </a:xfrm>
            <a:prstGeom prst="rect">
              <a:avLst/>
            </a:prstGeom>
            <a:noFill/>
          </p:spPr>
          <p:txBody>
            <a:bodyPr wrap="square">
              <a:spAutoFit/>
            </a:bodyPr>
            <a:lstStyle/>
            <a:p>
              <a:pPr algn="l"/>
              <a:r>
                <a:rPr sz="1600" b="1" dirty="0">
                  <a:solidFill>
                    <a:srgbClr val="B91C1C"/>
                  </a:solidFill>
                  <a:latin typeface="Segoe UI"/>
                </a:rPr>
                <a:t>Customer service</a:t>
              </a:r>
            </a:p>
          </p:txBody>
        </p:sp>
        <p:sp>
          <p:nvSpPr>
            <p:cNvPr id="78" name="Rounded Rectangle 77">
              <a:extLst>
                <a:ext uri="{FF2B5EF4-FFF2-40B4-BE49-F238E27FC236}">
                  <a16:creationId xmlns:a16="http://schemas.microsoft.com/office/drawing/2014/main" id="{DDA4853B-5EAD-B5A5-3930-C1863EC79F89}"/>
                </a:ext>
              </a:extLst>
            </p:cNvPr>
            <p:cNvSpPr/>
            <p:nvPr/>
          </p:nvSpPr>
          <p:spPr>
            <a:xfrm>
              <a:off x="7595372" y="4425696"/>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9" name="TextBox 78">
              <a:extLst>
                <a:ext uri="{FF2B5EF4-FFF2-40B4-BE49-F238E27FC236}">
                  <a16:creationId xmlns:a16="http://schemas.microsoft.com/office/drawing/2014/main" id="{21465D06-8A46-8483-A18B-7E3844AB7300}"/>
                </a:ext>
              </a:extLst>
            </p:cNvPr>
            <p:cNvSpPr txBox="1"/>
            <p:nvPr/>
          </p:nvSpPr>
          <p:spPr>
            <a:xfrm>
              <a:off x="7677668" y="4480560"/>
              <a:ext cx="3788907" cy="261610"/>
            </a:xfrm>
            <a:prstGeom prst="rect">
              <a:avLst/>
            </a:prstGeom>
            <a:noFill/>
          </p:spPr>
          <p:txBody>
            <a:bodyPr wrap="square">
              <a:spAutoFit/>
            </a:bodyPr>
            <a:lstStyle/>
            <a:p>
              <a:pPr algn="l"/>
              <a:r>
                <a:rPr sz="1100" b="0">
                  <a:solidFill>
                    <a:srgbClr val="FFFFFF"/>
                  </a:solidFill>
                  <a:latin typeface="Segoe UI"/>
                </a:rPr>
                <a:t>I need a refund for order #4821.</a:t>
              </a:r>
            </a:p>
          </p:txBody>
        </p:sp>
        <p:sp>
          <p:nvSpPr>
            <p:cNvPr id="80" name="Rounded Rectangle 79">
              <a:extLst>
                <a:ext uri="{FF2B5EF4-FFF2-40B4-BE49-F238E27FC236}">
                  <a16:creationId xmlns:a16="http://schemas.microsoft.com/office/drawing/2014/main" id="{2FFA906C-AF8D-98FC-AB53-F3E549749114}"/>
                </a:ext>
              </a:extLst>
            </p:cNvPr>
            <p:cNvSpPr/>
            <p:nvPr/>
          </p:nvSpPr>
          <p:spPr>
            <a:xfrm>
              <a:off x="6332220" y="4855464"/>
              <a:ext cx="4999395"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 name="TextBox 80">
              <a:extLst>
                <a:ext uri="{FF2B5EF4-FFF2-40B4-BE49-F238E27FC236}">
                  <a16:creationId xmlns:a16="http://schemas.microsoft.com/office/drawing/2014/main" id="{ABFF1C06-F41B-0062-9E80-3D686DDA45F2}"/>
                </a:ext>
              </a:extLst>
            </p:cNvPr>
            <p:cNvSpPr txBox="1"/>
            <p:nvPr/>
          </p:nvSpPr>
          <p:spPr>
            <a:xfrm>
              <a:off x="6414516" y="4910328"/>
              <a:ext cx="4791260" cy="261610"/>
            </a:xfrm>
            <a:prstGeom prst="rect">
              <a:avLst/>
            </a:prstGeom>
            <a:noFill/>
          </p:spPr>
          <p:txBody>
            <a:bodyPr wrap="square">
              <a:spAutoFit/>
            </a:bodyPr>
            <a:lstStyle/>
            <a:p>
              <a:pPr algn="l"/>
              <a:r>
                <a:rPr sz="1100" b="0">
                  <a:solidFill>
                    <a:srgbClr val="333333"/>
                  </a:solidFill>
                  <a:latin typeface="Segoe UI"/>
                </a:rPr>
                <a:t>Refund approved! $47.99 will return to your card in 2–3 business days.</a:t>
              </a:r>
            </a:p>
          </p:txBody>
        </p:sp>
        <p:sp>
          <p:nvSpPr>
            <p:cNvPr id="82" name="Rounded Rectangle 81">
              <a:extLst>
                <a:ext uri="{FF2B5EF4-FFF2-40B4-BE49-F238E27FC236}">
                  <a16:creationId xmlns:a16="http://schemas.microsoft.com/office/drawing/2014/main" id="{BBB5288F-C784-FD9E-C8AF-17DCC638D332}"/>
                </a:ext>
              </a:extLst>
            </p:cNvPr>
            <p:cNvSpPr/>
            <p:nvPr/>
          </p:nvSpPr>
          <p:spPr>
            <a:xfrm>
              <a:off x="7595372" y="5285232"/>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3" name="TextBox 82">
              <a:extLst>
                <a:ext uri="{FF2B5EF4-FFF2-40B4-BE49-F238E27FC236}">
                  <a16:creationId xmlns:a16="http://schemas.microsoft.com/office/drawing/2014/main" id="{CDE4D129-ED61-675A-D303-C62988D1EE9C}"/>
                </a:ext>
              </a:extLst>
            </p:cNvPr>
            <p:cNvSpPr txBox="1"/>
            <p:nvPr/>
          </p:nvSpPr>
          <p:spPr>
            <a:xfrm>
              <a:off x="7677668" y="5340096"/>
              <a:ext cx="3788907" cy="261610"/>
            </a:xfrm>
            <a:prstGeom prst="rect">
              <a:avLst/>
            </a:prstGeom>
            <a:noFill/>
          </p:spPr>
          <p:txBody>
            <a:bodyPr wrap="square">
              <a:spAutoFit/>
            </a:bodyPr>
            <a:lstStyle/>
            <a:p>
              <a:pPr algn="l"/>
              <a:r>
                <a:rPr sz="1100" b="0">
                  <a:solidFill>
                    <a:srgbClr val="FFFFFF"/>
                  </a:solidFill>
                  <a:latin typeface="Segoe UI"/>
                </a:rPr>
                <a:t>Can I get a confirmation email?</a:t>
              </a:r>
            </a:p>
          </p:txBody>
        </p:sp>
        <p:sp>
          <p:nvSpPr>
            <p:cNvPr id="84" name="Rounded Rectangle 83">
              <a:extLst>
                <a:ext uri="{FF2B5EF4-FFF2-40B4-BE49-F238E27FC236}">
                  <a16:creationId xmlns:a16="http://schemas.microsoft.com/office/drawing/2014/main" id="{E418917B-2396-4979-565A-688216F60BCC}"/>
                </a:ext>
              </a:extLst>
            </p:cNvPr>
            <p:cNvSpPr/>
            <p:nvPr/>
          </p:nvSpPr>
          <p:spPr>
            <a:xfrm>
              <a:off x="6332220" y="5715000"/>
              <a:ext cx="4695911"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a:extLst>
                <a:ext uri="{FF2B5EF4-FFF2-40B4-BE49-F238E27FC236}">
                  <a16:creationId xmlns:a16="http://schemas.microsoft.com/office/drawing/2014/main" id="{A35568EE-2669-FBD9-AB97-D0FE00898188}"/>
                </a:ext>
              </a:extLst>
            </p:cNvPr>
            <p:cNvSpPr txBox="1"/>
            <p:nvPr/>
          </p:nvSpPr>
          <p:spPr>
            <a:xfrm>
              <a:off x="6414516" y="5769864"/>
              <a:ext cx="4500411" cy="261610"/>
            </a:xfrm>
            <a:prstGeom prst="rect">
              <a:avLst/>
            </a:prstGeom>
            <a:noFill/>
          </p:spPr>
          <p:txBody>
            <a:bodyPr wrap="square">
              <a:spAutoFit/>
            </a:bodyPr>
            <a:lstStyle/>
            <a:p>
              <a:pPr algn="l"/>
              <a:r>
                <a:rPr sz="1100" b="0" dirty="0">
                  <a:solidFill>
                    <a:srgbClr val="333333"/>
                  </a:solidFill>
                  <a:latin typeface="Segoe UI"/>
                </a:rPr>
                <a:t>Sent to your registered email. Is there anything else I can help with?</a:t>
              </a:r>
            </a:p>
          </p:txBody>
        </p:sp>
      </p:grpSp>
    </p:spTree>
    <p:extLst>
      <p:ext uri="{BB962C8B-B14F-4D97-AF65-F5344CB8AC3E}">
        <p14:creationId xmlns:p14="http://schemas.microsoft.com/office/powerpoint/2010/main" val="25176558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659CCDC-0E78-32B8-1E82-6140BE8119B4}"/>
              </a:ext>
              <a:ext uri="{C183D7F6-B498-43B3-948B-1728B52AA6E4}">
                <adec:decorative xmlns:adec="http://schemas.microsoft.com/office/drawing/2017/decorative" val="1"/>
              </a:ext>
            </a:extLst>
          </p:cNvPr>
          <p:cNvCxnSpPr>
            <a:stCxn id="5" idx="6"/>
            <a:endCxn id="15" idx="2"/>
          </p:cNvCxnSpPr>
          <p:nvPr/>
        </p:nvCxnSpPr>
        <p:spPr>
          <a:xfrm>
            <a:off x="1149636" y="183379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E796111-5806-3E75-6093-BFDF7F55D278}"/>
              </a:ext>
            </a:extLst>
          </p:cNvPr>
          <p:cNvSpPr>
            <a:spLocks noGrp="1"/>
          </p:cNvSpPr>
          <p:nvPr>
            <p:ph type="title"/>
          </p:nvPr>
        </p:nvSpPr>
        <p:spPr>
          <a:xfrm>
            <a:off x="588261" y="585216"/>
            <a:ext cx="11011601" cy="492443"/>
          </a:xfrm>
        </p:spPr>
        <p:txBody>
          <a:bodyPr/>
          <a:lstStyle/>
          <a:p>
            <a:r>
              <a:rPr lang="en-US" sz="3200" dirty="0"/>
              <a:t>Typical development workflow</a:t>
            </a:r>
          </a:p>
        </p:txBody>
      </p:sp>
      <p:sp>
        <p:nvSpPr>
          <p:cNvPr id="3" name="Footer Placeholder 2">
            <a:extLst>
              <a:ext uri="{FF2B5EF4-FFF2-40B4-BE49-F238E27FC236}">
                <a16:creationId xmlns:a16="http://schemas.microsoft.com/office/drawing/2014/main" id="{102515E2-6117-C196-0D6E-7F183F13D40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0" name="Group 9">
            <a:extLst>
              <a:ext uri="{FF2B5EF4-FFF2-40B4-BE49-F238E27FC236}">
                <a16:creationId xmlns:a16="http://schemas.microsoft.com/office/drawing/2014/main" id="{EB81A082-3E96-8FD0-5D4C-5FE6F20C4277}"/>
              </a:ext>
            </a:extLst>
          </p:cNvPr>
          <p:cNvGrpSpPr/>
          <p:nvPr/>
        </p:nvGrpSpPr>
        <p:grpSpPr>
          <a:xfrm>
            <a:off x="692436" y="1605195"/>
            <a:ext cx="2949205" cy="752974"/>
            <a:chOff x="588261" y="1805651"/>
            <a:chExt cx="2949205" cy="752974"/>
          </a:xfrm>
        </p:grpSpPr>
        <p:sp>
          <p:nvSpPr>
            <p:cNvPr id="5" name="Oval 4">
              <a:extLst>
                <a:ext uri="{FF2B5EF4-FFF2-40B4-BE49-F238E27FC236}">
                  <a16:creationId xmlns:a16="http://schemas.microsoft.com/office/drawing/2014/main" id="{9526C55F-9613-7F0D-D9D8-2D12B11F5D01}"/>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6" name="TextBox 5">
              <a:extLst>
                <a:ext uri="{FF2B5EF4-FFF2-40B4-BE49-F238E27FC236}">
                  <a16:creationId xmlns:a16="http://schemas.microsoft.com/office/drawing/2014/main" id="{87952FD0-F365-024E-A710-4F482AEAA662}"/>
                </a:ext>
              </a:extLst>
            </p:cNvPr>
            <p:cNvSpPr txBox="1"/>
            <p:nvPr/>
          </p:nvSpPr>
          <p:spPr>
            <a:xfrm>
              <a:off x="588261" y="2312404"/>
              <a:ext cx="2949205" cy="246221"/>
            </a:xfrm>
            <a:prstGeom prst="rect">
              <a:avLst/>
            </a:prstGeom>
            <a:noFill/>
          </p:spPr>
          <p:txBody>
            <a:bodyPr wrap="none" lIns="0" tIns="0" rIns="0" bIns="0" rtlCol="0">
              <a:spAutoFit/>
            </a:bodyPr>
            <a:lstStyle/>
            <a:p>
              <a:pPr algn="l"/>
              <a:r>
                <a:rPr lang="en-US" sz="1600" dirty="0"/>
                <a:t>Connect to your Foundry project</a:t>
              </a:r>
            </a:p>
          </p:txBody>
        </p:sp>
      </p:grpSp>
      <p:grpSp>
        <p:nvGrpSpPr>
          <p:cNvPr id="9" name="Group 8">
            <a:extLst>
              <a:ext uri="{FF2B5EF4-FFF2-40B4-BE49-F238E27FC236}">
                <a16:creationId xmlns:a16="http://schemas.microsoft.com/office/drawing/2014/main" id="{5E25BAAA-348B-1A5E-D531-AF1BE54C9B31}"/>
              </a:ext>
            </a:extLst>
          </p:cNvPr>
          <p:cNvGrpSpPr/>
          <p:nvPr/>
        </p:nvGrpSpPr>
        <p:grpSpPr>
          <a:xfrm>
            <a:off x="4011805" y="1605195"/>
            <a:ext cx="1674048" cy="752974"/>
            <a:chOff x="3761654" y="1805651"/>
            <a:chExt cx="1674048" cy="752974"/>
          </a:xfrm>
        </p:grpSpPr>
        <p:sp>
          <p:nvSpPr>
            <p:cNvPr id="7" name="Oval 6">
              <a:extLst>
                <a:ext uri="{FF2B5EF4-FFF2-40B4-BE49-F238E27FC236}">
                  <a16:creationId xmlns:a16="http://schemas.microsoft.com/office/drawing/2014/main" id="{C147F0BA-0EEA-1C73-F182-D8E9ACEA93AB}"/>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8" name="TextBox 7">
              <a:extLst>
                <a:ext uri="{FF2B5EF4-FFF2-40B4-BE49-F238E27FC236}">
                  <a16:creationId xmlns:a16="http://schemas.microsoft.com/office/drawing/2014/main" id="{D04B4CE0-7A70-FF1B-D824-65AAE99FCE1A}"/>
                </a:ext>
              </a:extLst>
            </p:cNvPr>
            <p:cNvSpPr txBox="1"/>
            <p:nvPr/>
          </p:nvSpPr>
          <p:spPr>
            <a:xfrm>
              <a:off x="3761654" y="2312404"/>
              <a:ext cx="1674048" cy="246221"/>
            </a:xfrm>
            <a:prstGeom prst="rect">
              <a:avLst/>
            </a:prstGeom>
            <a:noFill/>
          </p:spPr>
          <p:txBody>
            <a:bodyPr wrap="none" lIns="0" tIns="0" rIns="0" bIns="0" rtlCol="0">
              <a:spAutoFit/>
            </a:bodyPr>
            <a:lstStyle/>
            <a:p>
              <a:pPr algn="l"/>
              <a:r>
                <a:rPr lang="en-US" sz="1600" dirty="0"/>
                <a:t>Create an AI agent</a:t>
              </a:r>
            </a:p>
          </p:txBody>
        </p:sp>
      </p:grpSp>
      <p:grpSp>
        <p:nvGrpSpPr>
          <p:cNvPr id="11" name="Group 10">
            <a:extLst>
              <a:ext uri="{FF2B5EF4-FFF2-40B4-BE49-F238E27FC236}">
                <a16:creationId xmlns:a16="http://schemas.microsoft.com/office/drawing/2014/main" id="{A72F68C7-45CB-E1CF-5BEF-7924DBE388C2}"/>
              </a:ext>
            </a:extLst>
          </p:cNvPr>
          <p:cNvGrpSpPr/>
          <p:nvPr/>
        </p:nvGrpSpPr>
        <p:grpSpPr>
          <a:xfrm>
            <a:off x="6115821" y="1605195"/>
            <a:ext cx="2560509" cy="752974"/>
            <a:chOff x="3761654" y="1805651"/>
            <a:chExt cx="2560509" cy="752974"/>
          </a:xfrm>
        </p:grpSpPr>
        <p:sp>
          <p:nvSpPr>
            <p:cNvPr id="12" name="Oval 11">
              <a:extLst>
                <a:ext uri="{FF2B5EF4-FFF2-40B4-BE49-F238E27FC236}">
                  <a16:creationId xmlns:a16="http://schemas.microsoft.com/office/drawing/2014/main" id="{39F5CBAA-52C3-21CC-BA8F-3D573AD7A1E2}"/>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3547E951-B718-10EF-E1EB-F3F733105BA6}"/>
                </a:ext>
              </a:extLst>
            </p:cNvPr>
            <p:cNvSpPr txBox="1"/>
            <p:nvPr/>
          </p:nvSpPr>
          <p:spPr>
            <a:xfrm>
              <a:off x="3761654" y="2312404"/>
              <a:ext cx="2560509" cy="246221"/>
            </a:xfrm>
            <a:prstGeom prst="rect">
              <a:avLst/>
            </a:prstGeom>
            <a:noFill/>
          </p:spPr>
          <p:txBody>
            <a:bodyPr wrap="none" lIns="0" tIns="0" rIns="0" bIns="0" rtlCol="0">
              <a:spAutoFit/>
            </a:bodyPr>
            <a:lstStyle/>
            <a:p>
              <a:pPr algn="l"/>
              <a:r>
                <a:rPr lang="en-US" sz="1600" dirty="0"/>
                <a:t>Configure agent instructions</a:t>
              </a:r>
            </a:p>
          </p:txBody>
        </p:sp>
      </p:grpSp>
      <p:grpSp>
        <p:nvGrpSpPr>
          <p:cNvPr id="14" name="Group 13">
            <a:extLst>
              <a:ext uri="{FF2B5EF4-FFF2-40B4-BE49-F238E27FC236}">
                <a16:creationId xmlns:a16="http://schemas.microsoft.com/office/drawing/2014/main" id="{70F7C2A8-BB53-CABE-4050-F7C195B0DF9E}"/>
              </a:ext>
            </a:extLst>
          </p:cNvPr>
          <p:cNvGrpSpPr/>
          <p:nvPr/>
        </p:nvGrpSpPr>
        <p:grpSpPr>
          <a:xfrm>
            <a:off x="9203689" y="1605195"/>
            <a:ext cx="873637" cy="752974"/>
            <a:chOff x="3761654" y="1805651"/>
            <a:chExt cx="873637" cy="752974"/>
          </a:xfrm>
        </p:grpSpPr>
        <p:sp>
          <p:nvSpPr>
            <p:cNvPr id="15" name="Oval 14">
              <a:extLst>
                <a:ext uri="{FF2B5EF4-FFF2-40B4-BE49-F238E27FC236}">
                  <a16:creationId xmlns:a16="http://schemas.microsoft.com/office/drawing/2014/main" id="{80B566DF-753F-0B7A-EC25-69AF1099C6A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4</a:t>
              </a:r>
            </a:p>
          </p:txBody>
        </p:sp>
        <p:sp>
          <p:nvSpPr>
            <p:cNvPr id="16" name="TextBox 15">
              <a:extLst>
                <a:ext uri="{FF2B5EF4-FFF2-40B4-BE49-F238E27FC236}">
                  <a16:creationId xmlns:a16="http://schemas.microsoft.com/office/drawing/2014/main" id="{3EECC3F8-29B5-57FC-4B13-B49F757F01B8}"/>
                </a:ext>
              </a:extLst>
            </p:cNvPr>
            <p:cNvSpPr txBox="1"/>
            <p:nvPr/>
          </p:nvSpPr>
          <p:spPr>
            <a:xfrm>
              <a:off x="3761654" y="2312404"/>
              <a:ext cx="873637" cy="246221"/>
            </a:xfrm>
            <a:prstGeom prst="rect">
              <a:avLst/>
            </a:prstGeom>
            <a:noFill/>
          </p:spPr>
          <p:txBody>
            <a:bodyPr wrap="none" lIns="0" tIns="0" rIns="0" bIns="0" rtlCol="0">
              <a:spAutoFit/>
            </a:bodyPr>
            <a:lstStyle/>
            <a:p>
              <a:pPr algn="l"/>
              <a:r>
                <a:rPr lang="en-US" sz="1600" dirty="0"/>
                <a:t>Add tools</a:t>
              </a:r>
            </a:p>
          </p:txBody>
        </p:sp>
      </p:grpSp>
      <p:cxnSp>
        <p:nvCxnSpPr>
          <p:cNvPr id="19" name="Straight Connector 18">
            <a:extLst>
              <a:ext uri="{FF2B5EF4-FFF2-40B4-BE49-F238E27FC236}">
                <a16:creationId xmlns:a16="http://schemas.microsoft.com/office/drawing/2014/main" id="{D814A76A-5A64-E8A3-EF02-F07ED7497AD4}"/>
              </a:ext>
              <a:ext uri="{C183D7F6-B498-43B3-948B-1728B52AA6E4}">
                <adec:decorative xmlns:adec="http://schemas.microsoft.com/office/drawing/2017/decorative" val="1"/>
              </a:ext>
            </a:extLst>
          </p:cNvPr>
          <p:cNvCxnSpPr>
            <a:stCxn id="21" idx="6"/>
            <a:endCxn id="30" idx="2"/>
          </p:cNvCxnSpPr>
          <p:nvPr/>
        </p:nvCxnSpPr>
        <p:spPr>
          <a:xfrm>
            <a:off x="1149636" y="323558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243F3C1-A673-0570-3BD0-A7CC704D1EC1}"/>
              </a:ext>
            </a:extLst>
          </p:cNvPr>
          <p:cNvGrpSpPr/>
          <p:nvPr/>
        </p:nvGrpSpPr>
        <p:grpSpPr>
          <a:xfrm>
            <a:off x="692436" y="3006985"/>
            <a:ext cx="2580002" cy="752974"/>
            <a:chOff x="588261" y="1805651"/>
            <a:chExt cx="2580002" cy="752974"/>
          </a:xfrm>
        </p:grpSpPr>
        <p:sp>
          <p:nvSpPr>
            <p:cNvPr id="21" name="Oval 20">
              <a:extLst>
                <a:ext uri="{FF2B5EF4-FFF2-40B4-BE49-F238E27FC236}">
                  <a16:creationId xmlns:a16="http://schemas.microsoft.com/office/drawing/2014/main" id="{E4B58AEA-791F-D230-F5E6-5AD8BED56022}"/>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5</a:t>
              </a:r>
            </a:p>
          </p:txBody>
        </p:sp>
        <p:sp>
          <p:nvSpPr>
            <p:cNvPr id="22" name="TextBox 21">
              <a:extLst>
                <a:ext uri="{FF2B5EF4-FFF2-40B4-BE49-F238E27FC236}">
                  <a16:creationId xmlns:a16="http://schemas.microsoft.com/office/drawing/2014/main" id="{CB84736D-5D0D-1F2E-5B41-DCAD25F55C1E}"/>
                </a:ext>
              </a:extLst>
            </p:cNvPr>
            <p:cNvSpPr txBox="1"/>
            <p:nvPr/>
          </p:nvSpPr>
          <p:spPr>
            <a:xfrm>
              <a:off x="588261" y="2312404"/>
              <a:ext cx="2580002" cy="246221"/>
            </a:xfrm>
            <a:prstGeom prst="rect">
              <a:avLst/>
            </a:prstGeom>
            <a:noFill/>
          </p:spPr>
          <p:txBody>
            <a:bodyPr wrap="none" lIns="0" tIns="0" rIns="0" bIns="0" rtlCol="0">
              <a:spAutoFit/>
            </a:bodyPr>
            <a:lstStyle/>
            <a:p>
              <a:pPr algn="l"/>
              <a:r>
                <a:rPr lang="en-US" sz="1600" dirty="0"/>
                <a:t>Test the agent in playground</a:t>
              </a:r>
            </a:p>
          </p:txBody>
        </p:sp>
      </p:grpSp>
      <p:grpSp>
        <p:nvGrpSpPr>
          <p:cNvPr id="23" name="Group 22">
            <a:extLst>
              <a:ext uri="{FF2B5EF4-FFF2-40B4-BE49-F238E27FC236}">
                <a16:creationId xmlns:a16="http://schemas.microsoft.com/office/drawing/2014/main" id="{A9A136B2-3132-AD71-C9FA-D43B978738C3}"/>
              </a:ext>
            </a:extLst>
          </p:cNvPr>
          <p:cNvGrpSpPr/>
          <p:nvPr/>
        </p:nvGrpSpPr>
        <p:grpSpPr>
          <a:xfrm>
            <a:off x="4011805" y="3006985"/>
            <a:ext cx="1527662" cy="752974"/>
            <a:chOff x="3761654" y="1805651"/>
            <a:chExt cx="1527662" cy="752974"/>
          </a:xfrm>
        </p:grpSpPr>
        <p:sp>
          <p:nvSpPr>
            <p:cNvPr id="24" name="Oval 23">
              <a:extLst>
                <a:ext uri="{FF2B5EF4-FFF2-40B4-BE49-F238E27FC236}">
                  <a16:creationId xmlns:a16="http://schemas.microsoft.com/office/drawing/2014/main" id="{285B6D15-C07A-C8AE-961B-9FE59C5B21EA}"/>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6</a:t>
              </a:r>
            </a:p>
          </p:txBody>
        </p:sp>
        <p:sp>
          <p:nvSpPr>
            <p:cNvPr id="25" name="TextBox 24">
              <a:extLst>
                <a:ext uri="{FF2B5EF4-FFF2-40B4-BE49-F238E27FC236}">
                  <a16:creationId xmlns:a16="http://schemas.microsoft.com/office/drawing/2014/main" id="{AD01C592-8171-CB16-5340-236521D410F6}"/>
                </a:ext>
              </a:extLst>
            </p:cNvPr>
            <p:cNvSpPr txBox="1"/>
            <p:nvPr/>
          </p:nvSpPr>
          <p:spPr>
            <a:xfrm>
              <a:off x="3761654" y="2312404"/>
              <a:ext cx="1527662" cy="246221"/>
            </a:xfrm>
            <a:prstGeom prst="rect">
              <a:avLst/>
            </a:prstGeom>
            <a:noFill/>
          </p:spPr>
          <p:txBody>
            <a:bodyPr wrap="none" lIns="0" tIns="0" rIns="0" bIns="0" rtlCol="0">
              <a:spAutoFit/>
            </a:bodyPr>
            <a:lstStyle/>
            <a:p>
              <a:pPr algn="l"/>
              <a:r>
                <a:rPr lang="en-US" sz="1600" dirty="0"/>
                <a:t>Iterate on design</a:t>
              </a:r>
            </a:p>
          </p:txBody>
        </p:sp>
      </p:grpSp>
      <p:grpSp>
        <p:nvGrpSpPr>
          <p:cNvPr id="26" name="Group 25">
            <a:extLst>
              <a:ext uri="{FF2B5EF4-FFF2-40B4-BE49-F238E27FC236}">
                <a16:creationId xmlns:a16="http://schemas.microsoft.com/office/drawing/2014/main" id="{0C04422B-B8BE-825B-B760-EA33A5A4E772}"/>
              </a:ext>
            </a:extLst>
          </p:cNvPr>
          <p:cNvGrpSpPr/>
          <p:nvPr/>
        </p:nvGrpSpPr>
        <p:grpSpPr>
          <a:xfrm>
            <a:off x="6115821" y="3006985"/>
            <a:ext cx="2855462" cy="752974"/>
            <a:chOff x="3761654" y="1805651"/>
            <a:chExt cx="2855462" cy="752974"/>
          </a:xfrm>
        </p:grpSpPr>
        <p:sp>
          <p:nvSpPr>
            <p:cNvPr id="27" name="Oval 26">
              <a:extLst>
                <a:ext uri="{FF2B5EF4-FFF2-40B4-BE49-F238E27FC236}">
                  <a16:creationId xmlns:a16="http://schemas.microsoft.com/office/drawing/2014/main" id="{7EA6C1AC-F007-A1D5-BDE1-F9BEF763492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7</a:t>
              </a:r>
            </a:p>
          </p:txBody>
        </p:sp>
        <p:sp>
          <p:nvSpPr>
            <p:cNvPr id="28" name="TextBox 27">
              <a:extLst>
                <a:ext uri="{FF2B5EF4-FFF2-40B4-BE49-F238E27FC236}">
                  <a16:creationId xmlns:a16="http://schemas.microsoft.com/office/drawing/2014/main" id="{C8D9D8D3-9DE3-A240-65F1-24168AED0A32}"/>
                </a:ext>
              </a:extLst>
            </p:cNvPr>
            <p:cNvSpPr txBox="1"/>
            <p:nvPr/>
          </p:nvSpPr>
          <p:spPr>
            <a:xfrm>
              <a:off x="3761654" y="2312404"/>
              <a:ext cx="2855462" cy="246221"/>
            </a:xfrm>
            <a:prstGeom prst="rect">
              <a:avLst/>
            </a:prstGeom>
            <a:noFill/>
          </p:spPr>
          <p:txBody>
            <a:bodyPr wrap="none" lIns="0" tIns="0" rIns="0" bIns="0" rtlCol="0">
              <a:spAutoFit/>
            </a:bodyPr>
            <a:lstStyle/>
            <a:p>
              <a:pPr algn="l"/>
              <a:r>
                <a:rPr lang="en-US" sz="1600" dirty="0"/>
                <a:t>Deploy the agent to production</a:t>
              </a:r>
            </a:p>
          </p:txBody>
        </p:sp>
      </p:grpSp>
      <p:grpSp>
        <p:nvGrpSpPr>
          <p:cNvPr id="29" name="Group 28">
            <a:extLst>
              <a:ext uri="{FF2B5EF4-FFF2-40B4-BE49-F238E27FC236}">
                <a16:creationId xmlns:a16="http://schemas.microsoft.com/office/drawing/2014/main" id="{D7B3AA4C-9438-936E-4C34-7FC3951BC1FD}"/>
              </a:ext>
            </a:extLst>
          </p:cNvPr>
          <p:cNvGrpSpPr/>
          <p:nvPr/>
        </p:nvGrpSpPr>
        <p:grpSpPr>
          <a:xfrm>
            <a:off x="9203689" y="3006985"/>
            <a:ext cx="2433871" cy="752974"/>
            <a:chOff x="3761654" y="1805651"/>
            <a:chExt cx="2433871" cy="752974"/>
          </a:xfrm>
        </p:grpSpPr>
        <p:sp>
          <p:nvSpPr>
            <p:cNvPr id="30" name="Oval 29">
              <a:extLst>
                <a:ext uri="{FF2B5EF4-FFF2-40B4-BE49-F238E27FC236}">
                  <a16:creationId xmlns:a16="http://schemas.microsoft.com/office/drawing/2014/main" id="{61130B8D-8364-CE9F-CCFB-B0118EBC4C5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8</a:t>
              </a:r>
            </a:p>
          </p:txBody>
        </p:sp>
        <p:sp>
          <p:nvSpPr>
            <p:cNvPr id="31" name="TextBox 30">
              <a:extLst>
                <a:ext uri="{FF2B5EF4-FFF2-40B4-BE49-F238E27FC236}">
                  <a16:creationId xmlns:a16="http://schemas.microsoft.com/office/drawing/2014/main" id="{9333A0A6-DD01-992E-AB50-C82A8E83E3D4}"/>
                </a:ext>
              </a:extLst>
            </p:cNvPr>
            <p:cNvSpPr txBox="1"/>
            <p:nvPr/>
          </p:nvSpPr>
          <p:spPr>
            <a:xfrm>
              <a:off x="3761654" y="2312404"/>
              <a:ext cx="2433871" cy="246221"/>
            </a:xfrm>
            <a:prstGeom prst="rect">
              <a:avLst/>
            </a:prstGeom>
            <a:noFill/>
          </p:spPr>
          <p:txBody>
            <a:bodyPr wrap="none" lIns="0" tIns="0" rIns="0" bIns="0" rtlCol="0">
              <a:spAutoFit/>
            </a:bodyPr>
            <a:lstStyle/>
            <a:p>
              <a:pPr algn="l"/>
              <a:r>
                <a:rPr lang="en-US" sz="1600" dirty="0"/>
                <a:t>Integrate into applications</a:t>
              </a:r>
            </a:p>
          </p:txBody>
        </p:sp>
      </p:grpSp>
      <p:cxnSp>
        <p:nvCxnSpPr>
          <p:cNvPr id="41" name="Elbow Connector 40">
            <a:extLst>
              <a:ext uri="{FF2B5EF4-FFF2-40B4-BE49-F238E27FC236}">
                <a16:creationId xmlns:a16="http://schemas.microsoft.com/office/drawing/2014/main" id="{605783B8-1E23-4E9D-166F-27AABC1AD928}"/>
              </a:ext>
              <a:ext uri="{C183D7F6-B498-43B3-948B-1728B52AA6E4}">
                <adec:decorative xmlns:adec="http://schemas.microsoft.com/office/drawing/2017/decorative" val="1"/>
              </a:ext>
            </a:extLst>
          </p:cNvPr>
          <p:cNvCxnSpPr>
            <a:stCxn id="15" idx="6"/>
            <a:endCxn id="21" idx="0"/>
          </p:cNvCxnSpPr>
          <p:nvPr/>
        </p:nvCxnSpPr>
        <p:spPr>
          <a:xfrm flipH="1">
            <a:off x="921036" y="1833795"/>
            <a:ext cx="8739853" cy="1173190"/>
          </a:xfrm>
          <a:prstGeom prst="bentConnector4">
            <a:avLst>
              <a:gd name="adj1" fmla="val -14138"/>
              <a:gd name="adj2" fmla="val 72569"/>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trievalCard">
            <a:extLst>
              <a:ext uri="{FF2B5EF4-FFF2-40B4-BE49-F238E27FC236}">
                <a16:creationId xmlns:a16="http://schemas.microsoft.com/office/drawing/2014/main" id="{030913D9-5DB5-72AC-2E1C-249C9946BB50}"/>
              </a:ext>
            </a:extLst>
          </p:cNvPr>
          <p:cNvSpPr/>
          <p:nvPr/>
        </p:nvSpPr>
        <p:spPr>
          <a:xfrm>
            <a:off x="692435" y="4113000"/>
            <a:ext cx="4038315" cy="1566904"/>
          </a:xfrm>
          <a:prstGeom prst="roundRect">
            <a:avLst>
              <a:gd name="adj" fmla="val 12000"/>
            </a:avLst>
          </a:prstGeom>
          <a:solidFill>
            <a:srgbClr val="F8F8F8"/>
          </a:solidFill>
          <a:ln w="9525">
            <a:solidFill>
              <a:srgbClr val="DEDEDE"/>
            </a:solidFill>
          </a:ln>
        </p:spPr>
        <p:txBody>
          <a:bodyPr anchor="t"/>
          <a:lstStyle/>
          <a:p>
            <a:endParaRPr lang="en-US" sz="1600" b="1" noProof="0" dirty="0">
              <a:solidFill>
                <a:srgbClr val="4C4C4C"/>
              </a:solidFill>
              <a:latin typeface="+mj-lt"/>
            </a:endParaRPr>
          </a:p>
          <a:p>
            <a:endParaRPr lang="en-US" sz="1600" b="1" noProof="0" dirty="0">
              <a:solidFill>
                <a:srgbClr val="4C4C4C"/>
              </a:solidFill>
              <a:latin typeface="+mj-lt"/>
            </a:endParaRPr>
          </a:p>
          <a:p>
            <a:pPr marL="285750" indent="-285750">
              <a:buClr>
                <a:schemeClr val="accent2"/>
              </a:buClr>
              <a:buFont typeface="Arial" panose="020B0604020202020204" pitchFamily="34" charset="0"/>
              <a:buChar char="•"/>
            </a:pPr>
            <a:r>
              <a:rPr lang="en-US" sz="1400" b="1" dirty="0">
                <a:solidFill>
                  <a:srgbClr val="4C4C4C"/>
                </a:solidFill>
                <a:latin typeface="+mj-lt"/>
              </a:rPr>
              <a:t>Microsoft Foundry project  </a:t>
            </a:r>
            <a:br>
              <a:rPr lang="en-US" sz="1400" b="1" dirty="0">
                <a:solidFill>
                  <a:srgbClr val="4C4C4C"/>
                </a:solidFill>
                <a:latin typeface="+mj-lt"/>
              </a:rPr>
            </a:br>
            <a:r>
              <a:rPr lang="en-US" sz="1200" dirty="0">
                <a:solidFill>
                  <a:srgbClr val="4C4C4C"/>
                </a:solidFill>
              </a:rPr>
              <a:t>Organizes agents, models, and assets</a:t>
            </a:r>
          </a:p>
          <a:p>
            <a:pPr marL="285750" indent="-285750">
              <a:buClr>
                <a:schemeClr val="accent2"/>
              </a:buClr>
              <a:buFont typeface="Arial" panose="020B0604020202020204" pitchFamily="34" charset="0"/>
              <a:buChar char="•"/>
            </a:pPr>
            <a:r>
              <a:rPr lang="en-US" sz="1400" b="1" dirty="0">
                <a:solidFill>
                  <a:srgbClr val="4C4C4C"/>
                </a:solidFill>
                <a:latin typeface="+mj-lt"/>
              </a:rPr>
              <a:t>Model deployment</a:t>
            </a:r>
            <a:br>
              <a:rPr lang="en-US" sz="1400" b="1" dirty="0">
                <a:solidFill>
                  <a:srgbClr val="4C4C4C"/>
                </a:solidFill>
                <a:latin typeface="+mj-lt"/>
              </a:rPr>
            </a:br>
            <a:r>
              <a:rPr lang="en-US" sz="1200" dirty="0">
                <a:solidFill>
                  <a:srgbClr val="4C4C4C"/>
                </a:solidFill>
                <a:latin typeface="Segoe UI"/>
              </a:rPr>
              <a:t>For example, GPT-4.1 or Claude Sonnet 4.6</a:t>
            </a:r>
            <a:endParaRPr lang="en-US" sz="1400" b="1" dirty="0">
              <a:solidFill>
                <a:srgbClr val="4C4C4C"/>
              </a:solidFill>
              <a:latin typeface="+mj-lt"/>
            </a:endParaRPr>
          </a:p>
        </p:txBody>
      </p:sp>
      <p:sp>
        <p:nvSpPr>
          <p:cNvPr id="51" name="Oval 50">
            <a:extLst>
              <a:ext uri="{FF2B5EF4-FFF2-40B4-BE49-F238E27FC236}">
                <a16:creationId xmlns:a16="http://schemas.microsoft.com/office/drawing/2014/main" id="{567AF073-99EA-94EF-BFC0-DBF04568519F}"/>
              </a:ext>
            </a:extLst>
          </p:cNvPr>
          <p:cNvSpPr/>
          <p:nvPr/>
        </p:nvSpPr>
        <p:spPr bwMode="auto">
          <a:xfrm>
            <a:off x="860319" y="4205020"/>
            <a:ext cx="365760" cy="36576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3" name="TextBox 52">
            <a:extLst>
              <a:ext uri="{FF2B5EF4-FFF2-40B4-BE49-F238E27FC236}">
                <a16:creationId xmlns:a16="http://schemas.microsoft.com/office/drawing/2014/main" id="{69891873-3655-D24A-9D32-E44BD9697504}"/>
              </a:ext>
            </a:extLst>
          </p:cNvPr>
          <p:cNvSpPr txBox="1"/>
          <p:nvPr/>
        </p:nvSpPr>
        <p:spPr>
          <a:xfrm>
            <a:off x="1232463" y="4213619"/>
            <a:ext cx="3137607" cy="338554"/>
          </a:xfrm>
          <a:prstGeom prst="rect">
            <a:avLst/>
          </a:prstGeom>
          <a:noFill/>
        </p:spPr>
        <p:txBody>
          <a:bodyPr wrap="square">
            <a:spAutoFit/>
          </a:bodyPr>
          <a:lstStyle/>
          <a:p>
            <a:r>
              <a:rPr lang="en-US" sz="1600" b="1" dirty="0">
                <a:solidFill>
                  <a:schemeClr val="accent2"/>
                </a:solidFill>
                <a:latin typeface="+mj-lt"/>
              </a:rPr>
              <a:t> </a:t>
            </a:r>
            <a:r>
              <a:rPr lang="en-US" sz="1600" b="1" noProof="0" dirty="0">
                <a:solidFill>
                  <a:schemeClr val="accent2"/>
                </a:solidFill>
                <a:latin typeface="+mj-lt"/>
              </a:rPr>
              <a:t>Required resources</a:t>
            </a:r>
            <a:endParaRPr lang="en-US" sz="1600" dirty="0">
              <a:solidFill>
                <a:schemeClr val="accent2"/>
              </a:solidFill>
            </a:endParaRPr>
          </a:p>
        </p:txBody>
      </p:sp>
      <p:sp>
        <p:nvSpPr>
          <p:cNvPr id="54" name="RetrievalCard">
            <a:extLst>
              <a:ext uri="{FF2B5EF4-FFF2-40B4-BE49-F238E27FC236}">
                <a16:creationId xmlns:a16="http://schemas.microsoft.com/office/drawing/2014/main" id="{1821122D-C0FA-C1C2-6E21-E11DBFE020E3}"/>
              </a:ext>
            </a:extLst>
          </p:cNvPr>
          <p:cNvSpPr/>
          <p:nvPr/>
        </p:nvSpPr>
        <p:spPr>
          <a:xfrm>
            <a:off x="4988689" y="4113001"/>
            <a:ext cx="5970848" cy="1566908"/>
          </a:xfrm>
          <a:prstGeom prst="roundRect">
            <a:avLst>
              <a:gd name="adj" fmla="val 12000"/>
            </a:avLst>
          </a:prstGeom>
          <a:solidFill>
            <a:srgbClr val="F8F8F8"/>
          </a:solidFill>
          <a:ln w="9525">
            <a:solidFill>
              <a:srgbClr val="DEDEDE"/>
            </a:solidFill>
          </a:ln>
        </p:spPr>
        <p:txBody>
          <a:bodyPr anchor="t"/>
          <a:lstStyle/>
          <a:p>
            <a:endParaRPr lang="en-US" sz="1400" b="1" noProof="0" dirty="0">
              <a:solidFill>
                <a:srgbClr val="4C4C4C"/>
              </a:solidFill>
              <a:latin typeface="+mj-lt"/>
            </a:endParaRPr>
          </a:p>
          <a:p>
            <a:endParaRPr lang="en-US" sz="1400" b="1" noProof="0"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AI Search	</a:t>
            </a:r>
            <a:r>
              <a:rPr lang="en-US" sz="1200" dirty="0">
                <a:solidFill>
                  <a:srgbClr val="4C4C4C"/>
                </a:solidFill>
                <a:latin typeface="Segoe UI"/>
              </a:rPr>
              <a:t>Knowledge retrieval for Foundry IQ or File Search</a:t>
            </a:r>
            <a:endParaRPr lang="en-US" sz="14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Storage	</a:t>
            </a:r>
            <a:r>
              <a:rPr kumimoji="0" lang="en-US" sz="1200" b="0" i="0" u="none" strike="noStrike" kern="1200" cap="none" spc="0" normalizeH="0" baseline="0" noProof="0" dirty="0">
                <a:ln>
                  <a:noFill/>
                </a:ln>
                <a:solidFill>
                  <a:srgbClr val="4C4C4C"/>
                </a:solidFill>
                <a:effectLst/>
                <a:uLnTx/>
                <a:uFillTx/>
                <a:latin typeface="Segoe UI"/>
                <a:ea typeface="+mn-ea"/>
                <a:cs typeface="+mn-cs"/>
              </a:rPr>
              <a:t>Files agents can read and write</a:t>
            </a: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Key Vault	</a:t>
            </a:r>
            <a:r>
              <a:rPr lang="en-US" sz="1200" dirty="0">
                <a:solidFill>
                  <a:srgbClr val="4C4C4C"/>
                </a:solidFill>
                <a:latin typeface="Segoe UI"/>
              </a:rPr>
              <a:t>Securely store secrets and credentials</a:t>
            </a:r>
            <a:endParaRPr lang="en-US" sz="14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dirty="0">
                <a:solidFill>
                  <a:srgbClr val="4C4C4C"/>
                </a:solidFill>
                <a:latin typeface="+mj-lt"/>
              </a:rPr>
              <a:t>Azure Functions	</a:t>
            </a:r>
            <a:r>
              <a:rPr lang="en-US" sz="1200" dirty="0">
                <a:solidFill>
                  <a:srgbClr val="4C4C4C"/>
                </a:solidFill>
                <a:latin typeface="Segoe UI"/>
              </a:rPr>
              <a:t>Custom tool implementations and business logic</a:t>
            </a:r>
            <a:endParaRPr lang="en-US" sz="1400" b="1" dirty="0">
              <a:solidFill>
                <a:srgbClr val="4C4C4C"/>
              </a:solidFill>
              <a:latin typeface="+mj-lt"/>
            </a:endParaRPr>
          </a:p>
        </p:txBody>
      </p:sp>
      <p:sp>
        <p:nvSpPr>
          <p:cNvPr id="55" name="Oval 54">
            <a:extLst>
              <a:ext uri="{FF2B5EF4-FFF2-40B4-BE49-F238E27FC236}">
                <a16:creationId xmlns:a16="http://schemas.microsoft.com/office/drawing/2014/main" id="{C5771827-17F3-38FF-89FE-BB38839C131A}"/>
              </a:ext>
            </a:extLst>
          </p:cNvPr>
          <p:cNvSpPr/>
          <p:nvPr/>
        </p:nvSpPr>
        <p:spPr bwMode="auto">
          <a:xfrm>
            <a:off x="5149096" y="4205021"/>
            <a:ext cx="365760" cy="365760"/>
          </a:xfrm>
          <a:prstGeom prst="ellipse">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dirty="0">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6" name="TextBox 55">
            <a:extLst>
              <a:ext uri="{FF2B5EF4-FFF2-40B4-BE49-F238E27FC236}">
                <a16:creationId xmlns:a16="http://schemas.microsoft.com/office/drawing/2014/main" id="{CD54D526-D86B-1EAC-02FA-B8CF1E8019E3}"/>
              </a:ext>
            </a:extLst>
          </p:cNvPr>
          <p:cNvSpPr txBox="1"/>
          <p:nvPr/>
        </p:nvSpPr>
        <p:spPr>
          <a:xfrm>
            <a:off x="5509665" y="4213620"/>
            <a:ext cx="3137607" cy="338554"/>
          </a:xfrm>
          <a:prstGeom prst="rect">
            <a:avLst/>
          </a:prstGeom>
          <a:noFill/>
        </p:spPr>
        <p:txBody>
          <a:bodyPr wrap="square">
            <a:spAutoFit/>
          </a:bodyPr>
          <a:lstStyle/>
          <a:p>
            <a:r>
              <a:rPr lang="en-US" sz="1600" b="1" dirty="0">
                <a:solidFill>
                  <a:schemeClr val="tx1">
                    <a:lumMod val="75000"/>
                    <a:lumOff val="25000"/>
                  </a:schemeClr>
                </a:solidFill>
                <a:latin typeface="+mj-lt"/>
              </a:rPr>
              <a:t> </a:t>
            </a:r>
            <a:r>
              <a:rPr lang="en-US" sz="1600" b="1" noProof="0" dirty="0">
                <a:solidFill>
                  <a:schemeClr val="tx1">
                    <a:lumMod val="75000"/>
                    <a:lumOff val="25000"/>
                  </a:schemeClr>
                </a:solidFill>
                <a:latin typeface="+mj-lt"/>
              </a:rPr>
              <a:t>Optional resources</a:t>
            </a:r>
            <a:endParaRPr lang="en-US" sz="1600" dirty="0">
              <a:solidFill>
                <a:schemeClr val="tx1">
                  <a:lumMod val="75000"/>
                  <a:lumOff val="25000"/>
                </a:schemeClr>
              </a:solidFill>
            </a:endParaRPr>
          </a:p>
        </p:txBody>
      </p:sp>
    </p:spTree>
    <p:extLst>
      <p:ext uri="{BB962C8B-B14F-4D97-AF65-F5344CB8AC3E}">
        <p14:creationId xmlns:p14="http://schemas.microsoft.com/office/powerpoint/2010/main" val="419714777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22E2-0001-ABDA-44AF-DC5A96AFD1B6}"/>
              </a:ext>
            </a:extLst>
          </p:cNvPr>
          <p:cNvSpPr>
            <a:spLocks noGrp="1"/>
          </p:cNvSpPr>
          <p:nvPr>
            <p:ph type="title"/>
          </p:nvPr>
        </p:nvSpPr>
        <p:spPr/>
        <p:txBody>
          <a:bodyPr/>
          <a:lstStyle/>
          <a:p>
            <a:r>
              <a:rPr lang="en-US" sz="3200" dirty="0"/>
              <a:t>Choose your development approach</a:t>
            </a:r>
          </a:p>
        </p:txBody>
      </p:sp>
      <p:sp>
        <p:nvSpPr>
          <p:cNvPr id="6" name="Text Placeholder 5">
            <a:extLst>
              <a:ext uri="{FF2B5EF4-FFF2-40B4-BE49-F238E27FC236}">
                <a16:creationId xmlns:a16="http://schemas.microsoft.com/office/drawing/2014/main" id="{6B4F3C30-140A-7982-1739-CD6739638D90}"/>
              </a:ext>
            </a:extLst>
          </p:cNvPr>
          <p:cNvSpPr>
            <a:spLocks noGrp="1"/>
          </p:cNvSpPr>
          <p:nvPr>
            <p:ph type="body" sz="quarter" idx="16"/>
          </p:nvPr>
        </p:nvSpPr>
        <p:spPr>
          <a:xfrm>
            <a:off x="1273214" y="1442945"/>
            <a:ext cx="4530685" cy="553998"/>
          </a:xfrm>
        </p:spPr>
        <p:txBody>
          <a:bodyPr/>
          <a:lstStyle/>
          <a:p>
            <a:r>
              <a:rPr lang="en-US" sz="2000" dirty="0">
                <a:solidFill>
                  <a:schemeClr val="accent1"/>
                </a:solidFill>
              </a:rPr>
              <a:t>Foundry portal</a:t>
            </a:r>
          </a:p>
          <a:p>
            <a:r>
              <a:rPr lang="en-US" dirty="0">
                <a:solidFill>
                  <a:schemeClr val="tx1">
                    <a:lumMod val="50000"/>
                    <a:lumOff val="50000"/>
                  </a:schemeClr>
                </a:solidFill>
                <a:latin typeface="+mn-lt"/>
              </a:rPr>
              <a:t>Visual, web-based, no local setup required</a:t>
            </a:r>
            <a:endParaRPr lang="en-US" sz="1800" dirty="0">
              <a:solidFill>
                <a:schemeClr val="tx1">
                  <a:lumMod val="50000"/>
                  <a:lumOff val="50000"/>
                </a:schemeClr>
              </a:solidFill>
              <a:latin typeface="+mn-lt"/>
            </a:endParaRPr>
          </a:p>
        </p:txBody>
      </p:sp>
      <p:sp>
        <p:nvSpPr>
          <p:cNvPr id="5" name="Text Placeholder 4">
            <a:extLst>
              <a:ext uri="{FF2B5EF4-FFF2-40B4-BE49-F238E27FC236}">
                <a16:creationId xmlns:a16="http://schemas.microsoft.com/office/drawing/2014/main" id="{E2E67AE3-7A40-0D89-3029-CA8E1037A693}"/>
              </a:ext>
            </a:extLst>
          </p:cNvPr>
          <p:cNvSpPr>
            <a:spLocks noGrp="1"/>
          </p:cNvSpPr>
          <p:nvPr>
            <p:ph type="body" sz="quarter" idx="15"/>
          </p:nvPr>
        </p:nvSpPr>
        <p:spPr>
          <a:xfrm>
            <a:off x="586390" y="2189939"/>
            <a:ext cx="5217510" cy="2856167"/>
          </a:xfrm>
        </p:spPr>
        <p:txBody>
          <a:bodyPr/>
          <a:lstStyle/>
          <a:p>
            <a:pPr marL="287338" indent="-287338">
              <a:buFont typeface="System Font Regular"/>
              <a:buChar char="✓"/>
            </a:pPr>
            <a:r>
              <a:rPr lang="en-US" b="1" dirty="0"/>
              <a:t>Quick prototyping</a:t>
            </a:r>
            <a:br>
              <a:rPr lang="en-US" b="1" dirty="0"/>
            </a:br>
            <a:r>
              <a:rPr lang="en-US" sz="1400" dirty="0">
                <a:solidFill>
                  <a:schemeClr val="tx1">
                    <a:lumMod val="50000"/>
                    <a:lumOff val="50000"/>
                  </a:schemeClr>
                </a:solidFill>
              </a:rPr>
              <a:t>Test agent concepts without setting up </a:t>
            </a:r>
            <a:br>
              <a:rPr lang="en-US" sz="1400" dirty="0">
                <a:solidFill>
                  <a:schemeClr val="tx1">
                    <a:lumMod val="50000"/>
                    <a:lumOff val="50000"/>
                  </a:schemeClr>
                </a:solidFill>
              </a:rPr>
            </a:br>
            <a:r>
              <a:rPr lang="en-US" sz="1400" dirty="0">
                <a:solidFill>
                  <a:schemeClr val="tx1">
                    <a:lumMod val="50000"/>
                    <a:lumOff val="50000"/>
                  </a:schemeClr>
                </a:solidFill>
              </a:rPr>
              <a:t>a local development environment</a:t>
            </a:r>
          </a:p>
          <a:p>
            <a:pPr marL="287338" indent="-287338">
              <a:buFont typeface="System Font Regular"/>
              <a:buChar char="✓"/>
            </a:pPr>
            <a:r>
              <a:rPr lang="en-US" b="1" dirty="0"/>
              <a:t>Visual configuration</a:t>
            </a:r>
            <a:br>
              <a:rPr lang="en-US" b="1" dirty="0"/>
            </a:br>
            <a:r>
              <a:rPr lang="en-US" sz="1400" dirty="0">
                <a:solidFill>
                  <a:schemeClr val="tx1">
                    <a:lumMod val="50000"/>
                    <a:lumOff val="50000"/>
                  </a:schemeClr>
                </a:solidFill>
              </a:rPr>
              <a:t>Configure agents through intuitive forms </a:t>
            </a:r>
            <a:br>
              <a:rPr lang="en-US" sz="1400" dirty="0">
                <a:solidFill>
                  <a:schemeClr val="tx1">
                    <a:lumMod val="50000"/>
                    <a:lumOff val="50000"/>
                  </a:schemeClr>
                </a:solidFill>
              </a:rPr>
            </a:br>
            <a:r>
              <a:rPr lang="en-US" sz="1400" dirty="0">
                <a:solidFill>
                  <a:schemeClr val="tx1">
                    <a:lumMod val="50000"/>
                    <a:lumOff val="50000"/>
                  </a:schemeClr>
                </a:solidFill>
              </a:rPr>
              <a:t>and dropdowns rather than code</a:t>
            </a:r>
          </a:p>
          <a:p>
            <a:pPr marL="287338" indent="-287338">
              <a:buFont typeface="System Font Regular"/>
              <a:buChar char="✓"/>
            </a:pPr>
            <a:r>
              <a:rPr lang="en-US" b="1" dirty="0"/>
              <a:t>Centralized management</a:t>
            </a:r>
            <a:br>
              <a:rPr lang="en-US" b="1" dirty="0"/>
            </a:br>
            <a:r>
              <a:rPr lang="en-US" sz="1400" dirty="0">
                <a:solidFill>
                  <a:schemeClr val="tx1">
                    <a:lumMod val="50000"/>
                    <a:lumOff val="50000"/>
                  </a:schemeClr>
                </a:solidFill>
              </a:rPr>
              <a:t>View and manage all agents across projects </a:t>
            </a:r>
            <a:br>
              <a:rPr lang="en-US" sz="1400" dirty="0">
                <a:solidFill>
                  <a:schemeClr val="tx1">
                    <a:lumMod val="50000"/>
                    <a:lumOff val="50000"/>
                  </a:schemeClr>
                </a:solidFill>
              </a:rPr>
            </a:br>
            <a:r>
              <a:rPr lang="en-US" sz="1400" dirty="0">
                <a:solidFill>
                  <a:schemeClr val="tx1">
                    <a:lumMod val="50000"/>
                    <a:lumOff val="50000"/>
                  </a:schemeClr>
                </a:solidFill>
              </a:rPr>
              <a:t>in one place with dashboards</a:t>
            </a:r>
          </a:p>
          <a:p>
            <a:pPr marL="287338" indent="-287338">
              <a:buFont typeface="System Font Regular"/>
              <a:buChar char="✓"/>
            </a:pPr>
            <a:r>
              <a:rPr lang="en-US" b="1" dirty="0"/>
              <a:t>Team collaboration</a:t>
            </a:r>
            <a:br>
              <a:rPr lang="en-US" b="1" dirty="0"/>
            </a:br>
            <a:r>
              <a:rPr lang="en-US" sz="1400" dirty="0">
                <a:solidFill>
                  <a:schemeClr val="tx1">
                    <a:lumMod val="50000"/>
                    <a:lumOff val="50000"/>
                  </a:schemeClr>
                </a:solidFill>
              </a:rPr>
              <a:t>Share configurations with stakeholders </a:t>
            </a:r>
            <a:br>
              <a:rPr lang="en-US" sz="1400" dirty="0">
                <a:solidFill>
                  <a:schemeClr val="tx1">
                    <a:lumMod val="50000"/>
                    <a:lumOff val="50000"/>
                  </a:schemeClr>
                </a:solidFill>
              </a:rPr>
            </a:br>
            <a:r>
              <a:rPr lang="en-US" sz="1400" dirty="0">
                <a:solidFill>
                  <a:schemeClr val="tx1">
                    <a:lumMod val="50000"/>
                    <a:lumOff val="50000"/>
                  </a:schemeClr>
                </a:solidFill>
              </a:rPr>
              <a:t>who prefer visual interfaces</a:t>
            </a:r>
            <a:endParaRPr lang="en-US" dirty="0">
              <a:solidFill>
                <a:schemeClr val="tx1">
                  <a:lumMod val="50000"/>
                  <a:lumOff val="50000"/>
                </a:schemeClr>
              </a:solidFill>
            </a:endParaRPr>
          </a:p>
        </p:txBody>
      </p:sp>
      <p:sp>
        <p:nvSpPr>
          <p:cNvPr id="8" name="Text Placeholder 7">
            <a:extLst>
              <a:ext uri="{FF2B5EF4-FFF2-40B4-BE49-F238E27FC236}">
                <a16:creationId xmlns:a16="http://schemas.microsoft.com/office/drawing/2014/main" id="{1C845E65-0FE4-A65E-3D7C-C279F2962DD9}"/>
              </a:ext>
            </a:extLst>
          </p:cNvPr>
          <p:cNvSpPr>
            <a:spLocks noGrp="1"/>
          </p:cNvSpPr>
          <p:nvPr>
            <p:ph type="body" sz="quarter" idx="20"/>
          </p:nvPr>
        </p:nvSpPr>
        <p:spPr>
          <a:xfrm>
            <a:off x="6253664" y="2189939"/>
            <a:ext cx="5187106" cy="2856167"/>
          </a:xfrm>
        </p:spPr>
        <p:txBody>
          <a:bodyPr/>
          <a:lstStyle/>
          <a:p>
            <a:pPr marL="287338" indent="-287338">
              <a:buFont typeface="System Font Regular"/>
              <a:buChar char="✓"/>
            </a:pPr>
            <a:r>
              <a:rPr lang="en-US" b="1" dirty="0"/>
              <a:t>Developer-centric workflows</a:t>
            </a:r>
            <a:br>
              <a:rPr lang="en-US" dirty="0"/>
            </a:br>
            <a:r>
              <a:rPr lang="en-US" sz="1400" dirty="0">
                <a:solidFill>
                  <a:schemeClr val="tx1">
                    <a:lumMod val="50000"/>
                    <a:lumOff val="50000"/>
                  </a:schemeClr>
                </a:solidFill>
              </a:rPr>
              <a:t>Build agents alongside application code </a:t>
            </a:r>
            <a:br>
              <a:rPr lang="en-US" sz="1400" dirty="0">
                <a:solidFill>
                  <a:schemeClr val="tx1">
                    <a:lumMod val="50000"/>
                    <a:lumOff val="50000"/>
                  </a:schemeClr>
                </a:solidFill>
              </a:rPr>
            </a:br>
            <a:r>
              <a:rPr lang="en-US" sz="1400" dirty="0">
                <a:solidFill>
                  <a:schemeClr val="tx1">
                    <a:lumMod val="50000"/>
                    <a:lumOff val="50000"/>
                  </a:schemeClr>
                </a:solidFill>
              </a:rPr>
              <a:t>in a single familiar environment</a:t>
            </a:r>
          </a:p>
          <a:p>
            <a:pPr marL="287338" indent="-287338">
              <a:buFont typeface="System Font Regular"/>
              <a:buChar char="✓"/>
            </a:pPr>
            <a:r>
              <a:rPr lang="en-US" b="1" dirty="0"/>
              <a:t>Version control integration</a:t>
            </a:r>
            <a:br>
              <a:rPr lang="en-US" dirty="0"/>
            </a:br>
            <a:r>
              <a:rPr lang="en-US" sz="1400" dirty="0">
                <a:solidFill>
                  <a:schemeClr val="tx1">
                    <a:lumMod val="50000"/>
                    <a:lumOff val="50000"/>
                  </a:schemeClr>
                </a:solidFill>
              </a:rPr>
              <a:t>Track agent configurations in Git </a:t>
            </a:r>
            <a:br>
              <a:rPr lang="en-US" sz="1400" dirty="0">
                <a:solidFill>
                  <a:schemeClr val="tx1">
                    <a:lumMod val="50000"/>
                    <a:lumOff val="50000"/>
                  </a:schemeClr>
                </a:solidFill>
              </a:rPr>
            </a:br>
            <a:r>
              <a:rPr lang="en-US" sz="1400" dirty="0">
                <a:solidFill>
                  <a:schemeClr val="tx1">
                    <a:lumMod val="50000"/>
                    <a:lumOff val="50000"/>
                  </a:schemeClr>
                </a:solidFill>
              </a:rPr>
              <a:t>alongside your codebase</a:t>
            </a:r>
          </a:p>
          <a:p>
            <a:pPr marL="287338" indent="-287338">
              <a:buFont typeface="System Font Regular"/>
              <a:buChar char="✓"/>
            </a:pPr>
            <a:r>
              <a:rPr lang="en-US" b="1" dirty="0"/>
              <a:t>Code-first development</a:t>
            </a:r>
            <a:br>
              <a:rPr lang="en-US" dirty="0"/>
            </a:br>
            <a:r>
              <a:rPr lang="en-US" sz="1400" dirty="0">
                <a:solidFill>
                  <a:schemeClr val="tx1">
                    <a:lumMod val="50000"/>
                    <a:lumOff val="50000"/>
                  </a:schemeClr>
                </a:solidFill>
              </a:rPr>
              <a:t>Edit YAML configurations directly and </a:t>
            </a:r>
            <a:br>
              <a:rPr lang="en-US" sz="1400" dirty="0">
                <a:solidFill>
                  <a:schemeClr val="tx1">
                    <a:lumMod val="50000"/>
                    <a:lumOff val="50000"/>
                  </a:schemeClr>
                </a:solidFill>
              </a:rPr>
            </a:br>
            <a:r>
              <a:rPr lang="en-US" sz="1400" dirty="0">
                <a:solidFill>
                  <a:schemeClr val="tx1">
                    <a:lumMod val="50000"/>
                    <a:lumOff val="50000"/>
                  </a:schemeClr>
                </a:solidFill>
              </a:rPr>
              <a:t>integrate agents into application logic</a:t>
            </a:r>
          </a:p>
          <a:p>
            <a:pPr marL="287338" indent="-287338">
              <a:buFont typeface="System Font Regular"/>
              <a:buChar char="✓"/>
            </a:pPr>
            <a:r>
              <a:rPr lang="en-US" b="1" dirty="0"/>
              <a:t>Local development</a:t>
            </a:r>
            <a:br>
              <a:rPr lang="en-US" dirty="0"/>
            </a:br>
            <a:r>
              <a:rPr lang="en-US" sz="1400" dirty="0">
                <a:solidFill>
                  <a:schemeClr val="tx1">
                    <a:lumMod val="50000"/>
                    <a:lumOff val="50000"/>
                  </a:schemeClr>
                </a:solidFill>
              </a:rPr>
              <a:t>Design and test agents offline before </a:t>
            </a:r>
            <a:br>
              <a:rPr lang="en-US" sz="1400" dirty="0">
                <a:solidFill>
                  <a:schemeClr val="tx1">
                    <a:lumMod val="50000"/>
                    <a:lumOff val="50000"/>
                  </a:schemeClr>
                </a:solidFill>
              </a:rPr>
            </a:br>
            <a:r>
              <a:rPr lang="en-US" sz="1400" dirty="0">
                <a:solidFill>
                  <a:schemeClr val="tx1">
                    <a:lumMod val="50000"/>
                    <a:lumOff val="50000"/>
                  </a:schemeClr>
                </a:solidFill>
              </a:rPr>
              <a:t>deploying to Azure</a:t>
            </a:r>
            <a:endParaRPr lang="en-US"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BF23189A-8C36-C830-67B2-96B9FD1C196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2" name="Group 11">
            <a:extLst>
              <a:ext uri="{FF2B5EF4-FFF2-40B4-BE49-F238E27FC236}">
                <a16:creationId xmlns:a16="http://schemas.microsoft.com/office/drawing/2014/main" id="{9A4B833E-08AB-0F52-A137-7B4D6839FF53}"/>
              </a:ext>
            </a:extLst>
          </p:cNvPr>
          <p:cNvGrpSpPr/>
          <p:nvPr/>
        </p:nvGrpSpPr>
        <p:grpSpPr>
          <a:xfrm>
            <a:off x="586390" y="1442945"/>
            <a:ext cx="548640" cy="548640"/>
            <a:chOff x="2558005" y="1190845"/>
            <a:chExt cx="914400" cy="914400"/>
          </a:xfrm>
        </p:grpSpPr>
        <p:sp>
          <p:nvSpPr>
            <p:cNvPr id="9" name="Oval 8">
              <a:extLst>
                <a:ext uri="{FF2B5EF4-FFF2-40B4-BE49-F238E27FC236}">
                  <a16:creationId xmlns:a16="http://schemas.microsoft.com/office/drawing/2014/main" id="{A9B5084B-B7CD-FB54-811E-B5FF55FC9446}"/>
                </a:ext>
              </a:extLst>
            </p:cNvPr>
            <p:cNvSpPr/>
            <p:nvPr/>
          </p:nvSpPr>
          <p:spPr bwMode="auto">
            <a:xfrm>
              <a:off x="2558005" y="1190845"/>
              <a:ext cx="914400" cy="9144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Graphic 10" descr="Browser window outline">
              <a:extLst>
                <a:ext uri="{FF2B5EF4-FFF2-40B4-BE49-F238E27FC236}">
                  <a16:creationId xmlns:a16="http://schemas.microsoft.com/office/drawing/2014/main" id="{1ACFFA8A-D7AE-55D3-32A1-969DA1388B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52028" y="1284868"/>
              <a:ext cx="726354" cy="726354"/>
            </a:xfrm>
            <a:prstGeom prst="rect">
              <a:avLst/>
            </a:prstGeom>
          </p:spPr>
        </p:pic>
      </p:grpSp>
      <p:sp>
        <p:nvSpPr>
          <p:cNvPr id="14" name="Oval 13">
            <a:extLst>
              <a:ext uri="{FF2B5EF4-FFF2-40B4-BE49-F238E27FC236}">
                <a16:creationId xmlns:a16="http://schemas.microsoft.com/office/drawing/2014/main" id="{A143ED69-AD14-16FE-69F2-5ABF968EE19F}"/>
              </a:ext>
              <a:ext uri="{C183D7F6-B498-43B3-948B-1728B52AA6E4}">
                <adec:decorative xmlns:adec="http://schemas.microsoft.com/office/drawing/2017/decorative" val="1"/>
              </a:ext>
            </a:extLst>
          </p:cNvPr>
          <p:cNvSpPr/>
          <p:nvPr/>
        </p:nvSpPr>
        <p:spPr bwMode="auto">
          <a:xfrm>
            <a:off x="6244220" y="1449909"/>
            <a:ext cx="548640" cy="54864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050" dirty="0">
              <a:gradFill>
                <a:gsLst>
                  <a:gs pos="0">
                    <a:srgbClr val="FFFFFF"/>
                  </a:gs>
                  <a:gs pos="100000">
                    <a:srgbClr val="FFFFFF"/>
                  </a:gs>
                </a:gsLst>
                <a:lin ang="5400000" scaled="0"/>
              </a:gradFill>
              <a:ea typeface="Segoe UI" pitchFamily="34" charset="0"/>
              <a:cs typeface="Segoe UI" pitchFamily="34" charset="0"/>
            </a:endParaRPr>
          </a:p>
        </p:txBody>
      </p:sp>
      <p:sp>
        <p:nvSpPr>
          <p:cNvPr id="16" name="TextBox 15">
            <a:extLst>
              <a:ext uri="{FF2B5EF4-FFF2-40B4-BE49-F238E27FC236}">
                <a16:creationId xmlns:a16="http://schemas.microsoft.com/office/drawing/2014/main" id="{79C00DAA-C6EB-1481-CDD5-AB6B2C1FA867}"/>
              </a:ext>
            </a:extLst>
          </p:cNvPr>
          <p:cNvSpPr txBox="1"/>
          <p:nvPr/>
        </p:nvSpPr>
        <p:spPr>
          <a:xfrm>
            <a:off x="6337400" y="1594155"/>
            <a:ext cx="362279" cy="246221"/>
          </a:xfrm>
          <a:prstGeom prst="rect">
            <a:avLst/>
          </a:prstGeom>
          <a:noFill/>
        </p:spPr>
        <p:txBody>
          <a:bodyPr wrap="none" lIns="0" tIns="0" rIns="0" bIns="0" rtlCol="0">
            <a:spAutoFit/>
          </a:bodyPr>
          <a:lstStyle/>
          <a:p>
            <a:pPr algn="l"/>
            <a:r>
              <a:rPr lang="en-US" sz="1600" dirty="0">
                <a:solidFill>
                  <a:schemeClr val="bg1"/>
                </a:solidFill>
              </a:rPr>
              <a:t>&lt;/&gt;</a:t>
            </a:r>
          </a:p>
        </p:txBody>
      </p:sp>
      <p:sp>
        <p:nvSpPr>
          <p:cNvPr id="17" name="Text Placeholder 5">
            <a:extLst>
              <a:ext uri="{FF2B5EF4-FFF2-40B4-BE49-F238E27FC236}">
                <a16:creationId xmlns:a16="http://schemas.microsoft.com/office/drawing/2014/main" id="{D8306866-220A-3428-A458-973B38B29091}"/>
              </a:ext>
            </a:extLst>
          </p:cNvPr>
          <p:cNvSpPr txBox="1">
            <a:spLocks/>
          </p:cNvSpPr>
          <p:nvPr/>
        </p:nvSpPr>
        <p:spPr>
          <a:xfrm>
            <a:off x="6886040" y="1449909"/>
            <a:ext cx="4530685" cy="55399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chemeClr val="accent2"/>
                </a:solidFill>
              </a:rPr>
              <a:t>Visual Studio Code</a:t>
            </a:r>
          </a:p>
          <a:p>
            <a:r>
              <a:rPr lang="en-US" dirty="0">
                <a:solidFill>
                  <a:schemeClr val="tx1">
                    <a:lumMod val="50000"/>
                    <a:lumOff val="50000"/>
                  </a:schemeClr>
                </a:solidFill>
                <a:latin typeface="+mn-lt"/>
              </a:rPr>
              <a:t>Developer-centric, code-integrated, Git-friendly</a:t>
            </a:r>
          </a:p>
        </p:txBody>
      </p:sp>
      <p:sp>
        <p:nvSpPr>
          <p:cNvPr id="18" name="RetrievalCard">
            <a:extLst>
              <a:ext uri="{FF2B5EF4-FFF2-40B4-BE49-F238E27FC236}">
                <a16:creationId xmlns:a16="http://schemas.microsoft.com/office/drawing/2014/main" id="{F44C0644-EE7B-0C16-C90C-E32B02B33D3C}"/>
              </a:ext>
            </a:extLst>
          </p:cNvPr>
          <p:cNvSpPr/>
          <p:nvPr/>
        </p:nvSpPr>
        <p:spPr>
          <a:xfrm>
            <a:off x="586390" y="5404301"/>
            <a:ext cx="11009410" cy="377168"/>
          </a:xfrm>
          <a:prstGeom prst="roundRect">
            <a:avLst>
              <a:gd name="adj" fmla="val 12000"/>
            </a:avLst>
          </a:prstGeom>
          <a:solidFill>
            <a:srgbClr val="F8F8F8"/>
          </a:solidFill>
          <a:ln w="9525">
            <a:solidFill>
              <a:srgbClr val="DEDEDE"/>
            </a:solidFill>
          </a:ln>
        </p:spPr>
        <p:txBody>
          <a:bodyPr anchor="ctr"/>
          <a:lstStyle/>
          <a:p>
            <a:r>
              <a:rPr lang="en-US" sz="1300" b="1" noProof="0" dirty="0"/>
              <a:t>Many teams use both: </a:t>
            </a:r>
            <a:r>
              <a:rPr lang="en-US" sz="1300" noProof="0" dirty="0"/>
              <a:t>the Foundry portal for initial exploration and reviews, and VS Code for detailed development and production deployments.</a:t>
            </a:r>
          </a:p>
        </p:txBody>
      </p:sp>
      <p:cxnSp>
        <p:nvCxnSpPr>
          <p:cNvPr id="20" name="Straight Connector 19">
            <a:extLst>
              <a:ext uri="{FF2B5EF4-FFF2-40B4-BE49-F238E27FC236}">
                <a16:creationId xmlns:a16="http://schemas.microsoft.com/office/drawing/2014/main" id="{7DF6BB29-95CD-37B0-A3DD-E1D382B2635D}"/>
              </a:ext>
              <a:ext uri="{C183D7F6-B498-43B3-948B-1728B52AA6E4}">
                <adec:decorative xmlns:adec="http://schemas.microsoft.com/office/drawing/2017/decorative" val="1"/>
              </a:ext>
            </a:extLst>
          </p:cNvPr>
          <p:cNvCxnSpPr>
            <a:cxnSpLocks/>
          </p:cNvCxnSpPr>
          <p:nvPr/>
        </p:nvCxnSpPr>
        <p:spPr>
          <a:xfrm>
            <a:off x="5644584" y="1449909"/>
            <a:ext cx="0" cy="3761316"/>
          </a:xfrm>
          <a:prstGeom prst="line">
            <a:avLst/>
          </a:prstGeom>
          <a:ln>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CFCDAC7-DB2E-2796-3BD6-E09FB85AE9D9}"/>
              </a:ext>
            </a:extLst>
          </p:cNvPr>
          <p:cNvSpPr txBox="1"/>
          <p:nvPr/>
        </p:nvSpPr>
        <p:spPr>
          <a:xfrm>
            <a:off x="5505122" y="3170778"/>
            <a:ext cx="278923" cy="246221"/>
          </a:xfrm>
          <a:prstGeom prst="rect">
            <a:avLst/>
          </a:prstGeom>
          <a:solidFill>
            <a:schemeClr val="bg1"/>
          </a:solidFill>
        </p:spPr>
        <p:txBody>
          <a:bodyPr wrap="none" lIns="0" tIns="0" rIns="0" bIns="0" rtlCol="0">
            <a:spAutoFit/>
          </a:bodyPr>
          <a:lstStyle/>
          <a:p>
            <a:pPr algn="l"/>
            <a:r>
              <a:rPr lang="en-US" sz="1600" dirty="0">
                <a:solidFill>
                  <a:schemeClr val="tx1">
                    <a:lumMod val="75000"/>
                    <a:lumOff val="25000"/>
                  </a:schemeClr>
                </a:solidFill>
              </a:rPr>
              <a:t>OR</a:t>
            </a:r>
          </a:p>
        </p:txBody>
      </p:sp>
    </p:spTree>
    <p:extLst>
      <p:ext uri="{BB962C8B-B14F-4D97-AF65-F5344CB8AC3E}">
        <p14:creationId xmlns:p14="http://schemas.microsoft.com/office/powerpoint/2010/main" val="34069963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Build AI agents with portal and VS Code</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132618"/>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demo, you’ll explore how to:</a:t>
            </a:r>
          </a:p>
          <a:p>
            <a:r>
              <a:rPr lang="en-US" dirty="0"/>
              <a:t>Create an AI agent in Microsoft Foundry portal</a:t>
            </a:r>
          </a:p>
          <a:p>
            <a:r>
              <a:rPr lang="en-US" dirty="0"/>
              <a:t>Interact with your agent using VS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https://go.microsoft.com/fwlink/?linkid=2352649</a:t>
            </a:r>
            <a:r>
              <a:rPr lang="en-US" sz="1600" dirty="0">
                <a:solidFill>
                  <a:srgbClr val="000000"/>
                </a:solidFill>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2332142"/>
            <a:ext cx="8778782" cy="430887"/>
          </a:xfrm>
        </p:spPr>
        <p:txBody>
          <a:bodyPr/>
          <a:lstStyle/>
          <a:p>
            <a:r>
              <a:rPr lang="en-US" b="1" dirty="0"/>
              <a:t>What is the primary benefit of using Microsoft Foundry to build your agents compared to building agents with standard language model APIs?</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787987"/>
            <a:ext cx="8775098" cy="991041"/>
          </a:xfrm>
          <a:noFill/>
        </p:spPr>
        <p:txBody>
          <a:bodyPr/>
          <a:lstStyle/>
          <a:p>
            <a:r>
              <a:rPr lang="en-US" noProof="0" dirty="0"/>
              <a:t>It provides access to more powerful AI models  </a:t>
            </a:r>
            <a:endParaRPr lang="en-US" dirty="0"/>
          </a:p>
          <a:p>
            <a:r>
              <a:rPr lang="en-US" noProof="0" dirty="0"/>
              <a:t>It requires no Azure subscription  </a:t>
            </a:r>
            <a:endParaRPr lang="en-US" dirty="0"/>
          </a:p>
          <a:p>
            <a:r>
              <a:rPr lang="en-US" noProof="0" dirty="0"/>
              <a:t>It handles tool calling, state management, and infrastructure automatically  </a:t>
            </a:r>
            <a:endParaRPr lang="en-US" dirty="0"/>
          </a:p>
          <a:p>
            <a:r>
              <a:rPr lang="en-US" noProof="0" dirty="0"/>
              <a:t>It only works with the Azure portal</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4034002"/>
            <a:ext cx="8778782" cy="215444"/>
          </a:xfrm>
        </p:spPr>
        <p:txBody>
          <a:bodyPr/>
          <a:lstStyle/>
          <a:p>
            <a:r>
              <a:rPr lang="en-US" noProof="0" dirty="0"/>
              <a:t>How does the Microsoft Foundry SDK handle conversation state?</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4267495"/>
            <a:ext cx="8775098" cy="991041"/>
          </a:xfrm>
        </p:spPr>
        <p:txBody>
          <a:bodyPr/>
          <a:lstStyle/>
          <a:p>
            <a:r>
              <a:rPr lang="en-US" dirty="0"/>
              <a:t>By requiring developers to manually manage conversation history  </a:t>
            </a:r>
          </a:p>
          <a:p>
            <a:r>
              <a:rPr lang="en-US" dirty="0"/>
              <a:t>Through external database connections  </a:t>
            </a:r>
          </a:p>
          <a:p>
            <a:r>
              <a:rPr lang="en-US" dirty="0"/>
              <a:t>Through the Responses API which automatically manages conversation context  </a:t>
            </a:r>
          </a:p>
          <a:p>
            <a:r>
              <a:rPr lang="en-US" dirty="0"/>
              <a:t>Using local file storage on the client device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3852" y="33191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
        <p:nvSpPr>
          <p:cNvPr id="5" name="Graphic 26">
            <a:extLst>
              <a:ext uri="{FF2B5EF4-FFF2-40B4-BE49-F238E27FC236}">
                <a16:creationId xmlns:a16="http://schemas.microsoft.com/office/drawing/2014/main" id="{1BC2DADB-2D77-0412-4D5B-67A9AEB8C86A}"/>
              </a:ext>
              <a:ext uri="{C183D7F6-B498-43B3-948B-1728B52AA6E4}">
                <adec:decorative xmlns:adec="http://schemas.microsoft.com/office/drawing/2017/decorative" val="1"/>
              </a:ext>
            </a:extLst>
          </p:cNvPr>
          <p:cNvSpPr>
            <a:spLocks/>
          </p:cNvSpPr>
          <p:nvPr/>
        </p:nvSpPr>
        <p:spPr>
          <a:xfrm>
            <a:off x="1248110" y="479156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F765-FC16-F4BA-6B8F-642C6E660B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80E45F-A546-6B16-68D1-3106DADFC2D6}"/>
              </a:ext>
            </a:extLst>
          </p:cNvPr>
          <p:cNvSpPr>
            <a:spLocks noGrp="1"/>
          </p:cNvSpPr>
          <p:nvPr>
            <p:ph type="title"/>
          </p:nvPr>
        </p:nvSpPr>
        <p:spPr>
          <a:xfrm>
            <a:off x="569911" y="2892167"/>
            <a:ext cx="6345239" cy="1107996"/>
          </a:xfrm>
        </p:spPr>
        <p:txBody>
          <a:bodyPr/>
          <a:lstStyle/>
          <a:p>
            <a:r>
              <a:rPr lang="en-US" altLang="zh-CN" sz="3600" dirty="0"/>
              <a:t>Integrate custom tools into your agent</a:t>
            </a:r>
            <a:endParaRPr lang="en-US" sz="3600" dirty="0"/>
          </a:p>
        </p:txBody>
      </p:sp>
      <p:sp>
        <p:nvSpPr>
          <p:cNvPr id="11" name="Footer Placeholder 10">
            <a:extLst>
              <a:ext uri="{FF2B5EF4-FFF2-40B4-BE49-F238E27FC236}">
                <a16:creationId xmlns:a16="http://schemas.microsoft.com/office/drawing/2014/main" id="{D41FDB84-27C7-D595-A64E-3D97D637FE4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3D921D9A-8F1F-706B-CB08-467D17B29FFB}"/>
              </a:ext>
              <a:ext uri="{C183D7F6-B498-43B3-948B-1728B52AA6E4}">
                <adec:decorative xmlns:adec="http://schemas.microsoft.com/office/drawing/2017/decorative" val="1"/>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2D61FBFF-A82C-77FB-C70A-9BCD6558D166}"/>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https://aka.ms/mslearn-agent-custom-tools</a:t>
            </a:r>
          </a:p>
        </p:txBody>
      </p:sp>
    </p:spTree>
    <p:extLst>
      <p:ext uri="{BB962C8B-B14F-4D97-AF65-F5344CB8AC3E}">
        <p14:creationId xmlns:p14="http://schemas.microsoft.com/office/powerpoint/2010/main" val="1451881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2BB9-164A-349E-9B5D-0B044BCEE6F0}"/>
              </a:ext>
            </a:extLst>
          </p:cNvPr>
          <p:cNvSpPr>
            <a:spLocks noGrp="1"/>
          </p:cNvSpPr>
          <p:nvPr>
            <p:ph type="title"/>
          </p:nvPr>
        </p:nvSpPr>
        <p:spPr>
          <a:xfrm>
            <a:off x="588261" y="585216"/>
            <a:ext cx="11011601" cy="492443"/>
          </a:xfrm>
        </p:spPr>
        <p:txBody>
          <a:bodyPr/>
          <a:lstStyle/>
          <a:p>
            <a:r>
              <a:rPr lang="en-US" sz="3200" dirty="0"/>
              <a:t>Why use custom tools?</a:t>
            </a:r>
          </a:p>
        </p:txBody>
      </p:sp>
      <p:sp>
        <p:nvSpPr>
          <p:cNvPr id="3" name="Footer Placeholder 2">
            <a:extLst>
              <a:ext uri="{FF2B5EF4-FFF2-40B4-BE49-F238E27FC236}">
                <a16:creationId xmlns:a16="http://schemas.microsoft.com/office/drawing/2014/main" id="{674A4971-E670-CBB3-B960-A80E0F2BE82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8" name="Oval 7">
            <a:extLst>
              <a:ext uri="{FF2B5EF4-FFF2-40B4-BE49-F238E27FC236}">
                <a16:creationId xmlns:a16="http://schemas.microsoft.com/office/drawing/2014/main" id="{6D9D5FDE-E8CA-EF42-4B27-247B310FB060}"/>
              </a:ext>
            </a:extLst>
          </p:cNvPr>
          <p:cNvSpPr>
            <a:spLocks noChangeAspect="1"/>
          </p:cNvSpPr>
          <p:nvPr/>
        </p:nvSpPr>
        <p:spPr bwMode="auto">
          <a:xfrm>
            <a:off x="963021" y="1681855"/>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1</a:t>
            </a:r>
          </a:p>
        </p:txBody>
      </p:sp>
      <p:grpSp>
        <p:nvGrpSpPr>
          <p:cNvPr id="12" name="Group 11">
            <a:extLst>
              <a:ext uri="{FF2B5EF4-FFF2-40B4-BE49-F238E27FC236}">
                <a16:creationId xmlns:a16="http://schemas.microsoft.com/office/drawing/2014/main" id="{DE9498BE-D46D-F716-853E-2E588269D22D}"/>
              </a:ext>
            </a:extLst>
          </p:cNvPr>
          <p:cNvGrpSpPr/>
          <p:nvPr/>
        </p:nvGrpSpPr>
        <p:grpSpPr>
          <a:xfrm>
            <a:off x="4277962" y="2306050"/>
            <a:ext cx="1371600" cy="1341512"/>
            <a:chOff x="5410200" y="2925523"/>
            <a:chExt cx="1371600" cy="1341512"/>
          </a:xfrm>
        </p:grpSpPr>
        <p:grpSp>
          <p:nvGrpSpPr>
            <p:cNvPr id="11" name="Group 10">
              <a:extLst>
                <a:ext uri="{FF2B5EF4-FFF2-40B4-BE49-F238E27FC236}">
                  <a16:creationId xmlns:a16="http://schemas.microsoft.com/office/drawing/2014/main" id="{BDC8FBD4-DADD-A41B-DCC8-8C52C9D345E2}"/>
                </a:ext>
              </a:extLst>
            </p:cNvPr>
            <p:cNvGrpSpPr>
              <a:grpSpLocks noChangeAspect="1"/>
            </p:cNvGrpSpPr>
            <p:nvPr/>
          </p:nvGrpSpPr>
          <p:grpSpPr>
            <a:xfrm>
              <a:off x="5580949" y="2925523"/>
              <a:ext cx="1030103" cy="1005840"/>
              <a:chOff x="5390030" y="2622573"/>
              <a:chExt cx="1411941" cy="1378683"/>
            </a:xfrm>
          </p:grpSpPr>
          <p:sp>
            <p:nvSpPr>
              <p:cNvPr id="9" name="Oval 8">
                <a:extLst>
                  <a:ext uri="{FF2B5EF4-FFF2-40B4-BE49-F238E27FC236}">
                    <a16:creationId xmlns:a16="http://schemas.microsoft.com/office/drawing/2014/main" id="{89FD168E-3DEB-F86B-A1EB-5F9679B7B5E4}"/>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descr="Robot with solid fill">
                <a:extLst>
                  <a:ext uri="{FF2B5EF4-FFF2-40B4-BE49-F238E27FC236}">
                    <a16:creationId xmlns:a16="http://schemas.microsoft.com/office/drawing/2014/main" id="{1DC4B26B-89FC-2E47-D05C-74A7E7809A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grpSp>
        <p:sp>
          <p:nvSpPr>
            <p:cNvPr id="6" name="Agent">
              <a:extLst>
                <a:ext uri="{FF2B5EF4-FFF2-40B4-BE49-F238E27FC236}">
                  <a16:creationId xmlns:a16="http://schemas.microsoft.com/office/drawing/2014/main" id="{D8DCBB30-BF99-D542-E00D-AACA0F961B04}"/>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grpSp>
      <p:grpSp>
        <p:nvGrpSpPr>
          <p:cNvPr id="21" name="Group 20">
            <a:extLst>
              <a:ext uri="{FF2B5EF4-FFF2-40B4-BE49-F238E27FC236}">
                <a16:creationId xmlns:a16="http://schemas.microsoft.com/office/drawing/2014/main" id="{70163254-AF4D-4709-9E89-22112329A4AE}"/>
              </a:ext>
            </a:extLst>
          </p:cNvPr>
          <p:cNvGrpSpPr/>
          <p:nvPr/>
        </p:nvGrpSpPr>
        <p:grpSpPr>
          <a:xfrm>
            <a:off x="6777251" y="2306050"/>
            <a:ext cx="1371600" cy="1341512"/>
            <a:chOff x="8245033" y="3975338"/>
            <a:chExt cx="1371600" cy="1341512"/>
          </a:xfrm>
        </p:grpSpPr>
        <p:grpSp>
          <p:nvGrpSpPr>
            <p:cNvPr id="14" name="Group 13">
              <a:extLst>
                <a:ext uri="{FF2B5EF4-FFF2-40B4-BE49-F238E27FC236}">
                  <a16:creationId xmlns:a16="http://schemas.microsoft.com/office/drawing/2014/main" id="{DFC395AE-69D0-0DB8-C7DA-430C134F3A9E}"/>
                </a:ext>
              </a:extLst>
            </p:cNvPr>
            <p:cNvGrpSpPr/>
            <p:nvPr/>
          </p:nvGrpSpPr>
          <p:grpSpPr>
            <a:xfrm>
              <a:off x="8245033" y="3975338"/>
              <a:ext cx="1371600" cy="1341512"/>
              <a:chOff x="5410200" y="2925523"/>
              <a:chExt cx="1371600" cy="1341512"/>
            </a:xfrm>
          </p:grpSpPr>
          <p:sp>
            <p:nvSpPr>
              <p:cNvPr id="17" name="Oval 16">
                <a:extLst>
                  <a:ext uri="{FF2B5EF4-FFF2-40B4-BE49-F238E27FC236}">
                    <a16:creationId xmlns:a16="http://schemas.microsoft.com/office/drawing/2014/main" id="{460563F1-338F-BFED-D108-9FBFF741B6A8}"/>
                  </a:ext>
                </a:extLst>
              </p:cNvPr>
              <p:cNvSpPr/>
              <p:nvPr/>
            </p:nvSpPr>
            <p:spPr bwMode="auto">
              <a:xfrm>
                <a:off x="5580949" y="2925523"/>
                <a:ext cx="1030103" cy="10058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Agent">
                <a:extLst>
                  <a:ext uri="{FF2B5EF4-FFF2-40B4-BE49-F238E27FC236}">
                    <a16:creationId xmlns:a16="http://schemas.microsoft.com/office/drawing/2014/main" id="{733A4DF7-3A8C-C67D-8176-6427BD443675}"/>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n-US" sz="1800" b="1" dirty="0">
                    <a:solidFill>
                      <a:srgbClr val="FFFFFF"/>
                    </a:solidFill>
                  </a:rPr>
                  <a:t>Tool</a:t>
                </a:r>
              </a:p>
            </p:txBody>
          </p:sp>
        </p:grpSp>
        <p:pic>
          <p:nvPicPr>
            <p:cNvPr id="20" name="Graphic 19" descr="Single gear with solid fill">
              <a:extLst>
                <a:ext uri="{FF2B5EF4-FFF2-40B4-BE49-F238E27FC236}">
                  <a16:creationId xmlns:a16="http://schemas.microsoft.com/office/drawing/2014/main" id="{8797B783-5FF6-E201-A09A-46F8D2BA14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2937" y="4070362"/>
              <a:ext cx="815792" cy="815792"/>
            </a:xfrm>
            <a:prstGeom prst="rect">
              <a:avLst/>
            </a:prstGeom>
          </p:spPr>
        </p:pic>
      </p:grpSp>
      <p:grpSp>
        <p:nvGrpSpPr>
          <p:cNvPr id="29" name="Group 28">
            <a:extLst>
              <a:ext uri="{FF2B5EF4-FFF2-40B4-BE49-F238E27FC236}">
                <a16:creationId xmlns:a16="http://schemas.microsoft.com/office/drawing/2014/main" id="{289D4369-0705-03A1-9618-673D1D16A5B6}"/>
              </a:ext>
            </a:extLst>
          </p:cNvPr>
          <p:cNvGrpSpPr/>
          <p:nvPr/>
        </p:nvGrpSpPr>
        <p:grpSpPr>
          <a:xfrm>
            <a:off x="588261" y="2938443"/>
            <a:ext cx="1371600" cy="1341512"/>
            <a:chOff x="1810142" y="2800951"/>
            <a:chExt cx="1371600" cy="1341512"/>
          </a:xfrm>
        </p:grpSpPr>
        <p:grpSp>
          <p:nvGrpSpPr>
            <p:cNvPr id="22" name="Group 21">
              <a:extLst>
                <a:ext uri="{FF2B5EF4-FFF2-40B4-BE49-F238E27FC236}">
                  <a16:creationId xmlns:a16="http://schemas.microsoft.com/office/drawing/2014/main" id="{2AA052C9-08B2-F9DB-1F12-0A1263E67175}"/>
                </a:ext>
              </a:extLst>
            </p:cNvPr>
            <p:cNvGrpSpPr/>
            <p:nvPr/>
          </p:nvGrpSpPr>
          <p:grpSpPr>
            <a:xfrm>
              <a:off x="1810142" y="2800951"/>
              <a:ext cx="1371600" cy="1341512"/>
              <a:chOff x="5410200" y="2925523"/>
              <a:chExt cx="1371600" cy="1341512"/>
            </a:xfrm>
          </p:grpSpPr>
          <p:sp>
            <p:nvSpPr>
              <p:cNvPr id="25" name="Oval 24">
                <a:extLst>
                  <a:ext uri="{FF2B5EF4-FFF2-40B4-BE49-F238E27FC236}">
                    <a16:creationId xmlns:a16="http://schemas.microsoft.com/office/drawing/2014/main" id="{FEEBDDD0-4EFE-0447-D0C7-AF59B9B95936}"/>
                  </a:ext>
                </a:extLst>
              </p:cNvPr>
              <p:cNvSpPr/>
              <p:nvPr/>
            </p:nvSpPr>
            <p:spPr bwMode="auto">
              <a:xfrm>
                <a:off x="5580949" y="2925523"/>
                <a:ext cx="1030103" cy="10058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4" name="Agent">
                <a:extLst>
                  <a:ext uri="{FF2B5EF4-FFF2-40B4-BE49-F238E27FC236}">
                    <a16:creationId xmlns:a16="http://schemas.microsoft.com/office/drawing/2014/main" id="{B8B761E5-8A78-A4BE-9025-D177233BDE37}"/>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n-US" sz="1800" b="1" dirty="0">
                    <a:solidFill>
                      <a:srgbClr val="FFFFFF"/>
                    </a:solidFill>
                  </a:rPr>
                  <a:t>User</a:t>
                </a:r>
              </a:p>
            </p:txBody>
          </p:sp>
        </p:grpSp>
        <p:pic>
          <p:nvPicPr>
            <p:cNvPr id="28" name="Graphic 27" descr="User with solid fill">
              <a:extLst>
                <a:ext uri="{FF2B5EF4-FFF2-40B4-BE49-F238E27FC236}">
                  <a16:creationId xmlns:a16="http://schemas.microsoft.com/office/drawing/2014/main" id="{93D9089C-5387-9911-B629-16EA3FFCE4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38742" y="2875262"/>
              <a:ext cx="914400" cy="914400"/>
            </a:xfrm>
            <a:prstGeom prst="rect">
              <a:avLst/>
            </a:prstGeom>
          </p:spPr>
        </p:pic>
      </p:grpSp>
      <p:sp>
        <p:nvSpPr>
          <p:cNvPr id="31" name="RetrievalCard">
            <a:extLst>
              <a:ext uri="{FF2B5EF4-FFF2-40B4-BE49-F238E27FC236}">
                <a16:creationId xmlns:a16="http://schemas.microsoft.com/office/drawing/2014/main" id="{CC0B6F9B-0A3F-4E13-1304-C0C7F8E68FE0}"/>
              </a:ext>
            </a:extLst>
          </p:cNvPr>
          <p:cNvSpPr/>
          <p:nvPr/>
        </p:nvSpPr>
        <p:spPr>
          <a:xfrm>
            <a:off x="1620456" y="1684270"/>
            <a:ext cx="1540257" cy="1214476"/>
          </a:xfrm>
          <a:prstGeom prst="wedgeRoundRectCallout">
            <a:avLst>
              <a:gd name="adj1" fmla="val -43558"/>
              <a:gd name="adj2" fmla="val 63239"/>
              <a:gd name="adj3" fmla="val 16667"/>
            </a:avLst>
          </a:prstGeom>
          <a:solidFill>
            <a:srgbClr val="F8F8F8"/>
          </a:solidFill>
          <a:ln w="9525">
            <a:solidFill>
              <a:srgbClr val="DEDEDE"/>
            </a:solidFill>
          </a:ln>
        </p:spPr>
        <p:txBody>
          <a:bodyPr anchor="t"/>
          <a:lstStyle/>
          <a:p>
            <a:endParaRPr lang="en-US" sz="1400" b="1" dirty="0">
              <a:latin typeface="+mj-lt"/>
            </a:endParaRPr>
          </a:p>
        </p:txBody>
      </p:sp>
      <p:pic>
        <p:nvPicPr>
          <p:cNvPr id="33" name="Graphic 32" descr="Cross country skiing with solid fill">
            <a:extLst>
              <a:ext uri="{FF2B5EF4-FFF2-40B4-BE49-F238E27FC236}">
                <a16:creationId xmlns:a16="http://schemas.microsoft.com/office/drawing/2014/main" id="{168A1AF9-772E-B395-6EEB-A51648A221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2813" y="1837548"/>
            <a:ext cx="914400" cy="914400"/>
          </a:xfrm>
          <a:prstGeom prst="rect">
            <a:avLst/>
          </a:prstGeom>
        </p:spPr>
      </p:pic>
      <p:sp>
        <p:nvSpPr>
          <p:cNvPr id="34" name="Rectangle 33">
            <a:extLst>
              <a:ext uri="{FF2B5EF4-FFF2-40B4-BE49-F238E27FC236}">
                <a16:creationId xmlns:a16="http://schemas.microsoft.com/office/drawing/2014/main" id="{BBC168B8-C8D5-6523-3383-6A2DA7EA3F88}"/>
              </a:ext>
            </a:extLst>
          </p:cNvPr>
          <p:cNvSpPr/>
          <p:nvPr/>
        </p:nvSpPr>
        <p:spPr>
          <a:xfrm>
            <a:off x="2630339" y="1797851"/>
            <a:ext cx="495649" cy="923330"/>
          </a:xfrm>
          <a:prstGeom prst="rect">
            <a:avLst/>
          </a:prstGeom>
          <a:noFill/>
          <a:effectLst/>
        </p:spPr>
        <p:txBody>
          <a:bodyPr wrap="none" lIns="91440" tIns="45720" rIns="91440" bIns="45720">
            <a:spAutoFit/>
          </a:bodyPr>
          <a:lstStyle/>
          <a:p>
            <a:pPr algn="ctr"/>
            <a:r>
              <a:rPr lang="en-US" sz="5400" b="0" cap="none" spc="0" dirty="0">
                <a:ln w="0">
                  <a:noFill/>
                </a:ln>
                <a:solidFill>
                  <a:schemeClr val="tx1">
                    <a:lumMod val="50000"/>
                    <a:lumOff val="50000"/>
                  </a:schemeClr>
                </a:solidFill>
              </a:rPr>
              <a:t>?</a:t>
            </a:r>
          </a:p>
        </p:txBody>
      </p:sp>
      <p:sp>
        <p:nvSpPr>
          <p:cNvPr id="35" name="RetrievalCard">
            <a:extLst>
              <a:ext uri="{FF2B5EF4-FFF2-40B4-BE49-F238E27FC236}">
                <a16:creationId xmlns:a16="http://schemas.microsoft.com/office/drawing/2014/main" id="{0675E54D-C433-B67B-122C-B34C3AF083BF}"/>
              </a:ext>
            </a:extLst>
          </p:cNvPr>
          <p:cNvSpPr/>
          <p:nvPr/>
        </p:nvSpPr>
        <p:spPr>
          <a:xfrm>
            <a:off x="2263409" y="3193721"/>
            <a:ext cx="1540257" cy="1214476"/>
          </a:xfrm>
          <a:prstGeom prst="wedgeRoundRectCallout">
            <a:avLst>
              <a:gd name="adj1" fmla="val 65406"/>
              <a:gd name="adj2" fmla="val -46363"/>
              <a:gd name="adj3" fmla="val 16667"/>
            </a:avLst>
          </a:prstGeom>
          <a:solidFill>
            <a:srgbClr val="F8F8F8"/>
          </a:solidFill>
          <a:ln w="9525">
            <a:solidFill>
              <a:srgbClr val="DEDEDE"/>
            </a:solidFill>
          </a:ln>
        </p:spPr>
        <p:txBody>
          <a:bodyPr anchor="t"/>
          <a:lstStyle/>
          <a:p>
            <a:endParaRPr lang="en-US" sz="1400" b="1" dirty="0">
              <a:latin typeface="+mj-lt"/>
            </a:endParaRPr>
          </a:p>
        </p:txBody>
      </p:sp>
      <p:pic>
        <p:nvPicPr>
          <p:cNvPr id="37" name="Graphic 36" descr="Snowflake with solid fill">
            <a:extLst>
              <a:ext uri="{FF2B5EF4-FFF2-40B4-BE49-F238E27FC236}">
                <a16:creationId xmlns:a16="http://schemas.microsoft.com/office/drawing/2014/main" id="{9CEDBDCB-4419-6852-E64A-DEAA4D494A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76337" y="3340400"/>
            <a:ext cx="914400" cy="914400"/>
          </a:xfrm>
          <a:prstGeom prst="rect">
            <a:avLst/>
          </a:prstGeom>
        </p:spPr>
      </p:pic>
      <p:sp>
        <p:nvSpPr>
          <p:cNvPr id="38" name="Oval 37">
            <a:extLst>
              <a:ext uri="{FF2B5EF4-FFF2-40B4-BE49-F238E27FC236}">
                <a16:creationId xmlns:a16="http://schemas.microsoft.com/office/drawing/2014/main" id="{52120157-4390-564D-9EAD-CC8A7E391417}"/>
              </a:ext>
            </a:extLst>
          </p:cNvPr>
          <p:cNvSpPr>
            <a:spLocks noChangeAspect="1"/>
          </p:cNvSpPr>
          <p:nvPr/>
        </p:nvSpPr>
        <p:spPr bwMode="auto">
          <a:xfrm>
            <a:off x="6640848" y="1837548"/>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39" name="Oval 38">
            <a:extLst>
              <a:ext uri="{FF2B5EF4-FFF2-40B4-BE49-F238E27FC236}">
                <a16:creationId xmlns:a16="http://schemas.microsoft.com/office/drawing/2014/main" id="{7986036F-0649-E6C8-045C-7983B1BA8858}"/>
              </a:ext>
            </a:extLst>
          </p:cNvPr>
          <p:cNvSpPr>
            <a:spLocks noChangeAspect="1"/>
          </p:cNvSpPr>
          <p:nvPr/>
        </p:nvSpPr>
        <p:spPr bwMode="auto">
          <a:xfrm>
            <a:off x="4035570" y="3797600"/>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3</a:t>
            </a:r>
          </a:p>
        </p:txBody>
      </p:sp>
      <p:pic>
        <p:nvPicPr>
          <p:cNvPr id="42" name="Graphic 41" descr="Mountains with solid fill">
            <a:extLst>
              <a:ext uri="{FF2B5EF4-FFF2-40B4-BE49-F238E27FC236}">
                <a16:creationId xmlns:a16="http://schemas.microsoft.com/office/drawing/2014/main" id="{43035B2C-AACB-9173-C6CA-D3FC40DA7B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11664" y="2434834"/>
            <a:ext cx="1388730" cy="1388730"/>
          </a:xfrm>
          <a:prstGeom prst="rect">
            <a:avLst/>
          </a:prstGeom>
        </p:spPr>
      </p:pic>
      <p:pic>
        <p:nvPicPr>
          <p:cNvPr id="44" name="Graphic 43" descr="Snow outline">
            <a:extLst>
              <a:ext uri="{FF2B5EF4-FFF2-40B4-BE49-F238E27FC236}">
                <a16:creationId xmlns:a16="http://schemas.microsoft.com/office/drawing/2014/main" id="{B4A4CEAB-DDFF-FE73-B35C-0A33E232EB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9891" y="2035054"/>
            <a:ext cx="914400" cy="914400"/>
          </a:xfrm>
          <a:prstGeom prst="rect">
            <a:avLst/>
          </a:prstGeom>
        </p:spPr>
      </p:pic>
      <p:sp>
        <p:nvSpPr>
          <p:cNvPr id="45" name="Right Arrow 44">
            <a:extLst>
              <a:ext uri="{FF2B5EF4-FFF2-40B4-BE49-F238E27FC236}">
                <a16:creationId xmlns:a16="http://schemas.microsoft.com/office/drawing/2014/main" id="{B6DEC800-D831-F9F0-B979-7BEF6A9E76AD}"/>
              </a:ext>
            </a:extLst>
          </p:cNvPr>
          <p:cNvSpPr/>
          <p:nvPr/>
        </p:nvSpPr>
        <p:spPr bwMode="auto">
          <a:xfrm>
            <a:off x="5819032" y="2594460"/>
            <a:ext cx="821816" cy="402361"/>
          </a:xfrm>
          <a:prstGeom prst="rightArrow">
            <a:avLst>
              <a:gd name="adj1" fmla="val 40446"/>
              <a:gd name="adj2"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Left-Right Arrow 45">
            <a:extLst>
              <a:ext uri="{FF2B5EF4-FFF2-40B4-BE49-F238E27FC236}">
                <a16:creationId xmlns:a16="http://schemas.microsoft.com/office/drawing/2014/main" id="{980BCE57-DD64-97D3-963E-11A842DFC8CA}"/>
              </a:ext>
            </a:extLst>
          </p:cNvPr>
          <p:cNvSpPr/>
          <p:nvPr/>
        </p:nvSpPr>
        <p:spPr bwMode="auto">
          <a:xfrm>
            <a:off x="8287803" y="2556686"/>
            <a:ext cx="1641870" cy="402361"/>
          </a:xfrm>
          <a:prstGeom prst="leftRightArrow">
            <a:avLst>
              <a:gd name="adj1" fmla="val 38493"/>
              <a:gd name="adj2"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Text Placeholder 1">
            <a:extLst>
              <a:ext uri="{FF2B5EF4-FFF2-40B4-BE49-F238E27FC236}">
                <a16:creationId xmlns:a16="http://schemas.microsoft.com/office/drawing/2014/main" id="{80F053FC-06ED-8D69-06B4-BEFAE6E93325}"/>
              </a:ext>
            </a:extLst>
          </p:cNvPr>
          <p:cNvSpPr txBox="1">
            <a:spLocks/>
          </p:cNvSpPr>
          <p:nvPr/>
        </p:nvSpPr>
        <p:spPr>
          <a:xfrm>
            <a:off x="963021" y="4787624"/>
            <a:ext cx="11011601" cy="1001066"/>
          </a:xfrm>
          <a:prstGeom prst="rect">
            <a:avLst/>
          </a:prstGeom>
        </p:spPr>
        <p:txBody>
          <a:bodyPr numCol="3" spcCol="36576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tx1">
                    <a:lumMod val="75000"/>
                    <a:lumOff val="25000"/>
                  </a:schemeClr>
                </a:solidFill>
              </a:rPr>
              <a:t>User asks an agent about the weather conditions in a ski resort.</a:t>
            </a:r>
          </a:p>
          <a:p>
            <a:pPr marL="0" indent="0">
              <a:buNone/>
            </a:pPr>
            <a:endParaRPr lang="en-US" sz="1400" dirty="0">
              <a:solidFill>
                <a:schemeClr val="tx1">
                  <a:lumMod val="75000"/>
                  <a:lumOff val="25000"/>
                </a:schemeClr>
              </a:solidFill>
            </a:endParaRPr>
          </a:p>
          <a:p>
            <a:pPr marL="0" indent="0">
              <a:buNone/>
            </a:pPr>
            <a:r>
              <a:rPr lang="en-US" sz="1400" dirty="0">
                <a:solidFill>
                  <a:schemeClr val="tx1">
                    <a:lumMod val="75000"/>
                    <a:lumOff val="25000"/>
                  </a:schemeClr>
                </a:solidFill>
              </a:rPr>
              <a:t>The agent determines it has access </a:t>
            </a:r>
            <a:br>
              <a:rPr lang="en-US" sz="1400" dirty="0">
                <a:solidFill>
                  <a:schemeClr val="tx1">
                    <a:lumMod val="75000"/>
                    <a:lumOff val="25000"/>
                  </a:schemeClr>
                </a:solidFill>
              </a:rPr>
            </a:br>
            <a:r>
              <a:rPr lang="en-US" sz="1400" dirty="0">
                <a:solidFill>
                  <a:schemeClr val="tx1">
                    <a:lumMod val="75000"/>
                    <a:lumOff val="25000"/>
                  </a:schemeClr>
                </a:solidFill>
              </a:rPr>
              <a:t>to a tool that can use an API to get meteorological information and calls it.</a:t>
            </a:r>
          </a:p>
          <a:p>
            <a:pPr marL="0" indent="0">
              <a:buNone/>
            </a:pPr>
            <a:endParaRPr lang="en-US" sz="1400" dirty="0">
              <a:solidFill>
                <a:schemeClr val="tx1">
                  <a:lumMod val="75000"/>
                  <a:lumOff val="25000"/>
                </a:schemeClr>
              </a:solidFill>
            </a:endParaRPr>
          </a:p>
          <a:p>
            <a:pPr marL="0" indent="0">
              <a:buNone/>
            </a:pPr>
            <a:r>
              <a:rPr lang="en-US" sz="1400" dirty="0">
                <a:solidFill>
                  <a:schemeClr val="tx1">
                    <a:lumMod val="75000"/>
                    <a:lumOff val="25000"/>
                  </a:schemeClr>
                </a:solidFill>
              </a:rPr>
              <a:t>The tool returns the weather report, and the agent informs the user.</a:t>
            </a:r>
          </a:p>
        </p:txBody>
      </p:sp>
      <p:sp>
        <p:nvSpPr>
          <p:cNvPr id="48" name="Oval 47">
            <a:extLst>
              <a:ext uri="{FF2B5EF4-FFF2-40B4-BE49-F238E27FC236}">
                <a16:creationId xmlns:a16="http://schemas.microsoft.com/office/drawing/2014/main" id="{9C5107EF-E1CA-284A-DE49-87D2B1BF03A4}"/>
              </a:ext>
            </a:extLst>
          </p:cNvPr>
          <p:cNvSpPr>
            <a:spLocks noChangeAspect="1"/>
          </p:cNvSpPr>
          <p:nvPr/>
        </p:nvSpPr>
        <p:spPr bwMode="auto">
          <a:xfrm>
            <a:off x="679878"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49" name="Oval 48">
            <a:extLst>
              <a:ext uri="{FF2B5EF4-FFF2-40B4-BE49-F238E27FC236}">
                <a16:creationId xmlns:a16="http://schemas.microsoft.com/office/drawing/2014/main" id="{567CC6FF-C63B-46A9-BD6C-9D6046271E33}"/>
              </a:ext>
            </a:extLst>
          </p:cNvPr>
          <p:cNvSpPr>
            <a:spLocks noChangeAspect="1"/>
          </p:cNvSpPr>
          <p:nvPr/>
        </p:nvSpPr>
        <p:spPr bwMode="auto">
          <a:xfrm>
            <a:off x="4378402"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50" name="Oval 49">
            <a:extLst>
              <a:ext uri="{FF2B5EF4-FFF2-40B4-BE49-F238E27FC236}">
                <a16:creationId xmlns:a16="http://schemas.microsoft.com/office/drawing/2014/main" id="{5797892E-18F2-637E-2A9E-B44A4BD3574C}"/>
              </a:ext>
            </a:extLst>
          </p:cNvPr>
          <p:cNvSpPr>
            <a:spLocks noChangeAspect="1"/>
          </p:cNvSpPr>
          <p:nvPr/>
        </p:nvSpPr>
        <p:spPr bwMode="auto">
          <a:xfrm>
            <a:off x="8177795"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gradFill>
                  <a:gsLst>
                    <a:gs pos="0">
                      <a:srgbClr val="FFFFFF"/>
                    </a:gs>
                    <a:gs pos="100000">
                      <a:srgbClr val="FFFFFF"/>
                    </a:gs>
                  </a:gsLst>
                  <a:lin ang="5400000" scaled="0"/>
                </a:gradFill>
                <a:latin typeface="+mj-lt"/>
                <a:ea typeface="Segoe UI" pitchFamily="34" charset="0"/>
                <a:cs typeface="Segoe UI" pitchFamily="34" charset="0"/>
              </a:rPr>
              <a:t>3</a:t>
            </a:r>
          </a:p>
        </p:txBody>
      </p:sp>
    </p:spTree>
    <p:extLst>
      <p:ext uri="{BB962C8B-B14F-4D97-AF65-F5344CB8AC3E}">
        <p14:creationId xmlns:p14="http://schemas.microsoft.com/office/powerpoint/2010/main" val="179240870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199A-9A6A-96B7-291F-162CBB35DA76}"/>
              </a:ext>
            </a:extLst>
          </p:cNvPr>
          <p:cNvSpPr>
            <a:spLocks noGrp="1"/>
          </p:cNvSpPr>
          <p:nvPr>
            <p:ph type="title"/>
          </p:nvPr>
        </p:nvSpPr>
        <p:spPr>
          <a:xfrm>
            <a:off x="588261" y="585216"/>
            <a:ext cx="11011601" cy="492443"/>
          </a:xfrm>
        </p:spPr>
        <p:txBody>
          <a:bodyPr/>
          <a:lstStyle/>
          <a:p>
            <a:r>
              <a:rPr lang="en-US" sz="3200" dirty="0"/>
              <a:t>Options for implementing custom tools</a:t>
            </a:r>
          </a:p>
        </p:txBody>
      </p:sp>
      <p:sp>
        <p:nvSpPr>
          <p:cNvPr id="3" name="Footer Placeholder 2">
            <a:extLst>
              <a:ext uri="{FF2B5EF4-FFF2-40B4-BE49-F238E27FC236}">
                <a16:creationId xmlns:a16="http://schemas.microsoft.com/office/drawing/2014/main" id="{9FFCD88D-7FA1-7CC4-0ACB-0E58A128846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RetrievalCard">
            <a:extLst>
              <a:ext uri="{FF2B5EF4-FFF2-40B4-BE49-F238E27FC236}">
                <a16:creationId xmlns:a16="http://schemas.microsoft.com/office/drawing/2014/main" id="{FD44EB7B-B4BE-7DD2-51C9-F1BF651D055C}"/>
              </a:ext>
            </a:extLst>
          </p:cNvPr>
          <p:cNvSpPr/>
          <p:nvPr/>
        </p:nvSpPr>
        <p:spPr>
          <a:xfrm>
            <a:off x="588262" y="1399014"/>
            <a:ext cx="2651760" cy="4168409"/>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n-US" sz="1600" b="1" dirty="0">
                <a:solidFill>
                  <a:schemeClr val="tx2"/>
                </a:solidFill>
                <a:latin typeface="+mj-lt"/>
              </a:rPr>
              <a:t>Custom function</a:t>
            </a:r>
          </a:p>
          <a:p>
            <a:endParaRPr lang="en-US" sz="1600" b="1" dirty="0">
              <a:solidFill>
                <a:srgbClr val="6F6F6F"/>
              </a:solidFill>
              <a:latin typeface="+mj-lt"/>
            </a:endParaRPr>
          </a:p>
          <a:p>
            <a:r>
              <a:rPr lang="en-US" sz="1400" dirty="0">
                <a:solidFill>
                  <a:srgbClr val="6F6F6F"/>
                </a:solidFill>
              </a:rPr>
              <a:t>Describe custom functions to an agent and let it dynamically identify and call the right function with the correct arguments. </a:t>
            </a:r>
          </a:p>
          <a:p>
            <a:endParaRPr lang="en-US" sz="1400" dirty="0">
              <a:solidFill>
                <a:srgbClr val="6F6F6F"/>
              </a:solidFill>
            </a:endParaRPr>
          </a:p>
          <a:p>
            <a:r>
              <a:rPr lang="en-US" sz="1400" dirty="0">
                <a:solidFill>
                  <a:srgbClr val="6F6F6F"/>
                </a:solidFill>
              </a:rPr>
              <a:t>Supports multiple programming languages for integrating custom logic and workflows.</a:t>
            </a:r>
            <a:endParaRPr lang="en-US" sz="1400" b="1" dirty="0">
              <a:solidFill>
                <a:srgbClr val="6F6F6F"/>
              </a:solidFill>
              <a:latin typeface="+mj-lt"/>
            </a:endParaRPr>
          </a:p>
          <a:p>
            <a:endParaRPr lang="en-US" sz="1100" b="1" dirty="0">
              <a:solidFill>
                <a:srgbClr val="6F6F6F"/>
              </a:solidFill>
              <a:latin typeface="+mj-lt"/>
            </a:endParaRPr>
          </a:p>
        </p:txBody>
      </p:sp>
      <p:sp>
        <p:nvSpPr>
          <p:cNvPr id="6" name="RetrievalCard">
            <a:extLst>
              <a:ext uri="{FF2B5EF4-FFF2-40B4-BE49-F238E27FC236}">
                <a16:creationId xmlns:a16="http://schemas.microsoft.com/office/drawing/2014/main" id="{2CB57B40-43F0-BEF0-09ED-E8508CCBF306}"/>
              </a:ext>
            </a:extLst>
          </p:cNvPr>
          <p:cNvSpPr/>
          <p:nvPr/>
        </p:nvSpPr>
        <p:spPr>
          <a:xfrm>
            <a:off x="3391264" y="1399015"/>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n-US" sz="1600" b="1" dirty="0">
                <a:solidFill>
                  <a:schemeClr val="tx2"/>
                </a:solidFill>
                <a:latin typeface="+mj-lt"/>
              </a:rPr>
              <a:t>Azure Functions</a:t>
            </a:r>
          </a:p>
          <a:p>
            <a:endParaRPr lang="en-US" sz="1600" b="1" dirty="0">
              <a:solidFill>
                <a:srgbClr val="6F6F6F"/>
              </a:solidFill>
              <a:latin typeface="+mj-lt"/>
            </a:endParaRPr>
          </a:p>
          <a:p>
            <a:r>
              <a:rPr lang="en-US" sz="1400" dirty="0">
                <a:solidFill>
                  <a:srgbClr val="6F6F6F"/>
                </a:solidFill>
              </a:rPr>
              <a:t>Build intelligent, event-driven applications with minimal overhead. </a:t>
            </a:r>
          </a:p>
          <a:p>
            <a:endParaRPr lang="en-US" sz="1400" dirty="0">
              <a:solidFill>
                <a:srgbClr val="6F6F6F"/>
              </a:solidFill>
            </a:endParaRPr>
          </a:p>
          <a:p>
            <a:r>
              <a:rPr lang="en-US" sz="1400" dirty="0">
                <a:solidFill>
                  <a:srgbClr val="6F6F6F"/>
                </a:solidFill>
              </a:rPr>
              <a:t>Triggers determine when a function executes; bindings streamline connections to input and output data sources.</a:t>
            </a:r>
            <a:endParaRPr lang="en-US" sz="1400" b="1" dirty="0">
              <a:solidFill>
                <a:srgbClr val="6F6F6F"/>
              </a:solidFill>
              <a:latin typeface="+mj-lt"/>
            </a:endParaRPr>
          </a:p>
        </p:txBody>
      </p:sp>
      <p:sp>
        <p:nvSpPr>
          <p:cNvPr id="7" name="RetrievalCard">
            <a:extLst>
              <a:ext uri="{FF2B5EF4-FFF2-40B4-BE49-F238E27FC236}">
                <a16:creationId xmlns:a16="http://schemas.microsoft.com/office/drawing/2014/main" id="{1B0E9A28-51EA-321B-99CF-74DEA572661D}"/>
              </a:ext>
            </a:extLst>
          </p:cNvPr>
          <p:cNvSpPr/>
          <p:nvPr/>
        </p:nvSpPr>
        <p:spPr>
          <a:xfrm>
            <a:off x="6194266" y="1399014"/>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n-US" sz="1600" b="1" dirty="0" err="1">
                <a:solidFill>
                  <a:schemeClr val="tx2"/>
                </a:solidFill>
                <a:latin typeface="+mj-lt"/>
              </a:rPr>
              <a:t>OpenAPI</a:t>
            </a:r>
            <a:r>
              <a:rPr lang="en-US" sz="1600" b="1" dirty="0">
                <a:solidFill>
                  <a:schemeClr val="tx2"/>
                </a:solidFill>
                <a:latin typeface="+mj-lt"/>
              </a:rPr>
              <a:t> specification</a:t>
            </a:r>
          </a:p>
          <a:p>
            <a:endParaRPr lang="en-US" sz="1600" b="1" dirty="0">
              <a:solidFill>
                <a:srgbClr val="6F6F6F"/>
              </a:solidFill>
              <a:latin typeface="+mj-lt"/>
            </a:endParaRPr>
          </a:p>
          <a:p>
            <a:r>
              <a:rPr lang="en-US" sz="1400" dirty="0">
                <a:solidFill>
                  <a:srgbClr val="6F6F6F"/>
                </a:solidFill>
              </a:rPr>
              <a:t>Build intelligent, event-driven applications with minimal overhead. </a:t>
            </a:r>
          </a:p>
          <a:p>
            <a:endParaRPr lang="en-US" sz="1400" dirty="0">
              <a:solidFill>
                <a:srgbClr val="6F6F6F"/>
              </a:solidFill>
            </a:endParaRPr>
          </a:p>
          <a:p>
            <a:r>
              <a:rPr lang="en-US" sz="1400" dirty="0">
                <a:solidFill>
                  <a:srgbClr val="6F6F6F"/>
                </a:solidFill>
              </a:rPr>
              <a:t>Triggers determine when a function executes; bindings streamline connections to input and output data sources.</a:t>
            </a:r>
            <a:endParaRPr lang="en-US" sz="1400" b="1" dirty="0">
              <a:solidFill>
                <a:srgbClr val="6F6F6F"/>
              </a:solidFill>
              <a:latin typeface="+mj-lt"/>
            </a:endParaRPr>
          </a:p>
        </p:txBody>
      </p:sp>
      <p:sp>
        <p:nvSpPr>
          <p:cNvPr id="8" name="RetrievalCard">
            <a:extLst>
              <a:ext uri="{FF2B5EF4-FFF2-40B4-BE49-F238E27FC236}">
                <a16:creationId xmlns:a16="http://schemas.microsoft.com/office/drawing/2014/main" id="{EBA80F35-05CA-7048-AE73-11F3806085F7}"/>
              </a:ext>
            </a:extLst>
          </p:cNvPr>
          <p:cNvSpPr/>
          <p:nvPr/>
        </p:nvSpPr>
        <p:spPr>
          <a:xfrm>
            <a:off x="8997269" y="1399014"/>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n-US" sz="1600" b="1" dirty="0">
                <a:solidFill>
                  <a:schemeClr val="tx2"/>
                </a:solidFill>
                <a:latin typeface="+mj-lt"/>
              </a:rPr>
              <a:t>Azure Logic Apps</a:t>
            </a:r>
          </a:p>
          <a:p>
            <a:endParaRPr lang="en-US" sz="1600" b="1" dirty="0">
              <a:solidFill>
                <a:srgbClr val="6F6F6F"/>
              </a:solidFill>
              <a:latin typeface="+mj-lt"/>
            </a:endParaRPr>
          </a:p>
          <a:p>
            <a:r>
              <a:rPr lang="en-US" sz="1400" dirty="0">
                <a:solidFill>
                  <a:srgbClr val="6F6F6F"/>
                </a:solidFill>
              </a:rPr>
              <a:t>Build intelligent, event-driven applications with minimal overhead. </a:t>
            </a:r>
          </a:p>
          <a:p>
            <a:endParaRPr lang="en-US" sz="1400" dirty="0">
              <a:solidFill>
                <a:srgbClr val="6F6F6F"/>
              </a:solidFill>
            </a:endParaRPr>
          </a:p>
          <a:p>
            <a:r>
              <a:rPr lang="en-US" sz="1400" dirty="0">
                <a:solidFill>
                  <a:srgbClr val="6F6F6F"/>
                </a:solidFill>
              </a:rPr>
              <a:t>Triggers determine when a function executes; bindings streamline connections to input and output data sources.</a:t>
            </a:r>
            <a:endParaRPr lang="en-US" sz="1400" b="1" dirty="0">
              <a:solidFill>
                <a:srgbClr val="6F6F6F"/>
              </a:solidFill>
              <a:latin typeface="+mj-lt"/>
            </a:endParaRPr>
          </a:p>
        </p:txBody>
      </p:sp>
      <p:grpSp>
        <p:nvGrpSpPr>
          <p:cNvPr id="23" name="Group 22">
            <a:extLst>
              <a:ext uri="{FF2B5EF4-FFF2-40B4-BE49-F238E27FC236}">
                <a16:creationId xmlns:a16="http://schemas.microsoft.com/office/drawing/2014/main" id="{8CBBCACA-907D-1243-1619-A8ADE08148FC}"/>
              </a:ext>
            </a:extLst>
          </p:cNvPr>
          <p:cNvGrpSpPr/>
          <p:nvPr/>
        </p:nvGrpSpPr>
        <p:grpSpPr>
          <a:xfrm>
            <a:off x="821802" y="1527969"/>
            <a:ext cx="636608" cy="640742"/>
            <a:chOff x="821802" y="1556797"/>
            <a:chExt cx="636608" cy="640742"/>
          </a:xfrm>
        </p:grpSpPr>
        <p:sp>
          <p:nvSpPr>
            <p:cNvPr id="9" name="Oval 8">
              <a:extLst>
                <a:ext uri="{FF2B5EF4-FFF2-40B4-BE49-F238E27FC236}">
                  <a16:creationId xmlns:a16="http://schemas.microsoft.com/office/drawing/2014/main" id="{AE579266-1CF5-0B4B-300A-E2BFB11DF612}"/>
                </a:ext>
              </a:extLst>
            </p:cNvPr>
            <p:cNvSpPr>
              <a:spLocks noChangeAspect="1"/>
            </p:cNvSpPr>
            <p:nvPr/>
          </p:nvSpPr>
          <p:spPr bwMode="auto">
            <a:xfrm>
              <a:off x="821802" y="1556797"/>
              <a:ext cx="636608" cy="640742"/>
            </a:xfrm>
            <a:prstGeom prst="ellipse">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TextBox 9">
              <a:extLst>
                <a:ext uri="{FF2B5EF4-FFF2-40B4-BE49-F238E27FC236}">
                  <a16:creationId xmlns:a16="http://schemas.microsoft.com/office/drawing/2014/main" id="{156EE489-E780-6DC0-0426-52385EBF958F}"/>
                </a:ext>
              </a:extLst>
            </p:cNvPr>
            <p:cNvSpPr txBox="1"/>
            <p:nvPr/>
          </p:nvSpPr>
          <p:spPr>
            <a:xfrm>
              <a:off x="902060" y="1723280"/>
              <a:ext cx="476092" cy="307777"/>
            </a:xfrm>
            <a:prstGeom prst="rect">
              <a:avLst/>
            </a:prstGeom>
            <a:noFill/>
          </p:spPr>
          <p:txBody>
            <a:bodyPr wrap="none" lIns="0" tIns="0" rIns="0" bIns="0" rtlCol="0">
              <a:spAutoFit/>
            </a:bodyPr>
            <a:lstStyle/>
            <a:p>
              <a:pPr algn="ctr"/>
              <a:r>
                <a:rPr lang="en-US" sz="2000" b="1" dirty="0">
                  <a:solidFill>
                    <a:schemeClr val="tx2"/>
                  </a:solidFill>
                </a:rPr>
                <a:t>&lt;/&gt;</a:t>
              </a:r>
            </a:p>
          </p:txBody>
        </p:sp>
      </p:grpSp>
      <p:grpSp>
        <p:nvGrpSpPr>
          <p:cNvPr id="22" name="Group 21">
            <a:extLst>
              <a:ext uri="{FF2B5EF4-FFF2-40B4-BE49-F238E27FC236}">
                <a16:creationId xmlns:a16="http://schemas.microsoft.com/office/drawing/2014/main" id="{746FE9EE-7205-83AE-BEEA-009349B23BB2}"/>
              </a:ext>
            </a:extLst>
          </p:cNvPr>
          <p:cNvGrpSpPr/>
          <p:nvPr/>
        </p:nvGrpSpPr>
        <p:grpSpPr>
          <a:xfrm>
            <a:off x="3679143" y="1527969"/>
            <a:ext cx="636608" cy="640742"/>
            <a:chOff x="3679143" y="1552849"/>
            <a:chExt cx="636608" cy="640742"/>
          </a:xfrm>
        </p:grpSpPr>
        <p:sp>
          <p:nvSpPr>
            <p:cNvPr id="11" name="Oval 10">
              <a:extLst>
                <a:ext uri="{FF2B5EF4-FFF2-40B4-BE49-F238E27FC236}">
                  <a16:creationId xmlns:a16="http://schemas.microsoft.com/office/drawing/2014/main" id="{EED808A5-C6A9-E037-9018-19B1CD61EE33}"/>
                </a:ext>
              </a:extLst>
            </p:cNvPr>
            <p:cNvSpPr>
              <a:spLocks noChangeAspect="1"/>
            </p:cNvSpPr>
            <p:nvPr/>
          </p:nvSpPr>
          <p:spPr bwMode="auto">
            <a:xfrm>
              <a:off x="3679143" y="1552849"/>
              <a:ext cx="636608" cy="640742"/>
            </a:xfrm>
            <a:prstGeom prst="ellipse">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 name="Graphic 12" descr="Lightning bolt outline">
              <a:extLst>
                <a:ext uri="{FF2B5EF4-FFF2-40B4-BE49-F238E27FC236}">
                  <a16:creationId xmlns:a16="http://schemas.microsoft.com/office/drawing/2014/main" id="{FE1CF259-458E-8BE5-0BE6-7BFB57D664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65508" y="1629706"/>
              <a:ext cx="510178" cy="510178"/>
            </a:xfrm>
            <a:prstGeom prst="rect">
              <a:avLst/>
            </a:prstGeom>
          </p:spPr>
        </p:pic>
      </p:grpSp>
      <p:grpSp>
        <p:nvGrpSpPr>
          <p:cNvPr id="21" name="Group 20">
            <a:extLst>
              <a:ext uri="{FF2B5EF4-FFF2-40B4-BE49-F238E27FC236}">
                <a16:creationId xmlns:a16="http://schemas.microsoft.com/office/drawing/2014/main" id="{EEC6B496-892B-8253-1283-734D9BA541D0}"/>
              </a:ext>
            </a:extLst>
          </p:cNvPr>
          <p:cNvGrpSpPr/>
          <p:nvPr/>
        </p:nvGrpSpPr>
        <p:grpSpPr>
          <a:xfrm>
            <a:off x="6447421" y="1527969"/>
            <a:ext cx="636608" cy="640742"/>
            <a:chOff x="6447421" y="1552849"/>
            <a:chExt cx="636608" cy="640742"/>
          </a:xfrm>
        </p:grpSpPr>
        <p:sp>
          <p:nvSpPr>
            <p:cNvPr id="18" name="Oval 17">
              <a:extLst>
                <a:ext uri="{FF2B5EF4-FFF2-40B4-BE49-F238E27FC236}">
                  <a16:creationId xmlns:a16="http://schemas.microsoft.com/office/drawing/2014/main" id="{93413F26-1EDE-2F49-3ABE-71815E10DDE1}"/>
                </a:ext>
              </a:extLst>
            </p:cNvPr>
            <p:cNvSpPr>
              <a:spLocks noChangeAspect="1"/>
            </p:cNvSpPr>
            <p:nvPr/>
          </p:nvSpPr>
          <p:spPr bwMode="auto">
            <a:xfrm>
              <a:off x="6447421" y="1552849"/>
              <a:ext cx="636608" cy="640742"/>
            </a:xfrm>
            <a:prstGeom prst="ellipse">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 name="Graphic 16" descr="World outline">
              <a:extLst>
                <a:ext uri="{FF2B5EF4-FFF2-40B4-BE49-F238E27FC236}">
                  <a16:creationId xmlns:a16="http://schemas.microsoft.com/office/drawing/2014/main" id="{1B8FCD61-5B0D-178C-5C23-38AABA3B1D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37125" y="1644620"/>
              <a:ext cx="457200" cy="457200"/>
            </a:xfrm>
            <a:prstGeom prst="rect">
              <a:avLst/>
            </a:prstGeom>
          </p:spPr>
        </p:pic>
      </p:grpSp>
      <p:grpSp>
        <p:nvGrpSpPr>
          <p:cNvPr id="20" name="Group 19">
            <a:extLst>
              <a:ext uri="{FF2B5EF4-FFF2-40B4-BE49-F238E27FC236}">
                <a16:creationId xmlns:a16="http://schemas.microsoft.com/office/drawing/2014/main" id="{DBD2C5E3-DCC3-CE06-C6CC-9C0297E32834}"/>
              </a:ext>
            </a:extLst>
          </p:cNvPr>
          <p:cNvGrpSpPr/>
          <p:nvPr/>
        </p:nvGrpSpPr>
        <p:grpSpPr>
          <a:xfrm>
            <a:off x="9261998" y="1527969"/>
            <a:ext cx="636608" cy="640742"/>
            <a:chOff x="9261998" y="1499142"/>
            <a:chExt cx="636608" cy="640742"/>
          </a:xfrm>
        </p:grpSpPr>
        <p:sp>
          <p:nvSpPr>
            <p:cNvPr id="19" name="Oval 18">
              <a:extLst>
                <a:ext uri="{FF2B5EF4-FFF2-40B4-BE49-F238E27FC236}">
                  <a16:creationId xmlns:a16="http://schemas.microsoft.com/office/drawing/2014/main" id="{0483085B-AE26-D4C3-292F-218FAE8B5E45}"/>
                </a:ext>
              </a:extLst>
            </p:cNvPr>
            <p:cNvSpPr>
              <a:spLocks noChangeAspect="1"/>
            </p:cNvSpPr>
            <p:nvPr/>
          </p:nvSpPr>
          <p:spPr bwMode="auto">
            <a:xfrm>
              <a:off x="9261998" y="1499142"/>
              <a:ext cx="636608" cy="640742"/>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14" descr="Decision chart outline">
              <a:extLst>
                <a:ext uri="{FF2B5EF4-FFF2-40B4-BE49-F238E27FC236}">
                  <a16:creationId xmlns:a16="http://schemas.microsoft.com/office/drawing/2014/main" id="{17EEA032-5B54-5BA4-EC3E-C52C07563A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51702" y="1590913"/>
              <a:ext cx="457200" cy="457200"/>
            </a:xfrm>
            <a:prstGeom prst="rect">
              <a:avLst/>
            </a:prstGeom>
          </p:spPr>
        </p:pic>
      </p:grpSp>
      <p:sp>
        <p:nvSpPr>
          <p:cNvPr id="24" name="Rounded Rectangle 23">
            <a:extLst>
              <a:ext uri="{FF2B5EF4-FFF2-40B4-BE49-F238E27FC236}">
                <a16:creationId xmlns:a16="http://schemas.microsoft.com/office/drawing/2014/main" id="{4F5B0B13-5C8B-E9C4-4B17-E6F96AE43199}"/>
              </a:ext>
            </a:extLst>
          </p:cNvPr>
          <p:cNvSpPr/>
          <p:nvPr/>
        </p:nvSpPr>
        <p:spPr bwMode="auto">
          <a:xfrm>
            <a:off x="1045658" y="5100146"/>
            <a:ext cx="1736968" cy="328244"/>
          </a:xfrm>
          <a:prstGeom prst="roundRect">
            <a:avLst>
              <a:gd name="adj" fmla="val 50000"/>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2"/>
                </a:solidFill>
                <a:latin typeface="+mj-lt"/>
                <a:ea typeface="Segoe UI" pitchFamily="34" charset="0"/>
                <a:cs typeface="Segoe UI" pitchFamily="34" charset="0"/>
              </a:rPr>
              <a:t>Function calling</a:t>
            </a:r>
          </a:p>
        </p:txBody>
      </p:sp>
      <p:sp>
        <p:nvSpPr>
          <p:cNvPr id="25" name="Rounded Rectangle 24">
            <a:extLst>
              <a:ext uri="{FF2B5EF4-FFF2-40B4-BE49-F238E27FC236}">
                <a16:creationId xmlns:a16="http://schemas.microsoft.com/office/drawing/2014/main" id="{04BB234E-67B3-768F-E76A-6FC80C9C5899}"/>
              </a:ext>
            </a:extLst>
          </p:cNvPr>
          <p:cNvSpPr/>
          <p:nvPr/>
        </p:nvSpPr>
        <p:spPr bwMode="auto">
          <a:xfrm>
            <a:off x="3848660" y="5100146"/>
            <a:ext cx="1736968" cy="328244"/>
          </a:xfrm>
          <a:prstGeom prst="roundRect">
            <a:avLst>
              <a:gd name="adj" fmla="val 50000"/>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accent1"/>
                </a:solidFill>
                <a:latin typeface="+mj-lt"/>
                <a:ea typeface="Segoe UI" pitchFamily="34" charset="0"/>
                <a:cs typeface="Segoe UI" pitchFamily="34" charset="0"/>
              </a:rPr>
              <a:t>Event-driven</a:t>
            </a:r>
          </a:p>
        </p:txBody>
      </p:sp>
      <p:sp>
        <p:nvSpPr>
          <p:cNvPr id="26" name="Rounded Rectangle 25">
            <a:extLst>
              <a:ext uri="{FF2B5EF4-FFF2-40B4-BE49-F238E27FC236}">
                <a16:creationId xmlns:a16="http://schemas.microsoft.com/office/drawing/2014/main" id="{DC84A356-FA6C-8206-083B-740A761620B3}"/>
              </a:ext>
            </a:extLst>
          </p:cNvPr>
          <p:cNvSpPr/>
          <p:nvPr/>
        </p:nvSpPr>
        <p:spPr bwMode="auto">
          <a:xfrm>
            <a:off x="6651662" y="5100146"/>
            <a:ext cx="1736968" cy="328244"/>
          </a:xfrm>
          <a:prstGeom prst="roundRect">
            <a:avLst>
              <a:gd name="adj" fmla="val 50000"/>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err="1">
                <a:solidFill>
                  <a:schemeClr val="accent2">
                    <a:lumMod val="75000"/>
                  </a:schemeClr>
                </a:solidFill>
                <a:latin typeface="+mj-lt"/>
                <a:ea typeface="Segoe UI" pitchFamily="34" charset="0"/>
                <a:cs typeface="Segoe UI" pitchFamily="34" charset="0"/>
              </a:rPr>
              <a:t>OpenAPI</a:t>
            </a:r>
            <a:r>
              <a:rPr lang="en-US" sz="1200" dirty="0">
                <a:solidFill>
                  <a:schemeClr val="accent2">
                    <a:lumMod val="75000"/>
                  </a:schemeClr>
                </a:solidFill>
                <a:latin typeface="+mj-lt"/>
                <a:ea typeface="Segoe UI" pitchFamily="34" charset="0"/>
                <a:cs typeface="Segoe UI" pitchFamily="34" charset="0"/>
              </a:rPr>
              <a:t> 3.0</a:t>
            </a:r>
          </a:p>
        </p:txBody>
      </p:sp>
      <p:sp>
        <p:nvSpPr>
          <p:cNvPr id="27" name="Rounded Rectangle 26">
            <a:extLst>
              <a:ext uri="{FF2B5EF4-FFF2-40B4-BE49-F238E27FC236}">
                <a16:creationId xmlns:a16="http://schemas.microsoft.com/office/drawing/2014/main" id="{B92F3A03-A618-ED8E-5D3B-966FEA8FD06C}"/>
              </a:ext>
            </a:extLst>
          </p:cNvPr>
          <p:cNvSpPr/>
          <p:nvPr/>
        </p:nvSpPr>
        <p:spPr bwMode="auto">
          <a:xfrm>
            <a:off x="9454665" y="5100146"/>
            <a:ext cx="1736968" cy="328244"/>
          </a:xfrm>
          <a:prstGeom prst="roundRect">
            <a:avLst>
              <a:gd name="adj" fmla="val 50000"/>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accent3">
                    <a:lumMod val="50000"/>
                  </a:schemeClr>
                </a:solidFill>
                <a:latin typeface="+mj-lt"/>
                <a:ea typeface="Segoe UI" pitchFamily="34" charset="0"/>
                <a:cs typeface="Segoe UI" pitchFamily="34" charset="0"/>
              </a:rPr>
              <a:t>Low-code</a:t>
            </a:r>
          </a:p>
        </p:txBody>
      </p:sp>
    </p:spTree>
    <p:extLst>
      <p:ext uri="{BB962C8B-B14F-4D97-AF65-F5344CB8AC3E}">
        <p14:creationId xmlns:p14="http://schemas.microsoft.com/office/powerpoint/2010/main" val="27896103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2F3D-D49A-C93B-2D39-BC9C91D81E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E629BD-BC5D-8704-D629-2CD1EDA0969C}"/>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2863F4FE-7916-9B18-C30F-6429A31A93F3}"/>
              </a:ext>
            </a:extLst>
          </p:cNvPr>
          <p:cNvSpPr>
            <a:spLocks noGrp="1"/>
          </p:cNvSpPr>
          <p:nvPr>
            <p:ph type="body" sz="quarter" idx="16"/>
          </p:nvPr>
        </p:nvSpPr>
        <p:spPr>
          <a:xfrm>
            <a:off x="584199" y="1594155"/>
            <a:ext cx="5654573" cy="307777"/>
          </a:xfrm>
        </p:spPr>
        <p:txBody>
          <a:bodyPr/>
          <a:lstStyle/>
          <a:p>
            <a:r>
              <a:rPr lang="en-US" sz="2000" dirty="0"/>
              <a:t>Build an agent with custom tools</a:t>
            </a:r>
          </a:p>
        </p:txBody>
      </p:sp>
      <p:sp>
        <p:nvSpPr>
          <p:cNvPr id="6" name="Text Placeholder 5">
            <a:extLst>
              <a:ext uri="{FF2B5EF4-FFF2-40B4-BE49-F238E27FC236}">
                <a16:creationId xmlns:a16="http://schemas.microsoft.com/office/drawing/2014/main" id="{365531F9-F840-F253-2707-0C17F6557CF1}"/>
              </a:ext>
            </a:extLst>
          </p:cNvPr>
          <p:cNvSpPr>
            <a:spLocks noGrp="1"/>
          </p:cNvSpPr>
          <p:nvPr>
            <p:ph type="body" sz="quarter" idx="15"/>
          </p:nvPr>
        </p:nvSpPr>
        <p:spPr>
          <a:xfrm>
            <a:off x="586389" y="2085764"/>
            <a:ext cx="5652201" cy="1477328"/>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function for the agent to use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Define the function tools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the agent that uses the function tools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Send a message to the agent and process the response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Process function calls and display the agent’s response</a:t>
            </a:r>
          </a:p>
        </p:txBody>
      </p:sp>
      <p:sp>
        <p:nvSpPr>
          <p:cNvPr id="10" name="TextBox 9">
            <a:extLst>
              <a:ext uri="{FF2B5EF4-FFF2-40B4-BE49-F238E27FC236}">
                <a16:creationId xmlns:a16="http://schemas.microsoft.com/office/drawing/2014/main" id="{793EFCBF-090D-A8B3-0B57-AE485B8126B5}"/>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https://go.microsoft.com/fwlink/?linkid=2353623</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713EF577-537F-3D8F-A455-5F129E3FC771}"/>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4AB2DFD5-3014-9CBE-260F-104D4D9D01A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161AD6A4-A9AE-C6C6-7FB3-F96109A4F01C}"/>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358806594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BA2A-E136-1F6D-1B43-52E30AC9E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253EA-7C43-352B-E605-993D3831E1D6}"/>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B1878B1-857D-4C5F-84E7-42B1875B3B67}"/>
              </a:ext>
            </a:extLst>
          </p:cNvPr>
          <p:cNvSpPr>
            <a:spLocks noGrp="1"/>
          </p:cNvSpPr>
          <p:nvPr>
            <p:ph type="body" sz="quarter" idx="17"/>
          </p:nvPr>
        </p:nvSpPr>
        <p:spPr>
          <a:xfrm>
            <a:off x="1235075" y="2332142"/>
            <a:ext cx="8778782" cy="215444"/>
          </a:xfrm>
        </p:spPr>
        <p:txBody>
          <a:bodyPr/>
          <a:lstStyle/>
          <a:p>
            <a:r>
              <a:rPr lang="en-US" b="1" dirty="0"/>
              <a:t>What are custom tools, and how can they help you develop effective agents?</a:t>
            </a:r>
          </a:p>
        </p:txBody>
      </p:sp>
      <p:sp>
        <p:nvSpPr>
          <p:cNvPr id="9" name="Text Placeholder 8">
            <a:extLst>
              <a:ext uri="{FF2B5EF4-FFF2-40B4-BE49-F238E27FC236}">
                <a16:creationId xmlns:a16="http://schemas.microsoft.com/office/drawing/2014/main" id="{30B410E3-E328-F513-63CF-75F3085BC77B}"/>
              </a:ext>
            </a:extLst>
          </p:cNvPr>
          <p:cNvSpPr>
            <a:spLocks noGrp="1"/>
          </p:cNvSpPr>
          <p:nvPr>
            <p:ph type="body" sz="quarter" idx="15"/>
          </p:nvPr>
        </p:nvSpPr>
        <p:spPr>
          <a:xfrm>
            <a:off x="1235075" y="2576118"/>
            <a:ext cx="8775098" cy="732508"/>
          </a:xfrm>
          <a:noFill/>
        </p:spPr>
        <p:txBody>
          <a:bodyPr/>
          <a:lstStyle/>
          <a:p>
            <a:r>
              <a:rPr lang="en-US" noProof="0" dirty="0"/>
              <a:t>Callable functions that an agent can use to extend its capabilities  </a:t>
            </a:r>
            <a:endParaRPr lang="en-US" dirty="0"/>
          </a:p>
          <a:p>
            <a:r>
              <a:rPr lang="en-US" noProof="0" dirty="0"/>
              <a:t>Extensions for Visual Studio Code to create and deploy agents  </a:t>
            </a:r>
            <a:endParaRPr lang="en-US" dirty="0"/>
          </a:p>
          <a:p>
            <a:r>
              <a:rPr lang="en-US" noProof="0" dirty="0"/>
              <a:t>Fine-tuned models that the agent uses to generate custom output</a:t>
            </a:r>
          </a:p>
        </p:txBody>
      </p:sp>
      <p:sp>
        <p:nvSpPr>
          <p:cNvPr id="18" name="Text Placeholder 17">
            <a:extLst>
              <a:ext uri="{FF2B5EF4-FFF2-40B4-BE49-F238E27FC236}">
                <a16:creationId xmlns:a16="http://schemas.microsoft.com/office/drawing/2014/main" id="{20218DD9-CF0E-681C-1A90-7801FAFFD998}"/>
              </a:ext>
            </a:extLst>
          </p:cNvPr>
          <p:cNvSpPr>
            <a:spLocks noGrp="1"/>
          </p:cNvSpPr>
          <p:nvPr>
            <p:ph type="body" sz="quarter" idx="22"/>
          </p:nvPr>
        </p:nvSpPr>
        <p:spPr>
          <a:xfrm>
            <a:off x="1235075" y="4034002"/>
            <a:ext cx="8778782" cy="215444"/>
          </a:xfrm>
        </p:spPr>
        <p:txBody>
          <a:bodyPr/>
          <a:lstStyle/>
          <a:p>
            <a:r>
              <a:rPr lang="en-US" noProof="0" dirty="0"/>
              <a:t>You need to integrate functionality from an </a:t>
            </a:r>
            <a:r>
              <a:rPr lang="en-US" noProof="0" dirty="0" err="1"/>
              <a:t>OpenAPI</a:t>
            </a:r>
            <a:r>
              <a:rPr lang="en-US" noProof="0" dirty="0"/>
              <a:t> 3.0-based web service. What should you do?</a:t>
            </a:r>
          </a:p>
        </p:txBody>
      </p:sp>
      <p:sp>
        <p:nvSpPr>
          <p:cNvPr id="19" name="Text Placeholder 18">
            <a:extLst>
              <a:ext uri="{FF2B5EF4-FFF2-40B4-BE49-F238E27FC236}">
                <a16:creationId xmlns:a16="http://schemas.microsoft.com/office/drawing/2014/main" id="{EF865CC9-A887-0CEA-C87D-1624B7A25F67}"/>
              </a:ext>
            </a:extLst>
          </p:cNvPr>
          <p:cNvSpPr>
            <a:spLocks noGrp="1"/>
          </p:cNvSpPr>
          <p:nvPr>
            <p:ph type="body" sz="quarter" idx="23"/>
          </p:nvPr>
        </p:nvSpPr>
        <p:spPr>
          <a:xfrm>
            <a:off x="1235074" y="4275582"/>
            <a:ext cx="8775098" cy="732508"/>
          </a:xfrm>
        </p:spPr>
        <p:txBody>
          <a:bodyPr/>
          <a:lstStyle/>
          <a:p>
            <a:r>
              <a:rPr lang="en-US" dirty="0"/>
              <a:t>Add the JSON schema to the agent's instructions  </a:t>
            </a:r>
          </a:p>
          <a:p>
            <a:r>
              <a:rPr lang="en-US" dirty="0"/>
              <a:t>Rewrite the web service as a Python function and hard-code it  </a:t>
            </a:r>
          </a:p>
          <a:p>
            <a:r>
              <a:rPr lang="en-US" dirty="0"/>
              <a:t>Add the web service as an </a:t>
            </a:r>
            <a:r>
              <a:rPr lang="en-US" dirty="0" err="1"/>
              <a:t>OpenAPI</a:t>
            </a:r>
            <a:r>
              <a:rPr lang="en-US" dirty="0"/>
              <a:t> specification tool to the agent definition</a:t>
            </a:r>
          </a:p>
        </p:txBody>
      </p:sp>
      <p:sp>
        <p:nvSpPr>
          <p:cNvPr id="76" name="Oval 75">
            <a:extLst>
              <a:ext uri="{FF2B5EF4-FFF2-40B4-BE49-F238E27FC236}">
                <a16:creationId xmlns:a16="http://schemas.microsoft.com/office/drawing/2014/main" id="{D408D31A-80BB-3228-B15B-AD5419889987}"/>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63493497-E5A0-2C3D-5D41-454C096EF351}"/>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E09F430A-94CB-AB54-0FC7-F72FEA91D82B}"/>
              </a:ext>
              <a:ext uri="{C183D7F6-B498-43B3-948B-1728B52AA6E4}">
                <adec:decorative xmlns:adec="http://schemas.microsoft.com/office/drawing/2017/decorative" val="1"/>
              </a:ext>
            </a:extLst>
          </p:cNvPr>
          <p:cNvSpPr>
            <a:spLocks/>
          </p:cNvSpPr>
          <p:nvPr/>
        </p:nvSpPr>
        <p:spPr>
          <a:xfrm>
            <a:off x="1263852" y="481147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85F488A5-C07F-F6FF-8CDB-94C964FBF671}"/>
              </a:ext>
              <a:ext uri="{C183D7F6-B498-43B3-948B-1728B52AA6E4}">
                <adec:decorative xmlns:adec="http://schemas.microsoft.com/office/drawing/2017/decorative" val="1"/>
              </a:ext>
            </a:extLst>
          </p:cNvPr>
          <p:cNvSpPr>
            <a:spLocks/>
          </p:cNvSpPr>
          <p:nvPr/>
        </p:nvSpPr>
        <p:spPr>
          <a:xfrm>
            <a:off x="1263852" y="260659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69C64C4-9275-ED8F-3EAE-C51454013A65}"/>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87362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78580-7EDD-0832-F565-9BF588F7E0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FDEE50-9F16-82C4-55CF-45B139D0409D}"/>
              </a:ext>
            </a:extLst>
          </p:cNvPr>
          <p:cNvSpPr>
            <a:spLocks noGrp="1"/>
          </p:cNvSpPr>
          <p:nvPr>
            <p:ph type="title"/>
          </p:nvPr>
        </p:nvSpPr>
        <p:spPr>
          <a:xfrm>
            <a:off x="569911" y="2892168"/>
            <a:ext cx="6345239" cy="1107996"/>
          </a:xfrm>
        </p:spPr>
        <p:txBody>
          <a:bodyPr/>
          <a:lstStyle/>
          <a:p>
            <a:r>
              <a:rPr lang="en-US" altLang="zh-CN" sz="3600" dirty="0"/>
              <a:t>Integrate MCP tools with Azure AI agents</a:t>
            </a:r>
            <a:endParaRPr lang="en-US" sz="3600" dirty="0"/>
          </a:p>
        </p:txBody>
      </p:sp>
      <p:sp>
        <p:nvSpPr>
          <p:cNvPr id="11" name="Footer Placeholder 10">
            <a:extLst>
              <a:ext uri="{FF2B5EF4-FFF2-40B4-BE49-F238E27FC236}">
                <a16:creationId xmlns:a16="http://schemas.microsoft.com/office/drawing/2014/main" id="{2FA3826A-A529-D5F7-4353-DDD8732A916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FE51E758-4972-A5CD-4139-D96A0B83D184}"/>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075EEC15-24CB-6E58-77A8-CA800D833893}"/>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https://aka.ms/mslearn-agent-mcp</a:t>
            </a:r>
          </a:p>
        </p:txBody>
      </p:sp>
    </p:spTree>
    <p:extLst>
      <p:ext uri="{BB962C8B-B14F-4D97-AF65-F5344CB8AC3E}">
        <p14:creationId xmlns:p14="http://schemas.microsoft.com/office/powerpoint/2010/main" val="26863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54485-A7B2-3393-FCAD-422BAEB0029F}"/>
              </a:ext>
            </a:extLst>
          </p:cNvPr>
          <p:cNvSpPr>
            <a:spLocks noGrp="1"/>
          </p:cNvSpPr>
          <p:nvPr>
            <p:ph type="title"/>
          </p:nvPr>
        </p:nvSpPr>
        <p:spPr>
          <a:xfrm>
            <a:off x="588262" y="585216"/>
            <a:ext cx="11013474" cy="492443"/>
          </a:xfrm>
        </p:spPr>
        <p:txBody>
          <a:bodyPr/>
          <a:lstStyle/>
          <a:p>
            <a:r>
              <a:rPr lang="en-US" sz="3200" dirty="0"/>
              <a:t>Understand Model Context Protocol for AI agents</a:t>
            </a:r>
          </a:p>
        </p:txBody>
      </p:sp>
      <p:sp>
        <p:nvSpPr>
          <p:cNvPr id="4" name="Footer Placeholder 3">
            <a:extLst>
              <a:ext uri="{FF2B5EF4-FFF2-40B4-BE49-F238E27FC236}">
                <a16:creationId xmlns:a16="http://schemas.microsoft.com/office/drawing/2014/main" id="{01854DF1-4807-FB95-97B4-60C03E2C845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Rectangle 4">
            <a:extLst>
              <a:ext uri="{FF2B5EF4-FFF2-40B4-BE49-F238E27FC236}">
                <a16:creationId xmlns:a16="http://schemas.microsoft.com/office/drawing/2014/main" id="{26F1BC2B-B70F-9121-3D54-397C98CFBEC2}"/>
              </a:ext>
            </a:extLst>
          </p:cNvPr>
          <p:cNvSpPr/>
          <p:nvPr/>
        </p:nvSpPr>
        <p:spPr>
          <a:xfrm>
            <a:off x="502920" y="1261872"/>
            <a:ext cx="5394960" cy="4548085"/>
          </a:xfrm>
          <a:prstGeom prst="rect">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01945EA8-65C5-90EB-2852-40D7449011A0}"/>
              </a:ext>
            </a:extLst>
          </p:cNvPr>
          <p:cNvSpPr/>
          <p:nvPr/>
        </p:nvSpPr>
        <p:spPr>
          <a:xfrm>
            <a:off x="6291072" y="1261872"/>
            <a:ext cx="5394960" cy="4548085"/>
          </a:xfrm>
          <a:prstGeom prst="rect">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5AD2362-5844-6497-3746-ABCE4291CC54}"/>
              </a:ext>
            </a:extLst>
          </p:cNvPr>
          <p:cNvSpPr txBox="1"/>
          <p:nvPr/>
        </p:nvSpPr>
        <p:spPr>
          <a:xfrm>
            <a:off x="5830824" y="3228945"/>
            <a:ext cx="530352" cy="400110"/>
          </a:xfrm>
          <a:prstGeom prst="rect">
            <a:avLst/>
          </a:prstGeom>
          <a:noFill/>
        </p:spPr>
        <p:txBody>
          <a:bodyPr wrap="square">
            <a:spAutoFit/>
          </a:bodyPr>
          <a:lstStyle/>
          <a:p>
            <a:pPr algn="ctr"/>
            <a:r>
              <a:rPr sz="2000" dirty="0">
                <a:solidFill>
                  <a:schemeClr val="tx1">
                    <a:lumMod val="50000"/>
                    <a:lumOff val="50000"/>
                  </a:schemeClr>
                </a:solidFill>
                <a:latin typeface="Segoe UI"/>
              </a:rPr>
              <a:t>vs</a:t>
            </a:r>
          </a:p>
        </p:txBody>
      </p:sp>
      <p:sp>
        <p:nvSpPr>
          <p:cNvPr id="8" name="Rectangle 7">
            <a:extLst>
              <a:ext uri="{FF2B5EF4-FFF2-40B4-BE49-F238E27FC236}">
                <a16:creationId xmlns:a16="http://schemas.microsoft.com/office/drawing/2014/main" id="{EE8783F6-4626-C3A3-6A26-96774D76C837}"/>
              </a:ext>
            </a:extLst>
          </p:cNvPr>
          <p:cNvSpPr/>
          <p:nvPr/>
        </p:nvSpPr>
        <p:spPr>
          <a:xfrm>
            <a:off x="502920" y="1261872"/>
            <a:ext cx="5394960" cy="64008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A7621E29-18EB-0A72-D184-BA562261AAF3}"/>
              </a:ext>
            </a:extLst>
          </p:cNvPr>
          <p:cNvSpPr txBox="1"/>
          <p:nvPr/>
        </p:nvSpPr>
        <p:spPr>
          <a:xfrm>
            <a:off x="667512" y="1366133"/>
            <a:ext cx="5394960" cy="400110"/>
          </a:xfrm>
          <a:prstGeom prst="rect">
            <a:avLst/>
          </a:prstGeom>
          <a:noFill/>
        </p:spPr>
        <p:txBody>
          <a:bodyPr wrap="square">
            <a:spAutoFit/>
          </a:bodyPr>
          <a:lstStyle/>
          <a:p>
            <a:pPr algn="l"/>
            <a:r>
              <a:rPr lang="en-US" sz="2000" b="1" dirty="0">
                <a:solidFill>
                  <a:srgbClr val="EF4444"/>
                </a:solidFill>
                <a:latin typeface="Segoe UI"/>
              </a:rPr>
              <a:t>WITHOUT MCP</a:t>
            </a:r>
          </a:p>
        </p:txBody>
      </p:sp>
      <p:sp>
        <p:nvSpPr>
          <p:cNvPr id="11" name="TextBox 10">
            <a:extLst>
              <a:ext uri="{FF2B5EF4-FFF2-40B4-BE49-F238E27FC236}">
                <a16:creationId xmlns:a16="http://schemas.microsoft.com/office/drawing/2014/main" id="{4ECB3881-43FB-146D-94C1-172A39C588FE}"/>
              </a:ext>
            </a:extLst>
          </p:cNvPr>
          <p:cNvSpPr txBox="1"/>
          <p:nvPr/>
        </p:nvSpPr>
        <p:spPr>
          <a:xfrm>
            <a:off x="3180400" y="1396911"/>
            <a:ext cx="2560320" cy="338554"/>
          </a:xfrm>
          <a:prstGeom prst="rect">
            <a:avLst/>
          </a:prstGeom>
          <a:noFill/>
        </p:spPr>
        <p:txBody>
          <a:bodyPr wrap="square">
            <a:spAutoFit/>
          </a:bodyPr>
          <a:lstStyle/>
          <a:p>
            <a:pPr algn="r"/>
            <a:r>
              <a:rPr sz="1600" b="1" dirty="0">
                <a:solidFill>
                  <a:srgbClr val="1A1A1A"/>
                </a:solidFill>
                <a:latin typeface="Segoe UI"/>
              </a:rPr>
              <a:t>One integration per tool</a:t>
            </a:r>
          </a:p>
        </p:txBody>
      </p:sp>
      <p:sp>
        <p:nvSpPr>
          <p:cNvPr id="12" name="Rectangle 11">
            <a:extLst>
              <a:ext uri="{FF2B5EF4-FFF2-40B4-BE49-F238E27FC236}">
                <a16:creationId xmlns:a16="http://schemas.microsoft.com/office/drawing/2014/main" id="{2CEA5FCC-9447-70B5-7619-26EA63710C27}"/>
              </a:ext>
            </a:extLst>
          </p:cNvPr>
          <p:cNvSpPr/>
          <p:nvPr/>
        </p:nvSpPr>
        <p:spPr>
          <a:xfrm>
            <a:off x="6291072" y="1261872"/>
            <a:ext cx="5394960" cy="640080"/>
          </a:xfrm>
          <a:prstGeom prst="rect">
            <a:avLst/>
          </a:prstGeom>
          <a:solidFill>
            <a:srgbClr val="EDE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925B22D-45DF-DA47-FDC5-249FBB07B697}"/>
              </a:ext>
            </a:extLst>
          </p:cNvPr>
          <p:cNvSpPr txBox="1"/>
          <p:nvPr/>
        </p:nvSpPr>
        <p:spPr>
          <a:xfrm>
            <a:off x="6455664" y="1366133"/>
            <a:ext cx="5394960" cy="400110"/>
          </a:xfrm>
          <a:prstGeom prst="rect">
            <a:avLst/>
          </a:prstGeom>
          <a:noFill/>
        </p:spPr>
        <p:txBody>
          <a:bodyPr wrap="square">
            <a:spAutoFit/>
          </a:bodyPr>
          <a:lstStyle/>
          <a:p>
            <a:pPr algn="l"/>
            <a:r>
              <a:rPr sz="2000" b="1" dirty="0">
                <a:solidFill>
                  <a:srgbClr val="5B21B6"/>
                </a:solidFill>
                <a:latin typeface="Segoe UI"/>
              </a:rPr>
              <a:t>WITH MCP</a:t>
            </a:r>
          </a:p>
        </p:txBody>
      </p:sp>
      <p:sp>
        <p:nvSpPr>
          <p:cNvPr id="15" name="TextBox 14">
            <a:extLst>
              <a:ext uri="{FF2B5EF4-FFF2-40B4-BE49-F238E27FC236}">
                <a16:creationId xmlns:a16="http://schemas.microsoft.com/office/drawing/2014/main" id="{B9597EEA-E5C9-BF8B-4FC7-4F7877969032}"/>
              </a:ext>
            </a:extLst>
          </p:cNvPr>
          <p:cNvSpPr txBox="1"/>
          <p:nvPr/>
        </p:nvSpPr>
        <p:spPr>
          <a:xfrm>
            <a:off x="7845552" y="1396911"/>
            <a:ext cx="3739896" cy="338554"/>
          </a:xfrm>
          <a:prstGeom prst="rect">
            <a:avLst/>
          </a:prstGeom>
          <a:noFill/>
        </p:spPr>
        <p:txBody>
          <a:bodyPr wrap="square">
            <a:spAutoFit/>
          </a:bodyPr>
          <a:lstStyle/>
          <a:p>
            <a:pPr algn="r"/>
            <a:r>
              <a:rPr sz="1600" b="1" dirty="0">
                <a:solidFill>
                  <a:srgbClr val="1A1A1A"/>
                </a:solidFill>
                <a:latin typeface="Segoe UI"/>
              </a:rPr>
              <a:t>Integrate once, discover everything</a:t>
            </a:r>
          </a:p>
        </p:txBody>
      </p:sp>
      <p:sp>
        <p:nvSpPr>
          <p:cNvPr id="20" name="TextBox 19">
            <a:extLst>
              <a:ext uri="{FF2B5EF4-FFF2-40B4-BE49-F238E27FC236}">
                <a16:creationId xmlns:a16="http://schemas.microsoft.com/office/drawing/2014/main" id="{B5E8CD71-8AF1-E00F-1A6C-EB56E99E0B14}"/>
              </a:ext>
            </a:extLst>
          </p:cNvPr>
          <p:cNvSpPr txBox="1"/>
          <p:nvPr/>
        </p:nvSpPr>
        <p:spPr>
          <a:xfrm>
            <a:off x="844866" y="4218976"/>
            <a:ext cx="1223772" cy="357054"/>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grpSp>
        <p:nvGrpSpPr>
          <p:cNvPr id="91" name="Group 90">
            <a:extLst>
              <a:ext uri="{FF2B5EF4-FFF2-40B4-BE49-F238E27FC236}">
                <a16:creationId xmlns:a16="http://schemas.microsoft.com/office/drawing/2014/main" id="{DD2FC86D-49C1-B934-2472-782DA34C1654}"/>
              </a:ext>
            </a:extLst>
          </p:cNvPr>
          <p:cNvGrpSpPr/>
          <p:nvPr/>
        </p:nvGrpSpPr>
        <p:grpSpPr>
          <a:xfrm>
            <a:off x="793812" y="3595119"/>
            <a:ext cx="1325880" cy="544984"/>
            <a:chOff x="793812" y="3595119"/>
            <a:chExt cx="1325880" cy="544984"/>
          </a:xfrm>
        </p:grpSpPr>
        <p:sp>
          <p:nvSpPr>
            <p:cNvPr id="18" name="Rounded Rectangle 17">
              <a:extLst>
                <a:ext uri="{FF2B5EF4-FFF2-40B4-BE49-F238E27FC236}">
                  <a16:creationId xmlns:a16="http://schemas.microsoft.com/office/drawing/2014/main" id="{C1B8AA74-B781-8F66-ADC4-568BD612D967}"/>
                </a:ext>
              </a:extLst>
            </p:cNvPr>
            <p:cNvSpPr/>
            <p:nvPr/>
          </p:nvSpPr>
          <p:spPr>
            <a:xfrm>
              <a:off x="793812"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A</a:t>
              </a:r>
            </a:p>
          </p:txBody>
        </p:sp>
        <p:grpSp>
          <p:nvGrpSpPr>
            <p:cNvPr id="55" name="Group 54">
              <a:extLst>
                <a:ext uri="{FF2B5EF4-FFF2-40B4-BE49-F238E27FC236}">
                  <a16:creationId xmlns:a16="http://schemas.microsoft.com/office/drawing/2014/main" id="{B8FBB6B4-0323-AACD-0E0B-F5A14443F09E}"/>
                </a:ext>
              </a:extLst>
            </p:cNvPr>
            <p:cNvGrpSpPr>
              <a:grpSpLocks noChangeAspect="1"/>
            </p:cNvGrpSpPr>
            <p:nvPr/>
          </p:nvGrpSpPr>
          <p:grpSpPr>
            <a:xfrm>
              <a:off x="895920" y="3684731"/>
              <a:ext cx="365760" cy="365760"/>
              <a:chOff x="-118872" y="2906385"/>
              <a:chExt cx="914400" cy="914400"/>
            </a:xfrm>
          </p:grpSpPr>
          <p:sp>
            <p:nvSpPr>
              <p:cNvPr id="54" name="Oval 53">
                <a:extLst>
                  <a:ext uri="{FF2B5EF4-FFF2-40B4-BE49-F238E27FC236}">
                    <a16:creationId xmlns:a16="http://schemas.microsoft.com/office/drawing/2014/main" id="{664E35D4-CB34-0C4F-C35A-7CEFF85A11F2}"/>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3" name="Graphic 52" descr="World outline">
                <a:extLst>
                  <a:ext uri="{FF2B5EF4-FFF2-40B4-BE49-F238E27FC236}">
                    <a16:creationId xmlns:a16="http://schemas.microsoft.com/office/drawing/2014/main" id="{69C6E218-E19B-CA95-60D9-A153F7DA92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60" name="Group 59">
            <a:extLst>
              <a:ext uri="{FF2B5EF4-FFF2-40B4-BE49-F238E27FC236}">
                <a16:creationId xmlns:a16="http://schemas.microsoft.com/office/drawing/2014/main" id="{9FBB715D-4AF7-6DF0-E45C-0DBA965F2641}"/>
              </a:ext>
            </a:extLst>
          </p:cNvPr>
          <p:cNvGrpSpPr/>
          <p:nvPr/>
        </p:nvGrpSpPr>
        <p:grpSpPr>
          <a:xfrm>
            <a:off x="2338007" y="2220160"/>
            <a:ext cx="1724786" cy="797360"/>
            <a:chOff x="2304289" y="2176272"/>
            <a:chExt cx="1724786" cy="797360"/>
          </a:xfrm>
        </p:grpSpPr>
        <p:sp>
          <p:nvSpPr>
            <p:cNvPr id="16" name="Rounded Rectangle 15">
              <a:extLst>
                <a:ext uri="{FF2B5EF4-FFF2-40B4-BE49-F238E27FC236}">
                  <a16:creationId xmlns:a16="http://schemas.microsoft.com/office/drawing/2014/main" id="{77B424A3-348B-25FA-D13C-A04A205F78BE}"/>
                </a:ext>
              </a:extLst>
            </p:cNvPr>
            <p:cNvSpPr/>
            <p:nvPr/>
          </p:nvSpPr>
          <p:spPr>
            <a:xfrm>
              <a:off x="2304289" y="2176272"/>
              <a:ext cx="1724786" cy="797360"/>
            </a:xfrm>
            <a:prstGeom prst="roundRect">
              <a:avLst>
                <a:gd name="adj" fmla="val 10000"/>
              </a:avLst>
            </a:prstGeom>
            <a:solidFill>
              <a:srgbClr val="E6F2FC"/>
            </a:solidFill>
            <a:ln w="9525">
              <a:solidFill>
                <a:srgbClr val="B3D7F5"/>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600" b="1" dirty="0">
                  <a:solidFill>
                    <a:srgbClr val="005A9E"/>
                  </a:solidFill>
                </a:rPr>
                <a:t>AI Agent</a:t>
              </a:r>
            </a:p>
          </p:txBody>
        </p:sp>
        <p:grpSp>
          <p:nvGrpSpPr>
            <p:cNvPr id="58" name="Group 57">
              <a:extLst>
                <a:ext uri="{FF2B5EF4-FFF2-40B4-BE49-F238E27FC236}">
                  <a16:creationId xmlns:a16="http://schemas.microsoft.com/office/drawing/2014/main" id="{0A35B900-EF35-9E4B-387E-C39E983B43AB}"/>
                </a:ext>
              </a:extLst>
            </p:cNvPr>
            <p:cNvGrpSpPr>
              <a:grpSpLocks noChangeAspect="1"/>
            </p:cNvGrpSpPr>
            <p:nvPr/>
          </p:nvGrpSpPr>
          <p:grpSpPr>
            <a:xfrm>
              <a:off x="2418591" y="2300632"/>
              <a:ext cx="548640" cy="548640"/>
              <a:chOff x="5390030" y="2622573"/>
              <a:chExt cx="1411941" cy="1378683"/>
            </a:xfrm>
          </p:grpSpPr>
          <p:sp>
            <p:nvSpPr>
              <p:cNvPr id="56" name="Oval 55">
                <a:extLst>
                  <a:ext uri="{FF2B5EF4-FFF2-40B4-BE49-F238E27FC236}">
                    <a16:creationId xmlns:a16="http://schemas.microsoft.com/office/drawing/2014/main" id="{CD284C42-7091-3395-9A99-3682994E000D}"/>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7" name="Graphic 56" descr="Robot with solid fill">
                <a:extLst>
                  <a:ext uri="{FF2B5EF4-FFF2-40B4-BE49-F238E27FC236}">
                    <a16:creationId xmlns:a16="http://schemas.microsoft.com/office/drawing/2014/main" id="{3E421258-D394-8C16-9741-FF1F14EFFE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836446"/>
                <a:ext cx="914400" cy="914400"/>
              </a:xfrm>
              <a:prstGeom prst="rect">
                <a:avLst/>
              </a:prstGeom>
            </p:spPr>
          </p:pic>
        </p:grpSp>
      </p:grpSp>
      <p:grpSp>
        <p:nvGrpSpPr>
          <p:cNvPr id="61" name="Group 60">
            <a:extLst>
              <a:ext uri="{FF2B5EF4-FFF2-40B4-BE49-F238E27FC236}">
                <a16:creationId xmlns:a16="http://schemas.microsoft.com/office/drawing/2014/main" id="{1D38C844-0CAC-CDD7-00A4-1755FB135B30}"/>
              </a:ext>
            </a:extLst>
          </p:cNvPr>
          <p:cNvGrpSpPr/>
          <p:nvPr/>
        </p:nvGrpSpPr>
        <p:grpSpPr>
          <a:xfrm>
            <a:off x="8129207" y="2121418"/>
            <a:ext cx="1724786" cy="797360"/>
            <a:chOff x="2304289" y="2176272"/>
            <a:chExt cx="1724786" cy="797360"/>
          </a:xfrm>
        </p:grpSpPr>
        <p:sp>
          <p:nvSpPr>
            <p:cNvPr id="62" name="Rounded Rectangle 61">
              <a:extLst>
                <a:ext uri="{FF2B5EF4-FFF2-40B4-BE49-F238E27FC236}">
                  <a16:creationId xmlns:a16="http://schemas.microsoft.com/office/drawing/2014/main" id="{88078265-0AC2-C05C-185A-FE5CE3A70674}"/>
                </a:ext>
              </a:extLst>
            </p:cNvPr>
            <p:cNvSpPr/>
            <p:nvPr/>
          </p:nvSpPr>
          <p:spPr>
            <a:xfrm>
              <a:off x="2304289" y="2176272"/>
              <a:ext cx="1724786" cy="797360"/>
            </a:xfrm>
            <a:prstGeom prst="roundRect">
              <a:avLst>
                <a:gd name="adj" fmla="val 10000"/>
              </a:avLst>
            </a:prstGeom>
            <a:solidFill>
              <a:srgbClr val="E6F2FC"/>
            </a:solidFill>
            <a:ln w="9525">
              <a:solidFill>
                <a:srgbClr val="B3D7F5"/>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600" b="1" dirty="0">
                  <a:solidFill>
                    <a:srgbClr val="005A9E"/>
                  </a:solidFill>
                </a:rPr>
                <a:t>AI Agent</a:t>
              </a:r>
            </a:p>
          </p:txBody>
        </p:sp>
        <p:grpSp>
          <p:nvGrpSpPr>
            <p:cNvPr id="63" name="Group 62">
              <a:extLst>
                <a:ext uri="{FF2B5EF4-FFF2-40B4-BE49-F238E27FC236}">
                  <a16:creationId xmlns:a16="http://schemas.microsoft.com/office/drawing/2014/main" id="{E1705624-5A43-4E89-B887-0B1EFFC7420C}"/>
                </a:ext>
              </a:extLst>
            </p:cNvPr>
            <p:cNvGrpSpPr>
              <a:grpSpLocks noChangeAspect="1"/>
            </p:cNvGrpSpPr>
            <p:nvPr/>
          </p:nvGrpSpPr>
          <p:grpSpPr>
            <a:xfrm>
              <a:off x="2418591" y="2300632"/>
              <a:ext cx="548640" cy="548640"/>
              <a:chOff x="5390030" y="2622573"/>
              <a:chExt cx="1411941" cy="1378683"/>
            </a:xfrm>
          </p:grpSpPr>
          <p:sp>
            <p:nvSpPr>
              <p:cNvPr id="64" name="Oval 63">
                <a:extLst>
                  <a:ext uri="{FF2B5EF4-FFF2-40B4-BE49-F238E27FC236}">
                    <a16:creationId xmlns:a16="http://schemas.microsoft.com/office/drawing/2014/main" id="{4566D958-5B9F-48E5-9727-EC4E040738B5}"/>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65" name="Graphic 64" descr="Robot with solid fill">
                <a:extLst>
                  <a:ext uri="{FF2B5EF4-FFF2-40B4-BE49-F238E27FC236}">
                    <a16:creationId xmlns:a16="http://schemas.microsoft.com/office/drawing/2014/main" id="{7013EE2C-425B-4624-A86F-8DE783599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836446"/>
                <a:ext cx="914400" cy="914400"/>
              </a:xfrm>
              <a:prstGeom prst="rect">
                <a:avLst/>
              </a:prstGeom>
            </p:spPr>
          </p:pic>
        </p:grpSp>
      </p:grpSp>
      <p:sp>
        <p:nvSpPr>
          <p:cNvPr id="71" name="TextBox 70">
            <a:extLst>
              <a:ext uri="{FF2B5EF4-FFF2-40B4-BE49-F238E27FC236}">
                <a16:creationId xmlns:a16="http://schemas.microsoft.com/office/drawing/2014/main" id="{0BC990AA-6748-F415-466F-02BDF669AD2F}"/>
              </a:ext>
            </a:extLst>
          </p:cNvPr>
          <p:cNvSpPr txBox="1"/>
          <p:nvPr/>
        </p:nvSpPr>
        <p:spPr>
          <a:xfrm>
            <a:off x="2594418" y="4218976"/>
            <a:ext cx="1223772" cy="357054"/>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grpSp>
        <p:nvGrpSpPr>
          <p:cNvPr id="92" name="Group 91">
            <a:extLst>
              <a:ext uri="{FF2B5EF4-FFF2-40B4-BE49-F238E27FC236}">
                <a16:creationId xmlns:a16="http://schemas.microsoft.com/office/drawing/2014/main" id="{3B625879-CA3A-C945-83D5-5F375FF8DB7D}"/>
              </a:ext>
            </a:extLst>
          </p:cNvPr>
          <p:cNvGrpSpPr/>
          <p:nvPr/>
        </p:nvGrpSpPr>
        <p:grpSpPr>
          <a:xfrm>
            <a:off x="2543364" y="3595119"/>
            <a:ext cx="1325880" cy="544984"/>
            <a:chOff x="2543364" y="3595119"/>
            <a:chExt cx="1325880" cy="544984"/>
          </a:xfrm>
        </p:grpSpPr>
        <p:sp>
          <p:nvSpPr>
            <p:cNvPr id="70" name="Rounded Rectangle 69">
              <a:extLst>
                <a:ext uri="{FF2B5EF4-FFF2-40B4-BE49-F238E27FC236}">
                  <a16:creationId xmlns:a16="http://schemas.microsoft.com/office/drawing/2014/main" id="{EF6954C5-9157-5913-AB64-B01764E3C9FB}"/>
                </a:ext>
              </a:extLst>
            </p:cNvPr>
            <p:cNvSpPr/>
            <p:nvPr/>
          </p:nvSpPr>
          <p:spPr>
            <a:xfrm>
              <a:off x="2543364"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B</a:t>
              </a:r>
            </a:p>
          </p:txBody>
        </p:sp>
        <p:grpSp>
          <p:nvGrpSpPr>
            <p:cNvPr id="72" name="Group 71">
              <a:extLst>
                <a:ext uri="{FF2B5EF4-FFF2-40B4-BE49-F238E27FC236}">
                  <a16:creationId xmlns:a16="http://schemas.microsoft.com/office/drawing/2014/main" id="{BEBD5ACB-3713-C284-4FAB-73C951AD54F6}"/>
                </a:ext>
              </a:extLst>
            </p:cNvPr>
            <p:cNvGrpSpPr>
              <a:grpSpLocks noChangeAspect="1"/>
            </p:cNvGrpSpPr>
            <p:nvPr/>
          </p:nvGrpSpPr>
          <p:grpSpPr>
            <a:xfrm>
              <a:off x="2645472" y="3684731"/>
              <a:ext cx="365760" cy="365760"/>
              <a:chOff x="-118872" y="2906385"/>
              <a:chExt cx="914400" cy="914400"/>
            </a:xfrm>
          </p:grpSpPr>
          <p:sp>
            <p:nvSpPr>
              <p:cNvPr id="73" name="Oval 72">
                <a:extLst>
                  <a:ext uri="{FF2B5EF4-FFF2-40B4-BE49-F238E27FC236}">
                    <a16:creationId xmlns:a16="http://schemas.microsoft.com/office/drawing/2014/main" id="{2B0E6E01-9A3F-B989-F4F3-DFBA2020A295}"/>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4" name="Graphic 73" descr="World outline">
                <a:extLst>
                  <a:ext uri="{FF2B5EF4-FFF2-40B4-BE49-F238E27FC236}">
                    <a16:creationId xmlns:a16="http://schemas.microsoft.com/office/drawing/2014/main" id="{3C275734-A118-55E7-1F8A-B1C6BB7CB8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sp>
        <p:nvSpPr>
          <p:cNvPr id="77" name="TextBox 76">
            <a:extLst>
              <a:ext uri="{FF2B5EF4-FFF2-40B4-BE49-F238E27FC236}">
                <a16:creationId xmlns:a16="http://schemas.microsoft.com/office/drawing/2014/main" id="{D4B857E2-0358-4C3E-DFEE-E1EA2BAC2FE2}"/>
              </a:ext>
            </a:extLst>
          </p:cNvPr>
          <p:cNvSpPr txBox="1"/>
          <p:nvPr/>
        </p:nvSpPr>
        <p:spPr>
          <a:xfrm>
            <a:off x="4343970" y="4218976"/>
            <a:ext cx="1223772" cy="357054"/>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grpSp>
        <p:nvGrpSpPr>
          <p:cNvPr id="93" name="Group 92">
            <a:extLst>
              <a:ext uri="{FF2B5EF4-FFF2-40B4-BE49-F238E27FC236}">
                <a16:creationId xmlns:a16="http://schemas.microsoft.com/office/drawing/2014/main" id="{6D657380-4E07-2B5F-878A-9D8D27F5E2F4}"/>
              </a:ext>
            </a:extLst>
          </p:cNvPr>
          <p:cNvGrpSpPr/>
          <p:nvPr/>
        </p:nvGrpSpPr>
        <p:grpSpPr>
          <a:xfrm>
            <a:off x="4292916" y="3595119"/>
            <a:ext cx="1325880" cy="544984"/>
            <a:chOff x="4292916" y="3595119"/>
            <a:chExt cx="1325880" cy="544984"/>
          </a:xfrm>
        </p:grpSpPr>
        <p:sp>
          <p:nvSpPr>
            <p:cNvPr id="76" name="Rounded Rectangle 75">
              <a:extLst>
                <a:ext uri="{FF2B5EF4-FFF2-40B4-BE49-F238E27FC236}">
                  <a16:creationId xmlns:a16="http://schemas.microsoft.com/office/drawing/2014/main" id="{4089157E-9CC4-713F-ACA8-6D2824256805}"/>
                </a:ext>
              </a:extLst>
            </p:cNvPr>
            <p:cNvSpPr/>
            <p:nvPr/>
          </p:nvSpPr>
          <p:spPr>
            <a:xfrm>
              <a:off x="4292916"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C</a:t>
              </a:r>
            </a:p>
          </p:txBody>
        </p:sp>
        <p:grpSp>
          <p:nvGrpSpPr>
            <p:cNvPr id="78" name="Group 77">
              <a:extLst>
                <a:ext uri="{FF2B5EF4-FFF2-40B4-BE49-F238E27FC236}">
                  <a16:creationId xmlns:a16="http://schemas.microsoft.com/office/drawing/2014/main" id="{65706268-175D-6DFA-0F65-27C2AF01E8A8}"/>
                </a:ext>
              </a:extLst>
            </p:cNvPr>
            <p:cNvGrpSpPr>
              <a:grpSpLocks noChangeAspect="1"/>
            </p:cNvGrpSpPr>
            <p:nvPr/>
          </p:nvGrpSpPr>
          <p:grpSpPr>
            <a:xfrm>
              <a:off x="4395024" y="3684731"/>
              <a:ext cx="365760" cy="365760"/>
              <a:chOff x="-118872" y="2906385"/>
              <a:chExt cx="914400" cy="914400"/>
            </a:xfrm>
          </p:grpSpPr>
          <p:sp>
            <p:nvSpPr>
              <p:cNvPr id="79" name="Oval 78">
                <a:extLst>
                  <a:ext uri="{FF2B5EF4-FFF2-40B4-BE49-F238E27FC236}">
                    <a16:creationId xmlns:a16="http://schemas.microsoft.com/office/drawing/2014/main" id="{B27D590C-5909-9EAB-9218-0BBEA4CC6C4B}"/>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0" name="Graphic 79" descr="World outline">
                <a:extLst>
                  <a:ext uri="{FF2B5EF4-FFF2-40B4-BE49-F238E27FC236}">
                    <a16:creationId xmlns:a16="http://schemas.microsoft.com/office/drawing/2014/main" id="{CAA01BF4-8DA0-486A-97BC-5A179A59A5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cxnSp>
        <p:nvCxnSpPr>
          <p:cNvPr id="82" name="Straight Connector 81">
            <a:extLst>
              <a:ext uri="{FF2B5EF4-FFF2-40B4-BE49-F238E27FC236}">
                <a16:creationId xmlns:a16="http://schemas.microsoft.com/office/drawing/2014/main" id="{7DD9E472-E46D-0045-1F1B-F8243E6261C9}"/>
              </a:ext>
            </a:extLst>
          </p:cNvPr>
          <p:cNvCxnSpPr>
            <a:cxnSpLocks/>
            <a:stCxn id="18" idx="0"/>
            <a:endCxn id="16" idx="2"/>
          </p:cNvCxnSpPr>
          <p:nvPr/>
        </p:nvCxnSpPr>
        <p:spPr>
          <a:xfrm flipV="1">
            <a:off x="1456752" y="3017520"/>
            <a:ext cx="1743648"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5D5B3A4-0EC8-D360-AEB6-7515FF901D31}"/>
              </a:ext>
            </a:extLst>
          </p:cNvPr>
          <p:cNvCxnSpPr>
            <a:cxnSpLocks/>
            <a:stCxn id="70" idx="0"/>
            <a:endCxn id="16" idx="2"/>
          </p:cNvCxnSpPr>
          <p:nvPr/>
        </p:nvCxnSpPr>
        <p:spPr>
          <a:xfrm flipH="1" flipV="1">
            <a:off x="3200400" y="3017520"/>
            <a:ext cx="5904"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B2D41C4-7B0C-309E-29CE-7BB08940271A}"/>
              </a:ext>
            </a:extLst>
          </p:cNvPr>
          <p:cNvCxnSpPr>
            <a:cxnSpLocks/>
            <a:stCxn id="76" idx="0"/>
            <a:endCxn id="16" idx="2"/>
          </p:cNvCxnSpPr>
          <p:nvPr/>
        </p:nvCxnSpPr>
        <p:spPr>
          <a:xfrm flipH="1" flipV="1">
            <a:off x="3200400" y="3017520"/>
            <a:ext cx="1755456"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67437192-1F45-BC32-0438-ADAAD9E26839}"/>
              </a:ext>
            </a:extLst>
          </p:cNvPr>
          <p:cNvGrpSpPr/>
          <p:nvPr/>
        </p:nvGrpSpPr>
        <p:grpSpPr>
          <a:xfrm>
            <a:off x="6576824" y="4958344"/>
            <a:ext cx="1325880" cy="544984"/>
            <a:chOff x="793812" y="3595119"/>
            <a:chExt cx="1325880" cy="544984"/>
          </a:xfrm>
        </p:grpSpPr>
        <p:sp>
          <p:nvSpPr>
            <p:cNvPr id="95" name="Rounded Rectangle 94">
              <a:extLst>
                <a:ext uri="{FF2B5EF4-FFF2-40B4-BE49-F238E27FC236}">
                  <a16:creationId xmlns:a16="http://schemas.microsoft.com/office/drawing/2014/main" id="{4D9CC071-2B6F-19E1-104F-C9124B8A5A67}"/>
                </a:ext>
              </a:extLst>
            </p:cNvPr>
            <p:cNvSpPr/>
            <p:nvPr/>
          </p:nvSpPr>
          <p:spPr>
            <a:xfrm>
              <a:off x="793812"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A</a:t>
              </a:r>
            </a:p>
          </p:txBody>
        </p:sp>
        <p:grpSp>
          <p:nvGrpSpPr>
            <p:cNvPr id="96" name="Group 95">
              <a:extLst>
                <a:ext uri="{FF2B5EF4-FFF2-40B4-BE49-F238E27FC236}">
                  <a16:creationId xmlns:a16="http://schemas.microsoft.com/office/drawing/2014/main" id="{8F46CA1B-89AE-AD9D-74CD-692BE43C05DC}"/>
                </a:ext>
              </a:extLst>
            </p:cNvPr>
            <p:cNvGrpSpPr>
              <a:grpSpLocks noChangeAspect="1"/>
            </p:cNvGrpSpPr>
            <p:nvPr/>
          </p:nvGrpSpPr>
          <p:grpSpPr>
            <a:xfrm>
              <a:off x="895920" y="3684731"/>
              <a:ext cx="365760" cy="365760"/>
              <a:chOff x="-118872" y="2906385"/>
              <a:chExt cx="914400" cy="914400"/>
            </a:xfrm>
          </p:grpSpPr>
          <p:sp>
            <p:nvSpPr>
              <p:cNvPr id="97" name="Oval 96">
                <a:extLst>
                  <a:ext uri="{FF2B5EF4-FFF2-40B4-BE49-F238E27FC236}">
                    <a16:creationId xmlns:a16="http://schemas.microsoft.com/office/drawing/2014/main" id="{75097F8A-B4A3-B8CE-3594-E1075DB143A9}"/>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8" name="Graphic 97" descr="World outline">
                <a:extLst>
                  <a:ext uri="{FF2B5EF4-FFF2-40B4-BE49-F238E27FC236}">
                    <a16:creationId xmlns:a16="http://schemas.microsoft.com/office/drawing/2014/main" id="{6ECA22C4-1758-A6FF-4D0E-59AC58EB0A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99" name="Group 98">
            <a:extLst>
              <a:ext uri="{FF2B5EF4-FFF2-40B4-BE49-F238E27FC236}">
                <a16:creationId xmlns:a16="http://schemas.microsoft.com/office/drawing/2014/main" id="{C018B444-9C97-54CE-EC2A-9E1B999BD5F2}"/>
              </a:ext>
            </a:extLst>
          </p:cNvPr>
          <p:cNvGrpSpPr/>
          <p:nvPr/>
        </p:nvGrpSpPr>
        <p:grpSpPr>
          <a:xfrm>
            <a:off x="8326376" y="4958344"/>
            <a:ext cx="1325880" cy="544984"/>
            <a:chOff x="2543364" y="3595119"/>
            <a:chExt cx="1325880" cy="544984"/>
          </a:xfrm>
        </p:grpSpPr>
        <p:sp>
          <p:nvSpPr>
            <p:cNvPr id="100" name="Rounded Rectangle 99">
              <a:extLst>
                <a:ext uri="{FF2B5EF4-FFF2-40B4-BE49-F238E27FC236}">
                  <a16:creationId xmlns:a16="http://schemas.microsoft.com/office/drawing/2014/main" id="{D672CD45-4ADF-5A3A-4CC2-36E90670D4BE}"/>
                </a:ext>
              </a:extLst>
            </p:cNvPr>
            <p:cNvSpPr/>
            <p:nvPr/>
          </p:nvSpPr>
          <p:spPr>
            <a:xfrm>
              <a:off x="2543364"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B</a:t>
              </a:r>
            </a:p>
          </p:txBody>
        </p:sp>
        <p:grpSp>
          <p:nvGrpSpPr>
            <p:cNvPr id="101" name="Group 100">
              <a:extLst>
                <a:ext uri="{FF2B5EF4-FFF2-40B4-BE49-F238E27FC236}">
                  <a16:creationId xmlns:a16="http://schemas.microsoft.com/office/drawing/2014/main" id="{861F8E74-71F7-C9BF-44F2-64E59AFDB0FD}"/>
                </a:ext>
              </a:extLst>
            </p:cNvPr>
            <p:cNvGrpSpPr>
              <a:grpSpLocks noChangeAspect="1"/>
            </p:cNvGrpSpPr>
            <p:nvPr/>
          </p:nvGrpSpPr>
          <p:grpSpPr>
            <a:xfrm>
              <a:off x="2645472" y="3684731"/>
              <a:ext cx="365760" cy="365760"/>
              <a:chOff x="-118872" y="2906385"/>
              <a:chExt cx="914400" cy="914400"/>
            </a:xfrm>
          </p:grpSpPr>
          <p:sp>
            <p:nvSpPr>
              <p:cNvPr id="102" name="Oval 101">
                <a:extLst>
                  <a:ext uri="{FF2B5EF4-FFF2-40B4-BE49-F238E27FC236}">
                    <a16:creationId xmlns:a16="http://schemas.microsoft.com/office/drawing/2014/main" id="{30D53448-14CB-8513-40FD-73AEADA6CAA6}"/>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3" name="Graphic 102" descr="World outline">
                <a:extLst>
                  <a:ext uri="{FF2B5EF4-FFF2-40B4-BE49-F238E27FC236}">
                    <a16:creationId xmlns:a16="http://schemas.microsoft.com/office/drawing/2014/main" id="{2AEBCBB2-1BBF-3C50-523C-DAF15EF5F0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104" name="Group 103">
            <a:extLst>
              <a:ext uri="{FF2B5EF4-FFF2-40B4-BE49-F238E27FC236}">
                <a16:creationId xmlns:a16="http://schemas.microsoft.com/office/drawing/2014/main" id="{8386141E-158B-E3D2-0835-60B67B7A4287}"/>
              </a:ext>
            </a:extLst>
          </p:cNvPr>
          <p:cNvGrpSpPr/>
          <p:nvPr/>
        </p:nvGrpSpPr>
        <p:grpSpPr>
          <a:xfrm>
            <a:off x="10075928" y="4958344"/>
            <a:ext cx="1325880" cy="544984"/>
            <a:chOff x="4292916" y="3595119"/>
            <a:chExt cx="1325880" cy="544984"/>
          </a:xfrm>
        </p:grpSpPr>
        <p:sp>
          <p:nvSpPr>
            <p:cNvPr id="105" name="Rounded Rectangle 104">
              <a:extLst>
                <a:ext uri="{FF2B5EF4-FFF2-40B4-BE49-F238E27FC236}">
                  <a16:creationId xmlns:a16="http://schemas.microsoft.com/office/drawing/2014/main" id="{A8053FE1-61A2-F1BB-5888-257D178C3A06}"/>
                </a:ext>
              </a:extLst>
            </p:cNvPr>
            <p:cNvSpPr/>
            <p:nvPr/>
          </p:nvSpPr>
          <p:spPr>
            <a:xfrm>
              <a:off x="4292916" y="3595119"/>
              <a:ext cx="132588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4A5568"/>
                  </a:solidFill>
                </a:rPr>
                <a:t>Tool C</a:t>
              </a:r>
            </a:p>
          </p:txBody>
        </p:sp>
        <p:grpSp>
          <p:nvGrpSpPr>
            <p:cNvPr id="106" name="Group 105">
              <a:extLst>
                <a:ext uri="{FF2B5EF4-FFF2-40B4-BE49-F238E27FC236}">
                  <a16:creationId xmlns:a16="http://schemas.microsoft.com/office/drawing/2014/main" id="{D0A0AFBE-EF7A-7520-3882-DCA9EB6B8DC8}"/>
                </a:ext>
              </a:extLst>
            </p:cNvPr>
            <p:cNvGrpSpPr>
              <a:grpSpLocks noChangeAspect="1"/>
            </p:cNvGrpSpPr>
            <p:nvPr/>
          </p:nvGrpSpPr>
          <p:grpSpPr>
            <a:xfrm>
              <a:off x="4395024" y="3684731"/>
              <a:ext cx="365760" cy="365760"/>
              <a:chOff x="-118872" y="2906385"/>
              <a:chExt cx="914400" cy="914400"/>
            </a:xfrm>
          </p:grpSpPr>
          <p:sp>
            <p:nvSpPr>
              <p:cNvPr id="107" name="Oval 106">
                <a:extLst>
                  <a:ext uri="{FF2B5EF4-FFF2-40B4-BE49-F238E27FC236}">
                    <a16:creationId xmlns:a16="http://schemas.microsoft.com/office/drawing/2014/main" id="{017199D8-FF35-924C-FAFA-9D92281B2D42}"/>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8" name="Graphic 107" descr="World outline">
                <a:extLst>
                  <a:ext uri="{FF2B5EF4-FFF2-40B4-BE49-F238E27FC236}">
                    <a16:creationId xmlns:a16="http://schemas.microsoft.com/office/drawing/2014/main" id="{4E959CF1-2D08-58B0-8007-21E7FDAEFC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125" name="Group 124">
            <a:extLst>
              <a:ext uri="{FF2B5EF4-FFF2-40B4-BE49-F238E27FC236}">
                <a16:creationId xmlns:a16="http://schemas.microsoft.com/office/drawing/2014/main" id="{F64867D1-7BBF-CDC8-3C0E-D43FF56E4153}"/>
              </a:ext>
            </a:extLst>
          </p:cNvPr>
          <p:cNvGrpSpPr/>
          <p:nvPr/>
        </p:nvGrpSpPr>
        <p:grpSpPr>
          <a:xfrm>
            <a:off x="7868888" y="3457274"/>
            <a:ext cx="2239328" cy="797360"/>
            <a:chOff x="8006048" y="3445988"/>
            <a:chExt cx="2239328" cy="797360"/>
          </a:xfrm>
        </p:grpSpPr>
        <p:sp>
          <p:nvSpPr>
            <p:cNvPr id="33" name="Rounded Rectangle 32">
              <a:extLst>
                <a:ext uri="{FF2B5EF4-FFF2-40B4-BE49-F238E27FC236}">
                  <a16:creationId xmlns:a16="http://schemas.microsoft.com/office/drawing/2014/main" id="{5EBEA994-5DB9-BA6B-D0FE-49874B6B4F90}"/>
                </a:ext>
              </a:extLst>
            </p:cNvPr>
            <p:cNvSpPr/>
            <p:nvPr/>
          </p:nvSpPr>
          <p:spPr>
            <a:xfrm>
              <a:off x="8006048" y="3445988"/>
              <a:ext cx="2239328" cy="797360"/>
            </a:xfrm>
            <a:prstGeom prst="roundRect">
              <a:avLst>
                <a:gd name="adj" fmla="val 10000"/>
              </a:avLst>
            </a:prstGeom>
            <a:solidFill>
              <a:srgbClr val="EDE9FB"/>
            </a:solidFill>
            <a:ln w="9525">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n-US" sz="1800" b="1" dirty="0">
                  <a:solidFill>
                    <a:srgbClr val="5B21B6"/>
                  </a:solidFill>
                </a:rPr>
                <a:t>MCP Server</a:t>
              </a:r>
            </a:p>
          </p:txBody>
        </p:sp>
        <p:grpSp>
          <p:nvGrpSpPr>
            <p:cNvPr id="112" name="Group 111">
              <a:extLst>
                <a:ext uri="{FF2B5EF4-FFF2-40B4-BE49-F238E27FC236}">
                  <a16:creationId xmlns:a16="http://schemas.microsoft.com/office/drawing/2014/main" id="{EAA8398F-7BCD-9096-06A5-947C21BF1B93}"/>
                </a:ext>
              </a:extLst>
            </p:cNvPr>
            <p:cNvGrpSpPr/>
            <p:nvPr/>
          </p:nvGrpSpPr>
          <p:grpSpPr>
            <a:xfrm>
              <a:off x="8174741" y="3570348"/>
              <a:ext cx="548640" cy="548640"/>
              <a:chOff x="7887464" y="3401292"/>
              <a:chExt cx="548640" cy="548640"/>
            </a:xfrm>
          </p:grpSpPr>
          <p:sp>
            <p:nvSpPr>
              <p:cNvPr id="109" name="Oval 108">
                <a:extLst>
                  <a:ext uri="{FF2B5EF4-FFF2-40B4-BE49-F238E27FC236}">
                    <a16:creationId xmlns:a16="http://schemas.microsoft.com/office/drawing/2014/main" id="{212E13E9-BB40-C950-E2B0-6942C3231390}"/>
                  </a:ext>
                </a:extLst>
              </p:cNvPr>
              <p:cNvSpPr/>
              <p:nvPr/>
            </p:nvSpPr>
            <p:spPr bwMode="auto">
              <a:xfrm>
                <a:off x="7887464" y="3401292"/>
                <a:ext cx="548640" cy="548640"/>
              </a:xfrm>
              <a:prstGeom prst="ellipse">
                <a:avLst/>
              </a:prstGeom>
              <a:solidFill>
                <a:srgbClr val="5B21B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11" name="Graphic 110" descr="Server with solid fill">
                <a:extLst>
                  <a:ext uri="{FF2B5EF4-FFF2-40B4-BE49-F238E27FC236}">
                    <a16:creationId xmlns:a16="http://schemas.microsoft.com/office/drawing/2014/main" id="{EA254CC8-7902-4D31-3E8E-8987624204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1676" y="3465504"/>
                <a:ext cx="420216" cy="420216"/>
              </a:xfrm>
              <a:prstGeom prst="rect">
                <a:avLst/>
              </a:prstGeom>
            </p:spPr>
          </p:pic>
        </p:grpSp>
      </p:grpSp>
      <p:cxnSp>
        <p:nvCxnSpPr>
          <p:cNvPr id="113" name="Straight Connector 112">
            <a:extLst>
              <a:ext uri="{FF2B5EF4-FFF2-40B4-BE49-F238E27FC236}">
                <a16:creationId xmlns:a16="http://schemas.microsoft.com/office/drawing/2014/main" id="{D566D6FE-56A2-AF59-0371-4F6843CD800F}"/>
              </a:ext>
            </a:extLst>
          </p:cNvPr>
          <p:cNvCxnSpPr>
            <a:cxnSpLocks/>
            <a:stCxn id="33" idx="0"/>
            <a:endCxn id="62" idx="2"/>
          </p:cNvCxnSpPr>
          <p:nvPr/>
        </p:nvCxnSpPr>
        <p:spPr>
          <a:xfrm flipV="1">
            <a:off x="8988552" y="2918778"/>
            <a:ext cx="3048" cy="538496"/>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183F341-DAC1-E671-48C2-87BDFE181DEB}"/>
              </a:ext>
            </a:extLst>
          </p:cNvPr>
          <p:cNvCxnSpPr>
            <a:cxnSpLocks/>
            <a:stCxn id="95" idx="0"/>
            <a:endCxn id="33" idx="2"/>
          </p:cNvCxnSpPr>
          <p:nvPr/>
        </p:nvCxnSpPr>
        <p:spPr>
          <a:xfrm flipV="1">
            <a:off x="7239764" y="4254634"/>
            <a:ext cx="1748788"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8BD0E05-D870-AFB1-2F63-95F0D7B6EF43}"/>
              </a:ext>
            </a:extLst>
          </p:cNvPr>
          <p:cNvCxnSpPr>
            <a:cxnSpLocks/>
            <a:stCxn id="100" idx="0"/>
            <a:endCxn id="33" idx="2"/>
          </p:cNvCxnSpPr>
          <p:nvPr/>
        </p:nvCxnSpPr>
        <p:spPr>
          <a:xfrm flipH="1" flipV="1">
            <a:off x="8988552" y="4254634"/>
            <a:ext cx="764"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D136C27-7C1F-45B2-53FD-DA72E6261B59}"/>
              </a:ext>
            </a:extLst>
          </p:cNvPr>
          <p:cNvCxnSpPr>
            <a:cxnSpLocks/>
            <a:stCxn id="105" idx="0"/>
            <a:endCxn id="33" idx="2"/>
          </p:cNvCxnSpPr>
          <p:nvPr/>
        </p:nvCxnSpPr>
        <p:spPr>
          <a:xfrm flipH="1" flipV="1">
            <a:off x="8988552" y="4254634"/>
            <a:ext cx="1750316"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E9F6933F-BE66-B79B-9602-96CC488DFA0D}"/>
              </a:ext>
            </a:extLst>
          </p:cNvPr>
          <p:cNvSpPr txBox="1"/>
          <p:nvPr/>
        </p:nvSpPr>
        <p:spPr>
          <a:xfrm>
            <a:off x="614741" y="4259004"/>
            <a:ext cx="1676782" cy="276999"/>
          </a:xfrm>
          <a:prstGeom prst="rect">
            <a:avLst/>
          </a:prstGeom>
          <a:noFill/>
        </p:spPr>
        <p:txBody>
          <a:bodyPr wrap="square">
            <a:spAutoFit/>
          </a:bodyPr>
          <a:lstStyle/>
          <a:p>
            <a:pPr algn="ctr"/>
            <a:r>
              <a:rPr lang="en-US" sz="1200" b="1" dirty="0">
                <a:solidFill>
                  <a:schemeClr val="accent3"/>
                </a:solidFill>
              </a:rPr>
              <a:t>manual setup</a:t>
            </a:r>
          </a:p>
        </p:txBody>
      </p:sp>
      <p:sp>
        <p:nvSpPr>
          <p:cNvPr id="130" name="TextBox 129">
            <a:extLst>
              <a:ext uri="{FF2B5EF4-FFF2-40B4-BE49-F238E27FC236}">
                <a16:creationId xmlns:a16="http://schemas.microsoft.com/office/drawing/2014/main" id="{1B8867B2-F0BE-5976-71AD-1804481B57E4}"/>
              </a:ext>
            </a:extLst>
          </p:cNvPr>
          <p:cNvSpPr txBox="1"/>
          <p:nvPr/>
        </p:nvSpPr>
        <p:spPr>
          <a:xfrm>
            <a:off x="2392107" y="4259004"/>
            <a:ext cx="1676782" cy="276999"/>
          </a:xfrm>
          <a:prstGeom prst="rect">
            <a:avLst/>
          </a:prstGeom>
          <a:noFill/>
        </p:spPr>
        <p:txBody>
          <a:bodyPr wrap="square">
            <a:spAutoFit/>
          </a:bodyPr>
          <a:lstStyle/>
          <a:p>
            <a:pPr algn="ctr"/>
            <a:r>
              <a:rPr lang="en-US" sz="1200" b="1" dirty="0">
                <a:solidFill>
                  <a:schemeClr val="accent3"/>
                </a:solidFill>
              </a:rPr>
              <a:t>manual setup</a:t>
            </a:r>
          </a:p>
        </p:txBody>
      </p:sp>
      <p:sp>
        <p:nvSpPr>
          <p:cNvPr id="131" name="TextBox 130">
            <a:extLst>
              <a:ext uri="{FF2B5EF4-FFF2-40B4-BE49-F238E27FC236}">
                <a16:creationId xmlns:a16="http://schemas.microsoft.com/office/drawing/2014/main" id="{7D2E0A9B-EADC-9759-15D4-72A807D94B95}"/>
              </a:ext>
            </a:extLst>
          </p:cNvPr>
          <p:cNvSpPr txBox="1"/>
          <p:nvPr/>
        </p:nvSpPr>
        <p:spPr>
          <a:xfrm>
            <a:off x="4139944" y="4259004"/>
            <a:ext cx="1676782" cy="276999"/>
          </a:xfrm>
          <a:prstGeom prst="rect">
            <a:avLst/>
          </a:prstGeom>
          <a:noFill/>
        </p:spPr>
        <p:txBody>
          <a:bodyPr wrap="square">
            <a:spAutoFit/>
          </a:bodyPr>
          <a:lstStyle/>
          <a:p>
            <a:pPr algn="ctr"/>
            <a:r>
              <a:rPr lang="en-US" sz="1200" b="1" dirty="0">
                <a:solidFill>
                  <a:schemeClr val="accent3"/>
                </a:solidFill>
              </a:rPr>
              <a:t>manual setup</a:t>
            </a:r>
          </a:p>
        </p:txBody>
      </p:sp>
    </p:spTree>
    <p:extLst>
      <p:ext uri="{BB962C8B-B14F-4D97-AF65-F5344CB8AC3E}">
        <p14:creationId xmlns:p14="http://schemas.microsoft.com/office/powerpoint/2010/main" val="3827415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08BE9-B381-B1F6-6D99-E442E85A97DB}"/>
              </a:ext>
            </a:extLst>
          </p:cNvPr>
          <p:cNvSpPr>
            <a:spLocks noGrp="1"/>
          </p:cNvSpPr>
          <p:nvPr>
            <p:ph type="title"/>
          </p:nvPr>
        </p:nvSpPr>
        <p:spPr>
          <a:xfrm>
            <a:off x="588262" y="585216"/>
            <a:ext cx="11013474" cy="492443"/>
          </a:xfrm>
        </p:spPr>
        <p:txBody>
          <a:bodyPr/>
          <a:lstStyle/>
          <a:p>
            <a:r>
              <a:rPr lang="en-US" sz="3200" dirty="0"/>
              <a:t>Integrate agent tools using an MCP server and client</a:t>
            </a:r>
          </a:p>
        </p:txBody>
      </p:sp>
      <p:sp>
        <p:nvSpPr>
          <p:cNvPr id="4" name="Footer Placeholder 3">
            <a:extLst>
              <a:ext uri="{FF2B5EF4-FFF2-40B4-BE49-F238E27FC236}">
                <a16:creationId xmlns:a16="http://schemas.microsoft.com/office/drawing/2014/main" id="{0005E681-7DC2-5BD3-4B4F-78ABD3D47B2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F68721F-2317-AB89-A218-F774E85470F0}"/>
              </a:ext>
            </a:extLst>
          </p:cNvPr>
          <p:cNvSpPr txBox="1"/>
          <p:nvPr/>
        </p:nvSpPr>
        <p:spPr>
          <a:xfrm>
            <a:off x="579438" y="1344293"/>
            <a:ext cx="1408784" cy="307777"/>
          </a:xfrm>
          <a:prstGeom prst="rect">
            <a:avLst/>
          </a:prstGeom>
          <a:noFill/>
        </p:spPr>
        <p:txBody>
          <a:bodyPr wrap="none" lIns="0" tIns="0" rIns="0" bIns="0" rtlCol="0">
            <a:spAutoFit/>
          </a:bodyPr>
          <a:lstStyle/>
          <a:p>
            <a:pPr algn="l"/>
            <a:r>
              <a:rPr lang="en-US" sz="2000" b="1" dirty="0">
                <a:solidFill>
                  <a:schemeClr val="accent1"/>
                </a:solidFill>
              </a:rPr>
              <a:t>MCP Server</a:t>
            </a:r>
          </a:p>
        </p:txBody>
      </p:sp>
      <p:sp>
        <p:nvSpPr>
          <p:cNvPr id="7" name="TextBox 6">
            <a:extLst>
              <a:ext uri="{FF2B5EF4-FFF2-40B4-BE49-F238E27FC236}">
                <a16:creationId xmlns:a16="http://schemas.microsoft.com/office/drawing/2014/main" id="{3152465E-AD32-BA3A-106F-C3FFA795B4E2}"/>
              </a:ext>
            </a:extLst>
          </p:cNvPr>
          <p:cNvSpPr txBox="1"/>
          <p:nvPr/>
        </p:nvSpPr>
        <p:spPr>
          <a:xfrm>
            <a:off x="579438" y="2861298"/>
            <a:ext cx="1332096" cy="307777"/>
          </a:xfrm>
          <a:prstGeom prst="rect">
            <a:avLst/>
          </a:prstGeom>
          <a:noFill/>
        </p:spPr>
        <p:txBody>
          <a:bodyPr wrap="none" lIns="0" tIns="0" rIns="0" bIns="0" rtlCol="0">
            <a:spAutoFit/>
          </a:bodyPr>
          <a:lstStyle/>
          <a:p>
            <a:pPr algn="l"/>
            <a:r>
              <a:rPr lang="en-US" sz="2000" b="1" dirty="0">
                <a:solidFill>
                  <a:schemeClr val="accent2"/>
                </a:solidFill>
              </a:rPr>
              <a:t>MCP Client</a:t>
            </a:r>
          </a:p>
        </p:txBody>
      </p:sp>
      <p:sp>
        <p:nvSpPr>
          <p:cNvPr id="8" name="TextBox 7">
            <a:extLst>
              <a:ext uri="{FF2B5EF4-FFF2-40B4-BE49-F238E27FC236}">
                <a16:creationId xmlns:a16="http://schemas.microsoft.com/office/drawing/2014/main" id="{42DB1156-1E04-94F5-447E-578B2C5313F0}"/>
              </a:ext>
            </a:extLst>
          </p:cNvPr>
          <p:cNvSpPr txBox="1"/>
          <p:nvPr/>
        </p:nvSpPr>
        <p:spPr>
          <a:xfrm>
            <a:off x="579438" y="4378303"/>
            <a:ext cx="734175" cy="307777"/>
          </a:xfrm>
          <a:prstGeom prst="rect">
            <a:avLst/>
          </a:prstGeom>
          <a:noFill/>
        </p:spPr>
        <p:txBody>
          <a:bodyPr wrap="none" lIns="0" tIns="0" rIns="0" bIns="0" rtlCol="0">
            <a:spAutoFit/>
          </a:bodyPr>
          <a:lstStyle/>
          <a:p>
            <a:pPr algn="l"/>
            <a:r>
              <a:rPr lang="en-US" sz="2000" b="1" dirty="0">
                <a:solidFill>
                  <a:srgbClr val="0078D4"/>
                </a:solidFill>
              </a:rPr>
              <a:t>Agent</a:t>
            </a:r>
          </a:p>
        </p:txBody>
      </p:sp>
      <p:cxnSp>
        <p:nvCxnSpPr>
          <p:cNvPr id="10" name="Straight Connector 9">
            <a:extLst>
              <a:ext uri="{FF2B5EF4-FFF2-40B4-BE49-F238E27FC236}">
                <a16:creationId xmlns:a16="http://schemas.microsoft.com/office/drawing/2014/main" id="{0E6DA127-F418-87BC-1DC3-B2A4C8727148}"/>
              </a:ext>
            </a:extLst>
          </p:cNvPr>
          <p:cNvCxnSpPr>
            <a:cxnSpLocks/>
          </p:cNvCxnSpPr>
          <p:nvPr/>
        </p:nvCxnSpPr>
        <p:spPr>
          <a:xfrm>
            <a:off x="2051685" y="1510467"/>
            <a:ext cx="9400721"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21104AF-FB38-703C-09BB-9BD7728357DE}"/>
              </a:ext>
            </a:extLst>
          </p:cNvPr>
          <p:cNvCxnSpPr>
            <a:cxnSpLocks/>
          </p:cNvCxnSpPr>
          <p:nvPr/>
        </p:nvCxnSpPr>
        <p:spPr>
          <a:xfrm>
            <a:off x="2051685" y="3034995"/>
            <a:ext cx="9400721"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CD32CE-6265-EB91-BA3D-6B1E3824B272}"/>
              </a:ext>
            </a:extLst>
          </p:cNvPr>
          <p:cNvCxnSpPr>
            <a:cxnSpLocks/>
          </p:cNvCxnSpPr>
          <p:nvPr/>
        </p:nvCxnSpPr>
        <p:spPr>
          <a:xfrm>
            <a:off x="1428750" y="4552000"/>
            <a:ext cx="10023656"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987876DD-EC28-44C1-0B41-063258450979}"/>
              </a:ext>
            </a:extLst>
          </p:cNvPr>
          <p:cNvSpPr/>
          <p:nvPr/>
        </p:nvSpPr>
        <p:spPr bwMode="auto">
          <a:xfrm>
            <a:off x="579438" y="1757362"/>
            <a:ext cx="3492500" cy="962331"/>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dirty="0">
              <a:solidFill>
                <a:schemeClr val="tx1"/>
              </a:solidFill>
              <a:latin typeface="+mj-lt"/>
              <a:ea typeface="Segoe UI" pitchFamily="34" charset="0"/>
              <a:cs typeface="Segoe UI" pitchFamily="34" charset="0"/>
            </a:endParaRPr>
          </a:p>
        </p:txBody>
      </p:sp>
      <p:sp>
        <p:nvSpPr>
          <p:cNvPr id="20" name="Rounded Rectangle 19">
            <a:extLst>
              <a:ext uri="{FF2B5EF4-FFF2-40B4-BE49-F238E27FC236}">
                <a16:creationId xmlns:a16="http://schemas.microsoft.com/office/drawing/2014/main" id="{C6781F2C-2EFD-5459-8111-BE545A9E3832}"/>
              </a:ext>
            </a:extLst>
          </p:cNvPr>
          <p:cNvSpPr/>
          <p:nvPr/>
        </p:nvSpPr>
        <p:spPr bwMode="auto">
          <a:xfrm>
            <a:off x="728662" y="2263682"/>
            <a:ext cx="3243261" cy="319050"/>
          </a:xfrm>
          <a:prstGeom prst="roundRect">
            <a:avLst/>
          </a:prstGeom>
          <a:solidFill>
            <a:schemeClr val="accent1">
              <a:lumMod val="40000"/>
              <a:lumOff val="6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Box 21">
            <a:extLst>
              <a:ext uri="{FF2B5EF4-FFF2-40B4-BE49-F238E27FC236}">
                <a16:creationId xmlns:a16="http://schemas.microsoft.com/office/drawing/2014/main" id="{55138F1B-99EE-D032-1890-87F00210E39C}"/>
              </a:ext>
            </a:extLst>
          </p:cNvPr>
          <p:cNvSpPr txBox="1"/>
          <p:nvPr/>
        </p:nvSpPr>
        <p:spPr>
          <a:xfrm>
            <a:off x="728662" y="1871049"/>
            <a:ext cx="3243261" cy="338554"/>
          </a:xfrm>
          <a:prstGeom prst="rect">
            <a:avLst/>
          </a:prstGeom>
          <a:noFill/>
        </p:spPr>
        <p:txBody>
          <a:bodyPr wrap="square">
            <a:spAutoFit/>
          </a:bodyPr>
          <a:lstStyle/>
          <a:p>
            <a:pPr algn="r" defTabSz="932472" fontAlgn="base">
              <a:spcBef>
                <a:spcPct val="0"/>
              </a:spcBef>
              <a:spcAft>
                <a:spcPct val="0"/>
              </a:spcAft>
            </a:pPr>
            <a:r>
              <a:rPr lang="en-US" sz="1600" b="1" dirty="0">
                <a:solidFill>
                  <a:schemeClr val="accent1"/>
                </a:solidFill>
                <a:ea typeface="Segoe UI" pitchFamily="34" charset="0"/>
                <a:cs typeface="Segoe UI" pitchFamily="34" charset="0"/>
              </a:rPr>
              <a:t>Host tool definitions</a:t>
            </a:r>
          </a:p>
        </p:txBody>
      </p:sp>
      <p:sp>
        <p:nvSpPr>
          <p:cNvPr id="23" name="TextBox 22">
            <a:extLst>
              <a:ext uri="{FF2B5EF4-FFF2-40B4-BE49-F238E27FC236}">
                <a16:creationId xmlns:a16="http://schemas.microsoft.com/office/drawing/2014/main" id="{C3EC2738-BAC5-1A0A-1B84-C7AB35DDCFD6}"/>
              </a:ext>
            </a:extLst>
          </p:cNvPr>
          <p:cNvSpPr txBox="1"/>
          <p:nvPr/>
        </p:nvSpPr>
        <p:spPr>
          <a:xfrm>
            <a:off x="778669" y="2252345"/>
            <a:ext cx="1964531" cy="338554"/>
          </a:xfrm>
          <a:prstGeom prst="rect">
            <a:avLst/>
          </a:prstGeom>
          <a:noFill/>
        </p:spPr>
        <p:txBody>
          <a:bodyPr wrap="square">
            <a:spAutoFit/>
          </a:bodyPr>
          <a:lstStyle/>
          <a:p>
            <a:pPr defTabSz="932472" fontAlgn="base">
              <a:spcBef>
                <a:spcPct val="0"/>
              </a:spcBef>
              <a:spcAft>
                <a:spcPct val="0"/>
              </a:spcAft>
            </a:pPr>
            <a:r>
              <a:rPr lang="en-US" sz="1600" dirty="0">
                <a:solidFill>
                  <a:schemeClr val="accent1"/>
                </a:solidFill>
                <a:latin typeface="Consolas" panose="020B0609020204030204" pitchFamily="49" charset="0"/>
                <a:ea typeface="Segoe UI" pitchFamily="34" charset="0"/>
                <a:cs typeface="Consolas" panose="020B0609020204030204" pitchFamily="49" charset="0"/>
              </a:rPr>
              <a:t>@</a:t>
            </a:r>
            <a:r>
              <a:rPr lang="en-US" sz="1600" dirty="0" err="1">
                <a:solidFill>
                  <a:schemeClr val="accent1"/>
                </a:solidFill>
                <a:latin typeface="Consolas" panose="020B0609020204030204" pitchFamily="49" charset="0"/>
                <a:ea typeface="Segoe UI" pitchFamily="34" charset="0"/>
                <a:cs typeface="Consolas" panose="020B0609020204030204" pitchFamily="49" charset="0"/>
              </a:rPr>
              <a:t>mcp.tool</a:t>
            </a:r>
            <a:endParaRPr lang="en-US" sz="1600" dirty="0">
              <a:solidFill>
                <a:schemeClr val="accent1"/>
              </a:solidFill>
              <a:latin typeface="Consolas" panose="020B0609020204030204" pitchFamily="49" charset="0"/>
              <a:ea typeface="Segoe UI" pitchFamily="34" charset="0"/>
              <a:cs typeface="Consolas" panose="020B0609020204030204" pitchFamily="49" charset="0"/>
            </a:endParaRPr>
          </a:p>
        </p:txBody>
      </p:sp>
      <p:sp>
        <p:nvSpPr>
          <p:cNvPr id="25" name="Rounded Rectangle 24">
            <a:extLst>
              <a:ext uri="{FF2B5EF4-FFF2-40B4-BE49-F238E27FC236}">
                <a16:creationId xmlns:a16="http://schemas.microsoft.com/office/drawing/2014/main" id="{20765AD5-D3D1-8260-DD3D-FFF0A5D97A5D}"/>
              </a:ext>
            </a:extLst>
          </p:cNvPr>
          <p:cNvSpPr/>
          <p:nvPr/>
        </p:nvSpPr>
        <p:spPr bwMode="auto">
          <a:xfrm>
            <a:off x="579438" y="3295141"/>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dirty="0">
              <a:solidFill>
                <a:schemeClr val="tx1"/>
              </a:solidFill>
              <a:latin typeface="+mj-lt"/>
              <a:ea typeface="Segoe UI" pitchFamily="34" charset="0"/>
              <a:cs typeface="Segoe UI" pitchFamily="34" charset="0"/>
            </a:endParaRPr>
          </a:p>
        </p:txBody>
      </p:sp>
      <p:sp>
        <p:nvSpPr>
          <p:cNvPr id="26" name="Rounded Rectangle 25">
            <a:extLst>
              <a:ext uri="{FF2B5EF4-FFF2-40B4-BE49-F238E27FC236}">
                <a16:creationId xmlns:a16="http://schemas.microsoft.com/office/drawing/2014/main" id="{5A427E57-7E65-37C8-D802-FC2292E4A540}"/>
              </a:ext>
            </a:extLst>
          </p:cNvPr>
          <p:cNvSpPr/>
          <p:nvPr/>
        </p:nvSpPr>
        <p:spPr bwMode="auto">
          <a:xfrm>
            <a:off x="728662" y="3801461"/>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a:extLst>
              <a:ext uri="{FF2B5EF4-FFF2-40B4-BE49-F238E27FC236}">
                <a16:creationId xmlns:a16="http://schemas.microsoft.com/office/drawing/2014/main" id="{83EE2126-DFA4-9A43-D8E9-27FA434601E7}"/>
              </a:ext>
            </a:extLst>
          </p:cNvPr>
          <p:cNvSpPr txBox="1"/>
          <p:nvPr/>
        </p:nvSpPr>
        <p:spPr>
          <a:xfrm>
            <a:off x="728662" y="3408828"/>
            <a:ext cx="3243261" cy="338554"/>
          </a:xfrm>
          <a:prstGeom prst="rect">
            <a:avLst/>
          </a:prstGeom>
          <a:noFill/>
        </p:spPr>
        <p:txBody>
          <a:bodyPr wrap="square">
            <a:spAutoFit/>
          </a:bodyPr>
          <a:lstStyle/>
          <a:p>
            <a:pPr algn="r" defTabSz="932472" fontAlgn="base">
              <a:spcBef>
                <a:spcPct val="0"/>
              </a:spcBef>
              <a:spcAft>
                <a:spcPct val="0"/>
              </a:spcAft>
            </a:pPr>
            <a:r>
              <a:rPr lang="en-US" sz="1600" b="1" dirty="0">
                <a:solidFill>
                  <a:schemeClr val="accent2"/>
                </a:solidFill>
                <a:ea typeface="Segoe UI" pitchFamily="34" charset="0"/>
                <a:cs typeface="Segoe UI" pitchFamily="34" charset="0"/>
              </a:rPr>
              <a:t>Initialize session</a:t>
            </a:r>
          </a:p>
        </p:txBody>
      </p:sp>
      <p:sp>
        <p:nvSpPr>
          <p:cNvPr id="28" name="TextBox 27">
            <a:extLst>
              <a:ext uri="{FF2B5EF4-FFF2-40B4-BE49-F238E27FC236}">
                <a16:creationId xmlns:a16="http://schemas.microsoft.com/office/drawing/2014/main" id="{280B96D3-0678-57C4-E109-7A1DF50A94F1}"/>
              </a:ext>
            </a:extLst>
          </p:cNvPr>
          <p:cNvSpPr txBox="1"/>
          <p:nvPr/>
        </p:nvSpPr>
        <p:spPr>
          <a:xfrm>
            <a:off x="778669" y="3790124"/>
            <a:ext cx="2707481" cy="338554"/>
          </a:xfrm>
          <a:prstGeom prst="rect">
            <a:avLst/>
          </a:prstGeom>
          <a:noFill/>
        </p:spPr>
        <p:txBody>
          <a:bodyPr wrap="square">
            <a:spAutoFit/>
          </a:bodyPr>
          <a:lstStyle/>
          <a:p>
            <a:pPr defTabSz="932472" fontAlgn="base">
              <a:spcBef>
                <a:spcPct val="0"/>
              </a:spcBef>
              <a:spcAft>
                <a:spcPct val="0"/>
              </a:spcAft>
            </a:pPr>
            <a:r>
              <a:rPr lang="en-US" sz="1600" dirty="0" err="1">
                <a:solidFill>
                  <a:schemeClr val="accent1"/>
                </a:solidFill>
                <a:latin typeface="Consolas" panose="020B0609020204030204" pitchFamily="49" charset="0"/>
                <a:ea typeface="Segoe UI" pitchFamily="34" charset="0"/>
                <a:cs typeface="Consolas" panose="020B0609020204030204" pitchFamily="49" charset="0"/>
              </a:rPr>
              <a:t>ClientSession</a:t>
            </a:r>
            <a:r>
              <a:rPr lang="en-US" sz="1600" dirty="0">
                <a:solidFill>
                  <a:schemeClr val="accent1"/>
                </a:solidFill>
                <a:latin typeface="Consolas" panose="020B0609020204030204" pitchFamily="49" charset="0"/>
                <a:ea typeface="Segoe UI" pitchFamily="34" charset="0"/>
                <a:cs typeface="Consolas" panose="020B0609020204030204" pitchFamily="49" charset="0"/>
              </a:rPr>
              <a:t>(...)</a:t>
            </a:r>
          </a:p>
        </p:txBody>
      </p:sp>
      <p:sp>
        <p:nvSpPr>
          <p:cNvPr id="30" name="Rounded Rectangle 29">
            <a:extLst>
              <a:ext uri="{FF2B5EF4-FFF2-40B4-BE49-F238E27FC236}">
                <a16:creationId xmlns:a16="http://schemas.microsoft.com/office/drawing/2014/main" id="{C76FF042-4EF2-79BF-08CD-27EBC77FBB93}"/>
              </a:ext>
            </a:extLst>
          </p:cNvPr>
          <p:cNvSpPr/>
          <p:nvPr/>
        </p:nvSpPr>
        <p:spPr bwMode="auto">
          <a:xfrm>
            <a:off x="4271169" y="3286120"/>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dirty="0">
              <a:solidFill>
                <a:schemeClr val="tx1"/>
              </a:solidFill>
              <a:latin typeface="+mj-lt"/>
              <a:ea typeface="Segoe UI" pitchFamily="34" charset="0"/>
              <a:cs typeface="Segoe UI" pitchFamily="34" charset="0"/>
            </a:endParaRPr>
          </a:p>
        </p:txBody>
      </p:sp>
      <p:sp>
        <p:nvSpPr>
          <p:cNvPr id="31" name="Rounded Rectangle 30">
            <a:extLst>
              <a:ext uri="{FF2B5EF4-FFF2-40B4-BE49-F238E27FC236}">
                <a16:creationId xmlns:a16="http://schemas.microsoft.com/office/drawing/2014/main" id="{4DCC8DE0-A1A1-23D6-0A1F-0A88362BCA29}"/>
              </a:ext>
            </a:extLst>
          </p:cNvPr>
          <p:cNvSpPr/>
          <p:nvPr/>
        </p:nvSpPr>
        <p:spPr bwMode="auto">
          <a:xfrm>
            <a:off x="4420393" y="3792440"/>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Box 31">
            <a:extLst>
              <a:ext uri="{FF2B5EF4-FFF2-40B4-BE49-F238E27FC236}">
                <a16:creationId xmlns:a16="http://schemas.microsoft.com/office/drawing/2014/main" id="{2CF67797-836E-C593-AF35-BFE21B1CBA44}"/>
              </a:ext>
            </a:extLst>
          </p:cNvPr>
          <p:cNvSpPr txBox="1"/>
          <p:nvPr/>
        </p:nvSpPr>
        <p:spPr>
          <a:xfrm>
            <a:off x="4420393" y="3399807"/>
            <a:ext cx="3243261" cy="338554"/>
          </a:xfrm>
          <a:prstGeom prst="rect">
            <a:avLst/>
          </a:prstGeom>
          <a:noFill/>
        </p:spPr>
        <p:txBody>
          <a:bodyPr wrap="square">
            <a:spAutoFit/>
          </a:bodyPr>
          <a:lstStyle/>
          <a:p>
            <a:pPr algn="r" defTabSz="932472" fontAlgn="base">
              <a:spcBef>
                <a:spcPct val="0"/>
              </a:spcBef>
              <a:spcAft>
                <a:spcPct val="0"/>
              </a:spcAft>
            </a:pPr>
            <a:r>
              <a:rPr lang="en-US" sz="1600" b="1" dirty="0">
                <a:solidFill>
                  <a:schemeClr val="accent2"/>
                </a:solidFill>
              </a:rPr>
              <a:t>Fetch available tools</a:t>
            </a:r>
            <a:endParaRPr lang="en-US" sz="1400" b="1" dirty="0">
              <a:solidFill>
                <a:schemeClr val="accent2"/>
              </a:solidFill>
              <a:ea typeface="Segoe UI" pitchFamily="34" charset="0"/>
              <a:cs typeface="Segoe UI" pitchFamily="34" charset="0"/>
            </a:endParaRPr>
          </a:p>
        </p:txBody>
      </p:sp>
      <p:sp>
        <p:nvSpPr>
          <p:cNvPr id="33" name="TextBox 32">
            <a:extLst>
              <a:ext uri="{FF2B5EF4-FFF2-40B4-BE49-F238E27FC236}">
                <a16:creationId xmlns:a16="http://schemas.microsoft.com/office/drawing/2014/main" id="{F0369141-2B63-6E9A-7752-DB4007CF4A46}"/>
              </a:ext>
            </a:extLst>
          </p:cNvPr>
          <p:cNvSpPr txBox="1"/>
          <p:nvPr/>
        </p:nvSpPr>
        <p:spPr>
          <a:xfrm>
            <a:off x="4470400" y="3781103"/>
            <a:ext cx="2707481" cy="338554"/>
          </a:xfrm>
          <a:prstGeom prst="rect">
            <a:avLst/>
          </a:prstGeom>
          <a:noFill/>
        </p:spPr>
        <p:txBody>
          <a:bodyPr wrap="square">
            <a:spAutoFit/>
          </a:bodyPr>
          <a:lstStyle/>
          <a:p>
            <a:pPr defTabSz="932472" fontAlgn="base">
              <a:spcBef>
                <a:spcPct val="0"/>
              </a:spcBef>
              <a:spcAft>
                <a:spcPct val="0"/>
              </a:spcAft>
            </a:pPr>
            <a:r>
              <a:rPr lang="en-US" sz="1600" dirty="0" err="1">
                <a:solidFill>
                  <a:schemeClr val="accent1"/>
                </a:solidFill>
                <a:latin typeface="Consolas" panose="020B0609020204030204" pitchFamily="49" charset="0"/>
                <a:ea typeface="Segoe UI" pitchFamily="34" charset="0"/>
                <a:cs typeface="Consolas" panose="020B0609020204030204" pitchFamily="49" charset="0"/>
              </a:rPr>
              <a:t>session.list_tools</a:t>
            </a:r>
            <a:r>
              <a:rPr lang="en-US" sz="1600" dirty="0">
                <a:solidFill>
                  <a:schemeClr val="accent1"/>
                </a:solidFill>
                <a:latin typeface="Consolas" panose="020B0609020204030204" pitchFamily="49" charset="0"/>
                <a:ea typeface="Segoe UI" pitchFamily="34" charset="0"/>
                <a:cs typeface="Consolas" panose="020B0609020204030204" pitchFamily="49" charset="0"/>
              </a:rPr>
              <a:t>()</a:t>
            </a:r>
          </a:p>
        </p:txBody>
      </p:sp>
      <p:sp>
        <p:nvSpPr>
          <p:cNvPr id="35" name="Rounded Rectangle 34">
            <a:extLst>
              <a:ext uri="{FF2B5EF4-FFF2-40B4-BE49-F238E27FC236}">
                <a16:creationId xmlns:a16="http://schemas.microsoft.com/office/drawing/2014/main" id="{B16CC6B9-8E1F-3358-E6FC-792A39C8E4DE}"/>
              </a:ext>
            </a:extLst>
          </p:cNvPr>
          <p:cNvSpPr/>
          <p:nvPr/>
        </p:nvSpPr>
        <p:spPr bwMode="auto">
          <a:xfrm>
            <a:off x="7959906" y="3287378"/>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dirty="0">
              <a:solidFill>
                <a:schemeClr val="tx1"/>
              </a:solidFill>
              <a:latin typeface="+mj-lt"/>
              <a:ea typeface="Segoe UI" pitchFamily="34" charset="0"/>
              <a:cs typeface="Segoe UI" pitchFamily="34" charset="0"/>
            </a:endParaRPr>
          </a:p>
        </p:txBody>
      </p:sp>
      <p:sp>
        <p:nvSpPr>
          <p:cNvPr id="36" name="Rounded Rectangle 35">
            <a:extLst>
              <a:ext uri="{FF2B5EF4-FFF2-40B4-BE49-F238E27FC236}">
                <a16:creationId xmlns:a16="http://schemas.microsoft.com/office/drawing/2014/main" id="{A35883BA-BE33-9E0B-469D-C550EC88990A}"/>
              </a:ext>
            </a:extLst>
          </p:cNvPr>
          <p:cNvSpPr/>
          <p:nvPr/>
        </p:nvSpPr>
        <p:spPr bwMode="auto">
          <a:xfrm>
            <a:off x="8109130" y="3793698"/>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Box 36">
            <a:extLst>
              <a:ext uri="{FF2B5EF4-FFF2-40B4-BE49-F238E27FC236}">
                <a16:creationId xmlns:a16="http://schemas.microsoft.com/office/drawing/2014/main" id="{B3DEC32E-9E8E-1C1B-1F50-275AAD9B8567}"/>
              </a:ext>
            </a:extLst>
          </p:cNvPr>
          <p:cNvSpPr txBox="1"/>
          <p:nvPr/>
        </p:nvSpPr>
        <p:spPr>
          <a:xfrm>
            <a:off x="8109130" y="3401065"/>
            <a:ext cx="3243261" cy="338554"/>
          </a:xfrm>
          <a:prstGeom prst="rect">
            <a:avLst/>
          </a:prstGeom>
          <a:noFill/>
        </p:spPr>
        <p:txBody>
          <a:bodyPr wrap="square">
            <a:spAutoFit/>
          </a:bodyPr>
          <a:lstStyle/>
          <a:p>
            <a:pPr algn="r" defTabSz="932472" fontAlgn="base">
              <a:spcBef>
                <a:spcPct val="0"/>
              </a:spcBef>
              <a:spcAft>
                <a:spcPct val="0"/>
              </a:spcAft>
            </a:pPr>
            <a:r>
              <a:rPr lang="en-US" sz="1600" b="1" dirty="0">
                <a:solidFill>
                  <a:schemeClr val="accent2"/>
                </a:solidFill>
                <a:ea typeface="Segoe UI" pitchFamily="34" charset="0"/>
                <a:cs typeface="Segoe UI" pitchFamily="34" charset="0"/>
              </a:rPr>
              <a:t>Wrap each tool</a:t>
            </a:r>
          </a:p>
        </p:txBody>
      </p:sp>
      <p:sp>
        <p:nvSpPr>
          <p:cNvPr id="38" name="TextBox 37">
            <a:extLst>
              <a:ext uri="{FF2B5EF4-FFF2-40B4-BE49-F238E27FC236}">
                <a16:creationId xmlns:a16="http://schemas.microsoft.com/office/drawing/2014/main" id="{433F4720-D0E1-92B7-19B2-3ADFC838F6E4}"/>
              </a:ext>
            </a:extLst>
          </p:cNvPr>
          <p:cNvSpPr txBox="1"/>
          <p:nvPr/>
        </p:nvSpPr>
        <p:spPr>
          <a:xfrm>
            <a:off x="8144849" y="3782361"/>
            <a:ext cx="3489506" cy="338554"/>
          </a:xfrm>
          <a:prstGeom prst="rect">
            <a:avLst/>
          </a:prstGeom>
          <a:noFill/>
        </p:spPr>
        <p:txBody>
          <a:bodyPr wrap="square">
            <a:spAutoFit/>
          </a:bodyPr>
          <a:lstStyle/>
          <a:p>
            <a:pPr defTabSz="932472" fontAlgn="base">
              <a:spcBef>
                <a:spcPct val="0"/>
              </a:spcBef>
              <a:spcAft>
                <a:spcPct val="0"/>
              </a:spcAft>
            </a:pPr>
            <a:r>
              <a:rPr lang="en-US" sz="1600" dirty="0" err="1">
                <a:solidFill>
                  <a:schemeClr val="accent1"/>
                </a:solidFill>
                <a:latin typeface="Consolas" panose="020B0609020204030204" pitchFamily="49" charset="0"/>
                <a:ea typeface="Segoe UI" pitchFamily="34" charset="0"/>
                <a:cs typeface="Consolas" panose="020B0609020204030204" pitchFamily="49" charset="0"/>
              </a:rPr>
              <a:t>session.call_tool</a:t>
            </a:r>
            <a:endParaRPr lang="en-US" sz="1600" dirty="0">
              <a:solidFill>
                <a:schemeClr val="accent1"/>
              </a:solidFill>
              <a:latin typeface="Consolas" panose="020B0609020204030204" pitchFamily="49" charset="0"/>
              <a:ea typeface="Segoe UI" pitchFamily="34" charset="0"/>
              <a:cs typeface="Consolas" panose="020B0609020204030204" pitchFamily="49" charset="0"/>
            </a:endParaRPr>
          </a:p>
        </p:txBody>
      </p:sp>
      <p:sp>
        <p:nvSpPr>
          <p:cNvPr id="44" name="Rounded Rectangle 43">
            <a:extLst>
              <a:ext uri="{FF2B5EF4-FFF2-40B4-BE49-F238E27FC236}">
                <a16:creationId xmlns:a16="http://schemas.microsoft.com/office/drawing/2014/main" id="{B9255784-4F84-DABC-2795-D6886F1CBA0F}"/>
              </a:ext>
            </a:extLst>
          </p:cNvPr>
          <p:cNvSpPr/>
          <p:nvPr/>
        </p:nvSpPr>
        <p:spPr bwMode="auto">
          <a:xfrm>
            <a:off x="588262" y="4824478"/>
            <a:ext cx="3492500" cy="962331"/>
          </a:xfrm>
          <a:prstGeom prst="roundRect">
            <a:avLst/>
          </a:prstGeom>
          <a:solidFill>
            <a:schemeClr val="tx2">
              <a:lumMod val="10000"/>
              <a:lumOff val="90000"/>
            </a:schemeClr>
          </a:solidFill>
          <a:ln>
            <a:solidFill>
              <a:schemeClr val="tx2">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dirty="0">
              <a:solidFill>
                <a:schemeClr val="tx1"/>
              </a:solidFill>
              <a:latin typeface="+mj-lt"/>
              <a:ea typeface="Segoe UI" pitchFamily="34" charset="0"/>
              <a:cs typeface="Segoe UI" pitchFamily="34" charset="0"/>
            </a:endParaRPr>
          </a:p>
        </p:txBody>
      </p:sp>
      <p:sp>
        <p:nvSpPr>
          <p:cNvPr id="45" name="Rounded Rectangle 44">
            <a:extLst>
              <a:ext uri="{FF2B5EF4-FFF2-40B4-BE49-F238E27FC236}">
                <a16:creationId xmlns:a16="http://schemas.microsoft.com/office/drawing/2014/main" id="{81383C71-6EB5-C048-E52C-D094B26ADA75}"/>
              </a:ext>
            </a:extLst>
          </p:cNvPr>
          <p:cNvSpPr/>
          <p:nvPr/>
        </p:nvSpPr>
        <p:spPr bwMode="auto">
          <a:xfrm>
            <a:off x="737486" y="5330798"/>
            <a:ext cx="3243261" cy="319050"/>
          </a:xfrm>
          <a:prstGeom prst="roundRect">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TextBox 46">
            <a:extLst>
              <a:ext uri="{FF2B5EF4-FFF2-40B4-BE49-F238E27FC236}">
                <a16:creationId xmlns:a16="http://schemas.microsoft.com/office/drawing/2014/main" id="{5D37F09D-4C7F-2E85-31C4-BA8CA0C46BFA}"/>
              </a:ext>
            </a:extLst>
          </p:cNvPr>
          <p:cNvSpPr txBox="1"/>
          <p:nvPr/>
        </p:nvSpPr>
        <p:spPr>
          <a:xfrm>
            <a:off x="787493" y="5319461"/>
            <a:ext cx="2707481" cy="338554"/>
          </a:xfrm>
          <a:prstGeom prst="rect">
            <a:avLst/>
          </a:prstGeom>
          <a:noFill/>
        </p:spPr>
        <p:txBody>
          <a:bodyPr wrap="square">
            <a:spAutoFit/>
          </a:bodyPr>
          <a:lstStyle/>
          <a:p>
            <a:pPr defTabSz="932472" fontAlgn="base">
              <a:spcBef>
                <a:spcPct val="0"/>
              </a:spcBef>
              <a:spcAft>
                <a:spcPct val="0"/>
              </a:spcAft>
            </a:pPr>
            <a:r>
              <a:rPr lang="en-US" sz="1600" dirty="0" err="1">
                <a:solidFill>
                  <a:schemeClr val="tx2"/>
                </a:solidFill>
                <a:latin typeface="Consolas" panose="020B0609020204030204" pitchFamily="49" charset="0"/>
                <a:ea typeface="Segoe UI" pitchFamily="34" charset="0"/>
                <a:cs typeface="Consolas" panose="020B0609020204030204" pitchFamily="49" charset="0"/>
              </a:rPr>
              <a:t>FunctionTool</a:t>
            </a:r>
            <a:endParaRPr lang="en-US" sz="1600" dirty="0">
              <a:solidFill>
                <a:schemeClr val="tx2"/>
              </a:solidFill>
              <a:latin typeface="Consolas" panose="020B0609020204030204" pitchFamily="49" charset="0"/>
              <a:ea typeface="Segoe UI" pitchFamily="34" charset="0"/>
              <a:cs typeface="Consolas" panose="020B0609020204030204" pitchFamily="49" charset="0"/>
            </a:endParaRPr>
          </a:p>
        </p:txBody>
      </p:sp>
      <p:sp>
        <p:nvSpPr>
          <p:cNvPr id="58" name="TextBox 57">
            <a:extLst>
              <a:ext uri="{FF2B5EF4-FFF2-40B4-BE49-F238E27FC236}">
                <a16:creationId xmlns:a16="http://schemas.microsoft.com/office/drawing/2014/main" id="{1364A1D6-116B-628B-DB7D-1EA3EF170985}"/>
              </a:ext>
            </a:extLst>
          </p:cNvPr>
          <p:cNvSpPr txBox="1"/>
          <p:nvPr/>
        </p:nvSpPr>
        <p:spPr>
          <a:xfrm>
            <a:off x="724879" y="4918452"/>
            <a:ext cx="3243261" cy="338554"/>
          </a:xfrm>
          <a:prstGeom prst="rect">
            <a:avLst/>
          </a:prstGeom>
          <a:noFill/>
        </p:spPr>
        <p:txBody>
          <a:bodyPr wrap="square">
            <a:spAutoFit/>
          </a:bodyPr>
          <a:lstStyle/>
          <a:p>
            <a:pPr algn="r" defTabSz="932472" fontAlgn="base">
              <a:spcBef>
                <a:spcPct val="0"/>
              </a:spcBef>
              <a:spcAft>
                <a:spcPct val="0"/>
              </a:spcAft>
            </a:pPr>
            <a:r>
              <a:rPr lang="en-US" sz="1600" b="1" dirty="0">
                <a:solidFill>
                  <a:schemeClr val="tx2"/>
                </a:solidFill>
                <a:ea typeface="Segoe UI" pitchFamily="34" charset="0"/>
                <a:cs typeface="Segoe UI" pitchFamily="34" charset="0"/>
              </a:rPr>
              <a:t>Register to agent’s toolset</a:t>
            </a:r>
          </a:p>
        </p:txBody>
      </p:sp>
    </p:spTree>
    <p:extLst>
      <p:ext uri="{BB962C8B-B14F-4D97-AF65-F5344CB8AC3E}">
        <p14:creationId xmlns:p14="http://schemas.microsoft.com/office/powerpoint/2010/main" val="27326715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EEA2-3D9E-898A-69E0-A718FDA3542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B6ACCE-FFAB-0238-6057-7BF4558BCFAA}"/>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97C87B30-0576-734B-FBD9-53C1525F5752}"/>
              </a:ext>
            </a:extLst>
          </p:cNvPr>
          <p:cNvSpPr>
            <a:spLocks noGrp="1"/>
          </p:cNvSpPr>
          <p:nvPr>
            <p:ph type="body" sz="quarter" idx="16"/>
          </p:nvPr>
        </p:nvSpPr>
        <p:spPr>
          <a:xfrm>
            <a:off x="584199" y="1594155"/>
            <a:ext cx="5654573" cy="307777"/>
          </a:xfrm>
        </p:spPr>
        <p:txBody>
          <a:bodyPr/>
          <a:lstStyle/>
          <a:p>
            <a:r>
              <a:rPr lang="en-US" sz="2000" dirty="0"/>
              <a:t>Connect MCP tools to Foundry Agents</a:t>
            </a:r>
          </a:p>
        </p:txBody>
      </p:sp>
      <p:sp>
        <p:nvSpPr>
          <p:cNvPr id="6" name="Text Placeholder 5">
            <a:extLst>
              <a:ext uri="{FF2B5EF4-FFF2-40B4-BE49-F238E27FC236}">
                <a16:creationId xmlns:a16="http://schemas.microsoft.com/office/drawing/2014/main" id="{C2527613-6043-46DC-4F60-15E77EFF383B}"/>
              </a:ext>
            </a:extLst>
          </p:cNvPr>
          <p:cNvSpPr>
            <a:spLocks noGrp="1"/>
          </p:cNvSpPr>
          <p:nvPr>
            <p:ph type="body" sz="quarter" idx="15"/>
          </p:nvPr>
        </p:nvSpPr>
        <p:spPr>
          <a:xfrm>
            <a:off x="586389" y="2085764"/>
            <a:ext cx="5652201" cy="132959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Connect a Foundry Agent to a remote MCP server</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Connect a Foundry Agent to custom MCP server tools</a:t>
            </a:r>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7DE527BD-CF4E-6B09-F7A7-3BE7ACB0E3C0}"/>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https://go.microsoft.com/fwlink/?linkid=2353400</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8FA93818-108F-8594-B7FC-3F21A9187F76}"/>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EBE76352-14C3-99C3-524C-C87E9DD17598}"/>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D99FF268-1016-1F99-3105-4BEA15DB301A}"/>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9719449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36AE-E743-C16C-AE9D-E1E8EC23E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9A57C-0F79-AEAB-98E5-CD52DB0A4FD2}"/>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305C9A0-A82C-C890-4A85-AEC77F8F785F}"/>
              </a:ext>
            </a:extLst>
          </p:cNvPr>
          <p:cNvSpPr>
            <a:spLocks noGrp="1"/>
          </p:cNvSpPr>
          <p:nvPr>
            <p:ph type="body" sz="quarter" idx="17"/>
          </p:nvPr>
        </p:nvSpPr>
        <p:spPr>
          <a:xfrm>
            <a:off x="1235075" y="2332142"/>
            <a:ext cx="8778782" cy="215444"/>
          </a:xfrm>
        </p:spPr>
        <p:txBody>
          <a:bodyPr/>
          <a:lstStyle/>
          <a:p>
            <a:r>
              <a:rPr lang="en-US" b="1" dirty="0"/>
              <a:t>What role does the MCP server play in the MCP agent tool integration?</a:t>
            </a:r>
          </a:p>
        </p:txBody>
      </p:sp>
      <p:sp>
        <p:nvSpPr>
          <p:cNvPr id="9" name="Text Placeholder 8">
            <a:extLst>
              <a:ext uri="{FF2B5EF4-FFF2-40B4-BE49-F238E27FC236}">
                <a16:creationId xmlns:a16="http://schemas.microsoft.com/office/drawing/2014/main" id="{7586ACE9-751E-EEF0-CEA8-328213FA9E73}"/>
              </a:ext>
            </a:extLst>
          </p:cNvPr>
          <p:cNvSpPr>
            <a:spLocks noGrp="1"/>
          </p:cNvSpPr>
          <p:nvPr>
            <p:ph type="body" sz="quarter" idx="15"/>
          </p:nvPr>
        </p:nvSpPr>
        <p:spPr>
          <a:xfrm>
            <a:off x="1235075" y="2564966"/>
            <a:ext cx="8775098" cy="732508"/>
          </a:xfrm>
          <a:noFill/>
        </p:spPr>
        <p:txBody>
          <a:bodyPr/>
          <a:lstStyle/>
          <a:p>
            <a:r>
              <a:rPr lang="en-US" noProof="0" dirty="0"/>
              <a:t>Runs the AI agent and processes user prompts directly  </a:t>
            </a:r>
            <a:endParaRPr lang="en-US" dirty="0"/>
          </a:p>
          <a:p>
            <a:r>
              <a:rPr lang="en-US" noProof="0" dirty="0"/>
              <a:t>Manages network connections between multiple agents  </a:t>
            </a:r>
            <a:endParaRPr lang="en-US" dirty="0"/>
          </a:p>
          <a:p>
            <a:r>
              <a:rPr lang="en-US" noProof="0" dirty="0"/>
              <a:t>Hosts tool definitions and makes them available for discovery by the client</a:t>
            </a:r>
          </a:p>
        </p:txBody>
      </p:sp>
      <p:sp>
        <p:nvSpPr>
          <p:cNvPr id="18" name="Text Placeholder 17">
            <a:extLst>
              <a:ext uri="{FF2B5EF4-FFF2-40B4-BE49-F238E27FC236}">
                <a16:creationId xmlns:a16="http://schemas.microsoft.com/office/drawing/2014/main" id="{E08ABC7B-8213-A99D-A613-0104B5FF1503}"/>
              </a:ext>
            </a:extLst>
          </p:cNvPr>
          <p:cNvSpPr>
            <a:spLocks noGrp="1"/>
          </p:cNvSpPr>
          <p:nvPr>
            <p:ph type="body" sz="quarter" idx="22"/>
          </p:nvPr>
        </p:nvSpPr>
        <p:spPr>
          <a:xfrm>
            <a:off x="1235075" y="4034002"/>
            <a:ext cx="8778782" cy="215444"/>
          </a:xfrm>
        </p:spPr>
        <p:txBody>
          <a:bodyPr/>
          <a:lstStyle/>
          <a:p>
            <a:r>
              <a:rPr lang="en-US" noProof="0" dirty="0"/>
              <a:t>How does an MCP client retrieve available tools from the MCP server?</a:t>
            </a:r>
          </a:p>
        </p:txBody>
      </p:sp>
      <p:sp>
        <p:nvSpPr>
          <p:cNvPr id="19" name="Text Placeholder 18">
            <a:extLst>
              <a:ext uri="{FF2B5EF4-FFF2-40B4-BE49-F238E27FC236}">
                <a16:creationId xmlns:a16="http://schemas.microsoft.com/office/drawing/2014/main" id="{2C25134B-E1E1-C8A4-D2A4-C8D3D54DB1E9}"/>
              </a:ext>
            </a:extLst>
          </p:cNvPr>
          <p:cNvSpPr>
            <a:spLocks noGrp="1"/>
          </p:cNvSpPr>
          <p:nvPr>
            <p:ph type="body" sz="quarter" idx="23"/>
          </p:nvPr>
        </p:nvSpPr>
        <p:spPr>
          <a:xfrm>
            <a:off x="1235074" y="4286731"/>
            <a:ext cx="8775098" cy="732508"/>
          </a:xfrm>
        </p:spPr>
        <p:txBody>
          <a:bodyPr/>
          <a:lstStyle/>
          <a:p>
            <a:r>
              <a:rPr lang="en-US" dirty="0"/>
              <a:t>By calling </a:t>
            </a:r>
            <a:r>
              <a:rPr lang="en-US" dirty="0" err="1"/>
              <a:t>session.list_tools</a:t>
            </a:r>
            <a:r>
              <a:rPr lang="en-US" dirty="0"/>
              <a:t>() to get the current tool catalog  </a:t>
            </a:r>
          </a:p>
          <a:p>
            <a:r>
              <a:rPr lang="en-US" dirty="0"/>
              <a:t>By reading a static JSON file from the server directory  </a:t>
            </a:r>
          </a:p>
          <a:p>
            <a:r>
              <a:rPr lang="en-US" dirty="0"/>
              <a:t>By subscribing to server events via a WebSocket connection</a:t>
            </a:r>
          </a:p>
        </p:txBody>
      </p:sp>
      <p:sp>
        <p:nvSpPr>
          <p:cNvPr id="76" name="Oval 75">
            <a:extLst>
              <a:ext uri="{FF2B5EF4-FFF2-40B4-BE49-F238E27FC236}">
                <a16:creationId xmlns:a16="http://schemas.microsoft.com/office/drawing/2014/main" id="{F7E55C1D-123E-022D-7EE7-05AA21E8CACB}"/>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4801AE7E-CB7B-212C-2E7D-10C5FFD3923F}"/>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CB7D3E51-B8A0-BEEE-209C-A44CDE47E3A2}"/>
              </a:ext>
              <a:ext uri="{C183D7F6-B498-43B3-948B-1728B52AA6E4}">
                <adec:decorative xmlns:adec="http://schemas.microsoft.com/office/drawing/2017/decorative" val="1"/>
              </a:ext>
            </a:extLst>
          </p:cNvPr>
          <p:cNvSpPr>
            <a:spLocks/>
          </p:cNvSpPr>
          <p:nvPr/>
        </p:nvSpPr>
        <p:spPr>
          <a:xfrm>
            <a:off x="1263852" y="43096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1B966BE0-F64F-7FE0-8C32-9A76892365BF}"/>
              </a:ext>
              <a:ext uri="{C183D7F6-B498-43B3-948B-1728B52AA6E4}">
                <adec:decorative xmlns:adec="http://schemas.microsoft.com/office/drawing/2017/decorative" val="1"/>
              </a:ext>
            </a:extLst>
          </p:cNvPr>
          <p:cNvSpPr>
            <a:spLocks/>
          </p:cNvSpPr>
          <p:nvPr/>
        </p:nvSpPr>
        <p:spPr>
          <a:xfrm>
            <a:off x="1263852" y="3108393"/>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094B9ABD-5579-EFAC-475D-CCE0642FA83A}"/>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308884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6D7F-C42F-5805-C873-F12F3D36A0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3C86F2-8A23-2530-3E89-620B765E4D4B}"/>
              </a:ext>
            </a:extLst>
          </p:cNvPr>
          <p:cNvSpPr>
            <a:spLocks noGrp="1"/>
          </p:cNvSpPr>
          <p:nvPr>
            <p:ph type="title"/>
          </p:nvPr>
        </p:nvSpPr>
        <p:spPr>
          <a:xfrm>
            <a:off x="569911" y="2892168"/>
            <a:ext cx="6345239" cy="1107996"/>
          </a:xfrm>
        </p:spPr>
        <p:txBody>
          <a:bodyPr/>
          <a:lstStyle/>
          <a:p>
            <a:r>
              <a:rPr lang="en-US" altLang="zh-CN" sz="3600" dirty="0"/>
              <a:t>Build knowledge-enhanced AI agents with Foundry IQ</a:t>
            </a:r>
            <a:endParaRPr lang="en-US" sz="3600" dirty="0"/>
          </a:p>
        </p:txBody>
      </p:sp>
      <p:sp>
        <p:nvSpPr>
          <p:cNvPr id="11" name="Footer Placeholder 10">
            <a:extLst>
              <a:ext uri="{FF2B5EF4-FFF2-40B4-BE49-F238E27FC236}">
                <a16:creationId xmlns:a16="http://schemas.microsoft.com/office/drawing/2014/main" id="{5947B1E7-D9D2-FF87-9C4F-918FBAAC7C2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D72F5B0D-E072-6EB3-3B7B-1E1BD848BB5D}"/>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B6AA6546-6513-0F78-5724-2ACCAA82C4D3}"/>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https://aka.ms/mslearn-agent-foundry-iq</a:t>
            </a:r>
          </a:p>
        </p:txBody>
      </p:sp>
    </p:spTree>
    <p:extLst>
      <p:ext uri="{BB962C8B-B14F-4D97-AF65-F5344CB8AC3E}">
        <p14:creationId xmlns:p14="http://schemas.microsoft.com/office/powerpoint/2010/main" val="312062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6E0704-6A3F-97F2-3017-BA3A6C229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1D7CE-A139-95A9-530E-AE4B8ED53388}"/>
              </a:ext>
            </a:extLst>
          </p:cNvPr>
          <p:cNvSpPr>
            <a:spLocks noGrp="1"/>
          </p:cNvSpPr>
          <p:nvPr>
            <p:ph type="title"/>
          </p:nvPr>
        </p:nvSpPr>
        <p:spPr>
          <a:xfrm>
            <a:off x="588261" y="585216"/>
            <a:ext cx="11011601" cy="492443"/>
          </a:xfrm>
        </p:spPr>
        <p:txBody>
          <a:bodyPr/>
          <a:lstStyle/>
          <a:p>
            <a:r>
              <a:rPr lang="en-US" sz="3200" b="1" dirty="0"/>
              <a:t>Remember Retrieval Augmented Generation (RAG)</a:t>
            </a:r>
            <a:endParaRPr lang="en-US" sz="3200" dirty="0"/>
          </a:p>
        </p:txBody>
      </p:sp>
      <p:sp>
        <p:nvSpPr>
          <p:cNvPr id="3" name="Footer Placeholder 2">
            <a:extLst>
              <a:ext uri="{FF2B5EF4-FFF2-40B4-BE49-F238E27FC236}">
                <a16:creationId xmlns:a16="http://schemas.microsoft.com/office/drawing/2014/main" id="{2346D031-FFA7-D323-A4E5-B2CF223B84F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6" name="Group 5" descr="Diagram showing the flow of a RAG pattern to augment the prompt with pertinent data">
            <a:extLst>
              <a:ext uri="{FF2B5EF4-FFF2-40B4-BE49-F238E27FC236}">
                <a16:creationId xmlns:a16="http://schemas.microsoft.com/office/drawing/2014/main" id="{E9874FE4-99E7-A3AD-EE97-44D4952C3423}"/>
              </a:ext>
            </a:extLst>
          </p:cNvPr>
          <p:cNvGrpSpPr/>
          <p:nvPr/>
        </p:nvGrpSpPr>
        <p:grpSpPr>
          <a:xfrm>
            <a:off x="328853" y="2049287"/>
            <a:ext cx="11534294" cy="2286336"/>
            <a:chOff x="401032" y="3176162"/>
            <a:chExt cx="11634514" cy="2286336"/>
          </a:xfrm>
        </p:grpSpPr>
        <p:pic>
          <p:nvPicPr>
            <p:cNvPr id="14" name="Graphic 13" descr="User with solid fill">
              <a:extLst>
                <a:ext uri="{FF2B5EF4-FFF2-40B4-BE49-F238E27FC236}">
                  <a16:creationId xmlns:a16="http://schemas.microsoft.com/office/drawing/2014/main" id="{AFD06C82-4C49-078A-B294-ECA8DEA03B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3782493"/>
              <a:ext cx="914400" cy="914400"/>
            </a:xfrm>
            <a:prstGeom prst="rect">
              <a:avLst/>
            </a:prstGeom>
          </p:spPr>
        </p:pic>
        <p:pic>
          <p:nvPicPr>
            <p:cNvPr id="15" name="Graphic 14" descr="Cube with solid fill">
              <a:extLst>
                <a:ext uri="{FF2B5EF4-FFF2-40B4-BE49-F238E27FC236}">
                  <a16:creationId xmlns:a16="http://schemas.microsoft.com/office/drawing/2014/main" id="{1CC57CF6-DD9A-3858-F372-1872F77FED1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043341" y="3852378"/>
              <a:ext cx="914401" cy="906524"/>
            </a:xfrm>
            <a:prstGeom prst="rect">
              <a:avLst/>
            </a:prstGeom>
          </p:spPr>
        </p:pic>
        <p:pic>
          <p:nvPicPr>
            <p:cNvPr id="16" name="Graphic 15" descr="Database with solid fill">
              <a:extLst>
                <a:ext uri="{FF2B5EF4-FFF2-40B4-BE49-F238E27FC236}">
                  <a16:creationId xmlns:a16="http://schemas.microsoft.com/office/drawing/2014/main" id="{22E86796-FC7B-244A-BE1A-950B2F1802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2327" y="3677254"/>
              <a:ext cx="1124878" cy="1124878"/>
            </a:xfrm>
            <a:prstGeom prst="rect">
              <a:avLst/>
            </a:prstGeom>
          </p:spPr>
        </p:pic>
        <p:cxnSp>
          <p:nvCxnSpPr>
            <p:cNvPr id="17" name="Straight Arrow Connector 16">
              <a:extLst>
                <a:ext uri="{FF2B5EF4-FFF2-40B4-BE49-F238E27FC236}">
                  <a16:creationId xmlns:a16="http://schemas.microsoft.com/office/drawing/2014/main" id="{65404960-1838-B193-EF3B-A686AEF7C03A}"/>
                </a:ext>
              </a:extLst>
            </p:cNvPr>
            <p:cNvCxnSpPr>
              <a:cxnSpLocks/>
            </p:cNvCxnSpPr>
            <p:nvPr/>
          </p:nvCxnSpPr>
          <p:spPr>
            <a:xfrm>
              <a:off x="3013853" y="4239693"/>
              <a:ext cx="573315" cy="0"/>
            </a:xfrm>
            <a:prstGeom prst="straightConnector1">
              <a:avLst/>
            </a:prstGeom>
            <a:noFill/>
            <a:ln w="38100" cap="flat" cmpd="sng" algn="ctr">
              <a:solidFill>
                <a:srgbClr val="000000"/>
              </a:solidFill>
              <a:prstDash val="solid"/>
              <a:headEnd type="none" w="lg" len="med"/>
              <a:tailEnd type="triangle"/>
            </a:ln>
            <a:effectLst/>
          </p:spPr>
        </p:cxnSp>
        <p:sp>
          <p:nvSpPr>
            <p:cNvPr id="18" name="Speech Bubble: Rectangle 19">
              <a:extLst>
                <a:ext uri="{FF2B5EF4-FFF2-40B4-BE49-F238E27FC236}">
                  <a16:creationId xmlns:a16="http://schemas.microsoft.com/office/drawing/2014/main" id="{2ECAE623-3AC4-DBA3-32D6-211CD97E6440}"/>
                </a:ext>
              </a:extLst>
            </p:cNvPr>
            <p:cNvSpPr/>
            <p:nvPr/>
          </p:nvSpPr>
          <p:spPr bwMode="auto">
            <a:xfrm>
              <a:off x="1620232" y="3988046"/>
              <a:ext cx="1310821" cy="503295"/>
            </a:xfrm>
            <a:prstGeom prst="wedgeRectCallout">
              <a:avLst>
                <a:gd name="adj1" fmla="val -93825"/>
                <a:gd name="adj2" fmla="val -18931"/>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User input</a:t>
              </a:r>
            </a:p>
          </p:txBody>
        </p:sp>
        <p:pic>
          <p:nvPicPr>
            <p:cNvPr id="19" name="Graphic 18" descr="Magnifying glass with solid fill">
              <a:extLst>
                <a:ext uri="{FF2B5EF4-FFF2-40B4-BE49-F238E27FC236}">
                  <a16:creationId xmlns:a16="http://schemas.microsoft.com/office/drawing/2014/main" id="{40A5864B-2DFF-6A8C-69DB-760CC9173A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62705" y="3988046"/>
              <a:ext cx="914400" cy="914400"/>
            </a:xfrm>
            <a:prstGeom prst="rect">
              <a:avLst/>
            </a:prstGeom>
          </p:spPr>
        </p:pic>
        <p:cxnSp>
          <p:nvCxnSpPr>
            <p:cNvPr id="20" name="Straight Arrow Connector 19">
              <a:extLst>
                <a:ext uri="{FF2B5EF4-FFF2-40B4-BE49-F238E27FC236}">
                  <a16:creationId xmlns:a16="http://schemas.microsoft.com/office/drawing/2014/main" id="{215474BC-E647-048C-2BF0-E6BA98E6B990}"/>
                </a:ext>
              </a:extLst>
            </p:cNvPr>
            <p:cNvCxnSpPr>
              <a:cxnSpLocks/>
            </p:cNvCxnSpPr>
            <p:nvPr/>
          </p:nvCxnSpPr>
          <p:spPr>
            <a:xfrm>
              <a:off x="4341910" y="4249501"/>
              <a:ext cx="1020286" cy="0"/>
            </a:xfrm>
            <a:prstGeom prst="straightConnector1">
              <a:avLst/>
            </a:prstGeom>
            <a:noFill/>
            <a:ln w="38100" cap="flat" cmpd="sng" algn="ctr">
              <a:solidFill>
                <a:srgbClr val="000000"/>
              </a:solidFill>
              <a:prstDash val="solid"/>
              <a:headEnd type="none" w="lg" len="med"/>
              <a:tailEnd type="triangle"/>
            </a:ln>
            <a:effectLst/>
          </p:spPr>
        </p:cxnSp>
        <p:sp>
          <p:nvSpPr>
            <p:cNvPr id="21" name="Speech Bubble: Rectangle 22">
              <a:extLst>
                <a:ext uri="{FF2B5EF4-FFF2-40B4-BE49-F238E27FC236}">
                  <a16:creationId xmlns:a16="http://schemas.microsoft.com/office/drawing/2014/main" id="{38800388-F484-2335-F11D-EE4DBD195EC5}"/>
                </a:ext>
              </a:extLst>
            </p:cNvPr>
            <p:cNvSpPr/>
            <p:nvPr/>
          </p:nvSpPr>
          <p:spPr bwMode="auto">
            <a:xfrm>
              <a:off x="5513694" y="3903502"/>
              <a:ext cx="1723018" cy="804277"/>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User input +</a:t>
              </a:r>
            </a:p>
            <a:p>
              <a:pPr marL="0" marR="0" lvl="0" indent="0" defTabSz="932472" eaLnBrk="1" fontAlgn="base" latinLnBrk="0" hangingPunct="1">
                <a:lnSpc>
                  <a:spcPct val="100000"/>
                </a:lnSpc>
                <a:spcBef>
                  <a:spcPct val="0"/>
                </a:spcBef>
                <a:spcAft>
                  <a:spcPct val="0"/>
                </a:spcAft>
                <a:buClrTx/>
                <a:buSzTx/>
                <a:buFontTx/>
                <a:buNone/>
                <a:tabLst/>
                <a:defRPr/>
              </a:pPr>
              <a:r>
                <a:rPr lang="en-US" sz="1600" kern="0" dirty="0">
                  <a:solidFill>
                    <a:srgbClr val="000000"/>
                  </a:solidFill>
                  <a:latin typeface="Segoe UI"/>
                  <a:ea typeface="Segoe UI" pitchFamily="34" charset="0"/>
                  <a:cs typeface="Segoe UI" pitchFamily="34" charset="0"/>
                </a:rPr>
                <a:t>{search results}</a:t>
              </a:r>
              <a:endPar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cxnSp>
          <p:nvCxnSpPr>
            <p:cNvPr id="22" name="Straight Arrow Connector 21">
              <a:extLst>
                <a:ext uri="{FF2B5EF4-FFF2-40B4-BE49-F238E27FC236}">
                  <a16:creationId xmlns:a16="http://schemas.microsoft.com/office/drawing/2014/main" id="{52ACFDB3-4649-EDE4-3DF6-6F75F06A6302}"/>
                </a:ext>
              </a:extLst>
            </p:cNvPr>
            <p:cNvCxnSpPr>
              <a:cxnSpLocks/>
              <a:stCxn id="21" idx="3"/>
              <a:endCxn id="15" idx="1"/>
            </p:cNvCxnSpPr>
            <p:nvPr/>
          </p:nvCxnSpPr>
          <p:spPr>
            <a:xfrm flipV="1">
              <a:off x="7236712" y="4305640"/>
              <a:ext cx="806629" cy="1"/>
            </a:xfrm>
            <a:prstGeom prst="straightConnector1">
              <a:avLst/>
            </a:prstGeom>
            <a:noFill/>
            <a:ln w="38100" cap="flat" cmpd="sng" algn="ctr">
              <a:solidFill>
                <a:srgbClr val="000000"/>
              </a:solidFill>
              <a:prstDash val="solid"/>
              <a:headEnd type="none" w="lg" len="med"/>
              <a:tailEnd type="triangle"/>
            </a:ln>
            <a:effectLst/>
          </p:spPr>
        </p:cxnSp>
        <p:cxnSp>
          <p:nvCxnSpPr>
            <p:cNvPr id="23" name="Straight Arrow Connector 22">
              <a:extLst>
                <a:ext uri="{FF2B5EF4-FFF2-40B4-BE49-F238E27FC236}">
                  <a16:creationId xmlns:a16="http://schemas.microsoft.com/office/drawing/2014/main" id="{50B94425-C0E2-41A2-5E40-112590AAC1F0}"/>
                </a:ext>
              </a:extLst>
            </p:cNvPr>
            <p:cNvCxnSpPr>
              <a:cxnSpLocks/>
            </p:cNvCxnSpPr>
            <p:nvPr/>
          </p:nvCxnSpPr>
          <p:spPr>
            <a:xfrm>
              <a:off x="8819618" y="4305640"/>
              <a:ext cx="1419380" cy="0"/>
            </a:xfrm>
            <a:prstGeom prst="straightConnector1">
              <a:avLst/>
            </a:prstGeom>
            <a:noFill/>
            <a:ln w="38100" cap="flat" cmpd="sng" algn="ctr">
              <a:solidFill>
                <a:srgbClr val="000000"/>
              </a:solidFill>
              <a:prstDash val="solid"/>
              <a:headEnd type="none" w="lg" len="med"/>
              <a:tailEnd type="triangle"/>
            </a:ln>
            <a:effectLst/>
          </p:spPr>
        </p:cxnSp>
        <p:sp>
          <p:nvSpPr>
            <p:cNvPr id="24" name="Speech Bubble: Rectangle 25">
              <a:extLst>
                <a:ext uri="{FF2B5EF4-FFF2-40B4-BE49-F238E27FC236}">
                  <a16:creationId xmlns:a16="http://schemas.microsoft.com/office/drawing/2014/main" id="{78439EE9-B0E2-5668-7E0F-0C7E3C24B396}"/>
                </a:ext>
              </a:extLst>
            </p:cNvPr>
            <p:cNvSpPr/>
            <p:nvPr/>
          </p:nvSpPr>
          <p:spPr bwMode="auto">
            <a:xfrm>
              <a:off x="10329199" y="4050153"/>
              <a:ext cx="1277584" cy="510974"/>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rPr>
                <a:t>Response</a:t>
              </a:r>
            </a:p>
          </p:txBody>
        </p:sp>
        <p:sp>
          <p:nvSpPr>
            <p:cNvPr id="25" name="TextBox 24">
              <a:extLst>
                <a:ext uri="{FF2B5EF4-FFF2-40B4-BE49-F238E27FC236}">
                  <a16:creationId xmlns:a16="http://schemas.microsoft.com/office/drawing/2014/main" id="{F41E6F01-F25A-8E31-DF70-72100D4B0080}"/>
                </a:ext>
              </a:extLst>
            </p:cNvPr>
            <p:cNvSpPr txBox="1"/>
            <p:nvPr/>
          </p:nvSpPr>
          <p:spPr>
            <a:xfrm>
              <a:off x="3770470" y="3176162"/>
              <a:ext cx="285711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Retrieve</a:t>
              </a:r>
              <a:r>
                <a:rPr kumimoji="0" lang="en-US" sz="1800" b="0" i="0" u="none" strike="noStrike" kern="0" cap="none" spc="0" normalizeH="0" baseline="0" noProof="0" dirty="0">
                  <a:ln>
                    <a:noFill/>
                  </a:ln>
                  <a:solidFill>
                    <a:srgbClr val="000000"/>
                  </a:solidFill>
                  <a:effectLst/>
                  <a:uLnTx/>
                  <a:uFillTx/>
                  <a:cs typeface="Arial" pitchFamily="34" charset="0"/>
                </a:rPr>
                <a:t> grounding data based on user input</a:t>
              </a:r>
            </a:p>
          </p:txBody>
        </p:sp>
        <p:sp>
          <p:nvSpPr>
            <p:cNvPr id="26" name="TextBox 25">
              <a:extLst>
                <a:ext uri="{FF2B5EF4-FFF2-40B4-BE49-F238E27FC236}">
                  <a16:creationId xmlns:a16="http://schemas.microsoft.com/office/drawing/2014/main" id="{2D417DB5-09F7-F741-EA8D-C967C2122290}"/>
                </a:ext>
              </a:extLst>
            </p:cNvPr>
            <p:cNvSpPr txBox="1"/>
            <p:nvPr/>
          </p:nvSpPr>
          <p:spPr>
            <a:xfrm>
              <a:off x="5805626" y="4908500"/>
              <a:ext cx="240969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Augment</a:t>
              </a:r>
              <a:r>
                <a:rPr kumimoji="0" lang="en-US" sz="1800" b="0" i="0" u="none" strike="noStrike" kern="0" cap="none" spc="0" normalizeH="0" baseline="0" noProof="0" dirty="0">
                  <a:ln>
                    <a:noFill/>
                  </a:ln>
                  <a:solidFill>
                    <a:srgbClr val="000000"/>
                  </a:solidFill>
                  <a:effectLst/>
                  <a:uLnTx/>
                  <a:uFillTx/>
                  <a:cs typeface="Arial" pitchFamily="34" charset="0"/>
                </a:rPr>
                <a:t> the prompt with grounding data</a:t>
              </a:r>
            </a:p>
          </p:txBody>
        </p:sp>
        <p:sp>
          <p:nvSpPr>
            <p:cNvPr id="27" name="TextBox 26">
              <a:extLst>
                <a:ext uri="{FF2B5EF4-FFF2-40B4-BE49-F238E27FC236}">
                  <a16:creationId xmlns:a16="http://schemas.microsoft.com/office/drawing/2014/main" id="{38170E62-BFB1-4BD8-A6AC-44BF3A930DBB}"/>
                </a:ext>
              </a:extLst>
            </p:cNvPr>
            <p:cNvSpPr txBox="1"/>
            <p:nvPr/>
          </p:nvSpPr>
          <p:spPr>
            <a:xfrm>
              <a:off x="9574563" y="3176162"/>
              <a:ext cx="2460983"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cs typeface="Arial" pitchFamily="34" charset="0"/>
                </a:rPr>
                <a:t>Generate</a:t>
              </a:r>
              <a:r>
                <a:rPr kumimoji="0" lang="en-US" sz="1800" b="0" i="0" u="none" strike="noStrike" kern="0" cap="none" spc="0" normalizeH="0" baseline="0" noProof="0" dirty="0">
                  <a:ln>
                    <a:noFill/>
                  </a:ln>
                  <a:solidFill>
                    <a:srgbClr val="000000"/>
                  </a:solidFill>
                  <a:effectLst/>
                  <a:uLnTx/>
                  <a:uFillTx/>
                  <a:cs typeface="Arial" pitchFamily="34" charset="0"/>
                </a:rPr>
                <a:t> a contextualized response</a:t>
              </a:r>
            </a:p>
          </p:txBody>
        </p:sp>
        <p:pic>
          <p:nvPicPr>
            <p:cNvPr id="28" name="Graphic 27" descr="Badge with solid fill">
              <a:extLst>
                <a:ext uri="{FF2B5EF4-FFF2-40B4-BE49-F238E27FC236}">
                  <a16:creationId xmlns:a16="http://schemas.microsoft.com/office/drawing/2014/main" id="{49501B86-EEF8-968D-2C76-943D77FD3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78722" y="4908500"/>
              <a:ext cx="503296" cy="503296"/>
            </a:xfrm>
            <a:prstGeom prst="rect">
              <a:avLst/>
            </a:prstGeom>
          </p:spPr>
        </p:pic>
        <p:pic>
          <p:nvPicPr>
            <p:cNvPr id="29" name="Graphic 28" descr="Badge 3 with solid fill">
              <a:extLst>
                <a:ext uri="{FF2B5EF4-FFF2-40B4-BE49-F238E27FC236}">
                  <a16:creationId xmlns:a16="http://schemas.microsoft.com/office/drawing/2014/main" id="{4874A7A9-D58B-4E2F-48F3-F1D2C47808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71267" y="3214135"/>
              <a:ext cx="503296" cy="503296"/>
            </a:xfrm>
            <a:prstGeom prst="rect">
              <a:avLst/>
            </a:prstGeom>
          </p:spPr>
        </p:pic>
        <p:pic>
          <p:nvPicPr>
            <p:cNvPr id="30" name="Graphic 29" descr="Badge 1 with solid fill">
              <a:extLst>
                <a:ext uri="{FF2B5EF4-FFF2-40B4-BE49-F238E27FC236}">
                  <a16:creationId xmlns:a16="http://schemas.microsoft.com/office/drawing/2014/main" id="{BDE3C4B9-CE0C-1E21-E9E6-069E8FBF7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55813" y="3223098"/>
              <a:ext cx="503296" cy="503296"/>
            </a:xfrm>
            <a:prstGeom prst="rect">
              <a:avLst/>
            </a:prstGeom>
          </p:spPr>
        </p:pic>
      </p:grpSp>
      <p:grpSp>
        <p:nvGrpSpPr>
          <p:cNvPr id="7" name="Group 6">
            <a:extLst>
              <a:ext uri="{FF2B5EF4-FFF2-40B4-BE49-F238E27FC236}">
                <a16:creationId xmlns:a16="http://schemas.microsoft.com/office/drawing/2014/main" id="{85E4DF57-D018-1AC3-7C9A-A1B5CBCEABB0}"/>
              </a:ext>
            </a:extLst>
          </p:cNvPr>
          <p:cNvGrpSpPr/>
          <p:nvPr/>
        </p:nvGrpSpPr>
        <p:grpSpPr>
          <a:xfrm>
            <a:off x="2415297" y="4058624"/>
            <a:ext cx="1842363" cy="835503"/>
            <a:chOff x="2651759" y="5405086"/>
            <a:chExt cx="1842363" cy="835503"/>
          </a:xfrm>
        </p:grpSpPr>
        <p:sp>
          <p:nvSpPr>
            <p:cNvPr id="12" name="Rectangle 11">
              <a:extLst>
                <a:ext uri="{FF2B5EF4-FFF2-40B4-BE49-F238E27FC236}">
                  <a16:creationId xmlns:a16="http://schemas.microsoft.com/office/drawing/2014/main" id="{0D62805F-A469-116E-B332-A54B26D00EAE}"/>
                </a:ext>
              </a:extLst>
            </p:cNvPr>
            <p:cNvSpPr/>
            <p:nvPr/>
          </p:nvSpPr>
          <p:spPr bwMode="auto">
            <a:xfrm>
              <a:off x="2651759" y="5405086"/>
              <a:ext cx="1820487" cy="835503"/>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TextBox 12">
              <a:extLst>
                <a:ext uri="{FF2B5EF4-FFF2-40B4-BE49-F238E27FC236}">
                  <a16:creationId xmlns:a16="http://schemas.microsoft.com/office/drawing/2014/main" id="{4C61E4AE-17F3-4E22-092D-AE299F802FE5}"/>
                </a:ext>
              </a:extLst>
            </p:cNvPr>
            <p:cNvSpPr txBox="1"/>
            <p:nvPr/>
          </p:nvSpPr>
          <p:spPr>
            <a:xfrm>
              <a:off x="2754204" y="5475643"/>
              <a:ext cx="1739918" cy="646331"/>
            </a:xfrm>
            <a:prstGeom prst="rect">
              <a:avLst/>
            </a:prstGeom>
            <a:noFill/>
          </p:spPr>
          <p:txBody>
            <a:bodyPr wrap="square" lIns="0" tIns="0" rIns="0" bIns="0" rtlCol="0">
              <a:spAutoFit/>
            </a:bodyPr>
            <a:lstStyle/>
            <a:p>
              <a:pPr algn="l"/>
              <a:r>
                <a:rPr lang="en-US" sz="1400" i="1" dirty="0">
                  <a:latin typeface="Abadi" panose="020F0502020204030204" pitchFamily="34" charset="0"/>
                </a:rPr>
                <a:t>Lorem -&gt; [1,34,76,…]</a:t>
              </a:r>
            </a:p>
            <a:p>
              <a:pPr algn="l"/>
              <a:r>
                <a:rPr lang="en-US" sz="1400" i="1" dirty="0">
                  <a:latin typeface="Abadi" panose="020F0502020204030204" pitchFamily="34" charset="0"/>
                </a:rPr>
                <a:t>Ipsum -&gt; [6,59,54,…]</a:t>
              </a:r>
            </a:p>
            <a:p>
              <a:pPr algn="l"/>
              <a:r>
                <a:rPr lang="en-US" sz="1400" i="1" dirty="0">
                  <a:latin typeface="Abadi" panose="020F0502020204030204" pitchFamily="34" charset="0"/>
                </a:rPr>
                <a:t>…</a:t>
              </a:r>
            </a:p>
          </p:txBody>
        </p:sp>
      </p:grpSp>
      <p:cxnSp>
        <p:nvCxnSpPr>
          <p:cNvPr id="8" name="Straight Connector 7">
            <a:extLst>
              <a:ext uri="{FF2B5EF4-FFF2-40B4-BE49-F238E27FC236}">
                <a16:creationId xmlns:a16="http://schemas.microsoft.com/office/drawing/2014/main" id="{30397405-9B88-D808-3B5D-C46052F5BCB8}"/>
              </a:ext>
            </a:extLst>
          </p:cNvPr>
          <p:cNvCxnSpPr>
            <a:cxnSpLocks/>
          </p:cNvCxnSpPr>
          <p:nvPr/>
        </p:nvCxnSpPr>
        <p:spPr>
          <a:xfrm flipH="1">
            <a:off x="2435629" y="3280674"/>
            <a:ext cx="932581" cy="752599"/>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2E303-F24B-BBF9-9C5D-A7752E6DA34D}"/>
              </a:ext>
            </a:extLst>
          </p:cNvPr>
          <p:cNvCxnSpPr>
            <a:cxnSpLocks/>
          </p:cNvCxnSpPr>
          <p:nvPr/>
        </p:nvCxnSpPr>
        <p:spPr>
          <a:xfrm>
            <a:off x="3368210" y="3280674"/>
            <a:ext cx="863592" cy="77795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B26A1F6-A5F3-D19F-DC09-7B8FD4ACF7AF}"/>
              </a:ext>
            </a:extLst>
          </p:cNvPr>
          <p:cNvSpPr txBox="1"/>
          <p:nvPr/>
        </p:nvSpPr>
        <p:spPr>
          <a:xfrm>
            <a:off x="2485226" y="3788270"/>
            <a:ext cx="1738040" cy="246221"/>
          </a:xfrm>
          <a:prstGeom prst="rect">
            <a:avLst/>
          </a:prstGeom>
          <a:solidFill>
            <a:schemeClr val="bg1"/>
          </a:solidFill>
        </p:spPr>
        <p:txBody>
          <a:bodyPr wrap="none" lIns="0" tIns="0" rIns="0" bIns="0" rtlCol="0">
            <a:spAutoFit/>
          </a:bodyPr>
          <a:lstStyle/>
          <a:p>
            <a:pPr algn="l"/>
            <a:r>
              <a:rPr lang="en-US" sz="1600" dirty="0"/>
              <a:t>Vector-based index</a:t>
            </a:r>
          </a:p>
        </p:txBody>
      </p:sp>
      <p:sp>
        <p:nvSpPr>
          <p:cNvPr id="11" name="TextBox 10">
            <a:extLst>
              <a:ext uri="{FF2B5EF4-FFF2-40B4-BE49-F238E27FC236}">
                <a16:creationId xmlns:a16="http://schemas.microsoft.com/office/drawing/2014/main" id="{6E2A3C5B-6B7F-4A1F-C37B-1CB58303BB86}"/>
              </a:ext>
            </a:extLst>
          </p:cNvPr>
          <p:cNvSpPr txBox="1"/>
          <p:nvPr/>
        </p:nvSpPr>
        <p:spPr>
          <a:xfrm>
            <a:off x="8093030" y="2467445"/>
            <a:ext cx="581891" cy="246221"/>
          </a:xfrm>
          <a:prstGeom prst="rect">
            <a:avLst/>
          </a:prstGeom>
          <a:noFill/>
        </p:spPr>
        <p:txBody>
          <a:bodyPr wrap="none" lIns="0" tIns="0" rIns="0" bIns="0" rtlCol="0">
            <a:spAutoFit/>
          </a:bodyPr>
          <a:lstStyle/>
          <a:p>
            <a:pPr algn="l"/>
            <a:r>
              <a:rPr lang="en-US" sz="1600" dirty="0"/>
              <a:t>Model</a:t>
            </a:r>
          </a:p>
        </p:txBody>
      </p:sp>
    </p:spTree>
    <p:extLst>
      <p:ext uri="{BB962C8B-B14F-4D97-AF65-F5344CB8AC3E}">
        <p14:creationId xmlns:p14="http://schemas.microsoft.com/office/powerpoint/2010/main" val="264236804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1ECC-F9B6-9078-AFEF-A62285DF5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ADF3B-FD59-C47B-C1B6-BB1A476921D2}"/>
              </a:ext>
            </a:extLst>
          </p:cNvPr>
          <p:cNvSpPr>
            <a:spLocks noGrp="1"/>
          </p:cNvSpPr>
          <p:nvPr>
            <p:ph type="title"/>
          </p:nvPr>
        </p:nvSpPr>
        <p:spPr>
          <a:xfrm>
            <a:off x="588261" y="585216"/>
            <a:ext cx="11011601" cy="492443"/>
          </a:xfrm>
        </p:spPr>
        <p:txBody>
          <a:bodyPr/>
          <a:lstStyle/>
          <a:p>
            <a:r>
              <a:rPr lang="en-US" sz="3200" b="1" dirty="0"/>
              <a:t>Retrieval Augmented Generation (RAG) for agents</a:t>
            </a:r>
            <a:endParaRPr lang="en-US" sz="3200" dirty="0"/>
          </a:p>
        </p:txBody>
      </p:sp>
      <p:sp>
        <p:nvSpPr>
          <p:cNvPr id="3" name="Footer Placeholder 2">
            <a:extLst>
              <a:ext uri="{FF2B5EF4-FFF2-40B4-BE49-F238E27FC236}">
                <a16:creationId xmlns:a16="http://schemas.microsoft.com/office/drawing/2014/main" id="{09BD035B-5561-DF58-E97D-9106D1C6235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aphicFrame>
        <p:nvGraphicFramePr>
          <p:cNvPr id="4" name="Table 3">
            <a:extLst>
              <a:ext uri="{FF2B5EF4-FFF2-40B4-BE49-F238E27FC236}">
                <a16:creationId xmlns:a16="http://schemas.microsoft.com/office/drawing/2014/main" id="{FDE8C40C-3FE0-CD41-0821-341C2046B94E}"/>
              </a:ext>
            </a:extLst>
          </p:cNvPr>
          <p:cNvGraphicFramePr>
            <a:graphicFrameLocks noGrp="1"/>
          </p:cNvGraphicFramePr>
          <p:nvPr>
            <p:extLst>
              <p:ext uri="{D42A27DB-BD31-4B8C-83A1-F6EECF244321}">
                <p14:modId xmlns:p14="http://schemas.microsoft.com/office/powerpoint/2010/main" val="3069095597"/>
              </p:ext>
            </p:extLst>
          </p:nvPr>
        </p:nvGraphicFramePr>
        <p:xfrm>
          <a:off x="579438" y="1790183"/>
          <a:ext cx="10997758" cy="4114800"/>
        </p:xfrm>
        <a:graphic>
          <a:graphicData uri="http://schemas.openxmlformats.org/drawingml/2006/table">
            <a:tbl>
              <a:tblPr bandRow="1">
                <a:tableStyleId>{912C8C85-51F0-491E-9774-3900AFEF0FD7}</a:tableStyleId>
              </a:tblPr>
              <a:tblGrid>
                <a:gridCol w="2219518">
                  <a:extLst>
                    <a:ext uri="{9D8B030D-6E8A-4147-A177-3AD203B41FA5}">
                      <a16:colId xmlns:a16="http://schemas.microsoft.com/office/drawing/2014/main" val="1100889132"/>
                    </a:ext>
                  </a:extLst>
                </a:gridCol>
                <a:gridCol w="4389120">
                  <a:extLst>
                    <a:ext uri="{9D8B030D-6E8A-4147-A177-3AD203B41FA5}">
                      <a16:colId xmlns:a16="http://schemas.microsoft.com/office/drawing/2014/main" val="464610181"/>
                    </a:ext>
                  </a:extLst>
                </a:gridCol>
                <a:gridCol w="4389120">
                  <a:extLst>
                    <a:ext uri="{9D8B030D-6E8A-4147-A177-3AD203B41FA5}">
                      <a16:colId xmlns:a16="http://schemas.microsoft.com/office/drawing/2014/main" val="1367192440"/>
                    </a:ext>
                  </a:extLst>
                </a:gridCol>
              </a:tblGrid>
              <a:tr h="822960">
                <a:tc>
                  <a:txBody>
                    <a:bodyPr/>
                    <a:lstStyle/>
                    <a:p>
                      <a:pPr lvl="0"/>
                      <a:r>
                        <a:rPr lang="en-US" sz="1400" b="1" kern="1200" dirty="0">
                          <a:solidFill>
                            <a:schemeClr val="tx1">
                              <a:lumMod val="75000"/>
                              <a:lumOff val="25000"/>
                            </a:schemeClr>
                          </a:solidFill>
                          <a:effectLst/>
                          <a:latin typeface="+mj-lt"/>
                        </a:rPr>
                        <a:t>Knowledge cutoff</a:t>
                      </a:r>
                      <a:endParaRPr lang="en-US" sz="1400" b="0" kern="1200" dirty="0">
                        <a:solidFill>
                          <a:schemeClr val="tx1">
                            <a:lumMod val="75000"/>
                            <a:lumOff val="25000"/>
                          </a:schemeClr>
                        </a:solidFill>
                        <a:effectLst/>
                        <a:latin typeface="+mj-lt"/>
                      </a:endParaRPr>
                    </a:p>
                  </a:txBody>
                  <a:tcPr anchor="ctr">
                    <a:solidFill>
                      <a:schemeClr val="bg1">
                        <a:lumMod val="95000"/>
                      </a:schemeClr>
                    </a:solidFill>
                  </a:tcPr>
                </a:tc>
                <a:tc>
                  <a:txBody>
                    <a:bodyPr/>
                    <a:lstStyle/>
                    <a:p>
                      <a:r>
                        <a:rPr lang="en-US" sz="1600" b="1" kern="1200" dirty="0">
                          <a:solidFill>
                            <a:srgbClr val="C00000"/>
                          </a:solidFill>
                          <a:effectLst/>
                          <a:latin typeface="+mj-lt"/>
                        </a:rPr>
                        <a:t>Outdated answers</a:t>
                      </a:r>
                    </a:p>
                    <a:p>
                      <a:r>
                        <a:rPr lang="en-US" sz="1200" b="0" kern="1200" dirty="0">
                          <a:solidFill>
                            <a:schemeClr val="dk1"/>
                          </a:solidFill>
                          <a:effectLst/>
                        </a:rPr>
                        <a:t>Unaware of anything past its training cutoff date</a:t>
                      </a:r>
                      <a:endParaRPr lang="en-US" sz="1200" dirty="0"/>
                    </a:p>
                  </a:txBody>
                  <a:tcPr anchor="ctr"/>
                </a:tc>
                <a:tc>
                  <a:txBody>
                    <a:bodyPr/>
                    <a:lstStyle/>
                    <a:p>
                      <a:r>
                        <a:rPr lang="en-US" sz="1600" b="1" kern="1200" dirty="0">
                          <a:solidFill>
                            <a:srgbClr val="0078D4"/>
                          </a:solidFill>
                          <a:effectLst/>
                          <a:latin typeface="+mj-lt"/>
                        </a:rPr>
                        <a:t>Always current</a:t>
                      </a:r>
                    </a:p>
                    <a:p>
                      <a:r>
                        <a:rPr lang="en-US" sz="1200" b="0" kern="1200" dirty="0">
                          <a:solidFill>
                            <a:schemeClr val="dk1"/>
                          </a:solidFill>
                          <a:effectLst/>
                        </a:rPr>
                        <a:t>Retrieves live documents from connected knowledge bases</a:t>
                      </a:r>
                      <a:endParaRPr lang="en-US" sz="1200" dirty="0"/>
                    </a:p>
                  </a:txBody>
                  <a:tcPr anchor="ctr"/>
                </a:tc>
                <a:extLst>
                  <a:ext uri="{0D108BD9-81ED-4DB2-BD59-A6C34878D82A}">
                    <a16:rowId xmlns:a16="http://schemas.microsoft.com/office/drawing/2014/main" val="3486146771"/>
                  </a:ext>
                </a:extLst>
              </a:tr>
              <a:tr h="822960">
                <a:tc>
                  <a:txBody>
                    <a:bodyPr/>
                    <a:lstStyle/>
                    <a:p>
                      <a:pPr lvl="0"/>
                      <a:r>
                        <a:rPr lang="en-US" sz="1400" b="1" kern="1200" dirty="0">
                          <a:solidFill>
                            <a:schemeClr val="tx1">
                              <a:lumMod val="75000"/>
                              <a:lumOff val="25000"/>
                            </a:schemeClr>
                          </a:solidFill>
                          <a:effectLst/>
                          <a:latin typeface="+mj-lt"/>
                        </a:rPr>
                        <a:t>No private data</a:t>
                      </a:r>
                      <a:endParaRPr lang="en-US" sz="1400" b="0" kern="1200" dirty="0">
                        <a:solidFill>
                          <a:schemeClr val="tx1">
                            <a:lumMod val="75000"/>
                            <a:lumOff val="25000"/>
                          </a:schemeClr>
                        </a:solidFill>
                        <a:effectLst/>
                        <a:latin typeface="+mj-lt"/>
                      </a:endParaRPr>
                    </a:p>
                  </a:txBody>
                  <a:tcPr anchor="ctr">
                    <a:solidFill>
                      <a:schemeClr val="bg1">
                        <a:lumMod val="95000"/>
                      </a:schemeClr>
                    </a:solidFill>
                  </a:tcPr>
                </a:tc>
                <a:tc>
                  <a:txBody>
                    <a:bodyPr/>
                    <a:lstStyle/>
                    <a:p>
                      <a:r>
                        <a:rPr lang="en-US" sz="1600" b="1" kern="1200" dirty="0">
                          <a:solidFill>
                            <a:srgbClr val="C00000"/>
                          </a:solidFill>
                          <a:effectLst/>
                          <a:latin typeface="+mj-lt"/>
                        </a:rPr>
                        <a:t>Generic only</a:t>
                      </a:r>
                    </a:p>
                    <a:p>
                      <a:r>
                        <a:rPr lang="en-US" sz="1200" b="0" kern="1200" dirty="0">
                          <a:solidFill>
                            <a:schemeClr val="dk1"/>
                          </a:solidFill>
                          <a:effectLst/>
                        </a:rPr>
                        <a:t>No access to internal procedures or product specs</a:t>
                      </a:r>
                      <a:endParaRPr lang="en-US" sz="1200" dirty="0"/>
                    </a:p>
                  </a:txBody>
                  <a:tcPr anchor="ctr"/>
                </a:tc>
                <a:tc>
                  <a:txBody>
                    <a:bodyPr/>
                    <a:lstStyle/>
                    <a:p>
                      <a:r>
                        <a:rPr lang="en-US" sz="1600" b="1" kern="1200" dirty="0">
                          <a:solidFill>
                            <a:srgbClr val="0078D4"/>
                          </a:solidFill>
                          <a:effectLst/>
                          <a:latin typeface="+mj-lt"/>
                        </a:rPr>
                        <a:t>Org-specific</a:t>
                      </a:r>
                    </a:p>
                    <a:p>
                      <a:r>
                        <a:rPr lang="en-US" sz="1200" b="0" kern="1200" dirty="0">
                          <a:solidFill>
                            <a:schemeClr val="dk1"/>
                          </a:solidFill>
                          <a:effectLst/>
                        </a:rPr>
                        <a:t>Searches internal knowledge bases for company content</a:t>
                      </a:r>
                      <a:endParaRPr lang="en-US" sz="1200" dirty="0"/>
                    </a:p>
                  </a:txBody>
                  <a:tcPr anchor="ctr"/>
                </a:tc>
                <a:extLst>
                  <a:ext uri="{0D108BD9-81ED-4DB2-BD59-A6C34878D82A}">
                    <a16:rowId xmlns:a16="http://schemas.microsoft.com/office/drawing/2014/main" val="1474706169"/>
                  </a:ext>
                </a:extLst>
              </a:tr>
              <a:tr h="822960">
                <a:tc>
                  <a:txBody>
                    <a:bodyPr/>
                    <a:lstStyle/>
                    <a:p>
                      <a:pPr lvl="0"/>
                      <a:r>
                        <a:rPr lang="en-US" sz="1400" b="1" kern="1200" dirty="0">
                          <a:solidFill>
                            <a:schemeClr val="tx1">
                              <a:lumMod val="75000"/>
                              <a:lumOff val="25000"/>
                            </a:schemeClr>
                          </a:solidFill>
                          <a:effectLst/>
                          <a:latin typeface="+mj-lt"/>
                        </a:rPr>
                        <a:t>Lack of context</a:t>
                      </a:r>
                      <a:endParaRPr lang="en-US" sz="1400" dirty="0">
                        <a:solidFill>
                          <a:schemeClr val="tx1">
                            <a:lumMod val="75000"/>
                            <a:lumOff val="25000"/>
                          </a:schemeClr>
                        </a:solidFill>
                        <a:latin typeface="+mj-lt"/>
                      </a:endParaRPr>
                    </a:p>
                  </a:txBody>
                  <a:tcPr anchor="ctr">
                    <a:solidFill>
                      <a:schemeClr val="bg1">
                        <a:lumMod val="95000"/>
                      </a:schemeClr>
                    </a:solidFill>
                  </a:tcPr>
                </a:tc>
                <a:tc>
                  <a:txBody>
                    <a:bodyPr/>
                    <a:lstStyle/>
                    <a:p>
                      <a:r>
                        <a:rPr lang="en-US" sz="1600" b="1" i="0" kern="1200" dirty="0">
                          <a:solidFill>
                            <a:srgbClr val="C00000"/>
                          </a:solidFill>
                          <a:effectLst/>
                          <a:latin typeface="+mj-lt"/>
                          <a:ea typeface="+mn-ea"/>
                          <a:cs typeface="+mn-cs"/>
                        </a:rPr>
                        <a:t>Irrelevant advice</a:t>
                      </a:r>
                    </a:p>
                    <a:p>
                      <a:r>
                        <a:rPr lang="en-US" sz="1200" b="0" i="0" kern="1200" dirty="0">
                          <a:solidFill>
                            <a:schemeClr val="tx1"/>
                          </a:solidFill>
                          <a:effectLst/>
                          <a:latin typeface="+mn-lt"/>
                          <a:ea typeface="+mn-ea"/>
                          <a:cs typeface="+mn-cs"/>
                        </a:rPr>
                        <a:t>Ignores org workflows, approval chains, and security policies</a:t>
                      </a:r>
                      <a:endParaRPr lang="en-US" sz="1200" dirty="0"/>
                    </a:p>
                  </a:txBody>
                  <a:tcPr anchor="ctr"/>
                </a:tc>
                <a:tc>
                  <a:txBody>
                    <a:bodyPr/>
                    <a:lstStyle/>
                    <a:p>
                      <a:r>
                        <a:rPr lang="en-US" sz="1600" b="1" i="0" kern="1200" dirty="0">
                          <a:solidFill>
                            <a:srgbClr val="0078D4"/>
                          </a:solidFill>
                          <a:effectLst/>
                          <a:latin typeface="+mj-lt"/>
                          <a:ea typeface="+mn-ea"/>
                          <a:cs typeface="+mn-cs"/>
                        </a:rPr>
                        <a:t>Contextually aware</a:t>
                      </a:r>
                    </a:p>
                    <a:p>
                      <a:r>
                        <a:rPr lang="en-US" sz="1200" b="0" i="0" kern="1200" dirty="0">
                          <a:solidFill>
                            <a:schemeClr val="tx1"/>
                          </a:solidFill>
                          <a:effectLst/>
                          <a:latin typeface="+mn-lt"/>
                          <a:ea typeface="+mn-ea"/>
                          <a:cs typeface="+mn-cs"/>
                        </a:rPr>
                        <a:t>Grounds advice in retrieved org policies and workflows</a:t>
                      </a:r>
                      <a:endParaRPr lang="en-US" sz="1200" dirty="0"/>
                    </a:p>
                  </a:txBody>
                  <a:tcPr anchor="ctr"/>
                </a:tc>
                <a:extLst>
                  <a:ext uri="{0D108BD9-81ED-4DB2-BD59-A6C34878D82A}">
                    <a16:rowId xmlns:a16="http://schemas.microsoft.com/office/drawing/2014/main" val="2422427435"/>
                  </a:ext>
                </a:extLst>
              </a:tr>
              <a:tr h="822960">
                <a:tc>
                  <a:txBody>
                    <a:bodyPr/>
                    <a:lstStyle/>
                    <a:p>
                      <a:pPr lvl="0"/>
                      <a:r>
                        <a:rPr lang="en-US" sz="1400" b="1" i="0" kern="1200" dirty="0">
                          <a:solidFill>
                            <a:schemeClr val="tx1">
                              <a:lumMod val="75000"/>
                              <a:lumOff val="25000"/>
                            </a:schemeClr>
                          </a:solidFill>
                          <a:effectLst/>
                          <a:latin typeface="+mj-lt"/>
                          <a:ea typeface="+mn-ea"/>
                          <a:cs typeface="+mn-cs"/>
                        </a:rPr>
                        <a:t>Fabricated responses</a:t>
                      </a:r>
                      <a:endParaRPr lang="en-US" sz="1400" b="0" i="0" kern="1200" dirty="0">
                        <a:solidFill>
                          <a:schemeClr val="tx1">
                            <a:lumMod val="75000"/>
                            <a:lumOff val="25000"/>
                          </a:schemeClr>
                        </a:solidFill>
                        <a:effectLst/>
                        <a:latin typeface="+mj-lt"/>
                        <a:ea typeface="+mn-ea"/>
                        <a:cs typeface="+mn-cs"/>
                      </a:endParaRPr>
                    </a:p>
                  </a:txBody>
                  <a:tcPr anchor="ctr">
                    <a:solidFill>
                      <a:schemeClr val="bg1">
                        <a:lumMod val="95000"/>
                      </a:schemeClr>
                    </a:solidFill>
                  </a:tcPr>
                </a:tc>
                <a:tc>
                  <a:txBody>
                    <a:bodyPr/>
                    <a:lstStyle/>
                    <a:p>
                      <a:r>
                        <a:rPr lang="en-US" sz="1600" b="1" kern="1200" dirty="0">
                          <a:solidFill>
                            <a:srgbClr val="C00000"/>
                          </a:solidFill>
                          <a:effectLst/>
                          <a:latin typeface="+mj-lt"/>
                        </a:rPr>
                        <a:t>Compliance risk</a:t>
                      </a:r>
                    </a:p>
                    <a:p>
                      <a:r>
                        <a:rPr lang="en-US" sz="1200" b="0" kern="1200" dirty="0">
                          <a:solidFill>
                            <a:schemeClr val="dk1"/>
                          </a:solidFill>
                          <a:effectLst/>
                        </a:rPr>
                        <a:t>Confident-sounding answers with no source to verify</a:t>
                      </a:r>
                      <a:endParaRPr lang="en-US" sz="1200" dirty="0"/>
                    </a:p>
                  </a:txBody>
                  <a:tcPr anchor="ctr"/>
                </a:tc>
                <a:tc>
                  <a:txBody>
                    <a:bodyPr/>
                    <a:lstStyle/>
                    <a:p>
                      <a:r>
                        <a:rPr lang="en-US" sz="1600" b="1" kern="1200" dirty="0">
                          <a:solidFill>
                            <a:srgbClr val="0078D4"/>
                          </a:solidFill>
                          <a:effectLst/>
                          <a:latin typeface="+mj-lt"/>
                        </a:rPr>
                        <a:t>Verifiable sources</a:t>
                      </a:r>
                    </a:p>
                    <a:p>
                      <a:r>
                        <a:rPr lang="en-US" sz="1200" b="0" kern="1200" dirty="0">
                          <a:solidFill>
                            <a:schemeClr val="dk1"/>
                          </a:solidFill>
                          <a:effectLst/>
                        </a:rPr>
                        <a:t>Cites the exact document behind every response</a:t>
                      </a:r>
                      <a:endParaRPr lang="en-US" sz="1200" dirty="0"/>
                    </a:p>
                  </a:txBody>
                  <a:tcPr anchor="ctr"/>
                </a:tc>
                <a:extLst>
                  <a:ext uri="{0D108BD9-81ED-4DB2-BD59-A6C34878D82A}">
                    <a16:rowId xmlns:a16="http://schemas.microsoft.com/office/drawing/2014/main" val="340898770"/>
                  </a:ext>
                </a:extLst>
              </a:tr>
              <a:tr h="822960">
                <a:tc>
                  <a:txBody>
                    <a:bodyPr/>
                    <a:lstStyle/>
                    <a:p>
                      <a:pPr lvl="0"/>
                      <a:r>
                        <a:rPr lang="en-US" sz="1400" b="1" kern="1200" dirty="0">
                          <a:solidFill>
                            <a:schemeClr val="tx1">
                              <a:lumMod val="75000"/>
                              <a:lumOff val="25000"/>
                            </a:schemeClr>
                          </a:solidFill>
                          <a:effectLst/>
                          <a:latin typeface="+mj-lt"/>
                        </a:rPr>
                        <a:t>Scalability</a:t>
                      </a:r>
                      <a:endParaRPr lang="en-US" sz="1400" dirty="0">
                        <a:solidFill>
                          <a:schemeClr val="tx1">
                            <a:lumMod val="75000"/>
                            <a:lumOff val="25000"/>
                          </a:schemeClr>
                        </a:solidFill>
                        <a:latin typeface="+mj-lt"/>
                      </a:endParaRPr>
                    </a:p>
                  </a:txBody>
                  <a:tcPr anchor="ctr">
                    <a:solidFill>
                      <a:schemeClr val="bg1">
                        <a:lumMod val="95000"/>
                      </a:schemeClr>
                    </a:solidFill>
                  </a:tcPr>
                </a:tc>
                <a:tc>
                  <a:txBody>
                    <a:bodyPr/>
                    <a:lstStyle/>
                    <a:p>
                      <a:r>
                        <a:rPr lang="en-US" sz="1600" b="1" kern="1200" dirty="0">
                          <a:solidFill>
                            <a:schemeClr val="accent5">
                              <a:lumMod val="50000"/>
                            </a:schemeClr>
                          </a:solidFill>
                          <a:effectLst/>
                          <a:latin typeface="+mj-lt"/>
                        </a:rPr>
                        <a:t>Duplicated effort</a:t>
                      </a:r>
                    </a:p>
                    <a:p>
                      <a:r>
                        <a:rPr lang="en-US" sz="1200" b="0" kern="1200" dirty="0">
                          <a:solidFill>
                            <a:schemeClr val="dk1"/>
                          </a:solidFill>
                          <a:effectLst/>
                        </a:rPr>
                        <a:t>Every team rebuilds the same RAG pipeline independently</a:t>
                      </a:r>
                      <a:endParaRPr lang="en-US" sz="1200" dirty="0"/>
                    </a:p>
                  </a:txBody>
                  <a:tcPr anchor="ctr"/>
                </a:tc>
                <a:tc>
                  <a:txBody>
                    <a:bodyPr/>
                    <a:lstStyle/>
                    <a:p>
                      <a:r>
                        <a:rPr lang="en-US" sz="1600" b="1" kern="1200" dirty="0">
                          <a:solidFill>
                            <a:srgbClr val="0078D4"/>
                          </a:solidFill>
                          <a:effectLst/>
                          <a:latin typeface="+mj-lt"/>
                        </a:rPr>
                        <a:t>Shared platform</a:t>
                      </a:r>
                    </a:p>
                    <a:p>
                      <a:r>
                        <a:rPr lang="en-US" sz="1200" b="0" kern="1200" dirty="0">
                          <a:solidFill>
                            <a:schemeClr val="dk1"/>
                          </a:solidFill>
                          <a:effectLst/>
                        </a:rPr>
                        <a:t>One knowledge platform (e.g., Foundry IQ) serves all teams</a:t>
                      </a:r>
                      <a:endParaRPr lang="en-US" sz="1200" dirty="0"/>
                    </a:p>
                  </a:txBody>
                  <a:tcPr anchor="ctr"/>
                </a:tc>
                <a:extLst>
                  <a:ext uri="{0D108BD9-81ED-4DB2-BD59-A6C34878D82A}">
                    <a16:rowId xmlns:a16="http://schemas.microsoft.com/office/drawing/2014/main" val="419966182"/>
                  </a:ext>
                </a:extLst>
              </a:tr>
            </a:tbl>
          </a:graphicData>
        </a:graphic>
      </p:graphicFrame>
      <p:sp>
        <p:nvSpPr>
          <p:cNvPr id="5" name="Round Single Corner Rectangle 4">
            <a:extLst>
              <a:ext uri="{FF2B5EF4-FFF2-40B4-BE49-F238E27FC236}">
                <a16:creationId xmlns:a16="http://schemas.microsoft.com/office/drawing/2014/main" id="{88730368-AA4B-EB5E-2244-B41E9E4AB895}"/>
              </a:ext>
            </a:extLst>
          </p:cNvPr>
          <p:cNvSpPr/>
          <p:nvPr/>
        </p:nvSpPr>
        <p:spPr bwMode="auto">
          <a:xfrm flipH="1">
            <a:off x="579438" y="1360450"/>
            <a:ext cx="2219518" cy="429734"/>
          </a:xfrm>
          <a:prstGeom prst="round1Rect">
            <a:avLst/>
          </a:prstGeom>
          <a:solidFill>
            <a:srgbClr val="F2F2F2"/>
          </a:solidFill>
          <a:ln w="28575">
            <a:solidFill>
              <a:srgbClr val="EAE7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400" dirty="0">
                <a:solidFill>
                  <a:schemeClr val="tx1">
                    <a:lumMod val="50000"/>
                    <a:lumOff val="50000"/>
                  </a:schemeClr>
                </a:solidFill>
                <a:latin typeface="+mj-lt"/>
                <a:ea typeface="Segoe UI" pitchFamily="34" charset="0"/>
                <a:cs typeface="Segoe UI" pitchFamily="34" charset="0"/>
              </a:rPr>
              <a:t>LIMITATION</a:t>
            </a:r>
          </a:p>
        </p:txBody>
      </p:sp>
      <p:sp>
        <p:nvSpPr>
          <p:cNvPr id="31" name="Rectangle 30">
            <a:extLst>
              <a:ext uri="{FF2B5EF4-FFF2-40B4-BE49-F238E27FC236}">
                <a16:creationId xmlns:a16="http://schemas.microsoft.com/office/drawing/2014/main" id="{52915199-F9EE-E07C-C7AF-0CE76BBB24BF}"/>
              </a:ext>
            </a:extLst>
          </p:cNvPr>
          <p:cNvSpPr/>
          <p:nvPr/>
        </p:nvSpPr>
        <p:spPr bwMode="auto">
          <a:xfrm>
            <a:off x="2798955" y="1360448"/>
            <a:ext cx="4389120" cy="429734"/>
          </a:xfrm>
          <a:prstGeom prst="rect">
            <a:avLst/>
          </a:prstGeom>
          <a:solidFill>
            <a:schemeClr val="accent3">
              <a:alpha val="50000"/>
            </a:schemeClr>
          </a:solidFill>
          <a:ln w="28575">
            <a:solidFill>
              <a:srgbClr val="EAE7E3"/>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600" dirty="0">
                <a:solidFill>
                  <a:srgbClr val="C00000"/>
                </a:solidFill>
                <a:latin typeface="+mj-lt"/>
                <a:ea typeface="Segoe UI" pitchFamily="34" charset="0"/>
                <a:cs typeface="Segoe UI" pitchFamily="34" charset="0"/>
              </a:rPr>
              <a:t>Simple agent</a:t>
            </a:r>
          </a:p>
        </p:txBody>
      </p:sp>
      <p:sp>
        <p:nvSpPr>
          <p:cNvPr id="32" name="Snip Single Corner Rectangle 31">
            <a:extLst>
              <a:ext uri="{FF2B5EF4-FFF2-40B4-BE49-F238E27FC236}">
                <a16:creationId xmlns:a16="http://schemas.microsoft.com/office/drawing/2014/main" id="{AE7412FC-8FB7-81B8-34E7-700727B393D5}"/>
              </a:ext>
            </a:extLst>
          </p:cNvPr>
          <p:cNvSpPr/>
          <p:nvPr/>
        </p:nvSpPr>
        <p:spPr bwMode="auto">
          <a:xfrm>
            <a:off x="7188075" y="1360448"/>
            <a:ext cx="4389121" cy="429734"/>
          </a:xfrm>
          <a:prstGeom prst="snip1Rect">
            <a:avLst/>
          </a:prstGeom>
          <a:solidFill>
            <a:schemeClr val="tx2">
              <a:lumMod val="10000"/>
              <a:lumOff val="90000"/>
              <a:alpha val="50000"/>
            </a:schemeClr>
          </a:solidFill>
          <a:ln w="28575">
            <a:solidFill>
              <a:srgbClr val="EAE7E3"/>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600" dirty="0">
                <a:solidFill>
                  <a:srgbClr val="0070C0"/>
                </a:solidFill>
                <a:latin typeface="+mj-lt"/>
                <a:ea typeface="Segoe UI" pitchFamily="34" charset="0"/>
                <a:cs typeface="Segoe UI" pitchFamily="34" charset="0"/>
              </a:rPr>
              <a:t>RAG-powered agent</a:t>
            </a:r>
          </a:p>
        </p:txBody>
      </p:sp>
    </p:spTree>
    <p:extLst>
      <p:ext uri="{BB962C8B-B14F-4D97-AF65-F5344CB8AC3E}">
        <p14:creationId xmlns:p14="http://schemas.microsoft.com/office/powerpoint/2010/main" val="176413451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B83E-725D-CB16-B458-0B4BEA193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6DB9F-8870-2762-5D5C-16712E221A79}"/>
              </a:ext>
            </a:extLst>
          </p:cNvPr>
          <p:cNvSpPr>
            <a:spLocks noGrp="1"/>
          </p:cNvSpPr>
          <p:nvPr>
            <p:ph type="title"/>
          </p:nvPr>
        </p:nvSpPr>
        <p:spPr>
          <a:xfrm>
            <a:off x="588261" y="585216"/>
            <a:ext cx="11011601" cy="492443"/>
          </a:xfrm>
        </p:spPr>
        <p:txBody>
          <a:bodyPr/>
          <a:lstStyle/>
          <a:p>
            <a:r>
              <a:rPr lang="en-US" sz="3200" b="1" dirty="0"/>
              <a:t>Explore Foundry IQ</a:t>
            </a:r>
            <a:endParaRPr lang="en-US" sz="3200" dirty="0"/>
          </a:p>
        </p:txBody>
      </p:sp>
      <p:sp>
        <p:nvSpPr>
          <p:cNvPr id="3" name="Footer Placeholder 2">
            <a:extLst>
              <a:ext uri="{FF2B5EF4-FFF2-40B4-BE49-F238E27FC236}">
                <a16:creationId xmlns:a16="http://schemas.microsoft.com/office/drawing/2014/main" id="{7152E5B7-42F1-677C-CE8A-4067B5035E1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 Placeholder 3">
            <a:extLst>
              <a:ext uri="{FF2B5EF4-FFF2-40B4-BE49-F238E27FC236}">
                <a16:creationId xmlns:a16="http://schemas.microsoft.com/office/drawing/2014/main" id="{BFF6DB71-CCBD-92DF-D0D1-226C4FDD5D54}"/>
              </a:ext>
            </a:extLst>
          </p:cNvPr>
          <p:cNvSpPr>
            <a:spLocks noGrp="1"/>
          </p:cNvSpPr>
          <p:nvPr>
            <p:ph type="body" sz="quarter" idx="17"/>
          </p:nvPr>
        </p:nvSpPr>
        <p:spPr>
          <a:xfrm>
            <a:off x="588261" y="1131115"/>
            <a:ext cx="11011601" cy="492443"/>
          </a:xfrm>
        </p:spPr>
        <p:txBody>
          <a:bodyPr/>
          <a:lstStyle/>
          <a:p>
            <a:r>
              <a:rPr lang="en-US" dirty="0">
                <a:solidFill>
                  <a:schemeClr val="tx1">
                    <a:lumMod val="50000"/>
                    <a:lumOff val="50000"/>
                  </a:schemeClr>
                </a:solidFill>
                <a:latin typeface="+mn-lt"/>
              </a:rPr>
              <a:t>A managed knowledge platform built into Microsoft Foundry </a:t>
            </a:r>
            <a:br>
              <a:rPr lang="en-US" dirty="0">
                <a:solidFill>
                  <a:schemeClr val="tx1">
                    <a:lumMod val="50000"/>
                    <a:lumOff val="50000"/>
                  </a:schemeClr>
                </a:solidFill>
                <a:latin typeface="+mn-lt"/>
              </a:rPr>
            </a:br>
            <a:r>
              <a:rPr lang="en-US" dirty="0">
                <a:solidFill>
                  <a:schemeClr val="tx1">
                    <a:lumMod val="50000"/>
                    <a:lumOff val="50000"/>
                  </a:schemeClr>
                </a:solidFill>
                <a:latin typeface="+mn-lt"/>
              </a:rPr>
              <a:t>Define your knowledge bases once, connect any number of agents to them</a:t>
            </a:r>
          </a:p>
        </p:txBody>
      </p:sp>
      <p:sp>
        <p:nvSpPr>
          <p:cNvPr id="5" name="Rounded Rectangle 4">
            <a:extLst>
              <a:ext uri="{FF2B5EF4-FFF2-40B4-BE49-F238E27FC236}">
                <a16:creationId xmlns:a16="http://schemas.microsoft.com/office/drawing/2014/main" id="{076683FB-2E65-DD18-D85F-32686181BCF4}"/>
              </a:ext>
            </a:extLst>
          </p:cNvPr>
          <p:cNvSpPr/>
          <p:nvPr/>
        </p:nvSpPr>
        <p:spPr bwMode="auto">
          <a:xfrm>
            <a:off x="3166946" y="1972526"/>
            <a:ext cx="5876693" cy="3190490"/>
          </a:xfrm>
          <a:prstGeom prst="roundRect">
            <a:avLst>
              <a:gd name="adj" fmla="val 5473"/>
            </a:avLst>
          </a:prstGeom>
          <a:solidFill>
            <a:srgbClr val="D9EBF8">
              <a:alpha val="50196"/>
            </a:srgbClr>
          </a:solidFill>
          <a:ln>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BD7937BA-88FC-6F21-4A31-43BB2A03906E}"/>
              </a:ext>
            </a:extLst>
          </p:cNvPr>
          <p:cNvGrpSpPr/>
          <p:nvPr/>
        </p:nvGrpSpPr>
        <p:grpSpPr>
          <a:xfrm>
            <a:off x="588261" y="2478971"/>
            <a:ext cx="1896133" cy="2301494"/>
            <a:chOff x="579438" y="2383845"/>
            <a:chExt cx="1896133" cy="2301494"/>
          </a:xfrm>
        </p:grpSpPr>
        <p:sp>
          <p:nvSpPr>
            <p:cNvPr id="6" name="RetrievalCard">
              <a:extLst>
                <a:ext uri="{FF2B5EF4-FFF2-40B4-BE49-F238E27FC236}">
                  <a16:creationId xmlns:a16="http://schemas.microsoft.com/office/drawing/2014/main" id="{1D219772-F2BB-96DD-59E3-7EF85B3A27C9}"/>
                </a:ext>
              </a:extLst>
            </p:cNvPr>
            <p:cNvSpPr/>
            <p:nvPr/>
          </p:nvSpPr>
          <p:spPr>
            <a:xfrm>
              <a:off x="579438" y="2383845"/>
              <a:ext cx="1896133" cy="492443"/>
            </a:xfrm>
            <a:prstGeom prst="roundRect">
              <a:avLst>
                <a:gd name="adj" fmla="val 12000"/>
              </a:avLst>
            </a:prstGeom>
            <a:solidFill>
              <a:srgbClr val="F8F8F8"/>
            </a:solidFill>
            <a:ln w="9525">
              <a:solidFill>
                <a:srgbClr val="DEDEDE"/>
              </a:solidFill>
            </a:ln>
          </p:spPr>
          <p:txBody>
            <a:bodyPr anchor="ctr"/>
            <a:lstStyle/>
            <a:p>
              <a:pPr lvl="1"/>
              <a:r>
                <a:rPr lang="en-US" sz="1600" b="1" noProof="0" dirty="0">
                  <a:solidFill>
                    <a:srgbClr val="4C4C4C"/>
                  </a:solidFill>
                  <a:latin typeface="+mj-lt"/>
                </a:rPr>
                <a:t>SharePoint</a:t>
              </a:r>
              <a:endParaRPr lang="en-US" sz="1200" dirty="0">
                <a:solidFill>
                  <a:srgbClr val="4C4C4C"/>
                </a:solidFill>
              </a:endParaRPr>
            </a:p>
          </p:txBody>
        </p:sp>
        <p:sp>
          <p:nvSpPr>
            <p:cNvPr id="7" name="RetrievalCard">
              <a:extLst>
                <a:ext uri="{FF2B5EF4-FFF2-40B4-BE49-F238E27FC236}">
                  <a16:creationId xmlns:a16="http://schemas.microsoft.com/office/drawing/2014/main" id="{AAC4D560-2118-E78A-FEC9-C7A2386AAFC5}"/>
                </a:ext>
              </a:extLst>
            </p:cNvPr>
            <p:cNvSpPr/>
            <p:nvPr/>
          </p:nvSpPr>
          <p:spPr>
            <a:xfrm>
              <a:off x="579438" y="2986862"/>
              <a:ext cx="1896133" cy="492443"/>
            </a:xfrm>
            <a:prstGeom prst="roundRect">
              <a:avLst>
                <a:gd name="adj" fmla="val 12000"/>
              </a:avLst>
            </a:prstGeom>
            <a:solidFill>
              <a:srgbClr val="F8F8F8"/>
            </a:solidFill>
            <a:ln w="9525">
              <a:solidFill>
                <a:srgbClr val="DEDEDE"/>
              </a:solidFill>
            </a:ln>
          </p:spPr>
          <p:txBody>
            <a:bodyPr anchor="ctr"/>
            <a:lstStyle/>
            <a:p>
              <a:pPr lvl="1"/>
              <a:r>
                <a:rPr lang="en-US" sz="1600" b="1" noProof="0" dirty="0" err="1">
                  <a:solidFill>
                    <a:srgbClr val="4C4C4C"/>
                  </a:solidFill>
                  <a:latin typeface="+mj-lt"/>
                </a:rPr>
                <a:t>OneLake</a:t>
              </a:r>
              <a:endParaRPr lang="en-US" sz="1200" dirty="0">
                <a:solidFill>
                  <a:srgbClr val="4C4C4C"/>
                </a:solidFill>
              </a:endParaRPr>
            </a:p>
          </p:txBody>
        </p:sp>
        <p:sp>
          <p:nvSpPr>
            <p:cNvPr id="8" name="RetrievalCard">
              <a:extLst>
                <a:ext uri="{FF2B5EF4-FFF2-40B4-BE49-F238E27FC236}">
                  <a16:creationId xmlns:a16="http://schemas.microsoft.com/office/drawing/2014/main" id="{F6F12310-F296-7678-6099-630B94752E6E}"/>
                </a:ext>
              </a:extLst>
            </p:cNvPr>
            <p:cNvSpPr/>
            <p:nvPr/>
          </p:nvSpPr>
          <p:spPr>
            <a:xfrm>
              <a:off x="579438" y="3589879"/>
              <a:ext cx="1896133" cy="492443"/>
            </a:xfrm>
            <a:prstGeom prst="roundRect">
              <a:avLst>
                <a:gd name="adj" fmla="val 12000"/>
              </a:avLst>
            </a:prstGeom>
            <a:solidFill>
              <a:srgbClr val="F8F8F8"/>
            </a:solidFill>
            <a:ln w="9525">
              <a:solidFill>
                <a:srgbClr val="DEDEDE"/>
              </a:solidFill>
            </a:ln>
          </p:spPr>
          <p:txBody>
            <a:bodyPr anchor="ctr"/>
            <a:lstStyle/>
            <a:p>
              <a:pPr lvl="1"/>
              <a:r>
                <a:rPr lang="en-US" sz="1600" b="1" noProof="0" dirty="0">
                  <a:solidFill>
                    <a:srgbClr val="4C4C4C"/>
                  </a:solidFill>
                  <a:latin typeface="+mj-lt"/>
                </a:rPr>
                <a:t>Blob Storage</a:t>
              </a:r>
              <a:endParaRPr lang="en-US" sz="1200" dirty="0">
                <a:solidFill>
                  <a:srgbClr val="4C4C4C"/>
                </a:solidFill>
              </a:endParaRPr>
            </a:p>
          </p:txBody>
        </p:sp>
        <p:sp>
          <p:nvSpPr>
            <p:cNvPr id="9" name="RetrievalCard">
              <a:extLst>
                <a:ext uri="{FF2B5EF4-FFF2-40B4-BE49-F238E27FC236}">
                  <a16:creationId xmlns:a16="http://schemas.microsoft.com/office/drawing/2014/main" id="{3EFD263A-D3BA-4730-EEA9-81AF7D1B39B9}"/>
                </a:ext>
              </a:extLst>
            </p:cNvPr>
            <p:cNvSpPr/>
            <p:nvPr/>
          </p:nvSpPr>
          <p:spPr>
            <a:xfrm>
              <a:off x="579438" y="4192896"/>
              <a:ext cx="1896133" cy="492443"/>
            </a:xfrm>
            <a:prstGeom prst="roundRect">
              <a:avLst>
                <a:gd name="adj" fmla="val 12000"/>
              </a:avLst>
            </a:prstGeom>
            <a:solidFill>
              <a:srgbClr val="F8F8F8"/>
            </a:solidFill>
            <a:ln w="9525">
              <a:solidFill>
                <a:srgbClr val="DEDEDE"/>
              </a:solidFill>
            </a:ln>
          </p:spPr>
          <p:txBody>
            <a:bodyPr anchor="ctr"/>
            <a:lstStyle/>
            <a:p>
              <a:pPr lvl="1"/>
              <a:r>
                <a:rPr lang="en-US" sz="1600" b="1" noProof="0" dirty="0">
                  <a:solidFill>
                    <a:srgbClr val="4C4C4C"/>
                  </a:solidFill>
                  <a:latin typeface="+mj-lt"/>
                </a:rPr>
                <a:t>SQL / APIs</a:t>
              </a:r>
              <a:endParaRPr lang="en-US" sz="1200" dirty="0">
                <a:solidFill>
                  <a:srgbClr val="4C4C4C"/>
                </a:solidFill>
              </a:endParaRPr>
            </a:p>
          </p:txBody>
        </p:sp>
      </p:grpSp>
      <p:cxnSp>
        <p:nvCxnSpPr>
          <p:cNvPr id="11" name="Straight Connector 10">
            <a:extLst>
              <a:ext uri="{FF2B5EF4-FFF2-40B4-BE49-F238E27FC236}">
                <a16:creationId xmlns:a16="http://schemas.microsoft.com/office/drawing/2014/main" id="{78AF89B2-C8BA-EC36-F257-2A165D6B77F8}"/>
              </a:ext>
            </a:extLst>
          </p:cNvPr>
          <p:cNvCxnSpPr>
            <a:cxnSpLocks/>
            <a:stCxn id="5" idx="1"/>
            <a:endCxn id="6" idx="3"/>
          </p:cNvCxnSpPr>
          <p:nvPr/>
        </p:nvCxnSpPr>
        <p:spPr>
          <a:xfrm flipH="1" flipV="1">
            <a:off x="2484394" y="2725193"/>
            <a:ext cx="682552" cy="842578"/>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B7E2DA-64CC-0C6A-9904-C2CE172F3724}"/>
              </a:ext>
            </a:extLst>
          </p:cNvPr>
          <p:cNvCxnSpPr>
            <a:cxnSpLocks/>
            <a:stCxn id="5" idx="1"/>
            <a:endCxn id="7" idx="3"/>
          </p:cNvCxnSpPr>
          <p:nvPr/>
        </p:nvCxnSpPr>
        <p:spPr>
          <a:xfrm flipH="1" flipV="1">
            <a:off x="2484394" y="3328210"/>
            <a:ext cx="682552" cy="23956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2895FAB-2C81-D3E7-1251-79F6BFC5A42A}"/>
              </a:ext>
            </a:extLst>
          </p:cNvPr>
          <p:cNvCxnSpPr>
            <a:cxnSpLocks/>
            <a:stCxn id="5" idx="1"/>
            <a:endCxn id="8" idx="3"/>
          </p:cNvCxnSpPr>
          <p:nvPr/>
        </p:nvCxnSpPr>
        <p:spPr>
          <a:xfrm flipH="1">
            <a:off x="2484394" y="3567771"/>
            <a:ext cx="682552" cy="363456"/>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49D649-FCAF-2128-855D-5CEB408BE179}"/>
              </a:ext>
            </a:extLst>
          </p:cNvPr>
          <p:cNvCxnSpPr>
            <a:cxnSpLocks/>
            <a:stCxn id="5" idx="1"/>
            <a:endCxn id="9" idx="3"/>
          </p:cNvCxnSpPr>
          <p:nvPr/>
        </p:nvCxnSpPr>
        <p:spPr>
          <a:xfrm flipH="1">
            <a:off x="2484394" y="3567771"/>
            <a:ext cx="682552" cy="966473"/>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RetrievalCard">
            <a:extLst>
              <a:ext uri="{FF2B5EF4-FFF2-40B4-BE49-F238E27FC236}">
                <a16:creationId xmlns:a16="http://schemas.microsoft.com/office/drawing/2014/main" id="{9899A363-C41F-2226-B6D6-C7F780556A05}"/>
              </a:ext>
            </a:extLst>
          </p:cNvPr>
          <p:cNvSpPr/>
          <p:nvPr/>
        </p:nvSpPr>
        <p:spPr>
          <a:xfrm>
            <a:off x="3297377" y="3371096"/>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n-US" sz="1400" b="1" noProof="0" dirty="0">
                <a:solidFill>
                  <a:schemeClr val="tx2"/>
                </a:solidFill>
                <a:latin typeface="+mj-lt"/>
              </a:rPr>
              <a:t>Product documentation</a:t>
            </a:r>
            <a:endParaRPr lang="en-US" sz="1100" dirty="0">
              <a:solidFill>
                <a:schemeClr val="tx2"/>
              </a:solidFill>
            </a:endParaRPr>
          </a:p>
        </p:txBody>
      </p:sp>
      <p:sp>
        <p:nvSpPr>
          <p:cNvPr id="24" name="RetrievalCard">
            <a:extLst>
              <a:ext uri="{FF2B5EF4-FFF2-40B4-BE49-F238E27FC236}">
                <a16:creationId xmlns:a16="http://schemas.microsoft.com/office/drawing/2014/main" id="{7372B015-29D3-1CA0-E950-FFADDC8FB099}"/>
              </a:ext>
            </a:extLst>
          </p:cNvPr>
          <p:cNvSpPr/>
          <p:nvPr/>
        </p:nvSpPr>
        <p:spPr>
          <a:xfrm>
            <a:off x="3297377" y="3920653"/>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n-US" sz="1400" b="1" noProof="0" dirty="0">
                <a:solidFill>
                  <a:schemeClr val="tx2"/>
                </a:solidFill>
                <a:latin typeface="+mj-lt"/>
              </a:rPr>
              <a:t>HR policies</a:t>
            </a:r>
            <a:endParaRPr lang="en-US" sz="1100" dirty="0">
              <a:solidFill>
                <a:schemeClr val="tx2"/>
              </a:solidFill>
            </a:endParaRPr>
          </a:p>
        </p:txBody>
      </p:sp>
      <p:sp>
        <p:nvSpPr>
          <p:cNvPr id="25" name="RetrievalCard">
            <a:extLst>
              <a:ext uri="{FF2B5EF4-FFF2-40B4-BE49-F238E27FC236}">
                <a16:creationId xmlns:a16="http://schemas.microsoft.com/office/drawing/2014/main" id="{07EC0A0A-EAB1-7A02-1A79-94AA41024470}"/>
              </a:ext>
            </a:extLst>
          </p:cNvPr>
          <p:cNvSpPr/>
          <p:nvPr/>
        </p:nvSpPr>
        <p:spPr>
          <a:xfrm>
            <a:off x="3297377" y="4470210"/>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n-US" sz="1400" b="1" noProof="0" dirty="0">
                <a:solidFill>
                  <a:schemeClr val="tx2"/>
                </a:solidFill>
                <a:latin typeface="+mj-lt"/>
              </a:rPr>
              <a:t>API reference</a:t>
            </a:r>
            <a:endParaRPr lang="en-US" sz="1100" dirty="0">
              <a:solidFill>
                <a:schemeClr val="tx2"/>
              </a:solidFill>
            </a:endParaRPr>
          </a:p>
        </p:txBody>
      </p:sp>
      <p:grpSp>
        <p:nvGrpSpPr>
          <p:cNvPr id="69" name="Group 68">
            <a:extLst>
              <a:ext uri="{FF2B5EF4-FFF2-40B4-BE49-F238E27FC236}">
                <a16:creationId xmlns:a16="http://schemas.microsoft.com/office/drawing/2014/main" id="{B72CB280-B3D6-45D9-0160-879DBF5B42A5}"/>
              </a:ext>
            </a:extLst>
          </p:cNvPr>
          <p:cNvGrpSpPr/>
          <p:nvPr/>
        </p:nvGrpSpPr>
        <p:grpSpPr>
          <a:xfrm>
            <a:off x="9707606" y="2813936"/>
            <a:ext cx="2137061" cy="1698477"/>
            <a:chOff x="9237183" y="2364358"/>
            <a:chExt cx="2137061" cy="1698477"/>
          </a:xfrm>
        </p:grpSpPr>
        <p:sp>
          <p:nvSpPr>
            <p:cNvPr id="42" name="RetrievalCard">
              <a:extLst>
                <a:ext uri="{FF2B5EF4-FFF2-40B4-BE49-F238E27FC236}">
                  <a16:creationId xmlns:a16="http://schemas.microsoft.com/office/drawing/2014/main" id="{E29002AC-67E1-7D9A-DAC0-E54E500F7B96}"/>
                </a:ext>
              </a:extLst>
            </p:cNvPr>
            <p:cNvSpPr/>
            <p:nvPr/>
          </p:nvSpPr>
          <p:spPr>
            <a:xfrm>
              <a:off x="9237183" y="2364358"/>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n-US" sz="1600" b="1" noProof="0" dirty="0">
                  <a:solidFill>
                    <a:srgbClr val="0078D4"/>
                  </a:solidFill>
                  <a:latin typeface="+mj-lt"/>
                </a:rPr>
                <a:t>Support agent</a:t>
              </a:r>
              <a:endParaRPr lang="en-US" sz="1200" dirty="0">
                <a:solidFill>
                  <a:srgbClr val="0078D4"/>
                </a:solidFill>
              </a:endParaRPr>
            </a:p>
          </p:txBody>
        </p:sp>
        <p:sp>
          <p:nvSpPr>
            <p:cNvPr id="43" name="RetrievalCard">
              <a:extLst>
                <a:ext uri="{FF2B5EF4-FFF2-40B4-BE49-F238E27FC236}">
                  <a16:creationId xmlns:a16="http://schemas.microsoft.com/office/drawing/2014/main" id="{EA07343C-9F98-2545-FC0F-30E054CEEAB8}"/>
                </a:ext>
              </a:extLst>
            </p:cNvPr>
            <p:cNvSpPr/>
            <p:nvPr/>
          </p:nvSpPr>
          <p:spPr>
            <a:xfrm>
              <a:off x="9237183" y="2967375"/>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n-US" sz="1600" b="1" noProof="0" dirty="0">
                  <a:solidFill>
                    <a:srgbClr val="0078D4"/>
                  </a:solidFill>
                  <a:latin typeface="+mj-lt"/>
                </a:rPr>
                <a:t>HR assistant</a:t>
              </a:r>
              <a:endParaRPr lang="en-US" sz="1200" dirty="0">
                <a:solidFill>
                  <a:srgbClr val="0078D4"/>
                </a:solidFill>
              </a:endParaRPr>
            </a:p>
          </p:txBody>
        </p:sp>
        <p:sp>
          <p:nvSpPr>
            <p:cNvPr id="44" name="RetrievalCard">
              <a:extLst>
                <a:ext uri="{FF2B5EF4-FFF2-40B4-BE49-F238E27FC236}">
                  <a16:creationId xmlns:a16="http://schemas.microsoft.com/office/drawing/2014/main" id="{A8BF7B99-82FB-9A70-8B66-F37CDFA14BB5}"/>
                </a:ext>
              </a:extLst>
            </p:cNvPr>
            <p:cNvSpPr/>
            <p:nvPr/>
          </p:nvSpPr>
          <p:spPr>
            <a:xfrm>
              <a:off x="9237183" y="3570392"/>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n-US" sz="1600" b="1" noProof="0" dirty="0">
                  <a:solidFill>
                    <a:srgbClr val="0078D4"/>
                  </a:solidFill>
                  <a:latin typeface="+mj-lt"/>
                </a:rPr>
                <a:t>Dev agent   </a:t>
              </a:r>
              <a:endParaRPr lang="en-US" sz="1200" dirty="0">
                <a:solidFill>
                  <a:srgbClr val="0078D4"/>
                </a:solidFill>
              </a:endParaRPr>
            </a:p>
          </p:txBody>
        </p:sp>
        <p:grpSp>
          <p:nvGrpSpPr>
            <p:cNvPr id="53" name="Group 52">
              <a:extLst>
                <a:ext uri="{FF2B5EF4-FFF2-40B4-BE49-F238E27FC236}">
                  <a16:creationId xmlns:a16="http://schemas.microsoft.com/office/drawing/2014/main" id="{E843C525-AA42-5877-34EB-32ED172434F1}"/>
                </a:ext>
              </a:extLst>
            </p:cNvPr>
            <p:cNvGrpSpPr>
              <a:grpSpLocks noChangeAspect="1"/>
            </p:cNvGrpSpPr>
            <p:nvPr/>
          </p:nvGrpSpPr>
          <p:grpSpPr>
            <a:xfrm>
              <a:off x="9322419" y="2427699"/>
              <a:ext cx="365760" cy="365760"/>
              <a:chOff x="9779620" y="4828054"/>
              <a:chExt cx="914400" cy="914400"/>
            </a:xfrm>
          </p:grpSpPr>
          <p:sp>
            <p:nvSpPr>
              <p:cNvPr id="46" name="Rounded Rectangle 45">
                <a:extLst>
                  <a:ext uri="{FF2B5EF4-FFF2-40B4-BE49-F238E27FC236}">
                    <a16:creationId xmlns:a16="http://schemas.microsoft.com/office/drawing/2014/main" id="{97E29DED-5FF6-4FBC-A6E4-93D6F222AD4B}"/>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8" name="Graphic 47" descr="Robot outline">
                <a:extLst>
                  <a:ext uri="{FF2B5EF4-FFF2-40B4-BE49-F238E27FC236}">
                    <a16:creationId xmlns:a16="http://schemas.microsoft.com/office/drawing/2014/main" id="{A0369E44-0507-5478-77A0-8B6C227697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nvGrpSpPr>
            <p:cNvPr id="54" name="Group 53">
              <a:extLst>
                <a:ext uri="{FF2B5EF4-FFF2-40B4-BE49-F238E27FC236}">
                  <a16:creationId xmlns:a16="http://schemas.microsoft.com/office/drawing/2014/main" id="{61048AF1-BE39-3030-5FB9-8E0C84659A8C}"/>
                </a:ext>
              </a:extLst>
            </p:cNvPr>
            <p:cNvGrpSpPr>
              <a:grpSpLocks noChangeAspect="1"/>
            </p:cNvGrpSpPr>
            <p:nvPr/>
          </p:nvGrpSpPr>
          <p:grpSpPr>
            <a:xfrm>
              <a:off x="9322419" y="3030716"/>
              <a:ext cx="365760" cy="365760"/>
              <a:chOff x="9779620" y="4828054"/>
              <a:chExt cx="914400" cy="914400"/>
            </a:xfrm>
          </p:grpSpPr>
          <p:sp>
            <p:nvSpPr>
              <p:cNvPr id="55" name="Rounded Rectangle 54">
                <a:extLst>
                  <a:ext uri="{FF2B5EF4-FFF2-40B4-BE49-F238E27FC236}">
                    <a16:creationId xmlns:a16="http://schemas.microsoft.com/office/drawing/2014/main" id="{9B0DDA6B-1C8F-0EB1-FD9A-916B1BEAEA61}"/>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6" name="Graphic 55" descr="Robot outline">
                <a:extLst>
                  <a:ext uri="{FF2B5EF4-FFF2-40B4-BE49-F238E27FC236}">
                    <a16:creationId xmlns:a16="http://schemas.microsoft.com/office/drawing/2014/main" id="{21072248-D42D-0122-4762-7363A1958B7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nvGrpSpPr>
            <p:cNvPr id="57" name="Group 56">
              <a:extLst>
                <a:ext uri="{FF2B5EF4-FFF2-40B4-BE49-F238E27FC236}">
                  <a16:creationId xmlns:a16="http://schemas.microsoft.com/office/drawing/2014/main" id="{9AD5E25D-6B32-7492-5B31-1C6521031DCF}"/>
                </a:ext>
              </a:extLst>
            </p:cNvPr>
            <p:cNvGrpSpPr>
              <a:grpSpLocks noChangeAspect="1"/>
            </p:cNvGrpSpPr>
            <p:nvPr/>
          </p:nvGrpSpPr>
          <p:grpSpPr>
            <a:xfrm>
              <a:off x="9322419" y="3633733"/>
              <a:ext cx="365760" cy="365760"/>
              <a:chOff x="9779620" y="4828054"/>
              <a:chExt cx="914400" cy="914400"/>
            </a:xfrm>
          </p:grpSpPr>
          <p:sp>
            <p:nvSpPr>
              <p:cNvPr id="58" name="Rounded Rectangle 57">
                <a:extLst>
                  <a:ext uri="{FF2B5EF4-FFF2-40B4-BE49-F238E27FC236}">
                    <a16:creationId xmlns:a16="http://schemas.microsoft.com/office/drawing/2014/main" id="{81ABBB3B-61E8-6C4A-6A16-F19D0DB0E553}"/>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9" name="Graphic 58" descr="Robot outline">
                <a:extLst>
                  <a:ext uri="{FF2B5EF4-FFF2-40B4-BE49-F238E27FC236}">
                    <a16:creationId xmlns:a16="http://schemas.microsoft.com/office/drawing/2014/main" id="{004E1800-5CE6-1792-41BF-2D37C2F728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cxnSp>
        <p:nvCxnSpPr>
          <p:cNvPr id="60" name="Straight Connector 59">
            <a:extLst>
              <a:ext uri="{FF2B5EF4-FFF2-40B4-BE49-F238E27FC236}">
                <a16:creationId xmlns:a16="http://schemas.microsoft.com/office/drawing/2014/main" id="{02A94880-5A87-F4BA-E2B3-3DDEA171D146}"/>
              </a:ext>
            </a:extLst>
          </p:cNvPr>
          <p:cNvCxnSpPr>
            <a:cxnSpLocks/>
            <a:stCxn id="42" idx="1"/>
            <a:endCxn id="5" idx="3"/>
          </p:cNvCxnSpPr>
          <p:nvPr/>
        </p:nvCxnSpPr>
        <p:spPr>
          <a:xfrm flipH="1">
            <a:off x="9043639" y="3060158"/>
            <a:ext cx="663967" cy="507613"/>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DA076D6-E790-000C-D231-4E552E15E51E}"/>
              </a:ext>
            </a:extLst>
          </p:cNvPr>
          <p:cNvCxnSpPr>
            <a:cxnSpLocks/>
            <a:stCxn id="43" idx="1"/>
            <a:endCxn id="5" idx="3"/>
          </p:cNvCxnSpPr>
          <p:nvPr/>
        </p:nvCxnSpPr>
        <p:spPr>
          <a:xfrm flipH="1" flipV="1">
            <a:off x="9043639" y="3567771"/>
            <a:ext cx="663967" cy="95404"/>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D328C78-CE15-384D-211A-A0832F6BD184}"/>
              </a:ext>
            </a:extLst>
          </p:cNvPr>
          <p:cNvCxnSpPr>
            <a:cxnSpLocks/>
            <a:stCxn id="44" idx="1"/>
            <a:endCxn id="5" idx="3"/>
          </p:cNvCxnSpPr>
          <p:nvPr/>
        </p:nvCxnSpPr>
        <p:spPr>
          <a:xfrm flipH="1" flipV="1">
            <a:off x="9043639" y="3567771"/>
            <a:ext cx="663967" cy="69842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F6798A86-BEFA-2551-E1A8-F25AABB25577}"/>
              </a:ext>
            </a:extLst>
          </p:cNvPr>
          <p:cNvSpPr txBox="1"/>
          <p:nvPr/>
        </p:nvSpPr>
        <p:spPr>
          <a:xfrm>
            <a:off x="814142" y="1950340"/>
            <a:ext cx="1444370" cy="246221"/>
          </a:xfrm>
          <a:prstGeom prst="rect">
            <a:avLst/>
          </a:prstGeom>
          <a:noFill/>
        </p:spPr>
        <p:txBody>
          <a:bodyPr wrap="none" lIns="0" tIns="0" rIns="0" bIns="0" rtlCol="0">
            <a:spAutoFit/>
          </a:bodyPr>
          <a:lstStyle/>
          <a:p>
            <a:pPr algn="l"/>
            <a:r>
              <a:rPr lang="en-US" sz="1600" dirty="0">
                <a:solidFill>
                  <a:schemeClr val="tx1">
                    <a:lumMod val="50000"/>
                    <a:lumOff val="50000"/>
                  </a:schemeClr>
                </a:solidFill>
                <a:latin typeface="+mj-lt"/>
              </a:rPr>
              <a:t>DATA SOURCES</a:t>
            </a:r>
          </a:p>
        </p:txBody>
      </p:sp>
      <p:sp>
        <p:nvSpPr>
          <p:cNvPr id="85" name="TextBox 84">
            <a:extLst>
              <a:ext uri="{FF2B5EF4-FFF2-40B4-BE49-F238E27FC236}">
                <a16:creationId xmlns:a16="http://schemas.microsoft.com/office/drawing/2014/main" id="{0870EEC8-7239-B204-7046-CCFFACFF9C73}"/>
              </a:ext>
            </a:extLst>
          </p:cNvPr>
          <p:cNvSpPr txBox="1"/>
          <p:nvPr/>
        </p:nvSpPr>
        <p:spPr>
          <a:xfrm>
            <a:off x="9766372" y="1950340"/>
            <a:ext cx="2019527" cy="246221"/>
          </a:xfrm>
          <a:prstGeom prst="rect">
            <a:avLst/>
          </a:prstGeom>
          <a:noFill/>
        </p:spPr>
        <p:txBody>
          <a:bodyPr wrap="none" lIns="0" tIns="0" rIns="0" bIns="0" rtlCol="0">
            <a:spAutoFit/>
          </a:bodyPr>
          <a:lstStyle/>
          <a:p>
            <a:pPr algn="l"/>
            <a:r>
              <a:rPr lang="en-US" sz="1600" dirty="0">
                <a:solidFill>
                  <a:schemeClr val="tx1">
                    <a:lumMod val="50000"/>
                    <a:lumOff val="50000"/>
                  </a:schemeClr>
                </a:solidFill>
                <a:latin typeface="+mj-lt"/>
              </a:rPr>
              <a:t>CONNECTED AGENTS</a:t>
            </a:r>
          </a:p>
        </p:txBody>
      </p:sp>
      <p:sp>
        <p:nvSpPr>
          <p:cNvPr id="86" name="TextBox 85">
            <a:extLst>
              <a:ext uri="{FF2B5EF4-FFF2-40B4-BE49-F238E27FC236}">
                <a16:creationId xmlns:a16="http://schemas.microsoft.com/office/drawing/2014/main" id="{DEFFF0E2-87D2-25B9-AA4F-E5839CD897AB}"/>
              </a:ext>
            </a:extLst>
          </p:cNvPr>
          <p:cNvSpPr txBox="1"/>
          <p:nvPr/>
        </p:nvSpPr>
        <p:spPr>
          <a:xfrm>
            <a:off x="4100223" y="2100811"/>
            <a:ext cx="4776148" cy="646331"/>
          </a:xfrm>
          <a:prstGeom prst="rect">
            <a:avLst/>
          </a:prstGeom>
          <a:noFill/>
        </p:spPr>
        <p:txBody>
          <a:bodyPr wrap="square" lIns="0" tIns="0" rIns="0" bIns="0" rtlCol="0">
            <a:spAutoFit/>
          </a:bodyPr>
          <a:lstStyle/>
          <a:p>
            <a:pPr algn="l"/>
            <a:r>
              <a:rPr lang="en-US" sz="1800" b="1" dirty="0">
                <a:solidFill>
                  <a:srgbClr val="141883"/>
                </a:solidFill>
              </a:rPr>
              <a:t>Foundry IQ</a:t>
            </a:r>
          </a:p>
          <a:p>
            <a:r>
              <a:rPr lang="en-US" sz="1200" dirty="0">
                <a:solidFill>
                  <a:srgbClr val="0078D4"/>
                </a:solidFill>
              </a:rPr>
              <a:t>Centrally managed knowledge bases — auto-indexed, continuously synced, and accessible to any authorized agent</a:t>
            </a:r>
            <a:endParaRPr lang="en-US" sz="1400" b="1" dirty="0">
              <a:solidFill>
                <a:srgbClr val="0078D4"/>
              </a:solidFill>
            </a:endParaRPr>
          </a:p>
        </p:txBody>
      </p:sp>
      <p:pic>
        <p:nvPicPr>
          <p:cNvPr id="94" name="Graphic 55">
            <a:extLst>
              <a:ext uri="{FF2B5EF4-FFF2-40B4-BE49-F238E27FC236}">
                <a16:creationId xmlns:a16="http://schemas.microsoft.com/office/drawing/2014/main" id="{6D6E1C81-2FEE-9BEE-45AF-37BB97D8520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203651" y="1972526"/>
            <a:ext cx="871729" cy="822301"/>
          </a:xfrm>
          <a:prstGeom prst="rect">
            <a:avLst/>
          </a:prstGeom>
        </p:spPr>
      </p:pic>
      <p:grpSp>
        <p:nvGrpSpPr>
          <p:cNvPr id="109" name="Group 108">
            <a:extLst>
              <a:ext uri="{FF2B5EF4-FFF2-40B4-BE49-F238E27FC236}">
                <a16:creationId xmlns:a16="http://schemas.microsoft.com/office/drawing/2014/main" id="{DA898C23-8894-6E87-FD22-7E161C8A097E}"/>
              </a:ext>
            </a:extLst>
          </p:cNvPr>
          <p:cNvGrpSpPr/>
          <p:nvPr/>
        </p:nvGrpSpPr>
        <p:grpSpPr>
          <a:xfrm>
            <a:off x="5742199" y="3436946"/>
            <a:ext cx="971470" cy="357054"/>
            <a:chOff x="5610265" y="5613522"/>
            <a:chExt cx="971470" cy="357054"/>
          </a:xfrm>
        </p:grpSpPr>
        <p:sp>
          <p:nvSpPr>
            <p:cNvPr id="95" name="TextBox 94">
              <a:extLst>
                <a:ext uri="{FF2B5EF4-FFF2-40B4-BE49-F238E27FC236}">
                  <a16:creationId xmlns:a16="http://schemas.microsoft.com/office/drawing/2014/main" id="{6CAE5494-5D52-9EEC-2066-B6B83162C5B1}"/>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96" name="TextBox 95">
              <a:extLst>
                <a:ext uri="{FF2B5EF4-FFF2-40B4-BE49-F238E27FC236}">
                  <a16:creationId xmlns:a16="http://schemas.microsoft.com/office/drawing/2014/main" id="{0A088C2D-BBAB-F0D5-98E9-8B3902B076B6}"/>
                </a:ext>
              </a:extLst>
            </p:cNvPr>
            <p:cNvSpPr txBox="1"/>
            <p:nvPr/>
          </p:nvSpPr>
          <p:spPr>
            <a:xfrm>
              <a:off x="5610265" y="5653550"/>
              <a:ext cx="971470" cy="276999"/>
            </a:xfrm>
            <a:prstGeom prst="rect">
              <a:avLst/>
            </a:prstGeom>
            <a:noFill/>
          </p:spPr>
          <p:txBody>
            <a:bodyPr wrap="square">
              <a:spAutoFit/>
            </a:bodyPr>
            <a:lstStyle/>
            <a:p>
              <a:pPr algn="ctr"/>
              <a:r>
                <a:rPr lang="en-US" sz="1200" b="1" dirty="0">
                  <a:solidFill>
                    <a:srgbClr val="4C4C4C"/>
                  </a:solidFill>
                </a:rPr>
                <a:t>SharePoint</a:t>
              </a:r>
            </a:p>
          </p:txBody>
        </p:sp>
      </p:grpSp>
      <p:grpSp>
        <p:nvGrpSpPr>
          <p:cNvPr id="99" name="Group 98">
            <a:extLst>
              <a:ext uri="{FF2B5EF4-FFF2-40B4-BE49-F238E27FC236}">
                <a16:creationId xmlns:a16="http://schemas.microsoft.com/office/drawing/2014/main" id="{AF5ACDA6-D8B6-806A-846D-87DFF3879608}"/>
              </a:ext>
            </a:extLst>
          </p:cNvPr>
          <p:cNvGrpSpPr/>
          <p:nvPr/>
        </p:nvGrpSpPr>
        <p:grpSpPr>
          <a:xfrm>
            <a:off x="8316480" y="4544455"/>
            <a:ext cx="493169" cy="357054"/>
            <a:chOff x="7279231" y="5667496"/>
            <a:chExt cx="493169" cy="357054"/>
          </a:xfrm>
        </p:grpSpPr>
        <p:sp>
          <p:nvSpPr>
            <p:cNvPr id="97" name="TextBox 96">
              <a:extLst>
                <a:ext uri="{FF2B5EF4-FFF2-40B4-BE49-F238E27FC236}">
                  <a16:creationId xmlns:a16="http://schemas.microsoft.com/office/drawing/2014/main" id="{58F2CE10-D4FA-55EF-754F-EF529D365D1A}"/>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98" name="TextBox 97">
              <a:extLst>
                <a:ext uri="{FF2B5EF4-FFF2-40B4-BE49-F238E27FC236}">
                  <a16:creationId xmlns:a16="http://schemas.microsoft.com/office/drawing/2014/main" id="{4C19D7FB-48AD-8729-6285-FDB8F61DF757}"/>
                </a:ext>
              </a:extLst>
            </p:cNvPr>
            <p:cNvSpPr txBox="1"/>
            <p:nvPr/>
          </p:nvSpPr>
          <p:spPr>
            <a:xfrm>
              <a:off x="7279231" y="5707524"/>
              <a:ext cx="493169" cy="276999"/>
            </a:xfrm>
            <a:prstGeom prst="rect">
              <a:avLst/>
            </a:prstGeom>
            <a:noFill/>
          </p:spPr>
          <p:txBody>
            <a:bodyPr wrap="square">
              <a:spAutoFit/>
            </a:bodyPr>
            <a:lstStyle/>
            <a:p>
              <a:pPr algn="ctr"/>
              <a:r>
                <a:rPr lang="en-US" sz="1200" b="1" dirty="0">
                  <a:solidFill>
                    <a:srgbClr val="0070C0"/>
                  </a:solidFill>
                </a:rPr>
                <a:t>Dev</a:t>
              </a:r>
            </a:p>
          </p:txBody>
        </p:sp>
      </p:grpSp>
      <p:grpSp>
        <p:nvGrpSpPr>
          <p:cNvPr id="100" name="Group 99">
            <a:extLst>
              <a:ext uri="{FF2B5EF4-FFF2-40B4-BE49-F238E27FC236}">
                <a16:creationId xmlns:a16="http://schemas.microsoft.com/office/drawing/2014/main" id="{14144966-D7EE-32B3-7C5F-EE9F5EC8A7B1}"/>
              </a:ext>
            </a:extLst>
          </p:cNvPr>
          <p:cNvGrpSpPr/>
          <p:nvPr/>
        </p:nvGrpSpPr>
        <p:grpSpPr>
          <a:xfrm>
            <a:off x="8316481" y="3436946"/>
            <a:ext cx="493169" cy="357054"/>
            <a:chOff x="7279231" y="5667496"/>
            <a:chExt cx="493169" cy="357054"/>
          </a:xfrm>
        </p:grpSpPr>
        <p:sp>
          <p:nvSpPr>
            <p:cNvPr id="101" name="TextBox 100">
              <a:extLst>
                <a:ext uri="{FF2B5EF4-FFF2-40B4-BE49-F238E27FC236}">
                  <a16:creationId xmlns:a16="http://schemas.microsoft.com/office/drawing/2014/main" id="{C373CD4E-100A-3738-23FF-39EDF1BB3944}"/>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02" name="TextBox 101">
              <a:extLst>
                <a:ext uri="{FF2B5EF4-FFF2-40B4-BE49-F238E27FC236}">
                  <a16:creationId xmlns:a16="http://schemas.microsoft.com/office/drawing/2014/main" id="{C0B56F58-F714-BF8F-CC57-CE1B35120C77}"/>
                </a:ext>
              </a:extLst>
            </p:cNvPr>
            <p:cNvSpPr txBox="1"/>
            <p:nvPr/>
          </p:nvSpPr>
          <p:spPr>
            <a:xfrm>
              <a:off x="7279231" y="5707524"/>
              <a:ext cx="493169" cy="276999"/>
            </a:xfrm>
            <a:prstGeom prst="rect">
              <a:avLst/>
            </a:prstGeom>
            <a:noFill/>
          </p:spPr>
          <p:txBody>
            <a:bodyPr wrap="square">
              <a:spAutoFit/>
            </a:bodyPr>
            <a:lstStyle/>
            <a:p>
              <a:pPr algn="ctr"/>
              <a:r>
                <a:rPr lang="en-US" sz="1200" b="1" dirty="0">
                  <a:solidFill>
                    <a:srgbClr val="0070C0"/>
                  </a:solidFill>
                </a:rPr>
                <a:t>Dev</a:t>
              </a:r>
            </a:p>
          </p:txBody>
        </p:sp>
      </p:grpSp>
      <p:grpSp>
        <p:nvGrpSpPr>
          <p:cNvPr id="103" name="Group 102">
            <a:extLst>
              <a:ext uri="{FF2B5EF4-FFF2-40B4-BE49-F238E27FC236}">
                <a16:creationId xmlns:a16="http://schemas.microsoft.com/office/drawing/2014/main" id="{166DDC03-1117-5A39-6115-50AE6AE90CAE}"/>
              </a:ext>
            </a:extLst>
          </p:cNvPr>
          <p:cNvGrpSpPr/>
          <p:nvPr/>
        </p:nvGrpSpPr>
        <p:grpSpPr>
          <a:xfrm>
            <a:off x="8316479" y="4006652"/>
            <a:ext cx="493169" cy="357054"/>
            <a:chOff x="7279231" y="5667496"/>
            <a:chExt cx="493169" cy="357054"/>
          </a:xfrm>
        </p:grpSpPr>
        <p:sp>
          <p:nvSpPr>
            <p:cNvPr id="104" name="TextBox 103">
              <a:extLst>
                <a:ext uri="{FF2B5EF4-FFF2-40B4-BE49-F238E27FC236}">
                  <a16:creationId xmlns:a16="http://schemas.microsoft.com/office/drawing/2014/main" id="{BA0A8811-9224-9185-C8F0-D6561577795E}"/>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05" name="TextBox 104">
              <a:extLst>
                <a:ext uri="{FF2B5EF4-FFF2-40B4-BE49-F238E27FC236}">
                  <a16:creationId xmlns:a16="http://schemas.microsoft.com/office/drawing/2014/main" id="{CA4FD44C-4179-868F-3D19-91C310C6380C}"/>
                </a:ext>
              </a:extLst>
            </p:cNvPr>
            <p:cNvSpPr txBox="1"/>
            <p:nvPr/>
          </p:nvSpPr>
          <p:spPr>
            <a:xfrm>
              <a:off x="7279231" y="5707524"/>
              <a:ext cx="493169" cy="276999"/>
            </a:xfrm>
            <a:prstGeom prst="rect">
              <a:avLst/>
            </a:prstGeom>
            <a:noFill/>
          </p:spPr>
          <p:txBody>
            <a:bodyPr wrap="square">
              <a:spAutoFit/>
            </a:bodyPr>
            <a:lstStyle/>
            <a:p>
              <a:pPr algn="ctr"/>
              <a:r>
                <a:rPr lang="en-US" sz="1200" b="1" dirty="0">
                  <a:solidFill>
                    <a:srgbClr val="0070C0"/>
                  </a:solidFill>
                </a:rPr>
                <a:t>HR</a:t>
              </a:r>
            </a:p>
          </p:txBody>
        </p:sp>
      </p:grpSp>
      <p:grpSp>
        <p:nvGrpSpPr>
          <p:cNvPr id="106" name="Group 105">
            <a:extLst>
              <a:ext uri="{FF2B5EF4-FFF2-40B4-BE49-F238E27FC236}">
                <a16:creationId xmlns:a16="http://schemas.microsoft.com/office/drawing/2014/main" id="{20E6EFB1-66F8-6C2E-748F-E47B4B39C39C}"/>
              </a:ext>
            </a:extLst>
          </p:cNvPr>
          <p:cNvGrpSpPr/>
          <p:nvPr/>
        </p:nvGrpSpPr>
        <p:grpSpPr>
          <a:xfrm>
            <a:off x="7436645" y="3436946"/>
            <a:ext cx="850007" cy="686359"/>
            <a:chOff x="7279231" y="5667496"/>
            <a:chExt cx="493169" cy="686359"/>
          </a:xfrm>
        </p:grpSpPr>
        <p:sp>
          <p:nvSpPr>
            <p:cNvPr id="107" name="TextBox 106">
              <a:extLst>
                <a:ext uri="{FF2B5EF4-FFF2-40B4-BE49-F238E27FC236}">
                  <a16:creationId xmlns:a16="http://schemas.microsoft.com/office/drawing/2014/main" id="{10DA95F8-588A-942A-C7DB-07361856C0D3}"/>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08" name="TextBox 107">
              <a:extLst>
                <a:ext uri="{FF2B5EF4-FFF2-40B4-BE49-F238E27FC236}">
                  <a16:creationId xmlns:a16="http://schemas.microsoft.com/office/drawing/2014/main" id="{10937113-2F21-742F-E9E4-5DDD87289A07}"/>
                </a:ext>
              </a:extLst>
            </p:cNvPr>
            <p:cNvSpPr txBox="1"/>
            <p:nvPr/>
          </p:nvSpPr>
          <p:spPr>
            <a:xfrm>
              <a:off x="7279231" y="5707524"/>
              <a:ext cx="493169" cy="646331"/>
            </a:xfrm>
            <a:prstGeom prst="rect">
              <a:avLst/>
            </a:prstGeom>
            <a:noFill/>
          </p:spPr>
          <p:txBody>
            <a:bodyPr wrap="square">
              <a:spAutoFit/>
            </a:bodyPr>
            <a:lstStyle/>
            <a:p>
              <a:pPr algn="ctr"/>
              <a:r>
                <a:rPr lang="en-US" sz="1200" b="1" dirty="0">
                  <a:solidFill>
                    <a:srgbClr val="0070C0"/>
                  </a:solidFill>
                </a:rPr>
                <a:t>Support</a:t>
              </a:r>
            </a:p>
          </p:txBody>
        </p:sp>
      </p:grpSp>
      <p:grpSp>
        <p:nvGrpSpPr>
          <p:cNvPr id="110" name="Group 109">
            <a:extLst>
              <a:ext uri="{FF2B5EF4-FFF2-40B4-BE49-F238E27FC236}">
                <a16:creationId xmlns:a16="http://schemas.microsoft.com/office/drawing/2014/main" id="{69EB02DA-94C5-0EEA-695A-D812A592EB40}"/>
              </a:ext>
            </a:extLst>
          </p:cNvPr>
          <p:cNvGrpSpPr/>
          <p:nvPr/>
        </p:nvGrpSpPr>
        <p:grpSpPr>
          <a:xfrm>
            <a:off x="7108070" y="4544455"/>
            <a:ext cx="663318" cy="357054"/>
            <a:chOff x="5610265" y="5613522"/>
            <a:chExt cx="971470" cy="357054"/>
          </a:xfrm>
        </p:grpSpPr>
        <p:sp>
          <p:nvSpPr>
            <p:cNvPr id="111" name="TextBox 110">
              <a:extLst>
                <a:ext uri="{FF2B5EF4-FFF2-40B4-BE49-F238E27FC236}">
                  <a16:creationId xmlns:a16="http://schemas.microsoft.com/office/drawing/2014/main" id="{AB38679C-0485-DC56-3E51-9D63AE7EAE0F}"/>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12" name="TextBox 111">
              <a:extLst>
                <a:ext uri="{FF2B5EF4-FFF2-40B4-BE49-F238E27FC236}">
                  <a16:creationId xmlns:a16="http://schemas.microsoft.com/office/drawing/2014/main" id="{437D547E-1A02-E3FE-74F1-24F3471E3B2D}"/>
                </a:ext>
              </a:extLst>
            </p:cNvPr>
            <p:cNvSpPr txBox="1"/>
            <p:nvPr/>
          </p:nvSpPr>
          <p:spPr>
            <a:xfrm>
              <a:off x="5610265" y="5653550"/>
              <a:ext cx="971470" cy="276999"/>
            </a:xfrm>
            <a:prstGeom prst="rect">
              <a:avLst/>
            </a:prstGeom>
            <a:noFill/>
          </p:spPr>
          <p:txBody>
            <a:bodyPr wrap="square">
              <a:spAutoFit/>
            </a:bodyPr>
            <a:lstStyle/>
            <a:p>
              <a:pPr algn="ctr"/>
              <a:r>
                <a:rPr lang="en-US" sz="1200" b="1" dirty="0">
                  <a:solidFill>
                    <a:srgbClr val="4C4C4C"/>
                  </a:solidFill>
                </a:rPr>
                <a:t>Blob</a:t>
              </a:r>
            </a:p>
          </p:txBody>
        </p:sp>
      </p:grpSp>
      <p:grpSp>
        <p:nvGrpSpPr>
          <p:cNvPr id="113" name="Group 112">
            <a:extLst>
              <a:ext uri="{FF2B5EF4-FFF2-40B4-BE49-F238E27FC236}">
                <a16:creationId xmlns:a16="http://schemas.microsoft.com/office/drawing/2014/main" id="{18551C45-3817-26CE-A5AA-B9CDBD2E9F96}"/>
              </a:ext>
            </a:extLst>
          </p:cNvPr>
          <p:cNvGrpSpPr/>
          <p:nvPr/>
        </p:nvGrpSpPr>
        <p:grpSpPr>
          <a:xfrm>
            <a:off x="7801216" y="4544455"/>
            <a:ext cx="485436" cy="357054"/>
            <a:chOff x="5610265" y="5613522"/>
            <a:chExt cx="971470" cy="357054"/>
          </a:xfrm>
        </p:grpSpPr>
        <p:sp>
          <p:nvSpPr>
            <p:cNvPr id="114" name="TextBox 113">
              <a:extLst>
                <a:ext uri="{FF2B5EF4-FFF2-40B4-BE49-F238E27FC236}">
                  <a16:creationId xmlns:a16="http://schemas.microsoft.com/office/drawing/2014/main" id="{5CCE9028-9691-035C-F1CD-CE154E934654}"/>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15" name="TextBox 114">
              <a:extLst>
                <a:ext uri="{FF2B5EF4-FFF2-40B4-BE49-F238E27FC236}">
                  <a16:creationId xmlns:a16="http://schemas.microsoft.com/office/drawing/2014/main" id="{325C2149-B65D-66A8-6309-CE57CA9DF205}"/>
                </a:ext>
              </a:extLst>
            </p:cNvPr>
            <p:cNvSpPr txBox="1"/>
            <p:nvPr/>
          </p:nvSpPr>
          <p:spPr>
            <a:xfrm>
              <a:off x="5610265" y="5653550"/>
              <a:ext cx="971470" cy="276999"/>
            </a:xfrm>
            <a:prstGeom prst="rect">
              <a:avLst/>
            </a:prstGeom>
            <a:noFill/>
          </p:spPr>
          <p:txBody>
            <a:bodyPr wrap="square">
              <a:spAutoFit/>
            </a:bodyPr>
            <a:lstStyle/>
            <a:p>
              <a:pPr algn="ctr"/>
              <a:r>
                <a:rPr lang="en-US" sz="1200" b="1" dirty="0">
                  <a:solidFill>
                    <a:srgbClr val="4C4C4C"/>
                  </a:solidFill>
                </a:rPr>
                <a:t>SQL</a:t>
              </a:r>
            </a:p>
          </p:txBody>
        </p:sp>
      </p:grpSp>
      <p:grpSp>
        <p:nvGrpSpPr>
          <p:cNvPr id="116" name="Group 115">
            <a:extLst>
              <a:ext uri="{FF2B5EF4-FFF2-40B4-BE49-F238E27FC236}">
                <a16:creationId xmlns:a16="http://schemas.microsoft.com/office/drawing/2014/main" id="{85D4B621-1756-F10F-54FB-477850BB6840}"/>
              </a:ext>
            </a:extLst>
          </p:cNvPr>
          <p:cNvGrpSpPr/>
          <p:nvPr/>
        </p:nvGrpSpPr>
        <p:grpSpPr>
          <a:xfrm>
            <a:off x="7310261" y="4006652"/>
            <a:ext cx="971470" cy="357054"/>
            <a:chOff x="5610265" y="5613522"/>
            <a:chExt cx="971470" cy="357054"/>
          </a:xfrm>
        </p:grpSpPr>
        <p:sp>
          <p:nvSpPr>
            <p:cNvPr id="117" name="TextBox 116">
              <a:extLst>
                <a:ext uri="{FF2B5EF4-FFF2-40B4-BE49-F238E27FC236}">
                  <a16:creationId xmlns:a16="http://schemas.microsoft.com/office/drawing/2014/main" id="{120A86F9-5EAF-AAEC-4EF7-30649F2814C1}"/>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18" name="TextBox 117">
              <a:extLst>
                <a:ext uri="{FF2B5EF4-FFF2-40B4-BE49-F238E27FC236}">
                  <a16:creationId xmlns:a16="http://schemas.microsoft.com/office/drawing/2014/main" id="{AE2ADFC2-FD03-D7B3-4A51-B9258BDBCEDA}"/>
                </a:ext>
              </a:extLst>
            </p:cNvPr>
            <p:cNvSpPr txBox="1"/>
            <p:nvPr/>
          </p:nvSpPr>
          <p:spPr>
            <a:xfrm>
              <a:off x="5610265" y="5653550"/>
              <a:ext cx="971470" cy="276999"/>
            </a:xfrm>
            <a:prstGeom prst="rect">
              <a:avLst/>
            </a:prstGeom>
            <a:noFill/>
          </p:spPr>
          <p:txBody>
            <a:bodyPr wrap="square">
              <a:spAutoFit/>
            </a:bodyPr>
            <a:lstStyle/>
            <a:p>
              <a:pPr algn="ctr"/>
              <a:r>
                <a:rPr lang="en-US" sz="1200" b="1" dirty="0">
                  <a:solidFill>
                    <a:srgbClr val="4C4C4C"/>
                  </a:solidFill>
                </a:rPr>
                <a:t>SharePoint</a:t>
              </a:r>
            </a:p>
          </p:txBody>
        </p:sp>
      </p:grpSp>
      <p:grpSp>
        <p:nvGrpSpPr>
          <p:cNvPr id="119" name="Group 118">
            <a:extLst>
              <a:ext uri="{FF2B5EF4-FFF2-40B4-BE49-F238E27FC236}">
                <a16:creationId xmlns:a16="http://schemas.microsoft.com/office/drawing/2014/main" id="{16C0A40E-3BC4-ACD7-841B-05DCE2EA9AD7}"/>
              </a:ext>
            </a:extLst>
          </p:cNvPr>
          <p:cNvGrpSpPr/>
          <p:nvPr/>
        </p:nvGrpSpPr>
        <p:grpSpPr>
          <a:xfrm>
            <a:off x="6743498" y="3436946"/>
            <a:ext cx="663318" cy="357054"/>
            <a:chOff x="5610265" y="5613522"/>
            <a:chExt cx="971470" cy="357054"/>
          </a:xfrm>
        </p:grpSpPr>
        <p:sp>
          <p:nvSpPr>
            <p:cNvPr id="120" name="TextBox 119">
              <a:extLst>
                <a:ext uri="{FF2B5EF4-FFF2-40B4-BE49-F238E27FC236}">
                  <a16:creationId xmlns:a16="http://schemas.microsoft.com/office/drawing/2014/main" id="{081AC147-CA14-4E7F-20ED-B18C662D9E95}"/>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dirty="0">
                <a:solidFill>
                  <a:schemeClr val="accent3"/>
                </a:solidFill>
              </a:endParaRPr>
            </a:p>
          </p:txBody>
        </p:sp>
        <p:sp>
          <p:nvSpPr>
            <p:cNvPr id="121" name="TextBox 120">
              <a:extLst>
                <a:ext uri="{FF2B5EF4-FFF2-40B4-BE49-F238E27FC236}">
                  <a16:creationId xmlns:a16="http://schemas.microsoft.com/office/drawing/2014/main" id="{242AED77-0311-2F60-7D0A-F60CA00B12B1}"/>
                </a:ext>
              </a:extLst>
            </p:cNvPr>
            <p:cNvSpPr txBox="1"/>
            <p:nvPr/>
          </p:nvSpPr>
          <p:spPr>
            <a:xfrm>
              <a:off x="5610265" y="5653550"/>
              <a:ext cx="971470" cy="276999"/>
            </a:xfrm>
            <a:prstGeom prst="rect">
              <a:avLst/>
            </a:prstGeom>
            <a:noFill/>
          </p:spPr>
          <p:txBody>
            <a:bodyPr wrap="square">
              <a:spAutoFit/>
            </a:bodyPr>
            <a:lstStyle/>
            <a:p>
              <a:pPr algn="ctr"/>
              <a:r>
                <a:rPr lang="en-US" sz="1200" b="1" dirty="0">
                  <a:solidFill>
                    <a:srgbClr val="4C4C4C"/>
                  </a:solidFill>
                </a:rPr>
                <a:t>Blob</a:t>
              </a:r>
            </a:p>
          </p:txBody>
        </p:sp>
      </p:grpSp>
    </p:spTree>
    <p:extLst>
      <p:ext uri="{BB962C8B-B14F-4D97-AF65-F5344CB8AC3E}">
        <p14:creationId xmlns:p14="http://schemas.microsoft.com/office/powerpoint/2010/main" val="245978921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F99B-545A-40CD-DCED-CC449C5DF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AE524-3671-3E6F-A835-C5000246E3E0}"/>
              </a:ext>
            </a:extLst>
          </p:cNvPr>
          <p:cNvSpPr>
            <a:spLocks noGrp="1"/>
          </p:cNvSpPr>
          <p:nvPr>
            <p:ph type="title"/>
          </p:nvPr>
        </p:nvSpPr>
        <p:spPr>
          <a:xfrm>
            <a:off x="588261" y="585216"/>
            <a:ext cx="11011601" cy="492443"/>
          </a:xfrm>
        </p:spPr>
        <p:txBody>
          <a:bodyPr/>
          <a:lstStyle/>
          <a:p>
            <a:r>
              <a:rPr lang="en-US" sz="3200" b="1" dirty="0"/>
              <a:t>Configure data sources</a:t>
            </a:r>
            <a:endParaRPr lang="en-US" sz="3200" dirty="0"/>
          </a:p>
        </p:txBody>
      </p:sp>
      <p:sp>
        <p:nvSpPr>
          <p:cNvPr id="3" name="Footer Placeholder 2">
            <a:extLst>
              <a:ext uri="{FF2B5EF4-FFF2-40B4-BE49-F238E27FC236}">
                <a16:creationId xmlns:a16="http://schemas.microsoft.com/office/drawing/2014/main" id="{11401DFD-146A-D1BB-CA09-DF6B7538628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Rounded Rectangle 4">
            <a:extLst>
              <a:ext uri="{FF2B5EF4-FFF2-40B4-BE49-F238E27FC236}">
                <a16:creationId xmlns:a16="http://schemas.microsoft.com/office/drawing/2014/main" id="{EE39DA76-3ED6-4C5B-F054-CDA6F0BB47AA}"/>
              </a:ext>
            </a:extLst>
          </p:cNvPr>
          <p:cNvSpPr/>
          <p:nvPr/>
        </p:nvSpPr>
        <p:spPr bwMode="auto">
          <a:xfrm>
            <a:off x="588262" y="1493024"/>
            <a:ext cx="3474720" cy="3190490"/>
          </a:xfrm>
          <a:prstGeom prst="roundRect">
            <a:avLst>
              <a:gd name="adj" fmla="val 5473"/>
            </a:avLst>
          </a:prstGeom>
          <a:solidFill>
            <a:srgbClr val="D9EBF8">
              <a:alpha val="50196"/>
            </a:srgbClr>
          </a:solidFill>
          <a:ln>
            <a:solidFill>
              <a:schemeClr val="tx2">
                <a:lumMod val="10000"/>
                <a:lumOff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ounded Rectangle 5">
            <a:extLst>
              <a:ext uri="{FF2B5EF4-FFF2-40B4-BE49-F238E27FC236}">
                <a16:creationId xmlns:a16="http://schemas.microsoft.com/office/drawing/2014/main" id="{7A03F89A-0FED-8D99-ABBA-C33FFF5611A4}"/>
              </a:ext>
            </a:extLst>
          </p:cNvPr>
          <p:cNvSpPr/>
          <p:nvPr/>
        </p:nvSpPr>
        <p:spPr bwMode="auto">
          <a:xfrm>
            <a:off x="4358640" y="1493024"/>
            <a:ext cx="3474720" cy="3190490"/>
          </a:xfrm>
          <a:prstGeom prst="roundRect">
            <a:avLst>
              <a:gd name="adj" fmla="val 5473"/>
            </a:avLst>
          </a:prstGeom>
          <a:solidFill>
            <a:srgbClr val="ECC9EE">
              <a:alpha val="49804"/>
            </a:srgbClr>
          </a:solidFill>
          <a:ln>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ounded Rectangle 6">
            <a:extLst>
              <a:ext uri="{FF2B5EF4-FFF2-40B4-BE49-F238E27FC236}">
                <a16:creationId xmlns:a16="http://schemas.microsoft.com/office/drawing/2014/main" id="{40E545EA-1B48-40AD-9E2D-B21A9797B1CF}"/>
              </a:ext>
            </a:extLst>
          </p:cNvPr>
          <p:cNvSpPr/>
          <p:nvPr/>
        </p:nvSpPr>
        <p:spPr bwMode="auto">
          <a:xfrm>
            <a:off x="8129018" y="1493024"/>
            <a:ext cx="3474720" cy="3190490"/>
          </a:xfrm>
          <a:prstGeom prst="roundRect">
            <a:avLst>
              <a:gd name="adj" fmla="val 5473"/>
            </a:avLst>
          </a:prstGeom>
          <a:solidFill>
            <a:schemeClr val="accent3">
              <a:lumMod val="20000"/>
              <a:lumOff val="80000"/>
              <a:alpha val="50196"/>
            </a:schemeClr>
          </a:solidFill>
          <a:ln>
            <a:solidFill>
              <a:schemeClr val="accent3">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ounded Rectangle 7">
            <a:extLst>
              <a:ext uri="{FF2B5EF4-FFF2-40B4-BE49-F238E27FC236}">
                <a16:creationId xmlns:a16="http://schemas.microsoft.com/office/drawing/2014/main" id="{0817C239-F792-EE8A-72C8-FD14AE1CD4D5}"/>
              </a:ext>
            </a:extLst>
          </p:cNvPr>
          <p:cNvSpPr/>
          <p:nvPr/>
        </p:nvSpPr>
        <p:spPr bwMode="auto">
          <a:xfrm>
            <a:off x="738052" y="1661794"/>
            <a:ext cx="365760" cy="36576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descr="Magnifying glass with solid fill">
            <a:extLst>
              <a:ext uri="{FF2B5EF4-FFF2-40B4-BE49-F238E27FC236}">
                <a16:creationId xmlns:a16="http://schemas.microsoft.com/office/drawing/2014/main" id="{DD0F64AB-5F3F-0E8D-747C-880FE5CF78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587" y="1743329"/>
            <a:ext cx="202690" cy="202690"/>
          </a:xfrm>
          <a:prstGeom prst="rect">
            <a:avLst/>
          </a:prstGeom>
        </p:spPr>
      </p:pic>
      <p:sp>
        <p:nvSpPr>
          <p:cNvPr id="11" name="Rounded Rectangle 10">
            <a:extLst>
              <a:ext uri="{FF2B5EF4-FFF2-40B4-BE49-F238E27FC236}">
                <a16:creationId xmlns:a16="http://schemas.microsoft.com/office/drawing/2014/main" id="{A0E1CFC7-DCC4-53A0-D988-F9B97D225610}"/>
              </a:ext>
            </a:extLst>
          </p:cNvPr>
          <p:cNvSpPr/>
          <p:nvPr/>
        </p:nvSpPr>
        <p:spPr bwMode="auto">
          <a:xfrm>
            <a:off x="4547870" y="1661794"/>
            <a:ext cx="365760" cy="36576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 name="Graphic 11" descr="Open folder with solid fill">
            <a:extLst>
              <a:ext uri="{FF2B5EF4-FFF2-40B4-BE49-F238E27FC236}">
                <a16:creationId xmlns:a16="http://schemas.microsoft.com/office/drawing/2014/main" id="{94098648-0A0A-7D3C-3F7F-F21617D427F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629405" y="1743329"/>
            <a:ext cx="202690" cy="202690"/>
          </a:xfrm>
          <a:prstGeom prst="rect">
            <a:avLst/>
          </a:prstGeom>
        </p:spPr>
      </p:pic>
      <p:sp>
        <p:nvSpPr>
          <p:cNvPr id="13" name="Rounded Rectangle 12">
            <a:extLst>
              <a:ext uri="{FF2B5EF4-FFF2-40B4-BE49-F238E27FC236}">
                <a16:creationId xmlns:a16="http://schemas.microsoft.com/office/drawing/2014/main" id="{53D9FA24-EAC2-26B5-3DB9-F769B071F31B}"/>
              </a:ext>
            </a:extLst>
          </p:cNvPr>
          <p:cNvSpPr/>
          <p:nvPr/>
        </p:nvSpPr>
        <p:spPr bwMode="auto">
          <a:xfrm>
            <a:off x="8313265" y="1661794"/>
            <a:ext cx="365760" cy="36576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4" name="Graphic 13" descr="Lightning bolt with solid fill">
            <a:extLst>
              <a:ext uri="{FF2B5EF4-FFF2-40B4-BE49-F238E27FC236}">
                <a16:creationId xmlns:a16="http://schemas.microsoft.com/office/drawing/2014/main" id="{26147E06-82E6-52DC-DF03-96574685625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394800" y="1743329"/>
            <a:ext cx="202690" cy="202690"/>
          </a:xfrm>
          <a:prstGeom prst="rect">
            <a:avLst/>
          </a:prstGeom>
        </p:spPr>
      </p:pic>
      <p:sp>
        <p:nvSpPr>
          <p:cNvPr id="15" name="TextBox 14">
            <a:extLst>
              <a:ext uri="{FF2B5EF4-FFF2-40B4-BE49-F238E27FC236}">
                <a16:creationId xmlns:a16="http://schemas.microsoft.com/office/drawing/2014/main" id="{545F16C5-1445-0897-F808-BFA27272CB32}"/>
              </a:ext>
            </a:extLst>
          </p:cNvPr>
          <p:cNvSpPr txBox="1"/>
          <p:nvPr/>
        </p:nvSpPr>
        <p:spPr>
          <a:xfrm>
            <a:off x="1239423" y="1706174"/>
            <a:ext cx="2172397" cy="276999"/>
          </a:xfrm>
          <a:prstGeom prst="rect">
            <a:avLst/>
          </a:prstGeom>
          <a:noFill/>
        </p:spPr>
        <p:txBody>
          <a:bodyPr wrap="square" lIns="0" tIns="0" rIns="0" bIns="0" rtlCol="0">
            <a:spAutoFit/>
          </a:bodyPr>
          <a:lstStyle/>
          <a:p>
            <a:pPr algn="l"/>
            <a:r>
              <a:rPr lang="en-US" sz="1800" b="1" dirty="0">
                <a:solidFill>
                  <a:srgbClr val="0078D4"/>
                </a:solidFill>
              </a:rPr>
              <a:t>Indexed</a:t>
            </a:r>
          </a:p>
        </p:txBody>
      </p:sp>
      <p:sp>
        <p:nvSpPr>
          <p:cNvPr id="16" name="TextBox 15">
            <a:extLst>
              <a:ext uri="{FF2B5EF4-FFF2-40B4-BE49-F238E27FC236}">
                <a16:creationId xmlns:a16="http://schemas.microsoft.com/office/drawing/2014/main" id="{9B118E12-89C7-A292-D35E-200EAB4EDAB2}"/>
              </a:ext>
            </a:extLst>
          </p:cNvPr>
          <p:cNvSpPr txBox="1"/>
          <p:nvPr/>
        </p:nvSpPr>
        <p:spPr>
          <a:xfrm>
            <a:off x="5095437" y="1706174"/>
            <a:ext cx="2172397" cy="276999"/>
          </a:xfrm>
          <a:prstGeom prst="rect">
            <a:avLst/>
          </a:prstGeom>
          <a:noFill/>
        </p:spPr>
        <p:txBody>
          <a:bodyPr wrap="square" lIns="0" tIns="0" rIns="0" bIns="0" rtlCol="0">
            <a:spAutoFit/>
          </a:bodyPr>
          <a:lstStyle/>
          <a:p>
            <a:pPr algn="l"/>
            <a:r>
              <a:rPr lang="en-US" sz="1800" b="1" dirty="0">
                <a:solidFill>
                  <a:schemeClr val="accent1"/>
                </a:solidFill>
              </a:rPr>
              <a:t>Direct</a:t>
            </a:r>
          </a:p>
        </p:txBody>
      </p:sp>
      <p:sp>
        <p:nvSpPr>
          <p:cNvPr id="17" name="TextBox 16">
            <a:extLst>
              <a:ext uri="{FF2B5EF4-FFF2-40B4-BE49-F238E27FC236}">
                <a16:creationId xmlns:a16="http://schemas.microsoft.com/office/drawing/2014/main" id="{EE45018E-BE0D-A01B-1051-3F6292492E10}"/>
              </a:ext>
            </a:extLst>
          </p:cNvPr>
          <p:cNvSpPr txBox="1"/>
          <p:nvPr/>
        </p:nvSpPr>
        <p:spPr>
          <a:xfrm>
            <a:off x="8863272" y="1706173"/>
            <a:ext cx="2172397" cy="276999"/>
          </a:xfrm>
          <a:prstGeom prst="rect">
            <a:avLst/>
          </a:prstGeom>
          <a:noFill/>
        </p:spPr>
        <p:txBody>
          <a:bodyPr wrap="square" lIns="0" tIns="0" rIns="0" bIns="0" rtlCol="0">
            <a:spAutoFit/>
          </a:bodyPr>
          <a:lstStyle/>
          <a:p>
            <a:pPr algn="l"/>
            <a:r>
              <a:rPr lang="en-US" sz="1800" b="1" dirty="0">
                <a:solidFill>
                  <a:schemeClr val="accent3"/>
                </a:solidFill>
              </a:rPr>
              <a:t>Real-time</a:t>
            </a:r>
          </a:p>
        </p:txBody>
      </p:sp>
      <p:sp>
        <p:nvSpPr>
          <p:cNvPr id="18" name="RetrievalCard">
            <a:extLst>
              <a:ext uri="{FF2B5EF4-FFF2-40B4-BE49-F238E27FC236}">
                <a16:creationId xmlns:a16="http://schemas.microsoft.com/office/drawing/2014/main" id="{D363099D-D7F0-3FD3-077D-1FB366050C08}"/>
              </a:ext>
            </a:extLst>
          </p:cNvPr>
          <p:cNvSpPr/>
          <p:nvPr/>
        </p:nvSpPr>
        <p:spPr>
          <a:xfrm>
            <a:off x="748759" y="2551832"/>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n-US" sz="1400" b="1" noProof="0" dirty="0">
                <a:solidFill>
                  <a:schemeClr val="tx2"/>
                </a:solidFill>
                <a:latin typeface="+mj-lt"/>
              </a:rPr>
              <a:t>Azure AI Search Index</a:t>
            </a:r>
          </a:p>
          <a:p>
            <a:r>
              <a:rPr lang="en-US" sz="1200" dirty="0">
                <a:solidFill>
                  <a:schemeClr val="bg1">
                    <a:lumMod val="75000"/>
                  </a:schemeClr>
                </a:solidFill>
                <a:latin typeface="+mj-lt"/>
              </a:rPr>
              <a:t>BEST FOR</a:t>
            </a:r>
          </a:p>
          <a:p>
            <a:r>
              <a:rPr lang="en-US" sz="1200" dirty="0">
                <a:solidFill>
                  <a:schemeClr val="tx2"/>
                </a:solidFill>
              </a:rPr>
              <a:t>Enterprise search with custom ingestion pipelines and AI enrichment</a:t>
            </a:r>
            <a:endParaRPr lang="en-US" sz="1100" dirty="0">
              <a:solidFill>
                <a:schemeClr val="tx2"/>
              </a:solidFill>
            </a:endParaRPr>
          </a:p>
        </p:txBody>
      </p:sp>
      <p:sp>
        <p:nvSpPr>
          <p:cNvPr id="19" name="RetrievalCard">
            <a:extLst>
              <a:ext uri="{FF2B5EF4-FFF2-40B4-BE49-F238E27FC236}">
                <a16:creationId xmlns:a16="http://schemas.microsoft.com/office/drawing/2014/main" id="{4F3380D0-8293-FC78-BCE1-706AA816C785}"/>
              </a:ext>
            </a:extLst>
          </p:cNvPr>
          <p:cNvSpPr/>
          <p:nvPr/>
        </p:nvSpPr>
        <p:spPr>
          <a:xfrm>
            <a:off x="748759" y="3636227"/>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91F2E"/>
                </a:solidFill>
                <a:effectLst/>
                <a:uLnTx/>
                <a:uFillTx/>
                <a:latin typeface="Segoe UI Semibold"/>
                <a:ea typeface="+mn-ea"/>
                <a:cs typeface="+mn-cs"/>
              </a:rPr>
              <a:t>SharePoint (Indexed)</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75000"/>
                  </a:srgbClr>
                </a:solidFill>
                <a:effectLst/>
                <a:uLnTx/>
                <a:uFillTx/>
                <a:latin typeface="Segoe UI Semibold"/>
                <a:ea typeface="+mn-ea"/>
                <a:cs typeface="+mn-cs"/>
              </a:rPr>
              <a:t>BEST FOR</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91F2E"/>
                </a:solidFill>
                <a:effectLst/>
                <a:uLnTx/>
                <a:uFillTx/>
                <a:latin typeface="Segoe UI"/>
                <a:ea typeface="+mn-ea"/>
                <a:cs typeface="+mn-cs"/>
              </a:rPr>
              <a:t>Advanced search on SharePoint content with custom query pipelines</a:t>
            </a:r>
            <a:endParaRPr kumimoji="0" lang="en-US" sz="1100" b="0" i="0" u="none" strike="noStrike" kern="1200" cap="none" spc="0" normalizeH="0" baseline="0" noProof="0" dirty="0">
              <a:ln>
                <a:noFill/>
              </a:ln>
              <a:solidFill>
                <a:srgbClr val="091F2E"/>
              </a:solidFill>
              <a:effectLst/>
              <a:uLnTx/>
              <a:uFillTx/>
              <a:latin typeface="Segoe UI"/>
              <a:ea typeface="+mn-ea"/>
              <a:cs typeface="+mn-cs"/>
            </a:endParaRPr>
          </a:p>
        </p:txBody>
      </p:sp>
      <p:sp>
        <p:nvSpPr>
          <p:cNvPr id="20" name="RetrievalCard">
            <a:extLst>
              <a:ext uri="{FF2B5EF4-FFF2-40B4-BE49-F238E27FC236}">
                <a16:creationId xmlns:a16="http://schemas.microsoft.com/office/drawing/2014/main" id="{22933381-1072-F19C-8EA7-8B1DC45A6E9E}"/>
              </a:ext>
            </a:extLst>
          </p:cNvPr>
          <p:cNvSpPr/>
          <p:nvPr/>
        </p:nvSpPr>
        <p:spPr>
          <a:xfrm>
            <a:off x="4519138" y="2562465"/>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n-US" sz="1400" b="1" noProof="0" dirty="0">
                <a:solidFill>
                  <a:schemeClr val="tx2"/>
                </a:solidFill>
                <a:latin typeface="+mj-lt"/>
              </a:rPr>
              <a:t>Azure Blob Storage</a:t>
            </a:r>
          </a:p>
          <a:p>
            <a:r>
              <a:rPr lang="en-US" sz="1200" dirty="0">
                <a:solidFill>
                  <a:schemeClr val="bg1">
                    <a:lumMod val="75000"/>
                  </a:schemeClr>
                </a:solidFill>
                <a:latin typeface="+mj-lt"/>
              </a:rPr>
              <a:t>BEST FOR</a:t>
            </a:r>
          </a:p>
          <a:p>
            <a:r>
              <a:rPr lang="en-US" sz="1200" dirty="0">
                <a:solidFill>
                  <a:schemeClr val="tx2"/>
                </a:solidFill>
              </a:rPr>
              <a:t>Document files in Azure Storage — PDFs, DOCX, text, and more</a:t>
            </a:r>
            <a:endParaRPr lang="en-US" sz="1100" dirty="0">
              <a:solidFill>
                <a:schemeClr val="tx2"/>
              </a:solidFill>
            </a:endParaRPr>
          </a:p>
        </p:txBody>
      </p:sp>
      <p:sp>
        <p:nvSpPr>
          <p:cNvPr id="21" name="RetrievalCard">
            <a:extLst>
              <a:ext uri="{FF2B5EF4-FFF2-40B4-BE49-F238E27FC236}">
                <a16:creationId xmlns:a16="http://schemas.microsoft.com/office/drawing/2014/main" id="{79FCA400-D3B7-E05B-8CA1-2D90A1B3196A}"/>
              </a:ext>
            </a:extLst>
          </p:cNvPr>
          <p:cNvSpPr/>
          <p:nvPr/>
        </p:nvSpPr>
        <p:spPr>
          <a:xfrm>
            <a:off x="4519138" y="3646860"/>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091F2E"/>
                </a:solidFill>
                <a:effectLst/>
                <a:uLnTx/>
                <a:uFillTx/>
                <a:latin typeface="Segoe UI Semibold"/>
                <a:ea typeface="+mn-ea"/>
                <a:cs typeface="+mn-cs"/>
              </a:rPr>
              <a:t>OneLake</a:t>
            </a:r>
            <a:endParaRPr kumimoji="0" lang="en-US" sz="1400" b="1" i="0" u="none" strike="noStrike" kern="1200" cap="none" spc="0" normalizeH="0" baseline="0" noProof="0" dirty="0">
              <a:ln>
                <a:noFill/>
              </a:ln>
              <a:solidFill>
                <a:srgbClr val="091F2E"/>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75000"/>
                  </a:srgbClr>
                </a:solidFill>
                <a:effectLst/>
                <a:uLnTx/>
                <a:uFillTx/>
                <a:latin typeface="Segoe UI Semibold"/>
                <a:ea typeface="+mn-ea"/>
                <a:cs typeface="+mn-cs"/>
              </a:rPr>
              <a:t>BEST FOR</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91F2E"/>
                </a:solidFill>
                <a:effectLst/>
                <a:uLnTx/>
                <a:uFillTx/>
                <a:latin typeface="Segoe UI"/>
                <a:ea typeface="+mn-ea"/>
                <a:cs typeface="+mn-cs"/>
              </a:rPr>
              <a:t>Unstructured data and documents in Microsoft Fabric’s unified data lake</a:t>
            </a:r>
            <a:endParaRPr kumimoji="0" lang="en-US" sz="1100" b="0" i="0" u="none" strike="noStrike" kern="1200" cap="none" spc="0" normalizeH="0" baseline="0" noProof="0" dirty="0">
              <a:ln>
                <a:noFill/>
              </a:ln>
              <a:solidFill>
                <a:srgbClr val="091F2E"/>
              </a:solidFill>
              <a:effectLst/>
              <a:uLnTx/>
              <a:uFillTx/>
              <a:latin typeface="Segoe UI"/>
              <a:ea typeface="+mn-ea"/>
              <a:cs typeface="+mn-cs"/>
            </a:endParaRPr>
          </a:p>
        </p:txBody>
      </p:sp>
      <p:sp>
        <p:nvSpPr>
          <p:cNvPr id="22" name="RetrievalCard">
            <a:extLst>
              <a:ext uri="{FF2B5EF4-FFF2-40B4-BE49-F238E27FC236}">
                <a16:creationId xmlns:a16="http://schemas.microsoft.com/office/drawing/2014/main" id="{3643C847-1789-379D-597F-0B7AE12C99D0}"/>
              </a:ext>
            </a:extLst>
          </p:cNvPr>
          <p:cNvSpPr/>
          <p:nvPr/>
        </p:nvSpPr>
        <p:spPr>
          <a:xfrm>
            <a:off x="8289517" y="2562465"/>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n-US" sz="1400" b="1" noProof="0" dirty="0">
                <a:solidFill>
                  <a:schemeClr val="tx2"/>
                </a:solidFill>
                <a:latin typeface="+mj-lt"/>
              </a:rPr>
              <a:t>Web</a:t>
            </a:r>
          </a:p>
          <a:p>
            <a:r>
              <a:rPr lang="en-US" sz="1200" dirty="0">
                <a:solidFill>
                  <a:schemeClr val="bg1">
                    <a:lumMod val="75000"/>
                  </a:schemeClr>
                </a:solidFill>
                <a:latin typeface="+mj-lt"/>
              </a:rPr>
              <a:t>BEST FOR</a:t>
            </a:r>
          </a:p>
          <a:p>
            <a:r>
              <a:rPr lang="en-US" sz="1200" dirty="0">
                <a:solidFill>
                  <a:schemeClr val="tx2"/>
                </a:solidFill>
              </a:rPr>
              <a:t>Current public information retrieved via Bing at query time</a:t>
            </a:r>
            <a:endParaRPr lang="en-US" sz="1100" dirty="0">
              <a:solidFill>
                <a:schemeClr val="tx2"/>
              </a:solidFill>
            </a:endParaRPr>
          </a:p>
        </p:txBody>
      </p:sp>
      <p:sp>
        <p:nvSpPr>
          <p:cNvPr id="23" name="RetrievalCard">
            <a:extLst>
              <a:ext uri="{FF2B5EF4-FFF2-40B4-BE49-F238E27FC236}">
                <a16:creationId xmlns:a16="http://schemas.microsoft.com/office/drawing/2014/main" id="{EED7DCFF-3BB4-82BC-1360-C913A863C58C}"/>
              </a:ext>
            </a:extLst>
          </p:cNvPr>
          <p:cNvSpPr/>
          <p:nvPr/>
        </p:nvSpPr>
        <p:spPr>
          <a:xfrm>
            <a:off x="8289517" y="3646860"/>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91F2E"/>
                </a:solidFill>
                <a:effectLst/>
                <a:uLnTx/>
                <a:uFillTx/>
                <a:latin typeface="Segoe UI Semibold"/>
                <a:ea typeface="+mn-ea"/>
                <a:cs typeface="+mn-cs"/>
              </a:rPr>
              <a:t>SharePoint (Remote)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75000"/>
                  </a:srgbClr>
                </a:solidFill>
                <a:effectLst/>
                <a:uLnTx/>
                <a:uFillTx/>
                <a:latin typeface="Segoe UI Semibold"/>
                <a:ea typeface="+mn-ea"/>
                <a:cs typeface="+mn-cs"/>
              </a:rPr>
              <a:t>BEST FOR</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91F2E"/>
                </a:solidFill>
                <a:effectLst/>
                <a:uLnTx/>
                <a:uFillTx/>
                <a:latin typeface="Segoe UI"/>
                <a:ea typeface="+mn-ea"/>
                <a:cs typeface="+mn-cs"/>
              </a:rPr>
              <a:t>Live SharePoint content with Microsoft 365 governance and permissions</a:t>
            </a:r>
            <a:endParaRPr kumimoji="0" lang="en-US" sz="1100" b="0" i="0" u="none" strike="noStrike" kern="1200" cap="none" spc="0" normalizeH="0" baseline="0" noProof="0" dirty="0">
              <a:ln>
                <a:noFill/>
              </a:ln>
              <a:solidFill>
                <a:srgbClr val="091F2E"/>
              </a:solidFill>
              <a:effectLst/>
              <a:uLnTx/>
              <a:uFillTx/>
              <a:latin typeface="Segoe UI"/>
              <a:ea typeface="+mn-ea"/>
              <a:cs typeface="+mn-cs"/>
            </a:endParaRPr>
          </a:p>
        </p:txBody>
      </p:sp>
      <p:grpSp>
        <p:nvGrpSpPr>
          <p:cNvPr id="44" name="Group 43">
            <a:extLst>
              <a:ext uri="{FF2B5EF4-FFF2-40B4-BE49-F238E27FC236}">
                <a16:creationId xmlns:a16="http://schemas.microsoft.com/office/drawing/2014/main" id="{5A6CAF62-4673-5C9A-414A-D6BBAB6927AB}"/>
              </a:ext>
            </a:extLst>
          </p:cNvPr>
          <p:cNvGrpSpPr/>
          <p:nvPr/>
        </p:nvGrpSpPr>
        <p:grpSpPr>
          <a:xfrm>
            <a:off x="746254" y="2095058"/>
            <a:ext cx="1037941" cy="298609"/>
            <a:chOff x="7279231" y="5696718"/>
            <a:chExt cx="493169" cy="298609"/>
          </a:xfrm>
        </p:grpSpPr>
        <p:sp>
          <p:nvSpPr>
            <p:cNvPr id="45" name="TextBox 44">
              <a:extLst>
                <a:ext uri="{FF2B5EF4-FFF2-40B4-BE49-F238E27FC236}">
                  <a16:creationId xmlns:a16="http://schemas.microsoft.com/office/drawing/2014/main" id="{4B0BF377-43BA-BC8E-AAC8-811AA8AFCC0B}"/>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46" name="TextBox 45">
              <a:extLst>
                <a:ext uri="{FF2B5EF4-FFF2-40B4-BE49-F238E27FC236}">
                  <a16:creationId xmlns:a16="http://schemas.microsoft.com/office/drawing/2014/main" id="{7620ABBB-0E50-A710-032D-9F9AAD2249C4}"/>
                </a:ext>
              </a:extLst>
            </p:cNvPr>
            <p:cNvSpPr txBox="1"/>
            <p:nvPr/>
          </p:nvSpPr>
          <p:spPr>
            <a:xfrm>
              <a:off x="7279231" y="5707524"/>
              <a:ext cx="493169" cy="246221"/>
            </a:xfrm>
            <a:prstGeom prst="rect">
              <a:avLst/>
            </a:prstGeom>
            <a:noFill/>
          </p:spPr>
          <p:txBody>
            <a:bodyPr wrap="square">
              <a:spAutoFit/>
            </a:bodyPr>
            <a:lstStyle/>
            <a:p>
              <a:pPr algn="ctr"/>
              <a:r>
                <a:rPr lang="en-US" sz="1000" b="1" dirty="0">
                  <a:solidFill>
                    <a:srgbClr val="0070C0"/>
                  </a:solidFill>
                </a:rPr>
                <a:t>Pre-processed</a:t>
              </a:r>
            </a:p>
          </p:txBody>
        </p:sp>
      </p:grpSp>
      <p:grpSp>
        <p:nvGrpSpPr>
          <p:cNvPr id="47" name="Group 46">
            <a:extLst>
              <a:ext uri="{FF2B5EF4-FFF2-40B4-BE49-F238E27FC236}">
                <a16:creationId xmlns:a16="http://schemas.microsoft.com/office/drawing/2014/main" id="{348BB556-1FA1-2DC2-04B4-BF07D4CFD067}"/>
              </a:ext>
            </a:extLst>
          </p:cNvPr>
          <p:cNvGrpSpPr/>
          <p:nvPr/>
        </p:nvGrpSpPr>
        <p:grpSpPr>
          <a:xfrm>
            <a:off x="1840248" y="2095058"/>
            <a:ext cx="1097280" cy="410916"/>
            <a:chOff x="7279231" y="5696718"/>
            <a:chExt cx="493169" cy="410916"/>
          </a:xfrm>
        </p:grpSpPr>
        <p:sp>
          <p:nvSpPr>
            <p:cNvPr id="48" name="TextBox 47">
              <a:extLst>
                <a:ext uri="{FF2B5EF4-FFF2-40B4-BE49-F238E27FC236}">
                  <a16:creationId xmlns:a16="http://schemas.microsoft.com/office/drawing/2014/main" id="{3B7E2563-F8E4-67D4-F3ED-F82F75007126}"/>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49" name="TextBox 48">
              <a:extLst>
                <a:ext uri="{FF2B5EF4-FFF2-40B4-BE49-F238E27FC236}">
                  <a16:creationId xmlns:a16="http://schemas.microsoft.com/office/drawing/2014/main" id="{8111D9E0-01E2-33F3-1C41-697611D51227}"/>
                </a:ext>
              </a:extLst>
            </p:cNvPr>
            <p:cNvSpPr txBox="1"/>
            <p:nvPr/>
          </p:nvSpPr>
          <p:spPr>
            <a:xfrm>
              <a:off x="7279231" y="5707524"/>
              <a:ext cx="493169" cy="400110"/>
            </a:xfrm>
            <a:prstGeom prst="rect">
              <a:avLst/>
            </a:prstGeom>
            <a:noFill/>
          </p:spPr>
          <p:txBody>
            <a:bodyPr wrap="square">
              <a:spAutoFit/>
            </a:bodyPr>
            <a:lstStyle/>
            <a:p>
              <a:pPr algn="ctr"/>
              <a:r>
                <a:rPr lang="en-US" sz="1000" b="1" dirty="0">
                  <a:solidFill>
                    <a:srgbClr val="0070C0"/>
                  </a:solidFill>
                </a:rPr>
                <a:t>High relevance</a:t>
              </a:r>
            </a:p>
          </p:txBody>
        </p:sp>
      </p:grpSp>
      <p:grpSp>
        <p:nvGrpSpPr>
          <p:cNvPr id="50" name="Group 49">
            <a:extLst>
              <a:ext uri="{FF2B5EF4-FFF2-40B4-BE49-F238E27FC236}">
                <a16:creationId xmlns:a16="http://schemas.microsoft.com/office/drawing/2014/main" id="{3E00412C-5AF5-C56D-D39C-C3EE5960ADF0}"/>
              </a:ext>
            </a:extLst>
          </p:cNvPr>
          <p:cNvGrpSpPr/>
          <p:nvPr/>
        </p:nvGrpSpPr>
        <p:grpSpPr>
          <a:xfrm>
            <a:off x="2993580" y="2095058"/>
            <a:ext cx="822960" cy="298609"/>
            <a:chOff x="7279231" y="5696718"/>
            <a:chExt cx="493169" cy="298609"/>
          </a:xfrm>
        </p:grpSpPr>
        <p:sp>
          <p:nvSpPr>
            <p:cNvPr id="51" name="TextBox 50">
              <a:extLst>
                <a:ext uri="{FF2B5EF4-FFF2-40B4-BE49-F238E27FC236}">
                  <a16:creationId xmlns:a16="http://schemas.microsoft.com/office/drawing/2014/main" id="{616CFE05-3795-198E-3F77-38158143B25B}"/>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52" name="TextBox 51">
              <a:extLst>
                <a:ext uri="{FF2B5EF4-FFF2-40B4-BE49-F238E27FC236}">
                  <a16:creationId xmlns:a16="http://schemas.microsoft.com/office/drawing/2014/main" id="{038A7D04-3141-C3CD-A407-33A353BDA1E4}"/>
                </a:ext>
              </a:extLst>
            </p:cNvPr>
            <p:cNvSpPr txBox="1"/>
            <p:nvPr/>
          </p:nvSpPr>
          <p:spPr>
            <a:xfrm>
              <a:off x="7279231" y="5707524"/>
              <a:ext cx="493169" cy="246221"/>
            </a:xfrm>
            <a:prstGeom prst="rect">
              <a:avLst/>
            </a:prstGeom>
            <a:noFill/>
          </p:spPr>
          <p:txBody>
            <a:bodyPr wrap="square">
              <a:spAutoFit/>
            </a:bodyPr>
            <a:lstStyle/>
            <a:p>
              <a:pPr algn="ctr"/>
              <a:r>
                <a:rPr lang="en-US" sz="1000" b="1" dirty="0">
                  <a:solidFill>
                    <a:srgbClr val="0070C0"/>
                  </a:solidFill>
                </a:rPr>
                <a:t>Custom</a:t>
              </a:r>
            </a:p>
          </p:txBody>
        </p:sp>
      </p:grpSp>
      <p:sp>
        <p:nvSpPr>
          <p:cNvPr id="54" name="TextBox 53">
            <a:extLst>
              <a:ext uri="{FF2B5EF4-FFF2-40B4-BE49-F238E27FC236}">
                <a16:creationId xmlns:a16="http://schemas.microsoft.com/office/drawing/2014/main" id="{88A20FD5-9B98-636A-5FB6-6EDDF34BA68B}"/>
              </a:ext>
            </a:extLst>
          </p:cNvPr>
          <p:cNvSpPr txBox="1"/>
          <p:nvPr/>
        </p:nvSpPr>
        <p:spPr>
          <a:xfrm>
            <a:off x="4519138" y="2105864"/>
            <a:ext cx="1257194" cy="298609"/>
          </a:xfrm>
          <a:prstGeom prst="roundRect">
            <a:avLst>
              <a:gd name="adj" fmla="val 31261"/>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55" name="TextBox 54">
            <a:extLst>
              <a:ext uri="{FF2B5EF4-FFF2-40B4-BE49-F238E27FC236}">
                <a16:creationId xmlns:a16="http://schemas.microsoft.com/office/drawing/2014/main" id="{9E40E884-31A5-4AC0-5889-752E59D2E128}"/>
              </a:ext>
            </a:extLst>
          </p:cNvPr>
          <p:cNvSpPr txBox="1"/>
          <p:nvPr/>
        </p:nvSpPr>
        <p:spPr>
          <a:xfrm>
            <a:off x="4519138" y="2116670"/>
            <a:ext cx="1257194" cy="246221"/>
          </a:xfrm>
          <a:prstGeom prst="rect">
            <a:avLst/>
          </a:prstGeom>
          <a:noFill/>
        </p:spPr>
        <p:txBody>
          <a:bodyPr wrap="square">
            <a:spAutoFit/>
          </a:bodyPr>
          <a:lstStyle/>
          <a:p>
            <a:pPr algn="ctr"/>
            <a:r>
              <a:rPr lang="en-US" sz="1000" b="1" dirty="0">
                <a:solidFill>
                  <a:schemeClr val="accent1"/>
                </a:solidFill>
              </a:rPr>
              <a:t>No index needed</a:t>
            </a:r>
          </a:p>
        </p:txBody>
      </p:sp>
      <p:sp>
        <p:nvSpPr>
          <p:cNvPr id="57" name="TextBox 56">
            <a:extLst>
              <a:ext uri="{FF2B5EF4-FFF2-40B4-BE49-F238E27FC236}">
                <a16:creationId xmlns:a16="http://schemas.microsoft.com/office/drawing/2014/main" id="{FA0A8852-0DD3-E064-D9E4-7B565FF99C95}"/>
              </a:ext>
            </a:extLst>
          </p:cNvPr>
          <p:cNvSpPr txBox="1"/>
          <p:nvPr/>
        </p:nvSpPr>
        <p:spPr>
          <a:xfrm>
            <a:off x="5847306" y="2105864"/>
            <a:ext cx="1097280" cy="298609"/>
          </a:xfrm>
          <a:prstGeom prst="roundRect">
            <a:avLst>
              <a:gd name="adj" fmla="val 31261"/>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58" name="TextBox 57">
            <a:extLst>
              <a:ext uri="{FF2B5EF4-FFF2-40B4-BE49-F238E27FC236}">
                <a16:creationId xmlns:a16="http://schemas.microsoft.com/office/drawing/2014/main" id="{A0B471B2-0AF2-3DBA-0C48-88CDA4D7E12C}"/>
              </a:ext>
            </a:extLst>
          </p:cNvPr>
          <p:cNvSpPr txBox="1"/>
          <p:nvPr/>
        </p:nvSpPr>
        <p:spPr>
          <a:xfrm>
            <a:off x="5847306" y="2116670"/>
            <a:ext cx="1097280" cy="246221"/>
          </a:xfrm>
          <a:prstGeom prst="rect">
            <a:avLst/>
          </a:prstGeom>
          <a:noFill/>
        </p:spPr>
        <p:txBody>
          <a:bodyPr wrap="square">
            <a:spAutoFit/>
          </a:bodyPr>
          <a:lstStyle/>
          <a:p>
            <a:pPr algn="ctr"/>
            <a:r>
              <a:rPr lang="en-US" sz="1000" b="1" dirty="0">
                <a:solidFill>
                  <a:schemeClr val="accent1"/>
                </a:solidFill>
              </a:rPr>
              <a:t>Raw file access</a:t>
            </a:r>
          </a:p>
        </p:txBody>
      </p:sp>
      <p:grpSp>
        <p:nvGrpSpPr>
          <p:cNvPr id="74" name="Group 73">
            <a:extLst>
              <a:ext uri="{FF2B5EF4-FFF2-40B4-BE49-F238E27FC236}">
                <a16:creationId xmlns:a16="http://schemas.microsoft.com/office/drawing/2014/main" id="{3595241B-106A-9D1F-4C50-45938FFA5505}"/>
              </a:ext>
            </a:extLst>
          </p:cNvPr>
          <p:cNvGrpSpPr/>
          <p:nvPr/>
        </p:nvGrpSpPr>
        <p:grpSpPr>
          <a:xfrm>
            <a:off x="8291958" y="2100922"/>
            <a:ext cx="1097280" cy="298609"/>
            <a:chOff x="8313224" y="2106786"/>
            <a:chExt cx="1097280" cy="298609"/>
          </a:xfrm>
        </p:grpSpPr>
        <p:sp>
          <p:nvSpPr>
            <p:cNvPr id="62" name="TextBox 61">
              <a:extLst>
                <a:ext uri="{FF2B5EF4-FFF2-40B4-BE49-F238E27FC236}">
                  <a16:creationId xmlns:a16="http://schemas.microsoft.com/office/drawing/2014/main" id="{5CEC0E89-152B-B3C5-1FB1-2691DA06FA17}"/>
                </a:ext>
              </a:extLst>
            </p:cNvPr>
            <p:cNvSpPr txBox="1"/>
            <p:nvPr/>
          </p:nvSpPr>
          <p:spPr>
            <a:xfrm>
              <a:off x="831322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63" name="TextBox 62">
              <a:extLst>
                <a:ext uri="{FF2B5EF4-FFF2-40B4-BE49-F238E27FC236}">
                  <a16:creationId xmlns:a16="http://schemas.microsoft.com/office/drawing/2014/main" id="{E3B3C2F8-4FCA-513A-0848-004184602213}"/>
                </a:ext>
              </a:extLst>
            </p:cNvPr>
            <p:cNvSpPr txBox="1"/>
            <p:nvPr/>
          </p:nvSpPr>
          <p:spPr>
            <a:xfrm>
              <a:off x="8313224" y="2132980"/>
              <a:ext cx="1085957" cy="246221"/>
            </a:xfrm>
            <a:prstGeom prst="rect">
              <a:avLst/>
            </a:prstGeom>
            <a:noFill/>
          </p:spPr>
          <p:txBody>
            <a:bodyPr wrap="square">
              <a:spAutoFit/>
            </a:bodyPr>
            <a:lstStyle/>
            <a:p>
              <a:pPr algn="ctr"/>
              <a:r>
                <a:rPr lang="en-US" sz="1000" b="1" dirty="0">
                  <a:solidFill>
                    <a:schemeClr val="accent3"/>
                  </a:solidFill>
                </a:rPr>
                <a:t>Always current</a:t>
              </a:r>
            </a:p>
          </p:txBody>
        </p:sp>
      </p:grpSp>
      <p:grpSp>
        <p:nvGrpSpPr>
          <p:cNvPr id="70" name="Group 69">
            <a:extLst>
              <a:ext uri="{FF2B5EF4-FFF2-40B4-BE49-F238E27FC236}">
                <a16:creationId xmlns:a16="http://schemas.microsoft.com/office/drawing/2014/main" id="{70B29CDE-AE46-1C69-9A72-0DD56DD76DFC}"/>
              </a:ext>
            </a:extLst>
          </p:cNvPr>
          <p:cNvGrpSpPr/>
          <p:nvPr/>
        </p:nvGrpSpPr>
        <p:grpSpPr>
          <a:xfrm>
            <a:off x="9428549" y="2100922"/>
            <a:ext cx="1010167" cy="298609"/>
            <a:chOff x="9507614" y="2106786"/>
            <a:chExt cx="1097280" cy="298609"/>
          </a:xfrm>
        </p:grpSpPr>
        <p:sp>
          <p:nvSpPr>
            <p:cNvPr id="68" name="TextBox 67">
              <a:extLst>
                <a:ext uri="{FF2B5EF4-FFF2-40B4-BE49-F238E27FC236}">
                  <a16:creationId xmlns:a16="http://schemas.microsoft.com/office/drawing/2014/main" id="{9339726F-E8B9-D709-AC8E-4611693AA7D9}"/>
                </a:ext>
              </a:extLst>
            </p:cNvPr>
            <p:cNvSpPr txBox="1"/>
            <p:nvPr/>
          </p:nvSpPr>
          <p:spPr>
            <a:xfrm>
              <a:off x="950761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69" name="TextBox 68">
              <a:extLst>
                <a:ext uri="{FF2B5EF4-FFF2-40B4-BE49-F238E27FC236}">
                  <a16:creationId xmlns:a16="http://schemas.microsoft.com/office/drawing/2014/main" id="{DF7BA7BB-CB0B-D0A6-A764-D41D66F96B24}"/>
                </a:ext>
              </a:extLst>
            </p:cNvPr>
            <p:cNvSpPr txBox="1"/>
            <p:nvPr/>
          </p:nvSpPr>
          <p:spPr>
            <a:xfrm>
              <a:off x="9507614" y="2132980"/>
              <a:ext cx="1085957" cy="246221"/>
            </a:xfrm>
            <a:prstGeom prst="rect">
              <a:avLst/>
            </a:prstGeom>
            <a:noFill/>
          </p:spPr>
          <p:txBody>
            <a:bodyPr wrap="square">
              <a:spAutoFit/>
            </a:bodyPr>
            <a:lstStyle/>
            <a:p>
              <a:pPr algn="ctr"/>
              <a:r>
                <a:rPr lang="en-US" sz="1000" b="1" dirty="0">
                  <a:solidFill>
                    <a:schemeClr val="accent3"/>
                  </a:solidFill>
                </a:rPr>
                <a:t>Live retrieval</a:t>
              </a:r>
            </a:p>
          </p:txBody>
        </p:sp>
      </p:grpSp>
      <p:grpSp>
        <p:nvGrpSpPr>
          <p:cNvPr id="71" name="Group 70">
            <a:extLst>
              <a:ext uri="{FF2B5EF4-FFF2-40B4-BE49-F238E27FC236}">
                <a16:creationId xmlns:a16="http://schemas.microsoft.com/office/drawing/2014/main" id="{D1A2ED5D-2852-CC31-F890-872327933A1A}"/>
              </a:ext>
            </a:extLst>
          </p:cNvPr>
          <p:cNvGrpSpPr/>
          <p:nvPr/>
        </p:nvGrpSpPr>
        <p:grpSpPr>
          <a:xfrm>
            <a:off x="10478026" y="2100922"/>
            <a:ext cx="1010167" cy="298609"/>
            <a:chOff x="9507614" y="2106786"/>
            <a:chExt cx="1097280" cy="298609"/>
          </a:xfrm>
        </p:grpSpPr>
        <p:sp>
          <p:nvSpPr>
            <p:cNvPr id="72" name="TextBox 71">
              <a:extLst>
                <a:ext uri="{FF2B5EF4-FFF2-40B4-BE49-F238E27FC236}">
                  <a16:creationId xmlns:a16="http://schemas.microsoft.com/office/drawing/2014/main" id="{8C1B0BA6-55F7-C9E9-1BEB-1A4AAD48BAFD}"/>
                </a:ext>
              </a:extLst>
            </p:cNvPr>
            <p:cNvSpPr txBox="1"/>
            <p:nvPr/>
          </p:nvSpPr>
          <p:spPr>
            <a:xfrm>
              <a:off x="950761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dirty="0">
                <a:solidFill>
                  <a:schemeClr val="accent3"/>
                </a:solidFill>
              </a:endParaRPr>
            </a:p>
          </p:txBody>
        </p:sp>
        <p:sp>
          <p:nvSpPr>
            <p:cNvPr id="73" name="TextBox 72">
              <a:extLst>
                <a:ext uri="{FF2B5EF4-FFF2-40B4-BE49-F238E27FC236}">
                  <a16:creationId xmlns:a16="http://schemas.microsoft.com/office/drawing/2014/main" id="{0852240D-A98D-11CD-C04E-F1C80F2DE6F8}"/>
                </a:ext>
              </a:extLst>
            </p:cNvPr>
            <p:cNvSpPr txBox="1"/>
            <p:nvPr/>
          </p:nvSpPr>
          <p:spPr>
            <a:xfrm>
              <a:off x="9507614" y="2132980"/>
              <a:ext cx="1085957" cy="246221"/>
            </a:xfrm>
            <a:prstGeom prst="rect">
              <a:avLst/>
            </a:prstGeom>
            <a:noFill/>
          </p:spPr>
          <p:txBody>
            <a:bodyPr wrap="square">
              <a:spAutoFit/>
            </a:bodyPr>
            <a:lstStyle/>
            <a:p>
              <a:pPr algn="ctr"/>
              <a:r>
                <a:rPr lang="en-US" sz="1000" b="1" dirty="0">
                  <a:solidFill>
                    <a:schemeClr val="accent3"/>
                  </a:solidFill>
                </a:rPr>
                <a:t>No data copy</a:t>
              </a:r>
            </a:p>
          </p:txBody>
        </p:sp>
      </p:grpSp>
    </p:spTree>
    <p:extLst>
      <p:ext uri="{BB962C8B-B14F-4D97-AF65-F5344CB8AC3E}">
        <p14:creationId xmlns:p14="http://schemas.microsoft.com/office/powerpoint/2010/main" val="396665673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161C-7B58-2F41-E91B-8DF32175B37D}"/>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70894A4-14A7-1812-7381-FCAFC9C96497}"/>
              </a:ext>
            </a:extLst>
          </p:cNvPr>
          <p:cNvSpPr/>
          <p:nvPr/>
        </p:nvSpPr>
        <p:spPr bwMode="auto">
          <a:xfrm>
            <a:off x="5175599" y="1754372"/>
            <a:ext cx="6722234" cy="3817088"/>
          </a:xfrm>
          <a:prstGeom prst="roundRect">
            <a:avLst>
              <a:gd name="adj" fmla="val 4132"/>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564D8DE8-FF7C-3FFC-9CA9-D16B610AE56E}"/>
              </a:ext>
            </a:extLst>
          </p:cNvPr>
          <p:cNvSpPr>
            <a:spLocks noGrp="1"/>
          </p:cNvSpPr>
          <p:nvPr>
            <p:ph type="title"/>
          </p:nvPr>
        </p:nvSpPr>
        <p:spPr>
          <a:xfrm>
            <a:off x="588261" y="585216"/>
            <a:ext cx="11011601" cy="492443"/>
          </a:xfrm>
        </p:spPr>
        <p:txBody>
          <a:bodyPr/>
          <a:lstStyle/>
          <a:p>
            <a:r>
              <a:rPr lang="en-US" sz="3200" b="1" dirty="0"/>
              <a:t>Configure retrieval with Foundry IQ</a:t>
            </a:r>
            <a:endParaRPr lang="en-US" sz="3200" dirty="0"/>
          </a:p>
        </p:txBody>
      </p:sp>
      <p:sp>
        <p:nvSpPr>
          <p:cNvPr id="3" name="Footer Placeholder 2">
            <a:extLst>
              <a:ext uri="{FF2B5EF4-FFF2-40B4-BE49-F238E27FC236}">
                <a16:creationId xmlns:a16="http://schemas.microsoft.com/office/drawing/2014/main" id="{8CC62ABC-F678-E86A-FA35-F363B89D47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 Placeholder 3">
            <a:extLst>
              <a:ext uri="{FF2B5EF4-FFF2-40B4-BE49-F238E27FC236}">
                <a16:creationId xmlns:a16="http://schemas.microsoft.com/office/drawing/2014/main" id="{7DEB3F97-DA79-1467-CD1F-72682A33FF2E}"/>
              </a:ext>
            </a:extLst>
          </p:cNvPr>
          <p:cNvSpPr>
            <a:spLocks noGrp="1"/>
          </p:cNvSpPr>
          <p:nvPr>
            <p:ph type="body" sz="quarter" idx="17"/>
          </p:nvPr>
        </p:nvSpPr>
        <p:spPr>
          <a:xfrm>
            <a:off x="584199" y="1078414"/>
            <a:ext cx="11011601" cy="246221"/>
          </a:xfrm>
        </p:spPr>
        <p:txBody>
          <a:bodyPr/>
          <a:lstStyle/>
          <a:p>
            <a:r>
              <a:rPr lang="en-US" dirty="0">
                <a:latin typeface="+mn-lt"/>
              </a:rPr>
              <a:t>Effective instructions specify three critical behaviors</a:t>
            </a:r>
          </a:p>
        </p:txBody>
      </p:sp>
      <p:sp>
        <p:nvSpPr>
          <p:cNvPr id="12" name="TextBox 11">
            <a:extLst>
              <a:ext uri="{FF2B5EF4-FFF2-40B4-BE49-F238E27FC236}">
                <a16:creationId xmlns:a16="http://schemas.microsoft.com/office/drawing/2014/main" id="{1050D860-0DAE-B5E5-E380-C5DAB7BC4039}"/>
              </a:ext>
            </a:extLst>
          </p:cNvPr>
          <p:cNvSpPr txBox="1"/>
          <p:nvPr/>
        </p:nvSpPr>
        <p:spPr>
          <a:xfrm>
            <a:off x="5418221" y="1893201"/>
            <a:ext cx="6236991" cy="3323987"/>
          </a:xfrm>
          <a:prstGeom prst="rect">
            <a:avLst/>
          </a:prstGeom>
          <a:noFill/>
        </p:spPr>
        <p:txBody>
          <a:bodyPr wrap="square">
            <a:spAutoFit/>
          </a:bodyPr>
          <a:lstStyle/>
          <a:p>
            <a:r>
              <a:rPr lang="en-US" sz="1400" b="0" i="0" dirty="0" err="1">
                <a:solidFill>
                  <a:schemeClr val="bg1"/>
                </a:solidFill>
                <a:effectLst/>
                <a:latin typeface="Consolas" panose="020B0609020204030204" pitchFamily="49" charset="0"/>
                <a:cs typeface="Consolas" panose="020B0609020204030204" pitchFamily="49" charset="0"/>
              </a:rPr>
              <a:t>retrieval_instructions</a:t>
            </a:r>
            <a:r>
              <a:rPr lang="en-US" sz="1400" b="0" i="0" dirty="0">
                <a:solidFill>
                  <a:schemeClr val="bg1"/>
                </a:solidFill>
                <a:effectLst/>
                <a:latin typeface="Consolas" panose="020B0609020204030204" pitchFamily="49" charset="0"/>
                <a:cs typeface="Consolas" panose="020B0609020204030204" pitchFamily="49" charset="0"/>
              </a:rPr>
              <a:t> = """You are a helpful HR assistant.</a:t>
            </a:r>
          </a:p>
          <a:p>
            <a:endParaRPr lang="en-US" sz="1400" dirty="0">
              <a:solidFill>
                <a:schemeClr val="bg1"/>
              </a:solidFill>
              <a:latin typeface="Consolas" panose="020B0609020204030204" pitchFamily="49" charset="0"/>
              <a:cs typeface="Consolas" panose="020B0609020204030204" pitchFamily="49" charset="0"/>
            </a:endParaRPr>
          </a:p>
          <a:p>
            <a:r>
              <a:rPr lang="en-US" sz="1400" b="0" i="0" dirty="0">
                <a:solidFill>
                  <a:schemeClr val="bg1"/>
                </a:solidFill>
                <a:effectLst/>
                <a:latin typeface="Consolas" panose="020B0609020204030204" pitchFamily="49" charset="0"/>
                <a:cs typeface="Consolas" panose="020B0609020204030204" pitchFamily="49" charset="0"/>
              </a:rPr>
              <a:t>CRITICAL RULES: </a:t>
            </a:r>
          </a:p>
          <a:p>
            <a:pPr marL="285750" indent="-285750">
              <a:buFontTx/>
              <a:buChar char="-"/>
            </a:pPr>
            <a:r>
              <a:rPr lang="en-US" sz="1400" b="0" i="0" dirty="0">
                <a:solidFill>
                  <a:schemeClr val="bg1"/>
                </a:solidFill>
                <a:effectLst/>
                <a:latin typeface="Consolas" panose="020B0609020204030204" pitchFamily="49" charset="0"/>
                <a:cs typeface="Consolas" panose="020B0609020204030204" pitchFamily="49" charset="0"/>
              </a:rPr>
              <a:t>You must ALWAYS search the knowledge base before answering any question </a:t>
            </a:r>
          </a:p>
          <a:p>
            <a:pPr marL="285750" indent="-285750">
              <a:buFontTx/>
              <a:buChar char="-"/>
            </a:pPr>
            <a:r>
              <a:rPr lang="en-US" sz="1400" b="0" i="0" dirty="0">
                <a:solidFill>
                  <a:schemeClr val="bg1"/>
                </a:solidFill>
                <a:effectLst/>
                <a:latin typeface="Consolas" panose="020B0609020204030204" pitchFamily="49" charset="0"/>
                <a:cs typeface="Consolas" panose="020B0609020204030204" pitchFamily="49" charset="0"/>
              </a:rPr>
              <a:t>You must NEVER answer from your own knowledge or training data </a:t>
            </a:r>
          </a:p>
          <a:p>
            <a:pPr marL="285750" indent="-285750">
              <a:buFontTx/>
              <a:buChar char="-"/>
            </a:pPr>
            <a:r>
              <a:rPr lang="en-US" sz="1400" b="0" i="0" dirty="0">
                <a:solidFill>
                  <a:schemeClr val="bg1"/>
                </a:solidFill>
                <a:effectLst/>
                <a:latin typeface="Consolas" panose="020B0609020204030204" pitchFamily="49" charset="0"/>
                <a:cs typeface="Consolas" panose="020B0609020204030204" pitchFamily="49" charset="0"/>
              </a:rPr>
              <a:t>Every answer MUST include citations</a:t>
            </a:r>
          </a:p>
          <a:p>
            <a:pPr marL="285750" indent="-285750">
              <a:buFontTx/>
              <a:buChar char="-"/>
            </a:pPr>
            <a:r>
              <a:rPr lang="en-US" sz="1400" b="0" i="0" dirty="0">
                <a:solidFill>
                  <a:schemeClr val="bg1"/>
                </a:solidFill>
                <a:effectLst/>
                <a:latin typeface="Consolas" panose="020B0609020204030204" pitchFamily="49" charset="0"/>
                <a:cs typeface="Consolas" panose="020B0609020204030204" pitchFamily="49" charset="0"/>
              </a:rPr>
              <a:t>If the knowledge base doesn't contain the answer, respond with "I don't have that information in our current documentation. Please contact HR directly at </a:t>
            </a:r>
            <a:r>
              <a:rPr lang="en-US" sz="1400" b="0" i="0" dirty="0" err="1">
                <a:solidFill>
                  <a:schemeClr val="bg1"/>
                </a:solidFill>
                <a:effectLst/>
                <a:latin typeface="Consolas" panose="020B0609020204030204" pitchFamily="49" charset="0"/>
                <a:cs typeface="Consolas" panose="020B0609020204030204" pitchFamily="49" charset="0"/>
              </a:rPr>
              <a:t>hr@company.com</a:t>
            </a:r>
            <a:r>
              <a:rPr lang="en-US" sz="1400" b="0" i="0" dirty="0">
                <a:solidFill>
                  <a:schemeClr val="bg1"/>
                </a:solidFill>
                <a:effectLst/>
                <a:latin typeface="Consolas" panose="020B0609020204030204" pitchFamily="49" charset="0"/>
                <a:cs typeface="Consolas" panose="020B0609020204030204" pitchFamily="49" charset="0"/>
              </a:rPr>
              <a:t>" </a:t>
            </a:r>
          </a:p>
          <a:p>
            <a:endParaRPr lang="en-US" sz="1400" dirty="0">
              <a:solidFill>
                <a:schemeClr val="bg1"/>
              </a:solidFill>
              <a:latin typeface="Consolas" panose="020B0609020204030204" pitchFamily="49" charset="0"/>
              <a:cs typeface="Consolas" panose="020B0609020204030204" pitchFamily="49" charset="0"/>
            </a:endParaRPr>
          </a:p>
          <a:p>
            <a:r>
              <a:rPr lang="en-US" sz="1400" b="0" i="0" dirty="0">
                <a:solidFill>
                  <a:schemeClr val="bg1"/>
                </a:solidFill>
                <a:effectLst/>
                <a:latin typeface="Consolas" panose="020B0609020204030204" pitchFamily="49" charset="0"/>
                <a:cs typeface="Consolas" panose="020B0609020204030204" pitchFamily="49" charset="0"/>
              </a:rPr>
              <a:t>Your role is to provide accurate, verifiable information from company documentation.""" </a:t>
            </a:r>
          </a:p>
        </p:txBody>
      </p:sp>
      <p:sp>
        <p:nvSpPr>
          <p:cNvPr id="15" name="RetrievalCard">
            <a:extLst>
              <a:ext uri="{FF2B5EF4-FFF2-40B4-BE49-F238E27FC236}">
                <a16:creationId xmlns:a16="http://schemas.microsoft.com/office/drawing/2014/main" id="{62A9FCB9-D12C-670F-7071-00DC0D15CE5C}"/>
              </a:ext>
            </a:extLst>
          </p:cNvPr>
          <p:cNvSpPr/>
          <p:nvPr/>
        </p:nvSpPr>
        <p:spPr>
          <a:xfrm>
            <a:off x="536788" y="1654858"/>
            <a:ext cx="4193962" cy="1097280"/>
          </a:xfrm>
          <a:prstGeom prst="roundRect">
            <a:avLst>
              <a:gd name="adj" fmla="val 12000"/>
            </a:avLst>
          </a:prstGeom>
          <a:solidFill>
            <a:srgbClr val="F8F8F8"/>
          </a:solidFill>
          <a:ln w="9525">
            <a:solidFill>
              <a:srgbClr val="DEDEDE"/>
            </a:solidFill>
          </a:ln>
        </p:spPr>
        <p:txBody>
          <a:bodyPr anchor="ctr"/>
          <a:lstStyle/>
          <a:p>
            <a:pPr marL="349250" lvl="1"/>
            <a:r>
              <a:rPr lang="en-US" b="1" dirty="0">
                <a:latin typeface="+mj-lt"/>
              </a:rPr>
              <a:t>When to retrieve</a:t>
            </a:r>
            <a:r>
              <a:rPr lang="en-US" dirty="0">
                <a:latin typeface="+mj-lt"/>
              </a:rPr>
              <a:t> </a:t>
            </a:r>
          </a:p>
          <a:p>
            <a:r>
              <a:rPr lang="en-US" sz="1600" dirty="0">
                <a:solidFill>
                  <a:schemeClr val="tx1">
                    <a:lumMod val="65000"/>
                    <a:lumOff val="35000"/>
                  </a:schemeClr>
                </a:solidFill>
              </a:rPr>
              <a:t>Tell the agent to always use the knowledge base, never rely on training data</a:t>
            </a:r>
            <a:endParaRPr lang="en-US" sz="1800" noProof="0" dirty="0">
              <a:solidFill>
                <a:schemeClr val="tx1">
                  <a:lumMod val="65000"/>
                  <a:lumOff val="35000"/>
                </a:schemeClr>
              </a:solidFill>
              <a:latin typeface="+mj-lt"/>
            </a:endParaRPr>
          </a:p>
        </p:txBody>
      </p:sp>
      <p:sp>
        <p:nvSpPr>
          <p:cNvPr id="16" name="RetrievalCard">
            <a:extLst>
              <a:ext uri="{FF2B5EF4-FFF2-40B4-BE49-F238E27FC236}">
                <a16:creationId xmlns:a16="http://schemas.microsoft.com/office/drawing/2014/main" id="{6323DFFC-E296-C3D7-2D9C-63A15A41D26E}"/>
              </a:ext>
            </a:extLst>
          </p:cNvPr>
          <p:cNvSpPr/>
          <p:nvPr/>
        </p:nvSpPr>
        <p:spPr>
          <a:xfrm>
            <a:off x="536787" y="3053121"/>
            <a:ext cx="4193962" cy="1097280"/>
          </a:xfrm>
          <a:prstGeom prst="roundRect">
            <a:avLst>
              <a:gd name="adj" fmla="val 12000"/>
            </a:avLst>
          </a:prstGeom>
          <a:solidFill>
            <a:srgbClr val="F8F8F8"/>
          </a:solidFill>
          <a:ln w="9525">
            <a:solidFill>
              <a:srgbClr val="DEDEDE"/>
            </a:solidFill>
          </a:ln>
        </p:spPr>
        <p:txBody>
          <a:bodyPr anchor="ctr"/>
          <a:lstStyle/>
          <a:p>
            <a:pPr marL="349250" lvl="1"/>
            <a:r>
              <a:rPr lang="en-US" b="1" dirty="0">
                <a:latin typeface="+mj-lt"/>
              </a:rPr>
              <a:t>How to cite</a:t>
            </a:r>
          </a:p>
          <a:p>
            <a:r>
              <a:rPr lang="en-US" sz="1600" dirty="0">
                <a:solidFill>
                  <a:schemeClr val="tx1">
                    <a:lumMod val="65000"/>
                    <a:lumOff val="35000"/>
                  </a:schemeClr>
                </a:solidFill>
              </a:rPr>
              <a:t>Specify the exact format for source attribution</a:t>
            </a:r>
            <a:endParaRPr lang="en-US" sz="1800" noProof="0" dirty="0">
              <a:solidFill>
                <a:schemeClr val="tx1">
                  <a:lumMod val="65000"/>
                  <a:lumOff val="35000"/>
                </a:schemeClr>
              </a:solidFill>
              <a:latin typeface="+mj-lt"/>
            </a:endParaRPr>
          </a:p>
        </p:txBody>
      </p:sp>
      <p:sp>
        <p:nvSpPr>
          <p:cNvPr id="17" name="RetrievalCard">
            <a:extLst>
              <a:ext uri="{FF2B5EF4-FFF2-40B4-BE49-F238E27FC236}">
                <a16:creationId xmlns:a16="http://schemas.microsoft.com/office/drawing/2014/main" id="{ADCFF13F-20F5-093E-C02D-4257FAB65194}"/>
              </a:ext>
            </a:extLst>
          </p:cNvPr>
          <p:cNvSpPr/>
          <p:nvPr/>
        </p:nvSpPr>
        <p:spPr>
          <a:xfrm>
            <a:off x="536788" y="4474180"/>
            <a:ext cx="4193961" cy="1097280"/>
          </a:xfrm>
          <a:prstGeom prst="roundRect">
            <a:avLst>
              <a:gd name="adj" fmla="val 12000"/>
            </a:avLst>
          </a:prstGeom>
          <a:solidFill>
            <a:srgbClr val="F8F8F8"/>
          </a:solidFill>
          <a:ln w="9525">
            <a:solidFill>
              <a:srgbClr val="DEDEDE"/>
            </a:solidFill>
          </a:ln>
        </p:spPr>
        <p:txBody>
          <a:bodyPr anchor="ctr"/>
          <a:lstStyle/>
          <a:p>
            <a:pPr marL="349250" lvl="1"/>
            <a:r>
              <a:rPr lang="en-US" b="1" dirty="0">
                <a:latin typeface="+mj-lt"/>
              </a:rPr>
              <a:t>What to do when unsure</a:t>
            </a:r>
          </a:p>
          <a:p>
            <a:r>
              <a:rPr lang="en-US" sz="1600" dirty="0">
                <a:solidFill>
                  <a:schemeClr val="tx1">
                    <a:lumMod val="65000"/>
                    <a:lumOff val="35000"/>
                  </a:schemeClr>
                </a:solidFill>
              </a:rPr>
              <a:t>Define fallback behavior when information isn't found</a:t>
            </a:r>
            <a:endParaRPr lang="en-US" sz="1800" noProof="0" dirty="0">
              <a:solidFill>
                <a:schemeClr val="tx1">
                  <a:lumMod val="65000"/>
                  <a:lumOff val="35000"/>
                </a:schemeClr>
              </a:solidFill>
              <a:latin typeface="+mj-lt"/>
            </a:endParaRPr>
          </a:p>
        </p:txBody>
      </p:sp>
      <p:sp>
        <p:nvSpPr>
          <p:cNvPr id="18" name="Oval 17">
            <a:extLst>
              <a:ext uri="{FF2B5EF4-FFF2-40B4-BE49-F238E27FC236}">
                <a16:creationId xmlns:a16="http://schemas.microsoft.com/office/drawing/2014/main" id="{4A6A7E0E-32FD-D4E2-6228-DF9D2FC9D4EE}"/>
              </a:ext>
            </a:extLst>
          </p:cNvPr>
          <p:cNvSpPr>
            <a:spLocks noChangeAspect="1"/>
          </p:cNvSpPr>
          <p:nvPr/>
        </p:nvSpPr>
        <p:spPr bwMode="auto">
          <a:xfrm>
            <a:off x="691116" y="1874725"/>
            <a:ext cx="182880" cy="18288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2740679B-33EE-687E-EB12-76F91F58F1E0}"/>
              </a:ext>
            </a:extLst>
          </p:cNvPr>
          <p:cNvSpPr>
            <a:spLocks noChangeAspect="1"/>
          </p:cNvSpPr>
          <p:nvPr/>
        </p:nvSpPr>
        <p:spPr bwMode="auto">
          <a:xfrm>
            <a:off x="691116" y="3250085"/>
            <a:ext cx="182880" cy="1828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9D2C730A-DC66-03E3-6CEF-FAC8FF61C5E0}"/>
              </a:ext>
            </a:extLst>
          </p:cNvPr>
          <p:cNvSpPr>
            <a:spLocks noChangeAspect="1"/>
          </p:cNvSpPr>
          <p:nvPr/>
        </p:nvSpPr>
        <p:spPr bwMode="auto">
          <a:xfrm>
            <a:off x="708128" y="4687063"/>
            <a:ext cx="182880" cy="182880"/>
          </a:xfrm>
          <a:prstGeom prst="ellipse">
            <a:avLst/>
          </a:prstGeom>
          <a:ln>
            <a:no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5053ED21-0A60-64CA-7BF5-9B2749BA1EE9}"/>
              </a:ext>
            </a:extLst>
          </p:cNvPr>
          <p:cNvSpPr>
            <a:spLocks noChangeAspect="1"/>
          </p:cNvSpPr>
          <p:nvPr/>
        </p:nvSpPr>
        <p:spPr bwMode="auto">
          <a:xfrm>
            <a:off x="5235341" y="3861267"/>
            <a:ext cx="182880" cy="182880"/>
          </a:xfrm>
          <a:prstGeom prst="ellipse">
            <a:avLst/>
          </a:prstGeom>
          <a:ln>
            <a:no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30FD6935-1AC7-45BA-EB18-B7C415DEFFD7}"/>
              </a:ext>
            </a:extLst>
          </p:cNvPr>
          <p:cNvSpPr>
            <a:spLocks noChangeAspect="1"/>
          </p:cNvSpPr>
          <p:nvPr/>
        </p:nvSpPr>
        <p:spPr bwMode="auto">
          <a:xfrm>
            <a:off x="5235341" y="3452886"/>
            <a:ext cx="182880" cy="1828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0246484A-A3B4-2220-504E-C8AEB155AC11}"/>
              </a:ext>
            </a:extLst>
          </p:cNvPr>
          <p:cNvSpPr>
            <a:spLocks noChangeAspect="1"/>
          </p:cNvSpPr>
          <p:nvPr/>
        </p:nvSpPr>
        <p:spPr bwMode="auto">
          <a:xfrm>
            <a:off x="5235341" y="2590524"/>
            <a:ext cx="182880" cy="18288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77167478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91BE-FBF2-BB47-FDBF-94A58E5596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49C375-FE1C-6DB4-7D6E-29673DA97466}"/>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1687F0E2-02F3-0732-CD09-58172B6ACF0E}"/>
              </a:ext>
            </a:extLst>
          </p:cNvPr>
          <p:cNvSpPr>
            <a:spLocks noGrp="1"/>
          </p:cNvSpPr>
          <p:nvPr>
            <p:ph type="body" sz="quarter" idx="16"/>
          </p:nvPr>
        </p:nvSpPr>
        <p:spPr>
          <a:xfrm>
            <a:off x="584199" y="1594155"/>
            <a:ext cx="5654573" cy="307777"/>
          </a:xfrm>
        </p:spPr>
        <p:txBody>
          <a:bodyPr/>
          <a:lstStyle/>
          <a:p>
            <a:r>
              <a:rPr lang="en-US" sz="2000" dirty="0"/>
              <a:t>Integrate an AI agent with Foundry IQ</a:t>
            </a:r>
          </a:p>
        </p:txBody>
      </p:sp>
      <p:sp>
        <p:nvSpPr>
          <p:cNvPr id="6" name="Text Placeholder 5">
            <a:extLst>
              <a:ext uri="{FF2B5EF4-FFF2-40B4-BE49-F238E27FC236}">
                <a16:creationId xmlns:a16="http://schemas.microsoft.com/office/drawing/2014/main" id="{24C6007A-2AC2-6657-2264-C3AB30E33A8C}"/>
              </a:ext>
            </a:extLst>
          </p:cNvPr>
          <p:cNvSpPr>
            <a:spLocks noGrp="1"/>
          </p:cNvSpPr>
          <p:nvPr>
            <p:ph type="body" sz="quarter" idx="15"/>
          </p:nvPr>
        </p:nvSpPr>
        <p:spPr>
          <a:xfrm>
            <a:off x="586389" y="2085764"/>
            <a:ext cx="5652201" cy="2265236"/>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agent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Configure your data and Foundry IQ</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Test the agent in the playground</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Connect to your agent from a client application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Test the integration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E5E1A7A6-3154-EB81-0663-4F3EFD311FDB}"/>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u="sng" dirty="0">
                <a:hlinkClick r:id="rId3"/>
              </a:rPr>
              <a:t>https://go.microsoft.com/fwlink/?linkid=2347700</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09F8E703-E86E-B05F-B948-496CF94F858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DB0709B1-51E7-F641-81EC-31840B864FAD}"/>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6B758502-A392-3F9A-98FA-3F060F0BF5CC}"/>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46360947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051C-17B3-4B46-0956-9B54563C9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02BA6-2415-5427-5EF8-8C6363EBCBDE}"/>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BA862BB4-2C4F-C056-8D02-37B37A91DF89}"/>
              </a:ext>
            </a:extLst>
          </p:cNvPr>
          <p:cNvSpPr>
            <a:spLocks noGrp="1"/>
          </p:cNvSpPr>
          <p:nvPr>
            <p:ph type="body" sz="quarter" idx="17"/>
          </p:nvPr>
        </p:nvSpPr>
        <p:spPr>
          <a:xfrm>
            <a:off x="1235075" y="2332142"/>
            <a:ext cx="8778782" cy="215444"/>
          </a:xfrm>
        </p:spPr>
        <p:txBody>
          <a:bodyPr/>
          <a:lstStyle/>
          <a:p>
            <a:r>
              <a:rPr lang="en-US" b="1" dirty="0"/>
              <a:t>What is the primary advantage of Retrieval Augmented Generation (RAG) over simple AI agents?</a:t>
            </a:r>
          </a:p>
        </p:txBody>
      </p:sp>
      <p:sp>
        <p:nvSpPr>
          <p:cNvPr id="9" name="Text Placeholder 8">
            <a:extLst>
              <a:ext uri="{FF2B5EF4-FFF2-40B4-BE49-F238E27FC236}">
                <a16:creationId xmlns:a16="http://schemas.microsoft.com/office/drawing/2014/main" id="{ED437FFC-B56F-8CA5-0D18-6B83C6D2C485}"/>
              </a:ext>
            </a:extLst>
          </p:cNvPr>
          <p:cNvSpPr>
            <a:spLocks noGrp="1"/>
          </p:cNvSpPr>
          <p:nvPr>
            <p:ph type="body" sz="quarter" idx="15"/>
          </p:nvPr>
        </p:nvSpPr>
        <p:spPr>
          <a:xfrm>
            <a:off x="1235075" y="2564966"/>
            <a:ext cx="8775098" cy="947952"/>
          </a:xfrm>
          <a:noFill/>
        </p:spPr>
        <p:txBody>
          <a:bodyPr/>
          <a:lstStyle/>
          <a:p>
            <a:r>
              <a:rPr lang="en-US" noProof="0" dirty="0"/>
              <a:t>RAG eliminates the need for large language models  </a:t>
            </a:r>
          </a:p>
          <a:p>
            <a:r>
              <a:rPr lang="en-US" noProof="0" dirty="0"/>
              <a:t>RAG enables agents to ground responses in current organizational information and provide source transparency  </a:t>
            </a:r>
          </a:p>
          <a:p>
            <a:r>
              <a:rPr lang="en-US" noProof="0" dirty="0"/>
              <a:t>RAG automatically retrains the language model when documents change</a:t>
            </a:r>
          </a:p>
        </p:txBody>
      </p:sp>
      <p:sp>
        <p:nvSpPr>
          <p:cNvPr id="18" name="Text Placeholder 17">
            <a:extLst>
              <a:ext uri="{FF2B5EF4-FFF2-40B4-BE49-F238E27FC236}">
                <a16:creationId xmlns:a16="http://schemas.microsoft.com/office/drawing/2014/main" id="{AABCF36D-129A-1000-83C5-A96440535C8C}"/>
              </a:ext>
            </a:extLst>
          </p:cNvPr>
          <p:cNvSpPr>
            <a:spLocks noGrp="1"/>
          </p:cNvSpPr>
          <p:nvPr>
            <p:ph type="body" sz="quarter" idx="22"/>
          </p:nvPr>
        </p:nvSpPr>
        <p:spPr>
          <a:xfrm>
            <a:off x="1235075" y="4034002"/>
            <a:ext cx="8778782" cy="215444"/>
          </a:xfrm>
        </p:spPr>
        <p:txBody>
          <a:bodyPr/>
          <a:lstStyle/>
          <a:p>
            <a:r>
              <a:rPr lang="en-US" dirty="0"/>
              <a:t>Which data source option provides real-time access to SharePoint content with Microsoft 365 governance?</a:t>
            </a:r>
            <a:endParaRPr lang="en-US" noProof="0" dirty="0"/>
          </a:p>
        </p:txBody>
      </p:sp>
      <p:sp>
        <p:nvSpPr>
          <p:cNvPr id="19" name="Text Placeholder 18">
            <a:extLst>
              <a:ext uri="{FF2B5EF4-FFF2-40B4-BE49-F238E27FC236}">
                <a16:creationId xmlns:a16="http://schemas.microsoft.com/office/drawing/2014/main" id="{7346B303-6C16-BC0A-73A4-E24259E0F6E9}"/>
              </a:ext>
            </a:extLst>
          </p:cNvPr>
          <p:cNvSpPr>
            <a:spLocks noGrp="1"/>
          </p:cNvSpPr>
          <p:nvPr>
            <p:ph type="body" sz="quarter" idx="23"/>
          </p:nvPr>
        </p:nvSpPr>
        <p:spPr>
          <a:xfrm>
            <a:off x="1235074" y="4286731"/>
            <a:ext cx="8775098" cy="732508"/>
          </a:xfrm>
        </p:spPr>
        <p:txBody>
          <a:bodyPr/>
          <a:lstStyle/>
          <a:p>
            <a:r>
              <a:rPr lang="en-US" dirty="0"/>
              <a:t>SharePoint Indexed, which pre-processes content into Azure AI Search  </a:t>
            </a:r>
          </a:p>
          <a:p>
            <a:r>
              <a:rPr lang="en-US" dirty="0"/>
              <a:t>SharePoint Remote, which queries SharePoint sites and libraries in real-time  </a:t>
            </a:r>
          </a:p>
          <a:p>
            <a:r>
              <a:rPr lang="en-US" dirty="0"/>
              <a:t>Azure Blob Storage, which connects to SharePoint files stored as blobs</a:t>
            </a:r>
          </a:p>
        </p:txBody>
      </p:sp>
      <p:sp>
        <p:nvSpPr>
          <p:cNvPr id="76" name="Oval 75">
            <a:extLst>
              <a:ext uri="{FF2B5EF4-FFF2-40B4-BE49-F238E27FC236}">
                <a16:creationId xmlns:a16="http://schemas.microsoft.com/office/drawing/2014/main" id="{04D4AE6B-F243-BAB0-655C-632A40B9AFFD}"/>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BB4F8247-B703-8786-0160-27EFE03F9ECA}"/>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CDE75348-36C0-7D3C-4E8A-C612A18253FC}"/>
              </a:ext>
              <a:ext uri="{C183D7F6-B498-43B3-948B-1728B52AA6E4}">
                <adec:decorative xmlns:adec="http://schemas.microsoft.com/office/drawing/2017/decorative" val="1"/>
              </a:ext>
            </a:extLst>
          </p:cNvPr>
          <p:cNvSpPr>
            <a:spLocks/>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8176D862-73B0-8998-5C2B-CAF1BBB5EBAD}"/>
              </a:ext>
              <a:ext uri="{C183D7F6-B498-43B3-948B-1728B52AA6E4}">
                <adec:decorative xmlns:adec="http://schemas.microsoft.com/office/drawing/2017/decorative" val="1"/>
              </a:ext>
            </a:extLst>
          </p:cNvPr>
          <p:cNvSpPr>
            <a:spLocks/>
          </p:cNvSpPr>
          <p:nvPr/>
        </p:nvSpPr>
        <p:spPr>
          <a:xfrm>
            <a:off x="1263852" y="284076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AE3FBB6C-A152-57A1-146F-51C3291D3445}"/>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45639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1CBB-9F01-CCEA-B5C7-6ADA71EC98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454C9F-2F66-EC51-66A8-607E6A4CBCD4}"/>
              </a:ext>
            </a:extLst>
          </p:cNvPr>
          <p:cNvSpPr>
            <a:spLocks noGrp="1"/>
          </p:cNvSpPr>
          <p:nvPr>
            <p:ph type="title"/>
          </p:nvPr>
        </p:nvSpPr>
        <p:spPr>
          <a:xfrm>
            <a:off x="569911" y="2892168"/>
            <a:ext cx="6345239" cy="1107996"/>
          </a:xfrm>
        </p:spPr>
        <p:txBody>
          <a:bodyPr/>
          <a:lstStyle/>
          <a:p>
            <a:r>
              <a:rPr lang="en-US" altLang="zh-CN" sz="3600" dirty="0"/>
              <a:t>Integrate your agent with Microsoft 365</a:t>
            </a:r>
            <a:endParaRPr lang="en-US" sz="3600" dirty="0"/>
          </a:p>
        </p:txBody>
      </p:sp>
      <p:sp>
        <p:nvSpPr>
          <p:cNvPr id="11" name="Footer Placeholder 10">
            <a:extLst>
              <a:ext uri="{FF2B5EF4-FFF2-40B4-BE49-F238E27FC236}">
                <a16:creationId xmlns:a16="http://schemas.microsoft.com/office/drawing/2014/main" id="{CA49B2D4-F2D4-46A7-242F-DDD8A962E61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F74F34F3-BB7F-19A4-F1DE-8D095916D320}"/>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C5583C13-4A68-CC78-0254-9C233B87C51A}"/>
              </a:ext>
            </a:extLst>
          </p:cNvPr>
          <p:cNvSpPr txBox="1"/>
          <p:nvPr/>
        </p:nvSpPr>
        <p:spPr>
          <a:xfrm>
            <a:off x="497341" y="4000163"/>
            <a:ext cx="6096000" cy="369332"/>
          </a:xfrm>
          <a:prstGeom prst="rect">
            <a:avLst/>
          </a:prstGeom>
          <a:noFill/>
        </p:spPr>
        <p:txBody>
          <a:bodyPr wrap="square">
            <a:spAutoFit/>
          </a:bodyPr>
          <a:lstStyle/>
          <a:p>
            <a:r>
              <a:rPr lang="en-US" sz="1770" dirty="0">
                <a:solidFill>
                  <a:schemeClr val="accent2"/>
                </a:solidFill>
              </a:rPr>
              <a:t>https://aka.ms/mslearn-integrate-m365</a:t>
            </a:r>
          </a:p>
        </p:txBody>
      </p:sp>
    </p:spTree>
    <p:extLst>
      <p:ext uri="{BB962C8B-B14F-4D97-AF65-F5344CB8AC3E}">
        <p14:creationId xmlns:p14="http://schemas.microsoft.com/office/powerpoint/2010/main" val="336948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DA0D-DC5F-0BD9-ED7A-65860D080428}"/>
              </a:ext>
            </a:extLst>
          </p:cNvPr>
          <p:cNvSpPr>
            <a:spLocks noGrp="1"/>
          </p:cNvSpPr>
          <p:nvPr>
            <p:ph type="title"/>
          </p:nvPr>
        </p:nvSpPr>
        <p:spPr/>
        <p:txBody>
          <a:bodyPr/>
          <a:lstStyle/>
          <a:p>
            <a:r>
              <a:rPr lang="en-US" sz="3200" b="1" dirty="0"/>
              <a:t>Understanding agent applications</a:t>
            </a:r>
            <a:endParaRPr lang="en-US" sz="3200" dirty="0"/>
          </a:p>
        </p:txBody>
      </p:sp>
      <p:sp>
        <p:nvSpPr>
          <p:cNvPr id="4" name="Footer Placeholder 3">
            <a:extLst>
              <a:ext uri="{FF2B5EF4-FFF2-40B4-BE49-F238E27FC236}">
                <a16:creationId xmlns:a16="http://schemas.microsoft.com/office/drawing/2014/main" id="{B87F9931-F68E-7811-F832-07C7DD67733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Text Placeholder 4">
            <a:extLst>
              <a:ext uri="{FF2B5EF4-FFF2-40B4-BE49-F238E27FC236}">
                <a16:creationId xmlns:a16="http://schemas.microsoft.com/office/drawing/2014/main" id="{61B4A927-E2E0-AFAC-68DE-84C0B97D593D}"/>
              </a:ext>
            </a:extLst>
          </p:cNvPr>
          <p:cNvSpPr>
            <a:spLocks noGrp="1"/>
          </p:cNvSpPr>
          <p:nvPr>
            <p:ph type="body" sz="quarter" idx="17"/>
          </p:nvPr>
        </p:nvSpPr>
        <p:spPr>
          <a:xfrm>
            <a:off x="584199" y="1386766"/>
            <a:ext cx="11011601" cy="246221"/>
          </a:xfrm>
        </p:spPr>
        <p:txBody>
          <a:bodyPr/>
          <a:lstStyle/>
          <a:p>
            <a:r>
              <a:rPr lang="en-US" dirty="0">
                <a:latin typeface="+mn-lt"/>
              </a:rPr>
              <a:t>When you publish an agent, Microsoft Foundry creates an </a:t>
            </a:r>
            <a:r>
              <a:rPr lang="en-US" b="1" dirty="0"/>
              <a:t>Agent Application</a:t>
            </a:r>
            <a:r>
              <a:rPr lang="en-US" dirty="0"/>
              <a:t> </a:t>
            </a:r>
            <a:r>
              <a:rPr lang="en-US" dirty="0">
                <a:latin typeface="+mn-lt"/>
              </a:rPr>
              <a:t>resource with:</a:t>
            </a:r>
          </a:p>
        </p:txBody>
      </p:sp>
      <p:sp>
        <p:nvSpPr>
          <p:cNvPr id="6" name="RetrievalCard">
            <a:extLst>
              <a:ext uri="{FF2B5EF4-FFF2-40B4-BE49-F238E27FC236}">
                <a16:creationId xmlns:a16="http://schemas.microsoft.com/office/drawing/2014/main" id="{2DC7FB4A-8E6B-F3F8-9536-E6B885525FDD}"/>
              </a:ext>
            </a:extLst>
          </p:cNvPr>
          <p:cNvSpPr/>
          <p:nvPr/>
        </p:nvSpPr>
        <p:spPr>
          <a:xfrm>
            <a:off x="588261" y="1984864"/>
            <a:ext cx="10291942" cy="827785"/>
          </a:xfrm>
          <a:prstGeom prst="roundRect">
            <a:avLst>
              <a:gd name="adj" fmla="val 12000"/>
            </a:avLst>
          </a:prstGeom>
          <a:solidFill>
            <a:srgbClr val="F8F8F8"/>
          </a:solidFill>
          <a:ln w="9525">
            <a:solidFill>
              <a:srgbClr val="DEDEDE"/>
            </a:solidFill>
          </a:ln>
        </p:spPr>
        <p:txBody>
          <a:bodyPr anchor="ctr"/>
          <a:lstStyle/>
          <a:p>
            <a:r>
              <a:rPr lang="en-US" sz="1800" b="1" dirty="0">
                <a:solidFill>
                  <a:schemeClr val="accent1"/>
                </a:solidFill>
              </a:rPr>
              <a:t>Dedicated invocation URL</a:t>
            </a:r>
          </a:p>
          <a:p>
            <a:r>
              <a:rPr lang="en-US" sz="1600" dirty="0"/>
              <a:t>A stable endpoint that remains consistent as you update agent versions.</a:t>
            </a:r>
            <a:endParaRPr lang="en-US" sz="1600" b="1" dirty="0">
              <a:solidFill>
                <a:srgbClr val="4C4C4C"/>
              </a:solidFill>
              <a:latin typeface="+mj-lt"/>
            </a:endParaRPr>
          </a:p>
        </p:txBody>
      </p:sp>
      <p:sp>
        <p:nvSpPr>
          <p:cNvPr id="7" name="RetrievalCard">
            <a:extLst>
              <a:ext uri="{FF2B5EF4-FFF2-40B4-BE49-F238E27FC236}">
                <a16:creationId xmlns:a16="http://schemas.microsoft.com/office/drawing/2014/main" id="{DB4A0616-4FC4-9AFA-DC52-B42D4F44516E}"/>
              </a:ext>
            </a:extLst>
          </p:cNvPr>
          <p:cNvSpPr/>
          <p:nvPr/>
        </p:nvSpPr>
        <p:spPr>
          <a:xfrm>
            <a:off x="579438" y="3029005"/>
            <a:ext cx="10291942" cy="827785"/>
          </a:xfrm>
          <a:prstGeom prst="roundRect">
            <a:avLst>
              <a:gd name="adj" fmla="val 12000"/>
            </a:avLst>
          </a:prstGeom>
          <a:solidFill>
            <a:srgbClr val="F8F8F8"/>
          </a:solidFill>
          <a:ln w="9525">
            <a:solidFill>
              <a:srgbClr val="DEDEDE"/>
            </a:solidFill>
          </a:ln>
        </p:spPr>
        <p:txBody>
          <a:bodyPr anchor="ctr"/>
          <a:lstStyle/>
          <a:p>
            <a:r>
              <a:rPr lang="en-US" sz="1800" b="1" dirty="0">
                <a:solidFill>
                  <a:schemeClr val="accent2"/>
                </a:solidFill>
              </a:rPr>
              <a:t>Agent identity</a:t>
            </a:r>
          </a:p>
          <a:p>
            <a:r>
              <a:rPr lang="en-US" sz="1600" dirty="0"/>
              <a:t>A distinct Microsoft Entra identity separate from your development project</a:t>
            </a:r>
            <a:endParaRPr lang="en-US" sz="1400" b="1" dirty="0">
              <a:solidFill>
                <a:srgbClr val="4C4C4C"/>
              </a:solidFill>
              <a:latin typeface="+mj-lt"/>
            </a:endParaRPr>
          </a:p>
        </p:txBody>
      </p:sp>
      <p:sp>
        <p:nvSpPr>
          <p:cNvPr id="8" name="RetrievalCard">
            <a:extLst>
              <a:ext uri="{FF2B5EF4-FFF2-40B4-BE49-F238E27FC236}">
                <a16:creationId xmlns:a16="http://schemas.microsoft.com/office/drawing/2014/main" id="{5E711728-7A07-145E-49BF-21072B74EE38}"/>
              </a:ext>
            </a:extLst>
          </p:cNvPr>
          <p:cNvSpPr/>
          <p:nvPr/>
        </p:nvSpPr>
        <p:spPr>
          <a:xfrm>
            <a:off x="579438" y="4073146"/>
            <a:ext cx="10291942" cy="827785"/>
          </a:xfrm>
          <a:prstGeom prst="roundRect">
            <a:avLst>
              <a:gd name="adj" fmla="val 12000"/>
            </a:avLst>
          </a:prstGeom>
          <a:solidFill>
            <a:srgbClr val="F8F8F8"/>
          </a:solidFill>
          <a:ln w="9525">
            <a:solidFill>
              <a:srgbClr val="DEDEDE"/>
            </a:solidFill>
          </a:ln>
        </p:spPr>
        <p:txBody>
          <a:bodyPr anchor="ctr"/>
          <a:lstStyle/>
          <a:p>
            <a:r>
              <a:rPr lang="en-US" b="1" dirty="0">
                <a:solidFill>
                  <a:schemeClr val="accent3"/>
                </a:solidFill>
              </a:rPr>
              <a:t>User data isolation</a:t>
            </a:r>
            <a:endParaRPr lang="en-US" dirty="0">
              <a:solidFill>
                <a:schemeClr val="accent3"/>
              </a:solidFill>
            </a:endParaRPr>
          </a:p>
          <a:p>
            <a:r>
              <a:rPr lang="en-US" sz="1600" dirty="0"/>
              <a:t>Inputs and interactions from one user aren't available to other users</a:t>
            </a:r>
          </a:p>
        </p:txBody>
      </p:sp>
    </p:spTree>
    <p:extLst>
      <p:ext uri="{BB962C8B-B14F-4D97-AF65-F5344CB8AC3E}">
        <p14:creationId xmlns:p14="http://schemas.microsoft.com/office/powerpoint/2010/main" val="352927847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9DAE-9840-C8B8-7A3E-0D3841B2A32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C7C9AE16-87B0-00D8-F8B9-B720E186B614}"/>
              </a:ext>
            </a:extLst>
          </p:cNvPr>
          <p:cNvCxnSpPr>
            <a:stCxn id="5" idx="6"/>
            <a:endCxn id="15" idx="2"/>
          </p:cNvCxnSpPr>
          <p:nvPr/>
        </p:nvCxnSpPr>
        <p:spPr>
          <a:xfrm>
            <a:off x="1149636" y="1833795"/>
            <a:ext cx="7396139"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AEAC55C-D26D-B4EC-0CD7-A8F5D42B784C}"/>
              </a:ext>
            </a:extLst>
          </p:cNvPr>
          <p:cNvSpPr>
            <a:spLocks noGrp="1"/>
          </p:cNvSpPr>
          <p:nvPr>
            <p:ph type="title"/>
          </p:nvPr>
        </p:nvSpPr>
        <p:spPr>
          <a:xfrm>
            <a:off x="588261" y="585216"/>
            <a:ext cx="11011601" cy="492443"/>
          </a:xfrm>
        </p:spPr>
        <p:txBody>
          <a:bodyPr/>
          <a:lstStyle/>
          <a:p>
            <a:r>
              <a:rPr lang="en-US" sz="3200" dirty="0"/>
              <a:t>Publish your agent</a:t>
            </a:r>
          </a:p>
        </p:txBody>
      </p:sp>
      <p:sp>
        <p:nvSpPr>
          <p:cNvPr id="3" name="Footer Placeholder 2">
            <a:extLst>
              <a:ext uri="{FF2B5EF4-FFF2-40B4-BE49-F238E27FC236}">
                <a16:creationId xmlns:a16="http://schemas.microsoft.com/office/drawing/2014/main" id="{DD68C3B9-416E-927B-EF66-89CF2F37BE9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0" name="Group 9">
            <a:extLst>
              <a:ext uri="{FF2B5EF4-FFF2-40B4-BE49-F238E27FC236}">
                <a16:creationId xmlns:a16="http://schemas.microsoft.com/office/drawing/2014/main" id="{5C4533A0-4CE7-CE87-E739-DB9BCBED8115}"/>
              </a:ext>
            </a:extLst>
          </p:cNvPr>
          <p:cNvGrpSpPr/>
          <p:nvPr/>
        </p:nvGrpSpPr>
        <p:grpSpPr>
          <a:xfrm>
            <a:off x="692436" y="1605195"/>
            <a:ext cx="2277034" cy="752974"/>
            <a:chOff x="588261" y="1805651"/>
            <a:chExt cx="2277034" cy="752974"/>
          </a:xfrm>
        </p:grpSpPr>
        <p:sp>
          <p:nvSpPr>
            <p:cNvPr id="5" name="Oval 4">
              <a:extLst>
                <a:ext uri="{FF2B5EF4-FFF2-40B4-BE49-F238E27FC236}">
                  <a16:creationId xmlns:a16="http://schemas.microsoft.com/office/drawing/2014/main" id="{36AE69EE-B6A0-3921-A596-644F58B426A0}"/>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6" name="TextBox 5">
              <a:extLst>
                <a:ext uri="{FF2B5EF4-FFF2-40B4-BE49-F238E27FC236}">
                  <a16:creationId xmlns:a16="http://schemas.microsoft.com/office/drawing/2014/main" id="{3D7FC922-7AA1-29D0-DF37-2DED5760704C}"/>
                </a:ext>
              </a:extLst>
            </p:cNvPr>
            <p:cNvSpPr txBox="1"/>
            <p:nvPr/>
          </p:nvSpPr>
          <p:spPr>
            <a:xfrm>
              <a:off x="588261" y="2312404"/>
              <a:ext cx="2277034" cy="246221"/>
            </a:xfrm>
            <a:prstGeom prst="rect">
              <a:avLst/>
            </a:prstGeom>
            <a:noFill/>
          </p:spPr>
          <p:txBody>
            <a:bodyPr wrap="none" lIns="0" tIns="0" rIns="0" bIns="0" rtlCol="0">
              <a:spAutoFit/>
            </a:bodyPr>
            <a:lstStyle/>
            <a:p>
              <a:pPr algn="l"/>
              <a:r>
                <a:rPr lang="en-US" sz="1600" dirty="0"/>
                <a:t>Select your agent version</a:t>
              </a:r>
            </a:p>
          </p:txBody>
        </p:sp>
      </p:grpSp>
      <p:grpSp>
        <p:nvGrpSpPr>
          <p:cNvPr id="9" name="Group 8">
            <a:extLst>
              <a:ext uri="{FF2B5EF4-FFF2-40B4-BE49-F238E27FC236}">
                <a16:creationId xmlns:a16="http://schemas.microsoft.com/office/drawing/2014/main" id="{BFEA608C-53FD-6291-5C6A-E61F819A5CA2}"/>
              </a:ext>
            </a:extLst>
          </p:cNvPr>
          <p:cNvGrpSpPr/>
          <p:nvPr/>
        </p:nvGrpSpPr>
        <p:grpSpPr>
          <a:xfrm>
            <a:off x="3164315" y="1605195"/>
            <a:ext cx="2560509" cy="752974"/>
            <a:chOff x="3761654" y="1805651"/>
            <a:chExt cx="2560509" cy="752974"/>
          </a:xfrm>
        </p:grpSpPr>
        <p:sp>
          <p:nvSpPr>
            <p:cNvPr id="7" name="Oval 6">
              <a:extLst>
                <a:ext uri="{FF2B5EF4-FFF2-40B4-BE49-F238E27FC236}">
                  <a16:creationId xmlns:a16="http://schemas.microsoft.com/office/drawing/2014/main" id="{87C8EE71-0893-9127-7134-DDA79E9ABB23}"/>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8" name="TextBox 7">
              <a:extLst>
                <a:ext uri="{FF2B5EF4-FFF2-40B4-BE49-F238E27FC236}">
                  <a16:creationId xmlns:a16="http://schemas.microsoft.com/office/drawing/2014/main" id="{BF717ADC-D52A-5881-7F1C-13809C561AD3}"/>
                </a:ext>
              </a:extLst>
            </p:cNvPr>
            <p:cNvSpPr txBox="1"/>
            <p:nvPr/>
          </p:nvSpPr>
          <p:spPr>
            <a:xfrm>
              <a:off x="3761654" y="2312404"/>
              <a:ext cx="2560509" cy="246221"/>
            </a:xfrm>
            <a:prstGeom prst="rect">
              <a:avLst/>
            </a:prstGeom>
            <a:noFill/>
          </p:spPr>
          <p:txBody>
            <a:bodyPr wrap="square" lIns="0" tIns="0" rIns="0" bIns="0" rtlCol="0">
              <a:spAutoFit/>
            </a:bodyPr>
            <a:lstStyle/>
            <a:p>
              <a:pPr algn="l"/>
              <a:r>
                <a:rPr lang="en-US" sz="1600" dirty="0"/>
                <a:t>Start the publishing process</a:t>
              </a:r>
            </a:p>
          </p:txBody>
        </p:sp>
      </p:grpSp>
      <p:grpSp>
        <p:nvGrpSpPr>
          <p:cNvPr id="11" name="Group 10">
            <a:extLst>
              <a:ext uri="{FF2B5EF4-FFF2-40B4-BE49-F238E27FC236}">
                <a16:creationId xmlns:a16="http://schemas.microsoft.com/office/drawing/2014/main" id="{F96E8CDC-197B-DE38-C316-9F0F3A74FE6D}"/>
              </a:ext>
            </a:extLst>
          </p:cNvPr>
          <p:cNvGrpSpPr/>
          <p:nvPr/>
        </p:nvGrpSpPr>
        <p:grpSpPr>
          <a:xfrm>
            <a:off x="5859346" y="1605195"/>
            <a:ext cx="2560509" cy="752974"/>
            <a:chOff x="3761654" y="1805651"/>
            <a:chExt cx="2560509" cy="752974"/>
          </a:xfrm>
        </p:grpSpPr>
        <p:sp>
          <p:nvSpPr>
            <p:cNvPr id="12" name="Oval 11">
              <a:extLst>
                <a:ext uri="{FF2B5EF4-FFF2-40B4-BE49-F238E27FC236}">
                  <a16:creationId xmlns:a16="http://schemas.microsoft.com/office/drawing/2014/main" id="{6B7405F5-45A9-2760-A424-196D79CD08E1}"/>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97C8B31C-1377-701A-07CF-D2E9E00F729E}"/>
                </a:ext>
              </a:extLst>
            </p:cNvPr>
            <p:cNvSpPr txBox="1"/>
            <p:nvPr/>
          </p:nvSpPr>
          <p:spPr>
            <a:xfrm>
              <a:off x="3761654" y="2312404"/>
              <a:ext cx="2560509" cy="246221"/>
            </a:xfrm>
            <a:prstGeom prst="rect">
              <a:avLst/>
            </a:prstGeom>
            <a:noFill/>
          </p:spPr>
          <p:txBody>
            <a:bodyPr wrap="none" lIns="0" tIns="0" rIns="0" bIns="0" rtlCol="0">
              <a:spAutoFit/>
            </a:bodyPr>
            <a:lstStyle/>
            <a:p>
              <a:pPr algn="l"/>
              <a:r>
                <a:rPr lang="en-US" sz="1600" dirty="0"/>
                <a:t>Configure Azure Bot Service</a:t>
              </a:r>
            </a:p>
          </p:txBody>
        </p:sp>
      </p:grpSp>
      <p:grpSp>
        <p:nvGrpSpPr>
          <p:cNvPr id="14" name="Group 13">
            <a:extLst>
              <a:ext uri="{FF2B5EF4-FFF2-40B4-BE49-F238E27FC236}">
                <a16:creationId xmlns:a16="http://schemas.microsoft.com/office/drawing/2014/main" id="{6330C7BE-9113-1451-160F-622DD7949BC8}"/>
              </a:ext>
            </a:extLst>
          </p:cNvPr>
          <p:cNvGrpSpPr/>
          <p:nvPr/>
        </p:nvGrpSpPr>
        <p:grpSpPr>
          <a:xfrm>
            <a:off x="8545775" y="1605195"/>
            <a:ext cx="2196114" cy="752974"/>
            <a:chOff x="3761654" y="1805651"/>
            <a:chExt cx="2196114" cy="752974"/>
          </a:xfrm>
        </p:grpSpPr>
        <p:sp>
          <p:nvSpPr>
            <p:cNvPr id="15" name="Oval 14">
              <a:extLst>
                <a:ext uri="{FF2B5EF4-FFF2-40B4-BE49-F238E27FC236}">
                  <a16:creationId xmlns:a16="http://schemas.microsoft.com/office/drawing/2014/main" id="{0685913B-7941-5263-90B0-BA43F4DB8A2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4</a:t>
              </a:r>
            </a:p>
          </p:txBody>
        </p:sp>
        <p:sp>
          <p:nvSpPr>
            <p:cNvPr id="16" name="TextBox 15">
              <a:extLst>
                <a:ext uri="{FF2B5EF4-FFF2-40B4-BE49-F238E27FC236}">
                  <a16:creationId xmlns:a16="http://schemas.microsoft.com/office/drawing/2014/main" id="{6FAB2378-A08F-E243-614C-40E7D91C929E}"/>
                </a:ext>
              </a:extLst>
            </p:cNvPr>
            <p:cNvSpPr txBox="1"/>
            <p:nvPr/>
          </p:nvSpPr>
          <p:spPr>
            <a:xfrm>
              <a:off x="3761654" y="2312404"/>
              <a:ext cx="2196114" cy="246221"/>
            </a:xfrm>
            <a:prstGeom prst="rect">
              <a:avLst/>
            </a:prstGeom>
            <a:noFill/>
          </p:spPr>
          <p:txBody>
            <a:bodyPr wrap="none" lIns="0" tIns="0" rIns="0" bIns="0" rtlCol="0">
              <a:spAutoFit/>
            </a:bodyPr>
            <a:lstStyle/>
            <a:p>
              <a:pPr algn="l"/>
              <a:r>
                <a:rPr lang="en-US" sz="1600" dirty="0"/>
                <a:t>Complete the </a:t>
              </a:r>
              <a:r>
                <a:rPr lang="en-US" sz="1600" b="1" dirty="0">
                  <a:solidFill>
                    <a:schemeClr val="accent2"/>
                  </a:solidFill>
                </a:rPr>
                <a:t>metadata</a:t>
              </a:r>
            </a:p>
          </p:txBody>
        </p:sp>
      </p:grpSp>
      <p:cxnSp>
        <p:nvCxnSpPr>
          <p:cNvPr id="19" name="Straight Connector 18">
            <a:extLst>
              <a:ext uri="{FF2B5EF4-FFF2-40B4-BE49-F238E27FC236}">
                <a16:creationId xmlns:a16="http://schemas.microsoft.com/office/drawing/2014/main" id="{C5306F5B-EEE8-D8D9-A971-9077182827A2}"/>
              </a:ext>
            </a:extLst>
          </p:cNvPr>
          <p:cNvCxnSpPr>
            <a:cxnSpLocks/>
            <a:stCxn id="21" idx="6"/>
            <a:endCxn id="24" idx="2"/>
          </p:cNvCxnSpPr>
          <p:nvPr/>
        </p:nvCxnSpPr>
        <p:spPr>
          <a:xfrm>
            <a:off x="1149636" y="4417713"/>
            <a:ext cx="6388972"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7836A013-B064-E7A6-C02F-B2CA110566FB}"/>
              </a:ext>
            </a:extLst>
          </p:cNvPr>
          <p:cNvGrpSpPr/>
          <p:nvPr/>
        </p:nvGrpSpPr>
        <p:grpSpPr>
          <a:xfrm>
            <a:off x="692436" y="4189113"/>
            <a:ext cx="2437142" cy="752974"/>
            <a:chOff x="588261" y="1805651"/>
            <a:chExt cx="2437142" cy="752974"/>
          </a:xfrm>
        </p:grpSpPr>
        <p:sp>
          <p:nvSpPr>
            <p:cNvPr id="21" name="Oval 20">
              <a:extLst>
                <a:ext uri="{FF2B5EF4-FFF2-40B4-BE49-F238E27FC236}">
                  <a16:creationId xmlns:a16="http://schemas.microsoft.com/office/drawing/2014/main" id="{52C8F97C-3062-3ED3-FFE4-8627DEC48738}"/>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5</a:t>
              </a:r>
            </a:p>
          </p:txBody>
        </p:sp>
        <p:sp>
          <p:nvSpPr>
            <p:cNvPr id="22" name="TextBox 21">
              <a:extLst>
                <a:ext uri="{FF2B5EF4-FFF2-40B4-BE49-F238E27FC236}">
                  <a16:creationId xmlns:a16="http://schemas.microsoft.com/office/drawing/2014/main" id="{A0A807CD-7FFD-9C96-1AC8-E5C46E06BC9D}"/>
                </a:ext>
              </a:extLst>
            </p:cNvPr>
            <p:cNvSpPr txBox="1"/>
            <p:nvPr/>
          </p:nvSpPr>
          <p:spPr>
            <a:xfrm>
              <a:off x="588261" y="2312404"/>
              <a:ext cx="2437142" cy="246221"/>
            </a:xfrm>
            <a:prstGeom prst="rect">
              <a:avLst/>
            </a:prstGeom>
            <a:noFill/>
          </p:spPr>
          <p:txBody>
            <a:bodyPr wrap="none" lIns="0" tIns="0" rIns="0" bIns="0" rtlCol="0">
              <a:spAutoFit/>
            </a:bodyPr>
            <a:lstStyle/>
            <a:p>
              <a:pPr algn="l"/>
              <a:r>
                <a:rPr lang="en-US" sz="1600" dirty="0"/>
                <a:t>Choose your publish </a:t>
              </a:r>
              <a:r>
                <a:rPr lang="en-US" sz="1600" b="1" dirty="0">
                  <a:solidFill>
                    <a:schemeClr val="accent2"/>
                  </a:solidFill>
                </a:rPr>
                <a:t>scope</a:t>
              </a:r>
            </a:p>
          </p:txBody>
        </p:sp>
      </p:grpSp>
      <p:grpSp>
        <p:nvGrpSpPr>
          <p:cNvPr id="23" name="Group 22">
            <a:extLst>
              <a:ext uri="{FF2B5EF4-FFF2-40B4-BE49-F238E27FC236}">
                <a16:creationId xmlns:a16="http://schemas.microsoft.com/office/drawing/2014/main" id="{58634C1D-1158-EE88-7AB5-1C553481D3CF}"/>
              </a:ext>
            </a:extLst>
          </p:cNvPr>
          <p:cNvGrpSpPr/>
          <p:nvPr/>
        </p:nvGrpSpPr>
        <p:grpSpPr>
          <a:xfrm>
            <a:off x="7538608" y="4189113"/>
            <a:ext cx="4147930" cy="752974"/>
            <a:chOff x="3761654" y="1805651"/>
            <a:chExt cx="4147930" cy="752974"/>
          </a:xfrm>
        </p:grpSpPr>
        <p:sp>
          <p:nvSpPr>
            <p:cNvPr id="24" name="Oval 23">
              <a:extLst>
                <a:ext uri="{FF2B5EF4-FFF2-40B4-BE49-F238E27FC236}">
                  <a16:creationId xmlns:a16="http://schemas.microsoft.com/office/drawing/2014/main" id="{DF436E17-3DAB-E286-ED0D-81927E465193}"/>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gradFill>
                    <a:gsLst>
                      <a:gs pos="0">
                        <a:srgbClr val="FFFFFF"/>
                      </a:gs>
                      <a:gs pos="100000">
                        <a:srgbClr val="FFFFFF"/>
                      </a:gs>
                    </a:gsLst>
                    <a:lin ang="5400000" scaled="0"/>
                  </a:gradFill>
                  <a:latin typeface="+mj-lt"/>
                  <a:ea typeface="Segoe UI" pitchFamily="34" charset="0"/>
                  <a:cs typeface="Segoe UI" pitchFamily="34" charset="0"/>
                </a:rPr>
                <a:t>6</a:t>
              </a:r>
            </a:p>
          </p:txBody>
        </p:sp>
        <p:sp>
          <p:nvSpPr>
            <p:cNvPr id="25" name="TextBox 24">
              <a:extLst>
                <a:ext uri="{FF2B5EF4-FFF2-40B4-BE49-F238E27FC236}">
                  <a16:creationId xmlns:a16="http://schemas.microsoft.com/office/drawing/2014/main" id="{F2AC7DAB-4E90-EC95-902D-ABFF3D64B19A}"/>
                </a:ext>
              </a:extLst>
            </p:cNvPr>
            <p:cNvSpPr txBox="1"/>
            <p:nvPr/>
          </p:nvSpPr>
          <p:spPr>
            <a:xfrm>
              <a:off x="3761654" y="2312404"/>
              <a:ext cx="4147930" cy="246221"/>
            </a:xfrm>
            <a:prstGeom prst="rect">
              <a:avLst/>
            </a:prstGeom>
            <a:noFill/>
          </p:spPr>
          <p:txBody>
            <a:bodyPr wrap="none" lIns="0" tIns="0" rIns="0" bIns="0" rtlCol="0">
              <a:spAutoFit/>
            </a:bodyPr>
            <a:lstStyle/>
            <a:p>
              <a:pPr algn="l"/>
              <a:r>
                <a:rPr lang="en-US" sz="1600" dirty="0"/>
                <a:t>Prepare and optionally download the package</a:t>
              </a:r>
            </a:p>
          </p:txBody>
        </p:sp>
      </p:grpSp>
      <p:cxnSp>
        <p:nvCxnSpPr>
          <p:cNvPr id="41" name="Elbow Connector 40">
            <a:extLst>
              <a:ext uri="{FF2B5EF4-FFF2-40B4-BE49-F238E27FC236}">
                <a16:creationId xmlns:a16="http://schemas.microsoft.com/office/drawing/2014/main" id="{5680A2F7-7C62-DD2B-C729-3C04D2325781}"/>
              </a:ext>
            </a:extLst>
          </p:cNvPr>
          <p:cNvCxnSpPr>
            <a:stCxn id="15" idx="6"/>
            <a:endCxn id="21" idx="0"/>
          </p:cNvCxnSpPr>
          <p:nvPr/>
        </p:nvCxnSpPr>
        <p:spPr>
          <a:xfrm flipH="1">
            <a:off x="921036" y="1833795"/>
            <a:ext cx="8081939" cy="2355318"/>
          </a:xfrm>
          <a:prstGeom prst="bentConnector4">
            <a:avLst>
              <a:gd name="adj1" fmla="val -28217"/>
              <a:gd name="adj2" fmla="val 5485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4" name="RetrievalCard">
            <a:extLst>
              <a:ext uri="{FF2B5EF4-FFF2-40B4-BE49-F238E27FC236}">
                <a16:creationId xmlns:a16="http://schemas.microsoft.com/office/drawing/2014/main" id="{1A5CD2FF-8D75-5D82-68D9-480A04CFAA1B}"/>
              </a:ext>
            </a:extLst>
          </p:cNvPr>
          <p:cNvSpPr/>
          <p:nvPr/>
        </p:nvSpPr>
        <p:spPr>
          <a:xfrm>
            <a:off x="1415819" y="2535183"/>
            <a:ext cx="8887053" cy="1566908"/>
          </a:xfrm>
          <a:prstGeom prst="roundRect">
            <a:avLst>
              <a:gd name="adj" fmla="val 12000"/>
            </a:avLst>
          </a:prstGeom>
          <a:solidFill>
            <a:schemeClr val="tx1"/>
          </a:solidFill>
          <a:ln w="9525">
            <a:solidFill>
              <a:schemeClr val="tx1"/>
            </a:solidFill>
          </a:ln>
        </p:spPr>
        <p:txBody>
          <a:bodyPr anchor="ctr"/>
          <a:lstStyle/>
          <a:p>
            <a:endParaRPr lang="en-US" sz="1400" b="1" dirty="0">
              <a:solidFill>
                <a:schemeClr val="bg1"/>
              </a:solidFill>
              <a:latin typeface="Consolas" panose="020B0609020204030204" pitchFamily="49" charset="0"/>
              <a:cs typeface="Consolas" panose="020B0609020204030204" pitchFamily="49" charset="0"/>
            </a:endParaRPr>
          </a:p>
        </p:txBody>
      </p:sp>
      <p:sp>
        <p:nvSpPr>
          <p:cNvPr id="34" name="Round Same Side Corner Rectangle 33">
            <a:extLst>
              <a:ext uri="{FF2B5EF4-FFF2-40B4-BE49-F238E27FC236}">
                <a16:creationId xmlns:a16="http://schemas.microsoft.com/office/drawing/2014/main" id="{F4FD24DB-45FA-7FAC-7066-81B794A3FD46}"/>
              </a:ext>
            </a:extLst>
          </p:cNvPr>
          <p:cNvSpPr/>
          <p:nvPr/>
        </p:nvSpPr>
        <p:spPr bwMode="auto">
          <a:xfrm rot="16200000">
            <a:off x="762192" y="3124688"/>
            <a:ext cx="1566907" cy="387893"/>
          </a:xfrm>
          <a:prstGeom prst="round2SameRect">
            <a:avLst>
              <a:gd name="adj1" fmla="val 45415"/>
              <a:gd name="adj2" fmla="val 0"/>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gradFill>
                  <a:gsLst>
                    <a:gs pos="0">
                      <a:srgbClr val="FFFFFF"/>
                    </a:gs>
                    <a:gs pos="100000">
                      <a:srgbClr val="FFFFFF"/>
                    </a:gs>
                  </a:gsLst>
                  <a:lin ang="5400000" scaled="0"/>
                </a:gradFill>
                <a:ea typeface="Segoe UI" pitchFamily="34" charset="0"/>
                <a:cs typeface="Segoe UI" pitchFamily="34" charset="0"/>
              </a:rPr>
              <a:t>metadata</a:t>
            </a:r>
          </a:p>
        </p:txBody>
      </p:sp>
      <p:sp>
        <p:nvSpPr>
          <p:cNvPr id="36" name="TextBox 35">
            <a:extLst>
              <a:ext uri="{FF2B5EF4-FFF2-40B4-BE49-F238E27FC236}">
                <a16:creationId xmlns:a16="http://schemas.microsoft.com/office/drawing/2014/main" id="{B2C8DBF5-A7CA-B5B6-90EE-3A621CA3902D}"/>
              </a:ext>
            </a:extLst>
          </p:cNvPr>
          <p:cNvSpPr txBox="1"/>
          <p:nvPr/>
        </p:nvSpPr>
        <p:spPr>
          <a:xfrm>
            <a:off x="2170255" y="2643732"/>
            <a:ext cx="7899295" cy="138499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Name			Display name for your agent in the Teams store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Description		Brief explanation of what your agent does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Icons			Upload small and large PNG icons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Publisher information	Your organization name and contact details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Privacy policy		URL to your organization's privacy policy</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Terms of use		URL to your terms of service</a:t>
            </a:r>
          </a:p>
        </p:txBody>
      </p:sp>
      <p:sp>
        <p:nvSpPr>
          <p:cNvPr id="39" name="RetrievalCard">
            <a:extLst>
              <a:ext uri="{FF2B5EF4-FFF2-40B4-BE49-F238E27FC236}">
                <a16:creationId xmlns:a16="http://schemas.microsoft.com/office/drawing/2014/main" id="{DF06727E-3B51-6391-8860-65A15349DCE1}"/>
              </a:ext>
            </a:extLst>
          </p:cNvPr>
          <p:cNvSpPr/>
          <p:nvPr/>
        </p:nvSpPr>
        <p:spPr>
          <a:xfrm>
            <a:off x="692437" y="5052155"/>
            <a:ext cx="4038314" cy="751335"/>
          </a:xfrm>
          <a:prstGeom prst="roundRect">
            <a:avLst>
              <a:gd name="adj" fmla="val 12000"/>
            </a:avLst>
          </a:prstGeom>
          <a:solidFill>
            <a:srgbClr val="F8F8F8"/>
          </a:solidFill>
          <a:ln w="9525">
            <a:solidFill>
              <a:srgbClr val="DEDEDE"/>
            </a:solidFill>
          </a:ln>
        </p:spPr>
        <p:txBody>
          <a:bodyPr anchor="t"/>
          <a:lstStyle/>
          <a:p>
            <a:r>
              <a:rPr lang="en-US" sz="1400" b="1" dirty="0">
                <a:solidFill>
                  <a:schemeClr val="accent2"/>
                </a:solidFill>
                <a:latin typeface="+mj-lt"/>
              </a:rPr>
              <a:t>Shared scope</a:t>
            </a:r>
            <a:r>
              <a:rPr lang="en-US" sz="1400" dirty="0">
                <a:solidFill>
                  <a:schemeClr val="accent2"/>
                </a:solidFill>
                <a:latin typeface="+mj-lt"/>
              </a:rPr>
              <a:t> </a:t>
            </a:r>
          </a:p>
          <a:p>
            <a:r>
              <a:rPr lang="en-US" sz="1200" dirty="0"/>
              <a:t>Agent appears under "Your agents" in the store. Available immediately. Best for testing and small teams.</a:t>
            </a:r>
          </a:p>
          <a:p>
            <a:endParaRPr lang="en-US" sz="1400" b="1" dirty="0">
              <a:solidFill>
                <a:srgbClr val="4C4C4C"/>
              </a:solidFill>
              <a:latin typeface="+mj-lt"/>
            </a:endParaRPr>
          </a:p>
        </p:txBody>
      </p:sp>
      <p:sp>
        <p:nvSpPr>
          <p:cNvPr id="40" name="RetrievalCard">
            <a:extLst>
              <a:ext uri="{FF2B5EF4-FFF2-40B4-BE49-F238E27FC236}">
                <a16:creationId xmlns:a16="http://schemas.microsoft.com/office/drawing/2014/main" id="{C21F0BC3-F9B2-DB48-E2DF-D51D66320298}"/>
              </a:ext>
            </a:extLst>
          </p:cNvPr>
          <p:cNvSpPr/>
          <p:nvPr/>
        </p:nvSpPr>
        <p:spPr>
          <a:xfrm>
            <a:off x="5212106" y="5052155"/>
            <a:ext cx="4400467" cy="751335"/>
          </a:xfrm>
          <a:prstGeom prst="roundRect">
            <a:avLst>
              <a:gd name="adj" fmla="val 12000"/>
            </a:avLst>
          </a:prstGeom>
          <a:solidFill>
            <a:srgbClr val="F8F8F8"/>
          </a:solidFill>
          <a:ln w="9525">
            <a:solidFill>
              <a:srgbClr val="DEDEDE"/>
            </a:solidFill>
          </a:ln>
        </p:spPr>
        <p:txBody>
          <a:bodyPr anchor="t"/>
          <a:lstStyle/>
          <a:p>
            <a:r>
              <a:rPr lang="en-US" sz="1400" b="1" dirty="0">
                <a:solidFill>
                  <a:schemeClr val="accent2"/>
                </a:solidFill>
                <a:latin typeface="+mj-lt"/>
              </a:rPr>
              <a:t>Organization scope</a:t>
            </a:r>
            <a:r>
              <a:rPr lang="en-US" sz="1400" dirty="0">
                <a:solidFill>
                  <a:schemeClr val="accent2"/>
                </a:solidFill>
                <a:latin typeface="+mj-lt"/>
              </a:rPr>
              <a:t> </a:t>
            </a:r>
          </a:p>
          <a:p>
            <a:r>
              <a:rPr lang="en-US" sz="1200" dirty="0"/>
              <a:t>Agent appears under "Built by your org" in the store. </a:t>
            </a:r>
            <a:br>
              <a:rPr lang="en-US" sz="1200" dirty="0"/>
            </a:br>
            <a:r>
              <a:rPr lang="en-US" sz="1200" dirty="0"/>
              <a:t>Requires admin approval. Best for production deployments.</a:t>
            </a:r>
            <a:endParaRPr lang="en-US" sz="1400" b="1" dirty="0">
              <a:solidFill>
                <a:srgbClr val="4C4C4C"/>
              </a:solidFill>
              <a:latin typeface="+mj-lt"/>
            </a:endParaRPr>
          </a:p>
        </p:txBody>
      </p:sp>
      <p:sp>
        <p:nvSpPr>
          <p:cNvPr id="42" name="TextBox 41">
            <a:extLst>
              <a:ext uri="{FF2B5EF4-FFF2-40B4-BE49-F238E27FC236}">
                <a16:creationId xmlns:a16="http://schemas.microsoft.com/office/drawing/2014/main" id="{E8707211-3FAB-FA5C-74C9-042A73DADB9D}"/>
              </a:ext>
            </a:extLst>
          </p:cNvPr>
          <p:cNvSpPr txBox="1"/>
          <p:nvPr/>
        </p:nvSpPr>
        <p:spPr>
          <a:xfrm>
            <a:off x="4847705" y="5296288"/>
            <a:ext cx="278923" cy="246221"/>
          </a:xfrm>
          <a:prstGeom prst="rect">
            <a:avLst/>
          </a:prstGeom>
          <a:noFill/>
        </p:spPr>
        <p:txBody>
          <a:bodyPr wrap="none" lIns="0" tIns="0" rIns="0" bIns="0" rtlCol="0">
            <a:spAutoFit/>
          </a:bodyPr>
          <a:lstStyle/>
          <a:p>
            <a:pPr algn="l"/>
            <a:r>
              <a:rPr lang="en-US" sz="1600" dirty="0">
                <a:solidFill>
                  <a:schemeClr val="tx1">
                    <a:lumMod val="50000"/>
                    <a:lumOff val="50000"/>
                  </a:schemeClr>
                </a:solidFill>
              </a:rPr>
              <a:t>OR</a:t>
            </a:r>
          </a:p>
        </p:txBody>
      </p:sp>
    </p:spTree>
    <p:extLst>
      <p:ext uri="{BB962C8B-B14F-4D97-AF65-F5344CB8AC3E}">
        <p14:creationId xmlns:p14="http://schemas.microsoft.com/office/powerpoint/2010/main" val="4724774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3BC43-D0DF-1DC1-AAB6-7AD7E16037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E71E620-1954-4AD7-6CD8-DC1D5B0C6E30}"/>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E9931AC5-C149-F1AE-63DD-1B19D422ED95}"/>
              </a:ext>
            </a:extLst>
          </p:cNvPr>
          <p:cNvSpPr>
            <a:spLocks noGrp="1"/>
          </p:cNvSpPr>
          <p:nvPr>
            <p:ph type="body" sz="quarter" idx="16"/>
          </p:nvPr>
        </p:nvSpPr>
        <p:spPr>
          <a:xfrm>
            <a:off x="584199" y="1594155"/>
            <a:ext cx="5654573" cy="307777"/>
          </a:xfrm>
        </p:spPr>
        <p:txBody>
          <a:bodyPr/>
          <a:lstStyle/>
          <a:p>
            <a:r>
              <a:rPr lang="en-US" sz="2000" dirty="0"/>
              <a:t>Publish a Foundry agent to Teams</a:t>
            </a:r>
          </a:p>
        </p:txBody>
      </p:sp>
      <p:sp>
        <p:nvSpPr>
          <p:cNvPr id="6" name="Text Placeholder 5">
            <a:extLst>
              <a:ext uri="{FF2B5EF4-FFF2-40B4-BE49-F238E27FC236}">
                <a16:creationId xmlns:a16="http://schemas.microsoft.com/office/drawing/2014/main" id="{2CC9C8C8-2B27-2CAE-7697-93DE8F5F1BDF}"/>
              </a:ext>
            </a:extLst>
          </p:cNvPr>
          <p:cNvSpPr>
            <a:spLocks noGrp="1"/>
          </p:cNvSpPr>
          <p:nvPr>
            <p:ph type="body" sz="quarter" idx="15"/>
          </p:nvPr>
        </p:nvSpPr>
        <p:spPr>
          <a:xfrm>
            <a:off x="586389" y="2085764"/>
            <a:ext cx="5652201" cy="2265236"/>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demo, you’ll explore how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agent in the portal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Add knowledge with File Search</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Publish to Microsoft Teams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Publish to Microsoft 365 Copilot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Update published agents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A37AB2E4-3376-50B5-6294-4F133DA8A59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u="sng" dirty="0">
                <a:hlinkClick r:id="rId3"/>
              </a:rPr>
              <a:t>https://go.microsoft.com/fwlink/?linkid=2352775</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AEC67896-0A42-C034-8D33-CFD61FFC0D29}"/>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824AE78A-9C5C-6D99-0D71-AC79AA29AA08}"/>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F7CB5B7D-BDB9-FAFF-8941-936D0CE44E84}"/>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354478258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65573-4437-93FA-A7E3-0D97F4911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032DE-A523-AAA3-9A73-832F59E2D44F}"/>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C31ACA27-967C-830E-67C4-BC09CBC7CB68}"/>
              </a:ext>
            </a:extLst>
          </p:cNvPr>
          <p:cNvSpPr>
            <a:spLocks noGrp="1"/>
          </p:cNvSpPr>
          <p:nvPr>
            <p:ph type="body" sz="quarter" idx="17"/>
          </p:nvPr>
        </p:nvSpPr>
        <p:spPr>
          <a:xfrm>
            <a:off x="1235075" y="2332142"/>
            <a:ext cx="8778782" cy="430887"/>
          </a:xfrm>
        </p:spPr>
        <p:txBody>
          <a:bodyPr/>
          <a:lstStyle/>
          <a:p>
            <a:r>
              <a:rPr lang="en-US" dirty="0"/>
              <a:t>What Azure resource does the Foundry portal automatically create when you publish an agent to Microsoft Teams?</a:t>
            </a:r>
            <a:endParaRPr lang="en-US" b="1" dirty="0"/>
          </a:p>
        </p:txBody>
      </p:sp>
      <p:sp>
        <p:nvSpPr>
          <p:cNvPr id="9" name="Text Placeholder 8">
            <a:extLst>
              <a:ext uri="{FF2B5EF4-FFF2-40B4-BE49-F238E27FC236}">
                <a16:creationId xmlns:a16="http://schemas.microsoft.com/office/drawing/2014/main" id="{68CC4FDF-818D-081D-AB70-E40CF6FAC741}"/>
              </a:ext>
            </a:extLst>
          </p:cNvPr>
          <p:cNvSpPr>
            <a:spLocks noGrp="1"/>
          </p:cNvSpPr>
          <p:nvPr>
            <p:ph type="body" sz="quarter" idx="15"/>
          </p:nvPr>
        </p:nvSpPr>
        <p:spPr>
          <a:xfrm>
            <a:off x="1235075" y="2765684"/>
            <a:ext cx="8775098" cy="991041"/>
          </a:xfrm>
          <a:noFill/>
        </p:spPr>
        <p:txBody>
          <a:bodyPr/>
          <a:lstStyle/>
          <a:p>
            <a:r>
              <a:rPr lang="en-US" noProof="0" dirty="0"/>
              <a:t>Azure Functions  </a:t>
            </a:r>
            <a:endParaRPr lang="en-US" dirty="0"/>
          </a:p>
          <a:p>
            <a:r>
              <a:rPr lang="en-US" noProof="0" dirty="0"/>
              <a:t>Azure Bot Service  </a:t>
            </a:r>
            <a:endParaRPr lang="en-US" dirty="0"/>
          </a:p>
          <a:p>
            <a:r>
              <a:rPr lang="en-US" noProof="0" dirty="0"/>
              <a:t>Azure Cosmos DB  </a:t>
            </a:r>
            <a:endParaRPr lang="en-US" dirty="0"/>
          </a:p>
          <a:p>
            <a:r>
              <a:rPr lang="en-US" noProof="0" dirty="0"/>
              <a:t>Azure Logic Apps</a:t>
            </a:r>
          </a:p>
        </p:txBody>
      </p:sp>
      <p:sp>
        <p:nvSpPr>
          <p:cNvPr id="18" name="Text Placeholder 17">
            <a:extLst>
              <a:ext uri="{FF2B5EF4-FFF2-40B4-BE49-F238E27FC236}">
                <a16:creationId xmlns:a16="http://schemas.microsoft.com/office/drawing/2014/main" id="{892F0C14-4FF8-B29C-D8B1-574C372FDE30}"/>
              </a:ext>
            </a:extLst>
          </p:cNvPr>
          <p:cNvSpPr>
            <a:spLocks noGrp="1"/>
          </p:cNvSpPr>
          <p:nvPr>
            <p:ph type="body" sz="quarter" idx="22"/>
          </p:nvPr>
        </p:nvSpPr>
        <p:spPr>
          <a:xfrm>
            <a:off x="1235075" y="4034002"/>
            <a:ext cx="8778782" cy="215444"/>
          </a:xfrm>
        </p:spPr>
        <p:txBody>
          <a:bodyPr/>
          <a:lstStyle/>
          <a:p>
            <a:r>
              <a:rPr lang="en-US" dirty="0"/>
              <a:t>What is Microsoft Work IQ?</a:t>
            </a:r>
            <a:endParaRPr lang="en-US" noProof="0" dirty="0"/>
          </a:p>
        </p:txBody>
      </p:sp>
      <p:sp>
        <p:nvSpPr>
          <p:cNvPr id="19" name="Text Placeholder 18">
            <a:extLst>
              <a:ext uri="{FF2B5EF4-FFF2-40B4-BE49-F238E27FC236}">
                <a16:creationId xmlns:a16="http://schemas.microsoft.com/office/drawing/2014/main" id="{4A991ABC-588B-3351-1C41-DE9163165A63}"/>
              </a:ext>
            </a:extLst>
          </p:cNvPr>
          <p:cNvSpPr>
            <a:spLocks noGrp="1"/>
          </p:cNvSpPr>
          <p:nvPr>
            <p:ph type="body" sz="quarter" idx="23"/>
          </p:nvPr>
        </p:nvSpPr>
        <p:spPr>
          <a:xfrm>
            <a:off x="1235074" y="4286731"/>
            <a:ext cx="8775098" cy="991041"/>
          </a:xfrm>
        </p:spPr>
        <p:txBody>
          <a:bodyPr/>
          <a:lstStyle/>
          <a:p>
            <a:r>
              <a:rPr lang="en-US" dirty="0"/>
              <a:t>A machine learning model for workplace analytics </a:t>
            </a:r>
          </a:p>
          <a:p>
            <a:r>
              <a:rPr lang="en-US" dirty="0"/>
              <a:t>A CLI and MCP server that connects AI agents to Microsoft 365 data </a:t>
            </a:r>
          </a:p>
          <a:p>
            <a:r>
              <a:rPr lang="en-US" dirty="0"/>
              <a:t>A replacement for Microsoft Teams </a:t>
            </a:r>
          </a:p>
          <a:p>
            <a:r>
              <a:rPr lang="en-US" dirty="0"/>
              <a:t>A Visual Studio Code extension for building agents</a:t>
            </a:r>
          </a:p>
        </p:txBody>
      </p:sp>
      <p:sp>
        <p:nvSpPr>
          <p:cNvPr id="76" name="Oval 75">
            <a:extLst>
              <a:ext uri="{FF2B5EF4-FFF2-40B4-BE49-F238E27FC236}">
                <a16:creationId xmlns:a16="http://schemas.microsoft.com/office/drawing/2014/main" id="{71B0C6BA-F6A8-7820-5DE9-C55CC392C107}"/>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474FB84F-0D2D-0AB8-D5C4-B32D39E53078}"/>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4FB1A281-8A13-8F1D-F60A-DF50510BA96E}"/>
              </a:ext>
              <a:ext uri="{C183D7F6-B498-43B3-948B-1728B52AA6E4}">
                <adec:decorative xmlns:adec="http://schemas.microsoft.com/office/drawing/2017/decorative" val="1"/>
              </a:ext>
            </a:extLst>
          </p:cNvPr>
          <p:cNvSpPr>
            <a:spLocks/>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5FA59791-D9A5-32A9-3D97-E499CC0AAF17}"/>
              </a:ext>
              <a:ext uri="{C183D7F6-B498-43B3-948B-1728B52AA6E4}">
                <adec:decorative xmlns:adec="http://schemas.microsoft.com/office/drawing/2017/decorative" val="1"/>
              </a:ext>
            </a:extLst>
          </p:cNvPr>
          <p:cNvSpPr>
            <a:spLocks/>
          </p:cNvSpPr>
          <p:nvPr/>
        </p:nvSpPr>
        <p:spPr>
          <a:xfrm>
            <a:off x="1263852" y="304148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E9B6383-5125-A2F6-138A-029BA064C2EA}"/>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264583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84B6C-9EB5-C3BE-7BA5-CF316DE60A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F0B0A3-43DD-32B2-C4BF-C86ACDC660D5}"/>
              </a:ext>
            </a:extLst>
          </p:cNvPr>
          <p:cNvSpPr>
            <a:spLocks noGrp="1"/>
          </p:cNvSpPr>
          <p:nvPr>
            <p:ph type="title"/>
          </p:nvPr>
        </p:nvSpPr>
        <p:spPr>
          <a:xfrm>
            <a:off x="569911" y="2892168"/>
            <a:ext cx="6345239" cy="1107996"/>
          </a:xfrm>
        </p:spPr>
        <p:txBody>
          <a:bodyPr/>
          <a:lstStyle/>
          <a:p>
            <a:r>
              <a:rPr lang="en-US" altLang="zh-CN" sz="3600" dirty="0"/>
              <a:t>Build agent-driven workflows using Microsoft Foundry</a:t>
            </a:r>
            <a:endParaRPr lang="en-US" sz="3600" dirty="0"/>
          </a:p>
        </p:txBody>
      </p:sp>
      <p:sp>
        <p:nvSpPr>
          <p:cNvPr id="11" name="Footer Placeholder 10">
            <a:extLst>
              <a:ext uri="{FF2B5EF4-FFF2-40B4-BE49-F238E27FC236}">
                <a16:creationId xmlns:a16="http://schemas.microsoft.com/office/drawing/2014/main" id="{979B500D-EFB2-68F4-9256-1F53F91A3AE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261A7200-0B65-E42D-8401-7C61881662AB}"/>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86CF1E73-89CE-F387-6689-6BEDAED3CB33}"/>
              </a:ext>
            </a:extLst>
          </p:cNvPr>
          <p:cNvSpPr txBox="1"/>
          <p:nvPr/>
        </p:nvSpPr>
        <p:spPr>
          <a:xfrm>
            <a:off x="497339" y="4000164"/>
            <a:ext cx="6096000" cy="369332"/>
          </a:xfrm>
          <a:prstGeom prst="rect">
            <a:avLst/>
          </a:prstGeom>
          <a:noFill/>
        </p:spPr>
        <p:txBody>
          <a:bodyPr wrap="square">
            <a:spAutoFit/>
          </a:bodyPr>
          <a:lstStyle/>
          <a:p>
            <a:r>
              <a:rPr lang="en-US" sz="1770" dirty="0">
                <a:solidFill>
                  <a:schemeClr val="accent2"/>
                </a:solidFill>
              </a:rPr>
              <a:t>https://aka.ms/mslearn-agent-workflows</a:t>
            </a:r>
          </a:p>
        </p:txBody>
      </p:sp>
    </p:spTree>
    <p:extLst>
      <p:ext uri="{BB962C8B-B14F-4D97-AF65-F5344CB8AC3E}">
        <p14:creationId xmlns:p14="http://schemas.microsoft.com/office/powerpoint/2010/main" val="400889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2EAC-1D8B-AA71-03A8-B7078264A5B4}"/>
              </a:ext>
            </a:extLst>
          </p:cNvPr>
          <p:cNvSpPr>
            <a:spLocks noGrp="1"/>
          </p:cNvSpPr>
          <p:nvPr>
            <p:ph type="title"/>
          </p:nvPr>
        </p:nvSpPr>
        <p:spPr/>
        <p:txBody>
          <a:bodyPr/>
          <a:lstStyle/>
          <a:p>
            <a:r>
              <a:rPr lang="en-US" sz="3200" dirty="0"/>
              <a:t>Understand workflows</a:t>
            </a:r>
          </a:p>
        </p:txBody>
      </p:sp>
      <p:sp>
        <p:nvSpPr>
          <p:cNvPr id="6" name="Text Placeholder 5">
            <a:extLst>
              <a:ext uri="{FF2B5EF4-FFF2-40B4-BE49-F238E27FC236}">
                <a16:creationId xmlns:a16="http://schemas.microsoft.com/office/drawing/2014/main" id="{6B344D0C-94A5-E12D-E50E-102304D73200}"/>
              </a:ext>
            </a:extLst>
          </p:cNvPr>
          <p:cNvSpPr>
            <a:spLocks noGrp="1"/>
          </p:cNvSpPr>
          <p:nvPr>
            <p:ph type="body" sz="quarter" idx="17"/>
          </p:nvPr>
        </p:nvSpPr>
        <p:spPr>
          <a:xfrm>
            <a:off x="584200" y="1594155"/>
            <a:ext cx="5364224" cy="276999"/>
          </a:xfrm>
        </p:spPr>
        <p:txBody>
          <a:bodyPr/>
          <a:lstStyle/>
          <a:p>
            <a:r>
              <a:rPr lang="en-US" sz="1800" dirty="0"/>
              <a:t>Orchestrate AI-driven actions</a:t>
            </a:r>
          </a:p>
        </p:txBody>
      </p:sp>
      <p:sp>
        <p:nvSpPr>
          <p:cNvPr id="5" name="Text Placeholder 4">
            <a:extLst>
              <a:ext uri="{FF2B5EF4-FFF2-40B4-BE49-F238E27FC236}">
                <a16:creationId xmlns:a16="http://schemas.microsoft.com/office/drawing/2014/main" id="{8F3E44CE-C829-F826-4B70-AB357E55A28E}"/>
              </a:ext>
            </a:extLst>
          </p:cNvPr>
          <p:cNvSpPr>
            <a:spLocks noGrp="1"/>
          </p:cNvSpPr>
          <p:nvPr>
            <p:ph type="body" sz="quarter" idx="15"/>
          </p:nvPr>
        </p:nvSpPr>
        <p:spPr>
          <a:xfrm>
            <a:off x="586452" y="1935293"/>
            <a:ext cx="4331624" cy="1231106"/>
          </a:xfrm>
        </p:spPr>
        <p:txBody>
          <a:bodyPr/>
          <a:lstStyle/>
          <a:p>
            <a:pPr marL="0" indent="0">
              <a:buNone/>
            </a:pPr>
            <a:r>
              <a:rPr lang="en-US" dirty="0"/>
              <a:t>Rather than writing code, you define a sequence of steps using a visual, declarative approach that describe what should happen and when, allowing the platform to manage execution and state. </a:t>
            </a:r>
          </a:p>
        </p:txBody>
      </p:sp>
      <p:sp>
        <p:nvSpPr>
          <p:cNvPr id="3" name="Footer Placeholder 2">
            <a:extLst>
              <a:ext uri="{FF2B5EF4-FFF2-40B4-BE49-F238E27FC236}">
                <a16:creationId xmlns:a16="http://schemas.microsoft.com/office/drawing/2014/main" id="{AFF47046-450F-4BEA-C225-4DF2DB24AA8C}"/>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pic>
        <p:nvPicPr>
          <p:cNvPr id="3074" name="Picture 2" descr="A screenshot of a group chat workflow in Microsoft Foundry.">
            <a:extLst>
              <a:ext uri="{FF2B5EF4-FFF2-40B4-BE49-F238E27FC236}">
                <a16:creationId xmlns:a16="http://schemas.microsoft.com/office/drawing/2014/main" id="{00C15E9B-986A-ADEE-EDE9-FD00B426D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8075" y="0"/>
            <a:ext cx="7273925"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5">
            <a:extLst>
              <a:ext uri="{FF2B5EF4-FFF2-40B4-BE49-F238E27FC236}">
                <a16:creationId xmlns:a16="http://schemas.microsoft.com/office/drawing/2014/main" id="{6EBA0EED-535F-CAC0-8116-4D741AAB5071}"/>
              </a:ext>
            </a:extLst>
          </p:cNvPr>
          <p:cNvSpPr txBox="1">
            <a:spLocks/>
          </p:cNvSpPr>
          <p:nvPr/>
        </p:nvSpPr>
        <p:spPr>
          <a:xfrm>
            <a:off x="586451" y="3346144"/>
            <a:ext cx="5364224" cy="276999"/>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t>Connect the nodes</a:t>
            </a:r>
          </a:p>
        </p:txBody>
      </p:sp>
      <p:sp>
        <p:nvSpPr>
          <p:cNvPr id="8" name="Text Placeholder 4">
            <a:extLst>
              <a:ext uri="{FF2B5EF4-FFF2-40B4-BE49-F238E27FC236}">
                <a16:creationId xmlns:a16="http://schemas.microsoft.com/office/drawing/2014/main" id="{91891494-755E-97C7-CB97-72C5296D53E9}"/>
              </a:ext>
            </a:extLst>
          </p:cNvPr>
          <p:cNvSpPr txBox="1">
            <a:spLocks/>
          </p:cNvSpPr>
          <p:nvPr/>
        </p:nvSpPr>
        <p:spPr>
          <a:xfrm>
            <a:off x="588702" y="3687282"/>
            <a:ext cx="4329373" cy="147732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Each node performs a specific function. Some nodes invoke agents, while others evaluate conditions, manage data, or communicate with users. Together, these nodes form an execution path that determines how requests move through the system. </a:t>
            </a:r>
            <a:endParaRPr lang="en-US" sz="1400" dirty="0"/>
          </a:p>
        </p:txBody>
      </p:sp>
    </p:spTree>
    <p:extLst>
      <p:ext uri="{BB962C8B-B14F-4D97-AF65-F5344CB8AC3E}">
        <p14:creationId xmlns:p14="http://schemas.microsoft.com/office/powerpoint/2010/main" val="347572430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05AC-29D9-3BF5-056A-547E69C4B03B}"/>
              </a:ext>
            </a:extLst>
          </p:cNvPr>
          <p:cNvSpPr>
            <a:spLocks noGrp="1"/>
          </p:cNvSpPr>
          <p:nvPr>
            <p:ph type="title"/>
          </p:nvPr>
        </p:nvSpPr>
        <p:spPr>
          <a:xfrm>
            <a:off x="588262" y="585216"/>
            <a:ext cx="8193024" cy="492443"/>
          </a:xfrm>
        </p:spPr>
        <p:txBody>
          <a:bodyPr/>
          <a:lstStyle/>
          <a:p>
            <a:r>
              <a:rPr lang="en-US" sz="3200" b="1" dirty="0"/>
              <a:t>Identify workflow patterns</a:t>
            </a:r>
            <a:endParaRPr lang="en-US" sz="3200" dirty="0"/>
          </a:p>
        </p:txBody>
      </p:sp>
      <p:sp>
        <p:nvSpPr>
          <p:cNvPr id="11" name="Text Placeholder 10">
            <a:extLst>
              <a:ext uri="{FF2B5EF4-FFF2-40B4-BE49-F238E27FC236}">
                <a16:creationId xmlns:a16="http://schemas.microsoft.com/office/drawing/2014/main" id="{DE61C920-E3DA-ACF5-1E13-9A864987565D}"/>
              </a:ext>
            </a:extLst>
          </p:cNvPr>
          <p:cNvSpPr>
            <a:spLocks noGrp="1"/>
          </p:cNvSpPr>
          <p:nvPr>
            <p:ph type="body" sz="quarter" idx="16"/>
          </p:nvPr>
        </p:nvSpPr>
        <p:spPr>
          <a:xfrm>
            <a:off x="584200" y="3816494"/>
            <a:ext cx="3479071" cy="307777"/>
          </a:xfrm>
        </p:spPr>
        <p:txBody>
          <a:bodyPr/>
          <a:lstStyle/>
          <a:p>
            <a:r>
              <a:rPr lang="en-US" sz="2000" dirty="0">
                <a:solidFill>
                  <a:schemeClr val="accent1"/>
                </a:solidFill>
              </a:rPr>
              <a:t>Sequential</a:t>
            </a:r>
          </a:p>
        </p:txBody>
      </p:sp>
      <p:sp>
        <p:nvSpPr>
          <p:cNvPr id="10" name="Text Placeholder 9">
            <a:extLst>
              <a:ext uri="{FF2B5EF4-FFF2-40B4-BE49-F238E27FC236}">
                <a16:creationId xmlns:a16="http://schemas.microsoft.com/office/drawing/2014/main" id="{B4746947-42E1-2CA6-75B2-AE995D54B3ED}"/>
              </a:ext>
            </a:extLst>
          </p:cNvPr>
          <p:cNvSpPr>
            <a:spLocks noGrp="1"/>
          </p:cNvSpPr>
          <p:nvPr>
            <p:ph type="body" sz="quarter" idx="15"/>
          </p:nvPr>
        </p:nvSpPr>
        <p:spPr>
          <a:xfrm>
            <a:off x="586390" y="4172856"/>
            <a:ext cx="3477611" cy="738664"/>
          </a:xfrm>
        </p:spPr>
        <p:txBody>
          <a:bodyPr/>
          <a:lstStyle/>
          <a:p>
            <a:pPr marL="0" indent="0">
              <a:buNone/>
            </a:pPr>
            <a:r>
              <a:rPr lang="en-US" dirty="0"/>
              <a:t>Steps execute in a fixed order, each passing its output to the next. Best for predictable multi-stage pipelines.</a:t>
            </a:r>
          </a:p>
        </p:txBody>
      </p:sp>
      <p:sp>
        <p:nvSpPr>
          <p:cNvPr id="12" name="Text Placeholder 11">
            <a:extLst>
              <a:ext uri="{FF2B5EF4-FFF2-40B4-BE49-F238E27FC236}">
                <a16:creationId xmlns:a16="http://schemas.microsoft.com/office/drawing/2014/main" id="{9171E7E3-A89F-224B-98E8-CEA5C0FC68B0}"/>
              </a:ext>
            </a:extLst>
          </p:cNvPr>
          <p:cNvSpPr>
            <a:spLocks noGrp="1"/>
          </p:cNvSpPr>
          <p:nvPr>
            <p:ph type="body" sz="quarter" idx="22"/>
          </p:nvPr>
        </p:nvSpPr>
        <p:spPr>
          <a:xfrm>
            <a:off x="4357547" y="3816494"/>
            <a:ext cx="3479071" cy="307777"/>
          </a:xfrm>
        </p:spPr>
        <p:txBody>
          <a:bodyPr/>
          <a:lstStyle/>
          <a:p>
            <a:r>
              <a:rPr lang="en-US" sz="2000" dirty="0">
                <a:solidFill>
                  <a:schemeClr val="accent2"/>
                </a:solidFill>
              </a:rPr>
              <a:t>Human-in-the-loop</a:t>
            </a:r>
          </a:p>
        </p:txBody>
      </p:sp>
      <p:sp>
        <p:nvSpPr>
          <p:cNvPr id="13" name="Text Placeholder 12">
            <a:extLst>
              <a:ext uri="{FF2B5EF4-FFF2-40B4-BE49-F238E27FC236}">
                <a16:creationId xmlns:a16="http://schemas.microsoft.com/office/drawing/2014/main" id="{44393E13-9F88-E8D4-029F-0BB483FF6C4D}"/>
              </a:ext>
            </a:extLst>
          </p:cNvPr>
          <p:cNvSpPr>
            <a:spLocks noGrp="1"/>
          </p:cNvSpPr>
          <p:nvPr>
            <p:ph type="body" sz="quarter" idx="23"/>
          </p:nvPr>
        </p:nvSpPr>
        <p:spPr>
          <a:xfrm>
            <a:off x="4359737" y="4172856"/>
            <a:ext cx="3477611" cy="738664"/>
          </a:xfrm>
        </p:spPr>
        <p:txBody>
          <a:bodyPr/>
          <a:lstStyle/>
          <a:p>
            <a:pPr marL="0" indent="0">
              <a:buNone/>
            </a:pPr>
            <a:r>
              <a:rPr lang="en-US" dirty="0"/>
              <a:t>Workflow pauses for human approval or input before continuing. Balances automation with oversight.</a:t>
            </a:r>
          </a:p>
        </p:txBody>
      </p:sp>
      <p:sp>
        <p:nvSpPr>
          <p:cNvPr id="14" name="Text Placeholder 13">
            <a:extLst>
              <a:ext uri="{FF2B5EF4-FFF2-40B4-BE49-F238E27FC236}">
                <a16:creationId xmlns:a16="http://schemas.microsoft.com/office/drawing/2014/main" id="{198E61C2-1490-FBB4-AC2A-75E7D03007C0}"/>
              </a:ext>
            </a:extLst>
          </p:cNvPr>
          <p:cNvSpPr>
            <a:spLocks noGrp="1"/>
          </p:cNvSpPr>
          <p:nvPr>
            <p:ph type="body" sz="quarter" idx="24"/>
          </p:nvPr>
        </p:nvSpPr>
        <p:spPr>
          <a:xfrm>
            <a:off x="8130894" y="3816494"/>
            <a:ext cx="3479071" cy="307777"/>
          </a:xfrm>
        </p:spPr>
        <p:txBody>
          <a:bodyPr/>
          <a:lstStyle/>
          <a:p>
            <a:r>
              <a:rPr lang="en-US" sz="2000" dirty="0">
                <a:solidFill>
                  <a:schemeClr val="accent3"/>
                </a:solidFill>
              </a:rPr>
              <a:t>Group chat</a:t>
            </a:r>
          </a:p>
        </p:txBody>
      </p:sp>
      <p:sp>
        <p:nvSpPr>
          <p:cNvPr id="15" name="Text Placeholder 14">
            <a:extLst>
              <a:ext uri="{FF2B5EF4-FFF2-40B4-BE49-F238E27FC236}">
                <a16:creationId xmlns:a16="http://schemas.microsoft.com/office/drawing/2014/main" id="{99509C34-0667-9004-B589-B5CBE4968818}"/>
              </a:ext>
            </a:extLst>
          </p:cNvPr>
          <p:cNvSpPr>
            <a:spLocks noGrp="1"/>
          </p:cNvSpPr>
          <p:nvPr>
            <p:ph type="body" sz="quarter" idx="25"/>
          </p:nvPr>
        </p:nvSpPr>
        <p:spPr>
          <a:xfrm>
            <a:off x="8133084" y="4172856"/>
            <a:ext cx="3477611" cy="984885"/>
          </a:xfrm>
        </p:spPr>
        <p:txBody>
          <a:bodyPr/>
          <a:lstStyle/>
          <a:p>
            <a:pPr marL="0" indent="0">
              <a:buNone/>
            </a:pPr>
            <a:r>
              <a:rPr lang="en-US" dirty="0"/>
              <a:t>Multiple specialized agents collaborate dynamically. Control shifts based on context, allowing agents to build on each other's outputs.</a:t>
            </a:r>
          </a:p>
        </p:txBody>
      </p:sp>
      <p:sp>
        <p:nvSpPr>
          <p:cNvPr id="3" name="Footer Placeholder 2">
            <a:extLst>
              <a:ext uri="{FF2B5EF4-FFF2-40B4-BE49-F238E27FC236}">
                <a16:creationId xmlns:a16="http://schemas.microsoft.com/office/drawing/2014/main" id="{DBE3C0F1-E8E1-88A2-72CE-939BC4C858C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28" name="Group 27">
            <a:extLst>
              <a:ext uri="{FF2B5EF4-FFF2-40B4-BE49-F238E27FC236}">
                <a16:creationId xmlns:a16="http://schemas.microsoft.com/office/drawing/2014/main" id="{359924F6-C1A0-DED9-28D8-5BBAB65DC9B5}"/>
              </a:ext>
            </a:extLst>
          </p:cNvPr>
          <p:cNvGrpSpPr/>
          <p:nvPr/>
        </p:nvGrpSpPr>
        <p:grpSpPr>
          <a:xfrm>
            <a:off x="1368824" y="1573863"/>
            <a:ext cx="1909822" cy="1860696"/>
            <a:chOff x="1261639" y="1583851"/>
            <a:chExt cx="1909822" cy="1860696"/>
          </a:xfrm>
        </p:grpSpPr>
        <p:sp>
          <p:nvSpPr>
            <p:cNvPr id="16" name="Rounded Rectangle 15">
              <a:extLst>
                <a:ext uri="{FF2B5EF4-FFF2-40B4-BE49-F238E27FC236}">
                  <a16:creationId xmlns:a16="http://schemas.microsoft.com/office/drawing/2014/main" id="{D794CCFD-AEC5-8C5A-7DA7-7A5EC2CF068D}"/>
                </a:ext>
              </a:extLst>
            </p:cNvPr>
            <p:cNvSpPr/>
            <p:nvPr/>
          </p:nvSpPr>
          <p:spPr bwMode="auto">
            <a:xfrm>
              <a:off x="1307937" y="1583851"/>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1"/>
                  </a:solidFill>
                  <a:ea typeface="Segoe UI" pitchFamily="34" charset="0"/>
                  <a:cs typeface="Segoe UI" pitchFamily="34" charset="0"/>
                </a:rPr>
                <a:t>Step 1</a:t>
              </a:r>
            </a:p>
          </p:txBody>
        </p:sp>
        <p:sp>
          <p:nvSpPr>
            <p:cNvPr id="17" name="Rounded Rectangle 16">
              <a:extLst>
                <a:ext uri="{FF2B5EF4-FFF2-40B4-BE49-F238E27FC236}">
                  <a16:creationId xmlns:a16="http://schemas.microsoft.com/office/drawing/2014/main" id="{BA9561DC-2319-10D4-7675-74E333435A1F}"/>
                </a:ext>
              </a:extLst>
            </p:cNvPr>
            <p:cNvSpPr/>
            <p:nvPr/>
          </p:nvSpPr>
          <p:spPr bwMode="auto">
            <a:xfrm>
              <a:off x="1307937" y="2070254"/>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1"/>
                  </a:solidFill>
                  <a:ea typeface="Segoe UI" pitchFamily="34" charset="0"/>
                  <a:cs typeface="Segoe UI" pitchFamily="34" charset="0"/>
                </a:rPr>
                <a:t>Step 2</a:t>
              </a:r>
            </a:p>
          </p:txBody>
        </p:sp>
        <p:sp>
          <p:nvSpPr>
            <p:cNvPr id="18" name="Rounded Rectangle 17">
              <a:extLst>
                <a:ext uri="{FF2B5EF4-FFF2-40B4-BE49-F238E27FC236}">
                  <a16:creationId xmlns:a16="http://schemas.microsoft.com/office/drawing/2014/main" id="{5BD99811-ECE4-ACF8-5B41-07B5CE21C262}"/>
                </a:ext>
              </a:extLst>
            </p:cNvPr>
            <p:cNvSpPr/>
            <p:nvPr/>
          </p:nvSpPr>
          <p:spPr bwMode="auto">
            <a:xfrm>
              <a:off x="1307937" y="2556657"/>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1"/>
                  </a:solidFill>
                  <a:ea typeface="Segoe UI" pitchFamily="34" charset="0"/>
                  <a:cs typeface="Segoe UI" pitchFamily="34" charset="0"/>
                </a:rPr>
                <a:t>Step 3</a:t>
              </a:r>
            </a:p>
          </p:txBody>
        </p:sp>
        <p:sp>
          <p:nvSpPr>
            <p:cNvPr id="19" name="Rounded Rectangle 18">
              <a:extLst>
                <a:ext uri="{FF2B5EF4-FFF2-40B4-BE49-F238E27FC236}">
                  <a16:creationId xmlns:a16="http://schemas.microsoft.com/office/drawing/2014/main" id="{C8D26BA9-441C-BB4A-BEC7-C6F8B3796271}"/>
                </a:ext>
              </a:extLst>
            </p:cNvPr>
            <p:cNvSpPr/>
            <p:nvPr/>
          </p:nvSpPr>
          <p:spPr bwMode="auto">
            <a:xfrm>
              <a:off x="1261639" y="3043059"/>
              <a:ext cx="1909822" cy="401488"/>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1"/>
                  </a:solidFill>
                  <a:ea typeface="Segoe UI" pitchFamily="34" charset="0"/>
                  <a:cs typeface="Segoe UI" pitchFamily="34" charset="0"/>
                </a:rPr>
                <a:t>Output</a:t>
              </a:r>
            </a:p>
          </p:txBody>
        </p:sp>
        <p:cxnSp>
          <p:nvCxnSpPr>
            <p:cNvPr id="21" name="Straight Arrow Connector 20">
              <a:extLst>
                <a:ext uri="{FF2B5EF4-FFF2-40B4-BE49-F238E27FC236}">
                  <a16:creationId xmlns:a16="http://schemas.microsoft.com/office/drawing/2014/main" id="{94FF4A6A-BD55-61C0-EE9B-8BE13C14EE79}"/>
                </a:ext>
              </a:extLst>
            </p:cNvPr>
            <p:cNvCxnSpPr>
              <a:stCxn id="16" idx="2"/>
              <a:endCxn id="17" idx="0"/>
            </p:cNvCxnSpPr>
            <p:nvPr/>
          </p:nvCxnSpPr>
          <p:spPr>
            <a:xfrm>
              <a:off x="2216551" y="1860850"/>
              <a:ext cx="0" cy="209404"/>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ED968F-7C1B-5526-DEBB-4AD53A97C254}"/>
                </a:ext>
              </a:extLst>
            </p:cNvPr>
            <p:cNvCxnSpPr>
              <a:cxnSpLocks/>
              <a:stCxn id="17" idx="2"/>
              <a:endCxn id="18" idx="0"/>
            </p:cNvCxnSpPr>
            <p:nvPr/>
          </p:nvCxnSpPr>
          <p:spPr>
            <a:xfrm>
              <a:off x="2216551" y="2347253"/>
              <a:ext cx="0" cy="209404"/>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C687AF5-67C1-FB58-30C4-AF780C291EF2}"/>
                </a:ext>
              </a:extLst>
            </p:cNvPr>
            <p:cNvCxnSpPr>
              <a:cxnSpLocks/>
              <a:stCxn id="18" idx="2"/>
              <a:endCxn id="19" idx="0"/>
            </p:cNvCxnSpPr>
            <p:nvPr/>
          </p:nvCxnSpPr>
          <p:spPr>
            <a:xfrm flipH="1">
              <a:off x="2216550" y="2833656"/>
              <a:ext cx="1" cy="209403"/>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sp>
        <p:nvSpPr>
          <p:cNvPr id="33" name="Rounded Rectangle 32">
            <a:extLst>
              <a:ext uri="{FF2B5EF4-FFF2-40B4-BE49-F238E27FC236}">
                <a16:creationId xmlns:a16="http://schemas.microsoft.com/office/drawing/2014/main" id="{52477070-3163-A1E9-FC76-E72D73B6C336}"/>
              </a:ext>
            </a:extLst>
          </p:cNvPr>
          <p:cNvSpPr/>
          <p:nvPr/>
        </p:nvSpPr>
        <p:spPr bwMode="auto">
          <a:xfrm>
            <a:off x="5141089" y="3033071"/>
            <a:ext cx="1909822" cy="401488"/>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2"/>
                </a:solidFill>
                <a:ea typeface="Segoe UI" pitchFamily="34" charset="0"/>
                <a:cs typeface="Segoe UI" pitchFamily="34" charset="0"/>
              </a:rPr>
              <a:t>Continue</a:t>
            </a:r>
          </a:p>
        </p:txBody>
      </p:sp>
      <p:cxnSp>
        <p:nvCxnSpPr>
          <p:cNvPr id="36" name="Straight Arrow Connector 35">
            <a:extLst>
              <a:ext uri="{FF2B5EF4-FFF2-40B4-BE49-F238E27FC236}">
                <a16:creationId xmlns:a16="http://schemas.microsoft.com/office/drawing/2014/main" id="{485DC338-A137-9467-D881-36234A762405}"/>
              </a:ext>
            </a:extLst>
          </p:cNvPr>
          <p:cNvCxnSpPr>
            <a:cxnSpLocks/>
            <a:endCxn id="33" idx="0"/>
          </p:cNvCxnSpPr>
          <p:nvPr/>
        </p:nvCxnSpPr>
        <p:spPr>
          <a:xfrm>
            <a:off x="6096000" y="2685168"/>
            <a:ext cx="0" cy="347903"/>
          </a:xfrm>
          <a:prstGeom prst="straightConnector1">
            <a:avLst/>
          </a:prstGeom>
          <a:ln w="28575">
            <a:solidFill>
              <a:schemeClr val="accent2">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DB552553-7D10-23C8-E848-6C7AAB3B5A5D}"/>
              </a:ext>
            </a:extLst>
          </p:cNvPr>
          <p:cNvSpPr/>
          <p:nvPr/>
        </p:nvSpPr>
        <p:spPr bwMode="auto">
          <a:xfrm>
            <a:off x="5141089" y="1554076"/>
            <a:ext cx="1909822" cy="401488"/>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2"/>
                </a:solidFill>
                <a:ea typeface="Segoe UI" pitchFamily="34" charset="0"/>
                <a:cs typeface="Segoe UI" pitchFamily="34" charset="0"/>
              </a:rPr>
              <a:t>Automate</a:t>
            </a:r>
          </a:p>
        </p:txBody>
      </p:sp>
      <p:sp>
        <p:nvSpPr>
          <p:cNvPr id="40" name="Hexagon 39">
            <a:extLst>
              <a:ext uri="{FF2B5EF4-FFF2-40B4-BE49-F238E27FC236}">
                <a16:creationId xmlns:a16="http://schemas.microsoft.com/office/drawing/2014/main" id="{383C651A-AD52-43F4-35F9-6F4754AED5AF}"/>
              </a:ext>
            </a:extLst>
          </p:cNvPr>
          <p:cNvSpPr/>
          <p:nvPr/>
        </p:nvSpPr>
        <p:spPr bwMode="auto">
          <a:xfrm>
            <a:off x="5141089" y="2263733"/>
            <a:ext cx="1909822" cy="401488"/>
          </a:xfrm>
          <a:prstGeom prst="hexagon">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2"/>
                </a:solidFill>
                <a:ea typeface="Segoe UI" pitchFamily="34" charset="0"/>
                <a:cs typeface="Segoe UI" pitchFamily="34" charset="0"/>
              </a:rPr>
              <a:t>Approve?</a:t>
            </a:r>
          </a:p>
        </p:txBody>
      </p:sp>
      <p:cxnSp>
        <p:nvCxnSpPr>
          <p:cNvPr id="42" name="Straight Arrow Connector 41">
            <a:extLst>
              <a:ext uri="{FF2B5EF4-FFF2-40B4-BE49-F238E27FC236}">
                <a16:creationId xmlns:a16="http://schemas.microsoft.com/office/drawing/2014/main" id="{E2ED661B-1E79-5648-3DD1-D8F56227E219}"/>
              </a:ext>
            </a:extLst>
          </p:cNvPr>
          <p:cNvCxnSpPr>
            <a:cxnSpLocks/>
            <a:stCxn id="38" idx="2"/>
          </p:cNvCxnSpPr>
          <p:nvPr/>
        </p:nvCxnSpPr>
        <p:spPr>
          <a:xfrm flipH="1">
            <a:off x="6095998" y="1955564"/>
            <a:ext cx="2" cy="308093"/>
          </a:xfrm>
          <a:prstGeom prst="straightConnector1">
            <a:avLst/>
          </a:prstGeom>
          <a:ln w="28575">
            <a:solidFill>
              <a:schemeClr val="accent2">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69424CA2-BAFF-FA46-6191-426BDC040F2A}"/>
              </a:ext>
            </a:extLst>
          </p:cNvPr>
          <p:cNvCxnSpPr>
            <a:stCxn id="40" idx="0"/>
            <a:endCxn id="38" idx="3"/>
          </p:cNvCxnSpPr>
          <p:nvPr/>
        </p:nvCxnSpPr>
        <p:spPr>
          <a:xfrm flipV="1">
            <a:off x="7050911" y="1754820"/>
            <a:ext cx="12700" cy="709657"/>
          </a:xfrm>
          <a:prstGeom prst="bentConnector3">
            <a:avLst>
              <a:gd name="adj1" fmla="val 2802528"/>
            </a:avLst>
          </a:prstGeom>
          <a:ln w="19050">
            <a:solidFill>
              <a:schemeClr val="accent2">
                <a:lumMod val="40000"/>
                <a:lumOff val="60000"/>
              </a:schemeClr>
            </a:solidFill>
            <a:prstDash val="dash"/>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B561CBF0-A9C6-EC9E-982C-169F4FA54E25}"/>
              </a:ext>
            </a:extLst>
          </p:cNvPr>
          <p:cNvGrpSpPr/>
          <p:nvPr/>
        </p:nvGrpSpPr>
        <p:grpSpPr>
          <a:xfrm>
            <a:off x="7243622" y="2174325"/>
            <a:ext cx="284745" cy="284745"/>
            <a:chOff x="7243622" y="2174325"/>
            <a:chExt cx="284745" cy="284745"/>
          </a:xfrm>
        </p:grpSpPr>
        <p:sp>
          <p:nvSpPr>
            <p:cNvPr id="46" name="Oval 45">
              <a:extLst>
                <a:ext uri="{FF2B5EF4-FFF2-40B4-BE49-F238E27FC236}">
                  <a16:creationId xmlns:a16="http://schemas.microsoft.com/office/drawing/2014/main" id="{888845A7-FE0D-056C-0F71-8C0AF3CBD906}"/>
                </a:ext>
              </a:extLst>
            </p:cNvPr>
            <p:cNvSpPr>
              <a:spLocks noChangeAspect="1"/>
            </p:cNvSpPr>
            <p:nvPr/>
          </p:nvSpPr>
          <p:spPr bwMode="auto">
            <a:xfrm>
              <a:off x="7248834" y="2179537"/>
              <a:ext cx="274320" cy="274320"/>
            </a:xfrm>
            <a:prstGeom prst="ellipse">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dirty="0">
                <a:solidFill>
                  <a:schemeClr val="accent2">
                    <a:lumMod val="60000"/>
                    <a:lumOff val="40000"/>
                  </a:schemeClr>
                </a:solidFill>
                <a:ea typeface="Segoe UI" pitchFamily="34" charset="0"/>
                <a:cs typeface="Segoe UI" pitchFamily="34" charset="0"/>
              </a:endParaRPr>
            </a:p>
          </p:txBody>
        </p:sp>
        <p:pic>
          <p:nvPicPr>
            <p:cNvPr id="48" name="Graphic 47" descr="User with solid fill">
              <a:extLst>
                <a:ext uri="{FF2B5EF4-FFF2-40B4-BE49-F238E27FC236}">
                  <a16:creationId xmlns:a16="http://schemas.microsoft.com/office/drawing/2014/main" id="{62B8245B-0CC1-072B-09C3-BA4F72A03E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43622" y="2174325"/>
              <a:ext cx="284745" cy="284745"/>
            </a:xfrm>
            <a:prstGeom prst="rect">
              <a:avLst/>
            </a:prstGeom>
          </p:spPr>
        </p:pic>
      </p:grpSp>
      <p:sp>
        <p:nvSpPr>
          <p:cNvPr id="55" name="TextBox 54">
            <a:extLst>
              <a:ext uri="{FF2B5EF4-FFF2-40B4-BE49-F238E27FC236}">
                <a16:creationId xmlns:a16="http://schemas.microsoft.com/office/drawing/2014/main" id="{FBFF41A4-D349-497E-70C1-0812803751DA}"/>
              </a:ext>
            </a:extLst>
          </p:cNvPr>
          <p:cNvSpPr txBox="1"/>
          <p:nvPr/>
        </p:nvSpPr>
        <p:spPr>
          <a:xfrm>
            <a:off x="7488429" y="1990555"/>
            <a:ext cx="153888" cy="169277"/>
          </a:xfrm>
          <a:prstGeom prst="rect">
            <a:avLst/>
          </a:prstGeom>
          <a:noFill/>
        </p:spPr>
        <p:txBody>
          <a:bodyPr wrap="none" lIns="0" tIns="0" rIns="0" bIns="0" rtlCol="0">
            <a:spAutoFit/>
          </a:bodyPr>
          <a:lstStyle/>
          <a:p>
            <a:pPr algn="l"/>
            <a:r>
              <a:rPr lang="en-US" sz="1100" dirty="0">
                <a:solidFill>
                  <a:schemeClr val="accent2"/>
                </a:solidFill>
                <a:latin typeface="Consolas" panose="020B0609020204030204" pitchFamily="49" charset="0"/>
                <a:cs typeface="Consolas" panose="020B0609020204030204" pitchFamily="49" charset="0"/>
              </a:rPr>
              <a:t>No</a:t>
            </a:r>
          </a:p>
        </p:txBody>
      </p:sp>
      <p:sp>
        <p:nvSpPr>
          <p:cNvPr id="56" name="TextBox 55">
            <a:extLst>
              <a:ext uri="{FF2B5EF4-FFF2-40B4-BE49-F238E27FC236}">
                <a16:creationId xmlns:a16="http://schemas.microsoft.com/office/drawing/2014/main" id="{0884F13C-14D9-CE82-484F-66F702BB502E}"/>
              </a:ext>
            </a:extLst>
          </p:cNvPr>
          <p:cNvSpPr txBox="1"/>
          <p:nvPr/>
        </p:nvSpPr>
        <p:spPr>
          <a:xfrm>
            <a:off x="6262490" y="2756644"/>
            <a:ext cx="230832" cy="169277"/>
          </a:xfrm>
          <a:prstGeom prst="rect">
            <a:avLst/>
          </a:prstGeom>
          <a:noFill/>
        </p:spPr>
        <p:txBody>
          <a:bodyPr wrap="none" lIns="0" tIns="0" rIns="0" bIns="0" rtlCol="0">
            <a:spAutoFit/>
          </a:bodyPr>
          <a:lstStyle/>
          <a:p>
            <a:pPr algn="l"/>
            <a:r>
              <a:rPr lang="en-US" sz="1100" dirty="0">
                <a:solidFill>
                  <a:schemeClr val="accent2"/>
                </a:solidFill>
                <a:latin typeface="Consolas" panose="020B0609020204030204" pitchFamily="49" charset="0"/>
                <a:cs typeface="Consolas" panose="020B0609020204030204" pitchFamily="49" charset="0"/>
              </a:rPr>
              <a:t>Yes</a:t>
            </a:r>
          </a:p>
        </p:txBody>
      </p:sp>
      <p:sp>
        <p:nvSpPr>
          <p:cNvPr id="58" name="Rounded Rectangle 57">
            <a:extLst>
              <a:ext uri="{FF2B5EF4-FFF2-40B4-BE49-F238E27FC236}">
                <a16:creationId xmlns:a16="http://schemas.microsoft.com/office/drawing/2014/main" id="{54BCAC84-9F69-D12F-5A27-3050A06213C0}"/>
              </a:ext>
            </a:extLst>
          </p:cNvPr>
          <p:cNvSpPr/>
          <p:nvPr/>
        </p:nvSpPr>
        <p:spPr bwMode="auto">
          <a:xfrm>
            <a:off x="8633247" y="1508892"/>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3"/>
                </a:solidFill>
                <a:ea typeface="Segoe UI" pitchFamily="34" charset="0"/>
                <a:cs typeface="Segoe UI" pitchFamily="34" charset="0"/>
              </a:rPr>
              <a:t>Agent A</a:t>
            </a:r>
          </a:p>
        </p:txBody>
      </p:sp>
      <p:sp>
        <p:nvSpPr>
          <p:cNvPr id="59" name="Rounded Rectangle 58">
            <a:extLst>
              <a:ext uri="{FF2B5EF4-FFF2-40B4-BE49-F238E27FC236}">
                <a16:creationId xmlns:a16="http://schemas.microsoft.com/office/drawing/2014/main" id="{AD17E20B-B33D-8D60-EE7F-72D68A454714}"/>
              </a:ext>
            </a:extLst>
          </p:cNvPr>
          <p:cNvSpPr/>
          <p:nvPr/>
        </p:nvSpPr>
        <p:spPr bwMode="auto">
          <a:xfrm>
            <a:off x="9907628" y="1508892"/>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3"/>
                </a:solidFill>
                <a:ea typeface="Segoe UI" pitchFamily="34" charset="0"/>
                <a:cs typeface="Segoe UI" pitchFamily="34" charset="0"/>
              </a:rPr>
              <a:t>Agent B</a:t>
            </a:r>
          </a:p>
        </p:txBody>
      </p:sp>
      <p:sp>
        <p:nvSpPr>
          <p:cNvPr id="60" name="Rounded Rectangle 59">
            <a:extLst>
              <a:ext uri="{FF2B5EF4-FFF2-40B4-BE49-F238E27FC236}">
                <a16:creationId xmlns:a16="http://schemas.microsoft.com/office/drawing/2014/main" id="{80283777-F71E-F1A9-22DE-B99F3B33B305}"/>
              </a:ext>
            </a:extLst>
          </p:cNvPr>
          <p:cNvSpPr/>
          <p:nvPr/>
        </p:nvSpPr>
        <p:spPr bwMode="auto">
          <a:xfrm>
            <a:off x="8633247" y="3152001"/>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3"/>
                </a:solidFill>
                <a:ea typeface="Segoe UI" pitchFamily="34" charset="0"/>
                <a:cs typeface="Segoe UI" pitchFamily="34" charset="0"/>
              </a:rPr>
              <a:t>Agent C</a:t>
            </a:r>
          </a:p>
        </p:txBody>
      </p:sp>
      <p:sp>
        <p:nvSpPr>
          <p:cNvPr id="61" name="Rounded Rectangle 60">
            <a:extLst>
              <a:ext uri="{FF2B5EF4-FFF2-40B4-BE49-F238E27FC236}">
                <a16:creationId xmlns:a16="http://schemas.microsoft.com/office/drawing/2014/main" id="{3013E1A9-5C18-5DB7-3D1E-3690D7DFAAFA}"/>
              </a:ext>
            </a:extLst>
          </p:cNvPr>
          <p:cNvSpPr/>
          <p:nvPr/>
        </p:nvSpPr>
        <p:spPr bwMode="auto">
          <a:xfrm>
            <a:off x="8867056" y="2256637"/>
            <a:ext cx="1909822" cy="401488"/>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3"/>
                </a:solidFill>
                <a:ea typeface="Segoe UI" pitchFamily="34" charset="0"/>
                <a:cs typeface="Segoe UI" pitchFamily="34" charset="0"/>
              </a:rPr>
              <a:t>Orchestrator</a:t>
            </a:r>
          </a:p>
        </p:txBody>
      </p:sp>
      <p:cxnSp>
        <p:nvCxnSpPr>
          <p:cNvPr id="62" name="Straight Arrow Connector 61">
            <a:extLst>
              <a:ext uri="{FF2B5EF4-FFF2-40B4-BE49-F238E27FC236}">
                <a16:creationId xmlns:a16="http://schemas.microsoft.com/office/drawing/2014/main" id="{728CB6B5-F372-B67B-A1CC-DE988857554C}"/>
              </a:ext>
            </a:extLst>
          </p:cNvPr>
          <p:cNvCxnSpPr>
            <a:cxnSpLocks/>
            <a:stCxn id="58" idx="2"/>
            <a:endCxn id="61" idx="0"/>
          </p:cNvCxnSpPr>
          <p:nvPr/>
        </p:nvCxnSpPr>
        <p:spPr>
          <a:xfrm>
            <a:off x="9227607" y="1785891"/>
            <a:ext cx="594360" cy="47074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CF44883-1005-107A-A360-D067BD92C718}"/>
              </a:ext>
            </a:extLst>
          </p:cNvPr>
          <p:cNvCxnSpPr>
            <a:cxnSpLocks/>
            <a:stCxn id="59" idx="2"/>
            <a:endCxn id="61" idx="0"/>
          </p:cNvCxnSpPr>
          <p:nvPr/>
        </p:nvCxnSpPr>
        <p:spPr>
          <a:xfrm flipH="1">
            <a:off x="9821967" y="1785891"/>
            <a:ext cx="680021" cy="47074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CD6FC29-080D-44B1-7F27-B23EC4B3A40B}"/>
              </a:ext>
            </a:extLst>
          </p:cNvPr>
          <p:cNvCxnSpPr>
            <a:cxnSpLocks/>
            <a:stCxn id="60" idx="0"/>
            <a:endCxn id="61" idx="2"/>
          </p:cNvCxnSpPr>
          <p:nvPr/>
        </p:nvCxnSpPr>
        <p:spPr>
          <a:xfrm flipV="1">
            <a:off x="9227607" y="2658125"/>
            <a:ext cx="594360" cy="49387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77" name="Rounded Rectangle 76">
            <a:extLst>
              <a:ext uri="{FF2B5EF4-FFF2-40B4-BE49-F238E27FC236}">
                <a16:creationId xmlns:a16="http://schemas.microsoft.com/office/drawing/2014/main" id="{8AD8E435-79B1-B0E9-54B5-71B286BBAC07}"/>
              </a:ext>
            </a:extLst>
          </p:cNvPr>
          <p:cNvSpPr/>
          <p:nvPr/>
        </p:nvSpPr>
        <p:spPr bwMode="auto">
          <a:xfrm>
            <a:off x="9907628" y="3152001"/>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accent3"/>
                </a:solidFill>
                <a:ea typeface="Segoe UI" pitchFamily="34" charset="0"/>
                <a:cs typeface="Segoe UI" pitchFamily="34" charset="0"/>
              </a:rPr>
              <a:t>Agent D</a:t>
            </a:r>
          </a:p>
        </p:txBody>
      </p:sp>
      <p:cxnSp>
        <p:nvCxnSpPr>
          <p:cNvPr id="78" name="Straight Arrow Connector 77">
            <a:extLst>
              <a:ext uri="{FF2B5EF4-FFF2-40B4-BE49-F238E27FC236}">
                <a16:creationId xmlns:a16="http://schemas.microsoft.com/office/drawing/2014/main" id="{D1A1B07E-EF10-AB93-2952-C669F45A9B18}"/>
              </a:ext>
            </a:extLst>
          </p:cNvPr>
          <p:cNvCxnSpPr>
            <a:cxnSpLocks/>
            <a:stCxn id="77" idx="0"/>
            <a:endCxn id="61" idx="2"/>
          </p:cNvCxnSpPr>
          <p:nvPr/>
        </p:nvCxnSpPr>
        <p:spPr>
          <a:xfrm flipH="1" flipV="1">
            <a:off x="9821967" y="2658125"/>
            <a:ext cx="680021" cy="49387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08113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F5C5D-6D4C-6543-CC9B-7E0FC07F10FB}"/>
              </a:ext>
            </a:extLst>
          </p:cNvPr>
          <p:cNvSpPr>
            <a:spLocks noGrp="1"/>
          </p:cNvSpPr>
          <p:nvPr>
            <p:ph type="title"/>
          </p:nvPr>
        </p:nvSpPr>
        <p:spPr>
          <a:xfrm>
            <a:off x="588261" y="585216"/>
            <a:ext cx="11011601" cy="492443"/>
          </a:xfrm>
        </p:spPr>
        <p:txBody>
          <a:bodyPr/>
          <a:lstStyle/>
          <a:p>
            <a:r>
              <a:rPr lang="en-US" sz="3200" b="1" dirty="0"/>
              <a:t>Explore core components of a workflow</a:t>
            </a:r>
            <a:endParaRPr lang="en-US" sz="3200" dirty="0"/>
          </a:p>
        </p:txBody>
      </p:sp>
      <p:sp>
        <p:nvSpPr>
          <p:cNvPr id="3" name="Footer Placeholder 2">
            <a:extLst>
              <a:ext uri="{FF2B5EF4-FFF2-40B4-BE49-F238E27FC236}">
                <a16:creationId xmlns:a16="http://schemas.microsoft.com/office/drawing/2014/main" id="{8A3DE58A-C4AE-80C9-7A97-85843536CD7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RetrievalCard">
            <a:extLst>
              <a:ext uri="{FF2B5EF4-FFF2-40B4-BE49-F238E27FC236}">
                <a16:creationId xmlns:a16="http://schemas.microsoft.com/office/drawing/2014/main" id="{23297872-2F84-1B67-19CE-86F845734028}"/>
              </a:ext>
            </a:extLst>
          </p:cNvPr>
          <p:cNvSpPr/>
          <p:nvPr/>
        </p:nvSpPr>
        <p:spPr>
          <a:xfrm>
            <a:off x="579438" y="1273215"/>
            <a:ext cx="2490486" cy="4592540"/>
          </a:xfrm>
          <a:prstGeom prst="roundRect">
            <a:avLst>
              <a:gd name="adj" fmla="val 12000"/>
            </a:avLst>
          </a:prstGeom>
          <a:solidFill>
            <a:srgbClr val="F8F8F8"/>
          </a:solidFill>
          <a:ln w="9525">
            <a:solidFill>
              <a:srgbClr val="DEDEDE"/>
            </a:solidFill>
          </a:ln>
        </p:spPr>
        <p:txBody>
          <a:bodyPr anchor="t"/>
          <a:lstStyle/>
          <a:p>
            <a:r>
              <a:rPr lang="en-US" sz="1600" noProof="0" dirty="0">
                <a:solidFill>
                  <a:srgbClr val="0078D4"/>
                </a:solidFill>
                <a:latin typeface="+mj-lt"/>
              </a:rPr>
              <a:t>Executors</a:t>
            </a:r>
          </a:p>
          <a:p>
            <a:endParaRPr lang="en-US" sz="1600" noProof="0" dirty="0">
              <a:solidFill>
                <a:srgbClr val="0078D4"/>
              </a:solidFill>
              <a:latin typeface="+mj-lt"/>
            </a:endParaRPr>
          </a:p>
          <a:p>
            <a:r>
              <a:rPr lang="en-US" sz="1400" dirty="0">
                <a:solidFill>
                  <a:schemeClr val="tx1">
                    <a:lumMod val="50000"/>
                    <a:lumOff val="50000"/>
                  </a:schemeClr>
                </a:solidFill>
              </a:rPr>
              <a:t>The main workers in a workflow. Each executor receives input, performs actions, and passes outputs along — driving the workflow toward its goal.</a:t>
            </a:r>
          </a:p>
          <a:p>
            <a:r>
              <a:rPr lang="en-US" sz="1400" dirty="0">
                <a:solidFill>
                  <a:schemeClr val="tx1">
                    <a:lumMod val="50000"/>
                    <a:lumOff val="50000"/>
                  </a:schemeClr>
                </a:solidFill>
              </a:rPr>
              <a:t>Executors can represent AI agents or custom logic components.</a:t>
            </a:r>
            <a:endParaRPr lang="en-US" sz="1600" noProof="0" dirty="0">
              <a:solidFill>
                <a:schemeClr val="tx1">
                  <a:lumMod val="50000"/>
                  <a:lumOff val="50000"/>
                </a:schemeClr>
              </a:solidFill>
              <a:latin typeface="+mj-lt"/>
            </a:endParaRPr>
          </a:p>
        </p:txBody>
      </p:sp>
      <p:sp>
        <p:nvSpPr>
          <p:cNvPr id="6" name="RetrievalCard">
            <a:extLst>
              <a:ext uri="{FF2B5EF4-FFF2-40B4-BE49-F238E27FC236}">
                <a16:creationId xmlns:a16="http://schemas.microsoft.com/office/drawing/2014/main" id="{9C4866C9-5AB4-67EC-4CE0-77D4CA690FD6}"/>
              </a:ext>
            </a:extLst>
          </p:cNvPr>
          <p:cNvSpPr/>
          <p:nvPr/>
        </p:nvSpPr>
        <p:spPr>
          <a:xfrm>
            <a:off x="3243544" y="1273215"/>
            <a:ext cx="5020780" cy="4592540"/>
          </a:xfrm>
          <a:prstGeom prst="roundRect">
            <a:avLst>
              <a:gd name="adj" fmla="val 5447"/>
            </a:avLst>
          </a:prstGeom>
          <a:solidFill>
            <a:srgbClr val="F8F8F8"/>
          </a:solidFill>
          <a:ln w="9525">
            <a:solidFill>
              <a:srgbClr val="DEDEDE"/>
            </a:solidFill>
          </a:ln>
        </p:spPr>
        <p:txBody>
          <a:bodyPr anchor="t"/>
          <a:lstStyle/>
          <a:p>
            <a:r>
              <a:rPr lang="en-US" sz="1600" noProof="0" dirty="0">
                <a:solidFill>
                  <a:schemeClr val="accent1"/>
                </a:solidFill>
                <a:latin typeface="+mj-lt"/>
              </a:rPr>
              <a:t>Edges</a:t>
            </a:r>
          </a:p>
          <a:p>
            <a:endParaRPr lang="en-US" sz="1600" noProof="0" dirty="0">
              <a:solidFill>
                <a:schemeClr val="accent1"/>
              </a:solidFill>
              <a:latin typeface="+mj-lt"/>
            </a:endParaRPr>
          </a:p>
          <a:p>
            <a:r>
              <a:rPr lang="en-US" sz="1400" dirty="0">
                <a:solidFill>
                  <a:schemeClr val="accent1"/>
                </a:solidFill>
                <a:latin typeface="+mj-lt"/>
              </a:rPr>
              <a:t>Direct</a:t>
            </a:r>
            <a:br>
              <a:rPr lang="en-US" sz="1400" dirty="0">
                <a:solidFill>
                  <a:schemeClr val="tx1">
                    <a:lumMod val="50000"/>
                    <a:lumOff val="50000"/>
                  </a:schemeClr>
                </a:solidFill>
              </a:rPr>
            </a:br>
            <a:r>
              <a:rPr lang="en-US" sz="1400" dirty="0">
                <a:solidFill>
                  <a:schemeClr val="tx1">
                    <a:lumMod val="50000"/>
                    <a:lumOff val="50000"/>
                  </a:schemeClr>
                </a:solidFill>
              </a:rPr>
              <a:t>One executor feeds directly into the next in sequence.</a:t>
            </a:r>
          </a:p>
          <a:p>
            <a:endParaRPr lang="en-US" sz="1400" dirty="0">
              <a:solidFill>
                <a:schemeClr val="accent1"/>
              </a:solidFill>
              <a:latin typeface="+mj-lt"/>
            </a:endParaRPr>
          </a:p>
          <a:p>
            <a:r>
              <a:rPr lang="en-US" sz="1400" dirty="0">
                <a:solidFill>
                  <a:schemeClr val="accent1"/>
                </a:solidFill>
                <a:latin typeface="+mj-lt"/>
              </a:rPr>
              <a:t>Conditional</a:t>
            </a:r>
            <a:br>
              <a:rPr lang="en-US" sz="1400" dirty="0">
                <a:solidFill>
                  <a:schemeClr val="tx1">
                    <a:lumMod val="50000"/>
                    <a:lumOff val="50000"/>
                  </a:schemeClr>
                </a:solidFill>
              </a:rPr>
            </a:br>
            <a:r>
              <a:rPr lang="en-US" sz="1400" dirty="0">
                <a:solidFill>
                  <a:schemeClr val="tx1">
                    <a:lumMod val="50000"/>
                    <a:lumOff val="50000"/>
                  </a:schemeClr>
                </a:solidFill>
              </a:rPr>
              <a:t>Triggers only when a condition is met; otherwise skipped.</a:t>
            </a:r>
          </a:p>
          <a:p>
            <a:endParaRPr lang="en-US" sz="1400" dirty="0">
              <a:solidFill>
                <a:schemeClr val="accent1"/>
              </a:solidFill>
              <a:latin typeface="+mj-lt"/>
            </a:endParaRPr>
          </a:p>
          <a:p>
            <a:r>
              <a:rPr lang="en-US" sz="1400" dirty="0">
                <a:solidFill>
                  <a:schemeClr val="accent1"/>
                </a:solidFill>
                <a:latin typeface="+mj-lt"/>
              </a:rPr>
              <a:t>Switch-case</a:t>
            </a:r>
            <a:br>
              <a:rPr lang="en-US" sz="1400" dirty="0">
                <a:solidFill>
                  <a:schemeClr val="tx1">
                    <a:lumMod val="95000"/>
                    <a:lumOff val="5000"/>
                  </a:schemeClr>
                </a:solidFill>
              </a:rPr>
            </a:br>
            <a:r>
              <a:rPr lang="en-US" sz="1400" dirty="0">
                <a:solidFill>
                  <a:schemeClr val="tx1">
                    <a:lumMod val="50000"/>
                    <a:lumOff val="50000"/>
                  </a:schemeClr>
                </a:solidFill>
              </a:rPr>
              <a:t>Routes to different executors based on predefined conditions</a:t>
            </a:r>
          </a:p>
          <a:p>
            <a:endParaRPr lang="en-US" sz="1400" dirty="0">
              <a:solidFill>
                <a:schemeClr val="accent1"/>
              </a:solidFill>
              <a:latin typeface="+mj-lt"/>
            </a:endParaRPr>
          </a:p>
          <a:p>
            <a:r>
              <a:rPr lang="en-US" sz="1400" dirty="0">
                <a:solidFill>
                  <a:schemeClr val="accent1"/>
                </a:solidFill>
                <a:latin typeface="+mj-lt"/>
              </a:rPr>
              <a:t>Fan-out</a:t>
            </a:r>
            <a:br>
              <a:rPr lang="en-US" sz="1400" dirty="0">
                <a:solidFill>
                  <a:schemeClr val="tx1">
                    <a:lumMod val="50000"/>
                    <a:lumOff val="50000"/>
                  </a:schemeClr>
                </a:solidFill>
              </a:rPr>
            </a:br>
            <a:r>
              <a:rPr lang="en-US" sz="1400" dirty="0">
                <a:solidFill>
                  <a:schemeClr val="tx1">
                    <a:lumMod val="50000"/>
                    <a:lumOff val="50000"/>
                  </a:schemeClr>
                </a:solidFill>
              </a:rPr>
              <a:t>Sends a single message to multiple executors simultaneously.</a:t>
            </a:r>
          </a:p>
          <a:p>
            <a:endParaRPr lang="en-US" sz="1400" dirty="0">
              <a:solidFill>
                <a:schemeClr val="accent1"/>
              </a:solidFill>
              <a:latin typeface="+mj-lt"/>
            </a:endParaRPr>
          </a:p>
          <a:p>
            <a:r>
              <a:rPr lang="en-US" sz="1400" dirty="0">
                <a:solidFill>
                  <a:schemeClr val="accent1"/>
                </a:solidFill>
                <a:latin typeface="+mj-lt"/>
              </a:rPr>
              <a:t>Fan-in</a:t>
            </a:r>
            <a:br>
              <a:rPr lang="en-US" sz="1400" dirty="0">
                <a:solidFill>
                  <a:schemeClr val="tx1">
                    <a:lumMod val="50000"/>
                    <a:lumOff val="50000"/>
                  </a:schemeClr>
                </a:solidFill>
              </a:rPr>
            </a:br>
            <a:r>
              <a:rPr lang="en-US" sz="1400" dirty="0">
                <a:solidFill>
                  <a:schemeClr val="tx1">
                    <a:lumMod val="50000"/>
                    <a:lumOff val="50000"/>
                  </a:schemeClr>
                </a:solidFill>
              </a:rPr>
              <a:t>Combines messages from multiple executors into one final step</a:t>
            </a:r>
          </a:p>
          <a:p>
            <a:br>
              <a:rPr lang="en-US" sz="1600" dirty="0"/>
            </a:br>
            <a:endParaRPr lang="en-US" sz="1600" noProof="0" dirty="0">
              <a:solidFill>
                <a:schemeClr val="tx1">
                  <a:lumMod val="50000"/>
                  <a:lumOff val="50000"/>
                </a:schemeClr>
              </a:solidFill>
              <a:latin typeface="+mj-lt"/>
            </a:endParaRPr>
          </a:p>
        </p:txBody>
      </p:sp>
      <p:sp>
        <p:nvSpPr>
          <p:cNvPr id="7" name="RetrievalCard">
            <a:extLst>
              <a:ext uri="{FF2B5EF4-FFF2-40B4-BE49-F238E27FC236}">
                <a16:creationId xmlns:a16="http://schemas.microsoft.com/office/drawing/2014/main" id="{C30A61E0-2D2B-22B2-1765-1AF9DCAA0413}"/>
              </a:ext>
            </a:extLst>
          </p:cNvPr>
          <p:cNvSpPr/>
          <p:nvPr/>
        </p:nvSpPr>
        <p:spPr>
          <a:xfrm>
            <a:off x="8437944" y="1273215"/>
            <a:ext cx="3157856" cy="4592540"/>
          </a:xfrm>
          <a:prstGeom prst="roundRect">
            <a:avLst>
              <a:gd name="adj" fmla="val 7434"/>
            </a:avLst>
          </a:prstGeom>
          <a:solidFill>
            <a:srgbClr val="F8F8F8"/>
          </a:solidFill>
          <a:ln w="9525">
            <a:solidFill>
              <a:srgbClr val="DEDEDE"/>
            </a:solidFill>
          </a:ln>
        </p:spPr>
        <p:txBody>
          <a:bodyPr anchor="t"/>
          <a:lstStyle/>
          <a:p>
            <a:r>
              <a:rPr lang="en-US" sz="1600" noProof="0" dirty="0">
                <a:solidFill>
                  <a:schemeClr val="accent3"/>
                </a:solidFill>
                <a:latin typeface="+mj-lt"/>
              </a:rPr>
              <a:t>Events</a:t>
            </a:r>
          </a:p>
          <a:p>
            <a:endParaRPr lang="en-US" sz="1600" noProof="0" dirty="0">
              <a:solidFill>
                <a:schemeClr val="accent3"/>
              </a:solidFill>
              <a:latin typeface="+mj-lt"/>
            </a:endParaRP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WorkflowStartedEvent</a:t>
            </a:r>
            <a:br>
              <a:rPr lang="en-US" sz="1400" dirty="0">
                <a:solidFill>
                  <a:schemeClr val="tx1">
                    <a:lumMod val="50000"/>
                    <a:lumOff val="50000"/>
                  </a:schemeClr>
                </a:solidFill>
              </a:rPr>
            </a:br>
            <a:r>
              <a:rPr lang="en-US" sz="1400" dirty="0">
                <a:solidFill>
                  <a:schemeClr val="tx1">
                    <a:lumMod val="50000"/>
                    <a:lumOff val="50000"/>
                  </a:schemeClr>
                </a:solidFill>
              </a:rPr>
              <a:t>Triggered when workflow execution begins.</a:t>
            </a: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WorkflowOutputEvent</a:t>
            </a:r>
            <a:br>
              <a:rPr lang="en-US" sz="1400" dirty="0">
                <a:solidFill>
                  <a:schemeClr val="tx1">
                    <a:lumMod val="50000"/>
                    <a:lumOff val="50000"/>
                  </a:schemeClr>
                </a:solidFill>
              </a:rPr>
            </a:br>
            <a:r>
              <a:rPr lang="en-US" sz="1400" dirty="0">
                <a:solidFill>
                  <a:schemeClr val="tx1">
                    <a:lumMod val="50000"/>
                    <a:lumOff val="50000"/>
                  </a:schemeClr>
                </a:solidFill>
              </a:rPr>
              <a:t>Emitted when the workflow produces an output.</a:t>
            </a: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WorkflowErrorEvent</a:t>
            </a:r>
            <a:br>
              <a:rPr lang="en-US" sz="1400" dirty="0">
                <a:solidFill>
                  <a:schemeClr val="tx1">
                    <a:lumMod val="95000"/>
                    <a:lumOff val="5000"/>
                  </a:schemeClr>
                </a:solidFill>
              </a:rPr>
            </a:br>
            <a:r>
              <a:rPr lang="en-US" sz="1400" dirty="0">
                <a:solidFill>
                  <a:schemeClr val="tx1">
                    <a:lumMod val="50000"/>
                    <a:lumOff val="50000"/>
                  </a:schemeClr>
                </a:solidFill>
              </a:rPr>
              <a:t>Occurs when an error is encountered during execution.</a:t>
            </a: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ExecutorInvokeEvent</a:t>
            </a:r>
            <a:br>
              <a:rPr lang="en-US" sz="1400" dirty="0">
                <a:solidFill>
                  <a:schemeClr val="tx1">
                    <a:lumMod val="50000"/>
                    <a:lumOff val="50000"/>
                  </a:schemeClr>
                </a:solidFill>
              </a:rPr>
            </a:br>
            <a:r>
              <a:rPr lang="en-US" sz="1400" dirty="0">
                <a:solidFill>
                  <a:schemeClr val="tx1">
                    <a:lumMod val="50000"/>
                    <a:lumOff val="50000"/>
                  </a:schemeClr>
                </a:solidFill>
              </a:rPr>
              <a:t>Fired when an executor starts processing a task.</a:t>
            </a: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ExecutorCompleteEvent</a:t>
            </a:r>
            <a:br>
              <a:rPr lang="en-US" sz="1400" dirty="0">
                <a:solidFill>
                  <a:schemeClr val="tx1">
                    <a:lumMod val="50000"/>
                    <a:lumOff val="50000"/>
                  </a:schemeClr>
                </a:solidFill>
              </a:rPr>
            </a:br>
            <a:r>
              <a:rPr lang="en-US" sz="1400" dirty="0">
                <a:solidFill>
                  <a:schemeClr val="tx1">
                    <a:lumMod val="50000"/>
                    <a:lumOff val="50000"/>
                  </a:schemeClr>
                </a:solidFill>
              </a:rPr>
              <a:t>Fired when an executor finishes its work.</a:t>
            </a:r>
          </a:p>
          <a:p>
            <a:pPr marL="285750" indent="-285750">
              <a:buFont typeface="Arial" panose="020B0604020202020204" pitchFamily="34" charset="0"/>
              <a:buChar char="•"/>
            </a:pPr>
            <a:r>
              <a:rPr lang="en-US" sz="1400" dirty="0" err="1">
                <a:solidFill>
                  <a:schemeClr val="accent3"/>
                </a:solidFill>
                <a:latin typeface="Consolas" panose="020B0609020204030204" pitchFamily="49" charset="0"/>
                <a:cs typeface="Consolas" panose="020B0609020204030204" pitchFamily="49" charset="0"/>
              </a:rPr>
              <a:t>RequestInfoEvent</a:t>
            </a:r>
            <a:br>
              <a:rPr lang="en-US" sz="1400" dirty="0">
                <a:solidFill>
                  <a:schemeClr val="accent3"/>
                </a:solidFill>
                <a:latin typeface="Consolas" panose="020B0609020204030204" pitchFamily="49" charset="0"/>
                <a:cs typeface="Consolas" panose="020B0609020204030204" pitchFamily="49" charset="0"/>
              </a:rPr>
            </a:br>
            <a:r>
              <a:rPr lang="en-US" sz="1400" dirty="0">
                <a:solidFill>
                  <a:schemeClr val="tx1">
                    <a:lumMod val="50000"/>
                    <a:lumOff val="50000"/>
                  </a:schemeClr>
                </a:solidFill>
              </a:rPr>
              <a:t>Logged when an external request is issued.</a:t>
            </a:r>
          </a:p>
          <a:p>
            <a:br>
              <a:rPr lang="en-US" sz="1600" dirty="0"/>
            </a:br>
            <a:endParaRPr lang="en-US" sz="1600" noProof="0" dirty="0">
              <a:solidFill>
                <a:schemeClr val="tx1">
                  <a:lumMod val="50000"/>
                  <a:lumOff val="50000"/>
                </a:schemeClr>
              </a:solidFill>
              <a:latin typeface="+mj-lt"/>
            </a:endParaRPr>
          </a:p>
        </p:txBody>
      </p:sp>
    </p:spTree>
    <p:extLst>
      <p:ext uri="{BB962C8B-B14F-4D97-AF65-F5344CB8AC3E}">
        <p14:creationId xmlns:p14="http://schemas.microsoft.com/office/powerpoint/2010/main" val="114592377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43D6-373C-FE89-7654-DD005BA9996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7CD173-6664-1CF9-A303-E425027E45B8}"/>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A6C12820-46A2-3DE7-23BD-C4936673050D}"/>
              </a:ext>
            </a:extLst>
          </p:cNvPr>
          <p:cNvSpPr>
            <a:spLocks noGrp="1"/>
          </p:cNvSpPr>
          <p:nvPr>
            <p:ph type="body" sz="quarter" idx="16"/>
          </p:nvPr>
        </p:nvSpPr>
        <p:spPr>
          <a:xfrm>
            <a:off x="584199" y="1594155"/>
            <a:ext cx="5654573" cy="307777"/>
          </a:xfrm>
        </p:spPr>
        <p:txBody>
          <a:bodyPr/>
          <a:lstStyle/>
          <a:p>
            <a:r>
              <a:rPr lang="en-US" sz="2000" dirty="0"/>
              <a:t>Build a workflow in Microsoft Foundry</a:t>
            </a:r>
          </a:p>
        </p:txBody>
      </p:sp>
      <p:sp>
        <p:nvSpPr>
          <p:cNvPr id="6" name="Text Placeholder 5">
            <a:extLst>
              <a:ext uri="{FF2B5EF4-FFF2-40B4-BE49-F238E27FC236}">
                <a16:creationId xmlns:a16="http://schemas.microsoft.com/office/drawing/2014/main" id="{E88EFF33-AF44-31D2-2FD8-05EC5DAD65DF}"/>
              </a:ext>
            </a:extLst>
          </p:cNvPr>
          <p:cNvSpPr>
            <a:spLocks noGrp="1"/>
          </p:cNvSpPr>
          <p:nvPr>
            <p:ph type="body" sz="quarter" idx="15"/>
          </p:nvPr>
        </p:nvSpPr>
        <p:spPr>
          <a:xfrm>
            <a:off x="586389" y="2085764"/>
            <a:ext cx="5652201" cy="1772793"/>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demo, you’ll explore how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customer support triage workflow</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Preview the workflow</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Use your workflow in code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1E7DBCE-8FB3-CC1B-9091-5B0BA54571D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u="sng" dirty="0">
                <a:hlinkClick r:id="rId3"/>
              </a:rPr>
              <a:t>https://go.microsoft.com/fwlink/?linkid=2353408</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AABBDCD1-7881-A01C-93C9-665240DF9DEE}"/>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9E148819-1975-F11B-BBC0-A09CC96526FD}"/>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621471CC-09CE-82A6-EC84-E70F68D8FEC0}"/>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87801308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E23BF-92B9-C682-B726-3F270A0FB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9C98C-8751-49AF-2E1D-D13C97047F2D}"/>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18EECE7-8CBA-2208-C360-4DD8F355B6BE}"/>
              </a:ext>
            </a:extLst>
          </p:cNvPr>
          <p:cNvSpPr>
            <a:spLocks noGrp="1"/>
          </p:cNvSpPr>
          <p:nvPr>
            <p:ph type="body" sz="quarter" idx="17"/>
          </p:nvPr>
        </p:nvSpPr>
        <p:spPr>
          <a:xfrm>
            <a:off x="1235075" y="2332142"/>
            <a:ext cx="8778782" cy="215444"/>
          </a:xfrm>
        </p:spPr>
        <p:txBody>
          <a:bodyPr/>
          <a:lstStyle/>
          <a:p>
            <a:r>
              <a:rPr lang="en-US" dirty="0"/>
              <a:t>Which type of node in a Foundry workflow is used to invoke an AI agent?</a:t>
            </a:r>
            <a:endParaRPr lang="en-US" b="1" dirty="0"/>
          </a:p>
        </p:txBody>
      </p:sp>
      <p:sp>
        <p:nvSpPr>
          <p:cNvPr id="9" name="Text Placeholder 8">
            <a:extLst>
              <a:ext uri="{FF2B5EF4-FFF2-40B4-BE49-F238E27FC236}">
                <a16:creationId xmlns:a16="http://schemas.microsoft.com/office/drawing/2014/main" id="{95EBC8D1-2D57-D810-505C-91804FE370BD}"/>
              </a:ext>
            </a:extLst>
          </p:cNvPr>
          <p:cNvSpPr>
            <a:spLocks noGrp="1"/>
          </p:cNvSpPr>
          <p:nvPr>
            <p:ph type="body" sz="quarter" idx="15"/>
          </p:nvPr>
        </p:nvSpPr>
        <p:spPr>
          <a:xfrm>
            <a:off x="1235075" y="2613284"/>
            <a:ext cx="8775098" cy="732508"/>
          </a:xfrm>
          <a:noFill/>
        </p:spPr>
        <p:txBody>
          <a:bodyPr/>
          <a:lstStyle/>
          <a:p>
            <a:r>
              <a:rPr lang="en-US" dirty="0"/>
              <a:t>Logic node </a:t>
            </a:r>
          </a:p>
          <a:p>
            <a:r>
              <a:rPr lang="en-US" dirty="0"/>
              <a:t>Agent node </a:t>
            </a:r>
          </a:p>
          <a:p>
            <a:r>
              <a:rPr lang="en-US" dirty="0"/>
              <a:t>Data transformation node</a:t>
            </a:r>
            <a:endParaRPr lang="en-US" noProof="0" dirty="0"/>
          </a:p>
        </p:txBody>
      </p:sp>
      <p:sp>
        <p:nvSpPr>
          <p:cNvPr id="18" name="Text Placeholder 17">
            <a:extLst>
              <a:ext uri="{FF2B5EF4-FFF2-40B4-BE49-F238E27FC236}">
                <a16:creationId xmlns:a16="http://schemas.microsoft.com/office/drawing/2014/main" id="{BE5D9BE4-0E8E-2826-E80E-06537EE30BE9}"/>
              </a:ext>
            </a:extLst>
          </p:cNvPr>
          <p:cNvSpPr>
            <a:spLocks noGrp="1"/>
          </p:cNvSpPr>
          <p:nvPr>
            <p:ph type="body" sz="quarter" idx="22"/>
          </p:nvPr>
        </p:nvSpPr>
        <p:spPr>
          <a:xfrm>
            <a:off x="1235075" y="4034002"/>
            <a:ext cx="8778782" cy="215444"/>
          </a:xfrm>
        </p:spPr>
        <p:txBody>
          <a:bodyPr/>
          <a:lstStyle/>
          <a:p>
            <a:r>
              <a:rPr lang="en-US" dirty="0"/>
              <a:t>Which node type would you use to handle multiple items in a workflow without duplicating nodes?</a:t>
            </a:r>
            <a:endParaRPr lang="en-US" noProof="0" dirty="0"/>
          </a:p>
        </p:txBody>
      </p:sp>
      <p:sp>
        <p:nvSpPr>
          <p:cNvPr id="19" name="Text Placeholder 18">
            <a:extLst>
              <a:ext uri="{FF2B5EF4-FFF2-40B4-BE49-F238E27FC236}">
                <a16:creationId xmlns:a16="http://schemas.microsoft.com/office/drawing/2014/main" id="{EC699604-1A52-5881-6E25-82A7364F67DF}"/>
              </a:ext>
            </a:extLst>
          </p:cNvPr>
          <p:cNvSpPr>
            <a:spLocks noGrp="1"/>
          </p:cNvSpPr>
          <p:nvPr>
            <p:ph type="body" sz="quarter" idx="23"/>
          </p:nvPr>
        </p:nvSpPr>
        <p:spPr>
          <a:xfrm>
            <a:off x="1235074" y="4286731"/>
            <a:ext cx="8775098" cy="732508"/>
          </a:xfrm>
        </p:spPr>
        <p:txBody>
          <a:bodyPr/>
          <a:lstStyle/>
          <a:p>
            <a:r>
              <a:rPr lang="en-US" dirty="0"/>
              <a:t>If/Else node </a:t>
            </a:r>
          </a:p>
          <a:p>
            <a:r>
              <a:rPr lang="en-US" dirty="0"/>
              <a:t>For-Each node </a:t>
            </a:r>
          </a:p>
          <a:p>
            <a:r>
              <a:rPr lang="en-US" dirty="0"/>
              <a:t>Send message node</a:t>
            </a:r>
          </a:p>
        </p:txBody>
      </p:sp>
      <p:sp>
        <p:nvSpPr>
          <p:cNvPr id="76" name="Oval 75">
            <a:extLst>
              <a:ext uri="{FF2B5EF4-FFF2-40B4-BE49-F238E27FC236}">
                <a16:creationId xmlns:a16="http://schemas.microsoft.com/office/drawing/2014/main" id="{7E93D4D7-7203-A996-0C9F-B53DD9A2A913}"/>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1D937BB-39E1-493D-604E-A17977471601}"/>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DAC525F8-D191-4180-BC63-99DEF746AAE5}"/>
              </a:ext>
              <a:ext uri="{C183D7F6-B498-43B3-948B-1728B52AA6E4}">
                <adec:decorative xmlns:adec="http://schemas.microsoft.com/office/drawing/2017/decorative" val="1"/>
              </a:ext>
            </a:extLst>
          </p:cNvPr>
          <p:cNvSpPr>
            <a:spLocks/>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AF20A5AF-BC06-D67B-DE59-2165F0E00197}"/>
              </a:ext>
              <a:ext uri="{C183D7F6-B498-43B3-948B-1728B52AA6E4}">
                <adec:decorative xmlns:adec="http://schemas.microsoft.com/office/drawing/2017/decorative" val="1"/>
              </a:ext>
            </a:extLst>
          </p:cNvPr>
          <p:cNvSpPr>
            <a:spLocks/>
          </p:cNvSpPr>
          <p:nvPr/>
        </p:nvSpPr>
        <p:spPr>
          <a:xfrm>
            <a:off x="1263852" y="288908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09D0112-C6D3-1C0E-7E08-82DF0BCA2D3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29001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4580-D3EF-C084-00AE-DD37F26DD6E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FEA8C9-01B1-AB26-2FC6-1333625120EA}"/>
              </a:ext>
            </a:extLst>
          </p:cNvPr>
          <p:cNvSpPr>
            <a:spLocks noGrp="1"/>
          </p:cNvSpPr>
          <p:nvPr>
            <p:ph type="title"/>
          </p:nvPr>
        </p:nvSpPr>
        <p:spPr>
          <a:xfrm>
            <a:off x="569911" y="2892168"/>
            <a:ext cx="6345239" cy="1107996"/>
          </a:xfrm>
        </p:spPr>
        <p:txBody>
          <a:bodyPr/>
          <a:lstStyle/>
          <a:p>
            <a:r>
              <a:rPr lang="en-US" altLang="zh-CN" sz="3600" dirty="0"/>
              <a:t>Develop an AI agent with Microsoft Agent Framework</a:t>
            </a:r>
            <a:endParaRPr lang="en-US" sz="3600" dirty="0"/>
          </a:p>
        </p:txBody>
      </p:sp>
      <p:sp>
        <p:nvSpPr>
          <p:cNvPr id="11" name="Footer Placeholder 10">
            <a:extLst>
              <a:ext uri="{FF2B5EF4-FFF2-40B4-BE49-F238E27FC236}">
                <a16:creationId xmlns:a16="http://schemas.microsoft.com/office/drawing/2014/main" id="{EB0CF872-4346-5BD2-99B5-B7722119D99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011AF3F4-AD1C-1B5D-84BE-B84466A2E5C6}"/>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901846EB-6A4E-3F6B-A1EB-7C5A4C4BA626}"/>
              </a:ext>
            </a:extLst>
          </p:cNvPr>
          <p:cNvSpPr txBox="1"/>
          <p:nvPr/>
        </p:nvSpPr>
        <p:spPr>
          <a:xfrm>
            <a:off x="497338" y="4000164"/>
            <a:ext cx="6096000" cy="369332"/>
          </a:xfrm>
          <a:prstGeom prst="rect">
            <a:avLst/>
          </a:prstGeom>
          <a:noFill/>
        </p:spPr>
        <p:txBody>
          <a:bodyPr wrap="square">
            <a:spAutoFit/>
          </a:bodyPr>
          <a:lstStyle/>
          <a:p>
            <a:r>
              <a:rPr lang="en-US" sz="1770" dirty="0">
                <a:solidFill>
                  <a:schemeClr val="accent2"/>
                </a:solidFill>
              </a:rPr>
              <a:t>https://aka.ms/mslearn-agent-framework</a:t>
            </a:r>
          </a:p>
        </p:txBody>
      </p:sp>
    </p:spTree>
    <p:extLst>
      <p:ext uri="{BB962C8B-B14F-4D97-AF65-F5344CB8AC3E}">
        <p14:creationId xmlns:p14="http://schemas.microsoft.com/office/powerpoint/2010/main" val="138576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rievalCard">
            <a:extLst>
              <a:ext uri="{FF2B5EF4-FFF2-40B4-BE49-F238E27FC236}">
                <a16:creationId xmlns:a16="http://schemas.microsoft.com/office/drawing/2014/main" id="{78E642C5-2935-5EDC-622D-714DBC6A92E7}"/>
              </a:ext>
            </a:extLst>
          </p:cNvPr>
          <p:cNvSpPr/>
          <p:nvPr/>
        </p:nvSpPr>
        <p:spPr>
          <a:xfrm>
            <a:off x="4358640" y="3765668"/>
            <a:ext cx="3474720" cy="2111646"/>
          </a:xfrm>
          <a:prstGeom prst="roundRect">
            <a:avLst>
              <a:gd name="adj" fmla="val 12000"/>
            </a:avLst>
          </a:prstGeom>
          <a:solidFill>
            <a:srgbClr val="F8F8F8"/>
          </a:solidFill>
          <a:ln w="9525">
            <a:solidFill>
              <a:srgbClr val="DEDEDE"/>
            </a:solidFill>
          </a:ln>
        </p:spPr>
        <p:txBody>
          <a:bodyPr anchor="b"/>
          <a:lstStyle/>
          <a:p>
            <a:r>
              <a:rPr lang="en-US" sz="1600" noProof="0" dirty="0">
                <a:solidFill>
                  <a:srgbClr val="0078D4"/>
                </a:solidFill>
                <a:latin typeface="+mj-lt"/>
              </a:rPr>
              <a:t>Conversation management</a:t>
            </a:r>
          </a:p>
          <a:p>
            <a:r>
              <a:rPr lang="en-US" sz="1400" dirty="0">
                <a:solidFill>
                  <a:schemeClr val="tx1">
                    <a:lumMod val="50000"/>
                    <a:lumOff val="50000"/>
                  </a:schemeClr>
                </a:solidFill>
              </a:rPr>
              <a:t>Structured message system with typed roles and </a:t>
            </a:r>
            <a:r>
              <a:rPr lang="en-US" sz="1400" dirty="0" err="1">
                <a:solidFill>
                  <a:schemeClr val="tx1">
                    <a:lumMod val="50000"/>
                    <a:lumOff val="50000"/>
                  </a:schemeClr>
                </a:solidFill>
              </a:rPr>
              <a:t>AgentSession</a:t>
            </a:r>
            <a:r>
              <a:rPr lang="en-US" sz="1400" dirty="0">
                <a:solidFill>
                  <a:schemeClr val="tx1">
                    <a:lumMod val="50000"/>
                    <a:lumOff val="50000"/>
                  </a:schemeClr>
                </a:solidFill>
              </a:rPr>
              <a:t> for persistent conversation context across multiple interactions.</a:t>
            </a:r>
            <a:endParaRPr lang="en-US" sz="1600" noProof="0" dirty="0">
              <a:solidFill>
                <a:schemeClr val="tx1">
                  <a:lumMod val="50000"/>
                  <a:lumOff val="50000"/>
                </a:schemeClr>
              </a:solidFill>
              <a:latin typeface="+mj-lt"/>
            </a:endParaRPr>
          </a:p>
        </p:txBody>
      </p:sp>
      <p:sp>
        <p:nvSpPr>
          <p:cNvPr id="2" name="Title 1">
            <a:extLst>
              <a:ext uri="{FF2B5EF4-FFF2-40B4-BE49-F238E27FC236}">
                <a16:creationId xmlns:a16="http://schemas.microsoft.com/office/drawing/2014/main" id="{CC84A8F2-4509-CF0D-FDAD-810E77641F83}"/>
              </a:ext>
            </a:extLst>
          </p:cNvPr>
          <p:cNvSpPr>
            <a:spLocks noGrp="1"/>
          </p:cNvSpPr>
          <p:nvPr>
            <p:ph type="title"/>
          </p:nvPr>
        </p:nvSpPr>
        <p:spPr>
          <a:xfrm>
            <a:off x="588261" y="585216"/>
            <a:ext cx="11011601" cy="492443"/>
          </a:xfrm>
        </p:spPr>
        <p:txBody>
          <a:bodyPr/>
          <a:lstStyle/>
          <a:p>
            <a:r>
              <a:rPr lang="en-US" sz="3200" dirty="0"/>
              <a:t>Explore </a:t>
            </a:r>
            <a:r>
              <a:rPr lang="en-US" sz="3200" b="1" dirty="0"/>
              <a:t>Microsoft Agent Framework core components</a:t>
            </a:r>
            <a:endParaRPr lang="en-US" sz="3200" dirty="0"/>
          </a:p>
        </p:txBody>
      </p:sp>
      <p:sp>
        <p:nvSpPr>
          <p:cNvPr id="3" name="Footer Placeholder 2">
            <a:extLst>
              <a:ext uri="{FF2B5EF4-FFF2-40B4-BE49-F238E27FC236}">
                <a16:creationId xmlns:a16="http://schemas.microsoft.com/office/drawing/2014/main" id="{3653D18D-9746-0FCB-4B48-B0913E994D48}"/>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9" name="RetrievalCard">
            <a:extLst>
              <a:ext uri="{FF2B5EF4-FFF2-40B4-BE49-F238E27FC236}">
                <a16:creationId xmlns:a16="http://schemas.microsoft.com/office/drawing/2014/main" id="{F4175447-BC2B-274E-E643-0728DCC2341D}"/>
              </a:ext>
            </a:extLst>
          </p:cNvPr>
          <p:cNvSpPr/>
          <p:nvPr/>
        </p:nvSpPr>
        <p:spPr>
          <a:xfrm>
            <a:off x="8121080" y="3765668"/>
            <a:ext cx="3474720" cy="2111646"/>
          </a:xfrm>
          <a:prstGeom prst="roundRect">
            <a:avLst>
              <a:gd name="adj" fmla="val 12000"/>
            </a:avLst>
          </a:prstGeom>
          <a:solidFill>
            <a:srgbClr val="F8F8F8"/>
          </a:solidFill>
          <a:ln w="9525">
            <a:solidFill>
              <a:srgbClr val="DEDEDE"/>
            </a:solidFill>
          </a:ln>
        </p:spPr>
        <p:txBody>
          <a:bodyPr anchor="b"/>
          <a:lstStyle/>
          <a:p>
            <a:r>
              <a:rPr lang="en-US" sz="1600" noProof="0" dirty="0">
                <a:solidFill>
                  <a:srgbClr val="0078D4"/>
                </a:solidFill>
                <a:latin typeface="+mj-lt"/>
              </a:rPr>
              <a:t>Workflow orchestration</a:t>
            </a:r>
          </a:p>
          <a:p>
            <a:r>
              <a:rPr lang="en-US" sz="1400" dirty="0">
                <a:solidFill>
                  <a:schemeClr val="tx1">
                    <a:lumMod val="50000"/>
                    <a:lumOff val="50000"/>
                  </a:schemeClr>
                </a:solidFill>
              </a:rPr>
              <a:t>Patterns for complex multi-agent collaboration including human-in-the-loop support. Agents can hand off tasks or participate in group conversations.</a:t>
            </a:r>
          </a:p>
        </p:txBody>
      </p:sp>
      <p:grpSp>
        <p:nvGrpSpPr>
          <p:cNvPr id="10" name="Group 9">
            <a:extLst>
              <a:ext uri="{FF2B5EF4-FFF2-40B4-BE49-F238E27FC236}">
                <a16:creationId xmlns:a16="http://schemas.microsoft.com/office/drawing/2014/main" id="{9DF4B815-D7FD-EAD6-1B64-13296F4039D7}"/>
              </a:ext>
            </a:extLst>
          </p:cNvPr>
          <p:cNvGrpSpPr/>
          <p:nvPr/>
        </p:nvGrpSpPr>
        <p:grpSpPr>
          <a:xfrm>
            <a:off x="579438" y="1391717"/>
            <a:ext cx="3474720" cy="2111646"/>
            <a:chOff x="579438" y="1391717"/>
            <a:chExt cx="3474720" cy="2111646"/>
          </a:xfrm>
        </p:grpSpPr>
        <p:sp>
          <p:nvSpPr>
            <p:cNvPr id="12" name="RetrievalCard">
              <a:extLst>
                <a:ext uri="{FF2B5EF4-FFF2-40B4-BE49-F238E27FC236}">
                  <a16:creationId xmlns:a16="http://schemas.microsoft.com/office/drawing/2014/main" id="{5D4ABA2E-0CD7-6AF8-FEFC-4211D365B569}"/>
                </a:ext>
              </a:extLst>
            </p:cNvPr>
            <p:cNvSpPr/>
            <p:nvPr/>
          </p:nvSpPr>
          <p:spPr>
            <a:xfrm>
              <a:off x="579438" y="1391717"/>
              <a:ext cx="3474720" cy="2111646"/>
            </a:xfrm>
            <a:prstGeom prst="roundRect">
              <a:avLst>
                <a:gd name="adj" fmla="val 12000"/>
              </a:avLst>
            </a:prstGeom>
            <a:solidFill>
              <a:srgbClr val="F8F8F8"/>
            </a:solidFill>
            <a:ln w="9525">
              <a:solidFill>
                <a:srgbClr val="DEDEDE"/>
              </a:solidFill>
            </a:ln>
          </p:spPr>
          <p:txBody>
            <a:bodyPr anchor="b"/>
            <a:lstStyle/>
            <a:p>
              <a:r>
                <a:rPr lang="en-US" sz="1600" noProof="0" dirty="0">
                  <a:solidFill>
                    <a:srgbClr val="0078D4"/>
                  </a:solidFill>
                  <a:latin typeface="+mj-lt"/>
                </a:rPr>
                <a:t>Agents</a:t>
              </a:r>
            </a:p>
            <a:p>
              <a:r>
                <a:rPr lang="en-US" sz="1400" dirty="0">
                  <a:solidFill>
                    <a:schemeClr val="tx1">
                      <a:lumMod val="50000"/>
                      <a:lumOff val="50000"/>
                    </a:schemeClr>
                  </a:solidFill>
                </a:rPr>
                <a:t>Consistent interface enabling multi-agent orchestration. Supports function calling, multi-turn conversations, structured outputs, and streaming responses out of the box.</a:t>
              </a:r>
              <a:endParaRPr lang="en-US" sz="1600" noProof="0" dirty="0">
                <a:solidFill>
                  <a:schemeClr val="tx1">
                    <a:lumMod val="50000"/>
                    <a:lumOff val="50000"/>
                  </a:schemeClr>
                </a:solidFill>
                <a:latin typeface="+mj-lt"/>
              </a:endParaRPr>
            </a:p>
          </p:txBody>
        </p:sp>
        <p:pic>
          <p:nvPicPr>
            <p:cNvPr id="20" name="Graphic 19" descr="Robot with solid fill">
              <a:extLst>
                <a:ext uri="{FF2B5EF4-FFF2-40B4-BE49-F238E27FC236}">
                  <a16:creationId xmlns:a16="http://schemas.microsoft.com/office/drawing/2014/main" id="{13BCE0F1-70BC-E8AE-033F-D27B68C26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557" y="1524320"/>
              <a:ext cx="548640" cy="548640"/>
            </a:xfrm>
            <a:prstGeom prst="rect">
              <a:avLst/>
            </a:prstGeom>
          </p:spPr>
        </p:pic>
      </p:grpSp>
      <p:pic>
        <p:nvPicPr>
          <p:cNvPr id="22" name="Graphic 21" descr="Chat with solid fill">
            <a:extLst>
              <a:ext uri="{FF2B5EF4-FFF2-40B4-BE49-F238E27FC236}">
                <a16:creationId xmlns:a16="http://schemas.microsoft.com/office/drawing/2014/main" id="{5B9CD962-FB78-0F22-BFEB-70A6A604DF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9079" y="3909349"/>
            <a:ext cx="548640" cy="548640"/>
          </a:xfrm>
          <a:prstGeom prst="rect">
            <a:avLst/>
          </a:prstGeom>
        </p:spPr>
      </p:pic>
      <p:pic>
        <p:nvPicPr>
          <p:cNvPr id="26" name="Graphic 25" descr="Workflow with solid fill">
            <a:extLst>
              <a:ext uri="{FF2B5EF4-FFF2-40B4-BE49-F238E27FC236}">
                <a16:creationId xmlns:a16="http://schemas.microsoft.com/office/drawing/2014/main" id="{DE77458E-8FDB-D26E-BE59-2291A8D285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6827" y="3909349"/>
            <a:ext cx="548640" cy="548640"/>
          </a:xfrm>
          <a:prstGeom prst="rect">
            <a:avLst/>
          </a:prstGeom>
        </p:spPr>
      </p:pic>
      <p:grpSp>
        <p:nvGrpSpPr>
          <p:cNvPr id="7" name="Group 6">
            <a:extLst>
              <a:ext uri="{FF2B5EF4-FFF2-40B4-BE49-F238E27FC236}">
                <a16:creationId xmlns:a16="http://schemas.microsoft.com/office/drawing/2014/main" id="{A1B70BF7-43A7-8C36-A596-DB4A2A6C53BC}"/>
              </a:ext>
            </a:extLst>
          </p:cNvPr>
          <p:cNvGrpSpPr/>
          <p:nvPr/>
        </p:nvGrpSpPr>
        <p:grpSpPr>
          <a:xfrm>
            <a:off x="8121080" y="1391717"/>
            <a:ext cx="3474720" cy="2111646"/>
            <a:chOff x="8121080" y="1391717"/>
            <a:chExt cx="3474720" cy="2111646"/>
          </a:xfrm>
        </p:grpSpPr>
        <p:sp>
          <p:nvSpPr>
            <p:cNvPr id="8" name="RetrievalCard">
              <a:extLst>
                <a:ext uri="{FF2B5EF4-FFF2-40B4-BE49-F238E27FC236}">
                  <a16:creationId xmlns:a16="http://schemas.microsoft.com/office/drawing/2014/main" id="{E4E5CCE2-2D12-7203-B6B4-EA1440FEA305}"/>
                </a:ext>
              </a:extLst>
            </p:cNvPr>
            <p:cNvSpPr/>
            <p:nvPr/>
          </p:nvSpPr>
          <p:spPr>
            <a:xfrm>
              <a:off x="8121080" y="1391717"/>
              <a:ext cx="3474720" cy="2111646"/>
            </a:xfrm>
            <a:prstGeom prst="roundRect">
              <a:avLst>
                <a:gd name="adj" fmla="val 12000"/>
              </a:avLst>
            </a:prstGeom>
            <a:solidFill>
              <a:srgbClr val="F8F8F8"/>
            </a:solidFill>
            <a:ln w="9525">
              <a:solidFill>
                <a:srgbClr val="DEDEDE"/>
              </a:solidFill>
            </a:ln>
          </p:spPr>
          <p:txBody>
            <a:bodyPr anchor="b"/>
            <a:lstStyle/>
            <a:p>
              <a:r>
                <a:rPr lang="en-US" sz="1600" noProof="0" dirty="0">
                  <a:solidFill>
                    <a:srgbClr val="0078D4"/>
                  </a:solidFill>
                  <a:latin typeface="+mj-lt"/>
                </a:rPr>
                <a:t>Function tools</a:t>
              </a:r>
            </a:p>
            <a:p>
              <a:r>
                <a:rPr lang="en-US" sz="1400" noProof="0" dirty="0">
                  <a:solidFill>
                    <a:schemeClr val="tx1">
                      <a:lumMod val="50000"/>
                      <a:lumOff val="50000"/>
                    </a:schemeClr>
                  </a:solidFill>
                </a:rPr>
                <a:t>Containers for custom functions that extend agent capabilities. Agents automatically discover and invoke functions to integrate with external APIs and services.</a:t>
              </a:r>
              <a:endParaRPr lang="en-US" sz="1600" noProof="0" dirty="0">
                <a:solidFill>
                  <a:schemeClr val="tx1">
                    <a:lumMod val="50000"/>
                    <a:lumOff val="50000"/>
                  </a:schemeClr>
                </a:solidFill>
                <a:latin typeface="+mj-lt"/>
              </a:endParaRPr>
            </a:p>
          </p:txBody>
        </p:sp>
        <p:pic>
          <p:nvPicPr>
            <p:cNvPr id="28" name="Graphic 27" descr="Wrench with solid fill">
              <a:extLst>
                <a:ext uri="{FF2B5EF4-FFF2-40B4-BE49-F238E27FC236}">
                  <a16:creationId xmlns:a16="http://schemas.microsoft.com/office/drawing/2014/main" id="{F78B8D87-8B67-ABCB-BBB0-58A3400964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71552" y="1524320"/>
              <a:ext cx="457200" cy="457200"/>
            </a:xfrm>
            <a:prstGeom prst="rect">
              <a:avLst/>
            </a:prstGeom>
          </p:spPr>
        </p:pic>
      </p:grpSp>
      <p:grpSp>
        <p:nvGrpSpPr>
          <p:cNvPr id="6" name="Group 5">
            <a:extLst>
              <a:ext uri="{FF2B5EF4-FFF2-40B4-BE49-F238E27FC236}">
                <a16:creationId xmlns:a16="http://schemas.microsoft.com/office/drawing/2014/main" id="{D5AD291A-01F0-264D-BD8E-2F8DEAE67815}"/>
              </a:ext>
            </a:extLst>
          </p:cNvPr>
          <p:cNvGrpSpPr/>
          <p:nvPr/>
        </p:nvGrpSpPr>
        <p:grpSpPr>
          <a:xfrm>
            <a:off x="4358640" y="1391717"/>
            <a:ext cx="3474720" cy="2111646"/>
            <a:chOff x="4358640" y="1391717"/>
            <a:chExt cx="3474720" cy="2111646"/>
          </a:xfrm>
        </p:grpSpPr>
        <p:sp>
          <p:nvSpPr>
            <p:cNvPr id="16" name="RetrievalCard">
              <a:extLst>
                <a:ext uri="{FF2B5EF4-FFF2-40B4-BE49-F238E27FC236}">
                  <a16:creationId xmlns:a16="http://schemas.microsoft.com/office/drawing/2014/main" id="{B9D0EF25-BECA-527D-8D42-EAFEF47D1962}"/>
                </a:ext>
              </a:extLst>
            </p:cNvPr>
            <p:cNvSpPr/>
            <p:nvPr/>
          </p:nvSpPr>
          <p:spPr>
            <a:xfrm>
              <a:off x="4358640" y="1391717"/>
              <a:ext cx="3474720" cy="2111646"/>
            </a:xfrm>
            <a:prstGeom prst="roundRect">
              <a:avLst>
                <a:gd name="adj" fmla="val 12000"/>
              </a:avLst>
            </a:prstGeom>
            <a:solidFill>
              <a:srgbClr val="F8F8F8"/>
            </a:solidFill>
            <a:ln w="9525">
              <a:solidFill>
                <a:srgbClr val="DEDEDE"/>
              </a:solidFill>
            </a:ln>
          </p:spPr>
          <p:txBody>
            <a:bodyPr anchor="b"/>
            <a:lstStyle/>
            <a:p>
              <a:endParaRPr lang="en-US" sz="1600" noProof="0" dirty="0">
                <a:solidFill>
                  <a:schemeClr val="tx1">
                    <a:lumMod val="50000"/>
                    <a:lumOff val="50000"/>
                  </a:schemeClr>
                </a:solidFill>
                <a:latin typeface="+mj-lt"/>
              </a:endParaRPr>
            </a:p>
          </p:txBody>
        </p:sp>
        <p:pic>
          <p:nvPicPr>
            <p:cNvPr id="30" name="Graphic 29" descr="Smiling face with solid fill with solid fill">
              <a:extLst>
                <a:ext uri="{FF2B5EF4-FFF2-40B4-BE49-F238E27FC236}">
                  <a16:creationId xmlns:a16="http://schemas.microsoft.com/office/drawing/2014/main" id="{1A9A272A-A7B3-1BDC-A82F-FB5B3C8404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62354" y="1524320"/>
              <a:ext cx="457200" cy="457200"/>
            </a:xfrm>
            <a:prstGeom prst="rect">
              <a:avLst/>
            </a:prstGeom>
          </p:spPr>
        </p:pic>
        <p:sp>
          <p:nvSpPr>
            <p:cNvPr id="4" name="TextBox 3">
              <a:extLst>
                <a:ext uri="{FF2B5EF4-FFF2-40B4-BE49-F238E27FC236}">
                  <a16:creationId xmlns:a16="http://schemas.microsoft.com/office/drawing/2014/main" id="{F60D6597-5B22-BA08-11BD-17893A3EAC61}"/>
                </a:ext>
              </a:extLst>
            </p:cNvPr>
            <p:cNvSpPr txBox="1"/>
            <p:nvPr/>
          </p:nvSpPr>
          <p:spPr>
            <a:xfrm>
              <a:off x="4549079" y="2074783"/>
              <a:ext cx="3070921" cy="135421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mn-ea"/>
                  <a:cs typeface="+mn-cs"/>
                </a:rPr>
                <a:t>Chat providers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lumMod val="50000"/>
                      <a:lumOff val="50000"/>
                    </a:srgbClr>
                  </a:solidFill>
                  <a:effectLst/>
                  <a:uLnTx/>
                  <a:uFillTx/>
                  <a:latin typeface="Segoe UI"/>
                  <a:ea typeface="+mn-ea"/>
                  <a:cs typeface="+mn-cs"/>
                </a:rPr>
                <a:t>Abstractions for connecting to AI services under a common interface. All providers are interchangeable through the </a:t>
              </a:r>
              <a:r>
                <a:rPr kumimoji="0" lang="en-US" sz="1400" b="0" i="0" u="none" strike="noStrike" kern="1200" cap="none" spc="0" normalizeH="0" baseline="0" noProof="0" dirty="0" err="1">
                  <a:ln>
                    <a:noFill/>
                  </a:ln>
                  <a:solidFill>
                    <a:srgbClr val="000000">
                      <a:lumMod val="50000"/>
                      <a:lumOff val="50000"/>
                    </a:srgbClr>
                  </a:solidFill>
                  <a:effectLst/>
                  <a:uLnTx/>
                  <a:uFillTx/>
                  <a:latin typeface="Segoe UI"/>
                  <a:ea typeface="+mn-ea"/>
                  <a:cs typeface="+mn-cs"/>
                </a:rPr>
                <a:t>BaseAgent</a:t>
              </a:r>
              <a:r>
                <a:rPr kumimoji="0" lang="en-US" sz="1400" b="0" i="0" u="none" strike="noStrike" kern="1200" cap="none" spc="0" normalizeH="0" baseline="0" noProof="0" dirty="0">
                  <a:ln>
                    <a:noFill/>
                  </a:ln>
                  <a:solidFill>
                    <a:srgbClr val="000000">
                      <a:lumMod val="50000"/>
                      <a:lumOff val="50000"/>
                    </a:srgbClr>
                  </a:solidFill>
                  <a:effectLst/>
                  <a:uLnTx/>
                  <a:uFillTx/>
                  <a:latin typeface="Segoe UI"/>
                  <a:ea typeface="+mn-ea"/>
                  <a:cs typeface="+mn-cs"/>
                </a:rPr>
                <a:t> abstraction.</a:t>
              </a:r>
              <a:endParaRPr kumimoji="0" lang="en-US" sz="1600" b="0" i="0" u="none" strike="noStrike" kern="1200" cap="none" spc="0" normalizeH="0" baseline="0" noProof="0" dirty="0">
                <a:ln>
                  <a:noFill/>
                </a:ln>
                <a:solidFill>
                  <a:srgbClr val="000000">
                    <a:lumMod val="50000"/>
                    <a:lumOff val="50000"/>
                  </a:srgbClr>
                </a:solidFill>
                <a:effectLst/>
                <a:uLnTx/>
                <a:uFillTx/>
                <a:latin typeface="Segoe UI Semibold"/>
                <a:ea typeface="+mn-ea"/>
                <a:cs typeface="+mn-cs"/>
              </a:endParaRPr>
            </a:p>
            <a:p>
              <a:pPr algn="l"/>
              <a:endParaRPr lang="en-US" sz="1600" dirty="0"/>
            </a:p>
          </p:txBody>
        </p:sp>
      </p:grpSp>
      <p:grpSp>
        <p:nvGrpSpPr>
          <p:cNvPr id="13" name="Group 12">
            <a:extLst>
              <a:ext uri="{FF2B5EF4-FFF2-40B4-BE49-F238E27FC236}">
                <a16:creationId xmlns:a16="http://schemas.microsoft.com/office/drawing/2014/main" id="{0EA212A5-85D0-B62A-A313-B998BC9868D8}"/>
              </a:ext>
            </a:extLst>
          </p:cNvPr>
          <p:cNvGrpSpPr/>
          <p:nvPr/>
        </p:nvGrpSpPr>
        <p:grpSpPr>
          <a:xfrm>
            <a:off x="596200" y="3765668"/>
            <a:ext cx="3474720" cy="2111646"/>
            <a:chOff x="596200" y="3765668"/>
            <a:chExt cx="3474720" cy="2111646"/>
          </a:xfrm>
        </p:grpSpPr>
        <p:sp>
          <p:nvSpPr>
            <p:cNvPr id="14" name="RetrievalCard">
              <a:extLst>
                <a:ext uri="{FF2B5EF4-FFF2-40B4-BE49-F238E27FC236}">
                  <a16:creationId xmlns:a16="http://schemas.microsoft.com/office/drawing/2014/main" id="{6CA187B7-0CBF-CF24-8F3C-DEF134052AB2}"/>
                </a:ext>
              </a:extLst>
            </p:cNvPr>
            <p:cNvSpPr/>
            <p:nvPr/>
          </p:nvSpPr>
          <p:spPr>
            <a:xfrm>
              <a:off x="596200" y="3765668"/>
              <a:ext cx="3474720" cy="2111646"/>
            </a:xfrm>
            <a:prstGeom prst="roundRect">
              <a:avLst>
                <a:gd name="adj" fmla="val 12000"/>
              </a:avLst>
            </a:prstGeom>
            <a:solidFill>
              <a:srgbClr val="F8F8F8"/>
            </a:solidFill>
            <a:ln w="9525">
              <a:solidFill>
                <a:srgbClr val="DEDEDE"/>
              </a:solidFill>
            </a:ln>
          </p:spPr>
          <p:txBody>
            <a:bodyPr anchor="b"/>
            <a:lstStyle/>
            <a:p>
              <a:endParaRPr lang="en-US" sz="1600" noProof="0" dirty="0">
                <a:solidFill>
                  <a:schemeClr val="tx1">
                    <a:lumMod val="50000"/>
                    <a:lumOff val="50000"/>
                  </a:schemeClr>
                </a:solidFill>
                <a:latin typeface="+mj-lt"/>
              </a:endParaRPr>
            </a:p>
          </p:txBody>
        </p:sp>
        <p:pic>
          <p:nvPicPr>
            <p:cNvPr id="24" name="Graphic 23" descr="Mining tools with solid fill">
              <a:extLst>
                <a:ext uri="{FF2B5EF4-FFF2-40B4-BE49-F238E27FC236}">
                  <a16:creationId xmlns:a16="http://schemas.microsoft.com/office/drawing/2014/main" id="{A37FE2F5-F52C-C584-0CD8-D8B7854EE6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2277" y="3909349"/>
              <a:ext cx="457200" cy="457200"/>
            </a:xfrm>
            <a:prstGeom prst="rect">
              <a:avLst/>
            </a:prstGeom>
          </p:spPr>
        </p:pic>
        <p:sp>
          <p:nvSpPr>
            <p:cNvPr id="11" name="TextBox 10">
              <a:extLst>
                <a:ext uri="{FF2B5EF4-FFF2-40B4-BE49-F238E27FC236}">
                  <a16:creationId xmlns:a16="http://schemas.microsoft.com/office/drawing/2014/main" id="{EE6D668D-E27A-13FA-CD69-74C2F9F2BD29}"/>
                </a:ext>
              </a:extLst>
            </p:cNvPr>
            <p:cNvSpPr txBox="1"/>
            <p:nvPr/>
          </p:nvSpPr>
          <p:spPr>
            <a:xfrm>
              <a:off x="747874" y="4661472"/>
              <a:ext cx="3171371" cy="113877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mn-ea"/>
                  <a:cs typeface="+mn-cs"/>
                </a:rPr>
                <a:t>Built-in tools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lumMod val="50000"/>
                      <a:lumOff val="50000"/>
                    </a:srgbClr>
                  </a:solidFill>
                  <a:effectLst/>
                  <a:uLnTx/>
                  <a:uFillTx/>
                  <a:latin typeface="Segoe UI" panose="020B0502040204020203" pitchFamily="34" charset="0"/>
                  <a:ea typeface="+mn-ea"/>
                  <a:cs typeface="+mn-cs"/>
                </a:rPr>
                <a:t>Prebuilt capabilities provided by the service, ready to use without additional configuration.</a:t>
              </a:r>
            </a:p>
            <a:p>
              <a:pPr algn="l"/>
              <a:endParaRPr lang="en-US" sz="1600" dirty="0"/>
            </a:p>
          </p:txBody>
        </p:sp>
      </p:grpSp>
    </p:spTree>
    <p:extLst>
      <p:ext uri="{BB962C8B-B14F-4D97-AF65-F5344CB8AC3E}">
        <p14:creationId xmlns:p14="http://schemas.microsoft.com/office/powerpoint/2010/main" val="258788362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7327-863E-8EFE-7B1E-5C2E47D75755}"/>
              </a:ext>
            </a:extLst>
          </p:cNvPr>
          <p:cNvSpPr>
            <a:spLocks noGrp="1"/>
          </p:cNvSpPr>
          <p:nvPr>
            <p:ph type="title"/>
          </p:nvPr>
        </p:nvSpPr>
        <p:spPr>
          <a:xfrm>
            <a:off x="588262" y="585216"/>
            <a:ext cx="11013474" cy="492443"/>
          </a:xfrm>
        </p:spPr>
        <p:txBody>
          <a:bodyPr/>
          <a:lstStyle/>
          <a:p>
            <a:r>
              <a:rPr lang="en-US" sz="3200" dirty="0"/>
              <a:t>Create an AI agent</a:t>
            </a:r>
          </a:p>
        </p:txBody>
      </p:sp>
      <p:sp>
        <p:nvSpPr>
          <p:cNvPr id="3" name="Text Placeholder 2">
            <a:extLst>
              <a:ext uri="{FF2B5EF4-FFF2-40B4-BE49-F238E27FC236}">
                <a16:creationId xmlns:a16="http://schemas.microsoft.com/office/drawing/2014/main" id="{6AC053B1-D769-2096-87A2-A86285D4B402}"/>
              </a:ext>
            </a:extLst>
          </p:cNvPr>
          <p:cNvSpPr>
            <a:spLocks noGrp="1"/>
          </p:cNvSpPr>
          <p:nvPr>
            <p:ph type="body" sz="quarter" idx="15"/>
          </p:nvPr>
        </p:nvSpPr>
        <p:spPr>
          <a:xfrm>
            <a:off x="1215341" y="1591056"/>
            <a:ext cx="10384521" cy="3228128"/>
          </a:xfrm>
        </p:spPr>
        <p:txBody>
          <a:bodyPr/>
          <a:lstStyle/>
          <a:p>
            <a:pPr marL="0" indent="0">
              <a:lnSpc>
                <a:spcPct val="200000"/>
              </a:lnSpc>
              <a:buNone/>
            </a:pPr>
            <a:r>
              <a:rPr lang="en-US" sz="2000" dirty="0"/>
              <a:t>Create a Microsoft Foundry project</a:t>
            </a:r>
          </a:p>
          <a:p>
            <a:pPr marL="0" indent="0">
              <a:lnSpc>
                <a:spcPct val="200000"/>
              </a:lnSpc>
              <a:buNone/>
            </a:pPr>
            <a:r>
              <a:rPr lang="en-US" sz="2000" dirty="0"/>
              <a:t>Add the project connection string to your Microsoft Agent Framework application code</a:t>
            </a:r>
          </a:p>
          <a:p>
            <a:pPr marL="0" indent="0">
              <a:lnSpc>
                <a:spcPct val="200000"/>
              </a:lnSpc>
              <a:buNone/>
            </a:pPr>
            <a:r>
              <a:rPr lang="en-US" sz="2000" dirty="0"/>
              <a:t>Set up authentication credentials with </a:t>
            </a:r>
            <a:r>
              <a:rPr lang="en-US" sz="2000" dirty="0" err="1">
                <a:highlight>
                  <a:srgbClr val="E8E8E8"/>
                </a:highlight>
                <a:latin typeface="Consolas" panose="020B0609020204030204" pitchFamily="49" charset="0"/>
                <a:cs typeface="Consolas" panose="020B0609020204030204" pitchFamily="49" charset="0"/>
              </a:rPr>
              <a:t>AzureCliCredential</a:t>
            </a:r>
            <a:endParaRPr lang="en-US" sz="2000" dirty="0"/>
          </a:p>
          <a:p>
            <a:pPr marL="0" indent="0">
              <a:lnSpc>
                <a:spcPct val="200000"/>
              </a:lnSpc>
              <a:buNone/>
            </a:pPr>
            <a:r>
              <a:rPr lang="en-US" sz="2000" dirty="0"/>
              <a:t>Connect to your project client with the </a:t>
            </a:r>
            <a:r>
              <a:rPr lang="en-US" sz="2000" dirty="0" err="1">
                <a:highlight>
                  <a:srgbClr val="E8E8E8"/>
                </a:highlight>
                <a:latin typeface="Consolas" panose="020B0609020204030204" pitchFamily="49" charset="0"/>
                <a:cs typeface="Consolas" panose="020B0609020204030204" pitchFamily="49" charset="0"/>
              </a:rPr>
              <a:t>AzureOpenAIResponsesClient</a:t>
            </a:r>
            <a:r>
              <a:rPr lang="en-US" sz="2000" dirty="0"/>
              <a:t> class</a:t>
            </a:r>
          </a:p>
          <a:p>
            <a:pPr marL="0" indent="0">
              <a:lnSpc>
                <a:spcPct val="200000"/>
              </a:lnSpc>
              <a:buNone/>
            </a:pPr>
            <a:r>
              <a:rPr lang="en-US" sz="2000" dirty="0"/>
              <a:t>Create an </a:t>
            </a:r>
            <a:r>
              <a:rPr lang="en-US" sz="2000" dirty="0">
                <a:highlight>
                  <a:srgbClr val="E8E8E8"/>
                </a:highlight>
                <a:latin typeface="Consolas" panose="020B0609020204030204" pitchFamily="49" charset="0"/>
                <a:cs typeface="Consolas" panose="020B0609020204030204" pitchFamily="49" charset="0"/>
              </a:rPr>
              <a:t>Agent</a:t>
            </a:r>
            <a:r>
              <a:rPr lang="en-US" sz="2000" dirty="0"/>
              <a:t> instance with the client, instructions, and tools you want to use</a:t>
            </a:r>
          </a:p>
        </p:txBody>
      </p:sp>
      <p:sp>
        <p:nvSpPr>
          <p:cNvPr id="4" name="Footer Placeholder 3">
            <a:extLst>
              <a:ext uri="{FF2B5EF4-FFF2-40B4-BE49-F238E27FC236}">
                <a16:creationId xmlns:a16="http://schemas.microsoft.com/office/drawing/2014/main" id="{8A5AB133-15B8-F129-7720-A61BC7D566E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Oval 4">
            <a:extLst>
              <a:ext uri="{FF2B5EF4-FFF2-40B4-BE49-F238E27FC236}">
                <a16:creationId xmlns:a16="http://schemas.microsoft.com/office/drawing/2014/main" id="{825297CE-5380-AFE1-9ED4-2872EC580163}"/>
              </a:ext>
            </a:extLst>
          </p:cNvPr>
          <p:cNvSpPr/>
          <p:nvPr/>
        </p:nvSpPr>
        <p:spPr bwMode="auto">
          <a:xfrm>
            <a:off x="588262" y="1677123"/>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6" name="Oval 5">
            <a:extLst>
              <a:ext uri="{FF2B5EF4-FFF2-40B4-BE49-F238E27FC236}">
                <a16:creationId xmlns:a16="http://schemas.microsoft.com/office/drawing/2014/main" id="{EFFBDF1B-ADE5-9AE1-951C-849BB3F37F12}"/>
              </a:ext>
            </a:extLst>
          </p:cNvPr>
          <p:cNvSpPr/>
          <p:nvPr/>
        </p:nvSpPr>
        <p:spPr bwMode="auto">
          <a:xfrm>
            <a:off x="588262" y="2361907"/>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7" name="Oval 6">
            <a:extLst>
              <a:ext uri="{FF2B5EF4-FFF2-40B4-BE49-F238E27FC236}">
                <a16:creationId xmlns:a16="http://schemas.microsoft.com/office/drawing/2014/main" id="{AC68AF65-B6A6-77BE-466A-85712596BD59}"/>
              </a:ext>
            </a:extLst>
          </p:cNvPr>
          <p:cNvSpPr/>
          <p:nvPr/>
        </p:nvSpPr>
        <p:spPr bwMode="auto">
          <a:xfrm>
            <a:off x="588262" y="3046691"/>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8" name="Oval 7">
            <a:extLst>
              <a:ext uri="{FF2B5EF4-FFF2-40B4-BE49-F238E27FC236}">
                <a16:creationId xmlns:a16="http://schemas.microsoft.com/office/drawing/2014/main" id="{6C2E4E00-21E2-F613-0373-501D36E864F4}"/>
              </a:ext>
            </a:extLst>
          </p:cNvPr>
          <p:cNvSpPr/>
          <p:nvPr/>
        </p:nvSpPr>
        <p:spPr bwMode="auto">
          <a:xfrm>
            <a:off x="588262" y="3731475"/>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4</a:t>
            </a:r>
          </a:p>
        </p:txBody>
      </p:sp>
      <p:sp>
        <p:nvSpPr>
          <p:cNvPr id="9" name="Oval 8">
            <a:extLst>
              <a:ext uri="{FF2B5EF4-FFF2-40B4-BE49-F238E27FC236}">
                <a16:creationId xmlns:a16="http://schemas.microsoft.com/office/drawing/2014/main" id="{0ED0E37A-E561-94B8-D076-E08B677C1608}"/>
              </a:ext>
            </a:extLst>
          </p:cNvPr>
          <p:cNvSpPr/>
          <p:nvPr/>
        </p:nvSpPr>
        <p:spPr bwMode="auto">
          <a:xfrm>
            <a:off x="588262" y="4416259"/>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5</a:t>
            </a:r>
          </a:p>
        </p:txBody>
      </p:sp>
    </p:spTree>
    <p:extLst>
      <p:ext uri="{BB962C8B-B14F-4D97-AF65-F5344CB8AC3E}">
        <p14:creationId xmlns:p14="http://schemas.microsoft.com/office/powerpoint/2010/main" val="411841573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A9170-CF83-A88F-96BE-AFCF735DE7C1}"/>
              </a:ext>
            </a:extLst>
          </p:cNvPr>
          <p:cNvSpPr>
            <a:spLocks noGrp="1"/>
          </p:cNvSpPr>
          <p:nvPr>
            <p:ph type="title"/>
          </p:nvPr>
        </p:nvSpPr>
        <p:spPr/>
        <p:txBody>
          <a:bodyPr/>
          <a:lstStyle/>
          <a:p>
            <a:r>
              <a:rPr lang="en-US" sz="3200" dirty="0"/>
              <a:t>Add tools to AI agents</a:t>
            </a:r>
          </a:p>
        </p:txBody>
      </p:sp>
      <p:sp>
        <p:nvSpPr>
          <p:cNvPr id="6" name="Text Placeholder 5">
            <a:extLst>
              <a:ext uri="{FF2B5EF4-FFF2-40B4-BE49-F238E27FC236}">
                <a16:creationId xmlns:a16="http://schemas.microsoft.com/office/drawing/2014/main" id="{99901F45-56E3-0798-F793-EDF7C67DC3F3}"/>
              </a:ext>
            </a:extLst>
          </p:cNvPr>
          <p:cNvSpPr>
            <a:spLocks noGrp="1"/>
          </p:cNvSpPr>
          <p:nvPr>
            <p:ph type="body" sz="quarter" idx="16"/>
          </p:nvPr>
        </p:nvSpPr>
        <p:spPr>
          <a:xfrm>
            <a:off x="584200" y="1594155"/>
            <a:ext cx="5219700" cy="307777"/>
          </a:xfrm>
        </p:spPr>
        <p:txBody>
          <a:bodyPr/>
          <a:lstStyle/>
          <a:p>
            <a:r>
              <a:rPr lang="en-US" sz="2000" dirty="0"/>
              <a:t>Built-in tools</a:t>
            </a:r>
          </a:p>
        </p:txBody>
      </p:sp>
      <p:sp>
        <p:nvSpPr>
          <p:cNvPr id="7" name="Text Placeholder 6">
            <a:extLst>
              <a:ext uri="{FF2B5EF4-FFF2-40B4-BE49-F238E27FC236}">
                <a16:creationId xmlns:a16="http://schemas.microsoft.com/office/drawing/2014/main" id="{0F10DC2D-8CFF-8E52-11AE-6FBC6FD1BE6F}"/>
              </a:ext>
            </a:extLst>
          </p:cNvPr>
          <p:cNvSpPr>
            <a:spLocks noGrp="1"/>
          </p:cNvSpPr>
          <p:nvPr>
            <p:ph type="body" sz="quarter" idx="19"/>
          </p:nvPr>
        </p:nvSpPr>
        <p:spPr>
          <a:xfrm>
            <a:off x="5560473" y="1594155"/>
            <a:ext cx="5219700" cy="615553"/>
          </a:xfrm>
        </p:spPr>
        <p:txBody>
          <a:bodyPr/>
          <a:lstStyle/>
          <a:p>
            <a:r>
              <a:rPr lang="en-US" sz="2000" b="1" dirty="0"/>
              <a:t>Custom function tools</a:t>
            </a:r>
          </a:p>
          <a:p>
            <a:endParaRPr lang="en-US" sz="2000" dirty="0"/>
          </a:p>
        </p:txBody>
      </p:sp>
      <p:sp>
        <p:nvSpPr>
          <p:cNvPr id="3" name="Footer Placeholder 2">
            <a:extLst>
              <a:ext uri="{FF2B5EF4-FFF2-40B4-BE49-F238E27FC236}">
                <a16:creationId xmlns:a16="http://schemas.microsoft.com/office/drawing/2014/main" id="{9FFFF213-7BB2-E6CC-9B20-57C6399BE3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9" name="RetrievalCard">
            <a:extLst>
              <a:ext uri="{FF2B5EF4-FFF2-40B4-BE49-F238E27FC236}">
                <a16:creationId xmlns:a16="http://schemas.microsoft.com/office/drawing/2014/main" id="{9C358D5B-8961-A94F-1A0E-C411A09A4C12}"/>
              </a:ext>
            </a:extLst>
          </p:cNvPr>
          <p:cNvSpPr/>
          <p:nvPr/>
        </p:nvSpPr>
        <p:spPr>
          <a:xfrm>
            <a:off x="579437" y="2258900"/>
            <a:ext cx="3946263" cy="911506"/>
          </a:xfrm>
          <a:prstGeom prst="roundRect">
            <a:avLst>
              <a:gd name="adj" fmla="val 12000"/>
            </a:avLst>
          </a:prstGeom>
          <a:solidFill>
            <a:srgbClr val="F8F8F8"/>
          </a:solidFill>
          <a:ln w="9525">
            <a:solidFill>
              <a:srgbClr val="DEDEDE"/>
            </a:solidFill>
          </a:ln>
        </p:spPr>
        <p:txBody>
          <a:bodyPr anchor="b"/>
          <a:lstStyle/>
          <a:p>
            <a:r>
              <a:rPr lang="en-US" sz="1600" noProof="0" dirty="0">
                <a:solidFill>
                  <a:schemeClr val="accent1"/>
                </a:solidFill>
                <a:latin typeface="+mj-lt"/>
              </a:rPr>
              <a:t>Code </a:t>
            </a:r>
            <a:r>
              <a:rPr lang="en-US" sz="1600" noProof="0" dirty="0" err="1">
                <a:solidFill>
                  <a:schemeClr val="accent1"/>
                </a:solidFill>
                <a:latin typeface="+mj-lt"/>
              </a:rPr>
              <a:t>interpeter</a:t>
            </a:r>
            <a:endParaRPr lang="en-US" sz="1600" noProof="0" dirty="0">
              <a:solidFill>
                <a:schemeClr val="accent1"/>
              </a:solidFill>
              <a:latin typeface="+mj-lt"/>
            </a:endParaRPr>
          </a:p>
          <a:p>
            <a:r>
              <a:rPr lang="en-US" sz="1400" dirty="0"/>
              <a:t>Executes Python code for calculations, data analysis, and more</a:t>
            </a:r>
            <a:endParaRPr lang="en-US" sz="1600" noProof="0" dirty="0">
              <a:solidFill>
                <a:schemeClr val="tx1">
                  <a:lumMod val="50000"/>
                  <a:lumOff val="50000"/>
                </a:schemeClr>
              </a:solidFill>
              <a:latin typeface="+mj-lt"/>
            </a:endParaRPr>
          </a:p>
        </p:txBody>
      </p:sp>
      <p:sp>
        <p:nvSpPr>
          <p:cNvPr id="10" name="RetrievalCard">
            <a:extLst>
              <a:ext uri="{FF2B5EF4-FFF2-40B4-BE49-F238E27FC236}">
                <a16:creationId xmlns:a16="http://schemas.microsoft.com/office/drawing/2014/main" id="{53EF16F3-3C81-8F3E-8A32-99A8AB4B239A}"/>
              </a:ext>
            </a:extLst>
          </p:cNvPr>
          <p:cNvSpPr/>
          <p:nvPr/>
        </p:nvSpPr>
        <p:spPr>
          <a:xfrm>
            <a:off x="586389" y="3299188"/>
            <a:ext cx="3946263" cy="911506"/>
          </a:xfrm>
          <a:prstGeom prst="roundRect">
            <a:avLst>
              <a:gd name="adj" fmla="val 12000"/>
            </a:avLst>
          </a:prstGeom>
          <a:solidFill>
            <a:srgbClr val="F8F8F8"/>
          </a:solidFill>
          <a:ln w="9525">
            <a:solidFill>
              <a:srgbClr val="DEDEDE"/>
            </a:solidFill>
          </a:ln>
        </p:spPr>
        <p:txBody>
          <a:bodyPr anchor="b"/>
          <a:lstStyle/>
          <a:p>
            <a:r>
              <a:rPr lang="en-US" sz="1600" noProof="0" dirty="0">
                <a:solidFill>
                  <a:schemeClr val="accent1"/>
                </a:solidFill>
                <a:latin typeface="+mj-lt"/>
              </a:rPr>
              <a:t>File search</a:t>
            </a:r>
          </a:p>
          <a:p>
            <a:r>
              <a:rPr lang="en-US" sz="1400" dirty="0"/>
              <a:t>Searches through and analyzes documents</a:t>
            </a:r>
            <a:endParaRPr lang="en-US" sz="1400" noProof="0" dirty="0">
              <a:solidFill>
                <a:schemeClr val="tx1">
                  <a:lumMod val="50000"/>
                  <a:lumOff val="50000"/>
                </a:schemeClr>
              </a:solidFill>
              <a:latin typeface="+mj-lt"/>
            </a:endParaRPr>
          </a:p>
        </p:txBody>
      </p:sp>
      <p:sp>
        <p:nvSpPr>
          <p:cNvPr id="11" name="RetrievalCard">
            <a:extLst>
              <a:ext uri="{FF2B5EF4-FFF2-40B4-BE49-F238E27FC236}">
                <a16:creationId xmlns:a16="http://schemas.microsoft.com/office/drawing/2014/main" id="{8BD8B9F5-BA90-ACEB-277C-8DBDE408A926}"/>
              </a:ext>
            </a:extLst>
          </p:cNvPr>
          <p:cNvSpPr/>
          <p:nvPr/>
        </p:nvSpPr>
        <p:spPr>
          <a:xfrm>
            <a:off x="579437" y="4340937"/>
            <a:ext cx="3946263" cy="911506"/>
          </a:xfrm>
          <a:prstGeom prst="roundRect">
            <a:avLst>
              <a:gd name="adj" fmla="val 12000"/>
            </a:avLst>
          </a:prstGeom>
          <a:solidFill>
            <a:srgbClr val="F8F8F8"/>
          </a:solidFill>
          <a:ln w="9525">
            <a:solidFill>
              <a:srgbClr val="DEDEDE"/>
            </a:solidFill>
          </a:ln>
        </p:spPr>
        <p:txBody>
          <a:bodyPr anchor="b"/>
          <a:lstStyle/>
          <a:p>
            <a:r>
              <a:rPr lang="en-US" sz="1600" noProof="0" dirty="0">
                <a:solidFill>
                  <a:schemeClr val="accent1"/>
                </a:solidFill>
                <a:latin typeface="+mj-lt"/>
              </a:rPr>
              <a:t>Web search</a:t>
            </a:r>
          </a:p>
          <a:p>
            <a:r>
              <a:rPr lang="en-US" sz="1400" dirty="0"/>
              <a:t>Retrieves information from the internet</a:t>
            </a:r>
            <a:endParaRPr lang="en-US" sz="1600" noProof="0" dirty="0">
              <a:solidFill>
                <a:schemeClr val="tx1">
                  <a:lumMod val="50000"/>
                  <a:lumOff val="50000"/>
                </a:schemeClr>
              </a:solidFill>
              <a:latin typeface="+mj-lt"/>
            </a:endParaRPr>
          </a:p>
        </p:txBody>
      </p:sp>
      <p:sp>
        <p:nvSpPr>
          <p:cNvPr id="14" name="RetrievalCard">
            <a:extLst>
              <a:ext uri="{FF2B5EF4-FFF2-40B4-BE49-F238E27FC236}">
                <a16:creationId xmlns:a16="http://schemas.microsoft.com/office/drawing/2014/main" id="{3AAC4809-E80A-D341-50A8-904265CF1672}"/>
              </a:ext>
            </a:extLst>
          </p:cNvPr>
          <p:cNvSpPr/>
          <p:nvPr/>
        </p:nvSpPr>
        <p:spPr>
          <a:xfrm>
            <a:off x="5560473" y="2209708"/>
            <a:ext cx="6045134" cy="750517"/>
          </a:xfrm>
          <a:prstGeom prst="roundRect">
            <a:avLst>
              <a:gd name="adj" fmla="val 12000"/>
            </a:avLst>
          </a:prstGeom>
          <a:solidFill>
            <a:srgbClr val="F8F8F8"/>
          </a:solidFill>
          <a:ln w="9525">
            <a:solidFill>
              <a:srgbClr val="DEDEDE"/>
            </a:solidFill>
          </a:ln>
        </p:spPr>
        <p:txBody>
          <a:bodyPr anchor="ctr"/>
          <a:lstStyle/>
          <a:p>
            <a:r>
              <a:rPr lang="en-US" sz="1600" dirty="0"/>
              <a:t>Create a custom function tool by defining a Python function and decorating it with the </a:t>
            </a:r>
            <a:r>
              <a:rPr lang="en-US" sz="1600" dirty="0">
                <a:solidFill>
                  <a:schemeClr val="accent2"/>
                </a:solidFill>
                <a:latin typeface="Consolas" panose="020B0609020204030204" pitchFamily="49" charset="0"/>
                <a:cs typeface="Consolas" panose="020B0609020204030204" pitchFamily="49" charset="0"/>
              </a:rPr>
              <a:t>@tool </a:t>
            </a:r>
            <a:r>
              <a:rPr lang="en-US" sz="1600" dirty="0">
                <a:solidFill>
                  <a:schemeClr val="accent2"/>
                </a:solidFill>
              </a:rPr>
              <a:t>decorator </a:t>
            </a:r>
            <a:endParaRPr lang="en-US" sz="1400" dirty="0">
              <a:solidFill>
                <a:schemeClr val="accent2"/>
              </a:solidFill>
            </a:endParaRPr>
          </a:p>
        </p:txBody>
      </p:sp>
      <p:cxnSp>
        <p:nvCxnSpPr>
          <p:cNvPr id="16" name="Straight Connector 15">
            <a:extLst>
              <a:ext uri="{FF2B5EF4-FFF2-40B4-BE49-F238E27FC236}">
                <a16:creationId xmlns:a16="http://schemas.microsoft.com/office/drawing/2014/main" id="{F8FB53D3-CFE8-3E3A-5E1A-CBA1D23E19E2}"/>
              </a:ext>
            </a:extLst>
          </p:cNvPr>
          <p:cNvCxnSpPr/>
          <p:nvPr/>
        </p:nvCxnSpPr>
        <p:spPr>
          <a:xfrm>
            <a:off x="5046562" y="1493134"/>
            <a:ext cx="0" cy="4421529"/>
          </a:xfrm>
          <a:prstGeom prst="line">
            <a:avLst/>
          </a:prstGeom>
          <a:ln w="28575">
            <a:headEnd type="none" w="lg" len="med"/>
            <a:tailEnd type="none" w="lg" len="med"/>
          </a:ln>
        </p:spPr>
        <p:style>
          <a:lnRef idx="3">
            <a:schemeClr val="dk1"/>
          </a:lnRef>
          <a:fillRef idx="0">
            <a:schemeClr val="dk1"/>
          </a:fillRef>
          <a:effectRef idx="2">
            <a:schemeClr val="dk1"/>
          </a:effectRef>
          <a:fontRef idx="minor">
            <a:schemeClr val="tx1"/>
          </a:fontRef>
        </p:style>
      </p:cxnSp>
      <p:sp>
        <p:nvSpPr>
          <p:cNvPr id="17" name="RetrievalCard">
            <a:extLst>
              <a:ext uri="{FF2B5EF4-FFF2-40B4-BE49-F238E27FC236}">
                <a16:creationId xmlns:a16="http://schemas.microsoft.com/office/drawing/2014/main" id="{4E212837-9E43-E874-A7B2-AE88054720E7}"/>
              </a:ext>
            </a:extLst>
          </p:cNvPr>
          <p:cNvSpPr/>
          <p:nvPr/>
        </p:nvSpPr>
        <p:spPr>
          <a:xfrm>
            <a:off x="5560473" y="3053741"/>
            <a:ext cx="6045134" cy="750517"/>
          </a:xfrm>
          <a:prstGeom prst="roundRect">
            <a:avLst>
              <a:gd name="adj" fmla="val 12000"/>
            </a:avLst>
          </a:prstGeom>
          <a:solidFill>
            <a:srgbClr val="F8F8F8"/>
          </a:solidFill>
          <a:ln w="9525">
            <a:solidFill>
              <a:srgbClr val="DEDEDE"/>
            </a:solidFill>
          </a:ln>
        </p:spPr>
        <p:txBody>
          <a:bodyPr anchor="ctr"/>
          <a:lstStyle/>
          <a:p>
            <a:r>
              <a:rPr lang="en-US" sz="1600" dirty="0"/>
              <a:t>Create your tool by </a:t>
            </a:r>
            <a:r>
              <a:rPr lang="en-US" sz="1600" dirty="0">
                <a:solidFill>
                  <a:schemeClr val="accent2"/>
                </a:solidFill>
              </a:rPr>
              <a:t>defining a regular Python function </a:t>
            </a:r>
            <a:r>
              <a:rPr lang="en-US" sz="1600" dirty="0"/>
              <a:t>with proper type </a:t>
            </a:r>
            <a:r>
              <a:rPr lang="en-US" sz="1600" dirty="0">
                <a:solidFill>
                  <a:schemeClr val="accent2"/>
                </a:solidFill>
              </a:rPr>
              <a:t>annotations</a:t>
            </a:r>
            <a:endParaRPr lang="en-US" sz="1200" dirty="0"/>
          </a:p>
        </p:txBody>
      </p:sp>
      <p:sp>
        <p:nvSpPr>
          <p:cNvPr id="18" name="RetrievalCard">
            <a:extLst>
              <a:ext uri="{FF2B5EF4-FFF2-40B4-BE49-F238E27FC236}">
                <a16:creationId xmlns:a16="http://schemas.microsoft.com/office/drawing/2014/main" id="{75735312-5823-E086-2F35-D39E23C777AA}"/>
              </a:ext>
            </a:extLst>
          </p:cNvPr>
          <p:cNvSpPr/>
          <p:nvPr/>
        </p:nvSpPr>
        <p:spPr>
          <a:xfrm>
            <a:off x="5560473" y="3897774"/>
            <a:ext cx="6045134" cy="750517"/>
          </a:xfrm>
          <a:prstGeom prst="roundRect">
            <a:avLst>
              <a:gd name="adj" fmla="val 12000"/>
            </a:avLst>
          </a:prstGeom>
          <a:solidFill>
            <a:srgbClr val="F8F8F8"/>
          </a:solidFill>
          <a:ln w="9525">
            <a:solidFill>
              <a:srgbClr val="DEDEDE"/>
            </a:solidFill>
          </a:ln>
        </p:spPr>
        <p:txBody>
          <a:bodyPr anchor="ctr"/>
          <a:lstStyle/>
          <a:p>
            <a:r>
              <a:rPr lang="en-US" sz="1600" dirty="0"/>
              <a:t>Pass your custom functions to the </a:t>
            </a:r>
            <a:r>
              <a:rPr lang="en-US" sz="1600" dirty="0" err="1">
                <a:solidFill>
                  <a:schemeClr val="accent2"/>
                </a:solidFill>
                <a:latin typeface="Consolas" panose="020B0609020204030204" pitchFamily="49" charset="0"/>
                <a:cs typeface="Consolas" panose="020B0609020204030204" pitchFamily="49" charset="0"/>
              </a:rPr>
              <a:t>ChatAgent</a:t>
            </a:r>
            <a:r>
              <a:rPr lang="en-US" sz="1600" dirty="0"/>
              <a:t> during creation using the </a:t>
            </a:r>
            <a:r>
              <a:rPr lang="en-US" sz="1600" dirty="0">
                <a:solidFill>
                  <a:schemeClr val="accent2"/>
                </a:solidFill>
                <a:latin typeface="Consolas" panose="020B0609020204030204" pitchFamily="49" charset="0"/>
                <a:cs typeface="Consolas" panose="020B0609020204030204" pitchFamily="49" charset="0"/>
              </a:rPr>
              <a:t>tools</a:t>
            </a:r>
            <a:r>
              <a:rPr lang="en-US" sz="1600" dirty="0"/>
              <a:t> parameter</a:t>
            </a:r>
            <a:endParaRPr lang="en-US" sz="1100" dirty="0"/>
          </a:p>
        </p:txBody>
      </p:sp>
      <p:sp>
        <p:nvSpPr>
          <p:cNvPr id="19" name="RetrievalCard">
            <a:extLst>
              <a:ext uri="{FF2B5EF4-FFF2-40B4-BE49-F238E27FC236}">
                <a16:creationId xmlns:a16="http://schemas.microsoft.com/office/drawing/2014/main" id="{E4F410F4-4B46-815C-6FE1-A6B73F0F62A9}"/>
              </a:ext>
            </a:extLst>
          </p:cNvPr>
          <p:cNvSpPr/>
          <p:nvPr/>
        </p:nvSpPr>
        <p:spPr>
          <a:xfrm>
            <a:off x="5567429" y="4927007"/>
            <a:ext cx="6045134" cy="999236"/>
          </a:xfrm>
          <a:prstGeom prst="roundRect">
            <a:avLst>
              <a:gd name="adj" fmla="val 12000"/>
            </a:avLst>
          </a:prstGeom>
          <a:solidFill>
            <a:srgbClr val="F2D7F3">
              <a:alpha val="50196"/>
            </a:srgbClr>
          </a:solidFill>
          <a:ln w="9525">
            <a:solidFill>
              <a:schemeClr val="accent2">
                <a:lumMod val="20000"/>
                <a:lumOff val="80000"/>
              </a:schemeClr>
            </a:solidFill>
          </a:ln>
        </p:spPr>
        <p:txBody>
          <a:bodyPr anchor="ctr"/>
          <a:lstStyle/>
          <a:p>
            <a:r>
              <a:rPr lang="en-US" sz="1600" dirty="0">
                <a:solidFill>
                  <a:schemeClr val="accent1"/>
                </a:solidFill>
              </a:rPr>
              <a:t>Once tools are registered, the AI agent automatically selects and orchestrates the appropriate tools based on user requests, without requiring manual invocation.</a:t>
            </a:r>
          </a:p>
        </p:txBody>
      </p:sp>
    </p:spTree>
    <p:extLst>
      <p:ext uri="{BB962C8B-B14F-4D97-AF65-F5344CB8AC3E}">
        <p14:creationId xmlns:p14="http://schemas.microsoft.com/office/powerpoint/2010/main" val="43178957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C1B8-547E-03E2-AB49-1D3BEA1B32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EA158A-DA1B-B595-09FC-3D1CA197D7AC}"/>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3DC7D3A3-E36A-6326-E8FF-5336E4D75C76}"/>
              </a:ext>
            </a:extLst>
          </p:cNvPr>
          <p:cNvSpPr>
            <a:spLocks noGrp="1"/>
          </p:cNvSpPr>
          <p:nvPr>
            <p:ph type="body" sz="quarter" idx="16"/>
          </p:nvPr>
        </p:nvSpPr>
        <p:spPr>
          <a:xfrm>
            <a:off x="584199" y="1594155"/>
            <a:ext cx="5654573" cy="307777"/>
          </a:xfrm>
        </p:spPr>
        <p:txBody>
          <a:bodyPr/>
          <a:lstStyle/>
          <a:p>
            <a:r>
              <a:rPr lang="en-US" sz="2000" dirty="0"/>
              <a:t>Develop an Azure AI agent</a:t>
            </a:r>
          </a:p>
        </p:txBody>
      </p:sp>
      <p:sp>
        <p:nvSpPr>
          <p:cNvPr id="6" name="Text Placeholder 5">
            <a:extLst>
              <a:ext uri="{FF2B5EF4-FFF2-40B4-BE49-F238E27FC236}">
                <a16:creationId xmlns:a16="http://schemas.microsoft.com/office/drawing/2014/main" id="{F3294628-6D4B-BEBB-81FD-689DBCC8D32D}"/>
              </a:ext>
            </a:extLst>
          </p:cNvPr>
          <p:cNvSpPr>
            <a:spLocks noGrp="1"/>
          </p:cNvSpPr>
          <p:nvPr>
            <p:ph type="body" sz="quarter" idx="15"/>
          </p:nvPr>
        </p:nvSpPr>
        <p:spPr>
          <a:xfrm>
            <a:off x="586389" y="2085764"/>
            <a:ext cx="5652201" cy="2265236"/>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Install the Microsoft AI Toolkit VS Code extension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Deploy a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Clone the starter code repository</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Write code for an agent app</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Run the app</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3D66BDA9-FDF2-8D7B-A709-9B85524518B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u="sng" dirty="0">
                <a:hlinkClick r:id="rId3"/>
              </a:rPr>
              <a:t>https://go.microsoft.com/fwlink/?linkid=2353605</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3AF16E76-2699-9319-F9CD-658C67D9797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FC61B0B7-874A-0231-8585-449219F3EA24}"/>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FB7587C8-48DC-B308-C572-B48271A5219B}"/>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19255122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7B236-A04D-AB45-A88A-BB16EE08B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82E22-48A1-F09F-191F-262E78960769}"/>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DD64E48D-0E8D-D9FC-B73E-CA377D2054B2}"/>
              </a:ext>
            </a:extLst>
          </p:cNvPr>
          <p:cNvSpPr>
            <a:spLocks noGrp="1"/>
          </p:cNvSpPr>
          <p:nvPr>
            <p:ph type="body" sz="quarter" idx="17"/>
          </p:nvPr>
        </p:nvSpPr>
        <p:spPr>
          <a:xfrm>
            <a:off x="1235075" y="2332142"/>
            <a:ext cx="8778782" cy="215444"/>
          </a:xfrm>
        </p:spPr>
        <p:txBody>
          <a:bodyPr/>
          <a:lstStyle/>
          <a:p>
            <a:r>
              <a:rPr lang="en-US" dirty="0"/>
              <a:t>What are the key steps to create a Microsoft Foundry Agent using the Microsoft Agent Framework?</a:t>
            </a:r>
            <a:endParaRPr lang="en-US" b="1" dirty="0"/>
          </a:p>
        </p:txBody>
      </p:sp>
      <p:sp>
        <p:nvSpPr>
          <p:cNvPr id="9" name="Text Placeholder 8">
            <a:extLst>
              <a:ext uri="{FF2B5EF4-FFF2-40B4-BE49-F238E27FC236}">
                <a16:creationId xmlns:a16="http://schemas.microsoft.com/office/drawing/2014/main" id="{9D5B806B-0121-95B7-058C-A8053B90EF53}"/>
              </a:ext>
            </a:extLst>
          </p:cNvPr>
          <p:cNvSpPr>
            <a:spLocks noGrp="1"/>
          </p:cNvSpPr>
          <p:nvPr>
            <p:ph type="body" sz="quarter" idx="15"/>
          </p:nvPr>
        </p:nvSpPr>
        <p:spPr>
          <a:xfrm>
            <a:off x="1235075" y="2613284"/>
            <a:ext cx="8775098" cy="947952"/>
          </a:xfrm>
          <a:noFill/>
        </p:spPr>
        <p:txBody>
          <a:bodyPr/>
          <a:lstStyle/>
          <a:p>
            <a:r>
              <a:rPr lang="en-US" dirty="0"/>
              <a:t>Deploy a custom AI model before creating an agent definition in the Azure portal </a:t>
            </a:r>
          </a:p>
          <a:p>
            <a:r>
              <a:rPr lang="en-US" dirty="0"/>
              <a:t>Initialize the agent by defining a model in the </a:t>
            </a:r>
            <a:r>
              <a:rPr lang="en-US" dirty="0" err="1">
                <a:latin typeface="Consolas" panose="020B0609020204030204" pitchFamily="49" charset="0"/>
                <a:cs typeface="Consolas" panose="020B0609020204030204" pitchFamily="49" charset="0"/>
              </a:rPr>
              <a:t>AgentThread</a:t>
            </a:r>
            <a:r>
              <a:rPr lang="en-US" dirty="0"/>
              <a:t> constructor </a:t>
            </a:r>
          </a:p>
          <a:p>
            <a:r>
              <a:rPr lang="en-US" dirty="0"/>
              <a:t>Create an </a:t>
            </a:r>
            <a:r>
              <a:rPr lang="en-US" dirty="0" err="1">
                <a:latin typeface="Consolas" panose="020B0609020204030204" pitchFamily="49" charset="0"/>
                <a:cs typeface="Consolas" panose="020B0609020204030204" pitchFamily="49" charset="0"/>
              </a:rPr>
              <a:t>AzureAIAgentClient</a:t>
            </a:r>
            <a:r>
              <a:rPr lang="en-US" dirty="0"/>
              <a:t>, define a </a:t>
            </a:r>
            <a:r>
              <a:rPr lang="en-US" dirty="0" err="1">
                <a:latin typeface="Consolas" panose="020B0609020204030204" pitchFamily="49" charset="0"/>
                <a:cs typeface="Consolas" panose="020B0609020204030204" pitchFamily="49" charset="0"/>
              </a:rPr>
              <a:t>ChatAgent</a:t>
            </a:r>
            <a:r>
              <a:rPr lang="en-US" dirty="0"/>
              <a:t> with instructions and tools, and create an </a:t>
            </a:r>
            <a:r>
              <a:rPr lang="en-US" dirty="0" err="1">
                <a:latin typeface="Consolas" panose="020B0609020204030204" pitchFamily="49" charset="0"/>
                <a:cs typeface="Consolas" panose="020B0609020204030204" pitchFamily="49" charset="0"/>
              </a:rPr>
              <a:t>AgentThread</a:t>
            </a:r>
            <a:endParaRPr lang="en-US" dirty="0">
              <a:effectLst/>
              <a:latin typeface="Consolas" panose="020B0609020204030204" pitchFamily="49" charset="0"/>
              <a:cs typeface="Consolas" panose="020B0609020204030204" pitchFamily="49" charset="0"/>
            </a:endParaRPr>
          </a:p>
        </p:txBody>
      </p:sp>
      <p:sp>
        <p:nvSpPr>
          <p:cNvPr id="18" name="Text Placeholder 17">
            <a:extLst>
              <a:ext uri="{FF2B5EF4-FFF2-40B4-BE49-F238E27FC236}">
                <a16:creationId xmlns:a16="http://schemas.microsoft.com/office/drawing/2014/main" id="{6E98D82E-5EB2-8939-12EE-CCA49F942F46}"/>
              </a:ext>
            </a:extLst>
          </p:cNvPr>
          <p:cNvSpPr>
            <a:spLocks noGrp="1"/>
          </p:cNvSpPr>
          <p:nvPr>
            <p:ph type="body" sz="quarter" idx="22"/>
          </p:nvPr>
        </p:nvSpPr>
        <p:spPr>
          <a:xfrm>
            <a:off x="1235075" y="4034002"/>
            <a:ext cx="8778782" cy="215444"/>
          </a:xfrm>
        </p:spPr>
        <p:txBody>
          <a:bodyPr/>
          <a:lstStyle/>
          <a:p>
            <a:r>
              <a:rPr lang="en-US" dirty="0"/>
              <a:t>Which component in the Microsoft Agent Framework manages conversation state and stores messages?</a:t>
            </a:r>
            <a:endParaRPr lang="en-US" noProof="0" dirty="0"/>
          </a:p>
        </p:txBody>
      </p:sp>
      <p:sp>
        <p:nvSpPr>
          <p:cNvPr id="19" name="Text Placeholder 18">
            <a:extLst>
              <a:ext uri="{FF2B5EF4-FFF2-40B4-BE49-F238E27FC236}">
                <a16:creationId xmlns:a16="http://schemas.microsoft.com/office/drawing/2014/main" id="{54B72FE1-C8C0-6A5C-72FB-1FD100C3B68B}"/>
              </a:ext>
            </a:extLst>
          </p:cNvPr>
          <p:cNvSpPr>
            <a:spLocks noGrp="1"/>
          </p:cNvSpPr>
          <p:nvPr>
            <p:ph type="body" sz="quarter" idx="23"/>
          </p:nvPr>
        </p:nvSpPr>
        <p:spPr>
          <a:xfrm>
            <a:off x="1235074" y="4286731"/>
            <a:ext cx="8775098" cy="732508"/>
          </a:xfrm>
        </p:spPr>
        <p:txBody>
          <a:bodyPr/>
          <a:lstStyle/>
          <a:p>
            <a:r>
              <a:rPr lang="en-US" dirty="0" err="1">
                <a:latin typeface="Consolas" panose="020B0609020204030204" pitchFamily="49" charset="0"/>
                <a:cs typeface="Consolas" panose="020B0609020204030204" pitchFamily="49" charset="0"/>
              </a:rPr>
              <a:t>AgentThread</a:t>
            </a:r>
            <a:r>
              <a:rPr lang="en-US" dirty="0">
                <a:latin typeface="Consolas" panose="020B0609020204030204" pitchFamily="49" charset="0"/>
                <a:cs typeface="Consolas" panose="020B0609020204030204" pitchFamily="49" charset="0"/>
              </a:rPr>
              <a:t> </a:t>
            </a:r>
          </a:p>
          <a:p>
            <a:r>
              <a:rPr lang="en-US" dirty="0" err="1">
                <a:latin typeface="Consolas" panose="020B0609020204030204" pitchFamily="49" charset="0"/>
                <a:cs typeface="Consolas" panose="020B0609020204030204" pitchFamily="49" charset="0"/>
              </a:rPr>
              <a:t>ChatAgent</a:t>
            </a:r>
            <a:r>
              <a:rPr lang="en-US" dirty="0">
                <a:latin typeface="Consolas" panose="020B0609020204030204" pitchFamily="49" charset="0"/>
                <a:cs typeface="Consolas" panose="020B0609020204030204" pitchFamily="49" charset="0"/>
              </a:rPr>
              <a:t> </a:t>
            </a:r>
          </a:p>
          <a:p>
            <a:r>
              <a:rPr lang="en-US" dirty="0" err="1">
                <a:latin typeface="Consolas" panose="020B0609020204030204" pitchFamily="49" charset="0"/>
                <a:cs typeface="Consolas" panose="020B0609020204030204" pitchFamily="49" charset="0"/>
              </a:rPr>
              <a:t>AzureAIAgentClient</a:t>
            </a:r>
            <a:endParaRPr lang="en-US" dirty="0">
              <a:latin typeface="Consolas" panose="020B0609020204030204" pitchFamily="49" charset="0"/>
              <a:cs typeface="Consolas" panose="020B0609020204030204" pitchFamily="49" charset="0"/>
            </a:endParaRPr>
          </a:p>
        </p:txBody>
      </p:sp>
      <p:sp>
        <p:nvSpPr>
          <p:cNvPr id="76" name="Oval 75">
            <a:extLst>
              <a:ext uri="{FF2B5EF4-FFF2-40B4-BE49-F238E27FC236}">
                <a16:creationId xmlns:a16="http://schemas.microsoft.com/office/drawing/2014/main" id="{1D2BBE7D-075D-C336-0612-48DF6F7C7BCC}"/>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69A779B2-FDED-E8D6-C2FB-56A3A475AAE3}"/>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77AF4C86-3F5D-4A37-99B7-6341643DCE43}"/>
              </a:ext>
              <a:ext uri="{C183D7F6-B498-43B3-948B-1728B52AA6E4}">
                <adec:decorative xmlns:adec="http://schemas.microsoft.com/office/drawing/2017/decorative" val="1"/>
              </a:ext>
            </a:extLst>
          </p:cNvPr>
          <p:cNvSpPr>
            <a:spLocks/>
          </p:cNvSpPr>
          <p:nvPr/>
        </p:nvSpPr>
        <p:spPr>
          <a:xfrm>
            <a:off x="1263852" y="43263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5DC4E12B-6E5D-A8D7-980C-5D95204668ED}"/>
              </a:ext>
              <a:ext uri="{C183D7F6-B498-43B3-948B-1728B52AA6E4}">
                <adec:decorative xmlns:adec="http://schemas.microsoft.com/office/drawing/2017/decorative" val="1"/>
              </a:ext>
            </a:extLst>
          </p:cNvPr>
          <p:cNvSpPr>
            <a:spLocks/>
          </p:cNvSpPr>
          <p:nvPr/>
        </p:nvSpPr>
        <p:spPr>
          <a:xfrm>
            <a:off x="1263852" y="314816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6DEC2FE-9CA5-C7C4-879A-EFD1D496A81E}"/>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241663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6FEE-8DDB-80E4-9A12-3DB8A84AF5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AB4E7B-3547-C560-6B83-E2BBB0E6537B}"/>
              </a:ext>
            </a:extLst>
          </p:cNvPr>
          <p:cNvSpPr>
            <a:spLocks noGrp="1"/>
          </p:cNvSpPr>
          <p:nvPr>
            <p:ph type="title"/>
          </p:nvPr>
        </p:nvSpPr>
        <p:spPr>
          <a:xfrm>
            <a:off x="569911" y="2338171"/>
            <a:ext cx="6345239" cy="1661993"/>
          </a:xfrm>
        </p:spPr>
        <p:txBody>
          <a:bodyPr/>
          <a:lstStyle/>
          <a:p>
            <a:r>
              <a:rPr lang="en-US" altLang="zh-CN" sz="3600" dirty="0"/>
              <a:t>Orchestrate a multi-agent solution using the Microsoft Agent Framework</a:t>
            </a:r>
            <a:endParaRPr lang="en-US" sz="3600" dirty="0"/>
          </a:p>
        </p:txBody>
      </p:sp>
      <p:sp>
        <p:nvSpPr>
          <p:cNvPr id="11" name="Footer Placeholder 10">
            <a:extLst>
              <a:ext uri="{FF2B5EF4-FFF2-40B4-BE49-F238E27FC236}">
                <a16:creationId xmlns:a16="http://schemas.microsoft.com/office/drawing/2014/main" id="{D62AFD1E-BDF1-749E-9781-EE5203320A3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Rectangle 1">
            <a:extLst>
              <a:ext uri="{FF2B5EF4-FFF2-40B4-BE49-F238E27FC236}">
                <a16:creationId xmlns:a16="http://schemas.microsoft.com/office/drawing/2014/main" id="{27DAA2A1-392E-98D6-2EA3-7AF18285370B}"/>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19CD4FC9-2F4C-B395-C497-609BD78CA090}"/>
              </a:ext>
            </a:extLst>
          </p:cNvPr>
          <p:cNvSpPr txBox="1"/>
          <p:nvPr/>
        </p:nvSpPr>
        <p:spPr>
          <a:xfrm>
            <a:off x="482825" y="4000164"/>
            <a:ext cx="6096000" cy="369332"/>
          </a:xfrm>
          <a:prstGeom prst="rect">
            <a:avLst/>
          </a:prstGeom>
          <a:noFill/>
        </p:spPr>
        <p:txBody>
          <a:bodyPr wrap="square">
            <a:spAutoFit/>
          </a:bodyPr>
          <a:lstStyle/>
          <a:p>
            <a:r>
              <a:rPr lang="en-US" sz="1770" dirty="0">
                <a:solidFill>
                  <a:schemeClr val="accent2"/>
                </a:solidFill>
              </a:rPr>
              <a:t>https://aka.ms/mslearn-agent-framework-multi-agent</a:t>
            </a:r>
          </a:p>
        </p:txBody>
      </p:sp>
    </p:spTree>
    <p:extLst>
      <p:ext uri="{BB962C8B-B14F-4D97-AF65-F5344CB8AC3E}">
        <p14:creationId xmlns:p14="http://schemas.microsoft.com/office/powerpoint/2010/main" val="191597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iagram of concurrent orchestration flow.">
            <a:extLst>
              <a:ext uri="{FF2B5EF4-FFF2-40B4-BE49-F238E27FC236}">
                <a16:creationId xmlns:a16="http://schemas.microsoft.com/office/drawing/2014/main" id="{C63DB0AE-424F-784F-3B41-A6A7EE90E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831437"/>
            <a:ext cx="9448800" cy="4445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7040F9-9AEE-CAEF-A643-6F5CC9B73DCE}"/>
              </a:ext>
            </a:extLst>
          </p:cNvPr>
          <p:cNvSpPr>
            <a:spLocks noGrp="1"/>
          </p:cNvSpPr>
          <p:nvPr>
            <p:ph type="title"/>
          </p:nvPr>
        </p:nvSpPr>
        <p:spPr>
          <a:xfrm>
            <a:off x="588262" y="585216"/>
            <a:ext cx="11013474" cy="492443"/>
          </a:xfrm>
        </p:spPr>
        <p:txBody>
          <a:bodyPr/>
          <a:lstStyle/>
          <a:p>
            <a:r>
              <a:rPr lang="en-US" sz="3200" b="1" dirty="0"/>
              <a:t>Use concurrent orchestration</a:t>
            </a:r>
            <a:endParaRPr lang="en-US" sz="3200" dirty="0"/>
          </a:p>
        </p:txBody>
      </p:sp>
      <p:sp>
        <p:nvSpPr>
          <p:cNvPr id="4" name="Footer Placeholder 3">
            <a:extLst>
              <a:ext uri="{FF2B5EF4-FFF2-40B4-BE49-F238E27FC236}">
                <a16:creationId xmlns:a16="http://schemas.microsoft.com/office/drawing/2014/main" id="{8177E4A0-AD36-4EE0-4F7B-88946E69550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3" name="Text Placeholder 5">
            <a:extLst>
              <a:ext uri="{FF2B5EF4-FFF2-40B4-BE49-F238E27FC236}">
                <a16:creationId xmlns:a16="http://schemas.microsoft.com/office/drawing/2014/main" id="{5B9BF09B-0858-2DC4-037B-386C63B3C642}"/>
              </a:ext>
            </a:extLst>
          </p:cNvPr>
          <p:cNvSpPr txBox="1">
            <a:spLocks/>
          </p:cNvSpPr>
          <p:nvPr/>
        </p:nvSpPr>
        <p:spPr>
          <a:xfrm>
            <a:off x="579438" y="3547395"/>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t">
              <a:buNone/>
            </a:pPr>
            <a:r>
              <a:rPr lang="en-US" sz="1800" b="1" dirty="0">
                <a:latin typeface="+mj-lt"/>
              </a:rPr>
              <a:t>Run tasks in parallel</a:t>
            </a:r>
          </a:p>
          <a:p>
            <a:pPr marL="0" indent="0" fontAlgn="t">
              <a:lnSpc>
                <a:spcPct val="150000"/>
              </a:lnSpc>
              <a:buNone/>
            </a:pPr>
            <a:r>
              <a:rPr lang="en-US" dirty="0"/>
              <a:t>Independent agents execute simultaneously </a:t>
            </a:r>
          </a:p>
          <a:p>
            <a:pPr marL="0" indent="0" fontAlgn="t">
              <a:buNone/>
            </a:pPr>
            <a:r>
              <a:rPr lang="en-US" dirty="0"/>
              <a:t>Results merged at completion </a:t>
            </a:r>
          </a:p>
          <a:p>
            <a:pPr marL="0" indent="0" fontAlgn="t">
              <a:buNone/>
            </a:pPr>
            <a:r>
              <a:rPr lang="en-US" dirty="0"/>
              <a:t>Optimized for speed</a:t>
            </a:r>
          </a:p>
          <a:p>
            <a:pPr marL="0" indent="0" fontAlgn="t">
              <a:buNone/>
            </a:pPr>
            <a:endParaRPr lang="en-US" sz="1800" b="1" dirty="0"/>
          </a:p>
        </p:txBody>
      </p:sp>
    </p:spTree>
    <p:extLst>
      <p:ext uri="{BB962C8B-B14F-4D97-AF65-F5344CB8AC3E}">
        <p14:creationId xmlns:p14="http://schemas.microsoft.com/office/powerpoint/2010/main" val="337927378"/>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FB26-9DFE-DE10-12EE-C041D70BA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F8141-58F4-F937-5211-274011AD32DC}"/>
              </a:ext>
            </a:extLst>
          </p:cNvPr>
          <p:cNvSpPr>
            <a:spLocks noGrp="1"/>
          </p:cNvSpPr>
          <p:nvPr>
            <p:ph type="title"/>
          </p:nvPr>
        </p:nvSpPr>
        <p:spPr>
          <a:xfrm>
            <a:off x="588262" y="585216"/>
            <a:ext cx="11013474" cy="492443"/>
          </a:xfrm>
        </p:spPr>
        <p:txBody>
          <a:bodyPr/>
          <a:lstStyle/>
          <a:p>
            <a:r>
              <a:rPr lang="en-US" sz="3200" b="1" dirty="0"/>
              <a:t>Use sequential orchestration</a:t>
            </a:r>
            <a:endParaRPr lang="en-US" sz="3200" dirty="0"/>
          </a:p>
        </p:txBody>
      </p:sp>
      <p:sp>
        <p:nvSpPr>
          <p:cNvPr id="4" name="Footer Placeholder 3">
            <a:extLst>
              <a:ext uri="{FF2B5EF4-FFF2-40B4-BE49-F238E27FC236}">
                <a16:creationId xmlns:a16="http://schemas.microsoft.com/office/drawing/2014/main" id="{83A2CC0A-3BCF-CD69-B4B6-165BADA3860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6148" name="Picture 4" descr="Diagram that shows sequential orchestration where agents process tasks in a defined pipeline order. Output flows from one agent to the next.">
            <a:extLst>
              <a:ext uri="{FF2B5EF4-FFF2-40B4-BE49-F238E27FC236}">
                <a16:creationId xmlns:a16="http://schemas.microsoft.com/office/drawing/2014/main" id="{0814EDDF-F3CF-C04C-29B2-4051AD487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1446" y="0"/>
            <a:ext cx="3913187"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5">
            <a:extLst>
              <a:ext uri="{FF2B5EF4-FFF2-40B4-BE49-F238E27FC236}">
                <a16:creationId xmlns:a16="http://schemas.microsoft.com/office/drawing/2014/main" id="{42986F76-8C01-B610-A0EC-57F17635DBC8}"/>
              </a:ext>
            </a:extLst>
          </p:cNvPr>
          <p:cNvSpPr txBox="1">
            <a:spLocks/>
          </p:cNvSpPr>
          <p:nvPr/>
        </p:nvSpPr>
        <p:spPr>
          <a:xfrm>
            <a:off x="579438" y="2564479"/>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t">
              <a:buNone/>
            </a:pPr>
            <a:r>
              <a:rPr lang="en-US" sz="1800" b="1" dirty="0">
                <a:latin typeface="+mj-lt"/>
              </a:rPr>
              <a:t>Step-by-step execution</a:t>
            </a:r>
          </a:p>
          <a:p>
            <a:pPr marL="0" indent="0" fontAlgn="t">
              <a:lnSpc>
                <a:spcPct val="150000"/>
              </a:lnSpc>
              <a:buNone/>
            </a:pPr>
            <a:r>
              <a:rPr lang="en-US" dirty="0"/>
              <a:t>Each step depends on the previous output </a:t>
            </a:r>
          </a:p>
          <a:p>
            <a:pPr marL="0" indent="0" fontAlgn="t">
              <a:buNone/>
            </a:pPr>
            <a:r>
              <a:rPr lang="en-US" dirty="0"/>
              <a:t>Predictable, ordered flow </a:t>
            </a:r>
          </a:p>
          <a:p>
            <a:pPr marL="0" indent="0" fontAlgn="t">
              <a:buNone/>
            </a:pPr>
            <a:r>
              <a:rPr lang="en-US" dirty="0"/>
              <a:t>Easy to reason about</a:t>
            </a:r>
          </a:p>
          <a:p>
            <a:pPr marL="0" indent="0" fontAlgn="t">
              <a:buNone/>
            </a:pPr>
            <a:endParaRPr lang="en-US" sz="1800" b="1" dirty="0"/>
          </a:p>
        </p:txBody>
      </p:sp>
    </p:spTree>
    <p:extLst>
      <p:ext uri="{BB962C8B-B14F-4D97-AF65-F5344CB8AC3E}">
        <p14:creationId xmlns:p14="http://schemas.microsoft.com/office/powerpoint/2010/main" val="278207271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7EBF-02E1-9E63-31CE-6A85AEEB6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B7895-8AC3-A248-5E81-EE25AC0E975A}"/>
              </a:ext>
            </a:extLst>
          </p:cNvPr>
          <p:cNvSpPr>
            <a:spLocks noGrp="1"/>
          </p:cNvSpPr>
          <p:nvPr>
            <p:ph type="title"/>
          </p:nvPr>
        </p:nvSpPr>
        <p:spPr>
          <a:xfrm>
            <a:off x="588262" y="585216"/>
            <a:ext cx="11013474" cy="492443"/>
          </a:xfrm>
        </p:spPr>
        <p:txBody>
          <a:bodyPr/>
          <a:lstStyle/>
          <a:p>
            <a:r>
              <a:rPr lang="en-US" sz="3200" b="1" dirty="0"/>
              <a:t>Use group chat orchestration</a:t>
            </a:r>
            <a:endParaRPr lang="en-US" sz="3200" dirty="0"/>
          </a:p>
        </p:txBody>
      </p:sp>
      <p:sp>
        <p:nvSpPr>
          <p:cNvPr id="4" name="Footer Placeholder 3">
            <a:extLst>
              <a:ext uri="{FF2B5EF4-FFF2-40B4-BE49-F238E27FC236}">
                <a16:creationId xmlns:a16="http://schemas.microsoft.com/office/drawing/2014/main" id="{BB4C8515-A78E-151D-4CDC-7EA9EE176E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8194" name="Picture 2" descr="Diagram that shows group chat orchestration where multiple agents participate in a managed conversation. A central chat manager coordinates the discussion flow.">
            <a:extLst>
              <a:ext uri="{FF2B5EF4-FFF2-40B4-BE49-F238E27FC236}">
                <a16:creationId xmlns:a16="http://schemas.microsoft.com/office/drawing/2014/main" id="{B3996C7D-8C35-2AAE-B0F7-2B6B2C14C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0246" y="1291830"/>
            <a:ext cx="8379508" cy="427433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5">
            <a:extLst>
              <a:ext uri="{FF2B5EF4-FFF2-40B4-BE49-F238E27FC236}">
                <a16:creationId xmlns:a16="http://schemas.microsoft.com/office/drawing/2014/main" id="{2A9E0E96-5BFD-1B2E-5F4E-7CE0304A4893}"/>
              </a:ext>
            </a:extLst>
          </p:cNvPr>
          <p:cNvSpPr txBox="1">
            <a:spLocks/>
          </p:cNvSpPr>
          <p:nvPr/>
        </p:nvSpPr>
        <p:spPr>
          <a:xfrm>
            <a:off x="579438" y="2564479"/>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t">
              <a:buNone/>
            </a:pPr>
            <a:r>
              <a:rPr lang="en-US" sz="1800" b="1" dirty="0">
                <a:latin typeface="+mj-lt"/>
              </a:rPr>
              <a:t>Collaborative agent reasoning</a:t>
            </a:r>
          </a:p>
          <a:p>
            <a:pPr marL="0" indent="0" fontAlgn="t">
              <a:lnSpc>
                <a:spcPct val="150000"/>
              </a:lnSpc>
              <a:buNone/>
            </a:pPr>
            <a:r>
              <a:rPr lang="en-US" dirty="0"/>
              <a:t>Agents share a common conversation </a:t>
            </a:r>
          </a:p>
          <a:p>
            <a:pPr marL="0" indent="0" fontAlgn="t">
              <a:buNone/>
            </a:pPr>
            <a:r>
              <a:rPr lang="en-US" dirty="0"/>
              <a:t>Control shifts dynamically </a:t>
            </a:r>
          </a:p>
          <a:p>
            <a:pPr marL="0" indent="0" fontAlgn="t">
              <a:buNone/>
            </a:pPr>
            <a:r>
              <a:rPr lang="en-US" dirty="0"/>
              <a:t>Best for brainstorming and synthesis</a:t>
            </a:r>
          </a:p>
          <a:p>
            <a:pPr marL="0" indent="0" fontAlgn="t">
              <a:buNone/>
            </a:pPr>
            <a:endParaRPr lang="en-US" sz="1800" b="1" dirty="0"/>
          </a:p>
        </p:txBody>
      </p:sp>
    </p:spTree>
    <p:extLst>
      <p:ext uri="{BB962C8B-B14F-4D97-AF65-F5344CB8AC3E}">
        <p14:creationId xmlns:p14="http://schemas.microsoft.com/office/powerpoint/2010/main" val="101948788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04914-61B5-80BE-19C0-EF1F3FCDA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FAFD6-2A3D-80AF-A792-02A57D053282}"/>
              </a:ext>
            </a:extLst>
          </p:cNvPr>
          <p:cNvSpPr>
            <a:spLocks noGrp="1"/>
          </p:cNvSpPr>
          <p:nvPr>
            <p:ph type="title"/>
          </p:nvPr>
        </p:nvSpPr>
        <p:spPr>
          <a:xfrm>
            <a:off x="588262" y="585216"/>
            <a:ext cx="11013474" cy="492443"/>
          </a:xfrm>
        </p:spPr>
        <p:txBody>
          <a:bodyPr/>
          <a:lstStyle/>
          <a:p>
            <a:r>
              <a:rPr lang="en-US" sz="3200" b="1" dirty="0"/>
              <a:t>Use handoff orchestration</a:t>
            </a:r>
            <a:endParaRPr lang="en-US" sz="3200" dirty="0"/>
          </a:p>
        </p:txBody>
      </p:sp>
      <p:sp>
        <p:nvSpPr>
          <p:cNvPr id="4" name="Footer Placeholder 3">
            <a:extLst>
              <a:ext uri="{FF2B5EF4-FFF2-40B4-BE49-F238E27FC236}">
                <a16:creationId xmlns:a16="http://schemas.microsoft.com/office/drawing/2014/main" id="{E0099170-6E95-6BE7-5F2A-F20EF6741BD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8196" name="Picture 4" descr="Diagram of handoff orchestration flow.">
            <a:extLst>
              <a:ext uri="{FF2B5EF4-FFF2-40B4-BE49-F238E27FC236}">
                <a16:creationId xmlns:a16="http://schemas.microsoft.com/office/drawing/2014/main" id="{46D38DF5-2CAF-F59F-3E2A-D742A1E44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514" y="1203216"/>
            <a:ext cx="6507222" cy="5118572"/>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5">
            <a:extLst>
              <a:ext uri="{FF2B5EF4-FFF2-40B4-BE49-F238E27FC236}">
                <a16:creationId xmlns:a16="http://schemas.microsoft.com/office/drawing/2014/main" id="{B10DC485-E838-7ABB-0458-AACD6E0F4680}"/>
              </a:ext>
            </a:extLst>
          </p:cNvPr>
          <p:cNvSpPr txBox="1">
            <a:spLocks/>
          </p:cNvSpPr>
          <p:nvPr/>
        </p:nvSpPr>
        <p:spPr>
          <a:xfrm>
            <a:off x="579438" y="2884850"/>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t">
              <a:buNone/>
            </a:pPr>
            <a:r>
              <a:rPr lang="en-US" sz="1800" b="1" dirty="0">
                <a:latin typeface="+mj-lt"/>
              </a:rPr>
              <a:t>Delegate by expertise</a:t>
            </a:r>
          </a:p>
          <a:p>
            <a:pPr marL="0" indent="0" fontAlgn="t">
              <a:lnSpc>
                <a:spcPct val="150000"/>
              </a:lnSpc>
              <a:buNone/>
            </a:pPr>
            <a:r>
              <a:rPr lang="en-US" dirty="0"/>
              <a:t>One agent transfers control to another</a:t>
            </a:r>
          </a:p>
          <a:p>
            <a:pPr marL="0" indent="0" fontAlgn="t">
              <a:buNone/>
            </a:pPr>
            <a:r>
              <a:rPr lang="en-US" dirty="0"/>
              <a:t>Clear ownership per stage</a:t>
            </a:r>
          </a:p>
          <a:p>
            <a:pPr marL="0" indent="0" fontAlgn="t">
              <a:buNone/>
            </a:pPr>
            <a:r>
              <a:rPr lang="en-US" dirty="0"/>
              <a:t>Ideal for role‑based workflows</a:t>
            </a:r>
          </a:p>
          <a:p>
            <a:pPr marL="0" indent="0" fontAlgn="t">
              <a:buNone/>
            </a:pPr>
            <a:endParaRPr lang="en-US" sz="1800" b="1" dirty="0"/>
          </a:p>
        </p:txBody>
      </p:sp>
    </p:spTree>
    <p:extLst>
      <p:ext uri="{BB962C8B-B14F-4D97-AF65-F5344CB8AC3E}">
        <p14:creationId xmlns:p14="http://schemas.microsoft.com/office/powerpoint/2010/main" val="160827601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55A35-D059-D4B3-2355-04EB2408F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AE7C7-215A-B9CB-1226-5BB63E262E1A}"/>
              </a:ext>
            </a:extLst>
          </p:cNvPr>
          <p:cNvSpPr>
            <a:spLocks noGrp="1"/>
          </p:cNvSpPr>
          <p:nvPr>
            <p:ph type="title"/>
          </p:nvPr>
        </p:nvSpPr>
        <p:spPr>
          <a:xfrm>
            <a:off x="588262" y="585216"/>
            <a:ext cx="11013474" cy="492443"/>
          </a:xfrm>
        </p:spPr>
        <p:txBody>
          <a:bodyPr/>
          <a:lstStyle/>
          <a:p>
            <a:r>
              <a:rPr lang="en-US" sz="3200" b="1" dirty="0"/>
              <a:t>Use </a:t>
            </a:r>
            <a:r>
              <a:rPr lang="en-US" sz="3200" b="1" dirty="0" err="1"/>
              <a:t>Magentic</a:t>
            </a:r>
            <a:r>
              <a:rPr lang="en-US" sz="3200" b="1" dirty="0"/>
              <a:t> orchestration</a:t>
            </a:r>
            <a:endParaRPr lang="en-US" sz="3200" dirty="0"/>
          </a:p>
        </p:txBody>
      </p:sp>
      <p:sp>
        <p:nvSpPr>
          <p:cNvPr id="4" name="Footer Placeholder 3">
            <a:extLst>
              <a:ext uri="{FF2B5EF4-FFF2-40B4-BE49-F238E27FC236}">
                <a16:creationId xmlns:a16="http://schemas.microsoft.com/office/drawing/2014/main" id="{DAE66C20-3B1A-8F9D-DD5F-6ACA9EEC863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11266" name="Picture 2" descr="Diagram of Magentic orchestration flow.">
            <a:extLst>
              <a:ext uri="{FF2B5EF4-FFF2-40B4-BE49-F238E27FC236}">
                <a16:creationId xmlns:a16="http://schemas.microsoft.com/office/drawing/2014/main" id="{77CE4D7D-6C38-C2E8-8993-51FD6BD33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203" y="1268889"/>
            <a:ext cx="7519533" cy="496096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5">
            <a:extLst>
              <a:ext uri="{FF2B5EF4-FFF2-40B4-BE49-F238E27FC236}">
                <a16:creationId xmlns:a16="http://schemas.microsoft.com/office/drawing/2014/main" id="{D7295C7F-4D38-F738-C948-CE6FFE0CE0FF}"/>
              </a:ext>
            </a:extLst>
          </p:cNvPr>
          <p:cNvSpPr txBox="1">
            <a:spLocks/>
          </p:cNvSpPr>
          <p:nvPr/>
        </p:nvSpPr>
        <p:spPr>
          <a:xfrm>
            <a:off x="579438" y="2564479"/>
            <a:ext cx="3368448" cy="2573578"/>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t">
              <a:buNone/>
            </a:pPr>
            <a:r>
              <a:rPr lang="en-US" sz="1800" b="1" dirty="0">
                <a:latin typeface="+mj-lt"/>
              </a:rPr>
              <a:t>Adaptive, emergent collaboration</a:t>
            </a:r>
          </a:p>
          <a:p>
            <a:pPr marL="0" indent="0" fontAlgn="t">
              <a:lnSpc>
                <a:spcPct val="150000"/>
              </a:lnSpc>
              <a:buNone/>
            </a:pPr>
            <a:r>
              <a:rPr lang="en-US" dirty="0"/>
              <a:t>No fixed execution order</a:t>
            </a:r>
          </a:p>
          <a:p>
            <a:pPr marL="0" indent="0" fontAlgn="t">
              <a:buNone/>
            </a:pPr>
            <a:r>
              <a:rPr lang="en-US" dirty="0"/>
              <a:t>Agents self-organize</a:t>
            </a:r>
          </a:p>
          <a:p>
            <a:pPr marL="0" indent="0" fontAlgn="t">
              <a:buNone/>
            </a:pPr>
            <a:r>
              <a:rPr lang="en-US" dirty="0"/>
              <a:t>Suited for complex, open-ended problems</a:t>
            </a:r>
          </a:p>
          <a:p>
            <a:pPr marL="0" indent="0" fontAlgn="t">
              <a:buNone/>
            </a:pPr>
            <a:endParaRPr lang="en-US" sz="1800" b="1" dirty="0"/>
          </a:p>
        </p:txBody>
      </p:sp>
    </p:spTree>
    <p:extLst>
      <p:ext uri="{BB962C8B-B14F-4D97-AF65-F5344CB8AC3E}">
        <p14:creationId xmlns:p14="http://schemas.microsoft.com/office/powerpoint/2010/main" val="20423874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0DC8-7818-8D56-C3CB-AED9D2C0DF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BCE3509-A6F0-63F4-A1CD-155123E53DB2}"/>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A96E72BB-281F-E529-1764-B748CA3C30F5}"/>
              </a:ext>
            </a:extLst>
          </p:cNvPr>
          <p:cNvSpPr>
            <a:spLocks noGrp="1"/>
          </p:cNvSpPr>
          <p:nvPr>
            <p:ph type="body" sz="quarter" idx="16"/>
          </p:nvPr>
        </p:nvSpPr>
        <p:spPr>
          <a:xfrm>
            <a:off x="584199" y="1594155"/>
            <a:ext cx="5654573" cy="307777"/>
          </a:xfrm>
        </p:spPr>
        <p:txBody>
          <a:bodyPr/>
          <a:lstStyle/>
          <a:p>
            <a:r>
              <a:rPr lang="en-US" sz="2000" dirty="0"/>
              <a:t>Develop a multi-agent solution</a:t>
            </a:r>
          </a:p>
        </p:txBody>
      </p:sp>
      <p:sp>
        <p:nvSpPr>
          <p:cNvPr id="6" name="Text Placeholder 5">
            <a:extLst>
              <a:ext uri="{FF2B5EF4-FFF2-40B4-BE49-F238E27FC236}">
                <a16:creationId xmlns:a16="http://schemas.microsoft.com/office/drawing/2014/main" id="{3C764BFB-18AB-EFFB-16F5-05CA068C877F}"/>
              </a:ext>
            </a:extLst>
          </p:cNvPr>
          <p:cNvSpPr>
            <a:spLocks noGrp="1"/>
          </p:cNvSpPr>
          <p:nvPr>
            <p:ph type="body" sz="quarter" idx="15"/>
          </p:nvPr>
        </p:nvSpPr>
        <p:spPr>
          <a:xfrm>
            <a:off x="586389" y="2085764"/>
            <a:ext cx="5652201" cy="2265236"/>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Install the Microsoft AI Toolkit VS Code extension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Deploy a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Create AI agents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Create a sequential orchestration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Run the app</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0E1C9BA8-ACF3-A338-1C40-08130E711DE6}"/>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u="sng" dirty="0">
                <a:hlinkClick r:id="rId3"/>
              </a:rPr>
              <a:t>https://go.microsoft.com/fwlink/?linkid=2353606</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B9031587-8CC3-E76F-423D-61F63CF5E8E1}"/>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FD6344ED-7C4C-3BD9-EBDA-7CC913412CEE}"/>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F845CB51-475B-53AB-5545-8E9684CCD8E8}"/>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30394762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74060-5B9E-C65C-EE7D-C1D3DF51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DB3E8-F3E7-071D-94AE-D662C0F9AF5E}"/>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83BE9F0B-B50C-8A5F-2958-271376AC1D54}"/>
              </a:ext>
            </a:extLst>
          </p:cNvPr>
          <p:cNvSpPr>
            <a:spLocks noGrp="1"/>
          </p:cNvSpPr>
          <p:nvPr>
            <p:ph type="body" sz="quarter" idx="17"/>
          </p:nvPr>
        </p:nvSpPr>
        <p:spPr>
          <a:xfrm>
            <a:off x="1235075" y="2332142"/>
            <a:ext cx="8778782" cy="215444"/>
          </a:xfrm>
        </p:spPr>
        <p:txBody>
          <a:bodyPr/>
          <a:lstStyle/>
          <a:p>
            <a:r>
              <a:rPr lang="en-US" dirty="0"/>
              <a:t>What's the first step in the Microsoft Agent Framework's unified orchestration workflow?</a:t>
            </a:r>
            <a:endParaRPr lang="en-US" b="1" dirty="0"/>
          </a:p>
        </p:txBody>
      </p:sp>
      <p:sp>
        <p:nvSpPr>
          <p:cNvPr id="9" name="Text Placeholder 8">
            <a:extLst>
              <a:ext uri="{FF2B5EF4-FFF2-40B4-BE49-F238E27FC236}">
                <a16:creationId xmlns:a16="http://schemas.microsoft.com/office/drawing/2014/main" id="{5119C361-696B-E89D-91E1-9AD8AC3E8276}"/>
              </a:ext>
            </a:extLst>
          </p:cNvPr>
          <p:cNvSpPr>
            <a:spLocks noGrp="1"/>
          </p:cNvSpPr>
          <p:nvPr>
            <p:ph type="body" sz="quarter" idx="15"/>
          </p:nvPr>
        </p:nvSpPr>
        <p:spPr>
          <a:xfrm>
            <a:off x="1235075" y="2613284"/>
            <a:ext cx="8775098" cy="732508"/>
          </a:xfrm>
          <a:noFill/>
        </p:spPr>
        <p:txBody>
          <a:bodyPr/>
          <a:lstStyle/>
          <a:p>
            <a:r>
              <a:rPr lang="en-US" dirty="0"/>
              <a:t>Select and create an orchestration pattern </a:t>
            </a:r>
          </a:p>
          <a:p>
            <a:r>
              <a:rPr lang="en-US" dirty="0"/>
              <a:t>Define your agents and describe their capabilities </a:t>
            </a:r>
          </a:p>
          <a:p>
            <a:r>
              <a:rPr lang="en-US" dirty="0"/>
              <a:t>Start a runtime to manage execution</a:t>
            </a:r>
            <a:endParaRPr lang="en-US" dirty="0">
              <a:effectLst/>
              <a:latin typeface="Consolas" panose="020B0609020204030204" pitchFamily="49" charset="0"/>
              <a:cs typeface="Consolas" panose="020B0609020204030204" pitchFamily="49" charset="0"/>
            </a:endParaRPr>
          </a:p>
        </p:txBody>
      </p:sp>
      <p:sp>
        <p:nvSpPr>
          <p:cNvPr id="18" name="Text Placeholder 17">
            <a:extLst>
              <a:ext uri="{FF2B5EF4-FFF2-40B4-BE49-F238E27FC236}">
                <a16:creationId xmlns:a16="http://schemas.microsoft.com/office/drawing/2014/main" id="{D591CAF5-4668-243B-6E16-3195D1EDFCD3}"/>
              </a:ext>
            </a:extLst>
          </p:cNvPr>
          <p:cNvSpPr>
            <a:spLocks noGrp="1"/>
          </p:cNvSpPr>
          <p:nvPr>
            <p:ph type="body" sz="quarter" idx="22"/>
          </p:nvPr>
        </p:nvSpPr>
        <p:spPr>
          <a:xfrm>
            <a:off x="1235075" y="4034002"/>
            <a:ext cx="8778782" cy="430887"/>
          </a:xfrm>
        </p:spPr>
        <p:txBody>
          <a:bodyPr/>
          <a:lstStyle/>
          <a:p>
            <a:r>
              <a:rPr lang="en-US" dirty="0"/>
              <a:t>For brainstorming and collaborative problem solving among multiple agents, which orchestration pattern is most suitable?</a:t>
            </a:r>
            <a:endParaRPr lang="en-US" noProof="0" dirty="0"/>
          </a:p>
        </p:txBody>
      </p:sp>
      <p:sp>
        <p:nvSpPr>
          <p:cNvPr id="19" name="Text Placeholder 18">
            <a:extLst>
              <a:ext uri="{FF2B5EF4-FFF2-40B4-BE49-F238E27FC236}">
                <a16:creationId xmlns:a16="http://schemas.microsoft.com/office/drawing/2014/main" id="{18620404-6AF3-41DB-EDBE-A11A93AB47F2}"/>
              </a:ext>
            </a:extLst>
          </p:cNvPr>
          <p:cNvSpPr>
            <a:spLocks noGrp="1"/>
          </p:cNvSpPr>
          <p:nvPr>
            <p:ph type="body" sz="quarter" idx="23"/>
          </p:nvPr>
        </p:nvSpPr>
        <p:spPr>
          <a:xfrm>
            <a:off x="1235074" y="4469611"/>
            <a:ext cx="8775098" cy="732508"/>
          </a:xfrm>
        </p:spPr>
        <p:txBody>
          <a:bodyPr/>
          <a:lstStyle/>
          <a:p>
            <a:r>
              <a:rPr lang="en-US" dirty="0"/>
              <a:t>Group Chat </a:t>
            </a:r>
          </a:p>
          <a:p>
            <a:r>
              <a:rPr lang="en-US" dirty="0" err="1"/>
              <a:t>Magentic</a:t>
            </a:r>
            <a:r>
              <a:rPr lang="en-US" dirty="0"/>
              <a:t> </a:t>
            </a:r>
          </a:p>
          <a:p>
            <a:r>
              <a:rPr lang="en-US" dirty="0"/>
              <a:t>Sequential</a:t>
            </a:r>
            <a:endParaRPr lang="en-US" dirty="0">
              <a:latin typeface="Consolas" panose="020B0609020204030204" pitchFamily="49" charset="0"/>
              <a:cs typeface="Consolas" panose="020B0609020204030204" pitchFamily="49" charset="0"/>
            </a:endParaRPr>
          </a:p>
        </p:txBody>
      </p:sp>
      <p:sp>
        <p:nvSpPr>
          <p:cNvPr id="76" name="Oval 75">
            <a:extLst>
              <a:ext uri="{FF2B5EF4-FFF2-40B4-BE49-F238E27FC236}">
                <a16:creationId xmlns:a16="http://schemas.microsoft.com/office/drawing/2014/main" id="{11A1AA3A-B8C9-F4B4-085B-50D42B10BDA0}"/>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905105BC-962F-4378-7F8D-6EC93D880EEB}"/>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ECC0126E-2903-849F-5F80-6B954C41889B}"/>
              </a:ext>
              <a:ext uri="{C183D7F6-B498-43B3-948B-1728B52AA6E4}">
                <adec:decorative xmlns:adec="http://schemas.microsoft.com/office/drawing/2017/decorative" val="1"/>
              </a:ext>
            </a:extLst>
          </p:cNvPr>
          <p:cNvSpPr>
            <a:spLocks/>
          </p:cNvSpPr>
          <p:nvPr/>
        </p:nvSpPr>
        <p:spPr>
          <a:xfrm>
            <a:off x="1263852" y="450927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E32A18D4-E1A4-252D-977E-4B7383BBDDFE}"/>
              </a:ext>
              <a:ext uri="{C183D7F6-B498-43B3-948B-1728B52AA6E4}">
                <adec:decorative xmlns:adec="http://schemas.microsoft.com/office/drawing/2017/decorative" val="1"/>
              </a:ext>
            </a:extLst>
          </p:cNvPr>
          <p:cNvSpPr>
            <a:spLocks/>
          </p:cNvSpPr>
          <p:nvPr/>
        </p:nvSpPr>
        <p:spPr>
          <a:xfrm>
            <a:off x="1263852" y="287384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6184F116-68C8-C6B8-F892-69406A716D94}"/>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319323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Microsoft Learn_Off-White Template">
  <a:themeElements>
    <a:clrScheme name="Microsoft Learn Lt">
      <a:dk1>
        <a:srgbClr val="000000"/>
      </a:dk1>
      <a:lt1>
        <a:srgbClr val="FFFFFF"/>
      </a:lt1>
      <a:dk2>
        <a:srgbClr val="091F2C"/>
      </a:dk2>
      <a:lt2>
        <a:srgbClr val="E8E6DF"/>
      </a:lt2>
      <a:accent1>
        <a:srgbClr val="FF5C39"/>
      </a:accent1>
      <a:accent2>
        <a:srgbClr val="C73ECC"/>
      </a:accent2>
      <a:accent3>
        <a:srgbClr val="0078D4"/>
      </a:accent3>
      <a:accent4>
        <a:srgbClr val="F4364C"/>
      </a:accent4>
      <a:accent5>
        <a:srgbClr val="FFA38B"/>
      </a:accent5>
      <a:accent6>
        <a:srgbClr val="CD9BC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Neutral gray">
      <a:srgbClr val="E8E6DF"/>
    </a:custClr>
    <a:custClr name="White">
      <a:srgbClr val="FFFFFF"/>
    </a:custClr>
    <a:custClr name="Blueblack">
      <a:srgbClr val="091F2C"/>
    </a:custClr>
    <a:custClr name="Off white">
      <a:srgbClr val="F4F3F5"/>
    </a:custClr>
    <a:custClr name="Light orange">
      <a:srgbClr val="FFA38B"/>
    </a:custClr>
    <a:custClr name="Light magenta">
      <a:srgbClr val="CD9BCF"/>
    </a:custClr>
    <a:custClr name="Light blue">
      <a:srgbClr val="8DC8E8"/>
    </a:custClr>
    <a:custClr name="Light red">
      <a:srgbClr val="FFB3BB"/>
    </a:custClr>
    <a:custClr name="White">
      <a:srgbClr val="FFFFFF"/>
    </a:custClr>
    <a:custClr name="White">
      <a:srgbClr val="FFFFFF"/>
    </a:custClr>
    <a:custClr name="Neutral gray">
      <a:srgbClr val="E8E6DF"/>
    </a:custClr>
    <a:custClr name="White">
      <a:srgbClr val="FFFFFF"/>
    </a:custClr>
    <a:custClr name="Blueblack">
      <a:srgbClr val="091F2C"/>
    </a:custClr>
    <a:custClr name="Off white">
      <a:srgbClr val="F4F3F5"/>
    </a:custClr>
    <a:custClr name="Dark orange">
      <a:srgbClr val="73391D"/>
    </a:custClr>
    <a:custClr name="Dark magenta">
      <a:srgbClr val="702573"/>
    </a:custClr>
    <a:custClr name="Dark blue">
      <a:srgbClr val="2A446F"/>
    </a:custClr>
    <a:custClr name="Dark red">
      <a:srgbClr val="73262F"/>
    </a:custClr>
    <a:custClr name="White">
      <a:srgbClr val="FFFFFF"/>
    </a:custClr>
    <a:custClr name="White">
      <a:srgbClr val="FFFFFF"/>
    </a:custClr>
  </a:custClrLst>
  <a:extLst>
    <a:ext uri="{05A4C25C-085E-4340-85A3-A5531E510DB2}">
      <thm15:themeFamily xmlns:thm15="http://schemas.microsoft.com/office/thememl/2012/main" name="Microsoft_Learn_PPT_Template_May2022" id="{29A08142-AB99-4411-AAE7-CEDF668BDF69}" vid="{B77F916D-7E22-4EF9-8BA9-EC91DF20C5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0248D7AF17F84681BA835FA5F94E40" ma:contentTypeVersion="20" ma:contentTypeDescription="Create a new document." ma:contentTypeScope="" ma:versionID="433c462afd5f8213fc0755e5459980e0">
  <xsd:schema xmlns:xsd="http://www.w3.org/2001/XMLSchema" xmlns:xs="http://www.w3.org/2001/XMLSchema" xmlns:p="http://schemas.microsoft.com/office/2006/metadata/properties" xmlns:ns1="http://schemas.microsoft.com/sharepoint/v3" xmlns:ns2="b45d7b5d-5391-45bc-9089-ccc83e65635d" xmlns:ns3="7f056c50-df01-42ef-9e72-94b7d56ea6ea" targetNamespace="http://schemas.microsoft.com/office/2006/metadata/properties" ma:root="true" ma:fieldsID="371b9982654df4fdd7f3a4c948b61ec1" ns1:_="" ns2:_="" ns3:_="">
    <xsd:import namespace="http://schemas.microsoft.com/sharepoint/v3"/>
    <xsd:import namespace="b45d7b5d-5391-45bc-9089-ccc83e65635d"/>
    <xsd:import namespace="7f056c50-df01-42ef-9e72-94b7d56ea6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element ref="ns2:Classification" minOccurs="0"/>
                <xsd:element ref="ns2:SecurityLevel" minOccurs="0"/>
                <xsd:element ref="ns2:ApprovalRequired" minOccurs="0"/>
                <xsd:element ref="ns2:IntelligenceOper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5d7b5d-5391-45bc-9089-ccc83e6563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Classification" ma:index="24" nillable="true" ma:displayName="Classification" ma:format="Dropdown" ma:internalName="Classification">
      <xsd:simpleType>
        <xsd:restriction base="dms:Choice">
          <xsd:enumeration value="PUBLIC"/>
          <xsd:enumeration value="INTERNAL"/>
          <xsd:enumeration value="CLASSIFIED"/>
        </xsd:restriction>
      </xsd:simpleType>
    </xsd:element>
    <xsd:element name="SecurityLevel" ma:index="25" nillable="true" ma:displayName="SecurityLevel" ma:format="Dropdown" ma:internalName="SecurityLevel">
      <xsd:simpleType>
        <xsd:restriction base="dms:Choice">
          <xsd:enumeration value="NONE"/>
          <xsd:enumeration value="ALPHA"/>
          <xsd:enumeration value="BETA"/>
          <xsd:enumeration value="GAMMA"/>
        </xsd:restriction>
      </xsd:simpleType>
    </xsd:element>
    <xsd:element name="ApprovalRequired" ma:index="26" nillable="true" ma:displayName="ApprovalRequired" ma:default="1" ma:format="Dropdown" ma:internalName="ApprovalRequired">
      <xsd:simpleType>
        <xsd:restriction base="dms:Boolean"/>
      </xsd:simpleType>
    </xsd:element>
    <xsd:element name="IntelligenceOperation" ma:index="27" nillable="true" ma:displayName="IntelligenceOperation" ma:format="Dropdown" ma:internalName="IntelligenceOperation">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f056c50-df01-42ef-9e72-94b7d56ea6e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d2e2aa58-280f-4967-8611-313d3ea79993}" ma:internalName="TaxCatchAll" ma:showField="CatchAllData" ma:web="7f056c50-df01-42ef-9e72-94b7d56ea6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f056c50-df01-42ef-9e72-94b7d56ea6ea" xsi:nil="true"/>
    <lcf76f155ced4ddcb4097134ff3c332f xmlns="b45d7b5d-5391-45bc-9089-ccc83e65635d">
      <Terms xmlns="http://schemas.microsoft.com/office/infopath/2007/PartnerControls"/>
    </lcf76f155ced4ddcb4097134ff3c332f>
    <SecurityLevel xmlns="b45d7b5d-5391-45bc-9089-ccc83e65635d" xsi:nil="true"/>
    <Classification xmlns="b45d7b5d-5391-45bc-9089-ccc83e65635d" xsi:nil="true"/>
    <IntelligenceOperation xmlns="b45d7b5d-5391-45bc-9089-ccc83e65635d" xsi:nil="true"/>
    <ApprovalRequired xmlns="b45d7b5d-5391-45bc-9089-ccc83e65635d">true</ApprovalRequired>
  </documentManagement>
</p:properties>
</file>

<file path=customXml/itemProps1.xml><?xml version="1.0" encoding="utf-8"?>
<ds:datastoreItem xmlns:ds="http://schemas.openxmlformats.org/officeDocument/2006/customXml" ds:itemID="{B5C91F20-02B8-4994-9188-4CA745F1B3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45d7b5d-5391-45bc-9089-ccc83e65635d"/>
    <ds:schemaRef ds:uri="7f056c50-df01-42ef-9e72-94b7d56ea6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7f056c50-df01-42ef-9e72-94b7d56ea6ea"/>
    <ds:schemaRef ds:uri="http://www.w3.org/XML/1998/namespace"/>
    <ds:schemaRef ds:uri="http://purl.org/dc/terms/"/>
    <ds:schemaRef ds:uri="http://schemas.microsoft.com/office/2006/documentManagement/types"/>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b45d7b5d-5391-45bc-9089-ccc83e65635d"/>
    <ds:schemaRef ds:uri="http://purl.org/dc/elements/1.1/"/>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4577</TotalTime>
  <Words>6233</Words>
  <Application>Microsoft Office PowerPoint</Application>
  <PresentationFormat>Widescreen</PresentationFormat>
  <Paragraphs>884</Paragraphs>
  <Slides>55</Slides>
  <Notes>37</Notes>
  <HiddenSlides>10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55</vt:i4>
      </vt:variant>
    </vt:vector>
  </HeadingPairs>
  <TitlesOfParts>
    <vt:vector size="70" baseType="lpstr">
      <vt:lpstr>Abadi</vt:lpstr>
      <vt:lpstr>Aptos</vt:lpstr>
      <vt:lpstr>Arial</vt:lpstr>
      <vt:lpstr>Cambria Math</vt:lpstr>
      <vt:lpstr>Consolas</vt:lpstr>
      <vt:lpstr>Courier New</vt:lpstr>
      <vt:lpstr>Segoe UI</vt:lpstr>
      <vt:lpstr>Segoe UI Black</vt:lpstr>
      <vt:lpstr>Segoe UI Light</vt:lpstr>
      <vt:lpstr>Segoe UI Semibold</vt:lpstr>
      <vt:lpstr>System Font Regular</vt:lpstr>
      <vt:lpstr>Wingdings</vt:lpstr>
      <vt:lpstr>LIGHT MODE</vt:lpstr>
      <vt:lpstr>1_LIGHT MODE</vt:lpstr>
      <vt:lpstr>Microsoft Learn_Off-White Template</vt:lpstr>
      <vt:lpstr>Develop AI Agents on Azure</vt:lpstr>
      <vt:lpstr>Artificial Intelligence workloads</vt:lpstr>
      <vt:lpstr>Our focus today</vt:lpstr>
      <vt:lpstr>Develop AI agents with Microsoft Foundry and Visual Studio Code</vt:lpstr>
      <vt:lpstr>Understand AI agents</vt:lpstr>
      <vt:lpstr>Understand AI agents</vt:lpstr>
      <vt:lpstr>Why agents are useful</vt:lpstr>
      <vt:lpstr>AI agent use cases</vt:lpstr>
      <vt:lpstr>Typical development workflow</vt:lpstr>
      <vt:lpstr>Choose your development approach</vt:lpstr>
      <vt:lpstr>Demo</vt:lpstr>
      <vt:lpstr>Knowledge check</vt:lpstr>
      <vt:lpstr>Integrate custom tools into your agent</vt:lpstr>
      <vt:lpstr>Why use custom tools?</vt:lpstr>
      <vt:lpstr>Options for implementing custom tools</vt:lpstr>
      <vt:lpstr>Exercise</vt:lpstr>
      <vt:lpstr>Knowledge check</vt:lpstr>
      <vt:lpstr>Integrate MCP tools with Azure AI agents</vt:lpstr>
      <vt:lpstr>Understand Model Context Protocol for AI agents</vt:lpstr>
      <vt:lpstr>Integrate agent tools using an MCP server and client</vt:lpstr>
      <vt:lpstr>Exercise</vt:lpstr>
      <vt:lpstr>Knowledge check</vt:lpstr>
      <vt:lpstr>Build knowledge-enhanced AI agents with Foundry IQ</vt:lpstr>
      <vt:lpstr>Remember Retrieval Augmented Generation (RAG)</vt:lpstr>
      <vt:lpstr>Retrieval Augmented Generation (RAG) for agents</vt:lpstr>
      <vt:lpstr>Explore Foundry IQ</vt:lpstr>
      <vt:lpstr>Configure data sources</vt:lpstr>
      <vt:lpstr>Configure retrieval with Foundry IQ</vt:lpstr>
      <vt:lpstr>Exercise</vt:lpstr>
      <vt:lpstr>Knowledge check</vt:lpstr>
      <vt:lpstr>Integrate your agent with Microsoft 365</vt:lpstr>
      <vt:lpstr>Understanding agent applications</vt:lpstr>
      <vt:lpstr>Publish your agent</vt:lpstr>
      <vt:lpstr>Demo</vt:lpstr>
      <vt:lpstr>Knowledge check</vt:lpstr>
      <vt:lpstr>Build agent-driven workflows using Microsoft Foundry</vt:lpstr>
      <vt:lpstr>Understand workflows</vt:lpstr>
      <vt:lpstr>Identify workflow patterns</vt:lpstr>
      <vt:lpstr>Explore core components of a workflow</vt:lpstr>
      <vt:lpstr>Demo</vt:lpstr>
      <vt:lpstr>Knowledge check</vt:lpstr>
      <vt:lpstr>Develop an AI agent with Microsoft Agent Framework</vt:lpstr>
      <vt:lpstr>Explore Microsoft Agent Framework core components</vt:lpstr>
      <vt:lpstr>Create an AI agent</vt:lpstr>
      <vt:lpstr>Add tools to AI agents</vt:lpstr>
      <vt:lpstr>Exercise</vt:lpstr>
      <vt:lpstr>Knowledge check</vt:lpstr>
      <vt:lpstr>Orchestrate a multi-agent solution using the Microsoft Agent Framework</vt:lpstr>
      <vt:lpstr>Use concurrent orchestration</vt:lpstr>
      <vt:lpstr>Use sequential orchestration</vt:lpstr>
      <vt:lpstr>Use group chat orchestration</vt:lpstr>
      <vt:lpstr>Use handoff orchestration</vt:lpstr>
      <vt:lpstr>Use Magentic orchestration</vt:lpstr>
      <vt:lpstr>Exercise</vt:lpstr>
      <vt:lpstr>Knowledge check</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heidi@mindseyepdx.com;v-mrosenthal@microsoft.com</dc:creator>
  <cp:keywords/>
  <dc:description/>
  <cp:lastModifiedBy>Ivor Berry</cp:lastModifiedBy>
  <cp:revision>41</cp:revision>
  <dcterms:created xsi:type="dcterms:W3CDTF">2023-06-16T20:38:16Z</dcterms:created>
  <dcterms:modified xsi:type="dcterms:W3CDTF">2026-05-13T21:41:06Z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0x010100350248D7AF17F84681BA835FA5F94E40</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y fmtid="{D5CDD505-2E9C-101B-9397-08002B2CF9AE}" pid="21" name="Order">
    <vt:r8>62500</vt:r8>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_ExtendedDescription">
    <vt:lpwstr/>
  </property>
  <property fmtid="{D5CDD505-2E9C-101B-9397-08002B2CF9AE}" pid="26" name="TriggerFlowInfo">
    <vt:lpwstr/>
  </property>
  <property fmtid="{D5CDD505-2E9C-101B-9397-08002B2CF9AE}" pid="27" name="xd_Signature">
    <vt:bool>false</vt:bool>
  </property>
</Properties>
</file>