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922" r:id="rId4"/>
    <p:sldMasterId id="2147484972" r:id="rId5"/>
    <p:sldMasterId id="2147485016" r:id="rId6"/>
  </p:sldMasterIdLst>
  <p:notesMasterIdLst>
    <p:notesMasterId r:id="rId66"/>
  </p:notesMasterIdLst>
  <p:handoutMasterIdLst>
    <p:handoutMasterId r:id="rId67"/>
  </p:handoutMasterIdLst>
  <p:sldIdLst>
    <p:sldId id="256" r:id="rId7"/>
    <p:sldId id="2147479835" r:id="rId8"/>
    <p:sldId id="2147479836" r:id="rId9"/>
    <p:sldId id="257" r:id="rId10"/>
    <p:sldId id="2147479800" r:id="rId11"/>
    <p:sldId id="2147479853" r:id="rId12"/>
    <p:sldId id="2147479854" r:id="rId13"/>
    <p:sldId id="2147479803" r:id="rId14"/>
    <p:sldId id="2147479813" r:id="rId15"/>
    <p:sldId id="2147479822" r:id="rId16"/>
    <p:sldId id="2147479855" r:id="rId17"/>
    <p:sldId id="2147479856" r:id="rId18"/>
    <p:sldId id="2147479857" r:id="rId19"/>
    <p:sldId id="2147479858" r:id="rId20"/>
    <p:sldId id="2147479859" r:id="rId21"/>
    <p:sldId id="2147479860" r:id="rId22"/>
    <p:sldId id="2147479861" r:id="rId23"/>
    <p:sldId id="2147479862" r:id="rId24"/>
    <p:sldId id="2147479863" r:id="rId25"/>
    <p:sldId id="2147479864" r:id="rId26"/>
    <p:sldId id="2147479865" r:id="rId27"/>
    <p:sldId id="2147479885" r:id="rId28"/>
    <p:sldId id="2147479884" r:id="rId29"/>
    <p:sldId id="2147479866" r:id="rId30"/>
    <p:sldId id="2147479867" r:id="rId31"/>
    <p:sldId id="2147479868" r:id="rId32"/>
    <p:sldId id="2147479869" r:id="rId33"/>
    <p:sldId id="2147479870" r:id="rId34"/>
    <p:sldId id="2147479886" r:id="rId35"/>
    <p:sldId id="2147479887" r:id="rId36"/>
    <p:sldId id="2147479888" r:id="rId37"/>
    <p:sldId id="2147479889" r:id="rId38"/>
    <p:sldId id="2147479871" r:id="rId39"/>
    <p:sldId id="2147479872" r:id="rId40"/>
    <p:sldId id="2147479873" r:id="rId41"/>
    <p:sldId id="2147479874" r:id="rId42"/>
    <p:sldId id="2147479875" r:id="rId43"/>
    <p:sldId id="2147479876" r:id="rId44"/>
    <p:sldId id="2147479877" r:id="rId45"/>
    <p:sldId id="2147479816" r:id="rId46"/>
    <p:sldId id="2147479878" r:id="rId47"/>
    <p:sldId id="2147479879" r:id="rId48"/>
    <p:sldId id="2147479880" r:id="rId49"/>
    <p:sldId id="2147479881" r:id="rId50"/>
    <p:sldId id="2147479882" r:id="rId51"/>
    <p:sldId id="2147479832" r:id="rId52"/>
    <p:sldId id="2147479833" r:id="rId53"/>
    <p:sldId id="2147479883" r:id="rId54"/>
    <p:sldId id="2147479781" r:id="rId55"/>
    <p:sldId id="1684" r:id="rId56"/>
    <p:sldId id="2147479725" r:id="rId57"/>
    <p:sldId id="2147479728" r:id="rId58"/>
    <p:sldId id="2147479729" r:id="rId59"/>
    <p:sldId id="2147479730" r:id="rId60"/>
    <p:sldId id="2147479731" r:id="rId61"/>
    <p:sldId id="2147479732" r:id="rId62"/>
    <p:sldId id="2147479890" r:id="rId63"/>
    <p:sldId id="2147479891" r:id="rId64"/>
    <p:sldId id="1790" r:id="rId6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E9F006-CD05-43D3-86DF-416740DE2C49}">
          <p14:sldIdLst>
            <p14:sldId id="256"/>
            <p14:sldId id="2147479835"/>
            <p14:sldId id="2147479836"/>
          </p14:sldIdLst>
        </p14:section>
        <p14:section name="Plan and prepare" id="{39823CCC-CE8A-40FC-8767-752343AB3404}">
          <p14:sldIdLst>
            <p14:sldId id="257"/>
            <p14:sldId id="2147479800"/>
            <p14:sldId id="2147479853"/>
            <p14:sldId id="2147479854"/>
            <p14:sldId id="2147479803"/>
            <p14:sldId id="2147479813"/>
            <p14:sldId id="2147479822"/>
          </p14:sldIdLst>
        </p14:section>
        <p14:section name="Models" id="{0612C5B6-1CA4-4F31-8891-88106F42139C}">
          <p14:sldIdLst>
            <p14:sldId id="2147479855"/>
            <p14:sldId id="2147479856"/>
            <p14:sldId id="2147479857"/>
            <p14:sldId id="2147479858"/>
            <p14:sldId id="2147479859"/>
            <p14:sldId id="2147479860"/>
            <p14:sldId id="2147479861"/>
          </p14:sldIdLst>
        </p14:section>
        <p14:section name="Develop Chat App" id="{251123F6-EEC5-477A-8A63-749CFB6D9095}">
          <p14:sldIdLst>
            <p14:sldId id="2147479862"/>
            <p14:sldId id="2147479863"/>
            <p14:sldId id="2147479864"/>
            <p14:sldId id="2147479865"/>
            <p14:sldId id="2147479885"/>
            <p14:sldId id="2147479884"/>
            <p14:sldId id="2147479866"/>
            <p14:sldId id="2147479867"/>
            <p14:sldId id="2147479868"/>
          </p14:sldIdLst>
        </p14:section>
        <p14:section name="Using tools" id="{618AB7C8-A471-4D00-8BA3-00A7E5AB0F77}">
          <p14:sldIdLst>
            <p14:sldId id="2147479869"/>
            <p14:sldId id="2147479870"/>
            <p14:sldId id="2147479886"/>
            <p14:sldId id="2147479887"/>
            <p14:sldId id="2147479888"/>
            <p14:sldId id="2147479889"/>
            <p14:sldId id="2147479871"/>
            <p14:sldId id="2147479872"/>
            <p14:sldId id="2147479873"/>
            <p14:sldId id="2147479874"/>
            <p14:sldId id="2147479875"/>
            <p14:sldId id="2147479876"/>
          </p14:sldIdLst>
        </p14:section>
        <p14:section name="Optimize models" id="{D0D60554-22A0-491C-B195-7F5362693C87}">
          <p14:sldIdLst>
            <p14:sldId id="2147479877"/>
            <p14:sldId id="2147479816"/>
            <p14:sldId id="2147479878"/>
            <p14:sldId id="2147479879"/>
            <p14:sldId id="2147479880"/>
            <p14:sldId id="2147479881"/>
          </p14:sldIdLst>
        </p14:section>
        <p14:section name="Responsible AI" id="{1AB7F71D-9BD9-4426-A580-C19E8747D2C0}">
          <p14:sldIdLst>
            <p14:sldId id="2147479882"/>
            <p14:sldId id="2147479832"/>
            <p14:sldId id="2147479833"/>
            <p14:sldId id="2147479883"/>
            <p14:sldId id="2147479781"/>
          </p14:sldIdLst>
        </p14:section>
        <p14:section name="Intro to agents" id="{9D0EF8C8-BC54-4A4F-9DF7-4D1452A84076}">
          <p14:sldIdLst>
            <p14:sldId id="1684"/>
            <p14:sldId id="2147479725"/>
            <p14:sldId id="2147479728"/>
            <p14:sldId id="2147479729"/>
            <p14:sldId id="2147479730"/>
            <p14:sldId id="2147479731"/>
            <p14:sldId id="2147479732"/>
            <p14:sldId id="2147479890"/>
            <p14:sldId id="2147479891"/>
          </p14:sldIdLst>
        </p14:section>
        <p14:section name="Closing slide" id="{94E71DE5-A1D7-44C6-A62A-B17703277CEC}">
          <p14:sldIdLst>
            <p14:sldId id="1790"/>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9178"/>
    <a:srgbClr val="DCDCAA"/>
    <a:srgbClr val="9CDCFE"/>
    <a:srgbClr val="ABB2BF"/>
    <a:srgbClr val="4CBC89"/>
    <a:srgbClr val="F2D7F3"/>
    <a:srgbClr val="ECC9EE"/>
    <a:srgbClr val="702573"/>
    <a:srgbClr val="E8E8E8"/>
    <a:srgbClr val="D4D4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382B4-9F94-9848-B24E-E1BCE268F6CD}" v="668" dt="2026-03-27T18:21:31.844"/>
    <p1510:client id="{F316F821-D6BC-47A0-8C14-35C07D693D0E}" v="341" dt="2026-03-27T18:55:17.8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65" autoAdjust="0"/>
    <p:restoredTop sz="77576" autoAdjust="0"/>
  </p:normalViewPr>
  <p:slideViewPr>
    <p:cSldViewPr snapToGrid="0">
      <p:cViewPr varScale="1">
        <p:scale>
          <a:sx n="90" d="100"/>
          <a:sy n="90" d="100"/>
        </p:scale>
        <p:origin x="880" y="52"/>
      </p:cViewPr>
      <p:guideLst>
        <p:guide pos="4200"/>
        <p:guide orient="horz" pos="2160"/>
        <p:guide pos="584"/>
        <p:guide pos="3840"/>
      </p:guideLst>
    </p:cSldViewPr>
  </p:slideViewPr>
  <p:outlineViewPr>
    <p:cViewPr>
      <p:scale>
        <a:sx n="33" d="100"/>
        <a:sy n="33" d="100"/>
      </p:scale>
      <p:origin x="0" y="-444"/>
    </p:cViewPr>
  </p:outlineViewPr>
  <p:notesTextViewPr>
    <p:cViewPr>
      <p:scale>
        <a:sx n="1" d="1"/>
        <a:sy n="1" d="1"/>
      </p:scale>
      <p:origin x="0" y="0"/>
    </p:cViewPr>
  </p:notesTextViewPr>
  <p:sorterViewPr>
    <p:cViewPr>
      <p:scale>
        <a:sx n="100" d="100"/>
        <a:sy n="100" d="100"/>
      </p:scale>
      <p:origin x="0" y="-2382"/>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74"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356221-FF75-4B28-B1B7-9C62EC26339F}" type="datetime8">
              <a:rPr lang="en-US" smtClean="0">
                <a:latin typeface="Segoe UI" pitchFamily="34" charset="0"/>
              </a:rPr>
              <a:t>5/13/2026 5:44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55E12198-D52A-4604-A7DE-05A0E5E96698}" type="datetime8">
              <a:rPr lang="en-US" smtClean="0"/>
              <a:t>5/13/2026 5:43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learning path from which this presentation is derived.</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52145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Orient learners: “Azure AI spans multiple workload families—today we’re zooming in on </a:t>
            </a:r>
            <a:r>
              <a:rPr lang="en-US" sz="882" b="0" i="1" kern="1200" dirty="0">
                <a:solidFill>
                  <a:schemeClr val="tx1"/>
                </a:solidFill>
                <a:effectLst/>
                <a:latin typeface="Segoe UI Light" pitchFamily="34" charset="0"/>
                <a:ea typeface="+mn-ea"/>
                <a:cs typeface="+mn-cs"/>
              </a:rPr>
              <a:t>Generative AI and Agents</a:t>
            </a:r>
            <a:r>
              <a:rPr lang="en-US" sz="882" b="0" i="0" kern="1200" dirty="0">
                <a:solidFill>
                  <a:schemeClr val="tx1"/>
                </a:solidFill>
                <a:effectLst/>
                <a:latin typeface="Segoe UI Light" pitchFamily="34" charset="0"/>
                <a:ea typeface="+mn-ea"/>
                <a:cs typeface="+mn-cs"/>
              </a:rPr>
              <a:t>.”</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Quick contrast: classic ML (predictive, f(x)=y) vs. generative AI (language + reasoning + content generation).</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Reinforce scope control: “If you came for vision/speech/translation, those exist—but today’s focus is on generative AI models and chat application development.”</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Preview the shape of the day: platform basics → models → endpoints/SDKs → chat app development→ optimization → responsible AI.</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8515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Define Foundry in one sentence: “Foundry gives you a project‑based workspace to build AI apps/agents with models, tools, and knowledge in one place.”</a:t>
            </a:r>
          </a:p>
          <a:p>
            <a:pPr fontAlgn="t"/>
            <a:r>
              <a:rPr lang="en-US" sz="882" b="0" i="0" kern="1200" dirty="0">
                <a:solidFill>
                  <a:schemeClr val="tx1"/>
                </a:solidFill>
                <a:effectLst/>
                <a:latin typeface="Segoe UI Light" pitchFamily="34" charset="0"/>
                <a:ea typeface="+mn-ea"/>
                <a:cs typeface="+mn-cs"/>
              </a:rPr>
              <a:t>Emphasize the mental model: </a:t>
            </a:r>
            <a:r>
              <a:rPr lang="en-US" sz="882" b="1" i="0" kern="1200" dirty="0">
                <a:solidFill>
                  <a:schemeClr val="tx1"/>
                </a:solidFill>
                <a:effectLst/>
                <a:latin typeface="Segoe UI Light" pitchFamily="34" charset="0"/>
                <a:ea typeface="+mn-ea"/>
                <a:cs typeface="+mn-cs"/>
              </a:rPr>
              <a:t>Resources</a:t>
            </a:r>
            <a:r>
              <a:rPr lang="en-US" sz="882" b="0" i="0" kern="1200" dirty="0">
                <a:solidFill>
                  <a:schemeClr val="tx1"/>
                </a:solidFill>
                <a:effectLst/>
                <a:latin typeface="Segoe UI Light" pitchFamily="34" charset="0"/>
                <a:ea typeface="+mn-ea"/>
                <a:cs typeface="+mn-cs"/>
              </a:rPr>
              <a:t> provide compute/storage/model delivery services.</a:t>
            </a:r>
          </a:p>
          <a:p>
            <a:pPr fontAlgn="t"/>
            <a:r>
              <a:rPr lang="en-US" sz="882" b="1" i="0" kern="1200" dirty="0">
                <a:solidFill>
                  <a:schemeClr val="tx1"/>
                </a:solidFill>
                <a:effectLst/>
                <a:latin typeface="Segoe UI Light" pitchFamily="34" charset="0"/>
                <a:ea typeface="+mn-ea"/>
                <a:cs typeface="+mn-cs"/>
              </a:rPr>
              <a:t>Projects</a:t>
            </a:r>
            <a:r>
              <a:rPr lang="en-US" sz="882" b="0" i="0" kern="1200" dirty="0">
                <a:solidFill>
                  <a:schemeClr val="tx1"/>
                </a:solidFill>
                <a:effectLst/>
                <a:latin typeface="Segoe UI Light" pitchFamily="34" charset="0"/>
                <a:ea typeface="+mn-ea"/>
                <a:cs typeface="+mn-cs"/>
              </a:rPr>
              <a:t> are isolated work environments for app &amp; agent development.</a:t>
            </a:r>
          </a:p>
          <a:p>
            <a:pPr fontAlgn="t"/>
            <a:r>
              <a:rPr lang="en-US" sz="882" b="0" i="0" kern="1200" dirty="0">
                <a:solidFill>
                  <a:schemeClr val="tx1"/>
                </a:solidFill>
                <a:effectLst/>
                <a:latin typeface="Segoe UI Light" pitchFamily="34" charset="0"/>
                <a:ea typeface="+mn-ea"/>
                <a:cs typeface="+mn-cs"/>
              </a:rPr>
              <a:t>Inside projects: </a:t>
            </a:r>
            <a:r>
              <a:rPr lang="en-US" sz="882" b="1" i="0" kern="1200" dirty="0">
                <a:solidFill>
                  <a:schemeClr val="tx1"/>
                </a:solidFill>
                <a:effectLst/>
                <a:latin typeface="Segoe UI Light" pitchFamily="34" charset="0"/>
                <a:ea typeface="+mn-ea"/>
                <a:cs typeface="+mn-cs"/>
              </a:rPr>
              <a:t>Models</a:t>
            </a:r>
            <a:r>
              <a:rPr lang="en-US" sz="882" b="0" i="0" kern="1200" dirty="0">
                <a:solidFill>
                  <a:schemeClr val="tx1"/>
                </a:solidFill>
                <a:effectLst/>
                <a:latin typeface="Segoe UI Light" pitchFamily="34" charset="0"/>
                <a:ea typeface="+mn-ea"/>
                <a:cs typeface="+mn-cs"/>
              </a:rPr>
              <a:t>, </a:t>
            </a:r>
            <a:r>
              <a:rPr lang="en-US" sz="882" b="1" i="0" kern="1200" dirty="0">
                <a:solidFill>
                  <a:schemeClr val="tx1"/>
                </a:solidFill>
                <a:effectLst/>
                <a:latin typeface="Segoe UI Light" pitchFamily="34" charset="0"/>
                <a:ea typeface="+mn-ea"/>
                <a:cs typeface="+mn-cs"/>
              </a:rPr>
              <a:t>Agents</a:t>
            </a:r>
            <a:r>
              <a:rPr lang="en-US" sz="882" b="0" i="0" kern="1200" dirty="0">
                <a:solidFill>
                  <a:schemeClr val="tx1"/>
                </a:solidFill>
                <a:effectLst/>
                <a:latin typeface="Segoe UI Light" pitchFamily="34" charset="0"/>
                <a:ea typeface="+mn-ea"/>
                <a:cs typeface="+mn-cs"/>
              </a:rPr>
              <a:t>, </a:t>
            </a:r>
            <a:r>
              <a:rPr lang="en-US" sz="882" b="1" i="0" kern="1200" dirty="0">
                <a:solidFill>
                  <a:schemeClr val="tx1"/>
                </a:solidFill>
                <a:effectLst/>
                <a:latin typeface="Segoe UI Light" pitchFamily="34" charset="0"/>
                <a:ea typeface="+mn-ea"/>
                <a:cs typeface="+mn-cs"/>
              </a:rPr>
              <a:t>Tools</a:t>
            </a:r>
            <a:r>
              <a:rPr lang="en-US" sz="882" b="0" i="0" kern="1200" dirty="0">
                <a:solidFill>
                  <a:schemeClr val="tx1"/>
                </a:solidFill>
                <a:effectLst/>
                <a:latin typeface="Segoe UI Light" pitchFamily="34" charset="0"/>
                <a:ea typeface="+mn-ea"/>
                <a:cs typeface="+mn-cs"/>
              </a:rPr>
              <a:t>, </a:t>
            </a:r>
            <a:r>
              <a:rPr lang="en-US" sz="882" b="1" i="0" kern="1200" dirty="0">
                <a:solidFill>
                  <a:schemeClr val="tx1"/>
                </a:solidFill>
                <a:effectLst/>
                <a:latin typeface="Segoe UI Light" pitchFamily="34" charset="0"/>
                <a:ea typeface="+mn-ea"/>
                <a:cs typeface="+mn-cs"/>
              </a:rPr>
              <a:t>Knowledge</a:t>
            </a:r>
            <a:r>
              <a:rPr lang="en-US" sz="882" b="0" i="0" kern="1200" dirty="0">
                <a:solidFill>
                  <a:schemeClr val="tx1"/>
                </a:solidFill>
                <a:effectLst/>
                <a:latin typeface="Segoe UI Light" pitchFamily="34" charset="0"/>
                <a:ea typeface="+mn-ea"/>
                <a:cs typeface="+mn-cs"/>
              </a:rPr>
              <a:t>.</a:t>
            </a:r>
          </a:p>
          <a:p>
            <a:pPr fontAlgn="t"/>
            <a:r>
              <a:rPr lang="en-US" sz="882" b="0" i="0" kern="1200" dirty="0">
                <a:solidFill>
                  <a:schemeClr val="tx1"/>
                </a:solidFill>
                <a:effectLst/>
                <a:latin typeface="Segoe UI Light" pitchFamily="34" charset="0"/>
                <a:ea typeface="+mn-ea"/>
                <a:cs typeface="+mn-cs"/>
              </a:rPr>
              <a:t>Practical framing: “When learners feel lost, bring them back to this picture—most tasks map to one of these four.”</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41574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“Foundry Tools” as “pre-built capabilities your agent/app can call rather than reinvent.”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Tie to developer value: “You compose solutions by combining an LLM with tool calls for language, speech, translation, document extraction, multimodal analysis.”</a:t>
            </a:r>
          </a:p>
          <a:p>
            <a:r>
              <a:rPr lang="en-US" dirty="0"/>
              <a:t>Point out that “Foundry Tools: were formerly known as “Azure AI Services”; and as “Cognitive Services” prior to that.</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3237541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Set up the dev workflow: VS Code + AI Toolkit extension + SDKs + source control + GitHub Copilot (optional).</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Clarify the SDK stack: Foundry SDK and OpenAI SDK appear together because Foundry can expose OpenAI‑compatible interfaces (important later when choosing endpoints).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ask learners “Where do you prefer to develop—portal playground first or code-first?” then show both are supported.</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852078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Keep it practical: “These aren’t poster words—each principle maps to design choices: data, prompts, guardrails, UX, and operations.”</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Prime them for later: “We’ll come back to guardrails and harm mitigation after we’ve built something.”</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9894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NOTE: If students are relatively familiar, skip this lab and just demo a bit of the portal to save time. They’ll use it plenty in future labs</a:t>
            </a:r>
          </a:p>
          <a:p>
            <a:endParaRPr lang="en-US" dirty="0"/>
          </a:p>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10</a:t>
            </a:fld>
            <a:endParaRPr lang="en-US" dirty="0"/>
          </a:p>
        </p:txBody>
      </p:sp>
    </p:spTree>
    <p:extLst>
      <p:ext uri="{BB962C8B-B14F-4D97-AF65-F5344CB8AC3E}">
        <p14:creationId xmlns:p14="http://schemas.microsoft.com/office/powerpoint/2010/main" val="1781579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D60C5-DDE4-A937-826D-32C555AC6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2D76D-7B75-FEE1-59E7-E388B8F3D3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339EAC-315C-4529-22BF-7A58BAFCE9A9}"/>
              </a:ext>
            </a:extLst>
          </p:cNvPr>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a:extLst>
              <a:ext uri="{FF2B5EF4-FFF2-40B4-BE49-F238E27FC236}">
                <a16:creationId xmlns:a16="http://schemas.microsoft.com/office/drawing/2014/main" id="{665514C6-1F5B-9722-DCA5-9AC86347012E}"/>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D63023F1-4646-0C21-33CB-9117E070C52A}"/>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B39AE11D-1B94-1487-9BB8-10BA8F168EFD}"/>
              </a:ext>
            </a:extLst>
          </p:cNvPr>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a:extLst>
              <a:ext uri="{FF2B5EF4-FFF2-40B4-BE49-F238E27FC236}">
                <a16:creationId xmlns:a16="http://schemas.microsoft.com/office/drawing/2014/main" id="{01F8634A-6DC2-3A32-7DC2-C04148AFFC86}"/>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606458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Give learners a strategy: “Start with curated collections/capabilities, then filter by provider and tasks; only then worry about fine‑tuning support.”</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Clarify billing/ownership distinctions: models sold by Azure vs partner/community models purchased via provider.</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Trainer tip: remind learners that “model choice is iterative—pick a baseline and validate quickly in the playground.”</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22360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Explain what benchmarks do for developers: “They’re not perfect, but they prevent ‘vibes-based’ model selection.” Interpret each metric in app terms: Quality index → response usefulness.</a:t>
            </a:r>
          </a:p>
          <a:p>
            <a:pPr fontAlgn="t"/>
            <a:r>
              <a:rPr lang="en-US" sz="882" b="0" i="0" kern="1200" dirty="0">
                <a:solidFill>
                  <a:schemeClr val="tx1"/>
                </a:solidFill>
                <a:effectLst/>
                <a:latin typeface="Segoe UI Light" pitchFamily="34" charset="0"/>
                <a:ea typeface="+mn-ea"/>
                <a:cs typeface="+mn-cs"/>
              </a:rPr>
              <a:t>Safety (attack success rate) → robustness against prompt attacks.</a:t>
            </a:r>
          </a:p>
          <a:p>
            <a:pPr fontAlgn="t"/>
            <a:r>
              <a:rPr lang="en-US" sz="882" b="0" i="0" kern="1200" dirty="0">
                <a:solidFill>
                  <a:schemeClr val="tx1"/>
                </a:solidFill>
                <a:effectLst/>
                <a:latin typeface="Segoe UI Light" pitchFamily="34" charset="0"/>
                <a:ea typeface="+mn-ea"/>
                <a:cs typeface="+mn-cs"/>
              </a:rPr>
              <a:t>Throughput → responsiveness under load.</a:t>
            </a:r>
          </a:p>
          <a:p>
            <a:pPr fontAlgn="t"/>
            <a:r>
              <a:rPr lang="en-US" sz="882" b="0" i="0" kern="1200" dirty="0">
                <a:solidFill>
                  <a:schemeClr val="tx1"/>
                </a:solidFill>
                <a:effectLst/>
                <a:latin typeface="Segoe UI Light" pitchFamily="34" charset="0"/>
                <a:ea typeface="+mn-ea"/>
                <a:cs typeface="+mn-cs"/>
              </a:rPr>
              <a:t>Cost → token economics.</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9985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Teach a decision shortcut: </a:t>
            </a:r>
            <a:r>
              <a:rPr lang="en-US" sz="882" b="1" i="0" kern="1200" dirty="0">
                <a:solidFill>
                  <a:schemeClr val="tx1"/>
                </a:solidFill>
                <a:effectLst/>
                <a:latin typeface="Segoe UI Light" pitchFamily="34" charset="0"/>
                <a:ea typeface="+mn-ea"/>
                <a:cs typeface="+mn-cs"/>
              </a:rPr>
              <a:t>Global Standard</a:t>
            </a:r>
            <a:r>
              <a:rPr lang="en-US" sz="882" b="0" i="0" kern="1200" dirty="0">
                <a:solidFill>
                  <a:schemeClr val="tx1"/>
                </a:solidFill>
                <a:effectLst/>
                <a:latin typeface="Segoe UI Light" pitchFamily="34" charset="0"/>
                <a:ea typeface="+mn-ea"/>
                <a:cs typeface="+mn-cs"/>
              </a:rPr>
              <a:t> for general workloads &amp; highest quota.</a:t>
            </a:r>
          </a:p>
          <a:p>
            <a:pPr fontAlgn="t"/>
            <a:r>
              <a:rPr lang="en-US" sz="882" b="1" i="0" kern="1200" dirty="0">
                <a:solidFill>
                  <a:schemeClr val="tx1"/>
                </a:solidFill>
                <a:effectLst/>
                <a:latin typeface="Segoe UI Light" pitchFamily="34" charset="0"/>
                <a:ea typeface="+mn-ea"/>
                <a:cs typeface="+mn-cs"/>
              </a:rPr>
              <a:t>Provisioned</a:t>
            </a:r>
            <a:r>
              <a:rPr lang="en-US" sz="882" b="0" i="0" kern="1200" dirty="0">
                <a:solidFill>
                  <a:schemeClr val="tx1"/>
                </a:solidFill>
                <a:effectLst/>
                <a:latin typeface="Segoe UI Light" pitchFamily="34" charset="0"/>
                <a:ea typeface="+mn-ea"/>
                <a:cs typeface="+mn-cs"/>
              </a:rPr>
              <a:t> when throughput must be predictable.</a:t>
            </a:r>
          </a:p>
          <a:p>
            <a:pPr fontAlgn="t"/>
            <a:r>
              <a:rPr lang="en-US" sz="882" b="1" i="0" kern="1200" dirty="0">
                <a:solidFill>
                  <a:schemeClr val="tx1"/>
                </a:solidFill>
                <a:effectLst/>
                <a:latin typeface="Segoe UI Light" pitchFamily="34" charset="0"/>
                <a:ea typeface="+mn-ea"/>
                <a:cs typeface="+mn-cs"/>
              </a:rPr>
              <a:t>Batch</a:t>
            </a:r>
            <a:r>
              <a:rPr lang="en-US" sz="882" b="0" i="0" kern="1200" dirty="0">
                <a:solidFill>
                  <a:schemeClr val="tx1"/>
                </a:solidFill>
                <a:effectLst/>
                <a:latin typeface="Segoe UI Light" pitchFamily="34" charset="0"/>
                <a:ea typeface="+mn-ea"/>
                <a:cs typeface="+mn-cs"/>
              </a:rPr>
              <a:t> for async large jobs.</a:t>
            </a:r>
          </a:p>
          <a:p>
            <a:pPr fontAlgn="t"/>
            <a:r>
              <a:rPr lang="en-US" sz="882" b="1" i="0" kern="1200" dirty="0">
                <a:solidFill>
                  <a:schemeClr val="tx1"/>
                </a:solidFill>
                <a:effectLst/>
                <a:latin typeface="Segoe UI Light" pitchFamily="34" charset="0"/>
                <a:ea typeface="+mn-ea"/>
                <a:cs typeface="+mn-cs"/>
              </a:rPr>
              <a:t>Data Zone</a:t>
            </a:r>
            <a:r>
              <a:rPr lang="en-US" sz="882" b="0" i="0" kern="1200" dirty="0">
                <a:solidFill>
                  <a:schemeClr val="tx1"/>
                </a:solidFill>
                <a:effectLst/>
                <a:latin typeface="Segoe UI Light" pitchFamily="34" charset="0"/>
                <a:ea typeface="+mn-ea"/>
                <a:cs typeface="+mn-cs"/>
              </a:rPr>
              <a:t> for EU/US data zone compliance needs.</a:t>
            </a:r>
          </a:p>
          <a:p>
            <a:pPr fontAlgn="t"/>
            <a:r>
              <a:rPr lang="en-US" sz="882" b="1" i="0" kern="1200" dirty="0">
                <a:solidFill>
                  <a:schemeClr val="tx1"/>
                </a:solidFill>
                <a:effectLst/>
                <a:latin typeface="Segoe UI Light" pitchFamily="34" charset="0"/>
                <a:ea typeface="+mn-ea"/>
                <a:cs typeface="+mn-cs"/>
              </a:rPr>
              <a:t>Regional/Standard</a:t>
            </a:r>
            <a:r>
              <a:rPr lang="en-US" sz="882" b="0" i="0" kern="1200" dirty="0">
                <a:solidFill>
                  <a:schemeClr val="tx1"/>
                </a:solidFill>
                <a:effectLst/>
                <a:latin typeface="Segoe UI Light" pitchFamily="34" charset="0"/>
                <a:ea typeface="+mn-ea"/>
                <a:cs typeface="+mn-cs"/>
              </a:rPr>
              <a:t> for regional compliance and lower volume.</a:t>
            </a:r>
          </a:p>
          <a:p>
            <a:pPr fontAlgn="t"/>
            <a:r>
              <a:rPr lang="en-US" sz="882" b="1" i="0" kern="1200" dirty="0">
                <a:solidFill>
                  <a:schemeClr val="tx1"/>
                </a:solidFill>
                <a:effectLst/>
                <a:latin typeface="Segoe UI Light" pitchFamily="34" charset="0"/>
                <a:ea typeface="+mn-ea"/>
                <a:cs typeface="+mn-cs"/>
              </a:rPr>
              <a:t>Developer</a:t>
            </a:r>
            <a:r>
              <a:rPr lang="en-US" sz="882" b="0" i="0" kern="1200" dirty="0">
                <a:solidFill>
                  <a:schemeClr val="tx1"/>
                </a:solidFill>
                <a:effectLst/>
                <a:latin typeface="Segoe UI Light" pitchFamily="34" charset="0"/>
                <a:ea typeface="+mn-ea"/>
                <a:cs typeface="+mn-cs"/>
              </a:rPr>
              <a:t> for fine-tuned model evaluation only.</a:t>
            </a:r>
          </a:p>
          <a:p>
            <a:pPr fontAlgn="t"/>
            <a:r>
              <a:rPr lang="en-US" sz="882" b="0" i="0" kern="1200" dirty="0">
                <a:solidFill>
                  <a:schemeClr val="tx1"/>
                </a:solidFill>
                <a:effectLst/>
                <a:latin typeface="Segoe UI Light" pitchFamily="34" charset="0"/>
                <a:ea typeface="+mn-ea"/>
                <a:cs typeface="+mn-cs"/>
              </a:rPr>
              <a:t>Trainer tip: ask the room “Which constraint matters most—compliance, throughput, or cost?” then map to the table.</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73374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Make evaluation concrete: Manual: playground prompts, side-by-side comparisons.</a:t>
            </a:r>
          </a:p>
          <a:p>
            <a:pPr fontAlgn="t"/>
            <a:r>
              <a:rPr lang="en-US" sz="882" b="0" i="0" kern="1200" dirty="0">
                <a:solidFill>
                  <a:schemeClr val="tx1"/>
                </a:solidFill>
                <a:effectLst/>
                <a:latin typeface="Segoe UI Light" pitchFamily="34" charset="0"/>
                <a:ea typeface="+mn-ea"/>
                <a:cs typeface="+mn-cs"/>
              </a:rPr>
              <a:t>Automated: synthetic or real datasets + standard metrics.</a:t>
            </a:r>
          </a:p>
          <a:p>
            <a:pPr fontAlgn="t"/>
            <a:r>
              <a:rPr lang="en-US" sz="882" b="0" i="0" kern="1200" dirty="0">
                <a:solidFill>
                  <a:schemeClr val="tx1"/>
                </a:solidFill>
                <a:effectLst/>
                <a:latin typeface="Segoe UI Light" pitchFamily="34" charset="0"/>
                <a:ea typeface="+mn-ea"/>
                <a:cs typeface="+mn-cs"/>
              </a:rPr>
              <a:t>Teaching tip: encourage “representative prompts” (real user tasks) and “edge prompts” (abuse/misalignment) even at prototype stage.</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92058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A223-9ED7-4E0C-1EF1-B6248FEA3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76FD7-BEA8-6D7B-5938-086F30F56E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BA6F2B-ABB1-FE5E-AE4E-AAFE43F5C4DC}"/>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5965365D-C938-C7B7-8CD2-7F1685FC56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75E0AD4-8F41-EF55-1E84-5C3DB78B5CA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980306F-3977-C323-ECE3-4F2361B3183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C653EBF-6C10-F3CB-3431-05110A63D40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84810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6BECF-3816-3FD5-75DB-2B0F5372B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AFDDB-BBB3-12ED-A3A2-F46F13410C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94B717-7791-34A5-D334-2E1B316A3AED}"/>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F3CE054-8A40-9426-E9E5-2CD0C1D9FCF4}"/>
              </a:ext>
            </a:extLst>
          </p:cNvPr>
          <p:cNvSpPr>
            <a:spLocks noGrp="1"/>
          </p:cNvSpPr>
          <p:nvPr>
            <p:ph type="sldNum" sz="quarter" idx="5"/>
          </p:nvPr>
        </p:nvSpPr>
        <p:spPr/>
        <p:txBody>
          <a:bodyPr/>
          <a:lstStyle/>
          <a:p>
            <a:fld id="{97E04F8E-88E9-481C-A2B3-C92BCE611EF5}" type="slidenum">
              <a:rPr lang="en-US" smtClean="0"/>
              <a:t>17</a:t>
            </a:fld>
            <a:endParaRPr lang="en-US" dirty="0"/>
          </a:p>
        </p:txBody>
      </p:sp>
    </p:spTree>
    <p:extLst>
      <p:ext uri="{BB962C8B-B14F-4D97-AF65-F5344CB8AC3E}">
        <p14:creationId xmlns:p14="http://schemas.microsoft.com/office/powerpoint/2010/main" val="3795578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247EC-4B1D-82EE-01DE-3AC29958C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D0F8D-A53A-4A46-5CDA-557D291725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B83111-A9C8-83C2-E5F9-6A2208B87DAC}"/>
              </a:ext>
            </a:extLst>
          </p:cNvPr>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a:extLst>
              <a:ext uri="{FF2B5EF4-FFF2-40B4-BE49-F238E27FC236}">
                <a16:creationId xmlns:a16="http://schemas.microsoft.com/office/drawing/2014/main" id="{2EEA8FDF-AAB2-174C-3A07-DDFC0F5FA6FB}"/>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325C965-A560-2971-416A-EBB62A4A749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3F1E2FB-4872-EF04-85D5-A02B49A9AD2F}"/>
              </a:ext>
            </a:extLst>
          </p:cNvPr>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a:extLst>
              <a:ext uri="{FF2B5EF4-FFF2-40B4-BE49-F238E27FC236}">
                <a16:creationId xmlns:a16="http://schemas.microsoft.com/office/drawing/2014/main" id="{F63E6CCB-C387-D828-FDDF-80BDA1608D89}"/>
              </a:ext>
            </a:extLst>
          </p:cNvPr>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2660716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7C0DD-12E2-9561-7000-983864590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1B0F3-F1DC-6F32-C298-D2529280FA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DF5C3A-A2FE-F1DB-057A-5E4AC0F0D12C}"/>
              </a:ext>
            </a:extLst>
          </p:cNvPr>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Encourage good habits: “Prototype prompts here before writing code—save time and reduce confusion.”</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the knobs: temperature/max tokens/system message.</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Highlight code sample selector: API type (</a:t>
            </a:r>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vs Responses), language, REST/SDK—this reduces “blank page syndrome.”</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7C5EFBDC-9CA8-EF1E-3537-E918DEB0B5E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8D79E71-12CF-56B1-7D7B-A1C9BB37324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95FB54ED-5A0D-A581-25BD-8AB08816709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99955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Teach the </a:t>
            </a:r>
            <a:r>
              <a:rPr lang="en-US" sz="882" b="0" i="1" kern="1200" dirty="0">
                <a:solidFill>
                  <a:schemeClr val="tx1"/>
                </a:solidFill>
                <a:effectLst/>
                <a:latin typeface="Segoe UI Light" pitchFamily="34" charset="0"/>
                <a:ea typeface="+mn-ea"/>
                <a:cs typeface="+mn-cs"/>
              </a:rPr>
              <a:t>decision</a:t>
            </a:r>
            <a:r>
              <a:rPr lang="en-US" sz="882" b="0" i="0" kern="1200" dirty="0">
                <a:solidFill>
                  <a:schemeClr val="tx1"/>
                </a:solidFill>
                <a:effectLst/>
                <a:latin typeface="Segoe UI Light" pitchFamily="34" charset="0"/>
                <a:ea typeface="+mn-ea"/>
                <a:cs typeface="+mn-cs"/>
              </a:rPr>
              <a:t>: Foundry Project endpoint + Foundry SDK when you want Foundry-native project operations and OpenAI-compatible interfaces for Foundry direct models.</a:t>
            </a:r>
          </a:p>
          <a:p>
            <a:pPr fontAlgn="t"/>
            <a:r>
              <a:rPr lang="en-US" sz="882" b="0" i="0" kern="1200" dirty="0">
                <a:solidFill>
                  <a:schemeClr val="tx1"/>
                </a:solidFill>
                <a:effectLst/>
                <a:latin typeface="Segoe UI Light" pitchFamily="34" charset="0"/>
                <a:ea typeface="+mn-ea"/>
                <a:cs typeface="+mn-cs"/>
              </a:rPr>
              <a:t>Azure OpenAI endpoint + OpenAI SDK when you want the full OpenAI API surface and broader model support.</a:t>
            </a:r>
          </a:p>
          <a:p>
            <a:pPr fontAlgn="t"/>
            <a:r>
              <a:rPr lang="en-US" sz="882" b="0" i="0" kern="1200" dirty="0">
                <a:solidFill>
                  <a:schemeClr val="tx1"/>
                </a:solidFill>
                <a:effectLst/>
                <a:latin typeface="Segoe UI Light" pitchFamily="34" charset="0"/>
                <a:ea typeface="+mn-ea"/>
                <a:cs typeface="+mn-cs"/>
              </a:rPr>
              <a:t>Call out authentication differences: Foundry Project uses Microsoft Entra ID; Azure OpenAI can use Entra ID or API key. Highlight the “Chat API” row: Responses API limitations/availability vs Responses/</a:t>
            </a:r>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breadth. Trainer tip: pause here—learners often mix endpoints and SDKs; repeat: “Endpoint choice drives auth &amp; API surface.”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When showing code, explain what each client is doing (project client → get OpenAI client).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3031590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Explain the pattern: Responses API supports multi-turn by tracking </a:t>
            </a:r>
            <a:r>
              <a:rPr lang="en-US" sz="882" b="0" i="0" kern="1200" dirty="0" err="1">
                <a:solidFill>
                  <a:schemeClr val="tx1"/>
                </a:solidFill>
                <a:effectLst/>
                <a:latin typeface="Segoe UI Light" pitchFamily="34" charset="0"/>
                <a:ea typeface="+mn-ea"/>
                <a:cs typeface="+mn-cs"/>
              </a:rPr>
              <a:t>previous_response_id</a:t>
            </a:r>
            <a:r>
              <a:rPr lang="en-US" sz="882" b="0" i="0" kern="1200" dirty="0">
                <a:solidFill>
                  <a:schemeClr val="tx1"/>
                </a:solidFill>
                <a:effectLst/>
                <a:latin typeface="Segoe UI Light" pitchFamily="34" charset="0"/>
                <a:ea typeface="+mn-ea"/>
                <a:cs typeface="+mn-cs"/>
              </a:rPr>
              <a:t>. Clarify what to notice in code: instructions sets behavior (“helpful AI assistant…”).</a:t>
            </a:r>
          </a:p>
          <a:p>
            <a:pPr fontAlgn="t"/>
            <a:r>
              <a:rPr lang="en-US" sz="882" b="0" i="0" kern="1200" dirty="0" err="1">
                <a:solidFill>
                  <a:schemeClr val="tx1"/>
                </a:solidFill>
                <a:effectLst/>
                <a:latin typeface="Segoe UI Light" pitchFamily="34" charset="0"/>
                <a:ea typeface="+mn-ea"/>
                <a:cs typeface="+mn-cs"/>
              </a:rPr>
              <a:t>previous_response_id</a:t>
            </a:r>
            <a:r>
              <a:rPr lang="en-US" sz="882" b="0" i="0" kern="1200" dirty="0">
                <a:solidFill>
                  <a:schemeClr val="tx1"/>
                </a:solidFill>
                <a:effectLst/>
                <a:latin typeface="Segoe UI Light" pitchFamily="34" charset="0"/>
                <a:ea typeface="+mn-ea"/>
                <a:cs typeface="+mn-cs"/>
              </a:rPr>
              <a:t> carries conversation continuity.</a:t>
            </a:r>
          </a:p>
          <a:p>
            <a:pPr fontAlgn="t"/>
            <a:r>
              <a:rPr lang="en-US" sz="882" b="0" i="0" kern="1200" dirty="0" err="1">
                <a:solidFill>
                  <a:schemeClr val="tx1"/>
                </a:solidFill>
                <a:effectLst/>
                <a:latin typeface="Segoe UI Light" pitchFamily="34" charset="0"/>
                <a:ea typeface="+mn-ea"/>
                <a:cs typeface="+mn-cs"/>
              </a:rPr>
              <a:t>response.output_text</a:t>
            </a:r>
            <a:r>
              <a:rPr lang="en-US" sz="882" b="0" i="0" kern="1200" dirty="0">
                <a:solidFill>
                  <a:schemeClr val="tx1"/>
                </a:solidFill>
                <a:effectLst/>
                <a:latin typeface="Segoe UI Light" pitchFamily="34" charset="0"/>
                <a:ea typeface="+mn-ea"/>
                <a:cs typeface="+mn-cs"/>
              </a:rPr>
              <a:t> is the simplified way to print final output.</a:t>
            </a:r>
          </a:p>
          <a:p>
            <a:pPr fontAlgn="t"/>
            <a:r>
              <a:rPr lang="en-US" sz="882" b="0" i="0" kern="1200" dirty="0">
                <a:solidFill>
                  <a:schemeClr val="tx1"/>
                </a:solidFill>
                <a:effectLst/>
                <a:latin typeface="Segoe UI Light" pitchFamily="34" charset="0"/>
                <a:ea typeface="+mn-ea"/>
                <a:cs typeface="+mn-cs"/>
              </a:rPr>
              <a:t>Teaching tip: emphasize that this is the “newer” pattern learners will see increasingly across examples.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1219899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5339-4611-8CFA-F9D5-14017F5CC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DC907-6D68-3576-F64B-82FC4055F3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3AF82FB-A050-FE1F-16E7-6508335B410D}"/>
              </a:ext>
            </a:extLst>
          </p:cNvPr>
          <p:cNvSpPr>
            <a:spLocks noGrp="1"/>
          </p:cNvSpPr>
          <p:nvPr>
            <p:ph type="body" idx="1"/>
          </p:nvPr>
        </p:nvSpPr>
        <p:spPr/>
        <p:txBody>
          <a:bodyPr/>
          <a:lstStyle/>
          <a:p>
            <a:pPr fontAlgn="t"/>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API: client manages full conversation history; payload grows each turn.</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Responses API: server manages state; app sends only latest input and response ID; payload stays constant.</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Both APIs follow: initialize → call → get output → update state.</a:t>
            </a:r>
            <a:br>
              <a:rPr lang="en-US" sz="882" b="0" i="0" kern="1200" dirty="0">
                <a:solidFill>
                  <a:schemeClr val="tx1"/>
                </a:solidFill>
                <a:effectLst/>
                <a:latin typeface="Segoe UI Light" pitchFamily="34" charset="0"/>
                <a:ea typeface="+mn-ea"/>
                <a:cs typeface="+mn-cs"/>
              </a:rPr>
            </a:br>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 more control, more complexity; Responses = simpler, recommended for new apps.</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Key takeaway: Prefer Responses API unless you need custom memory handling.</a:t>
            </a:r>
          </a:p>
        </p:txBody>
      </p:sp>
      <p:sp>
        <p:nvSpPr>
          <p:cNvPr id="4" name="Header Placeholder 3">
            <a:extLst>
              <a:ext uri="{FF2B5EF4-FFF2-40B4-BE49-F238E27FC236}">
                <a16:creationId xmlns:a16="http://schemas.microsoft.com/office/drawing/2014/main" id="{FF96AB42-A09A-11D1-FFEF-8A13E817ED9F}"/>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62603D6-DAC6-1D2D-23B8-93306F7606E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E190E38-F07B-E89B-59C6-F2C4D6F15212}"/>
              </a:ext>
            </a:extLst>
          </p:cNvPr>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a:extLst>
              <a:ext uri="{FF2B5EF4-FFF2-40B4-BE49-F238E27FC236}">
                <a16:creationId xmlns:a16="http://schemas.microsoft.com/office/drawing/2014/main" id="{83860EF4-7C80-5A01-7837-71C8105FFAF4}"/>
              </a:ext>
            </a:extLst>
          </p:cNvPr>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972302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90B4A-79A9-A2D3-F148-8C75677B5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5B4DD-64E9-98C2-99C3-C6950F8FE9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B0E008-17D1-4F3E-AA4A-414645D59FE1}"/>
              </a:ext>
            </a:extLst>
          </p:cNvPr>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Explain the pattern: Responses API supports multi-turn by tracking </a:t>
            </a:r>
            <a:r>
              <a:rPr lang="en-US" sz="882" b="0" i="0" kern="1200" dirty="0" err="1">
                <a:solidFill>
                  <a:schemeClr val="tx1"/>
                </a:solidFill>
                <a:effectLst/>
                <a:latin typeface="Segoe UI Light" pitchFamily="34" charset="0"/>
                <a:ea typeface="+mn-ea"/>
                <a:cs typeface="+mn-cs"/>
              </a:rPr>
              <a:t>previous_response_id</a:t>
            </a:r>
            <a:r>
              <a:rPr lang="en-US" sz="882" b="0" i="0" kern="1200" dirty="0">
                <a:solidFill>
                  <a:schemeClr val="tx1"/>
                </a:solidFill>
                <a:effectLst/>
                <a:latin typeface="Segoe UI Light" pitchFamily="34" charset="0"/>
                <a:ea typeface="+mn-ea"/>
                <a:cs typeface="+mn-cs"/>
              </a:rPr>
              <a:t>. Clarify what to notice in code: instructions sets behavior (“helpful AI assistant…”).</a:t>
            </a:r>
          </a:p>
          <a:p>
            <a:pPr fontAlgn="t"/>
            <a:r>
              <a:rPr lang="en-US" sz="882" b="0" i="0" kern="1200" dirty="0" err="1">
                <a:solidFill>
                  <a:schemeClr val="tx1"/>
                </a:solidFill>
                <a:effectLst/>
                <a:latin typeface="Segoe UI Light" pitchFamily="34" charset="0"/>
                <a:ea typeface="+mn-ea"/>
                <a:cs typeface="+mn-cs"/>
              </a:rPr>
              <a:t>previous_response_id</a:t>
            </a:r>
            <a:r>
              <a:rPr lang="en-US" sz="882" b="0" i="0" kern="1200" dirty="0">
                <a:solidFill>
                  <a:schemeClr val="tx1"/>
                </a:solidFill>
                <a:effectLst/>
                <a:latin typeface="Segoe UI Light" pitchFamily="34" charset="0"/>
                <a:ea typeface="+mn-ea"/>
                <a:cs typeface="+mn-cs"/>
              </a:rPr>
              <a:t> carries conversation continuity.</a:t>
            </a:r>
          </a:p>
          <a:p>
            <a:pPr fontAlgn="t"/>
            <a:r>
              <a:rPr lang="en-US" sz="882" b="0" i="0" kern="1200" dirty="0" err="1">
                <a:solidFill>
                  <a:schemeClr val="tx1"/>
                </a:solidFill>
                <a:effectLst/>
                <a:latin typeface="Segoe UI Light" pitchFamily="34" charset="0"/>
                <a:ea typeface="+mn-ea"/>
                <a:cs typeface="+mn-cs"/>
              </a:rPr>
              <a:t>response.output_text</a:t>
            </a:r>
            <a:r>
              <a:rPr lang="en-US" sz="882" b="0" i="0" kern="1200" dirty="0">
                <a:solidFill>
                  <a:schemeClr val="tx1"/>
                </a:solidFill>
                <a:effectLst/>
                <a:latin typeface="Segoe UI Light" pitchFamily="34" charset="0"/>
                <a:ea typeface="+mn-ea"/>
                <a:cs typeface="+mn-cs"/>
              </a:rPr>
              <a:t> is the simplified way to print final output.</a:t>
            </a:r>
          </a:p>
          <a:p>
            <a:pPr fontAlgn="t"/>
            <a:r>
              <a:rPr lang="en-US" sz="882" b="0" i="0" kern="1200" dirty="0">
                <a:solidFill>
                  <a:schemeClr val="tx1"/>
                </a:solidFill>
                <a:effectLst/>
                <a:latin typeface="Segoe UI Light" pitchFamily="34" charset="0"/>
                <a:ea typeface="+mn-ea"/>
                <a:cs typeface="+mn-cs"/>
              </a:rPr>
              <a:t>Teaching tip: emphasize that this is the “newer” pattern learners will see increasingly across examples.</a:t>
            </a:r>
          </a:p>
          <a:p>
            <a:endParaRPr lang="en-US" dirty="0"/>
          </a:p>
        </p:txBody>
      </p:sp>
      <p:sp>
        <p:nvSpPr>
          <p:cNvPr id="4" name="Header Placeholder 3">
            <a:extLst>
              <a:ext uri="{FF2B5EF4-FFF2-40B4-BE49-F238E27FC236}">
                <a16:creationId xmlns:a16="http://schemas.microsoft.com/office/drawing/2014/main" id="{D100A802-5A7A-C04F-8B06-474A72D6E8CB}"/>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7EB65088-534C-A838-0D8C-50AE7A0D15BC}"/>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6712383-0FC1-A30D-D43F-5B771CC12531}"/>
              </a:ext>
            </a:extLst>
          </p:cNvPr>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a:extLst>
              <a:ext uri="{FF2B5EF4-FFF2-40B4-BE49-F238E27FC236}">
                <a16:creationId xmlns:a16="http://schemas.microsoft.com/office/drawing/2014/main" id="{F33912E6-ACE4-411A-57FC-5D3F4992DE51}"/>
              </a:ext>
            </a:extLst>
          </p:cNvPr>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1601968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Position this as the “messages array” pattern that many developers already know.</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Highlight the structure: system message → append user → request completion → append assistant.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Trainer tip: explain that both patterns exist; your choice depends on endpoint/features and sample alignment.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2813860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0CFFD-BE21-23A9-1401-B0ED6D037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157AF-A05A-E70F-C642-1202E4CD05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DE77AD-3011-5B27-7A27-70FDC4824B3B}"/>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FDA969C3-AA1C-039D-2212-1E895C1DE8D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77B68FC-CA67-DD94-AA11-9D411928F43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917BAB5-8370-DF84-C1DB-42ADED6C0D2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B75012A-BC49-A50E-B649-334FAD3C89C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69557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91F81-7467-BA88-75E4-88C541855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E6FB4-02E1-D72B-3E1D-E70185435D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EA47B2-FFD4-E18F-6353-1F9FFE72A2EC}"/>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8D911C2-8FFD-9633-4624-783534FF31FB}"/>
              </a:ext>
            </a:extLst>
          </p:cNvPr>
          <p:cNvSpPr>
            <a:spLocks noGrp="1"/>
          </p:cNvSpPr>
          <p:nvPr>
            <p:ph type="sldNum" sz="quarter" idx="5"/>
          </p:nvPr>
        </p:nvSpPr>
        <p:spPr/>
        <p:txBody>
          <a:bodyPr/>
          <a:lstStyle/>
          <a:p>
            <a:fld id="{97E04F8E-88E9-481C-A2B3-C92BCE611EF5}" type="slidenum">
              <a:rPr lang="en-US" smtClean="0"/>
              <a:t>26</a:t>
            </a:fld>
            <a:endParaRPr lang="en-US" dirty="0"/>
          </a:p>
        </p:txBody>
      </p:sp>
    </p:spTree>
    <p:extLst>
      <p:ext uri="{BB962C8B-B14F-4D97-AF65-F5344CB8AC3E}">
        <p14:creationId xmlns:p14="http://schemas.microsoft.com/office/powerpoint/2010/main" val="3886623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445E8-A5C8-2719-8336-3FA50863C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303E0-62E4-1567-74DC-F79B382568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240884-EF11-D912-49EF-B6C325D13205}"/>
              </a:ext>
            </a:extLst>
          </p:cNvPr>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a:extLst>
              <a:ext uri="{FF2B5EF4-FFF2-40B4-BE49-F238E27FC236}">
                <a16:creationId xmlns:a16="http://schemas.microsoft.com/office/drawing/2014/main" id="{371226F1-32F4-C5DB-73FD-B389D34D3225}"/>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1373347-A04A-CE6E-FAF8-EAD64A4EA966}"/>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61C0C75-9A2A-F401-DD56-3131C1E8C096}"/>
              </a:ext>
            </a:extLst>
          </p:cNvPr>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a:extLst>
              <a:ext uri="{FF2B5EF4-FFF2-40B4-BE49-F238E27FC236}">
                <a16:creationId xmlns:a16="http://schemas.microsoft.com/office/drawing/2014/main" id="{4E7BE6CE-8B1A-3133-234C-CC724046376D}"/>
              </a:ext>
            </a:extLst>
          </p:cNvPr>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27255847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8F467-A3F4-FEB8-BE63-6DCFF474D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22EA2-1A19-AA59-1E8F-CD96FC8888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0ADAE1-A2D1-295C-A835-C2F9B07B8FD7}"/>
              </a:ext>
            </a:extLst>
          </p:cNvPr>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Simple definition: “Tools let the model reach beyond its training cutoff: retrieve info, run code, search files, call your functions.”</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Tie to app architecture: “Your app orchestrates tool calls; the model decides when to use them (based on what you allow).”</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Highlight the common tools listed: </a:t>
            </a:r>
            <a:r>
              <a:rPr lang="en-US" sz="882" b="0" i="0" kern="1200" dirty="0" err="1">
                <a:solidFill>
                  <a:schemeClr val="tx1"/>
                </a:solidFill>
                <a:effectLst/>
                <a:latin typeface="Segoe UI Light" pitchFamily="34" charset="0"/>
                <a:ea typeface="+mn-ea"/>
                <a:cs typeface="+mn-cs"/>
              </a:rPr>
              <a:t>code_interpreter</a:t>
            </a:r>
            <a:r>
              <a:rPr lang="en-US" sz="882" b="0" i="0" kern="1200" dirty="0">
                <a:solidFill>
                  <a:schemeClr val="tx1"/>
                </a:solidFill>
                <a:effectLst/>
                <a:latin typeface="Segoe UI Light" pitchFamily="34" charset="0"/>
                <a:ea typeface="+mn-ea"/>
                <a:cs typeface="+mn-cs"/>
              </a:rPr>
              <a:t>, </a:t>
            </a:r>
            <a:r>
              <a:rPr lang="en-US" sz="882" b="0" i="0" kern="1200" dirty="0" err="1">
                <a:solidFill>
                  <a:schemeClr val="tx1"/>
                </a:solidFill>
                <a:effectLst/>
                <a:latin typeface="Segoe UI Light" pitchFamily="34" charset="0"/>
                <a:ea typeface="+mn-ea"/>
                <a:cs typeface="+mn-cs"/>
              </a:rPr>
              <a:t>web_search</a:t>
            </a:r>
            <a:r>
              <a:rPr lang="en-US" sz="882" b="0" i="0" kern="1200" dirty="0">
                <a:solidFill>
                  <a:schemeClr val="tx1"/>
                </a:solidFill>
                <a:effectLst/>
                <a:latin typeface="Segoe UI Light" pitchFamily="34" charset="0"/>
                <a:ea typeface="+mn-ea"/>
                <a:cs typeface="+mn-cs"/>
              </a:rPr>
              <a:t>, </a:t>
            </a:r>
            <a:r>
              <a:rPr lang="en-US" sz="882" b="0" i="0" kern="1200" dirty="0" err="1">
                <a:solidFill>
                  <a:schemeClr val="tx1"/>
                </a:solidFill>
                <a:effectLst/>
                <a:latin typeface="Segoe UI Light" pitchFamily="34" charset="0"/>
                <a:ea typeface="+mn-ea"/>
                <a:cs typeface="+mn-cs"/>
              </a:rPr>
              <a:t>file_search</a:t>
            </a:r>
            <a:r>
              <a:rPr lang="en-US" sz="882" b="0" i="0" kern="1200" dirty="0">
                <a:solidFill>
                  <a:schemeClr val="tx1"/>
                </a:solidFill>
                <a:effectLst/>
                <a:latin typeface="Segoe UI Light" pitchFamily="34" charset="0"/>
                <a:ea typeface="+mn-ea"/>
                <a:cs typeface="+mn-cs"/>
              </a:rPr>
              <a:t>, function.</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54440392-72A3-C289-0B5F-C9982C5FDFB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4F923B3-F64A-0C65-5AD0-5FE3F23B616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F4C01D9F-A1F1-FFB2-91BD-23EFC3016D4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74403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D24D-1ED5-5197-8E7D-AA9EE3F80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BE13-C3C3-191E-9F1E-D697C11762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C402AD-874A-9E3F-3578-7B1CDE77E88B}"/>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what’s happening: you’re allowing the model to run Python in a sandboxed environment to solve tasks.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Emphasize the “tools” parameter and container settings—this is how you explicitly permit capabilities.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warn learners not to confuse this with local execution in their app; it’s sandboxed runtime as part of the model toolchain.</a:t>
            </a:r>
          </a:p>
          <a:p>
            <a:endParaRPr lang="en-US" dirty="0"/>
          </a:p>
        </p:txBody>
      </p:sp>
      <p:sp>
        <p:nvSpPr>
          <p:cNvPr id="4" name="Header Placeholder 3">
            <a:extLst>
              <a:ext uri="{FF2B5EF4-FFF2-40B4-BE49-F238E27FC236}">
                <a16:creationId xmlns:a16="http://schemas.microsoft.com/office/drawing/2014/main" id="{F07E5912-1EDC-FDDC-F507-8DB368710628}"/>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31AD4CAE-F4C7-DD0D-5413-4D9EB3DDBC4B}"/>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9F9669F-787B-B4F4-8B52-A6786226BEA6}"/>
              </a:ext>
            </a:extLst>
          </p:cNvPr>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a:extLst>
              <a:ext uri="{FF2B5EF4-FFF2-40B4-BE49-F238E27FC236}">
                <a16:creationId xmlns:a16="http://schemas.microsoft.com/office/drawing/2014/main" id="{F149AF04-0CC0-4029-82AE-4E9E51B35593}"/>
              </a:ext>
            </a:extLst>
          </p:cNvPr>
          <p:cNvSpPr>
            <a:spLocks noGrp="1"/>
          </p:cNvSpPr>
          <p:nvPr>
            <p:ph type="sldNum" sz="quarter" idx="5"/>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3472984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1943-3740-7FCC-0CE9-2B47C9E8A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4DD9A-215E-DE23-E193-DBD518978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8CDA2-5A3F-1FF2-4973-172F4A8926CD}"/>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Key message: “Use web search when </a:t>
            </a:r>
            <a:r>
              <a:rPr lang="en-US" sz="882" b="0" i="1" kern="1200" dirty="0">
                <a:solidFill>
                  <a:schemeClr val="tx1"/>
                </a:solidFill>
                <a:effectLst/>
                <a:latin typeface="Segoe UI Light" pitchFamily="34" charset="0"/>
                <a:ea typeface="+mn-ea"/>
                <a:cs typeface="+mn-cs"/>
              </a:rPr>
              <a:t>current information</a:t>
            </a:r>
            <a:r>
              <a:rPr lang="en-US" sz="882" b="0" i="0" kern="1200" dirty="0">
                <a:solidFill>
                  <a:schemeClr val="tx1"/>
                </a:solidFill>
                <a:effectLst/>
                <a:latin typeface="Segoe UI Light" pitchFamily="34" charset="0"/>
                <a:ea typeface="+mn-ea"/>
                <a:cs typeface="+mn-cs"/>
              </a:rPr>
              <a:t> is required—otherwise you risk outdated answers.”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Highlight the explicit tool enablement: </a:t>
            </a:r>
            <a:r>
              <a:rPr lang="en-US" sz="882" b="0" i="0" kern="1200" dirty="0" err="1">
                <a:solidFill>
                  <a:schemeClr val="tx1"/>
                </a:solidFill>
                <a:effectLst/>
                <a:latin typeface="Segoe UI Light" pitchFamily="34" charset="0"/>
                <a:ea typeface="+mn-ea"/>
                <a:cs typeface="+mn-cs"/>
              </a:rPr>
              <a:t>web</a:t>
            </a:r>
            <a:r>
              <a:rPr lang="en-US" sz="882" b="0" i="0" kern="1200" err="1">
                <a:solidFill>
                  <a:schemeClr val="tx1"/>
                </a:solidFill>
                <a:effectLst/>
                <a:latin typeface="Segoe UI Light" pitchFamily="34" charset="0"/>
                <a:ea typeface="+mn-ea"/>
                <a:cs typeface="+mn-cs"/>
              </a:rPr>
              <a:t>_</a:t>
            </a:r>
            <a:r>
              <a:rPr lang="en-US" sz="882" b="0" i="0" kern="1200">
                <a:solidFill>
                  <a:schemeClr val="tx1"/>
                </a:solidFill>
                <a:effectLst/>
                <a:latin typeface="Segoe UI Light" pitchFamily="34" charset="0"/>
                <a:ea typeface="+mn-ea"/>
                <a:cs typeface="+mn-cs"/>
              </a:rPr>
              <a:t>search.</a:t>
            </a:r>
            <a:endParaRPr lang="en-US" sz="882" b="0" i="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Trainer tip: connect to real scenarios: product announcements, live pricing changes, recent policy updates.</a:t>
            </a:r>
          </a:p>
          <a:p>
            <a:endParaRPr lang="en-US" dirty="0"/>
          </a:p>
        </p:txBody>
      </p:sp>
      <p:sp>
        <p:nvSpPr>
          <p:cNvPr id="4" name="Header Placeholder 3">
            <a:extLst>
              <a:ext uri="{FF2B5EF4-FFF2-40B4-BE49-F238E27FC236}">
                <a16:creationId xmlns:a16="http://schemas.microsoft.com/office/drawing/2014/main" id="{5F83C276-5A91-2E99-7680-9AC6796FD50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8416D8F-C709-F53F-00B7-F44CE4DE87E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E66CEF8-9008-DB60-2F81-A641E2C4E387}"/>
              </a:ext>
            </a:extLst>
          </p:cNvPr>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a:extLst>
              <a:ext uri="{FF2B5EF4-FFF2-40B4-BE49-F238E27FC236}">
                <a16:creationId xmlns:a16="http://schemas.microsoft.com/office/drawing/2014/main" id="{9FCE2241-4C21-6C9F-6224-9F25F90CE2BD}"/>
              </a:ext>
            </a:extLst>
          </p:cNvPr>
          <p:cNvSpPr>
            <a:spLocks noGrp="1"/>
          </p:cNvSpPr>
          <p:nvPr>
            <p:ph type="sldNum" sz="quarter" idx="5"/>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17600873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E514-8684-8A79-7072-F2C092250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8543C-A0BB-7434-2594-DADCE2F281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65B906-4FDB-D3B6-281A-A97AE030DAD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the </a:t>
            </a:r>
            <a:r>
              <a:rPr lang="en-US" sz="882" b="0" i="0" kern="1200">
                <a:solidFill>
                  <a:schemeClr val="tx1"/>
                </a:solidFill>
                <a:effectLst/>
                <a:latin typeface="Segoe UI Light" pitchFamily="34" charset="0"/>
                <a:ea typeface="+mn-ea"/>
                <a:cs typeface="+mn-cs"/>
              </a:rPr>
              <a:t>pattern: create </a:t>
            </a:r>
            <a:r>
              <a:rPr lang="en-US" sz="882" b="0" i="0" kern="1200" dirty="0">
                <a:solidFill>
                  <a:schemeClr val="tx1"/>
                </a:solidFill>
                <a:effectLst/>
                <a:latin typeface="Segoe UI Light" pitchFamily="34" charset="0"/>
                <a:ea typeface="+mn-ea"/>
                <a:cs typeface="+mn-cs"/>
              </a:rPr>
              <a:t>a </a:t>
            </a:r>
            <a:r>
              <a:rPr lang="en-US" sz="882" b="0" i="0" kern="1200">
                <a:solidFill>
                  <a:schemeClr val="tx1"/>
                </a:solidFill>
                <a:effectLst/>
                <a:latin typeface="Segoe UI Light" pitchFamily="34" charset="0"/>
                <a:ea typeface="+mn-ea"/>
                <a:cs typeface="+mn-cs"/>
              </a:rPr>
              <a:t>vector store → upload docs → query using </a:t>
            </a:r>
            <a:r>
              <a:rPr lang="en-US" sz="882" b="0" i="0" kern="1200" err="1">
                <a:solidFill>
                  <a:schemeClr val="tx1"/>
                </a:solidFill>
                <a:effectLst/>
                <a:latin typeface="Segoe UI Light" pitchFamily="34" charset="0"/>
                <a:ea typeface="+mn-ea"/>
                <a:cs typeface="+mn-cs"/>
              </a:rPr>
              <a:t>file_search</a:t>
            </a:r>
            <a:r>
              <a:rPr lang="en-US" sz="882" b="0" i="0" kern="1200">
                <a:solidFill>
                  <a:schemeClr val="tx1"/>
                </a:solidFill>
                <a:effectLst/>
                <a:latin typeface="Segoe UI Light" pitchFamily="34" charset="0"/>
                <a:ea typeface="+mn-ea"/>
                <a:cs typeface="+mn-cs"/>
              </a:rPr>
              <a:t> referencing </a:t>
            </a:r>
            <a:r>
              <a:rPr lang="en-US" sz="882" b="0" i="0" kern="1200" err="1">
                <a:solidFill>
                  <a:schemeClr val="tx1"/>
                </a:solidFill>
                <a:effectLst/>
                <a:latin typeface="Segoe UI Light" pitchFamily="34" charset="0"/>
                <a:ea typeface="+mn-ea"/>
                <a:cs typeface="+mn-cs"/>
              </a:rPr>
              <a:t>vector_store</a:t>
            </a:r>
            <a:r>
              <a:rPr lang="en-US" sz="882" b="0" i="0" kern="1200">
                <a:solidFill>
                  <a:schemeClr val="tx1"/>
                </a:solidFill>
                <a:effectLst/>
                <a:latin typeface="Segoe UI Light" pitchFamily="34" charset="0"/>
                <a:ea typeface="+mn-ea"/>
                <a:cs typeface="+mn-cs"/>
              </a:rPr>
              <a:t> IDs</a:t>
            </a:r>
            <a:r>
              <a:rPr lang="en-US" sz="882" b="0" i="0" kern="1200" dirty="0">
                <a:solidFill>
                  <a:schemeClr val="tx1"/>
                </a:solidFill>
                <a:effectLst/>
                <a:latin typeface="Segoe UI Light" pitchFamily="34" charset="0"/>
                <a:ea typeface="+mn-ea"/>
                <a:cs typeface="+mn-cs"/>
              </a:rPr>
              <a: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Emphasize </a:t>
            </a:r>
            <a:r>
              <a:rPr lang="en-US" sz="882" b="0" i="0" kern="1200">
                <a:solidFill>
                  <a:schemeClr val="tx1"/>
                </a:solidFill>
                <a:effectLst/>
                <a:latin typeface="Segoe UI Light" pitchFamily="34" charset="0"/>
                <a:ea typeface="+mn-ea"/>
                <a:cs typeface="+mn-cs"/>
              </a:rPr>
              <a:t>citations: including include=["</a:t>
            </a:r>
            <a:r>
              <a:rPr lang="en-US" sz="882" b="0" i="0" kern="1200" err="1">
                <a:solidFill>
                  <a:schemeClr val="tx1"/>
                </a:solidFill>
                <a:effectLst/>
                <a:latin typeface="Segoe UI Light" pitchFamily="34" charset="0"/>
                <a:ea typeface="+mn-ea"/>
                <a:cs typeface="+mn-cs"/>
              </a:rPr>
              <a:t>file_search_call.results</a:t>
            </a:r>
            <a:r>
              <a:rPr lang="en-US" sz="882" b="0" i="0" kern="1200">
                <a:solidFill>
                  <a:schemeClr val="tx1"/>
                </a:solidFill>
                <a:effectLst/>
                <a:latin typeface="Segoe UI Light" pitchFamily="34" charset="0"/>
                <a:ea typeface="+mn-ea"/>
                <a:cs typeface="+mn-cs"/>
              </a:rPr>
              <a:t>"] supports traceability in outputs</a:t>
            </a:r>
            <a:r>
              <a:rPr lang="en-US" sz="882" b="0" i="0" kern="1200" dirty="0">
                <a:solidFill>
                  <a:schemeClr val="tx1"/>
                </a:solidFill>
                <a:effectLst/>
                <a:latin typeface="Segoe UI Light" pitchFamily="34" charset="0"/>
                <a:ea typeface="+mn-ea"/>
                <a:cs typeface="+mn-cs"/>
              </a:rPr>
              <a: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a:t>
            </a:r>
            <a:r>
              <a:rPr lang="en-US" sz="882" b="0" i="0" kern="1200">
                <a:solidFill>
                  <a:schemeClr val="tx1"/>
                </a:solidFill>
                <a:effectLst/>
                <a:latin typeface="Segoe UI Light" pitchFamily="34" charset="0"/>
                <a:ea typeface="+mn-ea"/>
                <a:cs typeface="+mn-cs"/>
              </a:rPr>
              <a:t>relate </a:t>
            </a:r>
            <a:r>
              <a:rPr lang="en-US" sz="882" b="0" i="0" kern="1200" dirty="0">
                <a:solidFill>
                  <a:schemeClr val="tx1"/>
                </a:solidFill>
                <a:effectLst/>
                <a:latin typeface="Segoe UI Light" pitchFamily="34" charset="0"/>
                <a:ea typeface="+mn-ea"/>
                <a:cs typeface="+mn-cs"/>
              </a:rPr>
              <a:t>to </a:t>
            </a:r>
            <a:r>
              <a:rPr lang="en-US" sz="882" b="0" i="0" kern="1200">
                <a:solidFill>
                  <a:schemeClr val="tx1"/>
                </a:solidFill>
                <a:effectLst/>
                <a:latin typeface="Segoe UI Light" pitchFamily="34" charset="0"/>
                <a:ea typeface="+mn-ea"/>
                <a:cs typeface="+mn-cs"/>
              </a:rPr>
              <a:t>enterprise use cases: HR policies, product manuals, internal SOPs—</a:t>
            </a:r>
            <a:r>
              <a:rPr lang="en-US" sz="882" b="0" i="0" kern="1200" dirty="0">
                <a:solidFill>
                  <a:schemeClr val="tx1"/>
                </a:solidFill>
                <a:effectLst/>
                <a:latin typeface="Segoe UI Light" pitchFamily="34" charset="0"/>
                <a:ea typeface="+mn-ea"/>
                <a:cs typeface="+mn-cs"/>
              </a:rPr>
              <a:t>this </a:t>
            </a:r>
            <a:r>
              <a:rPr lang="en-US" sz="882" b="0" i="0" kern="1200">
                <a:solidFill>
                  <a:schemeClr val="tx1"/>
                </a:solidFill>
                <a:effectLst/>
                <a:latin typeface="Segoe UI Light" pitchFamily="34" charset="0"/>
                <a:ea typeface="+mn-ea"/>
                <a:cs typeface="+mn-cs"/>
              </a:rPr>
              <a:t>is RAG </a:t>
            </a:r>
            <a:r>
              <a:rPr lang="en-US" sz="882" b="0" i="0" kern="1200" dirty="0">
                <a:solidFill>
                  <a:schemeClr val="tx1"/>
                </a:solidFill>
                <a:effectLst/>
                <a:latin typeface="Segoe UI Light" pitchFamily="34" charset="0"/>
                <a:ea typeface="+mn-ea"/>
                <a:cs typeface="+mn-cs"/>
              </a:rPr>
              <a:t>in </a:t>
            </a:r>
            <a:r>
              <a:rPr lang="en-US" sz="882" b="0" i="0" kern="1200">
                <a:solidFill>
                  <a:schemeClr val="tx1"/>
                </a:solidFill>
                <a:effectLst/>
                <a:latin typeface="Segoe UI Light" pitchFamily="34" charset="0"/>
                <a:ea typeface="+mn-ea"/>
                <a:cs typeface="+mn-cs"/>
              </a:rPr>
              <a:t>practice</a:t>
            </a:r>
            <a:r>
              <a:rPr lang="en-US" sz="882" b="0" i="0" kern="1200" dirty="0">
                <a:solidFill>
                  <a:schemeClr val="tx1"/>
                </a:solidFill>
                <a:effectLst/>
                <a:latin typeface="Segoe UI Light" pitchFamily="34" charset="0"/>
                <a:ea typeface="+mn-ea"/>
                <a:cs typeface="+mn-cs"/>
              </a:rPr>
              <a:t>.</a:t>
            </a:r>
          </a:p>
          <a:p>
            <a:endParaRPr lang="en-US" dirty="0"/>
          </a:p>
        </p:txBody>
      </p:sp>
      <p:sp>
        <p:nvSpPr>
          <p:cNvPr id="4" name="Header Placeholder 3">
            <a:extLst>
              <a:ext uri="{FF2B5EF4-FFF2-40B4-BE49-F238E27FC236}">
                <a16:creationId xmlns:a16="http://schemas.microsoft.com/office/drawing/2014/main" id="{77E229B1-1AD4-C428-22A8-7DE1A6AB6E1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4848EBB9-511B-A292-7981-4E41ACBD5280}"/>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AE05A1A-4237-700F-0CFD-41A1422A9D80}"/>
              </a:ext>
            </a:extLst>
          </p:cNvPr>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a:extLst>
              <a:ext uri="{FF2B5EF4-FFF2-40B4-BE49-F238E27FC236}">
                <a16:creationId xmlns:a16="http://schemas.microsoft.com/office/drawing/2014/main" id="{47E143C2-5555-28F4-ACBD-1A9244D96D8A}"/>
              </a:ext>
            </a:extLst>
          </p:cNvPr>
          <p:cNvSpPr>
            <a:spLocks noGrp="1"/>
          </p:cNvSpPr>
          <p:nvPr>
            <p:ph type="sldNum" sz="quarter" idx="5"/>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9948042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ECA6-3E22-5643-0740-2E880B394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7F2BA-0F97-F8F8-E91F-EE62E1922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96CFD-03F4-C2FB-F9C7-C4068C5EC213}"/>
              </a:ext>
            </a:extLst>
          </p:cNvPr>
          <p:cNvSpPr>
            <a:spLocks noGrp="1"/>
          </p:cNvSpPr>
          <p:nvPr>
            <p:ph type="body" idx="1"/>
          </p:nvPr>
        </p:nvSpPr>
        <p:spPr/>
        <p:txBody>
          <a:bodyPr/>
          <a:lstStyle/>
          <a:p>
            <a:pPr fontAlgn="t"/>
            <a:r>
              <a:rPr lang="en-US" sz="882" b="0" i="0" kern="1200">
                <a:solidFill>
                  <a:schemeClr val="tx1"/>
                </a:solidFill>
                <a:effectLst/>
                <a:latin typeface="Segoe UI Light" pitchFamily="34" charset="0"/>
                <a:ea typeface="+mn-ea"/>
                <a:cs typeface="+mn-cs"/>
              </a:rPr>
              <a:t>Explain orchestration clearly: Model proposes a </a:t>
            </a:r>
            <a:r>
              <a:rPr lang="en-US" sz="882" b="0" i="0" kern="1200" err="1">
                <a:solidFill>
                  <a:schemeClr val="tx1"/>
                </a:solidFill>
                <a:effectLst/>
                <a:latin typeface="Segoe UI Light" pitchFamily="34" charset="0"/>
                <a:ea typeface="+mn-ea"/>
                <a:cs typeface="+mn-cs"/>
              </a:rPr>
              <a:t>function_call</a:t>
            </a:r>
            <a:endParaRPr lang="en-US" sz="882" b="0" i="0" kern="1200">
              <a:solidFill>
                <a:schemeClr val="tx1"/>
              </a:solidFill>
              <a:effectLst/>
              <a:latin typeface="Segoe UI Light" pitchFamily="34" charset="0"/>
              <a:ea typeface="+mn-ea"/>
              <a:cs typeface="+mn-cs"/>
            </a:endParaRPr>
          </a:p>
          <a:p>
            <a:pPr fontAlgn="t"/>
            <a:r>
              <a:rPr lang="en-US" sz="882" b="0" i="0" kern="1200">
                <a:solidFill>
                  <a:schemeClr val="tx1"/>
                </a:solidFill>
                <a:effectLst/>
                <a:latin typeface="Segoe UI Light" pitchFamily="34" charset="0"/>
                <a:ea typeface="+mn-ea"/>
                <a:cs typeface="+mn-cs"/>
              </a:rPr>
              <a:t>Your app executes the function</a:t>
            </a:r>
          </a:p>
          <a:p>
            <a:pPr fontAlgn="t"/>
            <a:r>
              <a:rPr lang="en-US" sz="882" b="0" i="0" kern="1200">
                <a:solidFill>
                  <a:schemeClr val="tx1"/>
                </a:solidFill>
                <a:effectLst/>
                <a:latin typeface="Segoe UI Light" pitchFamily="34" charset="0"/>
                <a:ea typeface="+mn-ea"/>
                <a:cs typeface="+mn-cs"/>
              </a:rPr>
              <a:t>You send back </a:t>
            </a:r>
            <a:r>
              <a:rPr lang="en-US" sz="882" b="0" i="0" kern="1200" err="1">
                <a:solidFill>
                  <a:schemeClr val="tx1"/>
                </a:solidFill>
                <a:effectLst/>
                <a:latin typeface="Segoe UI Light" pitchFamily="34" charset="0"/>
                <a:ea typeface="+mn-ea"/>
                <a:cs typeface="+mn-cs"/>
              </a:rPr>
              <a:t>function_call_output</a:t>
            </a:r>
            <a:endParaRPr lang="en-US" sz="882" b="0" i="0" kern="1200">
              <a:solidFill>
                <a:schemeClr val="tx1"/>
              </a:solidFill>
              <a:effectLst/>
              <a:latin typeface="Segoe UI Light" pitchFamily="34" charset="0"/>
              <a:ea typeface="+mn-ea"/>
              <a:cs typeface="+mn-cs"/>
            </a:endParaRPr>
          </a:p>
          <a:p>
            <a:pPr fontAlgn="t"/>
            <a:r>
              <a:rPr lang="en-US" sz="882" b="0" i="0" kern="1200">
                <a:solidFill>
                  <a:schemeClr val="tx1"/>
                </a:solidFill>
                <a:effectLst/>
                <a:latin typeface="Segoe UI Light" pitchFamily="34" charset="0"/>
                <a:ea typeface="+mn-ea"/>
                <a:cs typeface="+mn-cs"/>
              </a:rPr>
              <a:t>Model returns final user-facing answer</a:t>
            </a:r>
          </a:p>
          <a:p>
            <a:pPr fontAlgn="t"/>
            <a:r>
              <a:rPr lang="en-US" sz="882" b="0" i="0" kern="1200">
                <a:solidFill>
                  <a:schemeClr val="tx1"/>
                </a:solidFill>
                <a:effectLst/>
                <a:latin typeface="Segoe UI Light" pitchFamily="34" charset="0"/>
                <a:ea typeface="+mn-ea"/>
                <a:cs typeface="+mn-cs"/>
              </a:rPr>
              <a:t>Stress the key learning: “The model doesn’t magically run your function—you do.”</a:t>
            </a:r>
          </a:p>
          <a:p>
            <a:pPr fontAlgn="t"/>
            <a:r>
              <a:rPr lang="en-US" sz="882" b="0" i="0" kern="1200">
                <a:solidFill>
                  <a:schemeClr val="tx1"/>
                </a:solidFill>
                <a:effectLst/>
                <a:latin typeface="Segoe UI Light" pitchFamily="34" charset="0"/>
                <a:ea typeface="+mn-ea"/>
                <a:cs typeface="+mn-cs"/>
              </a:rPr>
              <a:t>Trainer tip: pick a simple function (time, lookup, calculator) to keep focus on the workflow, not business logic.</a:t>
            </a:r>
          </a:p>
          <a:p>
            <a:endParaRPr lang="en-US"/>
          </a:p>
        </p:txBody>
      </p:sp>
      <p:sp>
        <p:nvSpPr>
          <p:cNvPr id="4" name="Header Placeholder 3">
            <a:extLst>
              <a:ext uri="{FF2B5EF4-FFF2-40B4-BE49-F238E27FC236}">
                <a16:creationId xmlns:a16="http://schemas.microsoft.com/office/drawing/2014/main" id="{FB599B11-C9AA-BAE0-90F1-3FAD6030566B}"/>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4D3A150B-4D6D-093E-DD07-76AD14BB7524}"/>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7022246-D77C-805F-0784-14A0BAB65357}"/>
              </a:ext>
            </a:extLst>
          </p:cNvPr>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a:extLst>
              <a:ext uri="{FF2B5EF4-FFF2-40B4-BE49-F238E27FC236}">
                <a16:creationId xmlns:a16="http://schemas.microsoft.com/office/drawing/2014/main" id="{3FE0738C-70B5-DB7D-9467-316B831E25AA}"/>
              </a:ext>
            </a:extLst>
          </p:cNvPr>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7227671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what’s happening: you’re allowing the model to run Python in a sandboxed environment to solve tasks.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Emphasize the “tools” parameter and container settings—this is how you explicitly permit capabilities.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warn learners not to confuse this with local execution in their app; it’s sandboxed runtime as part of the model toolchain.</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12556803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Key message: “Use web search when </a:t>
            </a:r>
            <a:r>
              <a:rPr lang="en-US" sz="882" b="0" i="1" kern="1200" dirty="0">
                <a:solidFill>
                  <a:schemeClr val="tx1"/>
                </a:solidFill>
                <a:effectLst/>
                <a:latin typeface="Segoe UI Light" pitchFamily="34" charset="0"/>
                <a:ea typeface="+mn-ea"/>
                <a:cs typeface="+mn-cs"/>
              </a:rPr>
              <a:t>current information</a:t>
            </a:r>
            <a:r>
              <a:rPr lang="en-US" sz="882" b="0" i="0" kern="1200" dirty="0">
                <a:solidFill>
                  <a:schemeClr val="tx1"/>
                </a:solidFill>
                <a:effectLst/>
                <a:latin typeface="Segoe UI Light" pitchFamily="34" charset="0"/>
                <a:ea typeface="+mn-ea"/>
                <a:cs typeface="+mn-cs"/>
              </a:rPr>
              <a:t> is required—otherwise you risk outdated answers.”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Highlight the explicit tool enablement: </a:t>
            </a:r>
            <a:r>
              <a:rPr lang="en-US" sz="882" b="0" i="0" kern="1200" dirty="0" err="1">
                <a:solidFill>
                  <a:schemeClr val="tx1"/>
                </a:solidFill>
                <a:effectLst/>
                <a:latin typeface="Segoe UI Light" pitchFamily="34" charset="0"/>
                <a:ea typeface="+mn-ea"/>
                <a:cs typeface="+mn-cs"/>
              </a:rPr>
              <a:t>web_search_preview</a:t>
            </a:r>
            <a:r>
              <a:rPr lang="en-US" sz="882" b="0" i="0" kern="1200" dirty="0">
                <a:solidFill>
                  <a:schemeClr val="tx1"/>
                </a:solidFill>
                <a:effectLst/>
                <a:latin typeface="Segoe UI Light" pitchFamily="34" charset="0"/>
                <a:ea typeface="+mn-ea"/>
                <a:cs typeface="+mn-cs"/>
              </a:rPr>
              <a: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Trainer tip: connect to real scenarios: product announcements, live pricing changes, recent policy updates.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6150563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the pattern: create a vector store → upload docs → query using </a:t>
            </a:r>
            <a:r>
              <a:rPr lang="en-US" sz="882" b="0" i="0" kern="1200" dirty="0" err="1">
                <a:solidFill>
                  <a:schemeClr val="tx1"/>
                </a:solidFill>
                <a:effectLst/>
                <a:latin typeface="Segoe UI Light" pitchFamily="34" charset="0"/>
                <a:ea typeface="+mn-ea"/>
                <a:cs typeface="+mn-cs"/>
              </a:rPr>
              <a:t>file_search</a:t>
            </a:r>
            <a:r>
              <a:rPr lang="en-US" sz="882" b="0" i="0" kern="1200" dirty="0">
                <a:solidFill>
                  <a:schemeClr val="tx1"/>
                </a:solidFill>
                <a:effectLst/>
                <a:latin typeface="Segoe UI Light" pitchFamily="34" charset="0"/>
                <a:ea typeface="+mn-ea"/>
                <a:cs typeface="+mn-cs"/>
              </a:rPr>
              <a:t> referencing </a:t>
            </a:r>
            <a:r>
              <a:rPr lang="en-US" sz="882" b="0" i="0" kern="1200" dirty="0" err="1">
                <a:solidFill>
                  <a:schemeClr val="tx1"/>
                </a:solidFill>
                <a:effectLst/>
                <a:latin typeface="Segoe UI Light" pitchFamily="34" charset="0"/>
                <a:ea typeface="+mn-ea"/>
                <a:cs typeface="+mn-cs"/>
              </a:rPr>
              <a:t>vector_store</a:t>
            </a:r>
            <a:r>
              <a:rPr lang="en-US" sz="882" b="0" i="0" kern="1200" dirty="0">
                <a:solidFill>
                  <a:schemeClr val="tx1"/>
                </a:solidFill>
                <a:effectLst/>
                <a:latin typeface="Segoe UI Light" pitchFamily="34" charset="0"/>
                <a:ea typeface="+mn-ea"/>
                <a:cs typeface="+mn-cs"/>
              </a:rPr>
              <a:t> IDs.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Emphasize citations: including include=["</a:t>
            </a:r>
            <a:r>
              <a:rPr lang="en-US" sz="882" b="0" i="0" kern="1200" dirty="0" err="1">
                <a:solidFill>
                  <a:schemeClr val="tx1"/>
                </a:solidFill>
                <a:effectLst/>
                <a:latin typeface="Segoe UI Light" pitchFamily="34" charset="0"/>
                <a:ea typeface="+mn-ea"/>
                <a:cs typeface="+mn-cs"/>
              </a:rPr>
              <a:t>file_search_call.results</a:t>
            </a:r>
            <a:r>
              <a:rPr lang="en-US" sz="882" b="0" i="0" kern="1200" dirty="0">
                <a:solidFill>
                  <a:schemeClr val="tx1"/>
                </a:solidFill>
                <a:effectLst/>
                <a:latin typeface="Segoe UI Light" pitchFamily="34" charset="0"/>
                <a:ea typeface="+mn-ea"/>
                <a:cs typeface="+mn-cs"/>
              </a:rPr>
              <a:t>"] supports traceability in outputs.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relate to enterprise use cases: HR policies, product manuals, internal SOPs—this is RAG in practice.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a:p>
        </p:txBody>
      </p:sp>
    </p:spTree>
    <p:extLst>
      <p:ext uri="{BB962C8B-B14F-4D97-AF65-F5344CB8AC3E}">
        <p14:creationId xmlns:p14="http://schemas.microsoft.com/office/powerpoint/2010/main" val="269301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Explain orchestration clearly: Model proposes a </a:t>
            </a:r>
            <a:r>
              <a:rPr lang="en-US" sz="882" b="0" i="0" kern="1200" dirty="0" err="1">
                <a:solidFill>
                  <a:schemeClr val="tx1"/>
                </a:solidFill>
                <a:effectLst/>
                <a:latin typeface="Segoe UI Light" pitchFamily="34" charset="0"/>
                <a:ea typeface="+mn-ea"/>
                <a:cs typeface="+mn-cs"/>
              </a:rPr>
              <a:t>function_call</a:t>
            </a:r>
            <a:endParaRPr lang="en-US" sz="882" b="0" i="0" kern="1200" dirty="0">
              <a:solidFill>
                <a:schemeClr val="tx1"/>
              </a:solidFill>
              <a:effectLst/>
              <a:latin typeface="Segoe UI Light" pitchFamily="34" charset="0"/>
              <a:ea typeface="+mn-ea"/>
              <a:cs typeface="+mn-cs"/>
            </a:endParaRPr>
          </a:p>
          <a:p>
            <a:pPr fontAlgn="t"/>
            <a:r>
              <a:rPr lang="en-US" sz="882" b="0" i="0" kern="1200" dirty="0">
                <a:solidFill>
                  <a:schemeClr val="tx1"/>
                </a:solidFill>
                <a:effectLst/>
                <a:latin typeface="Segoe UI Light" pitchFamily="34" charset="0"/>
                <a:ea typeface="+mn-ea"/>
                <a:cs typeface="+mn-cs"/>
              </a:rPr>
              <a:t>Your app executes the function</a:t>
            </a:r>
          </a:p>
          <a:p>
            <a:pPr fontAlgn="t"/>
            <a:r>
              <a:rPr lang="en-US" sz="882" b="0" i="0" kern="1200" dirty="0">
                <a:solidFill>
                  <a:schemeClr val="tx1"/>
                </a:solidFill>
                <a:effectLst/>
                <a:latin typeface="Segoe UI Light" pitchFamily="34" charset="0"/>
                <a:ea typeface="+mn-ea"/>
                <a:cs typeface="+mn-cs"/>
              </a:rPr>
              <a:t>You send back </a:t>
            </a:r>
            <a:r>
              <a:rPr lang="en-US" sz="882" b="0" i="0" kern="1200" dirty="0" err="1">
                <a:solidFill>
                  <a:schemeClr val="tx1"/>
                </a:solidFill>
                <a:effectLst/>
                <a:latin typeface="Segoe UI Light" pitchFamily="34" charset="0"/>
                <a:ea typeface="+mn-ea"/>
                <a:cs typeface="+mn-cs"/>
              </a:rPr>
              <a:t>function_call_output</a:t>
            </a:r>
            <a:endParaRPr lang="en-US" sz="882" b="0" i="0" kern="1200" dirty="0">
              <a:solidFill>
                <a:schemeClr val="tx1"/>
              </a:solidFill>
              <a:effectLst/>
              <a:latin typeface="Segoe UI Light" pitchFamily="34" charset="0"/>
              <a:ea typeface="+mn-ea"/>
              <a:cs typeface="+mn-cs"/>
            </a:endParaRPr>
          </a:p>
          <a:p>
            <a:pPr fontAlgn="t"/>
            <a:r>
              <a:rPr lang="en-US" sz="882" b="0" i="0" kern="1200" dirty="0">
                <a:solidFill>
                  <a:schemeClr val="tx1"/>
                </a:solidFill>
                <a:effectLst/>
                <a:latin typeface="Segoe UI Light" pitchFamily="34" charset="0"/>
                <a:ea typeface="+mn-ea"/>
                <a:cs typeface="+mn-cs"/>
              </a:rPr>
              <a:t>Model returns final user-facing answer</a:t>
            </a:r>
          </a:p>
          <a:p>
            <a:pPr fontAlgn="t"/>
            <a:r>
              <a:rPr lang="en-US" sz="882" b="0" i="0" kern="1200" dirty="0">
                <a:solidFill>
                  <a:schemeClr val="tx1"/>
                </a:solidFill>
                <a:effectLst/>
                <a:latin typeface="Segoe UI Light" pitchFamily="34" charset="0"/>
                <a:ea typeface="+mn-ea"/>
                <a:cs typeface="+mn-cs"/>
              </a:rPr>
              <a:t>Stress the key learning: “The model doesn’t magically run your function—you do.”</a:t>
            </a:r>
          </a:p>
          <a:p>
            <a:pPr fontAlgn="t"/>
            <a:r>
              <a:rPr lang="en-US" sz="882" b="0" i="0" kern="1200" dirty="0">
                <a:solidFill>
                  <a:schemeClr val="tx1"/>
                </a:solidFill>
                <a:effectLst/>
                <a:latin typeface="Segoe UI Light" pitchFamily="34" charset="0"/>
                <a:ea typeface="+mn-ea"/>
                <a:cs typeface="+mn-cs"/>
              </a:rPr>
              <a:t>Trainer tip: pick a simple function (time, lookup, calculator) to keep focus on the workflow, not business logic.</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578716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8319-19FE-BB46-4654-97092FF3E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94ED0-1F9F-163F-C7BF-4AE6A2C85F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FB543D-07B3-37C5-1914-0C9590A9D21A}"/>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BA474579-2E0A-0609-2DB5-9E8B3B68542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D39E10A-A674-EAE2-50D8-E7AA678EEC5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986BBA31-9738-ABB0-7F42-1E1C9FC10FC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512ECFB-B3DE-F0FA-D83D-DA3F35B6D51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125035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BC74-A7FA-EEE6-BAD7-29DD3A336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807FE-260F-E58B-3465-809F899104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93855-D083-4736-5593-D3395D12CA58}"/>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DA5AFAD8-45EA-C2D7-4A6B-D023B9E26135}"/>
              </a:ext>
            </a:extLst>
          </p:cNvPr>
          <p:cNvSpPr>
            <a:spLocks noGrp="1"/>
          </p:cNvSpPr>
          <p:nvPr>
            <p:ph type="sldNum" sz="quarter" idx="5"/>
          </p:nvPr>
        </p:nvSpPr>
        <p:spPr/>
        <p:txBody>
          <a:bodyPr/>
          <a:lstStyle/>
          <a:p>
            <a:fld id="{97E04F8E-88E9-481C-A2B3-C92BCE611EF5}" type="slidenum">
              <a:rPr lang="en-US" smtClean="0"/>
              <a:t>38</a:t>
            </a:fld>
            <a:endParaRPr lang="en-US" dirty="0"/>
          </a:p>
        </p:txBody>
      </p:sp>
    </p:spTree>
    <p:extLst>
      <p:ext uri="{BB962C8B-B14F-4D97-AF65-F5344CB8AC3E}">
        <p14:creationId xmlns:p14="http://schemas.microsoft.com/office/powerpoint/2010/main" val="4122929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1ACE-21B9-5DD1-1698-1CB556722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37727-EAE2-A56C-A3CE-DB0AD52F4A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DA23D0-9D57-4EE2-BF1B-2DDA8C2F5A69}"/>
              </a:ext>
            </a:extLst>
          </p:cNvPr>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a:extLst>
              <a:ext uri="{FF2B5EF4-FFF2-40B4-BE49-F238E27FC236}">
                <a16:creationId xmlns:a16="http://schemas.microsoft.com/office/drawing/2014/main" id="{EB6557ED-F2A7-FAD4-9CB3-1474FF30F12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8D4E5077-9262-B7EC-E53E-6145DB2EE95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AD0CA57-5511-3AA2-5236-A0331DF3D357}"/>
              </a:ext>
            </a:extLst>
          </p:cNvPr>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a:extLst>
              <a:ext uri="{FF2B5EF4-FFF2-40B4-BE49-F238E27FC236}">
                <a16:creationId xmlns:a16="http://schemas.microsoft.com/office/drawing/2014/main" id="{7E70D677-6812-C17A-4DC5-519A3EA8432C}"/>
              </a:ext>
            </a:extLst>
          </p:cNvPr>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4025870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each the two buckets:</a:t>
            </a:r>
          </a:p>
          <a:p>
            <a:pPr fontAlgn="t"/>
            <a:r>
              <a:rPr lang="en-US" sz="882" b="1" i="0" kern="1200" dirty="0">
                <a:solidFill>
                  <a:schemeClr val="tx1"/>
                </a:solidFill>
                <a:effectLst/>
                <a:latin typeface="Segoe UI Light" pitchFamily="34" charset="0"/>
                <a:ea typeface="+mn-ea"/>
                <a:cs typeface="+mn-cs"/>
              </a:rPr>
              <a:t>Context optimization</a:t>
            </a:r>
            <a:r>
              <a:rPr lang="en-US" sz="882" b="0" i="0" kern="1200" dirty="0">
                <a:solidFill>
                  <a:schemeClr val="tx1"/>
                </a:solidFill>
                <a:effectLst/>
                <a:latin typeface="Segoe UI Light" pitchFamily="34" charset="0"/>
                <a:ea typeface="+mn-ea"/>
                <a:cs typeface="+mn-cs"/>
              </a:rPr>
              <a:t>: when the model lacks the right knowledge → use RAG.</a:t>
            </a:r>
          </a:p>
          <a:p>
            <a:pPr fontAlgn="t"/>
            <a:r>
              <a:rPr lang="en-US" sz="882" b="1" i="0" kern="1200" dirty="0">
                <a:solidFill>
                  <a:schemeClr val="tx1"/>
                </a:solidFill>
                <a:effectLst/>
                <a:latin typeface="Segoe UI Light" pitchFamily="34" charset="0"/>
                <a:ea typeface="+mn-ea"/>
                <a:cs typeface="+mn-cs"/>
              </a:rPr>
              <a:t>Model optimization</a:t>
            </a:r>
            <a:r>
              <a:rPr lang="en-US" sz="882" b="0" i="0" kern="1200" dirty="0">
                <a:solidFill>
                  <a:schemeClr val="tx1"/>
                </a:solidFill>
                <a:effectLst/>
                <a:latin typeface="Segoe UI Light" pitchFamily="34" charset="0"/>
                <a:ea typeface="+mn-ea"/>
                <a:cs typeface="+mn-cs"/>
              </a:rPr>
              <a:t>: when the model’s behavior/format needs consistency → system messages, prompting, fine-tuning.</a:t>
            </a:r>
          </a:p>
          <a:p>
            <a:pPr fontAlgn="t"/>
            <a:r>
              <a:rPr lang="en-US" sz="882" b="0" i="0" kern="1200" dirty="0">
                <a:solidFill>
                  <a:schemeClr val="tx1"/>
                </a:solidFill>
                <a:effectLst/>
                <a:latin typeface="Segoe UI Light" pitchFamily="34" charset="0"/>
                <a:ea typeface="+mn-ea"/>
                <a:cs typeface="+mn-cs"/>
              </a:rPr>
              <a:t>Give learners a diagnostic: “If answers are wrong → add grounding. If answers are messy/inconsistent → tighten prompts or fine-tune.”</a:t>
            </a:r>
          </a:p>
          <a:p>
            <a:endParaRPr lang="en-US" dirty="0"/>
          </a:p>
          <a:p>
            <a:r>
              <a:rPr lang="en-US" dirty="0"/>
              <a:t>As a general guide, most solutions benefit primarily from prompt engineering. RAG is useful if you have context-specific data you want the model to take account of, and fine-tuning is used only when you can’t achieve the required tone and style in your model responses through prompt engineering. In terms of cost, prompt engineering incurs the lowest cost, followed by RAG as you need to pay for data storage and index hosting. Finally, fine-tuning is usually the most expensive option due to the compute overhead required to perform the training.</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248443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Explain system prompts as “role + constraints + output format expectations.” Use the listed patterns as teaching scaffolds: Format template pattern for predictable formatting.</a:t>
            </a:r>
          </a:p>
          <a:p>
            <a:pPr fontAlgn="t"/>
            <a:r>
              <a:rPr lang="en-US" sz="882" b="0" i="0" kern="1200" dirty="0">
                <a:solidFill>
                  <a:schemeClr val="tx1"/>
                </a:solidFill>
                <a:effectLst/>
                <a:latin typeface="Segoe UI Light" pitchFamily="34" charset="0"/>
                <a:ea typeface="+mn-ea"/>
                <a:cs typeface="+mn-cs"/>
              </a:rPr>
              <a:t>Chain-of-thought pattern (careful framing) for structured reasoning tasks.</a:t>
            </a:r>
          </a:p>
          <a:p>
            <a:pPr fontAlgn="t"/>
            <a:r>
              <a:rPr lang="en-US" sz="882" b="0" i="0" kern="1200" dirty="0">
                <a:solidFill>
                  <a:schemeClr val="tx1"/>
                </a:solidFill>
                <a:effectLst/>
                <a:latin typeface="Segoe UI Light" pitchFamily="34" charset="0"/>
                <a:ea typeface="+mn-ea"/>
                <a:cs typeface="+mn-cs"/>
              </a:rPr>
              <a:t>Few-shot learning for classification/extraction consistency.</a:t>
            </a:r>
          </a:p>
          <a:p>
            <a:pPr fontAlgn="t"/>
            <a:r>
              <a:rPr lang="en-US" sz="882" b="0" i="0" kern="1200" dirty="0">
                <a:solidFill>
                  <a:schemeClr val="tx1"/>
                </a:solidFill>
                <a:effectLst/>
                <a:latin typeface="Segoe UI Light" pitchFamily="34" charset="0"/>
                <a:ea typeface="+mn-ea"/>
                <a:cs typeface="+mn-cs"/>
              </a:rPr>
              <a:t>Trainer tip: demonstrate a “before/after” prompt quickly (same question, different structure) to show impact.</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32047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Walk through the pipeline: user input → retrieve relevant data → augment prompt → generate contextualized response.</a:t>
            </a:r>
          </a:p>
          <a:p>
            <a:pPr fontAlgn="t"/>
            <a:r>
              <a:rPr lang="en-US" sz="882" b="0" i="0" kern="1200" dirty="0">
                <a:solidFill>
                  <a:schemeClr val="tx1"/>
                </a:solidFill>
                <a:effectLst/>
                <a:latin typeface="Segoe UI Light" pitchFamily="34" charset="0"/>
                <a:ea typeface="+mn-ea"/>
                <a:cs typeface="+mn-cs"/>
              </a:rPr>
              <a:t>Explain the “vector-based index” at a high level: “text tokens are represented as vectors so we can retrieve semantically relevant chunks.”</a:t>
            </a:r>
          </a:p>
          <a:p>
            <a:pPr fontAlgn="t"/>
            <a:r>
              <a:rPr lang="en-US" sz="882" b="0" i="0" kern="1200" dirty="0">
                <a:solidFill>
                  <a:schemeClr val="tx1"/>
                </a:solidFill>
                <a:effectLst/>
                <a:latin typeface="Segoe UI Light" pitchFamily="34" charset="0"/>
                <a:ea typeface="+mn-ea"/>
                <a:cs typeface="+mn-cs"/>
              </a:rPr>
              <a:t>Teaching tip: emphasize grounding goal: “Answer should align with retrieved sources, not guess.”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099113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Position fine-tuning correctly: “You fine-tune to get more consistent tone, style, and output structure—not to ‘magically learn all facts.’”</a:t>
            </a:r>
          </a:p>
          <a:p>
            <a:pPr fontAlgn="t"/>
            <a:r>
              <a:rPr lang="en-US" sz="882" b="0" i="0" kern="1200" dirty="0">
                <a:solidFill>
                  <a:schemeClr val="tx1"/>
                </a:solidFill>
                <a:effectLst/>
                <a:latin typeface="Segoe UI Light" pitchFamily="34" charset="0"/>
                <a:ea typeface="+mn-ea"/>
                <a:cs typeface="+mn-cs"/>
              </a:rPr>
              <a:t>Explain inputs: examples of prompts and preferred responses → output is a fine‑tuned model that behaves more consistently.</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339373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23900-A42E-A6FC-BBD9-C32BE92F0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C68D7-603F-E664-7F97-7F9AB364F7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70201E-7A93-CB7E-0AB9-D597CE421127}"/>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B938D6F1-990F-0FD0-EE6D-D2BC5C5B3E0F}"/>
              </a:ext>
            </a:extLst>
          </p:cNvPr>
          <p:cNvSpPr>
            <a:spLocks noGrp="1"/>
          </p:cNvSpPr>
          <p:nvPr>
            <p:ph type="sldNum" sz="quarter" idx="5"/>
          </p:nvPr>
        </p:nvSpPr>
        <p:spPr/>
        <p:txBody>
          <a:bodyPr/>
          <a:lstStyle/>
          <a:p>
            <a:fld id="{97E04F8E-88E9-481C-A2B3-C92BCE611EF5}" type="slidenum">
              <a:rPr lang="en-US" smtClean="0"/>
              <a:t>44</a:t>
            </a:fld>
            <a:endParaRPr lang="en-US" dirty="0"/>
          </a:p>
        </p:txBody>
      </p:sp>
    </p:spTree>
    <p:extLst>
      <p:ext uri="{BB962C8B-B14F-4D97-AF65-F5344CB8AC3E}">
        <p14:creationId xmlns:p14="http://schemas.microsoft.com/office/powerpoint/2010/main" val="27335248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26D04-0824-A636-3CCA-DF98BC55D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3F451-8E8E-6E7B-6FCA-5476DB554D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3F4732-437C-C5F7-ADC9-513AE238B9FE}"/>
              </a:ext>
            </a:extLst>
          </p:cNvPr>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a:extLst>
              <a:ext uri="{FF2B5EF4-FFF2-40B4-BE49-F238E27FC236}">
                <a16:creationId xmlns:a16="http://schemas.microsoft.com/office/drawing/2014/main" id="{B5EB40E7-6200-CF8C-5068-5A6DE8D7DD0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C9E86A7-E8FC-3863-0056-45C6FF39CB80}"/>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79E8A92-8CB4-57CB-54BB-886A91F3F5A7}"/>
              </a:ext>
            </a:extLst>
          </p:cNvPr>
          <p:cNvSpPr>
            <a:spLocks noGrp="1"/>
          </p:cNvSpPr>
          <p:nvPr>
            <p:ph type="dt" idx="1"/>
          </p:nvPr>
        </p:nvSpPr>
        <p:spPr/>
        <p:txBody>
          <a:bodyPr/>
          <a:lstStyle/>
          <a:p>
            <a:fld id="{61486BA7-839C-4D2B-BD52-EF0BBA8433FD}" type="datetime8">
              <a:rPr lang="en-US" smtClean="0"/>
              <a:t>5/13/2026 5:43 PM</a:t>
            </a:fld>
            <a:endParaRPr lang="en-US" dirty="0"/>
          </a:p>
        </p:txBody>
      </p:sp>
      <p:sp>
        <p:nvSpPr>
          <p:cNvPr id="7" name="Slide Number Placeholder 6">
            <a:extLst>
              <a:ext uri="{FF2B5EF4-FFF2-40B4-BE49-F238E27FC236}">
                <a16:creationId xmlns:a16="http://schemas.microsoft.com/office/drawing/2014/main" id="{A75C255D-8B2A-3BB6-4208-BA53E4F694D9}"/>
              </a:ext>
            </a:extLst>
          </p:cNvPr>
          <p:cNvSpPr>
            <a:spLocks noGrp="1"/>
          </p:cNvSpPr>
          <p:nvPr>
            <p:ph type="sldNum" sz="quarter" idx="5"/>
          </p:nvPr>
        </p:nvSpPr>
        <p:spPr/>
        <p:txBody>
          <a:bodyPr/>
          <a:lstStyle/>
          <a:p>
            <a:fld id="{B4008EB6-D09E-4580-8CD6-DDB14511944F}" type="slidenum">
              <a:rPr lang="en-US" smtClean="0"/>
              <a:pPr/>
              <a:t>45</a:t>
            </a:fld>
            <a:endParaRPr lang="en-US" dirty="0"/>
          </a:p>
        </p:txBody>
      </p:sp>
    </p:spTree>
    <p:extLst>
      <p:ext uri="{BB962C8B-B14F-4D97-AF65-F5344CB8AC3E}">
        <p14:creationId xmlns:p14="http://schemas.microsoft.com/office/powerpoint/2010/main" val="12693146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Teach the lifecycle: Map harms relevant to your use case.</a:t>
            </a:r>
          </a:p>
          <a:p>
            <a:pPr fontAlgn="t"/>
            <a:r>
              <a:rPr lang="en-US" sz="882" b="0" i="0" kern="1200" dirty="0">
                <a:solidFill>
                  <a:schemeClr val="tx1"/>
                </a:solidFill>
                <a:effectLst/>
                <a:latin typeface="Segoe UI Light" pitchFamily="34" charset="0"/>
                <a:ea typeface="+mn-ea"/>
                <a:cs typeface="+mn-cs"/>
              </a:rPr>
              <a:t>Measure them in outputs.</a:t>
            </a:r>
          </a:p>
          <a:p>
            <a:pPr fontAlgn="t"/>
            <a:r>
              <a:rPr lang="en-US" sz="882" b="0" i="0" kern="1200" dirty="0">
                <a:solidFill>
                  <a:schemeClr val="tx1"/>
                </a:solidFill>
                <a:effectLst/>
                <a:latin typeface="Segoe UI Light" pitchFamily="34" charset="0"/>
                <a:ea typeface="+mn-ea"/>
                <a:cs typeface="+mn-cs"/>
              </a:rPr>
              <a:t>Mitigate across layers (model, safety system, system message/grounding, UX).</a:t>
            </a:r>
          </a:p>
          <a:p>
            <a:pPr fontAlgn="t"/>
            <a:r>
              <a:rPr lang="en-US" sz="882" b="0" i="0" kern="1200" dirty="0">
                <a:solidFill>
                  <a:schemeClr val="tx1"/>
                </a:solidFill>
                <a:effectLst/>
                <a:latin typeface="Segoe UI Light" pitchFamily="34" charset="0"/>
                <a:ea typeface="+mn-ea"/>
                <a:cs typeface="+mn-cs"/>
              </a:rPr>
              <a:t>Manage operationally with readiness plans.</a:t>
            </a:r>
          </a:p>
          <a:p>
            <a:pPr fontAlgn="t"/>
            <a:r>
              <a:rPr lang="en-US" sz="882" b="0" i="0" kern="1200" dirty="0">
                <a:solidFill>
                  <a:schemeClr val="tx1"/>
                </a:solidFill>
                <a:effectLst/>
                <a:latin typeface="Segoe UI Light" pitchFamily="34" charset="0"/>
                <a:ea typeface="+mn-ea"/>
                <a:cs typeface="+mn-cs"/>
              </a:rPr>
              <a:t>Trainer tip: call out that mitigation is not “one toggle”—it’s layered defense.</a:t>
            </a:r>
          </a:p>
          <a:p>
            <a:endParaRPr lang="en-US" dirty="0"/>
          </a:p>
          <a:p>
            <a:r>
              <a:rPr lang="en-US" dirty="0"/>
              <a:t>When planning a generative AI solution, consider using a responsible AI impact assessment (https://msblogs.thesourcemediaassets.com/sites/5/2022/06/Microsoft-RAI-Impact-Assessment-Template.pdf) to document potential harms and mitigations. </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552916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guardrails as “controls that detect/mitigate risk.”</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Briefly define each category in practical terms (violence/hate/sexual/self-harm/prompt attacks/indirect attacks/spotlighting/protected material/</a:t>
            </a:r>
            <a:r>
              <a:rPr lang="en-US" sz="882" b="0" i="0" kern="1200" dirty="0" err="1">
                <a:solidFill>
                  <a:schemeClr val="tx1"/>
                </a:solidFill>
                <a:effectLst/>
                <a:latin typeface="Segoe UI Light" pitchFamily="34" charset="0"/>
                <a:ea typeface="+mn-ea"/>
                <a:cs typeface="+mn-cs"/>
              </a:rPr>
              <a:t>groundedness</a:t>
            </a:r>
            <a:r>
              <a:rPr lang="en-US" sz="882" b="0" i="0" kern="1200" dirty="0">
                <a:solidFill>
                  <a:schemeClr val="tx1"/>
                </a:solidFill>
                <a:effectLst/>
                <a:latin typeface="Segoe UI Light" pitchFamily="34" charset="0"/>
                <a:ea typeface="+mn-ea"/>
                <a:cs typeface="+mn-cs"/>
              </a:rPr>
              <a:t>/PII).</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spotlight “prompt attacks” + “indirect attacks” as especially relevant for tool/RAG apps.</a:t>
            </a:r>
          </a:p>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169187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D835-9064-5C2D-0E9D-378D5F34B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2D4FB-A385-29AA-FFC1-F92E15BAC2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FA6F316-91E9-D211-0BB2-6DDAB4783385}"/>
              </a:ext>
            </a:extLst>
          </p:cNvPr>
          <p:cNvSpPr>
            <a:spLocks noGrp="1"/>
          </p:cNvSpPr>
          <p:nvPr>
            <p:ph type="body" idx="1"/>
          </p:nvPr>
        </p:nvSpPr>
        <p:spPr/>
        <p:txBody>
          <a:bodyPr/>
          <a:lstStyle/>
          <a:p>
            <a:r>
              <a:rPr lang="en-US" dirty="0"/>
              <a:t>Each exercise begins with the same procedure to create a Microsoft Foundry project –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51C509B7-9CB5-6858-73D1-9B499919AAE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1AF0208F-9EA8-D6EF-E32C-1F3DCCEE817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89EA8E7-45BD-E1E8-FF6D-C42AA2BC015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89140D1-365A-B3B4-32CA-E026D93838B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188286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i="1" dirty="0"/>
              <a:t>Allow students a few minutes to think about the questions, then reveal the correct answers.</a:t>
            </a:r>
          </a:p>
          <a:p>
            <a:endParaRPr lang="en-US"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7E04F8E-88E9-481C-A2B3-C92BCE611EF5}"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35422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Use the link on the slide to see the Microsoft Learn module from which this lesson is derived.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50</a:t>
            </a:fld>
            <a:endParaRPr lang="en-US"/>
          </a:p>
        </p:txBody>
      </p:sp>
    </p:spTree>
    <p:extLst>
      <p:ext uri="{BB962C8B-B14F-4D97-AF65-F5344CB8AC3E}">
        <p14:creationId xmlns:p14="http://schemas.microsoft.com/office/powerpoint/2010/main" val="22098689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5:43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58</a:t>
            </a:fld>
            <a:endParaRPr lang="en-US" dirty="0"/>
          </a:p>
        </p:txBody>
      </p:sp>
    </p:spTree>
    <p:extLst>
      <p:ext uri="{BB962C8B-B14F-4D97-AF65-F5344CB8AC3E}">
        <p14:creationId xmlns:p14="http://schemas.microsoft.com/office/powerpoint/2010/main" val="17815793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Recap the journey: Foundry project → model selection/deployment → endpoint/SDK → chat app development→ optimization → responsible AI.</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Invite questions in three buckets: “platform/setup”, “coding/API choices”, “safety/operations”.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59</a:t>
            </a:fld>
            <a:endParaRPr lang="en-US"/>
          </a:p>
        </p:txBody>
      </p:sp>
    </p:spTree>
    <p:extLst>
      <p:ext uri="{BB962C8B-B14F-4D97-AF65-F5344CB8AC3E}">
        <p14:creationId xmlns:p14="http://schemas.microsoft.com/office/powerpoint/2010/main" val="17132694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69332"/>
          </a:xfrm>
        </p:spPr>
        <p:txBody>
          <a:bodyPr/>
          <a:lstStyle>
            <a:lvl1pPr>
              <a:defRPr sz="24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07831"/>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24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55735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t>© Copyright Microsoft Corporation. All rights reserved.</a:t>
            </a:r>
          </a:p>
        </p:txBody>
      </p:sp>
    </p:spTree>
    <p:extLst>
      <p:ext uri="{BB962C8B-B14F-4D97-AF65-F5344CB8AC3E}">
        <p14:creationId xmlns:p14="http://schemas.microsoft.com/office/powerpoint/2010/main" val="25226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140692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59523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314000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963953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495886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email">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306657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043652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504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330515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3363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9598778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14714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168837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07914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815740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9646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351809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513419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1005372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2003417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194329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812627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1501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59852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5539141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99068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107828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733672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0198626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96871091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27361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06512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0818427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6939594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64216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69596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116210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80129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06360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9338345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59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32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4013422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5356728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p:txBody>
      </p:sp>
    </p:spTree>
    <p:extLst>
      <p:ext uri="{BB962C8B-B14F-4D97-AF65-F5344CB8AC3E}">
        <p14:creationId xmlns:p14="http://schemas.microsoft.com/office/powerpoint/2010/main" val="3845335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9748787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screen">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119823543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dirty="0"/>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8420027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699491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84812370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dirty="0"/>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65627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923929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542918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066123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1902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75340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0330937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dirty="0"/>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4566027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015630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318674797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6086730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06131269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22241199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41091515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11562145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8205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213000027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5951788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6533399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5591792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8209903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cstate="screen">
              <a:extLst>
                <a:ext uri="{28A0092B-C50C-407E-A947-70E740481C1C}">
                  <a14:useLocalDpi xmlns:a14="http://schemas.microsoft.com/office/drawing/2010/main"/>
                </a:ext>
              </a:extLst>
            </a:blip>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37880500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screen">
              <a:extLst>
                <a:ext uri="{28A0092B-C50C-407E-A947-70E740481C1C}">
                  <a14:useLocalDpi xmlns:a14="http://schemas.microsoft.com/office/drawing/2010/main"/>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494192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cstate="screen">
              <a:extLst>
                <a:ext uri="{28A0092B-C50C-407E-A947-70E740481C1C}">
                  <a14:useLocalDpi xmlns:a14="http://schemas.microsoft.com/office/drawing/2010/main"/>
                </a:ext>
              </a:extLst>
            </a:blip>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817919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screen">
              <a:extLst>
                <a:ext uri="{28A0092B-C50C-407E-A947-70E740481C1C}">
                  <a14:useLocalDpi xmlns:a14="http://schemas.microsoft.com/office/drawing/2010/main"/>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4559660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021863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6170835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spTree>
    <p:extLst>
      <p:ext uri="{BB962C8B-B14F-4D97-AF65-F5344CB8AC3E}">
        <p14:creationId xmlns:p14="http://schemas.microsoft.com/office/powerpoint/2010/main" val="16429720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27943799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spTree>
    <p:extLst>
      <p:ext uri="{BB962C8B-B14F-4D97-AF65-F5344CB8AC3E}">
        <p14:creationId xmlns:p14="http://schemas.microsoft.com/office/powerpoint/2010/main" val="209760962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889565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6642100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4"/>
            <a:ext cx="10074975" cy="4980039"/>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9245915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41898664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1866526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157860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10865631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219627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157625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90134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492443"/>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592324"/>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11011602" cy="492443"/>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1977122693"/>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492443"/>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2381572492"/>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3903047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969905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theme" Target="../theme/theme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9" Type="http://schemas.openxmlformats.org/officeDocument/2006/relationships/slideLayout" Target="../slideLayouts/slideLayout123.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42" Type="http://schemas.openxmlformats.org/officeDocument/2006/relationships/slideLayout" Target="../slideLayouts/slideLayout126.xml"/><Relationship Id="rId47" Type="http://schemas.openxmlformats.org/officeDocument/2006/relationships/slideLayout" Target="../slideLayouts/slideLayout131.xml"/><Relationship Id="rId50" Type="http://schemas.openxmlformats.org/officeDocument/2006/relationships/slideLayout" Target="../slideLayouts/slideLayout134.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9" Type="http://schemas.openxmlformats.org/officeDocument/2006/relationships/slideLayout" Target="../slideLayouts/slideLayout113.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slideLayout" Target="../slideLayouts/slideLayout121.xml"/><Relationship Id="rId40" Type="http://schemas.openxmlformats.org/officeDocument/2006/relationships/slideLayout" Target="../slideLayouts/slideLayout124.xml"/><Relationship Id="rId45" Type="http://schemas.openxmlformats.org/officeDocument/2006/relationships/slideLayout" Target="../slideLayouts/slideLayout129.xml"/><Relationship Id="rId53" Type="http://schemas.openxmlformats.org/officeDocument/2006/relationships/slideLayout" Target="../slideLayouts/slideLayout137.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4" Type="http://schemas.openxmlformats.org/officeDocument/2006/relationships/slideLayout" Target="../slideLayouts/slideLayout128.xml"/><Relationship Id="rId52" Type="http://schemas.openxmlformats.org/officeDocument/2006/relationships/slideLayout" Target="../slideLayouts/slideLayout136.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slideLayout" Target="../slideLayouts/slideLayout119.xml"/><Relationship Id="rId43" Type="http://schemas.openxmlformats.org/officeDocument/2006/relationships/slideLayout" Target="../slideLayouts/slideLayout127.xml"/><Relationship Id="rId48" Type="http://schemas.openxmlformats.org/officeDocument/2006/relationships/slideLayout" Target="../slideLayouts/slideLayout132.xml"/><Relationship Id="rId8" Type="http://schemas.openxmlformats.org/officeDocument/2006/relationships/slideLayout" Target="../slideLayouts/slideLayout92.xml"/><Relationship Id="rId51" Type="http://schemas.openxmlformats.org/officeDocument/2006/relationships/slideLayout" Target="../slideLayouts/slideLayout135.xml"/><Relationship Id="rId3" Type="http://schemas.openxmlformats.org/officeDocument/2006/relationships/slideLayout" Target="../slideLayouts/slideLayout87.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slideLayout" Target="../slideLayouts/slideLayout122.xml"/><Relationship Id="rId46" Type="http://schemas.openxmlformats.org/officeDocument/2006/relationships/slideLayout" Target="../slideLayouts/slideLayout130.xml"/><Relationship Id="rId20" Type="http://schemas.openxmlformats.org/officeDocument/2006/relationships/slideLayout" Target="../slideLayouts/slideLayout104.xml"/><Relationship Id="rId41" Type="http://schemas.openxmlformats.org/officeDocument/2006/relationships/slideLayout" Target="../slideLayouts/slideLayout125.xml"/><Relationship Id="rId54" Type="http://schemas.openxmlformats.org/officeDocument/2006/relationships/theme" Target="../theme/theme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slideLayout" Target="../slideLayouts/slideLayout120.xml"/><Relationship Id="rId49"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6" r:id="rId22"/>
    <p:sldLayoutId id="2147484947" r:id="rId23"/>
    <p:sldLayoutId id="2147484951" r:id="rId24"/>
    <p:sldLayoutId id="2147484952" r:id="rId25"/>
    <p:sldLayoutId id="2147484953" r:id="rId26"/>
    <p:sldLayoutId id="2147484954" r:id="rId27"/>
    <p:sldLayoutId id="2147484955" r:id="rId28"/>
    <p:sldLayoutId id="2147484956" r:id="rId29"/>
    <p:sldLayoutId id="2147484957" r:id="rId30"/>
    <p:sldLayoutId id="2147484958" r:id="rId31"/>
    <p:sldLayoutId id="2147484959" r:id="rId32"/>
    <p:sldLayoutId id="2147484960" r:id="rId33"/>
    <p:sldLayoutId id="2147484961" r:id="rId34"/>
    <p:sldLayoutId id="2147484962" r:id="rId35"/>
    <p:sldLayoutId id="2147484963" r:id="rId36"/>
    <p:sldLayoutId id="2147484964" r:id="rId37"/>
    <p:sldLayoutId id="2147484965" r:id="rId38"/>
    <p:sldLayoutId id="2147484966" r:id="rId39"/>
    <p:sldLayoutId id="2147484967" r:id="rId40"/>
    <p:sldLayoutId id="2147484970" r:id="rId41"/>
  </p:sldLayoutIdLst>
  <p:transition>
    <p:fade/>
  </p:transition>
  <p:hf sldNum="0" hdr="0" dt="0"/>
  <p:txStyles>
    <p:titleStyle>
      <a:lvl1pPr algn="l" defTabSz="932742" rtl="0" eaLnBrk="1" latinLnBrk="0" hangingPunct="1">
        <a:lnSpc>
          <a:spcPct val="100000"/>
        </a:lnSpc>
        <a:spcBef>
          <a:spcPct val="0"/>
        </a:spcBef>
        <a:buNone/>
        <a:defRPr lang="en-US" sz="24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96704705"/>
      </p:ext>
    </p:extLst>
  </p:cSld>
  <p:clrMap bg1="lt1" tx1="dk1" bg2="lt2" tx2="dk2" accent1="accent1" accent2="accent2" accent3="accent3" accent4="accent4" accent5="accent5" accent6="accent6" hlink="hlink" folHlink="folHlink"/>
  <p:sldLayoutIdLst>
    <p:sldLayoutId id="2147484973" r:id="rId1"/>
    <p:sldLayoutId id="2147484974" r:id="rId2"/>
    <p:sldLayoutId id="2147484975" r:id="rId3"/>
    <p:sldLayoutId id="2147484976" r:id="rId4"/>
    <p:sldLayoutId id="2147484977" r:id="rId5"/>
    <p:sldLayoutId id="2147484978" r:id="rId6"/>
    <p:sldLayoutId id="2147484979" r:id="rId7"/>
    <p:sldLayoutId id="2147484980" r:id="rId8"/>
    <p:sldLayoutId id="2147484981" r:id="rId9"/>
    <p:sldLayoutId id="2147484982" r:id="rId10"/>
    <p:sldLayoutId id="2147484983" r:id="rId11"/>
    <p:sldLayoutId id="2147484984" r:id="rId12"/>
    <p:sldLayoutId id="2147484985" r:id="rId13"/>
    <p:sldLayoutId id="2147484986" r:id="rId14"/>
    <p:sldLayoutId id="2147484987" r:id="rId15"/>
    <p:sldLayoutId id="2147484988" r:id="rId16"/>
    <p:sldLayoutId id="2147484989" r:id="rId17"/>
    <p:sldLayoutId id="2147484990" r:id="rId18"/>
    <p:sldLayoutId id="2147484991" r:id="rId19"/>
    <p:sldLayoutId id="2147484992" r:id="rId20"/>
    <p:sldLayoutId id="2147484993" r:id="rId21"/>
    <p:sldLayoutId id="2147484994" r:id="rId22"/>
    <p:sldLayoutId id="2147484995" r:id="rId23"/>
    <p:sldLayoutId id="2147484996" r:id="rId24"/>
    <p:sldLayoutId id="2147484997" r:id="rId25"/>
    <p:sldLayoutId id="2147484998" r:id="rId26"/>
    <p:sldLayoutId id="2147484999" r:id="rId27"/>
    <p:sldLayoutId id="2147485000" r:id="rId28"/>
    <p:sldLayoutId id="2147485001" r:id="rId29"/>
    <p:sldLayoutId id="2147485002" r:id="rId30"/>
    <p:sldLayoutId id="2147485003" r:id="rId31"/>
    <p:sldLayoutId id="2147485004" r:id="rId32"/>
    <p:sldLayoutId id="2147485005" r:id="rId33"/>
    <p:sldLayoutId id="2147485006" r:id="rId34"/>
    <p:sldLayoutId id="2147485007" r:id="rId35"/>
    <p:sldLayoutId id="2147485008" r:id="rId36"/>
    <p:sldLayoutId id="2147485009" r:id="rId37"/>
    <p:sldLayoutId id="2147485010" r:id="rId38"/>
    <p:sldLayoutId id="2147485011" r:id="rId39"/>
    <p:sldLayoutId id="2147485012" r:id="rId40"/>
    <p:sldLayoutId id="2147485013" r:id="rId41"/>
    <p:sldLayoutId id="2147485014" r:id="rId42"/>
    <p:sldLayoutId id="2147485015" r:id="rId43"/>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B3BB"/>
                    </a:solidFill>
                    <a:effectLst/>
                    <a:latin typeface="Segoe UI Black" panose="020B0A02040204020203" pitchFamily="34" charset="0"/>
                  </a:rPr>
                  <a:t>A</a:t>
                </a:r>
                <a:endParaRPr kumimoji="0" lang="en-US" altLang="en-US" sz="1800" b="0" i="0" u="none" strike="noStrike" cap="none" normalizeH="0" baseline="0" dirty="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3262F"/>
                    </a:solidFill>
                    <a:effectLst/>
                    <a:latin typeface="Segoe UI Black" panose="020B0A02040204020203" pitchFamily="34" charset="0"/>
                  </a:rPr>
                  <a:t>A</a:t>
                </a:r>
                <a:endParaRPr kumimoji="0" lang="en-US" altLang="en-US" sz="1800" b="0" i="0" u="none" strike="noStrike" cap="none" normalizeH="0" baseline="0" dirty="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FFB3BB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FFFFFF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latin typeface="Segoe UI Black" panose="020B0A02040204020203" pitchFamily="34" charset="0"/>
                  </a:rPr>
                  <a:t>A</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A38B"/>
                    </a:solidFill>
                    <a:effectLst/>
                    <a:latin typeface="Segoe UI Black" panose="020B0A02040204020203" pitchFamily="34" charset="0"/>
                  </a:rPr>
                  <a:t>A</a:t>
                </a:r>
                <a:endParaRPr kumimoji="0" lang="en-US" altLang="en-US" sz="1800" b="0" i="0" u="none" strike="noStrike" cap="none" normalizeH="0" baseline="0" dirty="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3391D"/>
                      </a:solidFill>
                      <a:effectLst/>
                      <a:latin typeface="Segoe UI Black" panose="020B0A02040204020203" pitchFamily="34" charset="0"/>
                    </a:rPr>
                    <a:t>A</a:t>
                  </a:r>
                  <a:endParaRPr kumimoji="0" lang="en-US" altLang="en-US" sz="1800" b="0" i="0" u="none" strike="noStrike" cap="none" normalizeH="0" baseline="0" dirty="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FFA38B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F4F3F5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8DC8E8"/>
                    </a:solidFill>
                    <a:effectLst/>
                    <a:latin typeface="Segoe UI Black" panose="020B0A02040204020203" pitchFamily="34" charset="0"/>
                  </a:rPr>
                  <a:t>A</a:t>
                </a:r>
                <a:endParaRPr kumimoji="0" lang="en-US" altLang="en-US" sz="1800" b="0" i="0" u="none" strike="noStrike" cap="none" normalizeH="0" baseline="0" dirty="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2A446F"/>
                    </a:solidFill>
                    <a:effectLst/>
                    <a:latin typeface="Segoe UI Black" panose="020B0A02040204020203" pitchFamily="34" charset="0"/>
                  </a:rPr>
                  <a:t>A</a:t>
                </a:r>
                <a:endParaRPr kumimoji="0" lang="en-US" altLang="en-US" sz="1800" b="0" i="0" u="none" strike="noStrike" cap="none" normalizeH="0" baseline="0" dirty="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FFFFFF"/>
                    </a:solidFill>
                    <a:effectLst/>
                    <a:latin typeface="Segoe UI" panose="020B0502040204020203" pitchFamily="34" charset="0"/>
                  </a:rPr>
                  <a:t>Blue Black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CD9BCF"/>
                    </a:solidFill>
                    <a:effectLst/>
                    <a:latin typeface="Segoe UI Black" panose="020B0A02040204020203" pitchFamily="34" charset="0"/>
                  </a:rPr>
                  <a:t>A</a:t>
                </a:r>
                <a:endParaRPr kumimoji="0" lang="en-US" altLang="en-US" sz="1800" b="0" i="0" u="none" strike="noStrike" cap="none" normalizeH="0" baseline="0" dirty="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02573"/>
                    </a:solidFill>
                    <a:effectLst/>
                    <a:latin typeface="Segoe UI Black" panose="020B0A02040204020203" pitchFamily="34" charset="0"/>
                  </a:rPr>
                  <a:t>A</a:t>
                </a:r>
                <a:endParaRPr kumimoji="0" lang="en-US" altLang="en-US" sz="1800" b="0" i="0" u="none" strike="noStrike" cap="none" normalizeH="0" baseline="0" dirty="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CD9BCF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chemeClr val="bg1"/>
                  </a:solidFill>
                  <a:effectLst/>
                  <a:latin typeface="Segoe UI" panose="020B0502040204020203" pitchFamily="34" charset="0"/>
                </a:rPr>
                <a:t>000000</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1A1A1A"/>
                    </a:solidFill>
                    <a:effectLst/>
                    <a:latin typeface="Segoe UI" panose="020B0502040204020203" pitchFamily="34" charset="0"/>
                  </a:rPr>
                  <a:t>Neutral Gray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latin typeface="Segoe UI Black" panose="020B0A02040204020203" pitchFamily="34" charset="0"/>
                  </a:rPr>
                  <a:t>A</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1913399993"/>
      </p:ext>
    </p:extLst>
  </p:cSld>
  <p:clrMap bg1="lt1" tx1="dk1" bg2="lt2" tx2="dk2" accent1="accent1" accent2="accent2" accent3="accent3" accent4="accent4" accent5="accent5" accent6="accent6" hlink="hlink" folHlink="folHlink"/>
  <p:sldLayoutIdLst>
    <p:sldLayoutId id="2147485017" r:id="rId1"/>
    <p:sldLayoutId id="2147485018" r:id="rId2"/>
    <p:sldLayoutId id="2147485019" r:id="rId3"/>
    <p:sldLayoutId id="2147485020" r:id="rId4"/>
    <p:sldLayoutId id="2147485021" r:id="rId5"/>
    <p:sldLayoutId id="2147485022" r:id="rId6"/>
    <p:sldLayoutId id="2147485023" r:id="rId7"/>
    <p:sldLayoutId id="2147485024" r:id="rId8"/>
    <p:sldLayoutId id="2147485025" r:id="rId9"/>
    <p:sldLayoutId id="2147485026" r:id="rId10"/>
    <p:sldLayoutId id="2147485027" r:id="rId11"/>
    <p:sldLayoutId id="2147485028" r:id="rId12"/>
    <p:sldLayoutId id="2147485029" r:id="rId13"/>
    <p:sldLayoutId id="2147485030" r:id="rId14"/>
    <p:sldLayoutId id="2147485031" r:id="rId15"/>
    <p:sldLayoutId id="2147485032" r:id="rId16"/>
    <p:sldLayoutId id="2147485033" r:id="rId17"/>
    <p:sldLayoutId id="2147485034" r:id="rId18"/>
    <p:sldLayoutId id="2147485035" r:id="rId19"/>
    <p:sldLayoutId id="2147485036" r:id="rId20"/>
    <p:sldLayoutId id="2147485037" r:id="rId21"/>
    <p:sldLayoutId id="2147485038" r:id="rId22"/>
    <p:sldLayoutId id="2147485039" r:id="rId23"/>
    <p:sldLayoutId id="2147485040" r:id="rId24"/>
    <p:sldLayoutId id="2147485041" r:id="rId25"/>
    <p:sldLayoutId id="2147485042" r:id="rId26"/>
    <p:sldLayoutId id="2147485043" r:id="rId27"/>
    <p:sldLayoutId id="2147485044" r:id="rId28"/>
    <p:sldLayoutId id="2147485045" r:id="rId29"/>
    <p:sldLayoutId id="2147485046" r:id="rId30"/>
    <p:sldLayoutId id="2147485047" r:id="rId31"/>
    <p:sldLayoutId id="2147485048" r:id="rId32"/>
    <p:sldLayoutId id="2147485049" r:id="rId33"/>
    <p:sldLayoutId id="2147485050" r:id="rId34"/>
    <p:sldLayoutId id="2147485051" r:id="rId35"/>
    <p:sldLayoutId id="2147485052" r:id="rId36"/>
    <p:sldLayoutId id="2147485053" r:id="rId37"/>
    <p:sldLayoutId id="2147485054" r:id="rId38"/>
    <p:sldLayoutId id="2147485055" r:id="rId39"/>
    <p:sldLayoutId id="2147485056" r:id="rId40"/>
    <p:sldLayoutId id="2147485057" r:id="rId41"/>
    <p:sldLayoutId id="2147485058" r:id="rId42"/>
    <p:sldLayoutId id="2147485059" r:id="rId43"/>
    <p:sldLayoutId id="2147485060" r:id="rId44"/>
    <p:sldLayoutId id="2147485061" r:id="rId45"/>
    <p:sldLayoutId id="2147485062" r:id="rId46"/>
    <p:sldLayoutId id="2147485063" r:id="rId47"/>
    <p:sldLayoutId id="2147485064" r:id="rId48"/>
    <p:sldLayoutId id="2147485065" r:id="rId49"/>
    <p:sldLayoutId id="2147485066" r:id="rId50"/>
    <p:sldLayoutId id="2147485067" r:id="rId51"/>
    <p:sldLayoutId id="2147485068" r:id="rId52"/>
    <p:sldLayoutId id="2147485069" r:id="rId53"/>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sv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svg"/></Relationships>
</file>

<file path=ppt/slides/_rels/slide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30.svg"/><Relationship Id="rId11" Type="http://schemas.openxmlformats.org/officeDocument/2006/relationships/image" Target="../media/image33.svg"/><Relationship Id="rId5" Type="http://schemas.openxmlformats.org/officeDocument/2006/relationships/image" Target="../media/image29.svg"/><Relationship Id="rId10" Type="http://schemas.openxmlformats.org/officeDocument/2006/relationships/image" Target="../media/image25.svg"/><Relationship Id="rId4" Type="http://schemas.openxmlformats.org/officeDocument/2006/relationships/image" Target="../media/image28.svg"/><Relationship Id="rId9" Type="http://schemas.openxmlformats.org/officeDocument/2006/relationships/image" Target="../media/image3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svg"/><Relationship Id="rId18" Type="http://schemas.openxmlformats.org/officeDocument/2006/relationships/image" Target="../media/image49.svg"/><Relationship Id="rId3" Type="http://schemas.openxmlformats.org/officeDocument/2006/relationships/image" Target="../media/image34.png"/><Relationship Id="rId7" Type="http://schemas.openxmlformats.org/officeDocument/2006/relationships/image" Target="../media/image38.svg"/><Relationship Id="rId12" Type="http://schemas.openxmlformats.org/officeDocument/2006/relationships/image" Target="../media/image43.svg"/><Relationship Id="rId17" Type="http://schemas.openxmlformats.org/officeDocument/2006/relationships/image" Target="../media/image48.svg"/><Relationship Id="rId2" Type="http://schemas.openxmlformats.org/officeDocument/2006/relationships/notesSlide" Target="../notesSlides/notesSlide5.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120.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png"/><Relationship Id="rId15" Type="http://schemas.openxmlformats.org/officeDocument/2006/relationships/image" Target="../media/image46.svg"/><Relationship Id="rId10" Type="http://schemas.openxmlformats.org/officeDocument/2006/relationships/image" Target="../media/image41.png"/><Relationship Id="rId19" Type="http://schemas.openxmlformats.org/officeDocument/2006/relationships/image" Target="../media/image50.sv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45.svg"/></Relationships>
</file>

<file path=ppt/slides/_rels/slide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120.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svg"/></Relationships>
</file>

<file path=ppt/slides/_rels/slide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120.xml"/></Relationships>
</file>

<file path=ppt/slides/_rels/slide8.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8.xml"/><Relationship Id="rId1" Type="http://schemas.openxmlformats.org/officeDocument/2006/relationships/slideLayout" Target="../slideLayouts/slideLayout120.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9.xml.rels><?xml version="1.0" encoding="UTF-8" standalone="yes"?>
<Relationships xmlns="http://schemas.openxmlformats.org/package/2006/relationships"><Relationship Id="rId3" Type="http://schemas.openxmlformats.org/officeDocument/2006/relationships/hyperlink" Target="https://go.microsoft.com/fwlink/?linkid=2353647" TargetMode="External"/><Relationship Id="rId2" Type="http://schemas.openxmlformats.org/officeDocument/2006/relationships/notesSlide" Target="../notesSlides/notesSlide9.xml"/><Relationship Id="rId1" Type="http://schemas.openxmlformats.org/officeDocument/2006/relationships/slideLayout" Target="../slideLayouts/slideLayout69.xml"/><Relationship Id="rId4" Type="http://schemas.openxmlformats.org/officeDocument/2006/relationships/image" Target="../media/image6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69.png"/></Relationships>
</file>

<file path=ppt/slides/_rels/slide16.xml.rels><?xml version="1.0" encoding="UTF-8" standalone="yes"?>
<Relationships xmlns="http://schemas.openxmlformats.org/package/2006/relationships"><Relationship Id="rId3" Type="http://schemas.openxmlformats.org/officeDocument/2006/relationships/hyperlink" Target="https://go.microsoft.com/fwlink/?linkid=2354118" TargetMode="External"/><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21.xml"/><Relationship Id="rId1" Type="http://schemas.openxmlformats.org/officeDocument/2006/relationships/slideLayout" Target="../slideLayouts/slideLayout27.xml"/><Relationship Id="rId4" Type="http://schemas.openxmlformats.org/officeDocument/2006/relationships/image" Target="../media/image73.svg"/></Relationships>
</file>

<file path=ppt/slides/_rels/slide22.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22.xml"/><Relationship Id="rId1" Type="http://schemas.openxmlformats.org/officeDocument/2006/relationships/slideLayout" Target="../slideLayouts/slideLayout27.xml"/><Relationship Id="rId4" Type="http://schemas.openxmlformats.org/officeDocument/2006/relationships/image" Target="../media/image73.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hyperlink" Target="https://go.microsoft.com/fwlink/?linkid=2354411" TargetMode="External"/><Relationship Id="rId2" Type="http://schemas.openxmlformats.org/officeDocument/2006/relationships/notesSlide" Target="../notesSlides/notesSlide25.xml"/><Relationship Id="rId1" Type="http://schemas.openxmlformats.org/officeDocument/2006/relationships/slideLayout" Target="../slideLayouts/slideLayout26.xml"/><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svg"/><Relationship Id="rId2" Type="http://schemas.openxmlformats.org/officeDocument/2006/relationships/notesSlide" Target="../notesSlides/notesSlide28.xml"/><Relationship Id="rId1" Type="http://schemas.openxmlformats.org/officeDocument/2006/relationships/slideLayout" Target="../slideLayouts/slideLayout27.xml"/><Relationship Id="rId6" Type="http://schemas.openxmlformats.org/officeDocument/2006/relationships/image" Target="../media/image78.svg"/><Relationship Id="rId11" Type="http://schemas.openxmlformats.org/officeDocument/2006/relationships/image" Target="../media/image83.svg"/><Relationship Id="rId5" Type="http://schemas.openxmlformats.org/officeDocument/2006/relationships/image" Target="../media/image77.sv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hyperlink" Target="https://go.microsoft.com/fwlink/?linkid=2356945" TargetMode="External"/><Relationship Id="rId2" Type="http://schemas.openxmlformats.org/officeDocument/2006/relationships/notesSlide" Target="../notesSlides/notesSlide37.xml"/><Relationship Id="rId1" Type="http://schemas.openxmlformats.org/officeDocument/2006/relationships/slideLayout" Target="../slideLayouts/slideLayout26.xml"/><Relationship Id="rId4" Type="http://schemas.openxmlformats.org/officeDocument/2006/relationships/image" Target="../media/image8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svg"/><Relationship Id="rId7" Type="http://schemas.openxmlformats.org/officeDocument/2006/relationships/image" Target="../media/image89.svg"/><Relationship Id="rId2" Type="http://schemas.openxmlformats.org/officeDocument/2006/relationships/notesSlide" Target="../notesSlides/notesSlide42.xml"/><Relationship Id="rId1" Type="http://schemas.openxmlformats.org/officeDocument/2006/relationships/slideLayout" Target="../slideLayouts/slideLayout50.xml"/><Relationship Id="rId6" Type="http://schemas.openxmlformats.org/officeDocument/2006/relationships/image" Target="../media/image88.svg"/><Relationship Id="rId5" Type="http://schemas.openxmlformats.org/officeDocument/2006/relationships/image" Target="../media/image87.svg"/><Relationship Id="rId4" Type="http://schemas.openxmlformats.org/officeDocument/2006/relationships/image" Target="../media/image86.svg"/><Relationship Id="rId9" Type="http://schemas.openxmlformats.org/officeDocument/2006/relationships/image" Target="../media/image91.svg"/></Relationships>
</file>

<file path=ppt/slides/_rels/slide43.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notesSlide" Target="../notesSlides/notesSlide43.xml"/><Relationship Id="rId1" Type="http://schemas.openxmlformats.org/officeDocument/2006/relationships/slideLayout" Target="../slideLayouts/slideLayout50.xml"/><Relationship Id="rId4" Type="http://schemas.openxmlformats.org/officeDocument/2006/relationships/image" Target="../media/image86.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notesSlide" Target="../notesSlides/notesSlide46.xml"/><Relationship Id="rId1" Type="http://schemas.openxmlformats.org/officeDocument/2006/relationships/slideLayout" Target="../slideLayouts/slideLayout50.xml"/><Relationship Id="rId6" Type="http://schemas.openxmlformats.org/officeDocument/2006/relationships/image" Target="../media/image86.svg"/><Relationship Id="rId5" Type="http://schemas.openxmlformats.org/officeDocument/2006/relationships/image" Target="../media/image95.svg"/><Relationship Id="rId4" Type="http://schemas.openxmlformats.org/officeDocument/2006/relationships/image" Target="../media/image94.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0.xml"/></Relationships>
</file>

<file path=ppt/slides/_rels/slide4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8.xml"/><Relationship Id="rId1" Type="http://schemas.openxmlformats.org/officeDocument/2006/relationships/slideLayout" Target="../slideLayouts/slideLayout69.xml"/><Relationship Id="rId4" Type="http://schemas.openxmlformats.org/officeDocument/2006/relationships/hyperlink" Target="https://go.microsoft.com/fwlink/?linkid=2353440"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4.xml"/></Relationships>
</file>

<file path=ppt/slides/_rels/slide51.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svg"/><Relationship Id="rId1" Type="http://schemas.openxmlformats.org/officeDocument/2006/relationships/slideLayout" Target="../slideLayouts/slideLayout51.xml"/><Relationship Id="rId4" Type="http://schemas.openxmlformats.org/officeDocument/2006/relationships/image" Target="../media/image99.svg"/></Relationships>
</file>

<file path=ppt/slides/_rels/slide52.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00.svg"/><Relationship Id="rId1" Type="http://schemas.openxmlformats.org/officeDocument/2006/relationships/slideLayout" Target="../slideLayouts/slideLayout51.xml"/><Relationship Id="rId4" Type="http://schemas.openxmlformats.org/officeDocument/2006/relationships/image" Target="../media/image102.svg"/></Relationships>
</file>

<file path=ppt/slides/_rels/slide53.xml.rels><?xml version="1.0" encoding="UTF-8" standalone="yes"?>
<Relationships xmlns="http://schemas.openxmlformats.org/package/2006/relationships"><Relationship Id="rId3" Type="http://schemas.openxmlformats.org/officeDocument/2006/relationships/image" Target="../media/image104.svg"/><Relationship Id="rId2" Type="http://schemas.openxmlformats.org/officeDocument/2006/relationships/image" Target="../media/image103.svg"/><Relationship Id="rId1" Type="http://schemas.openxmlformats.org/officeDocument/2006/relationships/slideLayout" Target="../slideLayouts/slideLayout51.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2" Type="http://schemas.openxmlformats.org/officeDocument/2006/relationships/image" Target="../media/image108.svg"/><Relationship Id="rId1" Type="http://schemas.openxmlformats.org/officeDocument/2006/relationships/slideLayout" Target="../slideLayouts/slideLayout55.xml"/></Relationships>
</file>

<file path=ppt/slides/_rels/slide57.xml.rels><?xml version="1.0" encoding="UTF-8" standalone="yes"?>
<Relationships xmlns="http://schemas.openxmlformats.org/package/2006/relationships"><Relationship Id="rId3" Type="http://schemas.openxmlformats.org/officeDocument/2006/relationships/hyperlink" Target="https://go.microsoft.com/fwlink/?linkid=2352649" TargetMode="External"/><Relationship Id="rId2" Type="http://schemas.openxmlformats.org/officeDocument/2006/relationships/notesSlide" Target="../notesSlides/notesSlide51.xml"/><Relationship Id="rId1" Type="http://schemas.openxmlformats.org/officeDocument/2006/relationships/slideLayout" Target="../slideLayouts/slideLayout69.xml"/><Relationship Id="rId4" Type="http://schemas.openxmlformats.org/officeDocument/2006/relationships/image" Target="../media/image10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2" y="3552110"/>
            <a:ext cx="5686955" cy="1107996"/>
          </a:xfrm>
        </p:spPr>
        <p:txBody>
          <a:bodyPr/>
          <a:lstStyle/>
          <a:p>
            <a:pPr>
              <a:defRPr sz="3200"/>
            </a:pPr>
            <a:r>
              <a:rPr lang="it-IT" sz="3600" noProof="0" dirty="0"/>
              <a:t>Develop generative AI apps in Azure​</a:t>
            </a:r>
            <a:endParaRPr lang="en-US" sz="3600" noProof="0" dirty="0"/>
          </a:p>
        </p:txBody>
      </p:sp>
      <p:sp>
        <p:nvSpPr>
          <p:cNvPr id="3" name="Text Placeholder 2"/>
          <p:cNvSpPr>
            <a:spLocks noGrp="1"/>
          </p:cNvSpPr>
          <p:nvPr>
            <p:ph type="body" sz="quarter" idx="13"/>
          </p:nvPr>
        </p:nvSpPr>
        <p:spPr/>
        <p:txBody>
          <a:bodyPr/>
          <a:lstStyle/>
          <a:p>
            <a:r>
              <a:rPr lang="en-US" noProof="0" dirty="0"/>
              <a:t>June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9332"/>
          </a:xfrm>
          <a:prstGeom prst="rect">
            <a:avLst/>
          </a:prstGeom>
          <a:noFill/>
        </p:spPr>
        <p:txBody>
          <a:bodyPr wrap="square">
            <a:spAutoFit/>
          </a:bodyPr>
          <a:lstStyle/>
          <a:p>
            <a:r>
              <a:rPr lang="en-US" sz="1770" dirty="0">
                <a:solidFill>
                  <a:schemeClr val="accent2"/>
                </a:solidFill>
              </a:rPr>
              <a:t>https://aka.ms/mslearn-gen-ai-app-dev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Artificial Intelligence workloads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68" name="TextBox 67">
                      <a:extLst>
                        <a:ext uri="{FF2B5EF4-FFF2-40B4-BE49-F238E27FC236}">
                          <a16:creationId xmlns:a16="http://schemas.microsoft.com/office/drawing/2014/main" id="{11222B60-02CF-845A-D90A-C20CCFDA8751}"/>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1"/>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68" name="TextBox 67">
                      <a:extLst>
                        <a:ext uri="{FF2B5EF4-FFF2-40B4-BE49-F238E27FC236}">
                          <a16:creationId xmlns:a16="http://schemas.microsoft.com/office/drawing/2014/main" id="{11222B60-02CF-845A-D90A-C20CCFDA8751}"/>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grpSp>
        <p:nvGrpSpPr>
          <p:cNvPr id="2" name="Group 1">
            <a:extLst>
              <a:ext uri="{FF2B5EF4-FFF2-40B4-BE49-F238E27FC236}">
                <a16:creationId xmlns:a16="http://schemas.microsoft.com/office/drawing/2014/main" id="{504EB00B-F7EA-F0F8-612D-4D74FCA81CCE}"/>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4" name="Group 3" descr="Generative AI.">
              <a:extLst>
                <a:ext uri="{FF2B5EF4-FFF2-40B4-BE49-F238E27FC236}">
                  <a16:creationId xmlns:a16="http://schemas.microsoft.com/office/drawing/2014/main" id="{1A586F1A-782C-0FDE-47CE-78790E1D35C3}"/>
                </a:ext>
              </a:extLst>
            </p:cNvPr>
            <p:cNvGrpSpPr/>
            <p:nvPr/>
          </p:nvGrpSpPr>
          <p:grpSpPr>
            <a:xfrm>
              <a:off x="636270" y="1878796"/>
              <a:ext cx="2103120" cy="2293814"/>
              <a:chOff x="636270" y="2540945"/>
              <a:chExt cx="2103120" cy="2293814"/>
            </a:xfrm>
          </p:grpSpPr>
          <p:sp>
            <p:nvSpPr>
              <p:cNvPr id="7" name="Rectangle 6" descr="Generative AI">
                <a:extLst>
                  <a:ext uri="{FF2B5EF4-FFF2-40B4-BE49-F238E27FC236}">
                    <a16:creationId xmlns:a16="http://schemas.microsoft.com/office/drawing/2014/main" id="{DD30944E-DBF6-4FFA-6EF8-B824138F6F79}"/>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8" name="Graphic 7" descr="Chat with solid fill">
                <a:extLst>
                  <a:ext uri="{FF2B5EF4-FFF2-40B4-BE49-F238E27FC236}">
                    <a16:creationId xmlns:a16="http://schemas.microsoft.com/office/drawing/2014/main" id="{06EF438B-2B7B-79EA-3019-6091645647B9}"/>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115305" y="2540945"/>
                <a:ext cx="1143231" cy="1143231"/>
              </a:xfrm>
              <a:prstGeom prst="rect">
                <a:avLst/>
              </a:prstGeom>
            </p:spPr>
          </p:pic>
        </p:grpSp>
        <p:pic>
          <p:nvPicPr>
            <p:cNvPr id="6" name="Graphic 5" descr="Robot with solid fill">
              <a:extLst>
                <a:ext uri="{FF2B5EF4-FFF2-40B4-BE49-F238E27FC236}">
                  <a16:creationId xmlns:a16="http://schemas.microsoft.com/office/drawing/2014/main" id="{128D853D-5ECA-C54A-93EB-A69143F73C18}"/>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267584" y="2813173"/>
              <a:ext cx="913022" cy="913022"/>
            </a:xfrm>
            <a:prstGeom prst="rect">
              <a:avLst/>
            </a:prstGeom>
          </p:spPr>
        </p:pic>
      </p:grpSp>
      <p:sp>
        <p:nvSpPr>
          <p:cNvPr id="9" name="TextBox 8">
            <a:extLst>
              <a:ext uri="{FF2B5EF4-FFF2-40B4-BE49-F238E27FC236}">
                <a16:creationId xmlns:a16="http://schemas.microsoft.com/office/drawing/2014/main" id="{0C5C4FF6-66C5-8D0B-2D0A-5360C0746E1F}"/>
              </a:ext>
            </a:extLst>
          </p:cNvPr>
          <p:cNvSpPr txBox="1"/>
          <p:nvPr/>
        </p:nvSpPr>
        <p:spPr>
          <a:xfrm>
            <a:off x="636270" y="3805836"/>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t>
            </a:r>
            <a:r>
              <a:rPr kumimoji="0" lang="en-US" sz="1400" b="0" i="0" u="none" strike="noStrike" kern="0" cap="none" spc="0" normalizeH="0" baseline="0" noProof="0" dirty="0">
                <a:ln>
                  <a:noFill/>
                </a:ln>
                <a:solidFill>
                  <a:schemeClr val="tx2">
                    <a:lumMod val="25000"/>
                    <a:lumOff val="75000"/>
                  </a:schemeClr>
                </a:solidFill>
                <a:effectLst/>
                <a:uLnTx/>
                <a:uFillTx/>
                <a:latin typeface="Aptos" panose="02110004020202020204"/>
              </a:rPr>
              <a:t>and Agents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769057"/>
            <a:ext cx="6345239" cy="1231106"/>
          </a:xfrm>
        </p:spPr>
        <p:txBody>
          <a:bodyPr/>
          <a:lstStyle/>
          <a:p>
            <a:r>
              <a:rPr lang="en-US" noProof="0" dirty="0"/>
              <a:t>Plan and prepare to develop AI solutions on Azure</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https://aka.ms/mslearn-prepare-ai-dev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11139140" cy="492443"/>
          </a:xfrm>
        </p:spPr>
        <p:txBody>
          <a:bodyPr vert="horz" wrap="square" lIns="0" tIns="0" rIns="0" bIns="0" rtlCol="0" anchor="t">
            <a:spAutoFit/>
          </a:bodyPr>
          <a:lstStyle/>
          <a:p>
            <a:r>
              <a:rPr lang="en-US" sz="3200" dirty="0"/>
              <a:t>Microsoft Foundry</a:t>
            </a:r>
          </a:p>
        </p:txBody>
      </p:sp>
      <p:sp>
        <p:nvSpPr>
          <p:cNvPr id="131" name="Text Placeholder 45">
            <a:extLst>
              <a:ext uri="{FF2B5EF4-FFF2-40B4-BE49-F238E27FC236}">
                <a16:creationId xmlns:a16="http://schemas.microsoft.com/office/drawing/2014/main" id="{F75C1DD5-92B2-B2BE-09F2-A2A6EE7D9324}"/>
              </a:ext>
            </a:extLst>
          </p:cNvPr>
          <p:cNvSpPr txBox="1">
            <a:spLocks/>
          </p:cNvSpPr>
          <p:nvPr/>
        </p:nvSpPr>
        <p:spPr>
          <a:xfrm>
            <a:off x="584200" y="1594155"/>
            <a:ext cx="5364224" cy="338554"/>
          </a:xfrm>
          <a:prstGeom prst="rect">
            <a:avLst/>
          </a:prstGeom>
        </p:spPr>
        <p:txBody>
          <a:bodyPr vert="horz" wrap="square" lIns="0" tIns="0" rIns="0" bIns="0" rtlCol="0" anchor="t">
            <a:spAutoFit/>
          </a:bodyPr>
          <a:lstStyle>
            <a:lvl1pPr marR="0" indent="0" defTabSz="932742" fontAlgn="auto">
              <a:lnSpc>
                <a:spcPct val="100000"/>
              </a:lnSpc>
              <a:spcBef>
                <a:spcPts val="0"/>
              </a:spcBef>
              <a:spcAft>
                <a:spcPts val="0"/>
              </a:spcAft>
              <a:buClrTx/>
              <a:buSzPct val="90000"/>
              <a:buFont typeface="Arial" panose="020B0604020202020204" pitchFamily="34" charset="0"/>
              <a:buNone/>
              <a:tabLst/>
              <a:defRPr sz="2200" spc="0" baseline="0">
                <a:latin typeface="+mj-lt"/>
                <a:cs typeface="Segoe UI" panose="020B0502040204020203" pitchFamily="34" charset="0"/>
              </a:defRPr>
            </a:lvl1pPr>
            <a:lvl2pPr marL="265176" marR="0" indent="-109728"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22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A unified platform for AI apps and agents</a:t>
            </a:r>
          </a:p>
        </p:txBody>
      </p:sp>
      <p:sp>
        <p:nvSpPr>
          <p:cNvPr id="130" name="Text Placeholder 44">
            <a:extLst>
              <a:ext uri="{FF2B5EF4-FFF2-40B4-BE49-F238E27FC236}">
                <a16:creationId xmlns:a16="http://schemas.microsoft.com/office/drawing/2014/main" id="{AC8F1B70-FA10-D1AB-8E01-252886330E9C}"/>
              </a:ext>
            </a:extLst>
          </p:cNvPr>
          <p:cNvSpPr txBox="1">
            <a:spLocks/>
          </p:cNvSpPr>
          <p:nvPr/>
        </p:nvSpPr>
        <p:spPr>
          <a:xfrm>
            <a:off x="586391" y="2085764"/>
            <a:ext cx="4972366" cy="366254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Foundry </a:t>
            </a:r>
            <a:r>
              <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resources</a:t>
            </a: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in Azure provide compute, storage, model delivery, and other services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Foundry </a:t>
            </a:r>
            <a:r>
              <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projects</a:t>
            </a: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are isolated work environments for app and agent development</a:t>
            </a:r>
            <a:endPar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In a project, you work with:</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Models</a:t>
            </a:r>
            <a:r>
              <a:rPr kumimoji="0" lang="en-US" sz="1600" b="0" i="0" u="none" strike="noStrike" kern="1200" cap="none" spc="0" normalizeH="0" baseline="0" noProof="0" dirty="0">
                <a:ln>
                  <a:noFill/>
                </a:ln>
                <a:solidFill>
                  <a:srgbClr val="000000"/>
                </a:solidFill>
                <a:effectLst/>
                <a:uLnTx/>
                <a:uFillTx/>
                <a:latin typeface="Segoe UI"/>
                <a:ea typeface="+mn-ea"/>
                <a:cs typeface="+mn-cs"/>
              </a:rPr>
              <a:t> – choose and deploy models from an extensive model catalog</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Agents</a:t>
            </a:r>
            <a:r>
              <a:rPr kumimoji="0" lang="en-US" sz="1600" b="0" i="0" u="none" strike="noStrike" kern="1200" cap="none" spc="0" normalizeH="0" baseline="0" noProof="0" dirty="0">
                <a:ln>
                  <a:noFill/>
                </a:ln>
                <a:solidFill>
                  <a:srgbClr val="000000"/>
                </a:solidFill>
                <a:effectLst/>
                <a:uLnTx/>
                <a:uFillTx/>
                <a:latin typeface="Segoe UI"/>
                <a:ea typeface="+mn-ea"/>
                <a:cs typeface="+mn-cs"/>
              </a:rPr>
              <a:t> – create and manage agents that use models for language and reasoning</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Tools</a:t>
            </a:r>
            <a:r>
              <a:rPr kumimoji="0" lang="en-US" sz="1600" b="0" i="0" u="none" strike="noStrike" kern="1200" cap="none" spc="0" normalizeH="0" baseline="0" noProof="0" dirty="0">
                <a:ln>
                  <a:noFill/>
                </a:ln>
                <a:solidFill>
                  <a:srgbClr val="000000"/>
                </a:solidFill>
                <a:effectLst/>
                <a:uLnTx/>
                <a:uFillTx/>
                <a:latin typeface="Segoe UI"/>
                <a:ea typeface="+mn-ea"/>
                <a:cs typeface="+mn-cs"/>
              </a:rPr>
              <a:t> – connect agents to tools so they can perform actions and access information</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Knowledge</a:t>
            </a:r>
            <a:r>
              <a:rPr kumimoji="0" lang="en-US" sz="1600" b="0" i="0" u="none" strike="noStrike" kern="1200" cap="none" spc="0" normalizeH="0" baseline="0" noProof="0" dirty="0">
                <a:ln>
                  <a:noFill/>
                </a:ln>
                <a:solidFill>
                  <a:srgbClr val="000000"/>
                </a:solidFill>
                <a:effectLst/>
                <a:uLnTx/>
                <a:uFillTx/>
                <a:latin typeface="Segoe UI"/>
                <a:ea typeface="+mn-ea"/>
                <a:cs typeface="+mn-cs"/>
              </a:rPr>
              <a:t> – manage data source access for agents so they have the information they need to act </a:t>
            </a:r>
          </a:p>
        </p:txBody>
      </p:sp>
      <p:grpSp>
        <p:nvGrpSpPr>
          <p:cNvPr id="133" name="Group 132">
            <a:extLst>
              <a:ext uri="{FF2B5EF4-FFF2-40B4-BE49-F238E27FC236}">
                <a16:creationId xmlns:a16="http://schemas.microsoft.com/office/drawing/2014/main" id="{38374383-4CA6-4810-B0E4-72A9CE191C0B}"/>
              </a:ext>
              <a:ext uri="{C183D7F6-B498-43B3-948B-1728B52AA6E4}">
                <adec:decorative xmlns:adec="http://schemas.microsoft.com/office/drawing/2017/decorative" val="1"/>
              </a:ext>
            </a:extLst>
          </p:cNvPr>
          <p:cNvGrpSpPr/>
          <p:nvPr/>
        </p:nvGrpSpPr>
        <p:grpSpPr>
          <a:xfrm>
            <a:off x="6113016" y="816325"/>
            <a:ext cx="5509716" cy="5537749"/>
            <a:chOff x="6113016" y="816325"/>
            <a:chExt cx="5509716" cy="5537749"/>
          </a:xfrm>
        </p:grpSpPr>
        <p:grpSp>
          <p:nvGrpSpPr>
            <p:cNvPr id="129" name="Group 128">
              <a:extLst>
                <a:ext uri="{FF2B5EF4-FFF2-40B4-BE49-F238E27FC236}">
                  <a16:creationId xmlns:a16="http://schemas.microsoft.com/office/drawing/2014/main" id="{D8513E60-D28C-C2E7-D99E-C4EFC86426C3}"/>
                </a:ext>
              </a:extLst>
            </p:cNvPr>
            <p:cNvGrpSpPr/>
            <p:nvPr/>
          </p:nvGrpSpPr>
          <p:grpSpPr>
            <a:xfrm>
              <a:off x="6113016" y="1493571"/>
              <a:ext cx="5509716" cy="4860503"/>
              <a:chOff x="6670800" y="1084589"/>
              <a:chExt cx="5509716" cy="4860503"/>
            </a:xfrm>
          </p:grpSpPr>
          <p:sp>
            <p:nvSpPr>
              <p:cNvPr id="79" name="Foundry Resource">
                <a:extLst>
                  <a:ext uri="{FF2B5EF4-FFF2-40B4-BE49-F238E27FC236}">
                    <a16:creationId xmlns:a16="http://schemas.microsoft.com/office/drawing/2014/main" id="{A0875FAA-3AE6-E6F8-C705-BC1B6564A9E3}"/>
                  </a:ext>
                </a:extLst>
              </p:cNvPr>
              <p:cNvSpPr/>
              <p:nvPr/>
            </p:nvSpPr>
            <p:spPr>
              <a:xfrm>
                <a:off x="6670800" y="1084589"/>
                <a:ext cx="5509716" cy="4860503"/>
              </a:xfrm>
              <a:prstGeom prst="roundRect">
                <a:avLst/>
              </a:prstGeom>
              <a:solidFill>
                <a:sysClr val="window" lastClr="FFFFFF"/>
              </a:solidFill>
              <a:ln w="38100" cap="flat" cmpd="sng" algn="ctr">
                <a:solidFill>
                  <a:srgbClr val="5A52E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1" name="Project">
                <a:extLst>
                  <a:ext uri="{FF2B5EF4-FFF2-40B4-BE49-F238E27FC236}">
                    <a16:creationId xmlns:a16="http://schemas.microsoft.com/office/drawing/2014/main" id="{CEAD83DE-D73C-79C6-356F-CE3A9AE6644E}"/>
                  </a:ext>
                </a:extLst>
              </p:cNvPr>
              <p:cNvSpPr/>
              <p:nvPr/>
            </p:nvSpPr>
            <p:spPr>
              <a:xfrm>
                <a:off x="7169604" y="1656453"/>
                <a:ext cx="4601716" cy="3976240"/>
              </a:xfrm>
              <a:prstGeom prst="roundRect">
                <a:avLst/>
              </a:prstGeom>
              <a:solidFill>
                <a:sysClr val="window" lastClr="FFFFFF"/>
              </a:solidFill>
              <a:ln w="38100" cap="flat" cmpd="sng" algn="ctr">
                <a:solidFill>
                  <a:srgbClr val="5A52E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82" name="Models icon">
                <a:extLst>
                  <a:ext uri="{FF2B5EF4-FFF2-40B4-BE49-F238E27FC236}">
                    <a16:creationId xmlns:a16="http://schemas.microsoft.com/office/drawing/2014/main" id="{A6C8CDA2-158F-F15A-A025-D6C992E4143D}"/>
                  </a:ext>
                </a:extLst>
              </p:cNvPr>
              <p:cNvGrpSpPr/>
              <p:nvPr/>
            </p:nvGrpSpPr>
            <p:grpSpPr>
              <a:xfrm>
                <a:off x="7868115" y="2794476"/>
                <a:ext cx="952806" cy="893796"/>
                <a:chOff x="431252" y="1489271"/>
                <a:chExt cx="1175452" cy="1102653"/>
              </a:xfrm>
            </p:grpSpPr>
            <p:sp>
              <p:nvSpPr>
                <p:cNvPr id="83" name="Cube 82">
                  <a:extLst>
                    <a:ext uri="{FF2B5EF4-FFF2-40B4-BE49-F238E27FC236}">
                      <a16:creationId xmlns:a16="http://schemas.microsoft.com/office/drawing/2014/main" id="{11D969DC-009A-9F2B-B766-F6364D9E17A1}"/>
                    </a:ext>
                  </a:extLst>
                </p:cNvPr>
                <p:cNvSpPr/>
                <p:nvPr/>
              </p:nvSpPr>
              <p:spPr>
                <a:xfrm>
                  <a:off x="1034049" y="1993316"/>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w="22225">
                        <a:solidFill>
                          <a:srgbClr val="E97132"/>
                        </a:solidFill>
                        <a:prstDash val="solid"/>
                      </a:ln>
                      <a:solidFill>
                        <a:prstClr val="black"/>
                      </a:solidFill>
                      <a:effectLst/>
                      <a:uLnTx/>
                      <a:uFillTx/>
                      <a:latin typeface="Aptos" panose="02110004020202020204"/>
                      <a:ea typeface="+mn-ea"/>
                      <a:cs typeface="+mn-cs"/>
                      <a:sym typeface="Wingdings" panose="05000000000000000000" pitchFamily="2" charset="2"/>
                    </a:rPr>
                    <a:t></a:t>
                  </a:r>
                  <a:endParaRPr kumimoji="0" lang="en-US" sz="2400" b="1" i="0" u="none" strike="noStrike" kern="0" cap="none" spc="0" normalizeH="0" baseline="0" noProof="0" dirty="0">
                    <a:ln w="22225">
                      <a:solidFill>
                        <a:srgbClr val="E97132"/>
                      </a:solidFill>
                      <a:prstDash val="solid"/>
                    </a:ln>
                    <a:solidFill>
                      <a:prstClr val="black"/>
                    </a:solidFill>
                    <a:effectLst/>
                    <a:uLnTx/>
                    <a:uFillTx/>
                    <a:latin typeface="Aptos" panose="02110004020202020204"/>
                    <a:ea typeface="+mn-ea"/>
                    <a:cs typeface="+mn-cs"/>
                  </a:endParaRPr>
                </a:p>
              </p:txBody>
            </p:sp>
            <p:grpSp>
              <p:nvGrpSpPr>
                <p:cNvPr id="84" name="Group 83">
                  <a:extLst>
                    <a:ext uri="{FF2B5EF4-FFF2-40B4-BE49-F238E27FC236}">
                      <a16:creationId xmlns:a16="http://schemas.microsoft.com/office/drawing/2014/main" id="{F5FB0115-61C8-0FBA-F340-EC0BA3792F30}"/>
                    </a:ext>
                  </a:extLst>
                </p:cNvPr>
                <p:cNvGrpSpPr/>
                <p:nvPr/>
              </p:nvGrpSpPr>
              <p:grpSpPr>
                <a:xfrm>
                  <a:off x="431252" y="2000797"/>
                  <a:ext cx="602797" cy="591127"/>
                  <a:chOff x="316221" y="2634613"/>
                  <a:chExt cx="602797" cy="591127"/>
                </a:xfrm>
              </p:grpSpPr>
              <p:sp>
                <p:nvSpPr>
                  <p:cNvPr id="88" name="Cube 87">
                    <a:extLst>
                      <a:ext uri="{FF2B5EF4-FFF2-40B4-BE49-F238E27FC236}">
                        <a16:creationId xmlns:a16="http://schemas.microsoft.com/office/drawing/2014/main" id="{454FC78C-A7FF-4668-4E4B-1D96D7D3F2E8}"/>
                      </a:ext>
                    </a:extLst>
                  </p:cNvPr>
                  <p:cNvSpPr/>
                  <p:nvPr/>
                </p:nvSpPr>
                <p:spPr>
                  <a:xfrm>
                    <a:off x="346363" y="2634613"/>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9" name="Picture 88">
                    <a:extLst>
                      <a:ext uri="{FF2B5EF4-FFF2-40B4-BE49-F238E27FC236}">
                        <a16:creationId xmlns:a16="http://schemas.microsoft.com/office/drawing/2014/main" id="{544F78E4-FB8F-0D9B-31D2-D1C51D18D1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6221" y="2756871"/>
                    <a:ext cx="468869" cy="468869"/>
                  </a:xfrm>
                  <a:prstGeom prst="rect">
                    <a:avLst/>
                  </a:prstGeom>
                </p:spPr>
              </p:pic>
            </p:grpSp>
            <p:grpSp>
              <p:nvGrpSpPr>
                <p:cNvPr id="85" name="Group 84">
                  <a:extLst>
                    <a:ext uri="{FF2B5EF4-FFF2-40B4-BE49-F238E27FC236}">
                      <a16:creationId xmlns:a16="http://schemas.microsoft.com/office/drawing/2014/main" id="{FCC3C4FE-6504-B86A-5ABA-B7C5BD025914}"/>
                    </a:ext>
                  </a:extLst>
                </p:cNvPr>
                <p:cNvGrpSpPr/>
                <p:nvPr/>
              </p:nvGrpSpPr>
              <p:grpSpPr>
                <a:xfrm>
                  <a:off x="747721" y="1489271"/>
                  <a:ext cx="572655" cy="572655"/>
                  <a:chOff x="775854" y="1431636"/>
                  <a:chExt cx="572655" cy="572655"/>
                </a:xfrm>
              </p:grpSpPr>
              <p:sp>
                <p:nvSpPr>
                  <p:cNvPr id="86" name="Cube 85">
                    <a:extLst>
                      <a:ext uri="{FF2B5EF4-FFF2-40B4-BE49-F238E27FC236}">
                        <a16:creationId xmlns:a16="http://schemas.microsoft.com/office/drawing/2014/main" id="{2061DF79-6707-6CDF-4EE9-0F364F01B16C}"/>
                      </a:ext>
                    </a:extLst>
                  </p:cNvPr>
                  <p:cNvSpPr/>
                  <p:nvPr/>
                </p:nvSpPr>
                <p:spPr>
                  <a:xfrm>
                    <a:off x="775854" y="1431636"/>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7" name="Picture 86">
                    <a:extLst>
                      <a:ext uri="{FF2B5EF4-FFF2-40B4-BE49-F238E27FC236}">
                        <a16:creationId xmlns:a16="http://schemas.microsoft.com/office/drawing/2014/main" id="{A76D2A30-8A55-6D94-193C-642690548CF6}"/>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840086" y="1636592"/>
                    <a:ext cx="300607" cy="293808"/>
                  </a:xfrm>
                  <a:prstGeom prst="rect">
                    <a:avLst/>
                  </a:prstGeom>
                </p:spPr>
              </p:pic>
            </p:grpSp>
          </p:grpSp>
          <p:grpSp>
            <p:nvGrpSpPr>
              <p:cNvPr id="90" name="Models title">
                <a:extLst>
                  <a:ext uri="{FF2B5EF4-FFF2-40B4-BE49-F238E27FC236}">
                    <a16:creationId xmlns:a16="http://schemas.microsoft.com/office/drawing/2014/main" id="{D5E4E72C-BAAA-765B-63B5-61D5B97B73DF}"/>
                  </a:ext>
                </a:extLst>
              </p:cNvPr>
              <p:cNvGrpSpPr/>
              <p:nvPr/>
            </p:nvGrpSpPr>
            <p:grpSpPr>
              <a:xfrm>
                <a:off x="7503435" y="2209280"/>
                <a:ext cx="1715100" cy="676504"/>
                <a:chOff x="4424882" y="2060587"/>
                <a:chExt cx="1715100" cy="676504"/>
              </a:xfrm>
            </p:grpSpPr>
            <p:pic>
              <p:nvPicPr>
                <p:cNvPr id="91" name="Picture 90">
                  <a:extLst>
                    <a:ext uri="{FF2B5EF4-FFF2-40B4-BE49-F238E27FC236}">
                      <a16:creationId xmlns:a16="http://schemas.microsoft.com/office/drawing/2014/main" id="{C5154E71-CF63-71A1-5348-D12025FCCD1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24882" y="2060587"/>
                  <a:ext cx="676504" cy="676504"/>
                </a:xfrm>
                <a:prstGeom prst="rect">
                  <a:avLst/>
                </a:prstGeom>
              </p:spPr>
            </p:pic>
            <p:sp>
              <p:nvSpPr>
                <p:cNvPr id="92" name="TextBox 91">
                  <a:extLst>
                    <a:ext uri="{FF2B5EF4-FFF2-40B4-BE49-F238E27FC236}">
                      <a16:creationId xmlns:a16="http://schemas.microsoft.com/office/drawing/2014/main" id="{CDE17F4E-2D22-077D-8A5B-35D30D51BF73}"/>
                    </a:ext>
                  </a:extLst>
                </p:cNvPr>
                <p:cNvSpPr txBox="1"/>
                <p:nvPr/>
              </p:nvSpPr>
              <p:spPr>
                <a:xfrm>
                  <a:off x="4967427" y="2168006"/>
                  <a:ext cx="1172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Models</a:t>
                  </a:r>
                </a:p>
              </p:txBody>
            </p:sp>
          </p:grpSp>
          <p:grpSp>
            <p:nvGrpSpPr>
              <p:cNvPr id="93" name="Agents title">
                <a:extLst>
                  <a:ext uri="{FF2B5EF4-FFF2-40B4-BE49-F238E27FC236}">
                    <a16:creationId xmlns:a16="http://schemas.microsoft.com/office/drawing/2014/main" id="{21557605-E991-63BA-7CC4-95FD85DCA356}"/>
                  </a:ext>
                </a:extLst>
              </p:cNvPr>
              <p:cNvGrpSpPr/>
              <p:nvPr/>
            </p:nvGrpSpPr>
            <p:grpSpPr>
              <a:xfrm>
                <a:off x="9522052" y="2229489"/>
                <a:ext cx="1696203" cy="590514"/>
                <a:chOff x="6887055" y="2055269"/>
                <a:chExt cx="1696203" cy="590514"/>
              </a:xfrm>
            </p:grpSpPr>
            <p:pic>
              <p:nvPicPr>
                <p:cNvPr id="94" name="Picture 93">
                  <a:extLst>
                    <a:ext uri="{FF2B5EF4-FFF2-40B4-BE49-F238E27FC236}">
                      <a16:creationId xmlns:a16="http://schemas.microsoft.com/office/drawing/2014/main" id="{51D3C072-0D06-F03F-BC47-6EB243A24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87055" y="2055269"/>
                  <a:ext cx="590514" cy="590514"/>
                </a:xfrm>
                <a:prstGeom prst="rect">
                  <a:avLst/>
                </a:prstGeom>
              </p:spPr>
            </p:pic>
            <p:sp>
              <p:nvSpPr>
                <p:cNvPr id="95" name="TextBox 94">
                  <a:extLst>
                    <a:ext uri="{FF2B5EF4-FFF2-40B4-BE49-F238E27FC236}">
                      <a16:creationId xmlns:a16="http://schemas.microsoft.com/office/drawing/2014/main" id="{66ED8CAC-7B6F-EF10-AD5B-F72B40A8F310}"/>
                    </a:ext>
                  </a:extLst>
                </p:cNvPr>
                <p:cNvSpPr txBox="1"/>
                <p:nvPr/>
              </p:nvSpPr>
              <p:spPr>
                <a:xfrm>
                  <a:off x="7410703" y="2119693"/>
                  <a:ext cx="1172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Agents</a:t>
                  </a:r>
                </a:p>
              </p:txBody>
            </p:sp>
          </p:grpSp>
          <p:grpSp>
            <p:nvGrpSpPr>
              <p:cNvPr id="96" name="Agents icon">
                <a:extLst>
                  <a:ext uri="{FF2B5EF4-FFF2-40B4-BE49-F238E27FC236}">
                    <a16:creationId xmlns:a16="http://schemas.microsoft.com/office/drawing/2014/main" id="{0655C212-E4D7-DB32-84C6-62E88BE96D26}"/>
                  </a:ext>
                </a:extLst>
              </p:cNvPr>
              <p:cNvGrpSpPr/>
              <p:nvPr/>
            </p:nvGrpSpPr>
            <p:grpSpPr>
              <a:xfrm>
                <a:off x="9626030" y="2653497"/>
                <a:ext cx="1427817" cy="1073760"/>
                <a:chOff x="6991033" y="2479277"/>
                <a:chExt cx="1588699" cy="1194748"/>
              </a:xfrm>
            </p:grpSpPr>
            <p:pic>
              <p:nvPicPr>
                <p:cNvPr id="97" name="Graphic 96" descr="Robot with solid fill">
                  <a:extLst>
                    <a:ext uri="{FF2B5EF4-FFF2-40B4-BE49-F238E27FC236}">
                      <a16:creationId xmlns:a16="http://schemas.microsoft.com/office/drawing/2014/main" id="{C30BDAA0-90FC-971C-5D5C-E87A2F73A60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3914" y="2479277"/>
                  <a:ext cx="796499" cy="796499"/>
                </a:xfrm>
                <a:prstGeom prst="rect">
                  <a:avLst/>
                </a:prstGeom>
              </p:spPr>
            </p:pic>
            <p:pic>
              <p:nvPicPr>
                <p:cNvPr id="98" name="Graphic 97" descr="Robot with solid fill">
                  <a:extLst>
                    <a:ext uri="{FF2B5EF4-FFF2-40B4-BE49-F238E27FC236}">
                      <a16:creationId xmlns:a16="http://schemas.microsoft.com/office/drawing/2014/main" id="{5C961F2B-59B0-DF1B-F95D-F04AC22D62F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83233" y="2785726"/>
                  <a:ext cx="796499" cy="796499"/>
                </a:xfrm>
                <a:prstGeom prst="rect">
                  <a:avLst/>
                </a:prstGeom>
              </p:spPr>
            </p:pic>
            <p:pic>
              <p:nvPicPr>
                <p:cNvPr id="99" name="Graphic 98" descr="Robot with solid fill">
                  <a:extLst>
                    <a:ext uri="{FF2B5EF4-FFF2-40B4-BE49-F238E27FC236}">
                      <a16:creationId xmlns:a16="http://schemas.microsoft.com/office/drawing/2014/main" id="{23E86436-AFFC-E121-4A22-7212BA5921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91033" y="2877526"/>
                  <a:ext cx="796499" cy="796499"/>
                </a:xfrm>
                <a:prstGeom prst="rect">
                  <a:avLst/>
                </a:prstGeom>
              </p:spPr>
            </p:pic>
          </p:grpSp>
          <p:grpSp>
            <p:nvGrpSpPr>
              <p:cNvPr id="100" name="Tools title">
                <a:extLst>
                  <a:ext uri="{FF2B5EF4-FFF2-40B4-BE49-F238E27FC236}">
                    <a16:creationId xmlns:a16="http://schemas.microsoft.com/office/drawing/2014/main" id="{7DEA8DF9-ABFA-6277-A8EF-A8AAFACE023C}"/>
                  </a:ext>
                </a:extLst>
              </p:cNvPr>
              <p:cNvGrpSpPr/>
              <p:nvPr/>
            </p:nvGrpSpPr>
            <p:grpSpPr>
              <a:xfrm>
                <a:off x="7564279" y="3994345"/>
                <a:ext cx="1776290" cy="581908"/>
                <a:chOff x="5536247" y="3949784"/>
                <a:chExt cx="1776290" cy="581908"/>
              </a:xfrm>
            </p:grpSpPr>
            <p:pic>
              <p:nvPicPr>
                <p:cNvPr id="101" name="Picture 100">
                  <a:extLst>
                    <a:ext uri="{FF2B5EF4-FFF2-40B4-BE49-F238E27FC236}">
                      <a16:creationId xmlns:a16="http://schemas.microsoft.com/office/drawing/2014/main" id="{04A31A57-CF45-C19B-0CD5-957DCDDED70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536247" y="3949784"/>
                  <a:ext cx="603735" cy="581908"/>
                </a:xfrm>
                <a:prstGeom prst="rect">
                  <a:avLst/>
                </a:prstGeom>
              </p:spPr>
            </p:pic>
            <p:sp>
              <p:nvSpPr>
                <p:cNvPr id="102" name="TextBox 101">
                  <a:extLst>
                    <a:ext uri="{FF2B5EF4-FFF2-40B4-BE49-F238E27FC236}">
                      <a16:creationId xmlns:a16="http://schemas.microsoft.com/office/drawing/2014/main" id="{EAB5212B-3E55-E25C-D484-A5A3A050695E}"/>
                    </a:ext>
                  </a:extLst>
                </p:cNvPr>
                <p:cNvSpPr txBox="1"/>
                <p:nvPr/>
              </p:nvSpPr>
              <p:spPr>
                <a:xfrm>
                  <a:off x="6096000" y="4040605"/>
                  <a:ext cx="12165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Tools</a:t>
                  </a:r>
                </a:p>
              </p:txBody>
            </p:sp>
          </p:grpSp>
          <p:grpSp>
            <p:nvGrpSpPr>
              <p:cNvPr id="103" name="Tools icon">
                <a:extLst>
                  <a:ext uri="{FF2B5EF4-FFF2-40B4-BE49-F238E27FC236}">
                    <a16:creationId xmlns:a16="http://schemas.microsoft.com/office/drawing/2014/main" id="{52E92FD7-2225-EF37-5DD0-889BB08BB840}"/>
                  </a:ext>
                </a:extLst>
              </p:cNvPr>
              <p:cNvGrpSpPr/>
              <p:nvPr/>
            </p:nvGrpSpPr>
            <p:grpSpPr>
              <a:xfrm>
                <a:off x="7640613" y="4530380"/>
                <a:ext cx="1297199" cy="818268"/>
                <a:chOff x="832445" y="2239258"/>
                <a:chExt cx="1559412" cy="983671"/>
              </a:xfrm>
            </p:grpSpPr>
            <p:pic>
              <p:nvPicPr>
                <p:cNvPr id="104" name="Graphic 103" descr="Wrench with solid fill">
                  <a:extLst>
                    <a:ext uri="{FF2B5EF4-FFF2-40B4-BE49-F238E27FC236}">
                      <a16:creationId xmlns:a16="http://schemas.microsoft.com/office/drawing/2014/main" id="{91E521E8-0F18-D553-5702-168C2BB527A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V="1">
                  <a:off x="1708581" y="2379073"/>
                  <a:ext cx="683276" cy="683276"/>
                </a:xfrm>
                <a:prstGeom prst="rect">
                  <a:avLst/>
                </a:prstGeom>
              </p:spPr>
            </p:pic>
            <p:grpSp>
              <p:nvGrpSpPr>
                <p:cNvPr id="105" name="Group 104">
                  <a:extLst>
                    <a:ext uri="{FF2B5EF4-FFF2-40B4-BE49-F238E27FC236}">
                      <a16:creationId xmlns:a16="http://schemas.microsoft.com/office/drawing/2014/main" id="{9013AB86-15B4-24A5-7DAB-31027BF485FD}"/>
                    </a:ext>
                  </a:extLst>
                </p:cNvPr>
                <p:cNvGrpSpPr/>
                <p:nvPr/>
              </p:nvGrpSpPr>
              <p:grpSpPr>
                <a:xfrm>
                  <a:off x="1387284" y="2419049"/>
                  <a:ext cx="795565" cy="803880"/>
                  <a:chOff x="1571037" y="2991060"/>
                  <a:chExt cx="921619" cy="931253"/>
                </a:xfrm>
              </p:grpSpPr>
              <p:pic>
                <p:nvPicPr>
                  <p:cNvPr id="109" name="Graphic 108" descr="Screwdriver with solid fill">
                    <a:extLst>
                      <a:ext uri="{FF2B5EF4-FFF2-40B4-BE49-F238E27FC236}">
                        <a16:creationId xmlns:a16="http://schemas.microsoft.com/office/drawing/2014/main" id="{80A21FB2-61FF-11DB-A517-7A358EF3CE8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8256" y="2991060"/>
                    <a:ext cx="914400" cy="914400"/>
                  </a:xfrm>
                  <a:prstGeom prst="rect">
                    <a:avLst/>
                  </a:prstGeom>
                </p:spPr>
              </p:pic>
              <p:pic>
                <p:nvPicPr>
                  <p:cNvPr id="110" name="Graphic 109" descr="Screwdriver with solid fill">
                    <a:extLst>
                      <a:ext uri="{FF2B5EF4-FFF2-40B4-BE49-F238E27FC236}">
                        <a16:creationId xmlns:a16="http://schemas.microsoft.com/office/drawing/2014/main" id="{F5BFF747-D2C6-5737-D646-B8E641EAC328}"/>
                      </a:ext>
                    </a:extLst>
                  </p:cNvPr>
                  <p:cNvPicPr>
                    <a:picLocks noChangeAspect="1"/>
                  </p:cNvPicPr>
                  <p:nvPr/>
                </p:nvPicPr>
                <p:blipFill>
                  <a:blip>
                    <a:extLst>
                      <a:ext uri="{96DAC541-7B7A-43D3-8B79-37D633B846F1}">
                        <asvg:svgBlip xmlns:asvg="http://schemas.microsoft.com/office/drawing/2016/SVG/main" r:embed="rId13"/>
                      </a:ext>
                    </a:extLst>
                  </a:blip>
                  <a:srcRect t="48157" r="49905"/>
                  <a:stretch>
                    <a:fillRect/>
                  </a:stretch>
                </p:blipFill>
                <p:spPr>
                  <a:xfrm>
                    <a:off x="1571037" y="3448260"/>
                    <a:ext cx="458070" cy="474053"/>
                  </a:xfrm>
                  <a:prstGeom prst="rect">
                    <a:avLst/>
                  </a:prstGeom>
                </p:spPr>
              </p:pic>
            </p:grpSp>
            <p:grpSp>
              <p:nvGrpSpPr>
                <p:cNvPr id="106" name="Group 105">
                  <a:extLst>
                    <a:ext uri="{FF2B5EF4-FFF2-40B4-BE49-F238E27FC236}">
                      <a16:creationId xmlns:a16="http://schemas.microsoft.com/office/drawing/2014/main" id="{28B92BE4-D88E-93BD-9FEF-47CB8F40E1CB}"/>
                    </a:ext>
                  </a:extLst>
                </p:cNvPr>
                <p:cNvGrpSpPr/>
                <p:nvPr/>
              </p:nvGrpSpPr>
              <p:grpSpPr>
                <a:xfrm>
                  <a:off x="832445" y="2239258"/>
                  <a:ext cx="914400" cy="928653"/>
                  <a:chOff x="308502" y="3524927"/>
                  <a:chExt cx="914400" cy="928653"/>
                </a:xfrm>
              </p:grpSpPr>
              <p:pic>
                <p:nvPicPr>
                  <p:cNvPr id="107" name="Graphic 106" descr="Hammer with solid fill">
                    <a:extLst>
                      <a:ext uri="{FF2B5EF4-FFF2-40B4-BE49-F238E27FC236}">
                        <a16:creationId xmlns:a16="http://schemas.microsoft.com/office/drawing/2014/main" id="{FCF7B5F9-5A7B-6683-4445-4E20964DD4A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21190143">
                    <a:off x="308502" y="3524927"/>
                    <a:ext cx="914400" cy="914400"/>
                  </a:xfrm>
                  <a:prstGeom prst="rect">
                    <a:avLst/>
                  </a:prstGeom>
                </p:spPr>
              </p:pic>
              <p:pic>
                <p:nvPicPr>
                  <p:cNvPr id="108" name="Graphic 107" descr="Hammer with solid fill">
                    <a:extLst>
                      <a:ext uri="{FF2B5EF4-FFF2-40B4-BE49-F238E27FC236}">
                        <a16:creationId xmlns:a16="http://schemas.microsoft.com/office/drawing/2014/main" id="{7D2DD7B4-4FB3-A5C1-6E10-C6B6D8541820}"/>
                      </a:ext>
                    </a:extLst>
                  </p:cNvPr>
                  <p:cNvPicPr>
                    <a:picLocks noChangeAspect="1"/>
                  </p:cNvPicPr>
                  <p:nvPr/>
                </p:nvPicPr>
                <p:blipFill>
                  <a:blip>
                    <a:extLst>
                      <a:ext uri="{96DAC541-7B7A-43D3-8B79-37D633B846F1}">
                        <asvg:svgBlip xmlns:asvg="http://schemas.microsoft.com/office/drawing/2016/SVG/main" r:embed="rId15"/>
                      </a:ext>
                    </a:extLst>
                  </a:blip>
                  <a:srcRect t="53562" r="58555"/>
                  <a:stretch>
                    <a:fillRect/>
                  </a:stretch>
                </p:blipFill>
                <p:spPr>
                  <a:xfrm rot="21190143">
                    <a:off x="347457" y="4028955"/>
                    <a:ext cx="378970" cy="424625"/>
                  </a:xfrm>
                  <a:prstGeom prst="rect">
                    <a:avLst/>
                  </a:prstGeom>
                </p:spPr>
              </p:pic>
            </p:grpSp>
          </p:grpSp>
          <p:grpSp>
            <p:nvGrpSpPr>
              <p:cNvPr id="111" name="knowledge title">
                <a:extLst>
                  <a:ext uri="{FF2B5EF4-FFF2-40B4-BE49-F238E27FC236}">
                    <a16:creationId xmlns:a16="http://schemas.microsoft.com/office/drawing/2014/main" id="{C234BE26-E888-8EDB-4F4B-9BF97BEF7CD7}"/>
                  </a:ext>
                </a:extLst>
              </p:cNvPr>
              <p:cNvGrpSpPr/>
              <p:nvPr/>
            </p:nvGrpSpPr>
            <p:grpSpPr>
              <a:xfrm>
                <a:off x="9479066" y="3923353"/>
                <a:ext cx="2310542" cy="697203"/>
                <a:chOff x="6885312" y="4114643"/>
                <a:chExt cx="2310542" cy="697203"/>
              </a:xfrm>
            </p:grpSpPr>
            <p:pic>
              <p:nvPicPr>
                <p:cNvPr id="112" name="Picture 111">
                  <a:extLst>
                    <a:ext uri="{FF2B5EF4-FFF2-40B4-BE49-F238E27FC236}">
                      <a16:creationId xmlns:a16="http://schemas.microsoft.com/office/drawing/2014/main" id="{DB3BC1E2-1574-C8EE-AC56-56329F1BD4C1}"/>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885312" y="4114643"/>
                  <a:ext cx="697203" cy="697203"/>
                </a:xfrm>
                <a:prstGeom prst="rect">
                  <a:avLst/>
                </a:prstGeom>
              </p:spPr>
            </p:pic>
            <p:sp>
              <p:nvSpPr>
                <p:cNvPr id="113" name="TextBox 112">
                  <a:extLst>
                    <a:ext uri="{FF2B5EF4-FFF2-40B4-BE49-F238E27FC236}">
                      <a16:creationId xmlns:a16="http://schemas.microsoft.com/office/drawing/2014/main" id="{03D2AF8B-0877-B55A-7E62-A5756BE49475}"/>
                    </a:ext>
                  </a:extLst>
                </p:cNvPr>
                <p:cNvSpPr txBox="1"/>
                <p:nvPr/>
              </p:nvSpPr>
              <p:spPr>
                <a:xfrm>
                  <a:off x="7459097" y="4254578"/>
                  <a:ext cx="17367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Knowledge</a:t>
                  </a:r>
                </a:p>
              </p:txBody>
            </p:sp>
          </p:grpSp>
          <p:grpSp>
            <p:nvGrpSpPr>
              <p:cNvPr id="114" name="Knowledge icon">
                <a:extLst>
                  <a:ext uri="{FF2B5EF4-FFF2-40B4-BE49-F238E27FC236}">
                    <a16:creationId xmlns:a16="http://schemas.microsoft.com/office/drawing/2014/main" id="{4EA63044-4A20-D441-E61D-97826C6D0BC1}"/>
                  </a:ext>
                </a:extLst>
              </p:cNvPr>
              <p:cNvGrpSpPr/>
              <p:nvPr/>
            </p:nvGrpSpPr>
            <p:grpSpPr>
              <a:xfrm>
                <a:off x="10308854" y="4486736"/>
                <a:ext cx="966902" cy="998886"/>
                <a:chOff x="7665332" y="4678026"/>
                <a:chExt cx="1246048" cy="1287266"/>
              </a:xfrm>
            </p:grpSpPr>
            <p:pic>
              <p:nvPicPr>
                <p:cNvPr id="115" name="Graphic 114" descr="Document outline">
                  <a:extLst>
                    <a:ext uri="{FF2B5EF4-FFF2-40B4-BE49-F238E27FC236}">
                      <a16:creationId xmlns:a16="http://schemas.microsoft.com/office/drawing/2014/main" id="{60979D96-46F1-BCE3-4D3A-CFB90ADB2F4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665332" y="4678026"/>
                  <a:ext cx="914400" cy="914400"/>
                </a:xfrm>
                <a:prstGeom prst="rect">
                  <a:avLst/>
                </a:prstGeom>
              </p:spPr>
            </p:pic>
            <p:grpSp>
              <p:nvGrpSpPr>
                <p:cNvPr id="116" name="Group 115">
                  <a:extLst>
                    <a:ext uri="{FF2B5EF4-FFF2-40B4-BE49-F238E27FC236}">
                      <a16:creationId xmlns:a16="http://schemas.microsoft.com/office/drawing/2014/main" id="{01B3E22D-395B-1659-DA68-4BFD33BCDCA4}"/>
                    </a:ext>
                  </a:extLst>
                </p:cNvPr>
                <p:cNvGrpSpPr/>
                <p:nvPr/>
              </p:nvGrpSpPr>
              <p:grpSpPr>
                <a:xfrm>
                  <a:off x="7996980" y="5050892"/>
                  <a:ext cx="914400" cy="914400"/>
                  <a:chOff x="10023333" y="3330046"/>
                  <a:chExt cx="914400" cy="914400"/>
                </a:xfrm>
              </p:grpSpPr>
              <p:pic>
                <p:nvPicPr>
                  <p:cNvPr id="117" name="Graphic 116" descr="Magnifying glass with solid fill">
                    <a:extLst>
                      <a:ext uri="{FF2B5EF4-FFF2-40B4-BE49-F238E27FC236}">
                        <a16:creationId xmlns:a16="http://schemas.microsoft.com/office/drawing/2014/main" id="{81D40B60-4A51-5A6C-87F4-AB622C50EE1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023333" y="3330046"/>
                    <a:ext cx="914400" cy="914400"/>
                  </a:xfrm>
                  <a:prstGeom prst="rect">
                    <a:avLst/>
                  </a:prstGeom>
                </p:spPr>
              </p:pic>
              <p:pic>
                <p:nvPicPr>
                  <p:cNvPr id="118" name="Graphic 117" descr="Magnifying glass with solid fill">
                    <a:extLst>
                      <a:ext uri="{FF2B5EF4-FFF2-40B4-BE49-F238E27FC236}">
                        <a16:creationId xmlns:a16="http://schemas.microsoft.com/office/drawing/2014/main" id="{9CAF2946-D079-848B-1B5C-9B8D74FA3C96}"/>
                      </a:ext>
                    </a:extLst>
                  </p:cNvPr>
                  <p:cNvPicPr>
                    <a:picLocks noChangeAspect="1"/>
                  </p:cNvPicPr>
                  <p:nvPr/>
                </p:nvPicPr>
                <p:blipFill>
                  <a:blip>
                    <a:extLst>
                      <a:ext uri="{96DAC541-7B7A-43D3-8B79-37D633B846F1}">
                        <asvg:svgBlip xmlns:asvg="http://schemas.microsoft.com/office/drawing/2016/SVG/main" r:embed="rId19"/>
                      </a:ext>
                    </a:extLst>
                  </a:blip>
                  <a:srcRect l="62331" t="59791"/>
                  <a:stretch>
                    <a:fillRect/>
                  </a:stretch>
                </p:blipFill>
                <p:spPr>
                  <a:xfrm>
                    <a:off x="10593290" y="3876769"/>
                    <a:ext cx="344443" cy="367677"/>
                  </a:xfrm>
                  <a:prstGeom prst="rect">
                    <a:avLst/>
                  </a:prstGeom>
                </p:spPr>
              </p:pic>
            </p:grpSp>
          </p:grpSp>
          <p:sp>
            <p:nvSpPr>
              <p:cNvPr id="126" name="TextBox 125">
                <a:extLst>
                  <a:ext uri="{FF2B5EF4-FFF2-40B4-BE49-F238E27FC236}">
                    <a16:creationId xmlns:a16="http://schemas.microsoft.com/office/drawing/2014/main" id="{F218C532-3287-FE02-C65D-165A0C1CB54D}"/>
                  </a:ext>
                </a:extLst>
              </p:cNvPr>
              <p:cNvSpPr txBox="1"/>
              <p:nvPr/>
            </p:nvSpPr>
            <p:spPr>
              <a:xfrm>
                <a:off x="7328222" y="1137938"/>
                <a:ext cx="3182603"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Semibold"/>
                    <a:ea typeface="+mn-ea"/>
                    <a:cs typeface="+mn-cs"/>
                  </a:rPr>
                  <a:t>Microsoft Foundry </a:t>
                </a:r>
                <a:r>
                  <a:rPr kumimoji="0" lang="en-US" sz="2000" b="0" i="1" u="none" strike="noStrike" kern="1200" cap="none" spc="0" normalizeH="0" baseline="0" noProof="0" dirty="0">
                    <a:ln>
                      <a:noFill/>
                    </a:ln>
                    <a:solidFill>
                      <a:srgbClr val="000000"/>
                    </a:solidFill>
                    <a:effectLst/>
                    <a:uLnTx/>
                    <a:uFillTx/>
                    <a:latin typeface="Segoe UI Semibold"/>
                    <a:ea typeface="+mn-ea"/>
                    <a:cs typeface="+mn-cs"/>
                  </a:rPr>
                  <a:t>resource</a:t>
                </a:r>
              </a:p>
            </p:txBody>
          </p:sp>
          <p:sp>
            <p:nvSpPr>
              <p:cNvPr id="127" name="TextBox 126">
                <a:extLst>
                  <a:ext uri="{FF2B5EF4-FFF2-40B4-BE49-F238E27FC236}">
                    <a16:creationId xmlns:a16="http://schemas.microsoft.com/office/drawing/2014/main" id="{5DFA6FEF-3AFD-5BD5-7834-33017ABFC53A}"/>
                  </a:ext>
                </a:extLst>
              </p:cNvPr>
              <p:cNvSpPr txBox="1"/>
              <p:nvPr/>
            </p:nvSpPr>
            <p:spPr>
              <a:xfrm>
                <a:off x="7579789" y="1758711"/>
                <a:ext cx="3008965"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Semibold"/>
                    <a:ea typeface="+mn-ea"/>
                    <a:cs typeface="+mn-cs"/>
                  </a:rPr>
                  <a:t>Microsoft Foundry </a:t>
                </a:r>
                <a:r>
                  <a:rPr kumimoji="0" lang="en-US" sz="2000" b="0" i="1" u="none" strike="noStrike" kern="1200" cap="none" spc="0" normalizeH="0" baseline="0" noProof="0" dirty="0">
                    <a:ln>
                      <a:noFill/>
                    </a:ln>
                    <a:solidFill>
                      <a:srgbClr val="000000"/>
                    </a:solidFill>
                    <a:effectLst/>
                    <a:uLnTx/>
                    <a:uFillTx/>
                    <a:latin typeface="Segoe UI Semibold"/>
                    <a:ea typeface="+mn-ea"/>
                    <a:cs typeface="+mn-cs"/>
                  </a:rPr>
                  <a:t>project</a:t>
                </a:r>
              </a:p>
            </p:txBody>
          </p:sp>
        </p:grpSp>
        <p:pic>
          <p:nvPicPr>
            <p:cNvPr id="132" name="Graphic 55">
              <a:extLst>
                <a:ext uri="{FF2B5EF4-FFF2-40B4-BE49-F238E27FC236}">
                  <a16:creationId xmlns:a16="http://schemas.microsoft.com/office/drawing/2014/main" id="{68B4DF00-6AD7-34E8-6D79-17BE3A304636}"/>
                </a:ext>
              </a:extLst>
            </p:cNvPr>
            <p:cNvPicPr>
              <a:picLocks noChangeAspect="1"/>
            </p:cNvPicPr>
            <p:nvPr/>
          </p:nvPicPr>
          <p:blipFill>
            <a:blip r:embed="rId20" cstate="screen">
              <a:extLst>
                <a:ext uri="{28A0092B-C50C-407E-A947-70E740481C1C}">
                  <a14:useLocalDpi xmlns:a14="http://schemas.microsoft.com/office/drawing/2010/main"/>
                </a:ext>
              </a:extLst>
            </a:blip>
            <a:srcRect/>
            <a:stretch/>
          </p:blipFill>
          <p:spPr>
            <a:xfrm>
              <a:off x="10363196" y="816325"/>
              <a:ext cx="1140170" cy="1075521"/>
            </a:xfrm>
            <a:prstGeom prst="rect">
              <a:avLst/>
            </a:prstGeom>
          </p:spPr>
        </p:pic>
      </p:gr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4945752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A18A-E1C6-6ED4-D7D6-CB00F8757C71}"/>
              </a:ext>
            </a:extLst>
          </p:cNvPr>
          <p:cNvSpPr>
            <a:spLocks noGrp="1"/>
          </p:cNvSpPr>
          <p:nvPr>
            <p:ph type="title"/>
          </p:nvPr>
        </p:nvSpPr>
        <p:spPr/>
        <p:txBody>
          <a:bodyPr/>
          <a:lstStyle/>
          <a:p>
            <a:r>
              <a:rPr lang="en-US" dirty="0"/>
              <a:t>Foundry Tools</a:t>
            </a:r>
          </a:p>
        </p:txBody>
      </p:sp>
      <p:grpSp>
        <p:nvGrpSpPr>
          <p:cNvPr id="34" name="Group 33" descr="Table showing available Foundry Tools.">
            <a:extLst>
              <a:ext uri="{FF2B5EF4-FFF2-40B4-BE49-F238E27FC236}">
                <a16:creationId xmlns:a16="http://schemas.microsoft.com/office/drawing/2014/main" id="{95F2715B-D37F-0450-83BB-2237161AC716}"/>
              </a:ext>
            </a:extLst>
          </p:cNvPr>
          <p:cNvGrpSpPr/>
          <p:nvPr/>
        </p:nvGrpSpPr>
        <p:grpSpPr>
          <a:xfrm>
            <a:off x="1415143" y="1248559"/>
            <a:ext cx="9173028" cy="5083294"/>
            <a:chOff x="1415143" y="1248559"/>
            <a:chExt cx="9173028" cy="5083294"/>
          </a:xfrm>
        </p:grpSpPr>
        <p:grpSp>
          <p:nvGrpSpPr>
            <p:cNvPr id="29" name="Group 28">
              <a:extLst>
                <a:ext uri="{FF2B5EF4-FFF2-40B4-BE49-F238E27FC236}">
                  <a16:creationId xmlns:a16="http://schemas.microsoft.com/office/drawing/2014/main" id="{97EC8DE9-536A-E9CD-C2F5-A7FF035795DD}"/>
                </a:ext>
              </a:extLst>
            </p:cNvPr>
            <p:cNvGrpSpPr/>
            <p:nvPr/>
          </p:nvGrpSpPr>
          <p:grpSpPr>
            <a:xfrm>
              <a:off x="1415143" y="1248559"/>
              <a:ext cx="9173028" cy="956934"/>
              <a:chOff x="1415143" y="1248559"/>
              <a:chExt cx="9173028" cy="956934"/>
            </a:xfrm>
          </p:grpSpPr>
          <p:sp>
            <p:nvSpPr>
              <p:cNvPr id="19" name="Rectangle 18">
                <a:extLst>
                  <a:ext uri="{FF2B5EF4-FFF2-40B4-BE49-F238E27FC236}">
                    <a16:creationId xmlns:a16="http://schemas.microsoft.com/office/drawing/2014/main" id="{D2E16E56-7EF3-40B0-A0D6-F819F1DDC6A0}"/>
                  </a:ext>
                </a:extLst>
              </p:cNvPr>
              <p:cNvSpPr/>
              <p:nvPr/>
            </p:nvSpPr>
            <p:spPr bwMode="auto">
              <a:xfrm>
                <a:off x="1415143" y="1248559"/>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B5A1E27B-6CB2-B2EA-90E7-2714EE9FC22E}"/>
                  </a:ext>
                </a:extLst>
              </p:cNvPr>
              <p:cNvPicPr>
                <a:picLocks noChangeAspect="1"/>
              </p:cNvPicPr>
              <p:nvPr/>
            </p:nvPicPr>
            <p:blipFill>
              <a:blip r:embed="rId3"/>
              <a:stretch>
                <a:fillRect/>
              </a:stretch>
            </p:blipFill>
            <p:spPr>
              <a:xfrm>
                <a:off x="1415143" y="1258435"/>
                <a:ext cx="947058" cy="947058"/>
              </a:xfrm>
              <a:prstGeom prst="rect">
                <a:avLst/>
              </a:prstGeom>
            </p:spPr>
          </p:pic>
          <p:sp>
            <p:nvSpPr>
              <p:cNvPr id="14" name="TextBox 13">
                <a:extLst>
                  <a:ext uri="{FF2B5EF4-FFF2-40B4-BE49-F238E27FC236}">
                    <a16:creationId xmlns:a16="http://schemas.microsoft.com/office/drawing/2014/main" id="{C46F3B07-00ED-A75F-97E2-2EA5DBC77825}"/>
                  </a:ext>
                </a:extLst>
              </p:cNvPr>
              <p:cNvSpPr txBox="1"/>
              <p:nvPr/>
            </p:nvSpPr>
            <p:spPr>
              <a:xfrm>
                <a:off x="2455169" y="1388625"/>
                <a:ext cx="3493713" cy="276999"/>
              </a:xfrm>
              <a:prstGeom prst="rect">
                <a:avLst/>
              </a:prstGeom>
              <a:noFill/>
            </p:spPr>
            <p:txBody>
              <a:bodyPr wrap="none" lIns="0" tIns="0" rIns="0" bIns="0" rtlCol="0">
                <a:spAutoFit/>
              </a:bodyPr>
              <a:lstStyle/>
              <a:p>
                <a:pPr algn="l"/>
                <a:r>
                  <a:rPr lang="en-US" sz="1800" dirty="0">
                    <a:latin typeface="+mj-lt"/>
                  </a:rPr>
                  <a:t>Azure Language in Foundry Tools</a:t>
                </a:r>
              </a:p>
            </p:txBody>
          </p:sp>
          <p:sp>
            <p:nvSpPr>
              <p:cNvPr id="24" name="TextBox 23">
                <a:extLst>
                  <a:ext uri="{FF2B5EF4-FFF2-40B4-BE49-F238E27FC236}">
                    <a16:creationId xmlns:a16="http://schemas.microsoft.com/office/drawing/2014/main" id="{20CD64D2-4971-BA33-A771-8077290417C5}"/>
                  </a:ext>
                </a:extLst>
              </p:cNvPr>
              <p:cNvSpPr txBox="1"/>
              <p:nvPr/>
            </p:nvSpPr>
            <p:spPr>
              <a:xfrm>
                <a:off x="2455169" y="1705981"/>
                <a:ext cx="4129849" cy="246221"/>
              </a:xfrm>
              <a:prstGeom prst="rect">
                <a:avLst/>
              </a:prstGeom>
              <a:noFill/>
            </p:spPr>
            <p:txBody>
              <a:bodyPr wrap="none" lIns="0" tIns="0" rIns="0" bIns="0" rtlCol="0">
                <a:spAutoFit/>
              </a:bodyPr>
              <a:lstStyle/>
              <a:p>
                <a:pPr algn="l"/>
                <a:r>
                  <a:rPr lang="en-US" sz="1600" dirty="0"/>
                  <a:t>Natural language processing and text analysis</a:t>
                </a:r>
              </a:p>
            </p:txBody>
          </p:sp>
        </p:grpSp>
        <p:grpSp>
          <p:nvGrpSpPr>
            <p:cNvPr id="30" name="Group 29">
              <a:extLst>
                <a:ext uri="{FF2B5EF4-FFF2-40B4-BE49-F238E27FC236}">
                  <a16:creationId xmlns:a16="http://schemas.microsoft.com/office/drawing/2014/main" id="{CC8C4777-BB5C-FD05-6F0B-F8FCBED6F9B3}"/>
                </a:ext>
              </a:extLst>
            </p:cNvPr>
            <p:cNvGrpSpPr/>
            <p:nvPr/>
          </p:nvGrpSpPr>
          <p:grpSpPr>
            <a:xfrm>
              <a:off x="1415143" y="2282618"/>
              <a:ext cx="9173028" cy="947058"/>
              <a:chOff x="1415143" y="2282618"/>
              <a:chExt cx="9173028" cy="947058"/>
            </a:xfrm>
          </p:grpSpPr>
          <p:sp>
            <p:nvSpPr>
              <p:cNvPr id="20" name="Rectangle 19">
                <a:extLst>
                  <a:ext uri="{FF2B5EF4-FFF2-40B4-BE49-F238E27FC236}">
                    <a16:creationId xmlns:a16="http://schemas.microsoft.com/office/drawing/2014/main" id="{AE17EB9F-C87D-B4EA-ECD6-383CFC990763}"/>
                  </a:ext>
                </a:extLst>
              </p:cNvPr>
              <p:cNvSpPr/>
              <p:nvPr/>
            </p:nvSpPr>
            <p:spPr bwMode="auto">
              <a:xfrm>
                <a:off x="1415143" y="2282618"/>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 name="Graphic 6">
                <a:extLst>
                  <a:ext uri="{FF2B5EF4-FFF2-40B4-BE49-F238E27FC236}">
                    <a16:creationId xmlns:a16="http://schemas.microsoft.com/office/drawing/2014/main" id="{84A1253E-48A8-D07F-144C-9FCC9EFF45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2945" y="2328863"/>
                <a:ext cx="791454" cy="791452"/>
              </a:xfrm>
              <a:prstGeom prst="rect">
                <a:avLst/>
              </a:prstGeom>
            </p:spPr>
          </p:pic>
          <p:sp>
            <p:nvSpPr>
              <p:cNvPr id="15" name="TextBox 14">
                <a:extLst>
                  <a:ext uri="{FF2B5EF4-FFF2-40B4-BE49-F238E27FC236}">
                    <a16:creationId xmlns:a16="http://schemas.microsoft.com/office/drawing/2014/main" id="{C863279C-86DA-C794-E144-B6E73BE0D686}"/>
                  </a:ext>
                </a:extLst>
              </p:cNvPr>
              <p:cNvSpPr txBox="1"/>
              <p:nvPr/>
            </p:nvSpPr>
            <p:spPr>
              <a:xfrm>
                <a:off x="2455169" y="2366517"/>
                <a:ext cx="3224409" cy="276999"/>
              </a:xfrm>
              <a:prstGeom prst="rect">
                <a:avLst/>
              </a:prstGeom>
              <a:noFill/>
            </p:spPr>
            <p:txBody>
              <a:bodyPr wrap="none" lIns="0" tIns="0" rIns="0" bIns="0" rtlCol="0">
                <a:spAutoFit/>
              </a:bodyPr>
              <a:lstStyle/>
              <a:p>
                <a:pPr algn="l"/>
                <a:r>
                  <a:rPr lang="en-US" sz="1800" dirty="0">
                    <a:latin typeface="+mj-lt"/>
                  </a:rPr>
                  <a:t>Azure Speech in Foundry Tools</a:t>
                </a:r>
              </a:p>
            </p:txBody>
          </p:sp>
          <p:sp>
            <p:nvSpPr>
              <p:cNvPr id="25" name="TextBox 24">
                <a:extLst>
                  <a:ext uri="{FF2B5EF4-FFF2-40B4-BE49-F238E27FC236}">
                    <a16:creationId xmlns:a16="http://schemas.microsoft.com/office/drawing/2014/main" id="{5715460B-A52F-2DB2-A681-51FEA68CCB33}"/>
                  </a:ext>
                </a:extLst>
              </p:cNvPr>
              <p:cNvSpPr txBox="1"/>
              <p:nvPr/>
            </p:nvSpPr>
            <p:spPr>
              <a:xfrm>
                <a:off x="2455169" y="2689324"/>
                <a:ext cx="3009350" cy="246221"/>
              </a:xfrm>
              <a:prstGeom prst="rect">
                <a:avLst/>
              </a:prstGeom>
              <a:noFill/>
            </p:spPr>
            <p:txBody>
              <a:bodyPr wrap="none" lIns="0" tIns="0" rIns="0" bIns="0" rtlCol="0">
                <a:spAutoFit/>
              </a:bodyPr>
              <a:lstStyle/>
              <a:p>
                <a:pPr algn="l"/>
                <a:r>
                  <a:rPr lang="en-US" sz="1600" dirty="0"/>
                  <a:t>Speech recognition and synthesis</a:t>
                </a:r>
              </a:p>
            </p:txBody>
          </p:sp>
        </p:grpSp>
        <p:grpSp>
          <p:nvGrpSpPr>
            <p:cNvPr id="31" name="Group 30">
              <a:extLst>
                <a:ext uri="{FF2B5EF4-FFF2-40B4-BE49-F238E27FC236}">
                  <a16:creationId xmlns:a16="http://schemas.microsoft.com/office/drawing/2014/main" id="{10416ABE-CFEA-8728-269D-D566A11867EA}"/>
                </a:ext>
              </a:extLst>
            </p:cNvPr>
            <p:cNvGrpSpPr/>
            <p:nvPr/>
          </p:nvGrpSpPr>
          <p:grpSpPr>
            <a:xfrm>
              <a:off x="1415143" y="3262735"/>
              <a:ext cx="9173028" cy="1001000"/>
              <a:chOff x="1415143" y="3262735"/>
              <a:chExt cx="9173028" cy="1001000"/>
            </a:xfrm>
          </p:grpSpPr>
          <p:sp>
            <p:nvSpPr>
              <p:cNvPr id="21" name="Rectangle 20">
                <a:extLst>
                  <a:ext uri="{FF2B5EF4-FFF2-40B4-BE49-F238E27FC236}">
                    <a16:creationId xmlns:a16="http://schemas.microsoft.com/office/drawing/2014/main" id="{F1BC5631-530A-F411-1032-17040E13CAC6}"/>
                  </a:ext>
                </a:extLst>
              </p:cNvPr>
              <p:cNvSpPr/>
              <p:nvPr/>
            </p:nvSpPr>
            <p:spPr bwMode="auto">
              <a:xfrm>
                <a:off x="1415143" y="3316677"/>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a:extLst>
                  <a:ext uri="{FF2B5EF4-FFF2-40B4-BE49-F238E27FC236}">
                    <a16:creationId xmlns:a16="http://schemas.microsoft.com/office/drawing/2014/main" id="{34EE34A0-4033-996F-B1DD-E14A6984A63D}"/>
                  </a:ext>
                </a:extLst>
              </p:cNvPr>
              <p:cNvPicPr>
                <a:picLocks noChangeAspect="1"/>
              </p:cNvPicPr>
              <p:nvPr/>
            </p:nvPicPr>
            <p:blipFill>
              <a:blip r:embed="rId5"/>
              <a:stretch>
                <a:fillRect/>
              </a:stretch>
            </p:blipFill>
            <p:spPr>
              <a:xfrm>
                <a:off x="1415143" y="3262735"/>
                <a:ext cx="947058" cy="947058"/>
              </a:xfrm>
              <a:prstGeom prst="rect">
                <a:avLst/>
              </a:prstGeom>
            </p:spPr>
          </p:pic>
          <p:sp>
            <p:nvSpPr>
              <p:cNvPr id="16" name="TextBox 15">
                <a:extLst>
                  <a:ext uri="{FF2B5EF4-FFF2-40B4-BE49-F238E27FC236}">
                    <a16:creationId xmlns:a16="http://schemas.microsoft.com/office/drawing/2014/main" id="{7ECDAC41-CF9B-5A47-2C7B-47CE2961750D}"/>
                  </a:ext>
                </a:extLst>
              </p:cNvPr>
              <p:cNvSpPr txBox="1"/>
              <p:nvPr/>
            </p:nvSpPr>
            <p:spPr>
              <a:xfrm>
                <a:off x="2455169" y="3384256"/>
                <a:ext cx="3502369" cy="276999"/>
              </a:xfrm>
              <a:prstGeom prst="rect">
                <a:avLst/>
              </a:prstGeom>
              <a:noFill/>
            </p:spPr>
            <p:txBody>
              <a:bodyPr wrap="none" lIns="0" tIns="0" rIns="0" bIns="0" rtlCol="0">
                <a:spAutoFit/>
              </a:bodyPr>
              <a:lstStyle/>
              <a:p>
                <a:pPr algn="l"/>
                <a:r>
                  <a:rPr lang="en-US" sz="1800" dirty="0">
                    <a:latin typeface="+mj-lt"/>
                  </a:rPr>
                  <a:t>Azure Translator in Foundry Tools</a:t>
                </a:r>
              </a:p>
            </p:txBody>
          </p:sp>
          <p:sp>
            <p:nvSpPr>
              <p:cNvPr id="26" name="TextBox 25">
                <a:extLst>
                  <a:ext uri="{FF2B5EF4-FFF2-40B4-BE49-F238E27FC236}">
                    <a16:creationId xmlns:a16="http://schemas.microsoft.com/office/drawing/2014/main" id="{70A9681B-57F2-9C98-F2AA-6E719C8802FE}"/>
                  </a:ext>
                </a:extLst>
              </p:cNvPr>
              <p:cNvSpPr txBox="1"/>
              <p:nvPr/>
            </p:nvSpPr>
            <p:spPr>
              <a:xfrm>
                <a:off x="2455169" y="3716209"/>
                <a:ext cx="3848811" cy="246221"/>
              </a:xfrm>
              <a:prstGeom prst="rect">
                <a:avLst/>
              </a:prstGeom>
              <a:noFill/>
            </p:spPr>
            <p:txBody>
              <a:bodyPr wrap="none" lIns="0" tIns="0" rIns="0" bIns="0" rtlCol="0">
                <a:spAutoFit/>
              </a:bodyPr>
              <a:lstStyle/>
              <a:p>
                <a:pPr algn="l"/>
                <a:r>
                  <a:rPr lang="en-US" sz="1600" dirty="0"/>
                  <a:t>Multilingual text and document translation</a:t>
                </a:r>
              </a:p>
            </p:txBody>
          </p:sp>
        </p:grpSp>
        <p:grpSp>
          <p:nvGrpSpPr>
            <p:cNvPr id="32" name="Group 31">
              <a:extLst>
                <a:ext uri="{FF2B5EF4-FFF2-40B4-BE49-F238E27FC236}">
                  <a16:creationId xmlns:a16="http://schemas.microsoft.com/office/drawing/2014/main" id="{142C0792-F5B7-2E11-AF60-CC5A70258AFB}"/>
                </a:ext>
              </a:extLst>
            </p:cNvPr>
            <p:cNvGrpSpPr/>
            <p:nvPr/>
          </p:nvGrpSpPr>
          <p:grpSpPr>
            <a:xfrm>
              <a:off x="1415143" y="4330984"/>
              <a:ext cx="9173028" cy="966810"/>
              <a:chOff x="1415143" y="4330984"/>
              <a:chExt cx="9173028" cy="966810"/>
            </a:xfrm>
          </p:grpSpPr>
          <p:sp>
            <p:nvSpPr>
              <p:cNvPr id="22" name="Rectangle 21">
                <a:extLst>
                  <a:ext uri="{FF2B5EF4-FFF2-40B4-BE49-F238E27FC236}">
                    <a16:creationId xmlns:a16="http://schemas.microsoft.com/office/drawing/2014/main" id="{9D725012-520F-F930-F071-48314E80FC71}"/>
                  </a:ext>
                </a:extLst>
              </p:cNvPr>
              <p:cNvSpPr/>
              <p:nvPr/>
            </p:nvSpPr>
            <p:spPr bwMode="auto">
              <a:xfrm>
                <a:off x="1415143" y="4350736"/>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A228585D-DA29-B677-6DD5-36F89AB9CBAF}"/>
                  </a:ext>
                </a:extLst>
              </p:cNvPr>
              <p:cNvPicPr>
                <a:picLocks noChangeAspect="1"/>
              </p:cNvPicPr>
              <p:nvPr/>
            </p:nvPicPr>
            <p:blipFill>
              <a:blip r:embed="rId6"/>
              <a:stretch>
                <a:fillRect/>
              </a:stretch>
            </p:blipFill>
            <p:spPr>
              <a:xfrm>
                <a:off x="1415143" y="4330984"/>
                <a:ext cx="947058" cy="947058"/>
              </a:xfrm>
              <a:prstGeom prst="rect">
                <a:avLst/>
              </a:prstGeom>
            </p:spPr>
          </p:pic>
          <p:sp>
            <p:nvSpPr>
              <p:cNvPr id="17" name="TextBox 16">
                <a:extLst>
                  <a:ext uri="{FF2B5EF4-FFF2-40B4-BE49-F238E27FC236}">
                    <a16:creationId xmlns:a16="http://schemas.microsoft.com/office/drawing/2014/main" id="{C2451D88-D568-AD3F-C7D7-2EFB8FDB2431}"/>
                  </a:ext>
                </a:extLst>
              </p:cNvPr>
              <p:cNvSpPr txBox="1"/>
              <p:nvPr/>
            </p:nvSpPr>
            <p:spPr>
              <a:xfrm>
                <a:off x="2455169" y="4406242"/>
                <a:ext cx="4846904" cy="276999"/>
              </a:xfrm>
              <a:prstGeom prst="rect">
                <a:avLst/>
              </a:prstGeom>
              <a:noFill/>
            </p:spPr>
            <p:txBody>
              <a:bodyPr wrap="none" lIns="0" tIns="0" rIns="0" bIns="0" rtlCol="0">
                <a:spAutoFit/>
              </a:bodyPr>
              <a:lstStyle/>
              <a:p>
                <a:pPr algn="l"/>
                <a:r>
                  <a:rPr lang="en-US" sz="1800" dirty="0">
                    <a:latin typeface="+mj-lt"/>
                  </a:rPr>
                  <a:t>Azure Document Intelligence in Foundry Tools</a:t>
                </a:r>
              </a:p>
            </p:txBody>
          </p:sp>
          <p:sp>
            <p:nvSpPr>
              <p:cNvPr id="27" name="TextBox 26">
                <a:extLst>
                  <a:ext uri="{FF2B5EF4-FFF2-40B4-BE49-F238E27FC236}">
                    <a16:creationId xmlns:a16="http://schemas.microsoft.com/office/drawing/2014/main" id="{C00F2F30-0649-EDAD-6519-B8A77675EBA9}"/>
                  </a:ext>
                </a:extLst>
              </p:cNvPr>
              <p:cNvSpPr txBox="1"/>
              <p:nvPr/>
            </p:nvSpPr>
            <p:spPr>
              <a:xfrm>
                <a:off x="2455169" y="4743094"/>
                <a:ext cx="4144276" cy="246221"/>
              </a:xfrm>
              <a:prstGeom prst="rect">
                <a:avLst/>
              </a:prstGeom>
              <a:noFill/>
            </p:spPr>
            <p:txBody>
              <a:bodyPr wrap="none" lIns="0" tIns="0" rIns="0" bIns="0" rtlCol="0">
                <a:spAutoFit/>
              </a:bodyPr>
              <a:lstStyle/>
              <a:p>
                <a:pPr algn="l"/>
                <a:r>
                  <a:rPr lang="en-US" sz="1600" dirty="0"/>
                  <a:t>Complex document processing and extraction</a:t>
                </a:r>
              </a:p>
            </p:txBody>
          </p:sp>
        </p:grpSp>
        <p:grpSp>
          <p:nvGrpSpPr>
            <p:cNvPr id="33" name="Group 32">
              <a:extLst>
                <a:ext uri="{FF2B5EF4-FFF2-40B4-BE49-F238E27FC236}">
                  <a16:creationId xmlns:a16="http://schemas.microsoft.com/office/drawing/2014/main" id="{5FC5E8CC-9724-0136-9036-1C0D47004646}"/>
                </a:ext>
              </a:extLst>
            </p:cNvPr>
            <p:cNvGrpSpPr/>
            <p:nvPr/>
          </p:nvGrpSpPr>
          <p:grpSpPr>
            <a:xfrm>
              <a:off x="1415143" y="5384795"/>
              <a:ext cx="9173028" cy="947058"/>
              <a:chOff x="1415143" y="5384795"/>
              <a:chExt cx="9173028" cy="947058"/>
            </a:xfrm>
          </p:grpSpPr>
          <p:sp>
            <p:nvSpPr>
              <p:cNvPr id="23" name="Rectangle 22">
                <a:extLst>
                  <a:ext uri="{FF2B5EF4-FFF2-40B4-BE49-F238E27FC236}">
                    <a16:creationId xmlns:a16="http://schemas.microsoft.com/office/drawing/2014/main" id="{56DA9D75-FDA4-916F-5F47-A452ED1DA9D1}"/>
                  </a:ext>
                </a:extLst>
              </p:cNvPr>
              <p:cNvSpPr/>
              <p:nvPr/>
            </p:nvSpPr>
            <p:spPr bwMode="auto">
              <a:xfrm>
                <a:off x="1415143" y="5384795"/>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a:extLst>
                  <a:ext uri="{FF2B5EF4-FFF2-40B4-BE49-F238E27FC236}">
                    <a16:creationId xmlns:a16="http://schemas.microsoft.com/office/drawing/2014/main" id="{82BE1B3E-37A0-93B9-D212-60AE2B97DBA6}"/>
                  </a:ext>
                </a:extLst>
              </p:cNvPr>
              <p:cNvPicPr>
                <a:picLocks noChangeAspect="1"/>
              </p:cNvPicPr>
              <p:nvPr/>
            </p:nvPicPr>
            <p:blipFill>
              <a:blip r:embed="rId7"/>
              <a:srcRect/>
              <a:stretch/>
            </p:blipFill>
            <p:spPr>
              <a:xfrm>
                <a:off x="1415143" y="5384795"/>
                <a:ext cx="947058" cy="947058"/>
              </a:xfrm>
              <a:prstGeom prst="rect">
                <a:avLst/>
              </a:prstGeom>
            </p:spPr>
          </p:pic>
          <p:sp>
            <p:nvSpPr>
              <p:cNvPr id="18" name="TextBox 17">
                <a:extLst>
                  <a:ext uri="{FF2B5EF4-FFF2-40B4-BE49-F238E27FC236}">
                    <a16:creationId xmlns:a16="http://schemas.microsoft.com/office/drawing/2014/main" id="{99ED5530-0543-AF5D-EC77-CB9699F93302}"/>
                  </a:ext>
                </a:extLst>
              </p:cNvPr>
              <p:cNvSpPr txBox="1"/>
              <p:nvPr/>
            </p:nvSpPr>
            <p:spPr>
              <a:xfrm>
                <a:off x="2455169" y="5466571"/>
                <a:ext cx="4930132" cy="276999"/>
              </a:xfrm>
              <a:prstGeom prst="rect">
                <a:avLst/>
              </a:prstGeom>
              <a:noFill/>
            </p:spPr>
            <p:txBody>
              <a:bodyPr wrap="none" lIns="0" tIns="0" rIns="0" bIns="0" rtlCol="0">
                <a:spAutoFit/>
              </a:bodyPr>
              <a:lstStyle/>
              <a:p>
                <a:pPr algn="l"/>
                <a:r>
                  <a:rPr lang="en-US" sz="1800" dirty="0">
                    <a:latin typeface="+mj-lt"/>
                  </a:rPr>
                  <a:t>Azure Content Understanding in Foundry Tools</a:t>
                </a:r>
              </a:p>
            </p:txBody>
          </p:sp>
          <p:sp>
            <p:nvSpPr>
              <p:cNvPr id="28" name="TextBox 27">
                <a:extLst>
                  <a:ext uri="{FF2B5EF4-FFF2-40B4-BE49-F238E27FC236}">
                    <a16:creationId xmlns:a16="http://schemas.microsoft.com/office/drawing/2014/main" id="{475E3D8B-84DC-F833-0B02-0BFF0BBA43EF}"/>
                  </a:ext>
                </a:extLst>
              </p:cNvPr>
              <p:cNvSpPr txBox="1"/>
              <p:nvPr/>
            </p:nvSpPr>
            <p:spPr>
              <a:xfrm>
                <a:off x="2455169" y="5784493"/>
                <a:ext cx="2535951" cy="246221"/>
              </a:xfrm>
              <a:prstGeom prst="rect">
                <a:avLst/>
              </a:prstGeom>
              <a:noFill/>
            </p:spPr>
            <p:txBody>
              <a:bodyPr wrap="none" lIns="0" tIns="0" rIns="0" bIns="0" rtlCol="0">
                <a:spAutoFit/>
              </a:bodyPr>
              <a:lstStyle/>
              <a:p>
                <a:pPr algn="l"/>
                <a:r>
                  <a:rPr lang="en-US" sz="1600" dirty="0"/>
                  <a:t>Multimodal content analysis</a:t>
                </a:r>
              </a:p>
            </p:txBody>
          </p:sp>
        </p:grpSp>
      </p:grpSp>
    </p:spTree>
    <p:extLst>
      <p:ext uri="{BB962C8B-B14F-4D97-AF65-F5344CB8AC3E}">
        <p14:creationId xmlns:p14="http://schemas.microsoft.com/office/powerpoint/2010/main" val="37581397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01BA-4C84-D321-DA09-8C009B94BF39}"/>
              </a:ext>
            </a:extLst>
          </p:cNvPr>
          <p:cNvSpPr>
            <a:spLocks noGrp="1"/>
          </p:cNvSpPr>
          <p:nvPr>
            <p:ph type="title"/>
          </p:nvPr>
        </p:nvSpPr>
        <p:spPr/>
        <p:txBody>
          <a:bodyPr/>
          <a:lstStyle/>
          <a:p>
            <a:r>
              <a:rPr lang="en-US" dirty="0"/>
              <a:t>Developer tools and SDKs</a:t>
            </a:r>
          </a:p>
        </p:txBody>
      </p:sp>
      <p:sp>
        <p:nvSpPr>
          <p:cNvPr id="4" name="Text Placeholder 44">
            <a:extLst>
              <a:ext uri="{FF2B5EF4-FFF2-40B4-BE49-F238E27FC236}">
                <a16:creationId xmlns:a16="http://schemas.microsoft.com/office/drawing/2014/main" id="{16AC550B-6210-5448-94F2-AA520F87667A}"/>
              </a:ext>
            </a:extLst>
          </p:cNvPr>
          <p:cNvSpPr txBox="1">
            <a:spLocks/>
          </p:cNvSpPr>
          <p:nvPr/>
        </p:nvSpPr>
        <p:spPr>
          <a:xfrm>
            <a:off x="586391" y="1991423"/>
            <a:ext cx="4972366" cy="86793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Visual Studio Code</a:t>
            </a:r>
          </a:p>
          <a:p>
            <a:pPr lvl="1" indent="-137160"/>
            <a:r>
              <a:rPr lang="en-US" sz="1600" dirty="0">
                <a:solidFill>
                  <a:srgbClr val="000000"/>
                </a:solidFill>
                <a:latin typeface="Segoe UI"/>
                <a:cs typeface="Segoe UI" panose="020B0502040204020203" pitchFamily="34" charset="0"/>
              </a:rPr>
              <a:t>Microsoft Foundry Toolkit Extension</a:t>
            </a:r>
          </a:p>
          <a:p>
            <a:pPr lvl="1" indent="-137160"/>
            <a:r>
              <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GitHub Copilot</a:t>
            </a:r>
          </a:p>
        </p:txBody>
      </p:sp>
      <p:sp>
        <p:nvSpPr>
          <p:cNvPr id="5" name="Text Placeholder 45">
            <a:extLst>
              <a:ext uri="{FF2B5EF4-FFF2-40B4-BE49-F238E27FC236}">
                <a16:creationId xmlns:a16="http://schemas.microsoft.com/office/drawing/2014/main" id="{D59817C8-4B01-FDEB-6958-EB3FB9A931E5}"/>
              </a:ext>
            </a:extLst>
          </p:cNvPr>
          <p:cNvSpPr txBox="1">
            <a:spLocks/>
          </p:cNvSpPr>
          <p:nvPr/>
        </p:nvSpPr>
        <p:spPr>
          <a:xfrm>
            <a:off x="584200" y="1594155"/>
            <a:ext cx="5364224" cy="338554"/>
          </a:xfrm>
          <a:prstGeom prst="rect">
            <a:avLst/>
          </a:prstGeom>
        </p:spPr>
        <p:txBody>
          <a:bodyPr vert="horz" wrap="square" lIns="0" tIns="0" rIns="0" bIns="0" rtlCol="0" anchor="t">
            <a:spAutoFit/>
          </a:bodyPr>
          <a:lstStyle>
            <a:lvl1pPr marR="0" indent="0" defTabSz="932742" fontAlgn="auto">
              <a:lnSpc>
                <a:spcPct val="100000"/>
              </a:lnSpc>
              <a:spcBef>
                <a:spcPts val="0"/>
              </a:spcBef>
              <a:spcAft>
                <a:spcPts val="0"/>
              </a:spcAft>
              <a:buClrTx/>
              <a:buSzPct val="90000"/>
              <a:buFont typeface="Arial" panose="020B0604020202020204" pitchFamily="34" charset="0"/>
              <a:buNone/>
              <a:tabLst/>
              <a:defRPr sz="2200" spc="0" baseline="0">
                <a:latin typeface="+mj-lt"/>
                <a:cs typeface="Segoe UI" panose="020B0502040204020203" pitchFamily="34" charset="0"/>
              </a:defRPr>
            </a:lvl1pPr>
            <a:lvl2pPr marL="265176" marR="0" indent="-109728"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dirty="0">
                <a:solidFill>
                  <a:srgbClr val="000000"/>
                </a:solidFill>
                <a:latin typeface="Segoe UI Semibold"/>
              </a:rPr>
              <a:t>Tools</a:t>
            </a:r>
            <a:endParaRPr kumimoji="0" lang="en-US" sz="22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endParaRPr>
          </a:p>
        </p:txBody>
      </p:sp>
      <p:sp>
        <p:nvSpPr>
          <p:cNvPr id="6" name="Text Placeholder 44">
            <a:extLst>
              <a:ext uri="{FF2B5EF4-FFF2-40B4-BE49-F238E27FC236}">
                <a16:creationId xmlns:a16="http://schemas.microsoft.com/office/drawing/2014/main" id="{9B8F0807-9816-513C-DA10-E689F3757B96}"/>
              </a:ext>
            </a:extLst>
          </p:cNvPr>
          <p:cNvSpPr txBox="1">
            <a:spLocks/>
          </p:cNvSpPr>
          <p:nvPr/>
        </p:nvSpPr>
        <p:spPr>
          <a:xfrm>
            <a:off x="586391" y="3747108"/>
            <a:ext cx="4972366" cy="241912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Foundry SDK</a:t>
            </a:r>
          </a:p>
          <a:p>
            <a:r>
              <a:rPr lang="en-US" sz="1800" dirty="0">
                <a:solidFill>
                  <a:srgbClr val="000000"/>
                </a:solidFill>
                <a:latin typeface="Segoe UI"/>
                <a:cs typeface="Segoe UI" panose="020B0502040204020203" pitchFamily="34" charset="0"/>
              </a:rPr>
              <a:t>OpenAI SDK</a:t>
            </a:r>
          </a:p>
          <a:p>
            <a:r>
              <a:rPr lang="en-US" sz="1800" dirty="0">
                <a:solidFill>
                  <a:srgbClr val="000000"/>
                </a:solidFill>
                <a:latin typeface="Segoe UI"/>
              </a:rPr>
              <a:t>Microsoft Foundry Tools SDKs</a:t>
            </a:r>
          </a:p>
          <a:p>
            <a:pPr lvl="1"/>
            <a:r>
              <a:rPr lang="en-US" sz="1600" dirty="0">
                <a:solidFill>
                  <a:srgbClr val="000000"/>
                </a:solidFill>
                <a:latin typeface="Segoe UI"/>
                <a:cs typeface="Segoe UI" panose="020B0502040204020203" pitchFamily="34" charset="0"/>
              </a:rPr>
              <a:t>Language and Text Analysis</a:t>
            </a:r>
          </a:p>
          <a:p>
            <a:pPr lvl="1"/>
            <a:r>
              <a:rPr lang="en-US" sz="1600" dirty="0">
                <a:solidFill>
                  <a:srgbClr val="000000"/>
                </a:solidFill>
                <a:latin typeface="Segoe UI"/>
                <a:cs typeface="Segoe UI" panose="020B0502040204020203" pitchFamily="34" charset="0"/>
              </a:rPr>
              <a:t>Speech</a:t>
            </a:r>
          </a:p>
          <a:p>
            <a:pPr lvl="1"/>
            <a:r>
              <a:rPr lang="en-US" sz="1600" dirty="0">
                <a:solidFill>
                  <a:srgbClr val="000000"/>
                </a:solidFill>
                <a:latin typeface="Segoe UI"/>
                <a:cs typeface="Segoe UI" panose="020B0502040204020203" pitchFamily="34" charset="0"/>
              </a:rPr>
              <a:t>Translator</a:t>
            </a:r>
          </a:p>
          <a:p>
            <a:pPr lvl="1"/>
            <a:r>
              <a:rPr lang="en-US" sz="1600" dirty="0">
                <a:solidFill>
                  <a:srgbClr val="000000"/>
                </a:solidFill>
                <a:latin typeface="Segoe UI"/>
                <a:cs typeface="Segoe UI" panose="020B0502040204020203" pitchFamily="34" charset="0"/>
              </a:rPr>
              <a:t>Document Intelligence</a:t>
            </a:r>
          </a:p>
          <a:p>
            <a:pPr lvl="1"/>
            <a:r>
              <a:rPr lang="en-US" sz="1600" dirty="0">
                <a:solidFill>
                  <a:srgbClr val="000000"/>
                </a:solidFill>
                <a:latin typeface="Segoe UI"/>
                <a:cs typeface="Segoe UI" panose="020B0502040204020203" pitchFamily="34" charset="0"/>
              </a:rPr>
              <a:t>Content Understanding</a:t>
            </a:r>
          </a:p>
        </p:txBody>
      </p:sp>
      <p:sp>
        <p:nvSpPr>
          <p:cNvPr id="7" name="Text Placeholder 45">
            <a:extLst>
              <a:ext uri="{FF2B5EF4-FFF2-40B4-BE49-F238E27FC236}">
                <a16:creationId xmlns:a16="http://schemas.microsoft.com/office/drawing/2014/main" id="{9735E6D6-3162-0EA2-0F68-67208B383160}"/>
              </a:ext>
            </a:extLst>
          </p:cNvPr>
          <p:cNvSpPr txBox="1">
            <a:spLocks/>
          </p:cNvSpPr>
          <p:nvPr/>
        </p:nvSpPr>
        <p:spPr>
          <a:xfrm>
            <a:off x="584200" y="3349840"/>
            <a:ext cx="5364224" cy="338554"/>
          </a:xfrm>
          <a:prstGeom prst="rect">
            <a:avLst/>
          </a:prstGeom>
        </p:spPr>
        <p:txBody>
          <a:bodyPr vert="horz" wrap="square" lIns="0" tIns="0" rIns="0" bIns="0" rtlCol="0" anchor="t">
            <a:spAutoFit/>
          </a:bodyPr>
          <a:lstStyle>
            <a:lvl1pPr marR="0" indent="0" defTabSz="932742" fontAlgn="auto">
              <a:lnSpc>
                <a:spcPct val="100000"/>
              </a:lnSpc>
              <a:spcBef>
                <a:spcPts val="0"/>
              </a:spcBef>
              <a:spcAft>
                <a:spcPts val="0"/>
              </a:spcAft>
              <a:buClrTx/>
              <a:buSzPct val="90000"/>
              <a:buFont typeface="Arial" panose="020B0604020202020204" pitchFamily="34" charset="0"/>
              <a:buNone/>
              <a:tabLst/>
              <a:defRPr sz="2200" spc="0" baseline="0">
                <a:latin typeface="+mj-lt"/>
                <a:cs typeface="Segoe UI" panose="020B0502040204020203" pitchFamily="34" charset="0"/>
              </a:defRPr>
            </a:lvl1pPr>
            <a:lvl2pPr marL="265176" marR="0" indent="-109728"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dirty="0">
                <a:solidFill>
                  <a:srgbClr val="000000"/>
                </a:solidFill>
                <a:latin typeface="Segoe UI Semibold"/>
              </a:rPr>
              <a:t>SDKs</a:t>
            </a:r>
            <a:endParaRPr kumimoji="0" lang="en-US" sz="22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endParaRPr>
          </a:p>
        </p:txBody>
      </p:sp>
      <p:pic>
        <p:nvPicPr>
          <p:cNvPr id="9" name="Picture 8" descr="Screenshot showing VS Code developer tools.">
            <a:extLst>
              <a:ext uri="{FF2B5EF4-FFF2-40B4-BE49-F238E27FC236}">
                <a16:creationId xmlns:a16="http://schemas.microsoft.com/office/drawing/2014/main" id="{DA9DD262-BDD6-F91C-DB8C-12A2A47FBCD3}"/>
              </a:ext>
            </a:extLst>
          </p:cNvPr>
          <p:cNvPicPr>
            <a:picLocks noChangeAspect="1"/>
          </p:cNvPicPr>
          <p:nvPr/>
        </p:nvPicPr>
        <p:blipFill>
          <a:blip r:embed="rId3"/>
          <a:stretch>
            <a:fillRect/>
          </a:stretch>
        </p:blipFill>
        <p:spPr>
          <a:xfrm>
            <a:off x="4346376" y="1340165"/>
            <a:ext cx="7253486" cy="4932619"/>
          </a:xfrm>
          <a:prstGeom prst="rect">
            <a:avLst/>
          </a:prstGeom>
        </p:spPr>
      </p:pic>
    </p:spTree>
    <p:extLst>
      <p:ext uri="{BB962C8B-B14F-4D97-AF65-F5344CB8AC3E}">
        <p14:creationId xmlns:p14="http://schemas.microsoft.com/office/powerpoint/2010/main" val="40881902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B0F8-FFBE-F6D5-81C9-242F647F84D7}"/>
              </a:ext>
            </a:extLst>
          </p:cNvPr>
          <p:cNvSpPr>
            <a:spLocks noGrp="1"/>
          </p:cNvSpPr>
          <p:nvPr>
            <p:ph type="title"/>
          </p:nvPr>
        </p:nvSpPr>
        <p:spPr/>
        <p:txBody>
          <a:bodyPr/>
          <a:lstStyle/>
          <a:p>
            <a:r>
              <a:rPr lang="en-US" dirty="0"/>
              <a:t>Principles of responsible AI</a:t>
            </a:r>
          </a:p>
        </p:txBody>
      </p:sp>
      <p:grpSp>
        <p:nvGrpSpPr>
          <p:cNvPr id="10" name="Group 9">
            <a:extLst>
              <a:ext uri="{FF2B5EF4-FFF2-40B4-BE49-F238E27FC236}">
                <a16:creationId xmlns:a16="http://schemas.microsoft.com/office/drawing/2014/main" id="{1387C517-8AF2-8A51-043D-6236394A73D0}"/>
              </a:ext>
              <a:ext uri="{C183D7F6-B498-43B3-948B-1728B52AA6E4}">
                <adec:decorative xmlns:adec="http://schemas.microsoft.com/office/drawing/2017/decorative" val="1"/>
              </a:ext>
            </a:extLst>
          </p:cNvPr>
          <p:cNvGrpSpPr/>
          <p:nvPr/>
        </p:nvGrpSpPr>
        <p:grpSpPr>
          <a:xfrm>
            <a:off x="1984233" y="1385033"/>
            <a:ext cx="8113347" cy="4658780"/>
            <a:chOff x="1984233" y="1385033"/>
            <a:chExt cx="8113347" cy="4658780"/>
          </a:xfrm>
        </p:grpSpPr>
        <p:sp>
          <p:nvSpPr>
            <p:cNvPr id="9" name="Rectangle 8">
              <a:extLst>
                <a:ext uri="{FF2B5EF4-FFF2-40B4-BE49-F238E27FC236}">
                  <a16:creationId xmlns:a16="http://schemas.microsoft.com/office/drawing/2014/main" id="{AE36F907-765C-E754-FF1F-49B5EA667971}"/>
                </a:ext>
                <a:ext uri="{C183D7F6-B498-43B3-948B-1728B52AA6E4}">
                  <adec:decorative xmlns:adec="http://schemas.microsoft.com/office/drawing/2017/decorative" val="1"/>
                </a:ext>
              </a:extLst>
            </p:cNvPr>
            <p:cNvSpPr/>
            <p:nvPr/>
          </p:nvSpPr>
          <p:spPr bwMode="auto">
            <a:xfrm>
              <a:off x="1984233" y="1431768"/>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 name="Graphic 6">
              <a:extLst>
                <a:ext uri="{FF2B5EF4-FFF2-40B4-BE49-F238E27FC236}">
                  <a16:creationId xmlns:a16="http://schemas.microsoft.com/office/drawing/2014/main" id="{B9F35278-7311-53E6-AD8F-2883C1EE9DD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3445" y="1385033"/>
              <a:ext cx="1401231" cy="1401231"/>
            </a:xfrm>
            <a:prstGeom prst="rect">
              <a:avLst/>
            </a:prstGeom>
          </p:spPr>
        </p:pic>
        <p:sp>
          <p:nvSpPr>
            <p:cNvPr id="17" name="Rectangle 16">
              <a:extLst>
                <a:ext uri="{FF2B5EF4-FFF2-40B4-BE49-F238E27FC236}">
                  <a16:creationId xmlns:a16="http://schemas.microsoft.com/office/drawing/2014/main" id="{2DC431CF-FC46-39FD-0FAA-4AD67ADF51FB}"/>
                </a:ext>
              </a:extLst>
            </p:cNvPr>
            <p:cNvSpPr/>
            <p:nvPr/>
          </p:nvSpPr>
          <p:spPr bwMode="auto">
            <a:xfrm>
              <a:off x="1984233" y="2786263"/>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Fairness</a:t>
              </a:r>
            </a:p>
          </p:txBody>
        </p:sp>
        <p:sp>
          <p:nvSpPr>
            <p:cNvPr id="11" name="Rectangle 10">
              <a:extLst>
                <a:ext uri="{FF2B5EF4-FFF2-40B4-BE49-F238E27FC236}">
                  <a16:creationId xmlns:a16="http://schemas.microsoft.com/office/drawing/2014/main" id="{7738F8CA-0F76-4200-5599-D25C1AF13298}"/>
                </a:ext>
                <a:ext uri="{C183D7F6-B498-43B3-948B-1728B52AA6E4}">
                  <adec:decorative xmlns:adec="http://schemas.microsoft.com/office/drawing/2017/decorative" val="1"/>
                </a:ext>
              </a:extLst>
            </p:cNvPr>
            <p:cNvSpPr/>
            <p:nvPr/>
          </p:nvSpPr>
          <p:spPr bwMode="auto">
            <a:xfrm>
              <a:off x="4844178" y="1431768"/>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Graphic 5">
              <a:extLst>
                <a:ext uri="{FF2B5EF4-FFF2-40B4-BE49-F238E27FC236}">
                  <a16:creationId xmlns:a16="http://schemas.microsoft.com/office/drawing/2014/main" id="{3047C32D-5706-CAC5-A26D-6F38381B4A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3115" y="1385033"/>
              <a:ext cx="1401231" cy="1401231"/>
            </a:xfrm>
            <a:prstGeom prst="rect">
              <a:avLst/>
            </a:prstGeom>
          </p:spPr>
        </p:pic>
        <p:sp>
          <p:nvSpPr>
            <p:cNvPr id="18" name="Rectangle 17">
              <a:extLst>
                <a:ext uri="{FF2B5EF4-FFF2-40B4-BE49-F238E27FC236}">
                  <a16:creationId xmlns:a16="http://schemas.microsoft.com/office/drawing/2014/main" id="{9DB4A2B5-B39F-32AB-32F8-556263DE27EA}"/>
                </a:ext>
              </a:extLst>
            </p:cNvPr>
            <p:cNvSpPr/>
            <p:nvPr/>
          </p:nvSpPr>
          <p:spPr bwMode="auto">
            <a:xfrm>
              <a:off x="4838779" y="2800731"/>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Reliability &amp; Safety</a:t>
              </a:r>
            </a:p>
          </p:txBody>
        </p:sp>
        <p:sp>
          <p:nvSpPr>
            <p:cNvPr id="13" name="Rectangle 12">
              <a:extLst>
                <a:ext uri="{FF2B5EF4-FFF2-40B4-BE49-F238E27FC236}">
                  <a16:creationId xmlns:a16="http://schemas.microsoft.com/office/drawing/2014/main" id="{02D35539-2C75-DC94-9ADC-B6C1B0035154}"/>
                </a:ext>
                <a:ext uri="{C183D7F6-B498-43B3-948B-1728B52AA6E4}">
                  <adec:decorative xmlns:adec="http://schemas.microsoft.com/office/drawing/2017/decorative" val="1"/>
                </a:ext>
              </a:extLst>
            </p:cNvPr>
            <p:cNvSpPr/>
            <p:nvPr/>
          </p:nvSpPr>
          <p:spPr bwMode="auto">
            <a:xfrm>
              <a:off x="7700823" y="1431769"/>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Graphic 3">
              <a:extLst>
                <a:ext uri="{FF2B5EF4-FFF2-40B4-BE49-F238E27FC236}">
                  <a16:creationId xmlns:a16="http://schemas.microsoft.com/office/drawing/2014/main" id="{B144A037-FB40-022B-D74E-3AC9A5A152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2399" y="1385033"/>
              <a:ext cx="1401231" cy="1401231"/>
            </a:xfrm>
            <a:prstGeom prst="rect">
              <a:avLst/>
            </a:prstGeom>
          </p:spPr>
        </p:pic>
        <p:sp>
          <p:nvSpPr>
            <p:cNvPr id="19" name="Rectangle 18">
              <a:extLst>
                <a:ext uri="{FF2B5EF4-FFF2-40B4-BE49-F238E27FC236}">
                  <a16:creationId xmlns:a16="http://schemas.microsoft.com/office/drawing/2014/main" id="{015C953A-DC23-F736-736F-A8501E13F9FE}"/>
                </a:ext>
              </a:extLst>
            </p:cNvPr>
            <p:cNvSpPr/>
            <p:nvPr/>
          </p:nvSpPr>
          <p:spPr bwMode="auto">
            <a:xfrm>
              <a:off x="7702469" y="2800732"/>
              <a:ext cx="2374966"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Privacy &amp; Security</a:t>
              </a:r>
            </a:p>
          </p:txBody>
        </p:sp>
        <p:sp>
          <p:nvSpPr>
            <p:cNvPr id="14" name="Rectangle 13">
              <a:extLst>
                <a:ext uri="{FF2B5EF4-FFF2-40B4-BE49-F238E27FC236}">
                  <a16:creationId xmlns:a16="http://schemas.microsoft.com/office/drawing/2014/main" id="{C7CCBEFD-2F51-B81A-80C5-34290233E268}"/>
                </a:ext>
                <a:ext uri="{C183D7F6-B498-43B3-948B-1728B52AA6E4}">
                  <adec:decorative xmlns:adec="http://schemas.microsoft.com/office/drawing/2017/decorative" val="1"/>
                </a:ext>
              </a:extLst>
            </p:cNvPr>
            <p:cNvSpPr/>
            <p:nvPr/>
          </p:nvSpPr>
          <p:spPr bwMode="auto">
            <a:xfrm>
              <a:off x="1991731" y="3883686"/>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 name="Graphic 2">
              <a:extLst>
                <a:ext uri="{FF2B5EF4-FFF2-40B4-BE49-F238E27FC236}">
                  <a16:creationId xmlns:a16="http://schemas.microsoft.com/office/drawing/2014/main" id="{A4298076-1014-BC73-B387-DB835B2480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51268" y="3907846"/>
              <a:ext cx="1441394" cy="1441394"/>
            </a:xfrm>
            <a:prstGeom prst="rect">
              <a:avLst/>
            </a:prstGeom>
          </p:spPr>
        </p:pic>
        <p:sp>
          <p:nvSpPr>
            <p:cNvPr id="20" name="Rectangle 19">
              <a:extLst>
                <a:ext uri="{FF2B5EF4-FFF2-40B4-BE49-F238E27FC236}">
                  <a16:creationId xmlns:a16="http://schemas.microsoft.com/office/drawing/2014/main" id="{FA886D50-E4C4-1EF6-22CF-7D98F600C432}"/>
                </a:ext>
              </a:extLst>
            </p:cNvPr>
            <p:cNvSpPr/>
            <p:nvPr/>
          </p:nvSpPr>
          <p:spPr bwMode="auto">
            <a:xfrm>
              <a:off x="2003306" y="5242520"/>
              <a:ext cx="2367945"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Inclusiveness</a:t>
              </a:r>
            </a:p>
          </p:txBody>
        </p:sp>
        <p:sp>
          <p:nvSpPr>
            <p:cNvPr id="15" name="Rectangle 14">
              <a:extLst>
                <a:ext uri="{FF2B5EF4-FFF2-40B4-BE49-F238E27FC236}">
                  <a16:creationId xmlns:a16="http://schemas.microsoft.com/office/drawing/2014/main" id="{4C0A2255-BCD1-4C68-52BC-7E9D33C938BB}"/>
                </a:ext>
                <a:ext uri="{C183D7F6-B498-43B3-948B-1728B52AA6E4}">
                  <adec:decorative xmlns:adec="http://schemas.microsoft.com/office/drawing/2017/decorative" val="1"/>
                </a:ext>
              </a:extLst>
            </p:cNvPr>
            <p:cNvSpPr/>
            <p:nvPr/>
          </p:nvSpPr>
          <p:spPr bwMode="auto">
            <a:xfrm>
              <a:off x="4853393" y="3883687"/>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 name="Graphic 7">
              <a:extLst>
                <a:ext uri="{FF2B5EF4-FFF2-40B4-BE49-F238E27FC236}">
                  <a16:creationId xmlns:a16="http://schemas.microsoft.com/office/drawing/2014/main" id="{CAE4B6C8-7EAF-4A51-266F-33AB129E72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55" y="3883686"/>
              <a:ext cx="1401231" cy="1401231"/>
            </a:xfrm>
            <a:prstGeom prst="rect">
              <a:avLst/>
            </a:prstGeom>
          </p:spPr>
        </p:pic>
        <p:sp>
          <p:nvSpPr>
            <p:cNvPr id="21" name="Rectangle 20">
              <a:extLst>
                <a:ext uri="{FF2B5EF4-FFF2-40B4-BE49-F238E27FC236}">
                  <a16:creationId xmlns:a16="http://schemas.microsoft.com/office/drawing/2014/main" id="{CD09C8F4-F539-D880-F1BB-8EBEA6741069}"/>
                </a:ext>
              </a:extLst>
            </p:cNvPr>
            <p:cNvSpPr/>
            <p:nvPr/>
          </p:nvSpPr>
          <p:spPr bwMode="auto">
            <a:xfrm>
              <a:off x="4838779" y="5256990"/>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Transparency</a:t>
              </a:r>
            </a:p>
          </p:txBody>
        </p:sp>
        <p:sp>
          <p:nvSpPr>
            <p:cNvPr id="16" name="Rectangle 15">
              <a:extLst>
                <a:ext uri="{FF2B5EF4-FFF2-40B4-BE49-F238E27FC236}">
                  <a16:creationId xmlns:a16="http://schemas.microsoft.com/office/drawing/2014/main" id="{14CA32DC-4BF8-96D5-87A7-53EF59EC8835}"/>
                </a:ext>
                <a:ext uri="{C183D7F6-B498-43B3-948B-1728B52AA6E4}">
                  <adec:decorative xmlns:adec="http://schemas.microsoft.com/office/drawing/2017/decorative" val="1"/>
                </a:ext>
              </a:extLst>
            </p:cNvPr>
            <p:cNvSpPr/>
            <p:nvPr/>
          </p:nvSpPr>
          <p:spPr bwMode="auto">
            <a:xfrm>
              <a:off x="7713196" y="3883687"/>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 name="Graphic 4">
              <a:extLst>
                <a:ext uri="{FF2B5EF4-FFF2-40B4-BE49-F238E27FC236}">
                  <a16:creationId xmlns:a16="http://schemas.microsoft.com/office/drawing/2014/main" id="{8196F23C-87AD-18E3-FBA9-9A7AD4200E5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16347" y="3883686"/>
              <a:ext cx="1401231" cy="1401231"/>
            </a:xfrm>
            <a:prstGeom prst="rect">
              <a:avLst/>
            </a:prstGeom>
          </p:spPr>
        </p:pic>
        <p:sp>
          <p:nvSpPr>
            <p:cNvPr id="22" name="Rectangle 21">
              <a:extLst>
                <a:ext uri="{FF2B5EF4-FFF2-40B4-BE49-F238E27FC236}">
                  <a16:creationId xmlns:a16="http://schemas.microsoft.com/office/drawing/2014/main" id="{CE8BB6BE-BEB8-1638-5696-6838220E4939}"/>
                </a:ext>
              </a:extLst>
            </p:cNvPr>
            <p:cNvSpPr/>
            <p:nvPr/>
          </p:nvSpPr>
          <p:spPr bwMode="auto">
            <a:xfrm>
              <a:off x="7688450" y="5256991"/>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Accountability</a:t>
              </a:r>
            </a:p>
          </p:txBody>
        </p:sp>
      </p:grpSp>
    </p:spTree>
    <p:extLst>
      <p:ext uri="{BB962C8B-B14F-4D97-AF65-F5344CB8AC3E}">
        <p14:creationId xmlns:p14="http://schemas.microsoft.com/office/powerpoint/2010/main" val="170669910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Prepare for an AI development project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4144361" cy="1772793"/>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Foundry project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Deploy and test a generative AI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Identify project endpoints and keys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Explore the Microsoft Foundry Extension for Visual Studio Code</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https://go.microsoft.com/fwlink/?linkid=2353647</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a:srcRect r="7739"/>
          <a:stretch>
            <a:fillRect/>
          </a:stretch>
        </p:blipFill>
        <p:spPr>
          <a:xfrm>
            <a:off x="7723991" y="2010229"/>
            <a:ext cx="4468009" cy="3309257"/>
          </a:xfrm>
          <a:prstGeom prst="rect">
            <a:avLst/>
          </a:prstGeom>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1766085"/>
            <a:ext cx="8778782" cy="215444"/>
          </a:xfrm>
        </p:spPr>
        <p:txBody>
          <a:bodyPr/>
          <a:lstStyle/>
          <a:p>
            <a:r>
              <a:rPr lang="en-US" b="1" dirty="0"/>
              <a:t>Which web portal should you use to work with assets in a Microsoft Foundry project?</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033248"/>
            <a:ext cx="8775098" cy="732508"/>
          </a:xfrm>
          <a:noFill/>
        </p:spPr>
        <p:txBody>
          <a:bodyPr/>
          <a:lstStyle/>
          <a:p>
            <a:r>
              <a:rPr lang="en-US" noProof="0" dirty="0"/>
              <a:t>The Azure portal</a:t>
            </a:r>
            <a:endParaRPr lang="en-US" noProof="0" dirty="0">
              <a:solidFill>
                <a:srgbClr val="000000"/>
              </a:solidFill>
            </a:endParaRPr>
          </a:p>
          <a:p>
            <a:r>
              <a:rPr lang="en-US" noProof="0" dirty="0"/>
              <a:t>Microsoft Copilot</a:t>
            </a:r>
          </a:p>
          <a:p>
            <a:r>
              <a:rPr lang="en-US" noProof="0" dirty="0"/>
              <a:t>The Microsoft Foundry portal</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3852" y="258655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3139966"/>
            <a:ext cx="8778782" cy="215444"/>
          </a:xfrm>
        </p:spPr>
        <p:txBody>
          <a:bodyPr/>
          <a:lstStyle/>
          <a:p>
            <a:r>
              <a:rPr lang="en-US" noProof="0" dirty="0"/>
              <a:t>Which component of Microsoft Foundry provides pre-built services for common AI tasks?</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3420839"/>
            <a:ext cx="8775098" cy="732508"/>
          </a:xfrm>
        </p:spPr>
        <p:txBody>
          <a:bodyPr/>
          <a:lstStyle/>
          <a:p>
            <a:r>
              <a:rPr lang="en-US" dirty="0"/>
              <a:t>Foundry Tools</a:t>
            </a:r>
          </a:p>
          <a:p>
            <a:r>
              <a:rPr lang="en-US" dirty="0"/>
              <a:t>Foundry Models</a:t>
            </a:r>
          </a:p>
          <a:p>
            <a:r>
              <a:rPr lang="en-US" dirty="0"/>
              <a:t>Foundry IQ</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a:spLocks/>
          </p:cNvSpPr>
          <p:nvPr/>
        </p:nvSpPr>
        <p:spPr>
          <a:xfrm>
            <a:off x="1263852" y="346773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5" name="Text Placeholder 27">
            <a:extLst>
              <a:ext uri="{FF2B5EF4-FFF2-40B4-BE49-F238E27FC236}">
                <a16:creationId xmlns:a16="http://schemas.microsoft.com/office/drawing/2014/main" id="{34D16EB8-8365-0243-BBD7-CDEF0D461774}"/>
              </a:ext>
            </a:extLst>
          </p:cNvPr>
          <p:cNvSpPr>
            <a:spLocks noGrp="1"/>
          </p:cNvSpPr>
          <p:nvPr>
            <p:ph type="body" sz="quarter" idx="20"/>
          </p:nvPr>
        </p:nvSpPr>
        <p:spPr>
          <a:xfrm>
            <a:off x="1235075" y="4418761"/>
            <a:ext cx="8778782" cy="215444"/>
          </a:xfrm>
        </p:spPr>
        <p:txBody>
          <a:bodyPr/>
          <a:lstStyle/>
          <a:p>
            <a:r>
              <a:rPr lang="en-US" dirty="0"/>
              <a:t>Which extension should you use in Visual Studio Code to work with Foundry projects?</a:t>
            </a:r>
          </a:p>
        </p:txBody>
      </p:sp>
      <p:sp>
        <p:nvSpPr>
          <p:cNvPr id="6" name="Text Placeholder 28">
            <a:extLst>
              <a:ext uri="{FF2B5EF4-FFF2-40B4-BE49-F238E27FC236}">
                <a16:creationId xmlns:a16="http://schemas.microsoft.com/office/drawing/2014/main" id="{AEC2857C-BDF9-8BF4-F7E2-7D7695E961D1}"/>
              </a:ext>
            </a:extLst>
          </p:cNvPr>
          <p:cNvSpPr>
            <a:spLocks noGrp="1"/>
          </p:cNvSpPr>
          <p:nvPr>
            <p:ph type="body" sz="quarter" idx="21"/>
          </p:nvPr>
        </p:nvSpPr>
        <p:spPr>
          <a:xfrm>
            <a:off x="1235075" y="4713285"/>
            <a:ext cx="8775700" cy="732508"/>
          </a:xfrm>
        </p:spPr>
        <p:txBody>
          <a:bodyPr/>
          <a:lstStyle/>
          <a:p>
            <a:r>
              <a:rPr lang="en-US" sz="1400" dirty="0"/>
              <a:t>Python extension for Visual Studio Code</a:t>
            </a:r>
          </a:p>
          <a:p>
            <a:r>
              <a:rPr lang="en-US" sz="1400" dirty="0"/>
              <a:t>GitHub Copilot</a:t>
            </a:r>
          </a:p>
          <a:p>
            <a:r>
              <a:rPr lang="en-US" sz="1400"/>
              <a:t>Microsoft AI </a:t>
            </a:r>
            <a:r>
              <a:rPr lang="en-US" sz="1400" dirty="0"/>
              <a:t>Toolkit extension for Visual Studio Code</a:t>
            </a:r>
          </a:p>
        </p:txBody>
      </p:sp>
      <p:sp>
        <p:nvSpPr>
          <p:cNvPr id="7" name="Graphic 26">
            <a:extLst>
              <a:ext uri="{FF2B5EF4-FFF2-40B4-BE49-F238E27FC236}">
                <a16:creationId xmlns:a16="http://schemas.microsoft.com/office/drawing/2014/main" id="{0A19C4CE-392E-3724-47CD-84A7BC61FF68}"/>
              </a:ext>
              <a:ext uri="{C183D7F6-B498-43B3-948B-1728B52AA6E4}">
                <adec:decorative xmlns:adec="http://schemas.microsoft.com/office/drawing/2017/decorative" val="1"/>
              </a:ext>
            </a:extLst>
          </p:cNvPr>
          <p:cNvSpPr/>
          <p:nvPr/>
        </p:nvSpPr>
        <p:spPr>
          <a:xfrm>
            <a:off x="1292594" y="5274802"/>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35444618-9614-2178-2A02-0A7FB2A82627}"/>
              </a:ext>
              <a:ext uri="{C183D7F6-B498-43B3-948B-1728B52AA6E4}">
                <adec:decorative xmlns:adec="http://schemas.microsoft.com/office/drawing/2017/decorative" val="1"/>
              </a:ext>
            </a:extLst>
          </p:cNvPr>
          <p:cNvSpPr>
            <a:spLocks/>
          </p:cNvSpPr>
          <p:nvPr/>
        </p:nvSpPr>
        <p:spPr bwMode="auto">
          <a:xfrm>
            <a:off x="722582" y="439390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0"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7BB5-16B7-1D1F-DDD3-680E23A44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A5415-C0A1-F9BC-DF9A-EB189A14A2D0}"/>
              </a:ext>
            </a:extLst>
          </p:cNvPr>
          <p:cNvSpPr>
            <a:spLocks noGrp="1"/>
          </p:cNvSpPr>
          <p:nvPr>
            <p:ph type="title"/>
          </p:nvPr>
        </p:nvSpPr>
        <p:spPr>
          <a:xfrm>
            <a:off x="569911" y="2769057"/>
            <a:ext cx="6345239" cy="1231106"/>
          </a:xfrm>
        </p:spPr>
        <p:txBody>
          <a:bodyPr/>
          <a:lstStyle/>
          <a:p>
            <a:r>
              <a:rPr lang="en-US" noProof="0" dirty="0"/>
              <a:t>Select, deploy, and evaluate Microsoft </a:t>
            </a:r>
            <a:r>
              <a:rPr lang="en-US" noProof="0" dirty="0" err="1"/>
              <a:t>Foundr</a:t>
            </a:r>
            <a:r>
              <a:rPr lang="en-US" dirty="0"/>
              <a:t>y M</a:t>
            </a:r>
            <a:r>
              <a:rPr lang="en-US" noProof="0" dirty="0" err="1"/>
              <a:t>odels</a:t>
            </a:r>
            <a:endParaRPr lang="en-US" noProof="0" dirty="0"/>
          </a:p>
        </p:txBody>
      </p:sp>
      <p:sp>
        <p:nvSpPr>
          <p:cNvPr id="4" name="TextBox 3">
            <a:extLst>
              <a:ext uri="{FF2B5EF4-FFF2-40B4-BE49-F238E27FC236}">
                <a16:creationId xmlns:a16="http://schemas.microsoft.com/office/drawing/2014/main" id="{E429FABC-7004-95E9-7D28-16D4515736F0}"/>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https://aka.ms/mslearn-foundry-models</a:t>
            </a:r>
          </a:p>
        </p:txBody>
      </p:sp>
    </p:spTree>
    <p:extLst>
      <p:ext uri="{BB962C8B-B14F-4D97-AF65-F5344CB8AC3E}">
        <p14:creationId xmlns:p14="http://schemas.microsoft.com/office/powerpoint/2010/main" val="148386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8193024" cy="492443"/>
          </a:xfrm>
        </p:spPr>
        <p:txBody>
          <a:bodyPr/>
          <a:lstStyle/>
          <a:p>
            <a:r>
              <a:rPr lang="en-US" sz="3200" dirty="0"/>
              <a:t>Explore the model catalog</a:t>
            </a:r>
          </a:p>
        </p:txBody>
      </p:sp>
      <p:pic>
        <p:nvPicPr>
          <p:cNvPr id="23" name="Picture 22" descr="Screenshot of Microsoft Foundry webpage displaying a list of 11,417 AI models sorted by featured status. The interface includes a search bar, sidebar with categories, and model cards showing names, types (e.g., chat completion, responses, messages), and icons for models like gpt-5.4-nano, claude-opus-4.6, and model-router.">
            <a:extLst>
              <a:ext uri="{FF2B5EF4-FFF2-40B4-BE49-F238E27FC236}">
                <a16:creationId xmlns:a16="http://schemas.microsoft.com/office/drawing/2014/main" id="{AB926E3C-7269-03D7-CC0D-DA86754ED9B5}"/>
              </a:ext>
            </a:extLst>
          </p:cNvPr>
          <p:cNvPicPr>
            <a:picLocks noChangeAspect="1"/>
          </p:cNvPicPr>
          <p:nvPr/>
        </p:nvPicPr>
        <p:blipFill>
          <a:blip r:embed="rId3"/>
          <a:stretch>
            <a:fillRect/>
          </a:stretch>
        </p:blipFill>
        <p:spPr>
          <a:xfrm>
            <a:off x="5188857" y="1283062"/>
            <a:ext cx="6792685" cy="4754879"/>
          </a:xfrm>
          <a:prstGeom prst="rect">
            <a:avLst/>
          </a:prstGeom>
        </p:spPr>
      </p:pic>
      <p:sp>
        <p:nvSpPr>
          <p:cNvPr id="24" name="Text Placeholder 44">
            <a:extLst>
              <a:ext uri="{FF2B5EF4-FFF2-40B4-BE49-F238E27FC236}">
                <a16:creationId xmlns:a16="http://schemas.microsoft.com/office/drawing/2014/main" id="{AEF3D6F1-0ED2-0EFC-391F-01776E326273}"/>
              </a:ext>
            </a:extLst>
          </p:cNvPr>
          <p:cNvSpPr txBox="1">
            <a:spLocks/>
          </p:cNvSpPr>
          <p:nvPr/>
        </p:nvSpPr>
        <p:spPr>
          <a:xfrm>
            <a:off x="619390" y="4035929"/>
            <a:ext cx="4145266" cy="208057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Search and filter by</a:t>
            </a:r>
          </a:p>
          <a:p>
            <a:pPr lvl="1"/>
            <a:r>
              <a:rPr lang="en-US" sz="1600" dirty="0">
                <a:solidFill>
                  <a:srgbClr val="000000"/>
                </a:solidFill>
                <a:latin typeface="Segoe UI"/>
                <a:cs typeface="Segoe UI" panose="020B0502040204020203" pitchFamily="34" charset="0"/>
              </a:rPr>
              <a:t>Curated collections</a:t>
            </a:r>
          </a:p>
          <a:p>
            <a:pPr lvl="1"/>
            <a:r>
              <a:rPr lang="en-US" sz="1600" dirty="0">
                <a:solidFill>
                  <a:srgbClr val="000000"/>
                </a:solidFill>
                <a:latin typeface="Segoe UI"/>
                <a:cs typeface="Segoe UI" panose="020B0502040204020203" pitchFamily="34" charset="0"/>
              </a:rPr>
              <a:t>Model capabilities</a:t>
            </a:r>
          </a:p>
          <a:p>
            <a:pPr lvl="1"/>
            <a:r>
              <a:rPr lang="en-US" sz="1600" dirty="0">
                <a:solidFill>
                  <a:srgbClr val="000000"/>
                </a:solidFill>
                <a:latin typeface="Segoe UI"/>
                <a:cs typeface="Segoe UI" panose="020B0502040204020203" pitchFamily="34" charset="0"/>
              </a:rPr>
              <a:t>Source (model providers)</a:t>
            </a:r>
          </a:p>
          <a:p>
            <a:pPr lvl="1"/>
            <a:r>
              <a:rPr lang="en-US" sz="1600" dirty="0">
                <a:solidFill>
                  <a:srgbClr val="000000"/>
                </a:solidFill>
                <a:latin typeface="Segoe UI"/>
                <a:cs typeface="Segoe UI" panose="020B0502040204020203" pitchFamily="34" charset="0"/>
              </a:rPr>
              <a:t>Inference tasks</a:t>
            </a:r>
          </a:p>
          <a:p>
            <a:pPr lvl="1"/>
            <a:r>
              <a:rPr lang="en-US" sz="1600" dirty="0">
                <a:solidFill>
                  <a:srgbClr val="000000"/>
                </a:solidFill>
                <a:latin typeface="Segoe UI"/>
                <a:cs typeface="Segoe UI" panose="020B0502040204020203" pitchFamily="34" charset="0"/>
              </a:rPr>
              <a:t>Fine-tuning support</a:t>
            </a:r>
          </a:p>
          <a:p>
            <a:pPr lvl="1"/>
            <a:r>
              <a:rPr lang="en-US" sz="1600" dirty="0">
                <a:solidFill>
                  <a:srgbClr val="000000"/>
                </a:solidFill>
                <a:latin typeface="Segoe UI"/>
                <a:cs typeface="Segoe UI" panose="020B0502040204020203" pitchFamily="34" charset="0"/>
              </a:rPr>
              <a:t>Industry</a:t>
            </a:r>
          </a:p>
        </p:txBody>
      </p:sp>
      <p:sp>
        <p:nvSpPr>
          <p:cNvPr id="26" name="Text Placeholder 44">
            <a:extLst>
              <a:ext uri="{FF2B5EF4-FFF2-40B4-BE49-F238E27FC236}">
                <a16:creationId xmlns:a16="http://schemas.microsoft.com/office/drawing/2014/main" id="{5CE78152-B711-94F5-3593-E95108BC5E4E}"/>
              </a:ext>
            </a:extLst>
          </p:cNvPr>
          <p:cNvSpPr txBox="1">
            <a:spLocks/>
          </p:cNvSpPr>
          <p:nvPr/>
        </p:nvSpPr>
        <p:spPr>
          <a:xfrm>
            <a:off x="619390" y="1289107"/>
            <a:ext cx="4278086" cy="247452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None/>
              <a:tabLst/>
              <a:defRPr/>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cs typeface="Segoe UI Semibold" panose="020B0702040204020203" pitchFamily="34" charset="0"/>
              </a:rPr>
              <a:t>Foundry Models sold directly by Azure</a:t>
            </a:r>
          </a:p>
          <a:p>
            <a:pPr lvl="1" indent="-137160">
              <a:defRPr/>
            </a:pPr>
            <a:r>
              <a:rPr lang="en-US" sz="1600" dirty="0">
                <a:solidFill>
                  <a:srgbClr val="000000"/>
                </a:solidFill>
                <a:latin typeface="Segoe UI"/>
                <a:cs typeface="Segoe UI" panose="020B0502040204020203" pitchFamily="34" charset="0"/>
              </a:rPr>
              <a:t>OpenAI models and more</a:t>
            </a:r>
          </a:p>
          <a:p>
            <a:pPr lvl="1" indent="-137160">
              <a:defRPr/>
            </a:pPr>
            <a:r>
              <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Billed directly through Azure</a:t>
            </a:r>
          </a:p>
          <a:p>
            <a:pPr marL="0" indent="0">
              <a:buNone/>
              <a:defRPr/>
            </a:pPr>
            <a:r>
              <a:rPr lang="en-US" sz="2000" dirty="0">
                <a:solidFill>
                  <a:srgbClr val="000000"/>
                </a:solidFill>
                <a:latin typeface="Segoe UI Semibold" panose="020B0702040204020203" pitchFamily="34" charset="0"/>
                <a:cs typeface="Segoe UI Semibold" panose="020B0702040204020203" pitchFamily="34" charset="0"/>
              </a:rPr>
              <a:t>Foundry Models from partners and community</a:t>
            </a:r>
          </a:p>
          <a:p>
            <a:pPr lvl="1">
              <a:defRPr/>
            </a:pPr>
            <a:r>
              <a:rPr lang="en-US" sz="1600" dirty="0">
                <a:solidFill>
                  <a:srgbClr val="000000"/>
                </a:solidFill>
                <a:latin typeface="Segoe UI"/>
                <a:cs typeface="Segoe UI" panose="020B0502040204020203" pitchFamily="34" charset="0"/>
              </a:rPr>
              <a:t>Models from trusted third parties</a:t>
            </a:r>
          </a:p>
          <a:p>
            <a:pPr lvl="1">
              <a:defRPr/>
            </a:pPr>
            <a:r>
              <a:rPr lang="en-US" sz="1600" dirty="0">
                <a:solidFill>
                  <a:srgbClr val="000000"/>
                </a:solidFill>
                <a:latin typeface="Segoe UI"/>
                <a:cs typeface="Segoe UI" panose="020B0502040204020203" pitchFamily="34" charset="0"/>
              </a:rPr>
              <a:t>Purchase from the model provider</a:t>
            </a: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3522664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8193024" cy="492443"/>
          </a:xfrm>
        </p:spPr>
        <p:txBody>
          <a:bodyPr/>
          <a:lstStyle/>
          <a:p>
            <a:r>
              <a:rPr lang="en-US" sz="3200" dirty="0"/>
              <a:t>Select models using benchmarks</a:t>
            </a:r>
          </a:p>
        </p:txBody>
      </p:sp>
      <p:pic>
        <p:nvPicPr>
          <p:cNvPr id="23" name="Picture 22" descr="Screenshot of a model leaderboard dashboard from Microsoft Foundry displaying bar charts comparing AI models on quality and safety metrics. Quality chart uses purple and blue bars to show quality index scores where higher is better, while safety chart uses similar colors to show attack success rates where lower is better, highlighting notable differences among models.">
            <a:extLst>
              <a:ext uri="{FF2B5EF4-FFF2-40B4-BE49-F238E27FC236}">
                <a16:creationId xmlns:a16="http://schemas.microsoft.com/office/drawing/2014/main" id="{AB926E3C-7269-03D7-CC0D-DA86754ED9B5}"/>
              </a:ext>
            </a:extLst>
          </p:cNvPr>
          <p:cNvPicPr>
            <a:picLocks noChangeAspect="1"/>
          </p:cNvPicPr>
          <p:nvPr/>
        </p:nvPicPr>
        <p:blipFill>
          <a:blip r:embed="rId3"/>
          <a:srcRect/>
          <a:stretch/>
        </p:blipFill>
        <p:spPr>
          <a:xfrm>
            <a:off x="5188858" y="1283062"/>
            <a:ext cx="6792683" cy="4754879"/>
          </a:xfrm>
          <a:prstGeom prst="rect">
            <a:avLst/>
          </a:prstGeom>
        </p:spPr>
      </p:pic>
      <p:sp>
        <p:nvSpPr>
          <p:cNvPr id="26" name="Text Placeholder 44">
            <a:extLst>
              <a:ext uri="{FF2B5EF4-FFF2-40B4-BE49-F238E27FC236}">
                <a16:creationId xmlns:a16="http://schemas.microsoft.com/office/drawing/2014/main" id="{5CE78152-B711-94F5-3593-E95108BC5E4E}"/>
              </a:ext>
            </a:extLst>
          </p:cNvPr>
          <p:cNvSpPr txBox="1">
            <a:spLocks/>
          </p:cNvSpPr>
          <p:nvPr/>
        </p:nvSpPr>
        <p:spPr>
          <a:xfrm>
            <a:off x="662933" y="1463279"/>
            <a:ext cx="4278086" cy="3114699"/>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None/>
              <a:tabLst/>
              <a:defRPr/>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cs typeface="Segoe UI Semibold" panose="020B0702040204020203" pitchFamily="34" charset="0"/>
              </a:rPr>
              <a:t>Compare models by:</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Quality</a:t>
            </a:r>
          </a:p>
          <a:p>
            <a:pPr lvl="1" indent="-137160">
              <a:defRPr/>
            </a:pPr>
            <a:r>
              <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Quality index</a:t>
            </a:r>
            <a:r>
              <a:rPr lang="en-US" sz="1800" i="1" noProof="0" dirty="0">
                <a:solidFill>
                  <a:srgbClr val="000000"/>
                </a:solidFill>
                <a:latin typeface="Segoe UI"/>
                <a:cs typeface="Segoe UI" panose="020B0502040204020203" pitchFamily="34" charset="0"/>
              </a:rPr>
              <a:t> </a:t>
            </a:r>
            <a:r>
              <a:rPr lang="en-US" sz="1800" noProof="0" dirty="0">
                <a:solidFill>
                  <a:srgbClr val="000000"/>
                </a:solidFill>
                <a:latin typeface="Segoe UI"/>
                <a:cs typeface="Segoe UI" panose="020B0502040204020203" pitchFamily="34" charset="0"/>
              </a:rPr>
              <a:t>(h</a:t>
            </a: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igher is better)</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2000" dirty="0">
                <a:solidFill>
                  <a:srgbClr val="000000"/>
                </a:solidFill>
                <a:latin typeface="Segoe UI"/>
              </a:rPr>
              <a:t>Safety</a:t>
            </a:r>
          </a:p>
          <a:p>
            <a:pPr lvl="1" indent="-137160">
              <a:defRPr/>
            </a:pPr>
            <a:r>
              <a:rPr lang="en-US" sz="1800" i="1" dirty="0">
                <a:solidFill>
                  <a:srgbClr val="000000"/>
                </a:solidFill>
                <a:latin typeface="Segoe UI"/>
              </a:rPr>
              <a:t>Attack success rate </a:t>
            </a:r>
            <a:r>
              <a:rPr lang="en-US" sz="1800" dirty="0">
                <a:solidFill>
                  <a:srgbClr val="000000"/>
                </a:solidFill>
                <a:latin typeface="Segoe UI"/>
              </a:rPr>
              <a:t>(lower is better)</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Throughput</a:t>
            </a:r>
          </a:p>
          <a:p>
            <a:pPr lvl="1" indent="-137160">
              <a:defRPr/>
            </a:pPr>
            <a:r>
              <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Output tokens/sec </a:t>
            </a: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t>
            </a:r>
            <a:r>
              <a:rPr lang="en-US" sz="1800" dirty="0">
                <a:solidFill>
                  <a:srgbClr val="000000"/>
                </a:solidFill>
                <a:cs typeface="Segoe UI" panose="020B0502040204020203" pitchFamily="34" charset="0"/>
              </a:rPr>
              <a:t>higher is better)</a:t>
            </a: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2000" dirty="0">
                <a:solidFill>
                  <a:srgbClr val="000000"/>
                </a:solidFill>
                <a:latin typeface="Segoe UI"/>
              </a:rPr>
              <a:t>Cost</a:t>
            </a:r>
            <a:endPar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p>
            <a:pPr lvl="1" indent="-137160">
              <a:defRPr/>
            </a:pPr>
            <a:r>
              <a:rPr lang="en-US" sz="1800" i="1" dirty="0">
                <a:solidFill>
                  <a:srgbClr val="000000"/>
                </a:solidFill>
                <a:latin typeface="Segoe UI"/>
                <a:cs typeface="Segoe UI" panose="020B0502040204020203" pitchFamily="34" charset="0"/>
              </a:rPr>
              <a:t>USD per 1M tokens </a:t>
            </a:r>
            <a:r>
              <a:rPr lang="en-US" sz="1800" dirty="0">
                <a:solidFill>
                  <a:srgbClr val="000000"/>
                </a:solidFill>
              </a:rPr>
              <a:t>(lower is better)</a:t>
            </a:r>
            <a:endParaRPr lang="en-US" sz="1800" dirty="0">
              <a:solidFill>
                <a:srgbClr val="000000"/>
              </a:solidFill>
              <a:latin typeface="Segoe UI"/>
              <a:cs typeface="Segoe UI" panose="020B0502040204020203" pitchFamily="34" charset="0"/>
            </a:endParaRPr>
          </a:p>
        </p:txBody>
      </p:sp>
    </p:spTree>
    <p:extLst>
      <p:ext uri="{BB962C8B-B14F-4D97-AF65-F5344CB8AC3E}">
        <p14:creationId xmlns:p14="http://schemas.microsoft.com/office/powerpoint/2010/main" val="112274933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8193024" cy="492443"/>
          </a:xfrm>
        </p:spPr>
        <p:txBody>
          <a:bodyPr/>
          <a:lstStyle/>
          <a:p>
            <a:r>
              <a:rPr lang="en-US" sz="3200" dirty="0"/>
              <a:t>Deploy models to endpoints</a:t>
            </a:r>
          </a:p>
        </p:txBody>
      </p:sp>
      <p:pic>
        <p:nvPicPr>
          <p:cNvPr id="23" name="Picture 22" descr="Screenshot of a web-based deployment interface for GPT-4.1 on Microsoft Foundry, showing deployment name, type set to Global Standard, priority processing disabled, token limit slider set to 100,000 out of 163,000, and guardrails set to DefaultV2, with Deploy and Cancel buttons at the bottom. The background shows a partially visible webpage with GPT-4.1 model details and Azure OpenAI branding.">
            <a:extLst>
              <a:ext uri="{FF2B5EF4-FFF2-40B4-BE49-F238E27FC236}">
                <a16:creationId xmlns:a16="http://schemas.microsoft.com/office/drawing/2014/main" id="{AB926E3C-7269-03D7-CC0D-DA86754ED9B5}"/>
              </a:ext>
            </a:extLst>
          </p:cNvPr>
          <p:cNvPicPr>
            <a:picLocks noChangeAspect="1"/>
          </p:cNvPicPr>
          <p:nvPr/>
        </p:nvPicPr>
        <p:blipFill>
          <a:blip r:embed="rId3"/>
          <a:srcRect/>
          <a:stretch/>
        </p:blipFill>
        <p:spPr>
          <a:xfrm>
            <a:off x="5188858" y="1283062"/>
            <a:ext cx="6792683" cy="4754878"/>
          </a:xfrm>
          <a:prstGeom prst="rect">
            <a:avLst/>
          </a:prstGeom>
        </p:spPr>
      </p:pic>
      <p:graphicFrame>
        <p:nvGraphicFramePr>
          <p:cNvPr id="3" name="Table 2">
            <a:extLst>
              <a:ext uri="{FF2B5EF4-FFF2-40B4-BE49-F238E27FC236}">
                <a16:creationId xmlns:a16="http://schemas.microsoft.com/office/drawing/2014/main" id="{742432A7-D8D9-433E-300F-675C8A4CC68B}"/>
              </a:ext>
            </a:extLst>
          </p:cNvPr>
          <p:cNvGraphicFramePr>
            <a:graphicFrameLocks noGrp="1"/>
          </p:cNvGraphicFramePr>
          <p:nvPr>
            <p:extLst>
              <p:ext uri="{D42A27DB-BD31-4B8C-83A1-F6EECF244321}">
                <p14:modId xmlns:p14="http://schemas.microsoft.com/office/powerpoint/2010/main" val="2786664924"/>
              </p:ext>
            </p:extLst>
          </p:nvPr>
        </p:nvGraphicFramePr>
        <p:xfrm>
          <a:off x="662933" y="1283060"/>
          <a:ext cx="4366267" cy="4754876"/>
        </p:xfrm>
        <a:graphic>
          <a:graphicData uri="http://schemas.openxmlformats.org/drawingml/2006/table">
            <a:tbl>
              <a:tblPr firstRow="1">
                <a:tableStyleId>{9D7B26C5-4107-4FEC-AEDC-1716B250A1EF}</a:tableStyleId>
              </a:tblPr>
              <a:tblGrid>
                <a:gridCol w="1978667">
                  <a:extLst>
                    <a:ext uri="{9D8B030D-6E8A-4147-A177-3AD203B41FA5}">
                      <a16:colId xmlns:a16="http://schemas.microsoft.com/office/drawing/2014/main" val="354577067"/>
                    </a:ext>
                  </a:extLst>
                </a:gridCol>
                <a:gridCol w="2387600">
                  <a:extLst>
                    <a:ext uri="{9D8B030D-6E8A-4147-A177-3AD203B41FA5}">
                      <a16:colId xmlns:a16="http://schemas.microsoft.com/office/drawing/2014/main" val="3100690456"/>
                    </a:ext>
                  </a:extLst>
                </a:gridCol>
              </a:tblGrid>
              <a:tr h="299900">
                <a:tc>
                  <a:txBody>
                    <a:bodyPr/>
                    <a:lstStyle/>
                    <a:p>
                      <a:pPr algn="l" fontAlgn="t">
                        <a:buNone/>
                      </a:pPr>
                      <a:r>
                        <a:rPr lang="en-US" sz="1400" dirty="0">
                          <a:effectLst/>
                        </a:rPr>
                        <a:t>Deployment type</a:t>
                      </a:r>
                      <a:endParaRPr lang="en-US" sz="1400" dirty="0">
                        <a:effectLst/>
                        <a:latin typeface="+mj-lt"/>
                      </a:endParaRPr>
                    </a:p>
                  </a:txBody>
                  <a:tcPr marL="4302" marR="4302" marT="2151" marB="2151"/>
                </a:tc>
                <a:tc>
                  <a:txBody>
                    <a:bodyPr/>
                    <a:lstStyle/>
                    <a:p>
                      <a:pPr algn="l" fontAlgn="t">
                        <a:buNone/>
                      </a:pPr>
                      <a:r>
                        <a:rPr lang="en-US" sz="1400" dirty="0">
                          <a:effectLst/>
                        </a:rPr>
                        <a:t>Best for</a:t>
                      </a:r>
                      <a:endParaRPr lang="en-US" sz="1400" dirty="0">
                        <a:effectLst/>
                        <a:latin typeface="+mj-lt"/>
                      </a:endParaRPr>
                    </a:p>
                  </a:txBody>
                  <a:tcPr marL="4302" marR="4302" marT="2151" marB="2151"/>
                </a:tc>
                <a:extLst>
                  <a:ext uri="{0D108BD9-81ED-4DB2-BD59-A6C34878D82A}">
                    <a16:rowId xmlns:a16="http://schemas.microsoft.com/office/drawing/2014/main" val="3068365360"/>
                  </a:ext>
                </a:extLst>
              </a:tr>
              <a:tr h="592546">
                <a:tc>
                  <a:txBody>
                    <a:bodyPr/>
                    <a:lstStyle/>
                    <a:p>
                      <a:pPr algn="l" fontAlgn="t">
                        <a:buNone/>
                      </a:pPr>
                      <a:r>
                        <a:rPr lang="en-US" sz="1400" u="none" strike="noStrike" dirty="0">
                          <a:solidFill>
                            <a:schemeClr val="tx1"/>
                          </a:solidFill>
                          <a:effectLst/>
                        </a:rPr>
                        <a:t>Global Standard</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General workloads and highest quota</a:t>
                      </a:r>
                    </a:p>
                  </a:txBody>
                  <a:tcPr marL="4302" marR="4302" marT="2151" marB="2151"/>
                </a:tc>
                <a:extLst>
                  <a:ext uri="{0D108BD9-81ED-4DB2-BD59-A6C34878D82A}">
                    <a16:rowId xmlns:a16="http://schemas.microsoft.com/office/drawing/2014/main" val="2778408352"/>
                  </a:ext>
                </a:extLst>
              </a:tr>
              <a:tr h="299900">
                <a:tc>
                  <a:txBody>
                    <a:bodyPr/>
                    <a:lstStyle/>
                    <a:p>
                      <a:pPr algn="l" fontAlgn="t">
                        <a:buNone/>
                      </a:pPr>
                      <a:r>
                        <a:rPr lang="en-US" sz="1400" u="none" strike="noStrike" dirty="0">
                          <a:solidFill>
                            <a:schemeClr val="tx1"/>
                          </a:solidFill>
                          <a:effectLst/>
                        </a:rPr>
                        <a:t>Global Provisioned</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Predictable high-throughput</a:t>
                      </a:r>
                    </a:p>
                  </a:txBody>
                  <a:tcPr marL="4302" marR="4302" marT="2151" marB="2151"/>
                </a:tc>
                <a:extLst>
                  <a:ext uri="{0D108BD9-81ED-4DB2-BD59-A6C34878D82A}">
                    <a16:rowId xmlns:a16="http://schemas.microsoft.com/office/drawing/2014/main" val="1884366744"/>
                  </a:ext>
                </a:extLst>
              </a:tr>
              <a:tr h="299900">
                <a:tc>
                  <a:txBody>
                    <a:bodyPr/>
                    <a:lstStyle/>
                    <a:p>
                      <a:pPr algn="l" fontAlgn="t">
                        <a:buNone/>
                      </a:pPr>
                      <a:r>
                        <a:rPr lang="en-US" sz="1400" u="none" strike="noStrike" dirty="0">
                          <a:solidFill>
                            <a:schemeClr val="tx1"/>
                          </a:solidFill>
                          <a:effectLst/>
                        </a:rPr>
                        <a:t>Global Batch</a:t>
                      </a:r>
                      <a:endParaRPr lang="en-US" sz="1400" dirty="0">
                        <a:solidFill>
                          <a:schemeClr val="tx1"/>
                        </a:solidFill>
                        <a:effectLst/>
                      </a:endParaRPr>
                    </a:p>
                  </a:txBody>
                  <a:tcPr marL="4302" marR="4302" marT="2151" marB="2151"/>
                </a:tc>
                <a:tc>
                  <a:txBody>
                    <a:bodyPr/>
                    <a:lstStyle/>
                    <a:p>
                      <a:pPr algn="l" fontAlgn="t">
                        <a:buNone/>
                      </a:pPr>
                      <a:r>
                        <a:rPr lang="en-US" sz="1400">
                          <a:solidFill>
                            <a:schemeClr val="tx1"/>
                          </a:solidFill>
                          <a:effectLst/>
                        </a:rPr>
                        <a:t>Large async jobs</a:t>
                      </a:r>
                    </a:p>
                  </a:txBody>
                  <a:tcPr marL="4302" marR="4302" marT="2151" marB="2151"/>
                </a:tc>
                <a:extLst>
                  <a:ext uri="{0D108BD9-81ED-4DB2-BD59-A6C34878D82A}">
                    <a16:rowId xmlns:a16="http://schemas.microsoft.com/office/drawing/2014/main" val="3218672773"/>
                  </a:ext>
                </a:extLst>
              </a:tr>
              <a:tr h="299900">
                <a:tc>
                  <a:txBody>
                    <a:bodyPr/>
                    <a:lstStyle/>
                    <a:p>
                      <a:pPr algn="l" fontAlgn="t">
                        <a:buNone/>
                      </a:pPr>
                      <a:r>
                        <a:rPr lang="en-US" sz="1400" u="none" strike="noStrike" dirty="0">
                          <a:solidFill>
                            <a:schemeClr val="tx1"/>
                          </a:solidFill>
                          <a:effectLst/>
                        </a:rPr>
                        <a:t>Data Zone Standard</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EU/US data zone compliance</a:t>
                      </a:r>
                    </a:p>
                  </a:txBody>
                  <a:tcPr marL="4302" marR="4302" marT="2151" marB="2151"/>
                </a:tc>
                <a:extLst>
                  <a:ext uri="{0D108BD9-81ED-4DB2-BD59-A6C34878D82A}">
                    <a16:rowId xmlns:a16="http://schemas.microsoft.com/office/drawing/2014/main" val="1603704476"/>
                  </a:ext>
                </a:extLst>
              </a:tr>
              <a:tr h="592546">
                <a:tc>
                  <a:txBody>
                    <a:bodyPr/>
                    <a:lstStyle/>
                    <a:p>
                      <a:pPr algn="l" fontAlgn="t">
                        <a:buNone/>
                      </a:pPr>
                      <a:r>
                        <a:rPr lang="en-US" sz="1400" u="none" strike="noStrike" dirty="0">
                          <a:solidFill>
                            <a:schemeClr val="tx1"/>
                          </a:solidFill>
                          <a:effectLst/>
                        </a:rPr>
                        <a:t>Data Zone Provisioned</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Data zone and predictable throughput</a:t>
                      </a:r>
                    </a:p>
                  </a:txBody>
                  <a:tcPr marL="4302" marR="4302" marT="2151" marB="2151"/>
                </a:tc>
                <a:extLst>
                  <a:ext uri="{0D108BD9-81ED-4DB2-BD59-A6C34878D82A}">
                    <a16:rowId xmlns:a16="http://schemas.microsoft.com/office/drawing/2014/main" val="1240262944"/>
                  </a:ext>
                </a:extLst>
              </a:tr>
              <a:tr h="592546">
                <a:tc>
                  <a:txBody>
                    <a:bodyPr/>
                    <a:lstStyle/>
                    <a:p>
                      <a:pPr algn="l" fontAlgn="t">
                        <a:buNone/>
                      </a:pPr>
                      <a:r>
                        <a:rPr lang="en-US" sz="1400" u="none" strike="noStrike" dirty="0">
                          <a:solidFill>
                            <a:schemeClr val="tx1"/>
                          </a:solidFill>
                          <a:effectLst/>
                        </a:rPr>
                        <a:t>Data Zone Batch</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Large async jobs with data zone</a:t>
                      </a:r>
                    </a:p>
                  </a:txBody>
                  <a:tcPr marL="4302" marR="4302" marT="2151" marB="2151"/>
                </a:tc>
                <a:extLst>
                  <a:ext uri="{0D108BD9-81ED-4DB2-BD59-A6C34878D82A}">
                    <a16:rowId xmlns:a16="http://schemas.microsoft.com/office/drawing/2014/main" val="505870846"/>
                  </a:ext>
                </a:extLst>
              </a:tr>
              <a:tr h="592546">
                <a:tc>
                  <a:txBody>
                    <a:bodyPr/>
                    <a:lstStyle/>
                    <a:p>
                      <a:pPr algn="l" fontAlgn="t">
                        <a:buNone/>
                      </a:pPr>
                      <a:r>
                        <a:rPr lang="en-US" sz="1400" u="none" strike="noStrike" dirty="0">
                          <a:solidFill>
                            <a:schemeClr val="tx1"/>
                          </a:solidFill>
                          <a:effectLst/>
                        </a:rPr>
                        <a:t>Standard</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Regional compliance, low volume</a:t>
                      </a:r>
                    </a:p>
                  </a:txBody>
                  <a:tcPr marL="4302" marR="4302" marT="2151" marB="2151"/>
                </a:tc>
                <a:extLst>
                  <a:ext uri="{0D108BD9-81ED-4DB2-BD59-A6C34878D82A}">
                    <a16:rowId xmlns:a16="http://schemas.microsoft.com/office/drawing/2014/main" val="3215909783"/>
                  </a:ext>
                </a:extLst>
              </a:tr>
              <a:tr h="592546">
                <a:tc>
                  <a:txBody>
                    <a:bodyPr/>
                    <a:lstStyle/>
                    <a:p>
                      <a:pPr algn="l" fontAlgn="t">
                        <a:buNone/>
                      </a:pPr>
                      <a:r>
                        <a:rPr lang="en-US" sz="1400" u="none" strike="noStrike" dirty="0">
                          <a:solidFill>
                            <a:schemeClr val="tx1"/>
                          </a:solidFill>
                          <a:effectLst/>
                        </a:rPr>
                        <a:t>Regional Provisioned</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Regional compliance  and throughput</a:t>
                      </a:r>
                    </a:p>
                  </a:txBody>
                  <a:tcPr marL="4302" marR="4302" marT="2151" marB="2151"/>
                </a:tc>
                <a:extLst>
                  <a:ext uri="{0D108BD9-81ED-4DB2-BD59-A6C34878D82A}">
                    <a16:rowId xmlns:a16="http://schemas.microsoft.com/office/drawing/2014/main" val="496980870"/>
                  </a:ext>
                </a:extLst>
              </a:tr>
              <a:tr h="592546">
                <a:tc>
                  <a:txBody>
                    <a:bodyPr/>
                    <a:lstStyle/>
                    <a:p>
                      <a:pPr algn="l" fontAlgn="t">
                        <a:buNone/>
                      </a:pPr>
                      <a:r>
                        <a:rPr lang="en-US" sz="1400" u="none" strike="noStrike" dirty="0">
                          <a:solidFill>
                            <a:schemeClr val="tx1"/>
                          </a:solidFill>
                          <a:effectLst/>
                        </a:rPr>
                        <a:t>Developer</a:t>
                      </a:r>
                      <a:endParaRPr lang="en-US" sz="1400" dirty="0">
                        <a:solidFill>
                          <a:schemeClr val="tx1"/>
                        </a:solidFill>
                        <a:effectLst/>
                      </a:endParaRPr>
                    </a:p>
                  </a:txBody>
                  <a:tcPr marL="4302" marR="4302" marT="2151" marB="2151"/>
                </a:tc>
                <a:tc>
                  <a:txBody>
                    <a:bodyPr/>
                    <a:lstStyle/>
                    <a:p>
                      <a:pPr algn="l" fontAlgn="t">
                        <a:buNone/>
                      </a:pPr>
                      <a:r>
                        <a:rPr lang="en-US" sz="1400" dirty="0">
                          <a:solidFill>
                            <a:schemeClr val="tx1"/>
                          </a:solidFill>
                          <a:effectLst/>
                        </a:rPr>
                        <a:t>Fine-tuned model evaluation only</a:t>
                      </a:r>
                    </a:p>
                  </a:txBody>
                  <a:tcPr marL="4302" marR="4302" marT="2151" marB="2151"/>
                </a:tc>
                <a:extLst>
                  <a:ext uri="{0D108BD9-81ED-4DB2-BD59-A6C34878D82A}">
                    <a16:rowId xmlns:a16="http://schemas.microsoft.com/office/drawing/2014/main" val="967095173"/>
                  </a:ext>
                </a:extLst>
              </a:tr>
            </a:tbl>
          </a:graphicData>
        </a:graphic>
      </p:graphicFrame>
    </p:spTree>
    <p:extLst>
      <p:ext uri="{BB962C8B-B14F-4D97-AF65-F5344CB8AC3E}">
        <p14:creationId xmlns:p14="http://schemas.microsoft.com/office/powerpoint/2010/main" val="22391514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8193024" cy="492443"/>
          </a:xfrm>
        </p:spPr>
        <p:txBody>
          <a:bodyPr/>
          <a:lstStyle/>
          <a:p>
            <a:r>
              <a:rPr lang="en-US" sz="3200" dirty="0"/>
              <a:t>Evaluate model performance</a:t>
            </a:r>
          </a:p>
        </p:txBody>
      </p:sp>
      <p:sp>
        <p:nvSpPr>
          <p:cNvPr id="4" name="Text Placeholder 44">
            <a:extLst>
              <a:ext uri="{FF2B5EF4-FFF2-40B4-BE49-F238E27FC236}">
                <a16:creationId xmlns:a16="http://schemas.microsoft.com/office/drawing/2014/main" id="{371B3692-15AF-C72A-A477-92157B7ED01B}"/>
              </a:ext>
            </a:extLst>
          </p:cNvPr>
          <p:cNvSpPr txBox="1">
            <a:spLocks/>
          </p:cNvSpPr>
          <p:nvPr/>
        </p:nvSpPr>
        <p:spPr>
          <a:xfrm>
            <a:off x="662932" y="1463279"/>
            <a:ext cx="5433067" cy="104644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None/>
              <a:tabLst/>
              <a:defRPr/>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cs typeface="Segoe UI Semibold" panose="020B0702040204020203" pitchFamily="34" charset="0"/>
              </a:rPr>
              <a:t>Manual evaluation:</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Test model responses in the playground</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2000" dirty="0">
                <a:solidFill>
                  <a:srgbClr val="000000"/>
                </a:solidFill>
                <a:latin typeface="Segoe UI"/>
              </a:rPr>
              <a:t>Compare models side-by-side</a:t>
            </a:r>
            <a:endPar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5" name="Text Placeholder 44">
            <a:extLst>
              <a:ext uri="{FF2B5EF4-FFF2-40B4-BE49-F238E27FC236}">
                <a16:creationId xmlns:a16="http://schemas.microsoft.com/office/drawing/2014/main" id="{AE6A7401-B46D-EFBB-E344-7705044DE965}"/>
              </a:ext>
            </a:extLst>
          </p:cNvPr>
          <p:cNvSpPr txBox="1">
            <a:spLocks/>
          </p:cNvSpPr>
          <p:nvPr/>
        </p:nvSpPr>
        <p:spPr>
          <a:xfrm>
            <a:off x="6439617" y="1463279"/>
            <a:ext cx="5361071" cy="104644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None/>
              <a:tabLst/>
              <a:defRPr/>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cs typeface="Segoe UI Semibold" panose="020B0702040204020203" pitchFamily="34" charset="0"/>
              </a:rPr>
              <a:t>Automated evaluation:</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Use synthetic datasets or your own data</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2000" dirty="0">
                <a:solidFill>
                  <a:srgbClr val="000000"/>
                </a:solidFill>
                <a:latin typeface="Segoe UI"/>
              </a:rPr>
              <a:t>Measure responses based on standard metrics</a:t>
            </a:r>
            <a:endPar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pic>
        <p:nvPicPr>
          <p:cNvPr id="7" name="Picture 6" descr="Screenshot of a web-based AI model comparison interface showing two side-by-side chat windows with GPT-4.1-mini and GPT-4.1 models describing the ZX Spectrum computer, highlighting differences in response length and detail. The interface includes navigation tabs, dropdown menus for model selection, and buttons for saving agents, with a clean layout and purple accent colors.">
            <a:extLst>
              <a:ext uri="{FF2B5EF4-FFF2-40B4-BE49-F238E27FC236}">
                <a16:creationId xmlns:a16="http://schemas.microsoft.com/office/drawing/2014/main" id="{9AADCC5D-EE6A-296F-52B0-8C275C6DAC71}"/>
              </a:ext>
            </a:extLst>
          </p:cNvPr>
          <p:cNvPicPr>
            <a:picLocks noChangeAspect="1"/>
          </p:cNvPicPr>
          <p:nvPr/>
        </p:nvPicPr>
        <p:blipFill>
          <a:blip r:embed="rId3"/>
          <a:stretch>
            <a:fillRect/>
          </a:stretch>
        </p:blipFill>
        <p:spPr>
          <a:xfrm>
            <a:off x="662932" y="2833007"/>
            <a:ext cx="5225142" cy="3657599"/>
          </a:xfrm>
          <a:prstGeom prst="rect">
            <a:avLst/>
          </a:prstGeom>
        </p:spPr>
      </p:pic>
      <p:pic>
        <p:nvPicPr>
          <p:cNvPr id="8" name="Picture 7" descr="Screenshot of a web interface displaying detailed metrics results for fluency evaluation in a text analysis project. The table includes columns for fluency scores and reasons, with color-coded pass/fail labels, highlighting varied sentence structures, vocabulary use, and grammatical accuracy across multiple text samples.">
            <a:extLst>
              <a:ext uri="{FF2B5EF4-FFF2-40B4-BE49-F238E27FC236}">
                <a16:creationId xmlns:a16="http://schemas.microsoft.com/office/drawing/2014/main" id="{35AA9469-3CBF-1F92-EC6A-A3C8D776E56C}"/>
              </a:ext>
            </a:extLst>
          </p:cNvPr>
          <p:cNvPicPr>
            <a:picLocks noChangeAspect="1"/>
          </p:cNvPicPr>
          <p:nvPr/>
        </p:nvPicPr>
        <p:blipFill>
          <a:blip r:embed="rId4"/>
          <a:srcRect/>
          <a:stretch/>
        </p:blipFill>
        <p:spPr>
          <a:xfrm>
            <a:off x="6439617" y="2833006"/>
            <a:ext cx="5225141" cy="3657599"/>
          </a:xfrm>
          <a:prstGeom prst="rect">
            <a:avLst/>
          </a:prstGeom>
        </p:spPr>
      </p:pic>
    </p:spTree>
    <p:extLst>
      <p:ext uri="{BB962C8B-B14F-4D97-AF65-F5344CB8AC3E}">
        <p14:creationId xmlns:p14="http://schemas.microsoft.com/office/powerpoint/2010/main" val="426532185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5A53-51F9-5C03-F6FE-419CADC7F7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3946E4-E3BA-D06A-8CF9-A1A85629DC8D}"/>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C3C392B6-17D7-F851-516C-342E5293B875}"/>
              </a:ext>
            </a:extLst>
          </p:cNvPr>
          <p:cNvSpPr>
            <a:spLocks noGrp="1"/>
          </p:cNvSpPr>
          <p:nvPr>
            <p:ph type="body" sz="quarter" idx="16"/>
          </p:nvPr>
        </p:nvSpPr>
        <p:spPr>
          <a:xfrm>
            <a:off x="584199" y="1594155"/>
            <a:ext cx="5654573" cy="307777"/>
          </a:xfrm>
        </p:spPr>
        <p:txBody>
          <a:bodyPr/>
          <a:lstStyle/>
          <a:p>
            <a:r>
              <a:rPr lang="en-US" sz="2000" dirty="0"/>
              <a:t>Select, deploy, and evaluate models</a:t>
            </a:r>
          </a:p>
        </p:txBody>
      </p:sp>
      <p:sp>
        <p:nvSpPr>
          <p:cNvPr id="6" name="Text Placeholder 5">
            <a:extLst>
              <a:ext uri="{FF2B5EF4-FFF2-40B4-BE49-F238E27FC236}">
                <a16:creationId xmlns:a16="http://schemas.microsoft.com/office/drawing/2014/main" id="{0D9094C9-FB18-F529-F674-EE32E11E3DA8}"/>
              </a:ext>
            </a:extLst>
          </p:cNvPr>
          <p:cNvSpPr>
            <a:spLocks noGrp="1"/>
          </p:cNvSpPr>
          <p:nvPr>
            <p:ph type="body" sz="quarter" idx="15"/>
          </p:nvPr>
        </p:nvSpPr>
        <p:spPr>
          <a:xfrm>
            <a:off x="586389" y="2085764"/>
            <a:ext cx="4144361" cy="1772793"/>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Explore models in the catalog</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Compare models using the model leaderboard</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Deploy models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Compare models in the model playground</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Evaluate a model with a synthetic dataset</a:t>
            </a:r>
            <a:endParaRPr lang="en-US" dirty="0"/>
          </a:p>
        </p:txBody>
      </p:sp>
      <p:sp>
        <p:nvSpPr>
          <p:cNvPr id="10" name="TextBox 9">
            <a:extLst>
              <a:ext uri="{FF2B5EF4-FFF2-40B4-BE49-F238E27FC236}">
                <a16:creationId xmlns:a16="http://schemas.microsoft.com/office/drawing/2014/main" id="{675AE5D2-D5D3-153A-FD26-F399CA8AC32D}"/>
              </a:ext>
            </a:extLst>
          </p:cNvPr>
          <p:cNvSpPr txBox="1"/>
          <p:nvPr/>
        </p:nvSpPr>
        <p:spPr>
          <a:xfrm>
            <a:off x="487330" y="3967742"/>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https://go.microsoft.com/fwlink/?linkid=2354118</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CE6451CE-D283-C4A2-772A-63BA6A706E86}"/>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528957FA-C2AF-B0EA-D367-7202C49E8F25}"/>
              </a:ext>
              <a:ext uri="{C183D7F6-B498-43B3-948B-1728B52AA6E4}">
                <adec:decorative xmlns:adec="http://schemas.microsoft.com/office/drawing/2017/decorative" val="1"/>
              </a:ext>
            </a:extLst>
          </p:cNvPr>
          <p:cNvPicPr>
            <a:picLocks noChangeAspect="1"/>
          </p:cNvPicPr>
          <p:nvPr/>
        </p:nvPicPr>
        <p:blipFill>
          <a:blip r:embed="rId4"/>
          <a:srcRect l="2732" r="2732"/>
          <a:stretch/>
        </p:blipFill>
        <p:spPr>
          <a:xfrm>
            <a:off x="7723991" y="2032000"/>
            <a:ext cx="4468009" cy="3309257"/>
          </a:xfrm>
          <a:prstGeom prst="rect">
            <a:avLst/>
          </a:prstGeom>
        </p:spPr>
      </p:pic>
      <p:sp>
        <p:nvSpPr>
          <p:cNvPr id="11" name="Flowchart: Off-page Connector 44">
            <a:extLst>
              <a:ext uri="{FF2B5EF4-FFF2-40B4-BE49-F238E27FC236}">
                <a16:creationId xmlns:a16="http://schemas.microsoft.com/office/drawing/2014/main" id="{73643270-880D-2D17-1A2F-07ACBBAA4BAC}"/>
              </a:ext>
              <a:ext uri="{C183D7F6-B498-43B3-948B-1728B52AA6E4}">
                <adec:decorative xmlns:adec="http://schemas.microsoft.com/office/drawing/2017/decorative" val="0"/>
              </a:ext>
            </a:extLst>
          </p:cNvPr>
          <p:cNvSpPr/>
          <p:nvPr/>
        </p:nvSpPr>
        <p:spPr bwMode="auto">
          <a:xfrm rot="5400000">
            <a:off x="5960050" y="2617672"/>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09009305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CAD19-D5B6-6155-65F5-8DC7E3373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AA1AC-08B7-8286-9284-45C31643C5D8}"/>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4987BE56-4119-2E9C-8BB8-9071D4B7F46D}"/>
              </a:ext>
            </a:extLst>
          </p:cNvPr>
          <p:cNvSpPr>
            <a:spLocks noGrp="1"/>
          </p:cNvSpPr>
          <p:nvPr>
            <p:ph type="body" sz="quarter" idx="17"/>
          </p:nvPr>
        </p:nvSpPr>
        <p:spPr>
          <a:xfrm>
            <a:off x="1235075" y="1766085"/>
            <a:ext cx="8778782" cy="430887"/>
          </a:xfrm>
        </p:spPr>
        <p:txBody>
          <a:bodyPr/>
          <a:lstStyle/>
          <a:p>
            <a:r>
              <a:rPr lang="en-US" b="1" dirty="0"/>
              <a:t>Which model benchmark indicates the model's ability to process prompts and return comprehensive responses quickly?</a:t>
            </a:r>
          </a:p>
        </p:txBody>
      </p:sp>
      <p:sp>
        <p:nvSpPr>
          <p:cNvPr id="9" name="Text Placeholder 8">
            <a:extLst>
              <a:ext uri="{FF2B5EF4-FFF2-40B4-BE49-F238E27FC236}">
                <a16:creationId xmlns:a16="http://schemas.microsoft.com/office/drawing/2014/main" id="{99A2EED7-449A-924B-2C38-2BCF462EAA6B}"/>
              </a:ext>
            </a:extLst>
          </p:cNvPr>
          <p:cNvSpPr>
            <a:spLocks noGrp="1"/>
          </p:cNvSpPr>
          <p:nvPr>
            <p:ph type="body" sz="quarter" idx="15"/>
          </p:nvPr>
        </p:nvSpPr>
        <p:spPr>
          <a:xfrm>
            <a:off x="1235075" y="2204698"/>
            <a:ext cx="8775098" cy="732508"/>
          </a:xfrm>
          <a:noFill/>
        </p:spPr>
        <p:txBody>
          <a:bodyPr/>
          <a:lstStyle/>
          <a:p>
            <a:r>
              <a:rPr lang="en-US" noProof="0" dirty="0"/>
              <a:t>Quality index</a:t>
            </a:r>
            <a:endParaRPr lang="en-US" noProof="0" dirty="0">
              <a:solidFill>
                <a:srgbClr val="000000"/>
              </a:solidFill>
            </a:endParaRPr>
          </a:p>
          <a:p>
            <a:r>
              <a:rPr lang="en-US" noProof="0" dirty="0"/>
              <a:t>Cost</a:t>
            </a:r>
          </a:p>
          <a:p>
            <a:r>
              <a:rPr lang="en-US" noProof="0" dirty="0"/>
              <a:t>Throughput</a:t>
            </a:r>
          </a:p>
        </p:txBody>
      </p:sp>
      <p:sp>
        <p:nvSpPr>
          <p:cNvPr id="18" name="Text Placeholder 17">
            <a:extLst>
              <a:ext uri="{FF2B5EF4-FFF2-40B4-BE49-F238E27FC236}">
                <a16:creationId xmlns:a16="http://schemas.microsoft.com/office/drawing/2014/main" id="{AC14C2E3-61AB-9EEA-8DB8-991A9E12CCDB}"/>
              </a:ext>
            </a:extLst>
          </p:cNvPr>
          <p:cNvSpPr>
            <a:spLocks noGrp="1"/>
          </p:cNvSpPr>
          <p:nvPr>
            <p:ph type="body" sz="quarter" idx="22"/>
          </p:nvPr>
        </p:nvSpPr>
        <p:spPr>
          <a:xfrm>
            <a:off x="1235075" y="3139966"/>
            <a:ext cx="8778782" cy="215444"/>
          </a:xfrm>
        </p:spPr>
        <p:txBody>
          <a:bodyPr/>
          <a:lstStyle/>
          <a:p>
            <a:r>
              <a:rPr lang="en-US" noProof="0" dirty="0"/>
              <a:t>Which deployment type in Microsoft Foundry is best for general use while offering the largest quota?</a:t>
            </a:r>
          </a:p>
        </p:txBody>
      </p:sp>
      <p:sp>
        <p:nvSpPr>
          <p:cNvPr id="19" name="Text Placeholder 18">
            <a:extLst>
              <a:ext uri="{FF2B5EF4-FFF2-40B4-BE49-F238E27FC236}">
                <a16:creationId xmlns:a16="http://schemas.microsoft.com/office/drawing/2014/main" id="{B8889AE5-041E-9440-C85A-62FCAEB88CD2}"/>
              </a:ext>
            </a:extLst>
          </p:cNvPr>
          <p:cNvSpPr>
            <a:spLocks noGrp="1"/>
          </p:cNvSpPr>
          <p:nvPr>
            <p:ph type="body" sz="quarter" idx="23"/>
          </p:nvPr>
        </p:nvSpPr>
        <p:spPr>
          <a:xfrm>
            <a:off x="1235074" y="3420839"/>
            <a:ext cx="8775098" cy="732508"/>
          </a:xfrm>
        </p:spPr>
        <p:txBody>
          <a:bodyPr/>
          <a:lstStyle/>
          <a:p>
            <a:r>
              <a:rPr lang="en-US" dirty="0"/>
              <a:t>Data Zone Batch</a:t>
            </a:r>
          </a:p>
          <a:p>
            <a:r>
              <a:rPr lang="en-US" dirty="0"/>
              <a:t>Global Standard</a:t>
            </a:r>
          </a:p>
          <a:p>
            <a:r>
              <a:rPr lang="en-US" dirty="0"/>
              <a:t>Developer</a:t>
            </a:r>
          </a:p>
        </p:txBody>
      </p:sp>
      <p:sp>
        <p:nvSpPr>
          <p:cNvPr id="76" name="Oval 75">
            <a:extLst>
              <a:ext uri="{FF2B5EF4-FFF2-40B4-BE49-F238E27FC236}">
                <a16:creationId xmlns:a16="http://schemas.microsoft.com/office/drawing/2014/main" id="{07F1BA9A-CC31-3253-B6E7-A2D3530AF758}"/>
              </a:ext>
              <a:ext uri="{C183D7F6-B498-43B3-948B-1728B52AA6E4}">
                <adec:decorative xmlns:adec="http://schemas.microsoft.com/office/drawing/2017/decorative" val="1"/>
              </a:ext>
            </a:extLst>
          </p:cNvPr>
          <p:cNvSpPr>
            <a:spLocks/>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7C86F1EF-EB93-1615-D825-F2A6A9CEF900}"/>
              </a:ext>
              <a:ext uri="{C183D7F6-B498-43B3-948B-1728B52AA6E4}">
                <adec:decorative xmlns:adec="http://schemas.microsoft.com/office/drawing/2017/decorative" val="1"/>
              </a:ext>
            </a:extLst>
          </p:cNvPr>
          <p:cNvSpPr>
            <a:spLocks/>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C6847B20-2286-9441-A1D7-368DFE26DCB4}"/>
              </a:ext>
              <a:ext uri="{C183D7F6-B498-43B3-948B-1728B52AA6E4}">
                <adec:decorative xmlns:adec="http://schemas.microsoft.com/office/drawing/2017/decorative" val="1"/>
              </a:ext>
            </a:extLst>
          </p:cNvPr>
          <p:cNvSpPr>
            <a:spLocks/>
          </p:cNvSpPr>
          <p:nvPr/>
        </p:nvSpPr>
        <p:spPr>
          <a:xfrm>
            <a:off x="1263852" y="374498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B2E4288B-435F-52DB-6CDD-4A7E8025C24C}"/>
              </a:ext>
              <a:ext uri="{C183D7F6-B498-43B3-948B-1728B52AA6E4}">
                <adec:decorative xmlns:adec="http://schemas.microsoft.com/office/drawing/2017/decorative" val="1"/>
              </a:ext>
            </a:extLst>
          </p:cNvPr>
          <p:cNvSpPr>
            <a:spLocks/>
          </p:cNvSpPr>
          <p:nvPr/>
        </p:nvSpPr>
        <p:spPr>
          <a:xfrm>
            <a:off x="1263852" y="27580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6246456-34D6-0AB0-9EC6-AF241348E73C}"/>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Text Placeholder 27">
            <a:extLst>
              <a:ext uri="{FF2B5EF4-FFF2-40B4-BE49-F238E27FC236}">
                <a16:creationId xmlns:a16="http://schemas.microsoft.com/office/drawing/2014/main" id="{EA896F0A-E7F6-63D9-FC73-3BE95AF6DC9A}"/>
              </a:ext>
            </a:extLst>
          </p:cNvPr>
          <p:cNvSpPr>
            <a:spLocks noGrp="1"/>
          </p:cNvSpPr>
          <p:nvPr>
            <p:ph type="body" sz="quarter" idx="20"/>
          </p:nvPr>
        </p:nvSpPr>
        <p:spPr>
          <a:xfrm>
            <a:off x="1235075" y="4418761"/>
            <a:ext cx="8778782" cy="215444"/>
          </a:xfrm>
        </p:spPr>
        <p:txBody>
          <a:bodyPr/>
          <a:lstStyle/>
          <a:p>
            <a:r>
              <a:rPr lang="en-US" dirty="0"/>
              <a:t>Which evaluation metric measures linguistic correctness and natural language quality?</a:t>
            </a:r>
          </a:p>
        </p:txBody>
      </p:sp>
      <p:sp>
        <p:nvSpPr>
          <p:cNvPr id="6" name="Text Placeholder 28">
            <a:extLst>
              <a:ext uri="{FF2B5EF4-FFF2-40B4-BE49-F238E27FC236}">
                <a16:creationId xmlns:a16="http://schemas.microsoft.com/office/drawing/2014/main" id="{3721EB0F-A5DD-71EA-9E70-1F7462C2C15D}"/>
              </a:ext>
            </a:extLst>
          </p:cNvPr>
          <p:cNvSpPr>
            <a:spLocks noGrp="1"/>
          </p:cNvSpPr>
          <p:nvPr>
            <p:ph type="body" sz="quarter" idx="21"/>
          </p:nvPr>
        </p:nvSpPr>
        <p:spPr>
          <a:xfrm>
            <a:off x="1235075" y="4713285"/>
            <a:ext cx="8775700" cy="732508"/>
          </a:xfrm>
        </p:spPr>
        <p:txBody>
          <a:bodyPr/>
          <a:lstStyle/>
          <a:p>
            <a:r>
              <a:rPr lang="en-US" sz="1400" dirty="0"/>
              <a:t>Fluency</a:t>
            </a:r>
          </a:p>
          <a:p>
            <a:r>
              <a:rPr lang="en-US" sz="1400" dirty="0" err="1"/>
              <a:t>Groundedness</a:t>
            </a:r>
            <a:endParaRPr lang="en-US" sz="1400" dirty="0"/>
          </a:p>
          <a:p>
            <a:r>
              <a:rPr lang="en-US" sz="1400" dirty="0"/>
              <a:t>Relevance</a:t>
            </a:r>
          </a:p>
        </p:txBody>
      </p:sp>
      <p:sp>
        <p:nvSpPr>
          <p:cNvPr id="7" name="Graphic 26" descr="Checkmark">
            <a:extLst>
              <a:ext uri="{FF2B5EF4-FFF2-40B4-BE49-F238E27FC236}">
                <a16:creationId xmlns:a16="http://schemas.microsoft.com/office/drawing/2014/main" id="{02225CEA-8958-27A0-0B8B-7F7B5B983AA9}"/>
              </a:ext>
            </a:extLst>
          </p:cNvPr>
          <p:cNvSpPr/>
          <p:nvPr/>
        </p:nvSpPr>
        <p:spPr>
          <a:xfrm>
            <a:off x="1263852" y="4764028"/>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1639C985-EE75-9128-3503-96485D99AF9A}"/>
              </a:ext>
              <a:ext uri="{C183D7F6-B498-43B3-948B-1728B52AA6E4}">
                <adec:decorative xmlns:adec="http://schemas.microsoft.com/office/drawing/2017/decorative" val="1"/>
              </a:ext>
            </a:extLst>
          </p:cNvPr>
          <p:cNvSpPr>
            <a:spLocks/>
          </p:cNvSpPr>
          <p:nvPr/>
        </p:nvSpPr>
        <p:spPr bwMode="auto">
          <a:xfrm>
            <a:off x="722582" y="439390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3337253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DCE98-7A82-D49C-816F-1CE84854D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03749-0527-C55D-E5D7-199CCB4A0E98}"/>
              </a:ext>
            </a:extLst>
          </p:cNvPr>
          <p:cNvSpPr>
            <a:spLocks noGrp="1"/>
          </p:cNvSpPr>
          <p:nvPr>
            <p:ph type="title"/>
          </p:nvPr>
        </p:nvSpPr>
        <p:spPr>
          <a:xfrm>
            <a:off x="569911" y="2769057"/>
            <a:ext cx="6345239" cy="1231106"/>
          </a:xfrm>
        </p:spPr>
        <p:txBody>
          <a:bodyPr/>
          <a:lstStyle/>
          <a:p>
            <a:r>
              <a:rPr lang="en-US" noProof="0" dirty="0"/>
              <a:t>Develop a generative AI chat app with Microsoft Foundry</a:t>
            </a:r>
          </a:p>
        </p:txBody>
      </p:sp>
      <p:sp>
        <p:nvSpPr>
          <p:cNvPr id="4" name="TextBox 3">
            <a:extLst>
              <a:ext uri="{FF2B5EF4-FFF2-40B4-BE49-F238E27FC236}">
                <a16:creationId xmlns:a16="http://schemas.microsoft.com/office/drawing/2014/main" id="{5F3695D7-5F8A-3684-71FA-756306F42824}"/>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https://aka.ms/mslearn-develop-chat</a:t>
            </a:r>
          </a:p>
        </p:txBody>
      </p:sp>
    </p:spTree>
    <p:extLst>
      <p:ext uri="{BB962C8B-B14F-4D97-AF65-F5344CB8AC3E}">
        <p14:creationId xmlns:p14="http://schemas.microsoft.com/office/powerpoint/2010/main" val="3785264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3D0D4-7875-B44E-A5A0-E22AEF6A6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656F8-3D22-A0BA-7FB9-FBC96F3D495A}"/>
              </a:ext>
            </a:extLst>
          </p:cNvPr>
          <p:cNvSpPr>
            <a:spLocks noGrp="1"/>
          </p:cNvSpPr>
          <p:nvPr>
            <p:ph type="title"/>
          </p:nvPr>
        </p:nvSpPr>
        <p:spPr>
          <a:xfrm>
            <a:off x="588262" y="585216"/>
            <a:ext cx="8193024" cy="492443"/>
          </a:xfrm>
        </p:spPr>
        <p:txBody>
          <a:bodyPr/>
          <a:lstStyle/>
          <a:p>
            <a:r>
              <a:rPr lang="en-US" sz="3200" dirty="0"/>
              <a:t>Explore with the model playground</a:t>
            </a:r>
          </a:p>
        </p:txBody>
      </p:sp>
      <p:pic>
        <p:nvPicPr>
          <p:cNvPr id="23" name="Picture 22" descr="Screenshot of Microsoft Foundry interface showing a workspace for building and testing an AI assistant named &quot;gpt-5.2-chat.&quot; Left panel contains instructions and tools for model connection, while right panel displays a chat window with a prompt asking, &quot;What do you want to chat about?&quot; and a note about potential AI-generated content inaccuracies.">
            <a:extLst>
              <a:ext uri="{FF2B5EF4-FFF2-40B4-BE49-F238E27FC236}">
                <a16:creationId xmlns:a16="http://schemas.microsoft.com/office/drawing/2014/main" id="{2668EBC4-7ADA-0781-6FF6-B22AC821E51C}"/>
              </a:ext>
            </a:extLst>
          </p:cNvPr>
          <p:cNvPicPr>
            <a:picLocks noChangeAspect="1"/>
          </p:cNvPicPr>
          <p:nvPr/>
        </p:nvPicPr>
        <p:blipFill>
          <a:blip r:embed="rId3"/>
          <a:srcRect/>
          <a:stretch/>
        </p:blipFill>
        <p:spPr>
          <a:xfrm>
            <a:off x="5188857" y="1355084"/>
            <a:ext cx="6792685" cy="4610835"/>
          </a:xfrm>
          <a:prstGeom prst="rect">
            <a:avLst/>
          </a:prstGeom>
        </p:spPr>
      </p:pic>
      <p:sp>
        <p:nvSpPr>
          <p:cNvPr id="26" name="Text Placeholder 44">
            <a:extLst>
              <a:ext uri="{FF2B5EF4-FFF2-40B4-BE49-F238E27FC236}">
                <a16:creationId xmlns:a16="http://schemas.microsoft.com/office/drawing/2014/main" id="{A0A056A4-6620-FC01-2F25-ED3ADAA6007B}"/>
              </a:ext>
            </a:extLst>
          </p:cNvPr>
          <p:cNvSpPr txBox="1">
            <a:spLocks/>
          </p:cNvSpPr>
          <p:nvPr/>
        </p:nvSpPr>
        <p:spPr>
          <a:xfrm>
            <a:off x="638440" y="1471541"/>
            <a:ext cx="4278086" cy="391491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Interactive model testing </a:t>
            </a:r>
          </a:p>
          <a:p>
            <a:r>
              <a:rPr lang="en-US" dirty="0"/>
              <a:t>Send prompts to deployed models and see responses in real time</a:t>
            </a:r>
          </a:p>
          <a:p>
            <a:r>
              <a:rPr lang="en-US" dirty="0"/>
              <a:t>Adjust settings like temperature and max tokens</a:t>
            </a:r>
          </a:p>
          <a:p>
            <a:r>
              <a:rPr lang="en-US" dirty="0"/>
              <a:t>Add system messages to customize model behavior</a:t>
            </a:r>
          </a:p>
          <a:p>
            <a:r>
              <a:rPr lang="en-US" dirty="0"/>
              <a:t>Experiment with different models and configurations</a:t>
            </a:r>
          </a:p>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Sample code</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1600" dirty="0">
                <a:solidFill>
                  <a:srgbClr val="000000"/>
                </a:solidFill>
                <a:latin typeface="Segoe UI"/>
                <a:cs typeface="Segoe UI" panose="020B0502040204020203" pitchFamily="34" charset="0"/>
              </a:rPr>
              <a:t>View code samples based on</a:t>
            </a:r>
            <a:r>
              <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t>
            </a:r>
          </a:p>
          <a:p>
            <a:pPr lvl="2" indent="-128016">
              <a:defRPr/>
            </a:pPr>
            <a:r>
              <a:rPr kumimoji="0" lang="en-US" sz="14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API (</a:t>
            </a:r>
            <a:r>
              <a:rPr kumimoji="0" lang="en-US" sz="1400" b="0" i="1" u="none" strike="noStrike" kern="1200" cap="none" spc="0" normalizeH="0" baseline="0" noProof="0" dirty="0" err="1">
                <a:ln>
                  <a:noFill/>
                </a:ln>
                <a:solidFill>
                  <a:srgbClr val="000000"/>
                </a:solidFill>
                <a:effectLst/>
                <a:uLnTx/>
                <a:uFillTx/>
                <a:latin typeface="Segoe UI"/>
                <a:ea typeface="+mn-ea"/>
                <a:cs typeface="Segoe UI" panose="020B0502040204020203" pitchFamily="34" charset="0"/>
              </a:rPr>
              <a:t>ChatCompletions</a:t>
            </a:r>
            <a:r>
              <a:rPr kumimoji="0" lang="en-US" sz="14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a:t>
            </a:r>
            <a:r>
              <a:rPr kumimoji="0" lang="en-US" sz="14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Responses</a:t>
            </a:r>
            <a:r>
              <a:rPr kumimoji="0" lang="en-US" sz="14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t>
            </a:r>
          </a:p>
          <a:p>
            <a:pPr lvl="2" indent="-128016">
              <a:defRPr/>
            </a:pPr>
            <a:r>
              <a:rPr kumimoji="0" lang="en-US" sz="14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Programming language</a:t>
            </a:r>
          </a:p>
          <a:p>
            <a:pPr lvl="2" indent="-128016">
              <a:defRPr/>
            </a:pPr>
            <a:r>
              <a:rPr kumimoji="0" lang="en-US" sz="14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REST or SDK</a:t>
            </a:r>
          </a:p>
        </p:txBody>
      </p:sp>
    </p:spTree>
    <p:extLst>
      <p:ext uri="{BB962C8B-B14F-4D97-AF65-F5344CB8AC3E}">
        <p14:creationId xmlns:p14="http://schemas.microsoft.com/office/powerpoint/2010/main" val="296982153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12A5-7FED-D8A6-BA2B-27A2A4E02CAF}"/>
              </a:ext>
            </a:extLst>
          </p:cNvPr>
          <p:cNvSpPr>
            <a:spLocks noGrp="1"/>
          </p:cNvSpPr>
          <p:nvPr>
            <p:ph type="title"/>
          </p:nvPr>
        </p:nvSpPr>
        <p:spPr>
          <a:xfrm>
            <a:off x="588262" y="585216"/>
            <a:ext cx="8193024" cy="492443"/>
          </a:xfrm>
        </p:spPr>
        <p:txBody>
          <a:bodyPr/>
          <a:lstStyle/>
          <a:p>
            <a:r>
              <a:rPr lang="en-US" sz="3200" b="1" dirty="0"/>
              <a:t>Choosing an endpoint and SDK</a:t>
            </a:r>
            <a:endParaRPr lang="en-US" sz="3200" dirty="0"/>
          </a:p>
        </p:txBody>
      </p:sp>
      <p:sp>
        <p:nvSpPr>
          <p:cNvPr id="3" name="Footer Placeholder 2">
            <a:extLst>
              <a:ext uri="{FF2B5EF4-FFF2-40B4-BE49-F238E27FC236}">
                <a16:creationId xmlns:a16="http://schemas.microsoft.com/office/drawing/2014/main" id="{3D98A50C-9CB6-6FBC-C44C-0FE44FDEED8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aphicFrame>
        <p:nvGraphicFramePr>
          <p:cNvPr id="4" name="Table 3">
            <a:extLst>
              <a:ext uri="{FF2B5EF4-FFF2-40B4-BE49-F238E27FC236}">
                <a16:creationId xmlns:a16="http://schemas.microsoft.com/office/drawing/2014/main" id="{E0ADD8CB-F483-E0FF-F0F9-F6BF8D12E589}"/>
              </a:ext>
            </a:extLst>
          </p:cNvPr>
          <p:cNvGraphicFramePr>
            <a:graphicFrameLocks noGrp="1"/>
          </p:cNvGraphicFramePr>
          <p:nvPr>
            <p:extLst>
              <p:ext uri="{D42A27DB-BD31-4B8C-83A1-F6EECF244321}">
                <p14:modId xmlns:p14="http://schemas.microsoft.com/office/powerpoint/2010/main" val="1964397308"/>
              </p:ext>
            </p:extLst>
          </p:nvPr>
        </p:nvGraphicFramePr>
        <p:xfrm>
          <a:off x="588262" y="1243584"/>
          <a:ext cx="10917939" cy="4922520"/>
        </p:xfrm>
        <a:graphic>
          <a:graphicData uri="http://schemas.openxmlformats.org/drawingml/2006/table">
            <a:tbl>
              <a:tblPr bandRow="1">
                <a:tableStyleId>{72833802-FEF1-4C79-8D5D-14CF1EAF98D9}</a:tableStyleId>
              </a:tblPr>
              <a:tblGrid>
                <a:gridCol w="1926338">
                  <a:extLst>
                    <a:ext uri="{9D8B030D-6E8A-4147-A177-3AD203B41FA5}">
                      <a16:colId xmlns:a16="http://schemas.microsoft.com/office/drawing/2014/main" val="1040516807"/>
                    </a:ext>
                  </a:extLst>
                </a:gridCol>
                <a:gridCol w="4419600">
                  <a:extLst>
                    <a:ext uri="{9D8B030D-6E8A-4147-A177-3AD203B41FA5}">
                      <a16:colId xmlns:a16="http://schemas.microsoft.com/office/drawing/2014/main" val="4227747407"/>
                    </a:ext>
                  </a:extLst>
                </a:gridCol>
                <a:gridCol w="4572001">
                  <a:extLst>
                    <a:ext uri="{9D8B030D-6E8A-4147-A177-3AD203B41FA5}">
                      <a16:colId xmlns:a16="http://schemas.microsoft.com/office/drawing/2014/main" val="2205135941"/>
                    </a:ext>
                  </a:extLst>
                </a:gridCol>
              </a:tblGrid>
              <a:tr h="370840">
                <a:tc>
                  <a:txBody>
                    <a:bodyPr/>
                    <a:lstStyle/>
                    <a:p>
                      <a:r>
                        <a:rPr lang="en-US" b="1" dirty="0"/>
                        <a:t>Endpoint</a:t>
                      </a:r>
                      <a:endParaRPr lang="en-US" b="1" dirty="0">
                        <a:latin typeface="+mj-lt"/>
                      </a:endParaRPr>
                    </a:p>
                  </a:txBody>
                  <a:tcPr/>
                </a:tc>
                <a:tc>
                  <a:txBody>
                    <a:bodyPr/>
                    <a:lstStyle/>
                    <a:p>
                      <a:r>
                        <a:rPr lang="en-US" dirty="0"/>
                        <a:t>Foundry Project</a:t>
                      </a:r>
                    </a:p>
                    <a:p>
                      <a:r>
                        <a:rPr kumimoji="0" lang="en-US" sz="1000" b="0" u="none" strike="noStrike" kern="1200" cap="none" spc="0" normalizeH="0" baseline="0" noProof="0" dirty="0">
                          <a:ln>
                            <a:noFill/>
                          </a:ln>
                          <a:solidFill>
                            <a:srgbClr val="000000"/>
                          </a:solidFill>
                          <a:effectLst/>
                          <a:uLnTx/>
                          <a:uFillTx/>
                        </a:rPr>
                        <a:t>https://{resource-name}.services.ai.azure.com/api/projects/{project-name}</a:t>
                      </a:r>
                      <a:endParaRPr lang="en-US" sz="2000" dirty="0"/>
                    </a:p>
                  </a:txBody>
                  <a:tcPr/>
                </a:tc>
                <a:tc>
                  <a:txBody>
                    <a:bodyPr/>
                    <a:lstStyle/>
                    <a:p>
                      <a:r>
                        <a:rPr lang="en-US" dirty="0"/>
                        <a:t>Azure OpenAI</a:t>
                      </a:r>
                    </a:p>
                    <a:p>
                      <a:pPr marL="0" algn="l" defTabSz="932742" rtl="0" eaLnBrk="1" latinLnBrk="0" hangingPunct="1"/>
                      <a:r>
                        <a:rPr kumimoji="0" lang="en-US" sz="1000" b="0" u="none" strike="noStrike" kern="1200" cap="none" spc="0" normalizeH="0" baseline="0" dirty="0">
                          <a:ln>
                            <a:noFill/>
                          </a:ln>
                          <a:solidFill>
                            <a:srgbClr val="000000"/>
                          </a:solidFill>
                          <a:effectLst/>
                          <a:uLnTx/>
                          <a:uFillTx/>
                        </a:rPr>
                        <a:t>https://{resource-name}.openai.azure.com/openai/v1</a:t>
                      </a:r>
                      <a:endParaRPr kumimoji="0" lang="en-US" sz="1000" b="0" i="0" u="none" strike="noStrike" kern="1200" cap="none" spc="0" normalizeH="0" baseline="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2413255101"/>
                  </a:ext>
                </a:extLst>
              </a:tr>
              <a:tr h="370840">
                <a:tc>
                  <a:txBody>
                    <a:bodyPr/>
                    <a:lstStyle/>
                    <a:p>
                      <a:r>
                        <a:rPr lang="en-US" b="1" dirty="0"/>
                        <a:t>SDK</a:t>
                      </a:r>
                      <a:endParaRPr lang="en-US" b="1" dirty="0">
                        <a:latin typeface="+mj-lt"/>
                      </a:endParaRPr>
                    </a:p>
                  </a:txBody>
                  <a:tcPr/>
                </a:tc>
                <a:tc>
                  <a:txBody>
                    <a:bodyPr/>
                    <a:lstStyle/>
                    <a:p>
                      <a:r>
                        <a:rPr lang="en-US" sz="1800" kern="1200" dirty="0">
                          <a:solidFill>
                            <a:schemeClr val="tx1"/>
                          </a:solidFill>
                        </a:rPr>
                        <a:t>Microsoft Foundry SDK</a:t>
                      </a:r>
                    </a:p>
                    <a:p>
                      <a:pPr marL="0" algn="l" defTabSz="932742" rtl="0" eaLnBrk="1" latinLnBrk="0" hangingPunct="1"/>
                      <a:r>
                        <a:rPr kumimoji="0" lang="en-US" sz="1000" b="0" u="none" strike="noStrike" kern="1200" cap="none" spc="0" normalizeH="0" baseline="0" dirty="0">
                          <a:ln>
                            <a:noFill/>
                          </a:ln>
                          <a:solidFill>
                            <a:srgbClr val="000000"/>
                          </a:solidFill>
                          <a:effectLst/>
                          <a:uLnTx/>
                          <a:uFillTx/>
                        </a:rPr>
                        <a:t>pip install azure-ai-projects </a:t>
                      </a:r>
                      <a:r>
                        <a:rPr kumimoji="0" lang="en-US" sz="1000" b="0" u="none" strike="noStrike" kern="1200" cap="none" spc="0" normalizeH="0" baseline="0" dirty="0" err="1">
                          <a:ln>
                            <a:noFill/>
                          </a:ln>
                          <a:solidFill>
                            <a:srgbClr val="000000"/>
                          </a:solidFill>
                          <a:effectLst/>
                          <a:uLnTx/>
                          <a:uFillTx/>
                        </a:rPr>
                        <a:t>openai</a:t>
                      </a:r>
                      <a:endParaRPr kumimoji="0" lang="en-US" sz="1000" b="0" i="0" u="none" strike="noStrike" kern="1200" cap="none" spc="0" normalizeH="0" baseline="0" dirty="0">
                        <a:ln>
                          <a:noFill/>
                        </a:ln>
                        <a:solidFill>
                          <a:srgbClr val="000000"/>
                        </a:solidFill>
                        <a:effectLst/>
                        <a:uLnTx/>
                        <a:uFillTx/>
                        <a:latin typeface="+mn-lt"/>
                        <a:ea typeface="+mn-ea"/>
                        <a:cs typeface="+mn-cs"/>
                      </a:endParaRPr>
                    </a:p>
                  </a:txBody>
                  <a:tcPr/>
                </a:tc>
                <a:tc>
                  <a:txBody>
                    <a:bodyPr/>
                    <a:lstStyle/>
                    <a:p>
                      <a:r>
                        <a:rPr lang="en-US" dirty="0"/>
                        <a:t>OpenAI SDK</a:t>
                      </a:r>
                    </a:p>
                    <a:p>
                      <a:r>
                        <a:rPr kumimoji="0" lang="en-US" sz="1000" b="0" u="none" strike="noStrike" kern="1200" cap="none" spc="0" normalizeH="0" baseline="0" noProof="0" dirty="0">
                          <a:ln>
                            <a:noFill/>
                          </a:ln>
                          <a:solidFill>
                            <a:srgbClr val="000000"/>
                          </a:solidFill>
                          <a:effectLst/>
                          <a:uLnTx/>
                          <a:uFillTx/>
                        </a:rPr>
                        <a:t>pip install </a:t>
                      </a:r>
                      <a:r>
                        <a:rPr kumimoji="0" lang="en-US" sz="1000" b="0" u="none" strike="noStrike" kern="1200" cap="none" spc="0" normalizeH="0" baseline="0" noProof="0" dirty="0" err="1">
                          <a:ln>
                            <a:noFill/>
                          </a:ln>
                          <a:solidFill>
                            <a:srgbClr val="000000"/>
                          </a:solidFill>
                          <a:effectLst/>
                          <a:uLnTx/>
                          <a:uFillTx/>
                        </a:rPr>
                        <a:t>openai</a:t>
                      </a:r>
                      <a:endParaRPr lang="en-US" sz="2000" dirty="0"/>
                    </a:p>
                  </a:txBody>
                  <a:tcPr/>
                </a:tc>
                <a:extLst>
                  <a:ext uri="{0D108BD9-81ED-4DB2-BD59-A6C34878D82A}">
                    <a16:rowId xmlns:a16="http://schemas.microsoft.com/office/drawing/2014/main" val="1661460355"/>
                  </a:ext>
                </a:extLst>
              </a:tr>
              <a:tr h="370840">
                <a:tc>
                  <a:txBody>
                    <a:bodyPr/>
                    <a:lstStyle/>
                    <a:p>
                      <a:r>
                        <a:rPr lang="en-US" b="1" dirty="0"/>
                        <a:t>Authentication</a:t>
                      </a:r>
                      <a:endParaRPr lang="en-US" b="1" dirty="0">
                        <a:latin typeface="+mj-lt"/>
                      </a:endParaRPr>
                    </a:p>
                  </a:txBody>
                  <a:tcPr/>
                </a:tc>
                <a:tc>
                  <a:txBody>
                    <a:bodyPr/>
                    <a:lstStyle/>
                    <a:p>
                      <a:r>
                        <a:rPr lang="en-US" dirty="0"/>
                        <a:t>Microsoft Entra ID</a:t>
                      </a:r>
                    </a:p>
                    <a:p>
                      <a:r>
                        <a:rPr kumimoji="0" lang="en-US" sz="1000" b="0" u="none" strike="noStrike" kern="1200" cap="none" spc="0" normalizeH="0" baseline="0" noProof="0" dirty="0">
                          <a:ln>
                            <a:noFill/>
                          </a:ln>
                          <a:solidFill>
                            <a:srgbClr val="000000"/>
                          </a:solidFill>
                          <a:effectLst/>
                          <a:uLnTx/>
                          <a:uFillTx/>
                        </a:rPr>
                        <a:t>pip install azure-identity</a:t>
                      </a:r>
                      <a:endParaRPr lang="en-US" sz="2000" dirty="0"/>
                    </a:p>
                  </a:txBody>
                  <a:tcPr/>
                </a:tc>
                <a:tc>
                  <a:txBody>
                    <a:bodyPr/>
                    <a:lstStyle/>
                    <a:p>
                      <a:r>
                        <a:rPr lang="en-US" dirty="0"/>
                        <a:t>Microsoft Entra ID or API key</a:t>
                      </a:r>
                    </a:p>
                    <a:p>
                      <a:r>
                        <a:rPr kumimoji="0" lang="en-US" sz="1000" b="0" u="none" strike="noStrike" kern="1200" cap="none" spc="0" normalizeH="0" baseline="0" noProof="0" dirty="0">
                          <a:ln>
                            <a:noFill/>
                          </a:ln>
                          <a:solidFill>
                            <a:srgbClr val="000000"/>
                          </a:solidFill>
                          <a:effectLst/>
                          <a:uLnTx/>
                          <a:uFillTx/>
                        </a:rPr>
                        <a:t>pip install azure-identity</a:t>
                      </a:r>
                      <a:endParaRPr lang="en-US" sz="2000" dirty="0"/>
                    </a:p>
                  </a:txBody>
                  <a:tcPr/>
                </a:tc>
                <a:extLst>
                  <a:ext uri="{0D108BD9-81ED-4DB2-BD59-A6C34878D82A}">
                    <a16:rowId xmlns:a16="http://schemas.microsoft.com/office/drawing/2014/main" val="811091953"/>
                  </a:ext>
                </a:extLst>
              </a:tr>
              <a:tr h="370840">
                <a:tc>
                  <a:txBody>
                    <a:bodyPr/>
                    <a:lstStyle/>
                    <a:p>
                      <a:r>
                        <a:rPr lang="en-US" b="1" dirty="0"/>
                        <a:t>Chat API</a:t>
                      </a:r>
                      <a:endParaRPr lang="en-US" b="1" dirty="0">
                        <a:latin typeface="+mj-lt"/>
                      </a:endParaRPr>
                    </a:p>
                  </a:txBody>
                  <a:tcPr/>
                </a:tc>
                <a:tc>
                  <a:txBody>
                    <a:bodyPr/>
                    <a:lstStyle/>
                    <a:p>
                      <a:r>
                        <a:rPr lang="en-US" dirty="0"/>
                        <a:t>Responses API</a:t>
                      </a:r>
                    </a:p>
                    <a:p>
                      <a:pPr marL="0" algn="l" defTabSz="932742" rtl="0" eaLnBrk="1" latinLnBrk="0" hangingPunct="1"/>
                      <a:r>
                        <a:rPr kumimoji="0" lang="en-US" sz="900" b="0" u="none" strike="noStrike" kern="1200" cap="none" spc="0" normalizeH="0" baseline="0" dirty="0">
                          <a:ln>
                            <a:noFill/>
                          </a:ln>
                          <a:solidFill>
                            <a:srgbClr val="000000"/>
                          </a:solidFill>
                          <a:effectLst/>
                          <a:uLnTx/>
                          <a:uFillTx/>
                        </a:rPr>
                        <a:t>Foundry direct models only</a:t>
                      </a:r>
                      <a:endParaRPr kumimoji="0" lang="en-US" sz="900" b="0" i="0" u="none" strike="noStrike" kern="1200" cap="none" spc="0" normalizeH="0" baseline="0" dirty="0">
                        <a:ln>
                          <a:noFill/>
                        </a:ln>
                        <a:solidFill>
                          <a:srgbClr val="000000"/>
                        </a:solidFill>
                        <a:effectLst/>
                        <a:uLnTx/>
                        <a:uFillTx/>
                        <a:latin typeface="+mn-lt"/>
                        <a:ea typeface="+mn-ea"/>
                        <a:cs typeface="+mn-cs"/>
                      </a:endParaRPr>
                    </a:p>
                  </a:txBody>
                  <a:tcPr/>
                </a:tc>
                <a:tc>
                  <a:txBody>
                    <a:bodyPr/>
                    <a:lstStyle/>
                    <a:p>
                      <a:r>
                        <a:rPr lang="en-US" dirty="0"/>
                        <a:t>Responses or </a:t>
                      </a:r>
                      <a:r>
                        <a:rPr lang="en-US" dirty="0" err="1"/>
                        <a:t>ChatCompletions</a:t>
                      </a:r>
                      <a:r>
                        <a:rPr lang="en-US" dirty="0"/>
                        <a:t> API</a:t>
                      </a:r>
                    </a:p>
                    <a:p>
                      <a:r>
                        <a:rPr kumimoji="0" lang="en-US" sz="1000" b="0" u="none" strike="noStrike" kern="1200" cap="none" spc="0" normalizeH="0" baseline="0" noProof="0" dirty="0">
                          <a:ln>
                            <a:noFill/>
                          </a:ln>
                          <a:solidFill>
                            <a:srgbClr val="000000"/>
                          </a:solidFill>
                          <a:effectLst/>
                          <a:uLnTx/>
                          <a:uFillTx/>
                        </a:rPr>
                        <a:t>All Foundry models</a:t>
                      </a:r>
                      <a:endParaRPr lang="en-US" i="1" dirty="0"/>
                    </a:p>
                  </a:txBody>
                  <a:tcPr/>
                </a:tc>
                <a:extLst>
                  <a:ext uri="{0D108BD9-81ED-4DB2-BD59-A6C34878D82A}">
                    <a16:rowId xmlns:a16="http://schemas.microsoft.com/office/drawing/2014/main" val="2131162354"/>
                  </a:ext>
                </a:extLst>
              </a:tr>
              <a:tr h="370840">
                <a:tc>
                  <a:txBody>
                    <a:bodyPr/>
                    <a:lstStyle/>
                    <a:p>
                      <a:r>
                        <a:rPr lang="en-US" b="1" dirty="0"/>
                        <a:t>Best for</a:t>
                      </a:r>
                      <a:endParaRPr lang="en-US" b="1" dirty="0">
                        <a:latin typeface="+mj-lt"/>
                      </a:endParaRPr>
                    </a:p>
                  </a:txBody>
                  <a:tcPr/>
                </a:tc>
                <a:tc>
                  <a:txBody>
                    <a:bodyPr/>
                    <a:lstStyle/>
                    <a:p>
                      <a:pPr marL="0" algn="l" defTabSz="932742" rtl="0" eaLnBrk="1" latinLnBrk="0" hangingPunct="1"/>
                      <a:r>
                        <a:rPr lang="en-US" sz="1800" kern="1200" dirty="0">
                          <a:solidFill>
                            <a:schemeClr val="tx1"/>
                          </a:solidFill>
                        </a:rPr>
                        <a:t>Foundry-specific capabilities with OpenAI-compatible interfaces for Foundry direct models</a:t>
                      </a:r>
                      <a:endParaRPr lang="en-US" sz="1800" kern="1200" dirty="0">
                        <a:solidFill>
                          <a:schemeClr val="tx1"/>
                        </a:solidFill>
                        <a:latin typeface="+mn-lt"/>
                        <a:ea typeface="+mn-ea"/>
                        <a:cs typeface="+mn-cs"/>
                      </a:endParaRPr>
                    </a:p>
                  </a:txBody>
                  <a:tcPr/>
                </a:tc>
                <a:tc>
                  <a:txBody>
                    <a:bodyPr/>
                    <a:lstStyle/>
                    <a:p>
                      <a:r>
                        <a:rPr lang="en-US" dirty="0"/>
                        <a:t>Latest OpenAI SDK models and features with the full OpenAI API surface</a:t>
                      </a:r>
                      <a:endParaRPr lang="en-US" i="0" dirty="0"/>
                    </a:p>
                  </a:txBody>
                  <a:tcPr/>
                </a:tc>
                <a:extLst>
                  <a:ext uri="{0D108BD9-81ED-4DB2-BD59-A6C34878D82A}">
                    <a16:rowId xmlns:a16="http://schemas.microsoft.com/office/drawing/2014/main" val="423261746"/>
                  </a:ext>
                </a:extLst>
              </a:tr>
              <a:tr h="370840">
                <a:tc>
                  <a:txBody>
                    <a:bodyPr/>
                    <a:lstStyle/>
                    <a:p>
                      <a:endParaRPr lang="en-US" b="0" dirty="0">
                        <a:latin typeface="+mj-lt"/>
                      </a:endParaRPr>
                    </a:p>
                  </a:txBody>
                  <a:tcPr/>
                </a:tc>
                <a:tc>
                  <a:txBody>
                    <a:bodyPr/>
                    <a:lstStyle/>
                    <a:p>
                      <a:pPr marL="0" algn="l" defTabSz="932742" rtl="0" eaLnBrk="1" latinLnBrk="0" hangingPunct="1"/>
                      <a:r>
                        <a:rPr lang="en-US" sz="1100" kern="1200" dirty="0">
                          <a:solidFill>
                            <a:schemeClr val="tx1"/>
                          </a:solidFill>
                        </a:rPr>
                        <a:t>from </a:t>
                      </a:r>
                      <a:r>
                        <a:rPr lang="en-US" sz="1100" kern="1200" dirty="0" err="1">
                          <a:solidFill>
                            <a:schemeClr val="tx1"/>
                          </a:solidFill>
                        </a:rPr>
                        <a:t>azure.identity</a:t>
                      </a:r>
                      <a:r>
                        <a:rPr lang="en-US" sz="1100" kern="1200" dirty="0">
                          <a:solidFill>
                            <a:schemeClr val="tx1"/>
                          </a:solidFill>
                        </a:rPr>
                        <a:t> import </a:t>
                      </a:r>
                      <a:r>
                        <a:rPr lang="en-US" sz="1100" kern="1200" dirty="0" err="1">
                          <a:solidFill>
                            <a:schemeClr val="tx1"/>
                          </a:solidFill>
                        </a:rPr>
                        <a:t>DefaultAzureCredential</a:t>
                      </a:r>
                      <a:endParaRPr lang="en-US" sz="1100" kern="1200" dirty="0">
                        <a:solidFill>
                          <a:schemeClr val="tx1"/>
                        </a:solidFill>
                      </a:endParaRPr>
                    </a:p>
                    <a:p>
                      <a:pPr marL="0" algn="l" defTabSz="932742" rtl="0" eaLnBrk="1" latinLnBrk="0" hangingPunct="1"/>
                      <a:r>
                        <a:rPr lang="en-US" sz="1100" kern="1200" dirty="0">
                          <a:solidFill>
                            <a:schemeClr val="tx1"/>
                          </a:solidFill>
                        </a:rPr>
                        <a:t>from </a:t>
                      </a:r>
                      <a:r>
                        <a:rPr lang="en-US" sz="1100" kern="1200" dirty="0" err="1">
                          <a:solidFill>
                            <a:schemeClr val="tx1"/>
                          </a:solidFill>
                        </a:rPr>
                        <a:t>azure.ai.projects</a:t>
                      </a:r>
                      <a:r>
                        <a:rPr lang="en-US" sz="1100" kern="1200" dirty="0">
                          <a:solidFill>
                            <a:schemeClr val="tx1"/>
                          </a:solidFill>
                        </a:rPr>
                        <a:t> import </a:t>
                      </a:r>
                      <a:r>
                        <a:rPr lang="en-US" sz="1100" kern="1200" dirty="0" err="1">
                          <a:solidFill>
                            <a:schemeClr val="tx1"/>
                          </a:solidFill>
                        </a:rPr>
                        <a:t>AIProjectClient</a:t>
                      </a:r>
                      <a:endParaRPr lang="en-US" sz="1100" kern="1200" dirty="0">
                        <a:solidFill>
                          <a:schemeClr val="tx1"/>
                        </a:solidFill>
                      </a:endParaRPr>
                    </a:p>
                    <a:p>
                      <a:pPr marL="0" algn="l" defTabSz="932742" rtl="0" eaLnBrk="1" latinLnBrk="0" hangingPunct="1"/>
                      <a:r>
                        <a:rPr lang="en-US" sz="1100" kern="1200" dirty="0">
                          <a:solidFill>
                            <a:schemeClr val="tx1"/>
                          </a:solidFill>
                        </a:rPr>
                        <a:t>from </a:t>
                      </a:r>
                      <a:r>
                        <a:rPr lang="en-US" sz="1100" kern="1200" dirty="0" err="1">
                          <a:solidFill>
                            <a:schemeClr val="tx1"/>
                          </a:solidFill>
                        </a:rPr>
                        <a:t>openai</a:t>
                      </a:r>
                      <a:r>
                        <a:rPr lang="en-US" sz="1100" kern="1200" dirty="0">
                          <a:solidFill>
                            <a:schemeClr val="tx1"/>
                          </a:solidFill>
                        </a:rPr>
                        <a:t> import OpenAI</a:t>
                      </a:r>
                    </a:p>
                    <a:p>
                      <a:pPr marL="0" algn="l" defTabSz="932742" rtl="0" eaLnBrk="1" latinLnBrk="0" hangingPunct="1"/>
                      <a:endParaRPr lang="en-US" sz="1100" kern="1200" dirty="0">
                        <a:solidFill>
                          <a:schemeClr val="tx1"/>
                        </a:solidFill>
                      </a:endParaRPr>
                    </a:p>
                    <a:p>
                      <a:pPr marL="0" algn="l" defTabSz="932742" rtl="0" eaLnBrk="1" latinLnBrk="0" hangingPunct="1"/>
                      <a:r>
                        <a:rPr lang="en-US" sz="1100" kern="1200" dirty="0" err="1">
                          <a:solidFill>
                            <a:schemeClr val="tx1"/>
                          </a:solidFill>
                        </a:rPr>
                        <a:t>project_client</a:t>
                      </a:r>
                      <a:r>
                        <a:rPr lang="en-US" sz="1100" kern="1200" dirty="0">
                          <a:solidFill>
                            <a:schemeClr val="tx1"/>
                          </a:solidFill>
                        </a:rPr>
                        <a:t> = </a:t>
                      </a:r>
                      <a:r>
                        <a:rPr lang="en-US" sz="1100" kern="1200" dirty="0" err="1">
                          <a:solidFill>
                            <a:schemeClr val="tx1"/>
                          </a:solidFill>
                        </a:rPr>
                        <a:t>AIProjectClient</a:t>
                      </a:r>
                      <a:r>
                        <a:rPr lang="en-US" sz="1100" kern="1200" dirty="0">
                          <a:solidFill>
                            <a:schemeClr val="tx1"/>
                          </a:solidFill>
                        </a:rPr>
                        <a:t>(</a:t>
                      </a:r>
                    </a:p>
                    <a:p>
                      <a:pPr marL="0" algn="l" defTabSz="932742" rtl="0" eaLnBrk="1" latinLnBrk="0" hangingPunct="1"/>
                      <a:r>
                        <a:rPr lang="en-US" sz="1100" kern="1200" dirty="0">
                          <a:solidFill>
                            <a:schemeClr val="tx1"/>
                          </a:solidFill>
                        </a:rPr>
                        <a:t>    credential=</a:t>
                      </a:r>
                      <a:r>
                        <a:rPr lang="en-US" sz="1100" kern="1200" dirty="0" err="1">
                          <a:solidFill>
                            <a:schemeClr val="tx1"/>
                          </a:solidFill>
                        </a:rPr>
                        <a:t>DefaultAzureCredential</a:t>
                      </a:r>
                      <a:r>
                        <a:rPr lang="en-US" sz="1100" kern="1200" dirty="0">
                          <a:solidFill>
                            <a:schemeClr val="tx1"/>
                          </a:solidFill>
                        </a:rPr>
                        <a:t>(),</a:t>
                      </a:r>
                    </a:p>
                    <a:p>
                      <a:pPr marL="0" algn="l" defTabSz="932742" rtl="0" eaLnBrk="1" latinLnBrk="0" hangingPunct="1"/>
                      <a:r>
                        <a:rPr lang="en-US" sz="1100" kern="1200" dirty="0">
                          <a:solidFill>
                            <a:schemeClr val="tx1"/>
                          </a:solidFill>
                        </a:rPr>
                        <a:t>    endpoint=FOUNDRY_PROJECT_ENDPOINT)</a:t>
                      </a:r>
                    </a:p>
                    <a:p>
                      <a:pPr marL="0" algn="l" defTabSz="932742" rtl="0" eaLnBrk="1" latinLnBrk="0" hangingPunct="1"/>
                      <a:endParaRPr lang="en-US" sz="1100" kern="1200" dirty="0">
                        <a:solidFill>
                          <a:schemeClr val="tx1"/>
                        </a:solidFill>
                      </a:endParaRPr>
                    </a:p>
                    <a:p>
                      <a:pPr marL="0" algn="l" defTabSz="932742" rtl="0" eaLnBrk="1" latinLnBrk="0" hangingPunct="1"/>
                      <a:r>
                        <a:rPr lang="fr-FR" sz="1100" kern="1200" dirty="0" err="1">
                          <a:solidFill>
                            <a:schemeClr val="tx1"/>
                          </a:solidFill>
                        </a:rPr>
                        <a:t>openai_client</a:t>
                      </a:r>
                      <a:r>
                        <a:rPr lang="fr-FR" sz="1100" kern="1200" dirty="0">
                          <a:solidFill>
                            <a:schemeClr val="tx1"/>
                          </a:solidFill>
                        </a:rPr>
                        <a:t> = </a:t>
                      </a:r>
                      <a:r>
                        <a:rPr lang="fr-FR" sz="1100" kern="1200" dirty="0" err="1">
                          <a:solidFill>
                            <a:schemeClr val="tx1"/>
                          </a:solidFill>
                        </a:rPr>
                        <a:t>project_client.get_openai_client</a:t>
                      </a:r>
                      <a:r>
                        <a:rPr lang="fr-FR" sz="1100" kern="1200" dirty="0">
                          <a:solidFill>
                            <a:schemeClr val="tx1"/>
                          </a:solidFill>
                        </a:rPr>
                        <a:t>(</a:t>
                      </a:r>
                    </a:p>
                    <a:p>
                      <a:pPr marL="0" algn="l" defTabSz="932742" rtl="0" eaLnBrk="1" latinLnBrk="0" hangingPunct="1"/>
                      <a:r>
                        <a:rPr lang="fr-FR" sz="1100" kern="1200" dirty="0">
                          <a:solidFill>
                            <a:schemeClr val="tx1"/>
                          </a:solidFill>
                        </a:rPr>
                        <a:t>    </a:t>
                      </a:r>
                      <a:r>
                        <a:rPr lang="fr-FR" sz="1100" kern="1200" dirty="0" err="1">
                          <a:solidFill>
                            <a:schemeClr val="tx1"/>
                          </a:solidFill>
                        </a:rPr>
                        <a:t>api_version</a:t>
                      </a:r>
                      <a:r>
                        <a:rPr lang="fr-FR" sz="1100" kern="1200" dirty="0">
                          <a:solidFill>
                            <a:schemeClr val="tx1"/>
                          </a:solidFill>
                        </a:rPr>
                        <a:t>="2024-10-21")</a:t>
                      </a:r>
                      <a:endParaRPr lang="en-US" sz="1100" kern="1200" dirty="0">
                        <a:solidFill>
                          <a:schemeClr val="tx1"/>
                        </a:solidFill>
                      </a:endParaRPr>
                    </a:p>
                    <a:p>
                      <a:pPr marL="0" algn="l" defTabSz="932742" rtl="0" eaLnBrk="1" latinLnBrk="0" hangingPunct="1"/>
                      <a:endParaRPr lang="en-US" sz="1100" kern="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a:txBody>
                  <a:tcPr/>
                </a:tc>
                <a:tc>
                  <a:txBody>
                    <a:bodyPr/>
                    <a:lstStyle/>
                    <a:p>
                      <a:pPr marL="0" algn="l" defTabSz="932742" rtl="0" eaLnBrk="1" latinLnBrk="0" hangingPunct="1"/>
                      <a:r>
                        <a:rPr lang="en-US" sz="1100" kern="1200" dirty="0">
                          <a:solidFill>
                            <a:schemeClr val="tx1"/>
                          </a:solidFill>
                        </a:rPr>
                        <a:t>from </a:t>
                      </a:r>
                      <a:r>
                        <a:rPr lang="en-US" sz="1100" kern="1200" dirty="0" err="1">
                          <a:solidFill>
                            <a:schemeClr val="tx1"/>
                          </a:solidFill>
                        </a:rPr>
                        <a:t>openai</a:t>
                      </a:r>
                      <a:r>
                        <a:rPr lang="en-US" sz="1100" kern="1200" dirty="0">
                          <a:solidFill>
                            <a:schemeClr val="tx1"/>
                          </a:solidFill>
                        </a:rPr>
                        <a:t> import OpenAI</a:t>
                      </a:r>
                    </a:p>
                    <a:p>
                      <a:pPr marL="0" algn="l" defTabSz="932742" rtl="0" eaLnBrk="1" latinLnBrk="0" hangingPunct="1"/>
                      <a:endParaRPr lang="en-US" sz="1100" kern="1200" dirty="0">
                        <a:solidFill>
                          <a:schemeClr val="tx1"/>
                        </a:solidFill>
                      </a:endParaRPr>
                    </a:p>
                    <a:p>
                      <a:pPr marL="0" algn="l" defTabSz="932742" rtl="0" eaLnBrk="1" latinLnBrk="0" hangingPunct="1"/>
                      <a:r>
                        <a:rPr lang="en-US" sz="1100" kern="1200" dirty="0" err="1">
                          <a:solidFill>
                            <a:schemeClr val="tx1"/>
                          </a:solidFill>
                        </a:rPr>
                        <a:t>openai_client</a:t>
                      </a:r>
                      <a:r>
                        <a:rPr lang="en-US" sz="1100" kern="1200" dirty="0">
                          <a:solidFill>
                            <a:schemeClr val="tx1"/>
                          </a:solidFill>
                        </a:rPr>
                        <a:t> = OpenAI(</a:t>
                      </a:r>
                    </a:p>
                    <a:p>
                      <a:pPr marL="0" algn="l" defTabSz="932742" rtl="0" eaLnBrk="1" latinLnBrk="0" hangingPunct="1"/>
                      <a:r>
                        <a:rPr lang="en-US" sz="1100" kern="1200" dirty="0">
                          <a:solidFill>
                            <a:schemeClr val="tx1"/>
                          </a:solidFill>
                        </a:rPr>
                        <a:t>    </a:t>
                      </a:r>
                      <a:r>
                        <a:rPr lang="en-US" sz="1100" kern="1200" dirty="0" err="1">
                          <a:solidFill>
                            <a:schemeClr val="tx1"/>
                          </a:solidFill>
                        </a:rPr>
                        <a:t>api_key</a:t>
                      </a:r>
                      <a:r>
                        <a:rPr lang="en-US" sz="1100" kern="1200" dirty="0">
                          <a:solidFill>
                            <a:schemeClr val="tx1"/>
                          </a:solidFill>
                        </a:rPr>
                        <a:t>=API_KEY_OR_TOKEN,</a:t>
                      </a:r>
                    </a:p>
                    <a:p>
                      <a:pPr marL="0" algn="l" defTabSz="932742" rtl="0" eaLnBrk="1" latinLnBrk="0" hangingPunct="1"/>
                      <a:r>
                        <a:rPr lang="en-US" sz="1100" kern="1200" dirty="0">
                          <a:solidFill>
                            <a:schemeClr val="tx1"/>
                          </a:solidFill>
                        </a:rPr>
                        <a:t>    </a:t>
                      </a:r>
                      <a:r>
                        <a:rPr lang="en-US" sz="1100" kern="1200" dirty="0" err="1">
                          <a:solidFill>
                            <a:schemeClr val="tx1"/>
                          </a:solidFill>
                        </a:rPr>
                        <a:t>base_url</a:t>
                      </a:r>
                      <a:r>
                        <a:rPr lang="en-US" sz="1100" kern="1200" dirty="0">
                          <a:solidFill>
                            <a:schemeClr val="tx1"/>
                          </a:solidFill>
                        </a:rPr>
                        <a:t>=AZURE_OPENAI_ENDPOINT)</a:t>
                      </a:r>
                      <a:endParaRPr lang="en-US" sz="1100" kern="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a:txBody>
                  <a:tcPr/>
                </a:tc>
                <a:extLst>
                  <a:ext uri="{0D108BD9-81ED-4DB2-BD59-A6C34878D82A}">
                    <a16:rowId xmlns:a16="http://schemas.microsoft.com/office/drawing/2014/main" val="1591619284"/>
                  </a:ext>
                </a:extLst>
              </a:tr>
            </a:tbl>
          </a:graphicData>
        </a:graphic>
      </p:graphicFrame>
    </p:spTree>
    <p:extLst>
      <p:ext uri="{BB962C8B-B14F-4D97-AF65-F5344CB8AC3E}">
        <p14:creationId xmlns:p14="http://schemas.microsoft.com/office/powerpoint/2010/main" val="379746414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E3EF-0ECE-C863-659C-AFDC032BAAE8}"/>
              </a:ext>
            </a:extLst>
          </p:cNvPr>
          <p:cNvSpPr>
            <a:spLocks noGrp="1"/>
          </p:cNvSpPr>
          <p:nvPr>
            <p:ph type="title"/>
          </p:nvPr>
        </p:nvSpPr>
        <p:spPr>
          <a:xfrm>
            <a:off x="588262" y="585216"/>
            <a:ext cx="10165082" cy="984885"/>
          </a:xfrm>
        </p:spPr>
        <p:txBody>
          <a:bodyPr/>
          <a:lstStyle/>
          <a:p>
            <a:r>
              <a:rPr lang="en-US" sz="3200" dirty="0"/>
              <a:t>Compare </a:t>
            </a:r>
            <a:r>
              <a:rPr lang="en-US" sz="3200" dirty="0" err="1"/>
              <a:t>ChatCompletions</a:t>
            </a:r>
            <a:r>
              <a:rPr lang="en-US" sz="3200" dirty="0"/>
              <a:t> with Responses API</a:t>
            </a:r>
          </a:p>
        </p:txBody>
      </p:sp>
      <p:sp>
        <p:nvSpPr>
          <p:cNvPr id="3" name="Footer Placeholder 2">
            <a:extLst>
              <a:ext uri="{FF2B5EF4-FFF2-40B4-BE49-F238E27FC236}">
                <a16:creationId xmlns:a16="http://schemas.microsoft.com/office/drawing/2014/main" id="{AA3F6D97-CD0D-3D72-BA68-EC2909C443C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aphicFrame>
        <p:nvGraphicFramePr>
          <p:cNvPr id="4" name="Table 3">
            <a:extLst>
              <a:ext uri="{FF2B5EF4-FFF2-40B4-BE49-F238E27FC236}">
                <a16:creationId xmlns:a16="http://schemas.microsoft.com/office/drawing/2014/main" id="{F92ADF44-FB95-8229-9FEC-F3CEFC0D727C}"/>
              </a:ext>
            </a:extLst>
          </p:cNvPr>
          <p:cNvGraphicFramePr>
            <a:graphicFrameLocks noGrp="1"/>
          </p:cNvGraphicFramePr>
          <p:nvPr>
            <p:extLst>
              <p:ext uri="{D42A27DB-BD31-4B8C-83A1-F6EECF244321}">
                <p14:modId xmlns:p14="http://schemas.microsoft.com/office/powerpoint/2010/main" val="863667398"/>
              </p:ext>
            </p:extLst>
          </p:nvPr>
        </p:nvGraphicFramePr>
        <p:xfrm>
          <a:off x="579438" y="1993723"/>
          <a:ext cx="10777410" cy="3657600"/>
        </p:xfrm>
        <a:graphic>
          <a:graphicData uri="http://schemas.openxmlformats.org/drawingml/2006/table">
            <a:tbl>
              <a:tblPr bandRow="1">
                <a:tableStyleId>{68D230F3-CF80-4859-8CE7-A43EE81993B5}</a:tableStyleId>
              </a:tblPr>
              <a:tblGrid>
                <a:gridCol w="2071216">
                  <a:extLst>
                    <a:ext uri="{9D8B030D-6E8A-4147-A177-3AD203B41FA5}">
                      <a16:colId xmlns:a16="http://schemas.microsoft.com/office/drawing/2014/main" val="1227079335"/>
                    </a:ext>
                  </a:extLst>
                </a:gridCol>
                <a:gridCol w="4353097">
                  <a:extLst>
                    <a:ext uri="{9D8B030D-6E8A-4147-A177-3AD203B41FA5}">
                      <a16:colId xmlns:a16="http://schemas.microsoft.com/office/drawing/2014/main" val="928914298"/>
                    </a:ext>
                  </a:extLst>
                </a:gridCol>
                <a:gridCol w="4353097">
                  <a:extLst>
                    <a:ext uri="{9D8B030D-6E8A-4147-A177-3AD203B41FA5}">
                      <a16:colId xmlns:a16="http://schemas.microsoft.com/office/drawing/2014/main" val="59501051"/>
                    </a:ext>
                  </a:extLst>
                </a:gridCol>
              </a:tblGrid>
              <a:tr h="914400">
                <a:tc>
                  <a:txBody>
                    <a:bodyPr/>
                    <a:lstStyle/>
                    <a:p>
                      <a:r>
                        <a:rPr lang="en-US" sz="1800" b="0" dirty="0">
                          <a:latin typeface="+mj-lt"/>
                        </a:rPr>
                        <a:t>State management</a:t>
                      </a:r>
                    </a:p>
                  </a:txBody>
                  <a:tcPr anchor="ctr"/>
                </a:tc>
                <a:tc>
                  <a:txBody>
                    <a:bodyPr/>
                    <a:lstStyle/>
                    <a:p>
                      <a:r>
                        <a:rPr lang="en-US" sz="1800" b="0" i="0" kern="1200" dirty="0">
                          <a:solidFill>
                            <a:schemeClr val="tx1"/>
                          </a:solidFill>
                          <a:effectLst/>
                          <a:latin typeface="+mn-lt"/>
                          <a:ea typeface="+mn-ea"/>
                          <a:cs typeface="+mn-cs"/>
                        </a:rPr>
                        <a:t>Client-side - developer stores and sends the full </a:t>
                      </a:r>
                      <a:r>
                        <a:rPr lang="en-US" sz="1800" b="0" i="0" kern="1200" dirty="0">
                          <a:solidFill>
                            <a:schemeClr val="tx1"/>
                          </a:solidFill>
                          <a:effectLst/>
                          <a:highlight>
                            <a:srgbClr val="E8E8E8"/>
                          </a:highlight>
                          <a:latin typeface="Consolas" panose="020B0609020204030204" pitchFamily="49" charset="0"/>
                          <a:ea typeface="+mn-ea"/>
                          <a:cs typeface="Consolas" panose="020B0609020204030204" pitchFamily="49" charset="0"/>
                        </a:rPr>
                        <a:t>messages</a:t>
                      </a:r>
                      <a:r>
                        <a:rPr lang="en-US" sz="1800" b="0" i="0" kern="1200" dirty="0">
                          <a:solidFill>
                            <a:schemeClr val="tx1"/>
                          </a:solidFill>
                          <a:effectLst/>
                          <a:latin typeface="+mn-lt"/>
                          <a:ea typeface="+mn-ea"/>
                          <a:cs typeface="+mn-cs"/>
                        </a:rPr>
                        <a:t> array</a:t>
                      </a:r>
                      <a:endParaRPr lang="en-US" dirty="0"/>
                    </a:p>
                  </a:txBody>
                  <a:tcPr anchor="ctr"/>
                </a:tc>
                <a:tc>
                  <a:txBody>
                    <a:bodyPr/>
                    <a:lstStyle/>
                    <a:p>
                      <a:r>
                        <a:rPr lang="en-US" sz="1800" b="0" i="0" kern="1200" dirty="0">
                          <a:solidFill>
                            <a:schemeClr val="tx1"/>
                          </a:solidFill>
                          <a:effectLst/>
                          <a:latin typeface="+mn-lt"/>
                          <a:ea typeface="+mn-ea"/>
                          <a:cs typeface="+mn-cs"/>
                        </a:rPr>
                        <a:t>Server-side - API stores the thread automatically</a:t>
                      </a:r>
                      <a:endParaRPr lang="en-US" dirty="0"/>
                    </a:p>
                  </a:txBody>
                  <a:tcPr anchor="ctr"/>
                </a:tc>
                <a:extLst>
                  <a:ext uri="{0D108BD9-81ED-4DB2-BD59-A6C34878D82A}">
                    <a16:rowId xmlns:a16="http://schemas.microsoft.com/office/drawing/2014/main" val="267607943"/>
                  </a:ext>
                </a:extLst>
              </a:tr>
              <a:tr h="914400">
                <a:tc>
                  <a:txBody>
                    <a:bodyPr/>
                    <a:lstStyle/>
                    <a:p>
                      <a:r>
                        <a:rPr lang="en-US" sz="1800" b="0" i="0" kern="1200" dirty="0">
                          <a:solidFill>
                            <a:schemeClr val="tx1"/>
                          </a:solidFill>
                          <a:effectLst/>
                          <a:latin typeface="+mj-lt"/>
                          <a:ea typeface="+mn-ea"/>
                          <a:cs typeface="+mn-cs"/>
                        </a:rPr>
                        <a:t>System prompt</a:t>
                      </a:r>
                    </a:p>
                  </a:txBody>
                  <a:tcPr anchor="ctr"/>
                </a:tc>
                <a:tc>
                  <a:txBody>
                    <a:bodyPr/>
                    <a:lstStyle/>
                    <a:p>
                      <a:r>
                        <a:rPr lang="en-US" sz="1800" b="0" i="0" kern="1200" dirty="0">
                          <a:solidFill>
                            <a:schemeClr val="tx1"/>
                          </a:solidFill>
                          <a:effectLst/>
                          <a:latin typeface="+mn-lt"/>
                          <a:ea typeface="+mn-ea"/>
                          <a:cs typeface="+mn-cs"/>
                        </a:rPr>
                        <a:t>First entry in messages array:</a:t>
                      </a:r>
                    </a:p>
                    <a:p>
                      <a:r>
                        <a:rPr lang="en-US" sz="1600" b="0" i="0" kern="1200" dirty="0">
                          <a:solidFill>
                            <a:schemeClr val="tx1"/>
                          </a:solidFill>
                          <a:effectLst/>
                          <a:highlight>
                            <a:srgbClr val="E8E8E8"/>
                          </a:highlight>
                          <a:latin typeface="Consolas" panose="020B0609020204030204" pitchFamily="49" charset="0"/>
                          <a:ea typeface="+mn-ea"/>
                          <a:cs typeface="Consolas" panose="020B0609020204030204" pitchFamily="49" charset="0"/>
                        </a:rPr>
                        <a:t>{"role": "system", "content": "..."}</a:t>
                      </a:r>
                      <a:endParaRPr lang="en-US" dirty="0">
                        <a:highlight>
                          <a:srgbClr val="E8E8E8"/>
                        </a:highlight>
                        <a:latin typeface="Consolas" panose="020B0609020204030204" pitchFamily="49" charset="0"/>
                        <a:cs typeface="Consolas" panose="020B0609020204030204" pitchFamily="49" charset="0"/>
                      </a:endParaRPr>
                    </a:p>
                  </a:txBody>
                  <a:tcPr anchor="ctr"/>
                </a:tc>
                <a:tc>
                  <a:txBody>
                    <a:bodyPr/>
                    <a:lstStyle/>
                    <a:p>
                      <a:r>
                        <a:rPr lang="en-US" sz="1800" b="0" i="0" kern="1200" dirty="0">
                          <a:solidFill>
                            <a:schemeClr val="tx1"/>
                          </a:solidFill>
                          <a:effectLst/>
                          <a:latin typeface="+mn-lt"/>
                          <a:ea typeface="+mn-ea"/>
                          <a:cs typeface="+mn-cs"/>
                        </a:rPr>
                        <a:t>Dedicated parameter:</a:t>
                      </a:r>
                      <a:br>
                        <a:rPr lang="en-US" dirty="0"/>
                      </a:br>
                      <a:r>
                        <a:rPr lang="en-US" sz="1600" b="0" i="0" kern="1200" dirty="0">
                          <a:solidFill>
                            <a:schemeClr val="tx1"/>
                          </a:solidFill>
                          <a:effectLst/>
                          <a:highlight>
                            <a:srgbClr val="E8E8E8"/>
                          </a:highlight>
                          <a:latin typeface="Consolas" panose="020B0609020204030204" pitchFamily="49" charset="0"/>
                          <a:ea typeface="+mn-ea"/>
                          <a:cs typeface="Consolas" panose="020B0609020204030204" pitchFamily="49" charset="0"/>
                        </a:rPr>
                        <a:t>instructions="..."</a:t>
                      </a:r>
                      <a:endParaRPr lang="en-US" dirty="0">
                        <a:highlight>
                          <a:srgbClr val="E8E8E8"/>
                        </a:highlight>
                        <a:latin typeface="Consolas" panose="020B0609020204030204" pitchFamily="49" charset="0"/>
                        <a:cs typeface="Consolas" panose="020B0609020204030204" pitchFamily="49" charset="0"/>
                      </a:endParaRPr>
                    </a:p>
                  </a:txBody>
                  <a:tcPr anchor="ctr"/>
                </a:tc>
                <a:extLst>
                  <a:ext uri="{0D108BD9-81ED-4DB2-BD59-A6C34878D82A}">
                    <a16:rowId xmlns:a16="http://schemas.microsoft.com/office/drawing/2014/main" val="3304563888"/>
                  </a:ext>
                </a:extLst>
              </a:tr>
              <a:tr h="914400">
                <a:tc>
                  <a:txBody>
                    <a:bodyPr/>
                    <a:lstStyle/>
                    <a:p>
                      <a:r>
                        <a:rPr lang="en-US" sz="1800" b="0" i="0" kern="1200" dirty="0">
                          <a:solidFill>
                            <a:schemeClr val="tx1"/>
                          </a:solidFill>
                          <a:effectLst/>
                          <a:latin typeface="+mj-lt"/>
                          <a:ea typeface="+mn-ea"/>
                          <a:cs typeface="+mn-cs"/>
                        </a:rPr>
                        <a:t>Payload per request</a:t>
                      </a:r>
                    </a:p>
                  </a:txBody>
                  <a:tcPr anchor="ctr"/>
                </a:tc>
                <a:tc>
                  <a:txBody>
                    <a:bodyPr/>
                    <a:lstStyle/>
                    <a:p>
                      <a:r>
                        <a:rPr lang="en-US" sz="1800" b="0" i="0" kern="1200" dirty="0">
                          <a:solidFill>
                            <a:schemeClr val="tx1"/>
                          </a:solidFill>
                          <a:effectLst/>
                          <a:latin typeface="+mn-lt"/>
                          <a:ea typeface="+mn-ea"/>
                          <a:cs typeface="+mn-cs"/>
                        </a:rPr>
                        <a:t>Grows with conversation length</a:t>
                      </a:r>
                    </a:p>
                    <a:p>
                      <a:endParaRPr lang="en-US" sz="1800" b="0" i="0" kern="1200" dirty="0">
                        <a:solidFill>
                          <a:schemeClr val="tx1"/>
                        </a:solidFill>
                        <a:effectLst/>
                        <a:latin typeface="+mn-lt"/>
                        <a:ea typeface="+mn-ea"/>
                        <a:cs typeface="+mn-cs"/>
                      </a:endParaRPr>
                    </a:p>
                    <a:p>
                      <a:endParaRPr lang="en-US" sz="1800" b="0" i="0" kern="1200" dirty="0">
                        <a:solidFill>
                          <a:schemeClr val="tx1"/>
                        </a:solidFill>
                        <a:effectLst/>
                        <a:latin typeface="+mn-lt"/>
                        <a:ea typeface="+mn-ea"/>
                        <a:cs typeface="+mn-cs"/>
                      </a:endParaRPr>
                    </a:p>
                  </a:txBody>
                  <a:tcPr anchor="ctr"/>
                </a:tc>
                <a:tc>
                  <a:txBody>
                    <a:bodyPr/>
                    <a:lstStyle/>
                    <a:p>
                      <a:r>
                        <a:rPr lang="en-US" sz="1800" b="0" i="0" kern="1200" dirty="0">
                          <a:solidFill>
                            <a:schemeClr val="tx1"/>
                          </a:solidFill>
                          <a:effectLst/>
                          <a:latin typeface="+mn-lt"/>
                          <a:ea typeface="+mn-ea"/>
                          <a:cs typeface="+mn-cs"/>
                        </a:rPr>
                        <a:t>Constant - only latest input + an ID</a:t>
                      </a:r>
                    </a:p>
                    <a:p>
                      <a:endParaRPr lang="en-US" sz="1800" b="0" i="0" kern="1200" dirty="0">
                        <a:solidFill>
                          <a:schemeClr val="tx1"/>
                        </a:solidFill>
                        <a:effectLst/>
                        <a:latin typeface="+mn-lt"/>
                        <a:ea typeface="+mn-ea"/>
                        <a:cs typeface="+mn-cs"/>
                      </a:endParaRPr>
                    </a:p>
                    <a:p>
                      <a:endParaRPr lang="en-US" dirty="0"/>
                    </a:p>
                  </a:txBody>
                  <a:tcPr anchor="ctr"/>
                </a:tc>
                <a:extLst>
                  <a:ext uri="{0D108BD9-81ED-4DB2-BD59-A6C34878D82A}">
                    <a16:rowId xmlns:a16="http://schemas.microsoft.com/office/drawing/2014/main" val="4199912601"/>
                  </a:ext>
                </a:extLst>
              </a:tr>
              <a:tr h="914400">
                <a:tc>
                  <a:txBody>
                    <a:bodyPr/>
                    <a:lstStyle/>
                    <a:p>
                      <a:r>
                        <a:rPr lang="en-US" sz="1800" b="0" i="0" kern="1200" dirty="0">
                          <a:solidFill>
                            <a:schemeClr val="tx1"/>
                          </a:solidFill>
                          <a:effectLst/>
                          <a:latin typeface="+mj-lt"/>
                          <a:ea typeface="+mn-ea"/>
                          <a:cs typeface="+mn-cs"/>
                        </a:rPr>
                        <a:t>Accessing the response</a:t>
                      </a:r>
                    </a:p>
                  </a:txBody>
                  <a:tcPr anchor="ctr"/>
                </a:tc>
                <a:tc>
                  <a:txBody>
                    <a:bodyPr/>
                    <a:lstStyle/>
                    <a:p>
                      <a:r>
                        <a:rPr lang="en-US" sz="1600" b="0" i="0" kern="1200" dirty="0" err="1">
                          <a:solidFill>
                            <a:schemeClr val="tx1"/>
                          </a:solidFill>
                          <a:effectLst/>
                          <a:highlight>
                            <a:srgbClr val="E8E8E8"/>
                          </a:highlight>
                          <a:latin typeface="Consolas" panose="020B0609020204030204" pitchFamily="49" charset="0"/>
                          <a:ea typeface="+mn-ea"/>
                          <a:cs typeface="Consolas" panose="020B0609020204030204" pitchFamily="49" charset="0"/>
                        </a:rPr>
                        <a:t>completion.choices</a:t>
                      </a:r>
                      <a:r>
                        <a:rPr lang="en-US" sz="1600" b="0" i="0" kern="1200" dirty="0">
                          <a:solidFill>
                            <a:schemeClr val="tx1"/>
                          </a:solidFill>
                          <a:effectLst/>
                          <a:highlight>
                            <a:srgbClr val="E8E8E8"/>
                          </a:highlight>
                          <a:latin typeface="Consolas" panose="020B0609020204030204" pitchFamily="49" charset="0"/>
                          <a:ea typeface="+mn-ea"/>
                          <a:cs typeface="Consolas" panose="020B0609020204030204" pitchFamily="49" charset="0"/>
                        </a:rPr>
                        <a:t>[0].</a:t>
                      </a:r>
                      <a:r>
                        <a:rPr lang="en-US" sz="1600" b="0" i="0" kern="1200" dirty="0" err="1">
                          <a:solidFill>
                            <a:schemeClr val="tx1"/>
                          </a:solidFill>
                          <a:effectLst/>
                          <a:highlight>
                            <a:srgbClr val="E8E8E8"/>
                          </a:highlight>
                          <a:latin typeface="Consolas" panose="020B0609020204030204" pitchFamily="49" charset="0"/>
                          <a:ea typeface="+mn-ea"/>
                          <a:cs typeface="Consolas" panose="020B0609020204030204" pitchFamily="49" charset="0"/>
                        </a:rPr>
                        <a:t>message.content</a:t>
                      </a:r>
                      <a:endParaRPr lang="en-US" sz="1600" b="0" i="0" kern="1200" dirty="0">
                        <a:solidFill>
                          <a:schemeClr val="tx1"/>
                        </a:solidFill>
                        <a:effectLst/>
                        <a:highlight>
                          <a:srgbClr val="E8E8E8"/>
                        </a:highlight>
                        <a:latin typeface="Consolas" panose="020B0609020204030204" pitchFamily="49" charset="0"/>
                        <a:ea typeface="+mn-ea"/>
                        <a:cs typeface="Consolas" panose="020B0609020204030204" pitchFamily="49" charset="0"/>
                      </a:endParaRPr>
                    </a:p>
                  </a:txBody>
                  <a:tcPr anchor="ctr"/>
                </a:tc>
                <a:tc>
                  <a:txBody>
                    <a:bodyPr/>
                    <a:lstStyle/>
                    <a:p>
                      <a:r>
                        <a:rPr lang="en-US" sz="1600" b="0" i="0" kern="1200" dirty="0" err="1">
                          <a:solidFill>
                            <a:schemeClr val="tx1"/>
                          </a:solidFill>
                          <a:effectLst/>
                          <a:highlight>
                            <a:srgbClr val="E8E8E8"/>
                          </a:highlight>
                          <a:latin typeface="Consolas" panose="020B0609020204030204" pitchFamily="49" charset="0"/>
                          <a:ea typeface="+mn-ea"/>
                          <a:cs typeface="Consolas" panose="020B0609020204030204" pitchFamily="49" charset="0"/>
                        </a:rPr>
                        <a:t>response.output_text</a:t>
                      </a:r>
                      <a:endParaRPr lang="en-US" sz="1600" dirty="0">
                        <a:highlight>
                          <a:srgbClr val="E8E8E8"/>
                        </a:highlight>
                        <a:latin typeface="Consolas" panose="020B0609020204030204" pitchFamily="49" charset="0"/>
                        <a:cs typeface="Consolas" panose="020B0609020204030204" pitchFamily="49" charset="0"/>
                      </a:endParaRPr>
                    </a:p>
                  </a:txBody>
                  <a:tcPr anchor="ctr"/>
                </a:tc>
                <a:extLst>
                  <a:ext uri="{0D108BD9-81ED-4DB2-BD59-A6C34878D82A}">
                    <a16:rowId xmlns:a16="http://schemas.microsoft.com/office/drawing/2014/main" val="594462340"/>
                  </a:ext>
                </a:extLst>
              </a:tr>
            </a:tbl>
          </a:graphicData>
        </a:graphic>
      </p:graphicFrame>
      <p:sp>
        <p:nvSpPr>
          <p:cNvPr id="8" name="Round Single Corner Rectangle 7">
            <a:extLst>
              <a:ext uri="{FF2B5EF4-FFF2-40B4-BE49-F238E27FC236}">
                <a16:creationId xmlns:a16="http://schemas.microsoft.com/office/drawing/2014/main" id="{B40F481A-B112-3C6F-D863-13F1970A0BFE}"/>
              </a:ext>
              <a:ext uri="{C183D7F6-B498-43B3-948B-1728B52AA6E4}">
                <adec:decorative xmlns:adec="http://schemas.microsoft.com/office/drawing/2017/decorative" val="1"/>
              </a:ext>
            </a:extLst>
          </p:cNvPr>
          <p:cNvSpPr/>
          <p:nvPr/>
        </p:nvSpPr>
        <p:spPr bwMode="auto">
          <a:xfrm>
            <a:off x="7004304" y="1353312"/>
            <a:ext cx="4352544" cy="640411"/>
          </a:xfrm>
          <a:prstGeom prst="round1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ound Single Corner Rectangle 8">
            <a:extLst>
              <a:ext uri="{FF2B5EF4-FFF2-40B4-BE49-F238E27FC236}">
                <a16:creationId xmlns:a16="http://schemas.microsoft.com/office/drawing/2014/main" id="{295EC355-8C66-05AE-1E91-87810B38247A}"/>
              </a:ext>
              <a:ext uri="{C183D7F6-B498-43B3-948B-1728B52AA6E4}">
                <adec:decorative xmlns:adec="http://schemas.microsoft.com/office/drawing/2017/decorative" val="1"/>
              </a:ext>
            </a:extLst>
          </p:cNvPr>
          <p:cNvSpPr/>
          <p:nvPr/>
        </p:nvSpPr>
        <p:spPr bwMode="auto">
          <a:xfrm flipH="1">
            <a:off x="2655094" y="1353312"/>
            <a:ext cx="4352544" cy="640411"/>
          </a:xfrm>
          <a:prstGeom prst="round1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DEDC001F-60AF-DCA7-43E8-7F939F412F16}"/>
              </a:ext>
            </a:extLst>
          </p:cNvPr>
          <p:cNvSpPr txBox="1"/>
          <p:nvPr/>
        </p:nvSpPr>
        <p:spPr>
          <a:xfrm>
            <a:off x="3483706" y="1516368"/>
            <a:ext cx="2475037" cy="307777"/>
          </a:xfrm>
          <a:prstGeom prst="rect">
            <a:avLst/>
          </a:prstGeom>
          <a:noFill/>
        </p:spPr>
        <p:txBody>
          <a:bodyPr wrap="none" lIns="0" tIns="0" rIns="0" bIns="0" rtlCol="0">
            <a:spAutoFit/>
          </a:bodyPr>
          <a:lstStyle/>
          <a:p>
            <a:pPr algn="l"/>
            <a:r>
              <a:rPr lang="en-US" sz="2000" b="1" dirty="0" err="1">
                <a:solidFill>
                  <a:srgbClr val="0078D4"/>
                </a:solidFill>
                <a:latin typeface="+mj-lt"/>
              </a:rPr>
              <a:t>ChatCompletions</a:t>
            </a:r>
            <a:r>
              <a:rPr lang="en-US" sz="2000" b="1" dirty="0">
                <a:solidFill>
                  <a:srgbClr val="0078D4"/>
                </a:solidFill>
                <a:latin typeface="+mj-lt"/>
              </a:rPr>
              <a:t> API</a:t>
            </a:r>
          </a:p>
        </p:txBody>
      </p:sp>
      <p:grpSp>
        <p:nvGrpSpPr>
          <p:cNvPr id="32" name="Group 31">
            <a:extLst>
              <a:ext uri="{FF2B5EF4-FFF2-40B4-BE49-F238E27FC236}">
                <a16:creationId xmlns:a16="http://schemas.microsoft.com/office/drawing/2014/main" id="{9D8293CC-99A6-EB65-B520-F4D177929A26}"/>
              </a:ext>
              <a:ext uri="{C183D7F6-B498-43B3-948B-1728B52AA6E4}">
                <adec:decorative xmlns:adec="http://schemas.microsoft.com/office/drawing/2017/decorative" val="1"/>
              </a:ext>
            </a:extLst>
          </p:cNvPr>
          <p:cNvGrpSpPr/>
          <p:nvPr/>
        </p:nvGrpSpPr>
        <p:grpSpPr>
          <a:xfrm>
            <a:off x="2852928" y="1453730"/>
            <a:ext cx="457200" cy="457200"/>
            <a:chOff x="2798064" y="1453730"/>
            <a:chExt cx="457200" cy="457200"/>
          </a:xfrm>
        </p:grpSpPr>
        <p:sp>
          <p:nvSpPr>
            <p:cNvPr id="10" name="Oval 9">
              <a:extLst>
                <a:ext uri="{FF2B5EF4-FFF2-40B4-BE49-F238E27FC236}">
                  <a16:creationId xmlns:a16="http://schemas.microsoft.com/office/drawing/2014/main" id="{914A3002-3E7B-83D3-ACD9-24AC0F7B1E39}"/>
                </a:ext>
              </a:extLst>
            </p:cNvPr>
            <p:cNvSpPr>
              <a:spLocks noChangeAspect="1"/>
            </p:cNvSpPr>
            <p:nvPr/>
          </p:nvSpPr>
          <p:spPr bwMode="auto">
            <a:xfrm>
              <a:off x="2798064" y="1453730"/>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9" name="Graphic 18" descr="Speech with solid fill">
              <a:extLst>
                <a:ext uri="{FF2B5EF4-FFF2-40B4-BE49-F238E27FC236}">
                  <a16:creationId xmlns:a16="http://schemas.microsoft.com/office/drawing/2014/main" id="{101C541C-0993-68C4-68FE-062DF0D951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0737" y="1517738"/>
              <a:ext cx="365760" cy="365760"/>
            </a:xfrm>
            <a:prstGeom prst="rect">
              <a:avLst/>
            </a:prstGeom>
          </p:spPr>
        </p:pic>
      </p:grpSp>
      <p:sp>
        <p:nvSpPr>
          <p:cNvPr id="20" name="Oval 19">
            <a:extLst>
              <a:ext uri="{FF2B5EF4-FFF2-40B4-BE49-F238E27FC236}">
                <a16:creationId xmlns:a16="http://schemas.microsoft.com/office/drawing/2014/main" id="{165C5C71-5EC8-5440-7667-CD517CE909F7}"/>
              </a:ext>
              <a:ext uri="{C183D7F6-B498-43B3-948B-1728B52AA6E4}">
                <adec:decorative xmlns:adec="http://schemas.microsoft.com/office/drawing/2017/decorative" val="1"/>
              </a:ext>
            </a:extLst>
          </p:cNvPr>
          <p:cNvSpPr>
            <a:spLocks noChangeAspect="1"/>
          </p:cNvSpPr>
          <p:nvPr/>
        </p:nvSpPr>
        <p:spPr bwMode="auto">
          <a:xfrm>
            <a:off x="7237397" y="1463537"/>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solidFill>
                <a:schemeClr val="accent1"/>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E41BBB2C-32BA-C4B3-B04F-0AFA1283F572}"/>
              </a:ext>
            </a:extLst>
          </p:cNvPr>
          <p:cNvSpPr txBox="1"/>
          <p:nvPr/>
        </p:nvSpPr>
        <p:spPr>
          <a:xfrm>
            <a:off x="7854538" y="1528441"/>
            <a:ext cx="1682833" cy="307777"/>
          </a:xfrm>
          <a:prstGeom prst="rect">
            <a:avLst/>
          </a:prstGeom>
          <a:noFill/>
        </p:spPr>
        <p:txBody>
          <a:bodyPr wrap="none" lIns="0" tIns="0" rIns="0" bIns="0" rtlCol="0">
            <a:spAutoFit/>
          </a:bodyPr>
          <a:lstStyle/>
          <a:p>
            <a:pPr algn="l"/>
            <a:r>
              <a:rPr lang="en-US" sz="2000" b="1" dirty="0">
                <a:solidFill>
                  <a:schemeClr val="accent1"/>
                </a:solidFill>
                <a:latin typeface="+mj-lt"/>
              </a:rPr>
              <a:t>Responses API</a:t>
            </a:r>
          </a:p>
        </p:txBody>
      </p:sp>
      <p:pic>
        <p:nvPicPr>
          <p:cNvPr id="17" name="Graphic 16" descr="Lightning bolt with solid fill">
            <a:extLst>
              <a:ext uri="{FF2B5EF4-FFF2-40B4-BE49-F238E27FC236}">
                <a16:creationId xmlns:a16="http://schemas.microsoft.com/office/drawing/2014/main" id="{16A528CC-8CFE-DE26-4A8C-D9C7FFEBCA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8466" y="1531703"/>
            <a:ext cx="365760" cy="365760"/>
          </a:xfrm>
          <a:prstGeom prst="rect">
            <a:avLst/>
          </a:prstGeom>
        </p:spPr>
      </p:pic>
      <p:grpSp>
        <p:nvGrpSpPr>
          <p:cNvPr id="31" name="Group 30">
            <a:extLst>
              <a:ext uri="{FF2B5EF4-FFF2-40B4-BE49-F238E27FC236}">
                <a16:creationId xmlns:a16="http://schemas.microsoft.com/office/drawing/2014/main" id="{2150837E-E0C1-9DED-321F-38E80262090C}"/>
              </a:ext>
              <a:ext uri="{C183D7F6-B498-43B3-948B-1728B52AA6E4}">
                <adec:decorative xmlns:adec="http://schemas.microsoft.com/office/drawing/2017/decorative" val="1"/>
              </a:ext>
            </a:extLst>
          </p:cNvPr>
          <p:cNvGrpSpPr/>
          <p:nvPr/>
        </p:nvGrpSpPr>
        <p:grpSpPr>
          <a:xfrm>
            <a:off x="2740152" y="4248746"/>
            <a:ext cx="1161288" cy="320040"/>
            <a:chOff x="2813304" y="4303610"/>
            <a:chExt cx="1161288" cy="320040"/>
          </a:xfrm>
        </p:grpSpPr>
        <p:sp>
          <p:nvSpPr>
            <p:cNvPr id="22" name="Oval 21">
              <a:extLst>
                <a:ext uri="{FF2B5EF4-FFF2-40B4-BE49-F238E27FC236}">
                  <a16:creationId xmlns:a16="http://schemas.microsoft.com/office/drawing/2014/main" id="{A91C8762-395B-1356-5E77-5A79DF71F1FC}"/>
                </a:ext>
              </a:extLst>
            </p:cNvPr>
            <p:cNvSpPr>
              <a:spLocks noChangeAspect="1"/>
            </p:cNvSpPr>
            <p:nvPr/>
          </p:nvSpPr>
          <p:spPr bwMode="auto">
            <a:xfrm>
              <a:off x="2813304" y="4372190"/>
              <a:ext cx="182880" cy="18288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21E6BF4E-F3EF-2163-CB1F-2526B54AB12B}"/>
                </a:ext>
              </a:extLst>
            </p:cNvPr>
            <p:cNvSpPr>
              <a:spLocks noChangeAspect="1"/>
            </p:cNvSpPr>
            <p:nvPr/>
          </p:nvSpPr>
          <p:spPr bwMode="auto">
            <a:xfrm>
              <a:off x="3048000" y="4349330"/>
              <a:ext cx="228600" cy="2286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Oval 23">
              <a:extLst>
                <a:ext uri="{FF2B5EF4-FFF2-40B4-BE49-F238E27FC236}">
                  <a16:creationId xmlns:a16="http://schemas.microsoft.com/office/drawing/2014/main" id="{D6699571-FDA3-637B-5F02-3564AFC17DA2}"/>
                </a:ext>
              </a:extLst>
            </p:cNvPr>
            <p:cNvSpPr>
              <a:spLocks noChangeAspect="1"/>
            </p:cNvSpPr>
            <p:nvPr/>
          </p:nvSpPr>
          <p:spPr bwMode="auto">
            <a:xfrm>
              <a:off x="3328416" y="4326470"/>
              <a:ext cx="274320" cy="27432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Oval 24">
              <a:extLst>
                <a:ext uri="{FF2B5EF4-FFF2-40B4-BE49-F238E27FC236}">
                  <a16:creationId xmlns:a16="http://schemas.microsoft.com/office/drawing/2014/main" id="{EE2EFF54-0CB5-4B5A-2F4C-6B1F130AEF87}"/>
                </a:ext>
              </a:extLst>
            </p:cNvPr>
            <p:cNvSpPr>
              <a:spLocks noChangeAspect="1"/>
            </p:cNvSpPr>
            <p:nvPr/>
          </p:nvSpPr>
          <p:spPr bwMode="auto">
            <a:xfrm>
              <a:off x="3654552" y="4303610"/>
              <a:ext cx="320040" cy="32004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0" name="Group 29">
            <a:extLst>
              <a:ext uri="{FF2B5EF4-FFF2-40B4-BE49-F238E27FC236}">
                <a16:creationId xmlns:a16="http://schemas.microsoft.com/office/drawing/2014/main" id="{5D243ED7-487E-3484-5327-BD270D03BC2C}"/>
              </a:ext>
              <a:ext uri="{C183D7F6-B498-43B3-948B-1728B52AA6E4}">
                <adec:decorative xmlns:adec="http://schemas.microsoft.com/office/drawing/2017/decorative" val="1"/>
              </a:ext>
            </a:extLst>
          </p:cNvPr>
          <p:cNvGrpSpPr/>
          <p:nvPr/>
        </p:nvGrpSpPr>
        <p:grpSpPr>
          <a:xfrm>
            <a:off x="7104730" y="4317326"/>
            <a:ext cx="932688" cy="182880"/>
            <a:chOff x="2965704" y="4456010"/>
            <a:chExt cx="932688" cy="182880"/>
          </a:xfrm>
          <a:solidFill>
            <a:schemeClr val="accent1"/>
          </a:solidFill>
        </p:grpSpPr>
        <p:sp>
          <p:nvSpPr>
            <p:cNvPr id="26" name="Oval 25">
              <a:extLst>
                <a:ext uri="{FF2B5EF4-FFF2-40B4-BE49-F238E27FC236}">
                  <a16:creationId xmlns:a16="http://schemas.microsoft.com/office/drawing/2014/main" id="{39AF1F45-B1A7-0F30-BC7C-1A38BD662A98}"/>
                </a:ext>
              </a:extLst>
            </p:cNvPr>
            <p:cNvSpPr>
              <a:spLocks noChangeAspect="1"/>
            </p:cNvSpPr>
            <p:nvPr/>
          </p:nvSpPr>
          <p:spPr bwMode="auto">
            <a:xfrm>
              <a:off x="2965704"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Oval 26">
              <a:extLst>
                <a:ext uri="{FF2B5EF4-FFF2-40B4-BE49-F238E27FC236}">
                  <a16:creationId xmlns:a16="http://schemas.microsoft.com/office/drawing/2014/main" id="{BB332956-23A5-8F3C-81CA-730316CA10B3}"/>
                </a:ext>
              </a:extLst>
            </p:cNvPr>
            <p:cNvSpPr>
              <a:spLocks noChangeAspect="1"/>
            </p:cNvSpPr>
            <p:nvPr/>
          </p:nvSpPr>
          <p:spPr bwMode="auto">
            <a:xfrm>
              <a:off x="3215640"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Oval 27">
              <a:extLst>
                <a:ext uri="{FF2B5EF4-FFF2-40B4-BE49-F238E27FC236}">
                  <a16:creationId xmlns:a16="http://schemas.microsoft.com/office/drawing/2014/main" id="{9037D70C-C385-94A7-EB71-94FA725BF87F}"/>
                </a:ext>
              </a:extLst>
            </p:cNvPr>
            <p:cNvSpPr>
              <a:spLocks noChangeAspect="1"/>
            </p:cNvSpPr>
            <p:nvPr/>
          </p:nvSpPr>
          <p:spPr bwMode="auto">
            <a:xfrm>
              <a:off x="3465576"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9" name="Oval 28">
              <a:extLst>
                <a:ext uri="{FF2B5EF4-FFF2-40B4-BE49-F238E27FC236}">
                  <a16:creationId xmlns:a16="http://schemas.microsoft.com/office/drawing/2014/main" id="{1B667B71-937B-95BC-5266-FDCF50050F32}"/>
                </a:ext>
              </a:extLst>
            </p:cNvPr>
            <p:cNvSpPr>
              <a:spLocks noChangeAspect="1"/>
            </p:cNvSpPr>
            <p:nvPr/>
          </p:nvSpPr>
          <p:spPr bwMode="auto">
            <a:xfrm>
              <a:off x="3715512"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40583201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1FBE-7FA3-DD96-EAE4-47FCBE0C3A87}"/>
            </a:ext>
          </a:extLst>
        </p:cNvPr>
        <p:cNvGrpSpPr/>
        <p:nvPr/>
      </p:nvGrpSpPr>
      <p:grpSpPr>
        <a:xfrm>
          <a:off x="0" y="0"/>
          <a:ext cx="0" cy="0"/>
          <a:chOff x="0" y="0"/>
          <a:chExt cx="0" cy="0"/>
        </a:xfrm>
      </p:grpSpPr>
      <p:sp>
        <p:nvSpPr>
          <p:cNvPr id="54" name="Rounded Rectangle 53">
            <a:extLst>
              <a:ext uri="{FF2B5EF4-FFF2-40B4-BE49-F238E27FC236}">
                <a16:creationId xmlns:a16="http://schemas.microsoft.com/office/drawing/2014/main" id="{2041F354-F7C1-BC31-6135-B6E13048FF0D}"/>
              </a:ext>
              <a:ext uri="{C183D7F6-B498-43B3-948B-1728B52AA6E4}">
                <adec:decorative xmlns:adec="http://schemas.microsoft.com/office/drawing/2017/decorative" val="1"/>
              </a:ext>
            </a:extLst>
          </p:cNvPr>
          <p:cNvSpPr/>
          <p:nvPr/>
        </p:nvSpPr>
        <p:spPr bwMode="auto">
          <a:xfrm>
            <a:off x="1559756" y="3298785"/>
            <a:ext cx="5029199" cy="84515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 name="Title 1">
            <a:extLst>
              <a:ext uri="{FF2B5EF4-FFF2-40B4-BE49-F238E27FC236}">
                <a16:creationId xmlns:a16="http://schemas.microsoft.com/office/drawing/2014/main" id="{8DDC4029-9325-F15F-46AE-197E9584532A}"/>
              </a:ext>
            </a:extLst>
          </p:cNvPr>
          <p:cNvSpPr>
            <a:spLocks noGrp="1"/>
          </p:cNvSpPr>
          <p:nvPr>
            <p:ph type="title"/>
          </p:nvPr>
        </p:nvSpPr>
        <p:spPr>
          <a:xfrm>
            <a:off x="588262" y="585216"/>
            <a:ext cx="8193024" cy="492443"/>
          </a:xfrm>
        </p:spPr>
        <p:txBody>
          <a:bodyPr/>
          <a:lstStyle/>
          <a:p>
            <a:r>
              <a:rPr lang="en-US" sz="3200" b="1" dirty="0"/>
              <a:t>Compare per-turn code pattern</a:t>
            </a:r>
            <a:endParaRPr lang="en-US" sz="3200" dirty="0"/>
          </a:p>
        </p:txBody>
      </p:sp>
      <p:sp>
        <p:nvSpPr>
          <p:cNvPr id="3" name="Footer Placeholder 2">
            <a:extLst>
              <a:ext uri="{FF2B5EF4-FFF2-40B4-BE49-F238E27FC236}">
                <a16:creationId xmlns:a16="http://schemas.microsoft.com/office/drawing/2014/main" id="{A2AB8F3A-1802-FDBC-604C-19BF74311A20}"/>
              </a:ext>
            </a:extLst>
          </p:cNvPr>
          <p:cNvSpPr>
            <a:spLocks noGrp="1"/>
          </p:cNvSpPr>
          <p:nvPr>
            <p:ph type="ftr" sz="quarter" idx="3"/>
          </p:nvPr>
        </p:nvSpPr>
        <p:spPr/>
        <p:txBody>
          <a:bodyPr/>
          <a:lstStyle/>
          <a:p>
            <a:pPr defTabSz="914367">
              <a:defRPr/>
            </a:pPr>
            <a:r>
              <a:rPr lang="en-US" sz="1200">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E0AF0931-4574-90FC-FF1C-38A4E75B8446}"/>
              </a:ext>
              <a:ext uri="{C183D7F6-B498-43B3-948B-1728B52AA6E4}">
                <adec:decorative xmlns:adec="http://schemas.microsoft.com/office/drawing/2017/decorative" val="1"/>
              </a:ext>
            </a:extLst>
          </p:cNvPr>
          <p:cNvSpPr/>
          <p:nvPr/>
        </p:nvSpPr>
        <p:spPr bwMode="auto">
          <a:xfrm flipH="1">
            <a:off x="1559755" y="1202435"/>
            <a:ext cx="5029200" cy="521373"/>
          </a:xfrm>
          <a:prstGeom prst="round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Box 7">
            <a:extLst>
              <a:ext uri="{FF2B5EF4-FFF2-40B4-BE49-F238E27FC236}">
                <a16:creationId xmlns:a16="http://schemas.microsoft.com/office/drawing/2014/main" id="{A78FF9AD-287B-421B-C404-9D483EF9E6D9}"/>
              </a:ext>
            </a:extLst>
          </p:cNvPr>
          <p:cNvSpPr txBox="1"/>
          <p:nvPr/>
        </p:nvSpPr>
        <p:spPr>
          <a:xfrm>
            <a:off x="2077949" y="1324622"/>
            <a:ext cx="2228174" cy="276999"/>
          </a:xfrm>
          <a:prstGeom prst="rect">
            <a:avLst/>
          </a:prstGeom>
          <a:noFill/>
        </p:spPr>
        <p:txBody>
          <a:bodyPr wrap="none" lIns="0" tIns="0" rIns="0" bIns="0" rtlCol="0">
            <a:spAutoFit/>
          </a:bodyPr>
          <a:lstStyle/>
          <a:p>
            <a:pPr algn="l"/>
            <a:r>
              <a:rPr lang="en-US" sz="1800" b="1" dirty="0" err="1">
                <a:solidFill>
                  <a:srgbClr val="0078D4"/>
                </a:solidFill>
                <a:latin typeface="+mj-lt"/>
              </a:rPr>
              <a:t>ChatCompletions</a:t>
            </a:r>
            <a:r>
              <a:rPr lang="en-US" sz="1800" b="1" dirty="0">
                <a:solidFill>
                  <a:srgbClr val="0078D4"/>
                </a:solidFill>
                <a:latin typeface="+mj-lt"/>
              </a:rPr>
              <a:t> API</a:t>
            </a:r>
          </a:p>
        </p:txBody>
      </p:sp>
      <p:grpSp>
        <p:nvGrpSpPr>
          <p:cNvPr id="50" name="Group 49">
            <a:extLst>
              <a:ext uri="{FF2B5EF4-FFF2-40B4-BE49-F238E27FC236}">
                <a16:creationId xmlns:a16="http://schemas.microsoft.com/office/drawing/2014/main" id="{503C1443-0BB1-8550-0D9B-DF5E23DC1DC1}"/>
              </a:ext>
              <a:ext uri="{C183D7F6-B498-43B3-948B-1728B52AA6E4}">
                <adec:decorative xmlns:adec="http://schemas.microsoft.com/office/drawing/2017/decorative" val="1"/>
              </a:ext>
            </a:extLst>
          </p:cNvPr>
          <p:cNvGrpSpPr>
            <a:grpSpLocks noChangeAspect="1"/>
          </p:cNvGrpSpPr>
          <p:nvPr/>
        </p:nvGrpSpPr>
        <p:grpSpPr>
          <a:xfrm>
            <a:off x="1645303" y="1280241"/>
            <a:ext cx="365760" cy="365760"/>
            <a:chOff x="1255329" y="1453729"/>
            <a:chExt cx="457200" cy="457200"/>
          </a:xfrm>
        </p:grpSpPr>
        <p:sp>
          <p:nvSpPr>
            <p:cNvPr id="7" name="Oval 6">
              <a:extLst>
                <a:ext uri="{FF2B5EF4-FFF2-40B4-BE49-F238E27FC236}">
                  <a16:creationId xmlns:a16="http://schemas.microsoft.com/office/drawing/2014/main" id="{8E354E20-A11B-18FE-B36B-6F9A84F37D34}"/>
                </a:ext>
              </a:extLst>
            </p:cNvPr>
            <p:cNvSpPr>
              <a:spLocks noChangeAspect="1"/>
            </p:cNvSpPr>
            <p:nvPr/>
          </p:nvSpPr>
          <p:spPr bwMode="auto">
            <a:xfrm>
              <a:off x="1255329" y="1453729"/>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descr="Speech with solid fill">
              <a:extLst>
                <a:ext uri="{FF2B5EF4-FFF2-40B4-BE49-F238E27FC236}">
                  <a16:creationId xmlns:a16="http://schemas.microsoft.com/office/drawing/2014/main" id="{9A074EBE-8E11-A787-82A7-68BB5668B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8002" y="1517737"/>
              <a:ext cx="365760" cy="365760"/>
            </a:xfrm>
            <a:prstGeom prst="rect">
              <a:avLst/>
            </a:prstGeom>
          </p:spPr>
        </p:pic>
      </p:grpSp>
      <p:sp>
        <p:nvSpPr>
          <p:cNvPr id="5" name="Rounded Rectangle 4">
            <a:extLst>
              <a:ext uri="{FF2B5EF4-FFF2-40B4-BE49-F238E27FC236}">
                <a16:creationId xmlns:a16="http://schemas.microsoft.com/office/drawing/2014/main" id="{70267658-6C6B-1932-01AC-3B78D059CDBC}"/>
              </a:ext>
              <a:ext uri="{C183D7F6-B498-43B3-948B-1728B52AA6E4}">
                <adec:decorative xmlns:adec="http://schemas.microsoft.com/office/drawing/2017/decorative" val="1"/>
              </a:ext>
            </a:extLst>
          </p:cNvPr>
          <p:cNvSpPr/>
          <p:nvPr/>
        </p:nvSpPr>
        <p:spPr bwMode="auto">
          <a:xfrm>
            <a:off x="6695235" y="1202600"/>
            <a:ext cx="5029200" cy="521208"/>
          </a:xfrm>
          <a:prstGeom prst="round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B855690E-939D-048F-E794-2819458B8594}"/>
              </a:ext>
            </a:extLst>
          </p:cNvPr>
          <p:cNvSpPr txBox="1"/>
          <p:nvPr/>
        </p:nvSpPr>
        <p:spPr>
          <a:xfrm>
            <a:off x="7240106" y="1324705"/>
            <a:ext cx="1516762" cy="276999"/>
          </a:xfrm>
          <a:prstGeom prst="rect">
            <a:avLst/>
          </a:prstGeom>
          <a:noFill/>
        </p:spPr>
        <p:txBody>
          <a:bodyPr wrap="none" lIns="0" tIns="0" rIns="0" bIns="0" rtlCol="0">
            <a:spAutoFit/>
          </a:bodyPr>
          <a:lstStyle/>
          <a:p>
            <a:pPr algn="l"/>
            <a:r>
              <a:rPr lang="en-US" sz="1800" dirty="0">
                <a:solidFill>
                  <a:schemeClr val="accent1"/>
                </a:solidFill>
                <a:latin typeface="+mj-lt"/>
              </a:rPr>
              <a:t>Responses API</a:t>
            </a:r>
          </a:p>
        </p:txBody>
      </p:sp>
      <p:grpSp>
        <p:nvGrpSpPr>
          <p:cNvPr id="51" name="Group 50">
            <a:extLst>
              <a:ext uri="{FF2B5EF4-FFF2-40B4-BE49-F238E27FC236}">
                <a16:creationId xmlns:a16="http://schemas.microsoft.com/office/drawing/2014/main" id="{516F72CF-7CE4-F27A-C1B8-AFE0870ADB32}"/>
              </a:ext>
              <a:ext uri="{C183D7F6-B498-43B3-948B-1728B52AA6E4}">
                <adec:decorative xmlns:adec="http://schemas.microsoft.com/office/drawing/2017/decorative" val="1"/>
              </a:ext>
            </a:extLst>
          </p:cNvPr>
          <p:cNvGrpSpPr>
            <a:grpSpLocks noChangeAspect="1"/>
          </p:cNvGrpSpPr>
          <p:nvPr/>
        </p:nvGrpSpPr>
        <p:grpSpPr>
          <a:xfrm>
            <a:off x="6813726" y="1280324"/>
            <a:ext cx="365760" cy="365760"/>
            <a:chOff x="6743621" y="1490636"/>
            <a:chExt cx="457200" cy="457200"/>
          </a:xfrm>
        </p:grpSpPr>
        <p:sp>
          <p:nvSpPr>
            <p:cNvPr id="10" name="Oval 9">
              <a:extLst>
                <a:ext uri="{FF2B5EF4-FFF2-40B4-BE49-F238E27FC236}">
                  <a16:creationId xmlns:a16="http://schemas.microsoft.com/office/drawing/2014/main" id="{B754FBEB-2638-2077-FEA1-41BF8BD03DDF}"/>
                </a:ext>
              </a:extLst>
            </p:cNvPr>
            <p:cNvSpPr>
              <a:spLocks noChangeAspect="1"/>
            </p:cNvSpPr>
            <p:nvPr/>
          </p:nvSpPr>
          <p:spPr bwMode="auto">
            <a:xfrm>
              <a:off x="6743621" y="1490636"/>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solidFill>
                  <a:schemeClr val="accent1"/>
                </a:solidFill>
                <a:ea typeface="Segoe UI" pitchFamily="34" charset="0"/>
                <a:cs typeface="Segoe UI" pitchFamily="34" charset="0"/>
              </a:endParaRPr>
            </a:p>
          </p:txBody>
        </p:sp>
        <p:pic>
          <p:nvPicPr>
            <p:cNvPr id="12" name="Graphic 11" descr="Lightning bolt with solid fill">
              <a:extLst>
                <a:ext uri="{FF2B5EF4-FFF2-40B4-BE49-F238E27FC236}">
                  <a16:creationId xmlns:a16="http://schemas.microsoft.com/office/drawing/2014/main" id="{21A8BEA7-F169-08DB-DFCF-02647215F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4690" y="1558802"/>
              <a:ext cx="365760" cy="365760"/>
            </a:xfrm>
            <a:prstGeom prst="rect">
              <a:avLst/>
            </a:prstGeom>
          </p:spPr>
        </p:pic>
      </p:grpSp>
      <p:sp>
        <p:nvSpPr>
          <p:cNvPr id="15" name="Rounded Rectangle 14">
            <a:extLst>
              <a:ext uri="{FF2B5EF4-FFF2-40B4-BE49-F238E27FC236}">
                <a16:creationId xmlns:a16="http://schemas.microsoft.com/office/drawing/2014/main" id="{DC77FFFE-E954-03E5-717E-7554436BEA66}"/>
              </a:ext>
              <a:ext uri="{C183D7F6-B498-43B3-948B-1728B52AA6E4}">
                <adec:decorative xmlns:adec="http://schemas.microsoft.com/office/drawing/2017/decorative" val="1"/>
              </a:ext>
            </a:extLst>
          </p:cNvPr>
          <p:cNvSpPr/>
          <p:nvPr/>
        </p:nvSpPr>
        <p:spPr bwMode="auto">
          <a:xfrm>
            <a:off x="1559756" y="1779334"/>
            <a:ext cx="5029199" cy="563249"/>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0" name="Rounded Rectangle 19">
            <a:extLst>
              <a:ext uri="{FF2B5EF4-FFF2-40B4-BE49-F238E27FC236}">
                <a16:creationId xmlns:a16="http://schemas.microsoft.com/office/drawing/2014/main" id="{74DCC00E-FBE4-2FB2-3910-0CF687E40BD6}"/>
              </a:ext>
              <a:ext uri="{C183D7F6-B498-43B3-948B-1728B52AA6E4}">
                <adec:decorative xmlns:adec="http://schemas.microsoft.com/office/drawing/2017/decorative" val="1"/>
              </a:ext>
            </a:extLst>
          </p:cNvPr>
          <p:cNvSpPr/>
          <p:nvPr/>
        </p:nvSpPr>
        <p:spPr bwMode="auto">
          <a:xfrm>
            <a:off x="1559756" y="2398109"/>
            <a:ext cx="5029199" cy="84515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8" name="Rounded Rectangle 27">
            <a:extLst>
              <a:ext uri="{FF2B5EF4-FFF2-40B4-BE49-F238E27FC236}">
                <a16:creationId xmlns:a16="http://schemas.microsoft.com/office/drawing/2014/main" id="{E2183FE4-EFF6-E985-732F-A84D08D41C9A}"/>
              </a:ext>
              <a:ext uri="{C183D7F6-B498-43B3-948B-1728B52AA6E4}">
                <adec:decorative xmlns:adec="http://schemas.microsoft.com/office/drawing/2017/decorative" val="1"/>
              </a:ext>
            </a:extLst>
          </p:cNvPr>
          <p:cNvSpPr/>
          <p:nvPr/>
        </p:nvSpPr>
        <p:spPr bwMode="auto">
          <a:xfrm>
            <a:off x="6695236" y="3311002"/>
            <a:ext cx="5029199" cy="1059207"/>
          </a:xfrm>
          <a:prstGeom prst="roundRect">
            <a:avLst>
              <a:gd name="adj" fmla="val 10912"/>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3" name="TextBox 32">
            <a:extLst>
              <a:ext uri="{FF2B5EF4-FFF2-40B4-BE49-F238E27FC236}">
                <a16:creationId xmlns:a16="http://schemas.microsoft.com/office/drawing/2014/main" id="{D5C2647A-BB82-3215-D5EE-2F8BEB181A6F}"/>
              </a:ext>
            </a:extLst>
          </p:cNvPr>
          <p:cNvSpPr txBox="1"/>
          <p:nvPr/>
        </p:nvSpPr>
        <p:spPr>
          <a:xfrm>
            <a:off x="6708650" y="3311002"/>
            <a:ext cx="5018706" cy="1015663"/>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openai_client</a:t>
            </a:r>
            <a:r>
              <a:rPr lang="en-US" sz="1200" b="0" i="0" dirty="0" err="1">
                <a:solidFill>
                  <a:srgbClr val="ABB2BF"/>
                </a:solidFill>
                <a:effectLst/>
                <a:latin typeface="Consolas" panose="020B0609020204030204" pitchFamily="49" charset="0"/>
              </a:rPr>
              <a:t>.responses.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"gpt-4.1"</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instructions</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"You are helpful..."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input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input_text</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previous_response_id</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last_response_id</a:t>
            </a:r>
            <a:r>
              <a:rPr lang="en-US" sz="1200" b="0" i="0" dirty="0">
                <a:solidFill>
                  <a:srgbClr val="ABB2BF"/>
                </a:solidFill>
                <a:effectLst/>
                <a:latin typeface="Consolas" panose="020B0609020204030204" pitchFamily="49" charset="0"/>
              </a:rPr>
              <a:t>)</a:t>
            </a:r>
            <a:endParaRPr lang="en-US" sz="1200" dirty="0"/>
          </a:p>
        </p:txBody>
      </p:sp>
      <p:sp>
        <p:nvSpPr>
          <p:cNvPr id="41" name="TextBox 40">
            <a:extLst>
              <a:ext uri="{FF2B5EF4-FFF2-40B4-BE49-F238E27FC236}">
                <a16:creationId xmlns:a16="http://schemas.microsoft.com/office/drawing/2014/main" id="{817DB563-CA26-27E6-B67B-CA769C6D5E09}"/>
              </a:ext>
            </a:extLst>
          </p:cNvPr>
          <p:cNvSpPr txBox="1"/>
          <p:nvPr/>
        </p:nvSpPr>
        <p:spPr>
          <a:xfrm>
            <a:off x="1557618" y="1829930"/>
            <a:ext cx="5026060" cy="461665"/>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conversation_messages</a:t>
            </a:r>
            <a:r>
              <a:rPr lang="en-US" sz="1200" b="0" i="0" dirty="0">
                <a:solidFill>
                  <a:srgbClr val="ABB2BF"/>
                </a:solidFill>
                <a:effectLst/>
                <a:latin typeface="Consolas" panose="020B0609020204030204" pitchFamily="49" charset="0"/>
              </a:rPr>
              <a:t> = [</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"system"</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"You are helpful..."</a:t>
            </a:r>
            <a:r>
              <a:rPr lang="en-US" sz="1200" b="0" i="0" dirty="0">
                <a:solidFill>
                  <a:srgbClr val="ABB2BF"/>
                </a:solidFill>
                <a:effectLst/>
                <a:latin typeface="Consolas" panose="020B0609020204030204" pitchFamily="49" charset="0"/>
              </a:rPr>
              <a:t>}]</a:t>
            </a:r>
            <a:endParaRPr lang="en-US" sz="1200" dirty="0"/>
          </a:p>
        </p:txBody>
      </p:sp>
      <p:sp>
        <p:nvSpPr>
          <p:cNvPr id="43" name="TextBox 42">
            <a:extLst>
              <a:ext uri="{FF2B5EF4-FFF2-40B4-BE49-F238E27FC236}">
                <a16:creationId xmlns:a16="http://schemas.microsoft.com/office/drawing/2014/main" id="{35A35AD2-85A5-0C97-3108-D837FAC19E41}"/>
              </a:ext>
            </a:extLst>
          </p:cNvPr>
          <p:cNvSpPr txBox="1"/>
          <p:nvPr/>
        </p:nvSpPr>
        <p:spPr>
          <a:xfrm>
            <a:off x="1554481" y="2484098"/>
            <a:ext cx="5029199" cy="646331"/>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conversation_messages</a:t>
            </a:r>
            <a:r>
              <a:rPr lang="en-US" sz="1200" b="0" i="0" dirty="0" err="1">
                <a:solidFill>
                  <a:srgbClr val="ABB2BF"/>
                </a:solidFill>
                <a:effectLst/>
                <a:latin typeface="Consolas" panose="020B0609020204030204" pitchFamily="49" charset="0"/>
              </a:rPr>
              <a:t>.</a:t>
            </a:r>
            <a:r>
              <a:rPr lang="en-US" sz="1200" b="0" i="0" dirty="0" err="1">
                <a:solidFill>
                  <a:srgbClr val="DCDCAA"/>
                </a:solidFill>
                <a:effectLst/>
                <a:latin typeface="Consolas" panose="020B0609020204030204" pitchFamily="49" charset="0"/>
              </a:rPr>
              <a:t>append</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"user"</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input_text</a:t>
            </a:r>
            <a:r>
              <a:rPr lang="en-US" sz="1200" b="0" i="0" dirty="0">
                <a:solidFill>
                  <a:srgbClr val="ABB2BF"/>
                </a:solidFill>
                <a:effectLst/>
                <a:latin typeface="Consolas" panose="020B0609020204030204" pitchFamily="49" charset="0"/>
              </a:rPr>
              <a:t>})</a:t>
            </a:r>
            <a:endParaRPr lang="en-US" sz="1200" dirty="0"/>
          </a:p>
        </p:txBody>
      </p:sp>
      <p:sp>
        <p:nvSpPr>
          <p:cNvPr id="45" name="TextBox 44">
            <a:extLst>
              <a:ext uri="{FF2B5EF4-FFF2-40B4-BE49-F238E27FC236}">
                <a16:creationId xmlns:a16="http://schemas.microsoft.com/office/drawing/2014/main" id="{92A5A684-7CE9-B1E8-E6A4-9B88D055CB7A}"/>
              </a:ext>
            </a:extLst>
          </p:cNvPr>
          <p:cNvSpPr txBox="1"/>
          <p:nvPr/>
        </p:nvSpPr>
        <p:spPr>
          <a:xfrm>
            <a:off x="1554481" y="3388560"/>
            <a:ext cx="5029199" cy="646331"/>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completion</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openai_client</a:t>
            </a:r>
            <a:r>
              <a:rPr lang="en-US" sz="1200" b="0" i="0" dirty="0" err="1">
                <a:solidFill>
                  <a:srgbClr val="ABB2BF"/>
                </a:solidFill>
                <a:effectLst/>
                <a:latin typeface="Consolas" panose="020B0609020204030204" pitchFamily="49" charset="0"/>
              </a:rPr>
              <a:t>.chat.completions.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"gpt-4.1"</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messages</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conversation_messages</a:t>
            </a:r>
            <a:r>
              <a:rPr lang="en-US" sz="1200" b="0" i="0" dirty="0">
                <a:solidFill>
                  <a:srgbClr val="ABB2BF"/>
                </a:solidFill>
                <a:effectLst/>
                <a:latin typeface="Consolas" panose="020B0609020204030204" pitchFamily="49" charset="0"/>
              </a:rPr>
              <a:t>)</a:t>
            </a:r>
            <a:endParaRPr lang="en-US" sz="1200" dirty="0"/>
          </a:p>
        </p:txBody>
      </p:sp>
      <p:sp>
        <p:nvSpPr>
          <p:cNvPr id="52" name="Rounded Rectangle 51">
            <a:extLst>
              <a:ext uri="{FF2B5EF4-FFF2-40B4-BE49-F238E27FC236}">
                <a16:creationId xmlns:a16="http://schemas.microsoft.com/office/drawing/2014/main" id="{05CE2B58-310B-2ABE-BE0D-AF1E5613DCA8}"/>
              </a:ext>
              <a:ext uri="{C183D7F6-B498-43B3-948B-1728B52AA6E4}">
                <adec:decorative xmlns:adec="http://schemas.microsoft.com/office/drawing/2017/decorative" val="1"/>
              </a:ext>
            </a:extLst>
          </p:cNvPr>
          <p:cNvSpPr/>
          <p:nvPr/>
        </p:nvSpPr>
        <p:spPr bwMode="auto">
          <a:xfrm>
            <a:off x="6695236" y="1835549"/>
            <a:ext cx="5029199" cy="563249"/>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5" name="TextBox 34">
            <a:extLst>
              <a:ext uri="{FF2B5EF4-FFF2-40B4-BE49-F238E27FC236}">
                <a16:creationId xmlns:a16="http://schemas.microsoft.com/office/drawing/2014/main" id="{D4262AB6-47EF-25D7-6B4D-D813B5158399}"/>
              </a:ext>
            </a:extLst>
          </p:cNvPr>
          <p:cNvSpPr txBox="1"/>
          <p:nvPr/>
        </p:nvSpPr>
        <p:spPr>
          <a:xfrm>
            <a:off x="6708650" y="1957469"/>
            <a:ext cx="5018706" cy="276999"/>
          </a:xfrm>
          <a:prstGeom prst="rect">
            <a:avLst/>
          </a:prstGeom>
          <a:noFill/>
        </p:spPr>
        <p:txBody>
          <a:bodyPr wrap="square">
            <a:spAutoFit/>
          </a:bodyPr>
          <a:lstStyle/>
          <a:p>
            <a:pPr algn="l">
              <a:buNone/>
            </a:pPr>
            <a:r>
              <a:rPr lang="en-US" sz="1200" b="0" i="0" dirty="0" err="1">
                <a:solidFill>
                  <a:srgbClr val="9CDCFE"/>
                </a:solidFill>
                <a:effectLst/>
                <a:latin typeface="Consolas" panose="020B0609020204030204" pitchFamily="49" charset="0"/>
              </a:rPr>
              <a:t>last_response_id</a:t>
            </a:r>
            <a:r>
              <a:rPr lang="en-US" sz="1200" b="0" i="0" dirty="0">
                <a:solidFill>
                  <a:srgbClr val="ABB2BF"/>
                </a:solidFill>
                <a:effectLst/>
                <a:latin typeface="Consolas" panose="020B0609020204030204" pitchFamily="49" charset="0"/>
              </a:rPr>
              <a:t> = </a:t>
            </a:r>
            <a:r>
              <a:rPr lang="en-US" sz="1200" b="0" i="0" dirty="0">
                <a:solidFill>
                  <a:srgbClr val="569CD6"/>
                </a:solidFill>
                <a:effectLst/>
                <a:latin typeface="Consolas" panose="020B0609020204030204" pitchFamily="49" charset="0"/>
              </a:rPr>
              <a:t>None</a:t>
            </a:r>
            <a:endParaRPr lang="en-US" sz="1200" b="0" i="0" dirty="0">
              <a:solidFill>
                <a:srgbClr val="ABB2BF"/>
              </a:solidFill>
              <a:effectLst/>
              <a:latin typeface="Consolas" panose="020B0609020204030204" pitchFamily="49" charset="0"/>
            </a:endParaRPr>
          </a:p>
        </p:txBody>
      </p:sp>
      <p:sp>
        <p:nvSpPr>
          <p:cNvPr id="55" name="Rounded Rectangle 54">
            <a:extLst>
              <a:ext uri="{FF2B5EF4-FFF2-40B4-BE49-F238E27FC236}">
                <a16:creationId xmlns:a16="http://schemas.microsoft.com/office/drawing/2014/main" id="{0F91F743-A49E-0F26-1449-4BB9EFDC4C48}"/>
              </a:ext>
              <a:ext uri="{C183D7F6-B498-43B3-948B-1728B52AA6E4}">
                <adec:decorative xmlns:adec="http://schemas.microsoft.com/office/drawing/2017/decorative" val="1"/>
              </a:ext>
            </a:extLst>
          </p:cNvPr>
          <p:cNvSpPr/>
          <p:nvPr/>
        </p:nvSpPr>
        <p:spPr bwMode="auto">
          <a:xfrm>
            <a:off x="1559756" y="4199461"/>
            <a:ext cx="5029199" cy="56096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7" name="TextBox 46">
            <a:extLst>
              <a:ext uri="{FF2B5EF4-FFF2-40B4-BE49-F238E27FC236}">
                <a16:creationId xmlns:a16="http://schemas.microsoft.com/office/drawing/2014/main" id="{7AA3CA38-A1FC-B9A0-0BF5-A0239C1B6A17}"/>
              </a:ext>
            </a:extLst>
          </p:cNvPr>
          <p:cNvSpPr txBox="1"/>
          <p:nvPr/>
        </p:nvSpPr>
        <p:spPr>
          <a:xfrm>
            <a:off x="1554480" y="4209544"/>
            <a:ext cx="5029199" cy="461665"/>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assistant_msg</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completion</a:t>
            </a:r>
            <a:r>
              <a:rPr lang="en-US" sz="1200" b="0" i="0" dirty="0" err="1">
                <a:solidFill>
                  <a:srgbClr val="ABB2BF"/>
                </a:solidFill>
                <a:effectLst/>
                <a:latin typeface="Consolas" panose="020B0609020204030204" pitchFamily="49" charset="0"/>
              </a:rPr>
              <a:t>.choices</a:t>
            </a:r>
            <a:r>
              <a:rPr lang="en-US" sz="1200" b="0" i="0" dirty="0">
                <a:solidFill>
                  <a:srgbClr val="ABB2BF"/>
                </a:solidFill>
                <a:effectLst/>
                <a:latin typeface="Consolas" panose="020B0609020204030204" pitchFamily="49" charset="0"/>
              </a:rPr>
              <a:t>[</a:t>
            </a:r>
            <a:r>
              <a:rPr lang="en-US" sz="1200" b="0" i="0" dirty="0">
                <a:solidFill>
                  <a:srgbClr val="B5CEA8"/>
                </a:solidFill>
                <a:effectLst/>
                <a:latin typeface="Consolas" panose="020B0609020204030204" pitchFamily="49" charset="0"/>
              </a:rPr>
              <a:t>0</a:t>
            </a:r>
            <a:r>
              <a:rPr lang="en-US" sz="1200" b="0" i="0" dirty="0">
                <a:solidFill>
                  <a:srgbClr val="ABB2BF"/>
                </a:solidFill>
                <a:effectLst/>
                <a:latin typeface="Consolas" panose="020B0609020204030204" pitchFamily="49" charset="0"/>
              </a:rPr>
              <a:t>].</a:t>
            </a:r>
            <a:r>
              <a:rPr lang="en-US" sz="1200" b="0" i="0" dirty="0" err="1">
                <a:solidFill>
                  <a:srgbClr val="ABB2BF"/>
                </a:solidFill>
                <a:effectLst/>
                <a:latin typeface="Consolas" panose="020B0609020204030204" pitchFamily="49" charset="0"/>
              </a:rPr>
              <a:t>message.content</a:t>
            </a:r>
            <a:endParaRPr lang="en-US" sz="1200" b="0" i="0" dirty="0">
              <a:solidFill>
                <a:srgbClr val="ABB2BF"/>
              </a:solidFill>
              <a:effectLst/>
              <a:latin typeface="Consolas" panose="020B0609020204030204" pitchFamily="49" charset="0"/>
            </a:endParaRPr>
          </a:p>
          <a:p>
            <a:r>
              <a:rPr lang="en-US" sz="1200" b="0" i="0" dirty="0">
                <a:solidFill>
                  <a:srgbClr val="DCDCAA"/>
                </a:solidFill>
                <a:effectLst/>
                <a:latin typeface="Consolas" panose="020B0609020204030204" pitchFamily="49" charset="0"/>
              </a:rPr>
              <a:t>print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assistant_msg</a:t>
            </a:r>
            <a:r>
              <a:rPr lang="en-US" sz="1200" b="0" i="0" dirty="0">
                <a:solidFill>
                  <a:srgbClr val="ABB2BF"/>
                </a:solidFill>
                <a:effectLst/>
                <a:latin typeface="Consolas" panose="020B0609020204030204" pitchFamily="49" charset="0"/>
              </a:rPr>
              <a:t>)</a:t>
            </a:r>
            <a:endParaRPr lang="en-US" sz="1200" dirty="0"/>
          </a:p>
        </p:txBody>
      </p:sp>
      <p:sp>
        <p:nvSpPr>
          <p:cNvPr id="56" name="Rounded Rectangle 55">
            <a:extLst>
              <a:ext uri="{FF2B5EF4-FFF2-40B4-BE49-F238E27FC236}">
                <a16:creationId xmlns:a16="http://schemas.microsoft.com/office/drawing/2014/main" id="{FA72C1EC-57AC-ED05-A3DE-F414B7078C87}"/>
              </a:ext>
              <a:ext uri="{C183D7F6-B498-43B3-948B-1728B52AA6E4}">
                <adec:decorative xmlns:adec="http://schemas.microsoft.com/office/drawing/2017/decorative" val="1"/>
              </a:ext>
            </a:extLst>
          </p:cNvPr>
          <p:cNvSpPr/>
          <p:nvPr/>
        </p:nvSpPr>
        <p:spPr bwMode="auto">
          <a:xfrm>
            <a:off x="1559756" y="4815947"/>
            <a:ext cx="5029199" cy="84515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9" name="TextBox 48">
            <a:extLst>
              <a:ext uri="{FF2B5EF4-FFF2-40B4-BE49-F238E27FC236}">
                <a16:creationId xmlns:a16="http://schemas.microsoft.com/office/drawing/2014/main" id="{F3B6110C-5015-1C57-7130-9690B644C2A2}"/>
              </a:ext>
            </a:extLst>
          </p:cNvPr>
          <p:cNvSpPr txBox="1"/>
          <p:nvPr/>
        </p:nvSpPr>
        <p:spPr>
          <a:xfrm>
            <a:off x="1554479" y="4891786"/>
            <a:ext cx="5029199" cy="646331"/>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conversation_messages</a:t>
            </a:r>
            <a:r>
              <a:rPr lang="en-US" sz="1200" b="0" i="0" dirty="0" err="1">
                <a:solidFill>
                  <a:srgbClr val="ABB2BF"/>
                </a:solidFill>
                <a:effectLst/>
                <a:latin typeface="Consolas" panose="020B0609020204030204" pitchFamily="49" charset="0"/>
              </a:rPr>
              <a:t>.</a:t>
            </a:r>
            <a:r>
              <a:rPr lang="en-US" sz="1200" b="0" i="0" dirty="0" err="1">
                <a:solidFill>
                  <a:srgbClr val="DCDCAA"/>
                </a:solidFill>
                <a:effectLst/>
                <a:latin typeface="Consolas" panose="020B0609020204030204" pitchFamily="49" charset="0"/>
              </a:rPr>
              <a:t>append</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"assistant"</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assistant_msg</a:t>
            </a:r>
            <a:r>
              <a:rPr lang="en-US" sz="1200" b="0" i="0" dirty="0">
                <a:solidFill>
                  <a:srgbClr val="ABB2BF"/>
                </a:solidFill>
                <a:effectLst/>
                <a:latin typeface="Consolas" panose="020B0609020204030204" pitchFamily="49" charset="0"/>
              </a:rPr>
              <a:t>})</a:t>
            </a:r>
            <a:endParaRPr lang="en-US" sz="1200" dirty="0"/>
          </a:p>
        </p:txBody>
      </p:sp>
      <p:sp>
        <p:nvSpPr>
          <p:cNvPr id="57" name="Rounded Rectangle 56">
            <a:extLst>
              <a:ext uri="{FF2B5EF4-FFF2-40B4-BE49-F238E27FC236}">
                <a16:creationId xmlns:a16="http://schemas.microsoft.com/office/drawing/2014/main" id="{2B234CCF-5F11-06E9-8CFA-37151413BA54}"/>
              </a:ext>
              <a:ext uri="{C183D7F6-B498-43B3-948B-1728B52AA6E4}">
                <adec:decorative xmlns:adec="http://schemas.microsoft.com/office/drawing/2017/decorative" val="1"/>
              </a:ext>
            </a:extLst>
          </p:cNvPr>
          <p:cNvSpPr/>
          <p:nvPr/>
        </p:nvSpPr>
        <p:spPr bwMode="auto">
          <a:xfrm>
            <a:off x="6695236" y="4405911"/>
            <a:ext cx="5029199" cy="461665"/>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7" name="TextBox 36">
            <a:extLst>
              <a:ext uri="{FF2B5EF4-FFF2-40B4-BE49-F238E27FC236}">
                <a16:creationId xmlns:a16="http://schemas.microsoft.com/office/drawing/2014/main" id="{01F360FA-363B-4743-2158-7CC34B94FF15}"/>
              </a:ext>
            </a:extLst>
          </p:cNvPr>
          <p:cNvSpPr txBox="1"/>
          <p:nvPr/>
        </p:nvSpPr>
        <p:spPr>
          <a:xfrm>
            <a:off x="6692315" y="4491255"/>
            <a:ext cx="5018706" cy="276999"/>
          </a:xfrm>
          <a:prstGeom prst="rect">
            <a:avLst/>
          </a:prstGeom>
          <a:noFill/>
        </p:spPr>
        <p:txBody>
          <a:bodyPr wrap="square">
            <a:spAutoFit/>
          </a:bodyPr>
          <a:lstStyle/>
          <a:p>
            <a:pPr algn="l">
              <a:buNone/>
            </a:pPr>
            <a:r>
              <a:rPr lang="en-US" sz="1200" b="0" i="0" dirty="0">
                <a:solidFill>
                  <a:srgbClr val="DCDCAA"/>
                </a:solidFill>
                <a:effectLst/>
                <a:latin typeface="Consolas" panose="020B0609020204030204" pitchFamily="49" charset="0"/>
              </a:rPr>
              <a:t>print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response</a:t>
            </a:r>
            <a:r>
              <a:rPr lang="en-US" sz="1200" b="0" i="0" dirty="0" err="1">
                <a:solidFill>
                  <a:srgbClr val="ABB2BF"/>
                </a:solidFill>
                <a:effectLst/>
                <a:latin typeface="Consolas" panose="020B0609020204030204" pitchFamily="49" charset="0"/>
              </a:rPr>
              <a:t>.output_text</a:t>
            </a:r>
            <a:r>
              <a:rPr lang="en-US" sz="1200" b="0" i="0" dirty="0">
                <a:solidFill>
                  <a:srgbClr val="ABB2BF"/>
                </a:solidFill>
                <a:effectLst/>
                <a:latin typeface="Consolas" panose="020B0609020204030204" pitchFamily="49" charset="0"/>
              </a:rPr>
              <a:t>)</a:t>
            </a:r>
            <a:endParaRPr lang="en-US" sz="1200" dirty="0"/>
          </a:p>
        </p:txBody>
      </p:sp>
      <p:sp>
        <p:nvSpPr>
          <p:cNvPr id="58" name="Rounded Rectangle 57">
            <a:extLst>
              <a:ext uri="{FF2B5EF4-FFF2-40B4-BE49-F238E27FC236}">
                <a16:creationId xmlns:a16="http://schemas.microsoft.com/office/drawing/2014/main" id="{579E7E8D-B48E-3DE9-219A-B8AD3AEAB062}"/>
              </a:ext>
              <a:ext uri="{C183D7F6-B498-43B3-948B-1728B52AA6E4}">
                <adec:decorative xmlns:adec="http://schemas.microsoft.com/office/drawing/2017/decorative" val="1"/>
              </a:ext>
            </a:extLst>
          </p:cNvPr>
          <p:cNvSpPr/>
          <p:nvPr/>
        </p:nvSpPr>
        <p:spPr bwMode="auto">
          <a:xfrm>
            <a:off x="6681822" y="5202634"/>
            <a:ext cx="5029199" cy="461665"/>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9" name="TextBox 38">
            <a:extLst>
              <a:ext uri="{FF2B5EF4-FFF2-40B4-BE49-F238E27FC236}">
                <a16:creationId xmlns:a16="http://schemas.microsoft.com/office/drawing/2014/main" id="{AA9D12CD-1077-F82C-2C40-82D01678AFA1}"/>
              </a:ext>
            </a:extLst>
          </p:cNvPr>
          <p:cNvSpPr txBox="1"/>
          <p:nvPr/>
        </p:nvSpPr>
        <p:spPr>
          <a:xfrm>
            <a:off x="6681822" y="5285903"/>
            <a:ext cx="4991878" cy="276999"/>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last_response_id</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response</a:t>
            </a:r>
            <a:r>
              <a:rPr lang="en-US" sz="1200" b="0" i="0" dirty="0" err="1">
                <a:solidFill>
                  <a:srgbClr val="ABB2BF"/>
                </a:solidFill>
                <a:effectLst/>
                <a:latin typeface="Consolas" panose="020B0609020204030204" pitchFamily="49" charset="0"/>
              </a:rPr>
              <a:t>.id</a:t>
            </a:r>
            <a:endParaRPr lang="en-US" sz="1200" dirty="0"/>
          </a:p>
        </p:txBody>
      </p:sp>
      <p:grpSp>
        <p:nvGrpSpPr>
          <p:cNvPr id="70" name="Group 69">
            <a:extLst>
              <a:ext uri="{FF2B5EF4-FFF2-40B4-BE49-F238E27FC236}">
                <a16:creationId xmlns:a16="http://schemas.microsoft.com/office/drawing/2014/main" id="{8F325D51-7BD7-12ED-DAF4-708BBA3CAFD8}"/>
              </a:ext>
              <a:ext uri="{C183D7F6-B498-43B3-948B-1728B52AA6E4}">
                <adec:decorative xmlns:adec="http://schemas.microsoft.com/office/drawing/2017/decorative" val="1"/>
              </a:ext>
            </a:extLst>
          </p:cNvPr>
          <p:cNvGrpSpPr/>
          <p:nvPr/>
        </p:nvGrpSpPr>
        <p:grpSpPr>
          <a:xfrm>
            <a:off x="544191" y="1901997"/>
            <a:ext cx="849838" cy="338554"/>
            <a:chOff x="544191" y="1901997"/>
            <a:chExt cx="849838" cy="338554"/>
          </a:xfrm>
        </p:grpSpPr>
        <p:sp>
          <p:nvSpPr>
            <p:cNvPr id="59" name="Oval 58">
              <a:extLst>
                <a:ext uri="{FF2B5EF4-FFF2-40B4-BE49-F238E27FC236}">
                  <a16:creationId xmlns:a16="http://schemas.microsoft.com/office/drawing/2014/main" id="{7625B65B-3181-A87F-4BA2-9982A0CBBEE0}"/>
                </a:ext>
              </a:extLst>
            </p:cNvPr>
            <p:cNvSpPr>
              <a:spLocks noChangeAspect="1"/>
            </p:cNvSpPr>
            <p:nvPr/>
          </p:nvSpPr>
          <p:spPr bwMode="auto">
            <a:xfrm>
              <a:off x="544191" y="1979834"/>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lumMod val="50000"/>
                    </a:schemeClr>
                  </a:solidFill>
                  <a:ea typeface="Segoe UI" pitchFamily="34" charset="0"/>
                  <a:cs typeface="Segoe UI" pitchFamily="34" charset="0"/>
                </a:rPr>
                <a:t>1</a:t>
              </a:r>
            </a:p>
          </p:txBody>
        </p:sp>
        <p:sp>
          <p:nvSpPr>
            <p:cNvPr id="64" name="TextBox 63">
              <a:extLst>
                <a:ext uri="{FF2B5EF4-FFF2-40B4-BE49-F238E27FC236}">
                  <a16:creationId xmlns:a16="http://schemas.microsoft.com/office/drawing/2014/main" id="{EB508759-FE10-B119-39AC-8A17154F9483}"/>
                </a:ext>
              </a:extLst>
            </p:cNvPr>
            <p:cNvSpPr txBox="1"/>
            <p:nvPr/>
          </p:nvSpPr>
          <p:spPr>
            <a:xfrm>
              <a:off x="917937" y="1901997"/>
              <a:ext cx="476092" cy="338554"/>
            </a:xfrm>
            <a:prstGeom prst="rect">
              <a:avLst/>
            </a:prstGeom>
            <a:noFill/>
          </p:spPr>
          <p:txBody>
            <a:bodyPr wrap="none" lIns="0" tIns="0" rIns="0" bIns="0" rtlCol="0">
              <a:spAutoFit/>
            </a:bodyPr>
            <a:lstStyle/>
            <a:p>
              <a:pPr algn="ctr"/>
              <a:r>
                <a:rPr lang="en-US" sz="1100" dirty="0">
                  <a:solidFill>
                    <a:schemeClr val="bg1">
                      <a:lumMod val="50000"/>
                    </a:schemeClr>
                  </a:solidFill>
                  <a:latin typeface="+mj-lt"/>
                </a:rPr>
                <a:t>INITIAL</a:t>
              </a:r>
            </a:p>
            <a:p>
              <a:pPr algn="ctr"/>
              <a:r>
                <a:rPr lang="en-US" sz="1100" dirty="0">
                  <a:solidFill>
                    <a:schemeClr val="bg1">
                      <a:lumMod val="50000"/>
                    </a:schemeClr>
                  </a:solidFill>
                  <a:latin typeface="+mj-lt"/>
                </a:rPr>
                <a:t> STATE</a:t>
              </a:r>
            </a:p>
          </p:txBody>
        </p:sp>
      </p:grpSp>
      <p:grpSp>
        <p:nvGrpSpPr>
          <p:cNvPr id="71" name="Group 70">
            <a:extLst>
              <a:ext uri="{FF2B5EF4-FFF2-40B4-BE49-F238E27FC236}">
                <a16:creationId xmlns:a16="http://schemas.microsoft.com/office/drawing/2014/main" id="{7933073B-54AB-7039-0D15-4F448645C600}"/>
              </a:ext>
              <a:ext uri="{C183D7F6-B498-43B3-948B-1728B52AA6E4}">
                <adec:decorative xmlns:adec="http://schemas.microsoft.com/office/drawing/2017/decorative" val="1"/>
              </a:ext>
            </a:extLst>
          </p:cNvPr>
          <p:cNvGrpSpPr/>
          <p:nvPr/>
        </p:nvGrpSpPr>
        <p:grpSpPr>
          <a:xfrm>
            <a:off x="544191" y="2632315"/>
            <a:ext cx="816976" cy="338554"/>
            <a:chOff x="544191" y="2632315"/>
            <a:chExt cx="816976" cy="338554"/>
          </a:xfrm>
        </p:grpSpPr>
        <p:sp>
          <p:nvSpPr>
            <p:cNvPr id="63" name="Oval 62">
              <a:extLst>
                <a:ext uri="{FF2B5EF4-FFF2-40B4-BE49-F238E27FC236}">
                  <a16:creationId xmlns:a16="http://schemas.microsoft.com/office/drawing/2014/main" id="{553C555A-D0DB-C982-0B4E-C918D426AB92}"/>
                </a:ext>
              </a:extLst>
            </p:cNvPr>
            <p:cNvSpPr>
              <a:spLocks noChangeAspect="1"/>
            </p:cNvSpPr>
            <p:nvPr/>
          </p:nvSpPr>
          <p:spPr bwMode="auto">
            <a:xfrm>
              <a:off x="544191" y="271015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lumMod val="50000"/>
                    </a:schemeClr>
                  </a:solidFill>
                  <a:ea typeface="Segoe UI" pitchFamily="34" charset="0"/>
                  <a:cs typeface="Segoe UI" pitchFamily="34" charset="0"/>
                </a:rPr>
                <a:t>2</a:t>
              </a:r>
            </a:p>
          </p:txBody>
        </p:sp>
        <p:sp>
          <p:nvSpPr>
            <p:cNvPr id="65" name="TextBox 64">
              <a:extLst>
                <a:ext uri="{FF2B5EF4-FFF2-40B4-BE49-F238E27FC236}">
                  <a16:creationId xmlns:a16="http://schemas.microsoft.com/office/drawing/2014/main" id="{500C522F-8F48-F177-36DF-E9E162F2F042}"/>
                </a:ext>
              </a:extLst>
            </p:cNvPr>
            <p:cNvSpPr txBox="1"/>
            <p:nvPr/>
          </p:nvSpPr>
          <p:spPr>
            <a:xfrm>
              <a:off x="950797" y="2632315"/>
              <a:ext cx="410370" cy="338554"/>
            </a:xfrm>
            <a:prstGeom prst="rect">
              <a:avLst/>
            </a:prstGeom>
            <a:noFill/>
          </p:spPr>
          <p:txBody>
            <a:bodyPr wrap="none" lIns="0" tIns="0" rIns="0" bIns="0" rtlCol="0">
              <a:spAutoFit/>
            </a:bodyPr>
            <a:lstStyle/>
            <a:p>
              <a:pPr algn="ctr"/>
              <a:r>
                <a:rPr lang="en-US" sz="1100" dirty="0">
                  <a:solidFill>
                    <a:schemeClr val="bg1">
                      <a:lumMod val="50000"/>
                    </a:schemeClr>
                  </a:solidFill>
                  <a:latin typeface="+mj-lt"/>
                </a:rPr>
                <a:t>ADD</a:t>
              </a:r>
            </a:p>
            <a:p>
              <a:pPr algn="ctr"/>
              <a:r>
                <a:rPr lang="en-US" sz="1100" dirty="0">
                  <a:solidFill>
                    <a:schemeClr val="bg1">
                      <a:lumMod val="50000"/>
                    </a:schemeClr>
                  </a:solidFill>
                  <a:latin typeface="+mj-lt"/>
                </a:rPr>
                <a:t>INPUT</a:t>
              </a:r>
            </a:p>
          </p:txBody>
        </p:sp>
      </p:grpSp>
      <p:grpSp>
        <p:nvGrpSpPr>
          <p:cNvPr id="72" name="Group 71">
            <a:extLst>
              <a:ext uri="{FF2B5EF4-FFF2-40B4-BE49-F238E27FC236}">
                <a16:creationId xmlns:a16="http://schemas.microsoft.com/office/drawing/2014/main" id="{E634B46F-844E-CE7A-CD6D-251B877F859E}"/>
              </a:ext>
              <a:ext uri="{C183D7F6-B498-43B3-948B-1728B52AA6E4}">
                <adec:decorative xmlns:adec="http://schemas.microsoft.com/office/drawing/2017/decorative" val="1"/>
              </a:ext>
            </a:extLst>
          </p:cNvPr>
          <p:cNvGrpSpPr/>
          <p:nvPr/>
        </p:nvGrpSpPr>
        <p:grpSpPr>
          <a:xfrm>
            <a:off x="544191" y="3547779"/>
            <a:ext cx="772093" cy="338554"/>
            <a:chOff x="544191" y="3462435"/>
            <a:chExt cx="772093" cy="338554"/>
          </a:xfrm>
        </p:grpSpPr>
        <p:sp>
          <p:nvSpPr>
            <p:cNvPr id="62" name="Oval 61">
              <a:extLst>
                <a:ext uri="{FF2B5EF4-FFF2-40B4-BE49-F238E27FC236}">
                  <a16:creationId xmlns:a16="http://schemas.microsoft.com/office/drawing/2014/main" id="{9A8C4A1C-000A-C076-777C-09CD657C2946}"/>
                </a:ext>
              </a:extLst>
            </p:cNvPr>
            <p:cNvSpPr>
              <a:spLocks noChangeAspect="1"/>
            </p:cNvSpPr>
            <p:nvPr/>
          </p:nvSpPr>
          <p:spPr bwMode="auto">
            <a:xfrm>
              <a:off x="544191" y="354027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lumMod val="50000"/>
                    </a:schemeClr>
                  </a:solidFill>
                  <a:ea typeface="Segoe UI" pitchFamily="34" charset="0"/>
                  <a:cs typeface="Segoe UI" pitchFamily="34" charset="0"/>
                </a:rPr>
                <a:t>3</a:t>
              </a:r>
            </a:p>
          </p:txBody>
        </p:sp>
        <p:sp>
          <p:nvSpPr>
            <p:cNvPr id="66" name="TextBox 65">
              <a:extLst>
                <a:ext uri="{FF2B5EF4-FFF2-40B4-BE49-F238E27FC236}">
                  <a16:creationId xmlns:a16="http://schemas.microsoft.com/office/drawing/2014/main" id="{2A2DF0D3-B712-93A5-CC54-470889861D09}"/>
                </a:ext>
              </a:extLst>
            </p:cNvPr>
            <p:cNvSpPr txBox="1"/>
            <p:nvPr/>
          </p:nvSpPr>
          <p:spPr>
            <a:xfrm>
              <a:off x="995683" y="3462435"/>
              <a:ext cx="320601" cy="338554"/>
            </a:xfrm>
            <a:prstGeom prst="rect">
              <a:avLst/>
            </a:prstGeom>
            <a:noFill/>
          </p:spPr>
          <p:txBody>
            <a:bodyPr wrap="none" lIns="0" tIns="0" rIns="0" bIns="0" rtlCol="0">
              <a:spAutoFit/>
            </a:bodyPr>
            <a:lstStyle/>
            <a:p>
              <a:pPr algn="ctr"/>
              <a:r>
                <a:rPr lang="en-US" sz="1100" dirty="0">
                  <a:solidFill>
                    <a:schemeClr val="bg1">
                      <a:lumMod val="50000"/>
                    </a:schemeClr>
                  </a:solidFill>
                  <a:latin typeface="+mj-lt"/>
                </a:rPr>
                <a:t>CALL</a:t>
              </a:r>
            </a:p>
            <a:p>
              <a:pPr algn="ctr"/>
              <a:r>
                <a:rPr lang="en-US" sz="1100" dirty="0">
                  <a:solidFill>
                    <a:schemeClr val="bg1">
                      <a:lumMod val="50000"/>
                    </a:schemeClr>
                  </a:solidFill>
                  <a:latin typeface="+mj-lt"/>
                </a:rPr>
                <a:t>API</a:t>
              </a:r>
            </a:p>
          </p:txBody>
        </p:sp>
      </p:grpSp>
      <p:grpSp>
        <p:nvGrpSpPr>
          <p:cNvPr id="73" name="Group 72">
            <a:extLst>
              <a:ext uri="{FF2B5EF4-FFF2-40B4-BE49-F238E27FC236}">
                <a16:creationId xmlns:a16="http://schemas.microsoft.com/office/drawing/2014/main" id="{3F8D5B28-9F19-9CF2-D455-084978BD2A90}"/>
              </a:ext>
              <a:ext uri="{C183D7F6-B498-43B3-948B-1728B52AA6E4}">
                <adec:decorative xmlns:adec="http://schemas.microsoft.com/office/drawing/2017/decorative" val="1"/>
              </a:ext>
            </a:extLst>
          </p:cNvPr>
          <p:cNvGrpSpPr/>
          <p:nvPr/>
        </p:nvGrpSpPr>
        <p:grpSpPr>
          <a:xfrm>
            <a:off x="544191" y="4303096"/>
            <a:ext cx="884303" cy="338554"/>
            <a:chOff x="544191" y="4303096"/>
            <a:chExt cx="884303" cy="338554"/>
          </a:xfrm>
        </p:grpSpPr>
        <p:sp>
          <p:nvSpPr>
            <p:cNvPr id="61" name="Oval 60">
              <a:extLst>
                <a:ext uri="{FF2B5EF4-FFF2-40B4-BE49-F238E27FC236}">
                  <a16:creationId xmlns:a16="http://schemas.microsoft.com/office/drawing/2014/main" id="{488997FF-C833-30D9-3BFE-189CA31D1525}"/>
                </a:ext>
              </a:extLst>
            </p:cNvPr>
            <p:cNvSpPr>
              <a:spLocks noChangeAspect="1"/>
            </p:cNvSpPr>
            <p:nvPr/>
          </p:nvSpPr>
          <p:spPr bwMode="auto">
            <a:xfrm>
              <a:off x="544191" y="4380933"/>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lumMod val="50000"/>
                    </a:schemeClr>
                  </a:solidFill>
                  <a:ea typeface="Segoe UI" pitchFamily="34" charset="0"/>
                  <a:cs typeface="Segoe UI" pitchFamily="34" charset="0"/>
                </a:rPr>
                <a:t>4</a:t>
              </a:r>
            </a:p>
          </p:txBody>
        </p:sp>
        <p:sp>
          <p:nvSpPr>
            <p:cNvPr id="67" name="TextBox 66">
              <a:extLst>
                <a:ext uri="{FF2B5EF4-FFF2-40B4-BE49-F238E27FC236}">
                  <a16:creationId xmlns:a16="http://schemas.microsoft.com/office/drawing/2014/main" id="{85C5BD3D-9CFA-A5F6-4C76-2A76877E52A7}"/>
                </a:ext>
              </a:extLst>
            </p:cNvPr>
            <p:cNvSpPr txBox="1"/>
            <p:nvPr/>
          </p:nvSpPr>
          <p:spPr>
            <a:xfrm>
              <a:off x="883472" y="4303096"/>
              <a:ext cx="545022" cy="338554"/>
            </a:xfrm>
            <a:prstGeom prst="rect">
              <a:avLst/>
            </a:prstGeom>
            <a:noFill/>
          </p:spPr>
          <p:txBody>
            <a:bodyPr wrap="none" lIns="0" tIns="0" rIns="0" bIns="0" rtlCol="0">
              <a:spAutoFit/>
            </a:bodyPr>
            <a:lstStyle/>
            <a:p>
              <a:pPr algn="ctr"/>
              <a:r>
                <a:rPr lang="en-US" sz="1100" dirty="0">
                  <a:solidFill>
                    <a:schemeClr val="bg1">
                      <a:lumMod val="50000"/>
                    </a:schemeClr>
                  </a:solidFill>
                  <a:latin typeface="+mj-lt"/>
                </a:rPr>
                <a:t>GET</a:t>
              </a:r>
            </a:p>
            <a:p>
              <a:pPr algn="ctr"/>
              <a:r>
                <a:rPr lang="en-US" sz="1100" dirty="0">
                  <a:solidFill>
                    <a:schemeClr val="bg1">
                      <a:lumMod val="50000"/>
                    </a:schemeClr>
                  </a:solidFill>
                  <a:latin typeface="+mj-lt"/>
                </a:rPr>
                <a:t>OUTPUT</a:t>
              </a:r>
            </a:p>
          </p:txBody>
        </p:sp>
      </p:grpSp>
      <p:grpSp>
        <p:nvGrpSpPr>
          <p:cNvPr id="74" name="Group 73">
            <a:extLst>
              <a:ext uri="{FF2B5EF4-FFF2-40B4-BE49-F238E27FC236}">
                <a16:creationId xmlns:a16="http://schemas.microsoft.com/office/drawing/2014/main" id="{860C29B7-1423-24DC-7922-462CDC642B6B}"/>
              </a:ext>
              <a:ext uri="{C183D7F6-B498-43B3-948B-1728B52AA6E4}">
                <adec:decorative xmlns:adec="http://schemas.microsoft.com/office/drawing/2017/decorative" val="1"/>
              </a:ext>
            </a:extLst>
          </p:cNvPr>
          <p:cNvGrpSpPr/>
          <p:nvPr/>
        </p:nvGrpSpPr>
        <p:grpSpPr>
          <a:xfrm>
            <a:off x="544191" y="5069245"/>
            <a:ext cx="876288" cy="338554"/>
            <a:chOff x="544191" y="5069245"/>
            <a:chExt cx="876288" cy="338554"/>
          </a:xfrm>
        </p:grpSpPr>
        <p:sp>
          <p:nvSpPr>
            <p:cNvPr id="60" name="Oval 59">
              <a:extLst>
                <a:ext uri="{FF2B5EF4-FFF2-40B4-BE49-F238E27FC236}">
                  <a16:creationId xmlns:a16="http://schemas.microsoft.com/office/drawing/2014/main" id="{2DA51554-7863-F3C2-64A1-3DD9078B6E67}"/>
                </a:ext>
              </a:extLst>
            </p:cNvPr>
            <p:cNvSpPr>
              <a:spLocks noChangeAspect="1"/>
            </p:cNvSpPr>
            <p:nvPr/>
          </p:nvSpPr>
          <p:spPr bwMode="auto">
            <a:xfrm>
              <a:off x="544191" y="514708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lumMod val="50000"/>
                    </a:schemeClr>
                  </a:solidFill>
                  <a:ea typeface="Segoe UI" pitchFamily="34" charset="0"/>
                  <a:cs typeface="Segoe UI" pitchFamily="34" charset="0"/>
                </a:rPr>
                <a:t>5</a:t>
              </a:r>
            </a:p>
          </p:txBody>
        </p:sp>
        <p:sp>
          <p:nvSpPr>
            <p:cNvPr id="68" name="TextBox 67">
              <a:extLst>
                <a:ext uri="{FF2B5EF4-FFF2-40B4-BE49-F238E27FC236}">
                  <a16:creationId xmlns:a16="http://schemas.microsoft.com/office/drawing/2014/main" id="{5F9D335E-1E1B-221F-CC28-9C4735919FA0}"/>
                </a:ext>
              </a:extLst>
            </p:cNvPr>
            <p:cNvSpPr txBox="1"/>
            <p:nvPr/>
          </p:nvSpPr>
          <p:spPr>
            <a:xfrm>
              <a:off x="891488" y="5069245"/>
              <a:ext cx="528991" cy="338554"/>
            </a:xfrm>
            <a:prstGeom prst="rect">
              <a:avLst/>
            </a:prstGeom>
            <a:noFill/>
          </p:spPr>
          <p:txBody>
            <a:bodyPr wrap="none" lIns="0" tIns="0" rIns="0" bIns="0" rtlCol="0">
              <a:spAutoFit/>
            </a:bodyPr>
            <a:lstStyle/>
            <a:p>
              <a:pPr algn="ctr"/>
              <a:r>
                <a:rPr lang="en-US" sz="1100" dirty="0">
                  <a:solidFill>
                    <a:schemeClr val="bg1">
                      <a:lumMod val="50000"/>
                    </a:schemeClr>
                  </a:solidFill>
                  <a:latin typeface="+mj-lt"/>
                </a:rPr>
                <a:t>UPDATE</a:t>
              </a:r>
            </a:p>
            <a:p>
              <a:pPr algn="ctr"/>
              <a:r>
                <a:rPr lang="en-US" sz="1100" dirty="0">
                  <a:solidFill>
                    <a:schemeClr val="bg1">
                      <a:lumMod val="50000"/>
                    </a:schemeClr>
                  </a:solidFill>
                  <a:latin typeface="+mj-lt"/>
                </a:rPr>
                <a:t>STATE</a:t>
              </a:r>
            </a:p>
          </p:txBody>
        </p:sp>
      </p:grpSp>
    </p:spTree>
    <p:extLst>
      <p:ext uri="{BB962C8B-B14F-4D97-AF65-F5344CB8AC3E}">
        <p14:creationId xmlns:p14="http://schemas.microsoft.com/office/powerpoint/2010/main" val="95605917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C4DAC6-4F15-A82F-893A-9E8239DD3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E5CC3-269A-44E9-2B1A-FC281588CBF7}"/>
              </a:ext>
            </a:extLst>
          </p:cNvPr>
          <p:cNvSpPr>
            <a:spLocks noGrp="1"/>
          </p:cNvSpPr>
          <p:nvPr>
            <p:ph type="title"/>
          </p:nvPr>
        </p:nvSpPr>
        <p:spPr>
          <a:xfrm>
            <a:off x="588262" y="585216"/>
            <a:ext cx="8193024" cy="492443"/>
          </a:xfrm>
        </p:spPr>
        <p:txBody>
          <a:bodyPr/>
          <a:lstStyle/>
          <a:p>
            <a:r>
              <a:rPr lang="en-US" sz="3200" dirty="0"/>
              <a:t>Using the </a:t>
            </a:r>
            <a:r>
              <a:rPr lang="en-US" sz="3200" i="1" dirty="0"/>
              <a:t>Responses</a:t>
            </a:r>
            <a:r>
              <a:rPr lang="en-US" sz="3200" dirty="0"/>
              <a:t> API</a:t>
            </a:r>
          </a:p>
        </p:txBody>
      </p:sp>
      <p:sp>
        <p:nvSpPr>
          <p:cNvPr id="3" name="Footer Placeholder 2">
            <a:extLst>
              <a:ext uri="{FF2B5EF4-FFF2-40B4-BE49-F238E27FC236}">
                <a16:creationId xmlns:a16="http://schemas.microsoft.com/office/drawing/2014/main" id="{5B0334F4-BE05-A931-E337-7A3A5C54148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TextBox 4">
            <a:extLst>
              <a:ext uri="{FF2B5EF4-FFF2-40B4-BE49-F238E27FC236}">
                <a16:creationId xmlns:a16="http://schemas.microsoft.com/office/drawing/2014/main" id="{273B25A2-E977-DE2D-BE1D-8C7DD7BDA2CE}"/>
              </a:ext>
            </a:extLst>
          </p:cNvPr>
          <p:cNvSpPr txBox="1"/>
          <p:nvPr/>
        </p:nvSpPr>
        <p:spPr>
          <a:xfrm>
            <a:off x="588262" y="1259800"/>
            <a:ext cx="11015476" cy="3816429"/>
          </a:xfrm>
          <a:prstGeom prst="rect">
            <a:avLst/>
          </a:prstGeom>
          <a:solidFill>
            <a:schemeClr val="tx1">
              <a:lumMod val="95000"/>
              <a:lumOff val="5000"/>
            </a:schemeClr>
          </a:solidFill>
          <a:ln>
            <a:solidFill>
              <a:schemeClr val="tx2">
                <a:lumMod val="50000"/>
                <a:lumOff val="50000"/>
              </a:schemeClr>
            </a:solidFill>
          </a:ln>
        </p:spPr>
        <p:txBody>
          <a:bodyPr wrap="square">
            <a:spAutoFit/>
          </a:bodyPr>
          <a:lstStyle/>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Track previous response</a:t>
            </a:r>
          </a:p>
          <a:p>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last_response_id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None</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Loop until the user wants to quit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print("Assistant: Enter a prompt (or type 'quit' to exit)")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while True: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input('\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nYou</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if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input_text.lower</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"quit":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print("Assistant: Goodbye!")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break</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a response to the user’s prompt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response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openai_client.responses.create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 helpful AI assistant that explains technology concepts.",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previous_response_id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last_response_id</a:t>
            </a:r>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nAssistant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Track the response for the next turn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last_response_id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response.id</a:t>
            </a:r>
          </a:p>
        </p:txBody>
      </p:sp>
      <p:sp>
        <p:nvSpPr>
          <p:cNvPr id="7" name="TextBox 6">
            <a:extLst>
              <a:ext uri="{FF2B5EF4-FFF2-40B4-BE49-F238E27FC236}">
                <a16:creationId xmlns:a16="http://schemas.microsoft.com/office/drawing/2014/main" id="{A4235EBD-9B12-C4DC-8FD1-833269EE05CC}"/>
              </a:ext>
            </a:extLst>
          </p:cNvPr>
          <p:cNvSpPr txBox="1"/>
          <p:nvPr/>
        </p:nvSpPr>
        <p:spPr>
          <a:xfrm>
            <a:off x="4870450" y="4398800"/>
            <a:ext cx="7057138" cy="1615827"/>
          </a:xfrm>
          <a:prstGeom prst="rect">
            <a:avLst/>
          </a:prstGeom>
          <a:solidFill>
            <a:schemeClr val="tx1">
              <a:lumMod val="95000"/>
              <a:lumOff val="5000"/>
            </a:schemeClr>
          </a:solidFill>
          <a:ln>
            <a:solidFill>
              <a:schemeClr val="accent2"/>
            </a:solidFill>
          </a:ln>
          <a:effectLst>
            <a:outerShdw blurRad="50800" dist="38100" dir="2700000" algn="tl" rotWithShape="0">
              <a:prstClr val="black">
                <a:alpha val="40000"/>
              </a:prstClr>
            </a:outerShdw>
          </a:effectLst>
        </p:spPr>
        <p:txBody>
          <a:bodyPr wrap="square">
            <a:spAutoFit/>
          </a:bodyPr>
          <a:lstStyle/>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Enter a prompt (or type 'quit' to exit)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What is machine learning?</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Machine learning is a type of artificial intelligence (AI) that enables computers to learn from data and predict unknown values based on learned patterns.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Can you give me an example?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Certainly! A simple example of supervised learning would be a model that predicts house prices based on features like size, location, and number of rooms.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quit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Goodbye!</a:t>
            </a:r>
          </a:p>
        </p:txBody>
      </p:sp>
    </p:spTree>
    <p:extLst>
      <p:ext uri="{BB962C8B-B14F-4D97-AF65-F5344CB8AC3E}">
        <p14:creationId xmlns:p14="http://schemas.microsoft.com/office/powerpoint/2010/main" val="196366788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E3EF-0ECE-C863-659C-AFDC032BAAE8}"/>
              </a:ext>
            </a:extLst>
          </p:cNvPr>
          <p:cNvSpPr>
            <a:spLocks noGrp="1"/>
          </p:cNvSpPr>
          <p:nvPr>
            <p:ph type="title"/>
          </p:nvPr>
        </p:nvSpPr>
        <p:spPr>
          <a:xfrm>
            <a:off x="588262" y="585216"/>
            <a:ext cx="8193024" cy="492443"/>
          </a:xfrm>
        </p:spPr>
        <p:txBody>
          <a:bodyPr/>
          <a:lstStyle/>
          <a:p>
            <a:r>
              <a:rPr lang="en-US" sz="3200" dirty="0"/>
              <a:t>Using the </a:t>
            </a:r>
            <a:r>
              <a:rPr lang="en-US" sz="3200" i="1" dirty="0" err="1"/>
              <a:t>ChatCompletions</a:t>
            </a:r>
            <a:r>
              <a:rPr lang="en-US" sz="3200" dirty="0"/>
              <a:t> API</a:t>
            </a:r>
          </a:p>
        </p:txBody>
      </p:sp>
      <p:sp>
        <p:nvSpPr>
          <p:cNvPr id="3" name="Footer Placeholder 2">
            <a:extLst>
              <a:ext uri="{FF2B5EF4-FFF2-40B4-BE49-F238E27FC236}">
                <a16:creationId xmlns:a16="http://schemas.microsoft.com/office/drawing/2014/main" id="{AA3F6D97-CD0D-3D72-BA68-EC2909C443C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TextBox 4">
            <a:extLst>
              <a:ext uri="{FF2B5EF4-FFF2-40B4-BE49-F238E27FC236}">
                <a16:creationId xmlns:a16="http://schemas.microsoft.com/office/drawing/2014/main" id="{72D670EC-6A04-D1B3-BDB7-63C72D3613FA}"/>
              </a:ext>
            </a:extLst>
          </p:cNvPr>
          <p:cNvSpPr txBox="1"/>
          <p:nvPr/>
        </p:nvSpPr>
        <p:spPr>
          <a:xfrm>
            <a:off x="579438" y="1202184"/>
            <a:ext cx="10990262" cy="4832092"/>
          </a:xfrm>
          <a:prstGeom prst="rect">
            <a:avLst/>
          </a:prstGeom>
          <a:solidFill>
            <a:schemeClr val="tx1">
              <a:lumMod val="95000"/>
              <a:lumOff val="5000"/>
            </a:schemeClr>
          </a:solidFill>
          <a:ln>
            <a:solidFill>
              <a:schemeClr val="tx2">
                <a:lumMod val="50000"/>
                <a:lumOff val="50000"/>
              </a:schemeClr>
            </a:solidFill>
          </a:ln>
        </p:spPr>
        <p:txBody>
          <a:bodyPr wrap="square">
            <a:spAutoFit/>
          </a:bodyPr>
          <a:lstStyle/>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Initial system message</a:t>
            </a:r>
          </a:p>
          <a:p>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conversation_messages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"system", "content": "You are a helpful AI assistant that answers questions and provides information."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Loop until the user wants to quit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print("Assistant: Enter a prompt (or type 'quit' to exit)")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while True: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input('\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nYou</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if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input_text.lower</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"quit":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print("Assistant: Goodbye!")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break</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Add user message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conversation_messages.append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"user", "content":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completion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completion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openai_client.chat.completions.create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conversation_messages</a:t>
            </a:r>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assistant_message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completion.choices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[0].</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message.content</a:t>
            </a:r>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nAssistant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assistant_message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Add assistant message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conversation_messages.append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"assistant", "content":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assistant_message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p:txBody>
      </p:sp>
      <p:sp>
        <p:nvSpPr>
          <p:cNvPr id="7" name="TextBox 6">
            <a:extLst>
              <a:ext uri="{FF2B5EF4-FFF2-40B4-BE49-F238E27FC236}">
                <a16:creationId xmlns:a16="http://schemas.microsoft.com/office/drawing/2014/main" id="{573F9FBB-C4B7-F91A-98FD-F5DDDFD8DC72}"/>
              </a:ext>
            </a:extLst>
          </p:cNvPr>
          <p:cNvSpPr txBox="1"/>
          <p:nvPr/>
        </p:nvSpPr>
        <p:spPr>
          <a:xfrm>
            <a:off x="6292851" y="5133924"/>
            <a:ext cx="5670550" cy="1446550"/>
          </a:xfrm>
          <a:prstGeom prst="rect">
            <a:avLst/>
          </a:prstGeom>
          <a:solidFill>
            <a:schemeClr val="tx1">
              <a:lumMod val="95000"/>
              <a:lumOff val="5000"/>
            </a:schemeClr>
          </a:solidFill>
          <a:ln>
            <a:solidFill>
              <a:schemeClr val="accent2"/>
            </a:solidFill>
          </a:ln>
          <a:effectLst>
            <a:outerShdw blurRad="50800" dist="38100" dir="2700000" algn="tl" rotWithShape="0">
              <a:prstClr val="black">
                <a:alpha val="40000"/>
              </a:prstClr>
            </a:outerShdw>
          </a:effectLst>
        </p:spPr>
        <p:txBody>
          <a:bodyPr wrap="square">
            <a:spAutoFit/>
          </a:bodyPr>
          <a:lstStyle/>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Enter a prompt (or type 'quit' to exit)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When was Microsoft founded?</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Microsoft was founded on April 4, 1975.</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Who founded 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Microsoft was founded by Bill Gates and Paul Allen.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quit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Goodbye!</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67131251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02D9-8063-F798-A754-F39E9317A7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96F367-A7D7-1A13-1109-6014179D5D1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3BDEFB77-A558-6F6E-E2A9-02913F8E1051}"/>
              </a:ext>
            </a:extLst>
          </p:cNvPr>
          <p:cNvSpPr>
            <a:spLocks noGrp="1"/>
          </p:cNvSpPr>
          <p:nvPr>
            <p:ph type="body" sz="quarter" idx="16"/>
          </p:nvPr>
        </p:nvSpPr>
        <p:spPr>
          <a:xfrm>
            <a:off x="584199" y="1594155"/>
            <a:ext cx="5654573" cy="307777"/>
          </a:xfrm>
        </p:spPr>
        <p:txBody>
          <a:bodyPr/>
          <a:lstStyle/>
          <a:p>
            <a:r>
              <a:rPr lang="it-IT" sz="2000" dirty="0"/>
              <a:t>Create a generative AI chat app</a:t>
            </a:r>
            <a:endParaRPr lang="en-US" sz="2000" dirty="0"/>
          </a:p>
        </p:txBody>
      </p:sp>
      <p:sp>
        <p:nvSpPr>
          <p:cNvPr id="6" name="Text Placeholder 5">
            <a:extLst>
              <a:ext uri="{FF2B5EF4-FFF2-40B4-BE49-F238E27FC236}">
                <a16:creationId xmlns:a16="http://schemas.microsoft.com/office/drawing/2014/main" id="{FA39939E-35F4-0561-BCBC-16DBA34A8512}"/>
              </a:ext>
            </a:extLst>
          </p:cNvPr>
          <p:cNvSpPr>
            <a:spLocks noGrp="1"/>
          </p:cNvSpPr>
          <p:nvPr>
            <p:ph type="body" sz="quarter" idx="15"/>
          </p:nvPr>
        </p:nvSpPr>
        <p:spPr>
          <a:xfrm>
            <a:off x="586389" y="2085764"/>
            <a:ext cx="4144361" cy="1477328"/>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Microsoft Foundry project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Deploy a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Get the endpoint and key</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client application to chat with the model</a:t>
            </a:r>
            <a:endParaRPr lang="en-US" dirty="0"/>
          </a:p>
        </p:txBody>
      </p:sp>
      <p:sp>
        <p:nvSpPr>
          <p:cNvPr id="10" name="TextBox 9">
            <a:extLst>
              <a:ext uri="{FF2B5EF4-FFF2-40B4-BE49-F238E27FC236}">
                <a16:creationId xmlns:a16="http://schemas.microsoft.com/office/drawing/2014/main" id="{E77527EB-873C-482F-CD04-56057D316F41}"/>
              </a:ext>
            </a:extLst>
          </p:cNvPr>
          <p:cNvSpPr txBox="1"/>
          <p:nvPr/>
        </p:nvSpPr>
        <p:spPr>
          <a:xfrm>
            <a:off x="487330" y="3967742"/>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https://go.microsoft.com/fwlink/?linkid=2354411</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012759FF-F8A6-CE10-FAAF-2CAFCF25B86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25A817D3-7C3F-72A7-F70F-F60E2CE74BA8}"/>
              </a:ext>
              <a:ext uri="{C183D7F6-B498-43B3-948B-1728B52AA6E4}">
                <adec:decorative xmlns:adec="http://schemas.microsoft.com/office/drawing/2017/decorative" val="1"/>
              </a:ext>
            </a:extLst>
          </p:cNvPr>
          <p:cNvPicPr>
            <a:picLocks noChangeAspect="1"/>
          </p:cNvPicPr>
          <p:nvPr/>
        </p:nvPicPr>
        <p:blipFill>
          <a:blip r:embed="rId4"/>
          <a:srcRect l="1156" r="1156"/>
          <a:stretch/>
        </p:blipFill>
        <p:spPr>
          <a:xfrm>
            <a:off x="7723991" y="2044700"/>
            <a:ext cx="4468009" cy="3309257"/>
          </a:xfrm>
          <a:prstGeom prst="rect">
            <a:avLst/>
          </a:prstGeom>
        </p:spPr>
      </p:pic>
      <p:sp>
        <p:nvSpPr>
          <p:cNvPr id="11" name="Flowchart: Off-page Connector 44">
            <a:extLst>
              <a:ext uri="{FF2B5EF4-FFF2-40B4-BE49-F238E27FC236}">
                <a16:creationId xmlns:a16="http://schemas.microsoft.com/office/drawing/2014/main" id="{0A905EB7-14AC-3C06-4A65-FF13E0E45C51}"/>
              </a:ext>
              <a:ext uri="{C183D7F6-B498-43B3-948B-1728B52AA6E4}">
                <adec:decorative xmlns:adec="http://schemas.microsoft.com/office/drawing/2017/decorative" val="0"/>
              </a:ext>
            </a:extLst>
          </p:cNvPr>
          <p:cNvSpPr/>
          <p:nvPr/>
        </p:nvSpPr>
        <p:spPr bwMode="auto">
          <a:xfrm rot="5400000">
            <a:off x="5960050" y="2617672"/>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81532020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9D111-5947-7186-5556-3C97FCF28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8E845-E183-9EC3-9BAA-D8EC0AD190BA}"/>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F8B26BA0-300F-5087-6E2E-D3FE78F678B6}"/>
              </a:ext>
            </a:extLst>
          </p:cNvPr>
          <p:cNvSpPr>
            <a:spLocks noGrp="1"/>
          </p:cNvSpPr>
          <p:nvPr>
            <p:ph type="body" sz="quarter" idx="17"/>
          </p:nvPr>
        </p:nvSpPr>
        <p:spPr>
          <a:xfrm>
            <a:off x="1235075" y="1766085"/>
            <a:ext cx="8778782" cy="215444"/>
          </a:xfrm>
        </p:spPr>
        <p:txBody>
          <a:bodyPr/>
          <a:lstStyle/>
          <a:p>
            <a:r>
              <a:rPr lang="en-US" b="1" dirty="0"/>
              <a:t>Which endpoint offers the broadest support for OpenAI APIs with Foundry Models?</a:t>
            </a:r>
          </a:p>
        </p:txBody>
      </p:sp>
      <p:sp>
        <p:nvSpPr>
          <p:cNvPr id="9" name="Text Placeholder 8">
            <a:extLst>
              <a:ext uri="{FF2B5EF4-FFF2-40B4-BE49-F238E27FC236}">
                <a16:creationId xmlns:a16="http://schemas.microsoft.com/office/drawing/2014/main" id="{2FA8BFD8-0FE8-890D-CC71-4A22BB58394A}"/>
              </a:ext>
            </a:extLst>
          </p:cNvPr>
          <p:cNvSpPr>
            <a:spLocks noGrp="1"/>
          </p:cNvSpPr>
          <p:nvPr>
            <p:ph type="body" sz="quarter" idx="15"/>
          </p:nvPr>
        </p:nvSpPr>
        <p:spPr>
          <a:xfrm>
            <a:off x="1235075" y="2084048"/>
            <a:ext cx="8775098" cy="732508"/>
          </a:xfrm>
          <a:noFill/>
        </p:spPr>
        <p:txBody>
          <a:bodyPr/>
          <a:lstStyle/>
          <a:p>
            <a:r>
              <a:rPr lang="en-US" noProof="0" dirty="0"/>
              <a:t>The Foundry project endpoint</a:t>
            </a:r>
          </a:p>
          <a:p>
            <a:r>
              <a:rPr lang="en-US" noProof="0" dirty="0"/>
              <a:t>The Azure OpenAI endpoint</a:t>
            </a:r>
          </a:p>
          <a:p>
            <a:r>
              <a:rPr lang="en-US" noProof="0" dirty="0"/>
              <a:t>The Foundry Tools endpoint</a:t>
            </a:r>
          </a:p>
        </p:txBody>
      </p:sp>
      <p:sp>
        <p:nvSpPr>
          <p:cNvPr id="18" name="Text Placeholder 17">
            <a:extLst>
              <a:ext uri="{FF2B5EF4-FFF2-40B4-BE49-F238E27FC236}">
                <a16:creationId xmlns:a16="http://schemas.microsoft.com/office/drawing/2014/main" id="{DD68DF51-5E38-5B5C-089E-76C0E7FB2857}"/>
              </a:ext>
            </a:extLst>
          </p:cNvPr>
          <p:cNvSpPr>
            <a:spLocks noGrp="1"/>
          </p:cNvSpPr>
          <p:nvPr>
            <p:ph type="body" sz="quarter" idx="22"/>
          </p:nvPr>
        </p:nvSpPr>
        <p:spPr>
          <a:xfrm>
            <a:off x="1235076" y="4449589"/>
            <a:ext cx="8778782" cy="215444"/>
          </a:xfrm>
        </p:spPr>
        <p:txBody>
          <a:bodyPr/>
          <a:lstStyle/>
          <a:p>
            <a:r>
              <a:rPr lang="en-US" noProof="0" dirty="0"/>
              <a:t>Which method do you use to generate responses with the Responses API?</a:t>
            </a:r>
          </a:p>
        </p:txBody>
      </p:sp>
      <p:sp>
        <p:nvSpPr>
          <p:cNvPr id="19" name="Text Placeholder 18">
            <a:extLst>
              <a:ext uri="{FF2B5EF4-FFF2-40B4-BE49-F238E27FC236}">
                <a16:creationId xmlns:a16="http://schemas.microsoft.com/office/drawing/2014/main" id="{4659235A-2451-6D87-7098-A2494732FB09}"/>
              </a:ext>
            </a:extLst>
          </p:cNvPr>
          <p:cNvSpPr>
            <a:spLocks noGrp="1"/>
          </p:cNvSpPr>
          <p:nvPr>
            <p:ph type="body" sz="quarter" idx="23"/>
          </p:nvPr>
        </p:nvSpPr>
        <p:spPr>
          <a:xfrm>
            <a:off x="1235075" y="4784705"/>
            <a:ext cx="8775098" cy="732508"/>
          </a:xfrm>
        </p:spPr>
        <p:txBody>
          <a:bodyPr/>
          <a:lstStyle/>
          <a:p>
            <a:r>
              <a:rPr lang="en-US" dirty="0" err="1"/>
              <a:t>client.chat.completions.create</a:t>
            </a:r>
            <a:r>
              <a:rPr lang="en-US" dirty="0"/>
              <a:t>()</a:t>
            </a:r>
          </a:p>
          <a:p>
            <a:r>
              <a:rPr lang="en-US" dirty="0" err="1"/>
              <a:t>client.get_response_id</a:t>
            </a:r>
            <a:r>
              <a:rPr lang="en-US" dirty="0"/>
              <a:t>()</a:t>
            </a:r>
          </a:p>
          <a:p>
            <a:r>
              <a:rPr lang="en-US" dirty="0" err="1"/>
              <a:t>client.responses.create</a:t>
            </a:r>
            <a:r>
              <a:rPr lang="en-US" dirty="0"/>
              <a:t>()</a:t>
            </a:r>
          </a:p>
        </p:txBody>
      </p:sp>
      <p:sp>
        <p:nvSpPr>
          <p:cNvPr id="76" name="Oval 75">
            <a:extLst>
              <a:ext uri="{FF2B5EF4-FFF2-40B4-BE49-F238E27FC236}">
                <a16:creationId xmlns:a16="http://schemas.microsoft.com/office/drawing/2014/main" id="{D93E5B35-AEF6-0834-9F0B-9FC9C5850A71}"/>
              </a:ext>
              <a:ext uri="{C183D7F6-B498-43B3-948B-1728B52AA6E4}">
                <adec:decorative xmlns:adec="http://schemas.microsoft.com/office/drawing/2017/decorative" val="1"/>
              </a:ext>
            </a:extLst>
          </p:cNvPr>
          <p:cNvSpPr>
            <a:spLocks/>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C0C83EFF-4C6F-9664-2419-4CA6D080A6C5}"/>
              </a:ext>
              <a:ext uri="{C183D7F6-B498-43B3-948B-1728B52AA6E4}">
                <adec:decorative xmlns:adec="http://schemas.microsoft.com/office/drawing/2017/decorative" val="1"/>
              </a:ext>
            </a:extLst>
          </p:cNvPr>
          <p:cNvSpPr>
            <a:spLocks/>
          </p:cNvSpPr>
          <p:nvPr/>
        </p:nvSpPr>
        <p:spPr bwMode="auto">
          <a:xfrm>
            <a:off x="722582" y="31094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5047A999-0C75-588E-E61D-923404CB8630}"/>
              </a:ext>
              <a:ext uri="{C183D7F6-B498-43B3-948B-1728B52AA6E4}">
                <adec:decorative xmlns:adec="http://schemas.microsoft.com/office/drawing/2017/decorative" val="1"/>
              </a:ext>
            </a:extLst>
          </p:cNvPr>
          <p:cNvSpPr>
            <a:spLocks/>
          </p:cNvSpPr>
          <p:nvPr/>
        </p:nvSpPr>
        <p:spPr>
          <a:xfrm>
            <a:off x="1263852" y="376048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386762AA-9B75-A856-0149-61DAEF1C3225}"/>
              </a:ext>
              <a:ext uri="{C183D7F6-B498-43B3-948B-1728B52AA6E4}">
                <adec:decorative xmlns:adec="http://schemas.microsoft.com/office/drawing/2017/decorative" val="1"/>
              </a:ext>
            </a:extLst>
          </p:cNvPr>
          <p:cNvSpPr>
            <a:spLocks/>
          </p:cNvSpPr>
          <p:nvPr/>
        </p:nvSpPr>
        <p:spPr>
          <a:xfrm>
            <a:off x="1263852" y="238151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04C0F93D-4AAE-48C7-7C9D-5F3EE437394B}"/>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Text Placeholder 27">
            <a:extLst>
              <a:ext uri="{FF2B5EF4-FFF2-40B4-BE49-F238E27FC236}">
                <a16:creationId xmlns:a16="http://schemas.microsoft.com/office/drawing/2014/main" id="{C20EC539-A6AE-9533-28CB-EDA992D4A4FA}"/>
              </a:ext>
            </a:extLst>
          </p:cNvPr>
          <p:cNvSpPr>
            <a:spLocks noGrp="1"/>
          </p:cNvSpPr>
          <p:nvPr>
            <p:ph type="body" sz="quarter" idx="20"/>
          </p:nvPr>
        </p:nvSpPr>
        <p:spPr>
          <a:xfrm>
            <a:off x="1235075" y="3179541"/>
            <a:ext cx="8778782" cy="215444"/>
          </a:xfrm>
        </p:spPr>
        <p:txBody>
          <a:bodyPr/>
          <a:lstStyle/>
          <a:p>
            <a:r>
              <a:rPr lang="en-US" dirty="0"/>
              <a:t>Which package must you install to use the Microsoft Foundry SDK in Python?</a:t>
            </a:r>
          </a:p>
        </p:txBody>
      </p:sp>
      <p:sp>
        <p:nvSpPr>
          <p:cNvPr id="6" name="Text Placeholder 28">
            <a:extLst>
              <a:ext uri="{FF2B5EF4-FFF2-40B4-BE49-F238E27FC236}">
                <a16:creationId xmlns:a16="http://schemas.microsoft.com/office/drawing/2014/main" id="{2D392A7B-0160-C92E-0CF0-51C670D49B4E}"/>
              </a:ext>
            </a:extLst>
          </p:cNvPr>
          <p:cNvSpPr>
            <a:spLocks noGrp="1"/>
          </p:cNvSpPr>
          <p:nvPr>
            <p:ph type="body" sz="quarter" idx="21"/>
          </p:nvPr>
        </p:nvSpPr>
        <p:spPr>
          <a:xfrm>
            <a:off x="1235075" y="3474065"/>
            <a:ext cx="8775700" cy="732508"/>
          </a:xfrm>
        </p:spPr>
        <p:txBody>
          <a:bodyPr/>
          <a:lstStyle/>
          <a:p>
            <a:r>
              <a:rPr lang="en-US" sz="1400" dirty="0"/>
              <a:t>azure-foundry</a:t>
            </a:r>
          </a:p>
          <a:p>
            <a:r>
              <a:rPr lang="en-US" sz="1400" dirty="0"/>
              <a:t>azure-ai-projects</a:t>
            </a:r>
          </a:p>
          <a:p>
            <a:r>
              <a:rPr lang="en-US" sz="1400" dirty="0" err="1"/>
              <a:t>microsoft</a:t>
            </a:r>
            <a:r>
              <a:rPr lang="en-US" sz="1400" dirty="0"/>
              <a:t>-foundry-</a:t>
            </a:r>
            <a:r>
              <a:rPr lang="en-US" sz="1400" dirty="0" err="1"/>
              <a:t>sdk</a:t>
            </a:r>
            <a:endParaRPr lang="en-US" sz="1400" dirty="0"/>
          </a:p>
        </p:txBody>
      </p:sp>
      <p:sp>
        <p:nvSpPr>
          <p:cNvPr id="7" name="Graphic 26" descr="Checkmark">
            <a:extLst>
              <a:ext uri="{FF2B5EF4-FFF2-40B4-BE49-F238E27FC236}">
                <a16:creationId xmlns:a16="http://schemas.microsoft.com/office/drawing/2014/main" id="{ABFACC98-2F1F-1F5C-1C61-8E8C1DF1F157}"/>
              </a:ext>
            </a:extLst>
          </p:cNvPr>
          <p:cNvSpPr/>
          <p:nvPr/>
        </p:nvSpPr>
        <p:spPr>
          <a:xfrm>
            <a:off x="1278223" y="5370009"/>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0D61F171-41B3-81CF-CD4E-0AA475947107}"/>
              </a:ext>
              <a:ext uri="{C183D7F6-B498-43B3-948B-1728B52AA6E4}">
                <adec:decorative xmlns:adec="http://schemas.microsoft.com/office/drawing/2017/decorative" val="1"/>
              </a:ext>
            </a:extLst>
          </p:cNvPr>
          <p:cNvSpPr>
            <a:spLocks/>
          </p:cNvSpPr>
          <p:nvPr/>
        </p:nvSpPr>
        <p:spPr bwMode="auto">
          <a:xfrm>
            <a:off x="722582" y="437840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2059810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F4822-7AE6-A84B-1132-9B4545436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6BB1D-BD36-FA01-EDDA-E3B0F0045D1B}"/>
              </a:ext>
            </a:extLst>
          </p:cNvPr>
          <p:cNvSpPr>
            <a:spLocks noGrp="1"/>
          </p:cNvSpPr>
          <p:nvPr>
            <p:ph type="title"/>
          </p:nvPr>
        </p:nvSpPr>
        <p:spPr>
          <a:xfrm>
            <a:off x="569911" y="2769057"/>
            <a:ext cx="6345239" cy="1231106"/>
          </a:xfrm>
        </p:spPr>
        <p:txBody>
          <a:bodyPr/>
          <a:lstStyle/>
          <a:p>
            <a:r>
              <a:rPr lang="en-US" noProof="0" dirty="0"/>
              <a:t>Develop generative AI apps that use tools</a:t>
            </a:r>
          </a:p>
        </p:txBody>
      </p:sp>
      <p:sp>
        <p:nvSpPr>
          <p:cNvPr id="4" name="TextBox 3">
            <a:extLst>
              <a:ext uri="{FF2B5EF4-FFF2-40B4-BE49-F238E27FC236}">
                <a16:creationId xmlns:a16="http://schemas.microsoft.com/office/drawing/2014/main" id="{D219CF54-A26F-4E5B-6856-460A38AB36BD}"/>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https://aka.ms/mslearn-model-tools</a:t>
            </a:r>
          </a:p>
        </p:txBody>
      </p:sp>
    </p:spTree>
    <p:extLst>
      <p:ext uri="{BB962C8B-B14F-4D97-AF65-F5344CB8AC3E}">
        <p14:creationId xmlns:p14="http://schemas.microsoft.com/office/powerpoint/2010/main" val="799546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93FC-D62A-BF62-B04F-551DF38CE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AF54C-8D00-06E7-018F-09A6F5E342FF}"/>
              </a:ext>
            </a:extLst>
          </p:cNvPr>
          <p:cNvSpPr>
            <a:spLocks noGrp="1"/>
          </p:cNvSpPr>
          <p:nvPr>
            <p:ph type="title"/>
          </p:nvPr>
        </p:nvSpPr>
        <p:spPr>
          <a:xfrm>
            <a:off x="588262" y="585216"/>
            <a:ext cx="8193024" cy="492443"/>
          </a:xfrm>
        </p:spPr>
        <p:txBody>
          <a:bodyPr/>
          <a:lstStyle/>
          <a:p>
            <a:r>
              <a:rPr lang="en-US" sz="3200" dirty="0"/>
              <a:t>What are tools?</a:t>
            </a:r>
          </a:p>
        </p:txBody>
      </p:sp>
      <p:sp>
        <p:nvSpPr>
          <p:cNvPr id="26" name="Text Placeholder 44">
            <a:extLst>
              <a:ext uri="{FF2B5EF4-FFF2-40B4-BE49-F238E27FC236}">
                <a16:creationId xmlns:a16="http://schemas.microsoft.com/office/drawing/2014/main" id="{5C23C9C6-AAD5-9930-2891-97FB18EE0536}"/>
              </a:ext>
            </a:extLst>
          </p:cNvPr>
          <p:cNvSpPr txBox="1">
            <a:spLocks/>
          </p:cNvSpPr>
          <p:nvPr/>
        </p:nvSpPr>
        <p:spPr>
          <a:xfrm>
            <a:off x="638440" y="1471541"/>
            <a:ext cx="5484642" cy="387798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lang="en-US" sz="2000" dirty="0">
                <a:solidFill>
                  <a:srgbClr val="000000"/>
                </a:solidFill>
                <a:latin typeface="Segoe UI Semibold" panose="020B0702040204020203" pitchFamily="34" charset="0"/>
                <a:cs typeface="Segoe UI Semibold" panose="020B0702040204020203" pitchFamily="34" charset="0"/>
              </a:rPr>
              <a:t>Models u</a:t>
            </a: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se tools to</a:t>
            </a:r>
          </a:p>
          <a:p>
            <a:r>
              <a:rPr lang="en-US" dirty="0"/>
              <a:t>Access real-time information</a:t>
            </a:r>
          </a:p>
          <a:p>
            <a:r>
              <a:rPr lang="en-US" dirty="0"/>
              <a:t>Take actions</a:t>
            </a:r>
          </a:p>
          <a:p>
            <a:r>
              <a:rPr lang="en-US" dirty="0"/>
              <a:t>Ground responses in facts</a:t>
            </a:r>
          </a:p>
          <a:p>
            <a:r>
              <a:rPr lang="en-US" dirty="0"/>
              <a:t>Extend functionality</a:t>
            </a:r>
          </a:p>
          <a:p>
            <a:r>
              <a:rPr lang="en-US" dirty="0"/>
              <a:t>Build intelligent workflows</a:t>
            </a:r>
          </a:p>
          <a:p>
            <a:pPr marL="0" indent="0">
              <a:buNone/>
            </a:pPr>
            <a:endParaRPr lang="en-US" dirty="0"/>
          </a:p>
          <a:p>
            <a:pPr marL="0" indent="0">
              <a:buNone/>
            </a:pPr>
            <a:r>
              <a:rPr kumimoji="0" lang="en-US" sz="20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Common tools</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1600" b="1" dirty="0" err="1">
                <a:solidFill>
                  <a:srgbClr val="000000"/>
                </a:solidFill>
                <a:latin typeface="Consolas" panose="020B0609020204030204" pitchFamily="49" charset="0"/>
                <a:cs typeface="Consolas" panose="020B0609020204030204" pitchFamily="49" charset="0"/>
              </a:rPr>
              <a:t>code_interpreter</a:t>
            </a:r>
            <a:r>
              <a:rPr lang="en-US" sz="1600" dirty="0">
                <a:solidFill>
                  <a:srgbClr val="000000"/>
                </a:solidFill>
                <a:latin typeface="Segoe UI"/>
                <a:cs typeface="Segoe UI" panose="020B0502040204020203" pitchFamily="34" charset="0"/>
              </a:rPr>
              <a:t>: Generate and run code</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1600" b="1" dirty="0" err="1">
                <a:solidFill>
                  <a:srgbClr val="000000"/>
                </a:solidFill>
                <a:latin typeface="Consolas" panose="020B0609020204030204" pitchFamily="49" charset="0"/>
                <a:cs typeface="Consolas" panose="020B0609020204030204" pitchFamily="49" charset="0"/>
              </a:rPr>
              <a:t>web_search</a:t>
            </a:r>
            <a:r>
              <a:rPr lang="en-US" sz="1600" dirty="0">
                <a:solidFill>
                  <a:srgbClr val="000000"/>
                </a:solidFill>
                <a:latin typeface="Segoe UI"/>
                <a:cs typeface="Segoe UI" panose="020B0502040204020203" pitchFamily="34" charset="0"/>
              </a:rPr>
              <a:t>: Find current information on the Internet</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1600" b="1" dirty="0" err="1">
                <a:solidFill>
                  <a:srgbClr val="000000"/>
                </a:solidFill>
                <a:latin typeface="Consolas" panose="020B0609020204030204" pitchFamily="49" charset="0"/>
                <a:cs typeface="Consolas" panose="020B0609020204030204" pitchFamily="49" charset="0"/>
              </a:rPr>
              <a:t>file_search</a:t>
            </a:r>
            <a:r>
              <a:rPr lang="en-US" sz="1600" dirty="0">
                <a:solidFill>
                  <a:srgbClr val="000000"/>
                </a:solidFill>
                <a:latin typeface="Segoe UI"/>
                <a:cs typeface="Segoe UI" panose="020B0502040204020203" pitchFamily="34" charset="0"/>
              </a:rPr>
              <a:t>: Search files and ground responses in specific knowledge</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sz="1600" b="1" dirty="0">
                <a:solidFill>
                  <a:srgbClr val="000000"/>
                </a:solidFill>
                <a:latin typeface="Consolas" panose="020B0609020204030204" pitchFamily="49" charset="0"/>
                <a:cs typeface="Consolas" panose="020B0609020204030204" pitchFamily="49" charset="0"/>
              </a:rPr>
              <a:t>function</a:t>
            </a:r>
            <a:r>
              <a:rPr lang="en-US" sz="1600" dirty="0">
                <a:solidFill>
                  <a:srgbClr val="000000"/>
                </a:solidFill>
                <a:latin typeface="Segoe UI"/>
                <a:cs typeface="Segoe UI" panose="020B0502040204020203" pitchFamily="34" charset="0"/>
              </a:rPr>
              <a:t>: Call custom functions in your application code</a:t>
            </a:r>
            <a:endParaRPr kumimoji="0" lang="en-US" sz="14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3" name="Group 2">
            <a:extLst>
              <a:ext uri="{FF2B5EF4-FFF2-40B4-BE49-F238E27FC236}">
                <a16:creationId xmlns:a16="http://schemas.microsoft.com/office/drawing/2014/main" id="{51B4123F-2EE8-83B3-C483-200086933FBB}"/>
              </a:ext>
              <a:ext uri="{C183D7F6-B498-43B3-948B-1728B52AA6E4}">
                <adec:decorative xmlns:adec="http://schemas.microsoft.com/office/drawing/2017/decorative" val="1"/>
              </a:ext>
            </a:extLst>
          </p:cNvPr>
          <p:cNvGrpSpPr/>
          <p:nvPr/>
        </p:nvGrpSpPr>
        <p:grpSpPr>
          <a:xfrm>
            <a:off x="6708369" y="1098413"/>
            <a:ext cx="3375111" cy="4322826"/>
            <a:chOff x="2650719" y="431663"/>
            <a:chExt cx="3375111" cy="4322826"/>
          </a:xfrm>
        </p:grpSpPr>
        <p:sp>
          <p:nvSpPr>
            <p:cNvPr id="5" name="Rectangle: Rounded Corners 4">
              <a:extLst>
                <a:ext uri="{FF2B5EF4-FFF2-40B4-BE49-F238E27FC236}">
                  <a16:creationId xmlns:a16="http://schemas.microsoft.com/office/drawing/2014/main" id="{29F2AE1E-49F7-8B31-7B26-406F045E095D}"/>
                </a:ext>
              </a:extLst>
            </p:cNvPr>
            <p:cNvSpPr/>
            <p:nvPr/>
          </p:nvSpPr>
          <p:spPr>
            <a:xfrm>
              <a:off x="3335258" y="868351"/>
              <a:ext cx="2690572" cy="187781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D2847D4-07A9-581C-DF04-30F0448102FD}"/>
                </a:ext>
              </a:extLst>
            </p:cNvPr>
            <p:cNvGrpSpPr/>
            <p:nvPr/>
          </p:nvGrpSpPr>
          <p:grpSpPr>
            <a:xfrm>
              <a:off x="3909674" y="1630721"/>
              <a:ext cx="914400" cy="914400"/>
              <a:chOff x="5638800" y="2971800"/>
              <a:chExt cx="914400" cy="914400"/>
            </a:xfrm>
          </p:grpSpPr>
          <p:pic>
            <p:nvPicPr>
              <p:cNvPr id="21" name="Picture 20">
                <a:extLst>
                  <a:ext uri="{FF2B5EF4-FFF2-40B4-BE49-F238E27FC236}">
                    <a16:creationId xmlns:a16="http://schemas.microsoft.com/office/drawing/2014/main" id="{FACE4018-3289-23F8-E86B-F2F25B5C6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38" y="3243162"/>
                <a:ext cx="509496" cy="509496"/>
              </a:xfrm>
              <a:prstGeom prst="rect">
                <a:avLst/>
              </a:prstGeom>
              <a:scene3d>
                <a:camera prst="isometricOffAxis1Right"/>
                <a:lightRig rig="threePt" dir="t"/>
              </a:scene3d>
            </p:spPr>
          </p:pic>
          <p:pic>
            <p:nvPicPr>
              <p:cNvPr id="22" name="Graphic 21" descr="Cube outline">
                <a:extLst>
                  <a:ext uri="{FF2B5EF4-FFF2-40B4-BE49-F238E27FC236}">
                    <a16:creationId xmlns:a16="http://schemas.microsoft.com/office/drawing/2014/main" id="{B29628CD-55C2-67A6-15A3-453F3DE952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grpSp>
        <p:grpSp>
          <p:nvGrpSpPr>
            <p:cNvPr id="7" name="Group 6">
              <a:extLst>
                <a:ext uri="{FF2B5EF4-FFF2-40B4-BE49-F238E27FC236}">
                  <a16:creationId xmlns:a16="http://schemas.microsoft.com/office/drawing/2014/main" id="{C410D735-A7FD-A763-0BD8-B92D4E32A190}"/>
                </a:ext>
              </a:extLst>
            </p:cNvPr>
            <p:cNvGrpSpPr/>
            <p:nvPr/>
          </p:nvGrpSpPr>
          <p:grpSpPr>
            <a:xfrm>
              <a:off x="3335258" y="3314912"/>
              <a:ext cx="1052876" cy="1052876"/>
              <a:chOff x="3239954" y="2992851"/>
              <a:chExt cx="1052876" cy="1052876"/>
            </a:xfrm>
          </p:grpSpPr>
          <p:pic>
            <p:nvPicPr>
              <p:cNvPr id="19" name="Graphic 18" descr="Browser window with solid fill">
                <a:extLst>
                  <a:ext uri="{FF2B5EF4-FFF2-40B4-BE49-F238E27FC236}">
                    <a16:creationId xmlns:a16="http://schemas.microsoft.com/office/drawing/2014/main" id="{3FC2FBD1-4F98-0D86-94BA-1816952327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39954" y="2992851"/>
                <a:ext cx="1052876" cy="1052876"/>
              </a:xfrm>
              <a:prstGeom prst="rect">
                <a:avLst/>
              </a:prstGeom>
            </p:spPr>
          </p:pic>
          <p:pic>
            <p:nvPicPr>
              <p:cNvPr id="20" name="Graphic 19" descr="List outline">
                <a:extLst>
                  <a:ext uri="{FF2B5EF4-FFF2-40B4-BE49-F238E27FC236}">
                    <a16:creationId xmlns:a16="http://schemas.microsoft.com/office/drawing/2014/main" id="{9BD5FC4A-1719-1EC2-BB16-8DDEEE6BCB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37792" y="3341837"/>
                <a:ext cx="457200" cy="457200"/>
              </a:xfrm>
              <a:prstGeom prst="rect">
                <a:avLst/>
              </a:prstGeom>
            </p:spPr>
          </p:pic>
        </p:grpSp>
        <p:grpSp>
          <p:nvGrpSpPr>
            <p:cNvPr id="8" name="Group 7">
              <a:extLst>
                <a:ext uri="{FF2B5EF4-FFF2-40B4-BE49-F238E27FC236}">
                  <a16:creationId xmlns:a16="http://schemas.microsoft.com/office/drawing/2014/main" id="{8CAD9FC7-2D50-4E51-5B86-9A6C951EDD60}"/>
                </a:ext>
              </a:extLst>
            </p:cNvPr>
            <p:cNvGrpSpPr/>
            <p:nvPr/>
          </p:nvGrpSpPr>
          <p:grpSpPr>
            <a:xfrm>
              <a:off x="2650719" y="3314912"/>
              <a:ext cx="1439577" cy="1439577"/>
              <a:chOff x="5638799" y="2971799"/>
              <a:chExt cx="1439577" cy="1439577"/>
            </a:xfrm>
          </p:grpSpPr>
          <p:pic>
            <p:nvPicPr>
              <p:cNvPr id="17" name="Graphic 16" descr="User with solid fill">
                <a:extLst>
                  <a:ext uri="{FF2B5EF4-FFF2-40B4-BE49-F238E27FC236}">
                    <a16:creationId xmlns:a16="http://schemas.microsoft.com/office/drawing/2014/main" id="{860E6712-61D1-9554-8CA1-EC4598B2F5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38799" y="2971799"/>
                <a:ext cx="1439577" cy="1439577"/>
              </a:xfrm>
              <a:prstGeom prst="rect">
                <a:avLst/>
              </a:prstGeom>
            </p:spPr>
          </p:pic>
          <p:sp>
            <p:nvSpPr>
              <p:cNvPr id="18" name="Flowchart: Delay 17">
                <a:extLst>
                  <a:ext uri="{FF2B5EF4-FFF2-40B4-BE49-F238E27FC236}">
                    <a16:creationId xmlns:a16="http://schemas.microsoft.com/office/drawing/2014/main" id="{3E2AF520-5326-E61B-9F10-126F62AD9299}"/>
                  </a:ext>
                </a:extLst>
              </p:cNvPr>
              <p:cNvSpPr/>
              <p:nvPr/>
            </p:nvSpPr>
            <p:spPr>
              <a:xfrm rot="16200000">
                <a:off x="6090023" y="3212041"/>
                <a:ext cx="537128" cy="478252"/>
              </a:xfrm>
              <a:prstGeom prst="flowChartDelay">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37C76B2D-44A3-7781-B828-39EF1668E84B}"/>
                </a:ext>
              </a:extLst>
            </p:cNvPr>
            <p:cNvPicPr>
              <a:picLocks noChangeAspect="1"/>
            </p:cNvPicPr>
            <p:nvPr/>
          </p:nvPicPr>
          <p:blipFill>
            <a:blip r:embed="rId8">
              <a:extLst>
                <a:ext uri="{28A0092B-C50C-407E-A947-70E740481C1C}">
                  <a14:useLocalDpi xmlns:a14="http://schemas.microsoft.com/office/drawing/2010/main" val="0"/>
                </a:ext>
              </a:extLst>
            </a:blip>
            <a:srcRect l="28825" t="20527" r="38004" b="18561"/>
            <a:stretch>
              <a:fillRect/>
            </a:stretch>
          </p:blipFill>
          <p:spPr>
            <a:xfrm>
              <a:off x="2904142" y="431663"/>
              <a:ext cx="1052876" cy="1087507"/>
            </a:xfrm>
            <a:prstGeom prst="rect">
              <a:avLst/>
            </a:prstGeom>
          </p:spPr>
        </p:pic>
        <p:grpSp>
          <p:nvGrpSpPr>
            <p:cNvPr id="10" name="Group 9">
              <a:extLst>
                <a:ext uri="{FF2B5EF4-FFF2-40B4-BE49-F238E27FC236}">
                  <a16:creationId xmlns:a16="http://schemas.microsoft.com/office/drawing/2014/main" id="{F0E1E6FC-4CCE-8D5E-F791-187DBE3D6BC1}"/>
                </a:ext>
              </a:extLst>
            </p:cNvPr>
            <p:cNvGrpSpPr/>
            <p:nvPr/>
          </p:nvGrpSpPr>
          <p:grpSpPr>
            <a:xfrm>
              <a:off x="4985680" y="1119060"/>
              <a:ext cx="851347" cy="800219"/>
              <a:chOff x="7095726" y="5316090"/>
              <a:chExt cx="988900" cy="929510"/>
            </a:xfrm>
          </p:grpSpPr>
          <p:pic>
            <p:nvPicPr>
              <p:cNvPr id="13" name="Graphic 12" descr="Wrench with solid fill">
                <a:extLst>
                  <a:ext uri="{FF2B5EF4-FFF2-40B4-BE49-F238E27FC236}">
                    <a16:creationId xmlns:a16="http://schemas.microsoft.com/office/drawing/2014/main" id="{D13A3F10-8A84-6DB0-A982-E26423C98C0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95726" y="5316090"/>
                <a:ext cx="914400" cy="914400"/>
              </a:xfrm>
              <a:prstGeom prst="rect">
                <a:avLst/>
              </a:prstGeom>
            </p:spPr>
          </p:pic>
          <p:grpSp>
            <p:nvGrpSpPr>
              <p:cNvPr id="14" name="Group 13">
                <a:extLst>
                  <a:ext uri="{FF2B5EF4-FFF2-40B4-BE49-F238E27FC236}">
                    <a16:creationId xmlns:a16="http://schemas.microsoft.com/office/drawing/2014/main" id="{6B9ED114-42B9-EEA1-99CA-071E87A4FF0C}"/>
                  </a:ext>
                </a:extLst>
              </p:cNvPr>
              <p:cNvGrpSpPr/>
              <p:nvPr/>
            </p:nvGrpSpPr>
            <p:grpSpPr>
              <a:xfrm>
                <a:off x="7165657" y="5328660"/>
                <a:ext cx="918969" cy="916940"/>
                <a:chOff x="7165657" y="5328660"/>
                <a:chExt cx="918969" cy="916940"/>
              </a:xfrm>
            </p:grpSpPr>
            <p:pic>
              <p:nvPicPr>
                <p:cNvPr id="15" name="Graphic 14" descr="Screwdriver with solid fill">
                  <a:extLst>
                    <a:ext uri="{FF2B5EF4-FFF2-40B4-BE49-F238E27FC236}">
                      <a16:creationId xmlns:a16="http://schemas.microsoft.com/office/drawing/2014/main" id="{B0FCB243-80EB-7C3C-A559-8106AC16262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7165657" y="5328660"/>
                  <a:ext cx="914400" cy="914400"/>
                </a:xfrm>
                <a:prstGeom prst="rect">
                  <a:avLst/>
                </a:prstGeom>
              </p:spPr>
            </p:pic>
            <p:pic>
              <p:nvPicPr>
                <p:cNvPr id="16" name="Graphic 15" descr="Screwdriver with solid fill">
                  <a:extLst>
                    <a:ext uri="{FF2B5EF4-FFF2-40B4-BE49-F238E27FC236}">
                      <a16:creationId xmlns:a16="http://schemas.microsoft.com/office/drawing/2014/main" id="{EED72B09-44E3-33CF-D012-258929386034}"/>
                    </a:ext>
                  </a:extLst>
                </p:cNvPr>
                <p:cNvPicPr>
                  <a:picLocks noChangeAspect="1"/>
                </p:cNvPicPr>
                <p:nvPr/>
              </p:nvPicPr>
              <p:blipFill>
                <a:blip>
                  <a:extLst>
                    <a:ext uri="{96DAC541-7B7A-43D3-8B79-37D633B846F1}">
                      <asvg:svgBlip xmlns:asvg="http://schemas.microsoft.com/office/drawing/2016/SVG/main" r:embed="rId11"/>
                    </a:ext>
                  </a:extLst>
                </a:blip>
                <a:srcRect t="48348" r="49223"/>
                <a:stretch>
                  <a:fillRect/>
                </a:stretch>
              </p:blipFill>
              <p:spPr>
                <a:xfrm flipH="1">
                  <a:off x="7620317" y="5773290"/>
                  <a:ext cx="464309" cy="472310"/>
                </a:xfrm>
                <a:prstGeom prst="snipRoundRect">
                  <a:avLst>
                    <a:gd name="adj1" fmla="val 16667"/>
                    <a:gd name="adj2" fmla="val 14959"/>
                  </a:avLst>
                </a:prstGeom>
              </p:spPr>
            </p:pic>
          </p:grpSp>
        </p:grpSp>
        <p:cxnSp>
          <p:nvCxnSpPr>
            <p:cNvPr id="11" name="Straight Arrow Connector 95">
              <a:extLst>
                <a:ext uri="{FF2B5EF4-FFF2-40B4-BE49-F238E27FC236}">
                  <a16:creationId xmlns:a16="http://schemas.microsoft.com/office/drawing/2014/main" id="{AF91854D-EE4A-8F64-1222-598B807124D8}"/>
                </a:ext>
              </a:extLst>
            </p:cNvPr>
            <p:cNvCxnSpPr>
              <a:cxnSpLocks/>
            </p:cNvCxnSpPr>
            <p:nvPr/>
          </p:nvCxnSpPr>
          <p:spPr>
            <a:xfrm rot="5400000" flipH="1" flipV="1">
              <a:off x="3623608" y="2625339"/>
              <a:ext cx="983746" cy="599995"/>
            </a:xfrm>
            <a:prstGeom prst="bent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95">
              <a:extLst>
                <a:ext uri="{FF2B5EF4-FFF2-40B4-BE49-F238E27FC236}">
                  <a16:creationId xmlns:a16="http://schemas.microsoft.com/office/drawing/2014/main" id="{2CBD1271-F5F5-F561-EFD9-45C5F96F26D4}"/>
                </a:ext>
              </a:extLst>
            </p:cNvPr>
            <p:cNvCxnSpPr>
              <a:cxnSpLocks/>
            </p:cNvCxnSpPr>
            <p:nvPr/>
          </p:nvCxnSpPr>
          <p:spPr>
            <a:xfrm flipV="1">
              <a:off x="4792944" y="1807256"/>
              <a:ext cx="644358" cy="280665"/>
            </a:xfrm>
            <a:prstGeom prst="bentConnector3">
              <a:avLst>
                <a:gd name="adj1" fmla="val 100025"/>
              </a:avLst>
            </a:prstGeom>
            <a:ln w="38100">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611802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F203-F6E5-0572-3A57-AF9263CBD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536AD-06AF-BF2F-0F65-FE536B1D4968}"/>
              </a:ext>
            </a:extLst>
          </p:cNvPr>
          <p:cNvSpPr>
            <a:spLocks noGrp="1"/>
          </p:cNvSpPr>
          <p:nvPr>
            <p:ph type="title"/>
          </p:nvPr>
        </p:nvSpPr>
        <p:spPr>
          <a:xfrm>
            <a:off x="588262" y="585216"/>
            <a:ext cx="8193024" cy="492443"/>
          </a:xfrm>
        </p:spPr>
        <p:txBody>
          <a:bodyPr/>
          <a:lstStyle/>
          <a:p>
            <a:r>
              <a:rPr lang="en-US" sz="3200" dirty="0"/>
              <a:t>Using the </a:t>
            </a:r>
            <a:r>
              <a:rPr lang="en-US" sz="3200" dirty="0" err="1">
                <a:solidFill>
                  <a:schemeClr val="accent1"/>
                </a:solidFill>
                <a:latin typeface="Consolas" panose="020B0609020204030204" pitchFamily="49" charset="0"/>
                <a:cs typeface="Consolas" panose="020B0609020204030204" pitchFamily="49" charset="0"/>
              </a:rPr>
              <a:t>code_interpreter</a:t>
            </a:r>
            <a:r>
              <a:rPr lang="en-US" sz="3200" dirty="0">
                <a:solidFill>
                  <a:schemeClr val="accent1"/>
                </a:solidFill>
                <a:latin typeface="Consolas" panose="020B0609020204030204" pitchFamily="49" charset="0"/>
                <a:cs typeface="Consolas" panose="020B0609020204030204" pitchFamily="49" charset="0"/>
              </a:rPr>
              <a:t> </a:t>
            </a:r>
            <a:r>
              <a:rPr lang="en-US" sz="3200" dirty="0"/>
              <a:t>tool</a:t>
            </a:r>
          </a:p>
        </p:txBody>
      </p:sp>
      <p:sp>
        <p:nvSpPr>
          <p:cNvPr id="3" name="Footer Placeholder 2">
            <a:extLst>
              <a:ext uri="{FF2B5EF4-FFF2-40B4-BE49-F238E27FC236}">
                <a16:creationId xmlns:a16="http://schemas.microsoft.com/office/drawing/2014/main" id="{59720BC4-7D44-86F1-5351-AF4DD41CBE3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A21AB2CC-1E87-58F8-DE66-F329759D53F8}"/>
              </a:ext>
              <a:ext uri="{C183D7F6-B498-43B3-948B-1728B52AA6E4}">
                <adec:decorative xmlns:adec="http://schemas.microsoft.com/office/drawing/2017/decorative" val="1"/>
              </a:ext>
            </a:extLst>
          </p:cNvPr>
          <p:cNvSpPr/>
          <p:nvPr/>
        </p:nvSpPr>
        <p:spPr bwMode="auto">
          <a:xfrm>
            <a:off x="579438" y="1579517"/>
            <a:ext cx="6613842" cy="4297027"/>
          </a:xfrm>
          <a:prstGeom prst="roundRect">
            <a:avLst>
              <a:gd name="adj" fmla="val 6169"/>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8" name="TextBox 7">
            <a:extLst>
              <a:ext uri="{FF2B5EF4-FFF2-40B4-BE49-F238E27FC236}">
                <a16:creationId xmlns:a16="http://schemas.microsoft.com/office/drawing/2014/main" id="{852694CF-2DE8-419A-25A9-E30CEA0F7144}"/>
              </a:ext>
            </a:extLst>
          </p:cNvPr>
          <p:cNvSpPr txBox="1"/>
          <p:nvPr/>
        </p:nvSpPr>
        <p:spPr>
          <a:xfrm>
            <a:off x="838358" y="1778673"/>
            <a:ext cx="6206565" cy="2492990"/>
          </a:xfrm>
          <a:prstGeom prst="rect">
            <a:avLst/>
          </a:prstGeom>
          <a:noFill/>
        </p:spPr>
        <p:txBody>
          <a:bodyPr wrap="square">
            <a:spAutoFit/>
          </a:bodyPr>
          <a:lstStyle/>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Get response using the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code_interpreter</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tool</a:t>
            </a:r>
          </a:p>
          <a:p>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2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model_deployment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instructions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"You are an AI assistant that provides information." </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"Use the python tool to run code for math problems."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input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="What is the square root of 16?"</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p>
          <a:p>
            <a:r>
              <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Specify tools the model can use (including container settings)</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code_interpreter</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"container"</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"auto"</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Output is natural language</a:t>
            </a:r>
          </a:p>
          <a:p>
            <a:r>
              <a:rPr lang="en-US" sz="12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p:txBody>
      </p:sp>
      <p:sp>
        <p:nvSpPr>
          <p:cNvPr id="10" name="Rounded Rectangle 9">
            <a:extLst>
              <a:ext uri="{FF2B5EF4-FFF2-40B4-BE49-F238E27FC236}">
                <a16:creationId xmlns:a16="http://schemas.microsoft.com/office/drawing/2014/main" id="{01899E66-3C08-4017-FD3D-419D8C8575B8}"/>
              </a:ext>
              <a:ext uri="{C183D7F6-B498-43B3-948B-1728B52AA6E4}">
                <adec:decorative xmlns:adec="http://schemas.microsoft.com/office/drawing/2017/decorative" val="1"/>
              </a:ext>
            </a:extLst>
          </p:cNvPr>
          <p:cNvSpPr/>
          <p:nvPr/>
        </p:nvSpPr>
        <p:spPr>
          <a:xfrm>
            <a:off x="7363968" y="1579516"/>
            <a:ext cx="4239770" cy="858883"/>
          </a:xfrm>
          <a:prstGeom prst="roundRect">
            <a:avLst>
              <a:gd name="adj" fmla="val 12000"/>
            </a:avLst>
          </a:prstGeom>
          <a:solidFill>
            <a:srgbClr val="ECC9EE">
              <a:alpha val="50196"/>
            </a:srgb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12" name="Oval 11">
            <a:extLst>
              <a:ext uri="{FF2B5EF4-FFF2-40B4-BE49-F238E27FC236}">
                <a16:creationId xmlns:a16="http://schemas.microsoft.com/office/drawing/2014/main" id="{1C698C2A-87EB-ED98-A3CD-A45EF5F09329}"/>
              </a:ext>
            </a:extLst>
          </p:cNvPr>
          <p:cNvSpPr/>
          <p:nvPr/>
        </p:nvSpPr>
        <p:spPr bwMode="auto">
          <a:xfrm>
            <a:off x="7447028" y="1826077"/>
            <a:ext cx="365760" cy="365760"/>
          </a:xfrm>
          <a:prstGeom prst="ellipse">
            <a:avLst/>
          </a:prstGeom>
          <a:solidFill>
            <a:srgbClr val="70257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1</a:t>
            </a:r>
          </a:p>
        </p:txBody>
      </p:sp>
      <p:sp>
        <p:nvSpPr>
          <p:cNvPr id="15" name="TextBox 14">
            <a:extLst>
              <a:ext uri="{FF2B5EF4-FFF2-40B4-BE49-F238E27FC236}">
                <a16:creationId xmlns:a16="http://schemas.microsoft.com/office/drawing/2014/main" id="{0823A35F-6FC5-23B6-9DEC-81F8A89EAC7F}"/>
              </a:ext>
            </a:extLst>
          </p:cNvPr>
          <p:cNvSpPr txBox="1"/>
          <p:nvPr/>
        </p:nvSpPr>
        <p:spPr>
          <a:xfrm>
            <a:off x="7895848" y="1608848"/>
            <a:ext cx="3707890" cy="800219"/>
          </a:xfrm>
          <a:prstGeom prst="rect">
            <a:avLst/>
          </a:prstGeom>
          <a:noFill/>
        </p:spPr>
        <p:txBody>
          <a:bodyPr wrap="square">
            <a:spAutoFit/>
          </a:bodyPr>
          <a:lstStyle/>
          <a:p>
            <a:r>
              <a:rPr lang="en-US" sz="1800" b="1" dirty="0">
                <a:solidFill>
                  <a:schemeClr val="accent1"/>
                </a:solidFill>
                <a:latin typeface="+mj-lt"/>
              </a:rPr>
              <a:t>Model receives the question</a:t>
            </a:r>
          </a:p>
          <a:p>
            <a:r>
              <a:rPr lang="en-US" sz="1400" dirty="0">
                <a:solidFill>
                  <a:schemeClr val="tx1">
                    <a:lumMod val="95000"/>
                    <a:lumOff val="5000"/>
                  </a:schemeClr>
                </a:solidFill>
              </a:rPr>
              <a:t>Sees </a:t>
            </a:r>
            <a:r>
              <a:rPr lang="en-US" sz="1400" dirty="0" err="1">
                <a:solidFill>
                  <a:schemeClr val="tx1">
                    <a:lumMod val="95000"/>
                    <a:lumOff val="5000"/>
                  </a:schemeClr>
                </a:solidFill>
                <a:latin typeface="Consolas" panose="020B0609020204030204" pitchFamily="49" charset="0"/>
                <a:cs typeface="Consolas" panose="020B0609020204030204" pitchFamily="49" charset="0"/>
              </a:rPr>
              <a:t>code_interpreter</a:t>
            </a:r>
            <a:r>
              <a:rPr lang="en-US" sz="1400" dirty="0">
                <a:solidFill>
                  <a:schemeClr val="tx1">
                    <a:lumMod val="95000"/>
                    <a:lumOff val="5000"/>
                  </a:schemeClr>
                </a:solidFill>
                <a:latin typeface="Consolas" panose="020B0609020204030204" pitchFamily="49" charset="0"/>
                <a:cs typeface="Consolas" panose="020B0609020204030204" pitchFamily="49" charset="0"/>
              </a:rPr>
              <a:t> </a:t>
            </a:r>
            <a:r>
              <a:rPr lang="en-US" sz="1400" dirty="0">
                <a:solidFill>
                  <a:schemeClr val="tx1">
                    <a:lumMod val="95000"/>
                    <a:lumOff val="5000"/>
                  </a:schemeClr>
                </a:solidFill>
              </a:rPr>
              <a:t>is available and decides to use it to compute the answer.</a:t>
            </a:r>
          </a:p>
        </p:txBody>
      </p:sp>
      <p:sp>
        <p:nvSpPr>
          <p:cNvPr id="16" name="Rounded Rectangle 15">
            <a:extLst>
              <a:ext uri="{FF2B5EF4-FFF2-40B4-BE49-F238E27FC236}">
                <a16:creationId xmlns:a16="http://schemas.microsoft.com/office/drawing/2014/main" id="{C5117B90-C54B-CC49-F2D4-042815444363}"/>
              </a:ext>
              <a:ext uri="{C183D7F6-B498-43B3-948B-1728B52AA6E4}">
                <adec:decorative xmlns:adec="http://schemas.microsoft.com/office/drawing/2017/decorative" val="1"/>
              </a:ext>
            </a:extLst>
          </p:cNvPr>
          <p:cNvSpPr/>
          <p:nvPr/>
        </p:nvSpPr>
        <p:spPr>
          <a:xfrm>
            <a:off x="7372792" y="2510814"/>
            <a:ext cx="4239770" cy="858883"/>
          </a:xfrm>
          <a:prstGeom prst="roundRect">
            <a:avLst>
              <a:gd name="adj" fmla="val 12000"/>
            </a:avLst>
          </a:prstGeom>
          <a:solidFill>
            <a:srgbClr val="ECC9EE">
              <a:alpha val="50196"/>
            </a:srgb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17" name="Oval 16">
            <a:extLst>
              <a:ext uri="{FF2B5EF4-FFF2-40B4-BE49-F238E27FC236}">
                <a16:creationId xmlns:a16="http://schemas.microsoft.com/office/drawing/2014/main" id="{69993D41-6FDD-3A52-FC28-0EE00D55DCB4}"/>
              </a:ext>
            </a:extLst>
          </p:cNvPr>
          <p:cNvSpPr/>
          <p:nvPr/>
        </p:nvSpPr>
        <p:spPr bwMode="auto">
          <a:xfrm>
            <a:off x="7455852" y="2757375"/>
            <a:ext cx="365760" cy="365760"/>
          </a:xfrm>
          <a:prstGeom prst="ellipse">
            <a:avLst/>
          </a:prstGeom>
          <a:solidFill>
            <a:srgbClr val="70257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2</a:t>
            </a:r>
          </a:p>
        </p:txBody>
      </p:sp>
      <p:sp>
        <p:nvSpPr>
          <p:cNvPr id="18" name="TextBox 17">
            <a:extLst>
              <a:ext uri="{FF2B5EF4-FFF2-40B4-BE49-F238E27FC236}">
                <a16:creationId xmlns:a16="http://schemas.microsoft.com/office/drawing/2014/main" id="{A27D5035-FB21-611C-60ED-8B13E37E5E5E}"/>
              </a:ext>
            </a:extLst>
          </p:cNvPr>
          <p:cNvSpPr txBox="1"/>
          <p:nvPr/>
        </p:nvSpPr>
        <p:spPr>
          <a:xfrm>
            <a:off x="7904672" y="2540146"/>
            <a:ext cx="3707890" cy="800219"/>
          </a:xfrm>
          <a:prstGeom prst="rect">
            <a:avLst/>
          </a:prstGeom>
          <a:noFill/>
        </p:spPr>
        <p:txBody>
          <a:bodyPr wrap="square">
            <a:spAutoFit/>
          </a:bodyPr>
          <a:lstStyle/>
          <a:p>
            <a:r>
              <a:rPr lang="en-US" sz="1800" b="1" dirty="0">
                <a:solidFill>
                  <a:schemeClr val="accent1"/>
                </a:solidFill>
                <a:latin typeface="+mj-lt"/>
              </a:rPr>
              <a:t>Code is generated and executed</a:t>
            </a:r>
          </a:p>
          <a:p>
            <a:r>
              <a:rPr lang="en-US" sz="1400" dirty="0">
                <a:solidFill>
                  <a:schemeClr val="tx1">
                    <a:lumMod val="95000"/>
                    <a:lumOff val="5000"/>
                  </a:schemeClr>
                </a:solidFill>
              </a:rPr>
              <a:t>Model writes Python code and runs it inside an isolated sandbox container.</a:t>
            </a:r>
          </a:p>
        </p:txBody>
      </p:sp>
      <p:sp>
        <p:nvSpPr>
          <p:cNvPr id="19" name="Rounded Rectangle 18">
            <a:extLst>
              <a:ext uri="{FF2B5EF4-FFF2-40B4-BE49-F238E27FC236}">
                <a16:creationId xmlns:a16="http://schemas.microsoft.com/office/drawing/2014/main" id="{F98155FA-D193-C93B-D641-3DFEFE04AC8C}"/>
              </a:ext>
              <a:ext uri="{C183D7F6-B498-43B3-948B-1728B52AA6E4}">
                <adec:decorative xmlns:adec="http://schemas.microsoft.com/office/drawing/2017/decorative" val="1"/>
              </a:ext>
            </a:extLst>
          </p:cNvPr>
          <p:cNvSpPr/>
          <p:nvPr/>
        </p:nvSpPr>
        <p:spPr>
          <a:xfrm>
            <a:off x="7363968" y="3442112"/>
            <a:ext cx="4239770" cy="858883"/>
          </a:xfrm>
          <a:prstGeom prst="roundRect">
            <a:avLst>
              <a:gd name="adj" fmla="val 12000"/>
            </a:avLst>
          </a:prstGeom>
          <a:solidFill>
            <a:srgbClr val="ECC9EE">
              <a:alpha val="50196"/>
            </a:srgb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20" name="Oval 19">
            <a:extLst>
              <a:ext uri="{FF2B5EF4-FFF2-40B4-BE49-F238E27FC236}">
                <a16:creationId xmlns:a16="http://schemas.microsoft.com/office/drawing/2014/main" id="{BC225378-7591-0F1F-D449-9A4D760C82C6}"/>
              </a:ext>
            </a:extLst>
          </p:cNvPr>
          <p:cNvSpPr/>
          <p:nvPr/>
        </p:nvSpPr>
        <p:spPr bwMode="auto">
          <a:xfrm>
            <a:off x="7447028" y="3688673"/>
            <a:ext cx="365760" cy="365760"/>
          </a:xfrm>
          <a:prstGeom prst="ellipse">
            <a:avLst/>
          </a:prstGeom>
          <a:solidFill>
            <a:srgbClr val="70257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3</a:t>
            </a:r>
          </a:p>
        </p:txBody>
      </p:sp>
      <p:sp>
        <p:nvSpPr>
          <p:cNvPr id="21" name="TextBox 20">
            <a:extLst>
              <a:ext uri="{FF2B5EF4-FFF2-40B4-BE49-F238E27FC236}">
                <a16:creationId xmlns:a16="http://schemas.microsoft.com/office/drawing/2014/main" id="{8EE90AB8-6416-4D5D-399A-C4B8E0E7FFE4}"/>
              </a:ext>
            </a:extLst>
          </p:cNvPr>
          <p:cNvSpPr txBox="1"/>
          <p:nvPr/>
        </p:nvSpPr>
        <p:spPr>
          <a:xfrm>
            <a:off x="7895848" y="3471444"/>
            <a:ext cx="3707890" cy="800219"/>
          </a:xfrm>
          <a:prstGeom prst="rect">
            <a:avLst/>
          </a:prstGeom>
          <a:noFill/>
        </p:spPr>
        <p:txBody>
          <a:bodyPr wrap="square">
            <a:spAutoFit/>
          </a:bodyPr>
          <a:lstStyle/>
          <a:p>
            <a:r>
              <a:rPr lang="en-US" sz="1800" b="1" dirty="0">
                <a:solidFill>
                  <a:schemeClr val="accent1"/>
                </a:solidFill>
                <a:latin typeface="+mj-lt"/>
              </a:rPr>
              <a:t>Response returned</a:t>
            </a:r>
          </a:p>
          <a:p>
            <a:r>
              <a:rPr lang="en-US" sz="1400" dirty="0">
                <a:solidFill>
                  <a:schemeClr val="tx1">
                    <a:lumMod val="95000"/>
                    <a:lumOff val="5000"/>
                  </a:schemeClr>
                </a:solidFill>
              </a:rPr>
              <a:t>Model formulates a readable answer from the code execution result, not the raw code.</a:t>
            </a:r>
          </a:p>
        </p:txBody>
      </p:sp>
      <p:sp>
        <p:nvSpPr>
          <p:cNvPr id="22" name="Rounded Rectangle 21">
            <a:extLst>
              <a:ext uri="{FF2B5EF4-FFF2-40B4-BE49-F238E27FC236}">
                <a16:creationId xmlns:a16="http://schemas.microsoft.com/office/drawing/2014/main" id="{C870C27B-168D-82D1-CD7C-2DBE3D597611}"/>
              </a:ext>
              <a:ext uri="{C183D7F6-B498-43B3-948B-1728B52AA6E4}">
                <adec:decorative xmlns:adec="http://schemas.microsoft.com/office/drawing/2017/decorative" val="1"/>
              </a:ext>
            </a:extLst>
          </p:cNvPr>
          <p:cNvSpPr/>
          <p:nvPr/>
        </p:nvSpPr>
        <p:spPr>
          <a:xfrm>
            <a:off x="7372792" y="5017661"/>
            <a:ext cx="4239770" cy="858883"/>
          </a:xfrm>
          <a:prstGeom prst="roundRect">
            <a:avLst>
              <a:gd name="adj" fmla="val 12000"/>
            </a:avLst>
          </a:prstGeom>
          <a:solidFill>
            <a:srgbClr val="702573"/>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chemeClr val="bg1"/>
              </a:solidFill>
            </a:endParaRPr>
          </a:p>
        </p:txBody>
      </p:sp>
      <p:sp>
        <p:nvSpPr>
          <p:cNvPr id="24" name="TextBox 23">
            <a:extLst>
              <a:ext uri="{FF2B5EF4-FFF2-40B4-BE49-F238E27FC236}">
                <a16:creationId xmlns:a16="http://schemas.microsoft.com/office/drawing/2014/main" id="{20BCADBB-4C8E-55DC-60E1-03A504A8B7E7}"/>
              </a:ext>
            </a:extLst>
          </p:cNvPr>
          <p:cNvSpPr txBox="1"/>
          <p:nvPr/>
        </p:nvSpPr>
        <p:spPr>
          <a:xfrm>
            <a:off x="7455852" y="5129322"/>
            <a:ext cx="3707890" cy="635559"/>
          </a:xfrm>
          <a:prstGeom prst="rect">
            <a:avLst/>
          </a:prstGeom>
          <a:noFill/>
        </p:spPr>
        <p:txBody>
          <a:bodyPr wrap="square">
            <a:spAutoFit/>
          </a:bodyPr>
          <a:lstStyle/>
          <a:p>
            <a:r>
              <a:rPr lang="en-US" b="1" cap="all" dirty="0" err="1">
                <a:solidFill>
                  <a:schemeClr val="bg1"/>
                </a:solidFill>
                <a:latin typeface="Consolas" panose="020B0609020204030204" pitchFamily="49" charset="0"/>
                <a:cs typeface="Consolas" panose="020B0609020204030204" pitchFamily="49" charset="0"/>
              </a:rPr>
              <a:t>response.output_text</a:t>
            </a:r>
            <a:endParaRPr lang="en-US" b="1" cap="all" dirty="0">
              <a:solidFill>
                <a:schemeClr val="bg1"/>
              </a:solidFill>
              <a:latin typeface="Consolas" panose="020B0609020204030204" pitchFamily="49" charset="0"/>
              <a:cs typeface="Consolas" panose="020B0609020204030204" pitchFamily="49" charset="0"/>
            </a:endParaRPr>
          </a:p>
          <a:p>
            <a:r>
              <a:rPr lang="en-US" dirty="0">
                <a:solidFill>
                  <a:schemeClr val="bg1"/>
                </a:solidFill>
                <a:latin typeface="Consolas" panose="020B0609020204030204" pitchFamily="49" charset="0"/>
                <a:cs typeface="Consolas" panose="020B0609020204030204" pitchFamily="49" charset="0"/>
              </a:rPr>
              <a:t>The square root of 16 is 4.</a:t>
            </a:r>
            <a:endParaRPr lang="en-US" sz="1400"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98461545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9CA0-A98E-776E-FF22-9D7AE2D19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05EDD-7E60-4786-640B-71EF06BF2CBB}"/>
              </a:ext>
            </a:extLst>
          </p:cNvPr>
          <p:cNvSpPr>
            <a:spLocks noGrp="1"/>
          </p:cNvSpPr>
          <p:nvPr>
            <p:ph type="title"/>
          </p:nvPr>
        </p:nvSpPr>
        <p:spPr>
          <a:xfrm>
            <a:off x="588262" y="585216"/>
            <a:ext cx="8193024" cy="492443"/>
          </a:xfrm>
        </p:spPr>
        <p:txBody>
          <a:bodyPr/>
          <a:lstStyle/>
          <a:p>
            <a:r>
              <a:rPr lang="en-US" sz="3200"/>
              <a:t>Using the </a:t>
            </a:r>
            <a:r>
              <a:rPr lang="en-US" sz="3200" err="1">
                <a:solidFill>
                  <a:schemeClr val="tx2">
                    <a:lumMod val="75000"/>
                    <a:lumOff val="25000"/>
                  </a:schemeClr>
                </a:solidFill>
                <a:latin typeface="Consolas" panose="020B0609020204030204" pitchFamily="49" charset="0"/>
                <a:cs typeface="Consolas" panose="020B0609020204030204" pitchFamily="49" charset="0"/>
              </a:rPr>
              <a:t>web_search</a:t>
            </a:r>
            <a:r>
              <a:rPr lang="en-US" sz="3200">
                <a:solidFill>
                  <a:schemeClr val="tx2">
                    <a:lumMod val="75000"/>
                    <a:lumOff val="25000"/>
                  </a:schemeClr>
                </a:solidFill>
                <a:latin typeface="Consolas" panose="020B0609020204030204" pitchFamily="49" charset="0"/>
                <a:cs typeface="Consolas" panose="020B0609020204030204" pitchFamily="49" charset="0"/>
              </a:rPr>
              <a:t> </a:t>
            </a:r>
            <a:r>
              <a:rPr lang="en-US" sz="3200"/>
              <a:t>tool</a:t>
            </a:r>
          </a:p>
        </p:txBody>
      </p:sp>
      <p:sp>
        <p:nvSpPr>
          <p:cNvPr id="3" name="Footer Placeholder 2">
            <a:extLst>
              <a:ext uri="{FF2B5EF4-FFF2-40B4-BE49-F238E27FC236}">
                <a16:creationId xmlns:a16="http://schemas.microsoft.com/office/drawing/2014/main" id="{52B07012-6EFD-BB50-7D49-CC76A8CE48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14FAF711-41BF-3788-BDD2-FDA7AC4CAB1B}"/>
              </a:ext>
              <a:ext uri="{C183D7F6-B498-43B3-948B-1728B52AA6E4}">
                <adec:decorative xmlns:adec="http://schemas.microsoft.com/office/drawing/2017/decorative" val="1"/>
              </a:ext>
            </a:extLst>
          </p:cNvPr>
          <p:cNvSpPr/>
          <p:nvPr/>
        </p:nvSpPr>
        <p:spPr bwMode="auto">
          <a:xfrm>
            <a:off x="579438" y="1579518"/>
            <a:ext cx="6613842" cy="3061478"/>
          </a:xfrm>
          <a:prstGeom prst="roundRect">
            <a:avLst>
              <a:gd name="adj" fmla="val 6169"/>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8" name="TextBox 7">
            <a:extLst>
              <a:ext uri="{FF2B5EF4-FFF2-40B4-BE49-F238E27FC236}">
                <a16:creationId xmlns:a16="http://schemas.microsoft.com/office/drawing/2014/main" id="{87B94C87-7E87-B32C-A240-45A2826BFF56}"/>
              </a:ext>
            </a:extLst>
          </p:cNvPr>
          <p:cNvSpPr txBox="1"/>
          <p:nvPr/>
        </p:nvSpPr>
        <p:spPr>
          <a:xfrm>
            <a:off x="838358" y="1778673"/>
            <a:ext cx="6354921" cy="2862322"/>
          </a:xfrm>
          <a:prstGeom prst="rect">
            <a:avLst/>
          </a:prstGeom>
          <a:noFill/>
        </p:spPr>
        <p:txBody>
          <a:bodyPr wrap="square">
            <a:spAutoFit/>
          </a:bodyPr>
          <a:lstStyle/>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Add the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web_search</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tool to the API call</a:t>
            </a:r>
          </a:p>
          <a:p>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2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model_deployment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instructions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"You are an AI assistant." </a:t>
            </a:r>
          </a:p>
          <a:p>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"Use web search when current information is required.",</a:t>
            </a:r>
          </a:p>
          <a:p>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    input="What are three major announcements from Microsoft Build?"</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p>
          <a:p>
            <a:r>
              <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Specify the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web_search</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tool type</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web_search</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Response is grounded in live search results</a:t>
            </a:r>
          </a:p>
          <a:p>
            <a:r>
              <a:rPr lang="en-US" sz="12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10" name="Rounded Rectangle 9">
            <a:extLst>
              <a:ext uri="{FF2B5EF4-FFF2-40B4-BE49-F238E27FC236}">
                <a16:creationId xmlns:a16="http://schemas.microsoft.com/office/drawing/2014/main" id="{90F2F6A7-F5E9-B26E-453F-51D0D38EAED9}"/>
              </a:ext>
              <a:ext uri="{C183D7F6-B498-43B3-948B-1728B52AA6E4}">
                <adec:decorative xmlns:adec="http://schemas.microsoft.com/office/drawing/2017/decorative" val="1"/>
              </a:ext>
            </a:extLst>
          </p:cNvPr>
          <p:cNvSpPr/>
          <p:nvPr/>
        </p:nvSpPr>
        <p:spPr>
          <a:xfrm>
            <a:off x="7363968" y="1579516"/>
            <a:ext cx="4239770" cy="858883"/>
          </a:xfrm>
          <a:prstGeom prst="roundRect">
            <a:avLst>
              <a:gd name="adj" fmla="val 12000"/>
            </a:avLst>
          </a:prstGeom>
          <a:solidFill>
            <a:schemeClr val="tx2">
              <a:lumMod val="25000"/>
              <a:lumOff val="75000"/>
              <a:alpha val="50196"/>
            </a:schemeClr>
          </a:solidFill>
          <a:ln w="9525">
            <a:solidFill>
              <a:schemeClr val="tx2">
                <a:lumMod val="10000"/>
                <a:lumOff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tx2">
                  <a:lumMod val="50000"/>
                  <a:lumOff val="50000"/>
                </a:schemeClr>
              </a:solidFill>
            </a:endParaRPr>
          </a:p>
        </p:txBody>
      </p:sp>
      <p:sp>
        <p:nvSpPr>
          <p:cNvPr id="12" name="Oval 11">
            <a:extLst>
              <a:ext uri="{FF2B5EF4-FFF2-40B4-BE49-F238E27FC236}">
                <a16:creationId xmlns:a16="http://schemas.microsoft.com/office/drawing/2014/main" id="{FBB9C092-7405-7D8F-910B-3942F3DDBBA9}"/>
              </a:ext>
            </a:extLst>
          </p:cNvPr>
          <p:cNvSpPr/>
          <p:nvPr/>
        </p:nvSpPr>
        <p:spPr bwMode="auto">
          <a:xfrm>
            <a:off x="7447028" y="1826077"/>
            <a:ext cx="365760" cy="365760"/>
          </a:xfrm>
          <a:prstGeom prst="ellipse">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1</a:t>
            </a:r>
          </a:p>
        </p:txBody>
      </p:sp>
      <p:sp>
        <p:nvSpPr>
          <p:cNvPr id="15" name="TextBox 14">
            <a:extLst>
              <a:ext uri="{FF2B5EF4-FFF2-40B4-BE49-F238E27FC236}">
                <a16:creationId xmlns:a16="http://schemas.microsoft.com/office/drawing/2014/main" id="{4189364F-7A3F-5DE3-0637-B4DCB5C7544D}"/>
              </a:ext>
            </a:extLst>
          </p:cNvPr>
          <p:cNvSpPr txBox="1"/>
          <p:nvPr/>
        </p:nvSpPr>
        <p:spPr>
          <a:xfrm>
            <a:off x="7895848" y="1608848"/>
            <a:ext cx="3707890" cy="800219"/>
          </a:xfrm>
          <a:prstGeom prst="rect">
            <a:avLst/>
          </a:prstGeom>
          <a:noFill/>
        </p:spPr>
        <p:txBody>
          <a:bodyPr wrap="square">
            <a:spAutoFit/>
          </a:bodyPr>
          <a:lstStyle/>
          <a:p>
            <a:r>
              <a:rPr lang="en-US" sz="1800" b="1">
                <a:solidFill>
                  <a:schemeClr val="tx2">
                    <a:lumMod val="75000"/>
                    <a:lumOff val="25000"/>
                  </a:schemeClr>
                </a:solidFill>
                <a:latin typeface="+mj-lt"/>
              </a:rPr>
              <a:t>Model detects need for live data</a:t>
            </a:r>
          </a:p>
          <a:p>
            <a:r>
              <a:rPr lang="en-US" sz="1400">
                <a:solidFill>
                  <a:schemeClr val="tx2">
                    <a:lumMod val="75000"/>
                    <a:lumOff val="25000"/>
                  </a:schemeClr>
                </a:solidFill>
              </a:rPr>
              <a:t>Based on the question, the model finds that current, real-time information is needed..</a:t>
            </a:r>
          </a:p>
        </p:txBody>
      </p:sp>
      <p:sp>
        <p:nvSpPr>
          <p:cNvPr id="16" name="Rounded Rectangle 15">
            <a:extLst>
              <a:ext uri="{FF2B5EF4-FFF2-40B4-BE49-F238E27FC236}">
                <a16:creationId xmlns:a16="http://schemas.microsoft.com/office/drawing/2014/main" id="{38C9343E-EF4C-15B3-A3A4-41A3056A04D3}"/>
              </a:ext>
              <a:ext uri="{C183D7F6-B498-43B3-948B-1728B52AA6E4}">
                <adec:decorative xmlns:adec="http://schemas.microsoft.com/office/drawing/2017/decorative" val="1"/>
              </a:ext>
            </a:extLst>
          </p:cNvPr>
          <p:cNvSpPr/>
          <p:nvPr/>
        </p:nvSpPr>
        <p:spPr>
          <a:xfrm>
            <a:off x="7372792" y="2510814"/>
            <a:ext cx="4239770" cy="858883"/>
          </a:xfrm>
          <a:prstGeom prst="roundRect">
            <a:avLst>
              <a:gd name="adj" fmla="val 12000"/>
            </a:avLst>
          </a:prstGeom>
          <a:solidFill>
            <a:schemeClr val="tx2">
              <a:lumMod val="25000"/>
              <a:lumOff val="75000"/>
              <a:alpha val="50196"/>
            </a:schemeClr>
          </a:solidFill>
          <a:ln w="9525">
            <a:solidFill>
              <a:schemeClr val="tx2">
                <a:lumMod val="10000"/>
                <a:lumOff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tx2">
                  <a:lumMod val="50000"/>
                  <a:lumOff val="50000"/>
                </a:schemeClr>
              </a:solidFill>
            </a:endParaRPr>
          </a:p>
        </p:txBody>
      </p:sp>
      <p:sp>
        <p:nvSpPr>
          <p:cNvPr id="17" name="Oval 16">
            <a:extLst>
              <a:ext uri="{FF2B5EF4-FFF2-40B4-BE49-F238E27FC236}">
                <a16:creationId xmlns:a16="http://schemas.microsoft.com/office/drawing/2014/main" id="{25212EEE-E83C-BB0E-0D87-BFFECF881DE0}"/>
              </a:ext>
            </a:extLst>
          </p:cNvPr>
          <p:cNvSpPr/>
          <p:nvPr/>
        </p:nvSpPr>
        <p:spPr bwMode="auto">
          <a:xfrm>
            <a:off x="7455852" y="2757375"/>
            <a:ext cx="365760" cy="365760"/>
          </a:xfrm>
          <a:prstGeom prst="ellipse">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2</a:t>
            </a:r>
          </a:p>
        </p:txBody>
      </p:sp>
      <p:sp>
        <p:nvSpPr>
          <p:cNvPr id="18" name="TextBox 17">
            <a:extLst>
              <a:ext uri="{FF2B5EF4-FFF2-40B4-BE49-F238E27FC236}">
                <a16:creationId xmlns:a16="http://schemas.microsoft.com/office/drawing/2014/main" id="{ED6DF113-BB03-76A0-037F-40800C6F4B22}"/>
              </a:ext>
            </a:extLst>
          </p:cNvPr>
          <p:cNvSpPr txBox="1"/>
          <p:nvPr/>
        </p:nvSpPr>
        <p:spPr>
          <a:xfrm>
            <a:off x="7904672" y="2540146"/>
            <a:ext cx="3707890" cy="800219"/>
          </a:xfrm>
          <a:prstGeom prst="rect">
            <a:avLst/>
          </a:prstGeom>
          <a:noFill/>
        </p:spPr>
        <p:txBody>
          <a:bodyPr wrap="square">
            <a:spAutoFit/>
          </a:bodyPr>
          <a:lstStyle/>
          <a:p>
            <a:r>
              <a:rPr lang="en-US" sz="1800" b="1">
                <a:solidFill>
                  <a:schemeClr val="tx2">
                    <a:lumMod val="75000"/>
                    <a:lumOff val="25000"/>
                  </a:schemeClr>
                </a:solidFill>
                <a:latin typeface="+mj-lt"/>
              </a:rPr>
              <a:t>Web search is performed </a:t>
            </a:r>
          </a:p>
          <a:p>
            <a:r>
              <a:rPr lang="en-US" sz="1400">
                <a:solidFill>
                  <a:schemeClr val="tx2">
                    <a:lumMod val="75000"/>
                    <a:lumOff val="25000"/>
                  </a:schemeClr>
                </a:solidFill>
              </a:rPr>
              <a:t>Model reformulates the query and conducts a live internet search — no code required.</a:t>
            </a:r>
          </a:p>
        </p:txBody>
      </p:sp>
      <p:sp>
        <p:nvSpPr>
          <p:cNvPr id="19" name="Rounded Rectangle 18">
            <a:extLst>
              <a:ext uri="{FF2B5EF4-FFF2-40B4-BE49-F238E27FC236}">
                <a16:creationId xmlns:a16="http://schemas.microsoft.com/office/drawing/2014/main" id="{D5722D57-7608-4B9E-47A3-4BE9EBFE12BD}"/>
              </a:ext>
              <a:ext uri="{C183D7F6-B498-43B3-948B-1728B52AA6E4}">
                <adec:decorative xmlns:adec="http://schemas.microsoft.com/office/drawing/2017/decorative" val="1"/>
              </a:ext>
            </a:extLst>
          </p:cNvPr>
          <p:cNvSpPr/>
          <p:nvPr/>
        </p:nvSpPr>
        <p:spPr>
          <a:xfrm>
            <a:off x="7363968" y="3442112"/>
            <a:ext cx="4239770" cy="858883"/>
          </a:xfrm>
          <a:prstGeom prst="roundRect">
            <a:avLst>
              <a:gd name="adj" fmla="val 12000"/>
            </a:avLst>
          </a:prstGeom>
          <a:solidFill>
            <a:schemeClr val="tx2">
              <a:lumMod val="25000"/>
              <a:lumOff val="75000"/>
              <a:alpha val="50196"/>
            </a:schemeClr>
          </a:solidFill>
          <a:ln w="9525">
            <a:solidFill>
              <a:schemeClr val="tx2">
                <a:lumMod val="10000"/>
                <a:lumOff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tx2">
                  <a:lumMod val="50000"/>
                  <a:lumOff val="50000"/>
                </a:schemeClr>
              </a:solidFill>
            </a:endParaRPr>
          </a:p>
        </p:txBody>
      </p:sp>
      <p:sp>
        <p:nvSpPr>
          <p:cNvPr id="20" name="Oval 19">
            <a:extLst>
              <a:ext uri="{FF2B5EF4-FFF2-40B4-BE49-F238E27FC236}">
                <a16:creationId xmlns:a16="http://schemas.microsoft.com/office/drawing/2014/main" id="{942DDE9F-EA6A-BECD-8322-D9D3327522C3}"/>
              </a:ext>
            </a:extLst>
          </p:cNvPr>
          <p:cNvSpPr/>
          <p:nvPr/>
        </p:nvSpPr>
        <p:spPr bwMode="auto">
          <a:xfrm>
            <a:off x="7447028" y="3688673"/>
            <a:ext cx="365760" cy="365760"/>
          </a:xfrm>
          <a:prstGeom prst="ellipse">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3</a:t>
            </a:r>
          </a:p>
        </p:txBody>
      </p:sp>
      <p:sp>
        <p:nvSpPr>
          <p:cNvPr id="21" name="TextBox 20">
            <a:extLst>
              <a:ext uri="{FF2B5EF4-FFF2-40B4-BE49-F238E27FC236}">
                <a16:creationId xmlns:a16="http://schemas.microsoft.com/office/drawing/2014/main" id="{2B9D4463-FEDE-EE0A-6878-D100A5C34BD9}"/>
              </a:ext>
            </a:extLst>
          </p:cNvPr>
          <p:cNvSpPr txBox="1"/>
          <p:nvPr/>
        </p:nvSpPr>
        <p:spPr>
          <a:xfrm>
            <a:off x="7895848" y="3471444"/>
            <a:ext cx="3790950" cy="800219"/>
          </a:xfrm>
          <a:prstGeom prst="rect">
            <a:avLst/>
          </a:prstGeom>
          <a:noFill/>
        </p:spPr>
        <p:txBody>
          <a:bodyPr wrap="square">
            <a:spAutoFit/>
          </a:bodyPr>
          <a:lstStyle/>
          <a:p>
            <a:r>
              <a:rPr lang="en-US" sz="1800" b="1">
                <a:solidFill>
                  <a:schemeClr val="tx2">
                    <a:lumMod val="75000"/>
                    <a:lumOff val="25000"/>
                  </a:schemeClr>
                </a:solidFill>
                <a:latin typeface="+mj-lt"/>
              </a:rPr>
              <a:t>Grounded response returned</a:t>
            </a:r>
          </a:p>
          <a:p>
            <a:r>
              <a:rPr lang="en-US" sz="1400">
                <a:solidFill>
                  <a:schemeClr val="tx2">
                    <a:lumMod val="75000"/>
                    <a:lumOff val="25000"/>
                  </a:schemeClr>
                </a:solidFill>
              </a:rPr>
              <a:t>Search results are added as context; the model creates a response that includes URLs.</a:t>
            </a:r>
          </a:p>
        </p:txBody>
      </p:sp>
      <p:sp>
        <p:nvSpPr>
          <p:cNvPr id="22" name="Rounded Rectangle 21">
            <a:extLst>
              <a:ext uri="{FF2B5EF4-FFF2-40B4-BE49-F238E27FC236}">
                <a16:creationId xmlns:a16="http://schemas.microsoft.com/office/drawing/2014/main" id="{111D1E5F-8C4B-19A4-263A-6797E45F8F3F}"/>
              </a:ext>
              <a:ext uri="{C183D7F6-B498-43B3-948B-1728B52AA6E4}">
                <adec:decorative xmlns:adec="http://schemas.microsoft.com/office/drawing/2017/decorative" val="1"/>
              </a:ext>
            </a:extLst>
          </p:cNvPr>
          <p:cNvSpPr/>
          <p:nvPr/>
        </p:nvSpPr>
        <p:spPr>
          <a:xfrm>
            <a:off x="548220" y="4759989"/>
            <a:ext cx="11055518" cy="1360739"/>
          </a:xfrm>
          <a:prstGeom prst="roundRect">
            <a:avLst>
              <a:gd name="adj" fmla="val 12000"/>
            </a:avLst>
          </a:prstGeom>
          <a:solidFill>
            <a:schemeClr val="tx2">
              <a:lumMod val="75000"/>
              <a:lumOff val="25000"/>
            </a:schemeClr>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bg1"/>
              </a:solidFill>
            </a:endParaRPr>
          </a:p>
        </p:txBody>
      </p:sp>
      <p:sp>
        <p:nvSpPr>
          <p:cNvPr id="24" name="TextBox 23">
            <a:extLst>
              <a:ext uri="{FF2B5EF4-FFF2-40B4-BE49-F238E27FC236}">
                <a16:creationId xmlns:a16="http://schemas.microsoft.com/office/drawing/2014/main" id="{B56D33C4-6ED7-FFCD-9BF5-A7CE702B304E}"/>
              </a:ext>
            </a:extLst>
          </p:cNvPr>
          <p:cNvSpPr txBox="1"/>
          <p:nvPr/>
        </p:nvSpPr>
        <p:spPr>
          <a:xfrm>
            <a:off x="623315" y="4759988"/>
            <a:ext cx="10945370" cy="1338828"/>
          </a:xfrm>
          <a:prstGeom prst="rect">
            <a:avLst/>
          </a:prstGeom>
          <a:noFill/>
        </p:spPr>
        <p:txBody>
          <a:bodyPr wrap="square">
            <a:spAutoFit/>
          </a:bodyPr>
          <a:lstStyle/>
          <a:p>
            <a:r>
              <a:rPr lang="en-US" sz="1350" b="1" cap="all" err="1">
                <a:solidFill>
                  <a:schemeClr val="bg1"/>
                </a:solidFill>
                <a:latin typeface="Consolas" panose="020B0609020204030204" pitchFamily="49" charset="0"/>
                <a:cs typeface="Consolas" panose="020B0609020204030204" pitchFamily="49" charset="0"/>
              </a:rPr>
              <a:t>response.output_text</a:t>
            </a:r>
            <a:endParaRPr lang="en-US" sz="1350" b="1" cap="all">
              <a:solidFill>
                <a:schemeClr val="bg1"/>
              </a:solidFill>
              <a:latin typeface="Consolas" panose="020B0609020204030204" pitchFamily="49" charset="0"/>
              <a:cs typeface="Consolas" panose="020B0609020204030204" pitchFamily="49" charset="0"/>
            </a:endParaRPr>
          </a:p>
          <a:p>
            <a:r>
              <a:rPr lang="en-US" sz="1350">
                <a:solidFill>
                  <a:schemeClr val="bg1"/>
                </a:solidFill>
                <a:latin typeface="Consolas" panose="020B0609020204030204" pitchFamily="49" charset="0"/>
                <a:cs typeface="Consolas" panose="020B0609020204030204" pitchFamily="49" charset="0"/>
              </a:rPr>
              <a:t>Here are three major announcements from Microsoft Build:</a:t>
            </a:r>
          </a:p>
          <a:p>
            <a:endParaRPr lang="en-US" sz="1350">
              <a:solidFill>
                <a:schemeClr val="bg1"/>
              </a:solidFill>
              <a:latin typeface="Consolas" panose="020B0609020204030204" pitchFamily="49" charset="0"/>
              <a:cs typeface="Consolas" panose="020B0609020204030204" pitchFamily="49" charset="0"/>
            </a:endParaRPr>
          </a:p>
          <a:p>
            <a:pPr marL="228600" indent="-228600">
              <a:buFont typeface="+mj-lt"/>
              <a:buAutoNum type="arabicPeriod"/>
            </a:pPr>
            <a:r>
              <a:rPr lang="en-US" sz="1350">
                <a:solidFill>
                  <a:schemeClr val="bg1"/>
                </a:solidFill>
                <a:latin typeface="Consolas" panose="020B0609020204030204" pitchFamily="49" charset="0"/>
                <a:cs typeface="Consolas" panose="020B0609020204030204" pitchFamily="49" charset="0"/>
              </a:rPr>
              <a:t>Enhanced APIs for agent development in Microsoft Foundry: </a:t>
            </a:r>
            <a:r>
              <a:rPr lang="en-US" sz="1350" u="sng">
                <a:solidFill>
                  <a:schemeClr val="bg1"/>
                </a:solidFill>
                <a:latin typeface="Consolas" panose="020B0609020204030204" pitchFamily="49" charset="0"/>
                <a:cs typeface="Consolas" panose="020B0609020204030204" pitchFamily="49" charset="0"/>
              </a:rPr>
              <a:t>New Foundry Agentic capabilities(link)</a:t>
            </a:r>
          </a:p>
          <a:p>
            <a:pPr marL="228600" indent="-228600">
              <a:buFont typeface="+mj-lt"/>
              <a:buAutoNum type="arabicPeriod"/>
            </a:pPr>
            <a:r>
              <a:rPr lang="en-US" sz="1350">
                <a:solidFill>
                  <a:schemeClr val="bg1"/>
                </a:solidFill>
                <a:latin typeface="Consolas" panose="020B0609020204030204" pitchFamily="49" charset="0"/>
                <a:cs typeface="Consolas" panose="020B0609020204030204" pitchFamily="49" charset="0"/>
              </a:rPr>
              <a:t>New data technologies for scalable knowledge stores: </a:t>
            </a:r>
            <a:r>
              <a:rPr lang="en-US" sz="1350" u="sng">
                <a:solidFill>
                  <a:schemeClr val="bg1"/>
                </a:solidFill>
                <a:latin typeface="Consolas" panose="020B0609020204030204" pitchFamily="49" charset="0"/>
                <a:cs typeface="Consolas" panose="020B0609020204030204" pitchFamily="49" charset="0"/>
              </a:rPr>
              <a:t>Cloud data store announcement(link)</a:t>
            </a:r>
          </a:p>
          <a:p>
            <a:pPr marL="228600" indent="-228600">
              <a:buFont typeface="+mj-lt"/>
              <a:buAutoNum type="arabicPeriod"/>
            </a:pPr>
            <a:r>
              <a:rPr lang="en-US" sz="1350">
                <a:solidFill>
                  <a:schemeClr val="bg1"/>
                </a:solidFill>
                <a:latin typeface="Consolas" panose="020B0609020204030204" pitchFamily="49" charset="0"/>
                <a:cs typeface="Consolas" panose="020B0609020204030204" pitchFamily="49" charset="0"/>
              </a:rPr>
              <a:t>New Microsoft training solutions to build AI skills: </a:t>
            </a:r>
            <a:r>
              <a:rPr lang="en-US" sz="1350" u="sng">
                <a:solidFill>
                  <a:schemeClr val="bg1"/>
                </a:solidFill>
                <a:latin typeface="Consolas" panose="020B0609020204030204" pitchFamily="49" charset="0"/>
                <a:cs typeface="Consolas" panose="020B0609020204030204" pitchFamily="49" charset="0"/>
              </a:rPr>
              <a:t>Microsoft Global Skilling takes learning worldwide(link)</a:t>
            </a:r>
          </a:p>
        </p:txBody>
      </p:sp>
    </p:spTree>
    <p:extLst>
      <p:ext uri="{BB962C8B-B14F-4D97-AF65-F5344CB8AC3E}">
        <p14:creationId xmlns:p14="http://schemas.microsoft.com/office/powerpoint/2010/main" val="65153223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3C45-BA0E-7527-610D-19FC41FBA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3AD9B-1733-301D-11A3-D8E87D09CB5F}"/>
              </a:ext>
            </a:extLst>
          </p:cNvPr>
          <p:cNvSpPr>
            <a:spLocks noGrp="1"/>
          </p:cNvSpPr>
          <p:nvPr>
            <p:ph type="title"/>
          </p:nvPr>
        </p:nvSpPr>
        <p:spPr>
          <a:xfrm>
            <a:off x="588262" y="585216"/>
            <a:ext cx="9622538" cy="492443"/>
          </a:xfrm>
        </p:spPr>
        <p:txBody>
          <a:bodyPr/>
          <a:lstStyle/>
          <a:p>
            <a:r>
              <a:rPr lang="en-US" sz="3200" dirty="0"/>
              <a:t>Using the </a:t>
            </a:r>
            <a:r>
              <a:rPr lang="en-US" sz="3200" dirty="0" err="1">
                <a:solidFill>
                  <a:schemeClr val="accent3"/>
                </a:solidFill>
                <a:latin typeface="Consolas" panose="020B0609020204030204" pitchFamily="49" charset="0"/>
                <a:cs typeface="Consolas" panose="020B0609020204030204" pitchFamily="49" charset="0"/>
              </a:rPr>
              <a:t>file_search</a:t>
            </a:r>
            <a:r>
              <a:rPr lang="en-US" sz="3200" dirty="0">
                <a:solidFill>
                  <a:schemeClr val="accent3"/>
                </a:solidFill>
                <a:latin typeface="Consolas" panose="020B0609020204030204" pitchFamily="49" charset="0"/>
                <a:cs typeface="Consolas" panose="020B0609020204030204" pitchFamily="49" charset="0"/>
              </a:rPr>
              <a:t> </a:t>
            </a:r>
            <a:r>
              <a:rPr lang="en-US" sz="3200" dirty="0"/>
              <a:t>tool</a:t>
            </a:r>
          </a:p>
        </p:txBody>
      </p:sp>
      <p:sp>
        <p:nvSpPr>
          <p:cNvPr id="3" name="Footer Placeholder 2">
            <a:extLst>
              <a:ext uri="{FF2B5EF4-FFF2-40B4-BE49-F238E27FC236}">
                <a16:creationId xmlns:a16="http://schemas.microsoft.com/office/drawing/2014/main" id="{18A1C249-23DB-573D-929B-1AFF37258CB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9CDCB0B5-021D-0379-A5EA-CBCE78E6EAE9}"/>
              </a:ext>
              <a:ext uri="{C183D7F6-B498-43B3-948B-1728B52AA6E4}">
                <adec:decorative xmlns:adec="http://schemas.microsoft.com/office/drawing/2017/decorative" val="1"/>
              </a:ext>
            </a:extLst>
          </p:cNvPr>
          <p:cNvSpPr/>
          <p:nvPr/>
        </p:nvSpPr>
        <p:spPr bwMode="auto">
          <a:xfrm>
            <a:off x="579438" y="1311292"/>
            <a:ext cx="6613842" cy="4760324"/>
          </a:xfrm>
          <a:prstGeom prst="roundRect">
            <a:avLst>
              <a:gd name="adj" fmla="val 6169"/>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8" name="TextBox 7">
            <a:extLst>
              <a:ext uri="{FF2B5EF4-FFF2-40B4-BE49-F238E27FC236}">
                <a16:creationId xmlns:a16="http://schemas.microsoft.com/office/drawing/2014/main" id="{4968AFEE-0F5B-A195-3CCC-72B1F3652F6E}"/>
              </a:ext>
            </a:extLst>
          </p:cNvPr>
          <p:cNvSpPr txBox="1"/>
          <p:nvPr/>
        </p:nvSpPr>
        <p:spPr>
          <a:xfrm>
            <a:off x="728631" y="1487639"/>
            <a:ext cx="6096000" cy="4241930"/>
          </a:xfrm>
          <a:prstGeom prst="rect">
            <a:avLst/>
          </a:prstGeom>
          <a:noFill/>
        </p:spPr>
        <p:txBody>
          <a:bodyPr wrap="square">
            <a:spAutoFit/>
          </a:bodyPr>
          <a:lstStyle/>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Create a vector store to hold your documents</a:t>
            </a:r>
          </a:p>
          <a:p>
            <a:r>
              <a:rPr lang="en-US" sz="1200" b="0" i="0" dirty="0" err="1">
                <a:solidFill>
                  <a:srgbClr val="9CDCFE"/>
                </a:solidFill>
                <a:effectLst/>
                <a:latin typeface="Consolas" panose="020B0609020204030204" pitchFamily="49" charset="0"/>
              </a:rPr>
              <a:t>vector_store</a:t>
            </a:r>
            <a:r>
              <a:rPr lang="en-US" sz="1200" b="0" i="0" dirty="0">
                <a:solidFill>
                  <a:srgbClr val="9CDCFE"/>
                </a:solidFill>
                <a:effectLst/>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.vector_stores.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r>
              <a:rPr lang="en-US" sz="1200" b="0" i="0" dirty="0">
                <a:solidFill>
                  <a:srgbClr val="9CDCFE"/>
                </a:solidFill>
                <a:effectLst/>
                <a:latin typeface="Consolas" panose="020B0609020204030204" pitchFamily="49" charset="0"/>
              </a:rPr>
              <a:t>name</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"policy-docs"</a:t>
            </a:r>
            <a:r>
              <a:rPr lang="en-US" sz="1200" b="0" i="0" dirty="0">
                <a:solidFill>
                  <a:srgbClr val="ABB2BF"/>
                </a:solidFill>
                <a:effectLst/>
                <a:latin typeface="Consolas" panose="020B0609020204030204" pitchFamily="49" charset="0"/>
              </a:rPr>
              <a:t>)</a:t>
            </a:r>
            <a:endPar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Upload a file — it is chunked and embedded automatically</a:t>
            </a:r>
          </a:p>
          <a:p>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.vector_stores.files.</a:t>
            </a:r>
            <a:r>
              <a:rPr lang="en-US" sz="1200" b="0" i="0" dirty="0" err="1">
                <a:solidFill>
                  <a:srgbClr val="DCDCAA"/>
                </a:solidFill>
                <a:effectLst/>
                <a:latin typeface="Consolas" panose="020B0609020204030204" pitchFamily="49" charset="0"/>
              </a:rPr>
              <a:t>upload_and_poll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vector_store_id</a:t>
            </a:r>
            <a:r>
              <a:rPr lang="en-US" sz="1200" b="0" i="0" dirty="0">
                <a:solidFill>
                  <a:srgbClr val="ABB2BF"/>
                </a:solidFill>
                <a:effectLst/>
                <a:latin typeface="Consolas" panose="020B0609020204030204" pitchFamily="49" charset="0"/>
              </a:rPr>
              <a:t>=</a:t>
            </a:r>
            <a:r>
              <a:rPr lang="en-US" sz="1200" b="0" i="0" dirty="0">
                <a:solidFill>
                  <a:srgbClr val="9CDCFE"/>
                </a:solidFill>
                <a:effectLst/>
                <a:latin typeface="Consolas" panose="020B0609020204030204" pitchFamily="49" charset="0"/>
              </a:rPr>
              <a:t>vector_store</a:t>
            </a:r>
            <a:r>
              <a:rPr lang="en-US" sz="1200" b="0" i="0" dirty="0">
                <a:solidFill>
                  <a:srgbClr val="ABB2BF"/>
                </a:solidFill>
                <a:effectLst/>
                <a:latin typeface="Consolas" panose="020B0609020204030204" pitchFamily="49" charset="0"/>
              </a:rPr>
              <a:t>.id,</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file</a:t>
            </a:r>
            <a:r>
              <a:rPr lang="en-US" sz="1200" b="0" i="0" dirty="0">
                <a:solidFill>
                  <a:srgbClr val="ABB2BF"/>
                </a:solidFill>
                <a:effectLst/>
                <a:latin typeface="Consolas" panose="020B0609020204030204" pitchFamily="49" charset="0"/>
              </a:rPr>
              <a:t>=</a:t>
            </a:r>
            <a:r>
              <a:rPr lang="en-US" sz="1200" b="0" i="0" dirty="0">
                <a:solidFill>
                  <a:srgbClr val="DCDCAA"/>
                </a:solidFill>
                <a:effectLst/>
                <a:latin typeface="Consolas" panose="020B0609020204030204" pitchFamily="49" charset="0"/>
              </a:rPr>
              <a:t>open</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"expenses_policy.pdf"</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rb</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endPar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Query using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file_search</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linked to your vector store</a:t>
            </a:r>
          </a:p>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.responses.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model_deployment</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instructions</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"Provide information from HR policy documents."</a:t>
            </a:r>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9CDCFE"/>
                </a:solidFill>
                <a:effectLst/>
                <a:latin typeface="Consolas" panose="020B0609020204030204" pitchFamily="49" charset="0"/>
              </a:rPr>
              <a:t>input</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"What's the maximum amount I can claim for a taxi ride?"</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tools</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file_search</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vector_store_ids</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vector_store</a:t>
            </a:r>
            <a:r>
              <a:rPr lang="en-US" sz="1200" b="0" i="0" dirty="0">
                <a:solidFill>
                  <a:srgbClr val="ABB2BF"/>
                </a:solidFill>
                <a:effectLst/>
                <a:latin typeface="Consolas" panose="020B0609020204030204" pitchFamily="49" charset="0"/>
              </a:rPr>
              <a:t>.id]}], </a:t>
            </a:r>
            <a:endPar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4CBC89"/>
                </a:solidFill>
                <a:latin typeface="Consolas" panose="020B0609020204030204" pitchFamily="49" charset="0"/>
                <a:cs typeface="Consolas" panose="020B0609020204030204" pitchFamily="49" charset="0"/>
              </a:rPr>
              <a:t># Include citation details in the results</a:t>
            </a:r>
          </a:p>
          <a:p>
            <a:r>
              <a:rPr lang="en-US" sz="1200" dirty="0">
                <a:solidFill>
                  <a:srgbClr val="E8E8E8"/>
                </a:solidFill>
                <a:latin typeface="Consolas" panose="020B0609020204030204" pitchFamily="49" charset="0"/>
              </a:rPr>
              <a:t>    </a:t>
            </a:r>
            <a:r>
              <a:rPr lang="en-US" sz="1200" dirty="0">
                <a:solidFill>
                  <a:srgbClr val="9CDCFE"/>
                </a:solidFill>
                <a:latin typeface="Consolas" panose="020B0609020204030204" pitchFamily="49" charset="0"/>
              </a:rPr>
              <a:t>include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"file_search_call.results"</a:t>
            </a:r>
            <a:r>
              <a:rPr lang="en-US" sz="1200" dirty="0">
                <a:solidFill>
                  <a:srgbClr val="ABB2BF"/>
                </a:solidFill>
                <a:latin typeface="Consolas" panose="020B0609020204030204" pitchFamily="49" charset="0"/>
              </a:rPr>
              <a:t>]</a:t>
            </a:r>
            <a:endPar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4. Output is natural language</a:t>
            </a:r>
          </a:p>
          <a:p>
            <a:r>
              <a:rPr lang="en-US" sz="12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p:txBody>
      </p:sp>
      <p:sp>
        <p:nvSpPr>
          <p:cNvPr id="10" name="Rounded Rectangle 9">
            <a:extLst>
              <a:ext uri="{FF2B5EF4-FFF2-40B4-BE49-F238E27FC236}">
                <a16:creationId xmlns:a16="http://schemas.microsoft.com/office/drawing/2014/main" id="{141650A3-4D1C-DA95-0495-88FE44784155}"/>
              </a:ext>
              <a:ext uri="{C183D7F6-B498-43B3-948B-1728B52AA6E4}">
                <adec:decorative xmlns:adec="http://schemas.microsoft.com/office/drawing/2017/decorative" val="1"/>
              </a:ext>
            </a:extLst>
          </p:cNvPr>
          <p:cNvSpPr/>
          <p:nvPr/>
        </p:nvSpPr>
        <p:spPr>
          <a:xfrm>
            <a:off x="7363968" y="1311292"/>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12" name="Oval 11">
            <a:extLst>
              <a:ext uri="{FF2B5EF4-FFF2-40B4-BE49-F238E27FC236}">
                <a16:creationId xmlns:a16="http://schemas.microsoft.com/office/drawing/2014/main" id="{F5C54FFB-9F50-4926-E012-A35A226B9E0C}"/>
              </a:ext>
            </a:extLst>
          </p:cNvPr>
          <p:cNvSpPr/>
          <p:nvPr/>
        </p:nvSpPr>
        <p:spPr bwMode="auto">
          <a:xfrm>
            <a:off x="7447028" y="1557853"/>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1</a:t>
            </a:r>
          </a:p>
        </p:txBody>
      </p:sp>
      <p:sp>
        <p:nvSpPr>
          <p:cNvPr id="15" name="TextBox 14">
            <a:extLst>
              <a:ext uri="{FF2B5EF4-FFF2-40B4-BE49-F238E27FC236}">
                <a16:creationId xmlns:a16="http://schemas.microsoft.com/office/drawing/2014/main" id="{AF901BEB-A074-57B0-430A-0DFDCED72330}"/>
              </a:ext>
            </a:extLst>
          </p:cNvPr>
          <p:cNvSpPr txBox="1"/>
          <p:nvPr/>
        </p:nvSpPr>
        <p:spPr>
          <a:xfrm>
            <a:off x="7895848" y="1340624"/>
            <a:ext cx="3707890" cy="800219"/>
          </a:xfrm>
          <a:prstGeom prst="rect">
            <a:avLst/>
          </a:prstGeom>
          <a:noFill/>
        </p:spPr>
        <p:txBody>
          <a:bodyPr wrap="square">
            <a:spAutoFit/>
          </a:bodyPr>
          <a:lstStyle/>
          <a:p>
            <a:r>
              <a:rPr lang="en-US" sz="1800" b="1" dirty="0">
                <a:solidFill>
                  <a:schemeClr val="accent3"/>
                </a:solidFill>
                <a:latin typeface="+mj-lt"/>
              </a:rPr>
              <a:t>Create a vector store</a:t>
            </a:r>
          </a:p>
          <a:p>
            <a:r>
              <a:rPr lang="en-US" sz="1400" dirty="0">
                <a:solidFill>
                  <a:schemeClr val="tx1">
                    <a:lumMod val="95000"/>
                    <a:lumOff val="5000"/>
                  </a:schemeClr>
                </a:solidFill>
              </a:rPr>
              <a:t>A managed store that holds your documents and their embeddings.</a:t>
            </a:r>
          </a:p>
        </p:txBody>
      </p:sp>
      <p:sp>
        <p:nvSpPr>
          <p:cNvPr id="16" name="Rounded Rectangle 15">
            <a:extLst>
              <a:ext uri="{FF2B5EF4-FFF2-40B4-BE49-F238E27FC236}">
                <a16:creationId xmlns:a16="http://schemas.microsoft.com/office/drawing/2014/main" id="{49A7C7B4-E1BF-40D8-A8C4-1BAB4F2AEDAC}"/>
              </a:ext>
              <a:ext uri="{C183D7F6-B498-43B3-948B-1728B52AA6E4}">
                <adec:decorative xmlns:adec="http://schemas.microsoft.com/office/drawing/2017/decorative" val="1"/>
              </a:ext>
            </a:extLst>
          </p:cNvPr>
          <p:cNvSpPr/>
          <p:nvPr/>
        </p:nvSpPr>
        <p:spPr>
          <a:xfrm>
            <a:off x="7372792" y="2242590"/>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17" name="Oval 16">
            <a:extLst>
              <a:ext uri="{FF2B5EF4-FFF2-40B4-BE49-F238E27FC236}">
                <a16:creationId xmlns:a16="http://schemas.microsoft.com/office/drawing/2014/main" id="{48DDB19D-54E6-7716-6741-D7DCD2C6244D}"/>
              </a:ext>
            </a:extLst>
          </p:cNvPr>
          <p:cNvSpPr/>
          <p:nvPr/>
        </p:nvSpPr>
        <p:spPr bwMode="auto">
          <a:xfrm>
            <a:off x="7455852" y="2489151"/>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2</a:t>
            </a:r>
          </a:p>
        </p:txBody>
      </p:sp>
      <p:sp>
        <p:nvSpPr>
          <p:cNvPr id="18" name="TextBox 17">
            <a:extLst>
              <a:ext uri="{FF2B5EF4-FFF2-40B4-BE49-F238E27FC236}">
                <a16:creationId xmlns:a16="http://schemas.microsoft.com/office/drawing/2014/main" id="{A8CC7F39-5969-F2DF-180B-84508E9403EB}"/>
              </a:ext>
            </a:extLst>
          </p:cNvPr>
          <p:cNvSpPr txBox="1"/>
          <p:nvPr/>
        </p:nvSpPr>
        <p:spPr>
          <a:xfrm>
            <a:off x="7904672" y="2271922"/>
            <a:ext cx="3707890" cy="800219"/>
          </a:xfrm>
          <a:prstGeom prst="rect">
            <a:avLst/>
          </a:prstGeom>
          <a:noFill/>
        </p:spPr>
        <p:txBody>
          <a:bodyPr wrap="square">
            <a:spAutoFit/>
          </a:bodyPr>
          <a:lstStyle/>
          <a:p>
            <a:r>
              <a:rPr lang="en-US" sz="1800" b="1" dirty="0">
                <a:solidFill>
                  <a:schemeClr val="accent3"/>
                </a:solidFill>
                <a:latin typeface="+mj-lt"/>
              </a:rPr>
              <a:t>Upload and index documents</a:t>
            </a:r>
          </a:p>
          <a:p>
            <a:r>
              <a:rPr lang="en-US" sz="1400" dirty="0">
                <a:solidFill>
                  <a:schemeClr val="tx1">
                    <a:lumMod val="95000"/>
                    <a:lumOff val="5000"/>
                  </a:schemeClr>
                </a:solidFill>
              </a:rPr>
              <a:t>Files are automatically chunked, embedded, and stored — ready to search.</a:t>
            </a:r>
          </a:p>
        </p:txBody>
      </p:sp>
      <p:sp>
        <p:nvSpPr>
          <p:cNvPr id="19" name="Rounded Rectangle 18">
            <a:extLst>
              <a:ext uri="{FF2B5EF4-FFF2-40B4-BE49-F238E27FC236}">
                <a16:creationId xmlns:a16="http://schemas.microsoft.com/office/drawing/2014/main" id="{DCA7DEEF-543E-3C71-DD3A-6B75D2FEB76F}"/>
              </a:ext>
              <a:ext uri="{C183D7F6-B498-43B3-948B-1728B52AA6E4}">
                <adec:decorative xmlns:adec="http://schemas.microsoft.com/office/drawing/2017/decorative" val="1"/>
              </a:ext>
            </a:extLst>
          </p:cNvPr>
          <p:cNvSpPr/>
          <p:nvPr/>
        </p:nvSpPr>
        <p:spPr>
          <a:xfrm>
            <a:off x="7363968" y="3173888"/>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20" name="Oval 19">
            <a:extLst>
              <a:ext uri="{FF2B5EF4-FFF2-40B4-BE49-F238E27FC236}">
                <a16:creationId xmlns:a16="http://schemas.microsoft.com/office/drawing/2014/main" id="{D6FDD298-6BC3-8A13-4CDC-56FC49DAA22C}"/>
              </a:ext>
            </a:extLst>
          </p:cNvPr>
          <p:cNvSpPr/>
          <p:nvPr/>
        </p:nvSpPr>
        <p:spPr bwMode="auto">
          <a:xfrm>
            <a:off x="7447028" y="3420449"/>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3</a:t>
            </a:r>
          </a:p>
        </p:txBody>
      </p:sp>
      <p:sp>
        <p:nvSpPr>
          <p:cNvPr id="21" name="TextBox 20">
            <a:extLst>
              <a:ext uri="{FF2B5EF4-FFF2-40B4-BE49-F238E27FC236}">
                <a16:creationId xmlns:a16="http://schemas.microsoft.com/office/drawing/2014/main" id="{A1E19CBA-F07A-5DDD-5F2A-24E05ABD43E4}"/>
              </a:ext>
            </a:extLst>
          </p:cNvPr>
          <p:cNvSpPr txBox="1"/>
          <p:nvPr/>
        </p:nvSpPr>
        <p:spPr>
          <a:xfrm>
            <a:off x="7895848" y="3203220"/>
            <a:ext cx="3707890" cy="800219"/>
          </a:xfrm>
          <a:prstGeom prst="rect">
            <a:avLst/>
          </a:prstGeom>
          <a:noFill/>
        </p:spPr>
        <p:txBody>
          <a:bodyPr wrap="square">
            <a:spAutoFit/>
          </a:bodyPr>
          <a:lstStyle/>
          <a:p>
            <a:r>
              <a:rPr lang="en-US" sz="1800" b="1" dirty="0">
                <a:solidFill>
                  <a:schemeClr val="accent3"/>
                </a:solidFill>
                <a:latin typeface="+mj-lt"/>
              </a:rPr>
              <a:t>Relevant chunks are retrieved</a:t>
            </a:r>
          </a:p>
          <a:p>
            <a:r>
              <a:rPr lang="en-US" sz="1400" dirty="0">
                <a:solidFill>
                  <a:schemeClr val="tx1">
                    <a:lumMod val="95000"/>
                    <a:lumOff val="5000"/>
                  </a:schemeClr>
                </a:solidFill>
              </a:rPr>
              <a:t>At query time, semantically relevant passages are found and provided as context.</a:t>
            </a:r>
          </a:p>
        </p:txBody>
      </p:sp>
      <p:sp>
        <p:nvSpPr>
          <p:cNvPr id="22" name="Rounded Rectangle 21">
            <a:extLst>
              <a:ext uri="{FF2B5EF4-FFF2-40B4-BE49-F238E27FC236}">
                <a16:creationId xmlns:a16="http://schemas.microsoft.com/office/drawing/2014/main" id="{AFCEC303-6C1C-BAB9-6F0E-BC9B11935B72}"/>
              </a:ext>
              <a:ext uri="{C183D7F6-B498-43B3-948B-1728B52AA6E4}">
                <adec:decorative xmlns:adec="http://schemas.microsoft.com/office/drawing/2017/decorative" val="1"/>
              </a:ext>
            </a:extLst>
          </p:cNvPr>
          <p:cNvSpPr/>
          <p:nvPr/>
        </p:nvSpPr>
        <p:spPr>
          <a:xfrm>
            <a:off x="7372792" y="5212733"/>
            <a:ext cx="4239770" cy="858883"/>
          </a:xfrm>
          <a:prstGeom prst="roundRect">
            <a:avLst>
              <a:gd name="adj" fmla="val 12000"/>
            </a:avLst>
          </a:prstGeom>
          <a:solidFill>
            <a:schemeClr val="accent3"/>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chemeClr val="bg1"/>
              </a:solidFill>
            </a:endParaRPr>
          </a:p>
        </p:txBody>
      </p:sp>
      <p:sp>
        <p:nvSpPr>
          <p:cNvPr id="24" name="TextBox 23">
            <a:extLst>
              <a:ext uri="{FF2B5EF4-FFF2-40B4-BE49-F238E27FC236}">
                <a16:creationId xmlns:a16="http://schemas.microsoft.com/office/drawing/2014/main" id="{73FD8F6F-A5A6-B267-398D-E79C79ED82DC}"/>
              </a:ext>
            </a:extLst>
          </p:cNvPr>
          <p:cNvSpPr txBox="1"/>
          <p:nvPr/>
        </p:nvSpPr>
        <p:spPr>
          <a:xfrm>
            <a:off x="7455852" y="5324394"/>
            <a:ext cx="4147886" cy="646331"/>
          </a:xfrm>
          <a:prstGeom prst="rect">
            <a:avLst/>
          </a:prstGeom>
          <a:noFill/>
        </p:spPr>
        <p:txBody>
          <a:bodyPr wrap="square">
            <a:spAutoFit/>
          </a:bodyPr>
          <a:lstStyle/>
          <a:p>
            <a:r>
              <a:rPr lang="en-US" sz="1200" b="1" cap="all" dirty="0" err="1">
                <a:solidFill>
                  <a:schemeClr val="bg1"/>
                </a:solidFill>
                <a:latin typeface="Consolas" panose="020B0609020204030204" pitchFamily="49" charset="0"/>
                <a:cs typeface="Consolas" panose="020B0609020204030204" pitchFamily="49" charset="0"/>
              </a:rPr>
              <a:t>response.output_text</a:t>
            </a:r>
            <a:endParaRPr lang="en-US" sz="1200" b="1" cap="all" dirty="0">
              <a:solidFill>
                <a:schemeClr val="bg1"/>
              </a:solidFill>
              <a:latin typeface="Consolas" panose="020B0609020204030204" pitchFamily="49" charset="0"/>
              <a:cs typeface="Consolas" panose="020B0609020204030204" pitchFamily="49" charset="0"/>
            </a:endParaRPr>
          </a:p>
          <a:p>
            <a:r>
              <a:rPr lang="en-US" sz="1200" dirty="0">
                <a:solidFill>
                  <a:schemeClr val="bg1"/>
                </a:solidFill>
                <a:latin typeface="Consolas" panose="020B0609020204030204" pitchFamily="49" charset="0"/>
                <a:cs typeface="Consolas" panose="020B0609020204030204" pitchFamily="49" charset="0"/>
              </a:rPr>
              <a:t>Based on the expenses policy, the maximum amount you can claim for a taxi ride is $75.00.</a:t>
            </a:r>
            <a:endParaRPr lang="en-US" sz="1050" dirty="0">
              <a:solidFill>
                <a:schemeClr val="bg1"/>
              </a:solidFill>
              <a:latin typeface="Consolas" panose="020B0609020204030204" pitchFamily="49" charset="0"/>
              <a:cs typeface="Consolas" panose="020B0609020204030204" pitchFamily="49" charset="0"/>
            </a:endParaRPr>
          </a:p>
        </p:txBody>
      </p:sp>
      <p:sp>
        <p:nvSpPr>
          <p:cNvPr id="4" name="Rounded Rectangle 3">
            <a:extLst>
              <a:ext uri="{FF2B5EF4-FFF2-40B4-BE49-F238E27FC236}">
                <a16:creationId xmlns:a16="http://schemas.microsoft.com/office/drawing/2014/main" id="{13BD5F3D-913B-7E9B-6F81-820CA9A63D74}"/>
              </a:ext>
              <a:ext uri="{C183D7F6-B498-43B3-948B-1728B52AA6E4}">
                <adec:decorative xmlns:adec="http://schemas.microsoft.com/office/drawing/2017/decorative" val="1"/>
              </a:ext>
            </a:extLst>
          </p:cNvPr>
          <p:cNvSpPr/>
          <p:nvPr/>
        </p:nvSpPr>
        <p:spPr>
          <a:xfrm>
            <a:off x="7372792" y="4105186"/>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dirty="0">
              <a:solidFill>
                <a:srgbClr val="4A5568"/>
              </a:solidFill>
            </a:endParaRPr>
          </a:p>
        </p:txBody>
      </p:sp>
      <p:sp>
        <p:nvSpPr>
          <p:cNvPr id="5" name="Oval 4">
            <a:extLst>
              <a:ext uri="{FF2B5EF4-FFF2-40B4-BE49-F238E27FC236}">
                <a16:creationId xmlns:a16="http://schemas.microsoft.com/office/drawing/2014/main" id="{C2D173E8-41EA-980F-16C4-F35D48C4EE68}"/>
              </a:ext>
            </a:extLst>
          </p:cNvPr>
          <p:cNvSpPr/>
          <p:nvPr/>
        </p:nvSpPr>
        <p:spPr bwMode="auto">
          <a:xfrm>
            <a:off x="7455852" y="4351747"/>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solidFill>
                  <a:schemeClr val="bg1"/>
                </a:solidFill>
                <a:ea typeface="Segoe UI" pitchFamily="34" charset="0"/>
                <a:cs typeface="Segoe UI" pitchFamily="34" charset="0"/>
              </a:rPr>
              <a:t>3</a:t>
            </a:r>
          </a:p>
        </p:txBody>
      </p:sp>
      <p:sp>
        <p:nvSpPr>
          <p:cNvPr id="7" name="TextBox 6">
            <a:extLst>
              <a:ext uri="{FF2B5EF4-FFF2-40B4-BE49-F238E27FC236}">
                <a16:creationId xmlns:a16="http://schemas.microsoft.com/office/drawing/2014/main" id="{E2E26F89-AAE5-E2DB-1158-F5ADC9065DB5}"/>
              </a:ext>
            </a:extLst>
          </p:cNvPr>
          <p:cNvSpPr txBox="1"/>
          <p:nvPr/>
        </p:nvSpPr>
        <p:spPr>
          <a:xfrm>
            <a:off x="7904672" y="4134518"/>
            <a:ext cx="3790950" cy="800219"/>
          </a:xfrm>
          <a:prstGeom prst="rect">
            <a:avLst/>
          </a:prstGeom>
          <a:noFill/>
        </p:spPr>
        <p:txBody>
          <a:bodyPr wrap="square">
            <a:spAutoFit/>
          </a:bodyPr>
          <a:lstStyle/>
          <a:p>
            <a:r>
              <a:rPr lang="en-US" sz="1800" b="1" dirty="0">
                <a:solidFill>
                  <a:schemeClr val="accent3"/>
                </a:solidFill>
                <a:latin typeface="+mj-lt"/>
              </a:rPr>
              <a:t>Model answers from document</a:t>
            </a:r>
          </a:p>
          <a:p>
            <a:r>
              <a:rPr lang="en-US" sz="1400" dirty="0">
                <a:solidFill>
                  <a:schemeClr val="tx1">
                    <a:lumMod val="95000"/>
                    <a:lumOff val="5000"/>
                  </a:schemeClr>
                </a:solidFill>
              </a:rPr>
              <a:t>Response is grounded in the retrieved content, optionally with chunk-level citations.</a:t>
            </a:r>
          </a:p>
        </p:txBody>
      </p:sp>
    </p:spTree>
    <p:extLst>
      <p:ext uri="{BB962C8B-B14F-4D97-AF65-F5344CB8AC3E}">
        <p14:creationId xmlns:p14="http://schemas.microsoft.com/office/powerpoint/2010/main" val="154420826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130BB-FF69-2524-D4D9-F3FCA2947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61AC5-71F5-9AFF-3FD1-E9E61493A744}"/>
              </a:ext>
            </a:extLst>
          </p:cNvPr>
          <p:cNvSpPr>
            <a:spLocks noGrp="1"/>
          </p:cNvSpPr>
          <p:nvPr>
            <p:ph type="title"/>
          </p:nvPr>
        </p:nvSpPr>
        <p:spPr>
          <a:xfrm>
            <a:off x="588262" y="585216"/>
            <a:ext cx="8193024" cy="492443"/>
          </a:xfrm>
        </p:spPr>
        <p:txBody>
          <a:bodyPr/>
          <a:lstStyle/>
          <a:p>
            <a:r>
              <a:rPr lang="en-US" sz="3200" dirty="0"/>
              <a:t>Using the </a:t>
            </a:r>
            <a:r>
              <a:rPr lang="en-US" sz="3200" dirty="0">
                <a:solidFill>
                  <a:srgbClr val="0078D4"/>
                </a:solidFill>
                <a:latin typeface="Consolas" panose="020B0609020204030204" pitchFamily="49" charset="0"/>
                <a:cs typeface="Consolas" panose="020B0609020204030204" pitchFamily="49" charset="0"/>
              </a:rPr>
              <a:t>function</a:t>
            </a:r>
            <a:r>
              <a:rPr lang="en-US" sz="3200" dirty="0">
                <a:solidFill>
                  <a:schemeClr val="accent1"/>
                </a:solidFill>
                <a:latin typeface="Consolas" panose="020B0609020204030204" pitchFamily="49" charset="0"/>
                <a:cs typeface="Consolas" panose="020B0609020204030204" pitchFamily="49" charset="0"/>
              </a:rPr>
              <a:t> </a:t>
            </a:r>
            <a:r>
              <a:rPr lang="en-US" sz="3200" dirty="0"/>
              <a:t>tool</a:t>
            </a:r>
          </a:p>
        </p:txBody>
      </p:sp>
      <p:sp>
        <p:nvSpPr>
          <p:cNvPr id="3" name="Footer Placeholder 2">
            <a:extLst>
              <a:ext uri="{FF2B5EF4-FFF2-40B4-BE49-F238E27FC236}">
                <a16:creationId xmlns:a16="http://schemas.microsoft.com/office/drawing/2014/main" id="{4BC89B8D-F34D-E6A3-D7B2-5C443F7AF2B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AFB3B6EC-5AB7-A883-C822-CAA828EFC076}"/>
              </a:ext>
              <a:ext uri="{C183D7F6-B498-43B3-948B-1728B52AA6E4}">
                <adec:decorative xmlns:adec="http://schemas.microsoft.com/office/drawing/2017/decorative" val="1"/>
              </a:ext>
            </a:extLst>
          </p:cNvPr>
          <p:cNvSpPr/>
          <p:nvPr/>
        </p:nvSpPr>
        <p:spPr bwMode="auto">
          <a:xfrm>
            <a:off x="579438" y="1170433"/>
            <a:ext cx="7183498" cy="4852415"/>
          </a:xfrm>
          <a:prstGeom prst="roundRect">
            <a:avLst>
              <a:gd name="adj" fmla="val 3578"/>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Rounded Rectangle 9">
            <a:extLst>
              <a:ext uri="{FF2B5EF4-FFF2-40B4-BE49-F238E27FC236}">
                <a16:creationId xmlns:a16="http://schemas.microsoft.com/office/drawing/2014/main" id="{CDFA8E21-BD0A-1C40-7589-7C614D2B3A84}"/>
              </a:ext>
              <a:ext uri="{C183D7F6-B498-43B3-948B-1728B52AA6E4}">
                <adec:decorative xmlns:adec="http://schemas.microsoft.com/office/drawing/2017/decorative" val="1"/>
              </a:ext>
            </a:extLst>
          </p:cNvPr>
          <p:cNvSpPr/>
          <p:nvPr/>
        </p:nvSpPr>
        <p:spPr>
          <a:xfrm>
            <a:off x="7872664" y="1170433"/>
            <a:ext cx="3731074"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2" name="Oval 11">
            <a:extLst>
              <a:ext uri="{FF2B5EF4-FFF2-40B4-BE49-F238E27FC236}">
                <a16:creationId xmlns:a16="http://schemas.microsoft.com/office/drawing/2014/main" id="{631FF6E4-A0F1-A036-389E-324D6B1C46FF}"/>
              </a:ext>
            </a:extLst>
          </p:cNvPr>
          <p:cNvSpPr/>
          <p:nvPr/>
        </p:nvSpPr>
        <p:spPr bwMode="auto">
          <a:xfrm>
            <a:off x="7946900" y="1405441"/>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1</a:t>
            </a:r>
          </a:p>
        </p:txBody>
      </p:sp>
      <p:sp>
        <p:nvSpPr>
          <p:cNvPr id="15" name="TextBox 14">
            <a:extLst>
              <a:ext uri="{FF2B5EF4-FFF2-40B4-BE49-F238E27FC236}">
                <a16:creationId xmlns:a16="http://schemas.microsoft.com/office/drawing/2014/main" id="{4C34A4C7-820C-1014-C8CB-885FCEF9D935}"/>
              </a:ext>
            </a:extLst>
          </p:cNvPr>
          <p:cNvSpPr txBox="1"/>
          <p:nvPr/>
        </p:nvSpPr>
        <p:spPr>
          <a:xfrm>
            <a:off x="8386896" y="1234378"/>
            <a:ext cx="3216842" cy="707886"/>
          </a:xfrm>
          <a:prstGeom prst="rect">
            <a:avLst/>
          </a:prstGeom>
          <a:noFill/>
        </p:spPr>
        <p:txBody>
          <a:bodyPr wrap="square">
            <a:spAutoFit/>
          </a:bodyPr>
          <a:lstStyle/>
          <a:p>
            <a:r>
              <a:rPr lang="en-US" sz="1600" b="1">
                <a:solidFill>
                  <a:srgbClr val="0078D4"/>
                </a:solidFill>
                <a:latin typeface="+mj-lt"/>
              </a:rPr>
              <a:t>Define function</a:t>
            </a:r>
          </a:p>
          <a:p>
            <a:r>
              <a:rPr lang="en-US" sz="1200">
                <a:solidFill>
                  <a:schemeClr val="tx1">
                    <a:lumMod val="95000"/>
                    <a:lumOff val="5000"/>
                  </a:schemeClr>
                </a:solidFill>
              </a:rPr>
              <a:t>Describe your function so the model knows when to call it.</a:t>
            </a:r>
          </a:p>
        </p:txBody>
      </p:sp>
      <p:sp>
        <p:nvSpPr>
          <p:cNvPr id="16" name="Rounded Rectangle 15">
            <a:extLst>
              <a:ext uri="{FF2B5EF4-FFF2-40B4-BE49-F238E27FC236}">
                <a16:creationId xmlns:a16="http://schemas.microsoft.com/office/drawing/2014/main" id="{2A4530F0-DA9C-8863-0631-45AA42E8FBEB}"/>
              </a:ext>
              <a:ext uri="{C183D7F6-B498-43B3-948B-1728B52AA6E4}">
                <adec:decorative xmlns:adec="http://schemas.microsoft.com/office/drawing/2017/decorative" val="1"/>
              </a:ext>
            </a:extLst>
          </p:cNvPr>
          <p:cNvSpPr/>
          <p:nvPr/>
        </p:nvSpPr>
        <p:spPr>
          <a:xfrm>
            <a:off x="7881488" y="2127300"/>
            <a:ext cx="3731074"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7" name="Oval 16">
            <a:extLst>
              <a:ext uri="{FF2B5EF4-FFF2-40B4-BE49-F238E27FC236}">
                <a16:creationId xmlns:a16="http://schemas.microsoft.com/office/drawing/2014/main" id="{8C4EAE0E-FFED-4D80-B137-8EA2F7B786ED}"/>
              </a:ext>
            </a:extLst>
          </p:cNvPr>
          <p:cNvSpPr/>
          <p:nvPr/>
        </p:nvSpPr>
        <p:spPr bwMode="auto">
          <a:xfrm>
            <a:off x="7955724" y="2362308"/>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2</a:t>
            </a:r>
          </a:p>
        </p:txBody>
      </p:sp>
      <p:sp>
        <p:nvSpPr>
          <p:cNvPr id="18" name="TextBox 17">
            <a:extLst>
              <a:ext uri="{FF2B5EF4-FFF2-40B4-BE49-F238E27FC236}">
                <a16:creationId xmlns:a16="http://schemas.microsoft.com/office/drawing/2014/main" id="{907EBC54-D605-5821-88BE-26D67D3AA0AD}"/>
              </a:ext>
            </a:extLst>
          </p:cNvPr>
          <p:cNvSpPr txBox="1"/>
          <p:nvPr/>
        </p:nvSpPr>
        <p:spPr>
          <a:xfrm>
            <a:off x="8395720" y="2098912"/>
            <a:ext cx="3216842" cy="892552"/>
          </a:xfrm>
          <a:prstGeom prst="rect">
            <a:avLst/>
          </a:prstGeom>
          <a:noFill/>
        </p:spPr>
        <p:txBody>
          <a:bodyPr wrap="square">
            <a:spAutoFit/>
          </a:bodyPr>
          <a:lstStyle/>
          <a:p>
            <a:r>
              <a:rPr lang="en-US" sz="1600" b="1">
                <a:solidFill>
                  <a:srgbClr val="0078D4"/>
                </a:solidFill>
                <a:latin typeface="+mj-lt"/>
              </a:rPr>
              <a:t>Set up tools</a:t>
            </a:r>
          </a:p>
          <a:p>
            <a:r>
              <a:rPr lang="en-US" sz="1200">
                <a:solidFill>
                  <a:schemeClr val="tx1">
                    <a:lumMod val="95000"/>
                    <a:lumOff val="5000"/>
                  </a:schemeClr>
                </a:solidFill>
              </a:rPr>
              <a:t>Register the function as a tool and initialize the conversation with developer and user messages.</a:t>
            </a:r>
          </a:p>
        </p:txBody>
      </p:sp>
      <p:sp>
        <p:nvSpPr>
          <p:cNvPr id="19" name="Rounded Rectangle 18">
            <a:extLst>
              <a:ext uri="{FF2B5EF4-FFF2-40B4-BE49-F238E27FC236}">
                <a16:creationId xmlns:a16="http://schemas.microsoft.com/office/drawing/2014/main" id="{933AD7A1-C6C4-A910-3938-2FD52F3D17D9}"/>
              </a:ext>
              <a:ext uri="{C183D7F6-B498-43B3-948B-1728B52AA6E4}">
                <adec:decorative xmlns:adec="http://schemas.microsoft.com/office/drawing/2017/decorative" val="1"/>
              </a:ext>
            </a:extLst>
          </p:cNvPr>
          <p:cNvSpPr/>
          <p:nvPr/>
        </p:nvSpPr>
        <p:spPr>
          <a:xfrm>
            <a:off x="7904672" y="3058599"/>
            <a:ext cx="3699066"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20" name="Oval 19">
            <a:extLst>
              <a:ext uri="{FF2B5EF4-FFF2-40B4-BE49-F238E27FC236}">
                <a16:creationId xmlns:a16="http://schemas.microsoft.com/office/drawing/2014/main" id="{BCC8CB48-E57D-E392-87CE-DE65FC27AB34}"/>
              </a:ext>
            </a:extLst>
          </p:cNvPr>
          <p:cNvSpPr/>
          <p:nvPr/>
        </p:nvSpPr>
        <p:spPr bwMode="auto">
          <a:xfrm>
            <a:off x="7946900" y="3293607"/>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3</a:t>
            </a:r>
          </a:p>
        </p:txBody>
      </p:sp>
      <p:sp>
        <p:nvSpPr>
          <p:cNvPr id="21" name="TextBox 20">
            <a:extLst>
              <a:ext uri="{FF2B5EF4-FFF2-40B4-BE49-F238E27FC236}">
                <a16:creationId xmlns:a16="http://schemas.microsoft.com/office/drawing/2014/main" id="{DDB435B8-C1F7-2267-7CE4-827806F500B1}"/>
              </a:ext>
            </a:extLst>
          </p:cNvPr>
          <p:cNvSpPr txBox="1"/>
          <p:nvPr/>
        </p:nvSpPr>
        <p:spPr>
          <a:xfrm>
            <a:off x="8386896" y="3030211"/>
            <a:ext cx="3216842" cy="892552"/>
          </a:xfrm>
          <a:prstGeom prst="rect">
            <a:avLst/>
          </a:prstGeom>
          <a:noFill/>
        </p:spPr>
        <p:txBody>
          <a:bodyPr wrap="square">
            <a:spAutoFit/>
          </a:bodyPr>
          <a:lstStyle/>
          <a:p>
            <a:r>
              <a:rPr lang="en-US" sz="1600" b="1">
                <a:solidFill>
                  <a:srgbClr val="0078D4"/>
                </a:solidFill>
                <a:latin typeface="+mj-lt"/>
              </a:rPr>
              <a:t>Execute function call</a:t>
            </a:r>
          </a:p>
          <a:p>
            <a:r>
              <a:rPr lang="en-US" sz="1200">
                <a:solidFill>
                  <a:schemeClr val="tx1">
                    <a:lumMod val="95000"/>
                    <a:lumOff val="5000"/>
                  </a:schemeClr>
                </a:solidFill>
              </a:rPr>
              <a:t>Run the requested function when the model triggers a function call and capture its output.</a:t>
            </a:r>
          </a:p>
        </p:txBody>
      </p:sp>
      <p:sp>
        <p:nvSpPr>
          <p:cNvPr id="22" name="Rounded Rectangle 21">
            <a:extLst>
              <a:ext uri="{FF2B5EF4-FFF2-40B4-BE49-F238E27FC236}">
                <a16:creationId xmlns:a16="http://schemas.microsoft.com/office/drawing/2014/main" id="{2933FE0B-038B-C725-FE1C-6A55861A498E}"/>
              </a:ext>
              <a:ext uri="{C183D7F6-B498-43B3-948B-1728B52AA6E4}">
                <adec:decorative xmlns:adec="http://schemas.microsoft.com/office/drawing/2017/decorative" val="1"/>
              </a:ext>
            </a:extLst>
          </p:cNvPr>
          <p:cNvSpPr/>
          <p:nvPr/>
        </p:nvSpPr>
        <p:spPr>
          <a:xfrm>
            <a:off x="7863840" y="5163965"/>
            <a:ext cx="3748722" cy="858883"/>
          </a:xfrm>
          <a:prstGeom prst="roundRect">
            <a:avLst>
              <a:gd name="adj" fmla="val 12000"/>
            </a:avLst>
          </a:prstGeom>
          <a:solidFill>
            <a:srgbClr val="0078D4"/>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bg1"/>
              </a:solidFill>
            </a:endParaRPr>
          </a:p>
        </p:txBody>
      </p:sp>
      <p:sp>
        <p:nvSpPr>
          <p:cNvPr id="24" name="TextBox 23">
            <a:extLst>
              <a:ext uri="{FF2B5EF4-FFF2-40B4-BE49-F238E27FC236}">
                <a16:creationId xmlns:a16="http://schemas.microsoft.com/office/drawing/2014/main" id="{949DE2EB-FC3E-64B4-7709-50D198EABEEE}"/>
              </a:ext>
            </a:extLst>
          </p:cNvPr>
          <p:cNvSpPr txBox="1"/>
          <p:nvPr/>
        </p:nvSpPr>
        <p:spPr>
          <a:xfrm>
            <a:off x="7904672" y="5236266"/>
            <a:ext cx="3592384" cy="738664"/>
          </a:xfrm>
          <a:prstGeom prst="rect">
            <a:avLst/>
          </a:prstGeom>
          <a:noFill/>
        </p:spPr>
        <p:txBody>
          <a:bodyPr wrap="square">
            <a:spAutoFit/>
          </a:bodyPr>
          <a:lstStyle/>
          <a:p>
            <a:r>
              <a:rPr lang="en-US" sz="1400" b="1" cap="all" err="1">
                <a:solidFill>
                  <a:schemeClr val="bg1"/>
                </a:solidFill>
                <a:latin typeface="Consolas" panose="020B0609020204030204" pitchFamily="49" charset="0"/>
                <a:cs typeface="Consolas" panose="020B0609020204030204" pitchFamily="49" charset="0"/>
              </a:rPr>
              <a:t>response.output_text</a:t>
            </a:r>
            <a:endParaRPr lang="en-US" sz="1400" b="1" cap="all">
              <a:solidFill>
                <a:schemeClr val="bg1"/>
              </a:solidFill>
              <a:latin typeface="Consolas" panose="020B0609020204030204" pitchFamily="49" charset="0"/>
              <a:cs typeface="Consolas" panose="020B0609020204030204" pitchFamily="49" charset="0"/>
            </a:endParaRPr>
          </a:p>
          <a:p>
            <a:r>
              <a:rPr lang="en-US" sz="1400">
                <a:solidFill>
                  <a:schemeClr val="bg1"/>
                </a:solidFill>
                <a:latin typeface="Consolas" panose="020B0609020204030204" pitchFamily="49" charset="0"/>
                <a:cs typeface="Consolas" panose="020B0609020204030204" pitchFamily="49" charset="0"/>
              </a:rPr>
              <a:t>The current time is 09:05:00 on March 27, 2026.</a:t>
            </a:r>
            <a:endParaRPr lang="en-US" sz="1100">
              <a:solidFill>
                <a:schemeClr val="bg1"/>
              </a:solidFill>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99FC9187-FA00-9B01-0D3B-9FD3320C0601}"/>
              </a:ext>
            </a:extLst>
          </p:cNvPr>
          <p:cNvSpPr txBox="1"/>
          <p:nvPr/>
        </p:nvSpPr>
        <p:spPr>
          <a:xfrm>
            <a:off x="588262" y="1179387"/>
            <a:ext cx="7275578" cy="4832092"/>
          </a:xfrm>
          <a:prstGeom prst="rect">
            <a:avLst/>
          </a:prstGeom>
          <a:noFill/>
          <a:ln>
            <a:noFill/>
          </a:ln>
        </p:spPr>
        <p:txBody>
          <a:bodyPr wrap="square">
            <a:spAutoFit/>
          </a:bodyPr>
          <a:lstStyle/>
          <a:p>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Define the callable function</a:t>
            </a:r>
          </a:p>
          <a:p>
            <a:r>
              <a:rPr lang="en-US" sz="1100" dirty="0">
                <a:solidFill>
                  <a:srgbClr val="569CD6"/>
                </a:solidFill>
                <a:latin typeface="Consolas" panose="020B0609020204030204" pitchFamily="49" charset="0"/>
              </a:rPr>
              <a:t>def</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return </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f</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"The</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 time is {</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time.</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strftime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'%Y-%m-%d %H:%M:%S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time.</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localtime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rgbClr val="569CD6"/>
                </a:solidFill>
                <a:latin typeface="Consolas" panose="020B0609020204030204" pitchFamily="49" charset="0"/>
              </a:rPr>
              <a:t>def</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main</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Set up tools and initial message</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function_tools</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"function"</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"name"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"description"</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"Get the current 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"role"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"developer"</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"content"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"You can use functions to provide information."</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append</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"role"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"user"</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"content"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"What’s the current 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"gpt-4.1"</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function_tools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a:t>
            </a:r>
            <a:endPar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Was there a function call in the model's response? If so, call the function</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for</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in</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if</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.type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function_call</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and</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.name ==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current_time</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append</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function_call_output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call_id</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.call_id</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"output"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current_time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4. Get a follow up response using the tool output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"gpt-4.1"</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instructions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"Answer only with the tool output."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function_tools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p:txBody>
      </p:sp>
      <p:sp>
        <p:nvSpPr>
          <p:cNvPr id="5" name="Rounded Rectangle 4">
            <a:extLst>
              <a:ext uri="{FF2B5EF4-FFF2-40B4-BE49-F238E27FC236}">
                <a16:creationId xmlns:a16="http://schemas.microsoft.com/office/drawing/2014/main" id="{A95F66B3-9F0A-7E33-0058-C194396DC936}"/>
              </a:ext>
              <a:ext uri="{C183D7F6-B498-43B3-948B-1728B52AA6E4}">
                <adec:decorative xmlns:adec="http://schemas.microsoft.com/office/drawing/2017/decorative" val="1"/>
              </a:ext>
            </a:extLst>
          </p:cNvPr>
          <p:cNvSpPr/>
          <p:nvPr/>
        </p:nvSpPr>
        <p:spPr>
          <a:xfrm>
            <a:off x="7913496" y="3972460"/>
            <a:ext cx="3699066"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7" name="Oval 6">
            <a:extLst>
              <a:ext uri="{FF2B5EF4-FFF2-40B4-BE49-F238E27FC236}">
                <a16:creationId xmlns:a16="http://schemas.microsoft.com/office/drawing/2014/main" id="{DC6906FE-03F5-2E08-83A6-262B5F2429BF}"/>
              </a:ext>
            </a:extLst>
          </p:cNvPr>
          <p:cNvSpPr/>
          <p:nvPr/>
        </p:nvSpPr>
        <p:spPr bwMode="auto">
          <a:xfrm>
            <a:off x="7955724" y="4207468"/>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solidFill>
                  <a:schemeClr val="bg1"/>
                </a:solidFill>
                <a:ea typeface="Segoe UI" pitchFamily="34" charset="0"/>
                <a:cs typeface="Segoe UI" pitchFamily="34" charset="0"/>
              </a:rPr>
              <a:t>4</a:t>
            </a:r>
          </a:p>
        </p:txBody>
      </p:sp>
      <p:sp>
        <p:nvSpPr>
          <p:cNvPr id="8" name="TextBox 7">
            <a:extLst>
              <a:ext uri="{FF2B5EF4-FFF2-40B4-BE49-F238E27FC236}">
                <a16:creationId xmlns:a16="http://schemas.microsoft.com/office/drawing/2014/main" id="{D3004AD8-67B3-8A63-FC37-0BD7FAC50798}"/>
              </a:ext>
            </a:extLst>
          </p:cNvPr>
          <p:cNvSpPr txBox="1"/>
          <p:nvPr/>
        </p:nvSpPr>
        <p:spPr>
          <a:xfrm>
            <a:off x="8395720" y="4036405"/>
            <a:ext cx="3216842" cy="707886"/>
          </a:xfrm>
          <a:prstGeom prst="rect">
            <a:avLst/>
          </a:prstGeom>
          <a:noFill/>
        </p:spPr>
        <p:txBody>
          <a:bodyPr wrap="square">
            <a:spAutoFit/>
          </a:bodyPr>
          <a:lstStyle/>
          <a:p>
            <a:r>
              <a:rPr lang="en-US" sz="1600" b="1">
                <a:solidFill>
                  <a:srgbClr val="0078D4"/>
                </a:solidFill>
                <a:latin typeface="+mj-lt"/>
              </a:rPr>
              <a:t>Model formulates final answer</a:t>
            </a:r>
          </a:p>
          <a:p>
            <a:r>
              <a:rPr lang="en-US" sz="1200">
                <a:solidFill>
                  <a:schemeClr val="tx1">
                    <a:lumMod val="95000"/>
                    <a:lumOff val="5000"/>
                  </a:schemeClr>
                </a:solidFill>
              </a:rPr>
              <a:t>Send the function result back to the model to generate the final user-facing response.</a:t>
            </a:r>
          </a:p>
        </p:txBody>
      </p:sp>
    </p:spTree>
    <p:extLst>
      <p:ext uri="{BB962C8B-B14F-4D97-AF65-F5344CB8AC3E}">
        <p14:creationId xmlns:p14="http://schemas.microsoft.com/office/powerpoint/2010/main" val="209243389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dirty="0"/>
              <a:t>Using the </a:t>
            </a:r>
            <a:r>
              <a:rPr lang="en-US" sz="3200" i="1" dirty="0" err="1"/>
              <a:t>code_interpreter</a:t>
            </a:r>
            <a:r>
              <a:rPr lang="en-US" sz="3200" i="1" dirty="0"/>
              <a:t> </a:t>
            </a:r>
            <a:r>
              <a:rPr lang="en-US" sz="3200" dirty="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1806" y="2503293"/>
            <a:ext cx="10708388" cy="1785104"/>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response using the </a:t>
            </a:r>
            <a:r>
              <a:rPr lang="en-US" sz="1100" dirty="0" err="1">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code_interpreter</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tool</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model_deployment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an AI assistant that provides information. Use the python tool to run code for math problems.",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input="What is the square root of 16?",</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Specify tools the model can use (including container settings)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tools=[{"type":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code_interpreter</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"container": {"type": "auto"}}]</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5" name="TextBox 4">
            <a:extLst>
              <a:ext uri="{FF2B5EF4-FFF2-40B4-BE49-F238E27FC236}">
                <a16:creationId xmlns:a16="http://schemas.microsoft.com/office/drawing/2014/main" id="{FC0E9404-D73D-D567-F16E-06C3C0D58A81}"/>
              </a:ext>
            </a:extLst>
          </p:cNvPr>
          <p:cNvSpPr txBox="1"/>
          <p:nvPr/>
        </p:nvSpPr>
        <p:spPr>
          <a:xfrm>
            <a:off x="6178551" y="3898496"/>
            <a:ext cx="5670550" cy="600164"/>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square root of 16 is 4.</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221329297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dirty="0"/>
              <a:t>Using the </a:t>
            </a:r>
            <a:r>
              <a:rPr lang="en-US" sz="3200" i="1" dirty="0" err="1"/>
              <a:t>web_search</a:t>
            </a:r>
            <a:r>
              <a:rPr lang="en-US" sz="3200" i="1" dirty="0"/>
              <a:t> </a:t>
            </a:r>
            <a:r>
              <a:rPr lang="en-US" sz="3200" dirty="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1806" y="2071988"/>
            <a:ext cx="10708388" cy="1785104"/>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response using the </a:t>
            </a:r>
            <a:r>
              <a:rPr lang="en-US" sz="1100" dirty="0" err="1">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web_search</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tool</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model_deployment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an AI assistant. Use web search when current information is required.",</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input="What are three major announcements from Microsoft Build this week?",</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Specify the </a:t>
            </a:r>
            <a:r>
              <a:rPr lang="en-US" sz="1100" dirty="0" err="1">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web_search</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tool</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tools=[{"type":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web_search_preview</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5" name="TextBox 4">
            <a:extLst>
              <a:ext uri="{FF2B5EF4-FFF2-40B4-BE49-F238E27FC236}">
                <a16:creationId xmlns:a16="http://schemas.microsoft.com/office/drawing/2014/main" id="{FC0E9404-D73D-D567-F16E-06C3C0D58A81}"/>
              </a:ext>
            </a:extLst>
          </p:cNvPr>
          <p:cNvSpPr txBox="1"/>
          <p:nvPr/>
        </p:nvSpPr>
        <p:spPr>
          <a:xfrm>
            <a:off x="6096000" y="3320646"/>
            <a:ext cx="5670550" cy="1615827"/>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Here are three major announcements from Microsoft Build:</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228600" indent="-228600">
              <a:buAutoNum type="arabicPeriod"/>
            </a:pP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Enhanced APIs for agent development in Microsoft Foundry: </a:t>
            </a:r>
            <a:r>
              <a:rPr lang="en-US" sz="1100" u="sng" dirty="0">
                <a:solidFill>
                  <a:srgbClr val="8DC8E8"/>
                </a:solidFill>
                <a:latin typeface="Cascadia Code Light" panose="020B0609020000020004" pitchFamily="49" charset="0"/>
                <a:ea typeface="Cascadia Code Light" panose="020B0609020000020004" pitchFamily="49" charset="0"/>
                <a:cs typeface="Cascadia Code Light" panose="020B0609020000020004" pitchFamily="49" charset="0"/>
              </a:rPr>
              <a:t>New Foundry Agentic capabilities</a:t>
            </a:r>
          </a:p>
          <a:p>
            <a:pPr marL="228600" indent="-228600">
              <a:buAutoNum type="arabicPeriod"/>
            </a:pP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New data technologies for scalable knowledge stores: </a:t>
            </a:r>
            <a:r>
              <a:rPr lang="en-US" sz="1100" u="sng" dirty="0">
                <a:solidFill>
                  <a:srgbClr val="8DC8E8"/>
                </a:solidFill>
                <a:latin typeface="Cascadia Code Light" panose="020B0609020000020004" pitchFamily="49" charset="0"/>
                <a:ea typeface="Cascadia Code Light" panose="020B0609020000020004" pitchFamily="49" charset="0"/>
                <a:cs typeface="Cascadia Code Light" panose="020B0609020000020004" pitchFamily="49" charset="0"/>
              </a:rPr>
              <a:t>Cloud data store announcement</a:t>
            </a:r>
          </a:p>
          <a:p>
            <a:pPr marL="228600" indent="-228600">
              <a:buAutoNum type="arabicPeriod"/>
            </a:pP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New Microsoft training solutions to build AI skills: </a:t>
            </a:r>
            <a:r>
              <a:rPr lang="en-US" sz="1100" u="sng" dirty="0">
                <a:solidFill>
                  <a:srgbClr val="8DC8E8"/>
                </a:solidFill>
                <a:latin typeface="Cascadia Code Light" panose="020B0609020000020004" pitchFamily="49" charset="0"/>
                <a:ea typeface="Cascadia Code Light" panose="020B0609020000020004" pitchFamily="49" charset="0"/>
                <a:cs typeface="Cascadia Code Light" panose="020B0609020000020004" pitchFamily="49" charset="0"/>
              </a:rPr>
              <a:t>Microsoft Global Skilling takes learning worldwide</a:t>
            </a:r>
          </a:p>
        </p:txBody>
      </p:sp>
    </p:spTree>
    <p:extLst>
      <p:ext uri="{BB962C8B-B14F-4D97-AF65-F5344CB8AC3E}">
        <p14:creationId xmlns:p14="http://schemas.microsoft.com/office/powerpoint/2010/main" val="97233664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dirty="0"/>
              <a:t>Using the </a:t>
            </a:r>
            <a:r>
              <a:rPr lang="en-US" sz="3200" b="1" i="1" dirty="0" err="1"/>
              <a:t>file_search</a:t>
            </a:r>
            <a:r>
              <a:rPr lang="en-US" sz="3200" i="1" dirty="0"/>
              <a:t> </a:t>
            </a:r>
            <a:r>
              <a:rPr lang="en-US" sz="3200" dirty="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0662" y="1774701"/>
            <a:ext cx="10708388" cy="3647152"/>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Create vector store and upload a file</a:t>
            </a:r>
          </a:p>
          <a:p>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vector_store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client.vector_stores.create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(name="policy-docs")</a:t>
            </a:r>
          </a:p>
          <a:p>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client.vector_stores.files.upload_and_poll</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vector_store_id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=vector_store.id,</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file=open("expenses_policy.pdf",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rb</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response using the </a:t>
            </a:r>
            <a:r>
              <a:rPr lang="en-US" sz="1100" dirty="0" err="1">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file_search</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tool</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model_deployment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an AI assistant that provides information from HR policy documents.",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input="What's the maximum amount I can claim for a taxi ride?",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Specify the </a:t>
            </a:r>
            <a:r>
              <a:rPr lang="en-US" sz="1100" dirty="0" err="1">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file_search</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tool and the vector store to use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tools=[{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"type":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file_search</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vector_store_ids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[vector_store.id]</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Include citation details in the results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include=["</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file_search_call.results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5" name="TextBox 4">
            <a:extLst>
              <a:ext uri="{FF2B5EF4-FFF2-40B4-BE49-F238E27FC236}">
                <a16:creationId xmlns:a16="http://schemas.microsoft.com/office/drawing/2014/main" id="{FC0E9404-D73D-D567-F16E-06C3C0D58A81}"/>
              </a:ext>
            </a:extLst>
          </p:cNvPr>
          <p:cNvSpPr txBox="1"/>
          <p:nvPr/>
        </p:nvSpPr>
        <p:spPr>
          <a:xfrm>
            <a:off x="6094856" y="4698578"/>
            <a:ext cx="5670550" cy="769441"/>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Based on the expenses policy, the maximum amount you can claim for a taxi ride is $75.00</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121714101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dirty="0"/>
              <a:t>Using the </a:t>
            </a:r>
            <a:r>
              <a:rPr lang="en-US" sz="3200" b="1" i="1" dirty="0"/>
              <a:t>function </a:t>
            </a:r>
            <a:r>
              <a:rPr lang="en-US" sz="3200" dirty="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1806" y="1194771"/>
            <a:ext cx="10708388" cy="5170646"/>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Function to get the current time</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def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get_time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return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f"The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time is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time.strftime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('%Y-%m-%d %H:%M:%S',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time.localtime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Main function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def main():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Define tools including the function tool</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function_tools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"function", "name":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get_time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"description": "Get the current time"}]</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Initialize messages</a:t>
            </a:r>
          </a:p>
          <a:p>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messages =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"developer", "content": "You are an AI assistant that can use functions to provides information."},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messages.append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({"role": "user", "content": "What’s the current time?"})</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initial response, and add it to the messages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response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(model="gpt-4.1", input=messages, tools=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function_tools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a:t>
            </a:r>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Was there a function call in the model's response? If so, call the function</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for item in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if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item.type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function_call</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and item.name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get_time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current_time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get_time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messages.append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({"type":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function_call_output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call_id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item.call_id</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"output":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current_time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a follow up response using the tool output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response =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(model="gpt-4.1", input=messages,</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instructions="Answer only with the tool output.", tools= </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function_tools</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t>
            </a:r>
            <a:r>
              <a:rPr lang="en-US" sz="11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5" name="TextBox 4">
            <a:extLst>
              <a:ext uri="{FF2B5EF4-FFF2-40B4-BE49-F238E27FC236}">
                <a16:creationId xmlns:a16="http://schemas.microsoft.com/office/drawing/2014/main" id="{FC0E9404-D73D-D567-F16E-06C3C0D58A81}"/>
              </a:ext>
            </a:extLst>
          </p:cNvPr>
          <p:cNvSpPr txBox="1"/>
          <p:nvPr/>
        </p:nvSpPr>
        <p:spPr>
          <a:xfrm>
            <a:off x="6621906" y="8329102"/>
            <a:ext cx="5670550" cy="769441"/>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Based on the expenses policy, the maximum amount you can claim for a taxi ride is $75.00</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TextBox 5">
            <a:extLst>
              <a:ext uri="{FF2B5EF4-FFF2-40B4-BE49-F238E27FC236}">
                <a16:creationId xmlns:a16="http://schemas.microsoft.com/office/drawing/2014/main" id="{B9ECAEF2-6BFA-E444-0CDD-23F8399CC179}"/>
              </a:ext>
            </a:extLst>
          </p:cNvPr>
          <p:cNvSpPr txBox="1"/>
          <p:nvPr/>
        </p:nvSpPr>
        <p:spPr>
          <a:xfrm>
            <a:off x="6096000" y="6139308"/>
            <a:ext cx="5670550" cy="600164"/>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time is 2026-03-07 09:05:00</a:t>
            </a:r>
          </a:p>
          <a:p>
            <a:endParaRPr lang="en-US" sz="11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180028523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64CF2-4F24-746C-E7A1-9B98074A60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174D0D-55B7-ACAD-8355-409216EEE86F}"/>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778B6FE3-5F96-6B74-0338-D61E69057A37}"/>
              </a:ext>
            </a:extLst>
          </p:cNvPr>
          <p:cNvSpPr>
            <a:spLocks noGrp="1"/>
          </p:cNvSpPr>
          <p:nvPr>
            <p:ph type="body" sz="quarter" idx="16"/>
          </p:nvPr>
        </p:nvSpPr>
        <p:spPr>
          <a:xfrm>
            <a:off x="584199" y="1594155"/>
            <a:ext cx="5654573" cy="307777"/>
          </a:xfrm>
        </p:spPr>
        <p:txBody>
          <a:bodyPr/>
          <a:lstStyle/>
          <a:p>
            <a:r>
              <a:rPr lang="en-US" sz="2000" dirty="0"/>
              <a:t>Create a generative AI chat app that uses tools</a:t>
            </a:r>
          </a:p>
        </p:txBody>
      </p:sp>
      <p:sp>
        <p:nvSpPr>
          <p:cNvPr id="6" name="Text Placeholder 5">
            <a:extLst>
              <a:ext uri="{FF2B5EF4-FFF2-40B4-BE49-F238E27FC236}">
                <a16:creationId xmlns:a16="http://schemas.microsoft.com/office/drawing/2014/main" id="{85C50DC0-85DD-DC54-CB55-C6A40B84BF94}"/>
              </a:ext>
            </a:extLst>
          </p:cNvPr>
          <p:cNvSpPr>
            <a:spLocks noGrp="1"/>
          </p:cNvSpPr>
          <p:nvPr>
            <p:ph type="body" sz="quarter" idx="15"/>
          </p:nvPr>
        </p:nvSpPr>
        <p:spPr>
          <a:xfrm>
            <a:off x="586389" y="2085764"/>
            <a:ext cx="4144361" cy="738664"/>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Experiment with tools in the playground</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app that uses tools</a:t>
            </a:r>
            <a:endParaRPr lang="en-US" dirty="0"/>
          </a:p>
        </p:txBody>
      </p:sp>
      <p:sp>
        <p:nvSpPr>
          <p:cNvPr id="10" name="TextBox 9">
            <a:extLst>
              <a:ext uri="{FF2B5EF4-FFF2-40B4-BE49-F238E27FC236}">
                <a16:creationId xmlns:a16="http://schemas.microsoft.com/office/drawing/2014/main" id="{EFB7D5B6-D591-49C7-D25A-ECEC9E0CAB39}"/>
              </a:ext>
            </a:extLst>
          </p:cNvPr>
          <p:cNvSpPr txBox="1"/>
          <p:nvPr/>
        </p:nvSpPr>
        <p:spPr>
          <a:xfrm>
            <a:off x="487330" y="3967742"/>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https://go.microsoft.com/fwlink/?linkid=2356945</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66CD48D1-9348-4C8A-76CB-575AAF0D5D5A}"/>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85EA18E8-D0BD-C4AF-051A-81FEEAAEB53B}"/>
              </a:ext>
              <a:ext uri="{C183D7F6-B498-43B3-948B-1728B52AA6E4}">
                <adec:decorative xmlns:adec="http://schemas.microsoft.com/office/drawing/2017/decorative" val="1"/>
              </a:ext>
            </a:extLst>
          </p:cNvPr>
          <p:cNvPicPr>
            <a:picLocks noChangeAspect="1"/>
          </p:cNvPicPr>
          <p:nvPr/>
        </p:nvPicPr>
        <p:blipFill>
          <a:blip r:embed="rId4"/>
          <a:srcRect l="2650" r="2650"/>
          <a:stretch/>
        </p:blipFill>
        <p:spPr>
          <a:xfrm>
            <a:off x="7723991" y="2044700"/>
            <a:ext cx="4468009" cy="3309257"/>
          </a:xfrm>
          <a:prstGeom prst="rect">
            <a:avLst/>
          </a:prstGeom>
        </p:spPr>
      </p:pic>
      <p:sp>
        <p:nvSpPr>
          <p:cNvPr id="11" name="Flowchart: Off-page Connector 44">
            <a:extLst>
              <a:ext uri="{FF2B5EF4-FFF2-40B4-BE49-F238E27FC236}">
                <a16:creationId xmlns:a16="http://schemas.microsoft.com/office/drawing/2014/main" id="{ACE2BA90-570D-F134-ED45-1DCE174C436F}"/>
              </a:ext>
              <a:ext uri="{C183D7F6-B498-43B3-948B-1728B52AA6E4}">
                <adec:decorative xmlns:adec="http://schemas.microsoft.com/office/drawing/2017/decorative" val="0"/>
              </a:ext>
            </a:extLst>
          </p:cNvPr>
          <p:cNvSpPr/>
          <p:nvPr/>
        </p:nvSpPr>
        <p:spPr bwMode="auto">
          <a:xfrm rot="5400000">
            <a:off x="5960050" y="2617672"/>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53487881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EE4A-59EB-5C4C-C272-2455C39E3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B5146-2304-6E63-78B7-B982ECC7E057}"/>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A21381FA-7356-B336-A844-AF1063D34A8A}"/>
              </a:ext>
            </a:extLst>
          </p:cNvPr>
          <p:cNvSpPr>
            <a:spLocks noGrp="1"/>
          </p:cNvSpPr>
          <p:nvPr>
            <p:ph type="body" sz="quarter" idx="17"/>
          </p:nvPr>
        </p:nvSpPr>
        <p:spPr>
          <a:xfrm>
            <a:off x="1235074" y="1766085"/>
            <a:ext cx="8867775" cy="430887"/>
          </a:xfrm>
        </p:spPr>
        <p:txBody>
          <a:bodyPr/>
          <a:lstStyle/>
          <a:p>
            <a:r>
              <a:rPr lang="en-US" b="1" dirty="0"/>
              <a:t>Which tool should you use when a model needs to answer questions from your own uploaded policy documents?</a:t>
            </a:r>
          </a:p>
        </p:txBody>
      </p:sp>
      <p:sp>
        <p:nvSpPr>
          <p:cNvPr id="9" name="Text Placeholder 8">
            <a:extLst>
              <a:ext uri="{FF2B5EF4-FFF2-40B4-BE49-F238E27FC236}">
                <a16:creationId xmlns:a16="http://schemas.microsoft.com/office/drawing/2014/main" id="{1269CCDE-0C66-539F-D148-47739BE7FA7C}"/>
              </a:ext>
            </a:extLst>
          </p:cNvPr>
          <p:cNvSpPr>
            <a:spLocks noGrp="1"/>
          </p:cNvSpPr>
          <p:nvPr>
            <p:ph type="body" sz="quarter" idx="15"/>
          </p:nvPr>
        </p:nvSpPr>
        <p:spPr>
          <a:xfrm>
            <a:off x="1235075" y="2198348"/>
            <a:ext cx="8775098" cy="732508"/>
          </a:xfrm>
          <a:noFill/>
        </p:spPr>
        <p:txBody>
          <a:bodyPr/>
          <a:lstStyle/>
          <a:p>
            <a:r>
              <a:rPr lang="en-US" noProof="0" dirty="0" err="1"/>
              <a:t>web_search</a:t>
            </a:r>
            <a:endParaRPr lang="en-US" noProof="0" dirty="0"/>
          </a:p>
          <a:p>
            <a:r>
              <a:rPr lang="en-US" noProof="0" dirty="0" err="1"/>
              <a:t>file_search</a:t>
            </a:r>
            <a:endParaRPr lang="en-US" noProof="0" dirty="0"/>
          </a:p>
          <a:p>
            <a:r>
              <a:rPr lang="en-US" noProof="0" dirty="0" err="1"/>
              <a:t>code_interpreter</a:t>
            </a:r>
            <a:endParaRPr lang="en-US" noProof="0" dirty="0"/>
          </a:p>
        </p:txBody>
      </p:sp>
      <p:sp>
        <p:nvSpPr>
          <p:cNvPr id="18" name="Text Placeholder 17">
            <a:extLst>
              <a:ext uri="{FF2B5EF4-FFF2-40B4-BE49-F238E27FC236}">
                <a16:creationId xmlns:a16="http://schemas.microsoft.com/office/drawing/2014/main" id="{F27B3A54-6BEA-7A85-A06A-C76D6603903E}"/>
              </a:ext>
            </a:extLst>
          </p:cNvPr>
          <p:cNvSpPr>
            <a:spLocks noGrp="1"/>
          </p:cNvSpPr>
          <p:nvPr>
            <p:ph type="body" sz="quarter" idx="22"/>
          </p:nvPr>
        </p:nvSpPr>
        <p:spPr>
          <a:xfrm>
            <a:off x="1235075" y="3139966"/>
            <a:ext cx="8778782" cy="215444"/>
          </a:xfrm>
        </p:spPr>
        <p:txBody>
          <a:bodyPr/>
          <a:lstStyle/>
          <a:p>
            <a:r>
              <a:rPr lang="en-US" noProof="0" dirty="0"/>
              <a:t> In a function-calling workflow, what should your application do after the model returns a </a:t>
            </a:r>
            <a:r>
              <a:rPr lang="en-US" noProof="0" dirty="0" err="1"/>
              <a:t>function_call</a:t>
            </a:r>
            <a:r>
              <a:rPr lang="en-US" noProof="0" dirty="0"/>
              <a:t> item?</a:t>
            </a:r>
          </a:p>
        </p:txBody>
      </p:sp>
      <p:sp>
        <p:nvSpPr>
          <p:cNvPr id="19" name="Text Placeholder 18">
            <a:extLst>
              <a:ext uri="{FF2B5EF4-FFF2-40B4-BE49-F238E27FC236}">
                <a16:creationId xmlns:a16="http://schemas.microsoft.com/office/drawing/2014/main" id="{411F5F2D-0312-1EA7-60A1-97D285035407}"/>
              </a:ext>
            </a:extLst>
          </p:cNvPr>
          <p:cNvSpPr>
            <a:spLocks noGrp="1"/>
          </p:cNvSpPr>
          <p:nvPr>
            <p:ph type="body" sz="quarter" idx="23"/>
          </p:nvPr>
        </p:nvSpPr>
        <p:spPr>
          <a:xfrm>
            <a:off x="1235074" y="3420839"/>
            <a:ext cx="8775098" cy="732508"/>
          </a:xfrm>
        </p:spPr>
        <p:txBody>
          <a:bodyPr/>
          <a:lstStyle/>
          <a:p>
            <a:r>
              <a:rPr lang="en-US" dirty="0"/>
              <a:t>Wait for the model to run the function automatically</a:t>
            </a:r>
          </a:p>
          <a:p>
            <a:r>
              <a:rPr lang="en-US" dirty="0"/>
              <a:t>Run the function in your code and send a </a:t>
            </a:r>
            <a:r>
              <a:rPr lang="en-US" dirty="0" err="1"/>
              <a:t>function_call_output</a:t>
            </a:r>
            <a:r>
              <a:rPr lang="en-US" dirty="0"/>
              <a:t> back to the model</a:t>
            </a:r>
          </a:p>
          <a:p>
            <a:r>
              <a:rPr lang="en-US" dirty="0"/>
              <a:t>Convert the function call into a </a:t>
            </a:r>
            <a:r>
              <a:rPr lang="en-US" dirty="0" err="1"/>
              <a:t>web_search</a:t>
            </a:r>
            <a:r>
              <a:rPr lang="en-US" dirty="0"/>
              <a:t> request</a:t>
            </a:r>
          </a:p>
        </p:txBody>
      </p:sp>
      <p:sp>
        <p:nvSpPr>
          <p:cNvPr id="76" name="Oval 75">
            <a:extLst>
              <a:ext uri="{FF2B5EF4-FFF2-40B4-BE49-F238E27FC236}">
                <a16:creationId xmlns:a16="http://schemas.microsoft.com/office/drawing/2014/main" id="{90FE9CE8-8AE4-DF8A-85D8-A4B5ED0391D2}"/>
              </a:ext>
              <a:ext uri="{C183D7F6-B498-43B3-948B-1728B52AA6E4}">
                <adec:decorative xmlns:adec="http://schemas.microsoft.com/office/drawing/2017/decorative" val="1"/>
              </a:ext>
            </a:extLst>
          </p:cNvPr>
          <p:cNvSpPr>
            <a:spLocks/>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559477CC-0C47-E008-F382-479C239551C9}"/>
              </a:ext>
              <a:ext uri="{C183D7F6-B498-43B3-948B-1728B52AA6E4}">
                <adec:decorative xmlns:adec="http://schemas.microsoft.com/office/drawing/2017/decorative" val="1"/>
              </a:ext>
            </a:extLst>
          </p:cNvPr>
          <p:cNvSpPr>
            <a:spLocks/>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86850359-2A5A-4DD2-545C-AEDACFD7AA45}"/>
              </a:ext>
              <a:ext uri="{C183D7F6-B498-43B3-948B-1728B52AA6E4}">
                <adec:decorative xmlns:adec="http://schemas.microsoft.com/office/drawing/2017/decorative" val="1"/>
              </a:ext>
            </a:extLst>
          </p:cNvPr>
          <p:cNvSpPr>
            <a:spLocks/>
          </p:cNvSpPr>
          <p:nvPr/>
        </p:nvSpPr>
        <p:spPr>
          <a:xfrm>
            <a:off x="1263852" y="374498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7FC07E89-3603-5FF0-4A3B-256ABD233A72}"/>
              </a:ext>
              <a:ext uri="{C183D7F6-B498-43B3-948B-1728B52AA6E4}">
                <adec:decorative xmlns:adec="http://schemas.microsoft.com/office/drawing/2017/decorative" val="1"/>
              </a:ext>
            </a:extLst>
          </p:cNvPr>
          <p:cNvSpPr>
            <a:spLocks/>
          </p:cNvSpPr>
          <p:nvPr/>
        </p:nvSpPr>
        <p:spPr>
          <a:xfrm>
            <a:off x="1263852" y="249581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A969DBF7-B870-653D-C648-ED00A42131D7}"/>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Text Placeholder 27">
            <a:extLst>
              <a:ext uri="{FF2B5EF4-FFF2-40B4-BE49-F238E27FC236}">
                <a16:creationId xmlns:a16="http://schemas.microsoft.com/office/drawing/2014/main" id="{B598AE3B-E1E8-A076-DC9D-DC12D36E09F5}"/>
              </a:ext>
            </a:extLst>
          </p:cNvPr>
          <p:cNvSpPr>
            <a:spLocks noGrp="1"/>
          </p:cNvSpPr>
          <p:nvPr>
            <p:ph type="body" sz="quarter" idx="20"/>
          </p:nvPr>
        </p:nvSpPr>
        <p:spPr>
          <a:xfrm>
            <a:off x="1235075" y="4418761"/>
            <a:ext cx="8778782" cy="215444"/>
          </a:xfrm>
        </p:spPr>
        <p:txBody>
          <a:bodyPr/>
          <a:lstStyle/>
          <a:p>
            <a:r>
              <a:rPr lang="en-US" dirty="0"/>
              <a:t>Which statement about the </a:t>
            </a:r>
            <a:r>
              <a:rPr lang="en-US" dirty="0" err="1"/>
              <a:t>code_interpreter</a:t>
            </a:r>
            <a:r>
              <a:rPr lang="en-US" dirty="0"/>
              <a:t> tool is correct?</a:t>
            </a:r>
          </a:p>
        </p:txBody>
      </p:sp>
      <p:sp>
        <p:nvSpPr>
          <p:cNvPr id="6" name="Text Placeholder 28">
            <a:extLst>
              <a:ext uri="{FF2B5EF4-FFF2-40B4-BE49-F238E27FC236}">
                <a16:creationId xmlns:a16="http://schemas.microsoft.com/office/drawing/2014/main" id="{540EDA7E-EB36-D37C-C761-646333986FFD}"/>
              </a:ext>
            </a:extLst>
          </p:cNvPr>
          <p:cNvSpPr>
            <a:spLocks noGrp="1"/>
          </p:cNvSpPr>
          <p:nvPr>
            <p:ph type="body" sz="quarter" idx="21"/>
          </p:nvPr>
        </p:nvSpPr>
        <p:spPr>
          <a:xfrm>
            <a:off x="1235075" y="4713285"/>
            <a:ext cx="8775700" cy="732508"/>
          </a:xfrm>
        </p:spPr>
        <p:txBody>
          <a:bodyPr/>
          <a:lstStyle/>
          <a:p>
            <a:r>
              <a:rPr lang="en-US" sz="1400" dirty="0"/>
              <a:t>It can run Python code in a sandboxed runtime to help solve tasks</a:t>
            </a:r>
          </a:p>
          <a:p>
            <a:r>
              <a:rPr lang="en-US" sz="1400" dirty="0"/>
              <a:t>It can browse external websites directly during code execution</a:t>
            </a:r>
          </a:p>
          <a:p>
            <a:r>
              <a:rPr lang="en-US" sz="1400" dirty="0"/>
              <a:t>It only supports file uploads and can't perform calculations</a:t>
            </a:r>
          </a:p>
        </p:txBody>
      </p:sp>
      <p:sp>
        <p:nvSpPr>
          <p:cNvPr id="7" name="Graphic 26" descr="Checkmark">
            <a:extLst>
              <a:ext uri="{FF2B5EF4-FFF2-40B4-BE49-F238E27FC236}">
                <a16:creationId xmlns:a16="http://schemas.microsoft.com/office/drawing/2014/main" id="{ABD48ABB-EB17-B754-ED38-844E6524E637}"/>
              </a:ext>
            </a:extLst>
          </p:cNvPr>
          <p:cNvSpPr/>
          <p:nvPr/>
        </p:nvSpPr>
        <p:spPr>
          <a:xfrm>
            <a:off x="1278223" y="476685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7A7A5E6C-1755-13F2-3C82-0B0346069FA1}"/>
              </a:ext>
              <a:ext uri="{C183D7F6-B498-43B3-948B-1728B52AA6E4}">
                <adec:decorative xmlns:adec="http://schemas.microsoft.com/office/drawing/2017/decorative" val="1"/>
              </a:ext>
            </a:extLst>
          </p:cNvPr>
          <p:cNvSpPr>
            <a:spLocks/>
          </p:cNvSpPr>
          <p:nvPr/>
        </p:nvSpPr>
        <p:spPr bwMode="auto">
          <a:xfrm>
            <a:off x="722582" y="439390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231809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D50B-D26B-8B16-EB35-09D0AF5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BAF91-AFF1-7645-2919-FD94289C0094}"/>
              </a:ext>
            </a:extLst>
          </p:cNvPr>
          <p:cNvSpPr>
            <a:spLocks noGrp="1"/>
          </p:cNvSpPr>
          <p:nvPr>
            <p:ph type="title"/>
          </p:nvPr>
        </p:nvSpPr>
        <p:spPr>
          <a:xfrm>
            <a:off x="430211" y="2153504"/>
            <a:ext cx="8167689" cy="1846659"/>
          </a:xfrm>
        </p:spPr>
        <p:txBody>
          <a:bodyPr/>
          <a:lstStyle/>
          <a:p>
            <a:r>
              <a:rPr lang="en-US" noProof="0" dirty="0"/>
              <a:t>Optimize generative AI model performance with Microsoft Foundry</a:t>
            </a:r>
          </a:p>
        </p:txBody>
      </p:sp>
      <p:sp>
        <p:nvSpPr>
          <p:cNvPr id="4" name="TextBox 3">
            <a:extLst>
              <a:ext uri="{FF2B5EF4-FFF2-40B4-BE49-F238E27FC236}">
                <a16:creationId xmlns:a16="http://schemas.microsoft.com/office/drawing/2014/main" id="{7ABC232D-C76C-720A-C3AB-DB35F34AF8A7}"/>
              </a:ext>
            </a:extLst>
          </p:cNvPr>
          <p:cNvSpPr txBox="1"/>
          <p:nvPr/>
        </p:nvSpPr>
        <p:spPr>
          <a:xfrm>
            <a:off x="338771" y="4000163"/>
            <a:ext cx="4596449" cy="363946"/>
          </a:xfrm>
          <a:prstGeom prst="rect">
            <a:avLst/>
          </a:prstGeom>
          <a:noFill/>
        </p:spPr>
        <p:txBody>
          <a:bodyPr wrap="square">
            <a:spAutoFit/>
          </a:bodyPr>
          <a:lstStyle/>
          <a:p>
            <a:r>
              <a:rPr lang="en-US" dirty="0">
                <a:solidFill>
                  <a:schemeClr val="accent2"/>
                </a:solidFill>
              </a:rPr>
              <a:t>https://aka.ms/mslearn-optimize-models</a:t>
            </a:r>
          </a:p>
        </p:txBody>
      </p:sp>
    </p:spTree>
    <p:extLst>
      <p:ext uri="{BB962C8B-B14F-4D97-AF65-F5344CB8AC3E}">
        <p14:creationId xmlns:p14="http://schemas.microsoft.com/office/powerpoint/2010/main" val="258574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492443"/>
          </a:xfrm>
        </p:spPr>
        <p:txBody>
          <a:bodyPr/>
          <a:lstStyle/>
          <a:p>
            <a:r>
              <a:rPr lang="en-US" sz="3200" dirty="0"/>
              <a:t>Optimizing model performance</a:t>
            </a:r>
          </a:p>
        </p:txBody>
      </p:sp>
      <p:sp>
        <p:nvSpPr>
          <p:cNvPr id="21" name="TextBox 20">
            <a:extLst>
              <a:ext uri="{FF2B5EF4-FFF2-40B4-BE49-F238E27FC236}">
                <a16:creationId xmlns:a16="http://schemas.microsoft.com/office/drawing/2014/main" id="{C006003A-5499-E35F-5034-91F447252954}"/>
              </a:ext>
            </a:extLst>
          </p:cNvPr>
          <p:cNvSpPr txBox="1"/>
          <p:nvPr/>
        </p:nvSpPr>
        <p:spPr>
          <a:xfrm>
            <a:off x="413558" y="1731351"/>
            <a:ext cx="8603133" cy="400110"/>
          </a:xfrm>
          <a:prstGeom prst="rect">
            <a:avLst/>
          </a:prstGeom>
          <a:noFill/>
        </p:spPr>
        <p:txBody>
          <a:bodyPr wrap="square">
            <a:spAutoFit/>
          </a:bodyPr>
          <a:lstStyle/>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Optimization strategy choice depends on your requirements:</a:t>
            </a:r>
          </a:p>
        </p:txBody>
      </p:sp>
      <p:sp>
        <p:nvSpPr>
          <p:cNvPr id="17" name="Text Placeholder 10">
            <a:extLst>
              <a:ext uri="{FF2B5EF4-FFF2-40B4-BE49-F238E27FC236}">
                <a16:creationId xmlns:a16="http://schemas.microsoft.com/office/drawing/2014/main" id="{4DBC20B1-7F63-8CD2-7739-D21E678E0D77}"/>
              </a:ext>
            </a:extLst>
          </p:cNvPr>
          <p:cNvSpPr>
            <a:spLocks noGrp="1"/>
          </p:cNvSpPr>
          <p:nvPr>
            <p:ph type="body" sz="quarter" idx="15"/>
          </p:nvPr>
        </p:nvSpPr>
        <p:spPr>
          <a:xfrm>
            <a:off x="574443" y="2131461"/>
            <a:ext cx="3764733" cy="3108543"/>
          </a:xfrm>
        </p:spPr>
        <p:txBody>
          <a:bodyPr/>
          <a:lstStyle/>
          <a:p>
            <a:pPr marL="0" indent="0">
              <a:buNone/>
            </a:pPr>
            <a:endParaRPr lang="en-US" sz="2000" noProof="0" dirty="0"/>
          </a:p>
          <a:p>
            <a:pPr>
              <a:spcBef>
                <a:spcPts val="1200"/>
              </a:spcBef>
            </a:pPr>
            <a:r>
              <a:rPr lang="en-US" sz="1800" b="1" noProof="0" dirty="0"/>
              <a:t>Optimize for </a:t>
            </a:r>
            <a:r>
              <a:rPr lang="en-US" sz="1800" b="1" i="1" noProof="0" dirty="0"/>
              <a:t>context</a:t>
            </a:r>
            <a:r>
              <a:rPr lang="en-US" sz="1800" b="1" noProof="0" dirty="0"/>
              <a:t> </a:t>
            </a:r>
            <a:r>
              <a:rPr lang="en-US" sz="1800" noProof="0" dirty="0"/>
              <a:t>when the model lacks contextual knowledge, and you want to </a:t>
            </a:r>
            <a:r>
              <a:rPr lang="en-US" sz="1800" b="1" noProof="0" dirty="0"/>
              <a:t>maximize response accuracy</a:t>
            </a:r>
            <a:endParaRPr lang="en-US" sz="1800" noProof="0" dirty="0"/>
          </a:p>
          <a:p>
            <a:pPr>
              <a:spcBef>
                <a:spcPts val="1200"/>
              </a:spcBef>
            </a:pPr>
            <a:r>
              <a:rPr lang="en-US" sz="1800" b="1" noProof="0" dirty="0"/>
              <a:t>Optimize the </a:t>
            </a:r>
            <a:r>
              <a:rPr lang="en-US" sz="1800" b="1" i="1" noProof="0" dirty="0"/>
              <a:t>model</a:t>
            </a:r>
            <a:r>
              <a:rPr lang="en-US" sz="1800" b="1" noProof="0" dirty="0"/>
              <a:t> </a:t>
            </a:r>
            <a:r>
              <a:rPr lang="en-US" sz="1800" noProof="0" dirty="0"/>
              <a:t>when you want to improve the response format, style, or speech by </a:t>
            </a:r>
            <a:r>
              <a:rPr lang="en-US" sz="1800" b="1" noProof="0" dirty="0"/>
              <a:t>maximizing consistency of behavior</a:t>
            </a:r>
            <a:endParaRPr lang="en-US" sz="1800" noProof="0" dirty="0"/>
          </a:p>
        </p:txBody>
      </p:sp>
      <p:grpSp>
        <p:nvGrpSpPr>
          <p:cNvPr id="22" name="Group 21" descr="Diagram showing model optimization strategies, including prompt engineering, retrieval augmented generation (RAG), fine-tuning, and a combination of all three.">
            <a:extLst>
              <a:ext uri="{FF2B5EF4-FFF2-40B4-BE49-F238E27FC236}">
                <a16:creationId xmlns:a16="http://schemas.microsoft.com/office/drawing/2014/main" id="{7C763600-BA97-7A28-A421-332831A8FD6A}"/>
              </a:ext>
            </a:extLst>
          </p:cNvPr>
          <p:cNvGrpSpPr/>
          <p:nvPr/>
        </p:nvGrpSpPr>
        <p:grpSpPr>
          <a:xfrm>
            <a:off x="4818607" y="2439237"/>
            <a:ext cx="6824910" cy="4120777"/>
            <a:chOff x="4530271" y="1812173"/>
            <a:chExt cx="6824910" cy="4120777"/>
          </a:xfrm>
        </p:grpSpPr>
        <p:sp>
          <p:nvSpPr>
            <p:cNvPr id="5" name="TextBox 4">
              <a:extLst>
                <a:ext uri="{FF2B5EF4-FFF2-40B4-BE49-F238E27FC236}">
                  <a16:creationId xmlns:a16="http://schemas.microsoft.com/office/drawing/2014/main" id="{0AA19C4A-03FF-E693-8FD2-DDA1BD64458B}"/>
                </a:ext>
                <a:ext uri="{C183D7F6-B498-43B3-948B-1728B52AA6E4}">
                  <adec:decorative xmlns:adec="http://schemas.microsoft.com/office/drawing/2017/decorative" val="1"/>
                </a:ext>
              </a:extLst>
            </p:cNvPr>
            <p:cNvSpPr txBox="1"/>
            <p:nvPr/>
          </p:nvSpPr>
          <p:spPr>
            <a:xfrm>
              <a:off x="4530271" y="3267039"/>
              <a:ext cx="1162496" cy="113877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Context optimization</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Segoe UI"/>
                  <a:ea typeface="+mn-ea"/>
                  <a:cs typeface="+mn-cs"/>
                </a:rPr>
                <a:t>What the model need to know</a:t>
              </a:r>
            </a:p>
          </p:txBody>
        </p:sp>
        <p:cxnSp>
          <p:nvCxnSpPr>
            <p:cNvPr id="7" name="Straight Arrow Connector 6">
              <a:extLst>
                <a:ext uri="{FF2B5EF4-FFF2-40B4-BE49-F238E27FC236}">
                  <a16:creationId xmlns:a16="http://schemas.microsoft.com/office/drawing/2014/main" id="{38C175B9-B762-1189-8431-F32A86732E50}"/>
                </a:ext>
                <a:ext uri="{C183D7F6-B498-43B3-948B-1728B52AA6E4}">
                  <adec:decorative xmlns:adec="http://schemas.microsoft.com/office/drawing/2017/decorative" val="1"/>
                </a:ext>
              </a:extLst>
            </p:cNvPr>
            <p:cNvCxnSpPr>
              <a:cxnSpLocks/>
            </p:cNvCxnSpPr>
            <p:nvPr/>
          </p:nvCxnSpPr>
          <p:spPr>
            <a:xfrm flipV="1">
              <a:off x="5763427" y="1812174"/>
              <a:ext cx="0" cy="3358342"/>
            </a:xfrm>
            <a:prstGeom prst="straightConnector1">
              <a:avLst/>
            </a:prstGeom>
            <a:ln w="381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8B2B1E5-0A34-F340-613A-6D4B57AEA557}"/>
                </a:ext>
                <a:ext uri="{C183D7F6-B498-43B3-948B-1728B52AA6E4}">
                  <adec:decorative xmlns:adec="http://schemas.microsoft.com/office/drawing/2017/decorative" val="1"/>
                </a:ext>
              </a:extLst>
            </p:cNvPr>
            <p:cNvSpPr txBox="1"/>
            <p:nvPr/>
          </p:nvSpPr>
          <p:spPr>
            <a:xfrm>
              <a:off x="7864670" y="5471285"/>
              <a:ext cx="2293483" cy="461665"/>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Model optimization</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Segoe UI"/>
                  <a:ea typeface="+mn-ea"/>
                  <a:cs typeface="+mn-cs"/>
                </a:rPr>
                <a:t>How the model needs to act</a:t>
              </a:r>
            </a:p>
          </p:txBody>
        </p:sp>
        <p:cxnSp>
          <p:nvCxnSpPr>
            <p:cNvPr id="10" name="Straight Arrow Connector 9">
              <a:extLst>
                <a:ext uri="{FF2B5EF4-FFF2-40B4-BE49-F238E27FC236}">
                  <a16:creationId xmlns:a16="http://schemas.microsoft.com/office/drawing/2014/main" id="{B84F3189-B5A1-18F8-DE88-4B58397AEEF1}"/>
                </a:ext>
                <a:ext uri="{C183D7F6-B498-43B3-948B-1728B52AA6E4}">
                  <adec:decorative xmlns:adec="http://schemas.microsoft.com/office/drawing/2017/decorative" val="1"/>
                </a:ext>
              </a:extLst>
            </p:cNvPr>
            <p:cNvCxnSpPr>
              <a:cxnSpLocks/>
            </p:cNvCxnSpPr>
            <p:nvPr/>
          </p:nvCxnSpPr>
          <p:spPr>
            <a:xfrm>
              <a:off x="6395258" y="5372793"/>
              <a:ext cx="4743797" cy="0"/>
            </a:xfrm>
            <a:prstGeom prst="straightConnector1">
              <a:avLst/>
            </a:prstGeom>
            <a:ln w="381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C057DBB-EBD2-1A96-0455-EC986BEBF383}"/>
                </a:ext>
                <a:ext uri="{C183D7F6-B498-43B3-948B-1728B52AA6E4}">
                  <adec:decorative xmlns:adec="http://schemas.microsoft.com/office/drawing/2017/decorative" val="1"/>
                </a:ext>
              </a:extLst>
            </p:cNvPr>
            <p:cNvSpPr/>
            <p:nvPr/>
          </p:nvSpPr>
          <p:spPr bwMode="auto">
            <a:xfrm>
              <a:off x="6242858" y="1812174"/>
              <a:ext cx="2485501" cy="1517071"/>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Retrieval Augmented Generation (RAG)</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Add contextual search results to the prompt</a:t>
              </a:r>
            </a:p>
          </p:txBody>
        </p:sp>
        <p:sp>
          <p:nvSpPr>
            <p:cNvPr id="13" name="Rectangle 12">
              <a:extLst>
                <a:ext uri="{FF2B5EF4-FFF2-40B4-BE49-F238E27FC236}">
                  <a16:creationId xmlns:a16="http://schemas.microsoft.com/office/drawing/2014/main" id="{FDF94B42-17F0-B0A0-98A1-0542D4C9E101}"/>
                </a:ext>
                <a:ext uri="{C183D7F6-B498-43B3-948B-1728B52AA6E4}">
                  <adec:decorative xmlns:adec="http://schemas.microsoft.com/office/drawing/2017/decorative" val="1"/>
                </a:ext>
              </a:extLst>
            </p:cNvPr>
            <p:cNvSpPr/>
            <p:nvPr/>
          </p:nvSpPr>
          <p:spPr bwMode="auto">
            <a:xfrm>
              <a:off x="6242858" y="3431835"/>
              <a:ext cx="2485501" cy="1517071"/>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Prompt engineering</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System messages specify tone, format, content expectations.</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Detailed, explicit  user prompts for better responses</a:t>
              </a:r>
            </a:p>
          </p:txBody>
        </p:sp>
        <p:sp>
          <p:nvSpPr>
            <p:cNvPr id="14" name="Rectangle 13">
              <a:extLst>
                <a:ext uri="{FF2B5EF4-FFF2-40B4-BE49-F238E27FC236}">
                  <a16:creationId xmlns:a16="http://schemas.microsoft.com/office/drawing/2014/main" id="{6D422A90-4CA4-84CC-2B62-FF86C0F23507}"/>
                </a:ext>
                <a:ext uri="{C183D7F6-B498-43B3-948B-1728B52AA6E4}">
                  <adec:decorative xmlns:adec="http://schemas.microsoft.com/office/drawing/2017/decorative" val="1"/>
                </a:ext>
              </a:extLst>
            </p:cNvPr>
            <p:cNvSpPr/>
            <p:nvPr/>
          </p:nvSpPr>
          <p:spPr bwMode="auto">
            <a:xfrm>
              <a:off x="8869680" y="3431834"/>
              <a:ext cx="2485501" cy="151707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Fine-tuning</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Additional model training with example prompts and responses</a:t>
              </a:r>
            </a:p>
          </p:txBody>
        </p:sp>
        <p:sp>
          <p:nvSpPr>
            <p:cNvPr id="15" name="Rectangle 14">
              <a:extLst>
                <a:ext uri="{FF2B5EF4-FFF2-40B4-BE49-F238E27FC236}">
                  <a16:creationId xmlns:a16="http://schemas.microsoft.com/office/drawing/2014/main" id="{2370F347-2797-8A24-FEF0-D5317D813779}"/>
                </a:ext>
                <a:ext uri="{C183D7F6-B498-43B3-948B-1728B52AA6E4}">
                  <adec:decorative xmlns:adec="http://schemas.microsoft.com/office/drawing/2017/decorative" val="1"/>
                </a:ext>
              </a:extLst>
            </p:cNvPr>
            <p:cNvSpPr/>
            <p:nvPr/>
          </p:nvSpPr>
          <p:spPr bwMode="auto">
            <a:xfrm>
              <a:off x="8869680" y="1812173"/>
              <a:ext cx="2485501" cy="151707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Combined strategies</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Prompt engineering</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RAG</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Fine-Tuning</a:t>
              </a:r>
            </a:p>
          </p:txBody>
        </p:sp>
      </p:gr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57986549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492443"/>
          </a:xfrm>
        </p:spPr>
        <p:txBody>
          <a:bodyPr/>
          <a:lstStyle/>
          <a:p>
            <a:r>
              <a:rPr lang="en-US" sz="3200" dirty="0"/>
              <a:t>Prompt engineering</a:t>
            </a:r>
          </a:p>
        </p:txBody>
      </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aphicFrame>
        <p:nvGraphicFramePr>
          <p:cNvPr id="9" name="Table 8">
            <a:extLst>
              <a:ext uri="{FF2B5EF4-FFF2-40B4-BE49-F238E27FC236}">
                <a16:creationId xmlns:a16="http://schemas.microsoft.com/office/drawing/2014/main" id="{AAC233E9-1915-E515-0D42-A389840D7D2C}"/>
              </a:ext>
            </a:extLst>
          </p:cNvPr>
          <p:cNvGraphicFramePr>
            <a:graphicFrameLocks noGrp="1"/>
          </p:cNvGraphicFramePr>
          <p:nvPr>
            <p:extLst>
              <p:ext uri="{D42A27DB-BD31-4B8C-83A1-F6EECF244321}">
                <p14:modId xmlns:p14="http://schemas.microsoft.com/office/powerpoint/2010/main" val="763374928"/>
              </p:ext>
            </p:extLst>
          </p:nvPr>
        </p:nvGraphicFramePr>
        <p:xfrm>
          <a:off x="588262" y="1178450"/>
          <a:ext cx="11013474" cy="5227320"/>
        </p:xfrm>
        <a:graphic>
          <a:graphicData uri="http://schemas.openxmlformats.org/drawingml/2006/table">
            <a:tbl>
              <a:tblPr bandRow="1">
                <a:tableStyleId>{17292A2E-F333-43FB-9621-5CBBE7FDCDCB}</a:tableStyleId>
              </a:tblPr>
              <a:tblGrid>
                <a:gridCol w="3272538">
                  <a:extLst>
                    <a:ext uri="{9D8B030D-6E8A-4147-A177-3AD203B41FA5}">
                      <a16:colId xmlns:a16="http://schemas.microsoft.com/office/drawing/2014/main" val="1040516807"/>
                    </a:ext>
                  </a:extLst>
                </a:gridCol>
                <a:gridCol w="7740936">
                  <a:extLst>
                    <a:ext uri="{9D8B030D-6E8A-4147-A177-3AD203B41FA5}">
                      <a16:colId xmlns:a16="http://schemas.microsoft.com/office/drawing/2014/main" val="4227747407"/>
                    </a:ext>
                  </a:extLst>
                </a:gridCol>
              </a:tblGrid>
              <a:tr h="1063757">
                <a:tc>
                  <a:txBody>
                    <a:bodyPr/>
                    <a:lstStyle/>
                    <a:p>
                      <a:r>
                        <a:rPr lang="en-US" b="0" dirty="0">
                          <a:latin typeface="+mj-lt"/>
                        </a:rPr>
                        <a:t>Use detailed, explicit system prompts</a:t>
                      </a:r>
                    </a:p>
                  </a:txBody>
                  <a:tcPr>
                    <a:lnL w="12700" cap="flat" cmpd="sng" algn="ctr">
                      <a:no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US" sz="1400" dirty="0"/>
                        <a:t>You are a friendly travel advisor for Margie's Travel.</a:t>
                      </a:r>
                    </a:p>
                    <a:p>
                      <a:r>
                        <a:rPr lang="en-US" sz="1400" dirty="0"/>
                        <a:t>Answer only questions related to travel, hotels, and trip planning.</a:t>
                      </a:r>
                    </a:p>
                    <a:p>
                      <a:r>
                        <a:rPr lang="en-US" sz="1400" dirty="0"/>
                        <a:t>Use a warm, conversational tone.</a:t>
                      </a:r>
                    </a:p>
                    <a:p>
                      <a:r>
                        <a:rPr lang="en-US" sz="1400" dirty="0"/>
                        <a:t>If you don't have enough information to answer, ask a clarifying question.</a:t>
                      </a:r>
                    </a:p>
                    <a:p>
                      <a:r>
                        <a:rPr lang="en-US" sz="1400" dirty="0"/>
                        <a:t>Format hotel recommendations as a bulleted list with the hotel name, location, and price range.</a:t>
                      </a:r>
                    </a:p>
                  </a:txBody>
                  <a:tcPr>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13255101"/>
                  </a:ext>
                </a:extLst>
              </a:tr>
              <a:tr h="340589">
                <a:tc>
                  <a:txBody>
                    <a:bodyPr/>
                    <a:lstStyle/>
                    <a:p>
                      <a:r>
                        <a:rPr lang="en-US" b="0" dirty="0">
                          <a:latin typeface="+mj-lt"/>
                        </a:rPr>
                        <a:t>Use prompt patterns:</a:t>
                      </a:r>
                    </a:p>
                  </a:txBody>
                  <a:tcPr>
                    <a:lnL w="12700" cap="flat" cmpd="sng" algn="ctr">
                      <a:no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kumimoji="0" lang="en-US" sz="900" b="0" i="0" u="none" strike="noStrike" kern="1200" cap="none" spc="0" normalizeH="0" baseline="0" dirty="0">
                        <a:ln>
                          <a:noFill/>
                        </a:ln>
                        <a:solidFill>
                          <a:srgbClr val="000000"/>
                        </a:solidFill>
                        <a:effectLst/>
                        <a:uLnTx/>
                        <a:uFillTx/>
                        <a:latin typeface="+mn-lt"/>
                        <a:ea typeface="+mn-ea"/>
                        <a:cs typeface="+mn-cs"/>
                      </a:endParaRPr>
                    </a:p>
                  </a:txBody>
                  <a:tcPr>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61460355"/>
                  </a:ext>
                </a:extLst>
              </a:tr>
              <a:tr h="1259713">
                <a:tc>
                  <a:txBody>
                    <a:bodyPr/>
                    <a:lstStyle/>
                    <a:p>
                      <a:r>
                        <a:rPr lang="en-US" b="0" dirty="0">
                          <a:latin typeface="+mn-lt"/>
                        </a:rPr>
                        <a:t>Format template pattern</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32742" rtl="0" eaLnBrk="1" latinLnBrk="0" hangingPunct="1"/>
                      <a:r>
                        <a:rPr lang="en-US" sz="1400" kern="1200" dirty="0">
                          <a:solidFill>
                            <a:schemeClr val="tx1"/>
                          </a:solidFill>
                          <a:latin typeface="+mn-lt"/>
                          <a:ea typeface="+mn-ea"/>
                          <a:cs typeface="+mn-cs"/>
                        </a:rPr>
                        <a:t>Suggest hotels in New York.</a:t>
                      </a:r>
                    </a:p>
                    <a:p>
                      <a:pPr marL="0" algn="l" defTabSz="932742" rtl="0" eaLnBrk="1" latinLnBrk="0" hangingPunct="1"/>
                      <a:r>
                        <a:rPr lang="en-US" sz="1400" kern="1200" dirty="0">
                          <a:solidFill>
                            <a:schemeClr val="tx1"/>
                          </a:solidFill>
                          <a:latin typeface="+mn-lt"/>
                          <a:ea typeface="+mn-ea"/>
                          <a:cs typeface="+mn-cs"/>
                        </a:rPr>
                        <a:t>Format the results to show:</a:t>
                      </a:r>
                    </a:p>
                    <a:p>
                      <a:pPr marL="0" algn="l" defTabSz="932742" rtl="0" eaLnBrk="1" latinLnBrk="0" hangingPunct="1"/>
                      <a:r>
                        <a:rPr lang="en-US" sz="1400" kern="1200" dirty="0">
                          <a:solidFill>
                            <a:schemeClr val="tx1"/>
                          </a:solidFill>
                          <a:latin typeface="+mn-lt"/>
                          <a:ea typeface="+mn-ea"/>
                          <a:cs typeface="+mn-cs"/>
                        </a:rPr>
                        <a:t>- Hotel name</a:t>
                      </a:r>
                    </a:p>
                    <a:p>
                      <a:pPr marL="0" algn="l" defTabSz="932742" rtl="0" eaLnBrk="1" latinLnBrk="0" hangingPunct="1"/>
                      <a:r>
                        <a:rPr lang="en-US" sz="1400" kern="1200" dirty="0">
                          <a:solidFill>
                            <a:schemeClr val="tx1"/>
                          </a:solidFill>
                          <a:latin typeface="+mn-lt"/>
                          <a:ea typeface="+mn-ea"/>
                          <a:cs typeface="+mn-cs"/>
                        </a:rPr>
                        <a:t>- Location</a:t>
                      </a:r>
                    </a:p>
                    <a:p>
                      <a:pPr marL="0" algn="l" defTabSz="932742" rtl="0" eaLnBrk="1" latinLnBrk="0" hangingPunct="1"/>
                      <a:r>
                        <a:rPr lang="en-US" sz="1400" kern="1200" dirty="0">
                          <a:solidFill>
                            <a:schemeClr val="tx1"/>
                          </a:solidFill>
                          <a:latin typeface="+mn-lt"/>
                          <a:ea typeface="+mn-ea"/>
                          <a:cs typeface="+mn-cs"/>
                        </a:rPr>
                        <a:t>- Star rating</a:t>
                      </a:r>
                    </a:p>
                    <a:p>
                      <a:pPr marL="0" algn="l" defTabSz="932742" rtl="0" eaLnBrk="1" latinLnBrk="0" hangingPunct="1"/>
                      <a:r>
                        <a:rPr lang="en-US" sz="1400" kern="1200" dirty="0">
                          <a:solidFill>
                            <a:schemeClr val="tx1"/>
                          </a:solidFill>
                          <a:latin typeface="+mn-lt"/>
                          <a:ea typeface="+mn-ea"/>
                          <a:cs typeface="+mn-cs"/>
                        </a:rPr>
                        <a:t>- Price range per night</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11091953"/>
                  </a:ext>
                </a:extLst>
              </a:tr>
              <a:tr h="475891">
                <a:tc>
                  <a:txBody>
                    <a:bodyPr/>
                    <a:lstStyle/>
                    <a:p>
                      <a:r>
                        <a:rPr lang="en-US" b="0" dirty="0">
                          <a:latin typeface="+mn-lt"/>
                        </a:rPr>
                        <a:t>Chain-of-thought pattern</a:t>
                      </a:r>
                    </a:p>
                  </a:txBody>
                  <a:tcPr>
                    <a:lnL w="9525" cap="flat" cmpd="sng" algn="ctr">
                      <a:noFill/>
                      <a:prstDash val="soli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32742" rtl="0" eaLnBrk="1" latinLnBrk="0" hangingPunct="1"/>
                      <a:r>
                        <a:rPr lang="en-US" sz="1400" kern="1200" dirty="0">
                          <a:solidFill>
                            <a:schemeClr val="tx1"/>
                          </a:solidFill>
                          <a:latin typeface="+mn-lt"/>
                          <a:ea typeface="+mn-ea"/>
                          <a:cs typeface="+mn-cs"/>
                        </a:rPr>
                        <a:t>Which hotel is best for a family of four? Take a step-by-step approach: </a:t>
                      </a:r>
                    </a:p>
                    <a:p>
                      <a:pPr marL="0" algn="l" defTabSz="932742" rtl="0" eaLnBrk="1" latinLnBrk="0" hangingPunct="1"/>
                      <a:r>
                        <a:rPr lang="en-US" sz="1400" kern="1200" dirty="0">
                          <a:solidFill>
                            <a:schemeClr val="tx1"/>
                          </a:solidFill>
                          <a:latin typeface="+mn-lt"/>
                          <a:ea typeface="+mn-ea"/>
                          <a:cs typeface="+mn-cs"/>
                        </a:rPr>
                        <a:t>consider room size, amenities for children, location, and price.</a:t>
                      </a:r>
                    </a:p>
                  </a:txBody>
                  <a:tcPr>
                    <a:lnL>
                      <a:noFill/>
                    </a:lnL>
                    <a:lnR w="9525" cap="flat" cmpd="sng" algn="ctr">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1162354"/>
                  </a:ext>
                </a:extLst>
              </a:tr>
              <a:tr h="1665620">
                <a:tc>
                  <a:txBody>
                    <a:bodyPr/>
                    <a:lstStyle/>
                    <a:p>
                      <a:r>
                        <a:rPr lang="en-US" b="0" dirty="0">
                          <a:latin typeface="+mn-lt"/>
                        </a:rPr>
                        <a:t>Few-shot learning pattern</a:t>
                      </a:r>
                    </a:p>
                  </a:txBody>
                  <a:tcPr>
                    <a:lnL w="9525" cap="flat" cmpd="sng" algn="ctr">
                      <a:noFill/>
                      <a:prstDash val="soli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32742" rtl="0" eaLnBrk="1" latinLnBrk="0" hangingPunct="1">
                        <a:spcAft>
                          <a:spcPts val="600"/>
                        </a:spcAft>
                      </a:pPr>
                      <a:r>
                        <a:rPr lang="en-US" sz="1400" kern="1200" dirty="0">
                          <a:solidFill>
                            <a:schemeClr val="tx1"/>
                          </a:solidFill>
                          <a:latin typeface="+mn-lt"/>
                          <a:ea typeface="+mn-ea"/>
                          <a:cs typeface="+mn-cs"/>
                        </a:rPr>
                        <a:t>Classify the following customer messages:</a:t>
                      </a:r>
                    </a:p>
                    <a:p>
                      <a:pPr marL="0" algn="l" defTabSz="932742" rtl="0" eaLnBrk="1" latinLnBrk="0" hangingPunct="1"/>
                      <a:r>
                        <a:rPr lang="en-US" sz="1400" kern="1200" dirty="0">
                          <a:solidFill>
                            <a:schemeClr val="tx1"/>
                          </a:solidFill>
                          <a:latin typeface="+mn-lt"/>
                          <a:ea typeface="+mn-ea"/>
                          <a:cs typeface="+mn-cs"/>
                        </a:rPr>
                        <a:t>Message: "I need to change my flight to Rome"</a:t>
                      </a:r>
                    </a:p>
                    <a:p>
                      <a:pPr marL="0" algn="l" defTabSz="932742" rtl="0" eaLnBrk="1" latinLnBrk="0" hangingPunct="1">
                        <a:spcAft>
                          <a:spcPts val="600"/>
                        </a:spcAft>
                      </a:pPr>
                      <a:r>
                        <a:rPr lang="en-US" sz="1400" kern="1200" dirty="0">
                          <a:solidFill>
                            <a:schemeClr val="tx1"/>
                          </a:solidFill>
                          <a:latin typeface="+mn-lt"/>
                          <a:ea typeface="+mn-ea"/>
                          <a:cs typeface="+mn-cs"/>
                        </a:rPr>
                        <a:t>Category: Booking change</a:t>
                      </a:r>
                    </a:p>
                    <a:p>
                      <a:pPr marL="0" algn="l" defTabSz="932742" rtl="0" eaLnBrk="1" latinLnBrk="0" hangingPunct="1"/>
                      <a:r>
                        <a:rPr lang="en-US" sz="1400" kern="1200" dirty="0">
                          <a:solidFill>
                            <a:schemeClr val="tx1"/>
                          </a:solidFill>
                          <a:latin typeface="+mn-lt"/>
                          <a:ea typeface="+mn-ea"/>
                          <a:cs typeface="+mn-cs"/>
                        </a:rPr>
                        <a:t>Message: "What's the weather like in Bali in March?"</a:t>
                      </a:r>
                    </a:p>
                    <a:p>
                      <a:pPr marL="0" algn="l" defTabSz="932742" rtl="0" eaLnBrk="1" latinLnBrk="0" hangingPunct="1">
                        <a:spcAft>
                          <a:spcPts val="600"/>
                        </a:spcAft>
                      </a:pPr>
                      <a:r>
                        <a:rPr lang="en-US" sz="1400" kern="1200" dirty="0">
                          <a:solidFill>
                            <a:schemeClr val="tx1"/>
                          </a:solidFill>
                          <a:latin typeface="+mn-lt"/>
                          <a:ea typeface="+mn-ea"/>
                          <a:cs typeface="+mn-cs"/>
                        </a:rPr>
                        <a:t>Category: Travel information</a:t>
                      </a:r>
                    </a:p>
                    <a:p>
                      <a:pPr marL="0" algn="l" defTabSz="932742" rtl="0" eaLnBrk="1" latinLnBrk="0" hangingPunct="1"/>
                      <a:r>
                        <a:rPr lang="en-US" sz="1400" kern="1200" dirty="0">
                          <a:solidFill>
                            <a:schemeClr val="tx1"/>
                          </a:solidFill>
                          <a:latin typeface="+mn-lt"/>
                          <a:ea typeface="+mn-ea"/>
                          <a:cs typeface="+mn-cs"/>
                        </a:rPr>
                        <a:t>Message: "Can I get a refund for my cancelled tour?"</a:t>
                      </a:r>
                    </a:p>
                    <a:p>
                      <a:pPr marL="0" algn="l" defTabSz="932742" rtl="0" eaLnBrk="1" latinLnBrk="0" hangingPunct="1"/>
                      <a:r>
                        <a:rPr lang="en-US" sz="1400" kern="1200" dirty="0">
                          <a:solidFill>
                            <a:schemeClr val="tx1"/>
                          </a:solidFill>
                          <a:latin typeface="+mn-lt"/>
                          <a:ea typeface="+mn-ea"/>
                          <a:cs typeface="+mn-cs"/>
                        </a:rPr>
                        <a:t>Category:</a:t>
                      </a:r>
                    </a:p>
                  </a:txBody>
                  <a:tcPr>
                    <a:lnL>
                      <a:noFill/>
                    </a:lnL>
                    <a:lnR w="9525" cap="flat" cmpd="sng" algn="ctr">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261746"/>
                  </a:ext>
                </a:extLst>
              </a:tr>
            </a:tbl>
          </a:graphicData>
        </a:graphic>
      </p:graphicFrame>
    </p:spTree>
    <p:extLst>
      <p:ext uri="{BB962C8B-B14F-4D97-AF65-F5344CB8AC3E}">
        <p14:creationId xmlns:p14="http://schemas.microsoft.com/office/powerpoint/2010/main" val="115375075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492443"/>
          </a:xfrm>
        </p:spPr>
        <p:txBody>
          <a:bodyPr/>
          <a:lstStyle/>
          <a:p>
            <a:r>
              <a:rPr lang="en-US" sz="3200" dirty="0"/>
              <a:t>Ground your model with Retrieval Augmented Generation</a:t>
            </a:r>
          </a:p>
        </p:txBody>
      </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Subtitle">
            <a:extLst>
              <a:ext uri="{FF2B5EF4-FFF2-40B4-BE49-F238E27FC236}">
                <a16:creationId xmlns:a16="http://schemas.microsoft.com/office/drawing/2014/main" id="{3DD11B7A-A520-705C-785A-C22E64020D7D}"/>
              </a:ext>
            </a:extLst>
          </p:cNvPr>
          <p:cNvSpPr txBox="1">
            <a:spLocks/>
          </p:cNvSpPr>
          <p:nvPr/>
        </p:nvSpPr>
        <p:spPr>
          <a:xfrm>
            <a:off x="588264" y="1398294"/>
            <a:ext cx="11018520" cy="135421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lang="en-US" sz="2800" kern="1200" spc="0" baseline="0">
                <a:solidFill>
                  <a:schemeClr val="tx1"/>
                </a:solidFill>
                <a:latin typeface="+mn-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tabLst/>
              <a:defRPr/>
            </a:pPr>
            <a:r>
              <a:rPr kumimoji="0" lang="en-US" sz="2000" b="1" i="0" u="none" strike="noStrike" kern="1200" cap="none" spc="0" normalizeH="0" baseline="0" noProof="0" dirty="0">
                <a:ln>
                  <a:noFill/>
                </a:ln>
                <a:solidFill>
                  <a:srgbClr val="000000"/>
                </a:solidFill>
                <a:effectLst/>
                <a:uLnTx/>
                <a:uFillTx/>
                <a:latin typeface="Segoe UI"/>
                <a:cs typeface="Segoe UI" pitchFamily="34" charset="0"/>
              </a:rPr>
              <a:t>RAG</a:t>
            </a:r>
            <a:r>
              <a:rPr kumimoji="0" lang="en-US" sz="2000" b="0" i="0" u="none" strike="noStrike" kern="1200" cap="none" spc="0" normalizeH="0" baseline="0" noProof="0" dirty="0">
                <a:ln>
                  <a:noFill/>
                </a:ln>
                <a:solidFill>
                  <a:srgbClr val="000000"/>
                </a:solidFill>
                <a:effectLst/>
                <a:uLnTx/>
                <a:uFillTx/>
                <a:latin typeface="Segoe UI"/>
                <a:cs typeface="Segoe UI" pitchFamily="34" charset="0"/>
              </a:rPr>
              <a:t> gathers relevant data to include with a prompt for the language model to use for grounding context.</a:t>
            </a:r>
          </a:p>
          <a:p>
            <a:pPr marL="0" marR="0" lvl="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tabLst/>
              <a:defRPr/>
            </a:pPr>
            <a:endParaRPr lang="en-US" sz="2000" noProof="0" dirty="0">
              <a:solidFill>
                <a:srgbClr val="000000"/>
              </a:solidFill>
              <a:latin typeface="Segoe UI"/>
            </a:endParaRPr>
          </a:p>
          <a:p>
            <a:pPr marL="0" marR="0" lvl="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tabLst/>
              <a:defRPr/>
            </a:pPr>
            <a:r>
              <a:rPr lang="en-US" sz="2000" noProof="0" dirty="0">
                <a:solidFill>
                  <a:srgbClr val="000000"/>
                </a:solidFill>
                <a:latin typeface="Segoe UI"/>
              </a:rPr>
              <a:t>A </a:t>
            </a:r>
            <a:r>
              <a:rPr lang="en-US" sz="2000" b="1" noProof="0" dirty="0">
                <a:solidFill>
                  <a:srgbClr val="000000"/>
                </a:solidFill>
                <a:latin typeface="Segoe UI"/>
              </a:rPr>
              <a:t>RAG pattern </a:t>
            </a:r>
            <a:r>
              <a:rPr lang="en-US" sz="2000" noProof="0" dirty="0">
                <a:solidFill>
                  <a:srgbClr val="000000"/>
                </a:solidFill>
                <a:latin typeface="Segoe UI"/>
              </a:rPr>
              <a:t>is a</a:t>
            </a:r>
            <a:r>
              <a:rPr kumimoji="0" lang="en-US" sz="2000" b="0" i="0" u="none" strike="noStrike" kern="1200" cap="none" spc="0" normalizeH="0" baseline="0" noProof="0" dirty="0">
                <a:ln>
                  <a:noFill/>
                </a:ln>
                <a:solidFill>
                  <a:srgbClr val="000000"/>
                </a:solidFill>
                <a:effectLst/>
                <a:uLnTx/>
                <a:uFillTx/>
                <a:latin typeface="Segoe UI"/>
                <a:cs typeface="Segoe UI" pitchFamily="34" charset="0"/>
              </a:rPr>
              <a:t>n architectural design for RAG by including retrieved relevant data in a prompt:</a:t>
            </a:r>
          </a:p>
        </p:txBody>
      </p:sp>
      <p:cxnSp>
        <p:nvCxnSpPr>
          <p:cNvPr id="5" name="Straight Connector 4">
            <a:extLst>
              <a:ext uri="{FF2B5EF4-FFF2-40B4-BE49-F238E27FC236}">
                <a16:creationId xmlns:a16="http://schemas.microsoft.com/office/drawing/2014/main" id="{81B69DB7-238C-34B8-2A89-8424C09C4380}"/>
              </a:ext>
              <a:ext uri="{C183D7F6-B498-43B3-948B-1728B52AA6E4}">
                <adec:decorative xmlns:adec="http://schemas.microsoft.com/office/drawing/2017/decorative" val="1"/>
              </a:ext>
            </a:extLst>
          </p:cNvPr>
          <p:cNvCxnSpPr/>
          <p:nvPr/>
        </p:nvCxnSpPr>
        <p:spPr>
          <a:xfrm>
            <a:off x="823609" y="2996119"/>
            <a:ext cx="10518842"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6" name="Group 5" descr="Diagram showing a user input being used to retrieve grounding data from a vector-based index, which is used to augment the prompt used by the model to generate a response.">
            <a:extLst>
              <a:ext uri="{FF2B5EF4-FFF2-40B4-BE49-F238E27FC236}">
                <a16:creationId xmlns:a16="http://schemas.microsoft.com/office/drawing/2014/main" id="{96322AA7-BA7D-49FC-7EBE-EF4B864B42F1}"/>
              </a:ext>
            </a:extLst>
          </p:cNvPr>
          <p:cNvGrpSpPr/>
          <p:nvPr/>
        </p:nvGrpSpPr>
        <p:grpSpPr>
          <a:xfrm>
            <a:off x="328853" y="3429000"/>
            <a:ext cx="11534294" cy="2844840"/>
            <a:chOff x="328853" y="3429000"/>
            <a:chExt cx="11534294" cy="2844840"/>
          </a:xfrm>
        </p:grpSpPr>
        <p:grpSp>
          <p:nvGrpSpPr>
            <p:cNvPr id="7" name="Group 6" descr="Diagram showing the flow of a RAG pattern to augment the prompt with pertinent data">
              <a:extLst>
                <a:ext uri="{FF2B5EF4-FFF2-40B4-BE49-F238E27FC236}">
                  <a16:creationId xmlns:a16="http://schemas.microsoft.com/office/drawing/2014/main" id="{448C7E9A-152A-D4A0-8295-20058EE3E8A9}"/>
                </a:ext>
              </a:extLst>
            </p:cNvPr>
            <p:cNvGrpSpPr/>
            <p:nvPr/>
          </p:nvGrpSpPr>
          <p:grpSpPr>
            <a:xfrm>
              <a:off x="328853" y="3429000"/>
              <a:ext cx="11534294" cy="2286336"/>
              <a:chOff x="401032" y="3176162"/>
              <a:chExt cx="11634514" cy="2286336"/>
            </a:xfrm>
          </p:grpSpPr>
          <p:pic>
            <p:nvPicPr>
              <p:cNvPr id="16" name="Graphic 15" descr="User with solid fill">
                <a:extLst>
                  <a:ext uri="{FF2B5EF4-FFF2-40B4-BE49-F238E27FC236}">
                    <a16:creationId xmlns:a16="http://schemas.microsoft.com/office/drawing/2014/main" id="{89C34F05-EAA2-B448-08DB-C9AB3758D1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3782493"/>
                <a:ext cx="914400" cy="914400"/>
              </a:xfrm>
              <a:prstGeom prst="rect">
                <a:avLst/>
              </a:prstGeom>
            </p:spPr>
          </p:pic>
          <p:pic>
            <p:nvPicPr>
              <p:cNvPr id="17" name="Graphic 16" descr="Cube with solid fill">
                <a:extLst>
                  <a:ext uri="{FF2B5EF4-FFF2-40B4-BE49-F238E27FC236}">
                    <a16:creationId xmlns:a16="http://schemas.microsoft.com/office/drawing/2014/main" id="{EA6C4D00-EEB5-3AFE-1409-DD143A97FCC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043341" y="3852378"/>
                <a:ext cx="914401" cy="906524"/>
              </a:xfrm>
              <a:prstGeom prst="rect">
                <a:avLst/>
              </a:prstGeom>
            </p:spPr>
          </p:pic>
          <p:pic>
            <p:nvPicPr>
              <p:cNvPr id="18" name="Graphic 17" descr="Database with solid fill">
                <a:extLst>
                  <a:ext uri="{FF2B5EF4-FFF2-40B4-BE49-F238E27FC236}">
                    <a16:creationId xmlns:a16="http://schemas.microsoft.com/office/drawing/2014/main" id="{66C7BA0E-D514-9A96-1B2C-27DF86B125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2327" y="3677254"/>
                <a:ext cx="1124878" cy="1124878"/>
              </a:xfrm>
              <a:prstGeom prst="rect">
                <a:avLst/>
              </a:prstGeom>
            </p:spPr>
          </p:pic>
          <p:cxnSp>
            <p:nvCxnSpPr>
              <p:cNvPr id="19" name="Straight Arrow Connector 18">
                <a:extLst>
                  <a:ext uri="{FF2B5EF4-FFF2-40B4-BE49-F238E27FC236}">
                    <a16:creationId xmlns:a16="http://schemas.microsoft.com/office/drawing/2014/main" id="{C94A31B1-919F-BDE9-A85A-E43DC1186FAB}"/>
                  </a:ext>
                </a:extLst>
              </p:cNvPr>
              <p:cNvCxnSpPr>
                <a:cxnSpLocks/>
              </p:cNvCxnSpPr>
              <p:nvPr/>
            </p:nvCxnSpPr>
            <p:spPr>
              <a:xfrm>
                <a:off x="3013853" y="4239693"/>
                <a:ext cx="573315" cy="0"/>
              </a:xfrm>
              <a:prstGeom prst="straightConnector1">
                <a:avLst/>
              </a:prstGeom>
              <a:noFill/>
              <a:ln w="38100" cap="flat" cmpd="sng" algn="ctr">
                <a:solidFill>
                  <a:srgbClr val="000000"/>
                </a:solidFill>
                <a:prstDash val="solid"/>
                <a:headEnd type="none" w="lg" len="med"/>
                <a:tailEnd type="triangle"/>
              </a:ln>
              <a:effectLst/>
            </p:spPr>
          </p:cxnSp>
          <p:sp>
            <p:nvSpPr>
              <p:cNvPr id="20" name="Speech Bubble: Rectangle 19">
                <a:extLst>
                  <a:ext uri="{FF2B5EF4-FFF2-40B4-BE49-F238E27FC236}">
                    <a16:creationId xmlns:a16="http://schemas.microsoft.com/office/drawing/2014/main" id="{EE5B987D-E9C5-0E75-FB8E-E63C1D334584}"/>
                  </a:ext>
                </a:extLst>
              </p:cNvPr>
              <p:cNvSpPr/>
              <p:nvPr/>
            </p:nvSpPr>
            <p:spPr bwMode="auto">
              <a:xfrm>
                <a:off x="1620232" y="3988046"/>
                <a:ext cx="1310821" cy="503295"/>
              </a:xfrm>
              <a:prstGeom prst="wedgeRectCallout">
                <a:avLst>
                  <a:gd name="adj1" fmla="val -93825"/>
                  <a:gd name="adj2" fmla="val -18931"/>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User input</a:t>
                </a:r>
              </a:p>
            </p:txBody>
          </p:sp>
          <p:pic>
            <p:nvPicPr>
              <p:cNvPr id="21" name="Graphic 20" descr="Magnifying glass with solid fill">
                <a:extLst>
                  <a:ext uri="{FF2B5EF4-FFF2-40B4-BE49-F238E27FC236}">
                    <a16:creationId xmlns:a16="http://schemas.microsoft.com/office/drawing/2014/main" id="{A31253DA-7E68-A707-818F-4B9477B32F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62705" y="3988046"/>
                <a:ext cx="914400" cy="914400"/>
              </a:xfrm>
              <a:prstGeom prst="rect">
                <a:avLst/>
              </a:prstGeom>
            </p:spPr>
          </p:pic>
          <p:cxnSp>
            <p:nvCxnSpPr>
              <p:cNvPr id="22" name="Straight Arrow Connector 21">
                <a:extLst>
                  <a:ext uri="{FF2B5EF4-FFF2-40B4-BE49-F238E27FC236}">
                    <a16:creationId xmlns:a16="http://schemas.microsoft.com/office/drawing/2014/main" id="{11A36DCF-97DE-40CF-01EF-BB9A73F3DAC3}"/>
                  </a:ext>
                </a:extLst>
              </p:cNvPr>
              <p:cNvCxnSpPr>
                <a:cxnSpLocks/>
              </p:cNvCxnSpPr>
              <p:nvPr/>
            </p:nvCxnSpPr>
            <p:spPr>
              <a:xfrm>
                <a:off x="4341910" y="4249501"/>
                <a:ext cx="1020286" cy="0"/>
              </a:xfrm>
              <a:prstGeom prst="straightConnector1">
                <a:avLst/>
              </a:prstGeom>
              <a:noFill/>
              <a:ln w="38100" cap="flat" cmpd="sng" algn="ctr">
                <a:solidFill>
                  <a:srgbClr val="000000"/>
                </a:solidFill>
                <a:prstDash val="solid"/>
                <a:headEnd type="none" w="lg" len="med"/>
                <a:tailEnd type="triangle"/>
              </a:ln>
              <a:effectLst/>
            </p:spPr>
          </p:cxnSp>
          <p:sp>
            <p:nvSpPr>
              <p:cNvPr id="23" name="Speech Bubble: Rectangle 22">
                <a:extLst>
                  <a:ext uri="{FF2B5EF4-FFF2-40B4-BE49-F238E27FC236}">
                    <a16:creationId xmlns:a16="http://schemas.microsoft.com/office/drawing/2014/main" id="{147BD4B5-A85F-274C-E589-71B37E3606F4}"/>
                  </a:ext>
                </a:extLst>
              </p:cNvPr>
              <p:cNvSpPr/>
              <p:nvPr/>
            </p:nvSpPr>
            <p:spPr bwMode="auto">
              <a:xfrm>
                <a:off x="5513694" y="3903502"/>
                <a:ext cx="1723018" cy="804277"/>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User input</a:t>
                </a:r>
              </a:p>
              <a:p>
                <a:pPr marL="0" marR="0" lvl="0" indent="0" defTabSz="932472" eaLnBrk="1" fontAlgn="base" latinLnBrk="0" hangingPunct="1">
                  <a:lnSpc>
                    <a:spcPct val="100000"/>
                  </a:lnSpc>
                  <a:spcBef>
                    <a:spcPct val="0"/>
                  </a:spcBef>
                  <a:spcAft>
                    <a:spcPct val="0"/>
                  </a:spcAft>
                  <a:buClrTx/>
                  <a:buSzTx/>
                  <a:buFontTx/>
                  <a:buNone/>
                  <a:tabLst/>
                  <a:defRPr/>
                </a:pPr>
                <a:r>
                  <a:rPr lang="en-US" sz="1600" kern="0" dirty="0">
                    <a:solidFill>
                      <a:srgbClr val="000000"/>
                    </a:solidFill>
                    <a:latin typeface="Segoe UI"/>
                    <a:ea typeface="Segoe UI" pitchFamily="34" charset="0"/>
                    <a:cs typeface="Segoe UI" pitchFamily="34" charset="0"/>
                  </a:rPr>
                  <a:t>{search results}</a:t>
                </a:r>
                <a:endPar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endParaRPr>
              </a:p>
            </p:txBody>
          </p:sp>
          <p:cxnSp>
            <p:nvCxnSpPr>
              <p:cNvPr id="24" name="Straight Arrow Connector 23">
                <a:extLst>
                  <a:ext uri="{FF2B5EF4-FFF2-40B4-BE49-F238E27FC236}">
                    <a16:creationId xmlns:a16="http://schemas.microsoft.com/office/drawing/2014/main" id="{5928F6F7-B2D1-5BC2-6B1C-C259E0319FB9}"/>
                  </a:ext>
                </a:extLst>
              </p:cNvPr>
              <p:cNvCxnSpPr>
                <a:cxnSpLocks/>
                <a:stCxn id="23" idx="3"/>
                <a:endCxn id="17" idx="1"/>
              </p:cNvCxnSpPr>
              <p:nvPr/>
            </p:nvCxnSpPr>
            <p:spPr>
              <a:xfrm flipV="1">
                <a:off x="7236712" y="4305640"/>
                <a:ext cx="806629" cy="1"/>
              </a:xfrm>
              <a:prstGeom prst="straightConnector1">
                <a:avLst/>
              </a:prstGeom>
              <a:noFill/>
              <a:ln w="38100" cap="flat" cmpd="sng" algn="ctr">
                <a:solidFill>
                  <a:srgbClr val="000000"/>
                </a:solidFill>
                <a:prstDash val="solid"/>
                <a:headEnd type="none" w="lg" len="med"/>
                <a:tailEnd type="triangle"/>
              </a:ln>
              <a:effectLst/>
            </p:spPr>
          </p:cxnSp>
          <p:cxnSp>
            <p:nvCxnSpPr>
              <p:cNvPr id="25" name="Straight Arrow Connector 24">
                <a:extLst>
                  <a:ext uri="{FF2B5EF4-FFF2-40B4-BE49-F238E27FC236}">
                    <a16:creationId xmlns:a16="http://schemas.microsoft.com/office/drawing/2014/main" id="{2178E501-3A69-F3F3-5A8E-FB5104EC7ADA}"/>
                  </a:ext>
                </a:extLst>
              </p:cNvPr>
              <p:cNvCxnSpPr>
                <a:cxnSpLocks/>
              </p:cNvCxnSpPr>
              <p:nvPr/>
            </p:nvCxnSpPr>
            <p:spPr>
              <a:xfrm>
                <a:off x="8819618" y="4305640"/>
                <a:ext cx="1419380" cy="0"/>
              </a:xfrm>
              <a:prstGeom prst="straightConnector1">
                <a:avLst/>
              </a:prstGeom>
              <a:noFill/>
              <a:ln w="38100" cap="flat" cmpd="sng" algn="ctr">
                <a:solidFill>
                  <a:srgbClr val="000000"/>
                </a:solidFill>
                <a:prstDash val="solid"/>
                <a:headEnd type="none" w="lg" len="med"/>
                <a:tailEnd type="triangle"/>
              </a:ln>
              <a:effectLst/>
            </p:spPr>
          </p:cxnSp>
          <p:sp>
            <p:nvSpPr>
              <p:cNvPr id="26" name="Speech Bubble: Rectangle 25">
                <a:extLst>
                  <a:ext uri="{FF2B5EF4-FFF2-40B4-BE49-F238E27FC236}">
                    <a16:creationId xmlns:a16="http://schemas.microsoft.com/office/drawing/2014/main" id="{04F75C02-A2BB-91F8-C230-820CB4AE7314}"/>
                  </a:ext>
                </a:extLst>
              </p:cNvPr>
              <p:cNvSpPr/>
              <p:nvPr/>
            </p:nvSpPr>
            <p:spPr bwMode="auto">
              <a:xfrm>
                <a:off x="10329199" y="4050153"/>
                <a:ext cx="1277584" cy="510974"/>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Response</a:t>
                </a:r>
              </a:p>
            </p:txBody>
          </p:sp>
          <p:sp>
            <p:nvSpPr>
              <p:cNvPr id="27" name="TextBox 26">
                <a:extLst>
                  <a:ext uri="{FF2B5EF4-FFF2-40B4-BE49-F238E27FC236}">
                    <a16:creationId xmlns:a16="http://schemas.microsoft.com/office/drawing/2014/main" id="{FA941C28-8818-9F29-4543-818D29121934}"/>
                  </a:ext>
                </a:extLst>
              </p:cNvPr>
              <p:cNvSpPr txBox="1"/>
              <p:nvPr/>
            </p:nvSpPr>
            <p:spPr>
              <a:xfrm>
                <a:off x="3770470" y="3176162"/>
                <a:ext cx="2857119"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cs typeface="Arial" pitchFamily="34" charset="0"/>
                  </a:rPr>
                  <a:t>Retrieve</a:t>
                </a:r>
                <a:r>
                  <a:rPr kumimoji="0" lang="en-US" sz="1800" b="0" i="0" u="none" strike="noStrike" kern="0" cap="none" spc="0" normalizeH="0" baseline="0" noProof="0" dirty="0">
                    <a:ln>
                      <a:noFill/>
                    </a:ln>
                    <a:solidFill>
                      <a:srgbClr val="000000"/>
                    </a:solidFill>
                    <a:effectLst/>
                    <a:uLnTx/>
                    <a:uFillTx/>
                    <a:cs typeface="Arial" pitchFamily="34" charset="0"/>
                  </a:rPr>
                  <a:t> grounding data based on user input</a:t>
                </a:r>
              </a:p>
            </p:txBody>
          </p:sp>
          <p:sp>
            <p:nvSpPr>
              <p:cNvPr id="28" name="TextBox 27">
                <a:extLst>
                  <a:ext uri="{FF2B5EF4-FFF2-40B4-BE49-F238E27FC236}">
                    <a16:creationId xmlns:a16="http://schemas.microsoft.com/office/drawing/2014/main" id="{3C5531C1-9E1C-D211-CBA9-3352AC408869}"/>
                  </a:ext>
                </a:extLst>
              </p:cNvPr>
              <p:cNvSpPr txBox="1"/>
              <p:nvPr/>
            </p:nvSpPr>
            <p:spPr>
              <a:xfrm>
                <a:off x="5805626" y="4908500"/>
                <a:ext cx="2409699"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cs typeface="Arial" pitchFamily="34" charset="0"/>
                  </a:rPr>
                  <a:t>Augment</a:t>
                </a:r>
                <a:r>
                  <a:rPr kumimoji="0" lang="en-US" sz="1800" b="0" i="0" u="none" strike="noStrike" kern="0" cap="none" spc="0" normalizeH="0" baseline="0" noProof="0" dirty="0">
                    <a:ln>
                      <a:noFill/>
                    </a:ln>
                    <a:solidFill>
                      <a:srgbClr val="000000"/>
                    </a:solidFill>
                    <a:effectLst/>
                    <a:uLnTx/>
                    <a:uFillTx/>
                    <a:cs typeface="Arial" pitchFamily="34" charset="0"/>
                  </a:rPr>
                  <a:t> the prompt with grounding data</a:t>
                </a:r>
              </a:p>
            </p:txBody>
          </p:sp>
          <p:sp>
            <p:nvSpPr>
              <p:cNvPr id="29" name="TextBox 28">
                <a:extLst>
                  <a:ext uri="{FF2B5EF4-FFF2-40B4-BE49-F238E27FC236}">
                    <a16:creationId xmlns:a16="http://schemas.microsoft.com/office/drawing/2014/main" id="{C580EC62-407A-72BF-DE78-E822A64F00F7}"/>
                  </a:ext>
                </a:extLst>
              </p:cNvPr>
              <p:cNvSpPr txBox="1"/>
              <p:nvPr/>
            </p:nvSpPr>
            <p:spPr>
              <a:xfrm>
                <a:off x="9574563" y="3176162"/>
                <a:ext cx="2460983"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cs typeface="Arial" pitchFamily="34" charset="0"/>
                  </a:rPr>
                  <a:t>Generate</a:t>
                </a:r>
                <a:r>
                  <a:rPr kumimoji="0" lang="en-US" sz="1800" b="0" i="0" u="none" strike="noStrike" kern="0" cap="none" spc="0" normalizeH="0" baseline="0" noProof="0" dirty="0">
                    <a:ln>
                      <a:noFill/>
                    </a:ln>
                    <a:solidFill>
                      <a:srgbClr val="000000"/>
                    </a:solidFill>
                    <a:effectLst/>
                    <a:uLnTx/>
                    <a:uFillTx/>
                    <a:cs typeface="Arial" pitchFamily="34" charset="0"/>
                  </a:rPr>
                  <a:t> a contextualized response</a:t>
                </a:r>
              </a:p>
            </p:txBody>
          </p:sp>
          <p:pic>
            <p:nvPicPr>
              <p:cNvPr id="30" name="Graphic 29" descr="Badge with solid fill">
                <a:extLst>
                  <a:ext uri="{FF2B5EF4-FFF2-40B4-BE49-F238E27FC236}">
                    <a16:creationId xmlns:a16="http://schemas.microsoft.com/office/drawing/2014/main" id="{88EA7B1C-FFAC-5BA3-4183-E68C5186A0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78722" y="4908500"/>
                <a:ext cx="503296" cy="503296"/>
              </a:xfrm>
              <a:prstGeom prst="rect">
                <a:avLst/>
              </a:prstGeom>
            </p:spPr>
          </p:pic>
          <p:pic>
            <p:nvPicPr>
              <p:cNvPr id="31" name="Graphic 30" descr="Badge 3 with solid fill">
                <a:extLst>
                  <a:ext uri="{FF2B5EF4-FFF2-40B4-BE49-F238E27FC236}">
                    <a16:creationId xmlns:a16="http://schemas.microsoft.com/office/drawing/2014/main" id="{2721ABEE-5ABD-C0EF-8C85-CF9CA0DC94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71267" y="3214135"/>
                <a:ext cx="503296" cy="503296"/>
              </a:xfrm>
              <a:prstGeom prst="rect">
                <a:avLst/>
              </a:prstGeom>
            </p:spPr>
          </p:pic>
          <p:pic>
            <p:nvPicPr>
              <p:cNvPr id="32" name="Graphic 31" descr="Badge 1 with solid fill">
                <a:extLst>
                  <a:ext uri="{FF2B5EF4-FFF2-40B4-BE49-F238E27FC236}">
                    <a16:creationId xmlns:a16="http://schemas.microsoft.com/office/drawing/2014/main" id="{D5A08C44-9AC5-78A3-41A3-5405C11D43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55813" y="3223098"/>
                <a:ext cx="503296" cy="503296"/>
              </a:xfrm>
              <a:prstGeom prst="rect">
                <a:avLst/>
              </a:prstGeom>
            </p:spPr>
          </p:pic>
        </p:grpSp>
        <p:grpSp>
          <p:nvGrpSpPr>
            <p:cNvPr id="8" name="Group 7">
              <a:extLst>
                <a:ext uri="{FF2B5EF4-FFF2-40B4-BE49-F238E27FC236}">
                  <a16:creationId xmlns:a16="http://schemas.microsoft.com/office/drawing/2014/main" id="{B3C4FE68-47BA-DC4A-375A-F8832B1B5DE0}"/>
                </a:ext>
              </a:extLst>
            </p:cNvPr>
            <p:cNvGrpSpPr/>
            <p:nvPr/>
          </p:nvGrpSpPr>
          <p:grpSpPr>
            <a:xfrm>
              <a:off x="2415297" y="5438337"/>
              <a:ext cx="1842363" cy="835503"/>
              <a:chOff x="2651759" y="5405086"/>
              <a:chExt cx="1842363" cy="835503"/>
            </a:xfrm>
          </p:grpSpPr>
          <p:sp>
            <p:nvSpPr>
              <p:cNvPr id="14" name="Rectangle 13">
                <a:extLst>
                  <a:ext uri="{FF2B5EF4-FFF2-40B4-BE49-F238E27FC236}">
                    <a16:creationId xmlns:a16="http://schemas.microsoft.com/office/drawing/2014/main" id="{F7C18D5C-3D71-B2F5-604D-B4AAD17978D0}"/>
                  </a:ext>
                </a:extLst>
              </p:cNvPr>
              <p:cNvSpPr/>
              <p:nvPr/>
            </p:nvSpPr>
            <p:spPr bwMode="auto">
              <a:xfrm>
                <a:off x="2651759" y="5405086"/>
                <a:ext cx="1820487" cy="835503"/>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TextBox 14">
                <a:extLst>
                  <a:ext uri="{FF2B5EF4-FFF2-40B4-BE49-F238E27FC236}">
                    <a16:creationId xmlns:a16="http://schemas.microsoft.com/office/drawing/2014/main" id="{1503D378-B186-C705-C5B1-B186ED4F166E}"/>
                  </a:ext>
                </a:extLst>
              </p:cNvPr>
              <p:cNvSpPr txBox="1"/>
              <p:nvPr/>
            </p:nvSpPr>
            <p:spPr>
              <a:xfrm>
                <a:off x="2754204" y="5475643"/>
                <a:ext cx="1739918" cy="646331"/>
              </a:xfrm>
              <a:prstGeom prst="rect">
                <a:avLst/>
              </a:prstGeom>
              <a:noFill/>
            </p:spPr>
            <p:txBody>
              <a:bodyPr wrap="square" lIns="0" tIns="0" rIns="0" bIns="0" rtlCol="0">
                <a:spAutoFit/>
              </a:bodyPr>
              <a:lstStyle/>
              <a:p>
                <a:pPr algn="l"/>
                <a:r>
                  <a:rPr lang="en-US" sz="1400" i="1" dirty="0">
                    <a:latin typeface="Abadi" panose="020F0502020204030204" pitchFamily="34" charset="0"/>
                  </a:rPr>
                  <a:t>Lorem -&gt; [1,34,76,…]</a:t>
                </a:r>
              </a:p>
              <a:p>
                <a:pPr algn="l"/>
                <a:r>
                  <a:rPr lang="en-US" sz="1400" i="1" dirty="0">
                    <a:latin typeface="Abadi" panose="020F0502020204030204" pitchFamily="34" charset="0"/>
                  </a:rPr>
                  <a:t>Ipsum -&gt; [6,59,54,…]</a:t>
                </a:r>
              </a:p>
              <a:p>
                <a:pPr algn="l"/>
                <a:r>
                  <a:rPr lang="en-US" sz="1400" i="1" dirty="0">
                    <a:latin typeface="Abadi" panose="020F0502020204030204" pitchFamily="34" charset="0"/>
                  </a:rPr>
                  <a:t>…</a:t>
                </a:r>
              </a:p>
            </p:txBody>
          </p:sp>
        </p:grpSp>
        <p:cxnSp>
          <p:nvCxnSpPr>
            <p:cNvPr id="10" name="Straight Connector 9">
              <a:extLst>
                <a:ext uri="{FF2B5EF4-FFF2-40B4-BE49-F238E27FC236}">
                  <a16:creationId xmlns:a16="http://schemas.microsoft.com/office/drawing/2014/main" id="{F811DA4B-AB9D-455D-E694-E5F4F3749588}"/>
                </a:ext>
              </a:extLst>
            </p:cNvPr>
            <p:cNvCxnSpPr>
              <a:cxnSpLocks/>
            </p:cNvCxnSpPr>
            <p:nvPr/>
          </p:nvCxnSpPr>
          <p:spPr>
            <a:xfrm flipH="1">
              <a:off x="2435629" y="4660387"/>
              <a:ext cx="932581" cy="752599"/>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CA12770-F0C3-E625-B082-1021883C8F36}"/>
                </a:ext>
              </a:extLst>
            </p:cNvPr>
            <p:cNvCxnSpPr>
              <a:cxnSpLocks/>
            </p:cNvCxnSpPr>
            <p:nvPr/>
          </p:nvCxnSpPr>
          <p:spPr>
            <a:xfrm>
              <a:off x="3368210" y="4660387"/>
              <a:ext cx="863592" cy="77795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F45025-5E7F-6FA2-7589-53BED159ABBF}"/>
                </a:ext>
              </a:extLst>
            </p:cNvPr>
            <p:cNvSpPr txBox="1"/>
            <p:nvPr/>
          </p:nvSpPr>
          <p:spPr>
            <a:xfrm>
              <a:off x="2485226" y="5167983"/>
              <a:ext cx="1738040" cy="246221"/>
            </a:xfrm>
            <a:prstGeom prst="rect">
              <a:avLst/>
            </a:prstGeom>
            <a:solidFill>
              <a:schemeClr val="bg1"/>
            </a:solidFill>
          </p:spPr>
          <p:txBody>
            <a:bodyPr wrap="none" lIns="0" tIns="0" rIns="0" bIns="0" rtlCol="0">
              <a:spAutoFit/>
            </a:bodyPr>
            <a:lstStyle/>
            <a:p>
              <a:pPr algn="l"/>
              <a:r>
                <a:rPr lang="en-US" sz="1600" dirty="0"/>
                <a:t>Vector-based index</a:t>
              </a:r>
            </a:p>
          </p:txBody>
        </p:sp>
        <p:sp>
          <p:nvSpPr>
            <p:cNvPr id="13" name="TextBox 12">
              <a:extLst>
                <a:ext uri="{FF2B5EF4-FFF2-40B4-BE49-F238E27FC236}">
                  <a16:creationId xmlns:a16="http://schemas.microsoft.com/office/drawing/2014/main" id="{32DB6E8D-8CAD-5406-21B7-152A912FBD2F}"/>
                </a:ext>
              </a:extLst>
            </p:cNvPr>
            <p:cNvSpPr txBox="1"/>
            <p:nvPr/>
          </p:nvSpPr>
          <p:spPr>
            <a:xfrm>
              <a:off x="8093030" y="3847158"/>
              <a:ext cx="581891" cy="246221"/>
            </a:xfrm>
            <a:prstGeom prst="rect">
              <a:avLst/>
            </a:prstGeom>
            <a:noFill/>
          </p:spPr>
          <p:txBody>
            <a:bodyPr wrap="none" lIns="0" tIns="0" rIns="0" bIns="0" rtlCol="0">
              <a:spAutoFit/>
            </a:bodyPr>
            <a:lstStyle/>
            <a:p>
              <a:pPr algn="l"/>
              <a:r>
                <a:rPr lang="en-US" sz="1600" dirty="0"/>
                <a:t>Model</a:t>
              </a:r>
            </a:p>
          </p:txBody>
        </p:sp>
      </p:grpSp>
    </p:spTree>
    <p:extLst>
      <p:ext uri="{BB962C8B-B14F-4D97-AF65-F5344CB8AC3E}">
        <p14:creationId xmlns:p14="http://schemas.microsoft.com/office/powerpoint/2010/main" val="108538812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492443"/>
          </a:xfrm>
        </p:spPr>
        <p:txBody>
          <a:bodyPr/>
          <a:lstStyle/>
          <a:p>
            <a:r>
              <a:rPr lang="en-US" sz="3200" dirty="0"/>
              <a:t>Fine-tune a model for consistent behavior</a:t>
            </a:r>
          </a:p>
        </p:txBody>
      </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 name="Text Placeholder 2">
            <a:extLst>
              <a:ext uri="{FF2B5EF4-FFF2-40B4-BE49-F238E27FC236}">
                <a16:creationId xmlns:a16="http://schemas.microsoft.com/office/drawing/2014/main" id="{A12AD542-1514-73E7-1991-F7160FCFD7EE}"/>
              </a:ext>
            </a:extLst>
          </p:cNvPr>
          <p:cNvSpPr>
            <a:spLocks noGrp="1"/>
          </p:cNvSpPr>
          <p:nvPr>
            <p:ph type="body" sz="quarter" idx="15"/>
          </p:nvPr>
        </p:nvSpPr>
        <p:spPr>
          <a:xfrm>
            <a:off x="588262" y="2083498"/>
            <a:ext cx="4860254" cy="2462213"/>
          </a:xfrm>
        </p:spPr>
        <p:txBody>
          <a:bodyPr/>
          <a:lstStyle/>
          <a:p>
            <a:pPr>
              <a:spcBef>
                <a:spcPts val="1200"/>
              </a:spcBef>
            </a:pPr>
            <a:r>
              <a:rPr lang="en-US" sz="2000" dirty="0"/>
              <a:t>Additional training for a foundation model</a:t>
            </a:r>
          </a:p>
          <a:p>
            <a:pPr>
              <a:spcBef>
                <a:spcPts val="1200"/>
              </a:spcBef>
            </a:pPr>
            <a:r>
              <a:rPr lang="en-US" sz="2000" dirty="0"/>
              <a:t>Provides the model with example prompts and responses</a:t>
            </a:r>
          </a:p>
          <a:p>
            <a:pPr>
              <a:spcBef>
                <a:spcPts val="1200"/>
              </a:spcBef>
            </a:pPr>
            <a:r>
              <a:rPr lang="en-US" sz="2000" dirty="0"/>
              <a:t>Used to maximize the consistency of the model’s </a:t>
            </a:r>
            <a:r>
              <a:rPr lang="en-US" sz="2000" i="1" dirty="0"/>
              <a:t>tone </a:t>
            </a:r>
            <a:r>
              <a:rPr lang="en-US" sz="2000" dirty="0"/>
              <a:t>and</a:t>
            </a:r>
            <a:r>
              <a:rPr lang="en-US" sz="2000" i="1" dirty="0"/>
              <a:t> style </a:t>
            </a:r>
            <a:r>
              <a:rPr lang="en-US" sz="2000" dirty="0"/>
              <a:t>in responses (how it needs to </a:t>
            </a:r>
            <a:r>
              <a:rPr lang="en-US" sz="2000" i="1" dirty="0"/>
              <a:t>act</a:t>
            </a:r>
            <a:r>
              <a:rPr lang="en-US" sz="2000" dirty="0"/>
              <a:t>)</a:t>
            </a:r>
          </a:p>
        </p:txBody>
      </p:sp>
      <p:grpSp>
        <p:nvGrpSpPr>
          <p:cNvPr id="33" name="Group 32">
            <a:extLst>
              <a:ext uri="{FF2B5EF4-FFF2-40B4-BE49-F238E27FC236}">
                <a16:creationId xmlns:a16="http://schemas.microsoft.com/office/drawing/2014/main" id="{75070A97-6059-8B7B-EBA1-AAFAD5E0BE52}"/>
              </a:ext>
              <a:ext uri="{C183D7F6-B498-43B3-948B-1728B52AA6E4}">
                <adec:decorative xmlns:adec="http://schemas.microsoft.com/office/drawing/2017/decorative" val="1"/>
              </a:ext>
            </a:extLst>
          </p:cNvPr>
          <p:cNvGrpSpPr/>
          <p:nvPr/>
        </p:nvGrpSpPr>
        <p:grpSpPr>
          <a:xfrm>
            <a:off x="5797826" y="2083498"/>
            <a:ext cx="5327374" cy="2289719"/>
            <a:chOff x="5797826" y="2083498"/>
            <a:chExt cx="5327374" cy="2289719"/>
          </a:xfrm>
        </p:grpSpPr>
        <p:sp>
          <p:nvSpPr>
            <p:cNvPr id="34" name="Rectangle 33">
              <a:extLst>
                <a:ext uri="{FF2B5EF4-FFF2-40B4-BE49-F238E27FC236}">
                  <a16:creationId xmlns:a16="http://schemas.microsoft.com/office/drawing/2014/main" id="{CC7241D6-E1FF-D238-12A7-54F17DA98F91}"/>
                </a:ext>
              </a:extLst>
            </p:cNvPr>
            <p:cNvSpPr/>
            <p:nvPr/>
          </p:nvSpPr>
          <p:spPr bwMode="auto">
            <a:xfrm>
              <a:off x="5797826" y="2083498"/>
              <a:ext cx="5327374" cy="2289719"/>
            </a:xfrm>
            <a:prstGeom prst="rect">
              <a:avLst/>
            </a:prstGeom>
            <a:solidFill>
              <a:schemeClr val="bg1">
                <a:lumMod val="95000"/>
              </a:schemeClr>
            </a:solidFill>
            <a:ln>
              <a:solidFill>
                <a:schemeClr val="bg1">
                  <a:lumMod val="6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5" name="Group 34">
              <a:extLst>
                <a:ext uri="{FF2B5EF4-FFF2-40B4-BE49-F238E27FC236}">
                  <a16:creationId xmlns:a16="http://schemas.microsoft.com/office/drawing/2014/main" id="{4B69CBE5-0D02-ED7B-DCF2-E5E4CAFD75A8}"/>
                </a:ext>
              </a:extLst>
            </p:cNvPr>
            <p:cNvGrpSpPr/>
            <p:nvPr/>
          </p:nvGrpSpPr>
          <p:grpSpPr>
            <a:xfrm>
              <a:off x="6416943" y="2376305"/>
              <a:ext cx="4089139" cy="1704103"/>
              <a:chOff x="6380569" y="2276972"/>
              <a:chExt cx="4089139" cy="1704103"/>
            </a:xfrm>
          </p:grpSpPr>
          <p:grpSp>
            <p:nvGrpSpPr>
              <p:cNvPr id="36" name="Group 35">
                <a:extLst>
                  <a:ext uri="{FF2B5EF4-FFF2-40B4-BE49-F238E27FC236}">
                    <a16:creationId xmlns:a16="http://schemas.microsoft.com/office/drawing/2014/main" id="{722FC41B-46F5-0F7E-D8D5-45F5F33E0DE7}"/>
                  </a:ext>
                </a:extLst>
              </p:cNvPr>
              <p:cNvGrpSpPr/>
              <p:nvPr/>
            </p:nvGrpSpPr>
            <p:grpSpPr>
              <a:xfrm>
                <a:off x="7933498" y="2427259"/>
                <a:ext cx="881270" cy="881270"/>
                <a:chOff x="5638800" y="2971800"/>
                <a:chExt cx="914400" cy="914400"/>
              </a:xfrm>
              <a:solidFill>
                <a:srgbClr val="0078D4"/>
              </a:solidFill>
            </p:grpSpPr>
            <p:pic>
              <p:nvPicPr>
                <p:cNvPr id="46" name="Graphic 45" descr="Document with solid fill">
                  <a:extLst>
                    <a:ext uri="{FF2B5EF4-FFF2-40B4-BE49-F238E27FC236}">
                      <a16:creationId xmlns:a16="http://schemas.microsoft.com/office/drawing/2014/main" id="{A9077B0A-4993-9E23-3499-B32B6885DF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2971800"/>
                  <a:ext cx="914400" cy="914400"/>
                </a:xfrm>
                <a:prstGeom prst="rect">
                  <a:avLst/>
                </a:prstGeom>
              </p:spPr>
            </p:pic>
            <p:cxnSp>
              <p:nvCxnSpPr>
                <p:cNvPr id="47" name="Straight Connector 46">
                  <a:extLst>
                    <a:ext uri="{FF2B5EF4-FFF2-40B4-BE49-F238E27FC236}">
                      <a16:creationId xmlns:a16="http://schemas.microsoft.com/office/drawing/2014/main" id="{4FDA66B0-251E-9F63-D496-06F95AD6786A}"/>
                    </a:ext>
                  </a:extLst>
                </p:cNvPr>
                <p:cNvCxnSpPr>
                  <a:cxnSpLocks/>
                </p:cNvCxnSpPr>
                <p:nvPr/>
              </p:nvCxnSpPr>
              <p:spPr>
                <a:xfrm>
                  <a:off x="6094999" y="3313957"/>
                  <a:ext cx="0" cy="403278"/>
                </a:xfrm>
                <a:prstGeom prst="line">
                  <a:avLst/>
                </a:prstGeom>
                <a:grpFill/>
                <a:ln w="762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743DA84-9634-5422-35CD-E165C2C3253E}"/>
                    </a:ext>
                  </a:extLst>
                </p:cNvPr>
                <p:cNvCxnSpPr>
                  <a:cxnSpLocks/>
                </p:cNvCxnSpPr>
                <p:nvPr/>
              </p:nvCxnSpPr>
              <p:spPr>
                <a:xfrm>
                  <a:off x="5897217" y="3327209"/>
                  <a:ext cx="197782" cy="0"/>
                </a:xfrm>
                <a:prstGeom prst="line">
                  <a:avLst/>
                </a:prstGeom>
                <a:grpFill/>
                <a:ln w="762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37" name="Graphic 36" descr="Cube with solid fill">
                <a:extLst>
                  <a:ext uri="{FF2B5EF4-FFF2-40B4-BE49-F238E27FC236}">
                    <a16:creationId xmlns:a16="http://schemas.microsoft.com/office/drawing/2014/main" id="{0E00983B-74DE-CFCF-FD58-AC33F673C4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0569" y="2276972"/>
                <a:ext cx="1181843" cy="1181843"/>
              </a:xfrm>
              <a:prstGeom prst="rect">
                <a:avLst/>
              </a:prstGeom>
            </p:spPr>
          </p:pic>
          <p:sp>
            <p:nvSpPr>
              <p:cNvPr id="38" name="TextBox 37">
                <a:extLst>
                  <a:ext uri="{FF2B5EF4-FFF2-40B4-BE49-F238E27FC236}">
                    <a16:creationId xmlns:a16="http://schemas.microsoft.com/office/drawing/2014/main" id="{7BF63221-A8E1-1C0F-38E9-EA99F784946C}"/>
                  </a:ext>
                </a:extLst>
              </p:cNvPr>
              <p:cNvSpPr txBox="1"/>
              <p:nvPr/>
            </p:nvSpPr>
            <p:spPr>
              <a:xfrm>
                <a:off x="7577124" y="2606718"/>
                <a:ext cx="320601" cy="553998"/>
              </a:xfrm>
              <a:prstGeom prst="rect">
                <a:avLst/>
              </a:prstGeom>
              <a:noFill/>
            </p:spPr>
            <p:txBody>
              <a:bodyPr wrap="none" lIns="0" tIns="0" rIns="0" bIns="0" rtlCol="0">
                <a:spAutoFit/>
              </a:bodyPr>
              <a:lstStyle/>
              <a:p>
                <a:pPr algn="l"/>
                <a:r>
                  <a:rPr lang="en-US" sz="3600" dirty="0">
                    <a:solidFill>
                      <a:schemeClr val="accent2"/>
                    </a:solidFill>
                    <a:latin typeface="+mj-lt"/>
                  </a:rPr>
                  <a:t>+</a:t>
                </a:r>
              </a:p>
            </p:txBody>
          </p:sp>
          <p:sp>
            <p:nvSpPr>
              <p:cNvPr id="39" name="TextBox 38">
                <a:extLst>
                  <a:ext uri="{FF2B5EF4-FFF2-40B4-BE49-F238E27FC236}">
                    <a16:creationId xmlns:a16="http://schemas.microsoft.com/office/drawing/2014/main" id="{8EDDFAB3-DC4D-6EB1-8EF2-1B1E658D9F62}"/>
                  </a:ext>
                </a:extLst>
              </p:cNvPr>
              <p:cNvSpPr txBox="1"/>
              <p:nvPr/>
            </p:nvSpPr>
            <p:spPr>
              <a:xfrm>
                <a:off x="8812838" y="2606718"/>
                <a:ext cx="320601" cy="553998"/>
              </a:xfrm>
              <a:prstGeom prst="rect">
                <a:avLst/>
              </a:prstGeom>
              <a:noFill/>
            </p:spPr>
            <p:txBody>
              <a:bodyPr wrap="none" lIns="0" tIns="0" rIns="0" bIns="0" rtlCol="0">
                <a:spAutoFit/>
              </a:bodyPr>
              <a:lstStyle/>
              <a:p>
                <a:pPr algn="l"/>
                <a:r>
                  <a:rPr lang="en-US" sz="3600" dirty="0">
                    <a:solidFill>
                      <a:schemeClr val="accent2"/>
                    </a:solidFill>
                    <a:latin typeface="+mj-lt"/>
                  </a:rPr>
                  <a:t>=</a:t>
                </a:r>
              </a:p>
            </p:txBody>
          </p:sp>
          <p:sp>
            <p:nvSpPr>
              <p:cNvPr id="40" name="TextBox 39">
                <a:extLst>
                  <a:ext uri="{FF2B5EF4-FFF2-40B4-BE49-F238E27FC236}">
                    <a16:creationId xmlns:a16="http://schemas.microsoft.com/office/drawing/2014/main" id="{1430566F-0C14-61BD-7AB5-4A2FAEC93A9D}"/>
                  </a:ext>
                </a:extLst>
              </p:cNvPr>
              <p:cNvSpPr txBox="1"/>
              <p:nvPr/>
            </p:nvSpPr>
            <p:spPr>
              <a:xfrm>
                <a:off x="6380569" y="3429000"/>
                <a:ext cx="1196555" cy="492443"/>
              </a:xfrm>
              <a:prstGeom prst="rect">
                <a:avLst/>
              </a:prstGeom>
              <a:noFill/>
            </p:spPr>
            <p:txBody>
              <a:bodyPr wrap="square" lIns="0" tIns="0" rIns="0" bIns="0" rtlCol="0">
                <a:spAutoFit/>
              </a:bodyPr>
              <a:lstStyle/>
              <a:p>
                <a:pPr algn="ctr"/>
                <a:r>
                  <a:rPr lang="en-US" sz="1600" dirty="0"/>
                  <a:t>Foundation model</a:t>
                </a:r>
              </a:p>
            </p:txBody>
          </p:sp>
          <p:sp>
            <p:nvSpPr>
              <p:cNvPr id="41" name="TextBox 40">
                <a:extLst>
                  <a:ext uri="{FF2B5EF4-FFF2-40B4-BE49-F238E27FC236}">
                    <a16:creationId xmlns:a16="http://schemas.microsoft.com/office/drawing/2014/main" id="{D0CD71B0-DC21-8DF2-1CFB-743DCDA2DAAF}"/>
                  </a:ext>
                </a:extLst>
              </p:cNvPr>
              <p:cNvSpPr txBox="1"/>
              <p:nvPr/>
            </p:nvSpPr>
            <p:spPr>
              <a:xfrm>
                <a:off x="7897725" y="3458816"/>
                <a:ext cx="1054827" cy="492443"/>
              </a:xfrm>
              <a:prstGeom prst="rect">
                <a:avLst/>
              </a:prstGeom>
              <a:noFill/>
            </p:spPr>
            <p:txBody>
              <a:bodyPr wrap="square" lIns="0" tIns="0" rIns="0" bIns="0" rtlCol="0">
                <a:spAutoFit/>
              </a:bodyPr>
              <a:lstStyle/>
              <a:p>
                <a:pPr algn="ctr"/>
                <a:r>
                  <a:rPr lang="en-US" sz="1600" dirty="0"/>
                  <a:t>Training data</a:t>
                </a:r>
              </a:p>
            </p:txBody>
          </p:sp>
          <p:sp>
            <p:nvSpPr>
              <p:cNvPr id="42" name="TextBox 41">
                <a:extLst>
                  <a:ext uri="{FF2B5EF4-FFF2-40B4-BE49-F238E27FC236}">
                    <a16:creationId xmlns:a16="http://schemas.microsoft.com/office/drawing/2014/main" id="{E72F7154-C9F6-6ACA-3A71-B2C14A400C8C}"/>
                  </a:ext>
                </a:extLst>
              </p:cNvPr>
              <p:cNvSpPr txBox="1"/>
              <p:nvPr/>
            </p:nvSpPr>
            <p:spPr>
              <a:xfrm>
                <a:off x="9414881" y="3488632"/>
                <a:ext cx="1054827" cy="492443"/>
              </a:xfrm>
              <a:prstGeom prst="rect">
                <a:avLst/>
              </a:prstGeom>
              <a:noFill/>
            </p:spPr>
            <p:txBody>
              <a:bodyPr wrap="square" lIns="0" tIns="0" rIns="0" bIns="0" rtlCol="0">
                <a:spAutoFit/>
              </a:bodyPr>
              <a:lstStyle/>
              <a:p>
                <a:pPr algn="ctr"/>
                <a:r>
                  <a:rPr lang="en-US" sz="1600" dirty="0"/>
                  <a:t>Fine-tuned model</a:t>
                </a:r>
              </a:p>
            </p:txBody>
          </p:sp>
          <p:grpSp>
            <p:nvGrpSpPr>
              <p:cNvPr id="43" name="Group 42">
                <a:extLst>
                  <a:ext uri="{FF2B5EF4-FFF2-40B4-BE49-F238E27FC236}">
                    <a16:creationId xmlns:a16="http://schemas.microsoft.com/office/drawing/2014/main" id="{E5B09E02-0A1C-80FB-B008-FE7420881AE8}"/>
                  </a:ext>
                </a:extLst>
              </p:cNvPr>
              <p:cNvGrpSpPr/>
              <p:nvPr/>
            </p:nvGrpSpPr>
            <p:grpSpPr>
              <a:xfrm>
                <a:off x="9254438" y="2276972"/>
                <a:ext cx="1181843" cy="1181843"/>
                <a:chOff x="9254438" y="2276972"/>
                <a:chExt cx="1181843" cy="1181843"/>
              </a:xfrm>
            </p:grpSpPr>
            <p:pic>
              <p:nvPicPr>
                <p:cNvPr id="44" name="Graphic 43" descr="Cube with solid fill">
                  <a:extLst>
                    <a:ext uri="{FF2B5EF4-FFF2-40B4-BE49-F238E27FC236}">
                      <a16:creationId xmlns:a16="http://schemas.microsoft.com/office/drawing/2014/main" id="{B7523DDB-72D2-97D0-E111-07C89685A5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54438" y="2276972"/>
                  <a:ext cx="1181843" cy="1181843"/>
                </a:xfrm>
                <a:prstGeom prst="rect">
                  <a:avLst/>
                </a:prstGeom>
              </p:spPr>
            </p:pic>
            <p:sp>
              <p:nvSpPr>
                <p:cNvPr id="45" name="TextBox 44">
                  <a:extLst>
                    <a:ext uri="{FF2B5EF4-FFF2-40B4-BE49-F238E27FC236}">
                      <a16:creationId xmlns:a16="http://schemas.microsoft.com/office/drawing/2014/main" id="{29641BE8-9B2B-41D4-0CFA-97CCF90D2D5B}"/>
                    </a:ext>
                  </a:extLst>
                </p:cNvPr>
                <p:cNvSpPr txBox="1"/>
                <p:nvPr/>
              </p:nvSpPr>
              <p:spPr>
                <a:xfrm>
                  <a:off x="9942564" y="2631421"/>
                  <a:ext cx="245260" cy="677108"/>
                </a:xfrm>
                <a:prstGeom prst="rect">
                  <a:avLst/>
                </a:prstGeom>
                <a:noFill/>
              </p:spPr>
              <p:txBody>
                <a:bodyPr wrap="none" lIns="0" tIns="0" rIns="0" bIns="0" rtlCol="0">
                  <a:spAutoFit/>
                </a:bodyPr>
                <a:lstStyle/>
                <a:p>
                  <a:pPr algn="l"/>
                  <a:r>
                    <a:rPr lang="en-US" sz="4400" dirty="0">
                      <a:solidFill>
                        <a:schemeClr val="accent2"/>
                      </a:solidFill>
                      <a:latin typeface="+mj-lt"/>
                    </a:rPr>
                    <a:t>*</a:t>
                  </a:r>
                </a:p>
              </p:txBody>
            </p:sp>
          </p:grpSp>
        </p:grpSp>
      </p:grpSp>
    </p:spTree>
    <p:extLst>
      <p:ext uri="{BB962C8B-B14F-4D97-AF65-F5344CB8AC3E}">
        <p14:creationId xmlns:p14="http://schemas.microsoft.com/office/powerpoint/2010/main" val="118769378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F1E5-D3A3-49BA-06EE-3DCB08A95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D6A2B-B26C-A7BC-922E-4EFD0BD9D0B1}"/>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4704FC6E-5738-4EA1-7A25-8D69F2ADC850}"/>
              </a:ext>
            </a:extLst>
          </p:cNvPr>
          <p:cNvSpPr>
            <a:spLocks noGrp="1"/>
          </p:cNvSpPr>
          <p:nvPr>
            <p:ph type="body" sz="quarter" idx="17"/>
          </p:nvPr>
        </p:nvSpPr>
        <p:spPr>
          <a:xfrm>
            <a:off x="1235074" y="1766085"/>
            <a:ext cx="8867775" cy="215444"/>
          </a:xfrm>
        </p:spPr>
        <p:txBody>
          <a:bodyPr/>
          <a:lstStyle/>
          <a:p>
            <a:r>
              <a:rPr lang="en-US" b="1" dirty="0"/>
              <a:t>What is the primary purpose of a system message in a prompt?</a:t>
            </a:r>
          </a:p>
        </p:txBody>
      </p:sp>
      <p:sp>
        <p:nvSpPr>
          <p:cNvPr id="9" name="Text Placeholder 8">
            <a:extLst>
              <a:ext uri="{FF2B5EF4-FFF2-40B4-BE49-F238E27FC236}">
                <a16:creationId xmlns:a16="http://schemas.microsoft.com/office/drawing/2014/main" id="{9F711E4F-18C7-7C8A-D10F-213AC70B99F2}"/>
              </a:ext>
            </a:extLst>
          </p:cNvPr>
          <p:cNvSpPr>
            <a:spLocks noGrp="1"/>
          </p:cNvSpPr>
          <p:nvPr>
            <p:ph type="body" sz="quarter" idx="15"/>
          </p:nvPr>
        </p:nvSpPr>
        <p:spPr>
          <a:xfrm>
            <a:off x="1235075" y="2071348"/>
            <a:ext cx="8775098" cy="732508"/>
          </a:xfrm>
          <a:noFill/>
        </p:spPr>
        <p:txBody>
          <a:bodyPr/>
          <a:lstStyle/>
          <a:p>
            <a:r>
              <a:rPr lang="en-US" noProof="0" dirty="0"/>
              <a:t>To define the model's role, behavior, and output constraints</a:t>
            </a:r>
          </a:p>
          <a:p>
            <a:r>
              <a:rPr lang="en-US" noProof="0" dirty="0"/>
              <a:t>To provide training data that permanently changes the model</a:t>
            </a:r>
          </a:p>
          <a:p>
            <a:r>
              <a:rPr lang="en-US" noProof="0" dirty="0"/>
              <a:t>To retrieve data from an external data source</a:t>
            </a:r>
          </a:p>
        </p:txBody>
      </p:sp>
      <p:sp>
        <p:nvSpPr>
          <p:cNvPr id="18" name="Text Placeholder 17">
            <a:extLst>
              <a:ext uri="{FF2B5EF4-FFF2-40B4-BE49-F238E27FC236}">
                <a16:creationId xmlns:a16="http://schemas.microsoft.com/office/drawing/2014/main" id="{4BC0E30B-5CCF-F56B-7BCB-387C8D489304}"/>
              </a:ext>
            </a:extLst>
          </p:cNvPr>
          <p:cNvSpPr>
            <a:spLocks noGrp="1"/>
          </p:cNvSpPr>
          <p:nvPr>
            <p:ph type="body" sz="quarter" idx="22"/>
          </p:nvPr>
        </p:nvSpPr>
        <p:spPr>
          <a:xfrm>
            <a:off x="1235074" y="3139966"/>
            <a:ext cx="9210675" cy="430887"/>
          </a:xfrm>
        </p:spPr>
        <p:txBody>
          <a:bodyPr/>
          <a:lstStyle/>
          <a:p>
            <a:r>
              <a:rPr lang="en-US" noProof="0" dirty="0"/>
              <a:t> When should you use Retrieval Augmented Generation (RAG) instead of relying on prompt engineering alone?</a:t>
            </a:r>
          </a:p>
        </p:txBody>
      </p:sp>
      <p:sp>
        <p:nvSpPr>
          <p:cNvPr id="19" name="Text Placeholder 18">
            <a:extLst>
              <a:ext uri="{FF2B5EF4-FFF2-40B4-BE49-F238E27FC236}">
                <a16:creationId xmlns:a16="http://schemas.microsoft.com/office/drawing/2014/main" id="{1FF6BCE5-62A7-D68F-C7E9-C221E7463818}"/>
              </a:ext>
            </a:extLst>
          </p:cNvPr>
          <p:cNvSpPr>
            <a:spLocks noGrp="1"/>
          </p:cNvSpPr>
          <p:nvPr>
            <p:ph type="body" sz="quarter" idx="23"/>
          </p:nvPr>
        </p:nvSpPr>
        <p:spPr>
          <a:xfrm>
            <a:off x="1235074" y="3420839"/>
            <a:ext cx="8775098" cy="732508"/>
          </a:xfrm>
        </p:spPr>
        <p:txBody>
          <a:bodyPr/>
          <a:lstStyle/>
          <a:p>
            <a:r>
              <a:rPr lang="en-US" dirty="0"/>
              <a:t>When you want the model to respond in a consistent style and format</a:t>
            </a:r>
          </a:p>
          <a:p>
            <a:r>
              <a:rPr lang="en-US" dirty="0"/>
              <a:t>When the model needs access to domain-specific or current data that it wasn't trained on</a:t>
            </a:r>
          </a:p>
          <a:p>
            <a:r>
              <a:rPr lang="en-US" dirty="0"/>
              <a:t>When you want to reduce the length of prompts sent to the model</a:t>
            </a:r>
          </a:p>
        </p:txBody>
      </p:sp>
      <p:sp>
        <p:nvSpPr>
          <p:cNvPr id="76" name="Oval 75">
            <a:extLst>
              <a:ext uri="{FF2B5EF4-FFF2-40B4-BE49-F238E27FC236}">
                <a16:creationId xmlns:a16="http://schemas.microsoft.com/office/drawing/2014/main" id="{FCFECC27-784A-98B9-2AE3-30BA95C1C3A5}"/>
              </a:ext>
              <a:ext uri="{C183D7F6-B498-43B3-948B-1728B52AA6E4}">
                <adec:decorative xmlns:adec="http://schemas.microsoft.com/office/drawing/2017/decorative" val="1"/>
              </a:ext>
            </a:extLst>
          </p:cNvPr>
          <p:cNvSpPr>
            <a:spLocks/>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8236945E-9E24-E434-73B7-69AAB75B8BC3}"/>
              </a:ext>
              <a:ext uri="{C183D7F6-B498-43B3-948B-1728B52AA6E4}">
                <adec:decorative xmlns:adec="http://schemas.microsoft.com/office/drawing/2017/decorative" val="1"/>
              </a:ext>
            </a:extLst>
          </p:cNvPr>
          <p:cNvSpPr>
            <a:spLocks/>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F4E116E8-136E-8697-3DD2-AF9E168D00E5}"/>
              </a:ext>
              <a:ext uri="{C183D7F6-B498-43B3-948B-1728B52AA6E4}">
                <adec:decorative xmlns:adec="http://schemas.microsoft.com/office/drawing/2017/decorative" val="1"/>
              </a:ext>
            </a:extLst>
          </p:cNvPr>
          <p:cNvSpPr>
            <a:spLocks/>
          </p:cNvSpPr>
          <p:nvPr/>
        </p:nvSpPr>
        <p:spPr>
          <a:xfrm>
            <a:off x="1263852" y="371963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534B3B53-E16A-B67C-0BDB-108ABAB8CEBA}"/>
              </a:ext>
              <a:ext uri="{C183D7F6-B498-43B3-948B-1728B52AA6E4}">
                <adec:decorative xmlns:adec="http://schemas.microsoft.com/office/drawing/2017/decorative" val="1"/>
              </a:ext>
            </a:extLst>
          </p:cNvPr>
          <p:cNvSpPr>
            <a:spLocks/>
          </p:cNvSpPr>
          <p:nvPr/>
        </p:nvSpPr>
        <p:spPr>
          <a:xfrm>
            <a:off x="1263852" y="210075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25F12A9C-25FF-7C79-CE06-0E2871A3DF2C}"/>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Text Placeholder 27">
            <a:extLst>
              <a:ext uri="{FF2B5EF4-FFF2-40B4-BE49-F238E27FC236}">
                <a16:creationId xmlns:a16="http://schemas.microsoft.com/office/drawing/2014/main" id="{EA962D85-2C2B-F8B3-94DA-B0131D7F937F}"/>
              </a:ext>
            </a:extLst>
          </p:cNvPr>
          <p:cNvSpPr>
            <a:spLocks noGrp="1"/>
          </p:cNvSpPr>
          <p:nvPr>
            <p:ph type="body" sz="quarter" idx="20"/>
          </p:nvPr>
        </p:nvSpPr>
        <p:spPr>
          <a:xfrm>
            <a:off x="1235075" y="4418761"/>
            <a:ext cx="8778782" cy="215444"/>
          </a:xfrm>
        </p:spPr>
        <p:txBody>
          <a:bodyPr/>
          <a:lstStyle/>
          <a:p>
            <a:r>
              <a:rPr lang="en-US" dirty="0"/>
              <a:t>What does fine-tuning optimize in a language model?</a:t>
            </a:r>
          </a:p>
        </p:txBody>
      </p:sp>
      <p:sp>
        <p:nvSpPr>
          <p:cNvPr id="6" name="Text Placeholder 28">
            <a:extLst>
              <a:ext uri="{FF2B5EF4-FFF2-40B4-BE49-F238E27FC236}">
                <a16:creationId xmlns:a16="http://schemas.microsoft.com/office/drawing/2014/main" id="{FC728625-946C-BDD3-C82D-0B1989DEED93}"/>
              </a:ext>
            </a:extLst>
          </p:cNvPr>
          <p:cNvSpPr>
            <a:spLocks noGrp="1"/>
          </p:cNvSpPr>
          <p:nvPr>
            <p:ph type="body" sz="quarter" idx="21"/>
          </p:nvPr>
        </p:nvSpPr>
        <p:spPr>
          <a:xfrm>
            <a:off x="1235075" y="4713285"/>
            <a:ext cx="8775700" cy="732508"/>
          </a:xfrm>
        </p:spPr>
        <p:txBody>
          <a:bodyPr/>
          <a:lstStyle/>
          <a:p>
            <a:r>
              <a:rPr lang="en-US" sz="1400" dirty="0"/>
              <a:t>The factual accuracy of responses by connecting to external data</a:t>
            </a:r>
          </a:p>
          <a:p>
            <a:r>
              <a:rPr lang="en-US" sz="1400" dirty="0"/>
              <a:t>The consistency of the model's behavior, style, and output format</a:t>
            </a:r>
          </a:p>
          <a:p>
            <a:r>
              <a:rPr lang="en-US" sz="1400" dirty="0"/>
              <a:t>The number of tokens the model can process in a single request</a:t>
            </a:r>
          </a:p>
        </p:txBody>
      </p:sp>
      <p:sp>
        <p:nvSpPr>
          <p:cNvPr id="7" name="Graphic 26" descr="Checkmark">
            <a:extLst>
              <a:ext uri="{FF2B5EF4-FFF2-40B4-BE49-F238E27FC236}">
                <a16:creationId xmlns:a16="http://schemas.microsoft.com/office/drawing/2014/main" id="{93F74B62-5EEF-D626-4419-13962B143AA2}"/>
              </a:ext>
            </a:extLst>
          </p:cNvPr>
          <p:cNvSpPr/>
          <p:nvPr/>
        </p:nvSpPr>
        <p:spPr>
          <a:xfrm>
            <a:off x="1269842" y="501866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F8867F8C-9146-F622-EF9E-6E7B85D6C1EA}"/>
              </a:ext>
              <a:ext uri="{C183D7F6-B498-43B3-948B-1728B52AA6E4}">
                <adec:decorative xmlns:adec="http://schemas.microsoft.com/office/drawing/2017/decorative" val="1"/>
              </a:ext>
            </a:extLst>
          </p:cNvPr>
          <p:cNvSpPr>
            <a:spLocks/>
          </p:cNvSpPr>
          <p:nvPr/>
        </p:nvSpPr>
        <p:spPr bwMode="auto">
          <a:xfrm>
            <a:off x="722582" y="439390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129278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8F35-0737-A3B3-4C3F-8DB65C2EA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742FE-9C7E-9CE3-E78B-801E374C4494}"/>
              </a:ext>
            </a:extLst>
          </p:cNvPr>
          <p:cNvSpPr>
            <a:spLocks noGrp="1"/>
          </p:cNvSpPr>
          <p:nvPr>
            <p:ph type="title"/>
          </p:nvPr>
        </p:nvSpPr>
        <p:spPr>
          <a:xfrm>
            <a:off x="430211" y="2769057"/>
            <a:ext cx="8167689" cy="1231106"/>
          </a:xfrm>
        </p:spPr>
        <p:txBody>
          <a:bodyPr/>
          <a:lstStyle/>
          <a:p>
            <a:r>
              <a:rPr lang="en-US" noProof="0" dirty="0"/>
              <a:t>Implement a responsible generative AI solution in Microsoft Foundry</a:t>
            </a:r>
          </a:p>
        </p:txBody>
      </p:sp>
      <p:sp>
        <p:nvSpPr>
          <p:cNvPr id="4" name="TextBox 3">
            <a:extLst>
              <a:ext uri="{FF2B5EF4-FFF2-40B4-BE49-F238E27FC236}">
                <a16:creationId xmlns:a16="http://schemas.microsoft.com/office/drawing/2014/main" id="{C13D14D6-960B-BABC-5F8E-C7DDDD504573}"/>
              </a:ext>
            </a:extLst>
          </p:cNvPr>
          <p:cNvSpPr txBox="1"/>
          <p:nvPr/>
        </p:nvSpPr>
        <p:spPr>
          <a:xfrm>
            <a:off x="338771" y="4000163"/>
            <a:ext cx="4596449" cy="363946"/>
          </a:xfrm>
          <a:prstGeom prst="rect">
            <a:avLst/>
          </a:prstGeom>
          <a:noFill/>
        </p:spPr>
        <p:txBody>
          <a:bodyPr wrap="square">
            <a:spAutoFit/>
          </a:bodyPr>
          <a:lstStyle/>
          <a:p>
            <a:r>
              <a:rPr lang="en-US" dirty="0">
                <a:solidFill>
                  <a:schemeClr val="accent2"/>
                </a:solidFill>
              </a:rPr>
              <a:t>https://aka.ms/mslearn-responsible-ai</a:t>
            </a:r>
          </a:p>
        </p:txBody>
      </p:sp>
    </p:spTree>
    <p:extLst>
      <p:ext uri="{BB962C8B-B14F-4D97-AF65-F5344CB8AC3E}">
        <p14:creationId xmlns:p14="http://schemas.microsoft.com/office/powerpoint/2010/main" val="38670084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C4449-859D-0A59-ED97-F079036041E7}"/>
              </a:ext>
            </a:extLst>
          </p:cNvPr>
          <p:cNvSpPr>
            <a:spLocks noGrp="1"/>
          </p:cNvSpPr>
          <p:nvPr>
            <p:ph type="title"/>
          </p:nvPr>
        </p:nvSpPr>
        <p:spPr>
          <a:xfrm>
            <a:off x="588262" y="585216"/>
            <a:ext cx="11013474" cy="492443"/>
          </a:xfrm>
        </p:spPr>
        <p:txBody>
          <a:bodyPr/>
          <a:lstStyle/>
          <a:p>
            <a:r>
              <a:rPr kumimoji="0" lang="en-US" sz="3200" b="0" i="0" u="none" strike="noStrike" kern="1200" cap="none" spc="0" normalizeH="0" baseline="0" noProof="0" dirty="0">
                <a:ln w="3175">
                  <a:noFill/>
                </a:ln>
                <a:solidFill>
                  <a:srgbClr val="000000"/>
                </a:solidFill>
                <a:effectLst/>
                <a:uLnTx/>
                <a:uFillTx/>
                <a:latin typeface="Segoe UI Semibold"/>
                <a:ea typeface="+mn-ea"/>
                <a:cs typeface="Segoe UI Semibold" panose="020B0502040204020203" pitchFamily="34" charset="0"/>
              </a:rPr>
              <a:t>Plan a responsible generative AI solution</a:t>
            </a:r>
            <a:endParaRPr lang="en-US" dirty="0"/>
          </a:p>
        </p:txBody>
      </p:sp>
      <p:sp>
        <p:nvSpPr>
          <p:cNvPr id="3" name="Text Placeholder 2">
            <a:extLst>
              <a:ext uri="{FF2B5EF4-FFF2-40B4-BE49-F238E27FC236}">
                <a16:creationId xmlns:a16="http://schemas.microsoft.com/office/drawing/2014/main" id="{4BE62073-D441-59F8-454A-5269F6E54287}"/>
              </a:ext>
            </a:extLst>
          </p:cNvPr>
          <p:cNvSpPr>
            <a:spLocks noGrp="1"/>
          </p:cNvSpPr>
          <p:nvPr>
            <p:ph type="body" sz="quarter" idx="15"/>
          </p:nvPr>
        </p:nvSpPr>
        <p:spPr>
          <a:xfrm>
            <a:off x="588262" y="2083499"/>
            <a:ext cx="6451610" cy="3231654"/>
          </a:xfrm>
        </p:spPr>
        <p:txBody>
          <a:bodyPr/>
          <a:lstStyle/>
          <a:p>
            <a:pPr marL="342900" indent="-342900">
              <a:spcBef>
                <a:spcPts val="1200"/>
              </a:spcBef>
              <a:buFont typeface="+mj-lt"/>
              <a:buAutoNum type="arabicPeriod"/>
            </a:pPr>
            <a:r>
              <a:rPr lang="en-US" sz="2000" b="1" dirty="0"/>
              <a:t>Map</a:t>
            </a:r>
            <a:r>
              <a:rPr lang="en-US" sz="2000" dirty="0"/>
              <a:t> potential harms </a:t>
            </a:r>
            <a:r>
              <a:rPr lang="en-US" sz="2000" noProof="0" dirty="0"/>
              <a:t>that are relevant to your planned solution</a:t>
            </a:r>
            <a:endParaRPr lang="en-US" sz="2000" dirty="0"/>
          </a:p>
          <a:p>
            <a:pPr marL="342900" indent="-342900">
              <a:spcBef>
                <a:spcPts val="1200"/>
              </a:spcBef>
              <a:buFont typeface="+mj-lt"/>
              <a:buAutoNum type="arabicPeriod"/>
            </a:pPr>
            <a:r>
              <a:rPr lang="en-US" sz="2000" b="1" dirty="0"/>
              <a:t>Measure</a:t>
            </a:r>
            <a:r>
              <a:rPr lang="en-US" sz="2000" dirty="0"/>
              <a:t> the presence of these harms in the outputs generated by your solution</a:t>
            </a:r>
          </a:p>
          <a:p>
            <a:pPr marL="342900" indent="-342900">
              <a:spcBef>
                <a:spcPts val="1200"/>
              </a:spcBef>
              <a:buFont typeface="+mj-lt"/>
              <a:buAutoNum type="arabicPeriod"/>
            </a:pPr>
            <a:r>
              <a:rPr lang="en-US" sz="2000" b="1" dirty="0"/>
              <a:t>Mitigate</a:t>
            </a:r>
            <a:r>
              <a:rPr lang="en-US" sz="2000" dirty="0"/>
              <a:t> the harms at multiple layers in your solution </a:t>
            </a:r>
          </a:p>
          <a:p>
            <a:pPr marL="342900" indent="-342900">
              <a:spcBef>
                <a:spcPts val="1200"/>
              </a:spcBef>
              <a:buFont typeface="+mj-lt"/>
              <a:buAutoNum type="arabicPeriod"/>
            </a:pPr>
            <a:r>
              <a:rPr lang="en-US" sz="2000" b="1" dirty="0"/>
              <a:t>Manage</a:t>
            </a:r>
            <a:r>
              <a:rPr lang="en-US" sz="2000" dirty="0"/>
              <a:t> the solution responsibly by defining and following a deployment and operational readiness plan</a:t>
            </a:r>
          </a:p>
        </p:txBody>
      </p:sp>
      <p:sp>
        <p:nvSpPr>
          <p:cNvPr id="4" name="Footer Placeholder 3">
            <a:extLst>
              <a:ext uri="{FF2B5EF4-FFF2-40B4-BE49-F238E27FC236}">
                <a16:creationId xmlns:a16="http://schemas.microsoft.com/office/drawing/2014/main" id="{2B4FDA13-1E96-BC71-9439-72306D02940A}"/>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8" name="Group 27" descr="Diagram of four layers: model, safety system, system message &amp; grounding, and user experience.">
            <a:extLst>
              <a:ext uri="{FF2B5EF4-FFF2-40B4-BE49-F238E27FC236}">
                <a16:creationId xmlns:a16="http://schemas.microsoft.com/office/drawing/2014/main" id="{27DD94C5-7294-D93B-435C-1EC4D5A9368A}"/>
              </a:ext>
            </a:extLst>
          </p:cNvPr>
          <p:cNvGrpSpPr/>
          <p:nvPr/>
        </p:nvGrpSpPr>
        <p:grpSpPr>
          <a:xfrm>
            <a:off x="7039872" y="1757466"/>
            <a:ext cx="3771291" cy="3938285"/>
            <a:chOff x="7039872" y="1757466"/>
            <a:chExt cx="3771291" cy="3938285"/>
          </a:xfrm>
        </p:grpSpPr>
        <p:grpSp>
          <p:nvGrpSpPr>
            <p:cNvPr id="26" name="Group 25">
              <a:extLst>
                <a:ext uri="{FF2B5EF4-FFF2-40B4-BE49-F238E27FC236}">
                  <a16:creationId xmlns:a16="http://schemas.microsoft.com/office/drawing/2014/main" id="{B7EAA1E7-CF5F-EEAA-5C92-85E22E3522BE}"/>
                </a:ext>
              </a:extLst>
            </p:cNvPr>
            <p:cNvGrpSpPr/>
            <p:nvPr/>
          </p:nvGrpSpPr>
          <p:grpSpPr>
            <a:xfrm>
              <a:off x="7631080" y="1757466"/>
              <a:ext cx="3180083" cy="3938285"/>
              <a:chOff x="7503268" y="1815830"/>
              <a:chExt cx="3180083" cy="3938285"/>
            </a:xfrm>
          </p:grpSpPr>
          <p:pic>
            <p:nvPicPr>
              <p:cNvPr id="9" name="Graphic 8" descr="Browser window with solid fill">
                <a:extLst>
                  <a:ext uri="{FF2B5EF4-FFF2-40B4-BE49-F238E27FC236}">
                    <a16:creationId xmlns:a16="http://schemas.microsoft.com/office/drawing/2014/main" id="{91F76E9E-AFD5-2619-AC95-57FFFD564A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8650" y="2048379"/>
                <a:ext cx="479332" cy="479332"/>
              </a:xfrm>
              <a:prstGeom prst="rect">
                <a:avLst/>
              </a:prstGeom>
            </p:spPr>
          </p:pic>
          <p:pic>
            <p:nvPicPr>
              <p:cNvPr id="10" name="Graphic 9" descr="Shield Tick with solid fill">
                <a:extLst>
                  <a:ext uri="{FF2B5EF4-FFF2-40B4-BE49-F238E27FC236}">
                    <a16:creationId xmlns:a16="http://schemas.microsoft.com/office/drawing/2014/main" id="{0D7CBD1A-8D25-2759-F166-42D0025596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98650" y="3796223"/>
                <a:ext cx="479332" cy="479332"/>
              </a:xfrm>
              <a:prstGeom prst="rect">
                <a:avLst/>
              </a:prstGeom>
            </p:spPr>
          </p:pic>
          <p:sp>
            <p:nvSpPr>
              <p:cNvPr id="12" name="Rectangle: Rounded Corners 11">
                <a:extLst>
                  <a:ext uri="{FF2B5EF4-FFF2-40B4-BE49-F238E27FC236}">
                    <a16:creationId xmlns:a16="http://schemas.microsoft.com/office/drawing/2014/main" id="{6FED20DB-0667-F1C0-1576-D18F4990BA3B}"/>
                  </a:ext>
                </a:extLst>
              </p:cNvPr>
              <p:cNvSpPr/>
              <p:nvPr/>
            </p:nvSpPr>
            <p:spPr>
              <a:xfrm>
                <a:off x="8055179" y="4354912"/>
                <a:ext cx="2076260" cy="1105174"/>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sp>
            <p:nvSpPr>
              <p:cNvPr id="13" name="Rectangle: Rounded Corners 12">
                <a:extLst>
                  <a:ext uri="{FF2B5EF4-FFF2-40B4-BE49-F238E27FC236}">
                    <a16:creationId xmlns:a16="http://schemas.microsoft.com/office/drawing/2014/main" id="{0D5CCF1E-33F4-9EAE-2878-9C500D6D699F}"/>
                  </a:ext>
                </a:extLst>
              </p:cNvPr>
              <p:cNvSpPr/>
              <p:nvPr/>
            </p:nvSpPr>
            <p:spPr>
              <a:xfrm>
                <a:off x="7804252" y="3483405"/>
                <a:ext cx="2578114" cy="2055622"/>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sp>
            <p:nvSpPr>
              <p:cNvPr id="14" name="Rectangle: Rounded Corners 13">
                <a:extLst>
                  <a:ext uri="{FF2B5EF4-FFF2-40B4-BE49-F238E27FC236}">
                    <a16:creationId xmlns:a16="http://schemas.microsoft.com/office/drawing/2014/main" id="{B7E4DE64-4FCC-F3EE-8DDF-C994A0387A69}"/>
                  </a:ext>
                </a:extLst>
              </p:cNvPr>
              <p:cNvSpPr/>
              <p:nvPr/>
            </p:nvSpPr>
            <p:spPr>
              <a:xfrm>
                <a:off x="7645387" y="2527712"/>
                <a:ext cx="2895844" cy="3127432"/>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sp>
            <p:nvSpPr>
              <p:cNvPr id="15" name="Rectangle: Rounded Corners 14">
                <a:extLst>
                  <a:ext uri="{FF2B5EF4-FFF2-40B4-BE49-F238E27FC236}">
                    <a16:creationId xmlns:a16="http://schemas.microsoft.com/office/drawing/2014/main" id="{899749D6-8DC1-AA20-A8E2-EE70FE720EE5}"/>
                  </a:ext>
                </a:extLst>
              </p:cNvPr>
              <p:cNvSpPr/>
              <p:nvPr/>
            </p:nvSpPr>
            <p:spPr>
              <a:xfrm>
                <a:off x="7503268" y="1815830"/>
                <a:ext cx="3180083" cy="393828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Graphic 6" descr="Speech with solid fill">
                <a:extLst>
                  <a:ext uri="{FF2B5EF4-FFF2-40B4-BE49-F238E27FC236}">
                    <a16:creationId xmlns:a16="http://schemas.microsoft.com/office/drawing/2014/main" id="{82100586-2F36-CFC8-BDE9-473725E66C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8748596" y="2931107"/>
                <a:ext cx="601616" cy="601616"/>
              </a:xfrm>
              <a:prstGeom prst="rect">
                <a:avLst/>
              </a:prstGeom>
            </p:spPr>
          </p:pic>
          <p:sp>
            <p:nvSpPr>
              <p:cNvPr id="20" name="TextBox 19">
                <a:extLst>
                  <a:ext uri="{FF2B5EF4-FFF2-40B4-BE49-F238E27FC236}">
                    <a16:creationId xmlns:a16="http://schemas.microsoft.com/office/drawing/2014/main" id="{9CA6650D-B46D-BAC0-6A73-F8B5CEE7DAF0}"/>
                  </a:ext>
                </a:extLst>
              </p:cNvPr>
              <p:cNvSpPr txBox="1"/>
              <p:nvPr/>
            </p:nvSpPr>
            <p:spPr>
              <a:xfrm>
                <a:off x="8816221" y="4380225"/>
                <a:ext cx="581891"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BF3AC4"/>
                    </a:solidFill>
                    <a:effectLst/>
                    <a:uLnTx/>
                    <a:uFillTx/>
                    <a:latin typeface="Segoe UI"/>
                    <a:ea typeface="+mn-ea"/>
                    <a:cs typeface="+mn-cs"/>
                  </a:rPr>
                  <a:t>Model</a:t>
                </a:r>
              </a:p>
            </p:txBody>
          </p:sp>
          <p:sp>
            <p:nvSpPr>
              <p:cNvPr id="21" name="TextBox 20">
                <a:extLst>
                  <a:ext uri="{FF2B5EF4-FFF2-40B4-BE49-F238E27FC236}">
                    <a16:creationId xmlns:a16="http://schemas.microsoft.com/office/drawing/2014/main" id="{7205469E-4DA4-140B-504E-0E4B15DD55A6}"/>
                  </a:ext>
                </a:extLst>
              </p:cNvPr>
              <p:cNvSpPr txBox="1"/>
              <p:nvPr/>
            </p:nvSpPr>
            <p:spPr>
              <a:xfrm>
                <a:off x="8492917" y="3531882"/>
                <a:ext cx="1232710"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BF3AC4"/>
                    </a:solidFill>
                    <a:effectLst/>
                    <a:uLnTx/>
                    <a:uFillTx/>
                    <a:latin typeface="Segoe UI"/>
                    <a:ea typeface="+mn-ea"/>
                    <a:cs typeface="+mn-cs"/>
                  </a:rPr>
                  <a:t>Safety system</a:t>
                </a:r>
              </a:p>
            </p:txBody>
          </p:sp>
          <p:sp>
            <p:nvSpPr>
              <p:cNvPr id="22" name="TextBox 21">
                <a:extLst>
                  <a:ext uri="{FF2B5EF4-FFF2-40B4-BE49-F238E27FC236}">
                    <a16:creationId xmlns:a16="http://schemas.microsoft.com/office/drawing/2014/main" id="{16CF84B0-3161-8E3A-33DB-5776852A7DF4}"/>
                  </a:ext>
                </a:extLst>
              </p:cNvPr>
              <p:cNvSpPr txBox="1"/>
              <p:nvPr/>
            </p:nvSpPr>
            <p:spPr>
              <a:xfrm>
                <a:off x="7779684" y="2743076"/>
                <a:ext cx="2708114"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BF3AC4"/>
                    </a:solidFill>
                    <a:effectLst/>
                    <a:uLnTx/>
                    <a:uFillTx/>
                    <a:latin typeface="Segoe UI"/>
                    <a:ea typeface="+mn-ea"/>
                    <a:cs typeface="+mn-cs"/>
                  </a:rPr>
                  <a:t>System message &amp; grounding</a:t>
                </a:r>
              </a:p>
            </p:txBody>
          </p:sp>
          <p:sp>
            <p:nvSpPr>
              <p:cNvPr id="23" name="TextBox 22">
                <a:extLst>
                  <a:ext uri="{FF2B5EF4-FFF2-40B4-BE49-F238E27FC236}">
                    <a16:creationId xmlns:a16="http://schemas.microsoft.com/office/drawing/2014/main" id="{8931A526-C1AC-1C01-C8F1-B5E06AC394EF}"/>
                  </a:ext>
                </a:extLst>
              </p:cNvPr>
              <p:cNvSpPr txBox="1"/>
              <p:nvPr/>
            </p:nvSpPr>
            <p:spPr>
              <a:xfrm>
                <a:off x="8390275" y="1823755"/>
                <a:ext cx="1439497"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BF3AC4"/>
                    </a:solidFill>
                    <a:effectLst/>
                    <a:uLnTx/>
                    <a:uFillTx/>
                    <a:latin typeface="Segoe UI"/>
                    <a:ea typeface="+mn-ea"/>
                    <a:cs typeface="+mn-cs"/>
                  </a:rPr>
                  <a:t>User experience</a:t>
                </a:r>
              </a:p>
            </p:txBody>
          </p:sp>
          <p:pic>
            <p:nvPicPr>
              <p:cNvPr id="25" name="Graphic 24" descr="Cube with solid fill">
                <a:extLst>
                  <a:ext uri="{FF2B5EF4-FFF2-40B4-BE49-F238E27FC236}">
                    <a16:creationId xmlns:a16="http://schemas.microsoft.com/office/drawing/2014/main" id="{3402CFB6-ACB3-B8F8-C3D0-B14DA9AA5E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99350" y="4675026"/>
                <a:ext cx="528229" cy="528229"/>
              </a:xfrm>
              <a:prstGeom prst="rect">
                <a:avLst/>
              </a:prstGeom>
            </p:spPr>
          </p:pic>
        </p:grpSp>
        <p:sp>
          <p:nvSpPr>
            <p:cNvPr id="27" name="Left Brace 26">
              <a:extLst>
                <a:ext uri="{FF2B5EF4-FFF2-40B4-BE49-F238E27FC236}">
                  <a16:creationId xmlns:a16="http://schemas.microsoft.com/office/drawing/2014/main" id="{C096BD32-617B-89A6-6B3B-79B8C9EDA40C}"/>
                </a:ext>
              </a:extLst>
            </p:cNvPr>
            <p:cNvSpPr/>
            <p:nvPr/>
          </p:nvSpPr>
          <p:spPr>
            <a:xfrm>
              <a:off x="7039872" y="1757466"/>
              <a:ext cx="390169" cy="3938285"/>
            </a:xfrm>
            <a:prstGeom prst="leftBrace">
              <a:avLst>
                <a:gd name="adj1" fmla="val 8333"/>
                <a:gd name="adj2" fmla="val 51635"/>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1577462760"/>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8DF5-4B9C-DA9D-92CB-ED26F73C57A5}"/>
              </a:ext>
            </a:extLst>
          </p:cNvPr>
          <p:cNvSpPr>
            <a:spLocks noGrp="1"/>
          </p:cNvSpPr>
          <p:nvPr>
            <p:ph type="title"/>
          </p:nvPr>
        </p:nvSpPr>
        <p:spPr>
          <a:xfrm>
            <a:off x="588262" y="585216"/>
            <a:ext cx="11013474" cy="492443"/>
          </a:xfrm>
        </p:spPr>
        <p:txBody>
          <a:bodyPr/>
          <a:lstStyle/>
          <a:p>
            <a:r>
              <a:rPr lang="en-US" sz="3200" dirty="0">
                <a:solidFill>
                  <a:srgbClr val="000000"/>
                </a:solidFill>
                <a:latin typeface="Segoe UI Semibold"/>
              </a:rPr>
              <a:t>Guardrails</a:t>
            </a:r>
          </a:p>
        </p:txBody>
      </p:sp>
      <p:sp>
        <p:nvSpPr>
          <p:cNvPr id="3" name="Text Placeholder 2">
            <a:extLst>
              <a:ext uri="{FF2B5EF4-FFF2-40B4-BE49-F238E27FC236}">
                <a16:creationId xmlns:a16="http://schemas.microsoft.com/office/drawing/2014/main" id="{90B94450-61A4-D375-D66B-3B83795BC977}"/>
              </a:ext>
            </a:extLst>
          </p:cNvPr>
          <p:cNvSpPr>
            <a:spLocks noGrp="1"/>
          </p:cNvSpPr>
          <p:nvPr>
            <p:ph type="body" sz="quarter" idx="15"/>
          </p:nvPr>
        </p:nvSpPr>
        <p:spPr>
          <a:xfrm>
            <a:off x="634566" y="1322331"/>
            <a:ext cx="11013474" cy="307777"/>
          </a:xfrm>
        </p:spPr>
        <p:txBody>
          <a:bodyPr/>
          <a:lstStyle/>
          <a:p>
            <a:pPr marL="0" indent="0">
              <a:buNone/>
            </a:pPr>
            <a:r>
              <a:rPr lang="en-US" sz="2000" dirty="0"/>
              <a:t>Collections of </a:t>
            </a:r>
            <a:r>
              <a:rPr lang="en-US" sz="2000" i="1" dirty="0"/>
              <a:t>controls</a:t>
            </a:r>
            <a:r>
              <a:rPr lang="en-US" sz="2000" dirty="0"/>
              <a:t> to detect and mitigate risk</a:t>
            </a:r>
          </a:p>
        </p:txBody>
      </p:sp>
      <p:graphicFrame>
        <p:nvGraphicFramePr>
          <p:cNvPr id="5" name="Table 4">
            <a:extLst>
              <a:ext uri="{FF2B5EF4-FFF2-40B4-BE49-F238E27FC236}">
                <a16:creationId xmlns:a16="http://schemas.microsoft.com/office/drawing/2014/main" id="{18828A62-F73B-6D68-ED77-1016DFCBB382}"/>
              </a:ext>
            </a:extLst>
          </p:cNvPr>
          <p:cNvGraphicFramePr>
            <a:graphicFrameLocks noGrp="1"/>
          </p:cNvGraphicFramePr>
          <p:nvPr>
            <p:extLst>
              <p:ext uri="{D42A27DB-BD31-4B8C-83A1-F6EECF244321}">
                <p14:modId xmlns:p14="http://schemas.microsoft.com/office/powerpoint/2010/main" val="2091530121"/>
              </p:ext>
            </p:extLst>
          </p:nvPr>
        </p:nvGraphicFramePr>
        <p:xfrm>
          <a:off x="642389" y="1716124"/>
          <a:ext cx="10905220" cy="4443696"/>
        </p:xfrm>
        <a:graphic>
          <a:graphicData uri="http://schemas.openxmlformats.org/drawingml/2006/table">
            <a:tbl>
              <a:tblPr firstRow="1" bandRow="1">
                <a:tableStyleId>{72833802-FEF1-4C79-8D5D-14CF1EAF98D9}</a:tableStyleId>
              </a:tblPr>
              <a:tblGrid>
                <a:gridCol w="2983461">
                  <a:extLst>
                    <a:ext uri="{9D8B030D-6E8A-4147-A177-3AD203B41FA5}">
                      <a16:colId xmlns:a16="http://schemas.microsoft.com/office/drawing/2014/main" val="4294025085"/>
                    </a:ext>
                  </a:extLst>
                </a:gridCol>
                <a:gridCol w="7921759">
                  <a:extLst>
                    <a:ext uri="{9D8B030D-6E8A-4147-A177-3AD203B41FA5}">
                      <a16:colId xmlns:a16="http://schemas.microsoft.com/office/drawing/2014/main" val="392215767"/>
                    </a:ext>
                  </a:extLst>
                </a:gridCol>
              </a:tblGrid>
              <a:tr h="317857">
                <a:tc>
                  <a:txBody>
                    <a:bodyPr/>
                    <a:lstStyle/>
                    <a:p>
                      <a:pPr algn="l"/>
                      <a:r>
                        <a:rPr lang="en-US" sz="1400" b="0" dirty="0">
                          <a:solidFill>
                            <a:schemeClr val="tx1"/>
                          </a:solidFill>
                          <a:latin typeface="+mj-lt"/>
                        </a:rPr>
                        <a:t>Violence</a:t>
                      </a:r>
                    </a:p>
                  </a:txBody>
                  <a:tcPr anchor="ctr">
                    <a:solidFill>
                      <a:schemeClr val="bg1"/>
                    </a:solidFill>
                  </a:tcPr>
                </a:tc>
                <a:tc>
                  <a:txBody>
                    <a:bodyPr/>
                    <a:lstStyle/>
                    <a:p>
                      <a:r>
                        <a:rPr lang="en-US" sz="1400" b="0" dirty="0">
                          <a:solidFill>
                            <a:schemeClr val="tx1"/>
                          </a:solidFill>
                          <a:latin typeface="+mn-lt"/>
                        </a:rPr>
                        <a:t>Language related to physical actions intended to cause physical harm or injury or that describes weapons and related entities</a:t>
                      </a:r>
                    </a:p>
                  </a:txBody>
                  <a:tcPr anchor="ctr">
                    <a:solidFill>
                      <a:schemeClr val="bg1"/>
                    </a:solidFill>
                  </a:tcPr>
                </a:tc>
                <a:extLst>
                  <a:ext uri="{0D108BD9-81ED-4DB2-BD59-A6C34878D82A}">
                    <a16:rowId xmlns:a16="http://schemas.microsoft.com/office/drawing/2014/main" val="950768733"/>
                  </a:ext>
                </a:extLst>
              </a:tr>
              <a:tr h="448739">
                <a:tc>
                  <a:txBody>
                    <a:bodyPr/>
                    <a:lstStyle/>
                    <a:p>
                      <a:pPr algn="l"/>
                      <a:r>
                        <a:rPr lang="en-US" sz="1400" b="0" dirty="0">
                          <a:latin typeface="+mj-lt"/>
                        </a:rPr>
                        <a:t>Hate</a:t>
                      </a:r>
                    </a:p>
                  </a:txBody>
                  <a:tcPr anchor="ctr"/>
                </a:tc>
                <a:tc>
                  <a:txBody>
                    <a:bodyPr/>
                    <a:lstStyle/>
                    <a:p>
                      <a:r>
                        <a:rPr lang="en-US" sz="1400" b="0" dirty="0">
                          <a:solidFill>
                            <a:schemeClr val="tx1"/>
                          </a:solidFill>
                          <a:latin typeface="+mn-lt"/>
                        </a:rPr>
                        <a:t>Content that attacks or uses discriminatory language with reference to a person or Identity group based on certain differentiating attributes of these groups</a:t>
                      </a:r>
                    </a:p>
                  </a:txBody>
                  <a:tcPr anchor="ctr"/>
                </a:tc>
                <a:extLst>
                  <a:ext uri="{0D108BD9-81ED-4DB2-BD59-A6C34878D82A}">
                    <a16:rowId xmlns:a16="http://schemas.microsoft.com/office/drawing/2014/main" val="2296457987"/>
                  </a:ext>
                </a:extLst>
              </a:tr>
              <a:tr h="315839">
                <a:tc>
                  <a:txBody>
                    <a:bodyPr/>
                    <a:lstStyle/>
                    <a:p>
                      <a:pPr algn="l"/>
                      <a:r>
                        <a:rPr lang="en-US" sz="1400" b="0" dirty="0">
                          <a:latin typeface="+mj-lt"/>
                        </a:rPr>
                        <a:t>Sexual content</a:t>
                      </a:r>
                    </a:p>
                  </a:txBody>
                  <a:tcPr anchor="ctr"/>
                </a:tc>
                <a:tc>
                  <a:txBody>
                    <a:bodyPr/>
                    <a:lstStyle/>
                    <a:p>
                      <a:r>
                        <a:rPr lang="en-US" sz="1400" b="0" dirty="0">
                          <a:latin typeface="+mn-lt"/>
                        </a:rPr>
                        <a:t>Language related to sexual anatomy, romantic relationships and sexual acts</a:t>
                      </a:r>
                    </a:p>
                  </a:txBody>
                  <a:tcPr anchor="ctr"/>
                </a:tc>
                <a:extLst>
                  <a:ext uri="{0D108BD9-81ED-4DB2-BD59-A6C34878D82A}">
                    <a16:rowId xmlns:a16="http://schemas.microsoft.com/office/drawing/2014/main" val="3390222183"/>
                  </a:ext>
                </a:extLst>
              </a:tr>
              <a:tr h="317857">
                <a:tc>
                  <a:txBody>
                    <a:bodyPr/>
                    <a:lstStyle/>
                    <a:p>
                      <a:pPr algn="l"/>
                      <a:r>
                        <a:rPr lang="en-US" sz="1400" b="0" dirty="0">
                          <a:latin typeface="+mj-lt"/>
                        </a:rPr>
                        <a:t>Self-harm</a:t>
                      </a:r>
                    </a:p>
                  </a:txBody>
                  <a:tcPr anchor="ctr"/>
                </a:tc>
                <a:tc>
                  <a:txBody>
                    <a:bodyPr/>
                    <a:lstStyle/>
                    <a:p>
                      <a:r>
                        <a:rPr lang="en-US" sz="1400" b="0" dirty="0">
                          <a:latin typeface="+mn-lt"/>
                        </a:rPr>
                        <a:t>Language related to physical actions intended to purposely cause physical harm to oneself</a:t>
                      </a:r>
                    </a:p>
                  </a:txBody>
                  <a:tcPr anchor="ctr"/>
                </a:tc>
                <a:extLst>
                  <a:ext uri="{0D108BD9-81ED-4DB2-BD59-A6C34878D82A}">
                    <a16:rowId xmlns:a16="http://schemas.microsoft.com/office/drawing/2014/main" val="2896427074"/>
                  </a:ext>
                </a:extLst>
              </a:tr>
              <a:tr h="227486">
                <a:tc>
                  <a:txBody>
                    <a:bodyPr/>
                    <a:lstStyle/>
                    <a:p>
                      <a:pPr marL="0" algn="l" defTabSz="932742" rtl="0" eaLnBrk="1" fontAlgn="t" latinLnBrk="0" hangingPunct="1">
                        <a:buNone/>
                      </a:pPr>
                      <a:r>
                        <a:rPr lang="en-US" sz="1400" b="0" kern="1200" dirty="0">
                          <a:solidFill>
                            <a:schemeClr val="tx1"/>
                          </a:solidFill>
                          <a:latin typeface="+mj-lt"/>
                          <a:ea typeface="+mn-ea"/>
                          <a:cs typeface="+mn-cs"/>
                        </a:rPr>
                        <a:t>User prompt attacks</a:t>
                      </a:r>
                    </a:p>
                  </a:txBody>
                  <a:tcPr anchor="ctr"/>
                </a:tc>
                <a:tc>
                  <a:txBody>
                    <a:bodyPr/>
                    <a:lstStyle/>
                    <a:p>
                      <a:r>
                        <a:rPr lang="en-US" sz="1400" b="0" dirty="0">
                          <a:latin typeface="+mn-lt"/>
                        </a:rPr>
                        <a:t>User attempts to circumvent system rules – for example by changing the system prompt</a:t>
                      </a:r>
                    </a:p>
                  </a:txBody>
                  <a:tcPr anchor="ctr"/>
                </a:tc>
                <a:extLst>
                  <a:ext uri="{0D108BD9-81ED-4DB2-BD59-A6C34878D82A}">
                    <a16:rowId xmlns:a16="http://schemas.microsoft.com/office/drawing/2014/main" val="1826199071"/>
                  </a:ext>
                </a:extLst>
              </a:tr>
              <a:tr h="227486">
                <a:tc>
                  <a:txBody>
                    <a:bodyPr/>
                    <a:lstStyle/>
                    <a:p>
                      <a:pPr marL="0" algn="l" defTabSz="932742" rtl="0" eaLnBrk="1" fontAlgn="t" latinLnBrk="0" hangingPunct="1">
                        <a:buNone/>
                      </a:pPr>
                      <a:r>
                        <a:rPr lang="en-US" sz="1400" b="0" kern="1200" dirty="0">
                          <a:solidFill>
                            <a:schemeClr val="tx1"/>
                          </a:solidFill>
                          <a:latin typeface="+mj-lt"/>
                          <a:ea typeface="+mn-ea"/>
                          <a:cs typeface="+mn-cs"/>
                        </a:rPr>
                        <a:t>Indirect attacks</a:t>
                      </a:r>
                    </a:p>
                  </a:txBody>
                  <a:tcPr anchor="ctr"/>
                </a:tc>
                <a:tc>
                  <a:txBody>
                    <a:bodyPr/>
                    <a:lstStyle/>
                    <a:p>
                      <a:r>
                        <a:rPr lang="en-US" sz="1400" b="0" dirty="0">
                          <a:latin typeface="+mn-lt"/>
                        </a:rPr>
                        <a:t>Attacker attempts to embed instructions in grounded data provided by the user to maliciously gain control of the system</a:t>
                      </a:r>
                    </a:p>
                  </a:txBody>
                  <a:tcPr anchor="ctr"/>
                </a:tc>
                <a:extLst>
                  <a:ext uri="{0D108BD9-81ED-4DB2-BD59-A6C34878D82A}">
                    <a16:rowId xmlns:a16="http://schemas.microsoft.com/office/drawing/2014/main" val="4291039472"/>
                  </a:ext>
                </a:extLst>
              </a:tr>
              <a:tr h="227486">
                <a:tc>
                  <a:txBody>
                    <a:bodyPr/>
                    <a:lstStyle/>
                    <a:p>
                      <a:pPr marL="0" algn="l" defTabSz="932742" rtl="0" eaLnBrk="1" fontAlgn="t" latinLnBrk="0" hangingPunct="1">
                        <a:buNone/>
                      </a:pPr>
                      <a:r>
                        <a:rPr lang="en-US" sz="1400" b="0" kern="1200" dirty="0">
                          <a:solidFill>
                            <a:schemeClr val="tx1"/>
                          </a:solidFill>
                          <a:latin typeface="+mj-lt"/>
                          <a:ea typeface="+mn-ea"/>
                          <a:cs typeface="+mn-cs"/>
                        </a:rPr>
                        <a:t>Spotlighting</a:t>
                      </a:r>
                    </a:p>
                  </a:txBody>
                  <a:tcPr anchor="ctr"/>
                </a:tc>
                <a:tc>
                  <a:txBody>
                    <a:bodyPr/>
                    <a:lstStyle/>
                    <a:p>
                      <a:r>
                        <a:rPr lang="en-US" sz="1400" b="0" dirty="0">
                          <a:latin typeface="+mn-lt"/>
                        </a:rPr>
                        <a:t>Enhanced protection against indirect attacks when your application processes third-party documents that might contain embedded malicious instructions</a:t>
                      </a:r>
                    </a:p>
                  </a:txBody>
                  <a:tcPr anchor="ctr"/>
                </a:tc>
                <a:extLst>
                  <a:ext uri="{0D108BD9-81ED-4DB2-BD59-A6C34878D82A}">
                    <a16:rowId xmlns:a16="http://schemas.microsoft.com/office/drawing/2014/main" val="3417873376"/>
                  </a:ext>
                </a:extLst>
              </a:tr>
              <a:tr h="227486">
                <a:tc>
                  <a:txBody>
                    <a:bodyPr/>
                    <a:lstStyle/>
                    <a:p>
                      <a:pPr marL="0" algn="l" defTabSz="932742" rtl="0" eaLnBrk="1" fontAlgn="t" latinLnBrk="0" hangingPunct="1">
                        <a:buNone/>
                      </a:pPr>
                      <a:r>
                        <a:rPr lang="en-US" sz="1400" b="0" kern="1200" dirty="0">
                          <a:solidFill>
                            <a:schemeClr val="tx1"/>
                          </a:solidFill>
                          <a:latin typeface="+mj-lt"/>
                          <a:ea typeface="+mn-ea"/>
                          <a:cs typeface="+mn-cs"/>
                        </a:rPr>
                        <a:t>Protected material for code</a:t>
                      </a:r>
                    </a:p>
                  </a:txBody>
                  <a:tcPr anchor="ctr"/>
                </a:tc>
                <a:tc>
                  <a:txBody>
                    <a:bodyPr/>
                    <a:lstStyle/>
                    <a:p>
                      <a:r>
                        <a:rPr lang="en-US" sz="1400" b="0" dirty="0">
                          <a:latin typeface="+mn-lt"/>
                        </a:rPr>
                        <a:t>Identifying AI outputs that match code from existing GitHub repositories</a:t>
                      </a:r>
                    </a:p>
                  </a:txBody>
                  <a:tcPr anchor="ctr"/>
                </a:tc>
                <a:extLst>
                  <a:ext uri="{0D108BD9-81ED-4DB2-BD59-A6C34878D82A}">
                    <a16:rowId xmlns:a16="http://schemas.microsoft.com/office/drawing/2014/main" val="3819656101"/>
                  </a:ext>
                </a:extLst>
              </a:tr>
              <a:tr h="227486">
                <a:tc>
                  <a:txBody>
                    <a:bodyPr/>
                    <a:lstStyle/>
                    <a:p>
                      <a:pPr marL="0" algn="l" defTabSz="932742" rtl="0" eaLnBrk="1" fontAlgn="t" latinLnBrk="0" hangingPunct="1">
                        <a:buNone/>
                      </a:pPr>
                      <a:r>
                        <a:rPr lang="en-US" sz="1400" b="0" kern="1200" dirty="0">
                          <a:solidFill>
                            <a:schemeClr val="tx1"/>
                          </a:solidFill>
                          <a:latin typeface="+mj-lt"/>
                          <a:ea typeface="+mn-ea"/>
                          <a:cs typeface="+mn-cs"/>
                        </a:rPr>
                        <a:t>Protected material for text</a:t>
                      </a:r>
                    </a:p>
                  </a:txBody>
                  <a:tcPr anchor="ctr"/>
                </a:tc>
                <a:tc>
                  <a:txBody>
                    <a:bodyPr/>
                    <a:lstStyle/>
                    <a:p>
                      <a:r>
                        <a:rPr lang="en-US" sz="1400" b="0" dirty="0">
                          <a:latin typeface="+mn-lt"/>
                        </a:rPr>
                        <a:t>Identifying content that matches known text from copyrighted sources, such as song lyrics, articles, recipes, or other selected web content</a:t>
                      </a:r>
                    </a:p>
                  </a:txBody>
                  <a:tcPr anchor="ctr"/>
                </a:tc>
                <a:extLst>
                  <a:ext uri="{0D108BD9-81ED-4DB2-BD59-A6C34878D82A}">
                    <a16:rowId xmlns:a16="http://schemas.microsoft.com/office/drawing/2014/main" val="4271667716"/>
                  </a:ext>
                </a:extLst>
              </a:tr>
              <a:tr h="227486">
                <a:tc>
                  <a:txBody>
                    <a:bodyPr/>
                    <a:lstStyle/>
                    <a:p>
                      <a:pPr marL="0" algn="l" defTabSz="932742" rtl="0" eaLnBrk="1" fontAlgn="t" latinLnBrk="0" hangingPunct="1">
                        <a:buNone/>
                      </a:pPr>
                      <a:r>
                        <a:rPr lang="en-US" sz="1400" b="0" kern="1200" dirty="0" err="1">
                          <a:solidFill>
                            <a:schemeClr val="tx1"/>
                          </a:solidFill>
                          <a:latin typeface="+mj-lt"/>
                          <a:ea typeface="+mn-ea"/>
                          <a:cs typeface="+mn-cs"/>
                        </a:rPr>
                        <a:t>Groundedness</a:t>
                      </a:r>
                      <a:endParaRPr lang="en-US" sz="1400" b="0" kern="1200" dirty="0">
                        <a:solidFill>
                          <a:schemeClr val="tx1"/>
                        </a:solidFill>
                        <a:latin typeface="+mj-lt"/>
                        <a:ea typeface="+mn-ea"/>
                        <a:cs typeface="+mn-cs"/>
                      </a:endParaRPr>
                    </a:p>
                  </a:txBody>
                  <a:tcPr anchor="ctr"/>
                </a:tc>
                <a:tc>
                  <a:txBody>
                    <a:bodyPr/>
                    <a:lstStyle/>
                    <a:p>
                      <a:r>
                        <a:rPr lang="en-US" sz="1400" b="0" dirty="0">
                          <a:latin typeface="+mn-lt"/>
                        </a:rPr>
                        <a:t>Ensure that generated content is aligned with factual or intended references in sources</a:t>
                      </a:r>
                    </a:p>
                  </a:txBody>
                  <a:tcPr anchor="ctr"/>
                </a:tc>
                <a:extLst>
                  <a:ext uri="{0D108BD9-81ED-4DB2-BD59-A6C34878D82A}">
                    <a16:rowId xmlns:a16="http://schemas.microsoft.com/office/drawing/2014/main" val="943435144"/>
                  </a:ext>
                </a:extLst>
              </a:tr>
              <a:tr h="227486">
                <a:tc>
                  <a:txBody>
                    <a:bodyPr/>
                    <a:lstStyle/>
                    <a:p>
                      <a:pPr marL="0" algn="l" defTabSz="932742" rtl="0" eaLnBrk="1" fontAlgn="t" latinLnBrk="0" hangingPunct="1">
                        <a:buNone/>
                      </a:pPr>
                      <a:r>
                        <a:rPr lang="en-US" sz="1400" b="0" kern="1200" dirty="0">
                          <a:solidFill>
                            <a:schemeClr val="tx1"/>
                          </a:solidFill>
                          <a:latin typeface="+mj-lt"/>
                          <a:ea typeface="+mn-ea"/>
                          <a:cs typeface="+mn-cs"/>
                        </a:rPr>
                        <a:t>Personally identifiable information</a:t>
                      </a:r>
                    </a:p>
                  </a:txBody>
                  <a:tcPr anchor="ctr"/>
                </a:tc>
                <a:tc>
                  <a:txBody>
                    <a:bodyPr/>
                    <a:lstStyle/>
                    <a:p>
                      <a:r>
                        <a:rPr lang="en-US" sz="1400" b="0" dirty="0">
                          <a:latin typeface="+mn-lt"/>
                        </a:rPr>
                        <a:t>Exposure of PII data, including names, addresses, contact details, and other personal details</a:t>
                      </a:r>
                    </a:p>
                  </a:txBody>
                  <a:tcPr anchor="ctr"/>
                </a:tc>
                <a:extLst>
                  <a:ext uri="{0D108BD9-81ED-4DB2-BD59-A6C34878D82A}">
                    <a16:rowId xmlns:a16="http://schemas.microsoft.com/office/drawing/2014/main" val="4221312469"/>
                  </a:ext>
                </a:extLst>
              </a:tr>
            </a:tbl>
          </a:graphicData>
        </a:graphic>
      </p:graphicFrame>
      <p:sp>
        <p:nvSpPr>
          <p:cNvPr id="4" name="Footer Placeholder 3">
            <a:extLst>
              <a:ext uri="{FF2B5EF4-FFF2-40B4-BE49-F238E27FC236}">
                <a16:creationId xmlns:a16="http://schemas.microsoft.com/office/drawing/2014/main" id="{49B0CD66-2DDF-5FD4-398C-1868CAA7B75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7084374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4489A-E637-15AD-E012-109900A18804}"/>
            </a:ext>
          </a:extLst>
        </p:cNvPr>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F74D6D69-F2DB-D5F3-EBA2-0CB2F387B505}"/>
              </a:ex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32" r="132"/>
          <a:stretch/>
        </p:blipFill>
        <p:spPr/>
      </p:pic>
      <p:sp>
        <p:nvSpPr>
          <p:cNvPr id="5" name="Title 4">
            <a:extLst>
              <a:ext uri="{FF2B5EF4-FFF2-40B4-BE49-F238E27FC236}">
                <a16:creationId xmlns:a16="http://schemas.microsoft.com/office/drawing/2014/main" id="{93B95085-303F-0F25-AD2A-4E038A443F33}"/>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39F933B9-724E-404B-EA0D-FF2D7CD6818C}"/>
              </a:ext>
            </a:extLst>
          </p:cNvPr>
          <p:cNvSpPr>
            <a:spLocks noGrp="1"/>
          </p:cNvSpPr>
          <p:nvPr>
            <p:ph type="body" sz="quarter" idx="16"/>
          </p:nvPr>
        </p:nvSpPr>
        <p:spPr>
          <a:xfrm>
            <a:off x="579438" y="1248004"/>
            <a:ext cx="5999481" cy="615553"/>
          </a:xfrm>
        </p:spPr>
        <p:txBody>
          <a:bodyPr/>
          <a:lstStyle/>
          <a:p>
            <a:r>
              <a:rPr lang="en-US" sz="2000" dirty="0"/>
              <a:t>Apply content filters to prevent the output of harmful content</a:t>
            </a:r>
          </a:p>
        </p:txBody>
      </p:sp>
      <p:sp>
        <p:nvSpPr>
          <p:cNvPr id="6" name="Text Placeholder 5">
            <a:extLst>
              <a:ext uri="{FF2B5EF4-FFF2-40B4-BE49-F238E27FC236}">
                <a16:creationId xmlns:a16="http://schemas.microsoft.com/office/drawing/2014/main" id="{47F93EBA-31D7-A6AE-F9CC-2CA4D68386F8}"/>
              </a:ext>
            </a:extLst>
          </p:cNvPr>
          <p:cNvSpPr>
            <a:spLocks noGrp="1"/>
          </p:cNvSpPr>
          <p:nvPr>
            <p:ph type="body" sz="quarter" idx="15"/>
          </p:nvPr>
        </p:nvSpPr>
        <p:spPr>
          <a:xfrm>
            <a:off x="586389" y="1952762"/>
            <a:ext cx="5652201" cy="738664"/>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Microsoft Foundry portal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Chat using the default guardrail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and apply a custom guardrail</a:t>
            </a:r>
            <a:endParaRPr lang="en-US" dirty="0">
              <a:solidFill>
                <a:srgbClr val="000000"/>
              </a:solidFill>
              <a:latin typeface="Segoe UI"/>
              <a:cs typeface="+mn-cs"/>
            </a:endParaRPr>
          </a:p>
        </p:txBody>
      </p:sp>
      <p:sp>
        <p:nvSpPr>
          <p:cNvPr id="10" name="TextBox 9">
            <a:extLst>
              <a:ext uri="{FF2B5EF4-FFF2-40B4-BE49-F238E27FC236}">
                <a16:creationId xmlns:a16="http://schemas.microsoft.com/office/drawing/2014/main" id="{BDCD7E8E-15AD-FA07-993E-90B3A0FD6EDF}"/>
              </a:ext>
            </a:extLst>
          </p:cNvPr>
          <p:cNvSpPr txBox="1"/>
          <p:nvPr/>
        </p:nvSpPr>
        <p:spPr>
          <a:xfrm>
            <a:off x="487330" y="3710970"/>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4"/>
              </a:rPr>
              <a:t>https://go.microsoft.com/fwlink/?linkid=2353440</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4878D65D-19B0-C923-07DC-663854BA0CB2}"/>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11" name="Flowchart: Off-page Connector 44">
            <a:extLst>
              <a:ext uri="{FF2B5EF4-FFF2-40B4-BE49-F238E27FC236}">
                <a16:creationId xmlns:a16="http://schemas.microsoft.com/office/drawing/2014/main" id="{94CFC71C-699F-47EB-31E5-6A2998099F9D}"/>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403635736"/>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noProof="0" dirty="0"/>
              <a:t>Knowledge check</a:t>
            </a:r>
          </a:p>
        </p:txBody>
      </p:sp>
      <p:sp>
        <p:nvSpPr>
          <p:cNvPr id="10" name="Text Placeholder 9">
            <a:extLst>
              <a:ext uri="{FF2B5EF4-FFF2-40B4-BE49-F238E27FC236}">
                <a16:creationId xmlns:a16="http://schemas.microsoft.com/office/drawing/2014/main" id="{2BB91D5E-20DE-97FE-6AAB-A18132335615}"/>
              </a:ext>
            </a:extLst>
          </p:cNvPr>
          <p:cNvSpPr>
            <a:spLocks noGrp="1"/>
          </p:cNvSpPr>
          <p:nvPr>
            <p:ph type="body" sz="quarter" idx="17"/>
          </p:nvPr>
        </p:nvSpPr>
        <p:spPr>
          <a:xfrm>
            <a:off x="1235075" y="1687706"/>
            <a:ext cx="8778782" cy="215444"/>
          </a:xfrm>
        </p:spPr>
        <p:txBody>
          <a:bodyPr/>
          <a:lstStyle/>
          <a:p>
            <a:r>
              <a:rPr lang="en-US" b="1" noProof="0" dirty="0"/>
              <a:t>Why should you consider creating an AI Impact Assessment when designing a generative </a:t>
            </a:r>
            <a:r>
              <a:rPr lang="en-US" b="1" noProof="0"/>
              <a:t>AI solution?</a:t>
            </a:r>
            <a:endParaRPr lang="en-US" b="1" noProof="0" dirty="0"/>
          </a:p>
        </p:txBody>
      </p:sp>
      <p:sp>
        <p:nvSpPr>
          <p:cNvPr id="9" name="Text Placeholder 8">
            <a:extLst>
              <a:ext uri="{FF2B5EF4-FFF2-40B4-BE49-F238E27FC236}">
                <a16:creationId xmlns:a16="http://schemas.microsoft.com/office/drawing/2014/main" id="{6BD2CD61-EA12-FBFF-FE4D-8ABB0630E116}"/>
              </a:ext>
            </a:extLst>
          </p:cNvPr>
          <p:cNvSpPr>
            <a:spLocks noGrp="1"/>
          </p:cNvSpPr>
          <p:nvPr>
            <p:ph type="body" sz="quarter" idx="15"/>
          </p:nvPr>
        </p:nvSpPr>
        <p:spPr>
          <a:xfrm>
            <a:off x="1235075" y="2012919"/>
            <a:ext cx="8775098" cy="732508"/>
          </a:xfrm>
          <a:noFill/>
        </p:spPr>
        <p:txBody>
          <a:bodyPr/>
          <a:lstStyle/>
          <a:p>
            <a:r>
              <a:rPr lang="en-US" noProof="0" dirty="0"/>
              <a:t>To make a legal case that indemnifies you from responsibility for harms caused by the solution </a:t>
            </a:r>
          </a:p>
          <a:p>
            <a:r>
              <a:rPr lang="en-US" noProof="0" dirty="0"/>
              <a:t>To document the purpose, expected use, and potential harms for the solution </a:t>
            </a:r>
          </a:p>
          <a:p>
            <a:r>
              <a:rPr lang="en-US" noProof="0" dirty="0"/>
              <a:t>To evaluate the cost of cloud services required to implement your solution</a:t>
            </a:r>
          </a:p>
        </p:txBody>
      </p:sp>
      <p:sp>
        <p:nvSpPr>
          <p:cNvPr id="18" name="Text Placeholder 17">
            <a:extLst>
              <a:ext uri="{FF2B5EF4-FFF2-40B4-BE49-F238E27FC236}">
                <a16:creationId xmlns:a16="http://schemas.microsoft.com/office/drawing/2014/main" id="{95A8C63B-6169-9A98-B0F7-479F68890332}"/>
              </a:ext>
            </a:extLst>
          </p:cNvPr>
          <p:cNvSpPr>
            <a:spLocks noGrp="1"/>
          </p:cNvSpPr>
          <p:nvPr>
            <p:ph type="body" sz="quarter" idx="22"/>
          </p:nvPr>
        </p:nvSpPr>
        <p:spPr>
          <a:xfrm>
            <a:off x="1235075" y="3153050"/>
            <a:ext cx="8778782" cy="215444"/>
          </a:xfrm>
        </p:spPr>
        <p:txBody>
          <a:bodyPr/>
          <a:lstStyle/>
          <a:p>
            <a:pPr>
              <a:buNone/>
            </a:pPr>
            <a:r>
              <a:rPr lang="en-US" noProof="0" dirty="0"/>
              <a:t>What capability of </a:t>
            </a:r>
            <a:r>
              <a:rPr lang="en-US" sz="1400" noProof="0" dirty="0"/>
              <a:t>Microsoft Foundry </a:t>
            </a:r>
            <a:r>
              <a:rPr lang="en-US" noProof="0" dirty="0"/>
              <a:t>helps mitigate harmful content generation at the Safety System level?</a:t>
            </a:r>
          </a:p>
        </p:txBody>
      </p:sp>
      <p:sp>
        <p:nvSpPr>
          <p:cNvPr id="19" name="Text Placeholder 18">
            <a:extLst>
              <a:ext uri="{FF2B5EF4-FFF2-40B4-BE49-F238E27FC236}">
                <a16:creationId xmlns:a16="http://schemas.microsoft.com/office/drawing/2014/main" id="{34A41BD7-1086-C355-3E5F-4AAE0B778651}"/>
              </a:ext>
            </a:extLst>
          </p:cNvPr>
          <p:cNvSpPr>
            <a:spLocks noGrp="1"/>
          </p:cNvSpPr>
          <p:nvPr>
            <p:ph type="body" sz="quarter" idx="23"/>
          </p:nvPr>
        </p:nvSpPr>
        <p:spPr>
          <a:xfrm>
            <a:off x="1237265" y="3463791"/>
            <a:ext cx="8775098" cy="732508"/>
          </a:xfrm>
        </p:spPr>
        <p:txBody>
          <a:bodyPr/>
          <a:lstStyle/>
          <a:p>
            <a:r>
              <a:rPr lang="en-US" noProof="0" dirty="0"/>
              <a:t>DALL-E model support</a:t>
            </a:r>
          </a:p>
          <a:p>
            <a:r>
              <a:rPr lang="en-US" noProof="0" dirty="0"/>
              <a:t>Fine-tuning</a:t>
            </a:r>
          </a:p>
          <a:p>
            <a:r>
              <a:rPr lang="en-US" noProof="0" dirty="0"/>
              <a:t>Guardrails</a:t>
            </a:r>
          </a:p>
        </p:txBody>
      </p:sp>
      <p:sp>
        <p:nvSpPr>
          <p:cNvPr id="15" name="Text Placeholder 14">
            <a:extLst>
              <a:ext uri="{FF2B5EF4-FFF2-40B4-BE49-F238E27FC236}">
                <a16:creationId xmlns:a16="http://schemas.microsoft.com/office/drawing/2014/main" id="{40689312-8095-CCFD-22A6-F89AAB2992CD}"/>
              </a:ext>
            </a:extLst>
          </p:cNvPr>
          <p:cNvSpPr>
            <a:spLocks noGrp="1"/>
          </p:cNvSpPr>
          <p:nvPr>
            <p:ph type="body" sz="quarter" idx="20"/>
          </p:nvPr>
        </p:nvSpPr>
        <p:spPr>
          <a:xfrm>
            <a:off x="1235074" y="4588103"/>
            <a:ext cx="8957333" cy="215444"/>
          </a:xfrm>
        </p:spPr>
        <p:txBody>
          <a:bodyPr/>
          <a:lstStyle/>
          <a:p>
            <a:pPr>
              <a:buNone/>
            </a:pPr>
            <a:r>
              <a:rPr lang="en-US" noProof="0" dirty="0"/>
              <a:t>Why should you consider a phased delivery plan for your generative AI solution?</a:t>
            </a:r>
          </a:p>
        </p:txBody>
      </p:sp>
      <p:sp>
        <p:nvSpPr>
          <p:cNvPr id="17" name="Text Placeholder 16">
            <a:extLst>
              <a:ext uri="{FF2B5EF4-FFF2-40B4-BE49-F238E27FC236}">
                <a16:creationId xmlns:a16="http://schemas.microsoft.com/office/drawing/2014/main" id="{1D49697D-DE0C-2ACF-7A46-2A7D4EA740A1}"/>
              </a:ext>
            </a:extLst>
          </p:cNvPr>
          <p:cNvSpPr>
            <a:spLocks noGrp="1"/>
          </p:cNvSpPr>
          <p:nvPr>
            <p:ph type="body" sz="quarter" idx="21"/>
          </p:nvPr>
        </p:nvSpPr>
        <p:spPr>
          <a:xfrm>
            <a:off x="1235075" y="4968973"/>
            <a:ext cx="8775098" cy="732508"/>
          </a:xfrm>
        </p:spPr>
        <p:txBody>
          <a:bodyPr/>
          <a:lstStyle/>
          <a:p>
            <a:r>
              <a:rPr lang="en-US" noProof="0" dirty="0"/>
              <a:t>To enable you to gather feedback and identify issues before releasing the solution more broadly</a:t>
            </a:r>
          </a:p>
          <a:p>
            <a:r>
              <a:rPr lang="en-US" noProof="0" dirty="0"/>
              <a:t>To eliminate the need to map, measure, mitigate, and manage potential harms </a:t>
            </a:r>
          </a:p>
          <a:p>
            <a:r>
              <a:rPr lang="en-US" noProof="0" dirty="0"/>
              <a:t>To enable you to charge more for the solution</a:t>
            </a:r>
          </a:p>
        </p:txBody>
      </p:sp>
      <p:sp>
        <p:nvSpPr>
          <p:cNvPr id="76" name="Oval 75">
            <a:extLst>
              <a:ext uri="{FF2B5EF4-FFF2-40B4-BE49-F238E27FC236}">
                <a16:creationId xmlns:a16="http://schemas.microsoft.com/office/drawing/2014/main" id="{407114A2-8BF6-A1A6-2CD6-2CBFBD1551C7}"/>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a:ea typeface="+mn-ea"/>
                <a:cs typeface="+mn-cs"/>
              </a:rPr>
              <a:t>1</a:t>
            </a:r>
          </a:p>
        </p:txBody>
      </p:sp>
      <p:sp>
        <p:nvSpPr>
          <p:cNvPr id="77" name="Oval 76">
            <a:extLst>
              <a:ext uri="{FF2B5EF4-FFF2-40B4-BE49-F238E27FC236}">
                <a16:creationId xmlns:a16="http://schemas.microsoft.com/office/drawing/2014/main" id="{14ACD916-6FAD-9782-1B88-1B0BC3A12F7E}"/>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a:ea typeface="+mn-ea"/>
                <a:cs typeface="+mn-cs"/>
              </a:rPr>
              <a:t>2</a:t>
            </a:r>
          </a:p>
        </p:txBody>
      </p:sp>
      <p:sp>
        <p:nvSpPr>
          <p:cNvPr id="80" name="Graphic 26">
            <a:extLst>
              <a:ext uri="{FF2B5EF4-FFF2-40B4-BE49-F238E27FC236}">
                <a16:creationId xmlns:a16="http://schemas.microsoft.com/office/drawing/2014/main" id="{33232D8E-9600-037A-525E-D1CEB4DF77B9}"/>
              </a:ext>
              <a:ext uri="{C183D7F6-B498-43B3-948B-1728B52AA6E4}">
                <adec:decorative xmlns:adec="http://schemas.microsoft.com/office/drawing/2017/decorative" val="1"/>
              </a:ext>
            </a:extLst>
          </p:cNvPr>
          <p:cNvSpPr>
            <a:spLocks/>
          </p:cNvSpPr>
          <p:nvPr/>
        </p:nvSpPr>
        <p:spPr>
          <a:xfrm>
            <a:off x="1278720" y="401290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Segoe UI"/>
              <a:ea typeface="+mn-ea"/>
              <a:cs typeface="+mn-cs"/>
            </a:endParaRPr>
          </a:p>
        </p:txBody>
      </p:sp>
      <p:sp>
        <p:nvSpPr>
          <p:cNvPr id="78" name="Oval 77">
            <a:extLst>
              <a:ext uri="{FF2B5EF4-FFF2-40B4-BE49-F238E27FC236}">
                <a16:creationId xmlns:a16="http://schemas.microsoft.com/office/drawing/2014/main" id="{FABD4A0D-F27D-198E-C389-B8C1471825CB}"/>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a:ea typeface="+mn-ea"/>
                <a:cs typeface="+mn-cs"/>
              </a:rPr>
              <a:t>3</a:t>
            </a:r>
          </a:p>
        </p:txBody>
      </p:sp>
      <p:sp>
        <p:nvSpPr>
          <p:cNvPr id="81" name="Graphic 26">
            <a:extLst>
              <a:ext uri="{FF2B5EF4-FFF2-40B4-BE49-F238E27FC236}">
                <a16:creationId xmlns:a16="http://schemas.microsoft.com/office/drawing/2014/main" id="{0971EFD5-5C2D-6201-133A-7531D6D2C7C1}"/>
              </a:ext>
              <a:ext uri="{C183D7F6-B498-43B3-948B-1728B52AA6E4}">
                <adec:decorative xmlns:adec="http://schemas.microsoft.com/office/drawing/2017/decorative" val="1"/>
              </a:ext>
            </a:extLst>
          </p:cNvPr>
          <p:cNvSpPr>
            <a:spLocks/>
          </p:cNvSpPr>
          <p:nvPr/>
        </p:nvSpPr>
        <p:spPr>
          <a:xfrm>
            <a:off x="1258727" y="498587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Segoe UI"/>
              <a:ea typeface="+mn-ea"/>
              <a:cs typeface="+mn-cs"/>
            </a:endParaRPr>
          </a:p>
        </p:txBody>
      </p:sp>
      <p:sp>
        <p:nvSpPr>
          <p:cNvPr id="3" name="Graphic 26">
            <a:extLst>
              <a:ext uri="{FF2B5EF4-FFF2-40B4-BE49-F238E27FC236}">
                <a16:creationId xmlns:a16="http://schemas.microsoft.com/office/drawing/2014/main" id="{73EFA5EC-BE50-D924-BC3E-285D8A5882FE}"/>
              </a:ext>
              <a:ext uri="{C183D7F6-B498-43B3-948B-1728B52AA6E4}">
                <adec:decorative xmlns:adec="http://schemas.microsoft.com/office/drawing/2017/decorative" val="1"/>
              </a:ext>
            </a:extLst>
          </p:cNvPr>
          <p:cNvSpPr>
            <a:spLocks/>
          </p:cNvSpPr>
          <p:nvPr/>
        </p:nvSpPr>
        <p:spPr>
          <a:xfrm>
            <a:off x="1271225" y="230271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Segoe UI"/>
              <a:ea typeface="+mn-ea"/>
              <a:cs typeface="+mn-cs"/>
            </a:endParaRPr>
          </a:p>
        </p:txBody>
      </p:sp>
      <p:sp>
        <p:nvSpPr>
          <p:cNvPr id="4" name="Footer Placeholder 2">
            <a:extLst>
              <a:ext uri="{FF2B5EF4-FFF2-40B4-BE49-F238E27FC236}">
                <a16:creationId xmlns:a16="http://schemas.microsoft.com/office/drawing/2014/main" id="{2352CCF7-2544-5670-0B0A-04192D2781BE}"/>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3224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338170"/>
            <a:ext cx="6345239" cy="1661993"/>
          </a:xfrm>
        </p:spPr>
        <p:txBody>
          <a:bodyPr/>
          <a:lstStyle/>
          <a:p>
            <a:r>
              <a:rPr lang="en-US" altLang="zh-CN" sz="3600" dirty="0"/>
              <a:t>Develop AI agents with Microsoft Foundry and Visual Studio Code</a:t>
            </a:r>
            <a:endParaRPr lang="en-US" sz="3600" dirty="0"/>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TextBox 1">
            <a:extLst>
              <a:ext uri="{FF2B5EF4-FFF2-40B4-BE49-F238E27FC236}">
                <a16:creationId xmlns:a16="http://schemas.microsoft.com/office/drawing/2014/main" id="{1F591574-CCA3-6084-9EB1-07BB1B526ACB}"/>
              </a:ext>
            </a:extLst>
          </p:cNvPr>
          <p:cNvSpPr txBox="1"/>
          <p:nvPr/>
        </p:nvSpPr>
        <p:spPr>
          <a:xfrm>
            <a:off x="497341" y="4000163"/>
            <a:ext cx="6096000" cy="369332"/>
          </a:xfrm>
          <a:prstGeom prst="rect">
            <a:avLst/>
          </a:prstGeom>
          <a:noFill/>
        </p:spPr>
        <p:txBody>
          <a:bodyPr wrap="square">
            <a:spAutoFit/>
          </a:bodyPr>
          <a:lstStyle/>
          <a:p>
            <a:r>
              <a:rPr lang="en-US" sz="1770" dirty="0">
                <a:solidFill>
                  <a:schemeClr val="accent2"/>
                </a:solidFill>
              </a:rPr>
              <a:t>https://aka.ms/develop-agents-vs-code</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0C07C-EADE-429C-9D45-D6EAD312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3090F-6780-9CDB-90CA-7A4D1482FC06}"/>
              </a:ext>
            </a:extLst>
          </p:cNvPr>
          <p:cNvSpPr>
            <a:spLocks noGrp="1"/>
          </p:cNvSpPr>
          <p:nvPr>
            <p:ph type="title"/>
          </p:nvPr>
        </p:nvSpPr>
        <p:spPr>
          <a:xfrm>
            <a:off x="588262" y="500000"/>
            <a:ext cx="8193024" cy="492443"/>
          </a:xfrm>
        </p:spPr>
        <p:txBody>
          <a:bodyPr/>
          <a:lstStyle/>
          <a:p>
            <a:r>
              <a:rPr lang="en-US" sz="3200" b="1" dirty="0"/>
              <a:t>Understand AI agents</a:t>
            </a:r>
          </a:p>
        </p:txBody>
      </p:sp>
      <p:sp>
        <p:nvSpPr>
          <p:cNvPr id="3" name="Footer Placeholder 1">
            <a:extLst>
              <a:ext uri="{FF2B5EF4-FFF2-40B4-BE49-F238E27FC236}">
                <a16:creationId xmlns:a16="http://schemas.microsoft.com/office/drawing/2014/main" id="{B40A941E-D99C-96C4-2A85-91793271CBC3}"/>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13" name="Container">
            <a:extLst>
              <a:ext uri="{FF2B5EF4-FFF2-40B4-BE49-F238E27FC236}">
                <a16:creationId xmlns:a16="http://schemas.microsoft.com/office/drawing/2014/main" id="{FD5B3090-406D-723B-F0AE-C5D8C7A45F25}"/>
              </a:ext>
              <a:ext uri="{C183D7F6-B498-43B3-948B-1728B52AA6E4}">
                <adec:decorative xmlns:adec="http://schemas.microsoft.com/office/drawing/2017/decorative" val="1"/>
              </a:ext>
            </a:extLst>
          </p:cNvPr>
          <p:cNvSpPr/>
          <p:nvPr/>
        </p:nvSpPr>
        <p:spPr>
          <a:xfrm>
            <a:off x="2200000" y="2450000"/>
            <a:ext cx="7792000" cy="2530000"/>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687CC572-C645-131C-781A-0FACE0EC3EA8}"/>
              </a:ext>
              <a:ext uri="{C183D7F6-B498-43B3-948B-1728B52AA6E4}">
                <adec:decorative xmlns:adec="http://schemas.microsoft.com/office/drawing/2017/decorative" val="1"/>
              </a:ext>
            </a:extLst>
          </p:cNvPr>
          <p:cNvSpPr/>
          <p:nvPr/>
        </p:nvSpPr>
        <p:spPr>
          <a:xfrm>
            <a:off x="2700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DE48A074-AACE-4BDA-86A7-C8427DA80862}"/>
              </a:ext>
            </a:extLst>
          </p:cNvPr>
          <p:cNvSpPr/>
          <p:nvPr/>
        </p:nvSpPr>
        <p:spPr>
          <a:xfrm>
            <a:off x="2875000" y="4030000"/>
            <a:ext cx="1350000" cy="380000"/>
          </a:xfrm>
          <a:prstGeom prst="roundRect">
            <a:avLst>
              <a:gd name="adj" fmla="val 50000"/>
            </a:avLst>
          </a:prstGeom>
          <a:solidFill>
            <a:srgbClr val="1D68E8"/>
          </a:solidFill>
          <a:ln>
            <a:noFill/>
          </a:ln>
        </p:spPr>
        <p:txBody>
          <a:bodyPr anchor="ctr"/>
          <a:lstStyle/>
          <a:p>
            <a:pPr algn="ctr"/>
            <a:r>
              <a:rPr lang="en-US" sz="1400" b="1" dirty="0">
                <a:solidFill>
                  <a:srgbClr val="FFFFFF"/>
                </a:solidFill>
              </a:rPr>
              <a:t>LLM</a:t>
            </a:r>
          </a:p>
        </p:txBody>
      </p:sp>
      <p:sp>
        <p:nvSpPr>
          <p:cNvPr id="17" name="Plus1">
            <a:extLst>
              <a:ext uri="{FF2B5EF4-FFF2-40B4-BE49-F238E27FC236}">
                <a16:creationId xmlns:a16="http://schemas.microsoft.com/office/drawing/2014/main" id="{FD3497AC-8056-3596-4029-12DDE8D062EA}"/>
              </a:ext>
            </a:extLst>
          </p:cNvPr>
          <p:cNvSpPr/>
          <p:nvPr/>
        </p:nvSpPr>
        <p:spPr>
          <a:xfrm>
            <a:off x="4580000" y="3720000"/>
            <a:ext cx="440000" cy="440000"/>
          </a:xfrm>
          <a:prstGeom prst="rect">
            <a:avLst/>
          </a:prstGeom>
          <a:noFill/>
          <a:ln>
            <a:noFill/>
          </a:ln>
        </p:spPr>
        <p:txBody>
          <a:bodyPr anchor="ctr"/>
          <a:lstStyle/>
          <a:p>
            <a:pPr algn="ctr"/>
            <a:r>
              <a:rPr lang="en-US" sz="3200" b="1">
                <a:solidFill>
                  <a:srgbClr val="1D68E8"/>
                </a:solidFill>
              </a:rPr>
              <a:t>+</a:t>
            </a:r>
          </a:p>
        </p:txBody>
      </p:sp>
      <p:sp>
        <p:nvSpPr>
          <p:cNvPr id="21" name="Plus2">
            <a:extLst>
              <a:ext uri="{FF2B5EF4-FFF2-40B4-BE49-F238E27FC236}">
                <a16:creationId xmlns:a16="http://schemas.microsoft.com/office/drawing/2014/main" id="{7B419330-7DCB-14DB-DA8E-9BC675FA6D9F}"/>
              </a:ext>
            </a:extLst>
          </p:cNvPr>
          <p:cNvSpPr/>
          <p:nvPr/>
        </p:nvSpPr>
        <p:spPr>
          <a:xfrm>
            <a:off x="7126000" y="3720000"/>
            <a:ext cx="440000" cy="440000"/>
          </a:xfrm>
          <a:prstGeom prst="rect">
            <a:avLst/>
          </a:prstGeom>
          <a:noFill/>
          <a:ln>
            <a:noFill/>
          </a:ln>
        </p:spPr>
        <p:txBody>
          <a:bodyPr anchor="ctr"/>
          <a:lstStyle/>
          <a:p>
            <a:pPr algn="ctr"/>
            <a:r>
              <a:rPr lang="en-US" sz="3200" b="1">
                <a:solidFill>
                  <a:srgbClr val="1D68E8"/>
                </a:solidFill>
              </a:rPr>
              <a:t>+</a:t>
            </a:r>
          </a:p>
        </p:txBody>
      </p:sp>
      <p:sp>
        <p:nvSpPr>
          <p:cNvPr id="22" name="CardTools">
            <a:extLst>
              <a:ext uri="{FF2B5EF4-FFF2-40B4-BE49-F238E27FC236}">
                <a16:creationId xmlns:a16="http://schemas.microsoft.com/office/drawing/2014/main" id="{0938E88C-0E31-BA72-A394-838B8E5823AB}"/>
              </a:ext>
              <a:ext uri="{C183D7F6-B498-43B3-948B-1728B52AA6E4}">
                <adec:decorative xmlns:adec="http://schemas.microsoft.com/office/drawing/2017/decorative" val="1"/>
              </a:ext>
            </a:extLst>
          </p:cNvPr>
          <p:cNvSpPr/>
          <p:nvPr/>
        </p:nvSpPr>
        <p:spPr>
          <a:xfrm>
            <a:off x="7792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AC264313-746D-586B-513A-9C9620F78908}"/>
              </a:ext>
            </a:extLst>
          </p:cNvPr>
          <p:cNvSpPr/>
          <p:nvPr/>
        </p:nvSpPr>
        <p:spPr>
          <a:xfrm>
            <a:off x="7967000" y="4030000"/>
            <a:ext cx="1350000" cy="380000"/>
          </a:xfrm>
          <a:prstGeom prst="roundRect">
            <a:avLst>
              <a:gd name="adj" fmla="val 50000"/>
            </a:avLst>
          </a:prstGeom>
          <a:solidFill>
            <a:srgbClr val="EC4899"/>
          </a:solidFill>
          <a:ln>
            <a:noFill/>
          </a:ln>
        </p:spPr>
        <p:txBody>
          <a:bodyPr anchor="ctr"/>
          <a:lstStyle/>
          <a:p>
            <a:pPr algn="ctr"/>
            <a:r>
              <a:rPr lang="en-US" sz="1400" b="1">
                <a:solidFill>
                  <a:srgbClr val="FFFFFF"/>
                </a:solidFill>
              </a:rPr>
              <a:t>Tools</a:t>
            </a:r>
          </a:p>
        </p:txBody>
      </p:sp>
      <p:pic>
        <p:nvPicPr>
          <p:cNvPr id="5" name="Graphic 4" descr="Processor outline">
            <a:extLst>
              <a:ext uri="{FF2B5EF4-FFF2-40B4-BE49-F238E27FC236}">
                <a16:creationId xmlns:a16="http://schemas.microsoft.com/office/drawing/2014/main" id="{3EE1ACC4-F4D6-BA09-91DD-BD45DC4633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50385" y="3092800"/>
            <a:ext cx="914400" cy="914400"/>
          </a:xfrm>
          <a:prstGeom prst="rect">
            <a:avLst/>
          </a:prstGeom>
        </p:spPr>
      </p:pic>
      <p:sp>
        <p:nvSpPr>
          <p:cNvPr id="10" name="Input">
            <a:extLst>
              <a:ext uri="{FF2B5EF4-FFF2-40B4-BE49-F238E27FC236}">
                <a16:creationId xmlns:a16="http://schemas.microsoft.com/office/drawing/2014/main" id="{F2BA9FFC-1928-91EF-FABD-1A0DF9902241}"/>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Input</a:t>
            </a:r>
          </a:p>
        </p:txBody>
      </p:sp>
      <p:sp>
        <p:nvSpPr>
          <p:cNvPr id="11" name="Arrow1">
            <a:extLst>
              <a:ext uri="{FF2B5EF4-FFF2-40B4-BE49-F238E27FC236}">
                <a16:creationId xmlns:a16="http://schemas.microsoft.com/office/drawing/2014/main" id="{597AD65C-F79B-103D-6A2B-575A03D5187A}"/>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65E36592-D347-3BDF-F958-AB3F1F7FBB98}"/>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sp>
        <p:nvSpPr>
          <p:cNvPr id="18" name="CardInstructions">
            <a:extLst>
              <a:ext uri="{FF2B5EF4-FFF2-40B4-BE49-F238E27FC236}">
                <a16:creationId xmlns:a16="http://schemas.microsoft.com/office/drawing/2014/main" id="{CDEA92DE-5BBE-921B-406F-3B682CAED41D}"/>
              </a:ext>
              <a:ext uri="{C183D7F6-B498-43B3-948B-1728B52AA6E4}">
                <adec:decorative xmlns:adec="http://schemas.microsoft.com/office/drawing/2017/decorative" val="1"/>
              </a:ext>
            </a:extLst>
          </p:cNvPr>
          <p:cNvSpPr/>
          <p:nvPr/>
        </p:nvSpPr>
        <p:spPr>
          <a:xfrm>
            <a:off x="5246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7488C622-EEFA-1031-F6A4-DEBF8B12EBBD}"/>
              </a:ext>
            </a:extLst>
          </p:cNvPr>
          <p:cNvSpPr/>
          <p:nvPr/>
        </p:nvSpPr>
        <p:spPr>
          <a:xfrm>
            <a:off x="5421000" y="4030000"/>
            <a:ext cx="1350000" cy="380000"/>
          </a:xfrm>
          <a:prstGeom prst="roundRect">
            <a:avLst>
              <a:gd name="adj" fmla="val 50000"/>
            </a:avLst>
          </a:prstGeom>
          <a:solidFill>
            <a:srgbClr val="9333EA"/>
          </a:solidFill>
          <a:ln>
            <a:noFill/>
          </a:ln>
        </p:spPr>
        <p:txBody>
          <a:bodyPr anchor="ctr"/>
          <a:lstStyle/>
          <a:p>
            <a:pPr algn="ctr"/>
            <a:r>
              <a:rPr lang="en-US" sz="1400" b="1" dirty="0">
                <a:solidFill>
                  <a:srgbClr val="FFFFFF"/>
                </a:solidFill>
              </a:rPr>
              <a:t>Instructions</a:t>
            </a:r>
          </a:p>
        </p:txBody>
      </p:sp>
      <p:sp>
        <p:nvSpPr>
          <p:cNvPr id="25" name="Arrow2">
            <a:extLst>
              <a:ext uri="{FF2B5EF4-FFF2-40B4-BE49-F238E27FC236}">
                <a16:creationId xmlns:a16="http://schemas.microsoft.com/office/drawing/2014/main" id="{B5CCAC02-23E6-CA19-5F9A-81BD21DB4E31}"/>
              </a:ext>
              <a:ext uri="{C183D7F6-B498-43B3-948B-1728B52AA6E4}">
                <adec:decorative xmlns:adec="http://schemas.microsoft.com/office/drawing/2017/decorative" val="1"/>
              </a:ext>
            </a:extLst>
          </p:cNvPr>
          <p:cNvSpPr/>
          <p:nvPr/>
        </p:nvSpPr>
        <p:spPr>
          <a:xfrm>
            <a:off x="5971000" y="5030000"/>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B6C9D9E4-6FE9-4CFE-8409-CF24E6EE4BC9}"/>
              </a:ext>
            </a:extLst>
          </p:cNvPr>
          <p:cNvSpPr/>
          <p:nvPr/>
        </p:nvSpPr>
        <p:spPr>
          <a:xfrm>
            <a:off x="4953000" y="5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Output</a:t>
            </a:r>
          </a:p>
        </p:txBody>
      </p:sp>
      <p:pic>
        <p:nvPicPr>
          <p:cNvPr id="7" name="Graphic 6" descr="Document outline">
            <a:extLst>
              <a:ext uri="{FF2B5EF4-FFF2-40B4-BE49-F238E27FC236}">
                <a16:creationId xmlns:a16="http://schemas.microsoft.com/office/drawing/2014/main" id="{BD508CDA-8FAE-253F-ABB4-0C7F1DA99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3070600"/>
            <a:ext cx="914400" cy="914400"/>
          </a:xfrm>
          <a:prstGeom prst="rect">
            <a:avLst/>
          </a:prstGeom>
        </p:spPr>
      </p:pic>
      <p:pic>
        <p:nvPicPr>
          <p:cNvPr id="9" name="Graphic 8" descr="Wrench outline">
            <a:extLst>
              <a:ext uri="{FF2B5EF4-FFF2-40B4-BE49-F238E27FC236}">
                <a16:creationId xmlns:a16="http://schemas.microsoft.com/office/drawing/2014/main" id="{F7150396-E62B-873A-CBB7-85444F5F1E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0323" y="3186647"/>
            <a:ext cx="743353" cy="743353"/>
          </a:xfrm>
          <a:prstGeom prst="rect">
            <a:avLst/>
          </a:prstGeom>
        </p:spPr>
      </p:pic>
    </p:spTree>
    <p:extLst>
      <p:ext uri="{BB962C8B-B14F-4D97-AF65-F5344CB8AC3E}">
        <p14:creationId xmlns:p14="http://schemas.microsoft.com/office/powerpoint/2010/main" val="52206813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2D9B5-9CB5-4E0A-80A4-3EF9323C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F0B48-5FD9-0278-B355-0630BCC197B0}"/>
              </a:ext>
            </a:extLst>
          </p:cNvPr>
          <p:cNvSpPr>
            <a:spLocks noGrp="1"/>
          </p:cNvSpPr>
          <p:nvPr>
            <p:ph type="title"/>
          </p:nvPr>
        </p:nvSpPr>
        <p:spPr>
          <a:xfrm>
            <a:off x="588262" y="500000"/>
            <a:ext cx="8193024" cy="492443"/>
          </a:xfrm>
        </p:spPr>
        <p:txBody>
          <a:bodyPr/>
          <a:lstStyle/>
          <a:p>
            <a:r>
              <a:rPr lang="en-US" sz="3200" b="1" dirty="0"/>
              <a:t>Understand AI agents</a:t>
            </a:r>
          </a:p>
        </p:txBody>
      </p:sp>
      <p:sp>
        <p:nvSpPr>
          <p:cNvPr id="3" name="Footer Placeholder 1">
            <a:extLst>
              <a:ext uri="{FF2B5EF4-FFF2-40B4-BE49-F238E27FC236}">
                <a16:creationId xmlns:a16="http://schemas.microsoft.com/office/drawing/2014/main" id="{90E6FA54-C0AD-017D-FFF3-47C90AF127BB}"/>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13" name="Container">
            <a:extLst>
              <a:ext uri="{FF2B5EF4-FFF2-40B4-BE49-F238E27FC236}">
                <a16:creationId xmlns:a16="http://schemas.microsoft.com/office/drawing/2014/main" id="{0415F0EB-A204-E7C9-3555-DE95307292D2}"/>
              </a:ext>
              <a:ext uri="{C183D7F6-B498-43B3-948B-1728B52AA6E4}">
                <adec:decorative xmlns:adec="http://schemas.microsoft.com/office/drawing/2017/decorative" val="1"/>
              </a:ext>
            </a:extLst>
          </p:cNvPr>
          <p:cNvSpPr/>
          <p:nvPr/>
        </p:nvSpPr>
        <p:spPr>
          <a:xfrm>
            <a:off x="588261" y="2450000"/>
            <a:ext cx="11011601" cy="2754012"/>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E743E604-C68C-C49B-E3C7-FC44A9ECFC4F}"/>
              </a:ext>
              <a:ext uri="{C183D7F6-B498-43B3-948B-1728B52AA6E4}">
                <adec:decorative xmlns:adec="http://schemas.microsoft.com/office/drawing/2017/decorative" val="1"/>
              </a:ext>
            </a:extLst>
          </p:cNvPr>
          <p:cNvSpPr/>
          <p:nvPr/>
        </p:nvSpPr>
        <p:spPr>
          <a:xfrm>
            <a:off x="909919" y="2970000"/>
            <a:ext cx="2593803" cy="2032306"/>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700E0B79-6C54-7D5A-0B13-BA4A232F941B}"/>
              </a:ext>
            </a:extLst>
          </p:cNvPr>
          <p:cNvSpPr/>
          <p:nvPr/>
        </p:nvSpPr>
        <p:spPr>
          <a:xfrm>
            <a:off x="1531820" y="4508398"/>
            <a:ext cx="1350000" cy="380000"/>
          </a:xfrm>
          <a:prstGeom prst="roundRect">
            <a:avLst>
              <a:gd name="adj" fmla="val 50000"/>
            </a:avLst>
          </a:prstGeom>
          <a:solidFill>
            <a:srgbClr val="1D68E8"/>
          </a:solidFill>
          <a:ln>
            <a:noFill/>
          </a:ln>
        </p:spPr>
        <p:txBody>
          <a:bodyPr anchor="ctr"/>
          <a:lstStyle/>
          <a:p>
            <a:pPr algn="ctr"/>
            <a:r>
              <a:rPr lang="en-US" sz="1400" b="1" dirty="0">
                <a:solidFill>
                  <a:srgbClr val="FFFFFF"/>
                </a:solidFill>
              </a:rPr>
              <a:t>LLM</a:t>
            </a:r>
          </a:p>
        </p:txBody>
      </p:sp>
      <p:grpSp>
        <p:nvGrpSpPr>
          <p:cNvPr id="8" name="Group 7">
            <a:extLst>
              <a:ext uri="{FF2B5EF4-FFF2-40B4-BE49-F238E27FC236}">
                <a16:creationId xmlns:a16="http://schemas.microsoft.com/office/drawing/2014/main" id="{E36F5DB3-D7EC-4F1F-3EE5-5E4DE6AF81E6}"/>
              </a:ext>
              <a:ext uri="{C183D7F6-B498-43B3-948B-1728B52AA6E4}">
                <adec:decorative xmlns:adec="http://schemas.microsoft.com/office/drawing/2017/decorative" val="1"/>
              </a:ext>
            </a:extLst>
          </p:cNvPr>
          <p:cNvGrpSpPr/>
          <p:nvPr/>
        </p:nvGrpSpPr>
        <p:grpSpPr>
          <a:xfrm>
            <a:off x="3944757" y="2882510"/>
            <a:ext cx="4302487" cy="2130002"/>
            <a:chOff x="3953435" y="2882510"/>
            <a:chExt cx="4302487" cy="2130002"/>
          </a:xfrm>
        </p:grpSpPr>
        <p:sp>
          <p:nvSpPr>
            <p:cNvPr id="18" name="CardInstructions">
              <a:extLst>
                <a:ext uri="{FF2B5EF4-FFF2-40B4-BE49-F238E27FC236}">
                  <a16:creationId xmlns:a16="http://schemas.microsoft.com/office/drawing/2014/main" id="{3F9B603E-6B36-0994-80A2-8ECD8351285E}"/>
                </a:ext>
              </a:extLst>
            </p:cNvPr>
            <p:cNvSpPr/>
            <p:nvPr/>
          </p:nvSpPr>
          <p:spPr>
            <a:xfrm>
              <a:off x="3953435" y="2882510"/>
              <a:ext cx="4302487" cy="2130002"/>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8C857BE9-12A4-67AC-DE0F-02FF6944E285}"/>
                </a:ext>
              </a:extLst>
            </p:cNvPr>
            <p:cNvSpPr/>
            <p:nvPr/>
          </p:nvSpPr>
          <p:spPr>
            <a:xfrm>
              <a:off x="5419061" y="4553646"/>
              <a:ext cx="1350000" cy="380000"/>
            </a:xfrm>
            <a:prstGeom prst="roundRect">
              <a:avLst>
                <a:gd name="adj" fmla="val 50000"/>
              </a:avLst>
            </a:prstGeom>
            <a:solidFill>
              <a:srgbClr val="9333EA"/>
            </a:solidFill>
            <a:ln>
              <a:noFill/>
            </a:ln>
          </p:spPr>
          <p:txBody>
            <a:bodyPr anchor="ctr"/>
            <a:lstStyle/>
            <a:p>
              <a:pPr algn="ctr"/>
              <a:r>
                <a:rPr lang="en-US" sz="1400" b="1" dirty="0">
                  <a:solidFill>
                    <a:srgbClr val="FFFFFF"/>
                  </a:solidFill>
                </a:rPr>
                <a:t>Instructions</a:t>
              </a:r>
            </a:p>
          </p:txBody>
        </p:sp>
        <p:sp>
          <p:nvSpPr>
            <p:cNvPr id="6" name="InstrText">
              <a:extLst>
                <a:ext uri="{FF2B5EF4-FFF2-40B4-BE49-F238E27FC236}">
                  <a16:creationId xmlns:a16="http://schemas.microsoft.com/office/drawing/2014/main" id="{26FBF377-7C75-9592-C966-3E1F392A450E}"/>
                </a:ext>
              </a:extLst>
            </p:cNvPr>
            <p:cNvSpPr/>
            <p:nvPr/>
          </p:nvSpPr>
          <p:spPr>
            <a:xfrm>
              <a:off x="4116079" y="3012424"/>
              <a:ext cx="3959843" cy="1470000"/>
            </a:xfrm>
            <a:prstGeom prst="roundRect">
              <a:avLst>
                <a:gd name="adj" fmla="val 5000"/>
              </a:avLst>
            </a:prstGeom>
            <a:solidFill>
              <a:srgbClr val="F8F8F8"/>
            </a:solidFill>
            <a:ln w="9525">
              <a:solidFill>
                <a:srgbClr val="DEDEDE"/>
              </a:solidFill>
            </a:ln>
          </p:spPr>
          <p:txBody>
            <a:bodyPr wrap="square" lIns="91440" tIns="91440" rIns="91440" bIns="91440"/>
            <a:lstStyle/>
            <a:p>
              <a:r>
                <a:rPr lang="en-US" sz="1200" dirty="0">
                  <a:solidFill>
                    <a:srgbClr val="404040"/>
                  </a:solidFill>
                  <a:latin typeface="Courier New" panose="02070309020205020404" pitchFamily="49" charset="0"/>
                  <a:cs typeface="Courier New" panose="02070309020205020404" pitchFamily="49" charset="0"/>
                </a:rPr>
                <a:t>You are a travel booking and expense management assistant designed to help employees plan, book, and manage business travel. Always confirm trip dates and budget before making bookings. Prefer direct flights when cost difference is &lt; 20%.</a:t>
              </a:r>
            </a:p>
          </p:txBody>
        </p:sp>
      </p:grpSp>
      <p:sp>
        <p:nvSpPr>
          <p:cNvPr id="17" name="Plus1">
            <a:extLst>
              <a:ext uri="{FF2B5EF4-FFF2-40B4-BE49-F238E27FC236}">
                <a16:creationId xmlns:a16="http://schemas.microsoft.com/office/drawing/2014/main" id="{72EB8BDB-315B-11DE-2D9F-C03C5C54F577}"/>
              </a:ext>
            </a:extLst>
          </p:cNvPr>
          <p:cNvSpPr/>
          <p:nvPr/>
        </p:nvSpPr>
        <p:spPr>
          <a:xfrm>
            <a:off x="3504240" y="3720000"/>
            <a:ext cx="440000" cy="440000"/>
          </a:xfrm>
          <a:prstGeom prst="rect">
            <a:avLst/>
          </a:prstGeom>
          <a:noFill/>
          <a:ln>
            <a:noFill/>
          </a:ln>
        </p:spPr>
        <p:txBody>
          <a:bodyPr anchor="ctr"/>
          <a:lstStyle/>
          <a:p>
            <a:pPr algn="ctr"/>
            <a:r>
              <a:rPr lang="en-US" sz="3200" b="1" dirty="0">
                <a:solidFill>
                  <a:srgbClr val="1D68E8"/>
                </a:solidFill>
              </a:rPr>
              <a:t>+</a:t>
            </a:r>
          </a:p>
        </p:txBody>
      </p:sp>
      <p:sp>
        <p:nvSpPr>
          <p:cNvPr id="21" name="Plus2">
            <a:extLst>
              <a:ext uri="{FF2B5EF4-FFF2-40B4-BE49-F238E27FC236}">
                <a16:creationId xmlns:a16="http://schemas.microsoft.com/office/drawing/2014/main" id="{D36710B0-41A6-7795-881A-44BB414BA59F}"/>
              </a:ext>
            </a:extLst>
          </p:cNvPr>
          <p:cNvSpPr/>
          <p:nvPr/>
        </p:nvSpPr>
        <p:spPr>
          <a:xfrm>
            <a:off x="8242101" y="3720000"/>
            <a:ext cx="440000" cy="440000"/>
          </a:xfrm>
          <a:prstGeom prst="rect">
            <a:avLst/>
          </a:prstGeom>
          <a:noFill/>
          <a:ln>
            <a:noFill/>
          </a:ln>
        </p:spPr>
        <p:txBody>
          <a:bodyPr anchor="ctr"/>
          <a:lstStyle/>
          <a:p>
            <a:pPr algn="ctr"/>
            <a:r>
              <a:rPr lang="en-US" sz="3200" b="1" dirty="0">
                <a:solidFill>
                  <a:srgbClr val="1D68E8"/>
                </a:solidFill>
              </a:rPr>
              <a:t>+</a:t>
            </a:r>
          </a:p>
        </p:txBody>
      </p:sp>
      <p:sp>
        <p:nvSpPr>
          <p:cNvPr id="22" name="CardTools">
            <a:extLst>
              <a:ext uri="{FF2B5EF4-FFF2-40B4-BE49-F238E27FC236}">
                <a16:creationId xmlns:a16="http://schemas.microsoft.com/office/drawing/2014/main" id="{741EF7D3-04E1-5F9F-E1B2-00E885A23543}"/>
              </a:ext>
              <a:ext uri="{C183D7F6-B498-43B3-948B-1728B52AA6E4}">
                <adec:decorative xmlns:adec="http://schemas.microsoft.com/office/drawing/2017/decorative" val="1"/>
              </a:ext>
            </a:extLst>
          </p:cNvPr>
          <p:cNvSpPr/>
          <p:nvPr/>
        </p:nvSpPr>
        <p:spPr>
          <a:xfrm>
            <a:off x="8682101" y="2970000"/>
            <a:ext cx="2599980" cy="2032306"/>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174A659F-9030-B3F4-F5B8-154EF058CFAE}"/>
              </a:ext>
            </a:extLst>
          </p:cNvPr>
          <p:cNvSpPr/>
          <p:nvPr/>
        </p:nvSpPr>
        <p:spPr>
          <a:xfrm>
            <a:off x="9307091" y="4528140"/>
            <a:ext cx="1350000" cy="380000"/>
          </a:xfrm>
          <a:prstGeom prst="roundRect">
            <a:avLst>
              <a:gd name="adj" fmla="val 50000"/>
            </a:avLst>
          </a:prstGeom>
          <a:solidFill>
            <a:srgbClr val="EC4899"/>
          </a:solidFill>
          <a:ln>
            <a:noFill/>
          </a:ln>
        </p:spPr>
        <p:txBody>
          <a:bodyPr anchor="ctr"/>
          <a:lstStyle/>
          <a:p>
            <a:pPr algn="ctr"/>
            <a:r>
              <a:rPr lang="en-US" sz="1400" b="1" dirty="0">
                <a:solidFill>
                  <a:srgbClr val="FFFFFF"/>
                </a:solidFill>
              </a:rPr>
              <a:t>Tools</a:t>
            </a:r>
          </a:p>
        </p:txBody>
      </p:sp>
      <p:sp>
        <p:nvSpPr>
          <p:cNvPr id="10" name="Input">
            <a:extLst>
              <a:ext uri="{FF2B5EF4-FFF2-40B4-BE49-F238E27FC236}">
                <a16:creationId xmlns:a16="http://schemas.microsoft.com/office/drawing/2014/main" id="{FCCC854D-765F-156B-1AEC-14FD0D03D4E0}"/>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Input</a:t>
            </a:r>
          </a:p>
        </p:txBody>
      </p:sp>
      <p:sp>
        <p:nvSpPr>
          <p:cNvPr id="11" name="Arrow1">
            <a:extLst>
              <a:ext uri="{FF2B5EF4-FFF2-40B4-BE49-F238E27FC236}">
                <a16:creationId xmlns:a16="http://schemas.microsoft.com/office/drawing/2014/main" id="{53E20D0E-955C-24DA-80AD-B83C772E2E96}"/>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A4DD7553-C407-0FBB-CB77-BDF5491F7C99}"/>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sp>
        <p:nvSpPr>
          <p:cNvPr id="25" name="Arrow2">
            <a:extLst>
              <a:ext uri="{FF2B5EF4-FFF2-40B4-BE49-F238E27FC236}">
                <a16:creationId xmlns:a16="http://schemas.microsoft.com/office/drawing/2014/main" id="{9B4F6E66-305A-E8D1-131C-905E2A5CE8D5}"/>
              </a:ext>
              <a:ext uri="{C183D7F6-B498-43B3-948B-1728B52AA6E4}">
                <adec:decorative xmlns:adec="http://schemas.microsoft.com/office/drawing/2017/decorative" val="1"/>
              </a:ext>
            </a:extLst>
          </p:cNvPr>
          <p:cNvSpPr/>
          <p:nvPr/>
        </p:nvSpPr>
        <p:spPr>
          <a:xfrm>
            <a:off x="5971000" y="5393069"/>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7A47CD81-4837-F028-CCC4-A46A32859043}"/>
              </a:ext>
            </a:extLst>
          </p:cNvPr>
          <p:cNvSpPr/>
          <p:nvPr/>
        </p:nvSpPr>
        <p:spPr>
          <a:xfrm>
            <a:off x="4953000" y="5743069"/>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Output</a:t>
            </a:r>
          </a:p>
        </p:txBody>
      </p:sp>
      <p:sp>
        <p:nvSpPr>
          <p:cNvPr id="4" name="Text Placeholder 3">
            <a:extLst>
              <a:ext uri="{FF2B5EF4-FFF2-40B4-BE49-F238E27FC236}">
                <a16:creationId xmlns:a16="http://schemas.microsoft.com/office/drawing/2014/main" id="{8ED08A49-9140-27B4-107C-89B31D4618D1}"/>
              </a:ext>
            </a:extLst>
          </p:cNvPr>
          <p:cNvSpPr>
            <a:spLocks noGrp="1"/>
          </p:cNvSpPr>
          <p:nvPr>
            <p:ph type="body" sz="quarter" idx="17"/>
          </p:nvPr>
        </p:nvSpPr>
        <p:spPr>
          <a:xfrm>
            <a:off x="590199" y="1117176"/>
            <a:ext cx="11011601" cy="307777"/>
          </a:xfrm>
        </p:spPr>
        <p:txBody>
          <a:bodyPr/>
          <a:lstStyle/>
          <a:p>
            <a:r>
              <a:rPr lang="en-US" sz="2000" dirty="0"/>
              <a:t>Explore the three components</a:t>
            </a:r>
          </a:p>
        </p:txBody>
      </p:sp>
      <p:sp>
        <p:nvSpPr>
          <p:cNvPr id="15" name="RetrievalCard">
            <a:extLst>
              <a:ext uri="{FF2B5EF4-FFF2-40B4-BE49-F238E27FC236}">
                <a16:creationId xmlns:a16="http://schemas.microsoft.com/office/drawing/2014/main" id="{C8AC56DF-FE37-CA9A-2547-A92482EF4836}"/>
              </a:ext>
            </a:extLst>
          </p:cNvPr>
          <p:cNvSpPr/>
          <p:nvPr/>
        </p:nvSpPr>
        <p:spPr>
          <a:xfrm>
            <a:off x="1229570" y="3093638"/>
            <a:ext cx="876899" cy="592994"/>
          </a:xfrm>
          <a:prstGeom prst="roundRect">
            <a:avLst>
              <a:gd name="adj" fmla="val 12000"/>
            </a:avLst>
          </a:prstGeom>
          <a:solidFill>
            <a:srgbClr val="F8F8F8"/>
          </a:solidFill>
          <a:ln w="9525">
            <a:solidFill>
              <a:srgbClr val="DEDEDE"/>
            </a:solidFill>
          </a:ln>
        </p:spPr>
        <p:txBody>
          <a:bodyPr anchor="ctr"/>
          <a:lstStyle/>
          <a:p>
            <a:pPr algn="ctr"/>
            <a:r>
              <a:rPr lang="nl-NL" sz="2400" b="1" dirty="0"/>
              <a:t>G</a:t>
            </a:r>
            <a:endParaRPr lang="nl-NL" sz="1200" b="1" dirty="0"/>
          </a:p>
          <a:p>
            <a:pPr algn="ctr"/>
            <a:r>
              <a:rPr lang="nl-NL" sz="1200" dirty="0"/>
              <a:t>GPT</a:t>
            </a:r>
            <a:endParaRPr sz="1200" dirty="0"/>
          </a:p>
        </p:txBody>
      </p:sp>
      <p:sp>
        <p:nvSpPr>
          <p:cNvPr id="19" name="RetrievalCard">
            <a:extLst>
              <a:ext uri="{FF2B5EF4-FFF2-40B4-BE49-F238E27FC236}">
                <a16:creationId xmlns:a16="http://schemas.microsoft.com/office/drawing/2014/main" id="{0543EA3E-D9B7-A141-1DAB-E0BF05F3C577}"/>
              </a:ext>
            </a:extLst>
          </p:cNvPr>
          <p:cNvSpPr/>
          <p:nvPr/>
        </p:nvSpPr>
        <p:spPr>
          <a:xfrm>
            <a:off x="2320214" y="3093638"/>
            <a:ext cx="866245" cy="592994"/>
          </a:xfrm>
          <a:prstGeom prst="roundRect">
            <a:avLst>
              <a:gd name="adj" fmla="val 12000"/>
            </a:avLst>
          </a:prstGeom>
          <a:solidFill>
            <a:srgbClr val="F8F8F8"/>
          </a:solidFill>
          <a:ln w="9525">
            <a:solidFill>
              <a:srgbClr val="DEDEDE"/>
            </a:solidFill>
          </a:ln>
        </p:spPr>
        <p:txBody>
          <a:bodyPr anchor="ctr"/>
          <a:lstStyle/>
          <a:p>
            <a:pPr algn="ctr"/>
            <a:r>
              <a:rPr lang="nl-NL" sz="2400" b="1" dirty="0">
                <a:solidFill>
                  <a:srgbClr val="000000"/>
                </a:solidFill>
                <a:latin typeface="Segoe UI"/>
              </a:rPr>
              <a:t>L</a:t>
            </a:r>
            <a:endParaRPr lang="nl-NL" sz="1200" dirty="0"/>
          </a:p>
          <a:p>
            <a:pPr algn="ctr"/>
            <a:r>
              <a:rPr lang="nl-NL" sz="1200" dirty="0" err="1"/>
              <a:t>Llama</a:t>
            </a:r>
            <a:endParaRPr sz="1200" dirty="0"/>
          </a:p>
        </p:txBody>
      </p:sp>
      <p:sp>
        <p:nvSpPr>
          <p:cNvPr id="23" name="RetrievalCard">
            <a:extLst>
              <a:ext uri="{FF2B5EF4-FFF2-40B4-BE49-F238E27FC236}">
                <a16:creationId xmlns:a16="http://schemas.microsoft.com/office/drawing/2014/main" id="{4AD8022B-53E7-5644-80BE-64894031D654}"/>
              </a:ext>
            </a:extLst>
          </p:cNvPr>
          <p:cNvSpPr/>
          <p:nvPr/>
        </p:nvSpPr>
        <p:spPr>
          <a:xfrm>
            <a:off x="1229570" y="3791897"/>
            <a:ext cx="876899" cy="592994"/>
          </a:xfrm>
          <a:prstGeom prst="roundRect">
            <a:avLst>
              <a:gd name="adj" fmla="val 12000"/>
            </a:avLst>
          </a:prstGeom>
          <a:solidFill>
            <a:srgbClr val="F8F8F8"/>
          </a:solidFill>
          <a:ln w="9525">
            <a:solidFill>
              <a:srgbClr val="DEDEDE"/>
            </a:solidFill>
          </a:ln>
        </p:spPr>
        <p:txBody>
          <a:bodyPr anchor="ctr"/>
          <a:lstStyle/>
          <a:p>
            <a:pPr algn="ctr"/>
            <a:r>
              <a:rPr lang="nl-NL" sz="2400" b="1" dirty="0"/>
              <a:t>M</a:t>
            </a:r>
            <a:endParaRPr lang="nl-NL" sz="1200" dirty="0"/>
          </a:p>
          <a:p>
            <a:pPr algn="ctr"/>
            <a:r>
              <a:rPr lang="nl-NL" sz="1200" dirty="0"/>
              <a:t>Mistral</a:t>
            </a:r>
            <a:endParaRPr sz="1200" dirty="0"/>
          </a:p>
        </p:txBody>
      </p:sp>
      <p:sp>
        <p:nvSpPr>
          <p:cNvPr id="27" name="RetrievalCard">
            <a:extLst>
              <a:ext uri="{FF2B5EF4-FFF2-40B4-BE49-F238E27FC236}">
                <a16:creationId xmlns:a16="http://schemas.microsoft.com/office/drawing/2014/main" id="{F498F159-EC7E-964D-9E06-42ECBD2C0A95}"/>
              </a:ext>
            </a:extLst>
          </p:cNvPr>
          <p:cNvSpPr/>
          <p:nvPr/>
        </p:nvSpPr>
        <p:spPr>
          <a:xfrm>
            <a:off x="2286471" y="3791897"/>
            <a:ext cx="899988" cy="592994"/>
          </a:xfrm>
          <a:prstGeom prst="roundRect">
            <a:avLst>
              <a:gd name="adj" fmla="val 12000"/>
            </a:avLst>
          </a:prstGeom>
          <a:solidFill>
            <a:srgbClr val="F8F8F8"/>
          </a:solidFill>
          <a:ln w="9525">
            <a:solidFill>
              <a:srgbClr val="DEDEDE"/>
            </a:solidFill>
          </a:ln>
        </p:spPr>
        <p:txBody>
          <a:bodyPr anchor="ctr"/>
          <a:lstStyle/>
          <a:p>
            <a:pPr algn="ctr"/>
            <a:r>
              <a:rPr lang="nl-NL" sz="2400" b="1" dirty="0">
                <a:solidFill>
                  <a:srgbClr val="000000"/>
                </a:solidFill>
                <a:latin typeface="Segoe UI"/>
              </a:rPr>
              <a:t>C</a:t>
            </a:r>
            <a:endParaRPr lang="nl-NL" sz="1200" dirty="0"/>
          </a:p>
          <a:p>
            <a:pPr algn="ctr"/>
            <a:r>
              <a:rPr lang="nl-NL" sz="1200" dirty="0"/>
              <a:t>Claude</a:t>
            </a:r>
            <a:endParaRPr sz="1200" dirty="0"/>
          </a:p>
        </p:txBody>
      </p:sp>
      <p:grpSp>
        <p:nvGrpSpPr>
          <p:cNvPr id="38" name="Group 37">
            <a:extLst>
              <a:ext uri="{FF2B5EF4-FFF2-40B4-BE49-F238E27FC236}">
                <a16:creationId xmlns:a16="http://schemas.microsoft.com/office/drawing/2014/main" id="{6E0C41BE-D27F-FD3A-06B6-630D7187ED66}"/>
              </a:ext>
              <a:ext uri="{C183D7F6-B498-43B3-948B-1728B52AA6E4}">
                <adec:decorative xmlns:adec="http://schemas.microsoft.com/office/drawing/2017/decorative" val="1"/>
              </a:ext>
            </a:extLst>
          </p:cNvPr>
          <p:cNvGrpSpPr/>
          <p:nvPr/>
        </p:nvGrpSpPr>
        <p:grpSpPr>
          <a:xfrm>
            <a:off x="9130996" y="3106320"/>
            <a:ext cx="1737360" cy="1322878"/>
            <a:chOff x="8888950" y="3106320"/>
            <a:chExt cx="1737360" cy="1322878"/>
          </a:xfrm>
        </p:grpSpPr>
        <p:sp>
          <p:nvSpPr>
            <p:cNvPr id="29" name="RetrievalCard">
              <a:extLst>
                <a:ext uri="{FF2B5EF4-FFF2-40B4-BE49-F238E27FC236}">
                  <a16:creationId xmlns:a16="http://schemas.microsoft.com/office/drawing/2014/main" id="{6C7C77DA-6F76-BDCB-9D21-F72CF92F304A}"/>
                </a:ext>
              </a:extLst>
            </p:cNvPr>
            <p:cNvSpPr/>
            <p:nvPr/>
          </p:nvSpPr>
          <p:spPr>
            <a:xfrm>
              <a:off x="8888950" y="3106320"/>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dirty="0"/>
                <a:t>Retrieval</a:t>
              </a:r>
              <a:endParaRPr sz="1200" dirty="0"/>
            </a:p>
          </p:txBody>
        </p:sp>
        <p:sp>
          <p:nvSpPr>
            <p:cNvPr id="30" name="RetrievalCard">
              <a:extLst>
                <a:ext uri="{FF2B5EF4-FFF2-40B4-BE49-F238E27FC236}">
                  <a16:creationId xmlns:a16="http://schemas.microsoft.com/office/drawing/2014/main" id="{5B989AE8-7CAD-5DC5-6DC5-AC3E9191CA49}"/>
                </a:ext>
              </a:extLst>
            </p:cNvPr>
            <p:cNvSpPr/>
            <p:nvPr/>
          </p:nvSpPr>
          <p:spPr>
            <a:xfrm>
              <a:off x="8888950" y="3577759"/>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dirty="0"/>
                <a:t>Actions</a:t>
              </a:r>
              <a:endParaRPr sz="1200" dirty="0"/>
            </a:p>
          </p:txBody>
        </p:sp>
        <p:sp>
          <p:nvSpPr>
            <p:cNvPr id="31" name="RetrievalCard">
              <a:extLst>
                <a:ext uri="{FF2B5EF4-FFF2-40B4-BE49-F238E27FC236}">
                  <a16:creationId xmlns:a16="http://schemas.microsoft.com/office/drawing/2014/main" id="{7B857A60-7642-DFC4-C46F-F40F8742C561}"/>
                </a:ext>
              </a:extLst>
            </p:cNvPr>
            <p:cNvSpPr/>
            <p:nvPr/>
          </p:nvSpPr>
          <p:spPr>
            <a:xfrm>
              <a:off x="8888950" y="4049198"/>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dirty="0"/>
                <a:t>Memory</a:t>
              </a:r>
              <a:endParaRPr sz="1200" dirty="0"/>
            </a:p>
          </p:txBody>
        </p:sp>
      </p:grpSp>
      <p:pic>
        <p:nvPicPr>
          <p:cNvPr id="33" name="Graphic 32" descr="Magnifying glass with solid fill">
            <a:extLst>
              <a:ext uri="{FF2B5EF4-FFF2-40B4-BE49-F238E27FC236}">
                <a16:creationId xmlns:a16="http://schemas.microsoft.com/office/drawing/2014/main" id="{057B2716-8DE0-BB16-7F17-7D54D34DD3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49797" y="3147286"/>
            <a:ext cx="336307" cy="336307"/>
          </a:xfrm>
          <a:prstGeom prst="rect">
            <a:avLst/>
          </a:prstGeom>
        </p:spPr>
      </p:pic>
      <p:pic>
        <p:nvPicPr>
          <p:cNvPr id="35" name="Graphic 34" descr="Lightning bolt with solid fill">
            <a:extLst>
              <a:ext uri="{FF2B5EF4-FFF2-40B4-BE49-F238E27FC236}">
                <a16:creationId xmlns:a16="http://schemas.microsoft.com/office/drawing/2014/main" id="{55245E03-2BC6-121F-DE17-C7D7E2CF91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5070" y="3612838"/>
            <a:ext cx="365760" cy="365760"/>
          </a:xfrm>
          <a:prstGeom prst="rect">
            <a:avLst/>
          </a:prstGeom>
        </p:spPr>
      </p:pic>
      <p:pic>
        <p:nvPicPr>
          <p:cNvPr id="37" name="Graphic 36" descr="Database with solid fill">
            <a:extLst>
              <a:ext uri="{FF2B5EF4-FFF2-40B4-BE49-F238E27FC236}">
                <a16:creationId xmlns:a16="http://schemas.microsoft.com/office/drawing/2014/main" id="{24F7094C-BC6F-0F34-BFDC-398AF95F0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8786" y="4080949"/>
            <a:ext cx="338328" cy="338328"/>
          </a:xfrm>
          <a:prstGeom prst="rect">
            <a:avLst/>
          </a:prstGeom>
        </p:spPr>
      </p:pic>
    </p:spTree>
    <p:extLst>
      <p:ext uri="{BB962C8B-B14F-4D97-AF65-F5344CB8AC3E}">
        <p14:creationId xmlns:p14="http://schemas.microsoft.com/office/powerpoint/2010/main" val="2813178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7E4D3-5E14-7BDE-2558-DEE1BF5E5865}"/>
              </a:ext>
            </a:extLst>
          </p:cNvPr>
          <p:cNvSpPr>
            <a:spLocks noGrp="1"/>
          </p:cNvSpPr>
          <p:nvPr>
            <p:ph type="title"/>
          </p:nvPr>
        </p:nvSpPr>
        <p:spPr>
          <a:xfrm>
            <a:off x="588261" y="585216"/>
            <a:ext cx="11011601" cy="492443"/>
          </a:xfrm>
        </p:spPr>
        <p:txBody>
          <a:bodyPr/>
          <a:lstStyle/>
          <a:p>
            <a:r>
              <a:rPr lang="en-US" sz="3200" dirty="0"/>
              <a:t>Why agents are useful</a:t>
            </a:r>
          </a:p>
        </p:txBody>
      </p:sp>
      <p:sp>
        <p:nvSpPr>
          <p:cNvPr id="3" name="Footer Placeholder 2">
            <a:extLst>
              <a:ext uri="{FF2B5EF4-FFF2-40B4-BE49-F238E27FC236}">
                <a16:creationId xmlns:a16="http://schemas.microsoft.com/office/drawing/2014/main" id="{BC39DD98-245E-C7C8-AC97-C68A8E6612C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Oval 4">
            <a:extLst>
              <a:ext uri="{FF2B5EF4-FFF2-40B4-BE49-F238E27FC236}">
                <a16:creationId xmlns:a16="http://schemas.microsoft.com/office/drawing/2014/main" id="{598080E3-1F96-C90F-0995-FDB51F3BE56E}"/>
              </a:ext>
              <a:ext uri="{C183D7F6-B498-43B3-948B-1728B52AA6E4}">
                <adec:decorative xmlns:adec="http://schemas.microsoft.com/office/drawing/2017/decorative" val="1"/>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Agent">
            <a:extLst>
              <a:ext uri="{FF2B5EF4-FFF2-40B4-BE49-F238E27FC236}">
                <a16:creationId xmlns:a16="http://schemas.microsoft.com/office/drawing/2014/main" id="{8D6E3945-20F7-6CC6-380E-D5A10227456F}"/>
              </a:ext>
            </a:extLst>
          </p:cNvPr>
          <p:cNvSpPr/>
          <p:nvPr/>
        </p:nvSpPr>
        <p:spPr>
          <a:xfrm>
            <a:off x="4953000" y="3888748"/>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pic>
        <p:nvPicPr>
          <p:cNvPr id="8" name="Graphic 7" descr="Robot with solid fill">
            <a:extLst>
              <a:ext uri="{FF2B5EF4-FFF2-40B4-BE49-F238E27FC236}">
                <a16:creationId xmlns:a16="http://schemas.microsoft.com/office/drawing/2014/main" id="{DBE8209C-A127-3744-CD2A-F82EF59E74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836446"/>
            <a:ext cx="914400" cy="914400"/>
          </a:xfrm>
          <a:prstGeom prst="rect">
            <a:avLst/>
          </a:prstGeom>
        </p:spPr>
      </p:pic>
      <p:sp>
        <p:nvSpPr>
          <p:cNvPr id="9" name="RetrievalCard">
            <a:extLst>
              <a:ext uri="{FF2B5EF4-FFF2-40B4-BE49-F238E27FC236}">
                <a16:creationId xmlns:a16="http://schemas.microsoft.com/office/drawing/2014/main" id="{3C9E7835-3C91-7E05-E060-D418D0347AB4}"/>
              </a:ext>
            </a:extLst>
          </p:cNvPr>
          <p:cNvSpPr/>
          <p:nvPr/>
        </p:nvSpPr>
        <p:spPr>
          <a:xfrm>
            <a:off x="7676030" y="1386482"/>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Enhanced decision-making</a:t>
            </a:r>
          </a:p>
          <a:p>
            <a:r>
              <a:rPr lang="en-US" noProof="0" dirty="0"/>
              <a:t>Analyzes data to surface insights, predict outcomes, and recommend actions in real time.</a:t>
            </a:r>
            <a:endParaRPr lang="en-US" sz="2000" noProof="0" dirty="0">
              <a:latin typeface="+mj-lt"/>
            </a:endParaRPr>
          </a:p>
        </p:txBody>
      </p:sp>
      <p:sp>
        <p:nvSpPr>
          <p:cNvPr id="10" name="RetrievalCard">
            <a:extLst>
              <a:ext uri="{FF2B5EF4-FFF2-40B4-BE49-F238E27FC236}">
                <a16:creationId xmlns:a16="http://schemas.microsoft.com/office/drawing/2014/main" id="{BF307BE4-1AC5-26E9-9F50-3E87B9D033FD}"/>
              </a:ext>
            </a:extLst>
          </p:cNvPr>
          <p:cNvSpPr/>
          <p:nvPr/>
        </p:nvSpPr>
        <p:spPr>
          <a:xfrm>
            <a:off x="7676030" y="3750846"/>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24/7 availability</a:t>
            </a:r>
          </a:p>
          <a:p>
            <a:r>
              <a:rPr lang="en-US" dirty="0"/>
              <a:t>Operates continuously without breaks, keeping services available around the clock.</a:t>
            </a:r>
            <a:endParaRPr lang="en-US" sz="2000" noProof="0" dirty="0">
              <a:latin typeface="+mj-lt"/>
            </a:endParaRPr>
          </a:p>
        </p:txBody>
      </p:sp>
      <p:pic>
        <p:nvPicPr>
          <p:cNvPr id="12" name="Graphic 11" descr="Clock with solid fill">
            <a:extLst>
              <a:ext uri="{FF2B5EF4-FFF2-40B4-BE49-F238E27FC236}">
                <a16:creationId xmlns:a16="http://schemas.microsoft.com/office/drawing/2014/main" id="{51AE13F7-CD55-15E9-EE3C-0D5709CBD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9291" y="3853427"/>
            <a:ext cx="731520" cy="731520"/>
          </a:xfrm>
          <a:prstGeom prst="rect">
            <a:avLst/>
          </a:prstGeom>
        </p:spPr>
      </p:pic>
      <p:pic>
        <p:nvPicPr>
          <p:cNvPr id="14" name="Graphic 13" descr="Heartbeat with solid fill">
            <a:extLst>
              <a:ext uri="{FF2B5EF4-FFF2-40B4-BE49-F238E27FC236}">
                <a16:creationId xmlns:a16="http://schemas.microsoft.com/office/drawing/2014/main" id="{635838E0-CD26-E348-68CB-00EF06F8B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3231" y="1498820"/>
            <a:ext cx="731520" cy="731520"/>
          </a:xfrm>
          <a:prstGeom prst="rect">
            <a:avLst/>
          </a:prstGeom>
        </p:spPr>
      </p:pic>
      <p:sp>
        <p:nvSpPr>
          <p:cNvPr id="15" name="RetrievalCard">
            <a:extLst>
              <a:ext uri="{FF2B5EF4-FFF2-40B4-BE49-F238E27FC236}">
                <a16:creationId xmlns:a16="http://schemas.microsoft.com/office/drawing/2014/main" id="{B3F415E8-BDA1-E65A-23E1-CC850BA8A4FC}"/>
              </a:ext>
            </a:extLst>
          </p:cNvPr>
          <p:cNvSpPr/>
          <p:nvPr/>
        </p:nvSpPr>
        <p:spPr>
          <a:xfrm>
            <a:off x="579438" y="1393885"/>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Automation of routine tasks</a:t>
            </a:r>
          </a:p>
          <a:p>
            <a:r>
              <a:rPr lang="en-US" dirty="0"/>
              <a:t>Handles repetitive activities, freeing humans to focus on strategic and creative work.</a:t>
            </a:r>
            <a:endParaRPr lang="en-US" sz="2000" noProof="0" dirty="0">
              <a:latin typeface="+mj-lt"/>
            </a:endParaRPr>
          </a:p>
        </p:txBody>
      </p:sp>
      <p:pic>
        <p:nvPicPr>
          <p:cNvPr id="17" name="Graphic 16" descr="Single gear with solid fill">
            <a:extLst>
              <a:ext uri="{FF2B5EF4-FFF2-40B4-BE49-F238E27FC236}">
                <a16:creationId xmlns:a16="http://schemas.microsoft.com/office/drawing/2014/main" id="{3318A568-A1F7-B420-548A-266AD82081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187" y="1514969"/>
            <a:ext cx="731520" cy="731520"/>
          </a:xfrm>
          <a:prstGeom prst="rect">
            <a:avLst/>
          </a:prstGeom>
        </p:spPr>
      </p:pic>
      <p:sp>
        <p:nvSpPr>
          <p:cNvPr id="18" name="RetrievalCard">
            <a:extLst>
              <a:ext uri="{FF2B5EF4-FFF2-40B4-BE49-F238E27FC236}">
                <a16:creationId xmlns:a16="http://schemas.microsoft.com/office/drawing/2014/main" id="{3519FB66-6EAD-EE3B-C24C-419940415455}"/>
              </a:ext>
            </a:extLst>
          </p:cNvPr>
          <p:cNvSpPr/>
          <p:nvPr/>
        </p:nvSpPr>
        <p:spPr>
          <a:xfrm>
            <a:off x="596200" y="3750846"/>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Scalability</a:t>
            </a:r>
          </a:p>
          <a:p>
            <a:r>
              <a:rPr lang="en-US" dirty="0"/>
              <a:t>Grows capabilities without proportional increases in headcount or operational costs.</a:t>
            </a:r>
            <a:endParaRPr lang="en-US" sz="2000" noProof="0" dirty="0">
              <a:latin typeface="+mj-lt"/>
            </a:endParaRPr>
          </a:p>
        </p:txBody>
      </p:sp>
      <p:pic>
        <p:nvPicPr>
          <p:cNvPr id="20" name="Graphic 19" descr="Maximize with solid fill">
            <a:extLst>
              <a:ext uri="{FF2B5EF4-FFF2-40B4-BE49-F238E27FC236}">
                <a16:creationId xmlns:a16="http://schemas.microsoft.com/office/drawing/2014/main" id="{6C7E8F3D-FAEE-3A7C-5874-14BE6949B1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681" y="3913270"/>
            <a:ext cx="640080" cy="640080"/>
          </a:xfrm>
          <a:prstGeom prst="rect">
            <a:avLst/>
          </a:prstGeom>
        </p:spPr>
      </p:pic>
    </p:spTree>
    <p:extLst>
      <p:ext uri="{BB962C8B-B14F-4D97-AF65-F5344CB8AC3E}">
        <p14:creationId xmlns:p14="http://schemas.microsoft.com/office/powerpoint/2010/main" val="130732302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3271-EF7B-32A2-8344-47ADB32E21D5}"/>
              </a:ext>
            </a:extLst>
          </p:cNvPr>
          <p:cNvSpPr>
            <a:spLocks noGrp="1"/>
          </p:cNvSpPr>
          <p:nvPr>
            <p:ph type="title"/>
          </p:nvPr>
        </p:nvSpPr>
        <p:spPr>
          <a:xfrm>
            <a:off x="588261" y="585216"/>
            <a:ext cx="11011601" cy="492443"/>
          </a:xfrm>
        </p:spPr>
        <p:txBody>
          <a:bodyPr/>
          <a:lstStyle/>
          <a:p>
            <a:r>
              <a:rPr lang="en-US" sz="3200" dirty="0"/>
              <a:t>AI agent use cases</a:t>
            </a:r>
          </a:p>
        </p:txBody>
      </p:sp>
      <p:sp>
        <p:nvSpPr>
          <p:cNvPr id="5" name="Rounded Rectangle 4">
            <a:extLst>
              <a:ext uri="{FF2B5EF4-FFF2-40B4-BE49-F238E27FC236}">
                <a16:creationId xmlns:a16="http://schemas.microsoft.com/office/drawing/2014/main" id="{B0E46325-966E-41AA-A98F-F2290122CE53}"/>
              </a:ext>
              <a:ext uri="{C183D7F6-B498-43B3-948B-1728B52AA6E4}">
                <adec:decorative xmlns:adec="http://schemas.microsoft.com/office/drawing/2017/decorative" val="1"/>
              </a:ext>
            </a:extLst>
          </p:cNvPr>
          <p:cNvSpPr/>
          <p:nvPr/>
        </p:nvSpPr>
        <p:spPr>
          <a:xfrm>
            <a:off x="546354" y="1180651"/>
            <a:ext cx="5490972" cy="2525750"/>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59" name="Rounded Rectangle 58">
            <a:extLst>
              <a:ext uri="{FF2B5EF4-FFF2-40B4-BE49-F238E27FC236}">
                <a16:creationId xmlns:a16="http://schemas.microsoft.com/office/drawing/2014/main" id="{04237723-B165-1935-7E85-689EED7725C4}"/>
              </a:ext>
              <a:ext uri="{C183D7F6-B498-43B3-948B-1728B52AA6E4}">
                <adec:decorative xmlns:adec="http://schemas.microsoft.com/office/drawing/2017/decorative" val="1"/>
              </a:ext>
            </a:extLst>
          </p:cNvPr>
          <p:cNvSpPr/>
          <p:nvPr/>
        </p:nvSpPr>
        <p:spPr>
          <a:xfrm>
            <a:off x="502920" y="1157501"/>
            <a:ext cx="5577840" cy="4572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Oval 7">
            <a:extLst>
              <a:ext uri="{FF2B5EF4-FFF2-40B4-BE49-F238E27FC236}">
                <a16:creationId xmlns:a16="http://schemas.microsoft.com/office/drawing/2014/main" id="{02AEC30F-A500-91A2-A534-B67307835279}"/>
              </a:ext>
              <a:ext uri="{C183D7F6-B498-43B3-948B-1728B52AA6E4}">
                <adec:decorative xmlns:adec="http://schemas.microsoft.com/office/drawing/2017/decorative" val="1"/>
              </a:ext>
            </a:extLst>
          </p:cNvPr>
          <p:cNvSpPr/>
          <p:nvPr/>
        </p:nvSpPr>
        <p:spPr>
          <a:xfrm>
            <a:off x="640080" y="1281235"/>
            <a:ext cx="256032" cy="25603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a:extLst>
              <a:ext uri="{FF2B5EF4-FFF2-40B4-BE49-F238E27FC236}">
                <a16:creationId xmlns:a16="http://schemas.microsoft.com/office/drawing/2014/main" id="{8A4F5831-BFAC-CBC8-A95B-B73E3AF9C955}"/>
              </a:ext>
            </a:extLst>
          </p:cNvPr>
          <p:cNvSpPr txBox="1"/>
          <p:nvPr/>
        </p:nvSpPr>
        <p:spPr>
          <a:xfrm>
            <a:off x="978408" y="1240894"/>
            <a:ext cx="4878324" cy="338554"/>
          </a:xfrm>
          <a:prstGeom prst="rect">
            <a:avLst/>
          </a:prstGeom>
          <a:noFill/>
        </p:spPr>
        <p:txBody>
          <a:bodyPr wrap="square" anchor="ctr">
            <a:spAutoFit/>
          </a:bodyPr>
          <a:lstStyle/>
          <a:p>
            <a:pPr algn="l"/>
            <a:r>
              <a:rPr sz="1600" b="1" dirty="0">
                <a:solidFill>
                  <a:srgbClr val="005A9E"/>
                </a:solidFill>
                <a:latin typeface="Segoe UI"/>
              </a:rPr>
              <a:t>Personal productivity</a:t>
            </a:r>
          </a:p>
        </p:txBody>
      </p:sp>
      <p:sp>
        <p:nvSpPr>
          <p:cNvPr id="10" name="Rounded Rectangle 9">
            <a:extLst>
              <a:ext uri="{FF2B5EF4-FFF2-40B4-BE49-F238E27FC236}">
                <a16:creationId xmlns:a16="http://schemas.microsoft.com/office/drawing/2014/main" id="{D76925EA-E83E-B772-9EF0-2F71DF941288}"/>
              </a:ext>
              <a:ext uri="{C183D7F6-B498-43B3-948B-1728B52AA6E4}">
                <adec:decorative xmlns:adec="http://schemas.microsoft.com/office/drawing/2017/decorative" val="1"/>
              </a:ext>
            </a:extLst>
          </p:cNvPr>
          <p:cNvSpPr/>
          <p:nvPr/>
        </p:nvSpPr>
        <p:spPr>
          <a:xfrm>
            <a:off x="1903232" y="1747579"/>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a:extLst>
              <a:ext uri="{FF2B5EF4-FFF2-40B4-BE49-F238E27FC236}">
                <a16:creationId xmlns:a16="http://schemas.microsoft.com/office/drawing/2014/main" id="{587FE110-01A6-794C-75F7-5310401AE207}"/>
              </a:ext>
            </a:extLst>
          </p:cNvPr>
          <p:cNvSpPr txBox="1"/>
          <p:nvPr/>
        </p:nvSpPr>
        <p:spPr>
          <a:xfrm>
            <a:off x="1985528" y="1802443"/>
            <a:ext cx="3788907" cy="261610"/>
          </a:xfrm>
          <a:prstGeom prst="rect">
            <a:avLst/>
          </a:prstGeom>
          <a:noFill/>
        </p:spPr>
        <p:txBody>
          <a:bodyPr wrap="square">
            <a:spAutoFit/>
          </a:bodyPr>
          <a:lstStyle/>
          <a:p>
            <a:pPr algn="l"/>
            <a:r>
              <a:rPr sz="1100" b="0" dirty="0">
                <a:solidFill>
                  <a:srgbClr val="FFFFFF"/>
                </a:solidFill>
                <a:latin typeface="Segoe UI"/>
              </a:rPr>
              <a:t>Schedule our team standup for next week.</a:t>
            </a:r>
          </a:p>
        </p:txBody>
      </p:sp>
      <p:sp>
        <p:nvSpPr>
          <p:cNvPr id="12" name="Rounded Rectangle 11">
            <a:extLst>
              <a:ext uri="{FF2B5EF4-FFF2-40B4-BE49-F238E27FC236}">
                <a16:creationId xmlns:a16="http://schemas.microsoft.com/office/drawing/2014/main" id="{8B9F1247-7B2E-99A1-43A1-4FFBCC9505C1}"/>
              </a:ext>
              <a:ext uri="{C183D7F6-B498-43B3-948B-1728B52AA6E4}">
                <adec:decorative xmlns:adec="http://schemas.microsoft.com/office/drawing/2017/decorative" val="1"/>
              </a:ext>
            </a:extLst>
          </p:cNvPr>
          <p:cNvSpPr/>
          <p:nvPr/>
        </p:nvSpPr>
        <p:spPr>
          <a:xfrm>
            <a:off x="640080" y="2177347"/>
            <a:ext cx="4291827"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B974C1D9-688E-02C8-0551-3FB1D80FADC5}"/>
              </a:ext>
            </a:extLst>
          </p:cNvPr>
          <p:cNvSpPr txBox="1"/>
          <p:nvPr/>
        </p:nvSpPr>
        <p:spPr>
          <a:xfrm>
            <a:off x="722376" y="2232211"/>
            <a:ext cx="4113150" cy="261610"/>
          </a:xfrm>
          <a:prstGeom prst="rect">
            <a:avLst/>
          </a:prstGeom>
          <a:noFill/>
        </p:spPr>
        <p:txBody>
          <a:bodyPr wrap="square">
            <a:spAutoFit/>
          </a:bodyPr>
          <a:lstStyle/>
          <a:p>
            <a:pPr algn="l"/>
            <a:r>
              <a:rPr sz="1100" b="0" dirty="0">
                <a:solidFill>
                  <a:srgbClr val="333333"/>
                </a:solidFill>
                <a:latin typeface="Segoe UI"/>
              </a:rPr>
              <a:t>Done! Mon–Fri at 9 AM — invites sent to all 6 team members.</a:t>
            </a:r>
          </a:p>
        </p:txBody>
      </p:sp>
      <p:sp>
        <p:nvSpPr>
          <p:cNvPr id="14" name="Rounded Rectangle 13">
            <a:extLst>
              <a:ext uri="{FF2B5EF4-FFF2-40B4-BE49-F238E27FC236}">
                <a16:creationId xmlns:a16="http://schemas.microsoft.com/office/drawing/2014/main" id="{0684EDF4-970F-1831-F743-497D0694D48B}"/>
              </a:ext>
              <a:ext uri="{C183D7F6-B498-43B3-948B-1728B52AA6E4}">
                <adec:decorative xmlns:adec="http://schemas.microsoft.com/office/drawing/2017/decorative" val="1"/>
              </a:ext>
            </a:extLst>
          </p:cNvPr>
          <p:cNvSpPr/>
          <p:nvPr/>
        </p:nvSpPr>
        <p:spPr>
          <a:xfrm>
            <a:off x="1903232" y="2607115"/>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a:extLst>
              <a:ext uri="{FF2B5EF4-FFF2-40B4-BE49-F238E27FC236}">
                <a16:creationId xmlns:a16="http://schemas.microsoft.com/office/drawing/2014/main" id="{00ACD12C-AA74-A53E-1B65-E99ECF1865B4}"/>
              </a:ext>
            </a:extLst>
          </p:cNvPr>
          <p:cNvSpPr txBox="1"/>
          <p:nvPr/>
        </p:nvSpPr>
        <p:spPr>
          <a:xfrm>
            <a:off x="1985528" y="2661979"/>
            <a:ext cx="3788907" cy="261610"/>
          </a:xfrm>
          <a:prstGeom prst="rect">
            <a:avLst/>
          </a:prstGeom>
          <a:noFill/>
        </p:spPr>
        <p:txBody>
          <a:bodyPr wrap="square">
            <a:spAutoFit/>
          </a:bodyPr>
          <a:lstStyle/>
          <a:p>
            <a:pPr algn="l"/>
            <a:r>
              <a:rPr sz="1100" b="0" dirty="0">
                <a:solidFill>
                  <a:srgbClr val="FFFFFF"/>
                </a:solidFill>
                <a:latin typeface="Segoe UI"/>
              </a:rPr>
              <a:t>Also draft a recap email from yesterday's notes.</a:t>
            </a:r>
          </a:p>
        </p:txBody>
      </p:sp>
      <p:sp>
        <p:nvSpPr>
          <p:cNvPr id="16" name="Rounded Rectangle 15">
            <a:extLst>
              <a:ext uri="{FF2B5EF4-FFF2-40B4-BE49-F238E27FC236}">
                <a16:creationId xmlns:a16="http://schemas.microsoft.com/office/drawing/2014/main" id="{19337AA6-8BA5-BC3E-82E0-C588852298BE}"/>
              </a:ext>
              <a:ext uri="{C183D7F6-B498-43B3-948B-1728B52AA6E4}">
                <adec:decorative xmlns:adec="http://schemas.microsoft.com/office/drawing/2017/decorative" val="1"/>
              </a:ext>
            </a:extLst>
          </p:cNvPr>
          <p:cNvSpPr/>
          <p:nvPr/>
        </p:nvSpPr>
        <p:spPr>
          <a:xfrm>
            <a:off x="640080" y="3036883"/>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70F48770-C3DE-ADE0-4EF4-5CDCB7763952}"/>
              </a:ext>
            </a:extLst>
          </p:cNvPr>
          <p:cNvSpPr txBox="1"/>
          <p:nvPr/>
        </p:nvSpPr>
        <p:spPr>
          <a:xfrm>
            <a:off x="722376" y="3091747"/>
            <a:ext cx="3788907" cy="261610"/>
          </a:xfrm>
          <a:prstGeom prst="rect">
            <a:avLst/>
          </a:prstGeom>
          <a:noFill/>
        </p:spPr>
        <p:txBody>
          <a:bodyPr wrap="square">
            <a:spAutoFit/>
          </a:bodyPr>
          <a:lstStyle/>
          <a:p>
            <a:pPr algn="l"/>
            <a:r>
              <a:rPr sz="1100" b="0">
                <a:solidFill>
                  <a:srgbClr val="333333"/>
                </a:solidFill>
                <a:latin typeface="Segoe UI"/>
              </a:rPr>
              <a:t>Draft ready in your Drafts folder. Want me to send it?</a:t>
            </a:r>
          </a:p>
        </p:txBody>
      </p:sp>
      <p:sp>
        <p:nvSpPr>
          <p:cNvPr id="18" name="Rounded Rectangle 17">
            <a:extLst>
              <a:ext uri="{FF2B5EF4-FFF2-40B4-BE49-F238E27FC236}">
                <a16:creationId xmlns:a16="http://schemas.microsoft.com/office/drawing/2014/main" id="{431FEB76-3C5B-6CB2-FE30-852630DFA86C}"/>
              </a:ext>
              <a:ext uri="{C183D7F6-B498-43B3-948B-1728B52AA6E4}">
                <adec:decorative xmlns:adec="http://schemas.microsoft.com/office/drawing/2017/decorative" val="1"/>
              </a:ext>
            </a:extLst>
          </p:cNvPr>
          <p:cNvSpPr/>
          <p:nvPr/>
        </p:nvSpPr>
        <p:spPr>
          <a:xfrm>
            <a:off x="6238494" y="1171380"/>
            <a:ext cx="5490972" cy="2557223"/>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ounded Rectangle 18">
            <a:extLst>
              <a:ext uri="{FF2B5EF4-FFF2-40B4-BE49-F238E27FC236}">
                <a16:creationId xmlns:a16="http://schemas.microsoft.com/office/drawing/2014/main" id="{056DBA50-83BF-5B91-161F-12A8875A6120}"/>
              </a:ext>
              <a:ext uri="{C183D7F6-B498-43B3-948B-1728B52AA6E4}">
                <adec:decorative xmlns:adec="http://schemas.microsoft.com/office/drawing/2017/decorative" val="1"/>
              </a:ext>
            </a:extLst>
          </p:cNvPr>
          <p:cNvSpPr/>
          <p:nvPr/>
        </p:nvSpPr>
        <p:spPr>
          <a:xfrm>
            <a:off x="6195060" y="1148230"/>
            <a:ext cx="5577840" cy="45720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Oval 20">
            <a:extLst>
              <a:ext uri="{FF2B5EF4-FFF2-40B4-BE49-F238E27FC236}">
                <a16:creationId xmlns:a16="http://schemas.microsoft.com/office/drawing/2014/main" id="{8A947D61-624D-8D81-2C22-FFF25B71082F}"/>
              </a:ext>
              <a:ext uri="{C183D7F6-B498-43B3-948B-1728B52AA6E4}">
                <adec:decorative xmlns:adec="http://schemas.microsoft.com/office/drawing/2017/decorative" val="1"/>
              </a:ext>
            </a:extLst>
          </p:cNvPr>
          <p:cNvSpPr/>
          <p:nvPr/>
        </p:nvSpPr>
        <p:spPr>
          <a:xfrm>
            <a:off x="6332220" y="1294682"/>
            <a:ext cx="256032" cy="25603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a:extLst>
              <a:ext uri="{FF2B5EF4-FFF2-40B4-BE49-F238E27FC236}">
                <a16:creationId xmlns:a16="http://schemas.microsoft.com/office/drawing/2014/main" id="{E7D60CDC-7F29-0460-5E95-420D640AF86E}"/>
              </a:ext>
            </a:extLst>
          </p:cNvPr>
          <p:cNvSpPr txBox="1"/>
          <p:nvPr/>
        </p:nvSpPr>
        <p:spPr>
          <a:xfrm>
            <a:off x="6670548" y="1242766"/>
            <a:ext cx="4878324" cy="338554"/>
          </a:xfrm>
          <a:prstGeom prst="rect">
            <a:avLst/>
          </a:prstGeom>
          <a:noFill/>
        </p:spPr>
        <p:txBody>
          <a:bodyPr wrap="square" anchor="ctr">
            <a:spAutoFit/>
          </a:bodyPr>
          <a:lstStyle/>
          <a:p>
            <a:pPr algn="l"/>
            <a:r>
              <a:rPr sz="1600" b="1" dirty="0">
                <a:solidFill>
                  <a:srgbClr val="5B21B6"/>
                </a:solidFill>
                <a:latin typeface="Segoe UI"/>
              </a:rPr>
              <a:t>Research</a:t>
            </a:r>
          </a:p>
        </p:txBody>
      </p:sp>
      <p:sp>
        <p:nvSpPr>
          <p:cNvPr id="23" name="Rounded Rectangle 22">
            <a:extLst>
              <a:ext uri="{FF2B5EF4-FFF2-40B4-BE49-F238E27FC236}">
                <a16:creationId xmlns:a16="http://schemas.microsoft.com/office/drawing/2014/main" id="{AF650BC3-BC6D-4C4B-3EB0-96B4EE05D0B0}"/>
              </a:ext>
              <a:ext uri="{C183D7F6-B498-43B3-948B-1728B52AA6E4}">
                <adec:decorative xmlns:adec="http://schemas.microsoft.com/office/drawing/2017/decorative" val="1"/>
              </a:ext>
            </a:extLst>
          </p:cNvPr>
          <p:cNvSpPr/>
          <p:nvPr/>
        </p:nvSpPr>
        <p:spPr>
          <a:xfrm>
            <a:off x="7595372" y="1761026"/>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a:extLst>
              <a:ext uri="{FF2B5EF4-FFF2-40B4-BE49-F238E27FC236}">
                <a16:creationId xmlns:a16="http://schemas.microsoft.com/office/drawing/2014/main" id="{5A07094F-FC98-B757-F1CF-ECA47CD84D18}"/>
              </a:ext>
            </a:extLst>
          </p:cNvPr>
          <p:cNvSpPr txBox="1"/>
          <p:nvPr/>
        </p:nvSpPr>
        <p:spPr>
          <a:xfrm>
            <a:off x="7677668" y="1815890"/>
            <a:ext cx="3788907" cy="261610"/>
          </a:xfrm>
          <a:prstGeom prst="rect">
            <a:avLst/>
          </a:prstGeom>
          <a:noFill/>
        </p:spPr>
        <p:txBody>
          <a:bodyPr wrap="square">
            <a:spAutoFit/>
          </a:bodyPr>
          <a:lstStyle/>
          <a:p>
            <a:pPr algn="l"/>
            <a:r>
              <a:rPr sz="1100" b="0">
                <a:solidFill>
                  <a:srgbClr val="FFFFFF"/>
                </a:solidFill>
                <a:latin typeface="Segoe UI"/>
              </a:rPr>
              <a:t>Any major shifts in the AI market this week?</a:t>
            </a:r>
          </a:p>
        </p:txBody>
      </p:sp>
      <p:sp>
        <p:nvSpPr>
          <p:cNvPr id="25" name="Rounded Rectangle 24">
            <a:extLst>
              <a:ext uri="{FF2B5EF4-FFF2-40B4-BE49-F238E27FC236}">
                <a16:creationId xmlns:a16="http://schemas.microsoft.com/office/drawing/2014/main" id="{E20DAF62-BEEE-FD3E-68ED-53A3C3767273}"/>
              </a:ext>
              <a:ext uri="{C183D7F6-B498-43B3-948B-1728B52AA6E4}">
                <adec:decorative xmlns:adec="http://schemas.microsoft.com/office/drawing/2017/decorative" val="1"/>
              </a:ext>
            </a:extLst>
          </p:cNvPr>
          <p:cNvSpPr/>
          <p:nvPr/>
        </p:nvSpPr>
        <p:spPr>
          <a:xfrm>
            <a:off x="6332220" y="2190793"/>
            <a:ext cx="4492662" cy="50664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a:extLst>
              <a:ext uri="{FF2B5EF4-FFF2-40B4-BE49-F238E27FC236}">
                <a16:creationId xmlns:a16="http://schemas.microsoft.com/office/drawing/2014/main" id="{D35256B1-48A9-0219-CEB4-16FB74E238D0}"/>
              </a:ext>
            </a:extLst>
          </p:cNvPr>
          <p:cNvSpPr txBox="1"/>
          <p:nvPr/>
        </p:nvSpPr>
        <p:spPr>
          <a:xfrm>
            <a:off x="6414516" y="2245658"/>
            <a:ext cx="4305624" cy="430887"/>
          </a:xfrm>
          <a:prstGeom prst="rect">
            <a:avLst/>
          </a:prstGeom>
          <a:noFill/>
        </p:spPr>
        <p:txBody>
          <a:bodyPr wrap="square">
            <a:spAutoFit/>
          </a:bodyPr>
          <a:lstStyle/>
          <a:p>
            <a:pPr algn="l"/>
            <a:r>
              <a:rPr sz="1100" b="0" dirty="0">
                <a:solidFill>
                  <a:srgbClr val="333333"/>
                </a:solidFill>
                <a:latin typeface="Segoe UI"/>
              </a:rPr>
              <a:t>3 key updates: AI adoption up 40%, EU AI Act enforcement started, healthcare AI funding at record high.</a:t>
            </a:r>
          </a:p>
        </p:txBody>
      </p:sp>
      <p:grpSp>
        <p:nvGrpSpPr>
          <p:cNvPr id="57" name="Group 56">
            <a:extLst>
              <a:ext uri="{FF2B5EF4-FFF2-40B4-BE49-F238E27FC236}">
                <a16:creationId xmlns:a16="http://schemas.microsoft.com/office/drawing/2014/main" id="{C515FC7F-D2B7-461F-FB20-E84BB1F0A767}"/>
              </a:ext>
              <a:ext uri="{C183D7F6-B498-43B3-948B-1728B52AA6E4}">
                <adec:decorative xmlns:adec="http://schemas.microsoft.com/office/drawing/2017/decorative" val="1"/>
              </a:ext>
            </a:extLst>
          </p:cNvPr>
          <p:cNvGrpSpPr/>
          <p:nvPr/>
        </p:nvGrpSpPr>
        <p:grpSpPr>
          <a:xfrm>
            <a:off x="7595372" y="2781926"/>
            <a:ext cx="3953499" cy="347472"/>
            <a:chOff x="7595372" y="2620562"/>
            <a:chExt cx="3953499" cy="347472"/>
          </a:xfrm>
        </p:grpSpPr>
        <p:sp>
          <p:nvSpPr>
            <p:cNvPr id="27" name="Rounded Rectangle 26">
              <a:extLst>
                <a:ext uri="{FF2B5EF4-FFF2-40B4-BE49-F238E27FC236}">
                  <a16:creationId xmlns:a16="http://schemas.microsoft.com/office/drawing/2014/main" id="{B5FB9280-70E4-936E-EAAA-E80C442B8998}"/>
                </a:ext>
              </a:extLst>
            </p:cNvPr>
            <p:cNvSpPr/>
            <p:nvPr/>
          </p:nvSpPr>
          <p:spPr>
            <a:xfrm>
              <a:off x="7595372" y="2620562"/>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a:extLst>
                <a:ext uri="{FF2B5EF4-FFF2-40B4-BE49-F238E27FC236}">
                  <a16:creationId xmlns:a16="http://schemas.microsoft.com/office/drawing/2014/main" id="{D6E1DA7B-D8DC-85D6-4A12-1EF572559E6A}"/>
                </a:ext>
              </a:extLst>
            </p:cNvPr>
            <p:cNvSpPr txBox="1"/>
            <p:nvPr/>
          </p:nvSpPr>
          <p:spPr>
            <a:xfrm>
              <a:off x="7677668" y="2675426"/>
              <a:ext cx="3788907" cy="261610"/>
            </a:xfrm>
            <a:prstGeom prst="rect">
              <a:avLst/>
            </a:prstGeom>
            <a:noFill/>
          </p:spPr>
          <p:txBody>
            <a:bodyPr wrap="square">
              <a:spAutoFit/>
            </a:bodyPr>
            <a:lstStyle/>
            <a:p>
              <a:pPr algn="l"/>
              <a:r>
                <a:rPr sz="1100" b="0" dirty="0">
                  <a:solidFill>
                    <a:srgbClr val="FFFFFF"/>
                  </a:solidFill>
                  <a:latin typeface="Segoe UI"/>
                </a:rPr>
                <a:t>Generate a summary report for the team.</a:t>
              </a:r>
            </a:p>
          </p:txBody>
        </p:sp>
      </p:grpSp>
      <p:grpSp>
        <p:nvGrpSpPr>
          <p:cNvPr id="58" name="Group 57">
            <a:extLst>
              <a:ext uri="{FF2B5EF4-FFF2-40B4-BE49-F238E27FC236}">
                <a16:creationId xmlns:a16="http://schemas.microsoft.com/office/drawing/2014/main" id="{C152AB72-4514-48CD-64C5-F0C625A586DF}"/>
              </a:ext>
              <a:ext uri="{C183D7F6-B498-43B3-948B-1728B52AA6E4}">
                <adec:decorative xmlns:adec="http://schemas.microsoft.com/office/drawing/2017/decorative" val="1"/>
              </a:ext>
            </a:extLst>
          </p:cNvPr>
          <p:cNvGrpSpPr/>
          <p:nvPr/>
        </p:nvGrpSpPr>
        <p:grpSpPr>
          <a:xfrm>
            <a:off x="6332220" y="3265485"/>
            <a:ext cx="4492662" cy="463118"/>
            <a:chOff x="6332220" y="3050330"/>
            <a:chExt cx="3953499" cy="457629"/>
          </a:xfrm>
        </p:grpSpPr>
        <p:sp>
          <p:nvSpPr>
            <p:cNvPr id="29" name="Rounded Rectangle 28">
              <a:extLst>
                <a:ext uri="{FF2B5EF4-FFF2-40B4-BE49-F238E27FC236}">
                  <a16:creationId xmlns:a16="http://schemas.microsoft.com/office/drawing/2014/main" id="{31561781-592A-54A9-8AE2-7C0866621F07}"/>
                </a:ext>
              </a:extLst>
            </p:cNvPr>
            <p:cNvSpPr/>
            <p:nvPr/>
          </p:nvSpPr>
          <p:spPr>
            <a:xfrm>
              <a:off x="6332220" y="3050330"/>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a:extLst>
                <a:ext uri="{FF2B5EF4-FFF2-40B4-BE49-F238E27FC236}">
                  <a16:creationId xmlns:a16="http://schemas.microsoft.com/office/drawing/2014/main" id="{13D940B3-A05C-1CBB-95A2-27729CB6FB99}"/>
                </a:ext>
              </a:extLst>
            </p:cNvPr>
            <p:cNvSpPr txBox="1"/>
            <p:nvPr/>
          </p:nvSpPr>
          <p:spPr>
            <a:xfrm>
              <a:off x="6414516" y="3077072"/>
              <a:ext cx="3788907" cy="430887"/>
            </a:xfrm>
            <a:prstGeom prst="rect">
              <a:avLst/>
            </a:prstGeom>
            <a:noFill/>
          </p:spPr>
          <p:txBody>
            <a:bodyPr wrap="square">
              <a:spAutoFit/>
            </a:bodyPr>
            <a:lstStyle/>
            <a:p>
              <a:pPr algn="l"/>
              <a:r>
                <a:rPr sz="1100" b="0" dirty="0">
                  <a:solidFill>
                    <a:srgbClr val="333333"/>
                  </a:solidFill>
                  <a:latin typeface="Segoe UI"/>
                </a:rPr>
                <a:t>Report generated — 2-page summary with source links attached.</a:t>
              </a:r>
            </a:p>
          </p:txBody>
        </p:sp>
      </p:grpSp>
      <p:grpSp>
        <p:nvGrpSpPr>
          <p:cNvPr id="89" name="Group 88">
            <a:extLst>
              <a:ext uri="{FF2B5EF4-FFF2-40B4-BE49-F238E27FC236}">
                <a16:creationId xmlns:a16="http://schemas.microsoft.com/office/drawing/2014/main" id="{D3571D52-BD9C-F805-6533-949B016C872D}"/>
              </a:ext>
              <a:ext uri="{C183D7F6-B498-43B3-948B-1728B52AA6E4}">
                <adec:decorative xmlns:adec="http://schemas.microsoft.com/office/drawing/2017/decorative" val="1"/>
              </a:ext>
            </a:extLst>
          </p:cNvPr>
          <p:cNvGrpSpPr/>
          <p:nvPr/>
        </p:nvGrpSpPr>
        <p:grpSpPr>
          <a:xfrm>
            <a:off x="502920" y="3789318"/>
            <a:ext cx="5577840" cy="2483466"/>
            <a:chOff x="502920" y="3789318"/>
            <a:chExt cx="5577840" cy="2483466"/>
          </a:xfrm>
        </p:grpSpPr>
        <p:sp>
          <p:nvSpPr>
            <p:cNvPr id="60" name="Rounded Rectangle 59">
              <a:extLst>
                <a:ext uri="{FF2B5EF4-FFF2-40B4-BE49-F238E27FC236}">
                  <a16:creationId xmlns:a16="http://schemas.microsoft.com/office/drawing/2014/main" id="{E3F91047-E82C-B772-F2CD-27933FEA53B8}"/>
                </a:ext>
              </a:extLst>
            </p:cNvPr>
            <p:cNvSpPr/>
            <p:nvPr/>
          </p:nvSpPr>
          <p:spPr>
            <a:xfrm>
              <a:off x="546354" y="3812468"/>
              <a:ext cx="5490972" cy="24603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Rounded Rectangle 60">
              <a:extLst>
                <a:ext uri="{FF2B5EF4-FFF2-40B4-BE49-F238E27FC236}">
                  <a16:creationId xmlns:a16="http://schemas.microsoft.com/office/drawing/2014/main" id="{5E24659F-D8D0-1DA4-D8E6-D90D4E7B99BD}"/>
                </a:ext>
              </a:extLst>
            </p:cNvPr>
            <p:cNvSpPr/>
            <p:nvPr/>
          </p:nvSpPr>
          <p:spPr>
            <a:xfrm>
              <a:off x="502920" y="3789318"/>
              <a:ext cx="5577840" cy="457200"/>
            </a:xfrm>
            <a:prstGeom prst="roundRect">
              <a:avLst/>
            </a:prstGeom>
            <a:solidFill>
              <a:srgbClr val="FF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Oval 62">
              <a:extLst>
                <a:ext uri="{FF2B5EF4-FFF2-40B4-BE49-F238E27FC236}">
                  <a16:creationId xmlns:a16="http://schemas.microsoft.com/office/drawing/2014/main" id="{C371B687-449E-A5FA-8868-8F5F8ED97741}"/>
                </a:ext>
              </a:extLst>
            </p:cNvPr>
            <p:cNvSpPr/>
            <p:nvPr/>
          </p:nvSpPr>
          <p:spPr>
            <a:xfrm>
              <a:off x="640080" y="3878327"/>
              <a:ext cx="256032" cy="25603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a:extLst>
                <a:ext uri="{FF2B5EF4-FFF2-40B4-BE49-F238E27FC236}">
                  <a16:creationId xmlns:a16="http://schemas.microsoft.com/office/drawing/2014/main" id="{FF0F6D0D-38A5-333B-6FF9-C80A949FA119}"/>
                </a:ext>
              </a:extLst>
            </p:cNvPr>
            <p:cNvSpPr txBox="1"/>
            <p:nvPr/>
          </p:nvSpPr>
          <p:spPr>
            <a:xfrm>
              <a:off x="978408" y="3866753"/>
              <a:ext cx="4878324" cy="338554"/>
            </a:xfrm>
            <a:prstGeom prst="rect">
              <a:avLst/>
            </a:prstGeom>
            <a:noFill/>
          </p:spPr>
          <p:txBody>
            <a:bodyPr wrap="square">
              <a:spAutoFit/>
            </a:bodyPr>
            <a:lstStyle/>
            <a:p>
              <a:pPr algn="l"/>
              <a:r>
                <a:rPr sz="1600" b="1" dirty="0">
                  <a:solidFill>
                    <a:srgbClr val="BE185D"/>
                  </a:solidFill>
                  <a:latin typeface="Segoe UI"/>
                </a:rPr>
                <a:t>Sales</a:t>
              </a:r>
            </a:p>
          </p:txBody>
        </p:sp>
        <p:sp>
          <p:nvSpPr>
            <p:cNvPr id="65" name="Rounded Rectangle 64">
              <a:extLst>
                <a:ext uri="{FF2B5EF4-FFF2-40B4-BE49-F238E27FC236}">
                  <a16:creationId xmlns:a16="http://schemas.microsoft.com/office/drawing/2014/main" id="{3DC46DBF-8AFF-B7BE-B926-F30660CB8F95}"/>
                </a:ext>
              </a:extLst>
            </p:cNvPr>
            <p:cNvSpPr/>
            <p:nvPr/>
          </p:nvSpPr>
          <p:spPr>
            <a:xfrm>
              <a:off x="1903232" y="4425696"/>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a:extLst>
                <a:ext uri="{FF2B5EF4-FFF2-40B4-BE49-F238E27FC236}">
                  <a16:creationId xmlns:a16="http://schemas.microsoft.com/office/drawing/2014/main" id="{CE8BD59B-8909-DD12-6B6E-FBE6E7C5A794}"/>
                </a:ext>
              </a:extLst>
            </p:cNvPr>
            <p:cNvSpPr txBox="1"/>
            <p:nvPr/>
          </p:nvSpPr>
          <p:spPr>
            <a:xfrm>
              <a:off x="1985528" y="4480560"/>
              <a:ext cx="3788907" cy="261610"/>
            </a:xfrm>
            <a:prstGeom prst="rect">
              <a:avLst/>
            </a:prstGeom>
            <a:noFill/>
          </p:spPr>
          <p:txBody>
            <a:bodyPr wrap="square">
              <a:spAutoFit/>
            </a:bodyPr>
            <a:lstStyle/>
            <a:p>
              <a:pPr algn="l"/>
              <a:r>
                <a:rPr sz="1100" b="0" dirty="0">
                  <a:solidFill>
                    <a:srgbClr val="FFFFFF"/>
                  </a:solidFill>
                  <a:latin typeface="Segoe UI"/>
                </a:rPr>
                <a:t>Find leads in the Pacific Northwest retail sector.</a:t>
              </a:r>
            </a:p>
          </p:txBody>
        </p:sp>
        <p:grpSp>
          <p:nvGrpSpPr>
            <p:cNvPr id="88" name="Group 87">
              <a:extLst>
                <a:ext uri="{FF2B5EF4-FFF2-40B4-BE49-F238E27FC236}">
                  <a16:creationId xmlns:a16="http://schemas.microsoft.com/office/drawing/2014/main" id="{604F13FC-8E2B-921E-EBC1-4FA036054386}"/>
                </a:ext>
              </a:extLst>
            </p:cNvPr>
            <p:cNvGrpSpPr/>
            <p:nvPr/>
          </p:nvGrpSpPr>
          <p:grpSpPr>
            <a:xfrm>
              <a:off x="640080" y="4855464"/>
              <a:ext cx="3953499" cy="476068"/>
              <a:chOff x="640080" y="4855464"/>
              <a:chExt cx="3953499" cy="476068"/>
            </a:xfrm>
          </p:grpSpPr>
          <p:sp>
            <p:nvSpPr>
              <p:cNvPr id="67" name="Rounded Rectangle 66">
                <a:extLst>
                  <a:ext uri="{FF2B5EF4-FFF2-40B4-BE49-F238E27FC236}">
                    <a16:creationId xmlns:a16="http://schemas.microsoft.com/office/drawing/2014/main" id="{C691F126-AF11-4B77-F83A-8A92942BED2F}"/>
                  </a:ext>
                </a:extLst>
              </p:cNvPr>
              <p:cNvSpPr/>
              <p:nvPr/>
            </p:nvSpPr>
            <p:spPr>
              <a:xfrm>
                <a:off x="640080" y="4855464"/>
                <a:ext cx="3953499" cy="476068"/>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a:extLst>
                  <a:ext uri="{FF2B5EF4-FFF2-40B4-BE49-F238E27FC236}">
                    <a16:creationId xmlns:a16="http://schemas.microsoft.com/office/drawing/2014/main" id="{2C16B915-9B71-360F-7FD4-D0F947624AB9}"/>
                  </a:ext>
                </a:extLst>
              </p:cNvPr>
              <p:cNvSpPr txBox="1"/>
              <p:nvPr/>
            </p:nvSpPr>
            <p:spPr>
              <a:xfrm>
                <a:off x="722376" y="4875603"/>
                <a:ext cx="3788907" cy="430887"/>
              </a:xfrm>
              <a:prstGeom prst="rect">
                <a:avLst/>
              </a:prstGeom>
              <a:noFill/>
            </p:spPr>
            <p:txBody>
              <a:bodyPr wrap="square">
                <a:spAutoFit/>
              </a:bodyPr>
              <a:lstStyle/>
              <a:p>
                <a:pPr algn="l"/>
                <a:r>
                  <a:rPr sz="1100" b="0" dirty="0">
                    <a:solidFill>
                      <a:srgbClr val="333333"/>
                    </a:solidFill>
                    <a:latin typeface="Segoe UI"/>
                  </a:rPr>
                  <a:t>Found 14 leads. Drafted personalized emails and flagged 3 as high-priority for calls.</a:t>
                </a:r>
              </a:p>
            </p:txBody>
          </p:sp>
        </p:grpSp>
        <p:grpSp>
          <p:nvGrpSpPr>
            <p:cNvPr id="86" name="Group 85">
              <a:extLst>
                <a:ext uri="{FF2B5EF4-FFF2-40B4-BE49-F238E27FC236}">
                  <a16:creationId xmlns:a16="http://schemas.microsoft.com/office/drawing/2014/main" id="{DFAB7B37-0DB6-AFE3-D1A5-3B61B91E4C06}"/>
                </a:ext>
              </a:extLst>
            </p:cNvPr>
            <p:cNvGrpSpPr/>
            <p:nvPr/>
          </p:nvGrpSpPr>
          <p:grpSpPr>
            <a:xfrm>
              <a:off x="1903232" y="5424132"/>
              <a:ext cx="3953499" cy="347472"/>
              <a:chOff x="1903232" y="5331532"/>
              <a:chExt cx="3953499" cy="347472"/>
            </a:xfrm>
          </p:grpSpPr>
          <p:sp>
            <p:nvSpPr>
              <p:cNvPr id="69" name="Rounded Rectangle 68">
                <a:extLst>
                  <a:ext uri="{FF2B5EF4-FFF2-40B4-BE49-F238E27FC236}">
                    <a16:creationId xmlns:a16="http://schemas.microsoft.com/office/drawing/2014/main" id="{8A00B16B-DDA2-0FE2-BEAE-13697E6BBF87}"/>
                  </a:ext>
                </a:extLst>
              </p:cNvPr>
              <p:cNvSpPr/>
              <p:nvPr/>
            </p:nvSpPr>
            <p:spPr>
              <a:xfrm>
                <a:off x="1903232" y="5331532"/>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69">
                <a:extLst>
                  <a:ext uri="{FF2B5EF4-FFF2-40B4-BE49-F238E27FC236}">
                    <a16:creationId xmlns:a16="http://schemas.microsoft.com/office/drawing/2014/main" id="{7CEC2CE9-4384-E881-F57F-D85399792091}"/>
                  </a:ext>
                </a:extLst>
              </p:cNvPr>
              <p:cNvSpPr txBox="1"/>
              <p:nvPr/>
            </p:nvSpPr>
            <p:spPr>
              <a:xfrm>
                <a:off x="1985528" y="5386396"/>
                <a:ext cx="3788907" cy="261610"/>
              </a:xfrm>
              <a:prstGeom prst="rect">
                <a:avLst/>
              </a:prstGeom>
              <a:noFill/>
            </p:spPr>
            <p:txBody>
              <a:bodyPr wrap="square">
                <a:spAutoFit/>
              </a:bodyPr>
              <a:lstStyle/>
              <a:p>
                <a:pPr algn="l"/>
                <a:r>
                  <a:rPr sz="1100" b="0" dirty="0">
                    <a:solidFill>
                      <a:srgbClr val="FFFFFF"/>
                    </a:solidFill>
                    <a:latin typeface="Segoe UI"/>
                  </a:rPr>
                  <a:t>Schedule the priority calls for this week.</a:t>
                </a:r>
              </a:p>
            </p:txBody>
          </p:sp>
        </p:grpSp>
        <p:grpSp>
          <p:nvGrpSpPr>
            <p:cNvPr id="87" name="Group 86">
              <a:extLst>
                <a:ext uri="{FF2B5EF4-FFF2-40B4-BE49-F238E27FC236}">
                  <a16:creationId xmlns:a16="http://schemas.microsoft.com/office/drawing/2014/main" id="{9849817D-5761-ADBF-EFFC-4FE13A82B8E1}"/>
                </a:ext>
              </a:extLst>
            </p:cNvPr>
            <p:cNvGrpSpPr/>
            <p:nvPr/>
          </p:nvGrpSpPr>
          <p:grpSpPr>
            <a:xfrm>
              <a:off x="640081" y="5853900"/>
              <a:ext cx="4195446" cy="347472"/>
              <a:chOff x="640081" y="5715000"/>
              <a:chExt cx="4195446" cy="347472"/>
            </a:xfrm>
          </p:grpSpPr>
          <p:sp>
            <p:nvSpPr>
              <p:cNvPr id="71" name="Rounded Rectangle 70">
                <a:extLst>
                  <a:ext uri="{FF2B5EF4-FFF2-40B4-BE49-F238E27FC236}">
                    <a16:creationId xmlns:a16="http://schemas.microsoft.com/office/drawing/2014/main" id="{A86BE341-F5A6-2828-6B75-0A696D109E8B}"/>
                  </a:ext>
                </a:extLst>
              </p:cNvPr>
              <p:cNvSpPr/>
              <p:nvPr/>
            </p:nvSpPr>
            <p:spPr>
              <a:xfrm>
                <a:off x="640081" y="5715000"/>
                <a:ext cx="4195446"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2" name="TextBox 71">
                <a:extLst>
                  <a:ext uri="{FF2B5EF4-FFF2-40B4-BE49-F238E27FC236}">
                    <a16:creationId xmlns:a16="http://schemas.microsoft.com/office/drawing/2014/main" id="{013C9FB1-80BB-C9A4-03C6-63A50D1F7C22}"/>
                  </a:ext>
                </a:extLst>
              </p:cNvPr>
              <p:cNvSpPr txBox="1"/>
              <p:nvPr/>
            </p:nvSpPr>
            <p:spPr>
              <a:xfrm>
                <a:off x="722377" y="5769864"/>
                <a:ext cx="4020782" cy="261610"/>
              </a:xfrm>
              <a:prstGeom prst="rect">
                <a:avLst/>
              </a:prstGeom>
              <a:noFill/>
            </p:spPr>
            <p:txBody>
              <a:bodyPr wrap="square">
                <a:spAutoFit/>
              </a:bodyPr>
              <a:lstStyle/>
              <a:p>
                <a:pPr algn="l"/>
                <a:r>
                  <a:rPr sz="1100" b="0" dirty="0">
                    <a:solidFill>
                      <a:srgbClr val="333333"/>
                    </a:solidFill>
                    <a:latin typeface="Segoe UI"/>
                  </a:rPr>
                  <a:t>Calls booked Tuesday and Thursday — calendar invites sent.</a:t>
                </a:r>
              </a:p>
            </p:txBody>
          </p:sp>
        </p:grpSp>
      </p:grpSp>
      <p:grpSp>
        <p:nvGrpSpPr>
          <p:cNvPr id="90" name="Group 89">
            <a:extLst>
              <a:ext uri="{FF2B5EF4-FFF2-40B4-BE49-F238E27FC236}">
                <a16:creationId xmlns:a16="http://schemas.microsoft.com/office/drawing/2014/main" id="{7ED4B292-518E-7926-DB01-ED2C3BCFA377}"/>
              </a:ext>
              <a:ext uri="{C183D7F6-B498-43B3-948B-1728B52AA6E4}">
                <adec:decorative xmlns:adec="http://schemas.microsoft.com/office/drawing/2017/decorative" val="1"/>
              </a:ext>
            </a:extLst>
          </p:cNvPr>
          <p:cNvGrpSpPr/>
          <p:nvPr/>
        </p:nvGrpSpPr>
        <p:grpSpPr>
          <a:xfrm>
            <a:off x="6195060" y="3751753"/>
            <a:ext cx="5577840" cy="2497881"/>
            <a:chOff x="6195060" y="3774903"/>
            <a:chExt cx="5577840" cy="2497881"/>
          </a:xfrm>
        </p:grpSpPr>
        <p:sp>
          <p:nvSpPr>
            <p:cNvPr id="73" name="Rounded Rectangle 72">
              <a:extLst>
                <a:ext uri="{FF2B5EF4-FFF2-40B4-BE49-F238E27FC236}">
                  <a16:creationId xmlns:a16="http://schemas.microsoft.com/office/drawing/2014/main" id="{43700B30-2014-6B03-45DC-8FAD95BA8619}"/>
                </a:ext>
              </a:extLst>
            </p:cNvPr>
            <p:cNvSpPr/>
            <p:nvPr/>
          </p:nvSpPr>
          <p:spPr>
            <a:xfrm>
              <a:off x="6238494" y="3858768"/>
              <a:ext cx="5490972" cy="24140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1CE25FFD-90E5-06F9-3F76-580EE393A266}"/>
                </a:ext>
              </a:extLst>
            </p:cNvPr>
            <p:cNvSpPr/>
            <p:nvPr/>
          </p:nvSpPr>
          <p:spPr>
            <a:xfrm>
              <a:off x="6195060" y="3774903"/>
              <a:ext cx="5577840" cy="517915"/>
            </a:xfrm>
            <a:prstGeom prst="round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Oval 75">
              <a:extLst>
                <a:ext uri="{FF2B5EF4-FFF2-40B4-BE49-F238E27FC236}">
                  <a16:creationId xmlns:a16="http://schemas.microsoft.com/office/drawing/2014/main" id="{BCE6091C-4CA0-79BD-6FB0-59031A2B8EC5}"/>
                </a:ext>
              </a:extLst>
            </p:cNvPr>
            <p:cNvSpPr/>
            <p:nvPr/>
          </p:nvSpPr>
          <p:spPr>
            <a:xfrm>
              <a:off x="6332220" y="3959352"/>
              <a:ext cx="256032" cy="25603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7" name="TextBox 76">
              <a:extLst>
                <a:ext uri="{FF2B5EF4-FFF2-40B4-BE49-F238E27FC236}">
                  <a16:creationId xmlns:a16="http://schemas.microsoft.com/office/drawing/2014/main" id="{4A62D399-2B89-DE10-F0C4-F05BABA76E13}"/>
                </a:ext>
              </a:extLst>
            </p:cNvPr>
            <p:cNvSpPr txBox="1"/>
            <p:nvPr/>
          </p:nvSpPr>
          <p:spPr>
            <a:xfrm>
              <a:off x="6670548" y="3913052"/>
              <a:ext cx="4878324" cy="338554"/>
            </a:xfrm>
            <a:prstGeom prst="rect">
              <a:avLst/>
            </a:prstGeom>
            <a:noFill/>
          </p:spPr>
          <p:txBody>
            <a:bodyPr wrap="square">
              <a:spAutoFit/>
            </a:bodyPr>
            <a:lstStyle/>
            <a:p>
              <a:pPr algn="l"/>
              <a:r>
                <a:rPr sz="1600" b="1" dirty="0">
                  <a:solidFill>
                    <a:srgbClr val="B91C1C"/>
                  </a:solidFill>
                  <a:latin typeface="Segoe UI"/>
                </a:rPr>
                <a:t>Customer service</a:t>
              </a:r>
            </a:p>
          </p:txBody>
        </p:sp>
        <p:sp>
          <p:nvSpPr>
            <p:cNvPr id="78" name="Rounded Rectangle 77">
              <a:extLst>
                <a:ext uri="{FF2B5EF4-FFF2-40B4-BE49-F238E27FC236}">
                  <a16:creationId xmlns:a16="http://schemas.microsoft.com/office/drawing/2014/main" id="{DDA4853B-5EAD-B5A5-3930-C1863EC79F89}"/>
                </a:ext>
              </a:extLst>
            </p:cNvPr>
            <p:cNvSpPr/>
            <p:nvPr/>
          </p:nvSpPr>
          <p:spPr>
            <a:xfrm>
              <a:off x="7595372" y="4425696"/>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9" name="TextBox 78">
              <a:extLst>
                <a:ext uri="{FF2B5EF4-FFF2-40B4-BE49-F238E27FC236}">
                  <a16:creationId xmlns:a16="http://schemas.microsoft.com/office/drawing/2014/main" id="{21465D06-8A46-8483-A18B-7E3844AB7300}"/>
                </a:ext>
              </a:extLst>
            </p:cNvPr>
            <p:cNvSpPr txBox="1"/>
            <p:nvPr/>
          </p:nvSpPr>
          <p:spPr>
            <a:xfrm>
              <a:off x="7677668" y="4480560"/>
              <a:ext cx="3788907" cy="261610"/>
            </a:xfrm>
            <a:prstGeom prst="rect">
              <a:avLst/>
            </a:prstGeom>
            <a:noFill/>
          </p:spPr>
          <p:txBody>
            <a:bodyPr wrap="square">
              <a:spAutoFit/>
            </a:bodyPr>
            <a:lstStyle/>
            <a:p>
              <a:pPr algn="l"/>
              <a:r>
                <a:rPr sz="1100" b="0">
                  <a:solidFill>
                    <a:srgbClr val="FFFFFF"/>
                  </a:solidFill>
                  <a:latin typeface="Segoe UI"/>
                </a:rPr>
                <a:t>I need a refund for order #4821.</a:t>
              </a:r>
            </a:p>
          </p:txBody>
        </p:sp>
        <p:sp>
          <p:nvSpPr>
            <p:cNvPr id="80" name="Rounded Rectangle 79">
              <a:extLst>
                <a:ext uri="{FF2B5EF4-FFF2-40B4-BE49-F238E27FC236}">
                  <a16:creationId xmlns:a16="http://schemas.microsoft.com/office/drawing/2014/main" id="{2FFA906C-AF8D-98FC-AB53-F3E549749114}"/>
                </a:ext>
              </a:extLst>
            </p:cNvPr>
            <p:cNvSpPr/>
            <p:nvPr/>
          </p:nvSpPr>
          <p:spPr>
            <a:xfrm>
              <a:off x="6332220" y="4855464"/>
              <a:ext cx="4999395"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1" name="TextBox 80">
              <a:extLst>
                <a:ext uri="{FF2B5EF4-FFF2-40B4-BE49-F238E27FC236}">
                  <a16:creationId xmlns:a16="http://schemas.microsoft.com/office/drawing/2014/main" id="{ABFF1C06-F41B-0062-9E80-3D686DDA45F2}"/>
                </a:ext>
              </a:extLst>
            </p:cNvPr>
            <p:cNvSpPr txBox="1"/>
            <p:nvPr/>
          </p:nvSpPr>
          <p:spPr>
            <a:xfrm>
              <a:off x="6414516" y="4910328"/>
              <a:ext cx="4791260" cy="261610"/>
            </a:xfrm>
            <a:prstGeom prst="rect">
              <a:avLst/>
            </a:prstGeom>
            <a:noFill/>
          </p:spPr>
          <p:txBody>
            <a:bodyPr wrap="square">
              <a:spAutoFit/>
            </a:bodyPr>
            <a:lstStyle/>
            <a:p>
              <a:pPr algn="l"/>
              <a:r>
                <a:rPr sz="1100" b="0">
                  <a:solidFill>
                    <a:srgbClr val="333333"/>
                  </a:solidFill>
                  <a:latin typeface="Segoe UI"/>
                </a:rPr>
                <a:t>Refund approved! $47.99 will return to your card in 2–3 business days.</a:t>
              </a:r>
            </a:p>
          </p:txBody>
        </p:sp>
        <p:sp>
          <p:nvSpPr>
            <p:cNvPr id="82" name="Rounded Rectangle 81">
              <a:extLst>
                <a:ext uri="{FF2B5EF4-FFF2-40B4-BE49-F238E27FC236}">
                  <a16:creationId xmlns:a16="http://schemas.microsoft.com/office/drawing/2014/main" id="{BBB5288F-C784-FD9E-C8AF-17DCC638D332}"/>
                </a:ext>
              </a:extLst>
            </p:cNvPr>
            <p:cNvSpPr/>
            <p:nvPr/>
          </p:nvSpPr>
          <p:spPr>
            <a:xfrm>
              <a:off x="7595372" y="5285232"/>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3" name="TextBox 82">
              <a:extLst>
                <a:ext uri="{FF2B5EF4-FFF2-40B4-BE49-F238E27FC236}">
                  <a16:creationId xmlns:a16="http://schemas.microsoft.com/office/drawing/2014/main" id="{CDE4D129-ED61-675A-D303-C62988D1EE9C}"/>
                </a:ext>
              </a:extLst>
            </p:cNvPr>
            <p:cNvSpPr txBox="1"/>
            <p:nvPr/>
          </p:nvSpPr>
          <p:spPr>
            <a:xfrm>
              <a:off x="7677668" y="5340096"/>
              <a:ext cx="3788907" cy="261610"/>
            </a:xfrm>
            <a:prstGeom prst="rect">
              <a:avLst/>
            </a:prstGeom>
            <a:noFill/>
          </p:spPr>
          <p:txBody>
            <a:bodyPr wrap="square">
              <a:spAutoFit/>
            </a:bodyPr>
            <a:lstStyle/>
            <a:p>
              <a:pPr algn="l"/>
              <a:r>
                <a:rPr sz="1100" b="0">
                  <a:solidFill>
                    <a:srgbClr val="FFFFFF"/>
                  </a:solidFill>
                  <a:latin typeface="Segoe UI"/>
                </a:rPr>
                <a:t>Can I get a confirmation email?</a:t>
              </a:r>
            </a:p>
          </p:txBody>
        </p:sp>
        <p:sp>
          <p:nvSpPr>
            <p:cNvPr id="84" name="Rounded Rectangle 83">
              <a:extLst>
                <a:ext uri="{FF2B5EF4-FFF2-40B4-BE49-F238E27FC236}">
                  <a16:creationId xmlns:a16="http://schemas.microsoft.com/office/drawing/2014/main" id="{E418917B-2396-4979-565A-688216F60BCC}"/>
                </a:ext>
              </a:extLst>
            </p:cNvPr>
            <p:cNvSpPr/>
            <p:nvPr/>
          </p:nvSpPr>
          <p:spPr>
            <a:xfrm>
              <a:off x="6332220" y="5715000"/>
              <a:ext cx="4695911"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a:extLst>
                <a:ext uri="{FF2B5EF4-FFF2-40B4-BE49-F238E27FC236}">
                  <a16:creationId xmlns:a16="http://schemas.microsoft.com/office/drawing/2014/main" id="{A35568EE-2669-FBD9-AB97-D0FE00898188}"/>
                </a:ext>
              </a:extLst>
            </p:cNvPr>
            <p:cNvSpPr txBox="1"/>
            <p:nvPr/>
          </p:nvSpPr>
          <p:spPr>
            <a:xfrm>
              <a:off x="6414516" y="5769864"/>
              <a:ext cx="4500411" cy="261610"/>
            </a:xfrm>
            <a:prstGeom prst="rect">
              <a:avLst/>
            </a:prstGeom>
            <a:noFill/>
          </p:spPr>
          <p:txBody>
            <a:bodyPr wrap="square">
              <a:spAutoFit/>
            </a:bodyPr>
            <a:lstStyle/>
            <a:p>
              <a:pPr algn="l"/>
              <a:r>
                <a:rPr sz="1100" b="0" dirty="0">
                  <a:solidFill>
                    <a:srgbClr val="333333"/>
                  </a:solidFill>
                  <a:latin typeface="Segoe UI"/>
                </a:rPr>
                <a:t>Sent to your registered email. Is there anything else I can help with?</a:t>
              </a:r>
            </a:p>
          </p:txBody>
        </p:sp>
      </p:grpSp>
    </p:spTree>
    <p:extLst>
      <p:ext uri="{BB962C8B-B14F-4D97-AF65-F5344CB8AC3E}">
        <p14:creationId xmlns:p14="http://schemas.microsoft.com/office/powerpoint/2010/main" val="251765587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9659CCDC-0E78-32B8-1E82-6140BE8119B4}"/>
              </a:ext>
              <a:ext uri="{C183D7F6-B498-43B3-948B-1728B52AA6E4}">
                <adec:decorative xmlns:adec="http://schemas.microsoft.com/office/drawing/2017/decorative" val="1"/>
              </a:ext>
            </a:extLst>
          </p:cNvPr>
          <p:cNvCxnSpPr>
            <a:stCxn id="5" idx="6"/>
            <a:endCxn id="15" idx="2"/>
          </p:cNvCxnSpPr>
          <p:nvPr/>
        </p:nvCxnSpPr>
        <p:spPr>
          <a:xfrm>
            <a:off x="1149636" y="183379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E796111-5806-3E75-6093-BFDF7F55D278}"/>
              </a:ext>
            </a:extLst>
          </p:cNvPr>
          <p:cNvSpPr>
            <a:spLocks noGrp="1"/>
          </p:cNvSpPr>
          <p:nvPr>
            <p:ph type="title"/>
          </p:nvPr>
        </p:nvSpPr>
        <p:spPr>
          <a:xfrm>
            <a:off x="588261" y="585216"/>
            <a:ext cx="11011601" cy="492443"/>
          </a:xfrm>
        </p:spPr>
        <p:txBody>
          <a:bodyPr/>
          <a:lstStyle/>
          <a:p>
            <a:r>
              <a:rPr lang="en-US" sz="3200" dirty="0"/>
              <a:t>Typical development workflow</a:t>
            </a:r>
          </a:p>
        </p:txBody>
      </p:sp>
      <p:sp>
        <p:nvSpPr>
          <p:cNvPr id="3" name="Footer Placeholder 2">
            <a:extLst>
              <a:ext uri="{FF2B5EF4-FFF2-40B4-BE49-F238E27FC236}">
                <a16:creationId xmlns:a16="http://schemas.microsoft.com/office/drawing/2014/main" id="{102515E2-6117-C196-0D6E-7F183F13D40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0" name="Group 9">
            <a:extLst>
              <a:ext uri="{FF2B5EF4-FFF2-40B4-BE49-F238E27FC236}">
                <a16:creationId xmlns:a16="http://schemas.microsoft.com/office/drawing/2014/main" id="{EB81A082-3E96-8FD0-5D4C-5FE6F20C4277}"/>
              </a:ext>
              <a:ext uri="{C183D7F6-B498-43B3-948B-1728B52AA6E4}">
                <adec:decorative xmlns:adec="http://schemas.microsoft.com/office/drawing/2017/decorative" val="1"/>
              </a:ext>
            </a:extLst>
          </p:cNvPr>
          <p:cNvGrpSpPr/>
          <p:nvPr/>
        </p:nvGrpSpPr>
        <p:grpSpPr>
          <a:xfrm>
            <a:off x="692436" y="1605195"/>
            <a:ext cx="2949205" cy="752974"/>
            <a:chOff x="588261" y="1805651"/>
            <a:chExt cx="2949205" cy="752974"/>
          </a:xfrm>
        </p:grpSpPr>
        <p:sp>
          <p:nvSpPr>
            <p:cNvPr id="5" name="Oval 4">
              <a:extLst>
                <a:ext uri="{FF2B5EF4-FFF2-40B4-BE49-F238E27FC236}">
                  <a16:creationId xmlns:a16="http://schemas.microsoft.com/office/drawing/2014/main" id="{9526C55F-9613-7F0D-D9D8-2D12B11F5D01}"/>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6" name="TextBox 5">
              <a:extLst>
                <a:ext uri="{FF2B5EF4-FFF2-40B4-BE49-F238E27FC236}">
                  <a16:creationId xmlns:a16="http://schemas.microsoft.com/office/drawing/2014/main" id="{87952FD0-F365-024E-A710-4F482AEAA662}"/>
                </a:ext>
              </a:extLst>
            </p:cNvPr>
            <p:cNvSpPr txBox="1"/>
            <p:nvPr/>
          </p:nvSpPr>
          <p:spPr>
            <a:xfrm>
              <a:off x="588261" y="2312404"/>
              <a:ext cx="2949205" cy="246221"/>
            </a:xfrm>
            <a:prstGeom prst="rect">
              <a:avLst/>
            </a:prstGeom>
            <a:noFill/>
          </p:spPr>
          <p:txBody>
            <a:bodyPr wrap="none" lIns="0" tIns="0" rIns="0" bIns="0" rtlCol="0">
              <a:spAutoFit/>
            </a:bodyPr>
            <a:lstStyle/>
            <a:p>
              <a:pPr algn="l"/>
              <a:r>
                <a:rPr lang="en-US" sz="1600" dirty="0"/>
                <a:t>Connect to your Foundry project</a:t>
              </a:r>
            </a:p>
          </p:txBody>
        </p:sp>
      </p:grpSp>
      <p:grpSp>
        <p:nvGrpSpPr>
          <p:cNvPr id="9" name="Group 8">
            <a:extLst>
              <a:ext uri="{FF2B5EF4-FFF2-40B4-BE49-F238E27FC236}">
                <a16:creationId xmlns:a16="http://schemas.microsoft.com/office/drawing/2014/main" id="{5E25BAAA-348B-1A5E-D531-AF1BE54C9B31}"/>
              </a:ext>
              <a:ext uri="{C183D7F6-B498-43B3-948B-1728B52AA6E4}">
                <adec:decorative xmlns:adec="http://schemas.microsoft.com/office/drawing/2017/decorative" val="1"/>
              </a:ext>
            </a:extLst>
          </p:cNvPr>
          <p:cNvGrpSpPr/>
          <p:nvPr/>
        </p:nvGrpSpPr>
        <p:grpSpPr>
          <a:xfrm>
            <a:off x="4011805" y="1605195"/>
            <a:ext cx="1674048" cy="752974"/>
            <a:chOff x="3761654" y="1805651"/>
            <a:chExt cx="1674048" cy="752974"/>
          </a:xfrm>
        </p:grpSpPr>
        <p:sp>
          <p:nvSpPr>
            <p:cNvPr id="7" name="Oval 6">
              <a:extLst>
                <a:ext uri="{FF2B5EF4-FFF2-40B4-BE49-F238E27FC236}">
                  <a16:creationId xmlns:a16="http://schemas.microsoft.com/office/drawing/2014/main" id="{C147F0BA-0EEA-1C73-F182-D8E9ACEA93AB}"/>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8" name="TextBox 7">
              <a:extLst>
                <a:ext uri="{FF2B5EF4-FFF2-40B4-BE49-F238E27FC236}">
                  <a16:creationId xmlns:a16="http://schemas.microsoft.com/office/drawing/2014/main" id="{D04B4CE0-7A70-FF1B-D824-65AAE99FCE1A}"/>
                </a:ext>
              </a:extLst>
            </p:cNvPr>
            <p:cNvSpPr txBox="1"/>
            <p:nvPr/>
          </p:nvSpPr>
          <p:spPr>
            <a:xfrm>
              <a:off x="3761654" y="2312404"/>
              <a:ext cx="1674048" cy="246221"/>
            </a:xfrm>
            <a:prstGeom prst="rect">
              <a:avLst/>
            </a:prstGeom>
            <a:noFill/>
          </p:spPr>
          <p:txBody>
            <a:bodyPr wrap="none" lIns="0" tIns="0" rIns="0" bIns="0" rtlCol="0">
              <a:spAutoFit/>
            </a:bodyPr>
            <a:lstStyle/>
            <a:p>
              <a:pPr algn="l"/>
              <a:r>
                <a:rPr lang="en-US" sz="1600" dirty="0"/>
                <a:t>Create an AI agent</a:t>
              </a:r>
            </a:p>
          </p:txBody>
        </p:sp>
      </p:grpSp>
      <p:grpSp>
        <p:nvGrpSpPr>
          <p:cNvPr id="11" name="Group 10">
            <a:extLst>
              <a:ext uri="{FF2B5EF4-FFF2-40B4-BE49-F238E27FC236}">
                <a16:creationId xmlns:a16="http://schemas.microsoft.com/office/drawing/2014/main" id="{A72F68C7-45CB-E1CF-5BEF-7924DBE388C2}"/>
              </a:ext>
              <a:ext uri="{C183D7F6-B498-43B3-948B-1728B52AA6E4}">
                <adec:decorative xmlns:adec="http://schemas.microsoft.com/office/drawing/2017/decorative" val="1"/>
              </a:ext>
            </a:extLst>
          </p:cNvPr>
          <p:cNvGrpSpPr/>
          <p:nvPr/>
        </p:nvGrpSpPr>
        <p:grpSpPr>
          <a:xfrm>
            <a:off x="6115821" y="1605195"/>
            <a:ext cx="2560509" cy="752974"/>
            <a:chOff x="3761654" y="1805651"/>
            <a:chExt cx="2560509" cy="752974"/>
          </a:xfrm>
        </p:grpSpPr>
        <p:sp>
          <p:nvSpPr>
            <p:cNvPr id="12" name="Oval 11">
              <a:extLst>
                <a:ext uri="{FF2B5EF4-FFF2-40B4-BE49-F238E27FC236}">
                  <a16:creationId xmlns:a16="http://schemas.microsoft.com/office/drawing/2014/main" id="{39F5CBAA-52C3-21CC-BA8F-3D573AD7A1E2}"/>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3</a:t>
              </a:r>
            </a:p>
          </p:txBody>
        </p:sp>
        <p:sp>
          <p:nvSpPr>
            <p:cNvPr id="13" name="TextBox 12">
              <a:extLst>
                <a:ext uri="{FF2B5EF4-FFF2-40B4-BE49-F238E27FC236}">
                  <a16:creationId xmlns:a16="http://schemas.microsoft.com/office/drawing/2014/main" id="{3547E951-B718-10EF-E1EB-F3F733105BA6}"/>
                </a:ext>
              </a:extLst>
            </p:cNvPr>
            <p:cNvSpPr txBox="1"/>
            <p:nvPr/>
          </p:nvSpPr>
          <p:spPr>
            <a:xfrm>
              <a:off x="3761654" y="2312404"/>
              <a:ext cx="2560509" cy="246221"/>
            </a:xfrm>
            <a:prstGeom prst="rect">
              <a:avLst/>
            </a:prstGeom>
            <a:noFill/>
          </p:spPr>
          <p:txBody>
            <a:bodyPr wrap="none" lIns="0" tIns="0" rIns="0" bIns="0" rtlCol="0">
              <a:spAutoFit/>
            </a:bodyPr>
            <a:lstStyle/>
            <a:p>
              <a:pPr algn="l"/>
              <a:r>
                <a:rPr lang="en-US" sz="1600" dirty="0"/>
                <a:t>Configure agent instructions</a:t>
              </a:r>
            </a:p>
          </p:txBody>
        </p:sp>
      </p:grpSp>
      <p:grpSp>
        <p:nvGrpSpPr>
          <p:cNvPr id="14" name="Group 13">
            <a:extLst>
              <a:ext uri="{FF2B5EF4-FFF2-40B4-BE49-F238E27FC236}">
                <a16:creationId xmlns:a16="http://schemas.microsoft.com/office/drawing/2014/main" id="{70F7C2A8-BB53-CABE-4050-F7C195B0DF9E}"/>
              </a:ext>
              <a:ext uri="{C183D7F6-B498-43B3-948B-1728B52AA6E4}">
                <adec:decorative xmlns:adec="http://schemas.microsoft.com/office/drawing/2017/decorative" val="1"/>
              </a:ext>
            </a:extLst>
          </p:cNvPr>
          <p:cNvGrpSpPr/>
          <p:nvPr/>
        </p:nvGrpSpPr>
        <p:grpSpPr>
          <a:xfrm>
            <a:off x="9203689" y="1605195"/>
            <a:ext cx="873637" cy="752974"/>
            <a:chOff x="3761654" y="1805651"/>
            <a:chExt cx="873637" cy="752974"/>
          </a:xfrm>
        </p:grpSpPr>
        <p:sp>
          <p:nvSpPr>
            <p:cNvPr id="15" name="Oval 14">
              <a:extLst>
                <a:ext uri="{FF2B5EF4-FFF2-40B4-BE49-F238E27FC236}">
                  <a16:creationId xmlns:a16="http://schemas.microsoft.com/office/drawing/2014/main" id="{80B566DF-753F-0B7A-EC25-69AF1099C6A4}"/>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4</a:t>
              </a:r>
            </a:p>
          </p:txBody>
        </p:sp>
        <p:sp>
          <p:nvSpPr>
            <p:cNvPr id="16" name="TextBox 15">
              <a:extLst>
                <a:ext uri="{FF2B5EF4-FFF2-40B4-BE49-F238E27FC236}">
                  <a16:creationId xmlns:a16="http://schemas.microsoft.com/office/drawing/2014/main" id="{3EECC3F8-29B5-57FC-4B13-B49F757F01B8}"/>
                </a:ext>
              </a:extLst>
            </p:cNvPr>
            <p:cNvSpPr txBox="1"/>
            <p:nvPr/>
          </p:nvSpPr>
          <p:spPr>
            <a:xfrm>
              <a:off x="3761654" y="2312404"/>
              <a:ext cx="873637" cy="246221"/>
            </a:xfrm>
            <a:prstGeom prst="rect">
              <a:avLst/>
            </a:prstGeom>
            <a:noFill/>
          </p:spPr>
          <p:txBody>
            <a:bodyPr wrap="none" lIns="0" tIns="0" rIns="0" bIns="0" rtlCol="0">
              <a:spAutoFit/>
            </a:bodyPr>
            <a:lstStyle/>
            <a:p>
              <a:pPr algn="l"/>
              <a:r>
                <a:rPr lang="en-US" sz="1600" dirty="0"/>
                <a:t>Add tools</a:t>
              </a:r>
            </a:p>
          </p:txBody>
        </p:sp>
      </p:grpSp>
      <p:cxnSp>
        <p:nvCxnSpPr>
          <p:cNvPr id="19" name="Straight Connector 18">
            <a:extLst>
              <a:ext uri="{FF2B5EF4-FFF2-40B4-BE49-F238E27FC236}">
                <a16:creationId xmlns:a16="http://schemas.microsoft.com/office/drawing/2014/main" id="{D814A76A-5A64-E8A3-EF02-F07ED7497AD4}"/>
              </a:ext>
              <a:ext uri="{C183D7F6-B498-43B3-948B-1728B52AA6E4}">
                <adec:decorative xmlns:adec="http://schemas.microsoft.com/office/drawing/2017/decorative" val="1"/>
              </a:ext>
            </a:extLst>
          </p:cNvPr>
          <p:cNvCxnSpPr>
            <a:stCxn id="21" idx="6"/>
            <a:endCxn id="30" idx="2"/>
          </p:cNvCxnSpPr>
          <p:nvPr/>
        </p:nvCxnSpPr>
        <p:spPr>
          <a:xfrm>
            <a:off x="1149636" y="323558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243F3C1-A673-0570-3BD0-A7CC704D1EC1}"/>
              </a:ext>
              <a:ext uri="{C183D7F6-B498-43B3-948B-1728B52AA6E4}">
                <adec:decorative xmlns:adec="http://schemas.microsoft.com/office/drawing/2017/decorative" val="1"/>
              </a:ext>
            </a:extLst>
          </p:cNvPr>
          <p:cNvGrpSpPr/>
          <p:nvPr/>
        </p:nvGrpSpPr>
        <p:grpSpPr>
          <a:xfrm>
            <a:off x="692436" y="3006985"/>
            <a:ext cx="2580002" cy="752974"/>
            <a:chOff x="588261" y="1805651"/>
            <a:chExt cx="2580002" cy="752974"/>
          </a:xfrm>
        </p:grpSpPr>
        <p:sp>
          <p:nvSpPr>
            <p:cNvPr id="21" name="Oval 20">
              <a:extLst>
                <a:ext uri="{FF2B5EF4-FFF2-40B4-BE49-F238E27FC236}">
                  <a16:creationId xmlns:a16="http://schemas.microsoft.com/office/drawing/2014/main" id="{E4B58AEA-791F-D230-F5E6-5AD8BED56022}"/>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5</a:t>
              </a:r>
            </a:p>
          </p:txBody>
        </p:sp>
        <p:sp>
          <p:nvSpPr>
            <p:cNvPr id="22" name="TextBox 21">
              <a:extLst>
                <a:ext uri="{FF2B5EF4-FFF2-40B4-BE49-F238E27FC236}">
                  <a16:creationId xmlns:a16="http://schemas.microsoft.com/office/drawing/2014/main" id="{CB84736D-5D0D-1F2E-5B41-DCAD25F55C1E}"/>
                </a:ext>
              </a:extLst>
            </p:cNvPr>
            <p:cNvSpPr txBox="1"/>
            <p:nvPr/>
          </p:nvSpPr>
          <p:spPr>
            <a:xfrm>
              <a:off x="588261" y="2312404"/>
              <a:ext cx="2580002" cy="246221"/>
            </a:xfrm>
            <a:prstGeom prst="rect">
              <a:avLst/>
            </a:prstGeom>
            <a:noFill/>
          </p:spPr>
          <p:txBody>
            <a:bodyPr wrap="none" lIns="0" tIns="0" rIns="0" bIns="0" rtlCol="0">
              <a:spAutoFit/>
            </a:bodyPr>
            <a:lstStyle/>
            <a:p>
              <a:pPr algn="l"/>
              <a:r>
                <a:rPr lang="en-US" sz="1600" dirty="0"/>
                <a:t>Test the agent in playground</a:t>
              </a:r>
            </a:p>
          </p:txBody>
        </p:sp>
      </p:grpSp>
      <p:grpSp>
        <p:nvGrpSpPr>
          <p:cNvPr id="23" name="Group 22">
            <a:extLst>
              <a:ext uri="{FF2B5EF4-FFF2-40B4-BE49-F238E27FC236}">
                <a16:creationId xmlns:a16="http://schemas.microsoft.com/office/drawing/2014/main" id="{A9A136B2-3132-AD71-C9FA-D43B978738C3}"/>
              </a:ext>
              <a:ext uri="{C183D7F6-B498-43B3-948B-1728B52AA6E4}">
                <adec:decorative xmlns:adec="http://schemas.microsoft.com/office/drawing/2017/decorative" val="1"/>
              </a:ext>
            </a:extLst>
          </p:cNvPr>
          <p:cNvGrpSpPr/>
          <p:nvPr/>
        </p:nvGrpSpPr>
        <p:grpSpPr>
          <a:xfrm>
            <a:off x="4011805" y="3006985"/>
            <a:ext cx="1527662" cy="752974"/>
            <a:chOff x="3761654" y="1805651"/>
            <a:chExt cx="1527662" cy="752974"/>
          </a:xfrm>
        </p:grpSpPr>
        <p:sp>
          <p:nvSpPr>
            <p:cNvPr id="24" name="Oval 23">
              <a:extLst>
                <a:ext uri="{FF2B5EF4-FFF2-40B4-BE49-F238E27FC236}">
                  <a16:creationId xmlns:a16="http://schemas.microsoft.com/office/drawing/2014/main" id="{285B6D15-C07A-C8AE-961B-9FE59C5B21EA}"/>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6</a:t>
              </a:r>
            </a:p>
          </p:txBody>
        </p:sp>
        <p:sp>
          <p:nvSpPr>
            <p:cNvPr id="25" name="TextBox 24">
              <a:extLst>
                <a:ext uri="{FF2B5EF4-FFF2-40B4-BE49-F238E27FC236}">
                  <a16:creationId xmlns:a16="http://schemas.microsoft.com/office/drawing/2014/main" id="{AD01C592-8171-CB16-5340-236521D410F6}"/>
                </a:ext>
              </a:extLst>
            </p:cNvPr>
            <p:cNvSpPr txBox="1"/>
            <p:nvPr/>
          </p:nvSpPr>
          <p:spPr>
            <a:xfrm>
              <a:off x="3761654" y="2312404"/>
              <a:ext cx="1527662" cy="246221"/>
            </a:xfrm>
            <a:prstGeom prst="rect">
              <a:avLst/>
            </a:prstGeom>
            <a:noFill/>
          </p:spPr>
          <p:txBody>
            <a:bodyPr wrap="none" lIns="0" tIns="0" rIns="0" bIns="0" rtlCol="0">
              <a:spAutoFit/>
            </a:bodyPr>
            <a:lstStyle/>
            <a:p>
              <a:pPr algn="l"/>
              <a:r>
                <a:rPr lang="en-US" sz="1600" dirty="0"/>
                <a:t>Iterate on design</a:t>
              </a:r>
            </a:p>
          </p:txBody>
        </p:sp>
      </p:grpSp>
      <p:grpSp>
        <p:nvGrpSpPr>
          <p:cNvPr id="26" name="Group 25">
            <a:extLst>
              <a:ext uri="{FF2B5EF4-FFF2-40B4-BE49-F238E27FC236}">
                <a16:creationId xmlns:a16="http://schemas.microsoft.com/office/drawing/2014/main" id="{0C04422B-B8BE-825B-B760-EA33A5A4E772}"/>
              </a:ext>
              <a:ext uri="{C183D7F6-B498-43B3-948B-1728B52AA6E4}">
                <adec:decorative xmlns:adec="http://schemas.microsoft.com/office/drawing/2017/decorative" val="1"/>
              </a:ext>
            </a:extLst>
          </p:cNvPr>
          <p:cNvGrpSpPr/>
          <p:nvPr/>
        </p:nvGrpSpPr>
        <p:grpSpPr>
          <a:xfrm>
            <a:off x="6115821" y="3006985"/>
            <a:ext cx="2855462" cy="752974"/>
            <a:chOff x="3761654" y="1805651"/>
            <a:chExt cx="2855462" cy="752974"/>
          </a:xfrm>
        </p:grpSpPr>
        <p:sp>
          <p:nvSpPr>
            <p:cNvPr id="27" name="Oval 26">
              <a:extLst>
                <a:ext uri="{FF2B5EF4-FFF2-40B4-BE49-F238E27FC236}">
                  <a16:creationId xmlns:a16="http://schemas.microsoft.com/office/drawing/2014/main" id="{7EA6C1AC-F007-A1D5-BDE1-F9BEF763492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7</a:t>
              </a:r>
            </a:p>
          </p:txBody>
        </p:sp>
        <p:sp>
          <p:nvSpPr>
            <p:cNvPr id="28" name="TextBox 27">
              <a:extLst>
                <a:ext uri="{FF2B5EF4-FFF2-40B4-BE49-F238E27FC236}">
                  <a16:creationId xmlns:a16="http://schemas.microsoft.com/office/drawing/2014/main" id="{C8D9D8D3-9DE3-A240-65F1-24168AED0A32}"/>
                </a:ext>
              </a:extLst>
            </p:cNvPr>
            <p:cNvSpPr txBox="1"/>
            <p:nvPr/>
          </p:nvSpPr>
          <p:spPr>
            <a:xfrm>
              <a:off x="3761654" y="2312404"/>
              <a:ext cx="2855462" cy="246221"/>
            </a:xfrm>
            <a:prstGeom prst="rect">
              <a:avLst/>
            </a:prstGeom>
            <a:noFill/>
          </p:spPr>
          <p:txBody>
            <a:bodyPr wrap="none" lIns="0" tIns="0" rIns="0" bIns="0" rtlCol="0">
              <a:spAutoFit/>
            </a:bodyPr>
            <a:lstStyle/>
            <a:p>
              <a:pPr algn="l"/>
              <a:r>
                <a:rPr lang="en-US" sz="1600" dirty="0"/>
                <a:t>Deploy the agent to production</a:t>
              </a:r>
            </a:p>
          </p:txBody>
        </p:sp>
      </p:grpSp>
      <p:grpSp>
        <p:nvGrpSpPr>
          <p:cNvPr id="29" name="Group 28">
            <a:extLst>
              <a:ext uri="{FF2B5EF4-FFF2-40B4-BE49-F238E27FC236}">
                <a16:creationId xmlns:a16="http://schemas.microsoft.com/office/drawing/2014/main" id="{D7B3AA4C-9438-936E-4C34-7FC3951BC1FD}"/>
              </a:ext>
              <a:ext uri="{C183D7F6-B498-43B3-948B-1728B52AA6E4}">
                <adec:decorative xmlns:adec="http://schemas.microsoft.com/office/drawing/2017/decorative" val="1"/>
              </a:ext>
            </a:extLst>
          </p:cNvPr>
          <p:cNvGrpSpPr/>
          <p:nvPr/>
        </p:nvGrpSpPr>
        <p:grpSpPr>
          <a:xfrm>
            <a:off x="9203689" y="3006985"/>
            <a:ext cx="2433871" cy="752974"/>
            <a:chOff x="3761654" y="1805651"/>
            <a:chExt cx="2433871" cy="752974"/>
          </a:xfrm>
        </p:grpSpPr>
        <p:sp>
          <p:nvSpPr>
            <p:cNvPr id="30" name="Oval 29">
              <a:extLst>
                <a:ext uri="{FF2B5EF4-FFF2-40B4-BE49-F238E27FC236}">
                  <a16:creationId xmlns:a16="http://schemas.microsoft.com/office/drawing/2014/main" id="{61130B8D-8364-CE9F-CCFB-B0118EBC4C5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8</a:t>
              </a:r>
            </a:p>
          </p:txBody>
        </p:sp>
        <p:sp>
          <p:nvSpPr>
            <p:cNvPr id="31" name="TextBox 30">
              <a:extLst>
                <a:ext uri="{FF2B5EF4-FFF2-40B4-BE49-F238E27FC236}">
                  <a16:creationId xmlns:a16="http://schemas.microsoft.com/office/drawing/2014/main" id="{9333A0A6-DD01-992E-AB50-C82A8E83E3D4}"/>
                </a:ext>
              </a:extLst>
            </p:cNvPr>
            <p:cNvSpPr txBox="1"/>
            <p:nvPr/>
          </p:nvSpPr>
          <p:spPr>
            <a:xfrm>
              <a:off x="3761654" y="2312404"/>
              <a:ext cx="2433871" cy="246221"/>
            </a:xfrm>
            <a:prstGeom prst="rect">
              <a:avLst/>
            </a:prstGeom>
            <a:noFill/>
          </p:spPr>
          <p:txBody>
            <a:bodyPr wrap="none" lIns="0" tIns="0" rIns="0" bIns="0" rtlCol="0">
              <a:spAutoFit/>
            </a:bodyPr>
            <a:lstStyle/>
            <a:p>
              <a:pPr algn="l"/>
              <a:r>
                <a:rPr lang="en-US" sz="1600" dirty="0"/>
                <a:t>Integrate into applications</a:t>
              </a:r>
            </a:p>
          </p:txBody>
        </p:sp>
      </p:grpSp>
      <p:cxnSp>
        <p:nvCxnSpPr>
          <p:cNvPr id="41" name="Elbow Connector 40">
            <a:extLst>
              <a:ext uri="{FF2B5EF4-FFF2-40B4-BE49-F238E27FC236}">
                <a16:creationId xmlns:a16="http://schemas.microsoft.com/office/drawing/2014/main" id="{605783B8-1E23-4E9D-166F-27AABC1AD928}"/>
              </a:ext>
              <a:ext uri="{C183D7F6-B498-43B3-948B-1728B52AA6E4}">
                <adec:decorative xmlns:adec="http://schemas.microsoft.com/office/drawing/2017/decorative" val="1"/>
              </a:ext>
            </a:extLst>
          </p:cNvPr>
          <p:cNvCxnSpPr>
            <a:stCxn id="15" idx="6"/>
            <a:endCxn id="21" idx="0"/>
          </p:cNvCxnSpPr>
          <p:nvPr/>
        </p:nvCxnSpPr>
        <p:spPr>
          <a:xfrm flipH="1">
            <a:off x="921036" y="1833795"/>
            <a:ext cx="8739853" cy="1173190"/>
          </a:xfrm>
          <a:prstGeom prst="bentConnector4">
            <a:avLst>
              <a:gd name="adj1" fmla="val -14138"/>
              <a:gd name="adj2" fmla="val 72569"/>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RetrievalCard">
            <a:extLst>
              <a:ext uri="{FF2B5EF4-FFF2-40B4-BE49-F238E27FC236}">
                <a16:creationId xmlns:a16="http://schemas.microsoft.com/office/drawing/2014/main" id="{030913D9-5DB5-72AC-2E1C-249C9946BB50}"/>
              </a:ext>
            </a:extLst>
          </p:cNvPr>
          <p:cNvSpPr/>
          <p:nvPr/>
        </p:nvSpPr>
        <p:spPr>
          <a:xfrm>
            <a:off x="692435" y="4113000"/>
            <a:ext cx="4038315" cy="1566904"/>
          </a:xfrm>
          <a:prstGeom prst="roundRect">
            <a:avLst>
              <a:gd name="adj" fmla="val 12000"/>
            </a:avLst>
          </a:prstGeom>
          <a:solidFill>
            <a:srgbClr val="F8F8F8"/>
          </a:solidFill>
          <a:ln w="9525">
            <a:solidFill>
              <a:srgbClr val="DEDEDE"/>
            </a:solidFill>
          </a:ln>
        </p:spPr>
        <p:txBody>
          <a:bodyPr anchor="t"/>
          <a:lstStyle/>
          <a:p>
            <a:endParaRPr lang="en-US" sz="1600" b="1" noProof="0" dirty="0">
              <a:solidFill>
                <a:srgbClr val="4C4C4C"/>
              </a:solidFill>
              <a:latin typeface="+mj-lt"/>
            </a:endParaRPr>
          </a:p>
          <a:p>
            <a:endParaRPr lang="en-US" sz="1600" b="1" noProof="0" dirty="0">
              <a:solidFill>
                <a:srgbClr val="4C4C4C"/>
              </a:solidFill>
              <a:latin typeface="+mj-lt"/>
            </a:endParaRPr>
          </a:p>
          <a:p>
            <a:pPr marL="285750" indent="-285750">
              <a:buClr>
                <a:schemeClr val="accent2"/>
              </a:buClr>
              <a:buFont typeface="Arial" panose="020B0604020202020204" pitchFamily="34" charset="0"/>
              <a:buChar char="•"/>
            </a:pPr>
            <a:r>
              <a:rPr lang="en-US" sz="1400" b="1" dirty="0">
                <a:solidFill>
                  <a:srgbClr val="4C4C4C"/>
                </a:solidFill>
                <a:latin typeface="+mj-lt"/>
              </a:rPr>
              <a:t>Microsoft Foundry project  </a:t>
            </a:r>
            <a:br>
              <a:rPr lang="en-US" sz="1400" b="1" dirty="0">
                <a:solidFill>
                  <a:srgbClr val="4C4C4C"/>
                </a:solidFill>
                <a:latin typeface="+mj-lt"/>
              </a:rPr>
            </a:br>
            <a:r>
              <a:rPr lang="en-US" sz="1200" dirty="0">
                <a:solidFill>
                  <a:srgbClr val="4C4C4C"/>
                </a:solidFill>
              </a:rPr>
              <a:t>Organizes agents, models, and assets</a:t>
            </a:r>
          </a:p>
          <a:p>
            <a:pPr marL="285750" indent="-285750">
              <a:buClr>
                <a:schemeClr val="accent2"/>
              </a:buClr>
              <a:buFont typeface="Arial" panose="020B0604020202020204" pitchFamily="34" charset="0"/>
              <a:buChar char="•"/>
            </a:pPr>
            <a:r>
              <a:rPr lang="en-US" sz="1400" b="1" dirty="0">
                <a:solidFill>
                  <a:srgbClr val="4C4C4C"/>
                </a:solidFill>
                <a:latin typeface="+mj-lt"/>
              </a:rPr>
              <a:t>Model deployment</a:t>
            </a:r>
            <a:br>
              <a:rPr lang="en-US" sz="1400" b="1" dirty="0">
                <a:solidFill>
                  <a:srgbClr val="4C4C4C"/>
                </a:solidFill>
                <a:latin typeface="+mj-lt"/>
              </a:rPr>
            </a:br>
            <a:r>
              <a:rPr lang="en-US" sz="1200" dirty="0">
                <a:solidFill>
                  <a:srgbClr val="4C4C4C"/>
                </a:solidFill>
                <a:latin typeface="Segoe UI"/>
              </a:rPr>
              <a:t>For example, GPT-4.1 or Claude Sonnet 4.6</a:t>
            </a:r>
            <a:endParaRPr lang="en-US" sz="1400" b="1" dirty="0">
              <a:solidFill>
                <a:srgbClr val="4C4C4C"/>
              </a:solidFill>
              <a:latin typeface="+mj-lt"/>
            </a:endParaRPr>
          </a:p>
        </p:txBody>
      </p:sp>
      <p:sp>
        <p:nvSpPr>
          <p:cNvPr id="51" name="Oval 50">
            <a:extLst>
              <a:ext uri="{FF2B5EF4-FFF2-40B4-BE49-F238E27FC236}">
                <a16:creationId xmlns:a16="http://schemas.microsoft.com/office/drawing/2014/main" id="{567AF073-99EA-94EF-BFC0-DBF04568519F}"/>
              </a:ext>
            </a:extLst>
          </p:cNvPr>
          <p:cNvSpPr/>
          <p:nvPr/>
        </p:nvSpPr>
        <p:spPr bwMode="auto">
          <a:xfrm>
            <a:off x="860319" y="4205020"/>
            <a:ext cx="365760" cy="36576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3" name="TextBox 52">
            <a:extLst>
              <a:ext uri="{FF2B5EF4-FFF2-40B4-BE49-F238E27FC236}">
                <a16:creationId xmlns:a16="http://schemas.microsoft.com/office/drawing/2014/main" id="{69891873-3655-D24A-9D32-E44BD9697504}"/>
              </a:ext>
            </a:extLst>
          </p:cNvPr>
          <p:cNvSpPr txBox="1"/>
          <p:nvPr/>
        </p:nvSpPr>
        <p:spPr>
          <a:xfrm>
            <a:off x="1232463" y="4213619"/>
            <a:ext cx="3137607" cy="338554"/>
          </a:xfrm>
          <a:prstGeom prst="rect">
            <a:avLst/>
          </a:prstGeom>
          <a:noFill/>
        </p:spPr>
        <p:txBody>
          <a:bodyPr wrap="square">
            <a:spAutoFit/>
          </a:bodyPr>
          <a:lstStyle/>
          <a:p>
            <a:r>
              <a:rPr lang="en-US" sz="1600" b="1" dirty="0">
                <a:solidFill>
                  <a:schemeClr val="accent2"/>
                </a:solidFill>
                <a:latin typeface="+mj-lt"/>
              </a:rPr>
              <a:t> </a:t>
            </a:r>
            <a:r>
              <a:rPr lang="en-US" sz="1600" b="1" noProof="0" dirty="0">
                <a:solidFill>
                  <a:schemeClr val="accent2"/>
                </a:solidFill>
                <a:latin typeface="+mj-lt"/>
              </a:rPr>
              <a:t>Required resources</a:t>
            </a:r>
            <a:endParaRPr lang="en-US" sz="1600" dirty="0">
              <a:solidFill>
                <a:schemeClr val="accent2"/>
              </a:solidFill>
            </a:endParaRPr>
          </a:p>
        </p:txBody>
      </p:sp>
      <p:sp>
        <p:nvSpPr>
          <p:cNvPr id="54" name="RetrievalCard">
            <a:extLst>
              <a:ext uri="{FF2B5EF4-FFF2-40B4-BE49-F238E27FC236}">
                <a16:creationId xmlns:a16="http://schemas.microsoft.com/office/drawing/2014/main" id="{1821122D-C0FA-C1C2-6E21-E11DBFE020E3}"/>
              </a:ext>
            </a:extLst>
          </p:cNvPr>
          <p:cNvSpPr/>
          <p:nvPr/>
        </p:nvSpPr>
        <p:spPr>
          <a:xfrm>
            <a:off x="4988689" y="4113001"/>
            <a:ext cx="5970848" cy="1566908"/>
          </a:xfrm>
          <a:prstGeom prst="roundRect">
            <a:avLst>
              <a:gd name="adj" fmla="val 12000"/>
            </a:avLst>
          </a:prstGeom>
          <a:solidFill>
            <a:srgbClr val="F8F8F8"/>
          </a:solidFill>
          <a:ln w="9525">
            <a:solidFill>
              <a:srgbClr val="DEDEDE"/>
            </a:solidFill>
          </a:ln>
        </p:spPr>
        <p:txBody>
          <a:bodyPr anchor="t"/>
          <a:lstStyle/>
          <a:p>
            <a:endParaRPr lang="en-US" sz="1400" b="1" noProof="0" dirty="0">
              <a:solidFill>
                <a:srgbClr val="4C4C4C"/>
              </a:solidFill>
              <a:latin typeface="+mj-lt"/>
            </a:endParaRPr>
          </a:p>
          <a:p>
            <a:endParaRPr lang="en-US" sz="1400" b="1" noProof="0"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AI Search	</a:t>
            </a:r>
            <a:r>
              <a:rPr lang="en-US" sz="1200" dirty="0">
                <a:solidFill>
                  <a:srgbClr val="4C4C4C"/>
                </a:solidFill>
                <a:latin typeface="Segoe UI"/>
              </a:rPr>
              <a:t>Knowledge retrieval for Foundry IQ or File Search</a:t>
            </a:r>
            <a:endParaRPr lang="en-US" sz="1400" b="1"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Storage	</a:t>
            </a:r>
            <a:r>
              <a:rPr kumimoji="0" lang="en-US" sz="1200" b="0" i="0" u="none" strike="noStrike" kern="1200" cap="none" spc="0" normalizeH="0" baseline="0" noProof="0" dirty="0">
                <a:ln>
                  <a:noFill/>
                </a:ln>
                <a:solidFill>
                  <a:srgbClr val="4C4C4C"/>
                </a:solidFill>
                <a:effectLst/>
                <a:uLnTx/>
                <a:uFillTx/>
                <a:latin typeface="Segoe UI"/>
                <a:ea typeface="+mn-ea"/>
                <a:cs typeface="+mn-cs"/>
              </a:rPr>
              <a:t>Files agents can read and write</a:t>
            </a: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Key Vault	</a:t>
            </a:r>
            <a:r>
              <a:rPr lang="en-US" sz="1200" dirty="0">
                <a:solidFill>
                  <a:srgbClr val="4C4C4C"/>
                </a:solidFill>
                <a:latin typeface="Segoe UI"/>
              </a:rPr>
              <a:t>Securely store secrets and credentials</a:t>
            </a:r>
            <a:endParaRPr lang="en-US" sz="1400" b="1"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Functions	</a:t>
            </a:r>
            <a:r>
              <a:rPr lang="en-US" sz="1200" dirty="0">
                <a:solidFill>
                  <a:srgbClr val="4C4C4C"/>
                </a:solidFill>
                <a:latin typeface="Segoe UI"/>
              </a:rPr>
              <a:t>Custom tool implementations and business logic</a:t>
            </a:r>
            <a:endParaRPr lang="en-US" sz="1400" b="1" dirty="0">
              <a:solidFill>
                <a:srgbClr val="4C4C4C"/>
              </a:solidFill>
              <a:latin typeface="+mj-lt"/>
            </a:endParaRPr>
          </a:p>
        </p:txBody>
      </p:sp>
      <p:sp>
        <p:nvSpPr>
          <p:cNvPr id="55" name="Oval 54">
            <a:extLst>
              <a:ext uri="{FF2B5EF4-FFF2-40B4-BE49-F238E27FC236}">
                <a16:creationId xmlns:a16="http://schemas.microsoft.com/office/drawing/2014/main" id="{C5771827-17F3-38FF-89FE-BB38839C131A}"/>
              </a:ext>
            </a:extLst>
          </p:cNvPr>
          <p:cNvSpPr/>
          <p:nvPr/>
        </p:nvSpPr>
        <p:spPr bwMode="auto">
          <a:xfrm>
            <a:off x="5149096" y="4205021"/>
            <a:ext cx="365760" cy="365760"/>
          </a:xfrm>
          <a:prstGeom prst="ellipse">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6" name="TextBox 55">
            <a:extLst>
              <a:ext uri="{FF2B5EF4-FFF2-40B4-BE49-F238E27FC236}">
                <a16:creationId xmlns:a16="http://schemas.microsoft.com/office/drawing/2014/main" id="{CD54D526-D86B-1EAC-02FA-B8CF1E8019E3}"/>
              </a:ext>
            </a:extLst>
          </p:cNvPr>
          <p:cNvSpPr txBox="1"/>
          <p:nvPr/>
        </p:nvSpPr>
        <p:spPr>
          <a:xfrm>
            <a:off x="5509665" y="4213620"/>
            <a:ext cx="3137607" cy="338554"/>
          </a:xfrm>
          <a:prstGeom prst="rect">
            <a:avLst/>
          </a:prstGeom>
          <a:noFill/>
        </p:spPr>
        <p:txBody>
          <a:bodyPr wrap="square">
            <a:spAutoFit/>
          </a:bodyPr>
          <a:lstStyle/>
          <a:p>
            <a:r>
              <a:rPr lang="en-US" sz="1600" b="1" dirty="0">
                <a:solidFill>
                  <a:schemeClr val="tx1">
                    <a:lumMod val="75000"/>
                    <a:lumOff val="25000"/>
                  </a:schemeClr>
                </a:solidFill>
                <a:latin typeface="+mj-lt"/>
              </a:rPr>
              <a:t> </a:t>
            </a:r>
            <a:r>
              <a:rPr lang="en-US" sz="1600" b="1" noProof="0" dirty="0">
                <a:solidFill>
                  <a:schemeClr val="tx1">
                    <a:lumMod val="75000"/>
                    <a:lumOff val="25000"/>
                  </a:schemeClr>
                </a:solidFill>
                <a:latin typeface="+mj-lt"/>
              </a:rPr>
              <a:t>Optional resources</a:t>
            </a:r>
            <a:endParaRPr lang="en-US" sz="1600" dirty="0">
              <a:solidFill>
                <a:schemeClr val="tx1">
                  <a:lumMod val="75000"/>
                  <a:lumOff val="25000"/>
                </a:schemeClr>
              </a:solidFill>
            </a:endParaRPr>
          </a:p>
        </p:txBody>
      </p:sp>
    </p:spTree>
    <p:extLst>
      <p:ext uri="{BB962C8B-B14F-4D97-AF65-F5344CB8AC3E}">
        <p14:creationId xmlns:p14="http://schemas.microsoft.com/office/powerpoint/2010/main" val="4197147778"/>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22E2-0001-ABDA-44AF-DC5A96AFD1B6}"/>
              </a:ext>
            </a:extLst>
          </p:cNvPr>
          <p:cNvSpPr>
            <a:spLocks noGrp="1"/>
          </p:cNvSpPr>
          <p:nvPr>
            <p:ph type="title"/>
          </p:nvPr>
        </p:nvSpPr>
        <p:spPr/>
        <p:txBody>
          <a:bodyPr/>
          <a:lstStyle/>
          <a:p>
            <a:r>
              <a:rPr lang="en-US" sz="3200" dirty="0"/>
              <a:t>Choose your development approach</a:t>
            </a:r>
          </a:p>
        </p:txBody>
      </p:sp>
      <p:sp>
        <p:nvSpPr>
          <p:cNvPr id="6" name="Text Placeholder 5">
            <a:extLst>
              <a:ext uri="{FF2B5EF4-FFF2-40B4-BE49-F238E27FC236}">
                <a16:creationId xmlns:a16="http://schemas.microsoft.com/office/drawing/2014/main" id="{6B4F3C30-140A-7982-1739-CD6739638D90}"/>
              </a:ext>
            </a:extLst>
          </p:cNvPr>
          <p:cNvSpPr>
            <a:spLocks noGrp="1"/>
          </p:cNvSpPr>
          <p:nvPr>
            <p:ph type="body" sz="quarter" idx="16"/>
          </p:nvPr>
        </p:nvSpPr>
        <p:spPr>
          <a:xfrm>
            <a:off x="1273214" y="1442945"/>
            <a:ext cx="4530685" cy="553998"/>
          </a:xfrm>
        </p:spPr>
        <p:txBody>
          <a:bodyPr/>
          <a:lstStyle/>
          <a:p>
            <a:r>
              <a:rPr lang="en-US" sz="2000" dirty="0">
                <a:solidFill>
                  <a:schemeClr val="accent1"/>
                </a:solidFill>
              </a:rPr>
              <a:t>Foundry portal</a:t>
            </a:r>
          </a:p>
          <a:p>
            <a:r>
              <a:rPr lang="en-US" dirty="0">
                <a:solidFill>
                  <a:schemeClr val="tx1">
                    <a:lumMod val="50000"/>
                    <a:lumOff val="50000"/>
                  </a:schemeClr>
                </a:solidFill>
                <a:latin typeface="+mn-lt"/>
              </a:rPr>
              <a:t>Visual, web-based, no local setup required</a:t>
            </a:r>
            <a:endParaRPr lang="en-US" sz="1800" dirty="0">
              <a:solidFill>
                <a:schemeClr val="tx1">
                  <a:lumMod val="50000"/>
                  <a:lumOff val="50000"/>
                </a:schemeClr>
              </a:solidFill>
              <a:latin typeface="+mn-lt"/>
            </a:endParaRPr>
          </a:p>
        </p:txBody>
      </p:sp>
      <p:sp>
        <p:nvSpPr>
          <p:cNvPr id="5" name="Text Placeholder 4">
            <a:extLst>
              <a:ext uri="{FF2B5EF4-FFF2-40B4-BE49-F238E27FC236}">
                <a16:creationId xmlns:a16="http://schemas.microsoft.com/office/drawing/2014/main" id="{E2E67AE3-7A40-0D89-3029-CA8E1037A693}"/>
              </a:ext>
            </a:extLst>
          </p:cNvPr>
          <p:cNvSpPr>
            <a:spLocks noGrp="1"/>
          </p:cNvSpPr>
          <p:nvPr>
            <p:ph type="body" sz="quarter" idx="15"/>
          </p:nvPr>
        </p:nvSpPr>
        <p:spPr>
          <a:xfrm>
            <a:off x="586390" y="2189939"/>
            <a:ext cx="5217510" cy="2856167"/>
          </a:xfrm>
        </p:spPr>
        <p:txBody>
          <a:bodyPr/>
          <a:lstStyle/>
          <a:p>
            <a:pPr marL="287338" indent="-287338">
              <a:buFont typeface="System Font Regular"/>
              <a:buChar char="✓"/>
            </a:pPr>
            <a:r>
              <a:rPr lang="en-US" b="1" dirty="0"/>
              <a:t>Quick prototyping</a:t>
            </a:r>
            <a:br>
              <a:rPr lang="en-US" b="1" dirty="0"/>
            </a:br>
            <a:r>
              <a:rPr lang="en-US" sz="1400" dirty="0">
                <a:solidFill>
                  <a:schemeClr val="tx1">
                    <a:lumMod val="50000"/>
                    <a:lumOff val="50000"/>
                  </a:schemeClr>
                </a:solidFill>
              </a:rPr>
              <a:t>Test agent concepts without setting up </a:t>
            </a:r>
            <a:br>
              <a:rPr lang="en-US" sz="1400" dirty="0">
                <a:solidFill>
                  <a:schemeClr val="tx1">
                    <a:lumMod val="50000"/>
                    <a:lumOff val="50000"/>
                  </a:schemeClr>
                </a:solidFill>
              </a:rPr>
            </a:br>
            <a:r>
              <a:rPr lang="en-US" sz="1400" dirty="0">
                <a:solidFill>
                  <a:schemeClr val="tx1">
                    <a:lumMod val="50000"/>
                    <a:lumOff val="50000"/>
                  </a:schemeClr>
                </a:solidFill>
              </a:rPr>
              <a:t>a local development environment</a:t>
            </a:r>
          </a:p>
          <a:p>
            <a:pPr marL="287338" indent="-287338">
              <a:buFont typeface="System Font Regular"/>
              <a:buChar char="✓"/>
            </a:pPr>
            <a:r>
              <a:rPr lang="en-US" b="1" dirty="0"/>
              <a:t>Visual configuration</a:t>
            </a:r>
            <a:br>
              <a:rPr lang="en-US" b="1" dirty="0"/>
            </a:br>
            <a:r>
              <a:rPr lang="en-US" sz="1400" dirty="0">
                <a:solidFill>
                  <a:schemeClr val="tx1">
                    <a:lumMod val="50000"/>
                    <a:lumOff val="50000"/>
                  </a:schemeClr>
                </a:solidFill>
              </a:rPr>
              <a:t>Configure agents through intuitive forms </a:t>
            </a:r>
            <a:br>
              <a:rPr lang="en-US" sz="1400" dirty="0">
                <a:solidFill>
                  <a:schemeClr val="tx1">
                    <a:lumMod val="50000"/>
                    <a:lumOff val="50000"/>
                  </a:schemeClr>
                </a:solidFill>
              </a:rPr>
            </a:br>
            <a:r>
              <a:rPr lang="en-US" sz="1400" dirty="0">
                <a:solidFill>
                  <a:schemeClr val="tx1">
                    <a:lumMod val="50000"/>
                    <a:lumOff val="50000"/>
                  </a:schemeClr>
                </a:solidFill>
              </a:rPr>
              <a:t>and dropdowns rather than code</a:t>
            </a:r>
          </a:p>
          <a:p>
            <a:pPr marL="287338" indent="-287338">
              <a:buFont typeface="System Font Regular"/>
              <a:buChar char="✓"/>
            </a:pPr>
            <a:r>
              <a:rPr lang="en-US" b="1" dirty="0"/>
              <a:t>Centralized management</a:t>
            </a:r>
            <a:br>
              <a:rPr lang="en-US" b="1" dirty="0"/>
            </a:br>
            <a:r>
              <a:rPr lang="en-US" sz="1400" dirty="0">
                <a:solidFill>
                  <a:schemeClr val="tx1">
                    <a:lumMod val="50000"/>
                    <a:lumOff val="50000"/>
                  </a:schemeClr>
                </a:solidFill>
              </a:rPr>
              <a:t>View and manage all agents across projects </a:t>
            </a:r>
            <a:br>
              <a:rPr lang="en-US" sz="1400" dirty="0">
                <a:solidFill>
                  <a:schemeClr val="tx1">
                    <a:lumMod val="50000"/>
                    <a:lumOff val="50000"/>
                  </a:schemeClr>
                </a:solidFill>
              </a:rPr>
            </a:br>
            <a:r>
              <a:rPr lang="en-US" sz="1400" dirty="0">
                <a:solidFill>
                  <a:schemeClr val="tx1">
                    <a:lumMod val="50000"/>
                    <a:lumOff val="50000"/>
                  </a:schemeClr>
                </a:solidFill>
              </a:rPr>
              <a:t>in one place with dashboards</a:t>
            </a:r>
          </a:p>
          <a:p>
            <a:pPr marL="287338" indent="-287338">
              <a:buFont typeface="System Font Regular"/>
              <a:buChar char="✓"/>
            </a:pPr>
            <a:r>
              <a:rPr lang="en-US" b="1" dirty="0"/>
              <a:t>Team collaboration</a:t>
            </a:r>
            <a:br>
              <a:rPr lang="en-US" b="1" dirty="0"/>
            </a:br>
            <a:r>
              <a:rPr lang="en-US" sz="1400" dirty="0">
                <a:solidFill>
                  <a:schemeClr val="tx1">
                    <a:lumMod val="50000"/>
                    <a:lumOff val="50000"/>
                  </a:schemeClr>
                </a:solidFill>
              </a:rPr>
              <a:t>Share configurations with stakeholders </a:t>
            </a:r>
            <a:br>
              <a:rPr lang="en-US" sz="1400" dirty="0">
                <a:solidFill>
                  <a:schemeClr val="tx1">
                    <a:lumMod val="50000"/>
                    <a:lumOff val="50000"/>
                  </a:schemeClr>
                </a:solidFill>
              </a:rPr>
            </a:br>
            <a:r>
              <a:rPr lang="en-US" sz="1400" dirty="0">
                <a:solidFill>
                  <a:schemeClr val="tx1">
                    <a:lumMod val="50000"/>
                    <a:lumOff val="50000"/>
                  </a:schemeClr>
                </a:solidFill>
              </a:rPr>
              <a:t>who prefer visual interfaces</a:t>
            </a:r>
            <a:endParaRPr lang="en-US" dirty="0">
              <a:solidFill>
                <a:schemeClr val="tx1">
                  <a:lumMod val="50000"/>
                  <a:lumOff val="50000"/>
                </a:schemeClr>
              </a:solidFill>
            </a:endParaRPr>
          </a:p>
        </p:txBody>
      </p:sp>
      <p:sp>
        <p:nvSpPr>
          <p:cNvPr id="8" name="Text Placeholder 7">
            <a:extLst>
              <a:ext uri="{FF2B5EF4-FFF2-40B4-BE49-F238E27FC236}">
                <a16:creationId xmlns:a16="http://schemas.microsoft.com/office/drawing/2014/main" id="{1C845E65-0FE4-A65E-3D7C-C279F2962DD9}"/>
              </a:ext>
            </a:extLst>
          </p:cNvPr>
          <p:cNvSpPr>
            <a:spLocks noGrp="1"/>
          </p:cNvSpPr>
          <p:nvPr>
            <p:ph type="body" sz="quarter" idx="20"/>
          </p:nvPr>
        </p:nvSpPr>
        <p:spPr>
          <a:xfrm>
            <a:off x="6253664" y="2189939"/>
            <a:ext cx="5187106" cy="2856167"/>
          </a:xfrm>
        </p:spPr>
        <p:txBody>
          <a:bodyPr/>
          <a:lstStyle/>
          <a:p>
            <a:pPr marL="287338" indent="-287338">
              <a:buFont typeface="System Font Regular"/>
              <a:buChar char="✓"/>
            </a:pPr>
            <a:r>
              <a:rPr lang="en-US" b="1" dirty="0"/>
              <a:t>Developer-centric workflows</a:t>
            </a:r>
            <a:br>
              <a:rPr lang="en-US" dirty="0"/>
            </a:br>
            <a:r>
              <a:rPr lang="en-US" sz="1400" dirty="0">
                <a:solidFill>
                  <a:schemeClr val="tx1">
                    <a:lumMod val="50000"/>
                    <a:lumOff val="50000"/>
                  </a:schemeClr>
                </a:solidFill>
              </a:rPr>
              <a:t>Build agents alongside application code </a:t>
            </a:r>
            <a:br>
              <a:rPr lang="en-US" sz="1400" dirty="0">
                <a:solidFill>
                  <a:schemeClr val="tx1">
                    <a:lumMod val="50000"/>
                    <a:lumOff val="50000"/>
                  </a:schemeClr>
                </a:solidFill>
              </a:rPr>
            </a:br>
            <a:r>
              <a:rPr lang="en-US" sz="1400" dirty="0">
                <a:solidFill>
                  <a:schemeClr val="tx1">
                    <a:lumMod val="50000"/>
                    <a:lumOff val="50000"/>
                  </a:schemeClr>
                </a:solidFill>
              </a:rPr>
              <a:t>in a single familiar environment</a:t>
            </a:r>
          </a:p>
          <a:p>
            <a:pPr marL="287338" indent="-287338">
              <a:buFont typeface="System Font Regular"/>
              <a:buChar char="✓"/>
            </a:pPr>
            <a:r>
              <a:rPr lang="en-US" b="1" dirty="0"/>
              <a:t>Version control integration</a:t>
            </a:r>
            <a:br>
              <a:rPr lang="en-US" dirty="0"/>
            </a:br>
            <a:r>
              <a:rPr lang="en-US" sz="1400" dirty="0">
                <a:solidFill>
                  <a:schemeClr val="tx1">
                    <a:lumMod val="50000"/>
                    <a:lumOff val="50000"/>
                  </a:schemeClr>
                </a:solidFill>
              </a:rPr>
              <a:t>Track agent configurations in Git </a:t>
            </a:r>
            <a:br>
              <a:rPr lang="en-US" sz="1400" dirty="0">
                <a:solidFill>
                  <a:schemeClr val="tx1">
                    <a:lumMod val="50000"/>
                    <a:lumOff val="50000"/>
                  </a:schemeClr>
                </a:solidFill>
              </a:rPr>
            </a:br>
            <a:r>
              <a:rPr lang="en-US" sz="1400" dirty="0">
                <a:solidFill>
                  <a:schemeClr val="tx1">
                    <a:lumMod val="50000"/>
                    <a:lumOff val="50000"/>
                  </a:schemeClr>
                </a:solidFill>
              </a:rPr>
              <a:t>alongside your codebase</a:t>
            </a:r>
          </a:p>
          <a:p>
            <a:pPr marL="287338" indent="-287338">
              <a:buFont typeface="System Font Regular"/>
              <a:buChar char="✓"/>
            </a:pPr>
            <a:r>
              <a:rPr lang="en-US" b="1" dirty="0"/>
              <a:t>Code-first development</a:t>
            </a:r>
            <a:br>
              <a:rPr lang="en-US" dirty="0"/>
            </a:br>
            <a:r>
              <a:rPr lang="en-US" sz="1400" dirty="0">
                <a:solidFill>
                  <a:schemeClr val="tx1">
                    <a:lumMod val="50000"/>
                    <a:lumOff val="50000"/>
                  </a:schemeClr>
                </a:solidFill>
              </a:rPr>
              <a:t>Edit YAML configurations directly and </a:t>
            </a:r>
            <a:br>
              <a:rPr lang="en-US" sz="1400" dirty="0">
                <a:solidFill>
                  <a:schemeClr val="tx1">
                    <a:lumMod val="50000"/>
                    <a:lumOff val="50000"/>
                  </a:schemeClr>
                </a:solidFill>
              </a:rPr>
            </a:br>
            <a:r>
              <a:rPr lang="en-US" sz="1400" dirty="0">
                <a:solidFill>
                  <a:schemeClr val="tx1">
                    <a:lumMod val="50000"/>
                    <a:lumOff val="50000"/>
                  </a:schemeClr>
                </a:solidFill>
              </a:rPr>
              <a:t>integrate agents into application logic</a:t>
            </a:r>
          </a:p>
          <a:p>
            <a:pPr marL="287338" indent="-287338">
              <a:buFont typeface="System Font Regular"/>
              <a:buChar char="✓"/>
            </a:pPr>
            <a:r>
              <a:rPr lang="en-US" b="1" dirty="0"/>
              <a:t>Local development</a:t>
            </a:r>
            <a:br>
              <a:rPr lang="en-US" dirty="0"/>
            </a:br>
            <a:r>
              <a:rPr lang="en-US" sz="1400" dirty="0">
                <a:solidFill>
                  <a:schemeClr val="tx1">
                    <a:lumMod val="50000"/>
                    <a:lumOff val="50000"/>
                  </a:schemeClr>
                </a:solidFill>
              </a:rPr>
              <a:t>Design and test agents offline before </a:t>
            </a:r>
            <a:br>
              <a:rPr lang="en-US" sz="1400" dirty="0">
                <a:solidFill>
                  <a:schemeClr val="tx1">
                    <a:lumMod val="50000"/>
                    <a:lumOff val="50000"/>
                  </a:schemeClr>
                </a:solidFill>
              </a:rPr>
            </a:br>
            <a:r>
              <a:rPr lang="en-US" sz="1400" dirty="0">
                <a:solidFill>
                  <a:schemeClr val="tx1">
                    <a:lumMod val="50000"/>
                    <a:lumOff val="50000"/>
                  </a:schemeClr>
                </a:solidFill>
              </a:rPr>
              <a:t>deploying to Azure</a:t>
            </a:r>
            <a:endParaRPr lang="en-US"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BF23189A-8C36-C830-67B2-96B9FD1C196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2" name="Group 11">
            <a:extLst>
              <a:ext uri="{FF2B5EF4-FFF2-40B4-BE49-F238E27FC236}">
                <a16:creationId xmlns:a16="http://schemas.microsoft.com/office/drawing/2014/main" id="{9A4B833E-08AB-0F52-A137-7B4D6839FF53}"/>
              </a:ext>
              <a:ext uri="{C183D7F6-B498-43B3-948B-1728B52AA6E4}">
                <adec:decorative xmlns:adec="http://schemas.microsoft.com/office/drawing/2017/decorative" val="1"/>
              </a:ext>
            </a:extLst>
          </p:cNvPr>
          <p:cNvGrpSpPr/>
          <p:nvPr/>
        </p:nvGrpSpPr>
        <p:grpSpPr>
          <a:xfrm>
            <a:off x="586390" y="1442945"/>
            <a:ext cx="548640" cy="548640"/>
            <a:chOff x="2558005" y="1190845"/>
            <a:chExt cx="914400" cy="914400"/>
          </a:xfrm>
        </p:grpSpPr>
        <p:sp>
          <p:nvSpPr>
            <p:cNvPr id="9" name="Oval 8">
              <a:extLst>
                <a:ext uri="{FF2B5EF4-FFF2-40B4-BE49-F238E27FC236}">
                  <a16:creationId xmlns:a16="http://schemas.microsoft.com/office/drawing/2014/main" id="{A9B5084B-B7CD-FB54-811E-B5FF55FC9446}"/>
                </a:ext>
              </a:extLst>
            </p:cNvPr>
            <p:cNvSpPr/>
            <p:nvPr/>
          </p:nvSpPr>
          <p:spPr bwMode="auto">
            <a:xfrm>
              <a:off x="2558005" y="1190845"/>
              <a:ext cx="914400" cy="9144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Graphic 10" descr="Browser window outline">
              <a:extLst>
                <a:ext uri="{FF2B5EF4-FFF2-40B4-BE49-F238E27FC236}">
                  <a16:creationId xmlns:a16="http://schemas.microsoft.com/office/drawing/2014/main" id="{1ACFFA8A-D7AE-55D3-32A1-969DA1388B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52028" y="1284868"/>
              <a:ext cx="726354" cy="726354"/>
            </a:xfrm>
            <a:prstGeom prst="rect">
              <a:avLst/>
            </a:prstGeom>
          </p:spPr>
        </p:pic>
      </p:grpSp>
      <p:sp>
        <p:nvSpPr>
          <p:cNvPr id="14" name="Oval 13">
            <a:extLst>
              <a:ext uri="{FF2B5EF4-FFF2-40B4-BE49-F238E27FC236}">
                <a16:creationId xmlns:a16="http://schemas.microsoft.com/office/drawing/2014/main" id="{A143ED69-AD14-16FE-69F2-5ABF968EE19F}"/>
              </a:ext>
              <a:ext uri="{C183D7F6-B498-43B3-948B-1728B52AA6E4}">
                <adec:decorative xmlns:adec="http://schemas.microsoft.com/office/drawing/2017/decorative" val="1"/>
              </a:ext>
            </a:extLst>
          </p:cNvPr>
          <p:cNvSpPr/>
          <p:nvPr/>
        </p:nvSpPr>
        <p:spPr bwMode="auto">
          <a:xfrm>
            <a:off x="6244220" y="1449909"/>
            <a:ext cx="548640" cy="54864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050" dirty="0">
              <a:gradFill>
                <a:gsLst>
                  <a:gs pos="0">
                    <a:srgbClr val="FFFFFF"/>
                  </a:gs>
                  <a:gs pos="100000">
                    <a:srgbClr val="FFFFFF"/>
                  </a:gs>
                </a:gsLst>
                <a:lin ang="5400000" scaled="0"/>
              </a:gradFill>
              <a:ea typeface="Segoe UI" pitchFamily="34" charset="0"/>
              <a:cs typeface="Segoe UI" pitchFamily="34" charset="0"/>
            </a:endParaRPr>
          </a:p>
        </p:txBody>
      </p:sp>
      <p:sp>
        <p:nvSpPr>
          <p:cNvPr id="16" name="TextBox 15">
            <a:extLst>
              <a:ext uri="{FF2B5EF4-FFF2-40B4-BE49-F238E27FC236}">
                <a16:creationId xmlns:a16="http://schemas.microsoft.com/office/drawing/2014/main" id="{79C00DAA-C6EB-1481-CDD5-AB6B2C1FA867}"/>
              </a:ext>
            </a:extLst>
          </p:cNvPr>
          <p:cNvSpPr txBox="1"/>
          <p:nvPr/>
        </p:nvSpPr>
        <p:spPr>
          <a:xfrm>
            <a:off x="6337400" y="1594155"/>
            <a:ext cx="362279" cy="246221"/>
          </a:xfrm>
          <a:prstGeom prst="rect">
            <a:avLst/>
          </a:prstGeom>
          <a:noFill/>
        </p:spPr>
        <p:txBody>
          <a:bodyPr wrap="none" lIns="0" tIns="0" rIns="0" bIns="0" rtlCol="0">
            <a:spAutoFit/>
          </a:bodyPr>
          <a:lstStyle/>
          <a:p>
            <a:pPr algn="l"/>
            <a:r>
              <a:rPr lang="en-US" sz="1600" dirty="0">
                <a:solidFill>
                  <a:schemeClr val="bg1"/>
                </a:solidFill>
              </a:rPr>
              <a:t>&lt;/&gt;</a:t>
            </a:r>
          </a:p>
        </p:txBody>
      </p:sp>
      <p:sp>
        <p:nvSpPr>
          <p:cNvPr id="17" name="Text Placeholder 5">
            <a:extLst>
              <a:ext uri="{FF2B5EF4-FFF2-40B4-BE49-F238E27FC236}">
                <a16:creationId xmlns:a16="http://schemas.microsoft.com/office/drawing/2014/main" id="{D8306866-220A-3428-A458-973B38B29091}"/>
              </a:ext>
            </a:extLst>
          </p:cNvPr>
          <p:cNvSpPr txBox="1">
            <a:spLocks/>
          </p:cNvSpPr>
          <p:nvPr/>
        </p:nvSpPr>
        <p:spPr>
          <a:xfrm>
            <a:off x="6886040" y="1449909"/>
            <a:ext cx="4530685" cy="55399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chemeClr val="accent2"/>
                </a:solidFill>
              </a:rPr>
              <a:t>Visual Studio Code</a:t>
            </a:r>
          </a:p>
          <a:p>
            <a:r>
              <a:rPr lang="en-US" dirty="0">
                <a:solidFill>
                  <a:schemeClr val="tx1">
                    <a:lumMod val="50000"/>
                    <a:lumOff val="50000"/>
                  </a:schemeClr>
                </a:solidFill>
                <a:latin typeface="+mn-lt"/>
              </a:rPr>
              <a:t>Developer-centric, code-integrated, Git-friendly</a:t>
            </a:r>
          </a:p>
        </p:txBody>
      </p:sp>
      <p:sp>
        <p:nvSpPr>
          <p:cNvPr id="18" name="RetrievalCard">
            <a:extLst>
              <a:ext uri="{FF2B5EF4-FFF2-40B4-BE49-F238E27FC236}">
                <a16:creationId xmlns:a16="http://schemas.microsoft.com/office/drawing/2014/main" id="{F44C0644-EE7B-0C16-C90C-E32B02B33D3C}"/>
              </a:ext>
            </a:extLst>
          </p:cNvPr>
          <p:cNvSpPr/>
          <p:nvPr/>
        </p:nvSpPr>
        <p:spPr>
          <a:xfrm>
            <a:off x="586390" y="5404301"/>
            <a:ext cx="11009410" cy="377168"/>
          </a:xfrm>
          <a:prstGeom prst="roundRect">
            <a:avLst>
              <a:gd name="adj" fmla="val 12000"/>
            </a:avLst>
          </a:prstGeom>
          <a:solidFill>
            <a:srgbClr val="F8F8F8"/>
          </a:solidFill>
          <a:ln w="9525">
            <a:solidFill>
              <a:srgbClr val="DEDEDE"/>
            </a:solidFill>
          </a:ln>
        </p:spPr>
        <p:txBody>
          <a:bodyPr anchor="ctr"/>
          <a:lstStyle/>
          <a:p>
            <a:r>
              <a:rPr lang="en-US" sz="1300" b="1" noProof="0" dirty="0"/>
              <a:t>Many teams use both: </a:t>
            </a:r>
            <a:r>
              <a:rPr lang="en-US" sz="1300" noProof="0" dirty="0"/>
              <a:t>the Foundry portal for initial exploration and reviews, and VS Code for detailed development and production deployments.</a:t>
            </a:r>
          </a:p>
        </p:txBody>
      </p:sp>
      <p:cxnSp>
        <p:nvCxnSpPr>
          <p:cNvPr id="20" name="Straight Connector 19">
            <a:extLst>
              <a:ext uri="{FF2B5EF4-FFF2-40B4-BE49-F238E27FC236}">
                <a16:creationId xmlns:a16="http://schemas.microsoft.com/office/drawing/2014/main" id="{7DF6BB29-95CD-37B0-A3DD-E1D382B2635D}"/>
              </a:ext>
              <a:ext uri="{C183D7F6-B498-43B3-948B-1728B52AA6E4}">
                <adec:decorative xmlns:adec="http://schemas.microsoft.com/office/drawing/2017/decorative" val="1"/>
              </a:ext>
            </a:extLst>
          </p:cNvPr>
          <p:cNvCxnSpPr>
            <a:cxnSpLocks/>
          </p:cNvCxnSpPr>
          <p:nvPr/>
        </p:nvCxnSpPr>
        <p:spPr>
          <a:xfrm>
            <a:off x="5644584" y="1449909"/>
            <a:ext cx="0" cy="3761316"/>
          </a:xfrm>
          <a:prstGeom prst="line">
            <a:avLst/>
          </a:prstGeom>
          <a:ln>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CFCDAC7-DB2E-2796-3BD6-E09FB85AE9D9}"/>
              </a:ext>
            </a:extLst>
          </p:cNvPr>
          <p:cNvSpPr txBox="1"/>
          <p:nvPr/>
        </p:nvSpPr>
        <p:spPr>
          <a:xfrm>
            <a:off x="5505122" y="3170778"/>
            <a:ext cx="278923" cy="246221"/>
          </a:xfrm>
          <a:prstGeom prst="rect">
            <a:avLst/>
          </a:prstGeom>
          <a:solidFill>
            <a:schemeClr val="bg1"/>
          </a:solidFill>
        </p:spPr>
        <p:txBody>
          <a:bodyPr wrap="none" lIns="0" tIns="0" rIns="0" bIns="0" rtlCol="0">
            <a:spAutoFit/>
          </a:bodyPr>
          <a:lstStyle/>
          <a:p>
            <a:pPr algn="l"/>
            <a:r>
              <a:rPr lang="en-US" sz="1600" dirty="0">
                <a:solidFill>
                  <a:schemeClr val="tx1">
                    <a:lumMod val="75000"/>
                    <a:lumOff val="25000"/>
                  </a:schemeClr>
                </a:solidFill>
              </a:rPr>
              <a:t>OR</a:t>
            </a:r>
          </a:p>
        </p:txBody>
      </p:sp>
    </p:spTree>
    <p:extLst>
      <p:ext uri="{BB962C8B-B14F-4D97-AF65-F5344CB8AC3E}">
        <p14:creationId xmlns:p14="http://schemas.microsoft.com/office/powerpoint/2010/main" val="3406996388"/>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Build AI agents with portal and VS Code</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132618"/>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demo, you’ll explore how to:</a:t>
            </a:r>
          </a:p>
          <a:p>
            <a:r>
              <a:rPr lang="en-US" dirty="0"/>
              <a:t>Create an AI agent in Microsoft Foundry portal</a:t>
            </a:r>
          </a:p>
          <a:p>
            <a:r>
              <a:rPr lang="en-US" dirty="0"/>
              <a:t>Interact with your agent using VS Code</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https://go.microsoft.com/fwlink/?linkid=2352649</a:t>
            </a:r>
            <a:r>
              <a:rPr lang="en-US" sz="1600" dirty="0">
                <a:solidFill>
                  <a:srgbClr val="000000"/>
                </a:solidFill>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1493076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2332142"/>
            <a:ext cx="8778782" cy="430887"/>
          </a:xfrm>
        </p:spPr>
        <p:txBody>
          <a:bodyPr/>
          <a:lstStyle/>
          <a:p>
            <a:r>
              <a:rPr lang="en-US" b="1" dirty="0"/>
              <a:t>What is the primary benefit of using Microsoft Foundry Agent Service compared to building agents with standard APIs?</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787987"/>
            <a:ext cx="8775098" cy="991041"/>
          </a:xfrm>
          <a:noFill/>
        </p:spPr>
        <p:txBody>
          <a:bodyPr/>
          <a:lstStyle/>
          <a:p>
            <a:r>
              <a:rPr lang="en-US" noProof="0" dirty="0"/>
              <a:t>It provides access to more powerful AI models  </a:t>
            </a:r>
            <a:endParaRPr lang="en-US" dirty="0"/>
          </a:p>
          <a:p>
            <a:r>
              <a:rPr lang="en-US" noProof="0" dirty="0"/>
              <a:t>It requires no Azure subscription  </a:t>
            </a:r>
            <a:endParaRPr lang="en-US" dirty="0"/>
          </a:p>
          <a:p>
            <a:r>
              <a:rPr lang="en-US" noProof="0" dirty="0"/>
              <a:t>It handles tool calling, state management, and infrastructure automatically  </a:t>
            </a:r>
            <a:endParaRPr lang="en-US" dirty="0"/>
          </a:p>
          <a:p>
            <a:r>
              <a:rPr lang="en-US" noProof="0" dirty="0"/>
              <a:t>It only works with the Azure portal</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4034002"/>
            <a:ext cx="8778782" cy="215444"/>
          </a:xfrm>
        </p:spPr>
        <p:txBody>
          <a:bodyPr/>
          <a:lstStyle/>
          <a:p>
            <a:r>
              <a:rPr lang="en-US" noProof="0" dirty="0"/>
              <a:t>How does Microsoft Foundry Agent Service handle conversation state?</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4267495"/>
            <a:ext cx="8775098" cy="991041"/>
          </a:xfrm>
        </p:spPr>
        <p:txBody>
          <a:bodyPr/>
          <a:lstStyle/>
          <a:p>
            <a:r>
              <a:rPr lang="en-US" dirty="0"/>
              <a:t>By requiring developers to manually manage conversation history  </a:t>
            </a:r>
          </a:p>
          <a:p>
            <a:r>
              <a:rPr lang="en-US" dirty="0"/>
              <a:t>Through external database connections  </a:t>
            </a:r>
          </a:p>
          <a:p>
            <a:r>
              <a:rPr lang="en-US" dirty="0"/>
              <a:t>Through the Responses API which automatically manages conversation context  </a:t>
            </a:r>
          </a:p>
          <a:p>
            <a:r>
              <a:rPr lang="en-US" dirty="0"/>
              <a:t>Using local file storage on the client device</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3852" y="33191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Graphic 26">
            <a:extLst>
              <a:ext uri="{FF2B5EF4-FFF2-40B4-BE49-F238E27FC236}">
                <a16:creationId xmlns:a16="http://schemas.microsoft.com/office/drawing/2014/main" id="{1BC2DADB-2D77-0412-4D5B-67A9AEB8C86A}"/>
              </a:ext>
              <a:ext uri="{C183D7F6-B498-43B3-948B-1728B52AA6E4}">
                <adec:decorative xmlns:adec="http://schemas.microsoft.com/office/drawing/2017/decorative" val="1"/>
              </a:ext>
            </a:extLst>
          </p:cNvPr>
          <p:cNvSpPr>
            <a:spLocks/>
          </p:cNvSpPr>
          <p:nvPr/>
        </p:nvSpPr>
        <p:spPr>
          <a:xfrm>
            <a:off x="1248110" y="479156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253084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F6C784-AA2B-54CE-A5D4-C5B6544A065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92321789"/>
      </p:ext>
    </p:extLst>
  </p:cSld>
  <p:clrMapOvr>
    <a:masterClrMapping/>
  </p:clrMapOvr>
  <p:transition>
    <p:fade/>
  </p:transition>
</p:sld>
</file>

<file path=ppt/theme/theme1.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2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2D07151C35047978CBB2C9B85873C" ma:contentTypeVersion="12" ma:contentTypeDescription="Create a new document." ma:contentTypeScope="" ma:versionID="3534ca723f0afde11e2a11eecba4c346">
  <xsd:schema xmlns:xsd="http://www.w3.org/2001/XMLSchema" xmlns:xs="http://www.w3.org/2001/XMLSchema" xmlns:p="http://schemas.microsoft.com/office/2006/metadata/properties" xmlns:ns1="http://schemas.microsoft.com/sharepoint/v3" xmlns:ns2="65939125-e560-4c0d-b0c5-36d0cbbdefe7" xmlns:ns3="e9b40ee8-a410-479f-a3f0-3e55b31bc197" targetNamespace="http://schemas.microsoft.com/office/2006/metadata/properties" ma:root="true" ma:fieldsID="f016192c923787f1dfe767fe6eb19d52" ns1:_="" ns2:_="" ns3:_="">
    <xsd:import namespace="http://schemas.microsoft.com/sharepoint/v3"/>
    <xsd:import namespace="65939125-e560-4c0d-b0c5-36d0cbbdefe7"/>
    <xsd:import namespace="e9b40ee8-a410-479f-a3f0-3e55b31bc19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939125-e560-4c0d-b0c5-36d0cbbdefe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b40ee8-a410-479f-a3f0-3e55b31bc19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ae8649e-307b-442d-9f75-1cd1fb9eba4e}" ma:internalName="TaxCatchAll" ma:showField="CatchAllData" ma:web="e9b40ee8-a410-479f-a3f0-3e55b31bc1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5939125-e560-4c0d-b0c5-36d0cbbdefe7">
      <Terms xmlns="http://schemas.microsoft.com/office/infopath/2007/PartnerControls"/>
    </lcf76f155ced4ddcb4097134ff3c332f>
    <TaxCatchAll xmlns="e9b40ee8-a410-479f-a3f0-3e55b31bc197"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683044-9CCF-49C2-86EF-175FB3A95D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5939125-e560-4c0d-b0c5-36d0cbbdefe7"/>
    <ds:schemaRef ds:uri="e9b40ee8-a410-479f-a3f0-3e55b31bc1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F4CE68-A85E-4373-86D0-F40255719C5F}">
  <ds:schemaRefs>
    <ds:schemaRef ds:uri="http://schemas.openxmlformats.org/package/2006/metadata/core-properties"/>
    <ds:schemaRef ds:uri="http://purl.org/dc/elements/1.1/"/>
    <ds:schemaRef ds:uri="65939125-e560-4c0d-b0c5-36d0cbbdefe7"/>
    <ds:schemaRef ds:uri="http://www.w3.org/XML/1998/namespace"/>
    <ds:schemaRef ds:uri="http://schemas.microsoft.com/sharepoint/v3"/>
    <ds:schemaRef ds:uri="http://schemas.microsoft.com/office/infopath/2007/PartnerControls"/>
    <ds:schemaRef ds:uri="http://schemas.microsoft.com/office/2006/documentManagement/types"/>
    <ds:schemaRef ds:uri="http://purl.org/dc/dcmitype/"/>
    <ds:schemaRef ds:uri="e9b40ee8-a410-479f-a3f0-3e55b31bc197"/>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BE6BE5F-0F3E-4688-943B-6A75B88CACC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10594</Words>
  <Application>Microsoft Office PowerPoint</Application>
  <PresentationFormat>Widescreen</PresentationFormat>
  <Paragraphs>1249</Paragraphs>
  <Slides>59</Slides>
  <Notes>53</Notes>
  <HiddenSlides>6</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59</vt:i4>
      </vt:variant>
    </vt:vector>
  </HeadingPairs>
  <TitlesOfParts>
    <vt:vector size="75" baseType="lpstr">
      <vt:lpstr>Abadi</vt:lpstr>
      <vt:lpstr>Aptos</vt:lpstr>
      <vt:lpstr>Arial</vt:lpstr>
      <vt:lpstr>Cambria Math</vt:lpstr>
      <vt:lpstr>Cascadia Code Light</vt:lpstr>
      <vt:lpstr>Consolas</vt:lpstr>
      <vt:lpstr>Courier New</vt:lpstr>
      <vt:lpstr>Segoe UI</vt:lpstr>
      <vt:lpstr>Segoe UI Black</vt:lpstr>
      <vt:lpstr>Segoe UI Light</vt:lpstr>
      <vt:lpstr>Segoe UI Semibold</vt:lpstr>
      <vt:lpstr>System Font Regular</vt:lpstr>
      <vt:lpstr>Wingdings</vt:lpstr>
      <vt:lpstr>1_LIGHT MODE</vt:lpstr>
      <vt:lpstr>LIGHT MODE</vt:lpstr>
      <vt:lpstr>2_LIGHT MODE</vt:lpstr>
      <vt:lpstr>Develop generative AI apps in Azure​</vt:lpstr>
      <vt:lpstr>Artificial Intelligence workloads</vt:lpstr>
      <vt:lpstr>Our focus today</vt:lpstr>
      <vt:lpstr>Plan and prepare to develop AI solutions on Azure</vt:lpstr>
      <vt:lpstr>Microsoft Foundry</vt:lpstr>
      <vt:lpstr>Foundry Tools</vt:lpstr>
      <vt:lpstr>Developer tools and SDKs</vt:lpstr>
      <vt:lpstr>Principles of responsible AI</vt:lpstr>
      <vt:lpstr>Exercise</vt:lpstr>
      <vt:lpstr>Knowledge check</vt:lpstr>
      <vt:lpstr>Select, deploy, and evaluate Microsoft Foundry Models</vt:lpstr>
      <vt:lpstr>Explore the model catalog</vt:lpstr>
      <vt:lpstr>Select models using benchmarks</vt:lpstr>
      <vt:lpstr>Deploy models to endpoints</vt:lpstr>
      <vt:lpstr>Evaluate model performance</vt:lpstr>
      <vt:lpstr>Exercise</vt:lpstr>
      <vt:lpstr>Knowledge check</vt:lpstr>
      <vt:lpstr>Develop a generative AI chat app with Microsoft Foundry</vt:lpstr>
      <vt:lpstr>Explore with the model playground</vt:lpstr>
      <vt:lpstr>Choosing an endpoint and SDK</vt:lpstr>
      <vt:lpstr>Compare ChatCompletions with Responses API</vt:lpstr>
      <vt:lpstr>Compare per-turn code pattern</vt:lpstr>
      <vt:lpstr>Using the Responses API</vt:lpstr>
      <vt:lpstr>Using the ChatCompletions API</vt:lpstr>
      <vt:lpstr>Exercise</vt:lpstr>
      <vt:lpstr>Knowledge check</vt:lpstr>
      <vt:lpstr>Develop generative AI apps that use tools</vt:lpstr>
      <vt:lpstr>What are tools?</vt:lpstr>
      <vt:lpstr>Using the code_interpreter tool</vt:lpstr>
      <vt:lpstr>Using the web_search tool</vt:lpstr>
      <vt:lpstr>Using the file_search tool</vt:lpstr>
      <vt:lpstr>Using the function tool</vt:lpstr>
      <vt:lpstr>Using the code_interpreter tool</vt:lpstr>
      <vt:lpstr>Using the web_search tool</vt:lpstr>
      <vt:lpstr>Using the file_search tool</vt:lpstr>
      <vt:lpstr>Using the function tool</vt:lpstr>
      <vt:lpstr>Exercise</vt:lpstr>
      <vt:lpstr>Knowledge check</vt:lpstr>
      <vt:lpstr>Optimize generative AI model performance with Microsoft Foundry</vt:lpstr>
      <vt:lpstr>Optimizing model performance</vt:lpstr>
      <vt:lpstr>Prompt engineering</vt:lpstr>
      <vt:lpstr>Ground your model with Retrieval Augmented Generation</vt:lpstr>
      <vt:lpstr>Fine-tune a model for consistent behavior</vt:lpstr>
      <vt:lpstr>Knowledge check</vt:lpstr>
      <vt:lpstr>Implement a responsible generative AI solution in Microsoft Foundry</vt:lpstr>
      <vt:lpstr>Plan a responsible generative AI solution</vt:lpstr>
      <vt:lpstr>Guardrails</vt:lpstr>
      <vt:lpstr>Exercise</vt:lpstr>
      <vt:lpstr>Knowledge check</vt:lpstr>
      <vt:lpstr>Develop AI agents with Microsoft Foundry and Visual Studio Code</vt:lpstr>
      <vt:lpstr>Understand AI agents</vt:lpstr>
      <vt:lpstr>Understand AI agents</vt:lpstr>
      <vt:lpstr>Why agents are useful</vt:lpstr>
      <vt:lpstr>AI agent use cases</vt:lpstr>
      <vt:lpstr>Typical development workflow</vt:lpstr>
      <vt:lpstr>Choose your development approach</vt:lpstr>
      <vt:lpstr>Exercise</vt:lpstr>
      <vt:lpstr>Knowledge check</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2023-08-17T11:36:13Z</dcterms:created>
  <dcterms:modified xsi:type="dcterms:W3CDTF">2026-05-13T21:44:35Z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Application">
    <vt:lpwstr>Microsoft Azure Information Protection</vt:lpwstr>
  </property>
  <property fmtid="{D5CDD505-2E9C-101B-9397-08002B2CF9AE}" pid="3" name="_dlc_policyId">
    <vt:lpwstr>0x01010070AB3889E58DB141A6E1281B02136174|-369733750</vt:lpwstr>
  </property>
  <property fmtid="{D5CDD505-2E9C-101B-9397-08002B2CF9AE}" pid="4" name="MSIP_Label_f42aa342-8706-4288-bd11-ebb85995028c_Enabled">
    <vt:lpwstr>True</vt:lpwstr>
  </property>
  <property fmtid="{D5CDD505-2E9C-101B-9397-08002B2CF9AE}" pid="5" name="MediaServiceImageTags">
    <vt:lpwstr/>
  </property>
  <property fmtid="{D5CDD505-2E9C-101B-9397-08002B2CF9AE}" pid="6" name="ContentTypeId">
    <vt:lpwstr>0x0101002E32D07151C35047978CBB2C9B85873C</vt:lpwstr>
  </property>
  <property fmtid="{D5CDD505-2E9C-101B-9397-08002B2CF9AE}" pid="7" name="Audience">
    <vt:lpwstr/>
  </property>
  <property fmtid="{D5CDD505-2E9C-101B-9397-08002B2CF9AE}" pid="8" name="MSIP_Label_f42aa342-8706-4288-bd11-ebb85995028c_SetDate">
    <vt:lpwstr>2017-08-29T14:27:20.8568347-07:00</vt:lpwstr>
  </property>
  <property fmtid="{D5CDD505-2E9C-101B-9397-08002B2CF9AE}" pid="9" name="MSIP_Label_f42aa342-8706-4288-bd11-ebb85995028c_Name">
    <vt:lpwstr>General</vt:lpwstr>
  </property>
  <property fmtid="{D5CDD505-2E9C-101B-9397-08002B2CF9AE}" pid="10" name="MSIP_Label_f42aa342-8706-4288-bd11-ebb85995028c_SiteId">
    <vt:lpwstr>72f988bf-86f1-41af-91ab-2d7cd011db47</vt:lpwstr>
  </property>
  <property fmtid="{D5CDD505-2E9C-101B-9397-08002B2CF9AE}" pid="11" name="Campaign">
    <vt:lpwstr/>
  </property>
  <property fmtid="{D5CDD505-2E9C-101B-9397-08002B2CF9AE}" pid="12" name="MSIP_Label_f42aa342-8706-4288-bd11-ebb85995028c_Extended_MSFT_Method">
    <vt:lpwstr>Automatic</vt:lpwstr>
  </property>
  <property fmtid="{D5CDD505-2E9C-101B-9397-08002B2CF9AE}" pid="13" name="Track">
    <vt:lpwstr/>
  </property>
  <property fmtid="{D5CDD505-2E9C-101B-9397-08002B2CF9AE}" pid="14" name="MSIP_Label_f42aa342-8706-4288-bd11-ebb85995028c_Owner">
    <vt:lpwstr>maryfj@microsoft.com</vt:lpwstr>
  </property>
  <property fmtid="{D5CDD505-2E9C-101B-9397-08002B2CF9AE}" pid="15" name="Event Venue">
    <vt:lpwstr/>
  </property>
  <property fmtid="{D5CDD505-2E9C-101B-9397-08002B2CF9AE}" pid="16" name="IsMyDocuments">
    <vt:bool>true</vt:bool>
  </property>
  <property fmtid="{D5CDD505-2E9C-101B-9397-08002B2CF9AE}" pid="17" name="Sensitivity">
    <vt:lpwstr>General</vt:lpwstr>
  </property>
  <property fmtid="{D5CDD505-2E9C-101B-9397-08002B2CF9AE}" pid="18" name="MSIP_Label_f42aa342-8706-4288-bd11-ebb85995028c_Ref">
    <vt:lpwstr>https://api.informationprotection.azure.com/api/72f988bf-86f1-41af-91ab-2d7cd011db47</vt:lpwstr>
  </property>
  <property fmtid="{D5CDD505-2E9C-101B-9397-08002B2CF9AE}" pid="19" name="Product">
    <vt:lpwstr/>
  </property>
  <property fmtid="{D5CDD505-2E9C-101B-9397-08002B2CF9AE}" pid="20" name="Event Location">
    <vt:lpwstr/>
  </property>
  <property fmtid="{D5CDD505-2E9C-101B-9397-08002B2CF9AE}" pid="2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22" name="Event1">
    <vt:lpwstr>622;#Unassigned|2c8af875-f38a-40b8-a0a9-056aed3fc8c0</vt:lpwstr>
  </property>
</Properties>
</file>