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922" r:id="rId4"/>
    <p:sldMasterId id="2147484972" r:id="rId5"/>
  </p:sldMasterIdLst>
  <p:notesMasterIdLst>
    <p:notesMasterId r:id="rId50"/>
  </p:notesMasterIdLst>
  <p:handoutMasterIdLst>
    <p:handoutMasterId r:id="rId51"/>
  </p:handoutMasterIdLst>
  <p:sldIdLst>
    <p:sldId id="256" r:id="rId6"/>
    <p:sldId id="2147479835" r:id="rId7"/>
    <p:sldId id="2147479836" r:id="rId8"/>
    <p:sldId id="257" r:id="rId9"/>
    <p:sldId id="1798" r:id="rId10"/>
    <p:sldId id="2147479802" r:id="rId11"/>
    <p:sldId id="2147479813" r:id="rId12"/>
    <p:sldId id="2147479822" r:id="rId13"/>
    <p:sldId id="2147479814" r:id="rId14"/>
    <p:sldId id="1860" r:id="rId15"/>
    <p:sldId id="1861" r:id="rId16"/>
    <p:sldId id="2147479816" r:id="rId17"/>
    <p:sldId id="2147479825" r:id="rId18"/>
    <p:sldId id="2147479815" r:id="rId19"/>
    <p:sldId id="2147479838" r:id="rId20"/>
    <p:sldId id="2147479834" r:id="rId21"/>
    <p:sldId id="2147479832" r:id="rId22"/>
    <p:sldId id="2147479833" r:id="rId23"/>
    <p:sldId id="2147479730" r:id="rId24"/>
    <p:sldId id="2147479723" r:id="rId25"/>
    <p:sldId id="2147479837" r:id="rId26"/>
    <p:sldId id="1898" r:id="rId27"/>
    <p:sldId id="1899" r:id="rId28"/>
    <p:sldId id="1901" r:id="rId29"/>
    <p:sldId id="2147479830" r:id="rId30"/>
    <p:sldId id="2147479725" r:id="rId31"/>
    <p:sldId id="2147479839" r:id="rId32"/>
    <p:sldId id="2147479840" r:id="rId33"/>
    <p:sldId id="2147479841" r:id="rId34"/>
    <p:sldId id="2147479842" r:id="rId35"/>
    <p:sldId id="2147479845" r:id="rId36"/>
    <p:sldId id="2147479843" r:id="rId37"/>
    <p:sldId id="2147479850" r:id="rId38"/>
    <p:sldId id="2147479852" r:id="rId39"/>
    <p:sldId id="2147479848" r:id="rId40"/>
    <p:sldId id="2147479846" r:id="rId41"/>
    <p:sldId id="1864" r:id="rId42"/>
    <p:sldId id="1873" r:id="rId43"/>
    <p:sldId id="2147479829" r:id="rId44"/>
    <p:sldId id="2147479844" r:id="rId45"/>
    <p:sldId id="1905" r:id="rId46"/>
    <p:sldId id="2147479849" r:id="rId47"/>
    <p:sldId id="2147479847" r:id="rId48"/>
    <p:sldId id="1790" r:id="rId4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E9F006-CD05-43D3-86DF-416740DE2C49}">
          <p14:sldIdLst>
            <p14:sldId id="256"/>
            <p14:sldId id="2147479835"/>
            <p14:sldId id="2147479836"/>
          </p14:sldIdLst>
        </p14:section>
        <p14:section name="Analyze text" id="{39823CCC-CE8A-40FC-8767-752343AB3404}">
          <p14:sldIdLst>
            <p14:sldId id="257"/>
            <p14:sldId id="1798"/>
            <p14:sldId id="2147479802"/>
            <p14:sldId id="2147479813"/>
            <p14:sldId id="2147479822"/>
          </p14:sldIdLst>
        </p14:section>
        <p14:section name="Azure Language MCP Server" id="{03CF8FF3-4D95-44B6-9C74-23E605949054}">
          <p14:sldIdLst>
            <p14:sldId id="2147479814"/>
            <p14:sldId id="1860"/>
            <p14:sldId id="1861"/>
            <p14:sldId id="2147479816"/>
            <p14:sldId id="2147479825"/>
          </p14:sldIdLst>
        </p14:section>
        <p14:section name="Generative AI Speech" id="{4C479A41-DE21-4F05-AB6D-2312A356C528}">
          <p14:sldIdLst>
            <p14:sldId id="2147479815"/>
            <p14:sldId id="2147479838"/>
            <p14:sldId id="2147479834"/>
            <p14:sldId id="2147479832"/>
            <p14:sldId id="2147479833"/>
          </p14:sldIdLst>
        </p14:section>
        <p14:section name="Create a speech app" id="{D4C1D618-F2D2-4742-AD23-07FE32AE4B7F}">
          <p14:sldIdLst>
            <p14:sldId id="2147479730"/>
            <p14:sldId id="2147479723"/>
            <p14:sldId id="2147479837"/>
            <p14:sldId id="1898"/>
            <p14:sldId id="1899"/>
            <p14:sldId id="1901"/>
            <p14:sldId id="2147479830"/>
            <p14:sldId id="2147479725"/>
          </p14:sldIdLst>
        </p14:section>
        <p14:section name="Azure Speech MCP" id="{CF8219B6-4C62-4D8C-9682-BF487333B2DB}">
          <p14:sldIdLst>
            <p14:sldId id="2147479839"/>
            <p14:sldId id="2147479840"/>
            <p14:sldId id="2147479841"/>
            <p14:sldId id="2147479842"/>
            <p14:sldId id="2147479845"/>
          </p14:sldIdLst>
        </p14:section>
        <p14:section name="Azure Speech Voice Live" id="{5C23B111-0F70-42DF-BEC3-5C7D038F7D21}">
          <p14:sldIdLst>
            <p14:sldId id="2147479843"/>
            <p14:sldId id="2147479850"/>
            <p14:sldId id="2147479852"/>
            <p14:sldId id="2147479848"/>
            <p14:sldId id="2147479846"/>
          </p14:sldIdLst>
        </p14:section>
        <p14:section name="Translation" id="{8BE0B126-C587-43D8-AEA0-A91C9A6C7FB1}">
          <p14:sldIdLst>
            <p14:sldId id="1864"/>
            <p14:sldId id="1873"/>
            <p14:sldId id="2147479829"/>
            <p14:sldId id="2147479844"/>
            <p14:sldId id="1905"/>
            <p14:sldId id="2147479849"/>
            <p14:sldId id="2147479847"/>
            <p14:sldId id="1790"/>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4FDF"/>
    <a:srgbClr val="FFD5D9"/>
    <a:srgbClr val="BCD9E9"/>
    <a:srgbClr val="DCC3DD"/>
    <a:srgbClr val="F5C7BB"/>
    <a:srgbClr val="EEEEEE"/>
    <a:srgbClr val="E8E8E8"/>
    <a:srgbClr val="D4D4D4"/>
    <a:srgbClr val="E8E6DF"/>
    <a:srgbClr val="FB5A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0" autoAdjust="0"/>
    <p:restoredTop sz="82991" autoAdjust="0"/>
  </p:normalViewPr>
  <p:slideViewPr>
    <p:cSldViewPr snapToGrid="0">
      <p:cViewPr varScale="1">
        <p:scale>
          <a:sx n="96" d="100"/>
          <a:sy n="96" d="100"/>
        </p:scale>
        <p:origin x="468" y="56"/>
      </p:cViewPr>
      <p:guideLst>
        <p:guide pos="4200"/>
        <p:guide orient="horz" pos="2160"/>
        <p:guide pos="584"/>
        <p:guide pos="3840"/>
      </p:guideLst>
    </p:cSldViewPr>
  </p:slideViewPr>
  <p:outlineViewPr>
    <p:cViewPr>
      <p:scale>
        <a:sx n="33" d="100"/>
        <a:sy n="33" d="100"/>
      </p:scale>
      <p:origin x="0" y="-22236"/>
    </p:cViewPr>
  </p:outlineViewPr>
  <p:notesTextViewPr>
    <p:cViewPr>
      <p:scale>
        <a:sx n="1" d="1"/>
        <a:sy n="1" d="1"/>
      </p:scale>
      <p:origin x="0" y="0"/>
    </p:cViewPr>
  </p:notesTextViewPr>
  <p:sorterViewPr>
    <p:cViewPr>
      <p:scale>
        <a:sx n="100" d="100"/>
        <a:sy n="100" d="100"/>
      </p:scale>
      <p:origin x="0" y="-2382"/>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8/10/relationships/authors" Targe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356221-FF75-4B28-B1B7-9C62EC26339F}" type="datetime8">
              <a:rPr lang="en-US" smtClean="0">
                <a:latin typeface="Segoe UI" pitchFamily="34" charset="0"/>
              </a:rPr>
              <a:t>5/13/2026 6:07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55E12198-D52A-4604-A7DE-05A0E5E96698}" type="datetime8">
              <a:rPr lang="en-US" smtClean="0"/>
              <a:t>5/13/2026 6:07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learning path from which this presentation is derived.</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6:07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52145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Use this slide to </a:t>
            </a:r>
            <a:r>
              <a:rPr lang="en-US" sz="882" b="1" i="0" kern="1200" dirty="0">
                <a:solidFill>
                  <a:schemeClr val="tx1"/>
                </a:solidFill>
                <a:effectLst/>
                <a:latin typeface="Segoe UI Light" pitchFamily="34" charset="0"/>
                <a:ea typeface="+mn-ea"/>
                <a:cs typeface="+mn-cs"/>
              </a:rPr>
              <a:t>orient learners</a:t>
            </a:r>
            <a:r>
              <a:rPr lang="en-US" sz="882" b="0" i="0" kern="1200" dirty="0">
                <a:solidFill>
                  <a:schemeClr val="tx1"/>
                </a:solidFill>
                <a:effectLst/>
                <a:latin typeface="Segoe UI Light" pitchFamily="34" charset="0"/>
                <a:ea typeface="+mn-ea"/>
                <a:cs typeface="+mn-cs"/>
              </a:rPr>
              <a:t> to the AI workload landscape. Emphasize that today’s focus is </a:t>
            </a:r>
            <a:r>
              <a:rPr lang="en-US" sz="882" b="1" i="0" kern="1200" dirty="0">
                <a:solidFill>
                  <a:schemeClr val="tx1"/>
                </a:solidFill>
                <a:effectLst/>
                <a:latin typeface="Segoe UI Light" pitchFamily="34" charset="0"/>
                <a:ea typeface="+mn-ea"/>
                <a:cs typeface="+mn-cs"/>
              </a:rPr>
              <a:t>Text and Language</a:t>
            </a:r>
            <a:r>
              <a:rPr lang="en-US" sz="882" b="0" i="0" kern="1200" dirty="0">
                <a:solidFill>
                  <a:schemeClr val="tx1"/>
                </a:solidFill>
                <a:effectLst/>
                <a:latin typeface="Segoe UI Light" pitchFamily="34" charset="0"/>
                <a:ea typeface="+mn-ea"/>
                <a:cs typeface="+mn-cs"/>
              </a:rPr>
              <a:t>, but learners should understand how it fits alongside vision, speech, and ML. Reinforce that </a:t>
            </a:r>
            <a:r>
              <a:rPr lang="en-US" sz="882" b="1" i="0" kern="1200" dirty="0">
                <a:solidFill>
                  <a:schemeClr val="tx1"/>
                </a:solidFill>
                <a:effectLst/>
                <a:latin typeface="Segoe UI Light" pitchFamily="34" charset="0"/>
                <a:ea typeface="+mn-ea"/>
                <a:cs typeface="+mn-cs"/>
              </a:rPr>
              <a:t>generative AI and agents</a:t>
            </a:r>
            <a:r>
              <a:rPr lang="en-US" sz="882" b="0" i="0" kern="1200" dirty="0">
                <a:solidFill>
                  <a:schemeClr val="tx1"/>
                </a:solidFill>
                <a:effectLst/>
                <a:latin typeface="Segoe UI Light" pitchFamily="34" charset="0"/>
                <a:ea typeface="+mn-ea"/>
                <a:cs typeface="+mn-cs"/>
              </a:rPr>
              <a:t> increasingly sit </a:t>
            </a:r>
            <a:r>
              <a:rPr lang="en-US" sz="882" b="0" i="1" kern="1200" dirty="0">
                <a:solidFill>
                  <a:schemeClr val="tx1"/>
                </a:solidFill>
                <a:effectLst/>
                <a:latin typeface="Segoe UI Light" pitchFamily="34" charset="0"/>
                <a:ea typeface="+mn-ea"/>
                <a:cs typeface="+mn-cs"/>
              </a:rPr>
              <a:t>on top of</a:t>
            </a:r>
            <a:r>
              <a:rPr lang="en-US" sz="882" b="0" i="0" kern="1200" dirty="0">
                <a:solidFill>
                  <a:schemeClr val="tx1"/>
                </a:solidFill>
                <a:effectLst/>
                <a:latin typeface="Segoe UI Light" pitchFamily="34" charset="0"/>
                <a:ea typeface="+mn-ea"/>
                <a:cs typeface="+mn-cs"/>
              </a:rPr>
              <a:t> these foundational workloads.</a:t>
            </a: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6:07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Set expectations: this slide deck  focuses on </a:t>
            </a:r>
            <a:r>
              <a:rPr lang="en-US" sz="882" b="1" i="0" kern="1200" dirty="0">
                <a:solidFill>
                  <a:schemeClr val="tx1"/>
                </a:solidFill>
                <a:effectLst/>
                <a:latin typeface="Segoe UI Light" pitchFamily="34" charset="0"/>
                <a:ea typeface="+mn-ea"/>
                <a:cs typeface="+mn-cs"/>
              </a:rPr>
              <a:t>language, speech, and translation workloads</a:t>
            </a:r>
            <a:r>
              <a:rPr lang="en-US" sz="882" b="0" i="0" kern="1200" dirty="0">
                <a:solidFill>
                  <a:schemeClr val="tx1"/>
                </a:solidFill>
                <a:effectLst/>
                <a:latin typeface="Segoe UI Light" pitchFamily="34" charset="0"/>
                <a:ea typeface="+mn-ea"/>
                <a:cs typeface="+mn-cs"/>
              </a:rPr>
              <a:t> in Azure. Position the session within the broader AI‑103 course. Explicitly tell learners what </a:t>
            </a:r>
            <a:r>
              <a:rPr lang="en-US" sz="882" b="0" i="1" kern="1200" dirty="0">
                <a:solidFill>
                  <a:schemeClr val="tx1"/>
                </a:solidFill>
                <a:effectLst/>
                <a:latin typeface="Segoe UI Light" pitchFamily="34" charset="0"/>
                <a:ea typeface="+mn-ea"/>
                <a:cs typeface="+mn-cs"/>
              </a:rPr>
              <a:t>won’t</a:t>
            </a:r>
            <a:r>
              <a:rPr lang="en-US" sz="882" b="0" i="0" kern="1200" dirty="0">
                <a:solidFill>
                  <a:schemeClr val="tx1"/>
                </a:solidFill>
                <a:effectLst/>
                <a:latin typeface="Segoe UI Light" pitchFamily="34" charset="0"/>
                <a:ea typeface="+mn-ea"/>
                <a:cs typeface="+mn-cs"/>
              </a:rPr>
              <a:t> be covered in depth (for example, custom ML training). Help learners mentally scope the exercises they’ll complete.</a:t>
            </a:r>
          </a:p>
          <a:p>
            <a:pPr marL="0" marR="0" lvl="0" indent="0" algn="l" defTabSz="914367" rtl="0" eaLnBrk="1" fontAlgn="t" latinLnBrk="0" hangingPunct="1">
              <a:lnSpc>
                <a:spcPct val="90000"/>
              </a:lnSpc>
              <a:spcBef>
                <a:spcPts val="0"/>
              </a:spcBef>
              <a:spcAft>
                <a:spcPts val="333"/>
              </a:spcAft>
              <a:buClrTx/>
              <a:buSzTx/>
              <a:buFontTx/>
              <a:buNone/>
              <a:tabLst/>
              <a:defRPr/>
            </a:pPr>
            <a:endParaRPr lang="en-US" sz="882" b="0" i="0" kern="1200" dirty="0">
              <a:solidFill>
                <a:schemeClr val="tx1"/>
              </a:solidFill>
              <a:effectLst/>
              <a:latin typeface="Segoe UI Light" pitchFamily="34" charset="0"/>
              <a:ea typeface="+mn-ea"/>
              <a:cs typeface="+mn-cs"/>
            </a:endParaRPr>
          </a:p>
          <a:p>
            <a:pPr fontAlgn="t"/>
            <a:endParaRPr lang="en-US" sz="882" b="0" i="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6:07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6:07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8515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Introduce </a:t>
            </a:r>
            <a:r>
              <a:rPr lang="en-US" sz="882" b="1" i="0" kern="1200" dirty="0">
                <a:solidFill>
                  <a:schemeClr val="tx1"/>
                </a:solidFill>
                <a:effectLst/>
                <a:latin typeface="Segoe UI Light" pitchFamily="34" charset="0"/>
                <a:ea typeface="+mn-ea"/>
                <a:cs typeface="+mn-cs"/>
              </a:rPr>
              <a:t>Azure Language</a:t>
            </a:r>
            <a:r>
              <a:rPr lang="en-US" sz="882" b="0" i="0" kern="1200" dirty="0">
                <a:solidFill>
                  <a:schemeClr val="tx1"/>
                </a:solidFill>
                <a:effectLst/>
                <a:latin typeface="Segoe UI Light" pitchFamily="34" charset="0"/>
                <a:ea typeface="+mn-ea"/>
                <a:cs typeface="+mn-cs"/>
              </a:rPr>
              <a:t> as a </a:t>
            </a:r>
            <a:r>
              <a:rPr lang="en-US" sz="882" b="0" i="1" kern="1200" dirty="0">
                <a:solidFill>
                  <a:schemeClr val="tx1"/>
                </a:solidFill>
                <a:effectLst/>
                <a:latin typeface="Segoe UI Light" pitchFamily="34" charset="0"/>
                <a:ea typeface="+mn-ea"/>
                <a:cs typeface="+mn-cs"/>
              </a:rPr>
              <a:t>prebuilt</a:t>
            </a:r>
            <a:r>
              <a:rPr lang="en-US" sz="882" b="0" i="0" kern="1200" dirty="0">
                <a:solidFill>
                  <a:schemeClr val="tx1"/>
                </a:solidFill>
                <a:effectLst/>
                <a:latin typeface="Segoe UI Light" pitchFamily="34" charset="0"/>
                <a:ea typeface="+mn-ea"/>
                <a:cs typeface="+mn-cs"/>
              </a:rPr>
              <a:t> capability exposed through Foundry. Stress the value proposition: </a:t>
            </a:r>
            <a:r>
              <a:rPr lang="en-US" sz="882" b="1" i="0" kern="1200" dirty="0">
                <a:solidFill>
                  <a:schemeClr val="tx1"/>
                </a:solidFill>
                <a:effectLst/>
                <a:latin typeface="Segoe UI Light" pitchFamily="34" charset="0"/>
                <a:ea typeface="+mn-ea"/>
                <a:cs typeface="+mn-cs"/>
              </a:rPr>
              <a:t>no model training required</a:t>
            </a:r>
            <a:r>
              <a:rPr lang="en-US" sz="882" b="0" i="0" kern="1200" dirty="0">
                <a:solidFill>
                  <a:schemeClr val="tx1"/>
                </a:solidFill>
                <a:effectLst/>
                <a:latin typeface="Segoe UI Light" pitchFamily="34" charset="0"/>
                <a:ea typeface="+mn-ea"/>
                <a:cs typeface="+mn-cs"/>
              </a:rPr>
              <a:t> for common NLP tasks.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each capability quickly, using the example output to make it concrete. Call out </a:t>
            </a:r>
            <a:r>
              <a:rPr lang="en-US" sz="882" b="1" i="0" kern="1200" dirty="0">
                <a:solidFill>
                  <a:schemeClr val="tx1"/>
                </a:solidFill>
                <a:effectLst/>
                <a:latin typeface="Segoe UI Light" pitchFamily="34" charset="0"/>
                <a:ea typeface="+mn-ea"/>
                <a:cs typeface="+mn-cs"/>
              </a:rPr>
              <a:t>PII detection</a:t>
            </a:r>
            <a:r>
              <a:rPr lang="en-US" sz="882" b="0" i="0" kern="1200" dirty="0">
                <a:solidFill>
                  <a:schemeClr val="tx1"/>
                </a:solidFill>
                <a:effectLst/>
                <a:latin typeface="Segoe UI Light" pitchFamily="34" charset="0"/>
                <a:ea typeface="+mn-ea"/>
                <a:cs typeface="+mn-cs"/>
              </a:rPr>
              <a:t> as especially relevant for compliance‑sensitive workloads. </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71578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the </a:t>
            </a:r>
            <a:r>
              <a:rPr lang="en-US" sz="882" b="1" i="0" kern="1200" dirty="0">
                <a:solidFill>
                  <a:schemeClr val="tx1"/>
                </a:solidFill>
                <a:effectLst/>
                <a:latin typeface="Segoe UI Light" pitchFamily="34" charset="0"/>
                <a:ea typeface="+mn-ea"/>
                <a:cs typeface="+mn-cs"/>
              </a:rPr>
              <a:t>connection pattern</a:t>
            </a:r>
            <a:r>
              <a:rPr lang="en-US" sz="882" b="0" i="0" kern="1200" dirty="0">
                <a:solidFill>
                  <a:schemeClr val="tx1"/>
                </a:solidFill>
                <a:effectLst/>
                <a:latin typeface="Segoe UI Light" pitchFamily="34" charset="0"/>
                <a:ea typeface="+mn-ea"/>
                <a:cs typeface="+mn-cs"/>
              </a:rPr>
              <a:t>: endpoint + credentials + client SDK. Call out </a:t>
            </a:r>
            <a:r>
              <a:rPr lang="en-US" sz="882" b="1" i="0" kern="1200" dirty="0">
                <a:solidFill>
                  <a:schemeClr val="tx1"/>
                </a:solidFill>
                <a:effectLst/>
                <a:latin typeface="Segoe UI Light" pitchFamily="34" charset="0"/>
                <a:ea typeface="+mn-ea"/>
                <a:cs typeface="+mn-cs"/>
              </a:rPr>
              <a:t>Microsoft Entra ID</a:t>
            </a:r>
            <a:r>
              <a:rPr lang="en-US" sz="882" b="0" i="0" kern="1200" dirty="0">
                <a:solidFill>
                  <a:schemeClr val="tx1"/>
                </a:solidFill>
                <a:effectLst/>
                <a:latin typeface="Segoe UI Light" pitchFamily="34" charset="0"/>
                <a:ea typeface="+mn-ea"/>
                <a:cs typeface="+mn-cs"/>
              </a:rPr>
              <a:t> as the preferred auth option for production. Note that Foundry abstracts endpoint management across services.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5/13/2026 6:07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400666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8</a:t>
            </a:fld>
            <a:endParaRPr lang="en-US" dirty="0"/>
          </a:p>
        </p:txBody>
      </p:sp>
    </p:spTree>
    <p:extLst>
      <p:ext uri="{BB962C8B-B14F-4D97-AF65-F5344CB8AC3E}">
        <p14:creationId xmlns:p14="http://schemas.microsoft.com/office/powerpoint/2010/main" val="1781579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71FE8-9F7E-E301-4804-3D627BCF7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A02D0-61F3-87D7-0259-B6274B9F2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94469-CFA5-C402-6E9D-406D7EC281BF}"/>
              </a:ext>
            </a:extLst>
          </p:cNvPr>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a:extLst>
              <a:ext uri="{FF2B5EF4-FFF2-40B4-BE49-F238E27FC236}">
                <a16:creationId xmlns:a16="http://schemas.microsoft.com/office/drawing/2014/main" id="{14D2EA9D-DE00-5688-BA6C-3CC33E57F5F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F2B49FFD-FB2F-57B4-F166-62B614EC809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A657BF2-AEDA-C1A9-164C-8D62B7C1B10B}"/>
              </a:ext>
            </a:extLst>
          </p:cNvPr>
          <p:cNvSpPr>
            <a:spLocks noGrp="1"/>
          </p:cNvSpPr>
          <p:nvPr>
            <p:ph type="dt" idx="1"/>
          </p:nvPr>
        </p:nvSpPr>
        <p:spPr/>
        <p:txBody>
          <a:bodyPr/>
          <a:lstStyle/>
          <a:p>
            <a:fld id="{61486BA7-839C-4D2B-BD52-EF0BBA8433FD}" type="datetime8">
              <a:rPr lang="en-US" smtClean="0"/>
              <a:t>5/13/2026 6:07 PM</a:t>
            </a:fld>
            <a:endParaRPr lang="en-US" dirty="0"/>
          </a:p>
        </p:txBody>
      </p:sp>
      <p:sp>
        <p:nvSpPr>
          <p:cNvPr id="7" name="Slide Number Placeholder 6">
            <a:extLst>
              <a:ext uri="{FF2B5EF4-FFF2-40B4-BE49-F238E27FC236}">
                <a16:creationId xmlns:a16="http://schemas.microsoft.com/office/drawing/2014/main" id="{5E495C6F-685A-61F4-A187-83FE6216346D}"/>
              </a:ext>
            </a:extLst>
          </p:cNvPr>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20093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Transition from </a:t>
            </a:r>
            <a:r>
              <a:rPr lang="en-US" sz="882" b="1" i="0" kern="1200" dirty="0">
                <a:solidFill>
                  <a:schemeClr val="tx1"/>
                </a:solidFill>
                <a:effectLst/>
                <a:latin typeface="Segoe UI Light" pitchFamily="34" charset="0"/>
                <a:ea typeface="+mn-ea"/>
                <a:cs typeface="+mn-cs"/>
              </a:rPr>
              <a:t>direct API calls</a:t>
            </a:r>
            <a:r>
              <a:rPr lang="en-US" sz="882" b="0" i="0" kern="1200" dirty="0">
                <a:solidFill>
                  <a:schemeClr val="tx1"/>
                </a:solidFill>
                <a:effectLst/>
                <a:latin typeface="Segoe UI Light" pitchFamily="34" charset="0"/>
                <a:ea typeface="+mn-ea"/>
                <a:cs typeface="+mn-cs"/>
              </a:rPr>
              <a:t> to </a:t>
            </a:r>
            <a:r>
              <a:rPr lang="en-US" sz="882" b="1" i="0" kern="1200" dirty="0">
                <a:solidFill>
                  <a:schemeClr val="tx1"/>
                </a:solidFill>
                <a:effectLst/>
                <a:latin typeface="Segoe UI Light" pitchFamily="34" charset="0"/>
                <a:ea typeface="+mn-ea"/>
                <a:cs typeface="+mn-cs"/>
              </a:rPr>
              <a:t>agent‑based integration</a:t>
            </a:r>
            <a:r>
              <a:rPr lang="en-US" sz="882" b="0" i="0" kern="1200" dirty="0">
                <a:solidFill>
                  <a:schemeClr val="tx1"/>
                </a:solidFill>
                <a:effectLst/>
                <a:latin typeface="Segoe UI Light" pitchFamily="34" charset="0"/>
                <a:ea typeface="+mn-ea"/>
                <a:cs typeface="+mn-cs"/>
              </a:rPr>
              <a:t>. Position MCP as an </a:t>
            </a:r>
            <a:r>
              <a:rPr lang="en-US" sz="882" b="1" i="0" kern="1200" dirty="0">
                <a:solidFill>
                  <a:schemeClr val="tx1"/>
                </a:solidFill>
                <a:effectLst/>
                <a:latin typeface="Segoe UI Light" pitchFamily="34" charset="0"/>
                <a:ea typeface="+mn-ea"/>
                <a:cs typeface="+mn-cs"/>
              </a:rPr>
              <a:t>abstraction layer</a:t>
            </a:r>
            <a:r>
              <a:rPr lang="en-US" sz="882" b="0" i="0" kern="1200" dirty="0">
                <a:solidFill>
                  <a:schemeClr val="tx1"/>
                </a:solidFill>
                <a:effectLst/>
                <a:latin typeface="Segoe UI Light" pitchFamily="34" charset="0"/>
                <a:ea typeface="+mn-ea"/>
                <a:cs typeface="+mn-cs"/>
              </a:rPr>
              <a:t> that tools agents can reason over.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the flow step‑by‑step, following the arrows. Emphasize that </a:t>
            </a:r>
            <a:r>
              <a:rPr lang="en-US" sz="882" b="1" i="0" kern="1200" dirty="0">
                <a:solidFill>
                  <a:schemeClr val="tx1"/>
                </a:solidFill>
                <a:effectLst/>
                <a:latin typeface="Segoe UI Light" pitchFamily="34" charset="0"/>
                <a:ea typeface="+mn-ea"/>
                <a:cs typeface="+mn-cs"/>
              </a:rPr>
              <a:t>tool selection is agent‑driven</a:t>
            </a:r>
            <a:r>
              <a:rPr lang="en-US" sz="882" b="0" i="0" kern="1200" dirty="0">
                <a:solidFill>
                  <a:schemeClr val="tx1"/>
                </a:solidFill>
                <a:effectLst/>
                <a:latin typeface="Segoe UI Light" pitchFamily="34" charset="0"/>
                <a:ea typeface="+mn-ea"/>
                <a:cs typeface="+mn-cs"/>
              </a:rPr>
              <a:t>, not hard‑coded. Reinforce separation of concerns: agent reasoning vs service execution.</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178128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Highlight that most work is </a:t>
            </a:r>
            <a:r>
              <a:rPr lang="en-US" sz="882" b="1" i="0" kern="1200" dirty="0">
                <a:solidFill>
                  <a:schemeClr val="tx1"/>
                </a:solidFill>
                <a:effectLst/>
                <a:latin typeface="Segoe UI Light" pitchFamily="34" charset="0"/>
                <a:ea typeface="+mn-ea"/>
                <a:cs typeface="+mn-cs"/>
              </a:rPr>
              <a:t>configuration</a:t>
            </a:r>
            <a:r>
              <a:rPr lang="en-US" sz="882" b="0" i="0" kern="1200" dirty="0">
                <a:solidFill>
                  <a:schemeClr val="tx1"/>
                </a:solidFill>
                <a:effectLst/>
                <a:latin typeface="Segoe UI Light" pitchFamily="34" charset="0"/>
                <a:ea typeface="+mn-ea"/>
                <a:cs typeface="+mn-cs"/>
              </a:rPr>
              <a:t>, not code. Stress the importance of </a:t>
            </a:r>
            <a:r>
              <a:rPr lang="en-US" sz="882" b="1" i="0" kern="1200" dirty="0">
                <a:solidFill>
                  <a:schemeClr val="tx1"/>
                </a:solidFill>
                <a:effectLst/>
                <a:latin typeface="Segoe UI Light" pitchFamily="34" charset="0"/>
                <a:ea typeface="+mn-ea"/>
                <a:cs typeface="+mn-cs"/>
              </a:rPr>
              <a:t>clear tool descriptions</a:t>
            </a:r>
            <a:r>
              <a:rPr lang="en-US" sz="882" b="0" i="0" kern="1200" dirty="0">
                <a:solidFill>
                  <a:schemeClr val="tx1"/>
                </a:solidFill>
                <a:effectLst/>
                <a:latin typeface="Segoe UI Light" pitchFamily="34" charset="0"/>
                <a:ea typeface="+mn-ea"/>
                <a:cs typeface="+mn-cs"/>
              </a:rPr>
              <a:t> for good agent routing. Mention that testing happens before any client app is built.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4084539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F81AC-DD05-5010-06B4-3408C2887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04358-4BC6-7789-AE1C-3763A5019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3508E-9B41-A249-EF24-7D7E5F58866C}"/>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AE4678EF-6C78-80E6-E580-1B9350D41D4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90D370A-C15E-3359-C5C4-5C911C3C2FE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40D3ADC0-6AA3-517F-C70A-5EE28061E27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A3B0F305-96BE-302A-AB3D-8186A62A507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32505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E1CC-91ED-72C3-5A04-ADFB9CB67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19BE6-067B-0B9A-62AE-E9BE588F6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3C823-DF22-203E-A6FC-C8832AC17A5E}"/>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5110AD05-4F7A-12ED-AF19-F455D7C8FB1E}"/>
              </a:ext>
            </a:extLst>
          </p:cNvPr>
          <p:cNvSpPr>
            <a:spLocks noGrp="1"/>
          </p:cNvSpPr>
          <p:nvPr>
            <p:ph type="sldNum" sz="quarter" idx="5"/>
          </p:nvPr>
        </p:nvSpPr>
        <p:spPr/>
        <p:txBody>
          <a:bodyPr/>
          <a:lstStyle/>
          <a:p>
            <a:fld id="{97E04F8E-88E9-481C-A2B3-C92BCE611EF5}" type="slidenum">
              <a:rPr lang="en-US" smtClean="0"/>
              <a:t>13</a:t>
            </a:fld>
            <a:endParaRPr lang="en-US" dirty="0"/>
          </a:p>
        </p:txBody>
      </p:sp>
    </p:spTree>
    <p:extLst>
      <p:ext uri="{BB962C8B-B14F-4D97-AF65-F5344CB8AC3E}">
        <p14:creationId xmlns:p14="http://schemas.microsoft.com/office/powerpoint/2010/main" val="618842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C6BE1-B5BB-E9B9-B793-92B04ABA2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EAB30-3DAF-98DC-45DE-9DDBEA175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E0BDD-9D70-0854-E133-9DCE92E2B107}"/>
              </a:ext>
            </a:extLst>
          </p:cNvPr>
          <p:cNvSpPr>
            <a:spLocks noGrp="1"/>
          </p:cNvSpPr>
          <p:nvPr>
            <p:ph type="body" idx="1"/>
          </p:nvPr>
        </p:nvSpPr>
        <p:spPr/>
        <p:txBody>
          <a:bodyPr/>
          <a:lstStyle/>
          <a:p>
            <a:r>
              <a:rPr lang="en-US" dirty="0"/>
              <a:t>Use the link on the slide to see the Microsoft Learn module from which this lesson is derived.</a:t>
            </a:r>
          </a:p>
          <a:p>
            <a:endParaRPr lang="en-US" dirty="0"/>
          </a:p>
          <a:p>
            <a:r>
              <a:rPr lang="en-US" dirty="0"/>
              <a:t>This module is mostly about using the lab for teaching, so feel free to add any interesting content to this section</a:t>
            </a:r>
          </a:p>
        </p:txBody>
      </p:sp>
      <p:sp>
        <p:nvSpPr>
          <p:cNvPr id="4" name="Header Placeholder 3">
            <a:extLst>
              <a:ext uri="{FF2B5EF4-FFF2-40B4-BE49-F238E27FC236}">
                <a16:creationId xmlns:a16="http://schemas.microsoft.com/office/drawing/2014/main" id="{FE04A4A9-94A0-645D-02E9-F0AB231567F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AD59448-1950-849C-A179-94B233F585A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242F950-259F-7244-2662-1E33645FF65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1A4836F-F17D-CAFB-A98D-641FC084F1C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93138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Transition from text to </a:t>
            </a:r>
            <a:r>
              <a:rPr lang="en-US" sz="882" b="1" i="0" kern="1200" dirty="0">
                <a:solidFill>
                  <a:schemeClr val="tx1"/>
                </a:solidFill>
                <a:effectLst/>
                <a:latin typeface="Segoe UI Light" pitchFamily="34" charset="0"/>
                <a:ea typeface="+mn-ea"/>
                <a:cs typeface="+mn-cs"/>
              </a:rPr>
              <a:t>speech workloads</a:t>
            </a:r>
            <a:r>
              <a:rPr lang="en-US" sz="882" b="0" i="0" kern="1200" dirty="0">
                <a:solidFill>
                  <a:schemeClr val="tx1"/>
                </a:solidFill>
                <a:effectLst/>
                <a:latin typeface="Segoe UI Light" pitchFamily="34" charset="0"/>
                <a:ea typeface="+mn-ea"/>
                <a:cs typeface="+mn-cs"/>
              </a:rPr>
              <a:t>. Frame speech as both an </a:t>
            </a:r>
            <a:r>
              <a:rPr lang="en-US" sz="882" b="0" i="1" kern="1200" dirty="0">
                <a:solidFill>
                  <a:schemeClr val="tx1"/>
                </a:solidFill>
                <a:effectLst/>
                <a:latin typeface="Segoe UI Light" pitchFamily="34" charset="0"/>
                <a:ea typeface="+mn-ea"/>
                <a:cs typeface="+mn-cs"/>
              </a:rPr>
              <a:t>input</a:t>
            </a:r>
            <a:r>
              <a:rPr lang="en-US" sz="882" b="0" i="0" kern="1200" dirty="0">
                <a:solidFill>
                  <a:schemeClr val="tx1"/>
                </a:solidFill>
                <a:effectLst/>
                <a:latin typeface="Segoe UI Light" pitchFamily="34" charset="0"/>
                <a:ea typeface="+mn-ea"/>
                <a:cs typeface="+mn-cs"/>
              </a:rPr>
              <a:t> and </a:t>
            </a:r>
            <a:r>
              <a:rPr lang="en-US" sz="882" b="0" i="1" kern="1200" dirty="0">
                <a:solidFill>
                  <a:schemeClr val="tx1"/>
                </a:solidFill>
                <a:effectLst/>
                <a:latin typeface="Segoe UI Light" pitchFamily="34" charset="0"/>
                <a:ea typeface="+mn-ea"/>
                <a:cs typeface="+mn-cs"/>
              </a:rPr>
              <a:t>output</a:t>
            </a:r>
            <a:r>
              <a:rPr lang="en-US" sz="882" b="0" i="0" kern="1200" dirty="0">
                <a:solidFill>
                  <a:schemeClr val="tx1"/>
                </a:solidFill>
                <a:effectLst/>
                <a:latin typeface="Segoe UI Light" pitchFamily="34" charset="0"/>
                <a:ea typeface="+mn-ea"/>
                <a:cs typeface="+mn-cs"/>
              </a:rPr>
              <a:t> modality for generative AI. Reference common use cases like call transcription and voice bots.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that Foundry lets you </a:t>
            </a:r>
            <a:r>
              <a:rPr lang="en-US" sz="882" b="1" i="0" kern="1200" dirty="0">
                <a:solidFill>
                  <a:schemeClr val="tx1"/>
                </a:solidFill>
                <a:effectLst/>
                <a:latin typeface="Segoe UI Light" pitchFamily="34" charset="0"/>
                <a:ea typeface="+mn-ea"/>
                <a:cs typeface="+mn-cs"/>
              </a:rPr>
              <a:t>filter by capability</a:t>
            </a:r>
            <a:r>
              <a:rPr lang="en-US" sz="882" b="0" i="0" kern="1200" dirty="0">
                <a:solidFill>
                  <a:schemeClr val="tx1"/>
                </a:solidFill>
                <a:effectLst/>
                <a:latin typeface="Segoe UI Light" pitchFamily="34" charset="0"/>
                <a:ea typeface="+mn-ea"/>
                <a:cs typeface="+mn-cs"/>
              </a:rPr>
              <a:t>, not just model family. Emphasize the difference between </a:t>
            </a:r>
            <a:r>
              <a:rPr lang="en-US" sz="882" b="1" i="0" kern="1200" dirty="0">
                <a:solidFill>
                  <a:schemeClr val="tx1"/>
                </a:solidFill>
                <a:effectLst/>
                <a:latin typeface="Segoe UI Light" pitchFamily="34" charset="0"/>
                <a:ea typeface="+mn-ea"/>
                <a:cs typeface="+mn-cs"/>
              </a:rPr>
              <a:t>transcription</a:t>
            </a:r>
            <a:r>
              <a:rPr lang="en-US" sz="882" b="0" i="0" kern="1200" dirty="0">
                <a:solidFill>
                  <a:schemeClr val="tx1"/>
                </a:solidFill>
                <a:effectLst/>
                <a:latin typeface="Segoe UI Light" pitchFamily="34" charset="0"/>
                <a:ea typeface="+mn-ea"/>
                <a:cs typeface="+mn-cs"/>
              </a:rPr>
              <a:t> and </a:t>
            </a:r>
            <a:r>
              <a:rPr lang="en-US" sz="882" b="1" i="0" kern="1200" dirty="0">
                <a:solidFill>
                  <a:schemeClr val="tx1"/>
                </a:solidFill>
                <a:effectLst/>
                <a:latin typeface="Segoe UI Light" pitchFamily="34" charset="0"/>
                <a:ea typeface="+mn-ea"/>
                <a:cs typeface="+mn-cs"/>
              </a:rPr>
              <a:t>synthesis</a:t>
            </a:r>
            <a:r>
              <a:rPr lang="en-US" sz="882" b="0" i="0" kern="1200" dirty="0">
                <a:solidFill>
                  <a:schemeClr val="tx1"/>
                </a:solidFill>
                <a:effectLst/>
                <a:latin typeface="Segoe UI Light" pitchFamily="34" charset="0"/>
                <a:ea typeface="+mn-ea"/>
                <a:cs typeface="+mn-cs"/>
              </a:rPr>
              <a:t> models. Note that model names may evolve, but capabilities remain consistent.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3334596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Clarify input/output expectations for each model type. Emphasize that audio is treated as </a:t>
            </a:r>
            <a:r>
              <a:rPr lang="en-US" sz="882" b="1" i="0" kern="1200" dirty="0">
                <a:solidFill>
                  <a:schemeClr val="tx1"/>
                </a:solidFill>
                <a:effectLst/>
                <a:latin typeface="Segoe UI Light" pitchFamily="34" charset="0"/>
                <a:ea typeface="+mn-ea"/>
                <a:cs typeface="+mn-cs"/>
              </a:rPr>
              <a:t>binary data</a:t>
            </a:r>
            <a:r>
              <a:rPr lang="en-US" sz="882" b="0" i="0" kern="1200" dirty="0">
                <a:solidFill>
                  <a:schemeClr val="tx1"/>
                </a:solidFill>
                <a:effectLst/>
                <a:latin typeface="Segoe UI Light" pitchFamily="34" charset="0"/>
                <a:ea typeface="+mn-ea"/>
                <a:cs typeface="+mn-cs"/>
              </a:rPr>
              <a:t>, not text. Call out that transcription and synthesis are </a:t>
            </a:r>
            <a:r>
              <a:rPr lang="en-US" sz="882" b="1" i="0" kern="1200" dirty="0">
                <a:solidFill>
                  <a:schemeClr val="tx1"/>
                </a:solidFill>
                <a:effectLst/>
                <a:latin typeface="Segoe UI Light" pitchFamily="34" charset="0"/>
                <a:ea typeface="+mn-ea"/>
                <a:cs typeface="+mn-cs"/>
              </a:rPr>
              <a:t>separate workloads</a:t>
            </a:r>
            <a:r>
              <a:rPr lang="en-US" sz="882" b="0" i="0" kern="1200" dirty="0">
                <a:solidFill>
                  <a:schemeClr val="tx1"/>
                </a:solidFill>
                <a:effectLst/>
                <a:latin typeface="Segoe UI Light" pitchFamily="34" charset="0"/>
                <a:ea typeface="+mn-ea"/>
                <a:cs typeface="+mn-cs"/>
              </a:rPr>
              <a: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357990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57997-5B2D-549E-F768-7766F6508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73BF3-E0D4-0523-D8E9-356F22D20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39D8F-F11A-9C0A-518C-C6B2286EE4FC}"/>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48403F4E-3A0C-B669-EFF4-F47613B0ACD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FD23EE4E-64E6-0192-D309-3EA4B05A536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6706308-8412-A357-972A-0177BE48465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CCD761C-40A2-EBB6-D597-4DE3ABA2174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10689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F9113-A9FB-A55D-447D-2B609891E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C524B-B953-21E0-06CF-DF1E33CDA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6AF4B-B362-68DF-B24C-63B00817B043}"/>
              </a:ext>
            </a:extLst>
          </p:cNvPr>
          <p:cNvSpPr>
            <a:spLocks noGrp="1"/>
          </p:cNvSpPr>
          <p:nvPr>
            <p:ph type="body" idx="1"/>
          </p:nvPr>
        </p:nvSpPr>
        <p:spPr/>
        <p:txBody>
          <a:bodyPr/>
          <a:lstStyle/>
          <a:p>
            <a:r>
              <a:rPr lang="en-US" dirty="0"/>
              <a:t>Use the slide animation to reveal the correct answers.</a:t>
            </a:r>
          </a:p>
          <a:p>
            <a:endParaRPr lang="en-US" dirty="0"/>
          </a:p>
        </p:txBody>
      </p:sp>
      <p:sp>
        <p:nvSpPr>
          <p:cNvPr id="4" name="Slide Number Placeholder 3">
            <a:extLst>
              <a:ext uri="{FF2B5EF4-FFF2-40B4-BE49-F238E27FC236}">
                <a16:creationId xmlns:a16="http://schemas.microsoft.com/office/drawing/2014/main" id="{51EA1CC0-FEBF-1B4F-38D7-19BAB8F1E3C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7E04F8E-88E9-481C-A2B3-C92BCE611EF5}"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0895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12881379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Position this as the </a:t>
            </a:r>
            <a:r>
              <a:rPr lang="en-US" sz="882" b="1" i="0" kern="1200" dirty="0">
                <a:solidFill>
                  <a:schemeClr val="tx1"/>
                </a:solidFill>
                <a:effectLst/>
                <a:latin typeface="Segoe UI Light" pitchFamily="34" charset="0"/>
                <a:ea typeface="+mn-ea"/>
                <a:cs typeface="+mn-cs"/>
              </a:rPr>
              <a:t>SDK‑based</a:t>
            </a:r>
            <a:r>
              <a:rPr lang="en-US" sz="882" b="0" i="0" kern="1200" dirty="0">
                <a:solidFill>
                  <a:schemeClr val="tx1"/>
                </a:solidFill>
                <a:effectLst/>
                <a:latin typeface="Segoe UI Light" pitchFamily="34" charset="0"/>
                <a:ea typeface="+mn-ea"/>
                <a:cs typeface="+mn-cs"/>
              </a:rPr>
              <a:t> approach, not agent‑based. Reinforce alignment with earlier Foundry concepts.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the breadth of Speech capabilities. Highlight </a:t>
            </a:r>
            <a:r>
              <a:rPr lang="en-US" sz="882" b="1" i="0" kern="1200" dirty="0">
                <a:solidFill>
                  <a:schemeClr val="tx1"/>
                </a:solidFill>
                <a:effectLst/>
                <a:latin typeface="Segoe UI Light" pitchFamily="34" charset="0"/>
                <a:ea typeface="+mn-ea"/>
                <a:cs typeface="+mn-cs"/>
              </a:rPr>
              <a:t>Voice Live</a:t>
            </a:r>
            <a:r>
              <a:rPr lang="en-US" sz="882" b="0" i="0" kern="1200" dirty="0">
                <a:solidFill>
                  <a:schemeClr val="tx1"/>
                </a:solidFill>
                <a:effectLst/>
                <a:latin typeface="Segoe UI Light" pitchFamily="34" charset="0"/>
                <a:ea typeface="+mn-ea"/>
                <a:cs typeface="+mn-cs"/>
              </a:rPr>
              <a:t> as a differentiator for real‑time scenarios and translation as a cross‑cutting feature. We’ll cover both of these in more depth later. For now, we’ll focus on speech t text and text to speech.</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i="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72D91E10-8992-4C3B-B3D5-52A5B0441442}"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649975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the role of </a:t>
            </a:r>
            <a:r>
              <a:rPr lang="en-US" sz="882" b="1" i="0" kern="1200" dirty="0" err="1">
                <a:solidFill>
                  <a:schemeClr val="tx1"/>
                </a:solidFill>
                <a:effectLst/>
                <a:latin typeface="Segoe UI Light" pitchFamily="34" charset="0"/>
                <a:ea typeface="+mn-ea"/>
                <a:cs typeface="+mn-cs"/>
              </a:rPr>
              <a:t>SpeechConfig</a:t>
            </a:r>
            <a:r>
              <a:rPr lang="en-US" sz="882" b="0" i="0" kern="1200" dirty="0">
                <a:solidFill>
                  <a:schemeClr val="tx1"/>
                </a:solidFill>
                <a:effectLst/>
                <a:latin typeface="Segoe UI Light" pitchFamily="34" charset="0"/>
                <a:ea typeface="+mn-ea"/>
                <a:cs typeface="+mn-cs"/>
              </a:rPr>
              <a:t> as the central configuration object. Reinforce auth options and endpoint consistency with other services. Note that Foundry unifies Speech access patterns.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72D91E10-8992-4C3B-B3D5-52A5B0441442}"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9675640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the recognition lifecycle. Explain result reasons and why </a:t>
            </a:r>
            <a:r>
              <a:rPr lang="en-US" sz="882" b="1" i="0" kern="1200" dirty="0" err="1">
                <a:solidFill>
                  <a:schemeClr val="tx1"/>
                </a:solidFill>
                <a:effectLst/>
                <a:latin typeface="Segoe UI Light" pitchFamily="34" charset="0"/>
                <a:ea typeface="+mn-ea"/>
                <a:cs typeface="+mn-cs"/>
              </a:rPr>
              <a:t>NoMatch</a:t>
            </a:r>
            <a:r>
              <a:rPr lang="en-US" sz="882" b="0" i="0" kern="1200" dirty="0">
                <a:solidFill>
                  <a:schemeClr val="tx1"/>
                </a:solidFill>
                <a:effectLst/>
                <a:latin typeface="Segoe UI Light" pitchFamily="34" charset="0"/>
                <a:ea typeface="+mn-ea"/>
                <a:cs typeface="+mn-cs"/>
              </a:rPr>
              <a:t> matters in production. Mention that </a:t>
            </a:r>
            <a:r>
              <a:rPr lang="en-US" sz="882" b="0" i="0" kern="1200" dirty="0" err="1">
                <a:solidFill>
                  <a:schemeClr val="tx1"/>
                </a:solidFill>
                <a:effectLst/>
                <a:latin typeface="Segoe UI Light" pitchFamily="34" charset="0"/>
                <a:ea typeface="+mn-ea"/>
                <a:cs typeface="+mn-cs"/>
              </a:rPr>
              <a:t>RecognizeOnceAsync</a:t>
            </a:r>
            <a:r>
              <a:rPr lang="en-US" sz="882" b="0" i="0" kern="1200" dirty="0">
                <a:solidFill>
                  <a:schemeClr val="tx1"/>
                </a:solidFill>
                <a:effectLst/>
                <a:latin typeface="Segoe UI Light" pitchFamily="34" charset="0"/>
                <a:ea typeface="+mn-ea"/>
                <a:cs typeface="+mn-cs"/>
              </a:rPr>
              <a:t>() is simplest but not continuous.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91FC9250-9BAC-4B29-8D25-6E971010E5B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1632210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Emphasize voice selection and output format. Clarify where audio is rendered (speaker vs file). Note that synthesis results include metadata useful for debugging.</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E80EF392-206C-4861-B318-36A5A794A39B}"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880544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SSML as </a:t>
            </a:r>
            <a:r>
              <a:rPr lang="en-US" sz="882" b="1" i="0" kern="1200" dirty="0">
                <a:solidFill>
                  <a:schemeClr val="tx1"/>
                </a:solidFill>
                <a:effectLst/>
                <a:latin typeface="Segoe UI Light" pitchFamily="34" charset="0"/>
                <a:ea typeface="+mn-ea"/>
                <a:cs typeface="+mn-cs"/>
              </a:rPr>
              <a:t>optional but powerful</a:t>
            </a:r>
            <a:r>
              <a:rPr lang="en-US" sz="882" b="0" i="0" kern="1200" dirty="0">
                <a:solidFill>
                  <a:schemeClr val="tx1"/>
                </a:solidFill>
                <a:effectLst/>
                <a:latin typeface="Segoe UI Light" pitchFamily="34" charset="0"/>
                <a:ea typeface="+mn-ea"/>
                <a:cs typeface="+mn-cs"/>
              </a:rPr>
              <a:t>. Walk through the example to show multiple voices and styles. Emphasize use cases like pronunciation control and pacing.</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12157913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1E93-6514-132D-B08F-3BB72FDA0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A02A5-CC75-1A84-FB19-2271213C7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3856-75DD-50E8-C96E-F318979CF96D}"/>
              </a:ext>
            </a:extLst>
          </p:cNvPr>
          <p:cNvSpPr>
            <a:spLocks noGrp="1"/>
          </p:cNvSpPr>
          <p:nvPr>
            <p:ph type="body" idx="1"/>
          </p:nvPr>
        </p:nvSpPr>
        <p:spPr/>
        <p:txBody>
          <a:bodyPr/>
          <a:lstStyle/>
          <a:p>
            <a:pPr rtl="0" eaLnBrk="1" latinLnBrk="0" hangingPunct="1"/>
            <a:r>
              <a:rPr lang="en-US" sz="882" kern="1200" dirty="0">
                <a:solidFill>
                  <a:schemeClr val="tx1"/>
                </a:solidFill>
                <a:effectLst/>
                <a:latin typeface="Segoe UI Light" pitchFamily="34" charset="0"/>
                <a:ea typeface="+mn-ea"/>
                <a:cs typeface="+mn-cs"/>
              </a:rPr>
              <a:t>Each exercise begins with the same procedure to create a Foundry project– students will become quite adept at this by the end of the day!</a:t>
            </a:r>
            <a:endParaRPr lang="en-US" dirty="0">
              <a:effectLst/>
            </a:endParaRPr>
          </a:p>
          <a:p>
            <a:pPr rtl="0" eaLnBrk="1" latinLnBrk="0" hangingPunct="1"/>
            <a:r>
              <a:rPr lang="en-US" sz="882" kern="1200" dirty="0">
                <a:solidFill>
                  <a:schemeClr val="tx1"/>
                </a:solidFill>
                <a:effectLst/>
                <a:latin typeface="Segoe UI Light" pitchFamily="34" charset="0"/>
                <a:ea typeface="+mn-ea"/>
                <a:cs typeface="+mn-cs"/>
              </a:rPr>
              <a:t>The repetition of this procedure can be onerous, but it’s necessary to keep the exercises modular and to avoid consuming Azure resources unnecessary (for both cost reasons and to free up data center capacity for other Azure customers)</a:t>
            </a:r>
            <a:endParaRPr lang="en-US" dirty="0">
              <a:effectLst/>
            </a:endParaRPr>
          </a:p>
          <a:p>
            <a:endParaRPr lang="en-US" dirty="0"/>
          </a:p>
        </p:txBody>
      </p:sp>
      <p:sp>
        <p:nvSpPr>
          <p:cNvPr id="4" name="Header Placeholder 3">
            <a:extLst>
              <a:ext uri="{FF2B5EF4-FFF2-40B4-BE49-F238E27FC236}">
                <a16:creationId xmlns:a16="http://schemas.microsoft.com/office/drawing/2014/main" id="{254AE3D7-B2E8-6E85-09C7-42B0194B638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52F5434-22AD-69FD-C41D-D45E68E3AA1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956CF8E8-D1ED-6F2B-CFBA-6036F1BD1AE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DCCC22C-AE2B-D0F9-170B-3D8E16ACAAD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48186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slide animation to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26</a:t>
            </a:fld>
            <a:endParaRPr lang="en-US"/>
          </a:p>
        </p:txBody>
      </p:sp>
    </p:spTree>
    <p:extLst>
      <p:ext uri="{BB962C8B-B14F-4D97-AF65-F5344CB8AC3E}">
        <p14:creationId xmlns:p14="http://schemas.microsoft.com/office/powerpoint/2010/main" val="341981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6831B-E952-366E-0181-BE70D6BFE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55E65-4704-A522-8B62-22F6A3B32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42DD1-C47A-CEA2-5971-2166BABA5043}"/>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a:extLst>
              <a:ext uri="{FF2B5EF4-FFF2-40B4-BE49-F238E27FC236}">
                <a16:creationId xmlns:a16="http://schemas.microsoft.com/office/drawing/2014/main" id="{22DE66FD-5E3A-7ED6-3EC0-1B0767B5FC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F733A459-DECD-6616-6E69-92C38A2F8B6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5146C8E-981B-C6CD-40F4-1590A519EEF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57323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D9B62-EBF1-686A-FB98-ACA3256C8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D704C-42AE-2A23-9E91-169F22700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438B6-9C99-8AB6-2ADB-03F8ACB8DFA0}"/>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Transition back to </a:t>
            </a:r>
            <a:r>
              <a:rPr lang="en-US" sz="882" b="1" i="0" kern="1200" dirty="0">
                <a:solidFill>
                  <a:schemeClr val="tx1"/>
                </a:solidFill>
                <a:effectLst/>
                <a:latin typeface="Segoe UI Light" pitchFamily="34" charset="0"/>
                <a:ea typeface="+mn-ea"/>
                <a:cs typeface="+mn-cs"/>
              </a:rPr>
              <a:t>agent‑based architecture</a:t>
            </a:r>
            <a:r>
              <a:rPr lang="en-US" sz="882" b="0" i="0" kern="1200" dirty="0">
                <a:solidFill>
                  <a:schemeClr val="tx1"/>
                </a:solidFill>
                <a:effectLst/>
                <a:latin typeface="Segoe UI Light" pitchFamily="34" charset="0"/>
                <a:ea typeface="+mn-ea"/>
                <a:cs typeface="+mn-cs"/>
              </a:rPr>
              <a:t>, now with speech.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the flow, emphasizing </a:t>
            </a:r>
            <a:r>
              <a:rPr lang="en-US" sz="882" b="1" i="0" kern="1200" dirty="0">
                <a:solidFill>
                  <a:schemeClr val="tx1"/>
                </a:solidFill>
                <a:effectLst/>
                <a:latin typeface="Segoe UI Light" pitchFamily="34" charset="0"/>
                <a:ea typeface="+mn-ea"/>
                <a:cs typeface="+mn-cs"/>
              </a:rPr>
              <a:t>Azure Storage</a:t>
            </a:r>
            <a:r>
              <a:rPr lang="en-US" sz="882" b="0" i="0" kern="1200" dirty="0">
                <a:solidFill>
                  <a:schemeClr val="tx1"/>
                </a:solidFill>
                <a:effectLst/>
                <a:latin typeface="Segoe UI Light" pitchFamily="34" charset="0"/>
                <a:ea typeface="+mn-ea"/>
                <a:cs typeface="+mn-cs"/>
              </a:rPr>
              <a:t> for audio artifacts. Explain why a storage account is required for generated audio. Reinforce agent‑driven tool selection again.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i="0" kern="1200" dirty="0">
              <a:solidFill>
                <a:schemeClr val="tx1"/>
              </a:solidFill>
              <a:effectLst/>
              <a:latin typeface="Segoe UI Light" pitchFamily="34" charset="0"/>
              <a:ea typeface="+mn-ea"/>
              <a:cs typeface="+mn-cs"/>
            </a:endParaRPr>
          </a:p>
          <a:p>
            <a:endParaRPr lang="en-US" dirty="0"/>
          </a:p>
        </p:txBody>
      </p:sp>
      <p:sp>
        <p:nvSpPr>
          <p:cNvPr id="4" name="Header Placeholder 3">
            <a:extLst>
              <a:ext uri="{FF2B5EF4-FFF2-40B4-BE49-F238E27FC236}">
                <a16:creationId xmlns:a16="http://schemas.microsoft.com/office/drawing/2014/main" id="{9DF08DEF-7F49-EC49-229E-0C6B5CEFC7D7}"/>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8F7EE22-85A1-4B4B-3F68-A35B1E6C872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ABBAACDE-CA48-0854-8F77-B78338CC051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822982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3647-F7EB-EB39-1C86-6BC03A109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265F2-C34A-3ADC-C767-5C2B0A5D7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8E1AC-EC21-397C-7537-50D78C43756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Call out the </a:t>
            </a:r>
            <a:r>
              <a:rPr lang="en-US" sz="882" b="1" i="0" kern="1200" dirty="0">
                <a:solidFill>
                  <a:schemeClr val="tx1"/>
                </a:solidFill>
                <a:effectLst/>
                <a:latin typeface="Segoe UI Light" pitchFamily="34" charset="0"/>
                <a:ea typeface="+mn-ea"/>
                <a:cs typeface="+mn-cs"/>
              </a:rPr>
              <a:t>SAS URL requirement</a:t>
            </a:r>
            <a:r>
              <a:rPr lang="en-US" sz="882" b="0" i="0" kern="1200" dirty="0">
                <a:solidFill>
                  <a:schemeClr val="tx1"/>
                </a:solidFill>
                <a:effectLst/>
                <a:latin typeface="Segoe UI Light" pitchFamily="34" charset="0"/>
                <a:ea typeface="+mn-ea"/>
                <a:cs typeface="+mn-cs"/>
              </a:rPr>
              <a:t> explicitly.</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Reinforce that agent instructions guide tool choice.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Encourage testing with both text and audio inputs.</a:t>
            </a:r>
          </a:p>
          <a:p>
            <a:endParaRPr lang="en-US" dirty="0"/>
          </a:p>
        </p:txBody>
      </p:sp>
      <p:sp>
        <p:nvSpPr>
          <p:cNvPr id="4" name="Header Placeholder 3">
            <a:extLst>
              <a:ext uri="{FF2B5EF4-FFF2-40B4-BE49-F238E27FC236}">
                <a16:creationId xmlns:a16="http://schemas.microsoft.com/office/drawing/2014/main" id="{5586883A-1D27-E4F3-77A1-E7BE4761637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73FA58D-77D7-4DCD-C61D-67A35EFC1AB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AFE0E081-C7A3-1728-6D0B-2BA2803EEF7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690200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4980-4D65-782D-E5EE-4E1BFD6FA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9BC03-B45B-B7AC-2B0E-6DC47270A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55C05-CFFC-04CF-F961-A7DEB5F29C42}"/>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E316C7BA-C26F-2EE1-CF08-8637C9AD870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8702C8F-0D80-EFAC-E621-9115D9D1386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8EB495B-3B95-02F7-2374-7AE841DDBD5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3DFC1689-5964-F498-2C48-2E85E206700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242647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1C25-37BC-E5ED-C8A2-D6156EFE2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A219B-1EAF-0B2D-4F22-F9C8834F5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B9ECC-C26A-A74D-4BF0-59EE882D7CE5}"/>
              </a:ext>
            </a:extLst>
          </p:cNvPr>
          <p:cNvSpPr>
            <a:spLocks noGrp="1"/>
          </p:cNvSpPr>
          <p:nvPr>
            <p:ph type="body" idx="1"/>
          </p:nvPr>
        </p:nvSpPr>
        <p:spPr/>
        <p:txBody>
          <a:bodyPr/>
          <a:lstStyle/>
          <a:p>
            <a:r>
              <a:rPr lang="en-US" dirty="0"/>
              <a:t>Use the slide animation to reveal the correct answers.</a:t>
            </a:r>
          </a:p>
          <a:p>
            <a:endParaRPr lang="en-US" dirty="0"/>
          </a:p>
        </p:txBody>
      </p:sp>
      <p:sp>
        <p:nvSpPr>
          <p:cNvPr id="4" name="Slide Number Placeholder 3">
            <a:extLst>
              <a:ext uri="{FF2B5EF4-FFF2-40B4-BE49-F238E27FC236}">
                <a16:creationId xmlns:a16="http://schemas.microsoft.com/office/drawing/2014/main" id="{D59A954C-F2C9-9537-4212-A450422740EB}"/>
              </a:ext>
            </a:extLst>
          </p:cNvPr>
          <p:cNvSpPr>
            <a:spLocks noGrp="1"/>
          </p:cNvSpPr>
          <p:nvPr>
            <p:ph type="sldNum" sz="quarter" idx="5"/>
          </p:nvPr>
        </p:nvSpPr>
        <p:spPr/>
        <p:txBody>
          <a:bodyPr/>
          <a:lstStyle/>
          <a:p>
            <a:fld id="{97E04F8E-88E9-481C-A2B3-C92BCE611EF5}" type="slidenum">
              <a:rPr lang="en-US" smtClean="0"/>
              <a:t>31</a:t>
            </a:fld>
            <a:endParaRPr lang="en-US"/>
          </a:p>
        </p:txBody>
      </p:sp>
    </p:spTree>
    <p:extLst>
      <p:ext uri="{BB962C8B-B14F-4D97-AF65-F5344CB8AC3E}">
        <p14:creationId xmlns:p14="http://schemas.microsoft.com/office/powerpoint/2010/main" val="33704508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6831B-E952-366E-0181-BE70D6BFE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55E65-4704-A522-8B62-22F6A3B32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42DD1-C47A-CEA2-5971-2166BABA5043}"/>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a:extLst>
              <a:ext uri="{FF2B5EF4-FFF2-40B4-BE49-F238E27FC236}">
                <a16:creationId xmlns:a16="http://schemas.microsoft.com/office/drawing/2014/main" id="{22DE66FD-5E3A-7ED6-3EC0-1B0767B5FCF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F733A459-DECD-6616-6E69-92C38A2F8B6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B5146C8E-981B-C6CD-40F4-1590A519EEF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17825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Introduce </a:t>
            </a:r>
            <a:r>
              <a:rPr lang="en-US" sz="882" b="1" i="0" kern="1200" dirty="0">
                <a:solidFill>
                  <a:schemeClr val="tx1"/>
                </a:solidFill>
                <a:effectLst/>
                <a:latin typeface="Segoe UI Light" pitchFamily="34" charset="0"/>
                <a:ea typeface="+mn-ea"/>
                <a:cs typeface="+mn-cs"/>
              </a:rPr>
              <a:t>real‑time conversational voice</a:t>
            </a:r>
            <a:r>
              <a:rPr lang="en-US" sz="882" b="0" i="0" kern="1200" dirty="0">
                <a:solidFill>
                  <a:schemeClr val="tx1"/>
                </a:solidFill>
                <a:effectLst/>
                <a:latin typeface="Segoe UI Light" pitchFamily="34" charset="0"/>
                <a:ea typeface="+mn-ea"/>
                <a:cs typeface="+mn-cs"/>
              </a:rPr>
              <a:t> as a distinct pattern. Emphasize that this is event‑driven, not request/response.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Point out that the model itself does not need to support real-time speech (or any speech at all!) Azure Speech can provide the speech to text and text to speech support for models that don’t have them natively.</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advanced features carefully. Emphasize </a:t>
            </a:r>
            <a:r>
              <a:rPr lang="en-US" sz="882" b="1" i="0" kern="1200" dirty="0">
                <a:solidFill>
                  <a:schemeClr val="tx1"/>
                </a:solidFill>
                <a:effectLst/>
                <a:latin typeface="Segoe UI Light" pitchFamily="34" charset="0"/>
                <a:ea typeface="+mn-ea"/>
                <a:cs typeface="+mn-cs"/>
              </a:rPr>
              <a:t>interrupt handling</a:t>
            </a:r>
            <a:r>
              <a:rPr lang="en-US" sz="882" b="0" i="0" kern="1200" dirty="0">
                <a:solidFill>
                  <a:schemeClr val="tx1"/>
                </a:solidFill>
                <a:effectLst/>
                <a:latin typeface="Segoe UI Light" pitchFamily="34" charset="0"/>
                <a:ea typeface="+mn-ea"/>
                <a:cs typeface="+mn-cs"/>
              </a:rPr>
              <a:t> and real‑time audio processing. Call out authentication options explicitly.</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328210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Stress that most setup happens in the </a:t>
            </a:r>
            <a:r>
              <a:rPr lang="en-US" sz="882" b="1" i="0" kern="1200" dirty="0">
                <a:solidFill>
                  <a:schemeClr val="tx1"/>
                </a:solidFill>
                <a:effectLst/>
                <a:latin typeface="Segoe UI Light" pitchFamily="34" charset="0"/>
                <a:ea typeface="+mn-ea"/>
                <a:cs typeface="+mn-cs"/>
              </a:rPr>
              <a:t>agent playground</a:t>
            </a:r>
            <a:r>
              <a:rPr lang="en-US" sz="882" b="0" i="0" kern="1200" dirty="0">
                <a:solidFill>
                  <a:schemeClr val="tx1"/>
                </a:solidFill>
                <a:effectLst/>
                <a:latin typeface="Segoe UI Light" pitchFamily="34" charset="0"/>
                <a:ea typeface="+mn-ea"/>
                <a:cs typeface="+mn-cs"/>
              </a:rPr>
              <a:t> – though you can also configure Voice Live settings for an agent when creating it programmatically.</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the importance of handling Voice Live events correctly. Mention monitoring audio state as a best practice.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2336134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597F6-DAD2-4D2B-D332-A34C6954E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55D97-427D-1783-0DDB-61D4FB23B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73CFD-91E9-C43B-F39C-1693062F5156}"/>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90B2EBCB-63A5-9B93-2D7B-7A1D4639897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D42B9738-CF4E-10B2-F938-4E976007A2F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559932A8-214C-8699-2436-84C7775B6A5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5124E62-8EF7-07EC-087F-C6BF26F2BC5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018930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DF8DF-6EDF-4EA9-5DD0-FF3645C20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82CAF-B2E3-2CCE-5F05-F64381DE0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4E97D-F908-8E07-CBE8-4587847EAA11}"/>
              </a:ext>
            </a:extLst>
          </p:cNvPr>
          <p:cNvSpPr>
            <a:spLocks noGrp="1"/>
          </p:cNvSpPr>
          <p:nvPr>
            <p:ph type="body" idx="1"/>
          </p:nvPr>
        </p:nvSpPr>
        <p:spPr/>
        <p:txBody>
          <a:bodyPr/>
          <a:lstStyle/>
          <a:p>
            <a:r>
              <a:rPr lang="en-US" dirty="0"/>
              <a:t>Use the slide animation to reveal the correct answers.</a:t>
            </a:r>
          </a:p>
          <a:p>
            <a:endParaRPr lang="en-US" dirty="0"/>
          </a:p>
        </p:txBody>
      </p:sp>
      <p:sp>
        <p:nvSpPr>
          <p:cNvPr id="4" name="Slide Number Placeholder 3">
            <a:extLst>
              <a:ext uri="{FF2B5EF4-FFF2-40B4-BE49-F238E27FC236}">
                <a16:creationId xmlns:a16="http://schemas.microsoft.com/office/drawing/2014/main" id="{8E096A13-1959-2360-D05A-1FFAC61D62FE}"/>
              </a:ext>
            </a:extLst>
          </p:cNvPr>
          <p:cNvSpPr>
            <a:spLocks noGrp="1"/>
          </p:cNvSpPr>
          <p:nvPr>
            <p:ph type="sldNum" sz="quarter" idx="5"/>
          </p:nvPr>
        </p:nvSpPr>
        <p:spPr/>
        <p:txBody>
          <a:bodyPr/>
          <a:lstStyle/>
          <a:p>
            <a:fld id="{97E04F8E-88E9-481C-A2B3-C92BCE611EF5}" type="slidenum">
              <a:rPr lang="en-US" smtClean="0"/>
              <a:t>36</a:t>
            </a:fld>
            <a:endParaRPr lang="en-US"/>
          </a:p>
        </p:txBody>
      </p:sp>
    </p:spTree>
    <p:extLst>
      <p:ext uri="{BB962C8B-B14F-4D97-AF65-F5344CB8AC3E}">
        <p14:creationId xmlns:p14="http://schemas.microsoft.com/office/powerpoint/2010/main" val="1963890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Feel free to skip this section. Included only for completeness.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22098689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Transition to </a:t>
            </a:r>
            <a:r>
              <a:rPr lang="en-US" sz="882" b="1" i="0" kern="1200" dirty="0">
                <a:solidFill>
                  <a:schemeClr val="tx1"/>
                </a:solidFill>
                <a:effectLst/>
                <a:latin typeface="Segoe UI Light" pitchFamily="34" charset="0"/>
                <a:ea typeface="+mn-ea"/>
                <a:cs typeface="+mn-cs"/>
              </a:rPr>
              <a:t>translation workloads</a:t>
            </a:r>
            <a:r>
              <a:rPr lang="en-US" sz="882" b="0" i="0" kern="1200" dirty="0">
                <a:solidFill>
                  <a:schemeClr val="tx1"/>
                </a:solidFill>
                <a:effectLst/>
                <a:latin typeface="Segoe UI Light" pitchFamily="34" charset="0"/>
                <a:ea typeface="+mn-ea"/>
                <a:cs typeface="+mn-cs"/>
              </a:rPr>
              <a:t>. Emphasize parity between text and speech translation concepts.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Differentiate </a:t>
            </a:r>
            <a:r>
              <a:rPr lang="en-US" sz="882" b="1" i="0" kern="1200" dirty="0">
                <a:solidFill>
                  <a:schemeClr val="tx1"/>
                </a:solidFill>
                <a:effectLst/>
                <a:latin typeface="Segoe UI Light" pitchFamily="34" charset="0"/>
                <a:ea typeface="+mn-ea"/>
                <a:cs typeface="+mn-cs"/>
              </a:rPr>
              <a:t>Translator</a:t>
            </a:r>
            <a:r>
              <a:rPr lang="en-US" sz="882" b="0" i="0" kern="1200" dirty="0">
                <a:solidFill>
                  <a:schemeClr val="tx1"/>
                </a:solidFill>
                <a:effectLst/>
                <a:latin typeface="Segoe UI Light" pitchFamily="34" charset="0"/>
                <a:ea typeface="+mn-ea"/>
                <a:cs typeface="+mn-cs"/>
              </a:rPr>
              <a:t> vs </a:t>
            </a:r>
            <a:r>
              <a:rPr lang="en-US" sz="882" b="1" i="0" kern="1200" dirty="0">
                <a:solidFill>
                  <a:schemeClr val="tx1"/>
                </a:solidFill>
                <a:effectLst/>
                <a:latin typeface="Segoe UI Light" pitchFamily="34" charset="0"/>
                <a:ea typeface="+mn-ea"/>
                <a:cs typeface="+mn-cs"/>
              </a:rPr>
              <a:t>Speech translation</a:t>
            </a:r>
            <a:r>
              <a:rPr lang="en-US" sz="882" b="0" i="0" kern="1200" dirty="0">
                <a:solidFill>
                  <a:schemeClr val="tx1"/>
                </a:solidFill>
                <a:effectLst/>
                <a:latin typeface="Segoe UI Light" pitchFamily="34" charset="0"/>
                <a:ea typeface="+mn-ea"/>
                <a:cs typeface="+mn-cs"/>
              </a:rPr>
              <a:t>. Reinforce that speech translation builds on speech recognition.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i="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38</a:t>
            </a:fld>
            <a:endParaRPr lang="en-US"/>
          </a:p>
        </p:txBody>
      </p:sp>
    </p:spTree>
    <p:extLst>
      <p:ext uri="{BB962C8B-B14F-4D97-AF65-F5344CB8AC3E}">
        <p14:creationId xmlns:p14="http://schemas.microsoft.com/office/powerpoint/2010/main" val="10816636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Walk through translation vs transliteration. Reinforce supported language discovery as a first step.</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global and regional endpoints as “general” endpoints that are not tied to a particular resource (billing is assigned using the key / credential information you provide). For this reason, you can connect to a Translator resource by specifying a </a:t>
            </a:r>
            <a:r>
              <a:rPr lang="en-US" sz="882" b="0" i="1" kern="1200" dirty="0">
                <a:solidFill>
                  <a:schemeClr val="tx1"/>
                </a:solidFill>
                <a:effectLst/>
                <a:latin typeface="Segoe UI Light" pitchFamily="34" charset="0"/>
                <a:ea typeface="+mn-ea"/>
                <a:cs typeface="+mn-cs"/>
              </a:rPr>
              <a:t>region</a:t>
            </a:r>
            <a:r>
              <a:rPr lang="en-US" sz="882" b="0" i="0" kern="1200" dirty="0">
                <a:solidFill>
                  <a:schemeClr val="tx1"/>
                </a:solidFill>
                <a:effectLst/>
                <a:latin typeface="Segoe UI Light" pitchFamily="34" charset="0"/>
                <a:ea typeface="+mn-ea"/>
                <a:cs typeface="+mn-cs"/>
              </a:rPr>
              <a:t> and key/credential, without having to specify a specific Foundry endpoint.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a:p>
        </p:txBody>
      </p:sp>
    </p:spTree>
    <p:extLst>
      <p:ext uri="{BB962C8B-B14F-4D97-AF65-F5344CB8AC3E}">
        <p14:creationId xmlns:p14="http://schemas.microsoft.com/office/powerpoint/2010/main" val="3006540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E898D-409F-E88F-7993-CAE8E45C3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C18EB-6706-57CF-E30C-499D83476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4185-A1BC-840C-DC08-5471DCCD6861}"/>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Explain why a separate </a:t>
            </a:r>
            <a:r>
              <a:rPr lang="en-US" sz="882" b="1" i="0" kern="1200" dirty="0" err="1">
                <a:solidFill>
                  <a:schemeClr val="tx1"/>
                </a:solidFill>
                <a:effectLst/>
                <a:latin typeface="Segoe UI Light" pitchFamily="34" charset="0"/>
                <a:ea typeface="+mn-ea"/>
                <a:cs typeface="+mn-cs"/>
              </a:rPr>
              <a:t>SpeechTranslationConfig</a:t>
            </a:r>
            <a:r>
              <a:rPr lang="en-US" sz="882" b="0" i="0" kern="1200" dirty="0">
                <a:solidFill>
                  <a:schemeClr val="tx1"/>
                </a:solidFill>
                <a:effectLst/>
                <a:latin typeface="Segoe UI Light" pitchFamily="34" charset="0"/>
                <a:ea typeface="+mn-ea"/>
                <a:cs typeface="+mn-cs"/>
              </a:rPr>
              <a:t> exists. </a:t>
            </a:r>
            <a:endParaRPr lang="en-US" dirty="0"/>
          </a:p>
        </p:txBody>
      </p:sp>
      <p:sp>
        <p:nvSpPr>
          <p:cNvPr id="4" name="Header Placeholder 3">
            <a:extLst>
              <a:ext uri="{FF2B5EF4-FFF2-40B4-BE49-F238E27FC236}">
                <a16:creationId xmlns:a16="http://schemas.microsoft.com/office/drawing/2014/main" id="{CA43C69F-C5A5-9480-97CA-E001FB8F2A4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05DF8BB-A248-FD04-2A45-03AA778C10E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B7A87F8-9477-60AB-82C0-804028724B8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D91E10-8992-4C3B-B3D5-52A5B044144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768E42A-45CE-DFC9-FEBC-623AE5E31BC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518611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Contrast </a:t>
            </a:r>
            <a:r>
              <a:rPr lang="en-US" sz="882" b="1" i="0" kern="1200" dirty="0">
                <a:solidFill>
                  <a:schemeClr val="tx1"/>
                </a:solidFill>
                <a:effectLst/>
                <a:latin typeface="Segoe UI Light" pitchFamily="34" charset="0"/>
                <a:ea typeface="+mn-ea"/>
                <a:cs typeface="+mn-cs"/>
              </a:rPr>
              <a:t>event‑based</a:t>
            </a:r>
            <a:r>
              <a:rPr lang="en-US" sz="882" b="0" i="0" kern="1200" dirty="0">
                <a:solidFill>
                  <a:schemeClr val="tx1"/>
                </a:solidFill>
                <a:effectLst/>
                <a:latin typeface="Segoe UI Light" pitchFamily="34" charset="0"/>
                <a:ea typeface="+mn-ea"/>
                <a:cs typeface="+mn-cs"/>
              </a:rPr>
              <a:t> vs </a:t>
            </a:r>
            <a:r>
              <a:rPr lang="en-US" sz="882" b="1" i="0" kern="1200" dirty="0">
                <a:solidFill>
                  <a:schemeClr val="tx1"/>
                </a:solidFill>
                <a:effectLst/>
                <a:latin typeface="Segoe UI Light" pitchFamily="34" charset="0"/>
                <a:ea typeface="+mn-ea"/>
                <a:cs typeface="+mn-cs"/>
              </a:rPr>
              <a:t>manual synthesis</a:t>
            </a:r>
            <a:r>
              <a:rPr lang="en-US" sz="882" b="0" i="0" kern="1200" dirty="0">
                <a:solidFill>
                  <a:schemeClr val="tx1"/>
                </a:solidFill>
                <a:effectLst/>
                <a:latin typeface="Segoe UI Light" pitchFamily="34" charset="0"/>
                <a:ea typeface="+mn-ea"/>
                <a:cs typeface="+mn-cs"/>
              </a:rPr>
              <a:t>. Explain when each approach is appropriate. Highlight limitations for multi‑language synthesis.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5E12198-D52A-4604-A7DE-05A0E5E96698}" type="datetime8">
              <a:rPr lang="en-US" smtClean="0"/>
              <a:t>5/13/2026 6:07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14264029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78613-27C0-8E53-F85D-EF1884F33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5EEBE-B351-B655-DAE9-9D55BBA4B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AEDB5-6E9B-A73A-8A95-12C16731DA2A}"/>
              </a:ext>
            </a:extLst>
          </p:cNvPr>
          <p:cNvSpPr>
            <a:spLocks noGrp="1"/>
          </p:cNvSpPr>
          <p:nvPr>
            <p:ph type="body" idx="1"/>
          </p:nvPr>
        </p:nvSpPr>
        <p:spPr/>
        <p:txBody>
          <a:bodyPr/>
          <a:lstStyle/>
          <a:p>
            <a:r>
              <a:rPr lang="en-US" dirty="0"/>
              <a:t>Each exercise begins with the same procedure to create a Foundry project–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a:extLst>
              <a:ext uri="{FF2B5EF4-FFF2-40B4-BE49-F238E27FC236}">
                <a16:creationId xmlns:a16="http://schemas.microsoft.com/office/drawing/2014/main" id="{BDD99750-7A57-E785-2DDB-64F3676D32C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F74C7052-78A7-C71C-487B-DBC641ABC6D1}"/>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D6CE944-BF92-9997-3117-BDE26813225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5/13/2026 6:07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70BC1EA-1C8B-7D78-FEC9-32C34CDF3D3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642825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119B-1E62-9F01-61A8-65842B730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B6356-F67D-034B-D0DB-15BA3EEAE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231E8-6C24-96C8-A004-D4CF7F7DAAE6}"/>
              </a:ext>
            </a:extLst>
          </p:cNvPr>
          <p:cNvSpPr>
            <a:spLocks noGrp="1"/>
          </p:cNvSpPr>
          <p:nvPr>
            <p:ph type="body" idx="1"/>
          </p:nvPr>
        </p:nvSpPr>
        <p:spPr/>
        <p:txBody>
          <a:bodyPr/>
          <a:lstStyle/>
          <a:p>
            <a:r>
              <a:rPr lang="en-US" dirty="0"/>
              <a:t>Use the slide animation to reveal the correct answers.</a:t>
            </a:r>
          </a:p>
          <a:p>
            <a:endParaRPr lang="en-US" dirty="0"/>
          </a:p>
        </p:txBody>
      </p:sp>
      <p:sp>
        <p:nvSpPr>
          <p:cNvPr id="4" name="Slide Number Placeholder 3">
            <a:extLst>
              <a:ext uri="{FF2B5EF4-FFF2-40B4-BE49-F238E27FC236}">
                <a16:creationId xmlns:a16="http://schemas.microsoft.com/office/drawing/2014/main" id="{3412495C-1B53-1CEA-601D-B59F38FAF413}"/>
              </a:ext>
            </a:extLst>
          </p:cNvPr>
          <p:cNvSpPr>
            <a:spLocks noGrp="1"/>
          </p:cNvSpPr>
          <p:nvPr>
            <p:ph type="sldNum" sz="quarter" idx="5"/>
          </p:nvPr>
        </p:nvSpPr>
        <p:spPr/>
        <p:txBody>
          <a:bodyPr/>
          <a:lstStyle/>
          <a:p>
            <a:fld id="{97E04F8E-88E9-481C-A2B3-C92BCE611EF5}" type="slidenum">
              <a:rPr lang="en-US" smtClean="0"/>
              <a:t>43</a:t>
            </a:fld>
            <a:endParaRPr lang="en-US"/>
          </a:p>
        </p:txBody>
      </p:sp>
    </p:spTree>
    <p:extLst>
      <p:ext uri="{BB962C8B-B14F-4D97-AF65-F5344CB8AC3E}">
        <p14:creationId xmlns:p14="http://schemas.microsoft.com/office/powerpoint/2010/main" val="37235300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a:solidFill>
                  <a:schemeClr val="tx1"/>
                </a:solidFill>
                <a:effectLst/>
                <a:latin typeface="Segoe UI Light" pitchFamily="34" charset="0"/>
                <a:ea typeface="+mn-ea"/>
                <a:cs typeface="+mn-cs"/>
              </a:rPr>
              <a:t>Summarize key takeaways: Language, Speech, Translation, Agents. Encourage learners to explore Foundry models and MCP further.</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44</a:t>
            </a:fld>
            <a:endParaRPr lang="en-US"/>
          </a:p>
        </p:txBody>
      </p:sp>
    </p:spTree>
    <p:extLst>
      <p:ext uri="{BB962C8B-B14F-4D97-AF65-F5344CB8AC3E}">
        <p14:creationId xmlns:p14="http://schemas.microsoft.com/office/powerpoint/2010/main" val="17132694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69332"/>
          </a:xfrm>
        </p:spPr>
        <p:txBody>
          <a:bodyPr/>
          <a:lstStyle>
            <a:lvl1pPr>
              <a:defRPr sz="24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07831"/>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24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55735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t>© Copyright Microsoft Corporation. All rights reserved.</a:t>
            </a:r>
          </a:p>
        </p:txBody>
      </p:sp>
    </p:spTree>
    <p:extLst>
      <p:ext uri="{BB962C8B-B14F-4D97-AF65-F5344CB8AC3E}">
        <p14:creationId xmlns:p14="http://schemas.microsoft.com/office/powerpoint/2010/main" val="25226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140692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59523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314000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963953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495886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email">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306657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043652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504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330515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3363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9598778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14714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168837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07914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815740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79646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351809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513419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1005372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2003417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194329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812627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41501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59852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5539141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99068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107828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733672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0198626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96871091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27361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06512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0818427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6939594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64216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69596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116210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580129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06360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9338345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59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32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theme" Target="../theme/theme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6" r:id="rId22"/>
    <p:sldLayoutId id="2147484947" r:id="rId23"/>
    <p:sldLayoutId id="2147484951" r:id="rId24"/>
    <p:sldLayoutId id="2147484952" r:id="rId25"/>
    <p:sldLayoutId id="2147484953" r:id="rId26"/>
    <p:sldLayoutId id="2147484954" r:id="rId27"/>
    <p:sldLayoutId id="2147484955" r:id="rId28"/>
    <p:sldLayoutId id="2147484956" r:id="rId29"/>
    <p:sldLayoutId id="2147484957" r:id="rId30"/>
    <p:sldLayoutId id="2147484958" r:id="rId31"/>
    <p:sldLayoutId id="2147484959" r:id="rId32"/>
    <p:sldLayoutId id="2147484960" r:id="rId33"/>
    <p:sldLayoutId id="2147484961" r:id="rId34"/>
    <p:sldLayoutId id="2147484962" r:id="rId35"/>
    <p:sldLayoutId id="2147484963" r:id="rId36"/>
    <p:sldLayoutId id="2147484964" r:id="rId37"/>
    <p:sldLayoutId id="2147484965" r:id="rId38"/>
    <p:sldLayoutId id="2147484966" r:id="rId39"/>
    <p:sldLayoutId id="2147484967" r:id="rId40"/>
    <p:sldLayoutId id="2147484970" r:id="rId41"/>
  </p:sldLayoutIdLst>
  <p:transition>
    <p:fade/>
  </p:transition>
  <p:hf sldNum="0" hdr="0" dt="0"/>
  <p:txStyles>
    <p:titleStyle>
      <a:lvl1pPr algn="l" defTabSz="932742" rtl="0" eaLnBrk="1" latinLnBrk="0" hangingPunct="1">
        <a:lnSpc>
          <a:spcPct val="100000"/>
        </a:lnSpc>
        <a:spcBef>
          <a:spcPct val="0"/>
        </a:spcBef>
        <a:buNone/>
        <a:defRPr lang="en-US" sz="24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96704705"/>
      </p:ext>
    </p:extLst>
  </p:cSld>
  <p:clrMap bg1="lt1" tx1="dk1" bg2="lt2" tx2="dk2" accent1="accent1" accent2="accent2" accent3="accent3" accent4="accent4" accent5="accent5" accent6="accent6" hlink="hlink" folHlink="folHlink"/>
  <p:sldLayoutIdLst>
    <p:sldLayoutId id="2147484973" r:id="rId1"/>
    <p:sldLayoutId id="2147484974" r:id="rId2"/>
    <p:sldLayoutId id="2147484975" r:id="rId3"/>
    <p:sldLayoutId id="2147484976" r:id="rId4"/>
    <p:sldLayoutId id="2147484977" r:id="rId5"/>
    <p:sldLayoutId id="2147484978" r:id="rId6"/>
    <p:sldLayoutId id="2147484979" r:id="rId7"/>
    <p:sldLayoutId id="2147484980" r:id="rId8"/>
    <p:sldLayoutId id="2147484981" r:id="rId9"/>
    <p:sldLayoutId id="2147484982" r:id="rId10"/>
    <p:sldLayoutId id="2147484983" r:id="rId11"/>
    <p:sldLayoutId id="2147484984" r:id="rId12"/>
    <p:sldLayoutId id="2147484985" r:id="rId13"/>
    <p:sldLayoutId id="2147484986" r:id="rId14"/>
    <p:sldLayoutId id="2147484987" r:id="rId15"/>
    <p:sldLayoutId id="2147484988" r:id="rId16"/>
    <p:sldLayoutId id="2147484989" r:id="rId17"/>
    <p:sldLayoutId id="2147484990" r:id="rId18"/>
    <p:sldLayoutId id="2147484991" r:id="rId19"/>
    <p:sldLayoutId id="2147484992" r:id="rId20"/>
    <p:sldLayoutId id="2147484993" r:id="rId21"/>
    <p:sldLayoutId id="2147484994" r:id="rId22"/>
    <p:sldLayoutId id="2147484995" r:id="rId23"/>
    <p:sldLayoutId id="2147484996" r:id="rId24"/>
    <p:sldLayoutId id="2147484997" r:id="rId25"/>
    <p:sldLayoutId id="2147484998" r:id="rId26"/>
    <p:sldLayoutId id="2147484999" r:id="rId27"/>
    <p:sldLayoutId id="2147485000" r:id="rId28"/>
    <p:sldLayoutId id="2147485001" r:id="rId29"/>
    <p:sldLayoutId id="2147485002" r:id="rId30"/>
    <p:sldLayoutId id="2147485003" r:id="rId31"/>
    <p:sldLayoutId id="2147485004" r:id="rId32"/>
    <p:sldLayoutId id="2147485005" r:id="rId33"/>
    <p:sldLayoutId id="2147485006" r:id="rId34"/>
    <p:sldLayoutId id="2147485007" r:id="rId35"/>
    <p:sldLayoutId id="2147485008" r:id="rId36"/>
    <p:sldLayoutId id="2147485009" r:id="rId37"/>
    <p:sldLayoutId id="2147485010" r:id="rId38"/>
    <p:sldLayoutId id="2147485011" r:id="rId39"/>
    <p:sldLayoutId id="2147485012" r:id="rId40"/>
    <p:sldLayoutId id="2147485013" r:id="rId41"/>
    <p:sldLayoutId id="2147485014" r:id="rId42"/>
    <p:sldLayoutId id="2147485015" r:id="rId43"/>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190.png"/><Relationship Id="rId4" Type="http://schemas.openxmlformats.org/officeDocument/2006/relationships/image" Target="../media/image20.svg"/><Relationship Id="rId9" Type="http://schemas.openxmlformats.org/officeDocument/2006/relationships/image" Target="../media/image25.sv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svg"/><Relationship Id="rId10" Type="http://schemas.openxmlformats.org/officeDocument/2006/relationships/image" Target="../media/image26.svg"/><Relationship Id="rId19" Type="http://schemas.openxmlformats.org/officeDocument/2006/relationships/image" Target="../media/image190.png"/><Relationship Id="rId4" Type="http://schemas.openxmlformats.org/officeDocument/2006/relationships/image" Target="../media/image20.svg"/><Relationship Id="rId9" Type="http://schemas.openxmlformats.org/officeDocument/2006/relationships/image" Target="../media/image2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svg"/><Relationship Id="rId7" Type="http://schemas.openxmlformats.org/officeDocument/2006/relationships/image" Target="../media/image33.png"/><Relationship Id="rId12" Type="http://schemas.openxmlformats.org/officeDocument/2006/relationships/image" Target="../media/image37.sv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32.svg"/><Relationship Id="rId11" Type="http://schemas.openxmlformats.org/officeDocument/2006/relationships/image" Target="../media/image36.sv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svg"/><Relationship Id="rId9"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hyperlink" Target="https://go.microsoft.com/fwlink/?linkid=2356343" TargetMode="External"/><Relationship Id="rId2" Type="http://schemas.openxmlformats.org/officeDocument/2006/relationships/notesSlide" Target="../notesSlides/notesSlide7.xml"/><Relationship Id="rId1" Type="http://schemas.openxmlformats.org/officeDocument/2006/relationships/slideLayout" Target="../slideLayouts/slideLayout69.xml"/><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18" Type="http://schemas.openxmlformats.org/officeDocument/2006/relationships/image" Target="../media/image53.svg"/><Relationship Id="rId3" Type="http://schemas.openxmlformats.org/officeDocument/2006/relationships/image" Target="../media/image39.svg"/><Relationship Id="rId7" Type="http://schemas.openxmlformats.org/officeDocument/2006/relationships/image" Target="../media/image33.png"/><Relationship Id="rId12" Type="http://schemas.openxmlformats.org/officeDocument/2006/relationships/image" Target="../media/image47.svg"/><Relationship Id="rId17" Type="http://schemas.openxmlformats.org/officeDocument/2006/relationships/image" Target="../media/image52.svg"/><Relationship Id="rId2" Type="http://schemas.openxmlformats.org/officeDocument/2006/relationships/notesSlide" Target="../notesSlides/notesSlide10.xml"/><Relationship Id="rId16" Type="http://schemas.openxmlformats.org/officeDocument/2006/relationships/image" Target="../media/image51.svg"/><Relationship Id="rId1" Type="http://schemas.openxmlformats.org/officeDocument/2006/relationships/slideLayout" Target="../slideLayouts/slideLayout20.xml"/><Relationship Id="rId6" Type="http://schemas.openxmlformats.org/officeDocument/2006/relationships/image" Target="../media/image42.svg"/><Relationship Id="rId11" Type="http://schemas.openxmlformats.org/officeDocument/2006/relationships/image" Target="../media/image46.svg"/><Relationship Id="rId5" Type="http://schemas.openxmlformats.org/officeDocument/2006/relationships/image" Target="../media/image41.svg"/><Relationship Id="rId15" Type="http://schemas.openxmlformats.org/officeDocument/2006/relationships/image" Target="../media/image50.svg"/><Relationship Id="rId10" Type="http://schemas.openxmlformats.org/officeDocument/2006/relationships/image" Target="../media/image45.svg"/><Relationship Id="rId4" Type="http://schemas.openxmlformats.org/officeDocument/2006/relationships/image" Target="../media/image40.svg"/><Relationship Id="rId9" Type="http://schemas.openxmlformats.org/officeDocument/2006/relationships/image" Target="../media/image44.svg"/><Relationship Id="rId14" Type="http://schemas.openxmlformats.org/officeDocument/2006/relationships/image" Target="../media/image49.svg"/></Relationships>
</file>

<file path=ppt/slides/_rels/slide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go.microsoft.com/fwlink/?linkid=2356518" TargetMode="External"/><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image" Target="../media/image5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33.png"/><Relationship Id="rId7" Type="http://schemas.openxmlformats.org/officeDocument/2006/relationships/image" Target="../media/image45.sv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44.svg"/><Relationship Id="rId11" Type="http://schemas.openxmlformats.org/officeDocument/2006/relationships/image" Target="../media/image61.svg"/><Relationship Id="rId5" Type="http://schemas.openxmlformats.org/officeDocument/2006/relationships/image" Target="../media/image58.png"/><Relationship Id="rId10" Type="http://schemas.openxmlformats.org/officeDocument/2006/relationships/image" Target="../media/image60.svg"/><Relationship Id="rId4" Type="http://schemas.openxmlformats.org/officeDocument/2006/relationships/image" Target="../media/image57.png"/><Relationship Id="rId9" Type="http://schemas.openxmlformats.org/officeDocument/2006/relationships/image" Target="../media/image59.svg"/></Relationships>
</file>

<file path=ppt/slides/_rels/slide17.xml.rels><?xml version="1.0" encoding="UTF-8" standalone="yes"?>
<Relationships xmlns="http://schemas.openxmlformats.org/package/2006/relationships"><Relationship Id="rId3" Type="http://schemas.openxmlformats.org/officeDocument/2006/relationships/hyperlink" Target="https://go.microsoft.com/fwlink/?linkid=2356363" TargetMode="External"/><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64.png"/><Relationship Id="rId5" Type="http://schemas.openxmlformats.org/officeDocument/2006/relationships/image" Target="../media/image59.svg"/><Relationship Id="rId4" Type="http://schemas.openxmlformats.org/officeDocument/2006/relationships/image" Target="../media/image63.svg"/></Relationships>
</file>

<file path=ppt/slides/_rels/slide2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29.svg"/><Relationship Id="rId7" Type="http://schemas.openxmlformats.org/officeDocument/2006/relationships/image" Target="../media/image33.png"/><Relationship Id="rId12" Type="http://schemas.openxmlformats.org/officeDocument/2006/relationships/image" Target="../media/image69.svg"/><Relationship Id="rId2" Type="http://schemas.openxmlformats.org/officeDocument/2006/relationships/notesSlide" Target="../notesSlides/notesSlide21.xml"/><Relationship Id="rId1" Type="http://schemas.openxmlformats.org/officeDocument/2006/relationships/slideLayout" Target="../slideLayouts/slideLayout22.xml"/><Relationship Id="rId6" Type="http://schemas.openxmlformats.org/officeDocument/2006/relationships/image" Target="../media/image32.svg"/><Relationship Id="rId11" Type="http://schemas.openxmlformats.org/officeDocument/2006/relationships/image" Target="../media/image68.svg"/><Relationship Id="rId5" Type="http://schemas.openxmlformats.org/officeDocument/2006/relationships/image" Target="../media/image31.svg"/><Relationship Id="rId10" Type="http://schemas.openxmlformats.org/officeDocument/2006/relationships/image" Target="../media/image67.svg"/><Relationship Id="rId4" Type="http://schemas.openxmlformats.org/officeDocument/2006/relationships/image" Target="../media/image30.svg"/><Relationship Id="rId9" Type="http://schemas.openxmlformats.org/officeDocument/2006/relationships/image" Target="../media/image66.svg"/></Relationships>
</file>

<file path=ppt/slides/_rels/slide22.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notesSlide" Target="../notesSlides/notesSlide22.xml"/><Relationship Id="rId1" Type="http://schemas.openxmlformats.org/officeDocument/2006/relationships/slideLayout" Target="../slideLayouts/slideLayout20.xml"/><Relationship Id="rId6" Type="http://schemas.openxmlformats.org/officeDocument/2006/relationships/image" Target="../media/image73.svg"/><Relationship Id="rId5" Type="http://schemas.openxmlformats.org/officeDocument/2006/relationships/image" Target="../media/image72.svg"/><Relationship Id="rId4" Type="http://schemas.openxmlformats.org/officeDocument/2006/relationships/image" Target="../media/image71.svg"/><Relationship Id="rId9" Type="http://schemas.openxmlformats.org/officeDocument/2006/relationships/image" Target="../media/image76.svg"/></Relationships>
</file>

<file path=ppt/slides/_rels/slide23.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70.svg"/><Relationship Id="rId7" Type="http://schemas.openxmlformats.org/officeDocument/2006/relationships/image" Target="../media/image79.svg"/><Relationship Id="rId2" Type="http://schemas.openxmlformats.org/officeDocument/2006/relationships/notesSlide" Target="../notesSlides/notesSlide23.xml"/><Relationship Id="rId1" Type="http://schemas.openxmlformats.org/officeDocument/2006/relationships/slideLayout" Target="../slideLayouts/slideLayout20.xml"/><Relationship Id="rId6" Type="http://schemas.openxmlformats.org/officeDocument/2006/relationships/image" Target="../media/image78.svg"/><Relationship Id="rId5" Type="http://schemas.openxmlformats.org/officeDocument/2006/relationships/image" Target="../media/image77.svg"/><Relationship Id="rId10" Type="http://schemas.openxmlformats.org/officeDocument/2006/relationships/image" Target="../media/image81.svg"/><Relationship Id="rId4" Type="http://schemas.openxmlformats.org/officeDocument/2006/relationships/image" Target="../media/image71.svg"/><Relationship Id="rId9" Type="http://schemas.openxmlformats.org/officeDocument/2006/relationships/image" Target="../media/image80.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hyperlink" Target="https://go.microsoft.com/fwlink/?linkid=2356350" TargetMode="External"/><Relationship Id="rId2" Type="http://schemas.openxmlformats.org/officeDocument/2006/relationships/notesSlide" Target="../notesSlides/notesSlide25.xml"/><Relationship Id="rId1" Type="http://schemas.openxmlformats.org/officeDocument/2006/relationships/slideLayout" Target="../slideLayouts/slideLayout26.xml"/><Relationship Id="rId4" Type="http://schemas.openxmlformats.org/officeDocument/2006/relationships/image" Target="../media/image8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48.svg"/><Relationship Id="rId18" Type="http://schemas.openxmlformats.org/officeDocument/2006/relationships/image" Target="../media/image53.svg"/><Relationship Id="rId3" Type="http://schemas.openxmlformats.org/officeDocument/2006/relationships/image" Target="../media/image39.svg"/><Relationship Id="rId21" Type="http://schemas.openxmlformats.org/officeDocument/2006/relationships/image" Target="../media/image86.svg"/><Relationship Id="rId7" Type="http://schemas.openxmlformats.org/officeDocument/2006/relationships/image" Target="../media/image33.png"/><Relationship Id="rId12" Type="http://schemas.openxmlformats.org/officeDocument/2006/relationships/image" Target="../media/image47.svg"/><Relationship Id="rId17" Type="http://schemas.openxmlformats.org/officeDocument/2006/relationships/image" Target="../media/image52.svg"/><Relationship Id="rId2" Type="http://schemas.openxmlformats.org/officeDocument/2006/relationships/notesSlide" Target="../notesSlides/notesSlide28.xml"/><Relationship Id="rId16" Type="http://schemas.openxmlformats.org/officeDocument/2006/relationships/image" Target="../media/image51.svg"/><Relationship Id="rId20" Type="http://schemas.openxmlformats.org/officeDocument/2006/relationships/image" Target="../media/image85.svg"/><Relationship Id="rId1" Type="http://schemas.openxmlformats.org/officeDocument/2006/relationships/slideLayout" Target="../slideLayouts/slideLayout20.xml"/><Relationship Id="rId6" Type="http://schemas.openxmlformats.org/officeDocument/2006/relationships/image" Target="../media/image42.svg"/><Relationship Id="rId11" Type="http://schemas.openxmlformats.org/officeDocument/2006/relationships/image" Target="../media/image46.svg"/><Relationship Id="rId5" Type="http://schemas.openxmlformats.org/officeDocument/2006/relationships/image" Target="../media/image41.svg"/><Relationship Id="rId15" Type="http://schemas.openxmlformats.org/officeDocument/2006/relationships/image" Target="../media/image50.svg"/><Relationship Id="rId10" Type="http://schemas.openxmlformats.org/officeDocument/2006/relationships/image" Target="../media/image45.svg"/><Relationship Id="rId19" Type="http://schemas.openxmlformats.org/officeDocument/2006/relationships/image" Target="../media/image49.svg"/><Relationship Id="rId4" Type="http://schemas.openxmlformats.org/officeDocument/2006/relationships/image" Target="../media/image40.svg"/><Relationship Id="rId9" Type="http://schemas.openxmlformats.org/officeDocument/2006/relationships/image" Target="../media/image44.svg"/><Relationship Id="rId14" Type="http://schemas.openxmlformats.org/officeDocument/2006/relationships/image" Target="../media/image84.svg"/></Relationships>
</file>

<file path=ppt/slides/_rels/slide2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hyperlink" Target="https://go.microsoft.com/fwlink/?linkid=2356519" TargetMode="External"/><Relationship Id="rId2" Type="http://schemas.openxmlformats.org/officeDocument/2006/relationships/notesSlide" Target="../notesSlides/notesSlide30.xml"/><Relationship Id="rId1" Type="http://schemas.openxmlformats.org/officeDocument/2006/relationships/slideLayout" Target="../slideLayouts/slideLayout26.xml"/><Relationship Id="rId4" Type="http://schemas.openxmlformats.org/officeDocument/2006/relationships/image" Target="../media/image8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88.svg"/><Relationship Id="rId7"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7.xml"/><Relationship Id="rId6" Type="http://schemas.openxmlformats.org/officeDocument/2006/relationships/image" Target="../media/image83.png"/><Relationship Id="rId5" Type="http://schemas.openxmlformats.org/officeDocument/2006/relationships/image" Target="../media/image45.svg"/><Relationship Id="rId4" Type="http://schemas.openxmlformats.org/officeDocument/2006/relationships/image" Target="../media/image44.svg"/><Relationship Id="rId9" Type="http://schemas.openxmlformats.org/officeDocument/2006/relationships/image" Target="../media/image89.sv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go.microsoft.com/fwlink/?linkid=2356168" TargetMode="External"/><Relationship Id="rId2" Type="http://schemas.openxmlformats.org/officeDocument/2006/relationships/notesSlide" Target="../notesSlides/notesSlide35.xml"/><Relationship Id="rId1" Type="http://schemas.openxmlformats.org/officeDocument/2006/relationships/slideLayout" Target="../slideLayouts/slideLayout26.xml"/><Relationship Id="rId4" Type="http://schemas.openxmlformats.org/officeDocument/2006/relationships/image" Target="../media/image9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9.svg"/><Relationship Id="rId7"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image" Target="../media/image32.svg"/><Relationship Id="rId11" Type="http://schemas.openxmlformats.org/officeDocument/2006/relationships/image" Target="../media/image37.svg"/><Relationship Id="rId5" Type="http://schemas.openxmlformats.org/officeDocument/2006/relationships/image" Target="../media/image93.svg"/><Relationship Id="rId10" Type="http://schemas.openxmlformats.org/officeDocument/2006/relationships/image" Target="../media/image95.svg"/><Relationship Id="rId4" Type="http://schemas.openxmlformats.org/officeDocument/2006/relationships/image" Target="../media/image30.svg"/><Relationship Id="rId9" Type="http://schemas.openxmlformats.org/officeDocument/2006/relationships/image" Target="../media/image27.svg"/></Relationships>
</file>

<file path=ppt/slides/_rels/slide40.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96.svg"/><Relationship Id="rId3" Type="http://schemas.openxmlformats.org/officeDocument/2006/relationships/image" Target="../media/image29.svg"/><Relationship Id="rId7" Type="http://schemas.openxmlformats.org/officeDocument/2006/relationships/image" Target="../media/image33.png"/><Relationship Id="rId12" Type="http://schemas.openxmlformats.org/officeDocument/2006/relationships/image" Target="../media/image69.svg"/><Relationship Id="rId2" Type="http://schemas.openxmlformats.org/officeDocument/2006/relationships/notesSlide" Target="../notesSlides/notesSlide40.xml"/><Relationship Id="rId1" Type="http://schemas.openxmlformats.org/officeDocument/2006/relationships/slideLayout" Target="../slideLayouts/slideLayout22.xml"/><Relationship Id="rId6" Type="http://schemas.openxmlformats.org/officeDocument/2006/relationships/image" Target="../media/image32.svg"/><Relationship Id="rId11" Type="http://schemas.openxmlformats.org/officeDocument/2006/relationships/image" Target="../media/image68.svg"/><Relationship Id="rId5" Type="http://schemas.openxmlformats.org/officeDocument/2006/relationships/image" Target="../media/image31.svg"/><Relationship Id="rId10" Type="http://schemas.openxmlformats.org/officeDocument/2006/relationships/image" Target="../media/image67.svg"/><Relationship Id="rId4" Type="http://schemas.openxmlformats.org/officeDocument/2006/relationships/image" Target="../media/image30.svg"/><Relationship Id="rId9" Type="http://schemas.openxmlformats.org/officeDocument/2006/relationships/image" Target="../media/image66.svg"/><Relationship Id="rId14" Type="http://schemas.openxmlformats.org/officeDocument/2006/relationships/image" Target="../media/image97.svg"/></Relationships>
</file>

<file path=ppt/slides/_rels/slide41.xml.rels><?xml version="1.0" encoding="UTF-8" standalone="yes"?>
<Relationships xmlns="http://schemas.openxmlformats.org/package/2006/relationships"><Relationship Id="rId8" Type="http://schemas.openxmlformats.org/officeDocument/2006/relationships/image" Target="../media/image96.svg"/><Relationship Id="rId13" Type="http://schemas.openxmlformats.org/officeDocument/2006/relationships/image" Target="../media/image27.svg"/><Relationship Id="rId3" Type="http://schemas.openxmlformats.org/officeDocument/2006/relationships/image" Target="../media/image66.svg"/><Relationship Id="rId7" Type="http://schemas.openxmlformats.org/officeDocument/2006/relationships/image" Target="../media/image65.png"/><Relationship Id="rId12" Type="http://schemas.openxmlformats.org/officeDocument/2006/relationships/image" Target="../media/image79.svg"/><Relationship Id="rId17" Type="http://schemas.openxmlformats.org/officeDocument/2006/relationships/image" Target="../media/image101.svg"/><Relationship Id="rId2" Type="http://schemas.openxmlformats.org/officeDocument/2006/relationships/notesSlide" Target="../notesSlides/notesSlide41.xml"/><Relationship Id="rId16" Type="http://schemas.openxmlformats.org/officeDocument/2006/relationships/image" Target="../media/image100.svg"/><Relationship Id="rId1" Type="http://schemas.openxmlformats.org/officeDocument/2006/relationships/slideLayout" Target="../slideLayouts/slideLayout8.xml"/><Relationship Id="rId6" Type="http://schemas.openxmlformats.org/officeDocument/2006/relationships/image" Target="../media/image98.svg"/><Relationship Id="rId11" Type="http://schemas.openxmlformats.org/officeDocument/2006/relationships/image" Target="../media/image78.svg"/><Relationship Id="rId5" Type="http://schemas.openxmlformats.org/officeDocument/2006/relationships/image" Target="../media/image68.svg"/><Relationship Id="rId15" Type="http://schemas.openxmlformats.org/officeDocument/2006/relationships/image" Target="../media/image80.svg"/><Relationship Id="rId10" Type="http://schemas.openxmlformats.org/officeDocument/2006/relationships/image" Target="../media/image77.svg"/><Relationship Id="rId4" Type="http://schemas.openxmlformats.org/officeDocument/2006/relationships/image" Target="../media/image67.svg"/><Relationship Id="rId9" Type="http://schemas.openxmlformats.org/officeDocument/2006/relationships/image" Target="../media/image99.svg"/><Relationship Id="rId14" Type="http://schemas.openxmlformats.org/officeDocument/2006/relationships/image" Target="../media/image72.svg"/></Relationships>
</file>

<file path=ppt/slides/_rels/slide42.xml.rels><?xml version="1.0" encoding="UTF-8" standalone="yes"?>
<Relationships xmlns="http://schemas.openxmlformats.org/package/2006/relationships"><Relationship Id="rId3" Type="http://schemas.openxmlformats.org/officeDocument/2006/relationships/hyperlink" Target="https://go.microsoft.com/fwlink/?linkid=2356176" TargetMode="External"/><Relationship Id="rId2" Type="http://schemas.openxmlformats.org/officeDocument/2006/relationships/notesSlide" Target="../notesSlides/notesSlide42.xml"/><Relationship Id="rId1" Type="http://schemas.openxmlformats.org/officeDocument/2006/relationships/slideLayout" Target="../slideLayouts/slideLayout26.xml"/><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2" y="3552110"/>
            <a:ext cx="5686955" cy="1107996"/>
          </a:xfrm>
        </p:spPr>
        <p:txBody>
          <a:bodyPr/>
          <a:lstStyle/>
          <a:p>
            <a:pPr>
              <a:defRPr sz="3200"/>
            </a:pPr>
            <a:r>
              <a:rPr lang="it-IT" sz="3600" noProof="0" dirty="0"/>
              <a:t>Develop natural language solutions in Azure​</a:t>
            </a:r>
            <a:endParaRPr lang="en-US" sz="3600" noProof="0" dirty="0"/>
          </a:p>
        </p:txBody>
      </p:sp>
      <p:sp>
        <p:nvSpPr>
          <p:cNvPr id="3" name="Text Placeholder 2"/>
          <p:cNvSpPr>
            <a:spLocks noGrp="1"/>
          </p:cNvSpPr>
          <p:nvPr>
            <p:ph type="body" sz="quarter" idx="13"/>
          </p:nvPr>
        </p:nvSpPr>
        <p:spPr/>
        <p:txBody>
          <a:bodyPr/>
          <a:lstStyle/>
          <a:p>
            <a:r>
              <a:rPr lang="en-US" noProof="0" dirty="0"/>
              <a:t>June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9332"/>
          </a:xfrm>
          <a:prstGeom prst="rect">
            <a:avLst/>
          </a:prstGeom>
          <a:noFill/>
        </p:spPr>
        <p:txBody>
          <a:bodyPr wrap="square">
            <a:spAutoFit/>
          </a:bodyPr>
          <a:lstStyle/>
          <a:p>
            <a:r>
              <a:rPr lang="en-US" sz="1770" dirty="0">
                <a:solidFill>
                  <a:schemeClr val="accent2"/>
                </a:solidFill>
              </a:rPr>
              <a:t>https://aka.ms/mslearn-language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Artificial Intelligence workloads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Generative AI and Agents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077732" y="3805836"/>
            <a:ext cx="1686369"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Text and Language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52405" y="3805836"/>
            <a:ext cx="1678092"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32690" y="3805836"/>
            <a:ext cx="150092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Computer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080"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495070" y="3805836"/>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Information Extraction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dirty="0">
                        <a:ln>
                          <a:noFill/>
                        </a:ln>
                        <a:solidFill>
                          <a:prstClr val="white"/>
                        </a:solidFill>
                        <a:effectLst/>
                        <a:uLnTx/>
                        <a:uFillTx/>
                      </a:endParaRPr>
                    </a:p>
                  </p:txBody>
                </p:sp>
              </mc:Choice>
              <mc:Fallback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5" y="5458868"/>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ptos" panose="02110004020202020204"/>
                </a:rPr>
                <a:t>Machine Learning</a:t>
              </a:r>
            </a:p>
          </p:txBody>
        </p:sp>
      </p:gr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769057"/>
            <a:ext cx="6345239" cy="1231106"/>
          </a:xfrm>
        </p:spPr>
        <p:txBody>
          <a:bodyPr/>
          <a:lstStyle/>
          <a:p>
            <a:r>
              <a:rPr lang="en-US" noProof="0" dirty="0"/>
              <a:t>Analyze text with Azure Language in Foundry Tools</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3946"/>
          </a:xfrm>
          <a:prstGeom prst="rect">
            <a:avLst/>
          </a:prstGeom>
          <a:noFill/>
        </p:spPr>
        <p:txBody>
          <a:bodyPr wrap="square">
            <a:spAutoFit/>
          </a:bodyPr>
          <a:lstStyle/>
          <a:p>
            <a:r>
              <a:rPr lang="en-US" dirty="0">
                <a:solidFill>
                  <a:schemeClr val="accent2"/>
                </a:solidFill>
              </a:rPr>
              <a:t>https://aka.ms/mslearn-analyze-text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0" y="585216"/>
            <a:ext cx="8861793" cy="492443"/>
          </a:xfrm>
        </p:spPr>
        <p:txBody>
          <a:bodyPr/>
          <a:lstStyle/>
          <a:p>
            <a:r>
              <a:rPr lang="en-US" dirty="0"/>
              <a:t>Azure Language in Foundry Tools</a:t>
            </a:r>
          </a:p>
        </p:txBody>
      </p:sp>
      <p:sp>
        <p:nvSpPr>
          <p:cNvPr id="5" name="Text Placeholder 4">
            <a:extLst>
              <a:ext uri="{FF2B5EF4-FFF2-40B4-BE49-F238E27FC236}">
                <a16:creationId xmlns:a16="http://schemas.microsoft.com/office/drawing/2014/main" id="{0616B650-0E57-FB88-A571-F39976BD5D3B}"/>
              </a:ext>
            </a:extLst>
          </p:cNvPr>
          <p:cNvSpPr>
            <a:spLocks noGrp="1"/>
          </p:cNvSpPr>
          <p:nvPr>
            <p:ph type="body" sz="quarter" idx="16"/>
          </p:nvPr>
        </p:nvSpPr>
        <p:spPr>
          <a:xfrm>
            <a:off x="584199" y="2604304"/>
            <a:ext cx="6703305" cy="2621614"/>
          </a:xfrm>
        </p:spPr>
        <p:txBody>
          <a:bodyPr/>
          <a:lstStyle/>
          <a:p>
            <a:pPr marL="0" lvl="1" indent="0">
              <a:spcBef>
                <a:spcPts val="1200"/>
              </a:spcBef>
              <a:buNone/>
            </a:pPr>
            <a:r>
              <a:rPr lang="en-US" sz="2400" dirty="0">
                <a:latin typeface="+mj-lt"/>
              </a:rPr>
              <a:t>Prebuilt models for:</a:t>
            </a:r>
          </a:p>
          <a:p>
            <a:pPr marL="339725" lvl="2" indent="-231775">
              <a:spcBef>
                <a:spcPts val="600"/>
              </a:spcBef>
              <a:spcAft>
                <a:spcPts val="400"/>
              </a:spcAft>
              <a:buSzPct val="100000"/>
            </a:pPr>
            <a:r>
              <a:rPr lang="en-US" sz="2400" dirty="0"/>
              <a:t>Language detection</a:t>
            </a:r>
          </a:p>
          <a:p>
            <a:pPr marL="339725" lvl="2" indent="-231775">
              <a:spcBef>
                <a:spcPts val="200"/>
              </a:spcBef>
              <a:spcAft>
                <a:spcPts val="400"/>
              </a:spcAft>
              <a:buSzPct val="100000"/>
            </a:pPr>
            <a:r>
              <a:rPr lang="en-US" sz="2400" dirty="0"/>
              <a:t>Named entity recognition</a:t>
            </a:r>
          </a:p>
          <a:p>
            <a:pPr marL="339725" lvl="2" indent="-231775">
              <a:spcBef>
                <a:spcPts val="200"/>
              </a:spcBef>
              <a:spcAft>
                <a:spcPts val="400"/>
              </a:spcAft>
              <a:buSzPct val="100000"/>
            </a:pPr>
            <a:r>
              <a:rPr lang="en-US" sz="2400" dirty="0"/>
              <a:t>PII detection</a:t>
            </a:r>
          </a:p>
          <a:p>
            <a:pPr marL="339725" lvl="2" indent="-231775">
              <a:spcBef>
                <a:spcPts val="200"/>
              </a:spcBef>
              <a:spcAft>
                <a:spcPts val="400"/>
              </a:spcAft>
              <a:buSzPct val="100000"/>
            </a:pPr>
            <a:endParaRPr lang="en-US" sz="2000" dirty="0"/>
          </a:p>
          <a:p>
            <a:pPr marL="339725" lvl="2" indent="-231775">
              <a:spcBef>
                <a:spcPts val="200"/>
              </a:spcBef>
              <a:spcAft>
                <a:spcPts val="400"/>
              </a:spcAft>
              <a:buSzPct val="100000"/>
            </a:pPr>
            <a:endParaRPr lang="en-US" sz="2000" dirty="0"/>
          </a:p>
          <a:p>
            <a:pPr marL="107950" lvl="2" indent="0">
              <a:spcBef>
                <a:spcPts val="200"/>
              </a:spcBef>
              <a:spcAft>
                <a:spcPts val="400"/>
              </a:spcAft>
              <a:buSzPct val="100000"/>
              <a:buNone/>
            </a:pPr>
            <a:endParaRPr lang="en-US" sz="2000" dirty="0"/>
          </a:p>
          <a:p>
            <a:pPr marL="107950" lvl="2" indent="0">
              <a:spcBef>
                <a:spcPts val="200"/>
              </a:spcBef>
              <a:spcAft>
                <a:spcPts val="400"/>
              </a:spcAft>
              <a:buSzPct val="100000"/>
              <a:buNone/>
            </a:pPr>
            <a:endParaRPr lang="en-US" sz="2000" dirty="0"/>
          </a:p>
          <a:p>
            <a:pPr marL="107950" lvl="2" indent="0">
              <a:spcBef>
                <a:spcPts val="200"/>
              </a:spcBef>
              <a:spcAft>
                <a:spcPts val="400"/>
              </a:spcAft>
              <a:buSzPct val="100000"/>
              <a:buNone/>
            </a:pPr>
            <a:endParaRPr lang="en-US" sz="2000" dirty="0"/>
          </a:p>
        </p:txBody>
      </p:sp>
      <p:sp>
        <p:nvSpPr>
          <p:cNvPr id="3" name="Footer Placeholder 2">
            <a:extLst>
              <a:ext uri="{FF2B5EF4-FFF2-40B4-BE49-F238E27FC236}">
                <a16:creationId xmlns:a16="http://schemas.microsoft.com/office/drawing/2014/main" id="{483FBBAD-E9A6-CF01-E9B8-F55935BB3032}"/>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grpSp>
        <p:nvGrpSpPr>
          <p:cNvPr id="12" name="Group 11">
            <a:extLst>
              <a:ext uri="{FF2B5EF4-FFF2-40B4-BE49-F238E27FC236}">
                <a16:creationId xmlns:a16="http://schemas.microsoft.com/office/drawing/2014/main" id="{4C20E227-719C-DBE9-4BD3-FE7B29D91AF9}"/>
              </a:ext>
            </a:extLst>
          </p:cNvPr>
          <p:cNvGrpSpPr/>
          <p:nvPr/>
        </p:nvGrpSpPr>
        <p:grpSpPr>
          <a:xfrm>
            <a:off x="5374104" y="1409889"/>
            <a:ext cx="6305665" cy="4833141"/>
            <a:chOff x="5352333" y="1379529"/>
            <a:chExt cx="6305665" cy="4833141"/>
          </a:xfrm>
        </p:grpSpPr>
        <p:grpSp>
          <p:nvGrpSpPr>
            <p:cNvPr id="6" name="Group 5" descr="Diagram showing Azure AI Language features.">
              <a:extLst>
                <a:ext uri="{FF2B5EF4-FFF2-40B4-BE49-F238E27FC236}">
                  <a16:creationId xmlns:a16="http://schemas.microsoft.com/office/drawing/2014/main" id="{94409C27-2623-95C8-B41A-66CBFA45D50C}"/>
                </a:ext>
              </a:extLst>
            </p:cNvPr>
            <p:cNvGrpSpPr/>
            <p:nvPr/>
          </p:nvGrpSpPr>
          <p:grpSpPr>
            <a:xfrm>
              <a:off x="5352333" y="1379529"/>
              <a:ext cx="6305665" cy="4833141"/>
              <a:chOff x="5352333" y="1379529"/>
              <a:chExt cx="6305665" cy="4833141"/>
            </a:xfrm>
          </p:grpSpPr>
          <p:sp>
            <p:nvSpPr>
              <p:cNvPr id="11" name="TextBox 10">
                <a:extLst>
                  <a:ext uri="{FF2B5EF4-FFF2-40B4-BE49-F238E27FC236}">
                    <a16:creationId xmlns:a16="http://schemas.microsoft.com/office/drawing/2014/main" id="{19F8348E-F560-4748-A41D-EA6A11876871}"/>
                  </a:ext>
                </a:extLst>
              </p:cNvPr>
              <p:cNvSpPr txBox="1"/>
              <p:nvPr/>
            </p:nvSpPr>
            <p:spPr>
              <a:xfrm>
                <a:off x="5352333" y="4252382"/>
                <a:ext cx="2230419" cy="489365"/>
              </a:xfrm>
              <a:prstGeom prst="rect">
                <a:avLst/>
              </a:prstGeom>
              <a:noFill/>
            </p:spPr>
            <p:txBody>
              <a:bodyPr wrap="none" lIns="182880" tIns="146304" rIns="182880" bIns="146304" rtlCol="0">
                <a:spAutoFit/>
              </a:bodyPr>
              <a:lstStyle/>
              <a:p>
                <a:pPr>
                  <a:lnSpc>
                    <a:spcPct val="90000"/>
                  </a:lnSpc>
                  <a:spcAft>
                    <a:spcPts val="600"/>
                  </a:spcAft>
                </a:pPr>
                <a:r>
                  <a:rPr lang="en-US" sz="1400" b="1" dirty="0"/>
                  <a:t>Language</a:t>
                </a:r>
                <a:r>
                  <a:rPr lang="en-US" sz="1400" dirty="0"/>
                  <a:t>=English (</a:t>
                </a:r>
                <a:r>
                  <a:rPr lang="en-US" sz="1400" dirty="0" err="1"/>
                  <a:t>en</a:t>
                </a:r>
                <a:r>
                  <a:rPr lang="en-US" sz="1400" dirty="0"/>
                  <a:t>)</a:t>
                </a:r>
              </a:p>
            </p:txBody>
          </p:sp>
          <p:cxnSp>
            <p:nvCxnSpPr>
              <p:cNvPr id="4" name="Straight Arrow Connector 3">
                <a:extLst>
                  <a:ext uri="{FF2B5EF4-FFF2-40B4-BE49-F238E27FC236}">
                    <a16:creationId xmlns:a16="http://schemas.microsoft.com/office/drawing/2014/main" id="{12A58C78-9536-499A-84B9-BE330F4EAB00}"/>
                  </a:ext>
                </a:extLst>
              </p:cNvPr>
              <p:cNvCxnSpPr>
                <a:cxnSpLocks/>
              </p:cNvCxnSpPr>
              <p:nvPr/>
            </p:nvCxnSpPr>
            <p:spPr>
              <a:xfrm flipV="1">
                <a:off x="8536371" y="4396846"/>
                <a:ext cx="1" cy="505163"/>
              </a:xfrm>
              <a:prstGeom prst="straightConnector1">
                <a:avLst/>
              </a:prstGeom>
              <a:ln w="38100">
                <a:solidFill>
                  <a:schemeClr val="bg1">
                    <a:lumMod val="50000"/>
                  </a:schemeClr>
                </a:solidFill>
                <a:headEnd type="none"/>
                <a:tailEnd type="triangle" w="med" len="sm"/>
              </a:ln>
            </p:spPr>
            <p:style>
              <a:lnRef idx="1">
                <a:schemeClr val="accent1"/>
              </a:lnRef>
              <a:fillRef idx="0">
                <a:schemeClr val="accent1"/>
              </a:fillRef>
              <a:effectRef idx="0">
                <a:schemeClr val="accent1"/>
              </a:effectRef>
              <a:fontRef idx="minor">
                <a:schemeClr val="tx1"/>
              </a:fontRef>
            </p:style>
          </p:cxnSp>
          <p:pic>
            <p:nvPicPr>
              <p:cNvPr id="7" name="Graphic 6" descr="Document outline">
                <a:extLst>
                  <a:ext uri="{FF2B5EF4-FFF2-40B4-BE49-F238E27FC236}">
                    <a16:creationId xmlns:a16="http://schemas.microsoft.com/office/drawing/2014/main" id="{BBB46B63-2CF5-4E1C-9C1B-16C0E9F509C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943574" y="4932179"/>
                <a:ext cx="1280491" cy="1280491"/>
              </a:xfrm>
              <a:prstGeom prst="rect">
                <a:avLst/>
              </a:prstGeom>
            </p:spPr>
          </p:pic>
          <p:sp>
            <p:nvSpPr>
              <p:cNvPr id="25" name="TextBox 24">
                <a:extLst>
                  <a:ext uri="{FF2B5EF4-FFF2-40B4-BE49-F238E27FC236}">
                    <a16:creationId xmlns:a16="http://schemas.microsoft.com/office/drawing/2014/main" id="{ED839E4E-5A7E-453D-AD2C-CB12C1C74CC7}"/>
                  </a:ext>
                </a:extLst>
              </p:cNvPr>
              <p:cNvSpPr txBox="1"/>
              <p:nvPr/>
            </p:nvSpPr>
            <p:spPr>
              <a:xfrm>
                <a:off x="5909816" y="1379529"/>
                <a:ext cx="2626555" cy="1148007"/>
              </a:xfrm>
              <a:prstGeom prst="rect">
                <a:avLst/>
              </a:prstGeom>
              <a:noFill/>
            </p:spPr>
            <p:txBody>
              <a:bodyPr wrap="square" lIns="182880" tIns="146304" rIns="182880" bIns="146304" rtlCol="0">
                <a:spAutoFit/>
              </a:bodyPr>
              <a:lstStyle/>
              <a:p>
                <a:pPr>
                  <a:lnSpc>
                    <a:spcPct val="90000"/>
                  </a:lnSpc>
                  <a:spcAft>
                    <a:spcPts val="600"/>
                  </a:spcAft>
                </a:pPr>
                <a:r>
                  <a:rPr lang="en-US" sz="1400" b="1" dirty="0"/>
                  <a:t>Entities</a:t>
                </a:r>
                <a:r>
                  <a:rPr lang="en-US" sz="1400" dirty="0"/>
                  <a:t>:</a:t>
                </a:r>
              </a:p>
              <a:p>
                <a:pPr>
                  <a:lnSpc>
                    <a:spcPct val="90000"/>
                  </a:lnSpc>
                </a:pPr>
                <a:r>
                  <a:rPr lang="sv-SE" sz="1400" dirty="0"/>
                  <a:t>John Smith (person)</a:t>
                </a:r>
              </a:p>
              <a:p>
                <a:pPr>
                  <a:lnSpc>
                    <a:spcPct val="90000"/>
                  </a:lnSpc>
                </a:pPr>
                <a:r>
                  <a:rPr lang="sv-SE" sz="1400" dirty="0"/>
                  <a:t>Contoso Bank (organization)</a:t>
                </a:r>
              </a:p>
              <a:p>
                <a:pPr>
                  <a:lnSpc>
                    <a:spcPct val="90000"/>
                  </a:lnSpc>
                </a:pPr>
                <a:r>
                  <a:rPr lang="sv-SE" sz="1400" dirty="0"/>
                  <a:t>Seattle (place)</a:t>
                </a:r>
              </a:p>
            </p:txBody>
          </p:sp>
          <p:cxnSp>
            <p:nvCxnSpPr>
              <p:cNvPr id="26" name="Straight Arrow Connector 25">
                <a:extLst>
                  <a:ext uri="{FF2B5EF4-FFF2-40B4-BE49-F238E27FC236}">
                    <a16:creationId xmlns:a16="http://schemas.microsoft.com/office/drawing/2014/main" id="{3DB51C3A-21B6-4AA1-9CE7-4475BAAD0542}"/>
                  </a:ext>
                </a:extLst>
              </p:cNvPr>
              <p:cNvCxnSpPr>
                <a:cxnSpLocks/>
              </p:cNvCxnSpPr>
              <p:nvPr/>
            </p:nvCxnSpPr>
            <p:spPr>
              <a:xfrm flipH="1">
                <a:off x="6896610" y="4066805"/>
                <a:ext cx="925828" cy="225943"/>
              </a:xfrm>
              <a:prstGeom prst="straightConnector1">
                <a:avLst/>
              </a:prstGeom>
              <a:ln w="38100">
                <a:solidFill>
                  <a:schemeClr val="bg1">
                    <a:lumMod val="50000"/>
                  </a:schemeClr>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8080F88-8710-4F7F-A5FC-53C68225694F}"/>
                  </a:ext>
                </a:extLst>
              </p:cNvPr>
              <p:cNvCxnSpPr>
                <a:cxnSpLocks/>
              </p:cNvCxnSpPr>
              <p:nvPr/>
            </p:nvCxnSpPr>
            <p:spPr>
              <a:xfrm flipH="1" flipV="1">
                <a:off x="7362717" y="2573944"/>
                <a:ext cx="670116" cy="589126"/>
              </a:xfrm>
              <a:prstGeom prst="straightConnector1">
                <a:avLst/>
              </a:prstGeom>
              <a:ln w="38100">
                <a:solidFill>
                  <a:schemeClr val="bg1">
                    <a:lumMod val="50000"/>
                  </a:schemeClr>
                </a:solidFill>
                <a:headEnd type="none"/>
                <a:tailEnd type="triangle" w="med"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CC02B80-8987-5FB5-0DA6-B770E4C05B3C}"/>
                  </a:ext>
                </a:extLst>
              </p:cNvPr>
              <p:cNvSpPr txBox="1"/>
              <p:nvPr/>
            </p:nvSpPr>
            <p:spPr>
              <a:xfrm>
                <a:off x="9969394" y="2836597"/>
                <a:ext cx="1688604" cy="1341906"/>
              </a:xfrm>
              <a:prstGeom prst="rect">
                <a:avLst/>
              </a:prstGeom>
              <a:noFill/>
            </p:spPr>
            <p:txBody>
              <a:bodyPr wrap="none" lIns="182880" tIns="146304" rIns="182880" bIns="146304" rtlCol="0">
                <a:spAutoFit/>
              </a:bodyPr>
              <a:lstStyle/>
              <a:p>
                <a:pPr>
                  <a:lnSpc>
                    <a:spcPct val="90000"/>
                  </a:lnSpc>
                  <a:spcAft>
                    <a:spcPts val="600"/>
                  </a:spcAft>
                </a:pPr>
                <a:r>
                  <a:rPr lang="en-US" sz="1400" b="1" dirty="0"/>
                  <a:t>PII</a:t>
                </a:r>
                <a:r>
                  <a:rPr lang="en-US" sz="1400" dirty="0"/>
                  <a:t>:</a:t>
                </a:r>
              </a:p>
              <a:p>
                <a:pPr>
                  <a:lnSpc>
                    <a:spcPct val="90000"/>
                  </a:lnSpc>
                </a:pPr>
                <a:r>
                  <a:rPr lang="en-US" sz="1400" dirty="0"/>
                  <a:t>Person</a:t>
                </a:r>
              </a:p>
              <a:p>
                <a:pPr>
                  <a:lnSpc>
                    <a:spcPct val="90000"/>
                  </a:lnSpc>
                </a:pPr>
                <a:r>
                  <a:rPr lang="en-US" sz="1400" dirty="0"/>
                  <a:t>Account number</a:t>
                </a:r>
              </a:p>
              <a:p>
                <a:pPr>
                  <a:lnSpc>
                    <a:spcPct val="90000"/>
                  </a:lnSpc>
                </a:pPr>
                <a:r>
                  <a:rPr lang="en-US" sz="1400" dirty="0"/>
                  <a:t>Email address</a:t>
                </a:r>
              </a:p>
              <a:p>
                <a:pPr>
                  <a:lnSpc>
                    <a:spcPct val="90000"/>
                  </a:lnSpc>
                </a:pPr>
                <a:r>
                  <a:rPr lang="en-US" sz="1400" dirty="0"/>
                  <a:t>Phone number</a:t>
                </a:r>
              </a:p>
            </p:txBody>
          </p:sp>
          <p:cxnSp>
            <p:nvCxnSpPr>
              <p:cNvPr id="42" name="Straight Arrow Connector 41">
                <a:extLst>
                  <a:ext uri="{FF2B5EF4-FFF2-40B4-BE49-F238E27FC236}">
                    <a16:creationId xmlns:a16="http://schemas.microsoft.com/office/drawing/2014/main" id="{6D846A64-366B-5F38-421D-EEBD55A3E9BA}"/>
                  </a:ext>
                </a:extLst>
              </p:cNvPr>
              <p:cNvCxnSpPr>
                <a:cxnSpLocks/>
                <a:endCxn id="41" idx="1"/>
              </p:cNvCxnSpPr>
              <p:nvPr/>
            </p:nvCxnSpPr>
            <p:spPr>
              <a:xfrm flipV="1">
                <a:off x="9173190" y="3507550"/>
                <a:ext cx="796204" cy="66832"/>
              </a:xfrm>
              <a:prstGeom prst="straightConnector1">
                <a:avLst/>
              </a:prstGeom>
              <a:ln w="38100">
                <a:solidFill>
                  <a:schemeClr val="bg1">
                    <a:lumMod val="50000"/>
                  </a:schemeClr>
                </a:solidFill>
                <a:headEnd type="none"/>
                <a:tailEnd type="triangle" w="med" len="sm"/>
              </a:ln>
            </p:spPr>
            <p:style>
              <a:lnRef idx="1">
                <a:schemeClr val="accent1"/>
              </a:lnRef>
              <a:fillRef idx="0">
                <a:schemeClr val="accent1"/>
              </a:fillRef>
              <a:effectRef idx="0">
                <a:schemeClr val="accent1"/>
              </a:effectRef>
              <a:fontRef idx="minor">
                <a:schemeClr val="tx1"/>
              </a:fontRef>
            </p:style>
          </p:cxnSp>
        </p:grpSp>
        <p:pic>
          <p:nvPicPr>
            <p:cNvPr id="10" name="Picture 9" descr="A blue square with a black square&#10;&#10;AI-generated content may be incorrect.">
              <a:extLst>
                <a:ext uri="{FF2B5EF4-FFF2-40B4-BE49-F238E27FC236}">
                  <a16:creationId xmlns:a16="http://schemas.microsoft.com/office/drawing/2014/main" id="{97F9B897-F7C3-7AC2-959A-6A64E1C397C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793147" y="3053373"/>
              <a:ext cx="1430918" cy="1430918"/>
            </a:xfrm>
            <a:prstGeom prst="rect">
              <a:avLst/>
            </a:prstGeom>
          </p:spPr>
        </p:pic>
      </p:grpSp>
    </p:spTree>
    <p:extLst>
      <p:ext uri="{BB962C8B-B14F-4D97-AF65-F5344CB8AC3E}">
        <p14:creationId xmlns:p14="http://schemas.microsoft.com/office/powerpoint/2010/main" val="224222934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lstStyle/>
          <a:p>
            <a:r>
              <a:rPr lang="en-US" sz="3200" dirty="0"/>
              <a:t>Using the Text Analytics API</a:t>
            </a:r>
          </a:p>
        </p:txBody>
      </p:sp>
      <p:sp>
        <p:nvSpPr>
          <p:cNvPr id="1035" name="TextBox 1034">
            <a:extLst>
              <a:ext uri="{FF2B5EF4-FFF2-40B4-BE49-F238E27FC236}">
                <a16:creationId xmlns:a16="http://schemas.microsoft.com/office/drawing/2014/main" id="{873755CD-D014-8765-7E23-549F6023E32B}"/>
              </a:ext>
              <a:ext uri="{C183D7F6-B498-43B3-948B-1728B52AA6E4}">
                <adec:decorative xmlns:adec="http://schemas.microsoft.com/office/drawing/2017/decorative" val="0"/>
              </a:ext>
            </a:extLst>
          </p:cNvPr>
          <p:cNvSpPr txBox="1"/>
          <p:nvPr/>
        </p:nvSpPr>
        <p:spPr>
          <a:xfrm>
            <a:off x="598899" y="1699451"/>
            <a:ext cx="5837530" cy="4031873"/>
          </a:xfrm>
          <a:prstGeom prst="rect">
            <a:avLst/>
          </a:prstGeom>
          <a:noFill/>
        </p:spPr>
        <p:txBody>
          <a:bodyPr wrap="square">
            <a:spAutoFit/>
          </a:bodyPr>
          <a:lstStyle/>
          <a:p>
            <a:pPr marL="457200" indent="-457200" algn="l">
              <a:spcAft>
                <a:spcPts val="600"/>
              </a:spcAft>
              <a:buClr>
                <a:schemeClr val="accent2">
                  <a:lumMod val="75000"/>
                </a:schemeClr>
              </a:buClr>
              <a:buFont typeface="+mj-lt"/>
              <a:buAutoNum type="arabicPeriod"/>
            </a:pPr>
            <a:r>
              <a:rPr lang="en-US" sz="2200" i="0" dirty="0">
                <a:solidFill>
                  <a:srgbClr val="161616"/>
                </a:solidFill>
                <a:effectLst/>
                <a:latin typeface="Segoe UI" panose="020B0502040204020203" pitchFamily="34" charset="0"/>
              </a:rPr>
              <a:t>Connect to the API</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Endpoint:</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Foundry resource*</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Credentials:</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Foundry project API key</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Entra ID</a:t>
            </a:r>
          </a:p>
          <a:p>
            <a:pPr marL="457200" indent="-457200">
              <a:spcAft>
                <a:spcPts val="600"/>
              </a:spcAft>
              <a:buClr>
                <a:schemeClr val="accent2">
                  <a:lumMod val="75000"/>
                </a:schemeClr>
              </a:buClr>
              <a:buFont typeface="+mj-lt"/>
              <a:buAutoNum type="arabicPeriod"/>
            </a:pPr>
            <a:r>
              <a:rPr lang="en-US" sz="2000" dirty="0">
                <a:solidFill>
                  <a:srgbClr val="161616"/>
                </a:solidFill>
                <a:latin typeface="Segoe UI" panose="020B0502040204020203" pitchFamily="34" charset="0"/>
              </a:rPr>
              <a:t>Use a </a:t>
            </a:r>
            <a:r>
              <a:rPr lang="en-US" sz="2000" i="1" dirty="0" err="1">
                <a:solidFill>
                  <a:srgbClr val="161616"/>
                </a:solidFill>
                <a:latin typeface="Segoe UI" panose="020B0502040204020203" pitchFamily="34" charset="0"/>
              </a:rPr>
              <a:t>TextAnalyticsClient</a:t>
            </a:r>
            <a:r>
              <a:rPr lang="en-US" sz="2000" dirty="0">
                <a:solidFill>
                  <a:srgbClr val="161616"/>
                </a:solidFill>
                <a:latin typeface="Segoe UI" panose="020B0502040204020203" pitchFamily="34" charset="0"/>
              </a:rPr>
              <a:t> to call the appropriate function for your task</a:t>
            </a:r>
          </a:p>
          <a:p>
            <a:pPr marL="914383" lvl="1" indent="-457200">
              <a:spcAft>
                <a:spcPts val="600"/>
              </a:spcAft>
              <a:buClr>
                <a:schemeClr val="accent2">
                  <a:lumMod val="75000"/>
                </a:schemeClr>
              </a:buClr>
              <a:buFont typeface="Arial" panose="020B0604020202020204" pitchFamily="34" charset="0"/>
              <a:buChar char="•"/>
            </a:pPr>
            <a:r>
              <a:rPr lang="en-US" sz="2000" b="1" i="0" dirty="0">
                <a:solidFill>
                  <a:srgbClr val="161616"/>
                </a:solidFill>
                <a:effectLst/>
                <a:latin typeface="Segoe UI" panose="020B0502040204020203" pitchFamily="34" charset="0"/>
              </a:rPr>
              <a:t>Request</a:t>
            </a:r>
            <a:r>
              <a:rPr lang="en-US" sz="2000" b="0" i="0" dirty="0">
                <a:solidFill>
                  <a:srgbClr val="161616"/>
                </a:solidFill>
                <a:effectLst/>
                <a:latin typeface="Segoe UI" panose="020B0502040204020203" pitchFamily="34" charset="0"/>
              </a:rPr>
              <a:t>: One or more text documents</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Response</a:t>
            </a:r>
            <a:r>
              <a:rPr lang="en-US" sz="2000" dirty="0">
                <a:solidFill>
                  <a:srgbClr val="161616"/>
                </a:solidFill>
                <a:latin typeface="Segoe UI" panose="020B0502040204020203" pitchFamily="34" charset="0"/>
              </a:rPr>
              <a:t>: Task-specific collection of results (one per document)</a:t>
            </a:r>
            <a:endParaRPr lang="en-US" sz="2000" b="1" i="0" dirty="0">
              <a:solidFill>
                <a:srgbClr val="161616"/>
              </a:solidFill>
              <a:effectLst/>
              <a:latin typeface="Segoe UI" panose="020B0502040204020203" pitchFamily="34" charset="0"/>
            </a:endParaRPr>
          </a:p>
        </p:txBody>
      </p:sp>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grpSp>
        <p:nvGrpSpPr>
          <p:cNvPr id="3" name="Group 2">
            <a:extLst>
              <a:ext uri="{FF2B5EF4-FFF2-40B4-BE49-F238E27FC236}">
                <a16:creationId xmlns:a16="http://schemas.microsoft.com/office/drawing/2014/main" id="{79C9FF9F-95A1-E4BC-B387-A994F17EF595}"/>
              </a:ext>
            </a:extLst>
          </p:cNvPr>
          <p:cNvGrpSpPr/>
          <p:nvPr/>
        </p:nvGrpSpPr>
        <p:grpSpPr>
          <a:xfrm>
            <a:off x="6792698" y="822203"/>
            <a:ext cx="4981297" cy="5210854"/>
            <a:chOff x="6792698" y="822203"/>
            <a:chExt cx="4981297" cy="5210854"/>
          </a:xfrm>
        </p:grpSpPr>
        <p:sp>
          <p:nvSpPr>
            <p:cNvPr id="1027" name="Rectangle 1026">
              <a:extLst>
                <a:ext uri="{FF2B5EF4-FFF2-40B4-BE49-F238E27FC236}">
                  <a16:creationId xmlns:a16="http://schemas.microsoft.com/office/drawing/2014/main" id="{A2D73389-E155-8510-B125-B69AF25AAEF7}"/>
                </a:ext>
              </a:extLst>
            </p:cNvPr>
            <p:cNvSpPr/>
            <p:nvPr/>
          </p:nvSpPr>
          <p:spPr bwMode="auto">
            <a:xfrm>
              <a:off x="10475395" y="4470400"/>
              <a:ext cx="174516" cy="312052"/>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38" name="Graphic 1037">
              <a:extLst>
                <a:ext uri="{FF2B5EF4-FFF2-40B4-BE49-F238E27FC236}">
                  <a16:creationId xmlns:a16="http://schemas.microsoft.com/office/drawing/2014/main" id="{F4BFDD79-51F6-5732-F50B-66F070B3F12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1863" y="2312393"/>
              <a:ext cx="515253" cy="541764"/>
            </a:xfrm>
            <a:prstGeom prst="rect">
              <a:avLst/>
            </a:prstGeom>
          </p:spPr>
        </p:pic>
        <p:sp>
          <p:nvSpPr>
            <p:cNvPr id="1041" name="TextBox 1040">
              <a:extLst>
                <a:ext uri="{FF2B5EF4-FFF2-40B4-BE49-F238E27FC236}">
                  <a16:creationId xmlns:a16="http://schemas.microsoft.com/office/drawing/2014/main" id="{8C144538-9D97-0CE0-5A85-A6F5C3669101}"/>
                </a:ext>
              </a:extLst>
            </p:cNvPr>
            <p:cNvSpPr txBox="1"/>
            <p:nvPr/>
          </p:nvSpPr>
          <p:spPr>
            <a:xfrm>
              <a:off x="6792698" y="2114069"/>
              <a:ext cx="713587" cy="218822"/>
            </a:xfrm>
            <a:prstGeom prst="rect">
              <a:avLst/>
            </a:prstGeom>
            <a:noFill/>
          </p:spPr>
          <p:txBody>
            <a:bodyPr wrap="none" lIns="0" tIns="0" rIns="0" bIns="0" rtlCol="0">
              <a:spAutoFit/>
            </a:bodyPr>
            <a:lstStyle/>
            <a:p>
              <a:pPr algn="l"/>
              <a:r>
                <a:rPr lang="en-US" sz="1200" dirty="0">
                  <a:latin typeface="+mj-lt"/>
                </a:rPr>
                <a:t>Endpoint</a:t>
              </a:r>
            </a:p>
          </p:txBody>
        </p:sp>
        <p:sp>
          <p:nvSpPr>
            <p:cNvPr id="1040" name="TextBox 1039">
              <a:extLst>
                <a:ext uri="{FF2B5EF4-FFF2-40B4-BE49-F238E27FC236}">
                  <a16:creationId xmlns:a16="http://schemas.microsoft.com/office/drawing/2014/main" id="{539C78AA-C634-8CF6-9110-C4CC9ADD69BC}"/>
                </a:ext>
                <a:ext uri="{C183D7F6-B498-43B3-948B-1728B52AA6E4}">
                  <adec:decorative xmlns:adec="http://schemas.microsoft.com/office/drawing/2017/decorative" val="0"/>
                </a:ext>
              </a:extLst>
            </p:cNvPr>
            <p:cNvSpPr txBox="1"/>
            <p:nvPr/>
          </p:nvSpPr>
          <p:spPr>
            <a:xfrm>
              <a:off x="7352906" y="2396929"/>
              <a:ext cx="4421089" cy="338554"/>
            </a:xfrm>
            <a:prstGeom prst="rect">
              <a:avLst/>
            </a:prstGeom>
            <a:noFill/>
          </p:spPr>
          <p:txBody>
            <a:bodyPr wrap="square">
              <a:spAutoFit/>
            </a:bodyPr>
            <a:lstStyle/>
            <a:p>
              <a:r>
                <a:rPr lang="en-US" sz="1600" b="0" i="1" dirty="0">
                  <a:solidFill>
                    <a:srgbClr val="161616"/>
                  </a:solidFill>
                  <a:effectLst/>
                  <a:latin typeface="SFMono-Regular"/>
                </a:rPr>
                <a:t>https://{foundry_resource}.services.ai.azure.com/</a:t>
              </a:r>
              <a:endParaRPr lang="en-US" sz="1600" i="1" dirty="0"/>
            </a:p>
          </p:txBody>
        </p:sp>
        <p:cxnSp>
          <p:nvCxnSpPr>
            <p:cNvPr id="1059" name="Straight Arrow Connector 1048">
              <a:extLst>
                <a:ext uri="{FF2B5EF4-FFF2-40B4-BE49-F238E27FC236}">
                  <a16:creationId xmlns:a16="http://schemas.microsoft.com/office/drawing/2014/main" id="{924C549C-38F7-EA6C-6E5B-29673A5CEE5C}"/>
                </a:ext>
              </a:extLst>
            </p:cNvPr>
            <p:cNvCxnSpPr>
              <a:cxnSpLocks/>
              <a:stCxn id="1047" idx="3"/>
              <a:endCxn id="1040" idx="2"/>
            </p:cNvCxnSpPr>
            <p:nvPr/>
          </p:nvCxnSpPr>
          <p:spPr>
            <a:xfrm flipV="1">
              <a:off x="9087514" y="2735483"/>
              <a:ext cx="475937" cy="1819688"/>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259FEEB2-DCD6-E3CB-6273-B80ED7092D12}"/>
                </a:ext>
              </a:extLst>
            </p:cNvPr>
            <p:cNvGrpSpPr/>
            <p:nvPr/>
          </p:nvGrpSpPr>
          <p:grpSpPr>
            <a:xfrm>
              <a:off x="8924092" y="4616349"/>
              <a:ext cx="1347382" cy="1416708"/>
              <a:chOff x="9069933" y="5258633"/>
              <a:chExt cx="1030507" cy="1083527"/>
            </a:xfrm>
          </p:grpSpPr>
          <p:sp>
            <p:nvSpPr>
              <p:cNvPr id="50" name="Rectangle: Top Corners Snipped 49">
                <a:extLst>
                  <a:ext uri="{FF2B5EF4-FFF2-40B4-BE49-F238E27FC236}">
                    <a16:creationId xmlns:a16="http://schemas.microsoft.com/office/drawing/2014/main" id="{1B0307C0-232D-6008-0C11-4D783D0B52E2}"/>
                  </a:ext>
                </a:extLst>
              </p:cNvPr>
              <p:cNvSpPr/>
              <p:nvPr/>
            </p:nvSpPr>
            <p:spPr bwMode="auto">
              <a:xfrm>
                <a:off x="9246530" y="5820280"/>
                <a:ext cx="681208" cy="382092"/>
              </a:xfrm>
              <a:prstGeom prst="snip2SameRect">
                <a:avLst>
                  <a:gd name="adj1" fmla="val 50000"/>
                  <a:gd name="adj2" fmla="val 0"/>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2" name="Rectangle 61">
                <a:extLst>
                  <a:ext uri="{FF2B5EF4-FFF2-40B4-BE49-F238E27FC236}">
                    <a16:creationId xmlns:a16="http://schemas.microsoft.com/office/drawing/2014/main" id="{F1B86F8E-DBFE-9437-00BE-1C5065C50B81}"/>
                  </a:ext>
                </a:extLst>
              </p:cNvPr>
              <p:cNvSpPr/>
              <p:nvPr/>
            </p:nvSpPr>
            <p:spPr bwMode="auto">
              <a:xfrm>
                <a:off x="9495600" y="5723741"/>
                <a:ext cx="189440" cy="152254"/>
              </a:xfrm>
              <a:prstGeom prst="rect">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2" name="Rectangle 51">
                <a:extLst>
                  <a:ext uri="{FF2B5EF4-FFF2-40B4-BE49-F238E27FC236}">
                    <a16:creationId xmlns:a16="http://schemas.microsoft.com/office/drawing/2014/main" id="{43D84873-CD49-5E26-7919-F5A574CEC7C4}"/>
                  </a:ext>
                </a:extLst>
              </p:cNvPr>
              <p:cNvSpPr/>
              <p:nvPr/>
            </p:nvSpPr>
            <p:spPr bwMode="auto">
              <a:xfrm>
                <a:off x="9427033" y="6052458"/>
                <a:ext cx="310635" cy="24645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9" name="Oval 48">
                <a:extLst>
                  <a:ext uri="{FF2B5EF4-FFF2-40B4-BE49-F238E27FC236}">
                    <a16:creationId xmlns:a16="http://schemas.microsoft.com/office/drawing/2014/main" id="{CF462E18-CECD-7A04-8E4F-55A52AA687DB}"/>
                  </a:ext>
                </a:extLst>
              </p:cNvPr>
              <p:cNvSpPr/>
              <p:nvPr/>
            </p:nvSpPr>
            <p:spPr bwMode="auto">
              <a:xfrm>
                <a:off x="9450285" y="5442620"/>
                <a:ext cx="287383" cy="338554"/>
              </a:xfrm>
              <a:prstGeom prst="ellipse">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43" name="Graphic 1042" descr="Programmer male with solid fill">
                <a:extLst>
                  <a:ext uri="{FF2B5EF4-FFF2-40B4-BE49-F238E27FC236}">
                    <a16:creationId xmlns:a16="http://schemas.microsoft.com/office/drawing/2014/main" id="{89DDB244-B67B-CC0E-0E9A-9F6F4DD20C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69933" y="5258633"/>
                <a:ext cx="1030507" cy="1083527"/>
              </a:xfrm>
              <a:prstGeom prst="rect">
                <a:avLst/>
              </a:prstGeom>
            </p:spPr>
          </p:pic>
        </p:grpSp>
        <p:pic>
          <p:nvPicPr>
            <p:cNvPr id="1045" name="Graphic 1044" descr="Employee badge with solid fill">
              <a:extLst>
                <a:ext uri="{FF2B5EF4-FFF2-40B4-BE49-F238E27FC236}">
                  <a16:creationId xmlns:a16="http://schemas.microsoft.com/office/drawing/2014/main" id="{D8A07F36-04C6-2EFC-ADB3-1E6C83E4D9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06681" y="4215435"/>
              <a:ext cx="648160" cy="681508"/>
            </a:xfrm>
            <a:prstGeom prst="rect">
              <a:avLst/>
            </a:prstGeom>
          </p:spPr>
        </p:pic>
        <p:pic>
          <p:nvPicPr>
            <p:cNvPr id="1047" name="Graphic 1046" descr="Key with solid fill">
              <a:extLst>
                <a:ext uri="{FF2B5EF4-FFF2-40B4-BE49-F238E27FC236}">
                  <a16:creationId xmlns:a16="http://schemas.microsoft.com/office/drawing/2014/main" id="{EAD5756D-2761-8061-7E16-89855F4A92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39354" y="4214417"/>
              <a:ext cx="648160" cy="681508"/>
            </a:xfrm>
            <a:prstGeom prst="rect">
              <a:avLst/>
            </a:prstGeom>
          </p:spPr>
        </p:pic>
        <p:cxnSp>
          <p:nvCxnSpPr>
            <p:cNvPr id="1049" name="Straight Arrow Connector 1048">
              <a:extLst>
                <a:ext uri="{FF2B5EF4-FFF2-40B4-BE49-F238E27FC236}">
                  <a16:creationId xmlns:a16="http://schemas.microsoft.com/office/drawing/2014/main" id="{B21A5CCF-2BAE-4604-FB81-8070906A43D1}"/>
                </a:ext>
              </a:extLst>
            </p:cNvPr>
            <p:cNvCxnSpPr>
              <a:cxnSpLocks/>
              <a:stCxn id="50" idx="2"/>
            </p:cNvCxnSpPr>
            <p:nvPr/>
          </p:nvCxnSpPr>
          <p:spPr>
            <a:xfrm rot="10800000">
              <a:off x="8769900" y="4712537"/>
              <a:ext cx="385093" cy="887957"/>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1" name="Straight Arrow Connector 1048">
              <a:extLst>
                <a:ext uri="{FF2B5EF4-FFF2-40B4-BE49-F238E27FC236}">
                  <a16:creationId xmlns:a16="http://schemas.microsoft.com/office/drawing/2014/main" id="{DC7027E8-76EB-D3E0-53B6-49E3CBABFC2D}"/>
                </a:ext>
              </a:extLst>
            </p:cNvPr>
            <p:cNvCxnSpPr>
              <a:cxnSpLocks/>
              <a:stCxn id="50" idx="0"/>
              <a:endCxn id="1045" idx="2"/>
            </p:cNvCxnSpPr>
            <p:nvPr/>
          </p:nvCxnSpPr>
          <p:spPr>
            <a:xfrm flipV="1">
              <a:off x="10045668" y="4896943"/>
              <a:ext cx="385093" cy="703550"/>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2" name="Straight Arrow Connector 1048">
              <a:extLst>
                <a:ext uri="{FF2B5EF4-FFF2-40B4-BE49-F238E27FC236}">
                  <a16:creationId xmlns:a16="http://schemas.microsoft.com/office/drawing/2014/main" id="{4AFF7C39-9C84-8D0E-B6C7-0BF0AFD385DA}"/>
                </a:ext>
              </a:extLst>
            </p:cNvPr>
            <p:cNvCxnSpPr>
              <a:cxnSpLocks/>
              <a:stCxn id="1045" idx="1"/>
              <a:endCxn id="1040" idx="2"/>
            </p:cNvCxnSpPr>
            <p:nvPr/>
          </p:nvCxnSpPr>
          <p:spPr>
            <a:xfrm rot="10800000">
              <a:off x="9563451" y="2735483"/>
              <a:ext cx="543230" cy="1820706"/>
            </a:xfrm>
            <a:prstGeom prst="bentConnector2">
              <a:avLst/>
            </a:prstGeom>
            <a:ln w="28575">
              <a:solidFill>
                <a:srgbClr val="00B0F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83" name="TextBox 1082">
              <a:extLst>
                <a:ext uri="{FF2B5EF4-FFF2-40B4-BE49-F238E27FC236}">
                  <a16:creationId xmlns:a16="http://schemas.microsoft.com/office/drawing/2014/main" id="{0FE5D0D2-82F1-72D0-DE81-62C3E79C9C66}"/>
                </a:ext>
              </a:extLst>
            </p:cNvPr>
            <p:cNvSpPr txBox="1"/>
            <p:nvPr/>
          </p:nvSpPr>
          <p:spPr>
            <a:xfrm>
              <a:off x="8309744" y="4139551"/>
              <a:ext cx="573683" cy="184666"/>
            </a:xfrm>
            <a:prstGeom prst="rect">
              <a:avLst/>
            </a:prstGeom>
            <a:noFill/>
          </p:spPr>
          <p:txBody>
            <a:bodyPr wrap="none" lIns="0" tIns="0" rIns="0" bIns="0" rtlCol="0">
              <a:spAutoFit/>
            </a:bodyPr>
            <a:lstStyle/>
            <a:p>
              <a:pPr algn="l"/>
              <a:r>
                <a:rPr lang="en-US" sz="1200" dirty="0">
                  <a:latin typeface="+mj-lt"/>
                </a:rPr>
                <a:t>API  Key</a:t>
              </a:r>
            </a:p>
          </p:txBody>
        </p:sp>
        <p:sp>
          <p:nvSpPr>
            <p:cNvPr id="1084" name="TextBox 1083">
              <a:extLst>
                <a:ext uri="{FF2B5EF4-FFF2-40B4-BE49-F238E27FC236}">
                  <a16:creationId xmlns:a16="http://schemas.microsoft.com/office/drawing/2014/main" id="{CC9E1E83-DE8B-8101-E47D-17C1367EF998}"/>
                </a:ext>
              </a:extLst>
            </p:cNvPr>
            <p:cNvSpPr txBox="1"/>
            <p:nvPr/>
          </p:nvSpPr>
          <p:spPr>
            <a:xfrm>
              <a:off x="9958905" y="4111417"/>
              <a:ext cx="1433241" cy="218822"/>
            </a:xfrm>
            <a:prstGeom prst="rect">
              <a:avLst/>
            </a:prstGeom>
            <a:noFill/>
          </p:spPr>
          <p:txBody>
            <a:bodyPr wrap="none" lIns="0" tIns="0" rIns="0" bIns="0" rtlCol="0">
              <a:spAutoFit/>
            </a:bodyPr>
            <a:lstStyle/>
            <a:p>
              <a:pPr algn="l"/>
              <a:r>
                <a:rPr lang="en-US" sz="1200" dirty="0">
                  <a:latin typeface="+mj-lt"/>
                </a:rPr>
                <a:t>Microsoft Entra ID</a:t>
              </a:r>
            </a:p>
          </p:txBody>
        </p:sp>
        <p:grpSp>
          <p:nvGrpSpPr>
            <p:cNvPr id="9" name="Group 8">
              <a:extLst>
                <a:ext uri="{FF2B5EF4-FFF2-40B4-BE49-F238E27FC236}">
                  <a16:creationId xmlns:a16="http://schemas.microsoft.com/office/drawing/2014/main" id="{76D26080-36E4-265D-389C-E6A2DCB6AFA4}"/>
                </a:ext>
              </a:extLst>
            </p:cNvPr>
            <p:cNvGrpSpPr/>
            <p:nvPr/>
          </p:nvGrpSpPr>
          <p:grpSpPr>
            <a:xfrm>
              <a:off x="8583945" y="822203"/>
              <a:ext cx="1461723" cy="1469228"/>
              <a:chOff x="7099202" y="2357199"/>
              <a:chExt cx="916211" cy="875852"/>
            </a:xfrm>
          </p:grpSpPr>
          <p:sp>
            <p:nvSpPr>
              <p:cNvPr id="7" name="Rectangle 6">
                <a:extLst>
                  <a:ext uri="{FF2B5EF4-FFF2-40B4-BE49-F238E27FC236}">
                    <a16:creationId xmlns:a16="http://schemas.microsoft.com/office/drawing/2014/main" id="{95D6B263-2B12-8997-D74E-E5779487EA0D}"/>
                  </a:ext>
                </a:extLst>
              </p:cNvPr>
              <p:cNvSpPr/>
              <p:nvPr/>
            </p:nvSpPr>
            <p:spPr bwMode="auto">
              <a:xfrm>
                <a:off x="7320947" y="2651342"/>
                <a:ext cx="694466" cy="581709"/>
              </a:xfrm>
              <a:prstGeom prst="rect">
                <a:avLst/>
              </a:prstGeom>
              <a:solidFill>
                <a:schemeClr val="bg1"/>
              </a:solidFill>
              <a:ln w="28575">
                <a:solidFill>
                  <a:srgbClr val="7030A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5" name="Picture 14">
                <a:extLst>
                  <a:ext uri="{FF2B5EF4-FFF2-40B4-BE49-F238E27FC236}">
                    <a16:creationId xmlns:a16="http://schemas.microsoft.com/office/drawing/2014/main" id="{F4C4AE98-526D-F6A9-2795-3C6E82CA16A4}"/>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099202" y="2357199"/>
                <a:ext cx="549437" cy="588287"/>
              </a:xfrm>
              <a:prstGeom prst="rect">
                <a:avLst/>
              </a:prstGeom>
            </p:spPr>
          </p:pic>
          <p:pic>
            <p:nvPicPr>
              <p:cNvPr id="8" name="Picture 7" descr="A blue square with a black square&#10;&#10;AI-generated content may be incorrect.">
                <a:extLst>
                  <a:ext uri="{FF2B5EF4-FFF2-40B4-BE49-F238E27FC236}">
                    <a16:creationId xmlns:a16="http://schemas.microsoft.com/office/drawing/2014/main" id="{09C76C74-E06A-BA3E-906D-2DAAB96B582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7439580" y="2720696"/>
                <a:ext cx="457200" cy="457200"/>
              </a:xfrm>
              <a:prstGeom prst="rect">
                <a:avLst/>
              </a:prstGeom>
            </p:spPr>
          </p:pic>
        </p:grpSp>
        <p:grpSp>
          <p:nvGrpSpPr>
            <p:cNvPr id="1053" name="Group 1052">
              <a:extLst>
                <a:ext uri="{FF2B5EF4-FFF2-40B4-BE49-F238E27FC236}">
                  <a16:creationId xmlns:a16="http://schemas.microsoft.com/office/drawing/2014/main" id="{7211E2B6-181C-C0A6-ED4D-E436FCCEA52D}"/>
                </a:ext>
              </a:extLst>
            </p:cNvPr>
            <p:cNvGrpSpPr/>
            <p:nvPr/>
          </p:nvGrpSpPr>
          <p:grpSpPr>
            <a:xfrm>
              <a:off x="9125910" y="3021923"/>
              <a:ext cx="408656" cy="634863"/>
              <a:chOff x="9003515" y="3074037"/>
              <a:chExt cx="408656" cy="634863"/>
            </a:xfrm>
          </p:grpSpPr>
          <p:cxnSp>
            <p:nvCxnSpPr>
              <p:cNvPr id="44" name="Straight Arrow Connector 43">
                <a:extLst>
                  <a:ext uri="{FF2B5EF4-FFF2-40B4-BE49-F238E27FC236}">
                    <a16:creationId xmlns:a16="http://schemas.microsoft.com/office/drawing/2014/main" id="{DF79ABAE-0764-0AA0-D88D-71F6EDEE99B6}"/>
                  </a:ext>
                </a:extLst>
              </p:cNvPr>
              <p:cNvCxnSpPr>
                <a:cxnSpLocks/>
                <a:stCxn id="40" idx="1"/>
              </p:cNvCxnSpPr>
              <p:nvPr/>
            </p:nvCxnSpPr>
            <p:spPr>
              <a:xfrm flipV="1">
                <a:off x="9169507" y="3074037"/>
                <a:ext cx="0" cy="608747"/>
              </a:xfrm>
              <a:prstGeom prst="straightConnector1">
                <a:avLst/>
              </a:prstGeom>
              <a:ln w="38100">
                <a:solidFill>
                  <a:schemeClr val="tx2">
                    <a:lumMod val="50000"/>
                    <a:lumOff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83246A9D-0990-7F0E-AD3F-4AF3DB820E40}"/>
                  </a:ext>
                </a:extLst>
              </p:cNvPr>
              <p:cNvGrpSpPr/>
              <p:nvPr/>
            </p:nvGrpSpPr>
            <p:grpSpPr>
              <a:xfrm>
                <a:off x="9003515" y="3265482"/>
                <a:ext cx="408656" cy="443418"/>
                <a:chOff x="6535951" y="4416034"/>
                <a:chExt cx="1123530" cy="1219100"/>
              </a:xfrm>
            </p:grpSpPr>
            <p:grpSp>
              <p:nvGrpSpPr>
                <p:cNvPr id="35" name="Group 34">
                  <a:extLst>
                    <a:ext uri="{FF2B5EF4-FFF2-40B4-BE49-F238E27FC236}">
                      <a16:creationId xmlns:a16="http://schemas.microsoft.com/office/drawing/2014/main" id="{6C79CCA5-FF62-C4F7-9F0F-96F664D13C7C}"/>
                    </a:ext>
                  </a:extLst>
                </p:cNvPr>
                <p:cNvGrpSpPr/>
                <p:nvPr/>
              </p:nvGrpSpPr>
              <p:grpSpPr>
                <a:xfrm>
                  <a:off x="6745081" y="4416034"/>
                  <a:ext cx="914400" cy="914400"/>
                  <a:chOff x="6745081" y="4416034"/>
                  <a:chExt cx="914400" cy="914400"/>
                </a:xfrm>
              </p:grpSpPr>
              <p:sp>
                <p:nvSpPr>
                  <p:cNvPr id="34" name="Rectangle: Single Corner Snipped 33">
                    <a:extLst>
                      <a:ext uri="{FF2B5EF4-FFF2-40B4-BE49-F238E27FC236}">
                        <a16:creationId xmlns:a16="http://schemas.microsoft.com/office/drawing/2014/main" id="{A05F8CE6-A692-C989-276B-EF2C0526737E}"/>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1" name="Graphic 30" descr="Document outline">
                    <a:extLst>
                      <a:ext uri="{FF2B5EF4-FFF2-40B4-BE49-F238E27FC236}">
                        <a16:creationId xmlns:a16="http://schemas.microsoft.com/office/drawing/2014/main" id="{EBE01DAE-69F8-0AA6-6452-949914C6826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nvGrpSpPr>
                <p:cNvPr id="36" name="Group 35">
                  <a:extLst>
                    <a:ext uri="{FF2B5EF4-FFF2-40B4-BE49-F238E27FC236}">
                      <a16:creationId xmlns:a16="http://schemas.microsoft.com/office/drawing/2014/main" id="{73F7B11D-0F88-F1F9-28B8-472E51E4AF2C}"/>
                    </a:ext>
                  </a:extLst>
                </p:cNvPr>
                <p:cNvGrpSpPr/>
                <p:nvPr/>
              </p:nvGrpSpPr>
              <p:grpSpPr>
                <a:xfrm>
                  <a:off x="6640516" y="4568384"/>
                  <a:ext cx="914400" cy="914400"/>
                  <a:chOff x="6745081" y="4416034"/>
                  <a:chExt cx="914400" cy="914400"/>
                </a:xfrm>
              </p:grpSpPr>
              <p:sp>
                <p:nvSpPr>
                  <p:cNvPr id="37" name="Rectangle: Single Corner Snipped 36">
                    <a:extLst>
                      <a:ext uri="{FF2B5EF4-FFF2-40B4-BE49-F238E27FC236}">
                        <a16:creationId xmlns:a16="http://schemas.microsoft.com/office/drawing/2014/main" id="{6D7A1F75-0A1C-9F43-4DFF-652FDE142E60}"/>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8" name="Graphic 37" descr="Document outline">
                    <a:extLst>
                      <a:ext uri="{FF2B5EF4-FFF2-40B4-BE49-F238E27FC236}">
                        <a16:creationId xmlns:a16="http://schemas.microsoft.com/office/drawing/2014/main" id="{AF5D9833-2E1B-6735-7167-7D76B19C488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nvGrpSpPr>
                <p:cNvPr id="39" name="Group 38">
                  <a:extLst>
                    <a:ext uri="{FF2B5EF4-FFF2-40B4-BE49-F238E27FC236}">
                      <a16:creationId xmlns:a16="http://schemas.microsoft.com/office/drawing/2014/main" id="{44AA5A50-3EB2-5C23-6996-2E21D01B36E1}"/>
                    </a:ext>
                  </a:extLst>
                </p:cNvPr>
                <p:cNvGrpSpPr/>
                <p:nvPr/>
              </p:nvGrpSpPr>
              <p:grpSpPr>
                <a:xfrm>
                  <a:off x="6535951" y="4720734"/>
                  <a:ext cx="914400" cy="914400"/>
                  <a:chOff x="6745081" y="4416034"/>
                  <a:chExt cx="914400" cy="914400"/>
                </a:xfrm>
              </p:grpSpPr>
              <p:sp>
                <p:nvSpPr>
                  <p:cNvPr id="40" name="Rectangle: Single Corner Snipped 39">
                    <a:extLst>
                      <a:ext uri="{FF2B5EF4-FFF2-40B4-BE49-F238E27FC236}">
                        <a16:creationId xmlns:a16="http://schemas.microsoft.com/office/drawing/2014/main" id="{6F92241D-AD72-A280-0637-158B0D1F1012}"/>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1" name="Graphic 40" descr="Document outline">
                    <a:extLst>
                      <a:ext uri="{FF2B5EF4-FFF2-40B4-BE49-F238E27FC236}">
                        <a16:creationId xmlns:a16="http://schemas.microsoft.com/office/drawing/2014/main" id="{C73B87F1-1AAA-6C14-C47D-DDEA131CC21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grpSp>
        <p:grpSp>
          <p:nvGrpSpPr>
            <p:cNvPr id="1054" name="Group 1053">
              <a:extLst>
                <a:ext uri="{FF2B5EF4-FFF2-40B4-BE49-F238E27FC236}">
                  <a16:creationId xmlns:a16="http://schemas.microsoft.com/office/drawing/2014/main" id="{AE384B95-DE1D-14DB-369C-BB5D0889B430}"/>
                </a:ext>
              </a:extLst>
            </p:cNvPr>
            <p:cNvGrpSpPr/>
            <p:nvPr/>
          </p:nvGrpSpPr>
          <p:grpSpPr>
            <a:xfrm>
              <a:off x="9587572" y="2911629"/>
              <a:ext cx="420876" cy="629589"/>
              <a:chOff x="9757527" y="2904639"/>
              <a:chExt cx="420876" cy="629589"/>
            </a:xfrm>
          </p:grpSpPr>
          <p:cxnSp>
            <p:nvCxnSpPr>
              <p:cNvPr id="45" name="Straight Arrow Connector 44">
                <a:extLst>
                  <a:ext uri="{FF2B5EF4-FFF2-40B4-BE49-F238E27FC236}">
                    <a16:creationId xmlns:a16="http://schemas.microsoft.com/office/drawing/2014/main" id="{829A0779-6D8D-7647-E2A3-7A85B95E50EE}"/>
                  </a:ext>
                </a:extLst>
              </p:cNvPr>
              <p:cNvCxnSpPr>
                <a:cxnSpLocks/>
              </p:cNvCxnSpPr>
              <p:nvPr/>
            </p:nvCxnSpPr>
            <p:spPr>
              <a:xfrm>
                <a:off x="9980906" y="2937119"/>
                <a:ext cx="0" cy="597109"/>
              </a:xfrm>
              <a:prstGeom prst="straightConnector1">
                <a:avLst/>
              </a:prstGeom>
              <a:ln w="38100">
                <a:solidFill>
                  <a:schemeClr val="tx2">
                    <a:lumMod val="50000"/>
                    <a:lumOff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162ADD13-5966-A182-99D4-6EB0BF5A1A8B}"/>
                  </a:ext>
                </a:extLst>
              </p:cNvPr>
              <p:cNvGrpSpPr/>
              <p:nvPr/>
            </p:nvGrpSpPr>
            <p:grpSpPr>
              <a:xfrm>
                <a:off x="9757527" y="2904639"/>
                <a:ext cx="420876" cy="420874"/>
                <a:chOff x="7227493" y="3849473"/>
                <a:chExt cx="568371" cy="568371"/>
              </a:xfrm>
            </p:grpSpPr>
            <p:sp>
              <p:nvSpPr>
                <p:cNvPr id="46" name="Rectangle 45">
                  <a:extLst>
                    <a:ext uri="{FF2B5EF4-FFF2-40B4-BE49-F238E27FC236}">
                      <a16:creationId xmlns:a16="http://schemas.microsoft.com/office/drawing/2014/main" id="{900720F8-60F2-CCFD-1FA2-07B5882A696A}"/>
                    </a:ext>
                  </a:extLst>
                </p:cNvPr>
                <p:cNvSpPr/>
                <p:nvPr/>
              </p:nvSpPr>
              <p:spPr bwMode="auto">
                <a:xfrm>
                  <a:off x="7352906" y="3898408"/>
                  <a:ext cx="329146" cy="47367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3" name="Graphic 32" descr="List outline">
                  <a:extLst>
                    <a:ext uri="{FF2B5EF4-FFF2-40B4-BE49-F238E27FC236}">
                      <a16:creationId xmlns:a16="http://schemas.microsoft.com/office/drawing/2014/main" id="{28503841-8AC8-1B88-404B-B7D5617D6AA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27493" y="3849473"/>
                  <a:ext cx="568371" cy="568371"/>
                </a:xfrm>
                <a:prstGeom prst="rect">
                  <a:avLst/>
                </a:prstGeom>
              </p:spPr>
            </p:pic>
          </p:grpSp>
        </p:grpSp>
        <p:grpSp>
          <p:nvGrpSpPr>
            <p:cNvPr id="1046" name="Group 1045">
              <a:extLst>
                <a:ext uri="{FF2B5EF4-FFF2-40B4-BE49-F238E27FC236}">
                  <a16:creationId xmlns:a16="http://schemas.microsoft.com/office/drawing/2014/main" id="{8AE46D0E-16D2-851C-F88B-77B99C03672D}"/>
                </a:ext>
              </a:extLst>
            </p:cNvPr>
            <p:cNvGrpSpPr/>
            <p:nvPr/>
          </p:nvGrpSpPr>
          <p:grpSpPr>
            <a:xfrm>
              <a:off x="9309185" y="3951236"/>
              <a:ext cx="517812" cy="569344"/>
              <a:chOff x="6572847" y="3570561"/>
              <a:chExt cx="495300" cy="544593"/>
            </a:xfrm>
          </p:grpSpPr>
          <p:sp>
            <p:nvSpPr>
              <p:cNvPr id="1044" name="Rectangle: Single Corner Snipped 1043">
                <a:extLst>
                  <a:ext uri="{FF2B5EF4-FFF2-40B4-BE49-F238E27FC236}">
                    <a16:creationId xmlns:a16="http://schemas.microsoft.com/office/drawing/2014/main" id="{3C4579DE-21F8-8356-C39A-51C05F3701B0}"/>
                  </a:ext>
                </a:extLst>
              </p:cNvPr>
              <p:cNvSpPr/>
              <p:nvPr/>
            </p:nvSpPr>
            <p:spPr bwMode="auto">
              <a:xfrm>
                <a:off x="6669741" y="3598738"/>
                <a:ext cx="293391" cy="424812"/>
              </a:xfrm>
              <a:prstGeom prst="snip1Rect">
                <a:avLst>
                  <a:gd name="adj" fmla="val 28334"/>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042" name="Group 1041">
                <a:extLst>
                  <a:ext uri="{FF2B5EF4-FFF2-40B4-BE49-F238E27FC236}">
                    <a16:creationId xmlns:a16="http://schemas.microsoft.com/office/drawing/2014/main" id="{6241A371-7C1E-1576-B360-BE6E4C4616FC}"/>
                  </a:ext>
                </a:extLst>
              </p:cNvPr>
              <p:cNvGrpSpPr/>
              <p:nvPr/>
            </p:nvGrpSpPr>
            <p:grpSpPr>
              <a:xfrm>
                <a:off x="6572847" y="3570561"/>
                <a:ext cx="495300" cy="544593"/>
                <a:chOff x="6774786" y="3669824"/>
                <a:chExt cx="495300" cy="544593"/>
              </a:xfrm>
            </p:grpSpPr>
            <p:grpSp>
              <p:nvGrpSpPr>
                <p:cNvPr id="1037" name="Group 1036">
                  <a:extLst>
                    <a:ext uri="{FF2B5EF4-FFF2-40B4-BE49-F238E27FC236}">
                      <a16:creationId xmlns:a16="http://schemas.microsoft.com/office/drawing/2014/main" id="{FCC276D5-93AC-971B-3BA2-B0EE010496D3}"/>
                    </a:ext>
                  </a:extLst>
                </p:cNvPr>
                <p:cNvGrpSpPr/>
                <p:nvPr/>
              </p:nvGrpSpPr>
              <p:grpSpPr>
                <a:xfrm>
                  <a:off x="6774786" y="3669824"/>
                  <a:ext cx="495300" cy="544593"/>
                  <a:chOff x="5638800" y="2971800"/>
                  <a:chExt cx="914400" cy="1005403"/>
                </a:xfrm>
              </p:grpSpPr>
              <p:pic>
                <p:nvPicPr>
                  <p:cNvPr id="1032" name="Graphic 1031" descr="Paper outline">
                    <a:extLst>
                      <a:ext uri="{FF2B5EF4-FFF2-40B4-BE49-F238E27FC236}">
                        <a16:creationId xmlns:a16="http://schemas.microsoft.com/office/drawing/2014/main" id="{8F3DA39A-2FC0-34A4-4F79-992E25C9A2B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38800" y="2971800"/>
                    <a:ext cx="914400" cy="914400"/>
                  </a:xfrm>
                  <a:prstGeom prst="rect">
                    <a:avLst/>
                  </a:prstGeom>
                </p:spPr>
              </p:pic>
              <p:pic>
                <p:nvPicPr>
                  <p:cNvPr id="1034" name="Graphic 1033" descr="Single gear with solid fill">
                    <a:extLst>
                      <a:ext uri="{FF2B5EF4-FFF2-40B4-BE49-F238E27FC236}">
                        <a16:creationId xmlns:a16="http://schemas.microsoft.com/office/drawing/2014/main" id="{C8642B72-818E-DA9A-7B6D-782944E0087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926837" y="3353524"/>
                    <a:ext cx="623679" cy="623679"/>
                  </a:xfrm>
                  <a:prstGeom prst="rect">
                    <a:avLst/>
                  </a:prstGeom>
                </p:spPr>
              </p:pic>
            </p:grpSp>
            <p:sp>
              <p:nvSpPr>
                <p:cNvPr id="1039" name="TextBox 1038">
                  <a:extLst>
                    <a:ext uri="{FF2B5EF4-FFF2-40B4-BE49-F238E27FC236}">
                      <a16:creationId xmlns:a16="http://schemas.microsoft.com/office/drawing/2014/main" id="{4F842303-79A1-FCC2-B65B-9E2A60D9F9E4}"/>
                    </a:ext>
                  </a:extLst>
                </p:cNvPr>
                <p:cNvSpPr txBox="1"/>
                <p:nvPr/>
              </p:nvSpPr>
              <p:spPr>
                <a:xfrm>
                  <a:off x="6949393" y="3698000"/>
                  <a:ext cx="165727" cy="271632"/>
                </a:xfrm>
                <a:prstGeom prst="rect">
                  <a:avLst/>
                </a:prstGeom>
                <a:noFill/>
              </p:spPr>
              <p:txBody>
                <a:bodyPr wrap="none" lIns="0" tIns="0" rIns="0" bIns="0" rtlCol="0">
                  <a:spAutoFit/>
                </a:bodyPr>
                <a:lstStyle/>
                <a:p>
                  <a:pPr algn="l"/>
                  <a:r>
                    <a:rPr lang="en-US" sz="1400" dirty="0"/>
                    <a:t>…</a:t>
                  </a:r>
                </a:p>
              </p:txBody>
            </p:sp>
          </p:grpSp>
        </p:grpSp>
        <p:sp>
          <p:nvSpPr>
            <p:cNvPr id="1055" name="TextBox 1054">
              <a:extLst>
                <a:ext uri="{FF2B5EF4-FFF2-40B4-BE49-F238E27FC236}">
                  <a16:creationId xmlns:a16="http://schemas.microsoft.com/office/drawing/2014/main" id="{59714542-A198-F936-7B48-F7E5968379C2}"/>
                </a:ext>
              </a:extLst>
            </p:cNvPr>
            <p:cNvSpPr txBox="1"/>
            <p:nvPr/>
          </p:nvSpPr>
          <p:spPr>
            <a:xfrm>
              <a:off x="8906939" y="3797107"/>
              <a:ext cx="1314334" cy="184666"/>
            </a:xfrm>
            <a:prstGeom prst="rect">
              <a:avLst/>
            </a:prstGeom>
            <a:solidFill>
              <a:schemeClr val="bg1"/>
            </a:solidFill>
          </p:spPr>
          <p:txBody>
            <a:bodyPr wrap="none" lIns="0" tIns="0" rIns="0" bIns="0" rtlCol="0">
              <a:spAutoFit/>
            </a:bodyPr>
            <a:lstStyle/>
            <a:p>
              <a:pPr algn="l"/>
              <a:r>
                <a:rPr lang="en-US" sz="1200" dirty="0" err="1">
                  <a:latin typeface="+mj-lt"/>
                </a:rPr>
                <a:t>TextAnalyticsClient</a:t>
              </a:r>
              <a:endParaRPr lang="en-US" sz="1200" dirty="0">
                <a:latin typeface="+mj-lt"/>
              </a:endParaRPr>
            </a:p>
          </p:txBody>
        </p:sp>
      </p:grpSp>
      <p:sp>
        <p:nvSpPr>
          <p:cNvPr id="5" name="TextBox 4">
            <a:extLst>
              <a:ext uri="{FF2B5EF4-FFF2-40B4-BE49-F238E27FC236}">
                <a16:creationId xmlns:a16="http://schemas.microsoft.com/office/drawing/2014/main" id="{C9FD13FB-AF9B-066C-5184-D12805EF07C4}"/>
              </a:ext>
            </a:extLst>
          </p:cNvPr>
          <p:cNvSpPr txBox="1"/>
          <p:nvPr/>
        </p:nvSpPr>
        <p:spPr>
          <a:xfrm>
            <a:off x="8821436" y="6550227"/>
            <a:ext cx="3073405" cy="184666"/>
          </a:xfrm>
          <a:prstGeom prst="rect">
            <a:avLst/>
          </a:prstGeom>
          <a:noFill/>
        </p:spPr>
        <p:txBody>
          <a:bodyPr wrap="none" lIns="0" tIns="0" rIns="0" bIns="0" rtlCol="0">
            <a:spAutoFit/>
          </a:bodyPr>
          <a:lstStyle/>
          <a:p>
            <a:pPr algn="l"/>
            <a:r>
              <a:rPr lang="en-US" sz="1200" dirty="0"/>
              <a:t>* </a:t>
            </a:r>
            <a:r>
              <a:rPr lang="en-US" sz="1200" i="1" dirty="0"/>
              <a:t>cognitiveservices.azure.com is also supported</a:t>
            </a:r>
            <a:endParaRPr lang="en-US" sz="1200" dirty="0"/>
          </a:p>
        </p:txBody>
      </p:sp>
    </p:spTree>
    <p:extLst>
      <p:ext uri="{BB962C8B-B14F-4D97-AF65-F5344CB8AC3E}">
        <p14:creationId xmlns:p14="http://schemas.microsoft.com/office/powerpoint/2010/main" val="111232071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dirty="0"/>
              <a:t>Analyze text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Language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Detect Language</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Extract Entities </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Extract PII</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https://go.microsoft.com/fwlink/?linkid=2356343</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2332142"/>
            <a:ext cx="8778782" cy="430887"/>
          </a:xfrm>
        </p:spPr>
        <p:txBody>
          <a:bodyPr/>
          <a:lstStyle/>
          <a:p>
            <a:r>
              <a:rPr lang="en-US" dirty="0"/>
              <a:t>How should you create an application that analyzes news articles and extracts key people, places, and dates that are mentioned for indexing?</a:t>
            </a:r>
            <a:endParaRPr lang="en-US" b="1" dirty="0"/>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787987"/>
            <a:ext cx="8775098" cy="732508"/>
          </a:xfrm>
          <a:noFill/>
        </p:spPr>
        <p:txBody>
          <a:bodyPr/>
          <a:lstStyle/>
          <a:p>
            <a:r>
              <a:rPr lang="en-US" noProof="0" dirty="0"/>
              <a:t>Use a generative AI model with a custom function tool that matches strings using a regular expression.</a:t>
            </a:r>
            <a:endParaRPr lang="en-US" noProof="0" dirty="0">
              <a:solidFill>
                <a:srgbClr val="000000"/>
              </a:solidFill>
            </a:endParaRPr>
          </a:p>
          <a:p>
            <a:r>
              <a:rPr lang="en-US" noProof="0" dirty="0"/>
              <a:t>Use Azure Language in Foundry Tools to extract PII entities.</a:t>
            </a:r>
          </a:p>
          <a:p>
            <a:r>
              <a:rPr lang="en-US" noProof="0" dirty="0"/>
              <a:t>Use Azure Language in Foundry Tools to extract named entities.</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4034002"/>
            <a:ext cx="8778782" cy="430887"/>
          </a:xfrm>
        </p:spPr>
        <p:txBody>
          <a:bodyPr/>
          <a:lstStyle/>
          <a:p>
            <a:r>
              <a:rPr lang="en-US" noProof="0" dirty="0"/>
              <a:t>You want to publish extracts from customer testimonials on a web site. You need to remove personal details from the text before publishing it. What should you do?</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4554359"/>
            <a:ext cx="8775098" cy="732508"/>
          </a:xfrm>
        </p:spPr>
        <p:txBody>
          <a:bodyPr/>
          <a:lstStyle/>
          <a:p>
            <a:r>
              <a:rPr lang="en-US" dirty="0"/>
              <a:t>Use Azure Language in Foundry Tools to find and redact PII entities.</a:t>
            </a:r>
          </a:p>
          <a:p>
            <a:r>
              <a:rPr lang="en-US" dirty="0"/>
              <a:t>Use Azure Language in Foundry Tools to detect the language and publish only the testimonials in English.</a:t>
            </a:r>
          </a:p>
          <a:p>
            <a:r>
              <a:rPr lang="en-US" dirty="0"/>
              <a:t>Use a gpt-4.1 model to create new AI-generated customer reviews.</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a:spLocks/>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a:spLocks/>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a:spLocks/>
          </p:cNvSpPr>
          <p:nvPr/>
        </p:nvSpPr>
        <p:spPr>
          <a:xfrm>
            <a:off x="1281416" y="461163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a:spLocks/>
          </p:cNvSpPr>
          <p:nvPr/>
        </p:nvSpPr>
        <p:spPr>
          <a:xfrm>
            <a:off x="1260114" y="334092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2B27-FDC3-82E1-88D9-8B498949C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33109-1251-2BDD-6EBE-AB012B8DE579}"/>
              </a:ext>
            </a:extLst>
          </p:cNvPr>
          <p:cNvSpPr>
            <a:spLocks noGrp="1"/>
          </p:cNvSpPr>
          <p:nvPr>
            <p:ph type="title"/>
          </p:nvPr>
        </p:nvSpPr>
        <p:spPr>
          <a:xfrm>
            <a:off x="569911" y="2153504"/>
            <a:ext cx="6547171" cy="1846659"/>
          </a:xfrm>
        </p:spPr>
        <p:txBody>
          <a:bodyPr/>
          <a:lstStyle/>
          <a:p>
            <a:r>
              <a:rPr lang="en-US" dirty="0"/>
              <a:t>Develop a text analysis agent with the Azure Language MCP server</a:t>
            </a:r>
            <a:endParaRPr lang="en-US" noProof="0" dirty="0"/>
          </a:p>
        </p:txBody>
      </p:sp>
      <p:sp>
        <p:nvSpPr>
          <p:cNvPr id="4" name="TextBox 3">
            <a:extLst>
              <a:ext uri="{FF2B5EF4-FFF2-40B4-BE49-F238E27FC236}">
                <a16:creationId xmlns:a16="http://schemas.microsoft.com/office/drawing/2014/main" id="{498BBD85-A39F-869A-AFA1-313B3561225E}"/>
              </a:ext>
            </a:extLst>
          </p:cNvPr>
          <p:cNvSpPr txBox="1"/>
          <p:nvPr/>
        </p:nvSpPr>
        <p:spPr>
          <a:xfrm>
            <a:off x="478471" y="4000163"/>
            <a:ext cx="5879298" cy="363946"/>
          </a:xfrm>
          <a:prstGeom prst="rect">
            <a:avLst/>
          </a:prstGeom>
          <a:noFill/>
        </p:spPr>
        <p:txBody>
          <a:bodyPr wrap="square">
            <a:spAutoFit/>
          </a:bodyPr>
          <a:lstStyle/>
          <a:p>
            <a:r>
              <a:rPr lang="en-US" dirty="0">
                <a:solidFill>
                  <a:schemeClr val="accent2"/>
                </a:solidFill>
              </a:rPr>
              <a:t>https://aka.ms/mslearn-language-mcp</a:t>
            </a:r>
          </a:p>
        </p:txBody>
      </p:sp>
    </p:spTree>
    <p:extLst>
      <p:ext uri="{BB962C8B-B14F-4D97-AF65-F5344CB8AC3E}">
        <p14:creationId xmlns:p14="http://schemas.microsoft.com/office/powerpoint/2010/main" val="387221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7832C6-F4A5-4728-82DE-85FDED224047}"/>
              </a:ext>
            </a:extLst>
          </p:cNvPr>
          <p:cNvSpPr>
            <a:spLocks noGrp="1"/>
          </p:cNvSpPr>
          <p:nvPr>
            <p:ph type="title"/>
          </p:nvPr>
        </p:nvSpPr>
        <p:spPr>
          <a:xfrm>
            <a:off x="588262" y="585216"/>
            <a:ext cx="8193024" cy="492443"/>
          </a:xfrm>
        </p:spPr>
        <p:txBody>
          <a:bodyPr/>
          <a:lstStyle/>
          <a:p>
            <a:r>
              <a:rPr lang="en-US" sz="3200" dirty="0"/>
              <a:t>The Azure Language MCP server</a:t>
            </a:r>
          </a:p>
        </p:txBody>
      </p:sp>
      <p:sp>
        <p:nvSpPr>
          <p:cNvPr id="35" name="Footer Placeholder 34">
            <a:extLst>
              <a:ext uri="{FF2B5EF4-FFF2-40B4-BE49-F238E27FC236}">
                <a16:creationId xmlns:a16="http://schemas.microsoft.com/office/drawing/2014/main" id="{7D43CBA2-48F0-6667-B80C-5A2CA1CF697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64" name="TextBox 63">
            <a:extLst>
              <a:ext uri="{FF2B5EF4-FFF2-40B4-BE49-F238E27FC236}">
                <a16:creationId xmlns:a16="http://schemas.microsoft.com/office/drawing/2014/main" id="{8D3E43A0-01B2-EBCE-659D-DBE226A8F1FA}"/>
              </a:ext>
            </a:extLst>
          </p:cNvPr>
          <p:cNvSpPr txBox="1"/>
          <p:nvPr/>
        </p:nvSpPr>
        <p:spPr>
          <a:xfrm>
            <a:off x="764079" y="3941069"/>
            <a:ext cx="11076491" cy="2106731"/>
          </a:xfrm>
          <a:prstGeom prst="rect">
            <a:avLst/>
          </a:prstGeom>
          <a:noFill/>
        </p:spPr>
        <p:txBody>
          <a:bodyPr wrap="square">
            <a:spAutoFit/>
          </a:bodyPr>
          <a:lstStyle/>
          <a:p>
            <a:pPr marL="342900" indent="-342900" algn="l">
              <a:spcAft>
                <a:spcPts val="600"/>
              </a:spcAft>
              <a:buClr>
                <a:schemeClr val="accent1"/>
              </a:buClr>
              <a:buSzPct val="110000"/>
              <a:buFont typeface="+mj-lt"/>
              <a:buAutoNum type="arabicPeriod"/>
            </a:pPr>
            <a:r>
              <a:rPr lang="en-US" dirty="0">
                <a:solidFill>
                  <a:srgbClr val="161616"/>
                </a:solidFill>
                <a:latin typeface="Segoe UI" panose="020B0502040204020203" pitchFamily="34" charset="0"/>
              </a:rPr>
              <a:t>A u</a:t>
            </a:r>
            <a:r>
              <a:rPr lang="en-US" b="0" i="0" dirty="0">
                <a:solidFill>
                  <a:srgbClr val="161616"/>
                </a:solidFill>
                <a:effectLst/>
                <a:latin typeface="Segoe UI" panose="020B0502040204020203" pitchFamily="34" charset="0"/>
              </a:rPr>
              <a:t>ser sends a prompt to an agent</a:t>
            </a:r>
          </a:p>
          <a:p>
            <a:pPr marL="342900" indent="-342900" algn="l">
              <a:spcAft>
                <a:spcPts val="600"/>
              </a:spcAft>
              <a:buClr>
                <a:schemeClr val="accent1"/>
              </a:buClr>
              <a:buSzPct val="110000"/>
              <a:buFont typeface="+mj-lt"/>
              <a:buAutoNum type="arabicPeriod"/>
            </a:pPr>
            <a:r>
              <a:rPr lang="en-US" b="0" i="0" dirty="0">
                <a:solidFill>
                  <a:srgbClr val="161616"/>
                </a:solidFill>
                <a:effectLst/>
                <a:latin typeface="Segoe UI" panose="020B0502040204020203" pitchFamily="34" charset="0"/>
              </a:rPr>
              <a:t>The agent determines task (or tasks) to be performed</a:t>
            </a:r>
          </a:p>
          <a:p>
            <a:pPr marL="342900" indent="-342900" algn="l">
              <a:spcAft>
                <a:spcPts val="600"/>
              </a:spcAft>
              <a:buClr>
                <a:schemeClr val="accent1"/>
              </a:buClr>
              <a:buSzPct val="110000"/>
              <a:buFont typeface="+mj-lt"/>
              <a:buAutoNum type="arabicPeriod"/>
            </a:pPr>
            <a:r>
              <a:rPr lang="en-US" b="0" i="0" dirty="0">
                <a:solidFill>
                  <a:srgbClr val="161616"/>
                </a:solidFill>
                <a:effectLst/>
                <a:latin typeface="Segoe UI" panose="020B0502040204020203" pitchFamily="34" charset="0"/>
              </a:rPr>
              <a:t>The agent checks available MCP tools to find the best match</a:t>
            </a:r>
          </a:p>
          <a:p>
            <a:pPr marL="342900" indent="-342900" algn="l">
              <a:spcAft>
                <a:spcPts val="600"/>
              </a:spcAft>
              <a:buClr>
                <a:schemeClr val="accent1"/>
              </a:buClr>
              <a:buSzPct val="110000"/>
              <a:buFont typeface="+mj-lt"/>
              <a:buAutoNum type="arabicPeriod"/>
            </a:pPr>
            <a:r>
              <a:rPr lang="en-US" dirty="0">
                <a:solidFill>
                  <a:srgbClr val="161616"/>
                </a:solidFill>
                <a:latin typeface="Segoe UI" panose="020B0502040204020203" pitchFamily="34" charset="0"/>
              </a:rPr>
              <a:t>The a</a:t>
            </a:r>
            <a:r>
              <a:rPr lang="en-US" b="0" i="0" dirty="0">
                <a:solidFill>
                  <a:srgbClr val="161616"/>
                </a:solidFill>
                <a:effectLst/>
                <a:latin typeface="Segoe UI" panose="020B0502040204020203" pitchFamily="34" charset="0"/>
              </a:rPr>
              <a:t>gent calls the selected tool through the MCP server, passing the relevant input text</a:t>
            </a:r>
          </a:p>
          <a:p>
            <a:pPr marL="342900" indent="-342900" algn="l">
              <a:spcAft>
                <a:spcPts val="600"/>
              </a:spcAft>
              <a:buClr>
                <a:schemeClr val="accent1"/>
              </a:buClr>
              <a:buSzPct val="110000"/>
              <a:buFont typeface="+mj-lt"/>
              <a:buAutoNum type="arabicPeriod"/>
            </a:pPr>
            <a:r>
              <a:rPr lang="en-US" b="0" i="0" dirty="0">
                <a:solidFill>
                  <a:srgbClr val="161616"/>
                </a:solidFill>
                <a:effectLst/>
                <a:latin typeface="Segoe UI" panose="020B0502040204020203" pitchFamily="34" charset="0"/>
              </a:rPr>
              <a:t>The MCP server processes the request using the appropriate Azure Language capability and returns results</a:t>
            </a:r>
          </a:p>
          <a:p>
            <a:pPr marL="342900" indent="-342900" algn="l">
              <a:spcAft>
                <a:spcPts val="600"/>
              </a:spcAft>
              <a:buClr>
                <a:schemeClr val="accent1"/>
              </a:buClr>
              <a:buSzPct val="110000"/>
              <a:buFont typeface="+mj-lt"/>
              <a:buAutoNum type="arabicPeriod"/>
            </a:pPr>
            <a:r>
              <a:rPr lang="en-US" dirty="0">
                <a:solidFill>
                  <a:srgbClr val="161616"/>
                </a:solidFill>
                <a:latin typeface="Segoe UI" panose="020B0502040204020203" pitchFamily="34" charset="0"/>
              </a:rPr>
              <a:t>The a</a:t>
            </a:r>
            <a:r>
              <a:rPr lang="en-US" b="0" i="0" dirty="0">
                <a:solidFill>
                  <a:srgbClr val="161616"/>
                </a:solidFill>
                <a:effectLst/>
                <a:latin typeface="Segoe UI" panose="020B0502040204020203" pitchFamily="34" charset="0"/>
              </a:rPr>
              <a:t>gent combines the results into a natural language response for the user</a:t>
            </a:r>
          </a:p>
        </p:txBody>
      </p:sp>
      <p:grpSp>
        <p:nvGrpSpPr>
          <p:cNvPr id="101" name="Group 100">
            <a:extLst>
              <a:ext uri="{FF2B5EF4-FFF2-40B4-BE49-F238E27FC236}">
                <a16:creationId xmlns:a16="http://schemas.microsoft.com/office/drawing/2014/main" id="{39727B53-55F1-CDEF-9B74-0321BB4BBF30}"/>
              </a:ext>
            </a:extLst>
          </p:cNvPr>
          <p:cNvGrpSpPr/>
          <p:nvPr/>
        </p:nvGrpSpPr>
        <p:grpSpPr>
          <a:xfrm>
            <a:off x="1024733" y="1291835"/>
            <a:ext cx="10105331" cy="2566438"/>
            <a:chOff x="1024733" y="1378922"/>
            <a:chExt cx="10105331" cy="2566438"/>
          </a:xfrm>
        </p:grpSpPr>
        <p:grpSp>
          <p:nvGrpSpPr>
            <p:cNvPr id="87" name="Group 86">
              <a:extLst>
                <a:ext uri="{FF2B5EF4-FFF2-40B4-BE49-F238E27FC236}">
                  <a16:creationId xmlns:a16="http://schemas.microsoft.com/office/drawing/2014/main" id="{3A44CC15-E293-49ED-8441-42C222036EA1}"/>
                </a:ext>
              </a:extLst>
            </p:cNvPr>
            <p:cNvGrpSpPr/>
            <p:nvPr/>
          </p:nvGrpSpPr>
          <p:grpSpPr>
            <a:xfrm>
              <a:off x="4031565" y="1577926"/>
              <a:ext cx="2851047" cy="1851074"/>
              <a:chOff x="3779010" y="1577926"/>
              <a:chExt cx="2851047" cy="1851074"/>
            </a:xfrm>
          </p:grpSpPr>
          <p:sp>
            <p:nvSpPr>
              <p:cNvPr id="22" name="Flowchart: Alternate Process 21">
                <a:extLst>
                  <a:ext uri="{FF2B5EF4-FFF2-40B4-BE49-F238E27FC236}">
                    <a16:creationId xmlns:a16="http://schemas.microsoft.com/office/drawing/2014/main" id="{FA0CA707-C28A-54EC-AC38-C91A40456C45}"/>
                  </a:ext>
                </a:extLst>
              </p:cNvPr>
              <p:cNvSpPr/>
              <p:nvPr/>
            </p:nvSpPr>
            <p:spPr bwMode="auto">
              <a:xfrm>
                <a:off x="3779010" y="1887583"/>
                <a:ext cx="2194560" cy="1541417"/>
              </a:xfrm>
              <a:prstGeom prst="flowChartAlternateProcess">
                <a:avLst/>
              </a:prstGeom>
              <a:solidFill>
                <a:schemeClr val="bg1"/>
              </a:solidFill>
              <a:ln w="38100">
                <a:solidFill>
                  <a:schemeClr val="tx2">
                    <a:lumMod val="75000"/>
                    <a:lumOff val="2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9" name="Graphic 18" descr="Robot with solid fill">
                <a:extLst>
                  <a:ext uri="{FF2B5EF4-FFF2-40B4-BE49-F238E27FC236}">
                    <a16:creationId xmlns:a16="http://schemas.microsoft.com/office/drawing/2014/main" id="{E85617FD-9EA3-C341-D2F8-EC7244980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6724" y="1854925"/>
                <a:ext cx="1367246" cy="1367246"/>
              </a:xfrm>
              <a:prstGeom prst="rect">
                <a:avLst/>
              </a:prstGeom>
            </p:spPr>
          </p:pic>
          <p:sp>
            <p:nvSpPr>
              <p:cNvPr id="41" name="TextBox 40">
                <a:extLst>
                  <a:ext uri="{FF2B5EF4-FFF2-40B4-BE49-F238E27FC236}">
                    <a16:creationId xmlns:a16="http://schemas.microsoft.com/office/drawing/2014/main" id="{0D609A22-46B6-B054-C0E6-4D7CC9B451AD}"/>
                  </a:ext>
                </a:extLst>
              </p:cNvPr>
              <p:cNvSpPr txBox="1"/>
              <p:nvPr/>
            </p:nvSpPr>
            <p:spPr>
              <a:xfrm>
                <a:off x="5469483" y="2406416"/>
                <a:ext cx="1160574" cy="830997"/>
              </a:xfrm>
              <a:prstGeom prst="rect">
                <a:avLst/>
              </a:prstGeom>
              <a:solidFill>
                <a:srgbClr val="FFFFFF"/>
              </a:solidFill>
            </p:spPr>
            <p:txBody>
              <a:bodyPr wrap="none" lIns="0" tIns="0" rIns="0" bIns="0" rtlCol="0">
                <a:spAutoFit/>
              </a:bodyPr>
              <a:lstStyle/>
              <a:p>
                <a:pPr algn="l"/>
                <a:endParaRPr lang="en-US" sz="1800" dirty="0">
                  <a:latin typeface="+mj-lt"/>
                </a:endParaRPr>
              </a:p>
              <a:p>
                <a:pPr algn="l"/>
                <a:endParaRPr lang="en-US" sz="1800" dirty="0">
                  <a:latin typeface="+mj-lt"/>
                </a:endParaRPr>
              </a:p>
              <a:p>
                <a:pPr algn="l"/>
                <a:r>
                  <a:rPr lang="en-US" sz="1800" dirty="0">
                    <a:latin typeface="+mj-lt"/>
                  </a:rPr>
                  <a:t>MCP Client</a:t>
                </a:r>
              </a:p>
            </p:txBody>
          </p:sp>
          <p:sp>
            <p:nvSpPr>
              <p:cNvPr id="39" name="TextBox 38">
                <a:extLst>
                  <a:ext uri="{FF2B5EF4-FFF2-40B4-BE49-F238E27FC236}">
                    <a16:creationId xmlns:a16="http://schemas.microsoft.com/office/drawing/2014/main" id="{9BD1BC69-0884-4E9C-C73E-79763A10CE89}"/>
                  </a:ext>
                </a:extLst>
              </p:cNvPr>
              <p:cNvSpPr txBox="1"/>
              <p:nvPr/>
            </p:nvSpPr>
            <p:spPr>
              <a:xfrm>
                <a:off x="4546012" y="1577926"/>
                <a:ext cx="490519" cy="276999"/>
              </a:xfrm>
              <a:prstGeom prst="rect">
                <a:avLst/>
              </a:prstGeom>
              <a:noFill/>
            </p:spPr>
            <p:txBody>
              <a:bodyPr wrap="none" lIns="0" tIns="0" rIns="0" bIns="0" rtlCol="0">
                <a:spAutoFit/>
              </a:bodyPr>
              <a:lstStyle/>
              <a:p>
                <a:pPr algn="l"/>
                <a:r>
                  <a:rPr lang="en-US" sz="1800" dirty="0">
                    <a:latin typeface="+mj-lt"/>
                  </a:rPr>
                  <a:t>Host</a:t>
                </a:r>
              </a:p>
            </p:txBody>
          </p:sp>
          <p:pic>
            <p:nvPicPr>
              <p:cNvPr id="25" name="Graphic 24" descr="Ethernet with solid fill">
                <a:extLst>
                  <a:ext uri="{FF2B5EF4-FFF2-40B4-BE49-F238E27FC236}">
                    <a16:creationId xmlns:a16="http://schemas.microsoft.com/office/drawing/2014/main" id="{5126643C-1075-318F-77A1-BC947EB5FD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16370" y="2201091"/>
                <a:ext cx="914400" cy="914400"/>
              </a:xfrm>
              <a:prstGeom prst="rect">
                <a:avLst/>
              </a:prstGeom>
            </p:spPr>
          </p:pic>
          <p:sp>
            <p:nvSpPr>
              <p:cNvPr id="42" name="TextBox 41">
                <a:extLst>
                  <a:ext uri="{FF2B5EF4-FFF2-40B4-BE49-F238E27FC236}">
                    <a16:creationId xmlns:a16="http://schemas.microsoft.com/office/drawing/2014/main" id="{17B99FDC-415C-A3E8-495A-F195E3194EBD}"/>
                  </a:ext>
                </a:extLst>
              </p:cNvPr>
              <p:cNvSpPr txBox="1"/>
              <p:nvPr/>
            </p:nvSpPr>
            <p:spPr>
              <a:xfrm>
                <a:off x="4426265" y="3083671"/>
                <a:ext cx="564257" cy="246221"/>
              </a:xfrm>
              <a:prstGeom prst="rect">
                <a:avLst/>
              </a:prstGeom>
              <a:noFill/>
            </p:spPr>
            <p:txBody>
              <a:bodyPr wrap="none" lIns="0" tIns="0" rIns="0" bIns="0" rtlCol="0">
                <a:spAutoFit/>
              </a:bodyPr>
              <a:lstStyle/>
              <a:p>
                <a:pPr algn="l"/>
                <a:r>
                  <a:rPr lang="en-US" sz="1600" dirty="0">
                    <a:latin typeface="+mj-lt"/>
                  </a:rPr>
                  <a:t>Agent</a:t>
                </a:r>
                <a:endParaRPr lang="en-US" sz="1800" dirty="0">
                  <a:latin typeface="+mj-lt"/>
                </a:endParaRPr>
              </a:p>
            </p:txBody>
          </p:sp>
          <p:pic>
            <p:nvPicPr>
              <p:cNvPr id="45" name="Graphic 44" descr="Tools with solid fill">
                <a:extLst>
                  <a:ext uri="{FF2B5EF4-FFF2-40B4-BE49-F238E27FC236}">
                    <a16:creationId xmlns:a16="http://schemas.microsoft.com/office/drawing/2014/main" id="{1A33EFE9-5199-058A-F3DD-442EDCB896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85444" y="2479765"/>
                <a:ext cx="357051" cy="357051"/>
              </a:xfrm>
              <a:prstGeom prst="rect">
                <a:avLst/>
              </a:prstGeom>
            </p:spPr>
          </p:pic>
        </p:grpSp>
        <p:grpSp>
          <p:nvGrpSpPr>
            <p:cNvPr id="88" name="Group 87">
              <a:extLst>
                <a:ext uri="{FF2B5EF4-FFF2-40B4-BE49-F238E27FC236}">
                  <a16:creationId xmlns:a16="http://schemas.microsoft.com/office/drawing/2014/main" id="{C8E58235-AD16-4DB2-3D6A-EF883EED7EA9}"/>
                </a:ext>
              </a:extLst>
            </p:cNvPr>
            <p:cNvGrpSpPr/>
            <p:nvPr/>
          </p:nvGrpSpPr>
          <p:grpSpPr>
            <a:xfrm>
              <a:off x="6683325" y="1378922"/>
              <a:ext cx="4446739" cy="2067496"/>
              <a:chOff x="6683325" y="1361504"/>
              <a:chExt cx="4446739" cy="2067496"/>
            </a:xfrm>
          </p:grpSpPr>
          <p:sp>
            <p:nvSpPr>
              <p:cNvPr id="32" name="Flowchart: Alternate Process 31">
                <a:extLst>
                  <a:ext uri="{FF2B5EF4-FFF2-40B4-BE49-F238E27FC236}">
                    <a16:creationId xmlns:a16="http://schemas.microsoft.com/office/drawing/2014/main" id="{99C2766D-CF03-3F93-193C-0ACD8A44117F}"/>
                  </a:ext>
                </a:extLst>
              </p:cNvPr>
              <p:cNvSpPr/>
              <p:nvPr/>
            </p:nvSpPr>
            <p:spPr bwMode="auto">
              <a:xfrm>
                <a:off x="8102815" y="1887583"/>
                <a:ext cx="3027249" cy="1541417"/>
              </a:xfrm>
              <a:prstGeom prst="flowChartAlternateProcess">
                <a:avLst/>
              </a:prstGeom>
              <a:solidFill>
                <a:schemeClr val="bg1"/>
              </a:solidFill>
              <a:ln w="38100">
                <a:solidFill>
                  <a:srgbClr val="8661C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TextBox 39">
                <a:extLst>
                  <a:ext uri="{FF2B5EF4-FFF2-40B4-BE49-F238E27FC236}">
                    <a16:creationId xmlns:a16="http://schemas.microsoft.com/office/drawing/2014/main" id="{5AEDE8FF-BB83-B28C-C068-3799AFB90380}"/>
                  </a:ext>
                </a:extLst>
              </p:cNvPr>
              <p:cNvSpPr txBox="1"/>
              <p:nvPr/>
            </p:nvSpPr>
            <p:spPr>
              <a:xfrm>
                <a:off x="7550724" y="2962589"/>
                <a:ext cx="1572429" cy="276999"/>
              </a:xfrm>
              <a:prstGeom prst="rect">
                <a:avLst/>
              </a:prstGeom>
              <a:solidFill>
                <a:srgbClr val="FFFFFF"/>
              </a:solidFill>
            </p:spPr>
            <p:txBody>
              <a:bodyPr wrap="square" lIns="0" tIns="0" rIns="0" bIns="0" rtlCol="0">
                <a:spAutoFit/>
              </a:bodyPr>
              <a:lstStyle/>
              <a:p>
                <a:pPr algn="l"/>
                <a:r>
                  <a:rPr lang="en-US" sz="1800" dirty="0">
                    <a:latin typeface="+mj-lt"/>
                  </a:rPr>
                  <a:t>MCP Server</a:t>
                </a:r>
              </a:p>
            </p:txBody>
          </p:sp>
          <p:cxnSp>
            <p:nvCxnSpPr>
              <p:cNvPr id="37" name="Straight Arrow Connector 36">
                <a:extLst>
                  <a:ext uri="{FF2B5EF4-FFF2-40B4-BE49-F238E27FC236}">
                    <a16:creationId xmlns:a16="http://schemas.microsoft.com/office/drawing/2014/main" id="{9F22B716-62CD-3AAC-6BD9-A03278B4DC14}"/>
                  </a:ext>
                </a:extLst>
              </p:cNvPr>
              <p:cNvCxnSpPr>
                <a:cxnSpLocks/>
                <a:stCxn id="25" idx="3"/>
                <a:endCxn id="34" idx="1"/>
              </p:cNvCxnSpPr>
              <p:nvPr/>
            </p:nvCxnSpPr>
            <p:spPr>
              <a:xfrm>
                <a:off x="6683325" y="2640873"/>
                <a:ext cx="1039137" cy="17201"/>
              </a:xfrm>
              <a:prstGeom prst="straightConnector1">
                <a:avLst/>
              </a:prstGeom>
              <a:ln w="57150">
                <a:solidFill>
                  <a:schemeClr val="bg1">
                    <a:lumMod val="65000"/>
                  </a:schemeClr>
                </a:solidFill>
                <a:prstDash val="sysDot"/>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34" name="Graphic 33" descr="Gears with solid fill">
                <a:extLst>
                  <a:ext uri="{FF2B5EF4-FFF2-40B4-BE49-F238E27FC236}">
                    <a16:creationId xmlns:a16="http://schemas.microsoft.com/office/drawing/2014/main" id="{3F6D25D7-FC2B-A98C-4CA9-0A0B4BE947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22462" y="2293945"/>
                <a:ext cx="728258" cy="728258"/>
              </a:xfrm>
              <a:prstGeom prst="rect">
                <a:avLst/>
              </a:prstGeom>
            </p:spPr>
          </p:pic>
          <p:cxnSp>
            <p:nvCxnSpPr>
              <p:cNvPr id="55" name="Straight Arrow Connector 54">
                <a:extLst>
                  <a:ext uri="{FF2B5EF4-FFF2-40B4-BE49-F238E27FC236}">
                    <a16:creationId xmlns:a16="http://schemas.microsoft.com/office/drawing/2014/main" id="{9B38CA58-48B6-846E-99E4-CFAA2362EE31}"/>
                  </a:ext>
                </a:extLst>
              </p:cNvPr>
              <p:cNvCxnSpPr>
                <a:cxnSpLocks/>
              </p:cNvCxnSpPr>
              <p:nvPr/>
            </p:nvCxnSpPr>
            <p:spPr>
              <a:xfrm flipV="1">
                <a:off x="8351937" y="2652644"/>
                <a:ext cx="1317158" cy="5647"/>
              </a:xfrm>
              <a:prstGeom prst="straightConnector1">
                <a:avLst/>
              </a:prstGeom>
              <a:ln w="57150">
                <a:solidFill>
                  <a:schemeClr val="bg1">
                    <a:lumMod val="65000"/>
                  </a:schemeClr>
                </a:solidFill>
                <a:prstDash val="sysDot"/>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E700F97-1700-17C9-F87C-E1BA6CE51657}"/>
                  </a:ext>
                </a:extLst>
              </p:cNvPr>
              <p:cNvSpPr txBox="1"/>
              <p:nvPr/>
            </p:nvSpPr>
            <p:spPr>
              <a:xfrm>
                <a:off x="9200096" y="2745204"/>
                <a:ext cx="1747089" cy="492443"/>
              </a:xfrm>
              <a:prstGeom prst="rect">
                <a:avLst/>
              </a:prstGeom>
              <a:noFill/>
            </p:spPr>
            <p:txBody>
              <a:bodyPr wrap="square" lIns="0" tIns="0" rIns="0" bIns="0" rtlCol="0">
                <a:spAutoFit/>
              </a:bodyPr>
              <a:lstStyle/>
              <a:p>
                <a:pPr algn="l"/>
                <a:r>
                  <a:rPr lang="en-US" sz="1600" dirty="0">
                    <a:latin typeface="+mj-lt"/>
                  </a:rPr>
                  <a:t>Azure Language in Foundry Tools</a:t>
                </a:r>
              </a:p>
            </p:txBody>
          </p:sp>
          <p:sp>
            <p:nvSpPr>
              <p:cNvPr id="62" name="TextBox 61">
                <a:extLst>
                  <a:ext uri="{FF2B5EF4-FFF2-40B4-BE49-F238E27FC236}">
                    <a16:creationId xmlns:a16="http://schemas.microsoft.com/office/drawing/2014/main" id="{0D7B4D01-7224-8B40-9A28-5C15B3A185D8}"/>
                  </a:ext>
                </a:extLst>
              </p:cNvPr>
              <p:cNvSpPr txBox="1"/>
              <p:nvPr/>
            </p:nvSpPr>
            <p:spPr>
              <a:xfrm>
                <a:off x="8728472" y="1557613"/>
                <a:ext cx="1942455" cy="276999"/>
              </a:xfrm>
              <a:prstGeom prst="rect">
                <a:avLst/>
              </a:prstGeom>
              <a:noFill/>
            </p:spPr>
            <p:txBody>
              <a:bodyPr wrap="none" lIns="0" tIns="0" rIns="0" bIns="0" rtlCol="0">
                <a:spAutoFit/>
              </a:bodyPr>
              <a:lstStyle/>
              <a:p>
                <a:pPr algn="l"/>
                <a:r>
                  <a:rPr lang="en-US" sz="1800" dirty="0">
                    <a:latin typeface="+mj-lt"/>
                  </a:rPr>
                  <a:t>Microsoft Foundry</a:t>
                </a:r>
              </a:p>
            </p:txBody>
          </p:sp>
          <p:pic>
            <p:nvPicPr>
              <p:cNvPr id="50" name="Picture 49">
                <a:extLst>
                  <a:ext uri="{FF2B5EF4-FFF2-40B4-BE49-F238E27FC236}">
                    <a16:creationId xmlns:a16="http://schemas.microsoft.com/office/drawing/2014/main" id="{DD04028D-E63E-4D2A-16ED-1609FD7EF8B7}"/>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683444" y="1361504"/>
                <a:ext cx="876572" cy="986842"/>
              </a:xfrm>
              <a:prstGeom prst="rect">
                <a:avLst/>
              </a:prstGeom>
            </p:spPr>
          </p:pic>
          <p:pic>
            <p:nvPicPr>
              <p:cNvPr id="51" name="Picture 50" descr="A blue square with a black square&#10;&#10;AI-generated content may be incorrect.">
                <a:extLst>
                  <a:ext uri="{FF2B5EF4-FFF2-40B4-BE49-F238E27FC236}">
                    <a16:creationId xmlns:a16="http://schemas.microsoft.com/office/drawing/2014/main" id="{BAC47DF7-344E-1BEB-FA8D-8999BA085CFB}"/>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628698" y="2108899"/>
                <a:ext cx="698438" cy="734372"/>
              </a:xfrm>
              <a:prstGeom prst="rect">
                <a:avLst/>
              </a:prstGeom>
            </p:spPr>
          </p:pic>
        </p:grpSp>
        <p:grpSp>
          <p:nvGrpSpPr>
            <p:cNvPr id="86" name="Group 85">
              <a:extLst>
                <a:ext uri="{FF2B5EF4-FFF2-40B4-BE49-F238E27FC236}">
                  <a16:creationId xmlns:a16="http://schemas.microsoft.com/office/drawing/2014/main" id="{A2A16718-8957-EE5E-2DF1-CC1565C9A27A}"/>
                </a:ext>
              </a:extLst>
            </p:cNvPr>
            <p:cNvGrpSpPr/>
            <p:nvPr/>
          </p:nvGrpSpPr>
          <p:grpSpPr>
            <a:xfrm>
              <a:off x="1024733" y="1545047"/>
              <a:ext cx="3635112" cy="2400313"/>
              <a:chOff x="-3071962" y="1070383"/>
              <a:chExt cx="5072804" cy="3349642"/>
            </a:xfrm>
          </p:grpSpPr>
          <p:grpSp>
            <p:nvGrpSpPr>
              <p:cNvPr id="66" name="Group 65">
                <a:extLst>
                  <a:ext uri="{FF2B5EF4-FFF2-40B4-BE49-F238E27FC236}">
                    <a16:creationId xmlns:a16="http://schemas.microsoft.com/office/drawing/2014/main" id="{81FD979F-99EB-703F-6374-9DD7A19F01DB}"/>
                  </a:ext>
                </a:extLst>
              </p:cNvPr>
              <p:cNvGrpSpPr/>
              <p:nvPr/>
            </p:nvGrpSpPr>
            <p:grpSpPr>
              <a:xfrm>
                <a:off x="-3071962" y="1113508"/>
                <a:ext cx="2639179" cy="2639179"/>
                <a:chOff x="10521113" y="3976905"/>
                <a:chExt cx="2099670" cy="2099670"/>
              </a:xfrm>
            </p:grpSpPr>
            <p:grpSp>
              <p:nvGrpSpPr>
                <p:cNvPr id="74" name="Group 73">
                  <a:extLst>
                    <a:ext uri="{FF2B5EF4-FFF2-40B4-BE49-F238E27FC236}">
                      <a16:creationId xmlns:a16="http://schemas.microsoft.com/office/drawing/2014/main" id="{08073CA7-B1AC-C23E-907E-E89062F53FEF}"/>
                    </a:ext>
                  </a:extLst>
                </p:cNvPr>
                <p:cNvGrpSpPr/>
                <p:nvPr/>
              </p:nvGrpSpPr>
              <p:grpSpPr>
                <a:xfrm>
                  <a:off x="10521113" y="3976905"/>
                  <a:ext cx="2099670" cy="2099670"/>
                  <a:chOff x="1491914" y="3563162"/>
                  <a:chExt cx="1686910" cy="1686910"/>
                </a:xfrm>
              </p:grpSpPr>
              <p:sp>
                <p:nvSpPr>
                  <p:cNvPr id="81" name="Rectangle 80">
                    <a:extLst>
                      <a:ext uri="{FF2B5EF4-FFF2-40B4-BE49-F238E27FC236}">
                        <a16:creationId xmlns:a16="http://schemas.microsoft.com/office/drawing/2014/main" id="{BE31A2AE-65AE-8117-99E6-75FFE6E866AC}"/>
                      </a:ext>
                    </a:extLst>
                  </p:cNvPr>
                  <p:cNvSpPr/>
                  <p:nvPr/>
                </p:nvSpPr>
                <p:spPr>
                  <a:xfrm>
                    <a:off x="2130417" y="3899339"/>
                    <a:ext cx="438843" cy="628662"/>
                  </a:xfrm>
                  <a:prstGeom prst="rect">
                    <a:avLst/>
                  </a:prstGeom>
                  <a:solidFill>
                    <a:srgbClr val="FFCCC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79D2BDAE-F90C-9320-AC1C-97C2494540AB}"/>
                      </a:ext>
                    </a:extLst>
                  </p:cNvPr>
                  <p:cNvSpPr/>
                  <p:nvPr/>
                </p:nvSpPr>
                <p:spPr>
                  <a:xfrm>
                    <a:off x="2102069" y="4580468"/>
                    <a:ext cx="409903" cy="50653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3" name="Graphic 82" descr="Office worker female with solid fill">
                    <a:extLst>
                      <a:ext uri="{FF2B5EF4-FFF2-40B4-BE49-F238E27FC236}">
                        <a16:creationId xmlns:a16="http://schemas.microsoft.com/office/drawing/2014/main" id="{205DBCD4-1AD5-0B13-D75D-2242B35118B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91914" y="3563162"/>
                    <a:ext cx="1686910" cy="1686910"/>
                  </a:xfrm>
                  <a:prstGeom prst="rect">
                    <a:avLst/>
                  </a:prstGeom>
                </p:spPr>
              </p:pic>
              <p:pic>
                <p:nvPicPr>
                  <p:cNvPr id="84" name="Graphic 83" descr="Office worker female with solid fill">
                    <a:extLst>
                      <a:ext uri="{FF2B5EF4-FFF2-40B4-BE49-F238E27FC236}">
                        <a16:creationId xmlns:a16="http://schemas.microsoft.com/office/drawing/2014/main" id="{E130EBB3-113E-E9B7-BEBC-EB9E5EF3DE36}"/>
                      </a:ext>
                    </a:extLst>
                  </p:cNvPr>
                  <p:cNvPicPr>
                    <a:picLocks noChangeAspect="1"/>
                  </p:cNvPicPr>
                  <p:nvPr/>
                </p:nvPicPr>
                <p:blipFill>
                  <a:blip>
                    <a:extLst>
                      <a:ext uri="{96DAC541-7B7A-43D3-8B79-37D633B846F1}">
                        <asvg:svgBlip xmlns:asvg="http://schemas.microsoft.com/office/drawing/2016/SVG/main" r:embed="rId10"/>
                      </a:ext>
                    </a:extLst>
                  </a:blip>
                  <a:srcRect b="47789"/>
                  <a:stretch>
                    <a:fillRect/>
                  </a:stretch>
                </p:blipFill>
                <p:spPr>
                  <a:xfrm>
                    <a:off x="1491914" y="3563162"/>
                    <a:ext cx="1686910" cy="880758"/>
                  </a:xfrm>
                  <a:prstGeom prst="rect">
                    <a:avLst/>
                  </a:prstGeom>
                </p:spPr>
              </p:pic>
            </p:grpSp>
            <p:sp>
              <p:nvSpPr>
                <p:cNvPr id="75" name="Rectangle: Rounded Corners 74">
                  <a:extLst>
                    <a:ext uri="{FF2B5EF4-FFF2-40B4-BE49-F238E27FC236}">
                      <a16:creationId xmlns:a16="http://schemas.microsoft.com/office/drawing/2014/main" id="{66CA6941-6C08-1571-17C8-0BE062470C47}"/>
                    </a:ext>
                  </a:extLst>
                </p:cNvPr>
                <p:cNvSpPr/>
                <p:nvPr/>
              </p:nvSpPr>
              <p:spPr>
                <a:xfrm>
                  <a:off x="11086623" y="5347785"/>
                  <a:ext cx="1010689" cy="690063"/>
                </a:xfrm>
                <a:prstGeom prst="roundRect">
                  <a:avLst>
                    <a:gd name="adj" fmla="val 7594"/>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76" name="Group 75">
                  <a:extLst>
                    <a:ext uri="{FF2B5EF4-FFF2-40B4-BE49-F238E27FC236}">
                      <a16:creationId xmlns:a16="http://schemas.microsoft.com/office/drawing/2014/main" id="{A306165F-6F14-B218-A38A-1A2933C17F79}"/>
                    </a:ext>
                  </a:extLst>
                </p:cNvPr>
                <p:cNvGrpSpPr/>
                <p:nvPr/>
              </p:nvGrpSpPr>
              <p:grpSpPr>
                <a:xfrm>
                  <a:off x="11510972" y="5603112"/>
                  <a:ext cx="197934" cy="197934"/>
                  <a:chOff x="8716215" y="1027821"/>
                  <a:chExt cx="232631" cy="232631"/>
                </a:xfrm>
              </p:grpSpPr>
              <p:sp>
                <p:nvSpPr>
                  <p:cNvPr id="77" name="Rectangle 76">
                    <a:extLst>
                      <a:ext uri="{FF2B5EF4-FFF2-40B4-BE49-F238E27FC236}">
                        <a16:creationId xmlns:a16="http://schemas.microsoft.com/office/drawing/2014/main" id="{DAD03944-7CC8-C58B-C473-495AD602F24C}"/>
                      </a:ext>
                    </a:extLst>
                  </p:cNvPr>
                  <p:cNvSpPr/>
                  <p:nvPr/>
                </p:nvSpPr>
                <p:spPr>
                  <a:xfrm>
                    <a:off x="8716215"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E75EDE6B-D72F-4DB5-EDCB-256707E826EE}"/>
                      </a:ext>
                    </a:extLst>
                  </p:cNvPr>
                  <p:cNvSpPr/>
                  <p:nvPr/>
                </p:nvSpPr>
                <p:spPr>
                  <a:xfrm>
                    <a:off x="8839354"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9" name="Rectangle 78">
                    <a:extLst>
                      <a:ext uri="{FF2B5EF4-FFF2-40B4-BE49-F238E27FC236}">
                        <a16:creationId xmlns:a16="http://schemas.microsoft.com/office/drawing/2014/main" id="{024FC2B4-A7E0-29FF-38DE-E38A251427DB}"/>
                      </a:ext>
                    </a:extLst>
                  </p:cNvPr>
                  <p:cNvSpPr/>
                  <p:nvPr/>
                </p:nvSpPr>
                <p:spPr>
                  <a:xfrm>
                    <a:off x="8716215"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BB84A5A5-384B-8662-F310-8EC519BBF7E3}"/>
                      </a:ext>
                    </a:extLst>
                  </p:cNvPr>
                  <p:cNvSpPr/>
                  <p:nvPr/>
                </p:nvSpPr>
                <p:spPr>
                  <a:xfrm>
                    <a:off x="8839354"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grpSp>
            <p:nvGrpSpPr>
              <p:cNvPr id="85" name="Group 84">
                <a:extLst>
                  <a:ext uri="{FF2B5EF4-FFF2-40B4-BE49-F238E27FC236}">
                    <a16:creationId xmlns:a16="http://schemas.microsoft.com/office/drawing/2014/main" id="{93CC870A-4CEA-3E5A-8D15-5213E8B49B49}"/>
                  </a:ext>
                </a:extLst>
              </p:cNvPr>
              <p:cNvGrpSpPr/>
              <p:nvPr/>
            </p:nvGrpSpPr>
            <p:grpSpPr>
              <a:xfrm>
                <a:off x="-1132182" y="1070383"/>
                <a:ext cx="3133024" cy="3349642"/>
                <a:chOff x="-1132182" y="1070383"/>
                <a:chExt cx="3133024" cy="3349642"/>
              </a:xfrm>
            </p:grpSpPr>
            <p:grpSp>
              <p:nvGrpSpPr>
                <p:cNvPr id="68" name="Group 67">
                  <a:extLst>
                    <a:ext uri="{FF2B5EF4-FFF2-40B4-BE49-F238E27FC236}">
                      <a16:creationId xmlns:a16="http://schemas.microsoft.com/office/drawing/2014/main" id="{A95204CA-5BCC-7843-69BB-27E73711D4C2}"/>
                    </a:ext>
                  </a:extLst>
                </p:cNvPr>
                <p:cNvGrpSpPr/>
                <p:nvPr/>
              </p:nvGrpSpPr>
              <p:grpSpPr>
                <a:xfrm>
                  <a:off x="-1132182" y="1070383"/>
                  <a:ext cx="2175971" cy="2175972"/>
                  <a:chOff x="4773569" y="2029437"/>
                  <a:chExt cx="1854942" cy="1854942"/>
                </a:xfrm>
              </p:grpSpPr>
              <p:pic>
                <p:nvPicPr>
                  <p:cNvPr id="72" name="Graphic 71" descr="Speech with solid fill">
                    <a:extLst>
                      <a:ext uri="{FF2B5EF4-FFF2-40B4-BE49-F238E27FC236}">
                        <a16:creationId xmlns:a16="http://schemas.microsoft.com/office/drawing/2014/main" id="{B4F10AD8-0AD2-7A93-E29D-93B259DFBD6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H="1">
                    <a:off x="4773569" y="2029437"/>
                    <a:ext cx="1854942" cy="1854942"/>
                  </a:xfrm>
                  <a:prstGeom prst="rect">
                    <a:avLst/>
                  </a:prstGeom>
                </p:spPr>
              </p:pic>
              <p:sp>
                <p:nvSpPr>
                  <p:cNvPr id="73" name="TextBox 72">
                    <a:extLst>
                      <a:ext uri="{FF2B5EF4-FFF2-40B4-BE49-F238E27FC236}">
                        <a16:creationId xmlns:a16="http://schemas.microsoft.com/office/drawing/2014/main" id="{A4C27B65-6257-E343-DBF9-4E9D84850D53}"/>
                      </a:ext>
                    </a:extLst>
                  </p:cNvPr>
                  <p:cNvSpPr txBox="1"/>
                  <p:nvPr/>
                </p:nvSpPr>
                <p:spPr>
                  <a:xfrm>
                    <a:off x="5327594" y="2449781"/>
                    <a:ext cx="939930" cy="695659"/>
                  </a:xfrm>
                  <a:prstGeom prst="rect">
                    <a:avLst/>
                  </a:prstGeom>
                  <a:noFill/>
                </p:spPr>
                <p:txBody>
                  <a:bodyPr wrap="square" rtlCol="0">
                    <a:spAutoFit/>
                  </a:bodyPr>
                  <a:lstStyle/>
                  <a:p>
                    <a:pPr defTabSz="914400"/>
                    <a:r>
                      <a:rPr lang="en-US" sz="3200" b="1" dirty="0">
                        <a:solidFill>
                          <a:prstClr val="black"/>
                        </a:solidFill>
                        <a:latin typeface="Aptos Display" panose="02110004020202020204"/>
                      </a:rPr>
                      <a:t>…?</a:t>
                    </a:r>
                  </a:p>
                </p:txBody>
              </p:sp>
            </p:grpSp>
            <p:grpSp>
              <p:nvGrpSpPr>
                <p:cNvPr id="69" name="Group 68">
                  <a:extLst>
                    <a:ext uri="{FF2B5EF4-FFF2-40B4-BE49-F238E27FC236}">
                      <a16:creationId xmlns:a16="http://schemas.microsoft.com/office/drawing/2014/main" id="{BA19191B-D19D-F68F-145F-2E36EEF151C5}"/>
                    </a:ext>
                  </a:extLst>
                </p:cNvPr>
                <p:cNvGrpSpPr/>
                <p:nvPr/>
              </p:nvGrpSpPr>
              <p:grpSpPr>
                <a:xfrm>
                  <a:off x="-175129" y="2244054"/>
                  <a:ext cx="2175971" cy="2175971"/>
                  <a:chOff x="5261069" y="3314734"/>
                  <a:chExt cx="1854942" cy="1854942"/>
                </a:xfrm>
              </p:grpSpPr>
              <p:pic>
                <p:nvPicPr>
                  <p:cNvPr id="70" name="Graphic 69" descr="Speech with solid fill">
                    <a:extLst>
                      <a:ext uri="{FF2B5EF4-FFF2-40B4-BE49-F238E27FC236}">
                        <a16:creationId xmlns:a16="http://schemas.microsoft.com/office/drawing/2014/main" id="{BEA303A3-31BD-5571-BC98-1A166ADD6AF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V="1">
                    <a:off x="5261069" y="3314734"/>
                    <a:ext cx="1854942" cy="1854942"/>
                  </a:xfrm>
                  <a:prstGeom prst="rect">
                    <a:avLst/>
                  </a:prstGeom>
                </p:spPr>
              </p:pic>
              <p:sp>
                <p:nvSpPr>
                  <p:cNvPr id="71" name="TextBox 70">
                    <a:extLst>
                      <a:ext uri="{FF2B5EF4-FFF2-40B4-BE49-F238E27FC236}">
                        <a16:creationId xmlns:a16="http://schemas.microsoft.com/office/drawing/2014/main" id="{B85FFA4B-43FE-5310-E8D6-5CBA5367DD2A}"/>
                      </a:ext>
                    </a:extLst>
                  </p:cNvPr>
                  <p:cNvSpPr txBox="1"/>
                  <p:nvPr/>
                </p:nvSpPr>
                <p:spPr>
                  <a:xfrm>
                    <a:off x="5819201" y="3986056"/>
                    <a:ext cx="768405" cy="695659"/>
                  </a:xfrm>
                  <a:prstGeom prst="rect">
                    <a:avLst/>
                  </a:prstGeom>
                  <a:noFill/>
                </p:spPr>
                <p:txBody>
                  <a:bodyPr wrap="square" rtlCol="0">
                    <a:spAutoFit/>
                  </a:bodyPr>
                  <a:lstStyle/>
                  <a:p>
                    <a:pPr defTabSz="914400"/>
                    <a:r>
                      <a:rPr lang="en-US" sz="3200" b="1" dirty="0">
                        <a:solidFill>
                          <a:prstClr val="black"/>
                        </a:solidFill>
                        <a:latin typeface="Aptos Display" panose="02110004020202020204"/>
                      </a:rPr>
                      <a:t>…!</a:t>
                    </a:r>
                  </a:p>
                </p:txBody>
              </p:sp>
            </p:grpSp>
          </p:grpSp>
        </p:grpSp>
        <p:pic>
          <p:nvPicPr>
            <p:cNvPr id="90" name="Graphic 89" descr="Badge 4 with solid fill">
              <a:extLst>
                <a:ext uri="{FF2B5EF4-FFF2-40B4-BE49-F238E27FC236}">
                  <a16:creationId xmlns:a16="http://schemas.microsoft.com/office/drawing/2014/main" id="{F3262B82-AF1A-4B22-6CE5-E9F74AB3169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61312" y="2260451"/>
              <a:ext cx="550271" cy="550271"/>
            </a:xfrm>
            <a:prstGeom prst="rect">
              <a:avLst/>
            </a:prstGeom>
          </p:spPr>
        </p:pic>
        <p:pic>
          <p:nvPicPr>
            <p:cNvPr id="92" name="Graphic 91" descr="Badge 6 with solid fill">
              <a:extLst>
                <a:ext uri="{FF2B5EF4-FFF2-40B4-BE49-F238E27FC236}">
                  <a16:creationId xmlns:a16="http://schemas.microsoft.com/office/drawing/2014/main" id="{F8EC4060-7448-BF26-C630-81EBFC604D1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911318" y="3079050"/>
              <a:ext cx="550271" cy="550271"/>
            </a:xfrm>
            <a:prstGeom prst="rect">
              <a:avLst/>
            </a:prstGeom>
          </p:spPr>
        </p:pic>
        <p:pic>
          <p:nvPicPr>
            <p:cNvPr id="94" name="Graphic 93" descr="Badge with solid fill">
              <a:extLst>
                <a:ext uri="{FF2B5EF4-FFF2-40B4-BE49-F238E27FC236}">
                  <a16:creationId xmlns:a16="http://schemas.microsoft.com/office/drawing/2014/main" id="{AFD902F5-CB02-6247-D532-09DBE50DCDA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152046" y="1736363"/>
              <a:ext cx="550271" cy="550271"/>
            </a:xfrm>
            <a:prstGeom prst="rect">
              <a:avLst/>
            </a:prstGeom>
          </p:spPr>
        </p:pic>
        <p:pic>
          <p:nvPicPr>
            <p:cNvPr id="96" name="Graphic 95" descr="Badge 3 with solid fill">
              <a:extLst>
                <a:ext uri="{FF2B5EF4-FFF2-40B4-BE49-F238E27FC236}">
                  <a16:creationId xmlns:a16="http://schemas.microsoft.com/office/drawing/2014/main" id="{B0E99A17-0336-A228-1947-8010387B24F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291178" y="2013102"/>
              <a:ext cx="550271" cy="550271"/>
            </a:xfrm>
            <a:prstGeom prst="rect">
              <a:avLst/>
            </a:prstGeom>
          </p:spPr>
        </p:pic>
        <p:pic>
          <p:nvPicPr>
            <p:cNvPr id="98" name="Graphic 97" descr="Badge 1 with solid fill">
              <a:extLst>
                <a:ext uri="{FF2B5EF4-FFF2-40B4-BE49-F238E27FC236}">
                  <a16:creationId xmlns:a16="http://schemas.microsoft.com/office/drawing/2014/main" id="{B9D1CE8D-FEE9-F812-DE68-0249E72356F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9110" y="1420688"/>
              <a:ext cx="550271" cy="550271"/>
            </a:xfrm>
            <a:prstGeom prst="rect">
              <a:avLst/>
            </a:prstGeom>
          </p:spPr>
        </p:pic>
        <p:pic>
          <p:nvPicPr>
            <p:cNvPr id="100" name="Graphic 99" descr="Badge 5 with solid fill">
              <a:extLst>
                <a:ext uri="{FF2B5EF4-FFF2-40B4-BE49-F238E27FC236}">
                  <a16:creationId xmlns:a16="http://schemas.microsoft.com/office/drawing/2014/main" id="{A581F47C-C31F-48DD-E094-1D32E7CDBEE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693553" y="2248055"/>
              <a:ext cx="550271" cy="550271"/>
            </a:xfrm>
            <a:prstGeom prst="rect">
              <a:avLst/>
            </a:prstGeom>
          </p:spPr>
        </p:pic>
      </p:grpSp>
    </p:spTree>
    <p:extLst>
      <p:ext uri="{BB962C8B-B14F-4D97-AF65-F5344CB8AC3E}">
        <p14:creationId xmlns:p14="http://schemas.microsoft.com/office/powerpoint/2010/main" val="19483901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ECE47-5D05-447E-8D50-DAB708F99686}"/>
              </a:ext>
            </a:extLst>
          </p:cNvPr>
          <p:cNvSpPr>
            <a:spLocks noGrp="1"/>
          </p:cNvSpPr>
          <p:nvPr>
            <p:ph type="title"/>
          </p:nvPr>
        </p:nvSpPr>
        <p:spPr>
          <a:xfrm>
            <a:off x="588261" y="585216"/>
            <a:ext cx="11011601" cy="492443"/>
          </a:xfrm>
        </p:spPr>
        <p:txBody>
          <a:bodyPr/>
          <a:lstStyle/>
          <a:p>
            <a:r>
              <a:rPr lang="en-US" sz="3200" dirty="0"/>
              <a:t>Using the Azure Language MCP server</a:t>
            </a:r>
          </a:p>
        </p:txBody>
      </p:sp>
      <p:sp>
        <p:nvSpPr>
          <p:cNvPr id="7" name="Footer Placeholder 6">
            <a:extLst>
              <a:ext uri="{FF2B5EF4-FFF2-40B4-BE49-F238E27FC236}">
                <a16:creationId xmlns:a16="http://schemas.microsoft.com/office/drawing/2014/main" id="{44787336-3E57-4E8A-EABA-ECF559FE348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 name="Picture 8" descr="Screenshot of the Tools catalog in the Foundry portal showing the Azure Language in Foundry Tools connection configuration.">
            <a:extLst>
              <a:ext uri="{FF2B5EF4-FFF2-40B4-BE49-F238E27FC236}">
                <a16:creationId xmlns:a16="http://schemas.microsoft.com/office/drawing/2014/main" id="{4B6DFE56-10D5-8661-4276-C541E9F3F5E2}"/>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4911195" y="1855256"/>
            <a:ext cx="6967296" cy="3788229"/>
          </a:xfrm>
          <a:prstGeom prst="rect">
            <a:avLst/>
          </a:prstGeom>
          <a:ln>
            <a:solidFill>
              <a:schemeClr val="bg1">
                <a:lumMod val="95000"/>
              </a:schemeClr>
            </a:solidFill>
          </a:ln>
          <a:effectLst>
            <a:outerShdw blurRad="50800" dist="38100" dir="2700000" algn="tl" rotWithShape="0">
              <a:prstClr val="black">
                <a:alpha val="40000"/>
              </a:prstClr>
            </a:outerShdw>
          </a:effectLst>
        </p:spPr>
      </p:pic>
      <p:sp>
        <p:nvSpPr>
          <p:cNvPr id="10" name="Text Placeholder 4">
            <a:extLst>
              <a:ext uri="{FF2B5EF4-FFF2-40B4-BE49-F238E27FC236}">
                <a16:creationId xmlns:a16="http://schemas.microsoft.com/office/drawing/2014/main" id="{5673EF26-58DD-C147-083A-6BE5CFC4AADC}"/>
              </a:ext>
            </a:extLst>
          </p:cNvPr>
          <p:cNvSpPr txBox="1">
            <a:spLocks/>
          </p:cNvSpPr>
          <p:nvPr/>
        </p:nvSpPr>
        <p:spPr>
          <a:xfrm>
            <a:off x="584199" y="1606551"/>
            <a:ext cx="4083595" cy="4896640"/>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46278" lvl="1" indent="-457200">
              <a:spcBef>
                <a:spcPts val="600"/>
              </a:spcBef>
              <a:spcAft>
                <a:spcPts val="400"/>
              </a:spcAft>
              <a:buSzPct val="100000"/>
              <a:buFont typeface="+mj-lt"/>
              <a:buAutoNum type="arabicPeriod"/>
            </a:pPr>
            <a:r>
              <a:rPr lang="en-US" sz="2200" dirty="0"/>
              <a:t>Create an agent</a:t>
            </a:r>
          </a:p>
          <a:p>
            <a:pPr marL="446278" lvl="1" indent="-457200">
              <a:spcBef>
                <a:spcPts val="600"/>
              </a:spcBef>
              <a:spcAft>
                <a:spcPts val="400"/>
              </a:spcAft>
              <a:buSzPct val="100000"/>
              <a:buFont typeface="+mj-lt"/>
              <a:buAutoNum type="arabicPeriod"/>
            </a:pPr>
            <a:r>
              <a:rPr lang="en-US" sz="2200" dirty="0"/>
              <a:t>Add the Azure Language MCP Server tool</a:t>
            </a:r>
          </a:p>
          <a:p>
            <a:pPr marL="446278" lvl="1" indent="-457200">
              <a:spcBef>
                <a:spcPts val="600"/>
              </a:spcBef>
              <a:spcAft>
                <a:spcPts val="400"/>
              </a:spcAft>
              <a:buSzPct val="100000"/>
              <a:buFont typeface="+mj-lt"/>
              <a:buAutoNum type="arabicPeriod"/>
            </a:pPr>
            <a:r>
              <a:rPr lang="en-US" sz="2200" dirty="0"/>
              <a:t>Specify agent instructions to select the tool when appropriate</a:t>
            </a:r>
          </a:p>
          <a:p>
            <a:pPr marL="446278" lvl="1" indent="-457200">
              <a:spcBef>
                <a:spcPts val="600"/>
              </a:spcBef>
              <a:spcAft>
                <a:spcPts val="400"/>
              </a:spcAft>
              <a:buSzPct val="100000"/>
              <a:buFont typeface="+mj-lt"/>
              <a:buAutoNum type="arabicPeriod"/>
            </a:pPr>
            <a:r>
              <a:rPr lang="en-US" sz="2200" dirty="0"/>
              <a:t>Test in the agent playground</a:t>
            </a:r>
          </a:p>
          <a:p>
            <a:pPr marL="446278" lvl="1" indent="-457200">
              <a:spcBef>
                <a:spcPts val="600"/>
              </a:spcBef>
              <a:spcAft>
                <a:spcPts val="400"/>
              </a:spcAft>
              <a:buSzPct val="100000"/>
              <a:buFont typeface="+mj-lt"/>
              <a:buAutoNum type="arabicPeriod"/>
            </a:pPr>
            <a:r>
              <a:rPr lang="en-US" sz="2200" dirty="0"/>
              <a:t>Build a client application that uses the agent</a:t>
            </a:r>
          </a:p>
          <a:p>
            <a:pPr marL="446278" lvl="1" indent="-457200">
              <a:spcBef>
                <a:spcPts val="600"/>
              </a:spcBef>
              <a:spcAft>
                <a:spcPts val="400"/>
              </a:spcAft>
              <a:buSzPct val="100000"/>
              <a:buFont typeface="+mj-lt"/>
              <a:buAutoNum type="arabicPeriod"/>
            </a:pPr>
            <a:endParaRPr lang="en-US" sz="2200" dirty="0"/>
          </a:p>
          <a:p>
            <a:pPr marL="446278" lvl="1" indent="-457200">
              <a:spcBef>
                <a:spcPts val="600"/>
              </a:spcBef>
              <a:spcAft>
                <a:spcPts val="400"/>
              </a:spcAft>
              <a:buSzPct val="100000"/>
              <a:buFont typeface="+mj-lt"/>
              <a:buAutoNum type="arabicPeriod"/>
            </a:pPr>
            <a:endParaRPr lang="en-US" sz="2200" dirty="0"/>
          </a:p>
          <a:p>
            <a:pPr marL="446278" lvl="1" indent="-457200">
              <a:spcBef>
                <a:spcPts val="600"/>
              </a:spcBef>
              <a:spcAft>
                <a:spcPts val="400"/>
              </a:spcAft>
              <a:buSzPct val="100000"/>
              <a:buFont typeface="+mj-lt"/>
              <a:buAutoNum type="arabicPeriod"/>
            </a:pPr>
            <a:endParaRPr lang="en-US" sz="2200" dirty="0"/>
          </a:p>
          <a:p>
            <a:pPr marL="565150" lvl="2" indent="-457200">
              <a:spcBef>
                <a:spcPts val="200"/>
              </a:spcBef>
              <a:spcAft>
                <a:spcPts val="400"/>
              </a:spcAft>
              <a:buSzPct val="100000"/>
              <a:buFont typeface="+mj-lt"/>
              <a:buAutoNum type="arabicPeriod"/>
            </a:pPr>
            <a:endParaRPr lang="en-US" sz="2000" dirty="0"/>
          </a:p>
        </p:txBody>
      </p:sp>
    </p:spTree>
    <p:extLst>
      <p:ext uri="{BB962C8B-B14F-4D97-AF65-F5344CB8AC3E}">
        <p14:creationId xmlns:p14="http://schemas.microsoft.com/office/powerpoint/2010/main" val="41455397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7552-EEAE-49ED-0FC6-A9EBF357EB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DC83EA-47A7-7D0F-E2CF-0952D2B0483B}"/>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1BED4495-5A6B-65EE-D726-A5C072FE47D0}"/>
              </a:ext>
            </a:extLst>
          </p:cNvPr>
          <p:cNvSpPr>
            <a:spLocks noGrp="1"/>
          </p:cNvSpPr>
          <p:nvPr>
            <p:ph type="body" sz="quarter" idx="16"/>
          </p:nvPr>
        </p:nvSpPr>
        <p:spPr>
          <a:xfrm>
            <a:off x="584199" y="1594155"/>
            <a:ext cx="5654573" cy="307777"/>
          </a:xfrm>
        </p:spPr>
        <p:txBody>
          <a:bodyPr/>
          <a:lstStyle/>
          <a:p>
            <a:r>
              <a:rPr lang="en-US" sz="2000" dirty="0"/>
              <a:t>Develop a text analysis agent</a:t>
            </a:r>
          </a:p>
        </p:txBody>
      </p:sp>
      <p:sp>
        <p:nvSpPr>
          <p:cNvPr id="6" name="Text Placeholder 5">
            <a:extLst>
              <a:ext uri="{FF2B5EF4-FFF2-40B4-BE49-F238E27FC236}">
                <a16:creationId xmlns:a16="http://schemas.microsoft.com/office/drawing/2014/main" id="{53027B89-0569-77D0-F1A0-77E3D7925406}"/>
              </a:ext>
            </a:extLst>
          </p:cNvPr>
          <p:cNvSpPr>
            <a:spLocks noGrp="1"/>
          </p:cNvSpPr>
          <p:nvPr>
            <p:ph type="body" sz="quarter" idx="15"/>
          </p:nvPr>
        </p:nvSpPr>
        <p:spPr>
          <a:xfrm>
            <a:off x="586389" y="2085764"/>
            <a:ext cx="5652201"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Create an agent in Microsoft Foundry</a:t>
            </a:r>
          </a:p>
          <a:p>
            <a:pPr defTabSz="914367">
              <a:spcBef>
                <a:spcPts val="0"/>
              </a:spcBef>
              <a:buSzTx/>
              <a:defRPr/>
            </a:pPr>
            <a:r>
              <a:rPr lang="en-US" dirty="0"/>
              <a:t>Add and test the Azure Language MCP tool</a:t>
            </a:r>
          </a:p>
          <a:p>
            <a:pPr defTabSz="914367">
              <a:spcBef>
                <a:spcPts val="0"/>
              </a:spcBef>
              <a:buSzTx/>
              <a:defRPr/>
            </a:pPr>
            <a:r>
              <a:rPr lang="en-US" dirty="0"/>
              <a:t>Create a client application for the agent</a:t>
            </a:r>
          </a:p>
          <a:p>
            <a:endParaRPr lang="en-US" dirty="0"/>
          </a:p>
        </p:txBody>
      </p:sp>
      <p:sp>
        <p:nvSpPr>
          <p:cNvPr id="10" name="TextBox 9">
            <a:extLst>
              <a:ext uri="{FF2B5EF4-FFF2-40B4-BE49-F238E27FC236}">
                <a16:creationId xmlns:a16="http://schemas.microsoft.com/office/drawing/2014/main" id="{F41FA5DB-9671-EC85-80C8-6BC6769B39C4}"/>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https://go.microsoft.com/fwlink/?linkid=2356518</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99D66C76-E130-ED46-BEA5-56A6CFF05CC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6F11D801-646F-C1C7-856A-2863ED94FE88}"/>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r="23294"/>
          <a:stretch>
            <a:fillRect/>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4F05B9B2-0A07-5BE4-6F8A-150D4C29A259}"/>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99500335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C152-A6E3-6F33-7CA2-CA9F67824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76E6D-D0D9-2B59-A302-8D7E5FD41019}"/>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A15826A6-6599-C39F-FB74-667354C560AF}"/>
              </a:ext>
            </a:extLst>
          </p:cNvPr>
          <p:cNvSpPr>
            <a:spLocks noGrp="1"/>
          </p:cNvSpPr>
          <p:nvPr>
            <p:ph type="body" sz="quarter" idx="17"/>
          </p:nvPr>
        </p:nvSpPr>
        <p:spPr>
          <a:xfrm>
            <a:off x="1235075" y="2348106"/>
            <a:ext cx="8778782" cy="215444"/>
          </a:xfrm>
        </p:spPr>
        <p:txBody>
          <a:bodyPr/>
          <a:lstStyle/>
          <a:p>
            <a:r>
              <a:rPr lang="en-US" b="1" dirty="0"/>
              <a:t>What is the primary role of the Azure Language MCP server?</a:t>
            </a:r>
          </a:p>
        </p:txBody>
      </p:sp>
      <p:sp>
        <p:nvSpPr>
          <p:cNvPr id="9" name="Text Placeholder 8">
            <a:extLst>
              <a:ext uri="{FF2B5EF4-FFF2-40B4-BE49-F238E27FC236}">
                <a16:creationId xmlns:a16="http://schemas.microsoft.com/office/drawing/2014/main" id="{54B120D2-420C-9741-DA22-426253811E9C}"/>
              </a:ext>
            </a:extLst>
          </p:cNvPr>
          <p:cNvSpPr>
            <a:spLocks noGrp="1"/>
          </p:cNvSpPr>
          <p:nvPr>
            <p:ph type="body" sz="quarter" idx="15"/>
          </p:nvPr>
        </p:nvSpPr>
        <p:spPr>
          <a:xfrm>
            <a:off x="1235075" y="2673319"/>
            <a:ext cx="8775098" cy="732508"/>
          </a:xfrm>
          <a:noFill/>
        </p:spPr>
        <p:txBody>
          <a:bodyPr/>
          <a:lstStyle/>
          <a:p>
            <a:r>
              <a:rPr lang="en-US" noProof="0" dirty="0"/>
              <a:t>To train and fine-tune custom language models for use by AI agents</a:t>
            </a:r>
          </a:p>
          <a:p>
            <a:r>
              <a:rPr lang="en-US" noProof="0" dirty="0"/>
              <a:t>To expose Azure Language text analysis capabilities as MCP tools for agents</a:t>
            </a:r>
          </a:p>
          <a:p>
            <a:r>
              <a:rPr lang="en-US" noProof="0" dirty="0"/>
              <a:t>To deploy and manage large language models in an Azure subscription</a:t>
            </a:r>
          </a:p>
        </p:txBody>
      </p:sp>
      <p:sp>
        <p:nvSpPr>
          <p:cNvPr id="18" name="Text Placeholder 17">
            <a:extLst>
              <a:ext uri="{FF2B5EF4-FFF2-40B4-BE49-F238E27FC236}">
                <a16:creationId xmlns:a16="http://schemas.microsoft.com/office/drawing/2014/main" id="{310D9CF5-5AD8-3F28-6509-E6D4A9D46513}"/>
              </a:ext>
            </a:extLst>
          </p:cNvPr>
          <p:cNvSpPr>
            <a:spLocks noGrp="1"/>
          </p:cNvSpPr>
          <p:nvPr>
            <p:ph type="body" sz="quarter" idx="22"/>
          </p:nvPr>
        </p:nvSpPr>
        <p:spPr>
          <a:xfrm>
            <a:off x="1235075" y="4081535"/>
            <a:ext cx="8778782" cy="215444"/>
          </a:xfrm>
        </p:spPr>
        <p:txBody>
          <a:bodyPr/>
          <a:lstStyle/>
          <a:p>
            <a:r>
              <a:rPr lang="en-US" b="1" dirty="0"/>
              <a:t>How does an agent determine which Azure Language MCP tool to call when processing a user's prompt?</a:t>
            </a:r>
            <a:endParaRPr lang="en-US" noProof="0" dirty="0"/>
          </a:p>
        </p:txBody>
      </p:sp>
      <p:sp>
        <p:nvSpPr>
          <p:cNvPr id="19" name="Text Placeholder 18">
            <a:extLst>
              <a:ext uri="{FF2B5EF4-FFF2-40B4-BE49-F238E27FC236}">
                <a16:creationId xmlns:a16="http://schemas.microsoft.com/office/drawing/2014/main" id="{85615F16-5D3B-2FD7-4DB2-9595560BBCC4}"/>
              </a:ext>
            </a:extLst>
          </p:cNvPr>
          <p:cNvSpPr>
            <a:spLocks noGrp="1"/>
          </p:cNvSpPr>
          <p:nvPr>
            <p:ph type="body" sz="quarter" idx="23"/>
          </p:nvPr>
        </p:nvSpPr>
        <p:spPr>
          <a:xfrm>
            <a:off x="1235074" y="4429767"/>
            <a:ext cx="8775098" cy="732508"/>
          </a:xfrm>
        </p:spPr>
        <p:txBody>
          <a:bodyPr/>
          <a:lstStyle/>
          <a:p>
            <a:r>
              <a:rPr lang="en-US" dirty="0"/>
              <a:t>The developer writes routing logic to direct each prompt to a specific tool</a:t>
            </a:r>
          </a:p>
          <a:p>
            <a:r>
              <a:rPr lang="en-US" dirty="0"/>
              <a:t>The agent matches the prompt to tool descriptions received from the MCP server</a:t>
            </a:r>
          </a:p>
          <a:p>
            <a:r>
              <a:rPr lang="en-US" dirty="0"/>
              <a:t>The MCP server analyzes the prompt and automatically routes it to a tool</a:t>
            </a:r>
          </a:p>
        </p:txBody>
      </p:sp>
      <p:sp>
        <p:nvSpPr>
          <p:cNvPr id="76" name="Oval 75">
            <a:extLst>
              <a:ext uri="{FF2B5EF4-FFF2-40B4-BE49-F238E27FC236}">
                <a16:creationId xmlns:a16="http://schemas.microsoft.com/office/drawing/2014/main" id="{404D9578-F100-2D27-DEF8-9703F8D67833}"/>
              </a:ext>
              <a:ext uri="{C183D7F6-B498-43B3-948B-1728B52AA6E4}">
                <adec:decorative xmlns:adec="http://schemas.microsoft.com/office/drawing/2017/decorative" val="1"/>
              </a:ext>
            </a:extLst>
          </p:cNvPr>
          <p:cNvSpPr>
            <a:spLocks/>
          </p:cNvSpPr>
          <p:nvPr/>
        </p:nvSpPr>
        <p:spPr bwMode="auto">
          <a:xfrm>
            <a:off x="722582" y="22546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CA0DE29A-C331-F24E-4543-D1D46F54BB6C}"/>
              </a:ext>
              <a:ext uri="{C183D7F6-B498-43B3-948B-1728B52AA6E4}">
                <adec:decorative xmlns:adec="http://schemas.microsoft.com/office/drawing/2017/decorative" val="1"/>
              </a:ext>
            </a:extLst>
          </p:cNvPr>
          <p:cNvSpPr>
            <a:spLocks/>
          </p:cNvSpPr>
          <p:nvPr/>
        </p:nvSpPr>
        <p:spPr bwMode="auto">
          <a:xfrm>
            <a:off x="722582" y="408199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2B49D44A-D582-8833-4A99-5DA197C758F2}"/>
              </a:ext>
              <a:ext uri="{C183D7F6-B498-43B3-948B-1728B52AA6E4}">
                <adec:decorative xmlns:adec="http://schemas.microsoft.com/office/drawing/2017/decorative" val="1"/>
              </a:ext>
            </a:extLst>
          </p:cNvPr>
          <p:cNvSpPr>
            <a:spLocks/>
          </p:cNvSpPr>
          <p:nvPr/>
        </p:nvSpPr>
        <p:spPr>
          <a:xfrm>
            <a:off x="1263852" y="473843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1C179E01-8A91-4C85-2C92-1ABCFAFBA829}"/>
              </a:ext>
              <a:ext uri="{C183D7F6-B498-43B3-948B-1728B52AA6E4}">
                <adec:decorative xmlns:adec="http://schemas.microsoft.com/office/drawing/2017/decorative" val="1"/>
              </a:ext>
            </a:extLst>
          </p:cNvPr>
          <p:cNvSpPr>
            <a:spLocks/>
          </p:cNvSpPr>
          <p:nvPr/>
        </p:nvSpPr>
        <p:spPr>
          <a:xfrm>
            <a:off x="1264986" y="296422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779C37C-59DB-5718-00C0-4E21AC635426}"/>
              </a:ext>
            </a:extLst>
          </p:cNvPr>
          <p:cNvSpPr txBox="1">
            <a:spLocks/>
          </p:cNvSpPr>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endParaRPr lang="en-US" sz="1000" dirty="0">
              <a:solidFill>
                <a:srgbClr val="000000"/>
              </a:solidFill>
              <a:latin typeface="Segoe UI"/>
            </a:endParaRPr>
          </a:p>
        </p:txBody>
      </p:sp>
    </p:spTree>
    <p:extLst>
      <p:ext uri="{BB962C8B-B14F-4D97-AF65-F5344CB8AC3E}">
        <p14:creationId xmlns:p14="http://schemas.microsoft.com/office/powerpoint/2010/main" val="108677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CA20-1163-462A-B916-12EFD5AF2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D5724-7E0A-08AD-8472-6701F1CE5B0E}"/>
              </a:ext>
            </a:extLst>
          </p:cNvPr>
          <p:cNvSpPr>
            <a:spLocks noGrp="1"/>
          </p:cNvSpPr>
          <p:nvPr>
            <p:ph type="title"/>
          </p:nvPr>
        </p:nvSpPr>
        <p:spPr>
          <a:xfrm>
            <a:off x="569911" y="2769057"/>
            <a:ext cx="6345239" cy="1231106"/>
          </a:xfrm>
        </p:spPr>
        <p:txBody>
          <a:bodyPr/>
          <a:lstStyle/>
          <a:p>
            <a:r>
              <a:rPr lang="en-US" noProof="0" dirty="0"/>
              <a:t>Develop a speech-capable generative AI application</a:t>
            </a:r>
          </a:p>
        </p:txBody>
      </p:sp>
      <p:sp>
        <p:nvSpPr>
          <p:cNvPr id="4" name="TextBox 3">
            <a:extLst>
              <a:ext uri="{FF2B5EF4-FFF2-40B4-BE49-F238E27FC236}">
                <a16:creationId xmlns:a16="http://schemas.microsoft.com/office/drawing/2014/main" id="{7E6F5E27-6326-E274-D124-D23423508AF4}"/>
              </a:ext>
            </a:extLst>
          </p:cNvPr>
          <p:cNvSpPr txBox="1"/>
          <p:nvPr/>
        </p:nvSpPr>
        <p:spPr>
          <a:xfrm>
            <a:off x="478471" y="4000163"/>
            <a:ext cx="5230566" cy="363946"/>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0" normalizeH="0" baseline="0" noProof="0" dirty="0">
                <a:ln>
                  <a:noFill/>
                </a:ln>
                <a:solidFill>
                  <a:srgbClr val="BF3AC4"/>
                </a:solidFill>
                <a:effectLst/>
                <a:uLnTx/>
                <a:uFillTx/>
                <a:latin typeface="Segoe UI"/>
                <a:ea typeface="+mn-ea"/>
                <a:cs typeface="+mn-cs"/>
              </a:rPr>
              <a:t>https://aka.ms/mslearn-generative-ai-speech</a:t>
            </a:r>
          </a:p>
        </p:txBody>
      </p:sp>
    </p:spTree>
    <p:extLst>
      <p:ext uri="{BB962C8B-B14F-4D97-AF65-F5344CB8AC3E}">
        <p14:creationId xmlns:p14="http://schemas.microsoft.com/office/powerpoint/2010/main" val="3074231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8A511-8EFF-4188-D863-4A7619E831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56818F-E974-9BCE-F01E-80CD788908D6}"/>
              </a:ext>
            </a:extLst>
          </p:cNvPr>
          <p:cNvSpPr>
            <a:spLocks noGrp="1"/>
          </p:cNvSpPr>
          <p:nvPr>
            <p:ph type="title"/>
          </p:nvPr>
        </p:nvSpPr>
        <p:spPr>
          <a:xfrm>
            <a:off x="588261" y="585216"/>
            <a:ext cx="11011601" cy="492443"/>
          </a:xfrm>
        </p:spPr>
        <p:txBody>
          <a:bodyPr/>
          <a:lstStyle/>
          <a:p>
            <a:r>
              <a:rPr lang="en-US" sz="3200" dirty="0"/>
              <a:t>Speech-capable models in Microsoft Foundry Models</a:t>
            </a:r>
          </a:p>
        </p:txBody>
      </p:sp>
      <p:sp>
        <p:nvSpPr>
          <p:cNvPr id="3" name="Footer Placeholder 2">
            <a:extLst>
              <a:ext uri="{FF2B5EF4-FFF2-40B4-BE49-F238E27FC236}">
                <a16:creationId xmlns:a16="http://schemas.microsoft.com/office/drawing/2014/main" id="{FB251CB8-3635-05D4-B785-8FAFDE0FD7D5}"/>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8" name="Text Placeholder 7">
            <a:extLst>
              <a:ext uri="{FF2B5EF4-FFF2-40B4-BE49-F238E27FC236}">
                <a16:creationId xmlns:a16="http://schemas.microsoft.com/office/drawing/2014/main" id="{E16706E3-46BE-33FF-D0AF-8979E527B911}"/>
              </a:ext>
            </a:extLst>
          </p:cNvPr>
          <p:cNvSpPr>
            <a:spLocks noGrp="1"/>
          </p:cNvSpPr>
          <p:nvPr>
            <p:ph type="body" sz="quarter" idx="17"/>
          </p:nvPr>
        </p:nvSpPr>
        <p:spPr>
          <a:xfrm>
            <a:off x="473720" y="2208237"/>
            <a:ext cx="5163755" cy="1703030"/>
          </a:xfrm>
        </p:spPr>
        <p:txBody>
          <a:bodyPr/>
          <a:lstStyle/>
          <a:p>
            <a:pPr>
              <a:defRPr/>
            </a:pPr>
            <a:r>
              <a:rPr lang="en-US" sz="2400" dirty="0">
                <a:solidFill>
                  <a:srgbClr val="000000"/>
                </a:solidFill>
              </a:rPr>
              <a:t>Filter and search for:</a:t>
            </a:r>
          </a:p>
          <a:p>
            <a:pPr marL="280988" lvl="1" indent="-180975">
              <a:spcBef>
                <a:spcPts val="200"/>
              </a:spcBef>
              <a:spcAft>
                <a:spcPts val="400"/>
              </a:spcAft>
              <a:defRPr/>
            </a:pPr>
            <a:r>
              <a:rPr lang="en-US" sz="2000" dirty="0">
                <a:solidFill>
                  <a:srgbClr val="000000"/>
                </a:solidFill>
              </a:rPr>
              <a:t>Generative AI models that can transcribe speech to text</a:t>
            </a:r>
          </a:p>
          <a:p>
            <a:pPr marL="280988" lvl="1" indent="-180975">
              <a:spcBef>
                <a:spcPts val="200"/>
              </a:spcBef>
              <a:spcAft>
                <a:spcPts val="400"/>
              </a:spcAft>
              <a:defRPr/>
            </a:pPr>
            <a:r>
              <a:rPr lang="en-US" sz="2000" dirty="0">
                <a:solidFill>
                  <a:srgbClr val="000000"/>
                </a:solidFill>
              </a:rPr>
              <a:t>Generative AI models that can synthesize text to speech</a:t>
            </a:r>
            <a:endParaRPr lang="en-US" sz="1600" dirty="0"/>
          </a:p>
        </p:txBody>
      </p:sp>
      <p:pic>
        <p:nvPicPr>
          <p:cNvPr id="2" name="Picture 1" descr="Screenshot of the model catalog in the Foundry Portal.">
            <a:extLst>
              <a:ext uri="{FF2B5EF4-FFF2-40B4-BE49-F238E27FC236}">
                <a16:creationId xmlns:a16="http://schemas.microsoft.com/office/drawing/2014/main" id="{F8F7DC3F-AF5B-2531-81A0-F8976752B39C}"/>
              </a:ext>
            </a:extLst>
          </p:cNvPr>
          <p:cNvPicPr>
            <a:picLocks noChangeAspect="1"/>
          </p:cNvPicPr>
          <p:nvPr/>
        </p:nvPicPr>
        <p:blipFill>
          <a:blip r:embed="rId3"/>
          <a:stretch>
            <a:fillRect/>
          </a:stretch>
        </p:blipFill>
        <p:spPr>
          <a:xfrm>
            <a:off x="5830671" y="1501084"/>
            <a:ext cx="6049813" cy="4713812"/>
          </a:xfrm>
          <a:prstGeom prst="rect">
            <a:avLst/>
          </a:prstGeom>
          <a:effectLst/>
        </p:spPr>
      </p:pic>
    </p:spTree>
    <p:extLst>
      <p:ext uri="{BB962C8B-B14F-4D97-AF65-F5344CB8AC3E}">
        <p14:creationId xmlns:p14="http://schemas.microsoft.com/office/powerpoint/2010/main" val="30281576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8A511-8EFF-4188-D863-4A7619E831C8}"/>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46D84DA5-D77E-F472-B3BD-93515B5CA995}"/>
              </a:ext>
            </a:extLst>
          </p:cNvPr>
          <p:cNvSpPr/>
          <p:nvPr/>
        </p:nvSpPr>
        <p:spPr bwMode="auto">
          <a:xfrm>
            <a:off x="1871187" y="1857645"/>
            <a:ext cx="8163358" cy="1486893"/>
          </a:xfrm>
          <a:prstGeom prst="roundRect">
            <a:avLst/>
          </a:prstGeom>
          <a:solidFill>
            <a:schemeClr val="bg1">
              <a:lumMod val="95000"/>
            </a:schemeClr>
          </a:solidFill>
          <a:ln w="28575">
            <a:solidFill>
              <a:srgbClr val="46366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C956818F-E974-9BCE-F01E-80CD788908D6}"/>
              </a:ext>
            </a:extLst>
          </p:cNvPr>
          <p:cNvSpPr>
            <a:spLocks noGrp="1"/>
          </p:cNvSpPr>
          <p:nvPr>
            <p:ph type="title"/>
          </p:nvPr>
        </p:nvSpPr>
        <p:spPr>
          <a:xfrm>
            <a:off x="588261" y="585216"/>
            <a:ext cx="11011601" cy="492443"/>
          </a:xfrm>
        </p:spPr>
        <p:txBody>
          <a:bodyPr/>
          <a:lstStyle/>
          <a:p>
            <a:r>
              <a:rPr lang="en-US" sz="3200" dirty="0"/>
              <a:t>Using speech-capable generative AI models</a:t>
            </a:r>
          </a:p>
        </p:txBody>
      </p:sp>
      <p:sp>
        <p:nvSpPr>
          <p:cNvPr id="3" name="Footer Placeholder 2">
            <a:extLst>
              <a:ext uri="{FF2B5EF4-FFF2-40B4-BE49-F238E27FC236}">
                <a16:creationId xmlns:a16="http://schemas.microsoft.com/office/drawing/2014/main" id="{FB251CB8-3635-05D4-B785-8FAFDE0FD7D5}"/>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8" name="Picture 17">
            <a:extLst>
              <a:ext uri="{FF2B5EF4-FFF2-40B4-BE49-F238E27FC236}">
                <a16:creationId xmlns:a16="http://schemas.microsoft.com/office/drawing/2014/main" id="{3F828394-ADC0-56F7-88A6-614F514519AA}"/>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1496431" y="1436443"/>
            <a:ext cx="876572" cy="986842"/>
          </a:xfrm>
          <a:prstGeom prst="rect">
            <a:avLst/>
          </a:prstGeom>
        </p:spPr>
      </p:pic>
      <p:sp>
        <p:nvSpPr>
          <p:cNvPr id="22" name="Rectangle: Rounded Corners 21">
            <a:extLst>
              <a:ext uri="{FF2B5EF4-FFF2-40B4-BE49-F238E27FC236}">
                <a16:creationId xmlns:a16="http://schemas.microsoft.com/office/drawing/2014/main" id="{61F831D4-D4BA-FE65-10A9-B6BBF70090D8}"/>
              </a:ext>
            </a:extLst>
          </p:cNvPr>
          <p:cNvSpPr/>
          <p:nvPr/>
        </p:nvSpPr>
        <p:spPr bwMode="auto">
          <a:xfrm>
            <a:off x="2682218" y="2279064"/>
            <a:ext cx="6501539" cy="986250"/>
          </a:xfrm>
          <a:prstGeom prst="roundRect">
            <a:avLst/>
          </a:prstGeom>
          <a:solidFill>
            <a:schemeClr val="bg1"/>
          </a:solidFill>
          <a:ln w="28575">
            <a:solidFill>
              <a:srgbClr val="46366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a:extLst>
              <a:ext uri="{FF2B5EF4-FFF2-40B4-BE49-F238E27FC236}">
                <a16:creationId xmlns:a16="http://schemas.microsoft.com/office/drawing/2014/main" id="{DE02A792-CB6A-7378-0297-16ADFEEEF964}"/>
              </a:ext>
            </a:extLst>
          </p:cNvPr>
          <p:cNvPicPr>
            <a:picLocks noChangeAspect="1"/>
          </p:cNvPicPr>
          <p:nvPr/>
        </p:nvPicPr>
        <p:blipFill>
          <a:blip r:embed="rId4"/>
          <a:stretch>
            <a:fillRect/>
          </a:stretch>
        </p:blipFill>
        <p:spPr>
          <a:xfrm>
            <a:off x="2249742" y="1850348"/>
            <a:ext cx="794161" cy="794161"/>
          </a:xfrm>
          <a:prstGeom prst="rect">
            <a:avLst/>
          </a:prstGeom>
        </p:spPr>
      </p:pic>
      <p:pic>
        <p:nvPicPr>
          <p:cNvPr id="15" name="Picture 14">
            <a:extLst>
              <a:ext uri="{FF2B5EF4-FFF2-40B4-BE49-F238E27FC236}">
                <a16:creationId xmlns:a16="http://schemas.microsoft.com/office/drawing/2014/main" id="{21A60807-FDFC-FD9C-E419-C316B95CEA77}"/>
              </a:ext>
            </a:extLst>
          </p:cNvPr>
          <p:cNvPicPr>
            <a:picLocks noChangeAspect="1"/>
          </p:cNvPicPr>
          <p:nvPr/>
        </p:nvPicPr>
        <p:blipFill>
          <a:blip r:embed="rId5"/>
          <a:stretch>
            <a:fillRect/>
          </a:stretch>
        </p:blipFill>
        <p:spPr>
          <a:xfrm>
            <a:off x="4496856" y="2322549"/>
            <a:ext cx="645238" cy="645238"/>
          </a:xfrm>
          <a:prstGeom prst="rect">
            <a:avLst/>
          </a:prstGeom>
        </p:spPr>
      </p:pic>
      <p:pic>
        <p:nvPicPr>
          <p:cNvPr id="23" name="Picture 22">
            <a:extLst>
              <a:ext uri="{FF2B5EF4-FFF2-40B4-BE49-F238E27FC236}">
                <a16:creationId xmlns:a16="http://schemas.microsoft.com/office/drawing/2014/main" id="{2D7EAB47-76D7-11D9-1085-752A1A217308}"/>
              </a:ext>
            </a:extLst>
          </p:cNvPr>
          <p:cNvPicPr>
            <a:picLocks noChangeAspect="1"/>
          </p:cNvPicPr>
          <p:nvPr/>
        </p:nvPicPr>
        <p:blipFill>
          <a:blip r:embed="rId5"/>
          <a:stretch>
            <a:fillRect/>
          </a:stretch>
        </p:blipFill>
        <p:spPr>
          <a:xfrm>
            <a:off x="7024612" y="2322549"/>
            <a:ext cx="645238" cy="645238"/>
          </a:xfrm>
          <a:prstGeom prst="rect">
            <a:avLst/>
          </a:prstGeom>
        </p:spPr>
      </p:pic>
      <p:sp>
        <p:nvSpPr>
          <p:cNvPr id="25" name="TextBox 24">
            <a:extLst>
              <a:ext uri="{FF2B5EF4-FFF2-40B4-BE49-F238E27FC236}">
                <a16:creationId xmlns:a16="http://schemas.microsoft.com/office/drawing/2014/main" id="{CB2BA871-C56A-7FC7-E83B-8A57DDDE826C}"/>
              </a:ext>
            </a:extLst>
          </p:cNvPr>
          <p:cNvSpPr txBox="1"/>
          <p:nvPr/>
        </p:nvSpPr>
        <p:spPr>
          <a:xfrm>
            <a:off x="2373003" y="1564372"/>
            <a:ext cx="1720407" cy="246221"/>
          </a:xfrm>
          <a:prstGeom prst="rect">
            <a:avLst/>
          </a:prstGeom>
          <a:noFill/>
        </p:spPr>
        <p:txBody>
          <a:bodyPr wrap="none" lIns="0" tIns="0" rIns="0" bIns="0" rtlCol="0">
            <a:spAutoFit/>
          </a:bodyPr>
          <a:lstStyle/>
          <a:p>
            <a:pPr algn="l"/>
            <a:r>
              <a:rPr lang="en-US" sz="1600" dirty="0">
                <a:latin typeface="+mj-lt"/>
              </a:rPr>
              <a:t>Microsoft Foundry</a:t>
            </a:r>
          </a:p>
        </p:txBody>
      </p:sp>
      <p:sp>
        <p:nvSpPr>
          <p:cNvPr id="26" name="TextBox 25">
            <a:extLst>
              <a:ext uri="{FF2B5EF4-FFF2-40B4-BE49-F238E27FC236}">
                <a16:creationId xmlns:a16="http://schemas.microsoft.com/office/drawing/2014/main" id="{EE248C89-57FF-E93A-ED2E-2599704EC100}"/>
              </a:ext>
            </a:extLst>
          </p:cNvPr>
          <p:cNvSpPr txBox="1"/>
          <p:nvPr/>
        </p:nvSpPr>
        <p:spPr>
          <a:xfrm>
            <a:off x="2981935" y="1981537"/>
            <a:ext cx="1516634" cy="246221"/>
          </a:xfrm>
          <a:prstGeom prst="rect">
            <a:avLst/>
          </a:prstGeom>
          <a:noFill/>
        </p:spPr>
        <p:txBody>
          <a:bodyPr wrap="none" lIns="0" tIns="0" rIns="0" bIns="0" rtlCol="0">
            <a:spAutoFit/>
          </a:bodyPr>
          <a:lstStyle/>
          <a:p>
            <a:pPr algn="l"/>
            <a:r>
              <a:rPr lang="en-US" sz="1600" dirty="0">
                <a:latin typeface="+mj-lt"/>
              </a:rPr>
              <a:t>Foundry Models</a:t>
            </a:r>
          </a:p>
        </p:txBody>
      </p:sp>
      <p:sp>
        <p:nvSpPr>
          <p:cNvPr id="28" name="TextBox 27">
            <a:extLst>
              <a:ext uri="{FF2B5EF4-FFF2-40B4-BE49-F238E27FC236}">
                <a16:creationId xmlns:a16="http://schemas.microsoft.com/office/drawing/2014/main" id="{F401BF74-D0AD-2F18-18E5-D2DB1EBC1544}"/>
              </a:ext>
            </a:extLst>
          </p:cNvPr>
          <p:cNvSpPr txBox="1"/>
          <p:nvPr/>
        </p:nvSpPr>
        <p:spPr>
          <a:xfrm>
            <a:off x="4056642" y="2884289"/>
            <a:ext cx="1646285" cy="246221"/>
          </a:xfrm>
          <a:prstGeom prst="rect">
            <a:avLst/>
          </a:prstGeom>
          <a:noFill/>
        </p:spPr>
        <p:txBody>
          <a:bodyPr wrap="none" lIns="0" tIns="0" rIns="0" bIns="0" rtlCol="0">
            <a:spAutoFit/>
          </a:bodyPr>
          <a:lstStyle>
            <a:defPPr>
              <a:defRPr lang="en-US"/>
            </a:defPPr>
            <a:lvl1pPr>
              <a:defRPr sz="1600">
                <a:latin typeface="+mj-lt"/>
              </a:defRPr>
            </a:lvl1pPr>
          </a:lstStyle>
          <a:p>
            <a:r>
              <a:rPr lang="en-US" dirty="0">
                <a:latin typeface="+mn-lt"/>
              </a:rPr>
              <a:t>gpt-4o-transcribe</a:t>
            </a:r>
          </a:p>
        </p:txBody>
      </p:sp>
      <p:sp>
        <p:nvSpPr>
          <p:cNvPr id="29" name="TextBox 28">
            <a:extLst>
              <a:ext uri="{FF2B5EF4-FFF2-40B4-BE49-F238E27FC236}">
                <a16:creationId xmlns:a16="http://schemas.microsoft.com/office/drawing/2014/main" id="{ED66F61C-5164-403B-8626-AB83E178D432}"/>
              </a:ext>
            </a:extLst>
          </p:cNvPr>
          <p:cNvSpPr txBox="1"/>
          <p:nvPr/>
        </p:nvSpPr>
        <p:spPr>
          <a:xfrm>
            <a:off x="6935439" y="2870329"/>
            <a:ext cx="928139" cy="246221"/>
          </a:xfrm>
          <a:prstGeom prst="rect">
            <a:avLst/>
          </a:prstGeom>
          <a:noFill/>
        </p:spPr>
        <p:txBody>
          <a:bodyPr wrap="none" lIns="0" tIns="0" rIns="0" bIns="0" rtlCol="0">
            <a:spAutoFit/>
          </a:bodyPr>
          <a:lstStyle>
            <a:defPPr>
              <a:defRPr lang="en-US"/>
            </a:defPPr>
            <a:lvl1pPr>
              <a:defRPr sz="1600">
                <a:latin typeface="+mj-lt"/>
              </a:defRPr>
            </a:lvl1pPr>
          </a:lstStyle>
          <a:p>
            <a:r>
              <a:rPr lang="en-US" dirty="0">
                <a:latin typeface="+mn-lt"/>
              </a:rPr>
              <a:t>gpt-4o-tts</a:t>
            </a:r>
          </a:p>
        </p:txBody>
      </p:sp>
      <p:grpSp>
        <p:nvGrpSpPr>
          <p:cNvPr id="41" name="Group 40">
            <a:extLst>
              <a:ext uri="{FF2B5EF4-FFF2-40B4-BE49-F238E27FC236}">
                <a16:creationId xmlns:a16="http://schemas.microsoft.com/office/drawing/2014/main" id="{28A21FB1-171D-4BF2-F91C-D516B9B11F73}"/>
              </a:ext>
            </a:extLst>
          </p:cNvPr>
          <p:cNvGrpSpPr/>
          <p:nvPr/>
        </p:nvGrpSpPr>
        <p:grpSpPr>
          <a:xfrm>
            <a:off x="5126271" y="4055245"/>
            <a:ext cx="1891205" cy="1891204"/>
            <a:chOff x="10521113" y="3976905"/>
            <a:chExt cx="2099670" cy="2099670"/>
          </a:xfrm>
        </p:grpSpPr>
        <p:grpSp>
          <p:nvGrpSpPr>
            <p:cNvPr id="49" name="Group 48">
              <a:extLst>
                <a:ext uri="{FF2B5EF4-FFF2-40B4-BE49-F238E27FC236}">
                  <a16:creationId xmlns:a16="http://schemas.microsoft.com/office/drawing/2014/main" id="{642EA151-F206-6197-6625-31A2CCDEC105}"/>
                </a:ext>
              </a:extLst>
            </p:cNvPr>
            <p:cNvGrpSpPr/>
            <p:nvPr/>
          </p:nvGrpSpPr>
          <p:grpSpPr>
            <a:xfrm>
              <a:off x="10521113" y="3976905"/>
              <a:ext cx="2099670" cy="2099670"/>
              <a:chOff x="1491914" y="3563162"/>
              <a:chExt cx="1686910" cy="1686910"/>
            </a:xfrm>
          </p:grpSpPr>
          <p:sp>
            <p:nvSpPr>
              <p:cNvPr id="56" name="Rectangle 55">
                <a:extLst>
                  <a:ext uri="{FF2B5EF4-FFF2-40B4-BE49-F238E27FC236}">
                    <a16:creationId xmlns:a16="http://schemas.microsoft.com/office/drawing/2014/main" id="{5C7DF437-9C2B-EA7E-2DF5-4DAC413A62C8}"/>
                  </a:ext>
                </a:extLst>
              </p:cNvPr>
              <p:cNvSpPr/>
              <p:nvPr/>
            </p:nvSpPr>
            <p:spPr>
              <a:xfrm>
                <a:off x="2130417" y="3899339"/>
                <a:ext cx="438843" cy="628662"/>
              </a:xfrm>
              <a:prstGeom prst="rect">
                <a:avLst/>
              </a:prstGeom>
              <a:solidFill>
                <a:srgbClr val="FFCCC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7C7D422C-5A7F-2BAE-6007-AFF6C6501576}"/>
                  </a:ext>
                </a:extLst>
              </p:cNvPr>
              <p:cNvSpPr/>
              <p:nvPr/>
            </p:nvSpPr>
            <p:spPr>
              <a:xfrm>
                <a:off x="2102069" y="4580468"/>
                <a:ext cx="409903" cy="50653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58" name="Graphic 57" descr="Office worker female with solid fill">
                <a:extLst>
                  <a:ext uri="{FF2B5EF4-FFF2-40B4-BE49-F238E27FC236}">
                    <a16:creationId xmlns:a16="http://schemas.microsoft.com/office/drawing/2014/main" id="{CDDE01D5-9C6E-5AEE-4C3C-24C4A7561B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91914" y="3563162"/>
                <a:ext cx="1686910" cy="1686910"/>
              </a:xfrm>
              <a:prstGeom prst="rect">
                <a:avLst/>
              </a:prstGeom>
            </p:spPr>
          </p:pic>
          <p:pic>
            <p:nvPicPr>
              <p:cNvPr id="59" name="Graphic 58" descr="Office worker female with solid fill">
                <a:extLst>
                  <a:ext uri="{FF2B5EF4-FFF2-40B4-BE49-F238E27FC236}">
                    <a16:creationId xmlns:a16="http://schemas.microsoft.com/office/drawing/2014/main" id="{2A851BAB-4B53-AF83-46B0-F304CC87A8A7}"/>
                  </a:ext>
                </a:extLst>
              </p:cNvPr>
              <p:cNvPicPr>
                <a:picLocks noChangeAspect="1"/>
              </p:cNvPicPr>
              <p:nvPr/>
            </p:nvPicPr>
            <p:blipFill>
              <a:blip>
                <a:extLst>
                  <a:ext uri="{96DAC541-7B7A-43D3-8B79-37D633B846F1}">
                    <asvg:svgBlip xmlns:asvg="http://schemas.microsoft.com/office/drawing/2016/SVG/main" r:embed="rId7"/>
                  </a:ext>
                </a:extLst>
              </a:blip>
              <a:srcRect b="47789"/>
              <a:stretch>
                <a:fillRect/>
              </a:stretch>
            </p:blipFill>
            <p:spPr>
              <a:xfrm>
                <a:off x="1491914" y="3563162"/>
                <a:ext cx="1686910" cy="880758"/>
              </a:xfrm>
              <a:prstGeom prst="rect">
                <a:avLst/>
              </a:prstGeom>
            </p:spPr>
          </p:pic>
        </p:grpSp>
        <p:sp>
          <p:nvSpPr>
            <p:cNvPr id="50" name="Rectangle: Rounded Corners 49">
              <a:extLst>
                <a:ext uri="{FF2B5EF4-FFF2-40B4-BE49-F238E27FC236}">
                  <a16:creationId xmlns:a16="http://schemas.microsoft.com/office/drawing/2014/main" id="{3D341C4E-13D7-5944-C3BE-B8C76F73928B}"/>
                </a:ext>
              </a:extLst>
            </p:cNvPr>
            <p:cNvSpPr/>
            <p:nvPr/>
          </p:nvSpPr>
          <p:spPr>
            <a:xfrm>
              <a:off x="11086623" y="5347785"/>
              <a:ext cx="1010689" cy="690063"/>
            </a:xfrm>
            <a:prstGeom prst="roundRect">
              <a:avLst>
                <a:gd name="adj" fmla="val 7594"/>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51" name="Group 50">
              <a:extLst>
                <a:ext uri="{FF2B5EF4-FFF2-40B4-BE49-F238E27FC236}">
                  <a16:creationId xmlns:a16="http://schemas.microsoft.com/office/drawing/2014/main" id="{2E667216-1635-26E7-988F-DF853C151DF7}"/>
                </a:ext>
              </a:extLst>
            </p:cNvPr>
            <p:cNvGrpSpPr/>
            <p:nvPr/>
          </p:nvGrpSpPr>
          <p:grpSpPr>
            <a:xfrm>
              <a:off x="11510972" y="5603112"/>
              <a:ext cx="197934" cy="197934"/>
              <a:chOff x="8716215" y="1027821"/>
              <a:chExt cx="232631" cy="232631"/>
            </a:xfrm>
          </p:grpSpPr>
          <p:sp>
            <p:nvSpPr>
              <p:cNvPr id="52" name="Rectangle 51">
                <a:extLst>
                  <a:ext uri="{FF2B5EF4-FFF2-40B4-BE49-F238E27FC236}">
                    <a16:creationId xmlns:a16="http://schemas.microsoft.com/office/drawing/2014/main" id="{07973EEB-B9B0-7084-FE88-BF92236E0549}"/>
                  </a:ext>
                </a:extLst>
              </p:cNvPr>
              <p:cNvSpPr/>
              <p:nvPr/>
            </p:nvSpPr>
            <p:spPr>
              <a:xfrm>
                <a:off x="8716215"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3" name="Rectangle 52">
                <a:extLst>
                  <a:ext uri="{FF2B5EF4-FFF2-40B4-BE49-F238E27FC236}">
                    <a16:creationId xmlns:a16="http://schemas.microsoft.com/office/drawing/2014/main" id="{5CDA763B-55D9-82E9-E977-96AC3F3E09E9}"/>
                  </a:ext>
                </a:extLst>
              </p:cNvPr>
              <p:cNvSpPr/>
              <p:nvPr/>
            </p:nvSpPr>
            <p:spPr>
              <a:xfrm>
                <a:off x="8839354"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4" name="Rectangle 53">
                <a:extLst>
                  <a:ext uri="{FF2B5EF4-FFF2-40B4-BE49-F238E27FC236}">
                    <a16:creationId xmlns:a16="http://schemas.microsoft.com/office/drawing/2014/main" id="{26DAD10E-151E-495C-AFCB-D11EEC61EA33}"/>
                  </a:ext>
                </a:extLst>
              </p:cNvPr>
              <p:cNvSpPr/>
              <p:nvPr/>
            </p:nvSpPr>
            <p:spPr>
              <a:xfrm>
                <a:off x="8716215"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BF872AA7-DBB1-00D4-6054-0B89D37C0D8D}"/>
                  </a:ext>
                </a:extLst>
              </p:cNvPr>
              <p:cNvSpPr/>
              <p:nvPr/>
            </p:nvSpPr>
            <p:spPr>
              <a:xfrm>
                <a:off x="8839354"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pic>
        <p:nvPicPr>
          <p:cNvPr id="47" name="Graphic 46" descr="Speech with solid fill">
            <a:extLst>
              <a:ext uri="{FF2B5EF4-FFF2-40B4-BE49-F238E27FC236}">
                <a16:creationId xmlns:a16="http://schemas.microsoft.com/office/drawing/2014/main" id="{1DB6B3E6-714E-BE63-F844-BFD3A965B4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358171" y="3821563"/>
            <a:ext cx="1559275" cy="1559275"/>
          </a:xfrm>
          <a:prstGeom prst="rect">
            <a:avLst/>
          </a:prstGeom>
        </p:spPr>
      </p:pic>
      <p:grpSp>
        <p:nvGrpSpPr>
          <p:cNvPr id="80" name="Group 79">
            <a:extLst>
              <a:ext uri="{FF2B5EF4-FFF2-40B4-BE49-F238E27FC236}">
                <a16:creationId xmlns:a16="http://schemas.microsoft.com/office/drawing/2014/main" id="{6CFDE465-627B-C1FA-0A56-81495DA4DC13}"/>
              </a:ext>
            </a:extLst>
          </p:cNvPr>
          <p:cNvGrpSpPr/>
          <p:nvPr/>
        </p:nvGrpSpPr>
        <p:grpSpPr>
          <a:xfrm>
            <a:off x="4258956" y="3809560"/>
            <a:ext cx="1559275" cy="1559275"/>
            <a:chOff x="4163541" y="3904976"/>
            <a:chExt cx="1559275" cy="1559275"/>
          </a:xfrm>
        </p:grpSpPr>
        <p:pic>
          <p:nvPicPr>
            <p:cNvPr id="77" name="Graphic 76" descr="Speech with solid fill">
              <a:extLst>
                <a:ext uri="{FF2B5EF4-FFF2-40B4-BE49-F238E27FC236}">
                  <a16:creationId xmlns:a16="http://schemas.microsoft.com/office/drawing/2014/main" id="{9A69F2B4-A530-77DC-48D6-08E43DCF5BC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63541" y="3904976"/>
              <a:ext cx="1559275" cy="1559275"/>
            </a:xfrm>
            <a:prstGeom prst="rect">
              <a:avLst/>
            </a:prstGeom>
          </p:spPr>
        </p:pic>
        <p:pic>
          <p:nvPicPr>
            <p:cNvPr id="79" name="Graphic 78" descr="Voice with solid fill">
              <a:extLst>
                <a:ext uri="{FF2B5EF4-FFF2-40B4-BE49-F238E27FC236}">
                  <a16:creationId xmlns:a16="http://schemas.microsoft.com/office/drawing/2014/main" id="{84A829BC-B0B2-C777-88EE-624047B374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34154" y="4089951"/>
              <a:ext cx="914400" cy="914400"/>
            </a:xfrm>
            <a:prstGeom prst="rect">
              <a:avLst/>
            </a:prstGeom>
          </p:spPr>
        </p:pic>
      </p:grpSp>
      <p:grpSp>
        <p:nvGrpSpPr>
          <p:cNvPr id="82" name="Group 81">
            <a:extLst>
              <a:ext uri="{FF2B5EF4-FFF2-40B4-BE49-F238E27FC236}">
                <a16:creationId xmlns:a16="http://schemas.microsoft.com/office/drawing/2014/main" id="{A684DD14-5FB1-3DFF-E439-D41C46BC0B18}"/>
              </a:ext>
            </a:extLst>
          </p:cNvPr>
          <p:cNvGrpSpPr/>
          <p:nvPr/>
        </p:nvGrpSpPr>
        <p:grpSpPr>
          <a:xfrm>
            <a:off x="7264968" y="2967787"/>
            <a:ext cx="1559275" cy="1559275"/>
            <a:chOff x="7169553" y="3063203"/>
            <a:chExt cx="1559275" cy="1559275"/>
          </a:xfrm>
        </p:grpSpPr>
        <p:pic>
          <p:nvPicPr>
            <p:cNvPr id="76" name="Graphic 75" descr="Speech with solid fill">
              <a:extLst>
                <a:ext uri="{FF2B5EF4-FFF2-40B4-BE49-F238E27FC236}">
                  <a16:creationId xmlns:a16="http://schemas.microsoft.com/office/drawing/2014/main" id="{1B9A04FD-613E-BA83-ABBD-4DCC39C5396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flipV="1">
              <a:off x="7169553" y="3063203"/>
              <a:ext cx="1559275" cy="1559275"/>
            </a:xfrm>
            <a:prstGeom prst="rect">
              <a:avLst/>
            </a:prstGeom>
          </p:spPr>
        </p:pic>
        <p:pic>
          <p:nvPicPr>
            <p:cNvPr id="81" name="Graphic 80" descr="Voice with solid fill">
              <a:extLst>
                <a:ext uri="{FF2B5EF4-FFF2-40B4-BE49-F238E27FC236}">
                  <a16:creationId xmlns:a16="http://schemas.microsoft.com/office/drawing/2014/main" id="{79F2DB5B-3499-910A-3935-8BC4A975AA2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12782" y="3494795"/>
              <a:ext cx="914400" cy="914400"/>
            </a:xfrm>
            <a:prstGeom prst="rect">
              <a:avLst/>
            </a:prstGeom>
          </p:spPr>
        </p:pic>
      </p:grpSp>
      <p:grpSp>
        <p:nvGrpSpPr>
          <p:cNvPr id="94" name="Group 93">
            <a:extLst>
              <a:ext uri="{FF2B5EF4-FFF2-40B4-BE49-F238E27FC236}">
                <a16:creationId xmlns:a16="http://schemas.microsoft.com/office/drawing/2014/main" id="{5A40C36E-79C6-421A-5CBA-688EE963E631}"/>
              </a:ext>
            </a:extLst>
          </p:cNvPr>
          <p:cNvGrpSpPr/>
          <p:nvPr/>
        </p:nvGrpSpPr>
        <p:grpSpPr>
          <a:xfrm>
            <a:off x="3395445" y="3008285"/>
            <a:ext cx="1559275" cy="1559275"/>
            <a:chOff x="3395445" y="3008285"/>
            <a:chExt cx="1559275" cy="1559275"/>
          </a:xfrm>
        </p:grpSpPr>
        <p:pic>
          <p:nvPicPr>
            <p:cNvPr id="45" name="Graphic 44" descr="Speech with solid fill">
              <a:extLst>
                <a:ext uri="{FF2B5EF4-FFF2-40B4-BE49-F238E27FC236}">
                  <a16:creationId xmlns:a16="http://schemas.microsoft.com/office/drawing/2014/main" id="{6376E827-E195-E2F7-E086-793E510AEB3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V="1">
              <a:off x="3395445" y="3008285"/>
              <a:ext cx="1559275" cy="1559275"/>
            </a:xfrm>
            <a:prstGeom prst="rect">
              <a:avLst/>
            </a:prstGeom>
          </p:spPr>
        </p:pic>
        <p:grpSp>
          <p:nvGrpSpPr>
            <p:cNvPr id="87" name="Group 86">
              <a:extLst>
                <a:ext uri="{FF2B5EF4-FFF2-40B4-BE49-F238E27FC236}">
                  <a16:creationId xmlns:a16="http://schemas.microsoft.com/office/drawing/2014/main" id="{BE600458-8E1B-E2A4-FC34-563170B51047}"/>
                </a:ext>
              </a:extLst>
            </p:cNvPr>
            <p:cNvGrpSpPr/>
            <p:nvPr/>
          </p:nvGrpSpPr>
          <p:grpSpPr>
            <a:xfrm>
              <a:off x="3856993" y="3773797"/>
              <a:ext cx="571883" cy="212067"/>
              <a:chOff x="1240403" y="4253948"/>
              <a:chExt cx="357809" cy="193482"/>
            </a:xfrm>
          </p:grpSpPr>
          <p:cxnSp>
            <p:nvCxnSpPr>
              <p:cNvPr id="84" name="Straight Connector 83">
                <a:extLst>
                  <a:ext uri="{FF2B5EF4-FFF2-40B4-BE49-F238E27FC236}">
                    <a16:creationId xmlns:a16="http://schemas.microsoft.com/office/drawing/2014/main" id="{65DD374A-F190-A961-313A-AF8451D0C72D}"/>
                  </a:ext>
                </a:extLst>
              </p:cNvPr>
              <p:cNvCxnSpPr/>
              <p:nvPr/>
            </p:nvCxnSpPr>
            <p:spPr>
              <a:xfrm>
                <a:off x="1240403" y="4253948"/>
                <a:ext cx="357809"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C1A21E5-9B4D-76DB-4CE7-F78A40FC4EA4}"/>
                  </a:ext>
                </a:extLst>
              </p:cNvPr>
              <p:cNvCxnSpPr/>
              <p:nvPr/>
            </p:nvCxnSpPr>
            <p:spPr>
              <a:xfrm>
                <a:off x="1240403" y="4350689"/>
                <a:ext cx="357809"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296A1A8-5ED1-46A1-F10C-E1B25187C2D2}"/>
                  </a:ext>
                </a:extLst>
              </p:cNvPr>
              <p:cNvCxnSpPr/>
              <p:nvPr/>
            </p:nvCxnSpPr>
            <p:spPr>
              <a:xfrm>
                <a:off x="1240403" y="4447430"/>
                <a:ext cx="357809"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E2A229C-DDFD-E719-B151-15BA4FF7C5F3}"/>
              </a:ext>
            </a:extLst>
          </p:cNvPr>
          <p:cNvGrpSpPr/>
          <p:nvPr/>
        </p:nvGrpSpPr>
        <p:grpSpPr>
          <a:xfrm>
            <a:off x="6827625" y="4345701"/>
            <a:ext cx="571883" cy="212067"/>
            <a:chOff x="1240403" y="4253948"/>
            <a:chExt cx="357809" cy="193482"/>
          </a:xfrm>
        </p:grpSpPr>
        <p:cxnSp>
          <p:nvCxnSpPr>
            <p:cNvPr id="89" name="Straight Connector 88">
              <a:extLst>
                <a:ext uri="{FF2B5EF4-FFF2-40B4-BE49-F238E27FC236}">
                  <a16:creationId xmlns:a16="http://schemas.microsoft.com/office/drawing/2014/main" id="{EB46B34B-F08E-1D2E-116F-439345B8ADF5}"/>
                </a:ext>
              </a:extLst>
            </p:cNvPr>
            <p:cNvCxnSpPr/>
            <p:nvPr/>
          </p:nvCxnSpPr>
          <p:spPr>
            <a:xfrm>
              <a:off x="1240403" y="4253948"/>
              <a:ext cx="357809"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55474AC-E567-5117-066B-6C0B6568632A}"/>
                </a:ext>
              </a:extLst>
            </p:cNvPr>
            <p:cNvCxnSpPr/>
            <p:nvPr/>
          </p:nvCxnSpPr>
          <p:spPr>
            <a:xfrm>
              <a:off x="1240403" y="4350689"/>
              <a:ext cx="357809"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5C9F267-2AC4-15A8-1989-E3F8B215E50F}"/>
                </a:ext>
              </a:extLst>
            </p:cNvPr>
            <p:cNvCxnSpPr/>
            <p:nvPr/>
          </p:nvCxnSpPr>
          <p:spPr>
            <a:xfrm>
              <a:off x="1240403" y="4447430"/>
              <a:ext cx="357809"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92" name="TextBox 91">
            <a:extLst>
              <a:ext uri="{FF2B5EF4-FFF2-40B4-BE49-F238E27FC236}">
                <a16:creationId xmlns:a16="http://schemas.microsoft.com/office/drawing/2014/main" id="{F76A6780-22B5-0215-ADB4-B466ED420005}"/>
              </a:ext>
            </a:extLst>
          </p:cNvPr>
          <p:cNvSpPr txBox="1"/>
          <p:nvPr/>
        </p:nvSpPr>
        <p:spPr>
          <a:xfrm>
            <a:off x="1521443" y="5042668"/>
            <a:ext cx="3716467" cy="738664"/>
          </a:xfrm>
          <a:prstGeom prst="rect">
            <a:avLst/>
          </a:prstGeom>
          <a:noFill/>
        </p:spPr>
        <p:txBody>
          <a:bodyPr wrap="none" lIns="0" tIns="0" rIns="0" bIns="0" rtlCol="0">
            <a:spAutoFit/>
          </a:bodyPr>
          <a:lstStyle/>
          <a:p>
            <a:pPr algn="l"/>
            <a:r>
              <a:rPr lang="en-US" sz="1600" b="1" dirty="0"/>
              <a:t>Transcription models:</a:t>
            </a:r>
          </a:p>
          <a:p>
            <a:pPr marL="285750" indent="-285750" algn="l">
              <a:buFont typeface="Arial" panose="020B0604020202020204" pitchFamily="34" charset="0"/>
              <a:buChar char="•"/>
            </a:pPr>
            <a:r>
              <a:rPr lang="en-US" sz="1600" dirty="0"/>
              <a:t>Prompt includes binary audio data</a:t>
            </a:r>
          </a:p>
          <a:p>
            <a:pPr marL="285750" indent="-285750" algn="l">
              <a:buFont typeface="Arial" panose="020B0604020202020204" pitchFamily="34" charset="0"/>
              <a:buChar char="•"/>
            </a:pPr>
            <a:r>
              <a:rPr lang="en-US" sz="1600" dirty="0"/>
              <a:t>Response contains transcribed speech</a:t>
            </a:r>
          </a:p>
        </p:txBody>
      </p:sp>
      <p:sp>
        <p:nvSpPr>
          <p:cNvPr id="93" name="TextBox 92">
            <a:extLst>
              <a:ext uri="{FF2B5EF4-FFF2-40B4-BE49-F238E27FC236}">
                <a16:creationId xmlns:a16="http://schemas.microsoft.com/office/drawing/2014/main" id="{7428AD53-BF99-C023-5570-8ED6A7576AB1}"/>
              </a:ext>
            </a:extLst>
          </p:cNvPr>
          <p:cNvSpPr txBox="1"/>
          <p:nvPr/>
        </p:nvSpPr>
        <p:spPr>
          <a:xfrm>
            <a:off x="7229768" y="5042212"/>
            <a:ext cx="2980688" cy="738664"/>
          </a:xfrm>
          <a:prstGeom prst="rect">
            <a:avLst/>
          </a:prstGeom>
          <a:noFill/>
        </p:spPr>
        <p:txBody>
          <a:bodyPr wrap="none" lIns="0" tIns="0" rIns="0" bIns="0" rtlCol="0">
            <a:spAutoFit/>
          </a:bodyPr>
          <a:lstStyle/>
          <a:p>
            <a:pPr algn="l"/>
            <a:r>
              <a:rPr lang="en-US" sz="1600" b="1" dirty="0"/>
              <a:t>Speech synthesis models:</a:t>
            </a:r>
          </a:p>
          <a:p>
            <a:pPr marL="285750" indent="-285750" algn="l">
              <a:buFont typeface="Arial" panose="020B0604020202020204" pitchFamily="34" charset="0"/>
              <a:buChar char="•"/>
            </a:pPr>
            <a:r>
              <a:rPr lang="en-US" sz="1600" dirty="0"/>
              <a:t>Prompt includes text</a:t>
            </a:r>
          </a:p>
          <a:p>
            <a:pPr marL="285750" indent="-285750" algn="l">
              <a:buFont typeface="Arial" panose="020B0604020202020204" pitchFamily="34" charset="0"/>
              <a:buChar char="•"/>
            </a:pPr>
            <a:r>
              <a:rPr lang="en-US" sz="1600" dirty="0"/>
              <a:t>Response contains audio data</a:t>
            </a:r>
          </a:p>
        </p:txBody>
      </p:sp>
    </p:spTree>
    <p:extLst>
      <p:ext uri="{BB962C8B-B14F-4D97-AF65-F5344CB8AC3E}">
        <p14:creationId xmlns:p14="http://schemas.microsoft.com/office/powerpoint/2010/main" val="37311351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4B04-F3C9-C998-3AE5-BA350A4CEB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BDA992-C21D-B233-3286-3395C51AEBC0}"/>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815B4054-BF32-DF3C-D20F-758743887BBA}"/>
              </a:ext>
            </a:extLst>
          </p:cNvPr>
          <p:cNvSpPr>
            <a:spLocks noGrp="1"/>
          </p:cNvSpPr>
          <p:nvPr>
            <p:ph type="body" sz="quarter" idx="16"/>
          </p:nvPr>
        </p:nvSpPr>
        <p:spPr>
          <a:xfrm>
            <a:off x="584199" y="1594155"/>
            <a:ext cx="5654573" cy="307777"/>
          </a:xfrm>
        </p:spPr>
        <p:txBody>
          <a:bodyPr/>
          <a:lstStyle/>
          <a:p>
            <a:r>
              <a:rPr lang="en-US" sz="2000" dirty="0"/>
              <a:t>Use speech-capable generative AI models</a:t>
            </a:r>
          </a:p>
        </p:txBody>
      </p:sp>
      <p:sp>
        <p:nvSpPr>
          <p:cNvPr id="6" name="Text Placeholder 5">
            <a:extLst>
              <a:ext uri="{FF2B5EF4-FFF2-40B4-BE49-F238E27FC236}">
                <a16:creationId xmlns:a16="http://schemas.microsoft.com/office/drawing/2014/main" id="{F3E23995-D6F0-E0E3-5B95-DE11D52D6EF3}"/>
              </a:ext>
            </a:extLst>
          </p:cNvPr>
          <p:cNvSpPr>
            <a:spLocks noGrp="1"/>
          </p:cNvSpPr>
          <p:nvPr>
            <p:ph type="body" sz="quarter" idx="15"/>
          </p:nvPr>
        </p:nvSpPr>
        <p:spPr>
          <a:xfrm>
            <a:off x="586389" y="2085764"/>
            <a:ext cx="5909827"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Find and deploy speech-capable models in Microsoft Foundry</a:t>
            </a:r>
          </a:p>
          <a:p>
            <a:pPr defTabSz="914367">
              <a:spcBef>
                <a:spcPts val="0"/>
              </a:spcBef>
              <a:buSzTx/>
              <a:defRPr/>
            </a:pPr>
            <a:r>
              <a:rPr lang="en-US" dirty="0"/>
              <a:t>Create a speech synthesis app</a:t>
            </a:r>
          </a:p>
          <a:p>
            <a:pPr defTabSz="914367">
              <a:spcBef>
                <a:spcPts val="0"/>
              </a:spcBef>
              <a:buSzTx/>
              <a:defRPr/>
            </a:pPr>
            <a:r>
              <a:rPr lang="en-US" dirty="0"/>
              <a:t>Create a speech transcription app</a:t>
            </a:r>
          </a:p>
          <a:p>
            <a:endParaRPr lang="en-US" dirty="0"/>
          </a:p>
        </p:txBody>
      </p:sp>
      <p:sp>
        <p:nvSpPr>
          <p:cNvPr id="10" name="TextBox 9">
            <a:extLst>
              <a:ext uri="{FF2B5EF4-FFF2-40B4-BE49-F238E27FC236}">
                <a16:creationId xmlns:a16="http://schemas.microsoft.com/office/drawing/2014/main" id="{AE1DA2C4-A7E0-D470-6D35-DFEA4BCBA2DB}"/>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https://go.microsoft.com/fwlink/?linkid=2356363</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pic>
        <p:nvPicPr>
          <p:cNvPr id="2050" name="Picture 2">
            <a:extLst>
              <a:ext uri="{FF2B5EF4-FFF2-40B4-BE49-F238E27FC236}">
                <a16:creationId xmlns:a16="http://schemas.microsoft.com/office/drawing/2014/main" id="{4FBF905D-4301-7A6A-A3A9-92B264065123}"/>
              </a:ext>
              <a:ext uri="{C183D7F6-B498-43B3-948B-1728B52AA6E4}">
                <adec:decorative xmlns:adec="http://schemas.microsoft.com/office/drawing/2017/decorative" val="1"/>
              </a:ext>
            </a:extLst>
          </p:cNvPr>
          <p:cNvPicPr>
            <a:picLocks noChangeAspect="1" noChangeArrowheads="1"/>
          </p:cNvPicPr>
          <p:nvPr/>
        </p:nvPicPr>
        <p:blipFill rotWithShape="1">
          <a:blip r:embed="rId4"/>
          <a:srcRect b="5189"/>
          <a:stretch>
            <a:fillRect/>
          </a:stretch>
        </p:blipFill>
        <p:spPr bwMode="auto">
          <a:xfrm>
            <a:off x="7718864" y="2029636"/>
            <a:ext cx="4473135" cy="3305690"/>
          </a:xfrm>
          <a:prstGeom prst="rect">
            <a:avLst/>
          </a:prstGeom>
          <a:noFill/>
          <a:extLst>
            <a:ext uri="{909E8E84-426E-40DD-AFC4-6F175D3DCCD1}">
              <a14:hiddenFill xmlns:a14="http://schemas.microsoft.com/office/drawing/2010/main">
                <a:solidFill>
                  <a:srgbClr val="FFFFFF"/>
                </a:solidFill>
              </a14:hiddenFill>
            </a:ext>
          </a:extLst>
        </p:spPr>
      </p:pic>
      <p:sp>
        <p:nvSpPr>
          <p:cNvPr id="11" name="Flowchart: Off-page Connector 44">
            <a:extLst>
              <a:ext uri="{FF2B5EF4-FFF2-40B4-BE49-F238E27FC236}">
                <a16:creationId xmlns:a16="http://schemas.microsoft.com/office/drawing/2014/main" id="{C45AA031-7C9F-36A0-FB79-75740C6476A5}"/>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
        <p:nvSpPr>
          <p:cNvPr id="3" name="Footer Placeholder 2">
            <a:extLst>
              <a:ext uri="{FF2B5EF4-FFF2-40B4-BE49-F238E27FC236}">
                <a16:creationId xmlns:a16="http://schemas.microsoft.com/office/drawing/2014/main" id="{39834A2E-CA0D-2AD9-C606-39E2ECFC3873}"/>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25702167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BAF64-EF56-C759-5B86-8F392D01C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54AB4-31C7-0C67-0C6F-31F3D00F13A4}"/>
              </a:ext>
            </a:extLst>
          </p:cNvPr>
          <p:cNvSpPr>
            <a:spLocks noGrp="1"/>
          </p:cNvSpPr>
          <p:nvPr>
            <p:ph type="title"/>
          </p:nvPr>
        </p:nvSpPr>
        <p:spPr>
          <a:xfrm>
            <a:off x="588262" y="585216"/>
            <a:ext cx="8193024" cy="369332"/>
          </a:xfrm>
        </p:spPr>
        <p:txBody>
          <a:bodyPr/>
          <a:lstStyle/>
          <a:p>
            <a:r>
              <a:rPr lang="en-US" dirty="0"/>
              <a:t>Knowledge check</a:t>
            </a:r>
          </a:p>
        </p:txBody>
      </p:sp>
      <p:sp>
        <p:nvSpPr>
          <p:cNvPr id="27" name="Text Placeholder 26">
            <a:extLst>
              <a:ext uri="{FF2B5EF4-FFF2-40B4-BE49-F238E27FC236}">
                <a16:creationId xmlns:a16="http://schemas.microsoft.com/office/drawing/2014/main" id="{8A96C201-BBCE-C156-D930-DF50E7B4280A}"/>
              </a:ext>
            </a:extLst>
          </p:cNvPr>
          <p:cNvSpPr>
            <a:spLocks noGrp="1"/>
          </p:cNvSpPr>
          <p:nvPr>
            <p:ph type="body" sz="quarter" idx="17"/>
          </p:nvPr>
        </p:nvSpPr>
        <p:spPr>
          <a:xfrm>
            <a:off x="1231993" y="2003224"/>
            <a:ext cx="8778782" cy="246221"/>
          </a:xfrm>
        </p:spPr>
        <p:txBody>
          <a:bodyPr/>
          <a:lstStyle/>
          <a:p>
            <a:r>
              <a:rPr lang="en-US" sz="1600" dirty="0"/>
              <a:t>Which model can you use to generate text from speech?</a:t>
            </a:r>
          </a:p>
        </p:txBody>
      </p:sp>
      <p:sp>
        <p:nvSpPr>
          <p:cNvPr id="26" name="Text Placeholder 25">
            <a:extLst>
              <a:ext uri="{FF2B5EF4-FFF2-40B4-BE49-F238E27FC236}">
                <a16:creationId xmlns:a16="http://schemas.microsoft.com/office/drawing/2014/main" id="{4B1A8D6C-0F02-10BA-54C4-2282A70428B6}"/>
              </a:ext>
            </a:extLst>
          </p:cNvPr>
          <p:cNvSpPr>
            <a:spLocks noGrp="1"/>
          </p:cNvSpPr>
          <p:nvPr>
            <p:ph type="body" sz="quarter" idx="15"/>
          </p:nvPr>
        </p:nvSpPr>
        <p:spPr>
          <a:xfrm>
            <a:off x="1236663" y="2412023"/>
            <a:ext cx="8775700" cy="732508"/>
          </a:xfrm>
        </p:spPr>
        <p:txBody>
          <a:bodyPr/>
          <a:lstStyle/>
          <a:p>
            <a:r>
              <a:rPr lang="en-US" dirty="0"/>
              <a:t>gpt-4o-mini</a:t>
            </a:r>
          </a:p>
          <a:p>
            <a:r>
              <a:rPr lang="en-US" dirty="0"/>
              <a:t>gpt-4o-mini-tts</a:t>
            </a:r>
          </a:p>
          <a:p>
            <a:r>
              <a:rPr lang="en-US" dirty="0"/>
              <a:t>gpt-4o-mini-transcribe</a:t>
            </a:r>
          </a:p>
        </p:txBody>
      </p:sp>
      <p:sp>
        <p:nvSpPr>
          <p:cNvPr id="5" name="Graphic 26" descr="Checkmark">
            <a:extLst>
              <a:ext uri="{FF2B5EF4-FFF2-40B4-BE49-F238E27FC236}">
                <a16:creationId xmlns:a16="http://schemas.microsoft.com/office/drawing/2014/main" id="{588EA9C3-6BFE-BAAB-67B4-C544F4D8D065}"/>
              </a:ext>
            </a:extLst>
          </p:cNvPr>
          <p:cNvSpPr/>
          <p:nvPr/>
        </p:nvSpPr>
        <p:spPr>
          <a:xfrm>
            <a:off x="1266510" y="2975771"/>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702573"/>
              </a:solidFill>
              <a:effectLst/>
              <a:uLnTx/>
              <a:uFillTx/>
              <a:latin typeface="Segoe UI"/>
              <a:ea typeface="+mn-ea"/>
              <a:cs typeface="+mn-cs"/>
            </a:endParaRPr>
          </a:p>
        </p:txBody>
      </p:sp>
      <p:sp>
        <p:nvSpPr>
          <p:cNvPr id="30" name="Text Placeholder 29">
            <a:extLst>
              <a:ext uri="{FF2B5EF4-FFF2-40B4-BE49-F238E27FC236}">
                <a16:creationId xmlns:a16="http://schemas.microsoft.com/office/drawing/2014/main" id="{62A5895B-892C-8A56-7D49-9149569C031D}"/>
              </a:ext>
            </a:extLst>
          </p:cNvPr>
          <p:cNvSpPr>
            <a:spLocks noGrp="1"/>
          </p:cNvSpPr>
          <p:nvPr>
            <p:ph type="body" sz="quarter" idx="22"/>
          </p:nvPr>
        </p:nvSpPr>
        <p:spPr>
          <a:xfrm>
            <a:off x="1235075" y="3862988"/>
            <a:ext cx="8778782" cy="246221"/>
          </a:xfrm>
        </p:spPr>
        <p:txBody>
          <a:bodyPr/>
          <a:lstStyle/>
          <a:p>
            <a:r>
              <a:rPr lang="en-US" sz="1600" dirty="0"/>
              <a:t>Which model can you use to synthesize speech from text?</a:t>
            </a:r>
          </a:p>
        </p:txBody>
      </p:sp>
      <p:sp>
        <p:nvSpPr>
          <p:cNvPr id="31" name="Text Placeholder 30">
            <a:extLst>
              <a:ext uri="{FF2B5EF4-FFF2-40B4-BE49-F238E27FC236}">
                <a16:creationId xmlns:a16="http://schemas.microsoft.com/office/drawing/2014/main" id="{1A17891F-5768-3BFF-3BA9-1F22D09B3D8D}"/>
              </a:ext>
            </a:extLst>
          </p:cNvPr>
          <p:cNvSpPr>
            <a:spLocks noGrp="1"/>
          </p:cNvSpPr>
          <p:nvPr>
            <p:ph type="body" sz="quarter" idx="23"/>
          </p:nvPr>
        </p:nvSpPr>
        <p:spPr>
          <a:xfrm>
            <a:off x="1266510" y="4185199"/>
            <a:ext cx="8775700" cy="732508"/>
          </a:xfrm>
        </p:spPr>
        <p:txBody>
          <a:bodyPr/>
          <a:lstStyle/>
          <a:p>
            <a:r>
              <a:rPr lang="en-US" dirty="0"/>
              <a:t>gpt-4o-mini</a:t>
            </a:r>
          </a:p>
          <a:p>
            <a:r>
              <a:rPr lang="en-US" dirty="0"/>
              <a:t>gpt-4o-mini-tts</a:t>
            </a:r>
          </a:p>
          <a:p>
            <a:r>
              <a:rPr lang="en-US" dirty="0"/>
              <a:t>gpt-4o-mini-transcribe</a:t>
            </a:r>
          </a:p>
        </p:txBody>
      </p:sp>
      <p:sp>
        <p:nvSpPr>
          <p:cNvPr id="42" name="Graphic 26" descr="Checkmark">
            <a:extLst>
              <a:ext uri="{FF2B5EF4-FFF2-40B4-BE49-F238E27FC236}">
                <a16:creationId xmlns:a16="http://schemas.microsoft.com/office/drawing/2014/main" id="{7CB73E53-AFEE-A815-B329-36EF7FB4176D}"/>
              </a:ext>
            </a:extLst>
          </p:cNvPr>
          <p:cNvSpPr/>
          <p:nvPr/>
        </p:nvSpPr>
        <p:spPr>
          <a:xfrm>
            <a:off x="1272580" y="4513911"/>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702573"/>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316BF6D8-F5F4-5ABC-7980-AEDF86E0B6E5}"/>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4" name="Oval 3">
            <a:extLst>
              <a:ext uri="{FF2B5EF4-FFF2-40B4-BE49-F238E27FC236}">
                <a16:creationId xmlns:a16="http://schemas.microsoft.com/office/drawing/2014/main" id="{4707A7B3-FC2F-EC85-330A-5FA9B5E3B18E}"/>
              </a:ext>
              <a:ext uri="{C183D7F6-B498-43B3-948B-1728B52AA6E4}">
                <adec:decorative xmlns:adec="http://schemas.microsoft.com/office/drawing/2017/decorative" val="1"/>
              </a:ext>
            </a:extLst>
          </p:cNvPr>
          <p:cNvSpPr>
            <a:spLocks/>
          </p:cNvSpPr>
          <p:nvPr/>
        </p:nvSpPr>
        <p:spPr bwMode="auto">
          <a:xfrm>
            <a:off x="722582" y="1916538"/>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a:ea typeface="+mn-ea"/>
                <a:cs typeface="+mn-cs"/>
              </a:rPr>
              <a:t>1</a:t>
            </a:r>
            <a:endParaRPr kumimoji="0" lang="en-IN" sz="1800" b="1" i="0" u="none" strike="noStrike" kern="1200" cap="none" spc="0" normalizeH="0" baseline="0" noProof="0" dirty="0">
              <a:ln>
                <a:noFill/>
              </a:ln>
              <a:solidFill>
                <a:srgbClr val="000000"/>
              </a:solidFill>
              <a:effectLst/>
              <a:uLnTx/>
              <a:uFillTx/>
              <a:latin typeface="Segoe UI"/>
              <a:ea typeface="+mn-ea"/>
              <a:cs typeface="+mn-cs"/>
            </a:endParaRPr>
          </a:p>
        </p:txBody>
      </p:sp>
      <p:sp>
        <p:nvSpPr>
          <p:cNvPr id="6" name="Oval 5">
            <a:extLst>
              <a:ext uri="{FF2B5EF4-FFF2-40B4-BE49-F238E27FC236}">
                <a16:creationId xmlns:a16="http://schemas.microsoft.com/office/drawing/2014/main" id="{4193BFCB-2861-B191-ED61-2B3319C75585}"/>
              </a:ext>
              <a:ext uri="{C183D7F6-B498-43B3-948B-1728B52AA6E4}">
                <adec:decorative xmlns:adec="http://schemas.microsoft.com/office/drawing/2017/decorative" val="1"/>
              </a:ext>
            </a:extLst>
          </p:cNvPr>
          <p:cNvSpPr>
            <a:spLocks/>
          </p:cNvSpPr>
          <p:nvPr/>
        </p:nvSpPr>
        <p:spPr bwMode="auto">
          <a:xfrm>
            <a:off x="722582" y="378599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a:ea typeface="+mn-ea"/>
                <a:cs typeface="+mn-cs"/>
              </a:rPr>
              <a:t>2</a:t>
            </a:r>
            <a:endParaRPr kumimoji="0" lang="en-IN" sz="1800" b="1"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8411395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769057"/>
            <a:ext cx="6345239" cy="1231106"/>
          </a:xfrm>
        </p:spPr>
        <p:txBody>
          <a:bodyPr/>
          <a:lstStyle/>
          <a:p>
            <a:r>
              <a:rPr lang="en-US" dirty="0"/>
              <a:t>Create speech-enabled apps with Microsoft Foundry</a:t>
            </a:r>
          </a:p>
        </p:txBody>
      </p:sp>
      <p:sp>
        <p:nvSpPr>
          <p:cNvPr id="2" name="Footer Placeholder 1">
            <a:extLst>
              <a:ext uri="{FF2B5EF4-FFF2-40B4-BE49-F238E27FC236}">
                <a16:creationId xmlns:a16="http://schemas.microsoft.com/office/drawing/2014/main" id="{1E604EFB-E75F-BE5C-E624-C75664DA94F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3" name="TextBox 2">
            <a:extLst>
              <a:ext uri="{FF2B5EF4-FFF2-40B4-BE49-F238E27FC236}">
                <a16:creationId xmlns:a16="http://schemas.microsoft.com/office/drawing/2014/main" id="{C482A508-7E30-833C-183E-CCD30EF3BDC4}"/>
              </a:ext>
            </a:extLst>
          </p:cNvPr>
          <p:cNvSpPr txBox="1"/>
          <p:nvPr/>
        </p:nvSpPr>
        <p:spPr>
          <a:xfrm>
            <a:off x="478471" y="4000163"/>
            <a:ext cx="5879298" cy="363946"/>
          </a:xfrm>
          <a:prstGeom prst="rect">
            <a:avLst/>
          </a:prstGeom>
          <a:noFill/>
        </p:spPr>
        <p:txBody>
          <a:bodyPr wrap="square">
            <a:spAutoFit/>
          </a:bodyPr>
          <a:lstStyle/>
          <a:p>
            <a:r>
              <a:rPr lang="en-US" dirty="0">
                <a:solidFill>
                  <a:schemeClr val="accent2"/>
                </a:solidFill>
              </a:rPr>
              <a:t>https://aka.ms/mslearn-speech-app</a:t>
            </a:r>
          </a:p>
        </p:txBody>
      </p:sp>
    </p:spTree>
    <p:extLst>
      <p:ext uri="{BB962C8B-B14F-4D97-AF65-F5344CB8AC3E}">
        <p14:creationId xmlns:p14="http://schemas.microsoft.com/office/powerpoint/2010/main" val="1947883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1" y="585216"/>
            <a:ext cx="6587239" cy="984885"/>
          </a:xfrm>
        </p:spPr>
        <p:txBody>
          <a:bodyPr/>
          <a:lstStyle/>
          <a:p>
            <a:r>
              <a:rPr lang="en-US" dirty="0"/>
              <a:t>Azure Speech in Foundry Tools</a:t>
            </a:r>
          </a:p>
        </p:txBody>
      </p:sp>
      <p:sp>
        <p:nvSpPr>
          <p:cNvPr id="5" name="Text Placeholder 4">
            <a:extLst>
              <a:ext uri="{FF2B5EF4-FFF2-40B4-BE49-F238E27FC236}">
                <a16:creationId xmlns:a16="http://schemas.microsoft.com/office/drawing/2014/main" id="{0616B650-0E57-FB88-A571-F39976BD5D3B}"/>
              </a:ext>
            </a:extLst>
          </p:cNvPr>
          <p:cNvSpPr>
            <a:spLocks noGrp="1"/>
          </p:cNvSpPr>
          <p:nvPr>
            <p:ph type="body" sz="quarter" idx="16"/>
          </p:nvPr>
        </p:nvSpPr>
        <p:spPr>
          <a:xfrm>
            <a:off x="2369826" y="3413213"/>
            <a:ext cx="7713973" cy="1461939"/>
          </a:xfrm>
        </p:spPr>
        <p:txBody>
          <a:bodyPr/>
          <a:lstStyle/>
          <a:p>
            <a:pPr marL="339725" lvl="2" indent="-231775">
              <a:spcBef>
                <a:spcPts val="200"/>
              </a:spcBef>
              <a:spcAft>
                <a:spcPts val="400"/>
              </a:spcAft>
              <a:buSzPct val="100000"/>
            </a:pPr>
            <a:r>
              <a:rPr lang="en-US" sz="2000" b="1" dirty="0"/>
              <a:t>Speech to text</a:t>
            </a:r>
            <a:r>
              <a:rPr lang="en-US" sz="2000" dirty="0"/>
              <a:t>: Transcribe spoken audio</a:t>
            </a:r>
          </a:p>
          <a:p>
            <a:pPr marL="339725" lvl="2" indent="-231775">
              <a:spcBef>
                <a:spcPts val="200"/>
              </a:spcBef>
              <a:spcAft>
                <a:spcPts val="400"/>
              </a:spcAft>
              <a:buSzPct val="100000"/>
            </a:pPr>
            <a:r>
              <a:rPr lang="en-US" sz="2000" b="1" dirty="0"/>
              <a:t>Text to speech</a:t>
            </a:r>
            <a:r>
              <a:rPr lang="en-US" sz="2000" dirty="0"/>
              <a:t>:</a:t>
            </a:r>
            <a:r>
              <a:rPr lang="en-US" sz="2000" b="1" dirty="0"/>
              <a:t> </a:t>
            </a:r>
            <a:r>
              <a:rPr lang="en-US" sz="2000" dirty="0"/>
              <a:t>Synthesize speech </a:t>
            </a:r>
          </a:p>
          <a:p>
            <a:pPr marL="339725" lvl="2" indent="-231775">
              <a:spcBef>
                <a:spcPts val="200"/>
              </a:spcBef>
              <a:spcAft>
                <a:spcPts val="400"/>
              </a:spcAft>
              <a:buSzPct val="100000"/>
            </a:pPr>
            <a:r>
              <a:rPr lang="en-US" sz="2000" b="1" dirty="0"/>
              <a:t>Voice Live</a:t>
            </a:r>
            <a:r>
              <a:rPr lang="en-US" sz="2000" dirty="0"/>
              <a:t>: Real-time conversational speech interactions</a:t>
            </a:r>
          </a:p>
          <a:p>
            <a:pPr marL="339725" lvl="2" indent="-231775">
              <a:spcBef>
                <a:spcPts val="200"/>
              </a:spcBef>
              <a:spcAft>
                <a:spcPts val="400"/>
              </a:spcAft>
              <a:buSzPct val="100000"/>
            </a:pPr>
            <a:r>
              <a:rPr lang="en-US" sz="2000" b="1" dirty="0"/>
              <a:t>Speech translation</a:t>
            </a:r>
            <a:r>
              <a:rPr lang="en-US" sz="2000" dirty="0"/>
              <a:t>: Multilingual translation</a:t>
            </a:r>
          </a:p>
        </p:txBody>
      </p:sp>
      <p:sp>
        <p:nvSpPr>
          <p:cNvPr id="4" name="Footer Placeholder 3">
            <a:extLst>
              <a:ext uri="{FF2B5EF4-FFF2-40B4-BE49-F238E27FC236}">
                <a16:creationId xmlns:a16="http://schemas.microsoft.com/office/drawing/2014/main" id="{05442A31-542B-0FB0-77E7-651CD90FFBE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22" name="Group 21">
            <a:extLst>
              <a:ext uri="{FF2B5EF4-FFF2-40B4-BE49-F238E27FC236}">
                <a16:creationId xmlns:a16="http://schemas.microsoft.com/office/drawing/2014/main" id="{5A894FC7-A105-8779-568A-88E0D2ADFC82}"/>
              </a:ext>
            </a:extLst>
          </p:cNvPr>
          <p:cNvGrpSpPr/>
          <p:nvPr/>
        </p:nvGrpSpPr>
        <p:grpSpPr>
          <a:xfrm>
            <a:off x="2526283" y="1517976"/>
            <a:ext cx="6097015" cy="1673846"/>
            <a:chOff x="3194652" y="1706298"/>
            <a:chExt cx="4725073" cy="1297201"/>
          </a:xfrm>
        </p:grpSpPr>
        <p:grpSp>
          <p:nvGrpSpPr>
            <p:cNvPr id="3" name="Group 2">
              <a:extLst>
                <a:ext uri="{FF2B5EF4-FFF2-40B4-BE49-F238E27FC236}">
                  <a16:creationId xmlns:a16="http://schemas.microsoft.com/office/drawing/2014/main" id="{EA35C0AF-F3D5-6BD5-7912-D8BB6290F6C1}"/>
                </a:ext>
                <a:ext uri="{C183D7F6-B498-43B3-948B-1728B52AA6E4}">
                  <adec:decorative xmlns:adec="http://schemas.microsoft.com/office/drawing/2017/decorative" val="1"/>
                </a:ext>
              </a:extLst>
            </p:cNvPr>
            <p:cNvGrpSpPr/>
            <p:nvPr/>
          </p:nvGrpSpPr>
          <p:grpSpPr>
            <a:xfrm>
              <a:off x="3194652" y="1706298"/>
              <a:ext cx="4725073" cy="1297201"/>
              <a:chOff x="5936067" y="1465354"/>
              <a:chExt cx="4725073" cy="1297201"/>
            </a:xfrm>
          </p:grpSpPr>
          <p:cxnSp>
            <p:nvCxnSpPr>
              <p:cNvPr id="6" name="Straight Arrow Connector 5">
                <a:extLst>
                  <a:ext uri="{FF2B5EF4-FFF2-40B4-BE49-F238E27FC236}">
                    <a16:creationId xmlns:a16="http://schemas.microsoft.com/office/drawing/2014/main" id="{CFAC9DD1-BED3-8D7D-E90C-CA6AEAF1E4AD}"/>
                  </a:ext>
                </a:extLst>
              </p:cNvPr>
              <p:cNvCxnSpPr>
                <a:cxnSpLocks/>
              </p:cNvCxnSpPr>
              <p:nvPr/>
            </p:nvCxnSpPr>
            <p:spPr>
              <a:xfrm>
                <a:off x="6968308" y="2132586"/>
                <a:ext cx="2459657" cy="0"/>
              </a:xfrm>
              <a:prstGeom prst="straightConnector1">
                <a:avLst/>
              </a:prstGeom>
              <a:ln w="50800">
                <a:solidFill>
                  <a:srgbClr val="0078D4"/>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pic>
            <p:nvPicPr>
              <p:cNvPr id="12" name="Graphic 11" descr="Document outline">
                <a:extLst>
                  <a:ext uri="{FF2B5EF4-FFF2-40B4-BE49-F238E27FC236}">
                    <a16:creationId xmlns:a16="http://schemas.microsoft.com/office/drawing/2014/main" id="{B203CDA2-4B29-ACE9-5C84-13F59FCEA9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936067" y="1565880"/>
                <a:ext cx="1032241" cy="1032242"/>
              </a:xfrm>
              <a:prstGeom prst="rect">
                <a:avLst/>
              </a:prstGeom>
            </p:spPr>
          </p:pic>
          <p:grpSp>
            <p:nvGrpSpPr>
              <p:cNvPr id="13" name="Group 12">
                <a:extLst>
                  <a:ext uri="{FF2B5EF4-FFF2-40B4-BE49-F238E27FC236}">
                    <a16:creationId xmlns:a16="http://schemas.microsoft.com/office/drawing/2014/main" id="{779AFBA1-A04C-B854-36DF-53304A5B92D2}"/>
                  </a:ext>
                </a:extLst>
              </p:cNvPr>
              <p:cNvGrpSpPr/>
              <p:nvPr/>
            </p:nvGrpSpPr>
            <p:grpSpPr>
              <a:xfrm>
                <a:off x="9363941" y="1465354"/>
                <a:ext cx="1297199" cy="1297201"/>
                <a:chOff x="8365053" y="1347474"/>
                <a:chExt cx="1297199" cy="1297201"/>
              </a:xfrm>
            </p:grpSpPr>
            <p:pic>
              <p:nvPicPr>
                <p:cNvPr id="14" name="Graphic 13" descr="Speech outline">
                  <a:extLst>
                    <a:ext uri="{FF2B5EF4-FFF2-40B4-BE49-F238E27FC236}">
                      <a16:creationId xmlns:a16="http://schemas.microsoft.com/office/drawing/2014/main" id="{4958C52E-0E01-AEB0-44BF-5E3D850EC19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365053" y="1347474"/>
                  <a:ext cx="1297199" cy="1297201"/>
                </a:xfrm>
                <a:prstGeom prst="rect">
                  <a:avLst/>
                </a:prstGeom>
              </p:spPr>
            </p:pic>
            <p:pic>
              <p:nvPicPr>
                <p:cNvPr id="15" name="Graphic 14" descr="Voice with solid fill">
                  <a:extLst>
                    <a:ext uri="{FF2B5EF4-FFF2-40B4-BE49-F238E27FC236}">
                      <a16:creationId xmlns:a16="http://schemas.microsoft.com/office/drawing/2014/main" id="{ECFFED5B-1E70-D57C-2F97-C098A01A54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55848" y="1563209"/>
                  <a:ext cx="715608" cy="715608"/>
                </a:xfrm>
                <a:prstGeom prst="rect">
                  <a:avLst/>
                </a:prstGeom>
              </p:spPr>
            </p:pic>
          </p:grpSp>
        </p:grpSp>
        <p:grpSp>
          <p:nvGrpSpPr>
            <p:cNvPr id="16" name="Group 15">
              <a:extLst>
                <a:ext uri="{FF2B5EF4-FFF2-40B4-BE49-F238E27FC236}">
                  <a16:creationId xmlns:a16="http://schemas.microsoft.com/office/drawing/2014/main" id="{8D695673-3852-58D1-CA16-094C8A0A3E27}"/>
                </a:ext>
              </a:extLst>
            </p:cNvPr>
            <p:cNvGrpSpPr/>
            <p:nvPr/>
          </p:nvGrpSpPr>
          <p:grpSpPr>
            <a:xfrm>
              <a:off x="5039270" y="1987731"/>
              <a:ext cx="834902" cy="811966"/>
              <a:chOff x="6446932" y="2762555"/>
              <a:chExt cx="1671457" cy="1625538"/>
            </a:xfrm>
          </p:grpSpPr>
          <p:sp>
            <p:nvSpPr>
              <p:cNvPr id="11" name="Rectangle 10">
                <a:extLst>
                  <a:ext uri="{FF2B5EF4-FFF2-40B4-BE49-F238E27FC236}">
                    <a16:creationId xmlns:a16="http://schemas.microsoft.com/office/drawing/2014/main" id="{25119FF9-D116-8915-D79F-7F6ED2F20D95}"/>
                  </a:ext>
                </a:extLst>
              </p:cNvPr>
              <p:cNvSpPr/>
              <p:nvPr/>
            </p:nvSpPr>
            <p:spPr bwMode="auto">
              <a:xfrm>
                <a:off x="6446932" y="2948343"/>
                <a:ext cx="1671457" cy="126324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descr="A blue and black logo&#10;&#10;AI-generated content may be incorrect.">
                <a:extLst>
                  <a:ext uri="{FF2B5EF4-FFF2-40B4-BE49-F238E27FC236}">
                    <a16:creationId xmlns:a16="http://schemas.microsoft.com/office/drawing/2014/main" id="{7E8C0ADE-85C1-0ACC-A859-774BC3E85E6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492851" y="2762555"/>
                <a:ext cx="1625538" cy="1625538"/>
              </a:xfrm>
              <a:prstGeom prst="rect">
                <a:avLst/>
              </a:prstGeom>
            </p:spPr>
          </p:pic>
        </p:grpSp>
      </p:grpSp>
    </p:spTree>
    <p:extLst>
      <p:ext uri="{BB962C8B-B14F-4D97-AF65-F5344CB8AC3E}">
        <p14:creationId xmlns:p14="http://schemas.microsoft.com/office/powerpoint/2010/main" val="133754582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1" y="585216"/>
            <a:ext cx="8396989" cy="984885"/>
          </a:xfrm>
        </p:spPr>
        <p:txBody>
          <a:bodyPr/>
          <a:lstStyle/>
          <a:p>
            <a:r>
              <a:rPr lang="en-US" dirty="0"/>
              <a:t>Using Azure Speech in Foundry Tools</a:t>
            </a:r>
          </a:p>
        </p:txBody>
      </p:sp>
      <p:sp>
        <p:nvSpPr>
          <p:cNvPr id="4" name="Footer Placeholder 3">
            <a:extLst>
              <a:ext uri="{FF2B5EF4-FFF2-40B4-BE49-F238E27FC236}">
                <a16:creationId xmlns:a16="http://schemas.microsoft.com/office/drawing/2014/main" id="{05442A31-542B-0FB0-77E7-651CD90FFBE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17" name="TextBox 16">
            <a:extLst>
              <a:ext uri="{FF2B5EF4-FFF2-40B4-BE49-F238E27FC236}">
                <a16:creationId xmlns:a16="http://schemas.microsoft.com/office/drawing/2014/main" id="{ACFE2B8B-6732-5119-992F-8B9BF3795711}"/>
              </a:ext>
              <a:ext uri="{C183D7F6-B498-43B3-948B-1728B52AA6E4}">
                <adec:decorative xmlns:adec="http://schemas.microsoft.com/office/drawing/2017/decorative" val="0"/>
              </a:ext>
            </a:extLst>
          </p:cNvPr>
          <p:cNvSpPr txBox="1"/>
          <p:nvPr/>
        </p:nvSpPr>
        <p:spPr>
          <a:xfrm>
            <a:off x="598899" y="1699451"/>
            <a:ext cx="5837530" cy="3385542"/>
          </a:xfrm>
          <a:prstGeom prst="rect">
            <a:avLst/>
          </a:prstGeom>
          <a:noFill/>
        </p:spPr>
        <p:txBody>
          <a:bodyPr wrap="square">
            <a:spAutoFit/>
          </a:bodyPr>
          <a:lstStyle/>
          <a:p>
            <a:pPr marL="457200" indent="-457200" algn="l">
              <a:spcAft>
                <a:spcPts val="600"/>
              </a:spcAft>
              <a:buClr>
                <a:schemeClr val="accent2">
                  <a:lumMod val="75000"/>
                </a:schemeClr>
              </a:buClr>
              <a:buFont typeface="+mj-lt"/>
              <a:buAutoNum type="arabicPeriod"/>
            </a:pPr>
            <a:r>
              <a:rPr lang="en-US" sz="2200" i="0" dirty="0">
                <a:solidFill>
                  <a:srgbClr val="161616"/>
                </a:solidFill>
                <a:effectLst/>
                <a:latin typeface="Segoe UI" panose="020B0502040204020203" pitchFamily="34" charset="0"/>
              </a:rPr>
              <a:t>Connect to the API</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Endpoint:</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Foundry resource*</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Global/Regional endpoint</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Credentials:</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Foundry project API key</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Entra ID</a:t>
            </a:r>
          </a:p>
          <a:p>
            <a:pPr marL="457200" indent="-457200">
              <a:spcAft>
                <a:spcPts val="600"/>
              </a:spcAft>
              <a:buClr>
                <a:schemeClr val="accent2">
                  <a:lumMod val="75000"/>
                </a:schemeClr>
              </a:buClr>
              <a:buFont typeface="+mj-lt"/>
              <a:buAutoNum type="arabicPeriod"/>
            </a:pPr>
            <a:r>
              <a:rPr lang="en-US" sz="2000" dirty="0">
                <a:solidFill>
                  <a:srgbClr val="161616"/>
                </a:solidFill>
                <a:latin typeface="Segoe UI" panose="020B0502040204020203" pitchFamily="34" charset="0"/>
              </a:rPr>
              <a:t>Create a </a:t>
            </a:r>
            <a:r>
              <a:rPr lang="en-US" sz="2000" i="1" dirty="0" err="1">
                <a:solidFill>
                  <a:srgbClr val="161616"/>
                </a:solidFill>
                <a:latin typeface="Segoe UI" panose="020B0502040204020203" pitchFamily="34" charset="0"/>
              </a:rPr>
              <a:t>SpeechConfig</a:t>
            </a:r>
            <a:r>
              <a:rPr lang="en-US" sz="2000" i="1" dirty="0">
                <a:solidFill>
                  <a:srgbClr val="161616"/>
                </a:solidFill>
                <a:latin typeface="Segoe UI" panose="020B0502040204020203" pitchFamily="34" charset="0"/>
              </a:rPr>
              <a:t> </a:t>
            </a:r>
            <a:r>
              <a:rPr lang="en-US" sz="2000" dirty="0">
                <a:solidFill>
                  <a:srgbClr val="161616"/>
                </a:solidFill>
                <a:latin typeface="Segoe UI" panose="020B0502040204020203" pitchFamily="34" charset="0"/>
              </a:rPr>
              <a:t>object</a:t>
            </a:r>
          </a:p>
          <a:p>
            <a:pPr marL="914383" lvl="1" indent="-457200">
              <a:spcAft>
                <a:spcPts val="600"/>
              </a:spcAft>
              <a:buClr>
                <a:schemeClr val="accent2">
                  <a:lumMod val="75000"/>
                </a:schemeClr>
              </a:buClr>
              <a:buFont typeface="Arial" panose="020B0604020202020204" pitchFamily="34" charset="0"/>
              <a:buChar char="•"/>
            </a:pPr>
            <a:r>
              <a:rPr lang="en-US" sz="2000" i="0" dirty="0">
                <a:solidFill>
                  <a:srgbClr val="161616"/>
                </a:solidFill>
                <a:effectLst/>
                <a:latin typeface="Segoe UI" panose="020B0502040204020203" pitchFamily="34" charset="0"/>
              </a:rPr>
              <a:t>Proxy object for speech API operations</a:t>
            </a:r>
          </a:p>
        </p:txBody>
      </p:sp>
      <p:sp>
        <p:nvSpPr>
          <p:cNvPr id="19" name="Rectangle 18">
            <a:extLst>
              <a:ext uri="{FF2B5EF4-FFF2-40B4-BE49-F238E27FC236}">
                <a16:creationId xmlns:a16="http://schemas.microsoft.com/office/drawing/2014/main" id="{64FDFBDF-5C39-FC4D-35B7-6CCFB445740C}"/>
              </a:ext>
            </a:extLst>
          </p:cNvPr>
          <p:cNvSpPr/>
          <p:nvPr/>
        </p:nvSpPr>
        <p:spPr bwMode="auto">
          <a:xfrm>
            <a:off x="10342045" y="4489450"/>
            <a:ext cx="174516" cy="312052"/>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3" name="Graphic 22">
            <a:extLst>
              <a:ext uri="{FF2B5EF4-FFF2-40B4-BE49-F238E27FC236}">
                <a16:creationId xmlns:a16="http://schemas.microsoft.com/office/drawing/2014/main" id="{5D9CC01B-0D8D-F696-BDA5-5C28152F43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8513" y="2331443"/>
            <a:ext cx="515253" cy="541764"/>
          </a:xfrm>
          <a:prstGeom prst="rect">
            <a:avLst/>
          </a:prstGeom>
        </p:spPr>
      </p:pic>
      <p:sp>
        <p:nvSpPr>
          <p:cNvPr id="24" name="TextBox 23">
            <a:extLst>
              <a:ext uri="{FF2B5EF4-FFF2-40B4-BE49-F238E27FC236}">
                <a16:creationId xmlns:a16="http://schemas.microsoft.com/office/drawing/2014/main" id="{74C2365C-E6E8-C55C-D4E9-7712E33E09A2}"/>
              </a:ext>
            </a:extLst>
          </p:cNvPr>
          <p:cNvSpPr txBox="1"/>
          <p:nvPr/>
        </p:nvSpPr>
        <p:spPr>
          <a:xfrm>
            <a:off x="6659348" y="2133119"/>
            <a:ext cx="713587" cy="218822"/>
          </a:xfrm>
          <a:prstGeom prst="rect">
            <a:avLst/>
          </a:prstGeom>
          <a:noFill/>
        </p:spPr>
        <p:txBody>
          <a:bodyPr wrap="none" lIns="0" tIns="0" rIns="0" bIns="0" rtlCol="0">
            <a:spAutoFit/>
          </a:bodyPr>
          <a:lstStyle/>
          <a:p>
            <a:pPr algn="l"/>
            <a:r>
              <a:rPr lang="en-US" sz="1200" dirty="0">
                <a:latin typeface="+mj-lt"/>
              </a:rPr>
              <a:t>Endpoint</a:t>
            </a:r>
          </a:p>
        </p:txBody>
      </p:sp>
      <p:sp>
        <p:nvSpPr>
          <p:cNvPr id="25" name="TextBox 24">
            <a:extLst>
              <a:ext uri="{FF2B5EF4-FFF2-40B4-BE49-F238E27FC236}">
                <a16:creationId xmlns:a16="http://schemas.microsoft.com/office/drawing/2014/main" id="{1DEF0B2B-6364-92DD-6AA7-C0BCB4C48724}"/>
              </a:ext>
              <a:ext uri="{C183D7F6-B498-43B3-948B-1728B52AA6E4}">
                <adec:decorative xmlns:adec="http://schemas.microsoft.com/office/drawing/2017/decorative" val="0"/>
              </a:ext>
            </a:extLst>
          </p:cNvPr>
          <p:cNvSpPr txBox="1"/>
          <p:nvPr/>
        </p:nvSpPr>
        <p:spPr>
          <a:xfrm>
            <a:off x="7219556" y="2415979"/>
            <a:ext cx="4421089" cy="338554"/>
          </a:xfrm>
          <a:prstGeom prst="rect">
            <a:avLst/>
          </a:prstGeom>
          <a:noFill/>
        </p:spPr>
        <p:txBody>
          <a:bodyPr wrap="square">
            <a:spAutoFit/>
          </a:bodyPr>
          <a:lstStyle/>
          <a:p>
            <a:r>
              <a:rPr lang="en-US" sz="1600" b="0" i="1" dirty="0">
                <a:solidFill>
                  <a:srgbClr val="161616"/>
                </a:solidFill>
                <a:effectLst/>
                <a:latin typeface="SFMono-Regular"/>
              </a:rPr>
              <a:t>https://{foundry_resource}.services.ai.azure.com/</a:t>
            </a:r>
            <a:endParaRPr lang="en-US" sz="1600" i="1" dirty="0"/>
          </a:p>
        </p:txBody>
      </p:sp>
      <p:cxnSp>
        <p:nvCxnSpPr>
          <p:cNvPr id="26" name="Straight Arrow Connector 1048">
            <a:extLst>
              <a:ext uri="{FF2B5EF4-FFF2-40B4-BE49-F238E27FC236}">
                <a16:creationId xmlns:a16="http://schemas.microsoft.com/office/drawing/2014/main" id="{60999E3A-3E5D-B602-2E35-EBC011E7723B}"/>
              </a:ext>
            </a:extLst>
          </p:cNvPr>
          <p:cNvCxnSpPr>
            <a:cxnSpLocks/>
            <a:stCxn id="29" idx="3"/>
            <a:endCxn id="25" idx="2"/>
          </p:cNvCxnSpPr>
          <p:nvPr/>
        </p:nvCxnSpPr>
        <p:spPr>
          <a:xfrm flipV="1">
            <a:off x="8954164" y="2754533"/>
            <a:ext cx="475937" cy="1819688"/>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85F946D4-7250-22FF-2582-24ACDF4DD735}"/>
              </a:ext>
            </a:extLst>
          </p:cNvPr>
          <p:cNvGrpSpPr/>
          <p:nvPr/>
        </p:nvGrpSpPr>
        <p:grpSpPr>
          <a:xfrm>
            <a:off x="8790742" y="4635399"/>
            <a:ext cx="1347382" cy="1416708"/>
            <a:chOff x="9069933" y="5258633"/>
            <a:chExt cx="1030507" cy="1083527"/>
          </a:xfrm>
        </p:grpSpPr>
        <p:sp>
          <p:nvSpPr>
            <p:cNvPr id="53" name="Rectangle: Top Corners Snipped 52">
              <a:extLst>
                <a:ext uri="{FF2B5EF4-FFF2-40B4-BE49-F238E27FC236}">
                  <a16:creationId xmlns:a16="http://schemas.microsoft.com/office/drawing/2014/main" id="{B33778D0-9A3B-0480-572C-6AB51B93CBDD}"/>
                </a:ext>
              </a:extLst>
            </p:cNvPr>
            <p:cNvSpPr/>
            <p:nvPr/>
          </p:nvSpPr>
          <p:spPr bwMode="auto">
            <a:xfrm>
              <a:off x="9246530" y="5820280"/>
              <a:ext cx="681208" cy="382092"/>
            </a:xfrm>
            <a:prstGeom prst="snip2SameRect">
              <a:avLst>
                <a:gd name="adj1" fmla="val 50000"/>
                <a:gd name="adj2" fmla="val 0"/>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633BD95D-B677-6C8C-CFDA-0EAEEDAEAA44}"/>
                </a:ext>
              </a:extLst>
            </p:cNvPr>
            <p:cNvSpPr/>
            <p:nvPr/>
          </p:nvSpPr>
          <p:spPr bwMode="auto">
            <a:xfrm>
              <a:off x="9495600" y="5723741"/>
              <a:ext cx="189440" cy="152254"/>
            </a:xfrm>
            <a:prstGeom prst="rect">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7A9B2BA2-F355-D32E-F45A-CF6C0D780C5E}"/>
                </a:ext>
              </a:extLst>
            </p:cNvPr>
            <p:cNvSpPr/>
            <p:nvPr/>
          </p:nvSpPr>
          <p:spPr bwMode="auto">
            <a:xfrm>
              <a:off x="9427033" y="6052458"/>
              <a:ext cx="310635" cy="24645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6" name="Oval 55">
              <a:extLst>
                <a:ext uri="{FF2B5EF4-FFF2-40B4-BE49-F238E27FC236}">
                  <a16:creationId xmlns:a16="http://schemas.microsoft.com/office/drawing/2014/main" id="{80E2B6C7-6F97-F5ED-5C28-5B1E39AF3983}"/>
                </a:ext>
              </a:extLst>
            </p:cNvPr>
            <p:cNvSpPr/>
            <p:nvPr/>
          </p:nvSpPr>
          <p:spPr bwMode="auto">
            <a:xfrm>
              <a:off x="9450285" y="5442620"/>
              <a:ext cx="287383" cy="338554"/>
            </a:xfrm>
            <a:prstGeom prst="ellipse">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7" name="Graphic 56" descr="Programmer male with solid fill">
              <a:extLst>
                <a:ext uri="{FF2B5EF4-FFF2-40B4-BE49-F238E27FC236}">
                  <a16:creationId xmlns:a16="http://schemas.microsoft.com/office/drawing/2014/main" id="{61FEF3A9-B6F9-50A1-F75F-46248FB63D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69933" y="5258633"/>
              <a:ext cx="1030507" cy="1083527"/>
            </a:xfrm>
            <a:prstGeom prst="rect">
              <a:avLst/>
            </a:prstGeom>
          </p:spPr>
        </p:pic>
      </p:grpSp>
      <p:pic>
        <p:nvPicPr>
          <p:cNvPr id="28" name="Graphic 27" descr="Employee badge with solid fill">
            <a:extLst>
              <a:ext uri="{FF2B5EF4-FFF2-40B4-BE49-F238E27FC236}">
                <a16:creationId xmlns:a16="http://schemas.microsoft.com/office/drawing/2014/main" id="{634C9761-9AE9-07C4-1A46-588A71A85F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73331" y="4234485"/>
            <a:ext cx="648160" cy="681508"/>
          </a:xfrm>
          <a:prstGeom prst="rect">
            <a:avLst/>
          </a:prstGeom>
        </p:spPr>
      </p:pic>
      <p:pic>
        <p:nvPicPr>
          <p:cNvPr id="29" name="Graphic 28" descr="Key with solid fill">
            <a:extLst>
              <a:ext uri="{FF2B5EF4-FFF2-40B4-BE49-F238E27FC236}">
                <a16:creationId xmlns:a16="http://schemas.microsoft.com/office/drawing/2014/main" id="{D80A755C-4600-8559-3228-7B48AE0A20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06004" y="4233467"/>
            <a:ext cx="648160" cy="681508"/>
          </a:xfrm>
          <a:prstGeom prst="rect">
            <a:avLst/>
          </a:prstGeom>
        </p:spPr>
      </p:pic>
      <p:cxnSp>
        <p:nvCxnSpPr>
          <p:cNvPr id="30" name="Straight Arrow Connector 1048">
            <a:extLst>
              <a:ext uri="{FF2B5EF4-FFF2-40B4-BE49-F238E27FC236}">
                <a16:creationId xmlns:a16="http://schemas.microsoft.com/office/drawing/2014/main" id="{A472841B-69B1-E372-560F-5F95BD19D56F}"/>
              </a:ext>
            </a:extLst>
          </p:cNvPr>
          <p:cNvCxnSpPr>
            <a:cxnSpLocks/>
            <a:stCxn id="53" idx="2"/>
          </p:cNvCxnSpPr>
          <p:nvPr/>
        </p:nvCxnSpPr>
        <p:spPr>
          <a:xfrm rot="10800000">
            <a:off x="8636550" y="4731587"/>
            <a:ext cx="385093" cy="887957"/>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1048">
            <a:extLst>
              <a:ext uri="{FF2B5EF4-FFF2-40B4-BE49-F238E27FC236}">
                <a16:creationId xmlns:a16="http://schemas.microsoft.com/office/drawing/2014/main" id="{8BE916A2-8996-BCA2-351E-7E711251931C}"/>
              </a:ext>
            </a:extLst>
          </p:cNvPr>
          <p:cNvCxnSpPr>
            <a:cxnSpLocks/>
            <a:stCxn id="53" idx="0"/>
            <a:endCxn id="28" idx="2"/>
          </p:cNvCxnSpPr>
          <p:nvPr/>
        </p:nvCxnSpPr>
        <p:spPr>
          <a:xfrm flipV="1">
            <a:off x="9912318" y="4915993"/>
            <a:ext cx="385093" cy="703550"/>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1048">
            <a:extLst>
              <a:ext uri="{FF2B5EF4-FFF2-40B4-BE49-F238E27FC236}">
                <a16:creationId xmlns:a16="http://schemas.microsoft.com/office/drawing/2014/main" id="{18218F18-EB9E-270E-56F2-63B14F8AAD37}"/>
              </a:ext>
            </a:extLst>
          </p:cNvPr>
          <p:cNvCxnSpPr>
            <a:cxnSpLocks/>
            <a:stCxn id="28" idx="1"/>
            <a:endCxn id="25" idx="2"/>
          </p:cNvCxnSpPr>
          <p:nvPr/>
        </p:nvCxnSpPr>
        <p:spPr>
          <a:xfrm rot="10800000">
            <a:off x="9430101" y="2754533"/>
            <a:ext cx="543230" cy="1820706"/>
          </a:xfrm>
          <a:prstGeom prst="bentConnector2">
            <a:avLst/>
          </a:prstGeom>
          <a:ln w="28575">
            <a:solidFill>
              <a:srgbClr val="00B0F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467463F-AB9D-7C70-CFEF-4F1738EAC5DA}"/>
              </a:ext>
            </a:extLst>
          </p:cNvPr>
          <p:cNvSpPr txBox="1"/>
          <p:nvPr/>
        </p:nvSpPr>
        <p:spPr>
          <a:xfrm>
            <a:off x="8176394" y="4158601"/>
            <a:ext cx="573683" cy="184666"/>
          </a:xfrm>
          <a:prstGeom prst="rect">
            <a:avLst/>
          </a:prstGeom>
          <a:noFill/>
        </p:spPr>
        <p:txBody>
          <a:bodyPr wrap="none" lIns="0" tIns="0" rIns="0" bIns="0" rtlCol="0">
            <a:spAutoFit/>
          </a:bodyPr>
          <a:lstStyle/>
          <a:p>
            <a:pPr algn="l"/>
            <a:r>
              <a:rPr lang="en-US" sz="1200" dirty="0">
                <a:latin typeface="+mj-lt"/>
              </a:rPr>
              <a:t>API  Key</a:t>
            </a:r>
          </a:p>
        </p:txBody>
      </p:sp>
      <p:sp>
        <p:nvSpPr>
          <p:cNvPr id="34" name="TextBox 33">
            <a:extLst>
              <a:ext uri="{FF2B5EF4-FFF2-40B4-BE49-F238E27FC236}">
                <a16:creationId xmlns:a16="http://schemas.microsoft.com/office/drawing/2014/main" id="{163F0F8A-6386-CFA8-4799-7B91456BD7EB}"/>
              </a:ext>
            </a:extLst>
          </p:cNvPr>
          <p:cNvSpPr txBox="1"/>
          <p:nvPr/>
        </p:nvSpPr>
        <p:spPr>
          <a:xfrm>
            <a:off x="8958561" y="3332960"/>
            <a:ext cx="965008" cy="184666"/>
          </a:xfrm>
          <a:prstGeom prst="rect">
            <a:avLst/>
          </a:prstGeom>
          <a:solidFill>
            <a:schemeClr val="bg1"/>
          </a:solidFill>
        </p:spPr>
        <p:txBody>
          <a:bodyPr wrap="none" lIns="0" tIns="0" rIns="0" bIns="0" rtlCol="0">
            <a:spAutoFit/>
          </a:bodyPr>
          <a:lstStyle/>
          <a:p>
            <a:pPr algn="l"/>
            <a:r>
              <a:rPr lang="en-US" sz="1200" dirty="0" err="1">
                <a:latin typeface="+mj-lt"/>
              </a:rPr>
              <a:t>SpeechConfig</a:t>
            </a:r>
            <a:endParaRPr lang="en-US" sz="1200" dirty="0">
              <a:latin typeface="+mj-lt"/>
            </a:endParaRPr>
          </a:p>
        </p:txBody>
      </p:sp>
      <p:grpSp>
        <p:nvGrpSpPr>
          <p:cNvPr id="35" name="Group 34">
            <a:extLst>
              <a:ext uri="{FF2B5EF4-FFF2-40B4-BE49-F238E27FC236}">
                <a16:creationId xmlns:a16="http://schemas.microsoft.com/office/drawing/2014/main" id="{312A9B8B-44CE-B61F-96C9-A53444DA3BFE}"/>
              </a:ext>
            </a:extLst>
          </p:cNvPr>
          <p:cNvGrpSpPr/>
          <p:nvPr/>
        </p:nvGrpSpPr>
        <p:grpSpPr>
          <a:xfrm>
            <a:off x="8450595" y="841253"/>
            <a:ext cx="1461723" cy="1469228"/>
            <a:chOff x="7099202" y="2357199"/>
            <a:chExt cx="916211" cy="875852"/>
          </a:xfrm>
        </p:grpSpPr>
        <p:sp>
          <p:nvSpPr>
            <p:cNvPr id="50" name="Rectangle 49">
              <a:extLst>
                <a:ext uri="{FF2B5EF4-FFF2-40B4-BE49-F238E27FC236}">
                  <a16:creationId xmlns:a16="http://schemas.microsoft.com/office/drawing/2014/main" id="{1F59CD15-EBC5-3573-DB29-A06AD6FDDE8B}"/>
                </a:ext>
              </a:extLst>
            </p:cNvPr>
            <p:cNvSpPr/>
            <p:nvPr/>
          </p:nvSpPr>
          <p:spPr bwMode="auto">
            <a:xfrm>
              <a:off x="7320947" y="2651342"/>
              <a:ext cx="694466" cy="581709"/>
            </a:xfrm>
            <a:prstGeom prst="rect">
              <a:avLst/>
            </a:prstGeom>
            <a:solidFill>
              <a:schemeClr val="bg1"/>
            </a:solidFill>
            <a:ln w="28575">
              <a:solidFill>
                <a:srgbClr val="7030A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AC90FE18-38E7-D73E-3052-EFAEBA8337EA}"/>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099202" y="2357199"/>
              <a:ext cx="549437" cy="588287"/>
            </a:xfrm>
            <a:prstGeom prst="rect">
              <a:avLst/>
            </a:prstGeom>
          </p:spPr>
        </p:pic>
        <p:pic>
          <p:nvPicPr>
            <p:cNvPr id="52" name="Picture 51">
              <a:extLst>
                <a:ext uri="{FF2B5EF4-FFF2-40B4-BE49-F238E27FC236}">
                  <a16:creationId xmlns:a16="http://schemas.microsoft.com/office/drawing/2014/main" id="{26AC21F4-AEEB-D6C1-5986-469F25F2F11F}"/>
                </a:ext>
              </a:extLst>
            </p:cNvPr>
            <p:cNvPicPr>
              <a:picLocks noChangeAspect="1"/>
            </p:cNvPicPr>
            <p:nvPr/>
          </p:nvPicPr>
          <p:blipFill>
            <a:blip r:embed="rId8"/>
            <a:srcRect/>
            <a:stretch/>
          </p:blipFill>
          <p:spPr>
            <a:xfrm>
              <a:off x="7439580" y="2731882"/>
              <a:ext cx="457200" cy="434828"/>
            </a:xfrm>
            <a:prstGeom prst="rect">
              <a:avLst/>
            </a:prstGeom>
          </p:spPr>
        </p:pic>
      </p:grpSp>
      <p:sp>
        <p:nvSpPr>
          <p:cNvPr id="63" name="TextBox 62">
            <a:extLst>
              <a:ext uri="{FF2B5EF4-FFF2-40B4-BE49-F238E27FC236}">
                <a16:creationId xmlns:a16="http://schemas.microsoft.com/office/drawing/2014/main" id="{38FE0328-2987-826C-27BE-5BB3D48BE082}"/>
              </a:ext>
            </a:extLst>
          </p:cNvPr>
          <p:cNvSpPr txBox="1"/>
          <p:nvPr/>
        </p:nvSpPr>
        <p:spPr>
          <a:xfrm>
            <a:off x="9732647" y="4144404"/>
            <a:ext cx="1433241" cy="218822"/>
          </a:xfrm>
          <a:prstGeom prst="rect">
            <a:avLst/>
          </a:prstGeom>
          <a:noFill/>
        </p:spPr>
        <p:txBody>
          <a:bodyPr wrap="none" lIns="0" tIns="0" rIns="0" bIns="0" rtlCol="0">
            <a:spAutoFit/>
          </a:bodyPr>
          <a:lstStyle/>
          <a:p>
            <a:pPr algn="l"/>
            <a:r>
              <a:rPr lang="en-US" sz="1200" dirty="0">
                <a:latin typeface="+mj-lt"/>
              </a:rPr>
              <a:t>Microsoft Entra ID</a:t>
            </a:r>
          </a:p>
        </p:txBody>
      </p:sp>
      <p:grpSp>
        <p:nvGrpSpPr>
          <p:cNvPr id="67" name="Group 66">
            <a:extLst>
              <a:ext uri="{FF2B5EF4-FFF2-40B4-BE49-F238E27FC236}">
                <a16:creationId xmlns:a16="http://schemas.microsoft.com/office/drawing/2014/main" id="{014C7B6C-8430-6399-E4DD-F3B3EC9B65F4}"/>
              </a:ext>
            </a:extLst>
          </p:cNvPr>
          <p:cNvGrpSpPr/>
          <p:nvPr/>
        </p:nvGrpSpPr>
        <p:grpSpPr>
          <a:xfrm>
            <a:off x="9029602" y="3371711"/>
            <a:ext cx="855812" cy="855814"/>
            <a:chOff x="5750484" y="3034642"/>
            <a:chExt cx="855812" cy="855814"/>
          </a:xfrm>
        </p:grpSpPr>
        <p:pic>
          <p:nvPicPr>
            <p:cNvPr id="61" name="Graphic 60" descr="Speech with solid fill">
              <a:extLst>
                <a:ext uri="{FF2B5EF4-FFF2-40B4-BE49-F238E27FC236}">
                  <a16:creationId xmlns:a16="http://schemas.microsoft.com/office/drawing/2014/main" id="{CA975431-B065-E6E5-1E2D-BF5A872529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50484" y="3034642"/>
              <a:ext cx="855812" cy="855814"/>
            </a:xfrm>
            <a:prstGeom prst="rect">
              <a:avLst/>
            </a:prstGeom>
          </p:spPr>
        </p:pic>
        <p:pic>
          <p:nvPicPr>
            <p:cNvPr id="59" name="Graphic 58" descr="Single gear with solid fill">
              <a:extLst>
                <a:ext uri="{FF2B5EF4-FFF2-40B4-BE49-F238E27FC236}">
                  <a16:creationId xmlns:a16="http://schemas.microsoft.com/office/drawing/2014/main" id="{64489EC1-F42E-3421-4DFB-0B63F566C05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29873" y="3154106"/>
              <a:ext cx="295108" cy="295110"/>
            </a:xfrm>
            <a:prstGeom prst="rect">
              <a:avLst/>
            </a:prstGeom>
          </p:spPr>
        </p:pic>
        <p:grpSp>
          <p:nvGrpSpPr>
            <p:cNvPr id="66" name="Group 65">
              <a:extLst>
                <a:ext uri="{FF2B5EF4-FFF2-40B4-BE49-F238E27FC236}">
                  <a16:creationId xmlns:a16="http://schemas.microsoft.com/office/drawing/2014/main" id="{53735A53-91C1-A8AE-2BDD-A6D366E45657}"/>
                </a:ext>
              </a:extLst>
            </p:cNvPr>
            <p:cNvGrpSpPr/>
            <p:nvPr/>
          </p:nvGrpSpPr>
          <p:grpSpPr>
            <a:xfrm>
              <a:off x="5906222" y="3224134"/>
              <a:ext cx="426323" cy="396581"/>
              <a:chOff x="4575454" y="1355599"/>
              <a:chExt cx="789033" cy="715316"/>
            </a:xfrm>
            <a:solidFill>
              <a:schemeClr val="bg1"/>
            </a:solidFill>
          </p:grpSpPr>
          <p:pic>
            <p:nvPicPr>
              <p:cNvPr id="64" name="Graphic 63" descr="Key with solid fill">
                <a:extLst>
                  <a:ext uri="{FF2B5EF4-FFF2-40B4-BE49-F238E27FC236}">
                    <a16:creationId xmlns:a16="http://schemas.microsoft.com/office/drawing/2014/main" id="{051D2A29-F2B0-4624-72CE-D898B938342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18959995">
                <a:off x="4791643" y="1498079"/>
                <a:ext cx="572844" cy="572836"/>
              </a:xfrm>
              <a:prstGeom prst="rect">
                <a:avLst/>
              </a:prstGeom>
            </p:spPr>
          </p:pic>
          <p:pic>
            <p:nvPicPr>
              <p:cNvPr id="65" name="Graphic 64" descr="World with solid fill">
                <a:extLst>
                  <a:ext uri="{FF2B5EF4-FFF2-40B4-BE49-F238E27FC236}">
                    <a16:creationId xmlns:a16="http://schemas.microsoft.com/office/drawing/2014/main" id="{91054985-C07A-3A24-E3EB-AC0BB06103E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575454" y="1355599"/>
                <a:ext cx="486185" cy="486186"/>
              </a:xfrm>
              <a:prstGeom prst="rect">
                <a:avLst/>
              </a:prstGeom>
            </p:spPr>
          </p:pic>
        </p:grpSp>
      </p:grpSp>
      <p:sp>
        <p:nvSpPr>
          <p:cNvPr id="3" name="TextBox 2">
            <a:extLst>
              <a:ext uri="{FF2B5EF4-FFF2-40B4-BE49-F238E27FC236}">
                <a16:creationId xmlns:a16="http://schemas.microsoft.com/office/drawing/2014/main" id="{F7FAA352-62F6-D47A-87B2-4DC6641D52D1}"/>
              </a:ext>
            </a:extLst>
          </p:cNvPr>
          <p:cNvSpPr txBox="1"/>
          <p:nvPr/>
        </p:nvSpPr>
        <p:spPr>
          <a:xfrm>
            <a:off x="8821436" y="6550227"/>
            <a:ext cx="3115084" cy="184666"/>
          </a:xfrm>
          <a:prstGeom prst="rect">
            <a:avLst/>
          </a:prstGeom>
          <a:noFill/>
        </p:spPr>
        <p:txBody>
          <a:bodyPr wrap="none" lIns="0" tIns="0" rIns="0" bIns="0" rtlCol="0">
            <a:spAutoFit/>
          </a:bodyPr>
          <a:lstStyle/>
          <a:p>
            <a:pPr algn="l"/>
            <a:r>
              <a:rPr lang="en-US" sz="1200" dirty="0"/>
              <a:t>* </a:t>
            </a:r>
            <a:r>
              <a:rPr lang="en-US" sz="1200" i="1" dirty="0"/>
              <a:t>cognitiveservices.azure.com is also supported</a:t>
            </a:r>
            <a:endParaRPr lang="en-US" sz="1200" dirty="0"/>
          </a:p>
        </p:txBody>
      </p:sp>
    </p:spTree>
    <p:extLst>
      <p:ext uri="{BB962C8B-B14F-4D97-AF65-F5344CB8AC3E}">
        <p14:creationId xmlns:p14="http://schemas.microsoft.com/office/powerpoint/2010/main" val="32255828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95D42ED-902B-7562-9943-845330A93A3A}"/>
              </a:ext>
            </a:extLst>
          </p:cNvPr>
          <p:cNvSpPr>
            <a:spLocks noGrp="1"/>
          </p:cNvSpPr>
          <p:nvPr>
            <p:ph type="title"/>
          </p:nvPr>
        </p:nvSpPr>
        <p:spPr>
          <a:xfrm>
            <a:off x="588262" y="585216"/>
            <a:ext cx="8193024" cy="492443"/>
          </a:xfrm>
        </p:spPr>
        <p:txBody>
          <a:bodyPr/>
          <a:lstStyle/>
          <a:p>
            <a:r>
              <a:rPr lang="en-US" sz="3200" dirty="0"/>
              <a:t>Speech to text</a:t>
            </a:r>
          </a:p>
        </p:txBody>
      </p:sp>
      <p:sp>
        <p:nvSpPr>
          <p:cNvPr id="32" name="Rectangle 31">
            <a:extLst>
              <a:ext uri="{FF2B5EF4-FFF2-40B4-BE49-F238E27FC236}">
                <a16:creationId xmlns:a16="http://schemas.microsoft.com/office/drawing/2014/main" id="{5A450967-7EF2-81E0-8526-05649A03531A}"/>
              </a:ext>
              <a:ext uri="{C183D7F6-B498-43B3-948B-1728B52AA6E4}">
                <adec:decorative xmlns:adec="http://schemas.microsoft.com/office/drawing/2017/decorative" val="1"/>
              </a:ext>
            </a:extLst>
          </p:cNvPr>
          <p:cNvSpPr/>
          <p:nvPr/>
        </p:nvSpPr>
        <p:spPr bwMode="auto">
          <a:xfrm>
            <a:off x="4568067" y="3580853"/>
            <a:ext cx="152647" cy="3099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a:solidFill>
                <a:schemeClr val="tx1"/>
              </a:solidFill>
              <a:ea typeface="Segoe UI" pitchFamily="34" charset="0"/>
              <a:cs typeface="Segoe UI" pitchFamily="34" charset="0"/>
            </a:endParaRPr>
          </a:p>
        </p:txBody>
      </p:sp>
      <p:grpSp>
        <p:nvGrpSpPr>
          <p:cNvPr id="30" name="Group 29" descr="Diagram showing the flow of an app implementing speech to text.">
            <a:extLst>
              <a:ext uri="{FF2B5EF4-FFF2-40B4-BE49-F238E27FC236}">
                <a16:creationId xmlns:a16="http://schemas.microsoft.com/office/drawing/2014/main" id="{11B9DECE-BA32-24B7-42A2-A9CCFF8D2C44}"/>
              </a:ext>
            </a:extLst>
          </p:cNvPr>
          <p:cNvGrpSpPr/>
          <p:nvPr/>
        </p:nvGrpSpPr>
        <p:grpSpPr>
          <a:xfrm>
            <a:off x="427941" y="2089278"/>
            <a:ext cx="11328167" cy="2902902"/>
            <a:chOff x="400975" y="1532686"/>
            <a:chExt cx="11328167" cy="2902902"/>
          </a:xfrm>
        </p:grpSpPr>
        <p:grpSp>
          <p:nvGrpSpPr>
            <p:cNvPr id="27" name="Group 26">
              <a:extLst>
                <a:ext uri="{FF2B5EF4-FFF2-40B4-BE49-F238E27FC236}">
                  <a16:creationId xmlns:a16="http://schemas.microsoft.com/office/drawing/2014/main" id="{B7B9B276-288C-DF5C-7D1B-53BEB401571D}"/>
                </a:ext>
              </a:extLst>
            </p:cNvPr>
            <p:cNvGrpSpPr/>
            <p:nvPr/>
          </p:nvGrpSpPr>
          <p:grpSpPr>
            <a:xfrm>
              <a:off x="400975" y="1532686"/>
              <a:ext cx="11328167" cy="2902902"/>
              <a:chOff x="400975" y="1532686"/>
              <a:chExt cx="11328167" cy="2902902"/>
            </a:xfrm>
          </p:grpSpPr>
          <p:grpSp>
            <p:nvGrpSpPr>
              <p:cNvPr id="3" name="Group 2" descr="Diagram showing flow of Speech to Text API.">
                <a:extLst>
                  <a:ext uri="{FF2B5EF4-FFF2-40B4-BE49-F238E27FC236}">
                    <a16:creationId xmlns:a16="http://schemas.microsoft.com/office/drawing/2014/main" id="{2F48AFD8-B291-AF88-2CA5-23C39658C2B3}"/>
                  </a:ext>
                </a:extLst>
              </p:cNvPr>
              <p:cNvGrpSpPr/>
              <p:nvPr/>
            </p:nvGrpSpPr>
            <p:grpSpPr>
              <a:xfrm>
                <a:off x="400975" y="1532686"/>
                <a:ext cx="11328167" cy="2902902"/>
                <a:chOff x="400975" y="1514207"/>
                <a:chExt cx="11328167" cy="2902902"/>
              </a:xfrm>
            </p:grpSpPr>
            <p:grpSp>
              <p:nvGrpSpPr>
                <p:cNvPr id="14" name="Group 13">
                  <a:extLst>
                    <a:ext uri="{FF2B5EF4-FFF2-40B4-BE49-F238E27FC236}">
                      <a16:creationId xmlns:a16="http://schemas.microsoft.com/office/drawing/2014/main" id="{84CC9299-564B-1B16-78DA-6B0C140C58A3}"/>
                    </a:ext>
                    <a:ext uri="{C183D7F6-B498-43B3-948B-1728B52AA6E4}">
                      <adec:decorative xmlns:adec="http://schemas.microsoft.com/office/drawing/2017/decorative" val="1"/>
                    </a:ext>
                  </a:extLst>
                </p:cNvPr>
                <p:cNvGrpSpPr/>
                <p:nvPr/>
              </p:nvGrpSpPr>
              <p:grpSpPr>
                <a:xfrm>
                  <a:off x="2343685" y="1547590"/>
                  <a:ext cx="1082252" cy="929580"/>
                  <a:chOff x="4651461" y="3787461"/>
                  <a:chExt cx="1125578" cy="966794"/>
                </a:xfrm>
                <a:solidFill>
                  <a:srgbClr val="243A5E"/>
                </a:solidFill>
              </p:grpSpPr>
              <p:pic>
                <p:nvPicPr>
                  <p:cNvPr id="16" name="Graphic 15" descr="Key with solid fill">
                    <a:extLst>
                      <a:ext uri="{FF2B5EF4-FFF2-40B4-BE49-F238E27FC236}">
                        <a16:creationId xmlns:a16="http://schemas.microsoft.com/office/drawing/2014/main" id="{B959E0FB-9D1F-7937-4FB7-AC0A979AC1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8959995">
                    <a:off x="5019426" y="3996642"/>
                    <a:ext cx="757613" cy="757613"/>
                  </a:xfrm>
                  <a:prstGeom prst="rect">
                    <a:avLst/>
                  </a:prstGeom>
                </p:spPr>
              </p:pic>
              <p:pic>
                <p:nvPicPr>
                  <p:cNvPr id="17" name="Graphic 16" descr="World with solid fill">
                    <a:extLst>
                      <a:ext uri="{FF2B5EF4-FFF2-40B4-BE49-F238E27FC236}">
                        <a16:creationId xmlns:a16="http://schemas.microsoft.com/office/drawing/2014/main" id="{EA2072F7-C74A-0738-3007-8325A1C014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1461" y="3787461"/>
                    <a:ext cx="690819" cy="690819"/>
                  </a:xfrm>
                  <a:prstGeom prst="rect">
                    <a:avLst/>
                  </a:prstGeom>
                </p:spPr>
              </p:pic>
            </p:grpSp>
            <p:sp>
              <p:nvSpPr>
                <p:cNvPr id="15" name="TextBox 14">
                  <a:extLst>
                    <a:ext uri="{FF2B5EF4-FFF2-40B4-BE49-F238E27FC236}">
                      <a16:creationId xmlns:a16="http://schemas.microsoft.com/office/drawing/2014/main" id="{18761556-406C-A756-2C4D-3164E8DCF568}"/>
                    </a:ext>
                  </a:extLst>
                </p:cNvPr>
                <p:cNvSpPr txBox="1"/>
                <p:nvPr/>
              </p:nvSpPr>
              <p:spPr>
                <a:xfrm>
                  <a:off x="2109703" y="2395195"/>
                  <a:ext cx="1435008" cy="338554"/>
                </a:xfrm>
                <a:prstGeom prst="rect">
                  <a:avLst/>
                </a:prstGeom>
                <a:noFill/>
              </p:spPr>
              <p:txBody>
                <a:bodyPr wrap="none" lIns="91440" tIns="45720" rIns="91440" bIns="45720" rtlCol="0">
                  <a:spAutoFit/>
                </a:bodyPr>
                <a:lstStyle/>
                <a:p>
                  <a:pPr algn="ctr">
                    <a:spcAft>
                      <a:spcPts val="600"/>
                    </a:spcAft>
                  </a:pPr>
                  <a:r>
                    <a:rPr lang="en-US" sz="1600" dirty="0" err="1"/>
                    <a:t>SpeechConfig</a:t>
                  </a:r>
                  <a:endParaRPr lang="en-US" sz="1600" dirty="0"/>
                </a:p>
              </p:txBody>
            </p:sp>
            <p:sp>
              <p:nvSpPr>
                <p:cNvPr id="20" name="TextBox 19">
                  <a:extLst>
                    <a:ext uri="{FF2B5EF4-FFF2-40B4-BE49-F238E27FC236}">
                      <a16:creationId xmlns:a16="http://schemas.microsoft.com/office/drawing/2014/main" id="{B9DFE4A8-0E7E-CC3C-DE69-6E2A9EED6D88}"/>
                    </a:ext>
                  </a:extLst>
                </p:cNvPr>
                <p:cNvSpPr txBox="1"/>
                <p:nvPr/>
              </p:nvSpPr>
              <p:spPr>
                <a:xfrm>
                  <a:off x="2052346" y="4078555"/>
                  <a:ext cx="1682084" cy="338554"/>
                </a:xfrm>
                <a:prstGeom prst="rect">
                  <a:avLst/>
                </a:prstGeom>
                <a:noFill/>
              </p:spPr>
              <p:txBody>
                <a:bodyPr wrap="square" lIns="91440" tIns="45720" rIns="91440" bIns="45720" rtlCol="0">
                  <a:spAutoFit/>
                </a:bodyPr>
                <a:lstStyle/>
                <a:p>
                  <a:pPr algn="ctr">
                    <a:spcAft>
                      <a:spcPts val="600"/>
                    </a:spcAft>
                  </a:pPr>
                  <a:r>
                    <a:rPr lang="en-US" sz="1600" dirty="0" err="1"/>
                    <a:t>AudioConfig</a:t>
                  </a:r>
                  <a:endParaRPr lang="en-US" sz="1600" dirty="0"/>
                </a:p>
              </p:txBody>
            </p:sp>
            <p:sp>
              <p:nvSpPr>
                <p:cNvPr id="33" name="Rectangle: Top Corners Rounded 32">
                  <a:extLst>
                    <a:ext uri="{FF2B5EF4-FFF2-40B4-BE49-F238E27FC236}">
                      <a16:creationId xmlns:a16="http://schemas.microsoft.com/office/drawing/2014/main" id="{E32893C3-996F-9137-CC33-77FC879BA16F}"/>
                    </a:ext>
                  </a:extLst>
                </p:cNvPr>
                <p:cNvSpPr/>
                <p:nvPr/>
              </p:nvSpPr>
              <p:spPr bwMode="auto">
                <a:xfrm>
                  <a:off x="400975" y="1514207"/>
                  <a:ext cx="1666902" cy="951498"/>
                </a:xfrm>
                <a:prstGeom prst="round2SameRect">
                  <a:avLst/>
                </a:prstGeom>
                <a:ln w="19050">
                  <a:solidFill>
                    <a:schemeClr val="tx2">
                      <a:lumMod val="50000"/>
                      <a:lumOff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tx1"/>
                      </a:solidFill>
                      <a:ea typeface="Segoe UI" pitchFamily="34" charset="0"/>
                      <a:cs typeface="Segoe UI" pitchFamily="34" charset="0"/>
                    </a:rPr>
                    <a:t>Connection to Azure Speech</a:t>
                  </a:r>
                </a:p>
              </p:txBody>
            </p:sp>
            <p:sp>
              <p:nvSpPr>
                <p:cNvPr id="34" name="Rectangle: Top Corners Rounded 33">
                  <a:extLst>
                    <a:ext uri="{FF2B5EF4-FFF2-40B4-BE49-F238E27FC236}">
                      <a16:creationId xmlns:a16="http://schemas.microsoft.com/office/drawing/2014/main" id="{65862945-3EE7-6298-3956-B7E6E6862D98}"/>
                    </a:ext>
                  </a:extLst>
                </p:cNvPr>
                <p:cNvSpPr/>
                <p:nvPr/>
              </p:nvSpPr>
              <p:spPr bwMode="auto">
                <a:xfrm>
                  <a:off x="440987" y="3422915"/>
                  <a:ext cx="1662946" cy="951498"/>
                </a:xfrm>
                <a:prstGeom prst="round2SameRect">
                  <a:avLst>
                    <a:gd name="adj1" fmla="val 0"/>
                    <a:gd name="adj2" fmla="val 17352"/>
                  </a:avLst>
                </a:prstGeom>
                <a:ln w="19050">
                  <a:solidFill>
                    <a:schemeClr val="tx2">
                      <a:lumMod val="50000"/>
                      <a:lumOff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tx1"/>
                      </a:solidFill>
                      <a:ea typeface="Segoe UI" pitchFamily="34" charset="0"/>
                      <a:cs typeface="Segoe UI" pitchFamily="34" charset="0"/>
                    </a:rPr>
                    <a:t>Microphone (default) or file</a:t>
                  </a:r>
                </a:p>
              </p:txBody>
            </p:sp>
            <p:sp>
              <p:nvSpPr>
                <p:cNvPr id="36" name="Rectangle 35">
                  <a:extLst>
                    <a:ext uri="{FF2B5EF4-FFF2-40B4-BE49-F238E27FC236}">
                      <a16:creationId xmlns:a16="http://schemas.microsoft.com/office/drawing/2014/main" id="{3CA8C083-C3D4-5670-FA6D-07EE030F9101}"/>
                    </a:ext>
                  </a:extLst>
                </p:cNvPr>
                <p:cNvSpPr/>
                <p:nvPr/>
              </p:nvSpPr>
              <p:spPr>
                <a:xfrm>
                  <a:off x="7696118" y="2211818"/>
                  <a:ext cx="2318507" cy="1873554"/>
                </a:xfrm>
                <a:prstGeom prst="rect">
                  <a:avLst/>
                </a:prstGeom>
                <a:solidFill>
                  <a:schemeClr val="bg1">
                    <a:lumMod val="95000"/>
                  </a:schemeClr>
                </a:solidFill>
              </p:spPr>
              <p:txBody>
                <a:bodyPr wrap="square" numCol="1" anchor="ctr">
                  <a:noAutofit/>
                </a:bodyPr>
                <a:lstStyle/>
                <a:p>
                  <a:pPr lvl="0" defTabSz="914367">
                    <a:spcBef>
                      <a:spcPts val="300"/>
                    </a:spcBef>
                  </a:pPr>
                  <a:r>
                    <a:rPr lang="en-US" sz="1600" dirty="0"/>
                    <a:t>Result includes:</a:t>
                  </a:r>
                </a:p>
                <a:p>
                  <a:pPr marL="228600" lvl="0" indent="-228600" defTabSz="914367">
                    <a:spcBef>
                      <a:spcPts val="300"/>
                    </a:spcBef>
                    <a:buFont typeface="Arial" panose="020B0604020202020204" pitchFamily="34" charset="0"/>
                    <a:buChar char="•"/>
                  </a:pPr>
                  <a:r>
                    <a:rPr lang="en-US" sz="1600" dirty="0"/>
                    <a:t>Duration	</a:t>
                  </a:r>
                </a:p>
                <a:p>
                  <a:pPr marL="228600" lvl="0" indent="-228600" defTabSz="914367">
                    <a:spcBef>
                      <a:spcPts val="300"/>
                    </a:spcBef>
                    <a:buFont typeface="Arial" panose="020B0604020202020204" pitchFamily="34" charset="0"/>
                    <a:buChar char="•"/>
                  </a:pPr>
                  <a:r>
                    <a:rPr lang="en-US" sz="1600" dirty="0"/>
                    <a:t>Offset	</a:t>
                  </a:r>
                </a:p>
                <a:p>
                  <a:pPr marL="228600" lvl="0" indent="-228600" defTabSz="914367">
                    <a:spcBef>
                      <a:spcPts val="300"/>
                    </a:spcBef>
                    <a:buFont typeface="Arial" panose="020B0604020202020204" pitchFamily="34" charset="0"/>
                    <a:buChar char="•"/>
                  </a:pPr>
                  <a:r>
                    <a:rPr lang="en-US" sz="1600" dirty="0"/>
                    <a:t>Properties	</a:t>
                  </a:r>
                </a:p>
                <a:p>
                  <a:pPr marL="228600" lvl="0" indent="-228600" defTabSz="914367">
                    <a:spcBef>
                      <a:spcPts val="300"/>
                    </a:spcBef>
                    <a:buFont typeface="Arial" panose="020B0604020202020204" pitchFamily="34" charset="0"/>
                    <a:buChar char="•"/>
                  </a:pPr>
                  <a:r>
                    <a:rPr lang="en-US" sz="1600" dirty="0"/>
                    <a:t>Reason	</a:t>
                  </a:r>
                </a:p>
                <a:p>
                  <a:pPr marL="228600" lvl="0" indent="-228600" defTabSz="914367">
                    <a:spcBef>
                      <a:spcPts val="300"/>
                    </a:spcBef>
                    <a:buFont typeface="Arial" panose="020B0604020202020204" pitchFamily="34" charset="0"/>
                    <a:buChar char="•"/>
                  </a:pPr>
                  <a:r>
                    <a:rPr lang="en-US" sz="1600" dirty="0"/>
                    <a:t>Text transcript</a:t>
                  </a:r>
                </a:p>
              </p:txBody>
            </p:sp>
            <p:cxnSp>
              <p:nvCxnSpPr>
                <p:cNvPr id="37" name="Straight Arrow Connector 32">
                  <a:extLst>
                    <a:ext uri="{FF2B5EF4-FFF2-40B4-BE49-F238E27FC236}">
                      <a16:creationId xmlns:a16="http://schemas.microsoft.com/office/drawing/2014/main" id="{1081A870-A3E9-1D0F-BFEB-75A43B050F82}"/>
                    </a:ext>
                  </a:extLst>
                </p:cNvPr>
                <p:cNvCxnSpPr>
                  <a:cxnSpLocks/>
                </p:cNvCxnSpPr>
                <p:nvPr/>
              </p:nvCxnSpPr>
              <p:spPr>
                <a:xfrm>
                  <a:off x="5992083" y="3355893"/>
                  <a:ext cx="1443216" cy="1368"/>
                </a:xfrm>
                <a:prstGeom prst="straightConnector1">
                  <a:avLst/>
                </a:prstGeom>
                <a:ln w="50800">
                  <a:solidFill>
                    <a:schemeClr val="bg1">
                      <a:lumMod val="50000"/>
                    </a:schemeClr>
                  </a:solidFill>
                  <a:headEnd type="none"/>
                  <a:tailEnd type="triangle" w="lg" len="med"/>
                </a:ln>
              </p:spPr>
              <p:style>
                <a:lnRef idx="1">
                  <a:schemeClr val="accent1"/>
                </a:lnRef>
                <a:fillRef idx="0">
                  <a:schemeClr val="accent1"/>
                </a:fillRef>
                <a:effectRef idx="0">
                  <a:schemeClr val="accent1"/>
                </a:effectRef>
                <a:fontRef idx="minor">
                  <a:schemeClr val="tx1"/>
                </a:fontRef>
              </p:style>
            </p:cxnSp>
            <p:sp>
              <p:nvSpPr>
                <p:cNvPr id="41" name="Rectangle: Top Corners Rounded 40">
                  <a:extLst>
                    <a:ext uri="{FF2B5EF4-FFF2-40B4-BE49-F238E27FC236}">
                      <a16:creationId xmlns:a16="http://schemas.microsoft.com/office/drawing/2014/main" id="{1BC1B078-49E9-1487-0046-0B8C378F47A5}"/>
                    </a:ext>
                  </a:extLst>
                </p:cNvPr>
                <p:cNvSpPr/>
                <p:nvPr/>
              </p:nvSpPr>
              <p:spPr bwMode="auto">
                <a:xfrm>
                  <a:off x="9566644" y="2471299"/>
                  <a:ext cx="2162498" cy="1378026"/>
                </a:xfrm>
                <a:prstGeom prst="round2SameRect">
                  <a:avLst>
                    <a:gd name="adj1" fmla="val 0"/>
                    <a:gd name="adj2" fmla="val 0"/>
                  </a:avLst>
                </a:prstGeom>
                <a:ln w="19050">
                  <a:solidFill>
                    <a:schemeClr val="tx2">
                      <a:lumMod val="50000"/>
                      <a:lumOff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r>
                    <a:rPr lang="en-US" sz="1600" dirty="0">
                      <a:solidFill>
                        <a:schemeClr val="tx1"/>
                      </a:solidFill>
                      <a:ea typeface="Segoe UI" pitchFamily="34" charset="0"/>
                      <a:cs typeface="Segoe UI" pitchFamily="34" charset="0"/>
                    </a:rPr>
                    <a:t>Reason for result:</a:t>
                  </a:r>
                </a:p>
                <a:p>
                  <a:pPr marL="177800" indent="-114300" defTabSz="932472" fontAlgn="base">
                    <a:spcBef>
                      <a:spcPts val="100"/>
                    </a:spcBef>
                    <a:spcAft>
                      <a:spcPts val="200"/>
                    </a:spcAft>
                    <a:buFont typeface="Arial" panose="020B0604020202020204" pitchFamily="34" charset="0"/>
                    <a:buChar char="•"/>
                  </a:pPr>
                  <a:r>
                    <a:rPr lang="en-US" sz="1400" dirty="0" err="1">
                      <a:solidFill>
                        <a:schemeClr val="tx1"/>
                      </a:solidFill>
                      <a:ea typeface="Segoe UI" pitchFamily="34" charset="0"/>
                      <a:cs typeface="Segoe UI" pitchFamily="34" charset="0"/>
                    </a:rPr>
                    <a:t>RecognizedSpeech</a:t>
                  </a:r>
                  <a:endParaRPr lang="en-US" sz="1400" dirty="0">
                    <a:solidFill>
                      <a:schemeClr val="tx1"/>
                    </a:solidFill>
                    <a:ea typeface="Segoe UI" pitchFamily="34" charset="0"/>
                    <a:cs typeface="Segoe UI" pitchFamily="34" charset="0"/>
                  </a:endParaRPr>
                </a:p>
                <a:p>
                  <a:pPr marL="177800" indent="-114300" defTabSz="932472" fontAlgn="base">
                    <a:spcBef>
                      <a:spcPts val="100"/>
                    </a:spcBef>
                    <a:spcAft>
                      <a:spcPts val="200"/>
                    </a:spcAft>
                    <a:buFont typeface="Arial" panose="020B0604020202020204" pitchFamily="34" charset="0"/>
                    <a:buChar char="•"/>
                  </a:pPr>
                  <a:r>
                    <a:rPr lang="en-US" sz="1400" dirty="0" err="1">
                      <a:solidFill>
                        <a:schemeClr val="tx1"/>
                      </a:solidFill>
                      <a:ea typeface="Segoe UI" pitchFamily="34" charset="0"/>
                      <a:cs typeface="Segoe UI" pitchFamily="34" charset="0"/>
                    </a:rPr>
                    <a:t>NoMatch</a:t>
                  </a:r>
                  <a:endParaRPr lang="en-US" sz="1400" dirty="0">
                    <a:solidFill>
                      <a:schemeClr val="tx1"/>
                    </a:solidFill>
                    <a:ea typeface="Segoe UI" pitchFamily="34" charset="0"/>
                    <a:cs typeface="Segoe UI" pitchFamily="34" charset="0"/>
                  </a:endParaRPr>
                </a:p>
                <a:p>
                  <a:pPr marL="177800" indent="-114300" defTabSz="932472" fontAlgn="base">
                    <a:spcBef>
                      <a:spcPts val="100"/>
                    </a:spcBef>
                    <a:spcAft>
                      <a:spcPts val="200"/>
                    </a:spcAft>
                    <a:buFont typeface="Arial" panose="020B0604020202020204" pitchFamily="34" charset="0"/>
                    <a:buChar char="•"/>
                  </a:pPr>
                  <a:r>
                    <a:rPr lang="en-US" sz="1400" dirty="0">
                      <a:solidFill>
                        <a:schemeClr val="tx1"/>
                      </a:solidFill>
                      <a:ea typeface="Segoe UI" pitchFamily="34" charset="0"/>
                      <a:cs typeface="Segoe UI" pitchFamily="34" charset="0"/>
                    </a:rPr>
                    <a:t>Cancelled</a:t>
                  </a:r>
                </a:p>
                <a:p>
                  <a:pPr marL="398463" lvl="1" indent="-114300" defTabSz="932472" fontAlgn="base">
                    <a:spcBef>
                      <a:spcPts val="100"/>
                    </a:spcBef>
                    <a:spcAft>
                      <a:spcPts val="200"/>
                    </a:spcAft>
                    <a:buFont typeface="Arial" panose="020B0604020202020204" pitchFamily="34" charset="0"/>
                    <a:buChar char="•"/>
                  </a:pPr>
                  <a:r>
                    <a:rPr lang="en-US" sz="1200" dirty="0">
                      <a:solidFill>
                        <a:schemeClr val="tx1"/>
                      </a:solidFill>
                      <a:ea typeface="Segoe UI" pitchFamily="34" charset="0"/>
                      <a:cs typeface="Segoe UI" pitchFamily="34" charset="0"/>
                    </a:rPr>
                    <a:t>Details</a:t>
                  </a:r>
                </a:p>
              </p:txBody>
            </p:sp>
            <p:grpSp>
              <p:nvGrpSpPr>
                <p:cNvPr id="55" name="Group 54">
                  <a:extLst>
                    <a:ext uri="{FF2B5EF4-FFF2-40B4-BE49-F238E27FC236}">
                      <a16:creationId xmlns:a16="http://schemas.microsoft.com/office/drawing/2014/main" id="{DDBC5E20-3845-3181-EEF6-E1B1BCADA086}"/>
                    </a:ext>
                  </a:extLst>
                </p:cNvPr>
                <p:cNvGrpSpPr/>
                <p:nvPr/>
              </p:nvGrpSpPr>
              <p:grpSpPr>
                <a:xfrm>
                  <a:off x="3544711" y="2564472"/>
                  <a:ext cx="996390" cy="1582842"/>
                  <a:chOff x="3544711" y="2564472"/>
                  <a:chExt cx="996390" cy="1582842"/>
                </a:xfrm>
              </p:grpSpPr>
              <p:cxnSp>
                <p:nvCxnSpPr>
                  <p:cNvPr id="50" name="Straight Arrow Connector 49">
                    <a:extLst>
                      <a:ext uri="{FF2B5EF4-FFF2-40B4-BE49-F238E27FC236}">
                        <a16:creationId xmlns:a16="http://schemas.microsoft.com/office/drawing/2014/main" id="{C14E8D1E-2F51-E64B-C4DB-424C1867CE1D}"/>
                      </a:ext>
                    </a:extLst>
                  </p:cNvPr>
                  <p:cNvCxnSpPr>
                    <a:cxnSpLocks/>
                  </p:cNvCxnSpPr>
                  <p:nvPr/>
                </p:nvCxnSpPr>
                <p:spPr>
                  <a:xfrm>
                    <a:off x="3857625" y="3357366"/>
                    <a:ext cx="683476" cy="0"/>
                  </a:xfrm>
                  <a:prstGeom prst="straightConnector1">
                    <a:avLst/>
                  </a:prstGeom>
                  <a:ln w="50800">
                    <a:solidFill>
                      <a:schemeClr val="bg1">
                        <a:lumMod val="50000"/>
                      </a:schemeClr>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4" name="Straight Arrow Connector 32">
                    <a:extLst>
                      <a:ext uri="{FF2B5EF4-FFF2-40B4-BE49-F238E27FC236}">
                        <a16:creationId xmlns:a16="http://schemas.microsoft.com/office/drawing/2014/main" id="{6EF88936-7A9E-5E2B-4C96-F355997B5AA8}"/>
                      </a:ext>
                    </a:extLst>
                  </p:cNvPr>
                  <p:cNvCxnSpPr>
                    <a:cxnSpLocks/>
                  </p:cNvCxnSpPr>
                  <p:nvPr/>
                </p:nvCxnSpPr>
                <p:spPr>
                  <a:xfrm>
                    <a:off x="3544711" y="2564472"/>
                    <a:ext cx="12700" cy="1582842"/>
                  </a:xfrm>
                  <a:prstGeom prst="bentConnector3">
                    <a:avLst>
                      <a:gd name="adj1" fmla="val 2325000"/>
                    </a:avLst>
                  </a:prstGeom>
                  <a:ln w="50800">
                    <a:solidFill>
                      <a:schemeClr val="bg1">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576EB121-0002-9BC9-3675-286EC7ECAD12}"/>
                    </a:ext>
                  </a:extLst>
                </p:cNvPr>
                <p:cNvSpPr txBox="1"/>
                <p:nvPr/>
              </p:nvSpPr>
              <p:spPr>
                <a:xfrm>
                  <a:off x="4145136" y="3520447"/>
                  <a:ext cx="1836465" cy="338554"/>
                </a:xfrm>
                <a:prstGeom prst="rect">
                  <a:avLst/>
                </a:prstGeom>
                <a:noFill/>
              </p:spPr>
              <p:txBody>
                <a:bodyPr wrap="none" lIns="91440" tIns="45720" rIns="91440" bIns="45720" rtlCol="0">
                  <a:spAutoFit/>
                </a:bodyPr>
                <a:lstStyle/>
                <a:p>
                  <a:pPr algn="ctr">
                    <a:spcAft>
                      <a:spcPts val="600"/>
                    </a:spcAft>
                  </a:pPr>
                  <a:r>
                    <a:rPr lang="en-US" sz="1600" dirty="0" err="1"/>
                    <a:t>SpeechRecognizer</a:t>
                  </a:r>
                  <a:endParaRPr lang="en-US" sz="1600" dirty="0"/>
                </a:p>
              </p:txBody>
            </p:sp>
          </p:grpSp>
          <p:grpSp>
            <p:nvGrpSpPr>
              <p:cNvPr id="26" name="Group 25">
                <a:extLst>
                  <a:ext uri="{FF2B5EF4-FFF2-40B4-BE49-F238E27FC236}">
                    <a16:creationId xmlns:a16="http://schemas.microsoft.com/office/drawing/2014/main" id="{93AC90A0-7D15-B447-67B0-F3D9CC7F3EEE}"/>
                  </a:ext>
                  <a:ext uri="{C183D7F6-B498-43B3-948B-1728B52AA6E4}">
                    <adec:decorative xmlns:adec="http://schemas.microsoft.com/office/drawing/2017/decorative" val="1"/>
                  </a:ext>
                </a:extLst>
              </p:cNvPr>
              <p:cNvGrpSpPr/>
              <p:nvPr/>
            </p:nvGrpSpPr>
            <p:grpSpPr>
              <a:xfrm>
                <a:off x="4449989" y="2439654"/>
                <a:ext cx="1226757" cy="1142707"/>
                <a:chOff x="2171069" y="4753308"/>
                <a:chExt cx="1360077" cy="1274863"/>
              </a:xfrm>
              <a:solidFill>
                <a:schemeClr val="tx2">
                  <a:lumMod val="50000"/>
                  <a:lumOff val="50000"/>
                </a:schemeClr>
              </a:solidFill>
            </p:grpSpPr>
            <p:pic>
              <p:nvPicPr>
                <p:cNvPr id="28" name="Graphic 27" descr="Gears with solid fill">
                  <a:extLst>
                    <a:ext uri="{FF2B5EF4-FFF2-40B4-BE49-F238E27FC236}">
                      <a16:creationId xmlns:a16="http://schemas.microsoft.com/office/drawing/2014/main" id="{18554E37-BCE3-E888-041E-E8E4FD6D23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6746" y="5113771"/>
                  <a:ext cx="914400" cy="914400"/>
                </a:xfrm>
                <a:prstGeom prst="rect">
                  <a:avLst/>
                </a:prstGeom>
              </p:spPr>
            </p:pic>
            <p:pic>
              <p:nvPicPr>
                <p:cNvPr id="29" name="Graphic 28" descr="Chat bubble with solid fill">
                  <a:extLst>
                    <a:ext uri="{FF2B5EF4-FFF2-40B4-BE49-F238E27FC236}">
                      <a16:creationId xmlns:a16="http://schemas.microsoft.com/office/drawing/2014/main" id="{9D3144B3-E97C-546A-4BC4-AC9BBD18075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2171069" y="4753308"/>
                  <a:ext cx="914400" cy="914400"/>
                </a:xfrm>
                <a:prstGeom prst="rect">
                  <a:avLst/>
                </a:prstGeom>
              </p:spPr>
            </p:pic>
          </p:grpSp>
        </p:grpSp>
        <p:grpSp>
          <p:nvGrpSpPr>
            <p:cNvPr id="19" name="Group 18">
              <a:extLst>
                <a:ext uri="{FF2B5EF4-FFF2-40B4-BE49-F238E27FC236}">
                  <a16:creationId xmlns:a16="http://schemas.microsoft.com/office/drawing/2014/main" id="{0208D492-CEFB-3CD3-2209-3D4A5E6B0098}"/>
                </a:ext>
                <a:ext uri="{C183D7F6-B498-43B3-948B-1728B52AA6E4}">
                  <adec:decorative xmlns:adec="http://schemas.microsoft.com/office/drawing/2017/decorative" val="1"/>
                </a:ext>
              </a:extLst>
            </p:cNvPr>
            <p:cNvGrpSpPr/>
            <p:nvPr/>
          </p:nvGrpSpPr>
          <p:grpSpPr>
            <a:xfrm>
              <a:off x="2324789" y="3348678"/>
              <a:ext cx="1138417" cy="790542"/>
              <a:chOff x="4755806" y="5536066"/>
              <a:chExt cx="1183993" cy="822183"/>
            </a:xfrm>
            <a:solidFill>
              <a:schemeClr val="tx2">
                <a:lumMod val="50000"/>
                <a:lumOff val="50000"/>
              </a:schemeClr>
            </a:solidFill>
          </p:grpSpPr>
          <p:pic>
            <p:nvPicPr>
              <p:cNvPr id="21" name="Graphic 20" descr="Radio microphone with solid fill">
                <a:extLst>
                  <a:ext uri="{FF2B5EF4-FFF2-40B4-BE49-F238E27FC236}">
                    <a16:creationId xmlns:a16="http://schemas.microsoft.com/office/drawing/2014/main" id="{FBDB64CB-097C-5013-A70C-1B1F715595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48677" y="5667128"/>
                <a:ext cx="691122" cy="691121"/>
              </a:xfrm>
              <a:prstGeom prst="rect">
                <a:avLst/>
              </a:prstGeom>
            </p:spPr>
          </p:pic>
          <p:grpSp>
            <p:nvGrpSpPr>
              <p:cNvPr id="22" name="Group 21">
                <a:extLst>
                  <a:ext uri="{FF2B5EF4-FFF2-40B4-BE49-F238E27FC236}">
                    <a16:creationId xmlns:a16="http://schemas.microsoft.com/office/drawing/2014/main" id="{4FD04DD8-5AA1-F766-66FF-9054927C9A8E}"/>
                  </a:ext>
                </a:extLst>
              </p:cNvPr>
              <p:cNvGrpSpPr/>
              <p:nvPr/>
            </p:nvGrpSpPr>
            <p:grpSpPr>
              <a:xfrm>
                <a:off x="4755806" y="5536066"/>
                <a:ext cx="757574" cy="757574"/>
                <a:chOff x="4775238" y="5457370"/>
                <a:chExt cx="914400" cy="914400"/>
              </a:xfrm>
              <a:grpFill/>
            </p:grpSpPr>
            <p:pic>
              <p:nvPicPr>
                <p:cNvPr id="23" name="Graphic 22" descr="Paper outline">
                  <a:extLst>
                    <a:ext uri="{FF2B5EF4-FFF2-40B4-BE49-F238E27FC236}">
                      <a16:creationId xmlns:a16="http://schemas.microsoft.com/office/drawing/2014/main" id="{ED8E2A64-993E-4B11-B5D1-46A77738B91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238" y="5457370"/>
                  <a:ext cx="914400" cy="914400"/>
                </a:xfrm>
                <a:prstGeom prst="rect">
                  <a:avLst/>
                </a:prstGeom>
              </p:spPr>
            </p:pic>
            <p:pic>
              <p:nvPicPr>
                <p:cNvPr id="24" name="Graphic 23" descr="Voice with solid fill">
                  <a:extLst>
                    <a:ext uri="{FF2B5EF4-FFF2-40B4-BE49-F238E27FC236}">
                      <a16:creationId xmlns:a16="http://schemas.microsoft.com/office/drawing/2014/main" id="{AD8CBB34-F3C0-D367-0FF9-F847368FEC7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77711" y="5655444"/>
                  <a:ext cx="509427" cy="509426"/>
                </a:xfrm>
                <a:prstGeom prst="rect">
                  <a:avLst/>
                </a:prstGeom>
              </p:spPr>
            </p:pic>
          </p:grpSp>
        </p:grpSp>
      </p:grpSp>
      <p:sp>
        <p:nvSpPr>
          <p:cNvPr id="6" name="Footer Placeholder 5">
            <a:extLst>
              <a:ext uri="{FF2B5EF4-FFF2-40B4-BE49-F238E27FC236}">
                <a16:creationId xmlns:a16="http://schemas.microsoft.com/office/drawing/2014/main" id="{F385C349-32DD-7E9E-5D6E-AABF2F28FAB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13" name="TextBox 12">
            <a:extLst>
              <a:ext uri="{FF2B5EF4-FFF2-40B4-BE49-F238E27FC236}">
                <a16:creationId xmlns:a16="http://schemas.microsoft.com/office/drawing/2014/main" id="{8F95D80F-4340-67B4-DFCA-8BBA21944CC9}"/>
              </a:ext>
            </a:extLst>
          </p:cNvPr>
          <p:cNvSpPr txBox="1"/>
          <p:nvPr/>
        </p:nvSpPr>
        <p:spPr>
          <a:xfrm>
            <a:off x="5771388" y="3551588"/>
            <a:ext cx="2462949" cy="307777"/>
          </a:xfrm>
          <a:prstGeom prst="rect">
            <a:avLst/>
          </a:prstGeom>
          <a:noFill/>
        </p:spPr>
        <p:txBody>
          <a:bodyPr wrap="square">
            <a:spAutoFit/>
          </a:bodyPr>
          <a:lstStyle/>
          <a:p>
            <a:r>
              <a:rPr lang="en-US" sz="1400" i="0" dirty="0" err="1">
                <a:solidFill>
                  <a:srgbClr val="161616"/>
                </a:solidFill>
                <a:effectLst/>
                <a:latin typeface="Segoe UI Variable Text" pitchFamily="2" charset="0"/>
              </a:rPr>
              <a:t>RecognizeOnceAsync</a:t>
            </a:r>
            <a:r>
              <a:rPr lang="en-US" sz="1400" i="0" dirty="0">
                <a:solidFill>
                  <a:srgbClr val="161616"/>
                </a:solidFill>
                <a:effectLst/>
                <a:latin typeface="Segoe UI Variable Text" pitchFamily="2" charset="0"/>
              </a:rPr>
              <a:t>()</a:t>
            </a:r>
            <a:endParaRPr lang="en-US" sz="1400" dirty="0">
              <a:latin typeface="Segoe UI Variable Text" pitchFamily="2" charset="0"/>
            </a:endParaRPr>
          </a:p>
        </p:txBody>
      </p:sp>
    </p:spTree>
    <p:extLst>
      <p:ext uri="{BB962C8B-B14F-4D97-AF65-F5344CB8AC3E}">
        <p14:creationId xmlns:p14="http://schemas.microsoft.com/office/powerpoint/2010/main" val="412285262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95D42ED-902B-7562-9943-845330A93A3A}"/>
              </a:ext>
              <a:ext uri="{C183D7F6-B498-43B3-948B-1728B52AA6E4}">
                <adec:decorative xmlns:adec="http://schemas.microsoft.com/office/drawing/2017/decorative" val="0"/>
              </a:ext>
            </a:extLst>
          </p:cNvPr>
          <p:cNvSpPr>
            <a:spLocks noGrp="1"/>
          </p:cNvSpPr>
          <p:nvPr>
            <p:ph type="title"/>
          </p:nvPr>
        </p:nvSpPr>
        <p:spPr>
          <a:xfrm>
            <a:off x="588262" y="585216"/>
            <a:ext cx="8193024" cy="492443"/>
          </a:xfrm>
        </p:spPr>
        <p:txBody>
          <a:bodyPr/>
          <a:lstStyle/>
          <a:p>
            <a:r>
              <a:rPr lang="en-US" sz="3200" dirty="0"/>
              <a:t>Text to speech</a:t>
            </a:r>
          </a:p>
        </p:txBody>
      </p:sp>
      <p:sp>
        <p:nvSpPr>
          <p:cNvPr id="6" name="Footer Placeholder 5">
            <a:extLst>
              <a:ext uri="{FF2B5EF4-FFF2-40B4-BE49-F238E27FC236}">
                <a16:creationId xmlns:a16="http://schemas.microsoft.com/office/drawing/2014/main" id="{F385C349-32DD-7E9E-5D6E-AABF2F28FAB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35" name="Group 34">
            <a:extLst>
              <a:ext uri="{FF2B5EF4-FFF2-40B4-BE49-F238E27FC236}">
                <a16:creationId xmlns:a16="http://schemas.microsoft.com/office/drawing/2014/main" id="{55E28B70-27D2-2D8A-3750-4A11F36E0DD0}"/>
              </a:ext>
            </a:extLst>
          </p:cNvPr>
          <p:cNvGrpSpPr/>
          <p:nvPr/>
        </p:nvGrpSpPr>
        <p:grpSpPr>
          <a:xfrm>
            <a:off x="1951739" y="2120084"/>
            <a:ext cx="9967579" cy="2956361"/>
            <a:chOff x="1995281" y="2040571"/>
            <a:chExt cx="9967579" cy="2956361"/>
          </a:xfrm>
        </p:grpSpPr>
        <p:grpSp>
          <p:nvGrpSpPr>
            <p:cNvPr id="14" name="Group 13">
              <a:extLst>
                <a:ext uri="{FF2B5EF4-FFF2-40B4-BE49-F238E27FC236}">
                  <a16:creationId xmlns:a16="http://schemas.microsoft.com/office/drawing/2014/main" id="{84CC9299-564B-1B16-78DA-6B0C140C58A3}"/>
                </a:ext>
              </a:extLst>
            </p:cNvPr>
            <p:cNvGrpSpPr/>
            <p:nvPr/>
          </p:nvGrpSpPr>
          <p:grpSpPr>
            <a:xfrm>
              <a:off x="2351636" y="2040571"/>
              <a:ext cx="1082252" cy="929580"/>
              <a:chOff x="4651461" y="3787461"/>
              <a:chExt cx="1125578" cy="966794"/>
            </a:xfrm>
            <a:solidFill>
              <a:srgbClr val="243A5E"/>
            </a:solidFill>
          </p:grpSpPr>
          <p:pic>
            <p:nvPicPr>
              <p:cNvPr id="16" name="Graphic 15" descr="Key with solid fill">
                <a:extLst>
                  <a:ext uri="{FF2B5EF4-FFF2-40B4-BE49-F238E27FC236}">
                    <a16:creationId xmlns:a16="http://schemas.microsoft.com/office/drawing/2014/main" id="{B959E0FB-9D1F-7937-4FB7-AC0A979AC1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8959995">
                <a:off x="5019426" y="3996642"/>
                <a:ext cx="757613" cy="757613"/>
              </a:xfrm>
              <a:prstGeom prst="rect">
                <a:avLst/>
              </a:prstGeom>
            </p:spPr>
          </p:pic>
          <p:pic>
            <p:nvPicPr>
              <p:cNvPr id="17" name="Graphic 16" descr="World with solid fill">
                <a:extLst>
                  <a:ext uri="{FF2B5EF4-FFF2-40B4-BE49-F238E27FC236}">
                    <a16:creationId xmlns:a16="http://schemas.microsoft.com/office/drawing/2014/main" id="{EA2072F7-C74A-0738-3007-8325A1C014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1461" y="3787461"/>
                <a:ext cx="690819" cy="690819"/>
              </a:xfrm>
              <a:prstGeom prst="rect">
                <a:avLst/>
              </a:prstGeom>
            </p:spPr>
          </p:pic>
        </p:grpSp>
        <p:sp>
          <p:nvSpPr>
            <p:cNvPr id="15" name="TextBox 14">
              <a:extLst>
                <a:ext uri="{FF2B5EF4-FFF2-40B4-BE49-F238E27FC236}">
                  <a16:creationId xmlns:a16="http://schemas.microsoft.com/office/drawing/2014/main" id="{18761556-406C-A756-2C4D-3164E8DCF568}"/>
                </a:ext>
              </a:extLst>
            </p:cNvPr>
            <p:cNvSpPr txBox="1"/>
            <p:nvPr/>
          </p:nvSpPr>
          <p:spPr>
            <a:xfrm>
              <a:off x="2117654" y="2888176"/>
              <a:ext cx="1435008" cy="338554"/>
            </a:xfrm>
            <a:prstGeom prst="rect">
              <a:avLst/>
            </a:prstGeom>
            <a:noFill/>
          </p:spPr>
          <p:txBody>
            <a:bodyPr wrap="none" lIns="91440" tIns="45720" rIns="91440" bIns="45720" rtlCol="0">
              <a:spAutoFit/>
            </a:bodyPr>
            <a:lstStyle/>
            <a:p>
              <a:pPr algn="ctr">
                <a:spcAft>
                  <a:spcPts val="600"/>
                </a:spcAft>
              </a:pPr>
              <a:r>
                <a:rPr lang="en-US" sz="1600" dirty="0" err="1"/>
                <a:t>SpeechConfig</a:t>
              </a:r>
              <a:endParaRPr lang="en-US" sz="1600" dirty="0"/>
            </a:p>
          </p:txBody>
        </p:sp>
        <p:grpSp>
          <p:nvGrpSpPr>
            <p:cNvPr id="19" name="Group 18">
              <a:extLst>
                <a:ext uri="{FF2B5EF4-FFF2-40B4-BE49-F238E27FC236}">
                  <a16:creationId xmlns:a16="http://schemas.microsoft.com/office/drawing/2014/main" id="{0208D492-CEFB-3CD3-2209-3D4A5E6B0098}"/>
                </a:ext>
              </a:extLst>
            </p:cNvPr>
            <p:cNvGrpSpPr/>
            <p:nvPr/>
          </p:nvGrpSpPr>
          <p:grpSpPr>
            <a:xfrm>
              <a:off x="2364741" y="3823643"/>
              <a:ext cx="1173277" cy="1001525"/>
              <a:chOff x="4819078" y="5406645"/>
              <a:chExt cx="1220248" cy="1041617"/>
            </a:xfrm>
            <a:solidFill>
              <a:srgbClr val="463668"/>
            </a:solidFill>
          </p:grpSpPr>
          <p:pic>
            <p:nvPicPr>
              <p:cNvPr id="21" name="Graphic 20" descr="Volume with solid fill">
                <a:extLst>
                  <a:ext uri="{FF2B5EF4-FFF2-40B4-BE49-F238E27FC236}">
                    <a16:creationId xmlns:a16="http://schemas.microsoft.com/office/drawing/2014/main" id="{FBDB64CB-097C-5013-A70C-1B1F7155950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281752" y="5690690"/>
                <a:ext cx="757574" cy="757572"/>
              </a:xfrm>
              <a:prstGeom prst="rect">
                <a:avLst/>
              </a:prstGeom>
            </p:spPr>
          </p:pic>
          <p:grpSp>
            <p:nvGrpSpPr>
              <p:cNvPr id="22" name="Group 21">
                <a:extLst>
                  <a:ext uri="{FF2B5EF4-FFF2-40B4-BE49-F238E27FC236}">
                    <a16:creationId xmlns:a16="http://schemas.microsoft.com/office/drawing/2014/main" id="{4FD04DD8-5AA1-F766-66FF-9054927C9A8E}"/>
                  </a:ext>
                </a:extLst>
              </p:cNvPr>
              <p:cNvGrpSpPr/>
              <p:nvPr/>
            </p:nvGrpSpPr>
            <p:grpSpPr>
              <a:xfrm>
                <a:off x="4819078" y="5406645"/>
                <a:ext cx="757574" cy="757574"/>
                <a:chOff x="4851606" y="5301154"/>
                <a:chExt cx="914400" cy="914400"/>
              </a:xfrm>
              <a:grpFill/>
            </p:grpSpPr>
            <p:pic>
              <p:nvPicPr>
                <p:cNvPr id="23" name="Graphic 22" descr="Paper outline">
                  <a:extLst>
                    <a:ext uri="{FF2B5EF4-FFF2-40B4-BE49-F238E27FC236}">
                      <a16:creationId xmlns:a16="http://schemas.microsoft.com/office/drawing/2014/main" id="{ED8E2A64-993E-4B11-B5D1-46A77738B9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51606" y="5301154"/>
                  <a:ext cx="914400" cy="914400"/>
                </a:xfrm>
                <a:prstGeom prst="rect">
                  <a:avLst/>
                </a:prstGeom>
              </p:spPr>
            </p:pic>
            <p:pic>
              <p:nvPicPr>
                <p:cNvPr id="24" name="Graphic 23" descr="Voice with solid fill">
                  <a:extLst>
                    <a:ext uri="{FF2B5EF4-FFF2-40B4-BE49-F238E27FC236}">
                      <a16:creationId xmlns:a16="http://schemas.microsoft.com/office/drawing/2014/main" id="{AD8CBB34-F3C0-D367-0FF9-F847368FEC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54068" y="5535669"/>
                  <a:ext cx="509427" cy="509427"/>
                </a:xfrm>
                <a:prstGeom prst="rect">
                  <a:avLst/>
                </a:prstGeom>
              </p:spPr>
            </p:pic>
          </p:grpSp>
        </p:grpSp>
        <p:sp>
          <p:nvSpPr>
            <p:cNvPr id="20" name="TextBox 19">
              <a:extLst>
                <a:ext uri="{FF2B5EF4-FFF2-40B4-BE49-F238E27FC236}">
                  <a16:creationId xmlns:a16="http://schemas.microsoft.com/office/drawing/2014/main" id="{B9DFE4A8-0E7E-CC3C-DE69-6E2A9EED6D88}"/>
                </a:ext>
              </a:extLst>
            </p:cNvPr>
            <p:cNvSpPr txBox="1"/>
            <p:nvPr/>
          </p:nvSpPr>
          <p:spPr>
            <a:xfrm>
              <a:off x="1995281" y="4658378"/>
              <a:ext cx="2004674" cy="338554"/>
            </a:xfrm>
            <a:prstGeom prst="rect">
              <a:avLst/>
            </a:prstGeom>
            <a:noFill/>
          </p:spPr>
          <p:txBody>
            <a:bodyPr wrap="square" lIns="91440" tIns="45720" rIns="91440" bIns="45720" rtlCol="0">
              <a:spAutoFit/>
            </a:bodyPr>
            <a:lstStyle/>
            <a:p>
              <a:pPr algn="ctr">
                <a:spcAft>
                  <a:spcPts val="600"/>
                </a:spcAft>
              </a:pPr>
              <a:r>
                <a:rPr lang="en-US" sz="1600" dirty="0" err="1"/>
                <a:t>AudioOutputConfig</a:t>
              </a:r>
              <a:endParaRPr lang="en-US" sz="1600" dirty="0"/>
            </a:p>
          </p:txBody>
        </p:sp>
        <p:sp>
          <p:nvSpPr>
            <p:cNvPr id="32" name="Rectangle 31">
              <a:extLst>
                <a:ext uri="{FF2B5EF4-FFF2-40B4-BE49-F238E27FC236}">
                  <a16:creationId xmlns:a16="http://schemas.microsoft.com/office/drawing/2014/main" id="{5A450967-7EF2-81E0-8526-05649A03531A}"/>
                </a:ext>
              </a:extLst>
            </p:cNvPr>
            <p:cNvSpPr/>
            <p:nvPr/>
          </p:nvSpPr>
          <p:spPr bwMode="auto">
            <a:xfrm>
              <a:off x="4549052" y="3517242"/>
              <a:ext cx="152647" cy="3099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3CA8C083-C3D4-5670-FA6D-07EE030F9101}"/>
                </a:ext>
              </a:extLst>
            </p:cNvPr>
            <p:cNvSpPr/>
            <p:nvPr/>
          </p:nvSpPr>
          <p:spPr>
            <a:xfrm>
              <a:off x="7088772" y="2676279"/>
              <a:ext cx="2318507" cy="1873554"/>
            </a:xfrm>
            <a:prstGeom prst="rect">
              <a:avLst/>
            </a:prstGeom>
            <a:solidFill>
              <a:schemeClr val="bg1">
                <a:lumMod val="95000"/>
              </a:schemeClr>
            </a:solidFill>
          </p:spPr>
          <p:txBody>
            <a:bodyPr wrap="square" numCol="1" anchor="ctr">
              <a:noAutofit/>
            </a:bodyPr>
            <a:lstStyle/>
            <a:p>
              <a:pPr lvl="0" defTabSz="914367">
                <a:spcBef>
                  <a:spcPts val="300"/>
                </a:spcBef>
              </a:pPr>
              <a:r>
                <a:rPr lang="en-US" sz="1600" dirty="0"/>
                <a:t>Results include</a:t>
              </a:r>
            </a:p>
            <a:p>
              <a:pPr marL="228600" lvl="0" indent="-228600" defTabSz="914367">
                <a:spcBef>
                  <a:spcPts val="300"/>
                </a:spcBef>
                <a:buFont typeface="Arial" panose="020B0604020202020204" pitchFamily="34" charset="0"/>
                <a:buChar char="•"/>
              </a:pPr>
              <a:r>
                <a:rPr lang="en-US" sz="1600" dirty="0"/>
                <a:t>Audio stream</a:t>
              </a:r>
            </a:p>
            <a:p>
              <a:pPr marL="228600" lvl="0" indent="-228600" defTabSz="914367">
                <a:spcBef>
                  <a:spcPts val="300"/>
                </a:spcBef>
                <a:buFont typeface="Arial" panose="020B0604020202020204" pitchFamily="34" charset="0"/>
                <a:buChar char="•"/>
              </a:pPr>
              <a:r>
                <a:rPr lang="en-US" sz="1600" dirty="0"/>
                <a:t>Properties</a:t>
              </a:r>
            </a:p>
            <a:p>
              <a:pPr marL="228600" lvl="0" indent="-228600" defTabSz="914367">
                <a:spcBef>
                  <a:spcPts val="300"/>
                </a:spcBef>
                <a:buFont typeface="Arial" panose="020B0604020202020204" pitchFamily="34" charset="0"/>
                <a:buChar char="•"/>
              </a:pPr>
              <a:r>
                <a:rPr lang="en-US" sz="1600" dirty="0"/>
                <a:t>Reason</a:t>
              </a:r>
            </a:p>
            <a:p>
              <a:pPr marL="228600" lvl="0" indent="-228600" defTabSz="914367">
                <a:spcBef>
                  <a:spcPts val="300"/>
                </a:spcBef>
                <a:buFont typeface="Arial" panose="020B0604020202020204" pitchFamily="34" charset="0"/>
                <a:buChar char="•"/>
              </a:pPr>
              <a:r>
                <a:rPr lang="en-US" sz="1600" dirty="0"/>
                <a:t>Result ID</a:t>
              </a:r>
            </a:p>
          </p:txBody>
        </p:sp>
        <p:cxnSp>
          <p:nvCxnSpPr>
            <p:cNvPr id="37" name="Straight Arrow Connector 32">
              <a:extLst>
                <a:ext uri="{FF2B5EF4-FFF2-40B4-BE49-F238E27FC236}">
                  <a16:creationId xmlns:a16="http://schemas.microsoft.com/office/drawing/2014/main" id="{1081A870-A3E9-1D0F-BFEB-75A43B050F82}"/>
                </a:ext>
              </a:extLst>
            </p:cNvPr>
            <p:cNvCxnSpPr>
              <a:cxnSpLocks/>
            </p:cNvCxnSpPr>
            <p:nvPr/>
          </p:nvCxnSpPr>
          <p:spPr>
            <a:xfrm>
              <a:off x="5564558" y="3764377"/>
              <a:ext cx="1448492" cy="0"/>
            </a:xfrm>
            <a:prstGeom prst="straightConnector1">
              <a:avLst/>
            </a:prstGeom>
            <a:ln w="50800">
              <a:solidFill>
                <a:schemeClr val="bg1">
                  <a:lumMod val="50000"/>
                </a:schemeClr>
              </a:solidFill>
              <a:headEnd type="none"/>
              <a:tailEnd type="triangle" w="lg" len="med"/>
            </a:ln>
          </p:spPr>
          <p:style>
            <a:lnRef idx="1">
              <a:schemeClr val="accent1"/>
            </a:lnRef>
            <a:fillRef idx="0">
              <a:schemeClr val="accent1"/>
            </a:fillRef>
            <a:effectRef idx="0">
              <a:schemeClr val="accent1"/>
            </a:effectRef>
            <a:fontRef idx="minor">
              <a:schemeClr val="tx1"/>
            </a:fontRef>
          </p:style>
        </p:cxnSp>
        <p:sp>
          <p:nvSpPr>
            <p:cNvPr id="41" name="Rectangle: Top Corners Rounded 40">
              <a:extLst>
                <a:ext uri="{FF2B5EF4-FFF2-40B4-BE49-F238E27FC236}">
                  <a16:creationId xmlns:a16="http://schemas.microsoft.com/office/drawing/2014/main" id="{1BC1B078-49E9-1487-0046-0B8C378F47A5}"/>
                </a:ext>
              </a:extLst>
            </p:cNvPr>
            <p:cNvSpPr/>
            <p:nvPr/>
          </p:nvSpPr>
          <p:spPr bwMode="auto">
            <a:xfrm>
              <a:off x="8965056" y="3028578"/>
              <a:ext cx="2997804" cy="1193896"/>
            </a:xfrm>
            <a:prstGeom prst="round2SameRect">
              <a:avLst>
                <a:gd name="adj1" fmla="val 0"/>
                <a:gd name="adj2" fmla="val 0"/>
              </a:avLst>
            </a:prstGeom>
            <a:ln w="19050">
              <a:solidFill>
                <a:srgbClr val="00B0F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r>
                <a:rPr lang="en-US" sz="1600" dirty="0">
                  <a:solidFill>
                    <a:schemeClr val="tx1"/>
                  </a:solidFill>
                  <a:ea typeface="Segoe UI" pitchFamily="34" charset="0"/>
                  <a:cs typeface="Segoe UI" pitchFamily="34" charset="0"/>
                </a:rPr>
                <a:t>Reason for result:</a:t>
              </a:r>
            </a:p>
            <a:p>
              <a:pPr marL="177800" indent="-114300" defTabSz="932472" fontAlgn="base">
                <a:spcBef>
                  <a:spcPts val="100"/>
                </a:spcBef>
                <a:spcAft>
                  <a:spcPts val="200"/>
                </a:spcAft>
                <a:buFont typeface="Arial" panose="020B0604020202020204" pitchFamily="34" charset="0"/>
                <a:buChar char="•"/>
              </a:pPr>
              <a:r>
                <a:rPr lang="en-US" sz="1600" dirty="0" err="1">
                  <a:solidFill>
                    <a:schemeClr val="tx1"/>
                  </a:solidFill>
                  <a:cs typeface="Segoe UI" pitchFamily="34" charset="0"/>
                </a:rPr>
                <a:t>SynthesizingAudioCompleted</a:t>
              </a:r>
              <a:endParaRPr lang="en-US" sz="1600" dirty="0">
                <a:solidFill>
                  <a:schemeClr val="tx1"/>
                </a:solidFill>
                <a:cs typeface="Segoe UI" pitchFamily="34" charset="0"/>
              </a:endParaRPr>
            </a:p>
            <a:p>
              <a:pPr marL="177800" indent="-114300" defTabSz="932472" fontAlgn="base">
                <a:spcBef>
                  <a:spcPts val="100"/>
                </a:spcBef>
                <a:spcAft>
                  <a:spcPts val="200"/>
                </a:spcAft>
                <a:buFont typeface="Arial" panose="020B0604020202020204" pitchFamily="34" charset="0"/>
                <a:buChar char="•"/>
              </a:pPr>
              <a:r>
                <a:rPr lang="en-US" sz="1600" dirty="0">
                  <a:solidFill>
                    <a:schemeClr val="tx1"/>
                  </a:solidFill>
                  <a:cs typeface="Segoe UI" pitchFamily="34" charset="0"/>
                </a:rPr>
                <a:t>Cancelled</a:t>
              </a:r>
            </a:p>
            <a:p>
              <a:pPr marL="341313" lvl="1" indent="-114300" defTabSz="932472" fontAlgn="base">
                <a:spcBef>
                  <a:spcPts val="100"/>
                </a:spcBef>
                <a:spcAft>
                  <a:spcPts val="200"/>
                </a:spcAft>
                <a:buFont typeface="Arial" panose="020B0604020202020204" pitchFamily="34" charset="0"/>
                <a:buChar char="•"/>
              </a:pPr>
              <a:r>
                <a:rPr lang="en-US" sz="1200" dirty="0">
                  <a:solidFill>
                    <a:schemeClr val="tx1"/>
                  </a:solidFill>
                  <a:cs typeface="Segoe UI" pitchFamily="34" charset="0"/>
                </a:rPr>
                <a:t>Details</a:t>
              </a:r>
            </a:p>
          </p:txBody>
        </p:sp>
        <p:grpSp>
          <p:nvGrpSpPr>
            <p:cNvPr id="2" name="Group 1">
              <a:extLst>
                <a:ext uri="{FF2B5EF4-FFF2-40B4-BE49-F238E27FC236}">
                  <a16:creationId xmlns:a16="http://schemas.microsoft.com/office/drawing/2014/main" id="{4B990F3A-1F8C-9552-DA8A-63D8902F5FBC}"/>
                </a:ext>
              </a:extLst>
            </p:cNvPr>
            <p:cNvGrpSpPr/>
            <p:nvPr/>
          </p:nvGrpSpPr>
          <p:grpSpPr>
            <a:xfrm>
              <a:off x="3552662" y="3057453"/>
              <a:ext cx="996390" cy="1582842"/>
              <a:chOff x="3544711" y="2564472"/>
              <a:chExt cx="996390" cy="1582842"/>
            </a:xfrm>
          </p:grpSpPr>
          <p:cxnSp>
            <p:nvCxnSpPr>
              <p:cNvPr id="3" name="Straight Arrow Connector 2">
                <a:extLst>
                  <a:ext uri="{FF2B5EF4-FFF2-40B4-BE49-F238E27FC236}">
                    <a16:creationId xmlns:a16="http://schemas.microsoft.com/office/drawing/2014/main" id="{272C6469-543D-4616-008E-72DD56B99F24}"/>
                  </a:ext>
                </a:extLst>
              </p:cNvPr>
              <p:cNvCxnSpPr>
                <a:cxnSpLocks/>
              </p:cNvCxnSpPr>
              <p:nvPr/>
            </p:nvCxnSpPr>
            <p:spPr>
              <a:xfrm>
                <a:off x="3857625" y="3250282"/>
                <a:ext cx="683476" cy="0"/>
              </a:xfrm>
              <a:prstGeom prst="straightConnector1">
                <a:avLst/>
              </a:prstGeom>
              <a:ln w="50800">
                <a:solidFill>
                  <a:schemeClr val="bg1">
                    <a:lumMod val="50000"/>
                  </a:schemeClr>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 name="Straight Arrow Connector 32">
                <a:extLst>
                  <a:ext uri="{FF2B5EF4-FFF2-40B4-BE49-F238E27FC236}">
                    <a16:creationId xmlns:a16="http://schemas.microsoft.com/office/drawing/2014/main" id="{FBA06E29-2567-4FA0-2C51-EE7B9C1DE633}"/>
                  </a:ext>
                </a:extLst>
              </p:cNvPr>
              <p:cNvCxnSpPr>
                <a:cxnSpLocks/>
              </p:cNvCxnSpPr>
              <p:nvPr/>
            </p:nvCxnSpPr>
            <p:spPr>
              <a:xfrm>
                <a:off x="3544711" y="2564472"/>
                <a:ext cx="12700" cy="1582842"/>
              </a:xfrm>
              <a:prstGeom prst="bentConnector3">
                <a:avLst>
                  <a:gd name="adj1" fmla="val 2325000"/>
                </a:avLst>
              </a:prstGeom>
              <a:ln w="50800">
                <a:solidFill>
                  <a:schemeClr val="bg1">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4E8363B3-585E-8165-E325-A3F3621825AD}"/>
                </a:ext>
              </a:extLst>
            </p:cNvPr>
            <p:cNvSpPr txBox="1"/>
            <p:nvPr/>
          </p:nvSpPr>
          <p:spPr>
            <a:xfrm>
              <a:off x="3967136" y="3888113"/>
              <a:ext cx="1873462" cy="846386"/>
            </a:xfrm>
            <a:prstGeom prst="rect">
              <a:avLst/>
            </a:prstGeom>
            <a:noFill/>
          </p:spPr>
          <p:txBody>
            <a:bodyPr wrap="none" lIns="91440" tIns="45720" rIns="91440" bIns="45720" rtlCol="0">
              <a:spAutoFit/>
            </a:bodyPr>
            <a:lstStyle/>
            <a:p>
              <a:pPr algn="ctr">
                <a:spcAft>
                  <a:spcPts val="600"/>
                </a:spcAft>
              </a:pPr>
              <a:r>
                <a:rPr lang="en-US" sz="1600" dirty="0" err="1"/>
                <a:t>SpeechSynthesizer</a:t>
              </a:r>
              <a:endParaRPr lang="en-US" sz="1600" dirty="0"/>
            </a:p>
            <a:p>
              <a:pPr marL="285750" indent="-285750">
                <a:buFont typeface="Arial" panose="020B0604020202020204" pitchFamily="34" charset="0"/>
                <a:buChar char="•"/>
              </a:pPr>
              <a:r>
                <a:rPr lang="en-US" sz="1400" dirty="0"/>
                <a:t>Voice</a:t>
              </a:r>
            </a:p>
            <a:p>
              <a:pPr marL="285750" indent="-285750">
                <a:buFont typeface="Arial" panose="020B0604020202020204" pitchFamily="34" charset="0"/>
                <a:buChar char="•"/>
              </a:pPr>
              <a:r>
                <a:rPr lang="en-US" sz="1400" dirty="0"/>
                <a:t>Audio Format</a:t>
              </a:r>
            </a:p>
          </p:txBody>
        </p:sp>
        <p:grpSp>
          <p:nvGrpSpPr>
            <p:cNvPr id="12" name="Group 11">
              <a:extLst>
                <a:ext uri="{FF2B5EF4-FFF2-40B4-BE49-F238E27FC236}">
                  <a16:creationId xmlns:a16="http://schemas.microsoft.com/office/drawing/2014/main" id="{D8B34B92-C590-848F-5B0D-E35CE6255079}"/>
                </a:ext>
              </a:extLst>
            </p:cNvPr>
            <p:cNvGrpSpPr/>
            <p:nvPr/>
          </p:nvGrpSpPr>
          <p:grpSpPr>
            <a:xfrm>
              <a:off x="4370443" y="2847788"/>
              <a:ext cx="1194114" cy="1148901"/>
              <a:chOff x="4362492" y="2354807"/>
              <a:chExt cx="1194114" cy="1148901"/>
            </a:xfrm>
          </p:grpSpPr>
          <p:grpSp>
            <p:nvGrpSpPr>
              <p:cNvPr id="26" name="Group 25">
                <a:extLst>
                  <a:ext uri="{FF2B5EF4-FFF2-40B4-BE49-F238E27FC236}">
                    <a16:creationId xmlns:a16="http://schemas.microsoft.com/office/drawing/2014/main" id="{93AC90A0-7D15-B447-67B0-F3D9CC7F3EEE}"/>
                  </a:ext>
                </a:extLst>
              </p:cNvPr>
              <p:cNvGrpSpPr/>
              <p:nvPr/>
            </p:nvGrpSpPr>
            <p:grpSpPr>
              <a:xfrm>
                <a:off x="4362492" y="2354807"/>
                <a:ext cx="1194114" cy="1148901"/>
                <a:chOff x="2784800" y="4401907"/>
                <a:chExt cx="1241918" cy="1194893"/>
              </a:xfrm>
              <a:solidFill>
                <a:srgbClr val="243A5E"/>
              </a:solidFill>
            </p:grpSpPr>
            <p:pic>
              <p:nvPicPr>
                <p:cNvPr id="28" name="Graphic 27" descr="Gears with solid fill">
                  <a:extLst>
                    <a:ext uri="{FF2B5EF4-FFF2-40B4-BE49-F238E27FC236}">
                      <a16:creationId xmlns:a16="http://schemas.microsoft.com/office/drawing/2014/main" id="{18554E37-BCE3-E888-041E-E8E4FD6D230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12318" y="4682400"/>
                  <a:ext cx="914400" cy="914400"/>
                </a:xfrm>
                <a:prstGeom prst="rect">
                  <a:avLst/>
                </a:prstGeom>
              </p:spPr>
            </p:pic>
            <p:pic>
              <p:nvPicPr>
                <p:cNvPr id="29" name="Graphic 28" descr="Speech with solid fill">
                  <a:extLst>
                    <a:ext uri="{FF2B5EF4-FFF2-40B4-BE49-F238E27FC236}">
                      <a16:creationId xmlns:a16="http://schemas.microsoft.com/office/drawing/2014/main" id="{9D3144B3-E97C-546A-4BC4-AC9BBD180750}"/>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flipH="1">
                  <a:off x="2784800" y="4401907"/>
                  <a:ext cx="914400" cy="914399"/>
                </a:xfrm>
                <a:prstGeom prst="rect">
                  <a:avLst/>
                </a:prstGeom>
              </p:spPr>
            </p:pic>
          </p:grpSp>
          <p:pic>
            <p:nvPicPr>
              <p:cNvPr id="11" name="Graphic 10" descr="Voice with solid fill">
                <a:extLst>
                  <a:ext uri="{FF2B5EF4-FFF2-40B4-BE49-F238E27FC236}">
                    <a16:creationId xmlns:a16="http://schemas.microsoft.com/office/drawing/2014/main" id="{4ABDB61A-E6DB-2B27-D696-83E5A49322F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4583098" y="2523918"/>
                <a:ext cx="405811" cy="405812"/>
              </a:xfrm>
              <a:prstGeom prst="rect">
                <a:avLst/>
              </a:prstGeom>
            </p:spPr>
          </p:pic>
        </p:grpSp>
        <p:sp>
          <p:nvSpPr>
            <p:cNvPr id="18" name="TextBox 17">
              <a:extLst>
                <a:ext uri="{FF2B5EF4-FFF2-40B4-BE49-F238E27FC236}">
                  <a16:creationId xmlns:a16="http://schemas.microsoft.com/office/drawing/2014/main" id="{F681EAF2-C213-9CD4-D192-7FE32110F408}"/>
                </a:ext>
              </a:extLst>
            </p:cNvPr>
            <p:cNvSpPr txBox="1"/>
            <p:nvPr/>
          </p:nvSpPr>
          <p:spPr>
            <a:xfrm>
              <a:off x="5591069" y="3341540"/>
              <a:ext cx="1564470" cy="307777"/>
            </a:xfrm>
            <a:prstGeom prst="rect">
              <a:avLst/>
            </a:prstGeom>
            <a:noFill/>
          </p:spPr>
          <p:txBody>
            <a:bodyPr wrap="square">
              <a:spAutoFit/>
            </a:bodyPr>
            <a:lstStyle/>
            <a:p>
              <a:r>
                <a:rPr lang="en-US" sz="1400" i="0" dirty="0" err="1">
                  <a:solidFill>
                    <a:srgbClr val="161616"/>
                  </a:solidFill>
                  <a:effectLst/>
                  <a:latin typeface="Segoe UI Variable Text" pitchFamily="2" charset="0"/>
                </a:rPr>
                <a:t>SpeakTextAsync</a:t>
              </a:r>
              <a:r>
                <a:rPr lang="en-US" sz="1400" i="0" dirty="0">
                  <a:solidFill>
                    <a:srgbClr val="161616"/>
                  </a:solidFill>
                  <a:effectLst/>
                  <a:latin typeface="Segoe UI Variable Text" pitchFamily="2" charset="0"/>
                </a:rPr>
                <a:t>()</a:t>
              </a:r>
              <a:endParaRPr lang="en-US" sz="1400" dirty="0">
                <a:latin typeface="Segoe UI Variable Text" pitchFamily="2" charset="0"/>
              </a:endParaRPr>
            </a:p>
          </p:txBody>
        </p:sp>
      </p:grpSp>
      <p:sp>
        <p:nvSpPr>
          <p:cNvPr id="38" name="Rectangle: Top Corners Rounded 37">
            <a:extLst>
              <a:ext uri="{FF2B5EF4-FFF2-40B4-BE49-F238E27FC236}">
                <a16:creationId xmlns:a16="http://schemas.microsoft.com/office/drawing/2014/main" id="{1BBBEEE3-CE9A-581A-8B40-E422996875A3}"/>
              </a:ext>
            </a:extLst>
          </p:cNvPr>
          <p:cNvSpPr/>
          <p:nvPr/>
        </p:nvSpPr>
        <p:spPr bwMode="auto">
          <a:xfrm>
            <a:off x="333600" y="2089278"/>
            <a:ext cx="1666902" cy="951498"/>
          </a:xfrm>
          <a:prstGeom prst="round2SameRect">
            <a:avLst/>
          </a:prstGeom>
          <a:ln w="19050">
            <a:solidFill>
              <a:schemeClr val="tx2">
                <a:lumMod val="50000"/>
                <a:lumOff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tx1"/>
                </a:solidFill>
                <a:ea typeface="Segoe UI" pitchFamily="34" charset="0"/>
                <a:cs typeface="Segoe UI" pitchFamily="34" charset="0"/>
              </a:rPr>
              <a:t>Connection to Azure Speech</a:t>
            </a:r>
          </a:p>
        </p:txBody>
      </p:sp>
      <p:sp>
        <p:nvSpPr>
          <p:cNvPr id="46" name="Rectangle: Top Corners Rounded 45">
            <a:extLst>
              <a:ext uri="{FF2B5EF4-FFF2-40B4-BE49-F238E27FC236}">
                <a16:creationId xmlns:a16="http://schemas.microsoft.com/office/drawing/2014/main" id="{1B4E7A3B-7F3D-7F55-7862-FADA57683040}"/>
              </a:ext>
            </a:extLst>
          </p:cNvPr>
          <p:cNvSpPr/>
          <p:nvPr/>
        </p:nvSpPr>
        <p:spPr bwMode="auto">
          <a:xfrm>
            <a:off x="373612" y="3997986"/>
            <a:ext cx="1662946" cy="951498"/>
          </a:xfrm>
          <a:prstGeom prst="round2SameRect">
            <a:avLst>
              <a:gd name="adj1" fmla="val 0"/>
              <a:gd name="adj2" fmla="val 17352"/>
            </a:avLst>
          </a:prstGeom>
          <a:ln w="19050">
            <a:solidFill>
              <a:schemeClr val="tx2">
                <a:lumMod val="50000"/>
                <a:lumOff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tx1"/>
                </a:solidFill>
                <a:ea typeface="Segoe UI" pitchFamily="34" charset="0"/>
                <a:cs typeface="Segoe UI" pitchFamily="34" charset="0"/>
              </a:rPr>
              <a:t>Speaker (default) or file</a:t>
            </a:r>
          </a:p>
        </p:txBody>
      </p:sp>
    </p:spTree>
    <p:extLst>
      <p:ext uri="{BB962C8B-B14F-4D97-AF65-F5344CB8AC3E}">
        <p14:creationId xmlns:p14="http://schemas.microsoft.com/office/powerpoint/2010/main" val="405994302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3EABE0-DEDA-B74D-741E-B0EF65BEB7B0}"/>
              </a:ext>
            </a:extLst>
          </p:cNvPr>
          <p:cNvSpPr>
            <a:spLocks noGrp="1"/>
          </p:cNvSpPr>
          <p:nvPr>
            <p:ph type="title"/>
          </p:nvPr>
        </p:nvSpPr>
        <p:spPr>
          <a:xfrm>
            <a:off x="588262" y="462105"/>
            <a:ext cx="8193024" cy="492443"/>
          </a:xfrm>
        </p:spPr>
        <p:txBody>
          <a:bodyPr vert="horz" wrap="square" lIns="0" tIns="0" rIns="0" bIns="0" rtlCol="0" anchor="b">
            <a:spAutoFit/>
          </a:bodyPr>
          <a:lstStyle/>
          <a:p>
            <a:r>
              <a:rPr lang="en-GB" sz="3200" dirty="0"/>
              <a:t>Speech Synthesis Markup Language (SSML)</a:t>
            </a:r>
          </a:p>
        </p:txBody>
      </p:sp>
      <p:sp>
        <p:nvSpPr>
          <p:cNvPr id="18" name="Text Placeholder 17">
            <a:extLst>
              <a:ext uri="{FF2B5EF4-FFF2-40B4-BE49-F238E27FC236}">
                <a16:creationId xmlns:a16="http://schemas.microsoft.com/office/drawing/2014/main" id="{C400B6A0-7BFB-78BA-B682-0F4B9515AF1E}"/>
              </a:ext>
            </a:extLst>
          </p:cNvPr>
          <p:cNvSpPr>
            <a:spLocks noGrp="1"/>
          </p:cNvSpPr>
          <p:nvPr>
            <p:ph type="body" sz="quarter" idx="4294967295"/>
          </p:nvPr>
        </p:nvSpPr>
        <p:spPr>
          <a:xfrm>
            <a:off x="588262" y="1114309"/>
            <a:ext cx="10239980" cy="553998"/>
          </a:xfrm>
        </p:spPr>
        <p:txBody>
          <a:bodyPr/>
          <a:lstStyle/>
          <a:p>
            <a:pPr marL="0" indent="0">
              <a:spcBef>
                <a:spcPts val="0"/>
              </a:spcBef>
              <a:spcAft>
                <a:spcPts val="600"/>
              </a:spcAft>
              <a:buNone/>
            </a:pPr>
            <a:r>
              <a:rPr lang="en-US" sz="1800" dirty="0">
                <a:solidFill>
                  <a:schemeClr val="tx1"/>
                </a:solidFill>
                <a:latin typeface="+mj-lt"/>
              </a:rPr>
              <a:t>XML-based language with customization options:</a:t>
            </a:r>
          </a:p>
        </p:txBody>
      </p:sp>
      <p:sp>
        <p:nvSpPr>
          <p:cNvPr id="21" name="TextBox 20">
            <a:extLst>
              <a:ext uri="{FF2B5EF4-FFF2-40B4-BE49-F238E27FC236}">
                <a16:creationId xmlns:a16="http://schemas.microsoft.com/office/drawing/2014/main" id="{1DC36A7A-2963-7AAA-B66B-143BD0092A23}"/>
              </a:ext>
              <a:ext uri="{C183D7F6-B498-43B3-948B-1728B52AA6E4}">
                <adec:decorative xmlns:adec="http://schemas.microsoft.com/office/drawing/2017/decorative" val="0"/>
              </a:ext>
            </a:extLst>
          </p:cNvPr>
          <p:cNvSpPr txBox="1"/>
          <p:nvPr/>
        </p:nvSpPr>
        <p:spPr>
          <a:xfrm>
            <a:off x="671669" y="1391835"/>
            <a:ext cx="10835961" cy="1720984"/>
          </a:xfrm>
          <a:prstGeom prst="rect">
            <a:avLst/>
          </a:prstGeom>
          <a:noFill/>
        </p:spPr>
        <p:txBody>
          <a:bodyPr wrap="square" numCol="2">
            <a:spAutoFit/>
          </a:bodyPr>
          <a:lstStyle/>
          <a:p>
            <a:pPr marL="347663" indent="-227013">
              <a:spcBef>
                <a:spcPts val="100"/>
              </a:spcBef>
              <a:spcAft>
                <a:spcPts val="300"/>
              </a:spcAft>
              <a:buFont typeface="Arial" panose="020B0604020202020204" pitchFamily="34" charset="0"/>
              <a:buChar char="•"/>
            </a:pPr>
            <a:r>
              <a:rPr lang="en-US" sz="1800" dirty="0"/>
              <a:t>Speaking styles (Neural voices only)</a:t>
            </a:r>
          </a:p>
          <a:p>
            <a:pPr marL="347663" indent="-227013">
              <a:spcBef>
                <a:spcPts val="100"/>
              </a:spcBef>
              <a:spcAft>
                <a:spcPts val="300"/>
              </a:spcAft>
              <a:buFont typeface="Arial" panose="020B0604020202020204" pitchFamily="34" charset="0"/>
              <a:buChar char="•"/>
            </a:pPr>
            <a:r>
              <a:rPr lang="en-US" sz="1800" dirty="0"/>
              <a:t>Pauses and silence</a:t>
            </a:r>
          </a:p>
          <a:p>
            <a:pPr marL="347663" indent="-227013">
              <a:spcBef>
                <a:spcPts val="100"/>
              </a:spcBef>
              <a:spcAft>
                <a:spcPts val="300"/>
              </a:spcAft>
              <a:buFont typeface="Arial" panose="020B0604020202020204" pitchFamily="34" charset="0"/>
              <a:buChar char="•"/>
            </a:pPr>
            <a:r>
              <a:rPr lang="en-US" sz="1800" dirty="0"/>
              <a:t>Phonemes (phonetic pronunciations)</a:t>
            </a:r>
          </a:p>
          <a:p>
            <a:pPr marL="120650">
              <a:spcBef>
                <a:spcPts val="100"/>
              </a:spcBef>
              <a:spcAft>
                <a:spcPts val="300"/>
              </a:spcAft>
            </a:pPr>
            <a:endParaRPr lang="en-US" sz="1800" dirty="0"/>
          </a:p>
          <a:p>
            <a:pPr marL="120650">
              <a:spcBef>
                <a:spcPts val="100"/>
              </a:spcBef>
              <a:spcAft>
                <a:spcPts val="300"/>
              </a:spcAft>
            </a:pPr>
            <a:endParaRPr lang="en-US" sz="1800" dirty="0"/>
          </a:p>
          <a:p>
            <a:pPr marL="347663" lvl="1" indent="-227013" defTabSz="932742">
              <a:spcBef>
                <a:spcPts val="100"/>
              </a:spcBef>
              <a:spcAft>
                <a:spcPts val="300"/>
              </a:spcAft>
              <a:buSzPct val="90000"/>
              <a:buFont typeface="Arial" panose="020B0604020202020204" pitchFamily="34" charset="0"/>
              <a:buChar char="•"/>
              <a:defRPr/>
            </a:pPr>
            <a:r>
              <a:rPr lang="en-US" sz="1800" dirty="0"/>
              <a:t>Prosody (speaking pitch, range, rate, etc.)</a:t>
            </a:r>
          </a:p>
          <a:p>
            <a:pPr marL="347663" lvl="1" indent="-227013" defTabSz="932742">
              <a:spcBef>
                <a:spcPts val="100"/>
              </a:spcBef>
              <a:spcAft>
                <a:spcPts val="300"/>
              </a:spcAft>
              <a:buSzPct val="90000"/>
              <a:buFont typeface="Arial" panose="020B0604020202020204" pitchFamily="34" charset="0"/>
              <a:buChar char="•"/>
              <a:defRPr/>
            </a:pPr>
            <a:r>
              <a:rPr lang="en-US" sz="1800" dirty="0"/>
              <a:t>"say-as" (number, date, time, address, etc.)</a:t>
            </a:r>
          </a:p>
          <a:p>
            <a:pPr marL="347663" lvl="1" indent="-227013" defTabSz="932742">
              <a:spcBef>
                <a:spcPts val="100"/>
              </a:spcBef>
              <a:spcAft>
                <a:spcPts val="300"/>
              </a:spcAft>
              <a:buSzPct val="90000"/>
              <a:buFont typeface="Arial" panose="020B0604020202020204" pitchFamily="34" charset="0"/>
              <a:buChar char="•"/>
              <a:defRPr/>
            </a:pPr>
            <a:r>
              <a:rPr lang="en-US" sz="1800" dirty="0"/>
              <a:t>Insert recorded speech or background audio</a:t>
            </a:r>
          </a:p>
        </p:txBody>
      </p:sp>
      <p:grpSp>
        <p:nvGrpSpPr>
          <p:cNvPr id="5" name="Group 4" descr="Diagram showing an example SSML string.">
            <a:extLst>
              <a:ext uri="{FF2B5EF4-FFF2-40B4-BE49-F238E27FC236}">
                <a16:creationId xmlns:a16="http://schemas.microsoft.com/office/drawing/2014/main" id="{D53A45BD-0F8F-7568-C6C3-8EC5BABB2AA3}"/>
              </a:ext>
            </a:extLst>
          </p:cNvPr>
          <p:cNvGrpSpPr/>
          <p:nvPr/>
        </p:nvGrpSpPr>
        <p:grpSpPr>
          <a:xfrm>
            <a:off x="654078" y="2585340"/>
            <a:ext cx="10754971" cy="3644997"/>
            <a:chOff x="654078" y="2305634"/>
            <a:chExt cx="10754971" cy="3644997"/>
          </a:xfrm>
        </p:grpSpPr>
        <p:sp>
          <p:nvSpPr>
            <p:cNvPr id="15" name="TextBox 14">
              <a:extLst>
                <a:ext uri="{FF2B5EF4-FFF2-40B4-BE49-F238E27FC236}">
                  <a16:creationId xmlns:a16="http://schemas.microsoft.com/office/drawing/2014/main" id="{5CF2A107-4996-02A4-1199-47991D2BCB54}"/>
                </a:ext>
              </a:extLst>
            </p:cNvPr>
            <p:cNvSpPr txBox="1"/>
            <p:nvPr/>
          </p:nvSpPr>
          <p:spPr>
            <a:xfrm>
              <a:off x="4429550" y="2305634"/>
              <a:ext cx="4168449" cy="544765"/>
            </a:xfrm>
            <a:prstGeom prst="rect">
              <a:avLst/>
            </a:prstGeom>
            <a:noFill/>
          </p:spPr>
          <p:txBody>
            <a:bodyPr wrap="none" lIns="182880" tIns="146304" rIns="182880" bIns="146304" rtlCol="0">
              <a:spAutoFit/>
            </a:bodyPr>
            <a:lstStyle/>
            <a:p>
              <a:pPr>
                <a:lnSpc>
                  <a:spcPct val="90000"/>
                </a:lnSpc>
                <a:spcAft>
                  <a:spcPts val="600"/>
                </a:spcAft>
              </a:pPr>
              <a:r>
                <a:rPr lang="en-US" sz="1800" dirty="0" err="1">
                  <a:latin typeface="Consolas" panose="020B0609020204030204" pitchFamily="49" charset="0"/>
                  <a:cs typeface="Courier New" panose="02070309020205020404" pitchFamily="49" charset="0"/>
                </a:rPr>
                <a:t>SpeakSsmlAsync</a:t>
              </a:r>
              <a:r>
                <a:rPr lang="en-US" sz="1800" dirty="0">
                  <a:gradFill>
                    <a:gsLst>
                      <a:gs pos="2917">
                        <a:schemeClr val="tx1"/>
                      </a:gs>
                      <a:gs pos="30000">
                        <a:schemeClr val="tx1"/>
                      </a:gs>
                    </a:gsLst>
                    <a:lin ang="5400000" scaled="0"/>
                  </a:gradFill>
                  <a:latin typeface="Consolas" panose="020B0609020204030204" pitchFamily="49" charset="0"/>
                  <a:cs typeface="Courier New" panose="02070309020205020404" pitchFamily="49" charset="0"/>
                </a:rPr>
                <a:t>( </a:t>
              </a:r>
              <a:r>
                <a:rPr lang="en-US" sz="1800" i="1" dirty="0" err="1">
                  <a:solidFill>
                    <a:schemeClr val="accent1"/>
                  </a:solidFill>
                  <a:latin typeface="Consolas" panose="020B0609020204030204" pitchFamily="49" charset="0"/>
                  <a:cs typeface="Courier New" panose="02070309020205020404" pitchFamily="49" charset="0"/>
                </a:rPr>
                <a:t>ssml</a:t>
              </a:r>
              <a:r>
                <a:rPr lang="en-US" sz="1800" i="1" dirty="0">
                  <a:solidFill>
                    <a:schemeClr val="accent1"/>
                  </a:solidFill>
                  <a:latin typeface="Consolas" panose="020B0609020204030204" pitchFamily="49" charset="0"/>
                  <a:cs typeface="Courier New" panose="02070309020205020404" pitchFamily="49" charset="0"/>
                </a:rPr>
                <a:t>-string</a:t>
              </a:r>
              <a:r>
                <a:rPr lang="en-US" sz="1800" dirty="0">
                  <a:gradFill>
                    <a:gsLst>
                      <a:gs pos="2917">
                        <a:schemeClr val="tx1"/>
                      </a:gs>
                      <a:gs pos="30000">
                        <a:schemeClr val="tx1"/>
                      </a:gs>
                    </a:gsLst>
                    <a:lin ang="5400000" scaled="0"/>
                  </a:gradFill>
                  <a:latin typeface="Consolas" panose="020B0609020204030204" pitchFamily="49" charset="0"/>
                  <a:cs typeface="Courier New" panose="02070309020205020404" pitchFamily="49" charset="0"/>
                </a:rPr>
                <a:t> );</a:t>
              </a:r>
            </a:p>
          </p:txBody>
        </p:sp>
        <p:sp>
          <p:nvSpPr>
            <p:cNvPr id="16" name="Left Brace 15">
              <a:extLst>
                <a:ext uri="{FF2B5EF4-FFF2-40B4-BE49-F238E27FC236}">
                  <a16:creationId xmlns:a16="http://schemas.microsoft.com/office/drawing/2014/main" id="{95E57165-253D-9444-484E-AC3C0B7B3A29}"/>
                </a:ext>
                <a:ext uri="{C183D7F6-B498-43B3-948B-1728B52AA6E4}">
                  <adec:decorative xmlns:adec="http://schemas.microsoft.com/office/drawing/2017/decorative" val="1"/>
                </a:ext>
              </a:extLst>
            </p:cNvPr>
            <p:cNvSpPr/>
            <p:nvPr/>
          </p:nvSpPr>
          <p:spPr>
            <a:xfrm rot="5400000">
              <a:off x="6159396" y="-1709145"/>
              <a:ext cx="270185" cy="9067507"/>
            </a:xfrm>
            <a:prstGeom prst="leftBrace">
              <a:avLst>
                <a:gd name="adj1" fmla="val 8333"/>
                <a:gd name="adj2" fmla="val 38889"/>
              </a:avLst>
            </a:prstGeom>
            <a:ln w="28575">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onsolas" panose="020B0609020204030204" pitchFamily="49" charset="0"/>
              </a:endParaRPr>
            </a:p>
          </p:txBody>
        </p:sp>
        <p:sp>
          <p:nvSpPr>
            <p:cNvPr id="10" name="TextBox 9">
              <a:extLst>
                <a:ext uri="{FF2B5EF4-FFF2-40B4-BE49-F238E27FC236}">
                  <a16:creationId xmlns:a16="http://schemas.microsoft.com/office/drawing/2014/main" id="{62F3B553-EB53-F959-1474-74BF13AA5137}"/>
                </a:ext>
              </a:extLst>
            </p:cNvPr>
            <p:cNvSpPr txBox="1"/>
            <p:nvPr/>
          </p:nvSpPr>
          <p:spPr>
            <a:xfrm>
              <a:off x="1632404" y="2903643"/>
              <a:ext cx="9776645" cy="3046988"/>
            </a:xfrm>
            <a:prstGeom prst="rect">
              <a:avLst/>
            </a:prstGeom>
            <a:noFill/>
          </p:spPr>
          <p:txBody>
            <a:bodyPr wrap="square">
              <a:spAutoFit/>
            </a:bodyPr>
            <a:lstStyle/>
            <a:p>
              <a:r>
                <a:rPr lang="en-US" sz="1600" b="0" dirty="0">
                  <a:solidFill>
                    <a:schemeClr val="accent1"/>
                  </a:solidFill>
                  <a:effectLst/>
                  <a:latin typeface="Consolas" panose="020B0609020204030204" pitchFamily="49" charset="0"/>
                </a:rPr>
                <a:t>&lt;speak version="1.0" </a:t>
              </a:r>
              <a:r>
                <a:rPr lang="en-US" sz="1600" b="0" dirty="0" err="1">
                  <a:solidFill>
                    <a:schemeClr val="accent1"/>
                  </a:solidFill>
                  <a:effectLst/>
                  <a:latin typeface="Consolas" panose="020B0609020204030204" pitchFamily="49" charset="0"/>
                </a:rPr>
                <a:t>xmlns</a:t>
              </a:r>
              <a:r>
                <a:rPr lang="en-US" sz="1600" b="0" dirty="0">
                  <a:solidFill>
                    <a:schemeClr val="accent1"/>
                  </a:solidFill>
                  <a:effectLst/>
                  <a:latin typeface="Consolas" panose="020B0609020204030204" pitchFamily="49" charset="0"/>
                </a:rPr>
                <a:t>="http://www.w3.org/2001/10/synthesis" </a:t>
              </a:r>
            </a:p>
            <a:p>
              <a:r>
                <a:rPr lang="en-US" sz="1600" b="0" dirty="0">
                  <a:solidFill>
                    <a:schemeClr val="accent1"/>
                  </a:solidFill>
                  <a:effectLst/>
                  <a:latin typeface="Consolas" panose="020B0609020204030204" pitchFamily="49" charset="0"/>
                </a:rPr>
                <a:t>                     </a:t>
              </a:r>
              <a:r>
                <a:rPr lang="en-US" sz="1600" b="0" dirty="0" err="1">
                  <a:solidFill>
                    <a:schemeClr val="accent1"/>
                  </a:solidFill>
                  <a:effectLst/>
                  <a:latin typeface="Consolas" panose="020B0609020204030204" pitchFamily="49" charset="0"/>
                </a:rPr>
                <a:t>xmlns:mstts</a:t>
              </a:r>
              <a:r>
                <a:rPr lang="en-US" sz="1600" b="0" dirty="0">
                  <a:solidFill>
                    <a:schemeClr val="accent1"/>
                  </a:solidFill>
                  <a:effectLst/>
                  <a:latin typeface="Consolas" panose="020B0609020204030204" pitchFamily="49" charset="0"/>
                </a:rPr>
                <a:t>="https://www.w3.org/2001/mstts" </a:t>
              </a:r>
              <a:r>
                <a:rPr lang="en-US" sz="1600" b="0" dirty="0" err="1">
                  <a:solidFill>
                    <a:schemeClr val="accent1"/>
                  </a:solidFill>
                  <a:effectLst/>
                  <a:latin typeface="Consolas" panose="020B0609020204030204" pitchFamily="49" charset="0"/>
                </a:rPr>
                <a:t>xml:lang</a:t>
              </a:r>
              <a:r>
                <a:rPr lang="en-US" sz="1600" b="0" dirty="0">
                  <a:solidFill>
                    <a:schemeClr val="accent1"/>
                  </a:solidFill>
                  <a:effectLst/>
                  <a:latin typeface="Consolas" panose="020B0609020204030204" pitchFamily="49" charset="0"/>
                </a:rPr>
                <a:t>="</a:t>
              </a:r>
              <a:r>
                <a:rPr lang="en-US" sz="1600" b="0" dirty="0" err="1">
                  <a:solidFill>
                    <a:schemeClr val="accent1"/>
                  </a:solidFill>
                  <a:effectLst/>
                  <a:latin typeface="Consolas" panose="020B0609020204030204" pitchFamily="49" charset="0"/>
                </a:rPr>
                <a:t>en</a:t>
              </a:r>
              <a:r>
                <a:rPr lang="en-US" sz="1600" b="0" dirty="0">
                  <a:solidFill>
                    <a:schemeClr val="accent1"/>
                  </a:solidFill>
                  <a:effectLst/>
                  <a:latin typeface="Consolas" panose="020B0609020204030204" pitchFamily="49" charset="0"/>
                </a:rPr>
                <a:t>-US"&gt; </a:t>
              </a:r>
            </a:p>
            <a:p>
              <a:r>
                <a:rPr lang="en-US" sz="1600" b="0" dirty="0">
                  <a:solidFill>
                    <a:schemeClr val="accent1"/>
                  </a:solidFill>
                  <a:effectLst/>
                  <a:latin typeface="Consolas" panose="020B0609020204030204" pitchFamily="49" charset="0"/>
                </a:rPr>
                <a:t>    &lt;voice name="</a:t>
              </a:r>
              <a:r>
                <a:rPr lang="en-US" sz="1600" b="0" dirty="0" err="1">
                  <a:solidFill>
                    <a:schemeClr val="accent1"/>
                  </a:solidFill>
                  <a:effectLst/>
                  <a:latin typeface="Consolas" panose="020B0609020204030204" pitchFamily="49" charset="0"/>
                </a:rPr>
                <a:t>en</a:t>
              </a:r>
              <a:r>
                <a:rPr lang="en-US" sz="1600" b="0" dirty="0">
                  <a:solidFill>
                    <a:schemeClr val="accent1"/>
                  </a:solidFill>
                  <a:effectLst/>
                  <a:latin typeface="Consolas" panose="020B0609020204030204" pitchFamily="49" charset="0"/>
                </a:rPr>
                <a:t>-US-</a:t>
              </a:r>
              <a:r>
                <a:rPr lang="en-US" sz="1600" b="0" dirty="0" err="1">
                  <a:solidFill>
                    <a:schemeClr val="accent1"/>
                  </a:solidFill>
                  <a:effectLst/>
                  <a:latin typeface="Consolas" panose="020B0609020204030204" pitchFamily="49" charset="0"/>
                </a:rPr>
                <a:t>AriaNeural</a:t>
              </a:r>
              <a:r>
                <a:rPr lang="en-US" sz="1600" b="0" dirty="0">
                  <a:solidFill>
                    <a:schemeClr val="accent1"/>
                  </a:solidFill>
                  <a:effectLst/>
                  <a:latin typeface="Consolas" panose="020B0609020204030204" pitchFamily="49" charset="0"/>
                </a:rPr>
                <a:t>"&gt; </a:t>
              </a:r>
            </a:p>
            <a:p>
              <a:r>
                <a:rPr lang="en-US" sz="1600" b="0" dirty="0">
                  <a:solidFill>
                    <a:schemeClr val="accent1"/>
                  </a:solidFill>
                  <a:effectLst/>
                  <a:latin typeface="Consolas" panose="020B0609020204030204" pitchFamily="49" charset="0"/>
                </a:rPr>
                <a:t>        &lt;</a:t>
              </a:r>
              <a:r>
                <a:rPr lang="en-US" sz="1600" b="0" dirty="0" err="1">
                  <a:solidFill>
                    <a:schemeClr val="accent1"/>
                  </a:solidFill>
                  <a:effectLst/>
                  <a:latin typeface="Consolas" panose="020B0609020204030204" pitchFamily="49" charset="0"/>
                </a:rPr>
                <a:t>mstts:express-as</a:t>
              </a:r>
              <a:r>
                <a:rPr lang="en-US" sz="1600" b="0" dirty="0">
                  <a:solidFill>
                    <a:schemeClr val="accent1"/>
                  </a:solidFill>
                  <a:effectLst/>
                  <a:latin typeface="Consolas" panose="020B0609020204030204" pitchFamily="49" charset="0"/>
                </a:rPr>
                <a:t> style="cheerful"&gt; </a:t>
              </a:r>
            </a:p>
            <a:p>
              <a:r>
                <a:rPr lang="en-US" sz="1600" b="0" dirty="0">
                  <a:solidFill>
                    <a:schemeClr val="accent1"/>
                  </a:solidFill>
                  <a:effectLst/>
                  <a:latin typeface="Consolas" panose="020B0609020204030204" pitchFamily="49" charset="0"/>
                </a:rPr>
                <a:t>          I say tomato </a:t>
              </a:r>
            </a:p>
            <a:p>
              <a:r>
                <a:rPr lang="en-US" sz="1600" b="0" dirty="0">
                  <a:solidFill>
                    <a:schemeClr val="accent1"/>
                  </a:solidFill>
                  <a:effectLst/>
                  <a:latin typeface="Consolas" panose="020B0609020204030204" pitchFamily="49" charset="0"/>
                </a:rPr>
                <a:t>        &lt;/</a:t>
              </a:r>
              <a:r>
                <a:rPr lang="en-US" sz="1600" b="0" dirty="0" err="1">
                  <a:solidFill>
                    <a:schemeClr val="accent1"/>
                  </a:solidFill>
                  <a:effectLst/>
                  <a:latin typeface="Consolas" panose="020B0609020204030204" pitchFamily="49" charset="0"/>
                </a:rPr>
                <a:t>mstts:express-as</a:t>
              </a:r>
              <a:r>
                <a:rPr lang="en-US" sz="1600" b="0" dirty="0">
                  <a:solidFill>
                    <a:schemeClr val="accent1"/>
                  </a:solidFill>
                  <a:effectLst/>
                  <a:latin typeface="Consolas" panose="020B0609020204030204" pitchFamily="49" charset="0"/>
                </a:rPr>
                <a:t>&gt; </a:t>
              </a:r>
            </a:p>
            <a:p>
              <a:r>
                <a:rPr lang="en-US" sz="1600" b="0" dirty="0">
                  <a:solidFill>
                    <a:schemeClr val="accent1"/>
                  </a:solidFill>
                  <a:effectLst/>
                  <a:latin typeface="Consolas" panose="020B0609020204030204" pitchFamily="49" charset="0"/>
                </a:rPr>
                <a:t>    &lt;/voice&gt; </a:t>
              </a:r>
            </a:p>
            <a:p>
              <a:r>
                <a:rPr lang="en-US" sz="1600" b="0" dirty="0">
                  <a:solidFill>
                    <a:schemeClr val="accent1"/>
                  </a:solidFill>
                  <a:effectLst/>
                  <a:latin typeface="Consolas" panose="020B0609020204030204" pitchFamily="49" charset="0"/>
                </a:rPr>
                <a:t>    &lt;voice name="</a:t>
              </a:r>
              <a:r>
                <a:rPr lang="en-US" sz="1600" b="0" dirty="0" err="1">
                  <a:solidFill>
                    <a:schemeClr val="accent1"/>
                  </a:solidFill>
                  <a:effectLst/>
                  <a:latin typeface="Consolas" panose="020B0609020204030204" pitchFamily="49" charset="0"/>
                </a:rPr>
                <a:t>en</a:t>
              </a:r>
              <a:r>
                <a:rPr lang="en-US" sz="1600" b="0" dirty="0">
                  <a:solidFill>
                    <a:schemeClr val="accent1"/>
                  </a:solidFill>
                  <a:effectLst/>
                  <a:latin typeface="Consolas" panose="020B0609020204030204" pitchFamily="49" charset="0"/>
                </a:rPr>
                <a:t>-US-</a:t>
              </a:r>
              <a:r>
                <a:rPr lang="en-US" sz="1600" b="0" dirty="0" err="1">
                  <a:solidFill>
                    <a:schemeClr val="accent1"/>
                  </a:solidFill>
                  <a:effectLst/>
                  <a:latin typeface="Consolas" panose="020B0609020204030204" pitchFamily="49" charset="0"/>
                </a:rPr>
                <a:t>GuyNeural</a:t>
              </a:r>
              <a:r>
                <a:rPr lang="en-US" sz="1600" b="0" dirty="0">
                  <a:solidFill>
                    <a:schemeClr val="accent1"/>
                  </a:solidFill>
                  <a:effectLst/>
                  <a:latin typeface="Consolas" panose="020B0609020204030204" pitchFamily="49" charset="0"/>
                </a:rPr>
                <a:t>"&gt; </a:t>
              </a:r>
            </a:p>
            <a:p>
              <a:r>
                <a:rPr lang="en-US" sz="1600" b="0" dirty="0">
                  <a:solidFill>
                    <a:schemeClr val="accent1"/>
                  </a:solidFill>
                  <a:effectLst/>
                  <a:latin typeface="Consolas" panose="020B0609020204030204" pitchFamily="49" charset="0"/>
                </a:rPr>
                <a:t>        I say &lt;phoneme alphabet="</a:t>
              </a:r>
              <a:r>
                <a:rPr lang="en-US" sz="1600" b="0" dirty="0" err="1">
                  <a:solidFill>
                    <a:schemeClr val="accent1"/>
                  </a:solidFill>
                  <a:effectLst/>
                  <a:latin typeface="Consolas" panose="020B0609020204030204" pitchFamily="49" charset="0"/>
                </a:rPr>
                <a:t>sapi</a:t>
              </a:r>
              <a:r>
                <a:rPr lang="en-US" sz="1600" b="0" dirty="0">
                  <a:solidFill>
                    <a:schemeClr val="accent1"/>
                  </a:solidFill>
                  <a:effectLst/>
                  <a:latin typeface="Consolas" panose="020B0609020204030204" pitchFamily="49" charset="0"/>
                </a:rPr>
                <a:t>" </a:t>
              </a:r>
              <a:r>
                <a:rPr lang="en-US" sz="1600" b="0" dirty="0" err="1">
                  <a:solidFill>
                    <a:schemeClr val="accent1"/>
                  </a:solidFill>
                  <a:effectLst/>
                  <a:latin typeface="Consolas" panose="020B0609020204030204" pitchFamily="49" charset="0"/>
                </a:rPr>
                <a:t>ph</a:t>
              </a:r>
              <a:r>
                <a:rPr lang="en-US" sz="1600" b="0" dirty="0">
                  <a:solidFill>
                    <a:schemeClr val="accent1"/>
                  </a:solidFill>
                  <a:effectLst/>
                  <a:latin typeface="Consolas" panose="020B0609020204030204" pitchFamily="49" charset="0"/>
                </a:rPr>
                <a:t>="t </a:t>
              </a:r>
              <a:r>
                <a:rPr lang="en-US" sz="1600" b="0" dirty="0" err="1">
                  <a:solidFill>
                    <a:schemeClr val="accent1"/>
                  </a:solidFill>
                  <a:effectLst/>
                  <a:latin typeface="Consolas" panose="020B0609020204030204" pitchFamily="49" charset="0"/>
                </a:rPr>
                <a:t>ao</a:t>
              </a:r>
              <a:r>
                <a:rPr lang="en-US" sz="1600" b="0" dirty="0">
                  <a:solidFill>
                    <a:schemeClr val="accent1"/>
                  </a:solidFill>
                  <a:effectLst/>
                  <a:latin typeface="Consolas" panose="020B0609020204030204" pitchFamily="49" charset="0"/>
                </a:rPr>
                <a:t> m ae t ow"&gt; tomato &lt;/phoneme&gt;. </a:t>
              </a:r>
            </a:p>
            <a:p>
              <a:r>
                <a:rPr lang="en-US" sz="1600" b="0" dirty="0">
                  <a:solidFill>
                    <a:schemeClr val="accent1"/>
                  </a:solidFill>
                  <a:effectLst/>
                  <a:latin typeface="Consolas" panose="020B0609020204030204" pitchFamily="49" charset="0"/>
                </a:rPr>
                <a:t>        &lt;break strength="weak"/&gt;Lets call the whole thing off! </a:t>
              </a:r>
            </a:p>
            <a:p>
              <a:r>
                <a:rPr lang="en-US" sz="1600" b="0" dirty="0">
                  <a:solidFill>
                    <a:schemeClr val="accent1"/>
                  </a:solidFill>
                  <a:effectLst/>
                  <a:latin typeface="Consolas" panose="020B0609020204030204" pitchFamily="49" charset="0"/>
                </a:rPr>
                <a:t>    &lt;/voice&gt; </a:t>
              </a:r>
            </a:p>
            <a:p>
              <a:r>
                <a:rPr lang="en-US" sz="1600" b="0" dirty="0">
                  <a:solidFill>
                    <a:schemeClr val="accent1"/>
                  </a:solidFill>
                  <a:effectLst/>
                  <a:latin typeface="Consolas" panose="020B0609020204030204" pitchFamily="49" charset="0"/>
                </a:rPr>
                <a:t>&lt;/speak&gt;</a:t>
              </a:r>
            </a:p>
          </p:txBody>
        </p:sp>
        <p:sp>
          <p:nvSpPr>
            <p:cNvPr id="11" name="Rectangle: Top Corners Rounded 10">
              <a:extLst>
                <a:ext uri="{FF2B5EF4-FFF2-40B4-BE49-F238E27FC236}">
                  <a16:creationId xmlns:a16="http://schemas.microsoft.com/office/drawing/2014/main" id="{DE15C876-9A88-57AD-6DA9-B79FCD9FF316}"/>
                </a:ext>
              </a:extLst>
            </p:cNvPr>
            <p:cNvSpPr/>
            <p:nvPr/>
          </p:nvSpPr>
          <p:spPr bwMode="auto">
            <a:xfrm>
              <a:off x="654078" y="3595185"/>
              <a:ext cx="1478097" cy="1001288"/>
            </a:xfrm>
            <a:prstGeom prst="round2SameRect">
              <a:avLst>
                <a:gd name="adj1" fmla="val 0"/>
                <a:gd name="adj2" fmla="val 0"/>
              </a:avLst>
            </a:prstGeom>
            <a:ln w="19050">
              <a:solidFill>
                <a:srgbClr val="00B0F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Multiple voices in a single synthesis</a:t>
              </a:r>
              <a:endParaRPr lang="en-US" sz="1200" dirty="0">
                <a:solidFill>
                  <a:schemeClr val="tx1"/>
                </a:solidFill>
                <a:ea typeface="Segoe UI" pitchFamily="34" charset="0"/>
                <a:cs typeface="Segoe UI" pitchFamily="34" charset="0"/>
              </a:endParaRPr>
            </a:p>
          </p:txBody>
        </p:sp>
        <p:sp>
          <p:nvSpPr>
            <p:cNvPr id="14" name="Rectangle: Top Corners Rounded 13">
              <a:extLst>
                <a:ext uri="{FF2B5EF4-FFF2-40B4-BE49-F238E27FC236}">
                  <a16:creationId xmlns:a16="http://schemas.microsoft.com/office/drawing/2014/main" id="{1AE0BF7C-C993-8860-2AED-8019C8052614}"/>
                </a:ext>
              </a:extLst>
            </p:cNvPr>
            <p:cNvSpPr/>
            <p:nvPr/>
          </p:nvSpPr>
          <p:spPr bwMode="auto">
            <a:xfrm>
              <a:off x="1153848" y="5135316"/>
              <a:ext cx="1420675" cy="276472"/>
            </a:xfrm>
            <a:prstGeom prst="round2SameRect">
              <a:avLst>
                <a:gd name="adj1" fmla="val 0"/>
                <a:gd name="adj2" fmla="val 0"/>
              </a:avLst>
            </a:prstGeom>
            <a:ln w="19050">
              <a:solidFill>
                <a:srgbClr val="00B0F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lnSpc>
                  <a:spcPct val="90000"/>
                </a:lnSpc>
                <a:spcBef>
                  <a:spcPct val="0"/>
                </a:spcBef>
                <a:spcAft>
                  <a:spcPct val="0"/>
                </a:spcAft>
              </a:pPr>
              <a:r>
                <a:rPr lang="en-US" sz="1600" dirty="0">
                  <a:solidFill>
                    <a:schemeClr val="tx1"/>
                  </a:solidFill>
                  <a:latin typeface="Consolas" panose="020B0609020204030204" pitchFamily="49" charset="0"/>
                  <a:ea typeface="Segoe UI" pitchFamily="34" charset="0"/>
                  <a:cs typeface="Segoe UI" pitchFamily="34" charset="0"/>
                </a:rPr>
                <a:t>Pause</a:t>
              </a:r>
              <a:endParaRPr lang="en-US" sz="1200" dirty="0">
                <a:solidFill>
                  <a:schemeClr val="tx1"/>
                </a:solidFill>
                <a:latin typeface="Consolas" panose="020B0609020204030204" pitchFamily="49" charset="0"/>
                <a:ea typeface="Segoe UI" pitchFamily="34" charset="0"/>
                <a:cs typeface="Segoe UI" pitchFamily="34" charset="0"/>
              </a:endParaRPr>
            </a:p>
          </p:txBody>
        </p:sp>
        <p:sp>
          <p:nvSpPr>
            <p:cNvPr id="12" name="Rectangle: Top Corners Rounded 11">
              <a:extLst>
                <a:ext uri="{FF2B5EF4-FFF2-40B4-BE49-F238E27FC236}">
                  <a16:creationId xmlns:a16="http://schemas.microsoft.com/office/drawing/2014/main" id="{4BD2401C-41BC-C217-3AFE-8FC3B57DC8E5}"/>
                </a:ext>
              </a:extLst>
            </p:cNvPr>
            <p:cNvSpPr/>
            <p:nvPr/>
          </p:nvSpPr>
          <p:spPr bwMode="auto">
            <a:xfrm>
              <a:off x="6567058" y="3603935"/>
              <a:ext cx="1940838" cy="418530"/>
            </a:xfrm>
            <a:prstGeom prst="round2SameRect">
              <a:avLst>
                <a:gd name="adj1" fmla="val 0"/>
                <a:gd name="adj2" fmla="val 0"/>
              </a:avLst>
            </a:prstGeom>
            <a:ln w="19050">
              <a:solidFill>
                <a:srgbClr val="00B0F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Speaking style</a:t>
              </a:r>
              <a:endParaRPr lang="en-US" sz="1200" dirty="0">
                <a:solidFill>
                  <a:schemeClr val="tx1"/>
                </a:solidFill>
                <a:ea typeface="Segoe UI" pitchFamily="34" charset="0"/>
                <a:cs typeface="Segoe UI" pitchFamily="34" charset="0"/>
              </a:endParaRPr>
            </a:p>
          </p:txBody>
        </p:sp>
        <p:sp>
          <p:nvSpPr>
            <p:cNvPr id="13" name="Rectangle: Top Corners Rounded 12">
              <a:extLst>
                <a:ext uri="{FF2B5EF4-FFF2-40B4-BE49-F238E27FC236}">
                  <a16:creationId xmlns:a16="http://schemas.microsoft.com/office/drawing/2014/main" id="{80DE433A-E4D1-EC14-B7E3-572628434F3B}"/>
                </a:ext>
              </a:extLst>
            </p:cNvPr>
            <p:cNvSpPr/>
            <p:nvPr/>
          </p:nvSpPr>
          <p:spPr bwMode="auto">
            <a:xfrm>
              <a:off x="6345576" y="4300830"/>
              <a:ext cx="1692003" cy="599153"/>
            </a:xfrm>
            <a:prstGeom prst="round2SameRect">
              <a:avLst/>
            </a:prstGeom>
            <a:ln w="19050">
              <a:solidFill>
                <a:srgbClr val="00B0F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Phonetic pronunciation</a:t>
              </a:r>
              <a:endParaRPr lang="en-US" sz="1200" dirty="0">
                <a:solidFill>
                  <a:schemeClr val="tx1"/>
                </a:solidFill>
                <a:ea typeface="Segoe UI" pitchFamily="34" charset="0"/>
                <a:cs typeface="Segoe UI" pitchFamily="34" charset="0"/>
              </a:endParaRPr>
            </a:p>
          </p:txBody>
        </p:sp>
      </p:grpSp>
      <p:sp>
        <p:nvSpPr>
          <p:cNvPr id="8" name="Footer Placeholder 7">
            <a:extLst>
              <a:ext uri="{FF2B5EF4-FFF2-40B4-BE49-F238E27FC236}">
                <a16:creationId xmlns:a16="http://schemas.microsoft.com/office/drawing/2014/main" id="{25FAEF30-6C97-BD79-1DE5-630F9C7BC37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28254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D2B80-01E2-2C26-B349-FE72CF7FCF7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1005701-68D0-9AE3-5700-6A9CEE3AF564}"/>
              </a:ext>
              <a:ext uri="{C183D7F6-B498-43B3-948B-1728B52AA6E4}">
                <adec:decorative xmlns:adec="http://schemas.microsoft.com/office/drawing/2017/decorative" val="0"/>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23FBDEED-49C8-5456-66DC-6289EFDD5A8F}"/>
              </a:ext>
            </a:extLst>
          </p:cNvPr>
          <p:cNvSpPr>
            <a:spLocks noGrp="1"/>
          </p:cNvSpPr>
          <p:nvPr>
            <p:ph type="body" sz="quarter" idx="16"/>
          </p:nvPr>
        </p:nvSpPr>
        <p:spPr>
          <a:xfrm>
            <a:off x="584199" y="1594155"/>
            <a:ext cx="5654573" cy="307777"/>
          </a:xfrm>
        </p:spPr>
        <p:txBody>
          <a:bodyPr/>
          <a:lstStyle/>
          <a:p>
            <a:r>
              <a:rPr lang="en-US" sz="2000" dirty="0"/>
              <a:t>Recognize and synthesize speech</a:t>
            </a:r>
          </a:p>
        </p:txBody>
      </p:sp>
      <p:sp>
        <p:nvSpPr>
          <p:cNvPr id="6" name="Text Placeholder 5">
            <a:extLst>
              <a:ext uri="{FF2B5EF4-FFF2-40B4-BE49-F238E27FC236}">
                <a16:creationId xmlns:a16="http://schemas.microsoft.com/office/drawing/2014/main" id="{122409A2-BD54-60F4-965B-65DCE0CEC727}"/>
              </a:ext>
            </a:extLst>
          </p:cNvPr>
          <p:cNvSpPr>
            <a:spLocks noGrp="1"/>
          </p:cNvSpPr>
          <p:nvPr>
            <p:ph type="body" sz="quarter" idx="15"/>
          </p:nvPr>
        </p:nvSpPr>
        <p:spPr>
          <a:xfrm>
            <a:off x="586389" y="2085764"/>
            <a:ext cx="5830314"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Azure Speech to build an app that can:</a:t>
            </a:r>
          </a:p>
          <a:p>
            <a:pPr defTabSz="914367">
              <a:spcBef>
                <a:spcPts val="0"/>
              </a:spcBef>
              <a:buSzTx/>
              <a:defRPr/>
            </a:pPr>
            <a:r>
              <a:rPr lang="en-US" dirty="0"/>
              <a:t>Synthesize speech</a:t>
            </a:r>
          </a:p>
          <a:p>
            <a:pPr defTabSz="914367">
              <a:spcBef>
                <a:spcPts val="0"/>
              </a:spcBef>
              <a:buSzTx/>
              <a:defRPr/>
            </a:pPr>
            <a:r>
              <a:rPr lang="en-US" dirty="0"/>
              <a:t>Recognize speech</a:t>
            </a:r>
          </a:p>
          <a:p>
            <a:endParaRPr lang="en-US" dirty="0"/>
          </a:p>
        </p:txBody>
      </p:sp>
      <p:sp>
        <p:nvSpPr>
          <p:cNvPr id="10" name="TextBox 9">
            <a:extLst>
              <a:ext uri="{FF2B5EF4-FFF2-40B4-BE49-F238E27FC236}">
                <a16:creationId xmlns:a16="http://schemas.microsoft.com/office/drawing/2014/main" id="{E3602FB4-2E08-E8FE-A7C3-995CB6B9BAAB}"/>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lvl="0">
              <a:defRPr/>
            </a:pPr>
            <a:r>
              <a:rPr lang="en-US" sz="1600" dirty="0">
                <a:solidFill>
                  <a:srgbClr val="000000"/>
                </a:solidFill>
                <a:hlinkClick r:id="rId3"/>
              </a:rPr>
              <a:t>https://go.microsoft.com/fwlink/?linkid=2356350</a:t>
            </a:r>
            <a:r>
              <a:rPr lang="en-US" sz="1600" dirty="0">
                <a:solidFill>
                  <a:srgbClr val="000000"/>
                </a:solidFill>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2050" name="Picture 2">
            <a:extLst>
              <a:ext uri="{FF2B5EF4-FFF2-40B4-BE49-F238E27FC236}">
                <a16:creationId xmlns:a16="http://schemas.microsoft.com/office/drawing/2014/main" id="{36346CCA-DA2B-FEF8-D9DA-C7D5C4DE360F}"/>
              </a:ext>
              <a:ext uri="{C183D7F6-B498-43B3-948B-1728B52AA6E4}">
                <adec:decorative xmlns:adec="http://schemas.microsoft.com/office/drawing/2017/decorative" val="1"/>
              </a:ext>
            </a:extLst>
          </p:cNvPr>
          <p:cNvPicPr>
            <a:picLocks noChangeAspect="1" noChangeArrowheads="1"/>
          </p:cNvPicPr>
          <p:nvPr/>
        </p:nvPicPr>
        <p:blipFill>
          <a:blip r:embed="rId4"/>
          <a:srcRect/>
          <a:stretch/>
        </p:blipFill>
        <p:spPr bwMode="auto">
          <a:xfrm>
            <a:off x="7718404" y="2046233"/>
            <a:ext cx="4669926" cy="3304608"/>
          </a:xfrm>
          <a:prstGeom prst="rect">
            <a:avLst/>
          </a:prstGeom>
          <a:noFill/>
          <a:extLst>
            <a:ext uri="{909E8E84-426E-40DD-AFC4-6F175D3DCCD1}">
              <a14:hiddenFill xmlns:a14="http://schemas.microsoft.com/office/drawing/2010/main">
                <a:solidFill>
                  <a:srgbClr val="FFFFFF"/>
                </a:solidFill>
              </a14:hiddenFill>
            </a:ext>
          </a:extLst>
        </p:spPr>
      </p:pic>
      <p:sp>
        <p:nvSpPr>
          <p:cNvPr id="11" name="Flowchart: Off-page Connector 44">
            <a:extLst>
              <a:ext uri="{FF2B5EF4-FFF2-40B4-BE49-F238E27FC236}">
                <a16:creationId xmlns:a16="http://schemas.microsoft.com/office/drawing/2014/main" id="{4CFA5C6E-B2A2-721D-22C0-1659D5BA310E}"/>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
        <p:nvSpPr>
          <p:cNvPr id="3" name="Footer Placeholder 2">
            <a:extLst>
              <a:ext uri="{FF2B5EF4-FFF2-40B4-BE49-F238E27FC236}">
                <a16:creationId xmlns:a16="http://schemas.microsoft.com/office/drawing/2014/main" id="{177C169D-CA03-BD33-82EE-5D03490A9E1B}"/>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366315723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a:xfrm>
            <a:off x="588262" y="585216"/>
            <a:ext cx="8193024" cy="369332"/>
          </a:xfrm>
        </p:spPr>
        <p:txBody>
          <a:bodyPr/>
          <a:lstStyle/>
          <a:p>
            <a:r>
              <a:rPr lang="en-US" dirty="0"/>
              <a:t>Knowledge check</a:t>
            </a:r>
          </a:p>
        </p:txBody>
      </p:sp>
      <p:sp>
        <p:nvSpPr>
          <p:cNvPr id="27" name="Text Placeholder 26">
            <a:extLst>
              <a:ext uri="{FF2B5EF4-FFF2-40B4-BE49-F238E27FC236}">
                <a16:creationId xmlns:a16="http://schemas.microsoft.com/office/drawing/2014/main" id="{B39BE27F-DE09-4284-3691-845C496FB59C}"/>
              </a:ext>
            </a:extLst>
          </p:cNvPr>
          <p:cNvSpPr>
            <a:spLocks noGrp="1"/>
          </p:cNvSpPr>
          <p:nvPr>
            <p:ph type="body" sz="quarter" idx="17"/>
          </p:nvPr>
        </p:nvSpPr>
        <p:spPr>
          <a:xfrm>
            <a:off x="1235075" y="1595378"/>
            <a:ext cx="8778782" cy="492443"/>
          </a:xfrm>
        </p:spPr>
        <p:txBody>
          <a:bodyPr/>
          <a:lstStyle/>
          <a:p>
            <a:r>
              <a:rPr lang="en-US" sz="1600" dirty="0"/>
              <a:t>What information do you need from your Microsoft Foundry resource to consume it using the Azure Speech SDK?</a:t>
            </a:r>
          </a:p>
        </p:txBody>
      </p:sp>
      <p:sp>
        <p:nvSpPr>
          <p:cNvPr id="26" name="Text Placeholder 25">
            <a:extLst>
              <a:ext uri="{FF2B5EF4-FFF2-40B4-BE49-F238E27FC236}">
                <a16:creationId xmlns:a16="http://schemas.microsoft.com/office/drawing/2014/main" id="{D1DA124E-811D-21D5-134A-40D99E68F87A}"/>
              </a:ext>
            </a:extLst>
          </p:cNvPr>
          <p:cNvSpPr>
            <a:spLocks noGrp="1"/>
          </p:cNvSpPr>
          <p:nvPr>
            <p:ph type="body" sz="quarter" idx="15"/>
          </p:nvPr>
        </p:nvSpPr>
        <p:spPr>
          <a:xfrm>
            <a:off x="1236663" y="2136253"/>
            <a:ext cx="8775700" cy="732508"/>
          </a:xfrm>
        </p:spPr>
        <p:txBody>
          <a:bodyPr/>
          <a:lstStyle/>
          <a:p>
            <a:r>
              <a:rPr lang="en-US" dirty="0"/>
              <a:t>The endpoint and key</a:t>
            </a:r>
          </a:p>
          <a:p>
            <a:r>
              <a:rPr lang="en-US" dirty="0"/>
              <a:t>The primary and secondary keys</a:t>
            </a:r>
          </a:p>
          <a:p>
            <a:r>
              <a:rPr lang="en-US" dirty="0"/>
              <a:t>The Azure subscription ID and resource group name</a:t>
            </a:r>
          </a:p>
        </p:txBody>
      </p:sp>
      <p:sp>
        <p:nvSpPr>
          <p:cNvPr id="5" name="Graphic 26" descr="Checkmark">
            <a:extLst>
              <a:ext uri="{FF2B5EF4-FFF2-40B4-BE49-F238E27FC236}">
                <a16:creationId xmlns:a16="http://schemas.microsoft.com/office/drawing/2014/main" id="{55FD6304-2F37-4FEC-8FB1-C9BC50E98F54}"/>
              </a:ext>
            </a:extLst>
          </p:cNvPr>
          <p:cNvSpPr/>
          <p:nvPr/>
        </p:nvSpPr>
        <p:spPr>
          <a:xfrm>
            <a:off x="1266510" y="2193504"/>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0" name="Text Placeholder 29">
            <a:extLst>
              <a:ext uri="{FF2B5EF4-FFF2-40B4-BE49-F238E27FC236}">
                <a16:creationId xmlns:a16="http://schemas.microsoft.com/office/drawing/2014/main" id="{15C1BC66-25E2-C9A9-3CE9-87A81BCFEBDC}"/>
              </a:ext>
            </a:extLst>
          </p:cNvPr>
          <p:cNvSpPr>
            <a:spLocks noGrp="1"/>
          </p:cNvSpPr>
          <p:nvPr>
            <p:ph type="body" sz="quarter" idx="22"/>
          </p:nvPr>
        </p:nvSpPr>
        <p:spPr>
          <a:xfrm>
            <a:off x="1235075" y="3166304"/>
            <a:ext cx="8778782" cy="492443"/>
          </a:xfrm>
        </p:spPr>
        <p:txBody>
          <a:bodyPr/>
          <a:lstStyle/>
          <a:p>
            <a:r>
              <a:rPr lang="en-US" sz="1600" dirty="0"/>
              <a:t>Which object should you use to specify that the speech input to be transcribed to text is in an audio file?</a:t>
            </a:r>
          </a:p>
        </p:txBody>
      </p:sp>
      <p:sp>
        <p:nvSpPr>
          <p:cNvPr id="31" name="Text Placeholder 30">
            <a:extLst>
              <a:ext uri="{FF2B5EF4-FFF2-40B4-BE49-F238E27FC236}">
                <a16:creationId xmlns:a16="http://schemas.microsoft.com/office/drawing/2014/main" id="{7483CA56-1EBA-FC32-1936-575A8F334749}"/>
              </a:ext>
            </a:extLst>
          </p:cNvPr>
          <p:cNvSpPr>
            <a:spLocks noGrp="1"/>
          </p:cNvSpPr>
          <p:nvPr>
            <p:ph type="body" sz="quarter" idx="23"/>
          </p:nvPr>
        </p:nvSpPr>
        <p:spPr>
          <a:xfrm>
            <a:off x="1235075" y="3677003"/>
            <a:ext cx="8775700" cy="732508"/>
          </a:xfrm>
        </p:spPr>
        <p:txBody>
          <a:bodyPr/>
          <a:lstStyle/>
          <a:p>
            <a:r>
              <a:rPr lang="en-US" dirty="0" err="1"/>
              <a:t>SpeechConfig</a:t>
            </a:r>
            <a:endParaRPr lang="en-US" dirty="0"/>
          </a:p>
          <a:p>
            <a:r>
              <a:rPr lang="en-US" dirty="0" err="1"/>
              <a:t>AudioConfig</a:t>
            </a:r>
            <a:endParaRPr lang="en-US" dirty="0"/>
          </a:p>
          <a:p>
            <a:r>
              <a:rPr lang="en-US" dirty="0" err="1"/>
              <a:t>SpeechRecognizer</a:t>
            </a:r>
            <a:endParaRPr lang="en-US" dirty="0"/>
          </a:p>
        </p:txBody>
      </p:sp>
      <p:sp>
        <p:nvSpPr>
          <p:cNvPr id="42" name="Graphic 26" descr="Checkmark">
            <a:extLst>
              <a:ext uri="{FF2B5EF4-FFF2-40B4-BE49-F238E27FC236}">
                <a16:creationId xmlns:a16="http://schemas.microsoft.com/office/drawing/2014/main" id="{107CD834-34F4-A73D-74A8-7344CCC80ABB}"/>
              </a:ext>
            </a:extLst>
          </p:cNvPr>
          <p:cNvSpPr/>
          <p:nvPr/>
        </p:nvSpPr>
        <p:spPr>
          <a:xfrm>
            <a:off x="1266510" y="400119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28" name="Text Placeholder 27">
            <a:extLst>
              <a:ext uri="{FF2B5EF4-FFF2-40B4-BE49-F238E27FC236}">
                <a16:creationId xmlns:a16="http://schemas.microsoft.com/office/drawing/2014/main" id="{74423B7B-5CB8-0FAE-7DBE-FD71CBF24B19}"/>
              </a:ext>
            </a:extLst>
          </p:cNvPr>
          <p:cNvSpPr>
            <a:spLocks noGrp="1"/>
          </p:cNvSpPr>
          <p:nvPr>
            <p:ph type="body" sz="quarter" idx="20"/>
          </p:nvPr>
        </p:nvSpPr>
        <p:spPr>
          <a:xfrm>
            <a:off x="1235075" y="4585680"/>
            <a:ext cx="8778782" cy="246221"/>
          </a:xfrm>
        </p:spPr>
        <p:txBody>
          <a:bodyPr/>
          <a:lstStyle/>
          <a:p>
            <a:r>
              <a:rPr lang="en-US" sz="1600" dirty="0"/>
              <a:t>How can you change the voice used in speech synthesis?</a:t>
            </a:r>
          </a:p>
        </p:txBody>
      </p:sp>
      <p:sp>
        <p:nvSpPr>
          <p:cNvPr id="29" name="Text Placeholder 28">
            <a:extLst>
              <a:ext uri="{FF2B5EF4-FFF2-40B4-BE49-F238E27FC236}">
                <a16:creationId xmlns:a16="http://schemas.microsoft.com/office/drawing/2014/main" id="{B5F50F77-56EB-6EEF-863A-EC1E6C8C9F8D}"/>
              </a:ext>
            </a:extLst>
          </p:cNvPr>
          <p:cNvSpPr>
            <a:spLocks noGrp="1"/>
          </p:cNvSpPr>
          <p:nvPr>
            <p:ph type="body" sz="quarter" idx="21"/>
          </p:nvPr>
        </p:nvSpPr>
        <p:spPr>
          <a:xfrm>
            <a:off x="1235075" y="4938257"/>
            <a:ext cx="8775700" cy="732508"/>
          </a:xfrm>
        </p:spPr>
        <p:txBody>
          <a:bodyPr/>
          <a:lstStyle/>
          <a:p>
            <a:r>
              <a:rPr lang="en-US" sz="1400" dirty="0"/>
              <a:t>Specify a </a:t>
            </a:r>
            <a:r>
              <a:rPr lang="en-US" sz="1400" dirty="0" err="1"/>
              <a:t>SpeechSynthesisOutputFormat</a:t>
            </a:r>
            <a:r>
              <a:rPr lang="en-US" sz="1400" dirty="0"/>
              <a:t> enumeration in the </a:t>
            </a:r>
            <a:r>
              <a:rPr lang="en-US" sz="1400" dirty="0" err="1"/>
              <a:t>SpeechConfig</a:t>
            </a:r>
            <a:r>
              <a:rPr lang="en-US" sz="1400" dirty="0"/>
              <a:t> object</a:t>
            </a:r>
          </a:p>
          <a:p>
            <a:r>
              <a:rPr lang="en-US" sz="1400" dirty="0"/>
              <a:t>Set the </a:t>
            </a:r>
            <a:r>
              <a:rPr lang="en-US" sz="1400" dirty="0" err="1"/>
              <a:t>SpeechSynthesisVoiceName</a:t>
            </a:r>
            <a:r>
              <a:rPr lang="en-US" sz="1400" dirty="0"/>
              <a:t> property of the </a:t>
            </a:r>
            <a:r>
              <a:rPr lang="en-US" sz="1400" dirty="0" err="1"/>
              <a:t>SpeechConfig</a:t>
            </a:r>
            <a:r>
              <a:rPr lang="en-US" sz="1400" dirty="0"/>
              <a:t> object to the desired voice name</a:t>
            </a:r>
          </a:p>
          <a:p>
            <a:r>
              <a:rPr lang="en-US" sz="1400" dirty="0"/>
              <a:t>Specify a filename in the </a:t>
            </a:r>
            <a:r>
              <a:rPr lang="en-US" sz="1400" dirty="0" err="1"/>
              <a:t>AudioConfig</a:t>
            </a:r>
            <a:r>
              <a:rPr lang="en-US" sz="1400" dirty="0"/>
              <a:t> object</a:t>
            </a:r>
          </a:p>
        </p:txBody>
      </p:sp>
      <p:sp>
        <p:nvSpPr>
          <p:cNvPr id="43" name="Graphic 26" descr="Checkmark">
            <a:extLst>
              <a:ext uri="{FF2B5EF4-FFF2-40B4-BE49-F238E27FC236}">
                <a16:creationId xmlns:a16="http://schemas.microsoft.com/office/drawing/2014/main" id="{7CB63913-2631-E0DE-5047-5F6575D31218}"/>
              </a:ext>
            </a:extLst>
          </p:cNvPr>
          <p:cNvSpPr/>
          <p:nvPr/>
        </p:nvSpPr>
        <p:spPr>
          <a:xfrm>
            <a:off x="1266510" y="5227991"/>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 name="Footer Placeholder 2">
            <a:extLst>
              <a:ext uri="{FF2B5EF4-FFF2-40B4-BE49-F238E27FC236}">
                <a16:creationId xmlns:a16="http://schemas.microsoft.com/office/drawing/2014/main" id="{83BBF82D-0D86-22CD-AAFD-308F318F84B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Oval 3">
            <a:extLst>
              <a:ext uri="{FF2B5EF4-FFF2-40B4-BE49-F238E27FC236}">
                <a16:creationId xmlns:a16="http://schemas.microsoft.com/office/drawing/2014/main" id="{ED90E07E-DD82-48A0-95DD-B809EAC0F54B}"/>
              </a:ext>
              <a:ext uri="{C183D7F6-B498-43B3-948B-1728B52AA6E4}">
                <adec:decorative xmlns:adec="http://schemas.microsoft.com/office/drawing/2017/decorative" val="1"/>
              </a:ext>
            </a:extLst>
          </p:cNvPr>
          <p:cNvSpPr>
            <a:spLocks/>
          </p:cNvSpPr>
          <p:nvPr/>
        </p:nvSpPr>
        <p:spPr bwMode="auto">
          <a:xfrm>
            <a:off x="722582" y="1640768"/>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endParaRPr kumimoji="0" lang="en-IN" sz="1800" b="1" i="0" u="none" strike="noStrike" cap="none" spc="0" normalizeH="0" baseline="0" noProof="0" dirty="0">
              <a:ln>
                <a:noFill/>
              </a:ln>
              <a:solidFill>
                <a:schemeClr val="tx1"/>
              </a:solidFill>
              <a:effectLst/>
              <a:uLnTx/>
              <a:uFillTx/>
            </a:endParaRPr>
          </a:p>
        </p:txBody>
      </p:sp>
      <p:sp>
        <p:nvSpPr>
          <p:cNvPr id="6" name="Oval 5">
            <a:extLst>
              <a:ext uri="{FF2B5EF4-FFF2-40B4-BE49-F238E27FC236}">
                <a16:creationId xmlns:a16="http://schemas.microsoft.com/office/drawing/2014/main" id="{ACB00AB5-CC35-77A8-EFD5-6649B177C02D}"/>
              </a:ext>
              <a:ext uri="{C183D7F6-B498-43B3-948B-1728B52AA6E4}">
                <adec:decorative xmlns:adec="http://schemas.microsoft.com/office/drawing/2017/decorative" val="1"/>
              </a:ext>
            </a:extLst>
          </p:cNvPr>
          <p:cNvSpPr>
            <a:spLocks/>
          </p:cNvSpPr>
          <p:nvPr/>
        </p:nvSpPr>
        <p:spPr bwMode="auto">
          <a:xfrm>
            <a:off x="722582" y="30893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endParaRPr kumimoji="0" lang="en-IN" sz="1800" b="1" i="0" u="none" strike="noStrike" cap="none" spc="0" normalizeH="0" baseline="0" noProof="0" dirty="0">
              <a:ln>
                <a:noFill/>
              </a:ln>
              <a:solidFill>
                <a:schemeClr val="tx1"/>
              </a:solidFill>
              <a:effectLst/>
              <a:uLnTx/>
              <a:uFillTx/>
            </a:endParaRPr>
          </a:p>
        </p:txBody>
      </p:sp>
      <p:sp>
        <p:nvSpPr>
          <p:cNvPr id="7" name="Oval 6">
            <a:extLst>
              <a:ext uri="{FF2B5EF4-FFF2-40B4-BE49-F238E27FC236}">
                <a16:creationId xmlns:a16="http://schemas.microsoft.com/office/drawing/2014/main" id="{4FF15016-8334-752F-C16E-D98E030FE82C}"/>
              </a:ext>
              <a:ext uri="{C183D7F6-B498-43B3-948B-1728B52AA6E4}">
                <adec:decorative xmlns:adec="http://schemas.microsoft.com/office/drawing/2017/decorative" val="1"/>
              </a:ext>
            </a:extLst>
          </p:cNvPr>
          <p:cNvSpPr>
            <a:spLocks/>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1786362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P spid="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359BA-603E-33C4-39E2-95387B74E2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E38A5F-3CE9-85BD-7BE8-63140BF1F087}"/>
              </a:ext>
            </a:extLst>
          </p:cNvPr>
          <p:cNvSpPr>
            <a:spLocks noGrp="1"/>
          </p:cNvSpPr>
          <p:nvPr>
            <p:ph type="title"/>
          </p:nvPr>
        </p:nvSpPr>
        <p:spPr>
          <a:xfrm>
            <a:off x="569911" y="2153504"/>
            <a:ext cx="6650946" cy="1846659"/>
          </a:xfrm>
        </p:spPr>
        <p:txBody>
          <a:bodyPr/>
          <a:lstStyle/>
          <a:p>
            <a:r>
              <a:rPr lang="en-US" dirty="0"/>
              <a:t>Develop a speech agent with the Azure Speech MCP server</a:t>
            </a:r>
          </a:p>
        </p:txBody>
      </p:sp>
      <p:sp>
        <p:nvSpPr>
          <p:cNvPr id="2" name="Footer Placeholder 1">
            <a:extLst>
              <a:ext uri="{FF2B5EF4-FFF2-40B4-BE49-F238E27FC236}">
                <a16:creationId xmlns:a16="http://schemas.microsoft.com/office/drawing/2014/main" id="{986548D1-115F-C612-DECA-0ACBBFDFCF43}"/>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3" name="TextBox 2">
            <a:extLst>
              <a:ext uri="{FF2B5EF4-FFF2-40B4-BE49-F238E27FC236}">
                <a16:creationId xmlns:a16="http://schemas.microsoft.com/office/drawing/2014/main" id="{BC48A030-6EB7-971F-1104-50599C6AA77B}"/>
              </a:ext>
            </a:extLst>
          </p:cNvPr>
          <p:cNvSpPr txBox="1"/>
          <p:nvPr/>
        </p:nvSpPr>
        <p:spPr>
          <a:xfrm>
            <a:off x="478471" y="4000163"/>
            <a:ext cx="5879298" cy="363946"/>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0" normalizeH="0" baseline="0" noProof="0" dirty="0">
                <a:ln>
                  <a:noFill/>
                </a:ln>
                <a:solidFill>
                  <a:srgbClr val="BF3AC4"/>
                </a:solidFill>
                <a:effectLst/>
                <a:uLnTx/>
                <a:uFillTx/>
                <a:latin typeface="Segoe UI"/>
                <a:ea typeface="+mn-ea"/>
                <a:cs typeface="+mn-cs"/>
              </a:rPr>
              <a:t>https://aka.ms/mslearn-speech-mcp</a:t>
            </a:r>
          </a:p>
        </p:txBody>
      </p:sp>
    </p:spTree>
    <p:extLst>
      <p:ext uri="{BB962C8B-B14F-4D97-AF65-F5344CB8AC3E}">
        <p14:creationId xmlns:p14="http://schemas.microsoft.com/office/powerpoint/2010/main" val="268515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3764-0FB0-5AA2-973C-C4935FCC0F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96A897-075E-3E0B-0675-A3F7DC454B46}"/>
              </a:ext>
            </a:extLst>
          </p:cNvPr>
          <p:cNvSpPr>
            <a:spLocks noGrp="1"/>
          </p:cNvSpPr>
          <p:nvPr>
            <p:ph type="title"/>
          </p:nvPr>
        </p:nvSpPr>
        <p:spPr>
          <a:xfrm>
            <a:off x="588262" y="585216"/>
            <a:ext cx="8193024" cy="492443"/>
          </a:xfrm>
        </p:spPr>
        <p:txBody>
          <a:bodyPr/>
          <a:lstStyle/>
          <a:p>
            <a:r>
              <a:rPr lang="en-US" sz="3200" dirty="0"/>
              <a:t>The Azure Speech MCP server</a:t>
            </a:r>
          </a:p>
        </p:txBody>
      </p:sp>
      <p:sp>
        <p:nvSpPr>
          <p:cNvPr id="35" name="Footer Placeholder 34">
            <a:extLst>
              <a:ext uri="{FF2B5EF4-FFF2-40B4-BE49-F238E27FC236}">
                <a16:creationId xmlns:a16="http://schemas.microsoft.com/office/drawing/2014/main" id="{96F3119F-EA5D-8B53-DE7B-D21D2ED808FB}"/>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64" name="TextBox 63">
            <a:extLst>
              <a:ext uri="{FF2B5EF4-FFF2-40B4-BE49-F238E27FC236}">
                <a16:creationId xmlns:a16="http://schemas.microsoft.com/office/drawing/2014/main" id="{F8CBA284-08BF-064F-2E03-8731C30089C3}"/>
              </a:ext>
            </a:extLst>
          </p:cNvPr>
          <p:cNvSpPr txBox="1"/>
          <p:nvPr/>
        </p:nvSpPr>
        <p:spPr>
          <a:xfrm>
            <a:off x="764079" y="3941069"/>
            <a:ext cx="11076491" cy="2803844"/>
          </a:xfrm>
          <a:prstGeom prst="rect">
            <a:avLst/>
          </a:prstGeom>
          <a:noFill/>
        </p:spPr>
        <p:txBody>
          <a:bodyPr wrap="square">
            <a:spAutoFit/>
          </a:bodyPr>
          <a:lstStyle/>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A user sends a prompt to an agent, containing text or a link to an audio file</a:t>
            </a: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The agent determines task (or tasks) to be performed</a:t>
            </a: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The agent checks available MCP tools to find the best match</a:t>
            </a: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The agent calls the selected tool through the MCP server, passing the relevant input</a:t>
            </a: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The MCP server processes the request using Azure Speech (text to speech or speech to text)</a:t>
            </a: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In the case of text to speech, the generated audio is saved as a file in Azure storage</a:t>
            </a: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r>
              <a:rPr lang="en-US" dirty="0">
                <a:solidFill>
                  <a:srgbClr val="161616"/>
                </a:solidFill>
                <a:latin typeface="Segoe UI" panose="020B0502040204020203" pitchFamily="34" charset="0"/>
              </a:rPr>
              <a:t>The agent responds to the user with transcribed text or a link to the generated audio file</a:t>
            </a:r>
            <a:endPar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endParaRPr>
          </a:p>
          <a:p>
            <a:pPr marL="342900" marR="0" lvl="0" indent="-342900" algn="l" defTabSz="914367" rtl="0" eaLnBrk="1" fontAlgn="auto" latinLnBrk="0" hangingPunct="1">
              <a:lnSpc>
                <a:spcPct val="100000"/>
              </a:lnSpc>
              <a:spcBef>
                <a:spcPts val="0"/>
              </a:spcBef>
              <a:spcAft>
                <a:spcPts val="600"/>
              </a:spcAft>
              <a:buClr>
                <a:srgbClr val="702573"/>
              </a:buClr>
              <a:buSzPct val="110000"/>
              <a:buFont typeface="+mj-lt"/>
              <a:buAutoNum type="arabicPeriod"/>
              <a:tabLst/>
              <a:defRPr/>
            </a:pPr>
            <a:endParaRPr kumimoji="0" lang="en-US" sz="1765"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endParaRPr>
          </a:p>
        </p:txBody>
      </p:sp>
      <p:grpSp>
        <p:nvGrpSpPr>
          <p:cNvPr id="101" name="Group 100">
            <a:extLst>
              <a:ext uri="{FF2B5EF4-FFF2-40B4-BE49-F238E27FC236}">
                <a16:creationId xmlns:a16="http://schemas.microsoft.com/office/drawing/2014/main" id="{FFFFBFE4-589D-31D2-4FCD-026039718F6C}"/>
              </a:ext>
            </a:extLst>
          </p:cNvPr>
          <p:cNvGrpSpPr/>
          <p:nvPr/>
        </p:nvGrpSpPr>
        <p:grpSpPr>
          <a:xfrm>
            <a:off x="1024733" y="1291835"/>
            <a:ext cx="10175947" cy="3131012"/>
            <a:chOff x="1024733" y="1378922"/>
            <a:chExt cx="10175947" cy="3131012"/>
          </a:xfrm>
        </p:grpSpPr>
        <p:grpSp>
          <p:nvGrpSpPr>
            <p:cNvPr id="87" name="Group 86">
              <a:extLst>
                <a:ext uri="{FF2B5EF4-FFF2-40B4-BE49-F238E27FC236}">
                  <a16:creationId xmlns:a16="http://schemas.microsoft.com/office/drawing/2014/main" id="{54F18A71-19D4-482F-8A0A-0AF7BEE4BD21}"/>
                </a:ext>
              </a:extLst>
            </p:cNvPr>
            <p:cNvGrpSpPr/>
            <p:nvPr/>
          </p:nvGrpSpPr>
          <p:grpSpPr>
            <a:xfrm>
              <a:off x="4031565" y="1577926"/>
              <a:ext cx="2851047" cy="1851074"/>
              <a:chOff x="3779010" y="1577926"/>
              <a:chExt cx="2851047" cy="1851074"/>
            </a:xfrm>
          </p:grpSpPr>
          <p:sp>
            <p:nvSpPr>
              <p:cNvPr id="22" name="Flowchart: Alternate Process 21">
                <a:extLst>
                  <a:ext uri="{FF2B5EF4-FFF2-40B4-BE49-F238E27FC236}">
                    <a16:creationId xmlns:a16="http://schemas.microsoft.com/office/drawing/2014/main" id="{E5F2EA6F-46C0-1B20-85D9-650DC36F1678}"/>
                  </a:ext>
                </a:extLst>
              </p:cNvPr>
              <p:cNvSpPr/>
              <p:nvPr/>
            </p:nvSpPr>
            <p:spPr bwMode="auto">
              <a:xfrm>
                <a:off x="3779010" y="1887583"/>
                <a:ext cx="2194560" cy="1541417"/>
              </a:xfrm>
              <a:prstGeom prst="flowChartAlternateProcess">
                <a:avLst/>
              </a:prstGeom>
              <a:solidFill>
                <a:schemeClr val="bg1"/>
              </a:solidFill>
              <a:ln w="38100">
                <a:solidFill>
                  <a:schemeClr val="tx2">
                    <a:lumMod val="75000"/>
                    <a:lumOff val="2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9" name="Graphic 18" descr="Robot with solid fill">
                <a:extLst>
                  <a:ext uri="{FF2B5EF4-FFF2-40B4-BE49-F238E27FC236}">
                    <a16:creationId xmlns:a16="http://schemas.microsoft.com/office/drawing/2014/main" id="{8706197B-5D7F-E017-2D60-1277EA4DD9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6724" y="1854925"/>
                <a:ext cx="1367246" cy="1367246"/>
              </a:xfrm>
              <a:prstGeom prst="rect">
                <a:avLst/>
              </a:prstGeom>
            </p:spPr>
          </p:pic>
          <p:sp>
            <p:nvSpPr>
              <p:cNvPr id="41" name="TextBox 40">
                <a:extLst>
                  <a:ext uri="{FF2B5EF4-FFF2-40B4-BE49-F238E27FC236}">
                    <a16:creationId xmlns:a16="http://schemas.microsoft.com/office/drawing/2014/main" id="{7A1D8FC0-FBB5-1AFE-46C7-6272D158B230}"/>
                  </a:ext>
                </a:extLst>
              </p:cNvPr>
              <p:cNvSpPr txBox="1"/>
              <p:nvPr/>
            </p:nvSpPr>
            <p:spPr>
              <a:xfrm>
                <a:off x="5469483" y="2406416"/>
                <a:ext cx="1160574" cy="830997"/>
              </a:xfrm>
              <a:prstGeom prst="rect">
                <a:avLst/>
              </a:prstGeom>
              <a:solidFill>
                <a:srgbClr val="FFFFFF"/>
              </a:solid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MCP Client</a:t>
                </a:r>
              </a:p>
            </p:txBody>
          </p:sp>
          <p:sp>
            <p:nvSpPr>
              <p:cNvPr id="39" name="TextBox 38">
                <a:extLst>
                  <a:ext uri="{FF2B5EF4-FFF2-40B4-BE49-F238E27FC236}">
                    <a16:creationId xmlns:a16="http://schemas.microsoft.com/office/drawing/2014/main" id="{F0B8FDEC-B3A4-FA7D-CDE3-D74CC20EC9EE}"/>
                  </a:ext>
                </a:extLst>
              </p:cNvPr>
              <p:cNvSpPr txBox="1"/>
              <p:nvPr/>
            </p:nvSpPr>
            <p:spPr>
              <a:xfrm>
                <a:off x="4546012" y="1577926"/>
                <a:ext cx="490519"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Host</a:t>
                </a:r>
              </a:p>
            </p:txBody>
          </p:sp>
          <p:pic>
            <p:nvPicPr>
              <p:cNvPr id="25" name="Graphic 24" descr="Ethernet with solid fill">
                <a:extLst>
                  <a:ext uri="{FF2B5EF4-FFF2-40B4-BE49-F238E27FC236}">
                    <a16:creationId xmlns:a16="http://schemas.microsoft.com/office/drawing/2014/main" id="{8178C847-371C-5284-CEBD-74D5C491FA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16370" y="2201091"/>
                <a:ext cx="914400" cy="914400"/>
              </a:xfrm>
              <a:prstGeom prst="rect">
                <a:avLst/>
              </a:prstGeom>
            </p:spPr>
          </p:pic>
          <p:sp>
            <p:nvSpPr>
              <p:cNvPr id="42" name="TextBox 41">
                <a:extLst>
                  <a:ext uri="{FF2B5EF4-FFF2-40B4-BE49-F238E27FC236}">
                    <a16:creationId xmlns:a16="http://schemas.microsoft.com/office/drawing/2014/main" id="{F94BD0BE-1756-3093-EB0D-BD9FF4D09BC3}"/>
                  </a:ext>
                </a:extLst>
              </p:cNvPr>
              <p:cNvSpPr txBox="1"/>
              <p:nvPr/>
            </p:nvSpPr>
            <p:spPr>
              <a:xfrm>
                <a:off x="4426265" y="3083671"/>
                <a:ext cx="564257"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Agent</a:t>
                </a: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45" name="Graphic 44" descr="Tools with solid fill">
                <a:extLst>
                  <a:ext uri="{FF2B5EF4-FFF2-40B4-BE49-F238E27FC236}">
                    <a16:creationId xmlns:a16="http://schemas.microsoft.com/office/drawing/2014/main" id="{E67554DB-57F3-9B19-0B13-8F8B0EFEBD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85444" y="2479765"/>
                <a:ext cx="357051" cy="357051"/>
              </a:xfrm>
              <a:prstGeom prst="rect">
                <a:avLst/>
              </a:prstGeom>
            </p:spPr>
          </p:pic>
        </p:grpSp>
        <p:grpSp>
          <p:nvGrpSpPr>
            <p:cNvPr id="88" name="Group 87">
              <a:extLst>
                <a:ext uri="{FF2B5EF4-FFF2-40B4-BE49-F238E27FC236}">
                  <a16:creationId xmlns:a16="http://schemas.microsoft.com/office/drawing/2014/main" id="{0947E930-5A21-FC2D-0CBF-F29FBB336F95}"/>
                </a:ext>
              </a:extLst>
            </p:cNvPr>
            <p:cNvGrpSpPr/>
            <p:nvPr/>
          </p:nvGrpSpPr>
          <p:grpSpPr>
            <a:xfrm>
              <a:off x="6683325" y="1378922"/>
              <a:ext cx="4517355" cy="3131012"/>
              <a:chOff x="6683325" y="1361504"/>
              <a:chExt cx="4517355" cy="3131012"/>
            </a:xfrm>
          </p:grpSpPr>
          <p:sp>
            <p:nvSpPr>
              <p:cNvPr id="32" name="Flowchart: Alternate Process 31">
                <a:extLst>
                  <a:ext uri="{FF2B5EF4-FFF2-40B4-BE49-F238E27FC236}">
                    <a16:creationId xmlns:a16="http://schemas.microsoft.com/office/drawing/2014/main" id="{5612C74B-1D6E-DE4E-9A44-D4068AF25F4B}"/>
                  </a:ext>
                </a:extLst>
              </p:cNvPr>
              <p:cNvSpPr/>
              <p:nvPr/>
            </p:nvSpPr>
            <p:spPr bwMode="auto">
              <a:xfrm>
                <a:off x="8102815" y="1887583"/>
                <a:ext cx="3027249" cy="1541417"/>
              </a:xfrm>
              <a:prstGeom prst="flowChartAlternateProcess">
                <a:avLst/>
              </a:prstGeom>
              <a:solidFill>
                <a:schemeClr val="bg1"/>
              </a:solidFill>
              <a:ln w="38100">
                <a:solidFill>
                  <a:srgbClr val="8661C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TextBox 39">
                <a:extLst>
                  <a:ext uri="{FF2B5EF4-FFF2-40B4-BE49-F238E27FC236}">
                    <a16:creationId xmlns:a16="http://schemas.microsoft.com/office/drawing/2014/main" id="{EAC32DB0-E3B0-B2B9-0622-9ED7E61FA383}"/>
                  </a:ext>
                </a:extLst>
              </p:cNvPr>
              <p:cNvSpPr txBox="1"/>
              <p:nvPr/>
            </p:nvSpPr>
            <p:spPr>
              <a:xfrm>
                <a:off x="7550724" y="2962589"/>
                <a:ext cx="1572429" cy="276999"/>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MCP Server</a:t>
                </a:r>
              </a:p>
            </p:txBody>
          </p:sp>
          <p:cxnSp>
            <p:nvCxnSpPr>
              <p:cNvPr id="37" name="Straight Arrow Connector 36">
                <a:extLst>
                  <a:ext uri="{FF2B5EF4-FFF2-40B4-BE49-F238E27FC236}">
                    <a16:creationId xmlns:a16="http://schemas.microsoft.com/office/drawing/2014/main" id="{852EBAC0-F0FC-3207-D1FE-6704F8C5F6CA}"/>
                  </a:ext>
                </a:extLst>
              </p:cNvPr>
              <p:cNvCxnSpPr>
                <a:cxnSpLocks/>
                <a:stCxn id="25" idx="3"/>
                <a:endCxn id="34" idx="1"/>
              </p:cNvCxnSpPr>
              <p:nvPr/>
            </p:nvCxnSpPr>
            <p:spPr>
              <a:xfrm>
                <a:off x="6683325" y="2640873"/>
                <a:ext cx="1039137" cy="17201"/>
              </a:xfrm>
              <a:prstGeom prst="straightConnector1">
                <a:avLst/>
              </a:prstGeom>
              <a:ln w="57150">
                <a:solidFill>
                  <a:schemeClr val="bg1">
                    <a:lumMod val="65000"/>
                  </a:schemeClr>
                </a:solidFill>
                <a:prstDash val="sysDot"/>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34" name="Graphic 33" descr="Gears with solid fill">
                <a:extLst>
                  <a:ext uri="{FF2B5EF4-FFF2-40B4-BE49-F238E27FC236}">
                    <a16:creationId xmlns:a16="http://schemas.microsoft.com/office/drawing/2014/main" id="{B992D163-AF13-62C5-8280-ED166A21E9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22462" y="2293945"/>
                <a:ext cx="728258" cy="728258"/>
              </a:xfrm>
              <a:prstGeom prst="rect">
                <a:avLst/>
              </a:prstGeom>
            </p:spPr>
          </p:pic>
          <p:cxnSp>
            <p:nvCxnSpPr>
              <p:cNvPr id="55" name="Straight Arrow Connector 54">
                <a:extLst>
                  <a:ext uri="{FF2B5EF4-FFF2-40B4-BE49-F238E27FC236}">
                    <a16:creationId xmlns:a16="http://schemas.microsoft.com/office/drawing/2014/main" id="{2DEB6A52-3DEB-2A8B-1424-43B604A071CD}"/>
                  </a:ext>
                </a:extLst>
              </p:cNvPr>
              <p:cNvCxnSpPr>
                <a:cxnSpLocks/>
              </p:cNvCxnSpPr>
              <p:nvPr/>
            </p:nvCxnSpPr>
            <p:spPr>
              <a:xfrm flipV="1">
                <a:off x="8351937" y="2650780"/>
                <a:ext cx="1422848" cy="7511"/>
              </a:xfrm>
              <a:prstGeom prst="straightConnector1">
                <a:avLst/>
              </a:prstGeom>
              <a:ln w="57150">
                <a:solidFill>
                  <a:schemeClr val="bg1">
                    <a:lumMod val="65000"/>
                  </a:schemeClr>
                </a:solidFill>
                <a:prstDash val="sysDot"/>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DD7BD4-1FDE-CDAE-2748-CC28C9C0E271}"/>
                  </a:ext>
                </a:extLst>
              </p:cNvPr>
              <p:cNvSpPr txBox="1"/>
              <p:nvPr/>
            </p:nvSpPr>
            <p:spPr>
              <a:xfrm>
                <a:off x="9420178" y="2703751"/>
                <a:ext cx="1747089"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Azure Speech in Foundry Tools</a:t>
                </a:r>
              </a:p>
            </p:txBody>
          </p:sp>
          <p:sp>
            <p:nvSpPr>
              <p:cNvPr id="62" name="TextBox 61">
                <a:extLst>
                  <a:ext uri="{FF2B5EF4-FFF2-40B4-BE49-F238E27FC236}">
                    <a16:creationId xmlns:a16="http://schemas.microsoft.com/office/drawing/2014/main" id="{D464F296-72FF-01C0-B051-FFF2315FBFC5}"/>
                  </a:ext>
                </a:extLst>
              </p:cNvPr>
              <p:cNvSpPr txBox="1"/>
              <p:nvPr/>
            </p:nvSpPr>
            <p:spPr>
              <a:xfrm>
                <a:off x="8728472" y="1557613"/>
                <a:ext cx="1942455"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Microsoft Foundry</a:t>
                </a:r>
              </a:p>
            </p:txBody>
          </p:sp>
          <p:pic>
            <p:nvPicPr>
              <p:cNvPr id="50" name="Picture 49">
                <a:extLst>
                  <a:ext uri="{FF2B5EF4-FFF2-40B4-BE49-F238E27FC236}">
                    <a16:creationId xmlns:a16="http://schemas.microsoft.com/office/drawing/2014/main" id="{1AC312AB-E0B2-7411-DBAC-57CA2532773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683444" y="1361504"/>
                <a:ext cx="876572" cy="986842"/>
              </a:xfrm>
              <a:prstGeom prst="rect">
                <a:avLst/>
              </a:prstGeom>
            </p:spPr>
          </p:pic>
          <p:pic>
            <p:nvPicPr>
              <p:cNvPr id="51" name="Picture 50">
                <a:extLst>
                  <a:ext uri="{FF2B5EF4-FFF2-40B4-BE49-F238E27FC236}">
                    <a16:creationId xmlns:a16="http://schemas.microsoft.com/office/drawing/2014/main" id="{F5447EB4-21C2-59C7-2C8A-6837004CB32D}"/>
                  </a:ext>
                </a:extLst>
              </p:cNvPr>
              <p:cNvPicPr>
                <a:picLocks noChangeAspect="1"/>
              </p:cNvPicPr>
              <p:nvPr/>
            </p:nvPicPr>
            <p:blipFill>
              <a:blip r:embed="rId8"/>
              <a:srcRect/>
              <a:stretch/>
            </p:blipFill>
            <p:spPr>
              <a:xfrm>
                <a:off x="9761984" y="2157505"/>
                <a:ext cx="563598" cy="563598"/>
              </a:xfrm>
              <a:prstGeom prst="rect">
                <a:avLst/>
              </a:prstGeom>
            </p:spPr>
          </p:pic>
          <p:sp>
            <p:nvSpPr>
              <p:cNvPr id="8" name="TextBox 7">
                <a:extLst>
                  <a:ext uri="{FF2B5EF4-FFF2-40B4-BE49-F238E27FC236}">
                    <a16:creationId xmlns:a16="http://schemas.microsoft.com/office/drawing/2014/main" id="{BBF125A4-2228-9DE4-4A6A-BB12053A7B57}"/>
                  </a:ext>
                </a:extLst>
              </p:cNvPr>
              <p:cNvSpPr txBox="1"/>
              <p:nvPr/>
            </p:nvSpPr>
            <p:spPr>
              <a:xfrm>
                <a:off x="9453591" y="4246295"/>
                <a:ext cx="1747089" cy="246221"/>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Azure Storage</a:t>
                </a:r>
              </a:p>
            </p:txBody>
          </p:sp>
          <p:cxnSp>
            <p:nvCxnSpPr>
              <p:cNvPr id="9" name="Straight Arrow Connector 8">
                <a:extLst>
                  <a:ext uri="{FF2B5EF4-FFF2-40B4-BE49-F238E27FC236}">
                    <a16:creationId xmlns:a16="http://schemas.microsoft.com/office/drawing/2014/main" id="{0BEF3FB5-E7DF-32A3-7DA7-6E407DF08541}"/>
                  </a:ext>
                </a:extLst>
              </p:cNvPr>
              <p:cNvCxnSpPr>
                <a:cxnSpLocks/>
              </p:cNvCxnSpPr>
              <p:nvPr/>
            </p:nvCxnSpPr>
            <p:spPr>
              <a:xfrm>
                <a:off x="10155113" y="3219995"/>
                <a:ext cx="0" cy="468524"/>
              </a:xfrm>
              <a:prstGeom prst="straightConnector1">
                <a:avLst/>
              </a:prstGeom>
              <a:ln w="57150">
                <a:solidFill>
                  <a:schemeClr val="bg1">
                    <a:lumMod val="65000"/>
                  </a:schemeClr>
                </a:solidFill>
                <a:prstDash val="sysDot"/>
                <a:headEnd type="none" w="lg" len="med"/>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6E3340DA-EA0E-E588-E668-6140DE1BF37A}"/>
                </a:ext>
              </a:extLst>
            </p:cNvPr>
            <p:cNvGrpSpPr/>
            <p:nvPr/>
          </p:nvGrpSpPr>
          <p:grpSpPr>
            <a:xfrm>
              <a:off x="1024733" y="1545047"/>
              <a:ext cx="3635112" cy="2400313"/>
              <a:chOff x="-3071962" y="1070383"/>
              <a:chExt cx="5072804" cy="3349642"/>
            </a:xfrm>
          </p:grpSpPr>
          <p:grpSp>
            <p:nvGrpSpPr>
              <p:cNvPr id="66" name="Group 65">
                <a:extLst>
                  <a:ext uri="{FF2B5EF4-FFF2-40B4-BE49-F238E27FC236}">
                    <a16:creationId xmlns:a16="http://schemas.microsoft.com/office/drawing/2014/main" id="{42B8644C-89B7-6C40-9777-CB841FF7A33D}"/>
                  </a:ext>
                </a:extLst>
              </p:cNvPr>
              <p:cNvGrpSpPr/>
              <p:nvPr/>
            </p:nvGrpSpPr>
            <p:grpSpPr>
              <a:xfrm>
                <a:off x="-3071962" y="1113508"/>
                <a:ext cx="2639179" cy="2639179"/>
                <a:chOff x="10521113" y="3976905"/>
                <a:chExt cx="2099670" cy="2099670"/>
              </a:xfrm>
            </p:grpSpPr>
            <p:grpSp>
              <p:nvGrpSpPr>
                <p:cNvPr id="74" name="Group 73">
                  <a:extLst>
                    <a:ext uri="{FF2B5EF4-FFF2-40B4-BE49-F238E27FC236}">
                      <a16:creationId xmlns:a16="http://schemas.microsoft.com/office/drawing/2014/main" id="{036C786B-5585-BED6-01D6-FDAC46DCA12D}"/>
                    </a:ext>
                  </a:extLst>
                </p:cNvPr>
                <p:cNvGrpSpPr/>
                <p:nvPr/>
              </p:nvGrpSpPr>
              <p:grpSpPr>
                <a:xfrm>
                  <a:off x="10521113" y="3976905"/>
                  <a:ext cx="2099670" cy="2099670"/>
                  <a:chOff x="1491914" y="3563162"/>
                  <a:chExt cx="1686910" cy="1686910"/>
                </a:xfrm>
              </p:grpSpPr>
              <p:sp>
                <p:nvSpPr>
                  <p:cNvPr id="81" name="Rectangle 80">
                    <a:extLst>
                      <a:ext uri="{FF2B5EF4-FFF2-40B4-BE49-F238E27FC236}">
                        <a16:creationId xmlns:a16="http://schemas.microsoft.com/office/drawing/2014/main" id="{8C16E384-4B1F-27DE-E288-1CEBA9C98C48}"/>
                      </a:ext>
                    </a:extLst>
                  </p:cNvPr>
                  <p:cNvSpPr/>
                  <p:nvPr/>
                </p:nvSpPr>
                <p:spPr>
                  <a:xfrm>
                    <a:off x="2130417" y="3899339"/>
                    <a:ext cx="438843" cy="628662"/>
                  </a:xfrm>
                  <a:prstGeom prst="rect">
                    <a:avLst/>
                  </a:prstGeom>
                  <a:solidFill>
                    <a:srgbClr val="FFCCCC"/>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7DF5CA09-062D-520C-7312-049C8A3102A4}"/>
                      </a:ext>
                    </a:extLst>
                  </p:cNvPr>
                  <p:cNvSpPr/>
                  <p:nvPr/>
                </p:nvSpPr>
                <p:spPr>
                  <a:xfrm>
                    <a:off x="2102069" y="4580468"/>
                    <a:ext cx="409903" cy="50653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3" name="Graphic 82" descr="Office worker female with solid fill">
                    <a:extLst>
                      <a:ext uri="{FF2B5EF4-FFF2-40B4-BE49-F238E27FC236}">
                        <a16:creationId xmlns:a16="http://schemas.microsoft.com/office/drawing/2014/main" id="{465794FA-0408-E00C-F8D8-695F3B1AEA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91914" y="3563162"/>
                    <a:ext cx="1686910" cy="1686910"/>
                  </a:xfrm>
                  <a:prstGeom prst="rect">
                    <a:avLst/>
                  </a:prstGeom>
                </p:spPr>
              </p:pic>
              <p:pic>
                <p:nvPicPr>
                  <p:cNvPr id="84" name="Graphic 83" descr="Office worker female with solid fill">
                    <a:extLst>
                      <a:ext uri="{FF2B5EF4-FFF2-40B4-BE49-F238E27FC236}">
                        <a16:creationId xmlns:a16="http://schemas.microsoft.com/office/drawing/2014/main" id="{755B37DC-DAF1-C3D1-101D-A2786607EE5D}"/>
                      </a:ext>
                    </a:extLst>
                  </p:cNvPr>
                  <p:cNvPicPr>
                    <a:picLocks noChangeAspect="1"/>
                  </p:cNvPicPr>
                  <p:nvPr/>
                </p:nvPicPr>
                <p:blipFill>
                  <a:blip>
                    <a:extLst>
                      <a:ext uri="{96DAC541-7B7A-43D3-8B79-37D633B846F1}">
                        <asvg:svgBlip xmlns:asvg="http://schemas.microsoft.com/office/drawing/2016/SVG/main" r:embed="rId10"/>
                      </a:ext>
                    </a:extLst>
                  </a:blip>
                  <a:srcRect b="47789"/>
                  <a:stretch>
                    <a:fillRect/>
                  </a:stretch>
                </p:blipFill>
                <p:spPr>
                  <a:xfrm>
                    <a:off x="1491914" y="3563162"/>
                    <a:ext cx="1686910" cy="880758"/>
                  </a:xfrm>
                  <a:prstGeom prst="rect">
                    <a:avLst/>
                  </a:prstGeom>
                </p:spPr>
              </p:pic>
            </p:grpSp>
            <p:sp>
              <p:nvSpPr>
                <p:cNvPr id="75" name="Rectangle: Rounded Corners 74">
                  <a:extLst>
                    <a:ext uri="{FF2B5EF4-FFF2-40B4-BE49-F238E27FC236}">
                      <a16:creationId xmlns:a16="http://schemas.microsoft.com/office/drawing/2014/main" id="{2F667720-C559-F381-9FF9-B177529BDC86}"/>
                    </a:ext>
                  </a:extLst>
                </p:cNvPr>
                <p:cNvSpPr/>
                <p:nvPr/>
              </p:nvSpPr>
              <p:spPr>
                <a:xfrm>
                  <a:off x="11086623" y="5347785"/>
                  <a:ext cx="1010689" cy="690063"/>
                </a:xfrm>
                <a:prstGeom prst="roundRect">
                  <a:avLst>
                    <a:gd name="adj" fmla="val 7594"/>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76" name="Group 75">
                  <a:extLst>
                    <a:ext uri="{FF2B5EF4-FFF2-40B4-BE49-F238E27FC236}">
                      <a16:creationId xmlns:a16="http://schemas.microsoft.com/office/drawing/2014/main" id="{E323C504-36AA-58F6-987E-D993BF7969F3}"/>
                    </a:ext>
                  </a:extLst>
                </p:cNvPr>
                <p:cNvGrpSpPr/>
                <p:nvPr/>
              </p:nvGrpSpPr>
              <p:grpSpPr>
                <a:xfrm>
                  <a:off x="11510972" y="5603112"/>
                  <a:ext cx="197934" cy="197934"/>
                  <a:chOff x="8716215" y="1027821"/>
                  <a:chExt cx="232631" cy="232631"/>
                </a:xfrm>
              </p:grpSpPr>
              <p:sp>
                <p:nvSpPr>
                  <p:cNvPr id="77" name="Rectangle 76">
                    <a:extLst>
                      <a:ext uri="{FF2B5EF4-FFF2-40B4-BE49-F238E27FC236}">
                        <a16:creationId xmlns:a16="http://schemas.microsoft.com/office/drawing/2014/main" id="{E6FE74F7-F560-28DD-02DB-3D3638A0B5FC}"/>
                      </a:ext>
                    </a:extLst>
                  </p:cNvPr>
                  <p:cNvSpPr/>
                  <p:nvPr/>
                </p:nvSpPr>
                <p:spPr>
                  <a:xfrm>
                    <a:off x="8716215"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F628E3AA-668A-150E-9F7A-8E98DFD77BBA}"/>
                      </a:ext>
                    </a:extLst>
                  </p:cNvPr>
                  <p:cNvSpPr/>
                  <p:nvPr/>
                </p:nvSpPr>
                <p:spPr>
                  <a:xfrm>
                    <a:off x="8839354"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9" name="Rectangle 78">
                    <a:extLst>
                      <a:ext uri="{FF2B5EF4-FFF2-40B4-BE49-F238E27FC236}">
                        <a16:creationId xmlns:a16="http://schemas.microsoft.com/office/drawing/2014/main" id="{8D48CD34-2C87-7F10-9459-D8DD3727F8BE}"/>
                      </a:ext>
                    </a:extLst>
                  </p:cNvPr>
                  <p:cNvSpPr/>
                  <p:nvPr/>
                </p:nvSpPr>
                <p:spPr>
                  <a:xfrm>
                    <a:off x="8716215"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A78177E4-B93D-FE13-6BDC-EACE1C6A9EE0}"/>
                      </a:ext>
                    </a:extLst>
                  </p:cNvPr>
                  <p:cNvSpPr/>
                  <p:nvPr/>
                </p:nvSpPr>
                <p:spPr>
                  <a:xfrm>
                    <a:off x="8839354"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grpSp>
            <p:nvGrpSpPr>
              <p:cNvPr id="85" name="Group 84">
                <a:extLst>
                  <a:ext uri="{FF2B5EF4-FFF2-40B4-BE49-F238E27FC236}">
                    <a16:creationId xmlns:a16="http://schemas.microsoft.com/office/drawing/2014/main" id="{C7512DD5-CE8B-3C78-6B4C-C407C4BCA850}"/>
                  </a:ext>
                </a:extLst>
              </p:cNvPr>
              <p:cNvGrpSpPr/>
              <p:nvPr/>
            </p:nvGrpSpPr>
            <p:grpSpPr>
              <a:xfrm>
                <a:off x="-1132182" y="1070383"/>
                <a:ext cx="3133024" cy="3349642"/>
                <a:chOff x="-1132182" y="1070383"/>
                <a:chExt cx="3133024" cy="3349642"/>
              </a:xfrm>
            </p:grpSpPr>
            <p:grpSp>
              <p:nvGrpSpPr>
                <p:cNvPr id="68" name="Group 67">
                  <a:extLst>
                    <a:ext uri="{FF2B5EF4-FFF2-40B4-BE49-F238E27FC236}">
                      <a16:creationId xmlns:a16="http://schemas.microsoft.com/office/drawing/2014/main" id="{1DF3349D-20E2-FFE3-D8C8-0D2F8CE1A30E}"/>
                    </a:ext>
                  </a:extLst>
                </p:cNvPr>
                <p:cNvGrpSpPr/>
                <p:nvPr/>
              </p:nvGrpSpPr>
              <p:grpSpPr>
                <a:xfrm>
                  <a:off x="-1132182" y="1070383"/>
                  <a:ext cx="2175971" cy="2175972"/>
                  <a:chOff x="4773569" y="2029437"/>
                  <a:chExt cx="1854942" cy="1854942"/>
                </a:xfrm>
              </p:grpSpPr>
              <p:pic>
                <p:nvPicPr>
                  <p:cNvPr id="72" name="Graphic 71" descr="Speech with solid fill">
                    <a:extLst>
                      <a:ext uri="{FF2B5EF4-FFF2-40B4-BE49-F238E27FC236}">
                        <a16:creationId xmlns:a16="http://schemas.microsoft.com/office/drawing/2014/main" id="{37535612-723D-31FC-0BE0-69E35F6169C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H="1">
                    <a:off x="4773569" y="2029437"/>
                    <a:ext cx="1854942" cy="1854942"/>
                  </a:xfrm>
                  <a:prstGeom prst="rect">
                    <a:avLst/>
                  </a:prstGeom>
                </p:spPr>
              </p:pic>
              <p:sp>
                <p:nvSpPr>
                  <p:cNvPr id="73" name="TextBox 72">
                    <a:extLst>
                      <a:ext uri="{FF2B5EF4-FFF2-40B4-BE49-F238E27FC236}">
                        <a16:creationId xmlns:a16="http://schemas.microsoft.com/office/drawing/2014/main" id="{CD03EED6-F644-1BE9-317C-F31089546339}"/>
                      </a:ext>
                    </a:extLst>
                  </p:cNvPr>
                  <p:cNvSpPr txBox="1"/>
                  <p:nvPr/>
                </p:nvSpPr>
                <p:spPr>
                  <a:xfrm>
                    <a:off x="5327594" y="2449781"/>
                    <a:ext cx="939930" cy="6956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rPr>
                      <a:t>…?</a:t>
                    </a:r>
                  </a:p>
                </p:txBody>
              </p:sp>
            </p:grpSp>
            <p:grpSp>
              <p:nvGrpSpPr>
                <p:cNvPr id="69" name="Group 68">
                  <a:extLst>
                    <a:ext uri="{FF2B5EF4-FFF2-40B4-BE49-F238E27FC236}">
                      <a16:creationId xmlns:a16="http://schemas.microsoft.com/office/drawing/2014/main" id="{C9E22266-89BB-0FDA-3461-A3F798390273}"/>
                    </a:ext>
                  </a:extLst>
                </p:cNvPr>
                <p:cNvGrpSpPr/>
                <p:nvPr/>
              </p:nvGrpSpPr>
              <p:grpSpPr>
                <a:xfrm>
                  <a:off x="-175129" y="2244054"/>
                  <a:ext cx="2175971" cy="2175971"/>
                  <a:chOff x="5261069" y="3314734"/>
                  <a:chExt cx="1854942" cy="1854942"/>
                </a:xfrm>
              </p:grpSpPr>
              <p:pic>
                <p:nvPicPr>
                  <p:cNvPr id="70" name="Graphic 69" descr="Speech with solid fill">
                    <a:extLst>
                      <a:ext uri="{FF2B5EF4-FFF2-40B4-BE49-F238E27FC236}">
                        <a16:creationId xmlns:a16="http://schemas.microsoft.com/office/drawing/2014/main" id="{7FC071C1-3DB8-4DBF-B354-54EF741661F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V="1">
                    <a:off x="5261069" y="3314734"/>
                    <a:ext cx="1854942" cy="1854942"/>
                  </a:xfrm>
                  <a:prstGeom prst="rect">
                    <a:avLst/>
                  </a:prstGeom>
                </p:spPr>
              </p:pic>
              <p:sp>
                <p:nvSpPr>
                  <p:cNvPr id="71" name="TextBox 70">
                    <a:extLst>
                      <a:ext uri="{FF2B5EF4-FFF2-40B4-BE49-F238E27FC236}">
                        <a16:creationId xmlns:a16="http://schemas.microsoft.com/office/drawing/2014/main" id="{F8A1C485-A258-AE21-FBDA-09F72F0F043C}"/>
                      </a:ext>
                    </a:extLst>
                  </p:cNvPr>
                  <p:cNvSpPr txBox="1"/>
                  <p:nvPr/>
                </p:nvSpPr>
                <p:spPr>
                  <a:xfrm>
                    <a:off x="5819201" y="3986056"/>
                    <a:ext cx="768405" cy="6956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rPr>
                      <a:t>…!</a:t>
                    </a:r>
                  </a:p>
                </p:txBody>
              </p:sp>
            </p:grpSp>
          </p:grpSp>
        </p:grpSp>
        <p:pic>
          <p:nvPicPr>
            <p:cNvPr id="90" name="Graphic 89" descr="Badge 4 with solid fill">
              <a:extLst>
                <a:ext uri="{FF2B5EF4-FFF2-40B4-BE49-F238E27FC236}">
                  <a16:creationId xmlns:a16="http://schemas.microsoft.com/office/drawing/2014/main" id="{9D906089-FDC0-413F-B661-F1F2A9F884A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61312" y="2260451"/>
              <a:ext cx="550271" cy="550271"/>
            </a:xfrm>
            <a:prstGeom prst="rect">
              <a:avLst/>
            </a:prstGeom>
          </p:spPr>
        </p:pic>
        <p:pic>
          <p:nvPicPr>
            <p:cNvPr id="92" name="Graphic 91" descr="Badge 7 with solid fill">
              <a:extLst>
                <a:ext uri="{FF2B5EF4-FFF2-40B4-BE49-F238E27FC236}">
                  <a16:creationId xmlns:a16="http://schemas.microsoft.com/office/drawing/2014/main" id="{2AE97DA0-77D1-468E-7741-BBC4FF7528B3}"/>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2911318" y="3079050"/>
              <a:ext cx="550271" cy="550271"/>
            </a:xfrm>
            <a:prstGeom prst="rect">
              <a:avLst/>
            </a:prstGeom>
          </p:spPr>
        </p:pic>
        <p:pic>
          <p:nvPicPr>
            <p:cNvPr id="94" name="Graphic 93" descr="Badge with solid fill">
              <a:extLst>
                <a:ext uri="{FF2B5EF4-FFF2-40B4-BE49-F238E27FC236}">
                  <a16:creationId xmlns:a16="http://schemas.microsoft.com/office/drawing/2014/main" id="{0DC45F90-014C-29AB-2DF7-E9A3F8D957D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152046" y="1736363"/>
              <a:ext cx="550271" cy="550271"/>
            </a:xfrm>
            <a:prstGeom prst="rect">
              <a:avLst/>
            </a:prstGeom>
          </p:spPr>
        </p:pic>
        <p:pic>
          <p:nvPicPr>
            <p:cNvPr id="96" name="Graphic 95" descr="Badge 3 with solid fill">
              <a:extLst>
                <a:ext uri="{FF2B5EF4-FFF2-40B4-BE49-F238E27FC236}">
                  <a16:creationId xmlns:a16="http://schemas.microsoft.com/office/drawing/2014/main" id="{A6660B39-B2A3-659E-A9D7-2F575A2DA14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291178" y="2013102"/>
              <a:ext cx="550271" cy="550271"/>
            </a:xfrm>
            <a:prstGeom prst="rect">
              <a:avLst/>
            </a:prstGeom>
          </p:spPr>
        </p:pic>
        <p:pic>
          <p:nvPicPr>
            <p:cNvPr id="98" name="Graphic 97" descr="Badge 1 with solid fill">
              <a:extLst>
                <a:ext uri="{FF2B5EF4-FFF2-40B4-BE49-F238E27FC236}">
                  <a16:creationId xmlns:a16="http://schemas.microsoft.com/office/drawing/2014/main" id="{A1D926A6-1E60-61F3-C705-FCE9BAD093D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9110" y="1420688"/>
              <a:ext cx="550271" cy="550271"/>
            </a:xfrm>
            <a:prstGeom prst="rect">
              <a:avLst/>
            </a:prstGeom>
          </p:spPr>
        </p:pic>
        <p:pic>
          <p:nvPicPr>
            <p:cNvPr id="100" name="Graphic 99" descr="Badge 5 with solid fill">
              <a:extLst>
                <a:ext uri="{FF2B5EF4-FFF2-40B4-BE49-F238E27FC236}">
                  <a16:creationId xmlns:a16="http://schemas.microsoft.com/office/drawing/2014/main" id="{072D5021-8679-2AED-5D1B-653BB280015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693553" y="2248055"/>
              <a:ext cx="550271" cy="550271"/>
            </a:xfrm>
            <a:prstGeom prst="rect">
              <a:avLst/>
            </a:prstGeom>
          </p:spPr>
        </p:pic>
        <p:pic>
          <p:nvPicPr>
            <p:cNvPr id="14" name="Graphic 13" descr="Badge 6 with solid fill">
              <a:extLst>
                <a:ext uri="{FF2B5EF4-FFF2-40B4-BE49-F238E27FC236}">
                  <a16:creationId xmlns:a16="http://schemas.microsoft.com/office/drawing/2014/main" id="{F7945597-54D9-237B-1CE7-065C17A57E1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307209" y="3348741"/>
              <a:ext cx="550271" cy="550271"/>
            </a:xfrm>
            <a:prstGeom prst="rect">
              <a:avLst/>
            </a:prstGeom>
          </p:spPr>
        </p:pic>
      </p:grpSp>
      <p:grpSp>
        <p:nvGrpSpPr>
          <p:cNvPr id="7" name="Group 6">
            <a:extLst>
              <a:ext uri="{FF2B5EF4-FFF2-40B4-BE49-F238E27FC236}">
                <a16:creationId xmlns:a16="http://schemas.microsoft.com/office/drawing/2014/main" id="{9151C748-A94B-8F84-25C3-16B4FD19B4A6}"/>
              </a:ext>
            </a:extLst>
          </p:cNvPr>
          <p:cNvGrpSpPr/>
          <p:nvPr/>
        </p:nvGrpSpPr>
        <p:grpSpPr>
          <a:xfrm>
            <a:off x="9600149" y="3422073"/>
            <a:ext cx="810134" cy="814133"/>
            <a:chOff x="8630768" y="3679638"/>
            <a:chExt cx="810134" cy="814133"/>
          </a:xfrm>
        </p:grpSpPr>
        <p:pic>
          <p:nvPicPr>
            <p:cNvPr id="6" name="Graphic 5">
              <a:extLst>
                <a:ext uri="{FF2B5EF4-FFF2-40B4-BE49-F238E27FC236}">
                  <a16:creationId xmlns:a16="http://schemas.microsoft.com/office/drawing/2014/main" id="{40C33E02-1639-D1A6-F484-44530812FC59}"/>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805404" y="3858273"/>
              <a:ext cx="635498" cy="635498"/>
            </a:xfrm>
            <a:prstGeom prst="rect">
              <a:avLst/>
            </a:prstGeom>
          </p:spPr>
        </p:pic>
        <p:pic>
          <p:nvPicPr>
            <p:cNvPr id="3" name="Graphic 2" descr="Open folder with solid fill">
              <a:extLst>
                <a:ext uri="{FF2B5EF4-FFF2-40B4-BE49-F238E27FC236}">
                  <a16:creationId xmlns:a16="http://schemas.microsoft.com/office/drawing/2014/main" id="{19AFE98B-0231-E635-CFEC-37410252F4AA}"/>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8630768" y="3679638"/>
              <a:ext cx="587872" cy="587872"/>
            </a:xfrm>
            <a:prstGeom prst="rect">
              <a:avLst/>
            </a:prstGeom>
          </p:spPr>
        </p:pic>
      </p:grpSp>
    </p:spTree>
    <p:extLst>
      <p:ext uri="{BB962C8B-B14F-4D97-AF65-F5344CB8AC3E}">
        <p14:creationId xmlns:p14="http://schemas.microsoft.com/office/powerpoint/2010/main" val="106025978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2E8C1-C073-7BBD-B898-055875902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A0F35-77FD-6652-2197-2269FB234EC6}"/>
              </a:ext>
            </a:extLst>
          </p:cNvPr>
          <p:cNvSpPr>
            <a:spLocks noGrp="1"/>
          </p:cNvSpPr>
          <p:nvPr>
            <p:ph type="title"/>
          </p:nvPr>
        </p:nvSpPr>
        <p:spPr>
          <a:xfrm>
            <a:off x="588261" y="585216"/>
            <a:ext cx="11011601" cy="492443"/>
          </a:xfrm>
        </p:spPr>
        <p:txBody>
          <a:bodyPr/>
          <a:lstStyle/>
          <a:p>
            <a:r>
              <a:rPr lang="en-US" sz="3200" dirty="0"/>
              <a:t>Using the </a:t>
            </a:r>
            <a:r>
              <a:rPr lang="en-US" sz="3200"/>
              <a:t>Azure Speech </a:t>
            </a:r>
            <a:r>
              <a:rPr lang="en-US" sz="3200" dirty="0"/>
              <a:t>MCP server</a:t>
            </a:r>
          </a:p>
        </p:txBody>
      </p:sp>
      <p:sp>
        <p:nvSpPr>
          <p:cNvPr id="7" name="Footer Placeholder 6">
            <a:extLst>
              <a:ext uri="{FF2B5EF4-FFF2-40B4-BE49-F238E27FC236}">
                <a16:creationId xmlns:a16="http://schemas.microsoft.com/office/drawing/2014/main" id="{10244CCF-26CB-618A-2C09-A26BCA901C2C}"/>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9" name="Picture 8">
            <a:extLst>
              <a:ext uri="{FF2B5EF4-FFF2-40B4-BE49-F238E27FC236}">
                <a16:creationId xmlns:a16="http://schemas.microsoft.com/office/drawing/2014/main" id="{D5FA5C45-4A4C-AEBD-C8F1-19875E29AC6E}"/>
              </a:ext>
            </a:extLst>
          </p:cNvPr>
          <p:cNvPicPr>
            <a:picLocks noChangeAspect="1"/>
          </p:cNvPicPr>
          <p:nvPr/>
        </p:nvPicPr>
        <p:blipFill>
          <a:blip r:embed="rId3"/>
          <a:srcRect l="19735" t="12520" r="20119" b="11618"/>
          <a:stretch>
            <a:fillRect/>
          </a:stretch>
        </p:blipFill>
        <p:spPr>
          <a:xfrm>
            <a:off x="5813373" y="1664607"/>
            <a:ext cx="5590315" cy="3995963"/>
          </a:xfrm>
          <a:prstGeom prst="rect">
            <a:avLst/>
          </a:prstGeom>
          <a:ln>
            <a:solidFill>
              <a:schemeClr val="bg1">
                <a:lumMod val="95000"/>
              </a:schemeClr>
            </a:solidFill>
          </a:ln>
          <a:effectLst>
            <a:outerShdw blurRad="50800" dist="38100" dir="2700000" algn="tl" rotWithShape="0">
              <a:prstClr val="black">
                <a:alpha val="40000"/>
              </a:prstClr>
            </a:outerShdw>
          </a:effectLst>
        </p:spPr>
      </p:pic>
      <p:sp>
        <p:nvSpPr>
          <p:cNvPr id="10" name="Text Placeholder 4">
            <a:extLst>
              <a:ext uri="{FF2B5EF4-FFF2-40B4-BE49-F238E27FC236}">
                <a16:creationId xmlns:a16="http://schemas.microsoft.com/office/drawing/2014/main" id="{30230902-45A2-7AC4-F789-0CBA3F211A70}"/>
              </a:ext>
            </a:extLst>
          </p:cNvPr>
          <p:cNvSpPr txBox="1">
            <a:spLocks/>
          </p:cNvSpPr>
          <p:nvPr/>
        </p:nvSpPr>
        <p:spPr>
          <a:xfrm>
            <a:off x="584199" y="1606551"/>
            <a:ext cx="4430487" cy="4896640"/>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Segoe UI"/>
                <a:ea typeface="+mn-ea"/>
                <a:cs typeface="+mn-cs"/>
              </a:rPr>
              <a:t>Create an agent</a:t>
            </a: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Segoe UI"/>
                <a:ea typeface="+mn-ea"/>
                <a:cs typeface="+mn-cs"/>
              </a:rPr>
              <a:t>Connect the Azure Speech MCP Server tool</a:t>
            </a:r>
            <a:endParaRPr lang="en-US" sz="2200" dirty="0">
              <a:solidFill>
                <a:srgbClr val="000000"/>
              </a:solidFill>
              <a:latin typeface="Segoe UI"/>
            </a:endParaRPr>
          </a:p>
          <a:p>
            <a:pPr marL="398462" lvl="2" indent="0">
              <a:spcBef>
                <a:spcPts val="600"/>
              </a:spcBef>
              <a:spcAft>
                <a:spcPts val="400"/>
              </a:spcAft>
              <a:buSzPct val="100000"/>
              <a:buNone/>
            </a:pPr>
            <a:r>
              <a:rPr kumimoji="0" lang="en-US" sz="1800" b="0" i="0" u="none" strike="noStrike" kern="1200" cap="none" spc="0" normalizeH="0" baseline="0" noProof="0" dirty="0">
                <a:ln>
                  <a:noFill/>
                </a:ln>
                <a:solidFill>
                  <a:srgbClr val="000000"/>
                </a:solidFill>
                <a:effectLst/>
                <a:uLnTx/>
                <a:uFillTx/>
                <a:latin typeface="Segoe UI"/>
                <a:ea typeface="+mn-ea"/>
                <a:cs typeface="+mn-cs"/>
              </a:rPr>
              <a:t>Requires an Azur</a:t>
            </a:r>
            <a:r>
              <a:rPr lang="en-US" sz="1800" dirty="0">
                <a:solidFill>
                  <a:srgbClr val="000000"/>
                </a:solidFill>
                <a:latin typeface="Segoe UI"/>
              </a:rPr>
              <a:t>e Storage container SAS URL</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Segoe UI"/>
                <a:ea typeface="+mn-ea"/>
                <a:cs typeface="+mn-cs"/>
              </a:rPr>
              <a:t>Specify agent instructions to select the tool when appropriate</a:t>
            </a: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Segoe UI"/>
                <a:ea typeface="+mn-ea"/>
                <a:cs typeface="+mn-cs"/>
              </a:rPr>
              <a:t>Test in the agent playground</a:t>
            </a: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Segoe UI"/>
                <a:ea typeface="+mn-ea"/>
                <a:cs typeface="+mn-cs"/>
              </a:rPr>
              <a:t>Build a client application that uses the agent</a:t>
            </a: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endParaRPr kumimoji="0" lang="en-US" sz="2200" b="0" i="0" u="none" strike="noStrike" kern="1200" cap="none" spc="0" normalizeH="0" baseline="0" noProof="0" dirty="0">
              <a:ln>
                <a:noFill/>
              </a:ln>
              <a:solidFill>
                <a:srgbClr val="000000"/>
              </a:solidFill>
              <a:effectLst/>
              <a:uLnTx/>
              <a:uFillTx/>
              <a:latin typeface="Segoe UI"/>
              <a:ea typeface="+mn-ea"/>
              <a:cs typeface="+mn-cs"/>
            </a:endParaRP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endParaRPr kumimoji="0" lang="en-US" sz="2200" b="0" i="0" u="none" strike="noStrike" kern="1200" cap="none" spc="0" normalizeH="0" baseline="0" noProof="0" dirty="0">
              <a:ln>
                <a:noFill/>
              </a:ln>
              <a:solidFill>
                <a:srgbClr val="000000"/>
              </a:solidFill>
              <a:effectLst/>
              <a:uLnTx/>
              <a:uFillTx/>
              <a:latin typeface="Segoe UI"/>
              <a:ea typeface="+mn-ea"/>
              <a:cs typeface="+mn-cs"/>
            </a:endParaRPr>
          </a:p>
          <a:p>
            <a:pPr marL="446278" marR="0" lvl="1" indent="-457200" algn="l" defTabSz="932742" rtl="0" eaLnBrk="1" fontAlgn="auto" latinLnBrk="0" hangingPunct="1">
              <a:lnSpc>
                <a:spcPct val="100000"/>
              </a:lnSpc>
              <a:spcBef>
                <a:spcPts val="600"/>
              </a:spcBef>
              <a:spcAft>
                <a:spcPts val="400"/>
              </a:spcAft>
              <a:buClrTx/>
              <a:buSzPct val="100000"/>
              <a:buFont typeface="+mj-lt"/>
              <a:buAutoNum type="arabicPeriod"/>
              <a:tabLst/>
              <a:defRPr/>
            </a:pPr>
            <a:endParaRPr kumimoji="0" lang="en-US" sz="2200" b="0" i="0" u="none" strike="noStrike" kern="1200" cap="none" spc="0" normalizeH="0" baseline="0" noProof="0" dirty="0">
              <a:ln>
                <a:noFill/>
              </a:ln>
              <a:solidFill>
                <a:srgbClr val="000000"/>
              </a:solidFill>
              <a:effectLst/>
              <a:uLnTx/>
              <a:uFillTx/>
              <a:latin typeface="Segoe UI"/>
              <a:ea typeface="+mn-ea"/>
              <a:cs typeface="+mn-cs"/>
            </a:endParaRPr>
          </a:p>
          <a:p>
            <a:pPr marL="565150" marR="0" lvl="2" indent="-457200" algn="l" defTabSz="932742" rtl="0" eaLnBrk="1" fontAlgn="auto" latinLnBrk="0" hangingPunct="1">
              <a:lnSpc>
                <a:spcPct val="100000"/>
              </a:lnSpc>
              <a:spcBef>
                <a:spcPts val="200"/>
              </a:spcBef>
              <a:spcAft>
                <a:spcPts val="400"/>
              </a:spcAft>
              <a:buClrTx/>
              <a:buSzPct val="100000"/>
              <a:buFont typeface="+mj-lt"/>
              <a:buAutoNum type="arabicPeriod"/>
              <a:tabLst/>
              <a:defRPr/>
            </a:pPr>
            <a:endParaRPr kumimoji="0" lang="en-US" sz="2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2172959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5295-1A35-101D-049E-3A93364F22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8CB477-9CCA-3205-D84D-341BBF0DA2B9}"/>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B8533215-7516-2751-A8F9-F0B34A421CE3}"/>
              </a:ext>
            </a:extLst>
          </p:cNvPr>
          <p:cNvSpPr>
            <a:spLocks noGrp="1"/>
          </p:cNvSpPr>
          <p:nvPr>
            <p:ph type="body" sz="quarter" idx="16"/>
          </p:nvPr>
        </p:nvSpPr>
        <p:spPr>
          <a:xfrm>
            <a:off x="584199" y="1594155"/>
            <a:ext cx="5654573" cy="307777"/>
          </a:xfrm>
        </p:spPr>
        <p:txBody>
          <a:bodyPr/>
          <a:lstStyle/>
          <a:p>
            <a:r>
              <a:rPr lang="en-US" sz="2000" dirty="0"/>
              <a:t>Use Azure Speech in an agent</a:t>
            </a:r>
          </a:p>
        </p:txBody>
      </p:sp>
      <p:sp>
        <p:nvSpPr>
          <p:cNvPr id="6" name="Text Placeholder 5">
            <a:extLst>
              <a:ext uri="{FF2B5EF4-FFF2-40B4-BE49-F238E27FC236}">
                <a16:creationId xmlns:a16="http://schemas.microsoft.com/office/drawing/2014/main" id="{F64B9E51-5ED2-9E72-A7B5-539CC078CEAA}"/>
              </a:ext>
            </a:extLst>
          </p:cNvPr>
          <p:cNvSpPr>
            <a:spLocks noGrp="1"/>
          </p:cNvSpPr>
          <p:nvPr>
            <p:ph type="body" sz="quarter" idx="15"/>
          </p:nvPr>
        </p:nvSpPr>
        <p:spPr>
          <a:xfrm>
            <a:off x="586389" y="2085764"/>
            <a:ext cx="5652201" cy="1280351"/>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Create an agent in Microsoft Foundry</a:t>
            </a:r>
          </a:p>
          <a:p>
            <a:pPr defTabSz="914367">
              <a:spcBef>
                <a:spcPts val="0"/>
              </a:spcBef>
              <a:buSzTx/>
              <a:defRPr/>
            </a:pPr>
            <a:r>
              <a:rPr lang="en-US" dirty="0"/>
              <a:t>Add and test the Azure Speech MCP tool</a:t>
            </a:r>
          </a:p>
          <a:p>
            <a:pPr defTabSz="914367">
              <a:spcBef>
                <a:spcPts val="0"/>
              </a:spcBef>
              <a:buSzTx/>
              <a:defRPr/>
            </a:pPr>
            <a:r>
              <a:rPr lang="en-US" dirty="0"/>
              <a:t>Create a client application for the agent</a:t>
            </a:r>
          </a:p>
          <a:p>
            <a:endParaRPr lang="en-US" dirty="0"/>
          </a:p>
        </p:txBody>
      </p:sp>
      <p:sp>
        <p:nvSpPr>
          <p:cNvPr id="10" name="TextBox 9">
            <a:extLst>
              <a:ext uri="{FF2B5EF4-FFF2-40B4-BE49-F238E27FC236}">
                <a16:creationId xmlns:a16="http://schemas.microsoft.com/office/drawing/2014/main" id="{F56C33C6-EC00-BA58-1465-562D316CB246}"/>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https://go.microsoft.com/fwlink/?linkid=2356519</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076B08FD-B53B-526E-911E-CEECC4289331}"/>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DACC4B77-4D60-656C-D687-98F1C279CA7F}"/>
              </a:ext>
              <a:ext uri="{C183D7F6-B498-43B3-948B-1728B52AA6E4}">
                <adec:decorative xmlns:adec="http://schemas.microsoft.com/office/drawing/2017/decorative" val="1"/>
              </a:ext>
            </a:extLst>
          </p:cNvPr>
          <p:cNvPicPr>
            <a:picLocks noChangeAspect="1"/>
          </p:cNvPicPr>
          <p:nvPr/>
        </p:nvPicPr>
        <p:blipFill>
          <a:blip r:embed="rId4"/>
          <a:srcRect l="11036" r="11036"/>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1840DEE6-7BBE-A067-3DBB-2178403E2A3A}"/>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196466844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7E86-008F-B0D5-2BA0-1DB3CE476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5250F-9600-BBFB-EBBA-5C23262BCEC5}"/>
              </a:ext>
            </a:extLst>
          </p:cNvPr>
          <p:cNvSpPr>
            <a:spLocks noGrp="1"/>
          </p:cNvSpPr>
          <p:nvPr>
            <p:ph type="title"/>
          </p:nvPr>
        </p:nvSpPr>
        <p:spPr>
          <a:xfrm>
            <a:off x="588262" y="585216"/>
            <a:ext cx="8193024" cy="369332"/>
          </a:xfrm>
        </p:spPr>
        <p:txBody>
          <a:bodyPr/>
          <a:lstStyle/>
          <a:p>
            <a:r>
              <a:rPr lang="en-US" dirty="0"/>
              <a:t>Knowledge check</a:t>
            </a:r>
          </a:p>
        </p:txBody>
      </p:sp>
      <p:sp>
        <p:nvSpPr>
          <p:cNvPr id="27" name="Text Placeholder 26">
            <a:extLst>
              <a:ext uri="{FF2B5EF4-FFF2-40B4-BE49-F238E27FC236}">
                <a16:creationId xmlns:a16="http://schemas.microsoft.com/office/drawing/2014/main" id="{9EE76C72-F0B0-7BBB-4917-4F70B5284A1A}"/>
              </a:ext>
            </a:extLst>
          </p:cNvPr>
          <p:cNvSpPr>
            <a:spLocks noGrp="1"/>
          </p:cNvSpPr>
          <p:nvPr>
            <p:ph type="body" sz="quarter" idx="17"/>
          </p:nvPr>
        </p:nvSpPr>
        <p:spPr>
          <a:xfrm>
            <a:off x="1235075" y="1726004"/>
            <a:ext cx="8778782" cy="246221"/>
          </a:xfrm>
        </p:spPr>
        <p:txBody>
          <a:bodyPr/>
          <a:lstStyle/>
          <a:p>
            <a:r>
              <a:rPr lang="en-US" sz="1600" dirty="0"/>
              <a:t>What two core capabilities does the Azure Speech MCP server expose to agents?</a:t>
            </a:r>
          </a:p>
        </p:txBody>
      </p:sp>
      <p:sp>
        <p:nvSpPr>
          <p:cNvPr id="26" name="Text Placeholder 25">
            <a:extLst>
              <a:ext uri="{FF2B5EF4-FFF2-40B4-BE49-F238E27FC236}">
                <a16:creationId xmlns:a16="http://schemas.microsoft.com/office/drawing/2014/main" id="{E8FE713B-B9CB-FC0E-CC4F-A08BB6B2039F}"/>
              </a:ext>
            </a:extLst>
          </p:cNvPr>
          <p:cNvSpPr>
            <a:spLocks noGrp="1"/>
          </p:cNvSpPr>
          <p:nvPr>
            <p:ph type="body" sz="quarter" idx="15"/>
          </p:nvPr>
        </p:nvSpPr>
        <p:spPr>
          <a:xfrm>
            <a:off x="1236663" y="2114482"/>
            <a:ext cx="8775700" cy="732508"/>
          </a:xfrm>
        </p:spPr>
        <p:txBody>
          <a:bodyPr/>
          <a:lstStyle/>
          <a:p>
            <a:r>
              <a:rPr lang="en-US" dirty="0"/>
              <a:t>Language translation and text summarization</a:t>
            </a:r>
          </a:p>
          <a:p>
            <a:r>
              <a:rPr lang="en-US" dirty="0"/>
              <a:t>Speech-to-text recognition and text-to-speech synthesis</a:t>
            </a:r>
          </a:p>
          <a:p>
            <a:r>
              <a:rPr lang="en-US" dirty="0"/>
              <a:t>Named entity recognition and sentiment analysis</a:t>
            </a:r>
          </a:p>
        </p:txBody>
      </p:sp>
      <p:sp>
        <p:nvSpPr>
          <p:cNvPr id="5" name="Graphic 26" descr="Checkmark">
            <a:extLst>
              <a:ext uri="{FF2B5EF4-FFF2-40B4-BE49-F238E27FC236}">
                <a16:creationId xmlns:a16="http://schemas.microsoft.com/office/drawing/2014/main" id="{2F46302A-5115-3F55-4712-020BD330087D}"/>
              </a:ext>
            </a:extLst>
          </p:cNvPr>
          <p:cNvSpPr/>
          <p:nvPr/>
        </p:nvSpPr>
        <p:spPr>
          <a:xfrm>
            <a:off x="1266510" y="2426788"/>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0" name="Text Placeholder 29">
            <a:extLst>
              <a:ext uri="{FF2B5EF4-FFF2-40B4-BE49-F238E27FC236}">
                <a16:creationId xmlns:a16="http://schemas.microsoft.com/office/drawing/2014/main" id="{AF72933D-98E2-DA74-576A-BD7B93224DED}"/>
              </a:ext>
            </a:extLst>
          </p:cNvPr>
          <p:cNvSpPr>
            <a:spLocks noGrp="1"/>
          </p:cNvSpPr>
          <p:nvPr>
            <p:ph type="body" sz="quarter" idx="22"/>
          </p:nvPr>
        </p:nvSpPr>
        <p:spPr>
          <a:xfrm>
            <a:off x="1235075" y="3166304"/>
            <a:ext cx="8778782" cy="246221"/>
          </a:xfrm>
        </p:spPr>
        <p:txBody>
          <a:bodyPr/>
          <a:lstStyle/>
          <a:p>
            <a:r>
              <a:rPr lang="en-US" sz="1600" dirty="0"/>
              <a:t>Why does the Azure Speech MCP server require an Azure Storage account?</a:t>
            </a:r>
          </a:p>
        </p:txBody>
      </p:sp>
      <p:sp>
        <p:nvSpPr>
          <p:cNvPr id="31" name="Text Placeholder 30">
            <a:extLst>
              <a:ext uri="{FF2B5EF4-FFF2-40B4-BE49-F238E27FC236}">
                <a16:creationId xmlns:a16="http://schemas.microsoft.com/office/drawing/2014/main" id="{383C4580-E41E-05E0-7C40-B59281F98917}"/>
              </a:ext>
            </a:extLst>
          </p:cNvPr>
          <p:cNvSpPr>
            <a:spLocks noGrp="1"/>
          </p:cNvSpPr>
          <p:nvPr>
            <p:ph type="body" sz="quarter" idx="23"/>
          </p:nvPr>
        </p:nvSpPr>
        <p:spPr>
          <a:xfrm>
            <a:off x="1235075" y="3546377"/>
            <a:ext cx="8775700" cy="732508"/>
          </a:xfrm>
        </p:spPr>
        <p:txBody>
          <a:bodyPr/>
          <a:lstStyle/>
          <a:p>
            <a:r>
              <a:rPr lang="en-US" dirty="0"/>
              <a:t>To store the agent's instructions and configuration settings</a:t>
            </a:r>
          </a:p>
          <a:p>
            <a:r>
              <a:rPr lang="en-US" dirty="0"/>
              <a:t>To store input audio files and output audio files generated by the speech tools</a:t>
            </a:r>
          </a:p>
          <a:p>
            <a:r>
              <a:rPr lang="en-US" dirty="0"/>
              <a:t>To cache the MCP server's tool definitions for faster discovery</a:t>
            </a:r>
          </a:p>
        </p:txBody>
      </p:sp>
      <p:sp>
        <p:nvSpPr>
          <p:cNvPr id="42" name="Graphic 26" descr="Checkmark">
            <a:extLst>
              <a:ext uri="{FF2B5EF4-FFF2-40B4-BE49-F238E27FC236}">
                <a16:creationId xmlns:a16="http://schemas.microsoft.com/office/drawing/2014/main" id="{4AA85E5C-F620-B467-32CC-0B244870A30C}"/>
              </a:ext>
            </a:extLst>
          </p:cNvPr>
          <p:cNvSpPr/>
          <p:nvPr/>
        </p:nvSpPr>
        <p:spPr>
          <a:xfrm>
            <a:off x="1266510" y="3870564"/>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28" name="Text Placeholder 27">
            <a:extLst>
              <a:ext uri="{FF2B5EF4-FFF2-40B4-BE49-F238E27FC236}">
                <a16:creationId xmlns:a16="http://schemas.microsoft.com/office/drawing/2014/main" id="{06FF6F0F-2EB6-31F8-428A-72E0C00D1BB5}"/>
              </a:ext>
            </a:extLst>
          </p:cNvPr>
          <p:cNvSpPr>
            <a:spLocks noGrp="1"/>
          </p:cNvSpPr>
          <p:nvPr>
            <p:ph type="body" sz="quarter" idx="20"/>
          </p:nvPr>
        </p:nvSpPr>
        <p:spPr>
          <a:xfrm>
            <a:off x="1235075" y="4585680"/>
            <a:ext cx="8778782" cy="492443"/>
          </a:xfrm>
        </p:spPr>
        <p:txBody>
          <a:bodyPr/>
          <a:lstStyle/>
          <a:p>
            <a:r>
              <a:rPr lang="en-US" sz="1600" dirty="0"/>
              <a:t>What credentials are needed when connecting the Azure Speech MCP server to a Foundry agent?</a:t>
            </a:r>
          </a:p>
        </p:txBody>
      </p:sp>
      <p:sp>
        <p:nvSpPr>
          <p:cNvPr id="29" name="Text Placeholder 28">
            <a:extLst>
              <a:ext uri="{FF2B5EF4-FFF2-40B4-BE49-F238E27FC236}">
                <a16:creationId xmlns:a16="http://schemas.microsoft.com/office/drawing/2014/main" id="{721FDFA6-615A-C352-ACE9-B1E9F47DFF11}"/>
              </a:ext>
            </a:extLst>
          </p:cNvPr>
          <p:cNvSpPr>
            <a:spLocks noGrp="1"/>
          </p:cNvSpPr>
          <p:nvPr>
            <p:ph type="body" sz="quarter" idx="21"/>
          </p:nvPr>
        </p:nvSpPr>
        <p:spPr>
          <a:xfrm>
            <a:off x="1235075" y="5134196"/>
            <a:ext cx="8775700" cy="732508"/>
          </a:xfrm>
        </p:spPr>
        <p:txBody>
          <a:bodyPr/>
          <a:lstStyle/>
          <a:p>
            <a:r>
              <a:rPr lang="en-US" sz="1400" dirty="0"/>
              <a:t>An OAuth 2.0 token and a managed identity endpoint URL</a:t>
            </a:r>
          </a:p>
          <a:p>
            <a:r>
              <a:rPr lang="en-US" sz="1400" dirty="0"/>
              <a:t>A Foundry resource key and a SAS URL for a blob container</a:t>
            </a:r>
          </a:p>
          <a:p>
            <a:r>
              <a:rPr lang="en-US" sz="1400" dirty="0"/>
              <a:t>A client certificate and the Azure subscription ID</a:t>
            </a:r>
          </a:p>
        </p:txBody>
      </p:sp>
      <p:sp>
        <p:nvSpPr>
          <p:cNvPr id="43" name="Graphic 26" descr="Checkmark">
            <a:extLst>
              <a:ext uri="{FF2B5EF4-FFF2-40B4-BE49-F238E27FC236}">
                <a16:creationId xmlns:a16="http://schemas.microsoft.com/office/drawing/2014/main" id="{E14E377B-A61B-C7AD-A615-C5C84A2B7A58}"/>
              </a:ext>
            </a:extLst>
          </p:cNvPr>
          <p:cNvSpPr/>
          <p:nvPr/>
        </p:nvSpPr>
        <p:spPr>
          <a:xfrm>
            <a:off x="1266510" y="542393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 name="Footer Placeholder 2">
            <a:extLst>
              <a:ext uri="{FF2B5EF4-FFF2-40B4-BE49-F238E27FC236}">
                <a16:creationId xmlns:a16="http://schemas.microsoft.com/office/drawing/2014/main" id="{56E61423-D4B0-DF82-F08E-67E87F49D2D8}"/>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Oval 3">
            <a:extLst>
              <a:ext uri="{FF2B5EF4-FFF2-40B4-BE49-F238E27FC236}">
                <a16:creationId xmlns:a16="http://schemas.microsoft.com/office/drawing/2014/main" id="{C7574B71-F6FC-5D24-52BD-214AAFADA30D}"/>
              </a:ext>
              <a:ext uri="{C183D7F6-B498-43B3-948B-1728B52AA6E4}">
                <adec:decorative xmlns:adec="http://schemas.microsoft.com/office/drawing/2017/decorative" val="1"/>
              </a:ext>
            </a:extLst>
          </p:cNvPr>
          <p:cNvSpPr>
            <a:spLocks/>
          </p:cNvSpPr>
          <p:nvPr/>
        </p:nvSpPr>
        <p:spPr bwMode="auto">
          <a:xfrm>
            <a:off x="722582" y="1640768"/>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endParaRPr kumimoji="0" lang="en-IN" sz="1800" b="1" i="0" u="none" strike="noStrike" cap="none" spc="0" normalizeH="0" baseline="0" noProof="0" dirty="0">
              <a:ln>
                <a:noFill/>
              </a:ln>
              <a:solidFill>
                <a:schemeClr val="tx1"/>
              </a:solidFill>
              <a:effectLst/>
              <a:uLnTx/>
              <a:uFillTx/>
            </a:endParaRPr>
          </a:p>
        </p:txBody>
      </p:sp>
      <p:sp>
        <p:nvSpPr>
          <p:cNvPr id="6" name="Oval 5">
            <a:extLst>
              <a:ext uri="{FF2B5EF4-FFF2-40B4-BE49-F238E27FC236}">
                <a16:creationId xmlns:a16="http://schemas.microsoft.com/office/drawing/2014/main" id="{2DFE319B-C07A-B82A-DF6A-68C5C978855C}"/>
              </a:ext>
              <a:ext uri="{C183D7F6-B498-43B3-948B-1728B52AA6E4}">
                <adec:decorative xmlns:adec="http://schemas.microsoft.com/office/drawing/2017/decorative" val="1"/>
              </a:ext>
            </a:extLst>
          </p:cNvPr>
          <p:cNvSpPr>
            <a:spLocks/>
          </p:cNvSpPr>
          <p:nvPr/>
        </p:nvSpPr>
        <p:spPr bwMode="auto">
          <a:xfrm>
            <a:off x="722582" y="30893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endParaRPr kumimoji="0" lang="en-IN" sz="1800" b="1" i="0" u="none" strike="noStrike" cap="none" spc="0" normalizeH="0" baseline="0" noProof="0" dirty="0">
              <a:ln>
                <a:noFill/>
              </a:ln>
              <a:solidFill>
                <a:schemeClr val="tx1"/>
              </a:solidFill>
              <a:effectLst/>
              <a:uLnTx/>
              <a:uFillTx/>
            </a:endParaRPr>
          </a:p>
        </p:txBody>
      </p:sp>
      <p:sp>
        <p:nvSpPr>
          <p:cNvPr id="7" name="Oval 6">
            <a:extLst>
              <a:ext uri="{FF2B5EF4-FFF2-40B4-BE49-F238E27FC236}">
                <a16:creationId xmlns:a16="http://schemas.microsoft.com/office/drawing/2014/main" id="{E64D9D03-869C-43DD-C0DB-FF4CB18B4E9B}"/>
              </a:ext>
              <a:ext uri="{C183D7F6-B498-43B3-948B-1728B52AA6E4}">
                <adec:decorative xmlns:adec="http://schemas.microsoft.com/office/drawing/2017/decorative" val="1"/>
              </a:ext>
            </a:extLst>
          </p:cNvPr>
          <p:cNvSpPr>
            <a:spLocks/>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1689891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P spid="4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359BA-603E-33C4-39E2-95387B74E2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E38A5F-3CE9-85BD-7BE8-63140BF1F087}"/>
              </a:ext>
            </a:extLst>
          </p:cNvPr>
          <p:cNvSpPr>
            <a:spLocks noGrp="1"/>
          </p:cNvSpPr>
          <p:nvPr>
            <p:ph type="title"/>
          </p:nvPr>
        </p:nvSpPr>
        <p:spPr>
          <a:xfrm>
            <a:off x="569911" y="2153504"/>
            <a:ext cx="7086375" cy="1846659"/>
          </a:xfrm>
        </p:spPr>
        <p:txBody>
          <a:bodyPr/>
          <a:lstStyle/>
          <a:p>
            <a:r>
              <a:rPr lang="en-US" dirty="0"/>
              <a:t>Develop an Azure Speech Voice Live Agent in Microsoft Foundry</a:t>
            </a:r>
          </a:p>
        </p:txBody>
      </p:sp>
      <p:sp>
        <p:nvSpPr>
          <p:cNvPr id="2" name="Footer Placeholder 1">
            <a:extLst>
              <a:ext uri="{FF2B5EF4-FFF2-40B4-BE49-F238E27FC236}">
                <a16:creationId xmlns:a16="http://schemas.microsoft.com/office/drawing/2014/main" id="{986548D1-115F-C612-DECA-0ACBBFDFCF43}"/>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3" name="TextBox 2">
            <a:extLst>
              <a:ext uri="{FF2B5EF4-FFF2-40B4-BE49-F238E27FC236}">
                <a16:creationId xmlns:a16="http://schemas.microsoft.com/office/drawing/2014/main" id="{BC48A030-6EB7-971F-1104-50599C6AA77B}"/>
              </a:ext>
            </a:extLst>
          </p:cNvPr>
          <p:cNvSpPr txBox="1"/>
          <p:nvPr/>
        </p:nvSpPr>
        <p:spPr>
          <a:xfrm>
            <a:off x="478471" y="4000163"/>
            <a:ext cx="5879298" cy="363946"/>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0" normalizeH="0" baseline="0" noProof="0" dirty="0">
                <a:ln>
                  <a:noFill/>
                </a:ln>
                <a:solidFill>
                  <a:srgbClr val="BF3AC4"/>
                </a:solidFill>
                <a:effectLst/>
                <a:uLnTx/>
                <a:uFillTx/>
                <a:latin typeface="Segoe UI"/>
                <a:ea typeface="+mn-ea"/>
                <a:cs typeface="+mn-cs"/>
              </a:rPr>
              <a:t>https://aka.ms/mslearn-voice-live-agent</a:t>
            </a:r>
          </a:p>
        </p:txBody>
      </p:sp>
    </p:spTree>
    <p:extLst>
      <p:ext uri="{BB962C8B-B14F-4D97-AF65-F5344CB8AC3E}">
        <p14:creationId xmlns:p14="http://schemas.microsoft.com/office/powerpoint/2010/main" val="2783828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79">
            <a:extLst>
              <a:ext uri="{FF2B5EF4-FFF2-40B4-BE49-F238E27FC236}">
                <a16:creationId xmlns:a16="http://schemas.microsoft.com/office/drawing/2014/main" id="{833C43F5-8E52-0501-9C28-58D486011F2E}"/>
              </a:ext>
            </a:extLst>
          </p:cNvPr>
          <p:cNvSpPr>
            <a:spLocks noGrp="1"/>
          </p:cNvSpPr>
          <p:nvPr>
            <p:ph type="title"/>
          </p:nvPr>
        </p:nvSpPr>
        <p:spPr>
          <a:xfrm>
            <a:off x="588262" y="585216"/>
            <a:ext cx="8193024" cy="492443"/>
          </a:xfrm>
        </p:spPr>
        <p:txBody>
          <a:bodyPr/>
          <a:lstStyle/>
          <a:p>
            <a:r>
              <a:rPr lang="en-US" sz="3200" dirty="0"/>
              <a:t>Azure Speech Voice Live</a:t>
            </a:r>
          </a:p>
        </p:txBody>
      </p:sp>
      <p:sp>
        <p:nvSpPr>
          <p:cNvPr id="3" name="Footer Placeholder 2">
            <a:extLst>
              <a:ext uri="{FF2B5EF4-FFF2-40B4-BE49-F238E27FC236}">
                <a16:creationId xmlns:a16="http://schemas.microsoft.com/office/drawing/2014/main" id="{26D31B6B-B998-744D-5E59-D6448D8B9F5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7" name="Graphic 6" descr="Chat with solid fill">
            <a:extLst>
              <a:ext uri="{FF2B5EF4-FFF2-40B4-BE49-F238E27FC236}">
                <a16:creationId xmlns:a16="http://schemas.microsoft.com/office/drawing/2014/main" id="{FC35F07F-8A39-6E9F-3DF9-7EE4918126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14558" y="2659758"/>
            <a:ext cx="1201057" cy="1201057"/>
          </a:xfrm>
          <a:prstGeom prst="rect">
            <a:avLst/>
          </a:prstGeom>
        </p:spPr>
      </p:pic>
      <p:grpSp>
        <p:nvGrpSpPr>
          <p:cNvPr id="25" name="Group 24">
            <a:extLst>
              <a:ext uri="{FF2B5EF4-FFF2-40B4-BE49-F238E27FC236}">
                <a16:creationId xmlns:a16="http://schemas.microsoft.com/office/drawing/2014/main" id="{11E95D2A-1974-D861-DF95-018B22E960B3}"/>
              </a:ext>
            </a:extLst>
          </p:cNvPr>
          <p:cNvGrpSpPr/>
          <p:nvPr/>
        </p:nvGrpSpPr>
        <p:grpSpPr>
          <a:xfrm>
            <a:off x="8844691" y="4157592"/>
            <a:ext cx="1432978" cy="1432977"/>
            <a:chOff x="10521113" y="3976905"/>
            <a:chExt cx="2099670" cy="2099670"/>
          </a:xfrm>
        </p:grpSpPr>
        <p:grpSp>
          <p:nvGrpSpPr>
            <p:cNvPr id="33" name="Group 32">
              <a:extLst>
                <a:ext uri="{FF2B5EF4-FFF2-40B4-BE49-F238E27FC236}">
                  <a16:creationId xmlns:a16="http://schemas.microsoft.com/office/drawing/2014/main" id="{6D172176-DB4E-55F8-1B35-F0ADFEB39963}"/>
                </a:ext>
              </a:extLst>
            </p:cNvPr>
            <p:cNvGrpSpPr/>
            <p:nvPr/>
          </p:nvGrpSpPr>
          <p:grpSpPr>
            <a:xfrm>
              <a:off x="10521113" y="3976905"/>
              <a:ext cx="2099670" cy="2099670"/>
              <a:chOff x="1491914" y="3563162"/>
              <a:chExt cx="1686910" cy="1686910"/>
            </a:xfrm>
          </p:grpSpPr>
          <p:sp>
            <p:nvSpPr>
              <p:cNvPr id="40" name="Rectangle 39">
                <a:extLst>
                  <a:ext uri="{FF2B5EF4-FFF2-40B4-BE49-F238E27FC236}">
                    <a16:creationId xmlns:a16="http://schemas.microsoft.com/office/drawing/2014/main" id="{663F5558-4DF0-EAC5-D204-49427715EE80}"/>
                  </a:ext>
                </a:extLst>
              </p:cNvPr>
              <p:cNvSpPr/>
              <p:nvPr/>
            </p:nvSpPr>
            <p:spPr>
              <a:xfrm>
                <a:off x="2130417" y="3899339"/>
                <a:ext cx="438843" cy="628662"/>
              </a:xfrm>
              <a:prstGeom prst="rect">
                <a:avLst/>
              </a:prstGeom>
              <a:solidFill>
                <a:srgbClr val="FFCCCC"/>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41" name="Rectangle 40">
                <a:extLst>
                  <a:ext uri="{FF2B5EF4-FFF2-40B4-BE49-F238E27FC236}">
                    <a16:creationId xmlns:a16="http://schemas.microsoft.com/office/drawing/2014/main" id="{9BBBC920-D458-C498-5BD1-1A5AC232585A}"/>
                  </a:ext>
                </a:extLst>
              </p:cNvPr>
              <p:cNvSpPr/>
              <p:nvPr/>
            </p:nvSpPr>
            <p:spPr>
              <a:xfrm>
                <a:off x="2102069" y="4580468"/>
                <a:ext cx="409903" cy="506539"/>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42" name="Graphic 41" descr="Office worker female with solid fill">
                <a:extLst>
                  <a:ext uri="{FF2B5EF4-FFF2-40B4-BE49-F238E27FC236}">
                    <a16:creationId xmlns:a16="http://schemas.microsoft.com/office/drawing/2014/main" id="{E6693BFA-436C-86B5-7A39-A120136E73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1914" y="3563162"/>
                <a:ext cx="1686910" cy="1686910"/>
              </a:xfrm>
              <a:prstGeom prst="rect">
                <a:avLst/>
              </a:prstGeom>
            </p:spPr>
          </p:pic>
          <p:pic>
            <p:nvPicPr>
              <p:cNvPr id="43" name="Graphic 42" descr="Office worker female with solid fill">
                <a:extLst>
                  <a:ext uri="{FF2B5EF4-FFF2-40B4-BE49-F238E27FC236}">
                    <a16:creationId xmlns:a16="http://schemas.microsoft.com/office/drawing/2014/main" id="{CF6CA9BA-3E80-AFC0-9AD9-71E9ADB3168E}"/>
                  </a:ext>
                </a:extLst>
              </p:cNvPr>
              <p:cNvPicPr>
                <a:picLocks noChangeAspect="1"/>
              </p:cNvPicPr>
              <p:nvPr/>
            </p:nvPicPr>
            <p:blipFill>
              <a:blip>
                <a:extLst>
                  <a:ext uri="{96DAC541-7B7A-43D3-8B79-37D633B846F1}">
                    <asvg:svgBlip xmlns:asvg="http://schemas.microsoft.com/office/drawing/2016/SVG/main" r:embed="rId5"/>
                  </a:ext>
                </a:extLst>
              </a:blip>
              <a:srcRect b="47789"/>
              <a:stretch>
                <a:fillRect/>
              </a:stretch>
            </p:blipFill>
            <p:spPr>
              <a:xfrm>
                <a:off x="1491914" y="3563162"/>
                <a:ext cx="1686910" cy="880758"/>
              </a:xfrm>
              <a:prstGeom prst="rect">
                <a:avLst/>
              </a:prstGeom>
            </p:spPr>
          </p:pic>
        </p:grpSp>
        <p:sp>
          <p:nvSpPr>
            <p:cNvPr id="34" name="Rectangle: Rounded Corners 33">
              <a:extLst>
                <a:ext uri="{FF2B5EF4-FFF2-40B4-BE49-F238E27FC236}">
                  <a16:creationId xmlns:a16="http://schemas.microsoft.com/office/drawing/2014/main" id="{CF39AC5E-478E-6C6D-7864-320402B25D03}"/>
                </a:ext>
              </a:extLst>
            </p:cNvPr>
            <p:cNvSpPr/>
            <p:nvPr/>
          </p:nvSpPr>
          <p:spPr>
            <a:xfrm>
              <a:off x="11086623" y="5347785"/>
              <a:ext cx="1010689" cy="690063"/>
            </a:xfrm>
            <a:prstGeom prst="roundRect">
              <a:avLst>
                <a:gd name="adj" fmla="val 7594"/>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35" name="Group 34">
              <a:extLst>
                <a:ext uri="{FF2B5EF4-FFF2-40B4-BE49-F238E27FC236}">
                  <a16:creationId xmlns:a16="http://schemas.microsoft.com/office/drawing/2014/main" id="{24570E88-F909-ADB1-0B14-48DFDA800EB5}"/>
                </a:ext>
              </a:extLst>
            </p:cNvPr>
            <p:cNvGrpSpPr/>
            <p:nvPr/>
          </p:nvGrpSpPr>
          <p:grpSpPr>
            <a:xfrm>
              <a:off x="11510972" y="5603112"/>
              <a:ext cx="197934" cy="197934"/>
              <a:chOff x="8716215" y="1027821"/>
              <a:chExt cx="232631" cy="232631"/>
            </a:xfrm>
          </p:grpSpPr>
          <p:sp>
            <p:nvSpPr>
              <p:cNvPr id="36" name="Rectangle 35">
                <a:extLst>
                  <a:ext uri="{FF2B5EF4-FFF2-40B4-BE49-F238E27FC236}">
                    <a16:creationId xmlns:a16="http://schemas.microsoft.com/office/drawing/2014/main" id="{A4BF2BB4-0234-FDDA-01BD-AFD8B3182405}"/>
                  </a:ext>
                </a:extLst>
              </p:cNvPr>
              <p:cNvSpPr/>
              <p:nvPr/>
            </p:nvSpPr>
            <p:spPr>
              <a:xfrm>
                <a:off x="8716215"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E056B849-A8CE-AC8E-C9C6-545EAD9B9389}"/>
                  </a:ext>
                </a:extLst>
              </p:cNvPr>
              <p:cNvSpPr/>
              <p:nvPr/>
            </p:nvSpPr>
            <p:spPr>
              <a:xfrm>
                <a:off x="8839354" y="1027821"/>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4C155FF4-C774-FAA5-665C-730B89BAD8A0}"/>
                  </a:ext>
                </a:extLst>
              </p:cNvPr>
              <p:cNvSpPr/>
              <p:nvPr/>
            </p:nvSpPr>
            <p:spPr>
              <a:xfrm>
                <a:off x="8716215"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9" name="Rectangle 38">
                <a:extLst>
                  <a:ext uri="{FF2B5EF4-FFF2-40B4-BE49-F238E27FC236}">
                    <a16:creationId xmlns:a16="http://schemas.microsoft.com/office/drawing/2014/main" id="{94004956-9C59-CF3E-FA99-BA7D6D8C5341}"/>
                  </a:ext>
                </a:extLst>
              </p:cNvPr>
              <p:cNvSpPr/>
              <p:nvPr/>
            </p:nvSpPr>
            <p:spPr>
              <a:xfrm>
                <a:off x="8839354" y="1150960"/>
                <a:ext cx="109492" cy="109492"/>
              </a:xfrm>
              <a:prstGeom prst="rect">
                <a:avLst/>
              </a:prstGeom>
              <a:solidFill>
                <a:srgbClr val="E8E8E8">
                  <a:lumMod val="75000"/>
                </a:srgb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grpSp>
      <p:sp>
        <p:nvSpPr>
          <p:cNvPr id="62" name="TextBox 61">
            <a:extLst>
              <a:ext uri="{FF2B5EF4-FFF2-40B4-BE49-F238E27FC236}">
                <a16:creationId xmlns:a16="http://schemas.microsoft.com/office/drawing/2014/main" id="{67F07FC5-1469-31ED-2E38-B90DFFE61ED0}"/>
              </a:ext>
            </a:extLst>
          </p:cNvPr>
          <p:cNvSpPr txBox="1"/>
          <p:nvPr/>
        </p:nvSpPr>
        <p:spPr>
          <a:xfrm>
            <a:off x="8838023" y="3569299"/>
            <a:ext cx="1444242" cy="215444"/>
          </a:xfrm>
          <a:prstGeom prst="rect">
            <a:avLst/>
          </a:prstGeom>
          <a:noFill/>
        </p:spPr>
        <p:txBody>
          <a:bodyPr wrap="none" lIns="0" tIns="0" rIns="0" bIns="0" rtlCol="0">
            <a:spAutoFit/>
          </a:bodyPr>
          <a:lstStyle/>
          <a:p>
            <a:pPr algn="l"/>
            <a:r>
              <a:rPr lang="en-US" sz="1400" dirty="0">
                <a:latin typeface="+mj-lt"/>
              </a:rPr>
              <a:t>Voice Live session</a:t>
            </a:r>
          </a:p>
        </p:txBody>
      </p:sp>
      <p:grpSp>
        <p:nvGrpSpPr>
          <p:cNvPr id="88" name="Group 87">
            <a:extLst>
              <a:ext uri="{FF2B5EF4-FFF2-40B4-BE49-F238E27FC236}">
                <a16:creationId xmlns:a16="http://schemas.microsoft.com/office/drawing/2014/main" id="{2622CB50-69B9-A6AF-5C42-A75D7D5E0576}"/>
              </a:ext>
            </a:extLst>
          </p:cNvPr>
          <p:cNvGrpSpPr/>
          <p:nvPr/>
        </p:nvGrpSpPr>
        <p:grpSpPr>
          <a:xfrm>
            <a:off x="7628837" y="1623101"/>
            <a:ext cx="1493554" cy="1044704"/>
            <a:chOff x="7711838" y="2272203"/>
            <a:chExt cx="1493554" cy="1044704"/>
          </a:xfrm>
        </p:grpSpPr>
        <p:pic>
          <p:nvPicPr>
            <p:cNvPr id="8" name="Picture 7">
              <a:extLst>
                <a:ext uri="{FF2B5EF4-FFF2-40B4-BE49-F238E27FC236}">
                  <a16:creationId xmlns:a16="http://schemas.microsoft.com/office/drawing/2014/main" id="{34EF975A-1789-0F1D-298F-DEEF1964599C}"/>
                </a:ext>
              </a:extLst>
            </p:cNvPr>
            <p:cNvPicPr>
              <a:picLocks noChangeAspect="1"/>
            </p:cNvPicPr>
            <p:nvPr/>
          </p:nvPicPr>
          <p:blipFill>
            <a:blip r:embed="rId6"/>
            <a:srcRect/>
            <a:stretch/>
          </p:blipFill>
          <p:spPr>
            <a:xfrm>
              <a:off x="8038334" y="2272203"/>
              <a:ext cx="652562" cy="652562"/>
            </a:xfrm>
            <a:prstGeom prst="rect">
              <a:avLst/>
            </a:prstGeom>
          </p:spPr>
        </p:pic>
        <p:sp>
          <p:nvSpPr>
            <p:cNvPr id="63" name="TextBox 62">
              <a:extLst>
                <a:ext uri="{FF2B5EF4-FFF2-40B4-BE49-F238E27FC236}">
                  <a16:creationId xmlns:a16="http://schemas.microsoft.com/office/drawing/2014/main" id="{15DF784C-DF5F-24C8-11EA-B5547BC48411}"/>
                </a:ext>
              </a:extLst>
            </p:cNvPr>
            <p:cNvSpPr txBox="1"/>
            <p:nvPr/>
          </p:nvSpPr>
          <p:spPr>
            <a:xfrm>
              <a:off x="7711838" y="2886020"/>
              <a:ext cx="1493554" cy="430887"/>
            </a:xfrm>
            <a:prstGeom prst="rect">
              <a:avLst/>
            </a:prstGeom>
            <a:noFill/>
          </p:spPr>
          <p:txBody>
            <a:bodyPr wrap="square" lIns="0" tIns="0" rIns="0" bIns="0" rtlCol="0">
              <a:spAutoFit/>
            </a:bodyPr>
            <a:lstStyle/>
            <a:p>
              <a:pPr algn="ctr"/>
              <a:r>
                <a:rPr lang="en-US" sz="1400" dirty="0">
                  <a:latin typeface="+mj-lt"/>
                </a:rPr>
                <a:t>Azure Speech in Foundry Tools</a:t>
              </a:r>
            </a:p>
          </p:txBody>
        </p:sp>
      </p:grpSp>
      <p:grpSp>
        <p:nvGrpSpPr>
          <p:cNvPr id="89" name="Group 88">
            <a:extLst>
              <a:ext uri="{FF2B5EF4-FFF2-40B4-BE49-F238E27FC236}">
                <a16:creationId xmlns:a16="http://schemas.microsoft.com/office/drawing/2014/main" id="{A56E81C7-76EF-AD62-9D3C-AF63D847E39C}"/>
              </a:ext>
            </a:extLst>
          </p:cNvPr>
          <p:cNvGrpSpPr/>
          <p:nvPr/>
        </p:nvGrpSpPr>
        <p:grpSpPr>
          <a:xfrm>
            <a:off x="9858530" y="1524716"/>
            <a:ext cx="1328056" cy="1108271"/>
            <a:chOff x="9582759" y="1997178"/>
            <a:chExt cx="1328056" cy="1108271"/>
          </a:xfrm>
        </p:grpSpPr>
        <p:pic>
          <p:nvPicPr>
            <p:cNvPr id="9" name="Picture 8">
              <a:extLst>
                <a:ext uri="{FF2B5EF4-FFF2-40B4-BE49-F238E27FC236}">
                  <a16:creationId xmlns:a16="http://schemas.microsoft.com/office/drawing/2014/main" id="{C4BC7670-D865-3857-15F1-3D559097C38E}"/>
                </a:ext>
              </a:extLst>
            </p:cNvPr>
            <p:cNvPicPr>
              <a:picLocks noChangeAspect="1"/>
            </p:cNvPicPr>
            <p:nvPr/>
          </p:nvPicPr>
          <p:blipFill>
            <a:blip r:embed="rId7"/>
            <a:stretch>
              <a:fillRect/>
            </a:stretch>
          </p:blipFill>
          <p:spPr>
            <a:xfrm>
              <a:off x="9821368" y="1997178"/>
              <a:ext cx="794161" cy="794161"/>
            </a:xfrm>
            <a:prstGeom prst="rect">
              <a:avLst/>
            </a:prstGeom>
          </p:spPr>
        </p:pic>
        <p:grpSp>
          <p:nvGrpSpPr>
            <p:cNvPr id="13" name="Group 12">
              <a:extLst>
                <a:ext uri="{FF2B5EF4-FFF2-40B4-BE49-F238E27FC236}">
                  <a16:creationId xmlns:a16="http://schemas.microsoft.com/office/drawing/2014/main" id="{E925FC39-6865-648E-0B77-B5142B7B6EEE}"/>
                </a:ext>
              </a:extLst>
            </p:cNvPr>
            <p:cNvGrpSpPr/>
            <p:nvPr/>
          </p:nvGrpSpPr>
          <p:grpSpPr>
            <a:xfrm>
              <a:off x="10218449" y="2394259"/>
              <a:ext cx="583144" cy="583144"/>
              <a:chOff x="3625999" y="3780035"/>
              <a:chExt cx="914400" cy="914400"/>
            </a:xfrm>
          </p:grpSpPr>
          <p:pic>
            <p:nvPicPr>
              <p:cNvPr id="10" name="Picture 9">
                <a:extLst>
                  <a:ext uri="{FF2B5EF4-FFF2-40B4-BE49-F238E27FC236}">
                    <a16:creationId xmlns:a16="http://schemas.microsoft.com/office/drawing/2014/main" id="{1C250E7E-9E04-FFFA-34EA-0B9EC63A4D87}"/>
                  </a:ext>
                </a:extLst>
              </p:cNvPr>
              <p:cNvPicPr>
                <a:picLocks noChangeAspect="1"/>
              </p:cNvPicPr>
              <p:nvPr/>
            </p:nvPicPr>
            <p:blipFill>
              <a:blip r:embed="rId8"/>
              <a:stretch>
                <a:fillRect/>
              </a:stretch>
            </p:blipFill>
            <p:spPr>
              <a:xfrm>
                <a:off x="3988857" y="4073024"/>
                <a:ext cx="459772" cy="459772"/>
              </a:xfrm>
              <a:prstGeom prst="rect">
                <a:avLst/>
              </a:prstGeom>
              <a:scene3d>
                <a:camera prst="isometricOffAxis1Right"/>
                <a:lightRig rig="threePt" dir="t"/>
              </a:scene3d>
            </p:spPr>
          </p:pic>
          <p:pic>
            <p:nvPicPr>
              <p:cNvPr id="12" name="Graphic 11" descr="Cube with solid fill">
                <a:extLst>
                  <a:ext uri="{FF2B5EF4-FFF2-40B4-BE49-F238E27FC236}">
                    <a16:creationId xmlns:a16="http://schemas.microsoft.com/office/drawing/2014/main" id="{7DE65B9C-2692-138C-3A71-40671A6F5C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25999" y="3780035"/>
                <a:ext cx="914400" cy="914400"/>
              </a:xfrm>
              <a:prstGeom prst="rect">
                <a:avLst/>
              </a:prstGeom>
            </p:spPr>
          </p:pic>
        </p:grpSp>
        <p:sp>
          <p:nvSpPr>
            <p:cNvPr id="64" name="TextBox 63">
              <a:extLst>
                <a:ext uri="{FF2B5EF4-FFF2-40B4-BE49-F238E27FC236}">
                  <a16:creationId xmlns:a16="http://schemas.microsoft.com/office/drawing/2014/main" id="{4919ED24-31DF-EBA9-3B95-20E965025E10}"/>
                </a:ext>
              </a:extLst>
            </p:cNvPr>
            <p:cNvSpPr txBox="1"/>
            <p:nvPr/>
          </p:nvSpPr>
          <p:spPr>
            <a:xfrm>
              <a:off x="9582759" y="2890005"/>
              <a:ext cx="1328056" cy="215444"/>
            </a:xfrm>
            <a:prstGeom prst="rect">
              <a:avLst/>
            </a:prstGeom>
            <a:noFill/>
          </p:spPr>
          <p:txBody>
            <a:bodyPr wrap="none" lIns="0" tIns="0" rIns="0" bIns="0" rtlCol="0">
              <a:spAutoFit/>
            </a:bodyPr>
            <a:lstStyle/>
            <a:p>
              <a:pPr algn="l"/>
              <a:r>
                <a:rPr lang="en-US" sz="1400" dirty="0">
                  <a:latin typeface="+mj-lt"/>
                </a:rPr>
                <a:t>Foundry Models</a:t>
              </a:r>
            </a:p>
          </p:txBody>
        </p:sp>
      </p:grpSp>
      <p:cxnSp>
        <p:nvCxnSpPr>
          <p:cNvPr id="67" name="Straight Arrow Connector 66">
            <a:extLst>
              <a:ext uri="{FF2B5EF4-FFF2-40B4-BE49-F238E27FC236}">
                <a16:creationId xmlns:a16="http://schemas.microsoft.com/office/drawing/2014/main" id="{D6D498A1-4B21-0672-2B51-4B2E46B29CB1}"/>
              </a:ext>
            </a:extLst>
          </p:cNvPr>
          <p:cNvCxnSpPr>
            <a:cxnSpLocks/>
            <a:stCxn id="43" idx="0"/>
            <a:endCxn id="62" idx="2"/>
          </p:cNvCxnSpPr>
          <p:nvPr/>
        </p:nvCxnSpPr>
        <p:spPr>
          <a:xfrm flipH="1" flipV="1">
            <a:off x="9560144" y="3784743"/>
            <a:ext cx="1036" cy="372849"/>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0E6FC85-3CA7-097A-6488-49393223D9B7}"/>
              </a:ext>
            </a:extLst>
          </p:cNvPr>
          <p:cNvCxnSpPr>
            <a:cxnSpLocks/>
            <a:stCxn id="7" idx="1"/>
            <a:endCxn id="63" idx="2"/>
          </p:cNvCxnSpPr>
          <p:nvPr/>
        </p:nvCxnSpPr>
        <p:spPr>
          <a:xfrm rot="10800000">
            <a:off x="8375614" y="2667805"/>
            <a:ext cx="438944" cy="592482"/>
          </a:xfrm>
          <a:prstGeom prst="bentConnector2">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4A04981-577A-11CD-D998-0AE75497F5D6}"/>
              </a:ext>
            </a:extLst>
          </p:cNvPr>
          <p:cNvCxnSpPr>
            <a:cxnSpLocks/>
            <a:stCxn id="7" idx="3"/>
            <a:endCxn id="64" idx="2"/>
          </p:cNvCxnSpPr>
          <p:nvPr/>
        </p:nvCxnSpPr>
        <p:spPr>
          <a:xfrm flipV="1">
            <a:off x="10015615" y="2632987"/>
            <a:ext cx="506943" cy="627300"/>
          </a:xfrm>
          <a:prstGeom prst="bentConnector2">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272BC2E9-5B35-AD34-BED0-8BB0B8520B92}"/>
              </a:ext>
            </a:extLst>
          </p:cNvPr>
          <p:cNvSpPr txBox="1"/>
          <p:nvPr/>
        </p:nvSpPr>
        <p:spPr>
          <a:xfrm>
            <a:off x="549210" y="1561973"/>
            <a:ext cx="6740771" cy="4601260"/>
          </a:xfrm>
          <a:prstGeom prst="rect">
            <a:avLst/>
          </a:prstGeom>
          <a:noFill/>
        </p:spPr>
        <p:txBody>
          <a:bodyPr wrap="square">
            <a:spAutoFit/>
          </a:bodyPr>
          <a:lstStyle/>
          <a:p>
            <a:pPr marL="285750" indent="-285750" algn="l">
              <a:spcBef>
                <a:spcPts val="600"/>
              </a:spcBef>
              <a:buFont typeface="Arial" panose="020B0604020202020204" pitchFamily="34" charset="0"/>
              <a:buChar char="•"/>
            </a:pPr>
            <a:r>
              <a:rPr lang="en-US" sz="2000" b="0" i="0" dirty="0">
                <a:solidFill>
                  <a:srgbClr val="161616"/>
                </a:solidFill>
                <a:effectLst/>
              </a:rPr>
              <a:t>Real-time, event-based conversation framework</a:t>
            </a:r>
          </a:p>
          <a:p>
            <a:pPr marL="285750" indent="-285750" algn="l">
              <a:spcBef>
                <a:spcPts val="600"/>
              </a:spcBef>
              <a:buFont typeface="Arial" panose="020B0604020202020204" pitchFamily="34" charset="0"/>
              <a:buChar char="•"/>
            </a:pPr>
            <a:r>
              <a:rPr lang="en-US" sz="2000" dirty="0">
                <a:solidFill>
                  <a:srgbClr val="161616"/>
                </a:solidFill>
              </a:rPr>
              <a:t>Connects models to speech conversations in a </a:t>
            </a:r>
            <a:r>
              <a:rPr lang="en-US" sz="2000" i="1" dirty="0">
                <a:solidFill>
                  <a:srgbClr val="161616"/>
                </a:solidFill>
              </a:rPr>
              <a:t>Voice Live session</a:t>
            </a:r>
          </a:p>
          <a:p>
            <a:pPr marL="285750" indent="-285750" algn="l">
              <a:spcBef>
                <a:spcPts val="600"/>
              </a:spcBef>
              <a:buFont typeface="Arial" panose="020B0604020202020204" pitchFamily="34" charset="0"/>
              <a:buChar char="•"/>
            </a:pPr>
            <a:r>
              <a:rPr lang="en-US" sz="2000" b="0" dirty="0">
                <a:solidFill>
                  <a:srgbClr val="161616"/>
                </a:solidFill>
                <a:effectLst/>
              </a:rPr>
              <a:t>Authentication options are:</a:t>
            </a:r>
          </a:p>
          <a:p>
            <a:pPr marL="742933" lvl="1" indent="-285750">
              <a:spcBef>
                <a:spcPts val="600"/>
              </a:spcBef>
              <a:buFont typeface="Arial" panose="020B0604020202020204" pitchFamily="34" charset="0"/>
              <a:buChar char="•"/>
            </a:pPr>
            <a:r>
              <a:rPr lang="en-US" sz="1800" dirty="0">
                <a:solidFill>
                  <a:srgbClr val="161616"/>
                </a:solidFill>
              </a:rPr>
              <a:t>Microsoft Entra ID (keyless)</a:t>
            </a:r>
          </a:p>
          <a:p>
            <a:pPr marL="742933" lvl="1" indent="-285750">
              <a:spcBef>
                <a:spcPts val="600"/>
              </a:spcBef>
              <a:buFont typeface="Arial" panose="020B0604020202020204" pitchFamily="34" charset="0"/>
              <a:buChar char="•"/>
            </a:pPr>
            <a:r>
              <a:rPr lang="en-US" sz="1800" dirty="0">
                <a:solidFill>
                  <a:srgbClr val="161616"/>
                </a:solidFill>
              </a:rPr>
              <a:t>API key</a:t>
            </a:r>
          </a:p>
          <a:p>
            <a:pPr marL="285750" indent="-285750" algn="l">
              <a:spcBef>
                <a:spcPts val="600"/>
              </a:spcBef>
              <a:buFont typeface="Arial" panose="020B0604020202020204" pitchFamily="34" charset="0"/>
              <a:buChar char="•"/>
            </a:pPr>
            <a:r>
              <a:rPr lang="en-US" sz="2000" b="0" i="0" dirty="0">
                <a:solidFill>
                  <a:srgbClr val="161616"/>
                </a:solidFill>
                <a:effectLst/>
              </a:rPr>
              <a:t>Advanced features include:</a:t>
            </a:r>
          </a:p>
          <a:p>
            <a:pPr marL="742933" lvl="1" indent="-285750">
              <a:spcBef>
                <a:spcPts val="600"/>
              </a:spcBef>
              <a:buFont typeface="Arial" panose="020B0604020202020204" pitchFamily="34" charset="0"/>
              <a:buChar char="•"/>
            </a:pPr>
            <a:r>
              <a:rPr lang="en-US" sz="1800" b="0" i="0" dirty="0">
                <a:solidFill>
                  <a:srgbClr val="161616"/>
                </a:solidFill>
                <a:effectLst/>
              </a:rPr>
              <a:t>Real-time audio processing with support for multiple formats like PCM16 and G.711</a:t>
            </a:r>
          </a:p>
          <a:p>
            <a:pPr marL="742933" lvl="1" indent="-285750">
              <a:spcBef>
                <a:spcPts val="600"/>
              </a:spcBef>
              <a:buFont typeface="Arial" panose="020B0604020202020204" pitchFamily="34" charset="0"/>
              <a:buChar char="•"/>
            </a:pPr>
            <a:r>
              <a:rPr lang="en-US" sz="1800" b="0" i="0" dirty="0">
                <a:solidFill>
                  <a:srgbClr val="161616"/>
                </a:solidFill>
                <a:effectLst/>
              </a:rPr>
              <a:t>Voice options, including OpenAI voices and Azure custom voices</a:t>
            </a:r>
          </a:p>
          <a:p>
            <a:pPr marL="742933" lvl="1" indent="-285750">
              <a:spcBef>
                <a:spcPts val="600"/>
              </a:spcBef>
              <a:buFont typeface="Arial" panose="020B0604020202020204" pitchFamily="34" charset="0"/>
              <a:buChar char="•"/>
            </a:pPr>
            <a:r>
              <a:rPr lang="en-US" sz="1800" b="0" i="0" dirty="0">
                <a:solidFill>
                  <a:srgbClr val="161616"/>
                </a:solidFill>
                <a:effectLst/>
              </a:rPr>
              <a:t>Avatar integration using WebRTC for video and animation</a:t>
            </a:r>
          </a:p>
          <a:p>
            <a:pPr marL="742933" lvl="1" indent="-285750">
              <a:spcBef>
                <a:spcPts val="600"/>
              </a:spcBef>
              <a:buFont typeface="Arial" panose="020B0604020202020204" pitchFamily="34" charset="0"/>
              <a:buChar char="•"/>
            </a:pPr>
            <a:r>
              <a:rPr lang="en-US" sz="1800" b="0" i="0" dirty="0">
                <a:solidFill>
                  <a:srgbClr val="161616"/>
                </a:solidFill>
                <a:effectLst/>
              </a:rPr>
              <a:t>Built-in noise reduction and echo cancellation</a:t>
            </a:r>
          </a:p>
        </p:txBody>
      </p:sp>
    </p:spTree>
    <p:extLst>
      <p:ext uri="{BB962C8B-B14F-4D97-AF65-F5344CB8AC3E}">
        <p14:creationId xmlns:p14="http://schemas.microsoft.com/office/powerpoint/2010/main" val="236485186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F94A8E-88F2-1041-54A1-B8E6CB889AFF}"/>
              </a:ext>
            </a:extLst>
          </p:cNvPr>
          <p:cNvSpPr>
            <a:spLocks noGrp="1"/>
          </p:cNvSpPr>
          <p:nvPr>
            <p:ph type="title"/>
          </p:nvPr>
        </p:nvSpPr>
        <p:spPr>
          <a:xfrm>
            <a:off x="588262" y="585216"/>
            <a:ext cx="8193024" cy="430887"/>
          </a:xfrm>
        </p:spPr>
        <p:txBody>
          <a:bodyPr/>
          <a:lstStyle/>
          <a:p>
            <a:r>
              <a:rPr lang="en-US" sz="2800" dirty="0"/>
              <a:t>Creating a Voice Live agent</a:t>
            </a:r>
          </a:p>
        </p:txBody>
      </p:sp>
      <p:sp>
        <p:nvSpPr>
          <p:cNvPr id="3" name="Footer Placeholder 2">
            <a:extLst>
              <a:ext uri="{FF2B5EF4-FFF2-40B4-BE49-F238E27FC236}">
                <a16:creationId xmlns:a16="http://schemas.microsoft.com/office/drawing/2014/main" id="{26D31B6B-B998-744D-5E59-D6448D8B9F5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2" name="Picture 1" descr="Screenshot of the agent playground with voice mode enabled.">
            <a:extLst>
              <a:ext uri="{FF2B5EF4-FFF2-40B4-BE49-F238E27FC236}">
                <a16:creationId xmlns:a16="http://schemas.microsoft.com/office/drawing/2014/main" id="{0DE637A0-9856-BDEB-F788-E162C308CDFF}"/>
              </a:ext>
            </a:extLst>
          </p:cNvPr>
          <p:cNvPicPr>
            <a:picLocks noChangeAspect="1"/>
          </p:cNvPicPr>
          <p:nvPr/>
        </p:nvPicPr>
        <p:blipFill>
          <a:blip r:embed="rId3"/>
          <a:stretch>
            <a:fillRect/>
          </a:stretch>
        </p:blipFill>
        <p:spPr>
          <a:xfrm>
            <a:off x="6395276" y="1441234"/>
            <a:ext cx="5495268" cy="4373317"/>
          </a:xfrm>
          <a:prstGeom prst="rect">
            <a:avLst/>
          </a:prstGeom>
        </p:spPr>
      </p:pic>
      <p:sp>
        <p:nvSpPr>
          <p:cNvPr id="5" name="TextBox 4">
            <a:extLst>
              <a:ext uri="{FF2B5EF4-FFF2-40B4-BE49-F238E27FC236}">
                <a16:creationId xmlns:a16="http://schemas.microsoft.com/office/drawing/2014/main" id="{1161E3CE-F0D5-C4E2-A6F2-2ACAA905B259}"/>
              </a:ext>
            </a:extLst>
          </p:cNvPr>
          <p:cNvSpPr txBox="1"/>
          <p:nvPr/>
        </p:nvSpPr>
        <p:spPr>
          <a:xfrm>
            <a:off x="496383" y="1644435"/>
            <a:ext cx="5722988" cy="3491725"/>
          </a:xfrm>
          <a:prstGeom prst="rect">
            <a:avLst/>
          </a:prstGeom>
          <a:noFill/>
        </p:spPr>
        <p:txBody>
          <a:bodyPr wrap="square">
            <a:spAutoFit/>
          </a:bodyPr>
          <a:lstStyle/>
          <a:p>
            <a:pPr marL="285750" indent="-285750" algn="l">
              <a:spcBef>
                <a:spcPts val="600"/>
              </a:spcBef>
              <a:buFont typeface="Arial" panose="020B0604020202020204" pitchFamily="34" charset="0"/>
              <a:buChar char="•"/>
            </a:pPr>
            <a:r>
              <a:rPr lang="en-US" sz="2000" b="0" i="0" dirty="0">
                <a:solidFill>
                  <a:srgbClr val="161616"/>
                </a:solidFill>
                <a:effectLst/>
              </a:rPr>
              <a:t>Enable </a:t>
            </a:r>
            <a:r>
              <a:rPr lang="en-US" sz="2000" b="1" i="0" dirty="0">
                <a:solidFill>
                  <a:srgbClr val="161616"/>
                </a:solidFill>
                <a:effectLst/>
              </a:rPr>
              <a:t>Audio mode </a:t>
            </a:r>
            <a:r>
              <a:rPr lang="en-US" sz="2000" b="0" i="0" dirty="0">
                <a:solidFill>
                  <a:srgbClr val="161616"/>
                </a:solidFill>
                <a:effectLst/>
              </a:rPr>
              <a:t>in the agent playground</a:t>
            </a:r>
          </a:p>
          <a:p>
            <a:pPr marL="742933" lvl="1" indent="-285750">
              <a:spcBef>
                <a:spcPts val="600"/>
              </a:spcBef>
              <a:buFont typeface="Arial" panose="020B0604020202020204" pitchFamily="34" charset="0"/>
              <a:buChar char="•"/>
            </a:pPr>
            <a:r>
              <a:rPr lang="en-US" sz="2000" dirty="0">
                <a:solidFill>
                  <a:srgbClr val="161616"/>
                </a:solidFill>
              </a:rPr>
              <a:t>Configure </a:t>
            </a:r>
            <a:r>
              <a:rPr lang="en-US" sz="2000" i="1" dirty="0">
                <a:solidFill>
                  <a:srgbClr val="161616"/>
                </a:solidFill>
              </a:rPr>
              <a:t>Voice Live </a:t>
            </a:r>
            <a:r>
              <a:rPr lang="en-US" sz="2000" dirty="0">
                <a:solidFill>
                  <a:srgbClr val="161616"/>
                </a:solidFill>
              </a:rPr>
              <a:t>settings for the agent</a:t>
            </a:r>
            <a:endParaRPr lang="en-US" sz="2000" b="0" i="1" dirty="0">
              <a:solidFill>
                <a:srgbClr val="161616"/>
              </a:solidFill>
              <a:effectLst/>
            </a:endParaRPr>
          </a:p>
          <a:p>
            <a:pPr marL="285750" indent="-285750" algn="l">
              <a:spcBef>
                <a:spcPts val="600"/>
              </a:spcBef>
              <a:buFont typeface="Arial" panose="020B0604020202020204" pitchFamily="34" charset="0"/>
              <a:buChar char="•"/>
            </a:pPr>
            <a:r>
              <a:rPr lang="en-US" sz="2000" b="0" i="0" dirty="0">
                <a:solidFill>
                  <a:srgbClr val="161616"/>
                </a:solidFill>
                <a:effectLst/>
              </a:rPr>
              <a:t>Create a client app that uses the Voice live SDK to:</a:t>
            </a:r>
          </a:p>
          <a:p>
            <a:pPr marL="800083" lvl="1" indent="-342900">
              <a:spcBef>
                <a:spcPts val="600"/>
              </a:spcBef>
              <a:buFont typeface="+mj-lt"/>
              <a:buAutoNum type="arabicPeriod"/>
            </a:pPr>
            <a:r>
              <a:rPr lang="en-US" dirty="0"/>
              <a:t>Connect to the agent</a:t>
            </a:r>
          </a:p>
          <a:p>
            <a:pPr marL="800083" lvl="1" indent="-342900">
              <a:spcBef>
                <a:spcPts val="600"/>
              </a:spcBef>
              <a:buFont typeface="+mj-lt"/>
              <a:buAutoNum type="arabicPeriod"/>
            </a:pPr>
            <a:r>
              <a:rPr lang="en-US" dirty="0"/>
              <a:t>Configure audio hardware input and output</a:t>
            </a:r>
          </a:p>
          <a:p>
            <a:pPr marL="800083" lvl="1" indent="-342900">
              <a:spcBef>
                <a:spcPts val="600"/>
              </a:spcBef>
              <a:buFont typeface="+mj-lt"/>
              <a:buAutoNum type="arabicPeriod"/>
            </a:pPr>
            <a:r>
              <a:rPr lang="en-US" dirty="0"/>
              <a:t>Establish a </a:t>
            </a:r>
            <a:r>
              <a:rPr lang="en-US" i="1" dirty="0"/>
              <a:t>Voice Live </a:t>
            </a:r>
            <a:r>
              <a:rPr lang="en-US" dirty="0"/>
              <a:t>session</a:t>
            </a:r>
          </a:p>
          <a:p>
            <a:pPr marL="800083" lvl="1" indent="-342900">
              <a:spcBef>
                <a:spcPts val="600"/>
              </a:spcBef>
              <a:buFont typeface="+mj-lt"/>
              <a:buAutoNum type="arabicPeriod"/>
            </a:pPr>
            <a:r>
              <a:rPr lang="en-US" dirty="0"/>
              <a:t>Monitor audio systems for activity</a:t>
            </a:r>
          </a:p>
          <a:p>
            <a:pPr marL="800083" lvl="1" indent="-342900">
              <a:spcBef>
                <a:spcPts val="600"/>
              </a:spcBef>
              <a:buFont typeface="+mj-lt"/>
              <a:buAutoNum type="arabicPeriod"/>
            </a:pPr>
            <a:r>
              <a:rPr lang="en-US" dirty="0"/>
              <a:t>Process events (such as user speech input and responses from the agent)</a:t>
            </a:r>
          </a:p>
        </p:txBody>
      </p:sp>
    </p:spTree>
    <p:extLst>
      <p:ext uri="{BB962C8B-B14F-4D97-AF65-F5344CB8AC3E}">
        <p14:creationId xmlns:p14="http://schemas.microsoft.com/office/powerpoint/2010/main" val="378243995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E372-AD0D-5889-6E41-803C3BC97D2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54479B-8DED-7A00-0EA8-E3BECBA3BBD0}"/>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A0E00091-8037-D791-88B0-7DD1C592E273}"/>
              </a:ext>
            </a:extLst>
          </p:cNvPr>
          <p:cNvSpPr>
            <a:spLocks noGrp="1"/>
          </p:cNvSpPr>
          <p:nvPr>
            <p:ph type="body" sz="quarter" idx="16"/>
          </p:nvPr>
        </p:nvSpPr>
        <p:spPr>
          <a:xfrm>
            <a:off x="584199" y="1594155"/>
            <a:ext cx="5654573" cy="307777"/>
          </a:xfrm>
        </p:spPr>
        <p:txBody>
          <a:bodyPr/>
          <a:lstStyle/>
          <a:p>
            <a:r>
              <a:rPr lang="en-US" sz="2000" dirty="0"/>
              <a:t>Develop a Voice Live agent</a:t>
            </a:r>
          </a:p>
        </p:txBody>
      </p:sp>
      <p:sp>
        <p:nvSpPr>
          <p:cNvPr id="6" name="Text Placeholder 5">
            <a:extLst>
              <a:ext uri="{FF2B5EF4-FFF2-40B4-BE49-F238E27FC236}">
                <a16:creationId xmlns:a16="http://schemas.microsoft.com/office/drawing/2014/main" id="{378F7AFF-79AD-1149-59CB-D8C12085A399}"/>
              </a:ext>
            </a:extLst>
          </p:cNvPr>
          <p:cNvSpPr>
            <a:spLocks noGrp="1"/>
          </p:cNvSpPr>
          <p:nvPr>
            <p:ph type="body" sz="quarter" idx="15"/>
          </p:nvPr>
        </p:nvSpPr>
        <p:spPr>
          <a:xfrm>
            <a:off x="586389" y="2085764"/>
            <a:ext cx="5652201" cy="787908"/>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a:t>
            </a:r>
          </a:p>
          <a:p>
            <a:pPr defTabSz="914367">
              <a:spcBef>
                <a:spcPts val="0"/>
              </a:spcBef>
              <a:buSzTx/>
              <a:defRPr/>
            </a:pPr>
            <a:r>
              <a:rPr lang="en-US" dirty="0"/>
              <a:t>Enable and configure Azure Speech Voice Live for an agent</a:t>
            </a:r>
          </a:p>
          <a:p>
            <a:r>
              <a:rPr lang="en-US" dirty="0"/>
              <a:t>Implement a conversational app that uses the agent</a:t>
            </a:r>
          </a:p>
        </p:txBody>
      </p:sp>
      <p:sp>
        <p:nvSpPr>
          <p:cNvPr id="10" name="TextBox 9">
            <a:extLst>
              <a:ext uri="{FF2B5EF4-FFF2-40B4-BE49-F238E27FC236}">
                <a16:creationId xmlns:a16="http://schemas.microsoft.com/office/drawing/2014/main" id="{755D3A3C-8027-FD92-A474-CED0051B87E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https://go.microsoft.com/fwlink/?linkid=2356168</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13210430-500A-6D2A-B0AE-49AAF0BDF245}"/>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A947202F-94C9-41D6-3718-CB9BA79BFE50}"/>
              </a:ext>
              <a:ext uri="{C183D7F6-B498-43B3-948B-1728B52AA6E4}">
                <adec:decorative xmlns:adec="http://schemas.microsoft.com/office/drawing/2017/decorative" val="1"/>
              </a:ext>
            </a:extLst>
          </p:cNvPr>
          <p:cNvPicPr>
            <a:picLocks noChangeAspect="1"/>
          </p:cNvPicPr>
          <p:nvPr/>
        </p:nvPicPr>
        <p:blipFill>
          <a:blip r:embed="rId4"/>
          <a:srcRect t="4257" b="4257"/>
          <a:stretch/>
        </p:blipFill>
        <p:spPr>
          <a:xfrm>
            <a:off x="7699682" y="2014938"/>
            <a:ext cx="4598998" cy="3344462"/>
          </a:xfrm>
          <a:prstGeom prst="rect">
            <a:avLst/>
          </a:prstGeom>
        </p:spPr>
      </p:pic>
      <p:sp>
        <p:nvSpPr>
          <p:cNvPr id="11" name="Flowchart: Off-page Connector 44">
            <a:extLst>
              <a:ext uri="{FF2B5EF4-FFF2-40B4-BE49-F238E27FC236}">
                <a16:creationId xmlns:a16="http://schemas.microsoft.com/office/drawing/2014/main" id="{8C646288-FEAE-A8D4-07F6-00FCBE6F525E}"/>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29234861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F3BE-8C90-1B0C-C3ED-9032C18B2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94FFF-D821-DCAF-BE32-3532BB546D7A}"/>
              </a:ext>
            </a:extLst>
          </p:cNvPr>
          <p:cNvSpPr>
            <a:spLocks noGrp="1"/>
          </p:cNvSpPr>
          <p:nvPr>
            <p:ph type="title"/>
          </p:nvPr>
        </p:nvSpPr>
        <p:spPr>
          <a:xfrm>
            <a:off x="588262" y="585216"/>
            <a:ext cx="8193024" cy="369332"/>
          </a:xfrm>
        </p:spPr>
        <p:txBody>
          <a:bodyPr/>
          <a:lstStyle/>
          <a:p>
            <a:r>
              <a:rPr lang="en-US" dirty="0"/>
              <a:t>Knowledge check</a:t>
            </a:r>
          </a:p>
        </p:txBody>
      </p:sp>
      <p:sp>
        <p:nvSpPr>
          <p:cNvPr id="27" name="Text Placeholder 26">
            <a:extLst>
              <a:ext uri="{FF2B5EF4-FFF2-40B4-BE49-F238E27FC236}">
                <a16:creationId xmlns:a16="http://schemas.microsoft.com/office/drawing/2014/main" id="{6EA4EA3F-CA5A-65A4-EDCA-6F190F991080}"/>
              </a:ext>
            </a:extLst>
          </p:cNvPr>
          <p:cNvSpPr>
            <a:spLocks noGrp="1"/>
          </p:cNvSpPr>
          <p:nvPr>
            <p:ph type="body" sz="quarter" idx="17"/>
          </p:nvPr>
        </p:nvSpPr>
        <p:spPr>
          <a:xfrm>
            <a:off x="1235075" y="1704233"/>
            <a:ext cx="8778782" cy="246221"/>
          </a:xfrm>
        </p:spPr>
        <p:txBody>
          <a:bodyPr/>
          <a:lstStyle/>
          <a:p>
            <a:r>
              <a:rPr lang="en-US" sz="1600" dirty="0"/>
              <a:t>What are the two authentication methods supported by the Voice Live API?</a:t>
            </a:r>
          </a:p>
        </p:txBody>
      </p:sp>
      <p:sp>
        <p:nvSpPr>
          <p:cNvPr id="26" name="Text Placeholder 25">
            <a:extLst>
              <a:ext uri="{FF2B5EF4-FFF2-40B4-BE49-F238E27FC236}">
                <a16:creationId xmlns:a16="http://schemas.microsoft.com/office/drawing/2014/main" id="{48BAD8D3-3B95-9BF6-1795-2E32306EBCA7}"/>
              </a:ext>
            </a:extLst>
          </p:cNvPr>
          <p:cNvSpPr>
            <a:spLocks noGrp="1"/>
          </p:cNvSpPr>
          <p:nvPr>
            <p:ph type="body" sz="quarter" idx="15"/>
          </p:nvPr>
        </p:nvSpPr>
        <p:spPr>
          <a:xfrm>
            <a:off x="1236663" y="2136253"/>
            <a:ext cx="8775700" cy="732508"/>
          </a:xfrm>
        </p:spPr>
        <p:txBody>
          <a:bodyPr/>
          <a:lstStyle/>
          <a:p>
            <a:r>
              <a:rPr lang="en-US" dirty="0"/>
              <a:t>OAuth 2.0 and JWT (JSON Web Tokens)</a:t>
            </a:r>
          </a:p>
          <a:p>
            <a:r>
              <a:rPr lang="en-US" dirty="0"/>
              <a:t>Basic authentication and API keys</a:t>
            </a:r>
          </a:p>
          <a:p>
            <a:r>
              <a:rPr lang="en-US" dirty="0"/>
              <a:t>Microsoft Entra (keyless) and API key</a:t>
            </a:r>
          </a:p>
        </p:txBody>
      </p:sp>
      <p:sp>
        <p:nvSpPr>
          <p:cNvPr id="5" name="Graphic 26" descr="Checkmark">
            <a:extLst>
              <a:ext uri="{FF2B5EF4-FFF2-40B4-BE49-F238E27FC236}">
                <a16:creationId xmlns:a16="http://schemas.microsoft.com/office/drawing/2014/main" id="{C7296DE2-A674-7BD8-3E09-2256FD845614}"/>
              </a:ext>
            </a:extLst>
          </p:cNvPr>
          <p:cNvSpPr/>
          <p:nvPr/>
        </p:nvSpPr>
        <p:spPr>
          <a:xfrm>
            <a:off x="1266510" y="2699306"/>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0" name="Text Placeholder 29">
            <a:extLst>
              <a:ext uri="{FF2B5EF4-FFF2-40B4-BE49-F238E27FC236}">
                <a16:creationId xmlns:a16="http://schemas.microsoft.com/office/drawing/2014/main" id="{D6C3D6BC-AB91-597F-887A-D26BF96218B1}"/>
              </a:ext>
            </a:extLst>
          </p:cNvPr>
          <p:cNvSpPr>
            <a:spLocks noGrp="1"/>
          </p:cNvSpPr>
          <p:nvPr>
            <p:ph type="body" sz="quarter" idx="22"/>
          </p:nvPr>
        </p:nvSpPr>
        <p:spPr>
          <a:xfrm>
            <a:off x="1235075" y="3166304"/>
            <a:ext cx="8778782" cy="246221"/>
          </a:xfrm>
        </p:spPr>
        <p:txBody>
          <a:bodyPr/>
          <a:lstStyle/>
          <a:p>
            <a:r>
              <a:rPr lang="en-US" sz="1600" dirty="0"/>
              <a:t>How do you </a:t>
            </a:r>
            <a:r>
              <a:rPr lang="en-US" sz="1600" b="1" dirty="0"/>
              <a:t>configure and test Voice Live agent integration in the Foundry Portal?</a:t>
            </a:r>
            <a:endParaRPr lang="en-US" sz="1600" dirty="0"/>
          </a:p>
        </p:txBody>
      </p:sp>
      <p:sp>
        <p:nvSpPr>
          <p:cNvPr id="31" name="Text Placeholder 30">
            <a:extLst>
              <a:ext uri="{FF2B5EF4-FFF2-40B4-BE49-F238E27FC236}">
                <a16:creationId xmlns:a16="http://schemas.microsoft.com/office/drawing/2014/main" id="{EEF51691-7165-89CB-57F5-05F638C6DD7D}"/>
              </a:ext>
            </a:extLst>
          </p:cNvPr>
          <p:cNvSpPr>
            <a:spLocks noGrp="1"/>
          </p:cNvSpPr>
          <p:nvPr>
            <p:ph type="body" sz="quarter" idx="23"/>
          </p:nvPr>
        </p:nvSpPr>
        <p:spPr>
          <a:xfrm>
            <a:off x="1235075" y="3575405"/>
            <a:ext cx="8775700" cy="732508"/>
          </a:xfrm>
        </p:spPr>
        <p:txBody>
          <a:bodyPr/>
          <a:lstStyle/>
          <a:p>
            <a:r>
              <a:rPr lang="en-US" dirty="0"/>
              <a:t>You can’t – Voice Live is only accessible through the REST API or Python SDK</a:t>
            </a:r>
          </a:p>
          <a:p>
            <a:r>
              <a:rPr lang="en-US" dirty="0"/>
              <a:t>In the Azure Speech in Foundry Tools Voice Live playground</a:t>
            </a:r>
          </a:p>
          <a:p>
            <a:r>
              <a:rPr lang="en-US" dirty="0"/>
              <a:t>Enable </a:t>
            </a:r>
            <a:r>
              <a:rPr lang="en-US" b="1" dirty="0"/>
              <a:t>Voice mode</a:t>
            </a:r>
            <a:r>
              <a:rPr lang="en-US" dirty="0"/>
              <a:t> in the agent playground</a:t>
            </a:r>
          </a:p>
        </p:txBody>
      </p:sp>
      <p:sp>
        <p:nvSpPr>
          <p:cNvPr id="42" name="Graphic 26" descr="Checkmark">
            <a:extLst>
              <a:ext uri="{FF2B5EF4-FFF2-40B4-BE49-F238E27FC236}">
                <a16:creationId xmlns:a16="http://schemas.microsoft.com/office/drawing/2014/main" id="{FEBDC1F9-9B37-F595-10F1-DF098CBAF3C2}"/>
              </a:ext>
            </a:extLst>
          </p:cNvPr>
          <p:cNvSpPr/>
          <p:nvPr/>
        </p:nvSpPr>
        <p:spPr>
          <a:xfrm>
            <a:off x="1266510" y="4138277"/>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28" name="Text Placeholder 27">
            <a:extLst>
              <a:ext uri="{FF2B5EF4-FFF2-40B4-BE49-F238E27FC236}">
                <a16:creationId xmlns:a16="http://schemas.microsoft.com/office/drawing/2014/main" id="{8FC05C35-F042-D8B0-46C6-0AF7CEAF1F9B}"/>
              </a:ext>
            </a:extLst>
          </p:cNvPr>
          <p:cNvSpPr>
            <a:spLocks noGrp="1"/>
          </p:cNvSpPr>
          <p:nvPr>
            <p:ph type="body" sz="quarter" idx="20"/>
          </p:nvPr>
        </p:nvSpPr>
        <p:spPr>
          <a:xfrm>
            <a:off x="1235075" y="4585680"/>
            <a:ext cx="8778782" cy="246221"/>
          </a:xfrm>
        </p:spPr>
        <p:txBody>
          <a:bodyPr/>
          <a:lstStyle/>
          <a:p>
            <a:r>
              <a:rPr lang="en-US" sz="1600" dirty="0"/>
              <a:t>How can you stop audio playback when a user interrupts the voice agent?</a:t>
            </a:r>
          </a:p>
        </p:txBody>
      </p:sp>
      <p:sp>
        <p:nvSpPr>
          <p:cNvPr id="29" name="Text Placeholder 28">
            <a:extLst>
              <a:ext uri="{FF2B5EF4-FFF2-40B4-BE49-F238E27FC236}">
                <a16:creationId xmlns:a16="http://schemas.microsoft.com/office/drawing/2014/main" id="{201F28FE-2E62-F2B3-729F-93AD29F0D9CB}"/>
              </a:ext>
            </a:extLst>
          </p:cNvPr>
          <p:cNvSpPr>
            <a:spLocks noGrp="1"/>
          </p:cNvSpPr>
          <p:nvPr>
            <p:ph type="body" sz="quarter" idx="21"/>
          </p:nvPr>
        </p:nvSpPr>
        <p:spPr>
          <a:xfrm>
            <a:off x="1235075" y="4938257"/>
            <a:ext cx="8775700" cy="732508"/>
          </a:xfrm>
        </p:spPr>
        <p:txBody>
          <a:bodyPr/>
          <a:lstStyle/>
          <a:p>
            <a:r>
              <a:rPr lang="en-US" dirty="0"/>
              <a:t>You can’t – the user must wait for the agent to finish</a:t>
            </a:r>
          </a:p>
          <a:p>
            <a:r>
              <a:rPr lang="en-US" dirty="0"/>
              <a:t>Handle the </a:t>
            </a:r>
            <a:r>
              <a:rPr lang="en-US" i="1" dirty="0"/>
              <a:t>INPUT_AUDIO_BUFFER_SPEECH_STARTED </a:t>
            </a:r>
            <a:r>
              <a:rPr lang="en-US" dirty="0"/>
              <a:t>event</a:t>
            </a:r>
          </a:p>
          <a:p>
            <a:r>
              <a:rPr lang="en-US" dirty="0"/>
              <a:t>Reset the Voice Live session and clear the conversation history</a:t>
            </a:r>
          </a:p>
        </p:txBody>
      </p:sp>
      <p:sp>
        <p:nvSpPr>
          <p:cNvPr id="43" name="Graphic 26" descr="Checkmark">
            <a:extLst>
              <a:ext uri="{FF2B5EF4-FFF2-40B4-BE49-F238E27FC236}">
                <a16:creationId xmlns:a16="http://schemas.microsoft.com/office/drawing/2014/main" id="{381A766A-CF39-74B6-6C81-989A7EE871F3}"/>
              </a:ext>
            </a:extLst>
          </p:cNvPr>
          <p:cNvSpPr/>
          <p:nvPr/>
        </p:nvSpPr>
        <p:spPr>
          <a:xfrm>
            <a:off x="1266510" y="5227991"/>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 name="Footer Placeholder 2">
            <a:extLst>
              <a:ext uri="{FF2B5EF4-FFF2-40B4-BE49-F238E27FC236}">
                <a16:creationId xmlns:a16="http://schemas.microsoft.com/office/drawing/2014/main" id="{0AC1DACC-1013-F1E3-7D11-B92F163FDBF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Oval 3">
            <a:extLst>
              <a:ext uri="{FF2B5EF4-FFF2-40B4-BE49-F238E27FC236}">
                <a16:creationId xmlns:a16="http://schemas.microsoft.com/office/drawing/2014/main" id="{B01BF15A-3768-D528-7A55-2C5189AC1505}"/>
              </a:ext>
              <a:ext uri="{C183D7F6-B498-43B3-948B-1728B52AA6E4}">
                <adec:decorative xmlns:adec="http://schemas.microsoft.com/office/drawing/2017/decorative" val="1"/>
              </a:ext>
            </a:extLst>
          </p:cNvPr>
          <p:cNvSpPr>
            <a:spLocks/>
          </p:cNvSpPr>
          <p:nvPr/>
        </p:nvSpPr>
        <p:spPr bwMode="auto">
          <a:xfrm>
            <a:off x="722582" y="1640768"/>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endParaRPr kumimoji="0" lang="en-IN" sz="1800" b="1" i="0" u="none" strike="noStrike" cap="none" spc="0" normalizeH="0" baseline="0" noProof="0" dirty="0">
              <a:ln>
                <a:noFill/>
              </a:ln>
              <a:solidFill>
                <a:schemeClr val="tx1"/>
              </a:solidFill>
              <a:effectLst/>
              <a:uLnTx/>
              <a:uFillTx/>
            </a:endParaRPr>
          </a:p>
        </p:txBody>
      </p:sp>
      <p:sp>
        <p:nvSpPr>
          <p:cNvPr id="6" name="Oval 5">
            <a:extLst>
              <a:ext uri="{FF2B5EF4-FFF2-40B4-BE49-F238E27FC236}">
                <a16:creationId xmlns:a16="http://schemas.microsoft.com/office/drawing/2014/main" id="{839B48C3-3B82-8292-2577-FFEC5C41AB37}"/>
              </a:ext>
              <a:ext uri="{C183D7F6-B498-43B3-948B-1728B52AA6E4}">
                <adec:decorative xmlns:adec="http://schemas.microsoft.com/office/drawing/2017/decorative" val="1"/>
              </a:ext>
            </a:extLst>
          </p:cNvPr>
          <p:cNvSpPr>
            <a:spLocks/>
          </p:cNvSpPr>
          <p:nvPr/>
        </p:nvSpPr>
        <p:spPr bwMode="auto">
          <a:xfrm>
            <a:off x="722582" y="30893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endParaRPr kumimoji="0" lang="en-IN" sz="1800" b="1" i="0" u="none" strike="noStrike" cap="none" spc="0" normalizeH="0" baseline="0" noProof="0" dirty="0">
              <a:ln>
                <a:noFill/>
              </a:ln>
              <a:solidFill>
                <a:schemeClr val="tx1"/>
              </a:solidFill>
              <a:effectLst/>
              <a:uLnTx/>
              <a:uFillTx/>
            </a:endParaRPr>
          </a:p>
        </p:txBody>
      </p:sp>
      <p:sp>
        <p:nvSpPr>
          <p:cNvPr id="7" name="Oval 6">
            <a:extLst>
              <a:ext uri="{FF2B5EF4-FFF2-40B4-BE49-F238E27FC236}">
                <a16:creationId xmlns:a16="http://schemas.microsoft.com/office/drawing/2014/main" id="{BD7FF9F0-E286-B558-3564-70D0890D3A3E}"/>
              </a:ext>
              <a:ext uri="{C183D7F6-B498-43B3-948B-1728B52AA6E4}">
                <adec:decorative xmlns:adec="http://schemas.microsoft.com/office/drawing/2017/decorative" val="1"/>
              </a:ext>
            </a:extLst>
          </p:cNvPr>
          <p:cNvSpPr>
            <a:spLocks/>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1422824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P spid="4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769057"/>
            <a:ext cx="6345239" cy="1231106"/>
          </a:xfrm>
        </p:spPr>
        <p:txBody>
          <a:bodyPr/>
          <a:lstStyle/>
          <a:p>
            <a:r>
              <a:rPr lang="en-US" dirty="0"/>
              <a:t>Translate text and speech with Microsoft Foundry Tools</a:t>
            </a:r>
          </a:p>
        </p:txBody>
      </p:sp>
      <p:sp>
        <p:nvSpPr>
          <p:cNvPr id="2" name="Footer Placeholder 1">
            <a:extLst>
              <a:ext uri="{FF2B5EF4-FFF2-40B4-BE49-F238E27FC236}">
                <a16:creationId xmlns:a16="http://schemas.microsoft.com/office/drawing/2014/main" id="{4FDB435B-0EFD-9BED-B44E-FEA27988FF18}"/>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3" name="TextBox 2">
            <a:extLst>
              <a:ext uri="{FF2B5EF4-FFF2-40B4-BE49-F238E27FC236}">
                <a16:creationId xmlns:a16="http://schemas.microsoft.com/office/drawing/2014/main" id="{10727F09-3B50-2C44-2277-61F175D08C9B}"/>
              </a:ext>
            </a:extLst>
          </p:cNvPr>
          <p:cNvSpPr txBox="1"/>
          <p:nvPr/>
        </p:nvSpPr>
        <p:spPr>
          <a:xfrm>
            <a:off x="478471" y="4000163"/>
            <a:ext cx="5879298" cy="363946"/>
          </a:xfrm>
          <a:prstGeom prst="rect">
            <a:avLst/>
          </a:prstGeom>
          <a:noFill/>
        </p:spPr>
        <p:txBody>
          <a:bodyPr wrap="square">
            <a:spAutoFit/>
          </a:bodyPr>
          <a:lstStyle/>
          <a:p>
            <a:r>
              <a:rPr lang="en-US" dirty="0">
                <a:solidFill>
                  <a:schemeClr val="accent2"/>
                </a:solidFill>
              </a:rPr>
              <a:t>https://aka.ms/mslearn-translate</a:t>
            </a:r>
          </a:p>
        </p:txBody>
      </p:sp>
    </p:spTree>
    <p:extLst>
      <p:ext uri="{BB962C8B-B14F-4D97-AF65-F5344CB8AC3E}">
        <p14:creationId xmlns:p14="http://schemas.microsoft.com/office/powerpoint/2010/main" val="94810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1DC8-3147-4BB0-B44B-37EE38FF779C}"/>
              </a:ext>
            </a:extLst>
          </p:cNvPr>
          <p:cNvSpPr>
            <a:spLocks noGrp="1"/>
          </p:cNvSpPr>
          <p:nvPr>
            <p:ph type="title"/>
          </p:nvPr>
        </p:nvSpPr>
        <p:spPr>
          <a:xfrm>
            <a:off x="588261" y="585216"/>
            <a:ext cx="6523739" cy="984885"/>
          </a:xfrm>
        </p:spPr>
        <p:txBody>
          <a:bodyPr/>
          <a:lstStyle/>
          <a:p>
            <a:r>
              <a:rPr lang="en-US" dirty="0"/>
              <a:t>Translation in Microsoft Foundry</a:t>
            </a:r>
          </a:p>
        </p:txBody>
      </p:sp>
      <p:sp>
        <p:nvSpPr>
          <p:cNvPr id="14" name="Text Placeholder 13">
            <a:extLst>
              <a:ext uri="{FF2B5EF4-FFF2-40B4-BE49-F238E27FC236}">
                <a16:creationId xmlns:a16="http://schemas.microsoft.com/office/drawing/2014/main" id="{A0D34A3C-F3E4-0B7D-7663-83ACEB20C8DE}"/>
              </a:ext>
            </a:extLst>
          </p:cNvPr>
          <p:cNvSpPr>
            <a:spLocks noGrp="1"/>
          </p:cNvSpPr>
          <p:nvPr>
            <p:ph type="body" sz="quarter" idx="16"/>
          </p:nvPr>
        </p:nvSpPr>
        <p:spPr>
          <a:xfrm>
            <a:off x="584200" y="1594155"/>
            <a:ext cx="4714663" cy="4298613"/>
          </a:xfrm>
        </p:spPr>
        <p:txBody>
          <a:bodyPr/>
          <a:lstStyle/>
          <a:p>
            <a:pPr marL="107950" lvl="2" indent="0">
              <a:spcBef>
                <a:spcPts val="200"/>
              </a:spcBef>
              <a:spcAft>
                <a:spcPts val="400"/>
              </a:spcAft>
              <a:buSzPct val="100000"/>
              <a:buNone/>
            </a:pPr>
            <a:endParaRPr lang="en-US" sz="1800" i="1" dirty="0">
              <a:solidFill>
                <a:srgbClr val="1A1A1A"/>
              </a:solidFill>
            </a:endParaRPr>
          </a:p>
          <a:p>
            <a:pPr marL="107950" lvl="2" indent="0">
              <a:spcBef>
                <a:spcPts val="200"/>
              </a:spcBef>
              <a:spcAft>
                <a:spcPts val="400"/>
              </a:spcAft>
              <a:buSzPct val="100000"/>
              <a:buNone/>
            </a:pPr>
            <a:r>
              <a:rPr lang="en-US" sz="2000" b="1" dirty="0"/>
              <a:t>Azure Translator in Foundry Tools</a:t>
            </a:r>
          </a:p>
          <a:p>
            <a:pPr marL="450850" lvl="2" indent="-342900">
              <a:spcBef>
                <a:spcPts val="200"/>
              </a:spcBef>
              <a:spcAft>
                <a:spcPts val="400"/>
              </a:spcAft>
              <a:buSzPct val="100000"/>
            </a:pPr>
            <a:r>
              <a:rPr lang="en-US" sz="2000" dirty="0"/>
              <a:t>Multilingual translation for:</a:t>
            </a:r>
          </a:p>
          <a:p>
            <a:pPr marL="739775" lvl="3" indent="-173038">
              <a:spcBef>
                <a:spcPts val="200"/>
              </a:spcBef>
              <a:spcAft>
                <a:spcPts val="400"/>
              </a:spcAft>
              <a:buSzPct val="100000"/>
            </a:pPr>
            <a:r>
              <a:rPr lang="en-US" sz="1800" dirty="0"/>
              <a:t>Text</a:t>
            </a:r>
          </a:p>
          <a:p>
            <a:pPr marL="739775" lvl="3" indent="-173038">
              <a:spcBef>
                <a:spcPts val="200"/>
              </a:spcBef>
              <a:spcAft>
                <a:spcPts val="400"/>
              </a:spcAft>
              <a:buSzPct val="100000"/>
            </a:pPr>
            <a:r>
              <a:rPr lang="en-US" sz="1800" dirty="0"/>
              <a:t>Documents</a:t>
            </a:r>
          </a:p>
          <a:p>
            <a:pPr marL="107950" lvl="2" indent="0">
              <a:spcBef>
                <a:spcPts val="200"/>
              </a:spcBef>
              <a:spcAft>
                <a:spcPts val="400"/>
              </a:spcAft>
              <a:buSzPct val="100000"/>
              <a:buNone/>
            </a:pPr>
            <a:endParaRPr lang="en-US" sz="2000" i="1" dirty="0">
              <a:solidFill>
                <a:srgbClr val="1A1A1A"/>
              </a:solidFill>
            </a:endParaRPr>
          </a:p>
          <a:p>
            <a:pPr marL="107950" lvl="2" indent="0">
              <a:spcBef>
                <a:spcPts val="200"/>
              </a:spcBef>
              <a:spcAft>
                <a:spcPts val="400"/>
              </a:spcAft>
              <a:buSzPct val="100000"/>
              <a:buNone/>
            </a:pPr>
            <a:r>
              <a:rPr lang="en-US" sz="2000" b="1" dirty="0"/>
              <a:t>Azure Speech in Foundry Tools</a:t>
            </a:r>
          </a:p>
          <a:p>
            <a:pPr marL="450850" lvl="2" indent="-342900">
              <a:spcBef>
                <a:spcPts val="200"/>
              </a:spcBef>
              <a:spcAft>
                <a:spcPts val="400"/>
              </a:spcAft>
              <a:buSzPct val="100000"/>
            </a:pPr>
            <a:r>
              <a:rPr lang="en-US" sz="2000" dirty="0"/>
              <a:t>Multilingual speech translation:</a:t>
            </a:r>
          </a:p>
          <a:p>
            <a:pPr marL="739775" lvl="3" indent="-173038">
              <a:spcBef>
                <a:spcPts val="200"/>
              </a:spcBef>
              <a:spcAft>
                <a:spcPts val="400"/>
              </a:spcAft>
              <a:buSzPct val="100000"/>
            </a:pPr>
            <a:r>
              <a:rPr lang="en-US" sz="1800" dirty="0"/>
              <a:t>Speech to text</a:t>
            </a:r>
          </a:p>
          <a:p>
            <a:pPr marL="739775" lvl="3" indent="-173038">
              <a:spcBef>
                <a:spcPts val="200"/>
              </a:spcBef>
              <a:spcAft>
                <a:spcPts val="400"/>
              </a:spcAft>
              <a:buSzPct val="100000"/>
            </a:pPr>
            <a:r>
              <a:rPr lang="en-US" sz="1800" dirty="0"/>
              <a:t>Speech to speech</a:t>
            </a:r>
          </a:p>
          <a:p>
            <a:pPr marL="107950" lvl="2" indent="0">
              <a:spcBef>
                <a:spcPts val="200"/>
              </a:spcBef>
              <a:spcAft>
                <a:spcPts val="400"/>
              </a:spcAft>
              <a:buSzPct val="100000"/>
              <a:buNone/>
            </a:pPr>
            <a:endParaRPr lang="en-US" sz="2000" i="1" dirty="0">
              <a:solidFill>
                <a:srgbClr val="1A1A1A"/>
              </a:solidFill>
            </a:endParaRPr>
          </a:p>
          <a:p>
            <a:endParaRPr lang="en-US" dirty="0"/>
          </a:p>
        </p:txBody>
      </p:sp>
      <p:sp>
        <p:nvSpPr>
          <p:cNvPr id="5" name="Footer Placeholder 4">
            <a:extLst>
              <a:ext uri="{FF2B5EF4-FFF2-40B4-BE49-F238E27FC236}">
                <a16:creationId xmlns:a16="http://schemas.microsoft.com/office/drawing/2014/main" id="{68994196-3B97-674D-A29B-4E056055852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7" name="Picture 6" descr="Diagram of Foundry Tools for translation.">
            <a:extLst>
              <a:ext uri="{FF2B5EF4-FFF2-40B4-BE49-F238E27FC236}">
                <a16:creationId xmlns:a16="http://schemas.microsoft.com/office/drawing/2014/main" id="{6D1E13F2-E242-7B9C-C685-6BB19F5462C0}"/>
              </a:ext>
            </a:extLst>
          </p:cNvPr>
          <p:cNvPicPr>
            <a:picLocks noChangeAspect="1"/>
          </p:cNvPicPr>
          <p:nvPr/>
        </p:nvPicPr>
        <p:blipFill>
          <a:blip r:embed="rId3"/>
          <a:srcRect l="1614" t="1938" r="1751" b="2235"/>
          <a:stretch>
            <a:fillRect/>
          </a:stretch>
        </p:blipFill>
        <p:spPr>
          <a:xfrm>
            <a:off x="6190343" y="1407886"/>
            <a:ext cx="5087257" cy="4666343"/>
          </a:xfrm>
          <a:prstGeom prst="rect">
            <a:avLst/>
          </a:prstGeom>
        </p:spPr>
      </p:pic>
    </p:spTree>
    <p:extLst>
      <p:ext uri="{BB962C8B-B14F-4D97-AF65-F5344CB8AC3E}">
        <p14:creationId xmlns:p14="http://schemas.microsoft.com/office/powerpoint/2010/main" val="267778101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D0EE-B248-0141-5C54-B26F797668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D3AF55-90AD-DE65-CC4C-CA259687E58C}"/>
              </a:ext>
            </a:extLst>
          </p:cNvPr>
          <p:cNvSpPr>
            <a:spLocks noGrp="1"/>
          </p:cNvSpPr>
          <p:nvPr>
            <p:ph type="title"/>
          </p:nvPr>
        </p:nvSpPr>
        <p:spPr>
          <a:xfrm>
            <a:off x="588261" y="585216"/>
            <a:ext cx="11011601" cy="492443"/>
          </a:xfrm>
        </p:spPr>
        <p:txBody>
          <a:bodyPr/>
          <a:lstStyle/>
          <a:p>
            <a:r>
              <a:rPr lang="en-US" sz="3200" dirty="0"/>
              <a:t>Translate text with Azure Translator</a:t>
            </a:r>
          </a:p>
        </p:txBody>
      </p:sp>
      <p:sp>
        <p:nvSpPr>
          <p:cNvPr id="3" name="Footer Placeholder 2">
            <a:extLst>
              <a:ext uri="{FF2B5EF4-FFF2-40B4-BE49-F238E27FC236}">
                <a16:creationId xmlns:a16="http://schemas.microsoft.com/office/drawing/2014/main" id="{99F469B7-FD1F-D22E-751E-6DF466FD3BFB}"/>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7" name="Graphic 6">
            <a:extLst>
              <a:ext uri="{FF2B5EF4-FFF2-40B4-BE49-F238E27FC236}">
                <a16:creationId xmlns:a16="http://schemas.microsoft.com/office/drawing/2014/main" id="{AEEA49CE-FCE4-49CB-4482-28A68D28C8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23119" y="2295324"/>
            <a:ext cx="515253" cy="541764"/>
          </a:xfrm>
          <a:prstGeom prst="rect">
            <a:avLst/>
          </a:prstGeom>
        </p:spPr>
      </p:pic>
      <p:sp>
        <p:nvSpPr>
          <p:cNvPr id="8" name="TextBox 7">
            <a:extLst>
              <a:ext uri="{FF2B5EF4-FFF2-40B4-BE49-F238E27FC236}">
                <a16:creationId xmlns:a16="http://schemas.microsoft.com/office/drawing/2014/main" id="{51E2EE58-9103-EEED-9C99-184AFC372E62}"/>
              </a:ext>
            </a:extLst>
          </p:cNvPr>
          <p:cNvSpPr txBox="1"/>
          <p:nvPr/>
        </p:nvSpPr>
        <p:spPr>
          <a:xfrm>
            <a:off x="6686282" y="2110489"/>
            <a:ext cx="713587" cy="218822"/>
          </a:xfrm>
          <a:prstGeom prst="rect">
            <a:avLst/>
          </a:prstGeom>
          <a:noFill/>
        </p:spPr>
        <p:txBody>
          <a:bodyPr wrap="none" lIns="0" tIns="0" rIns="0" bIns="0" rtlCol="0">
            <a:spAutoFit/>
          </a:bodyPr>
          <a:lstStyle/>
          <a:p>
            <a:pPr algn="l"/>
            <a:r>
              <a:rPr lang="en-US" sz="1200" dirty="0">
                <a:latin typeface="+mj-lt"/>
              </a:rPr>
              <a:t>Endpoint</a:t>
            </a:r>
          </a:p>
        </p:txBody>
      </p:sp>
      <p:sp>
        <p:nvSpPr>
          <p:cNvPr id="9" name="TextBox 8">
            <a:extLst>
              <a:ext uri="{FF2B5EF4-FFF2-40B4-BE49-F238E27FC236}">
                <a16:creationId xmlns:a16="http://schemas.microsoft.com/office/drawing/2014/main" id="{832BFC25-889F-F7A3-D84C-A63237F227A7}"/>
              </a:ext>
              <a:ext uri="{C183D7F6-B498-43B3-948B-1728B52AA6E4}">
                <adec:decorative xmlns:adec="http://schemas.microsoft.com/office/drawing/2017/decorative" val="0"/>
              </a:ext>
            </a:extLst>
          </p:cNvPr>
          <p:cNvSpPr txBox="1"/>
          <p:nvPr/>
        </p:nvSpPr>
        <p:spPr>
          <a:xfrm>
            <a:off x="7141032" y="2396929"/>
            <a:ext cx="4847766" cy="338554"/>
          </a:xfrm>
          <a:prstGeom prst="rect">
            <a:avLst/>
          </a:prstGeom>
          <a:noFill/>
        </p:spPr>
        <p:txBody>
          <a:bodyPr wrap="square">
            <a:spAutoFit/>
          </a:bodyPr>
          <a:lstStyle/>
          <a:p>
            <a:r>
              <a:rPr lang="en-US" sz="1600" b="0" i="1" dirty="0">
                <a:solidFill>
                  <a:srgbClr val="161616"/>
                </a:solidFill>
                <a:effectLst/>
                <a:latin typeface="SFMono-Regular"/>
              </a:rPr>
              <a:t>https://{foundry_resource}.cognitiveservices.azure.com/</a:t>
            </a:r>
            <a:endParaRPr lang="en-US" sz="1600" i="1" dirty="0"/>
          </a:p>
        </p:txBody>
      </p:sp>
      <p:cxnSp>
        <p:nvCxnSpPr>
          <p:cNvPr id="10" name="Straight Arrow Connector 1048">
            <a:extLst>
              <a:ext uri="{FF2B5EF4-FFF2-40B4-BE49-F238E27FC236}">
                <a16:creationId xmlns:a16="http://schemas.microsoft.com/office/drawing/2014/main" id="{0E3691AE-C30B-442F-9CB8-832D8E2C6742}"/>
              </a:ext>
            </a:extLst>
          </p:cNvPr>
          <p:cNvCxnSpPr>
            <a:cxnSpLocks/>
            <a:stCxn id="13" idx="3"/>
            <a:endCxn id="9" idx="2"/>
          </p:cNvCxnSpPr>
          <p:nvPr/>
        </p:nvCxnSpPr>
        <p:spPr>
          <a:xfrm flipV="1">
            <a:off x="9087514" y="2735483"/>
            <a:ext cx="477401" cy="1819688"/>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86DEAB58-686A-6FC5-E6BB-E754F2AE8971}"/>
              </a:ext>
            </a:extLst>
          </p:cNvPr>
          <p:cNvGrpSpPr/>
          <p:nvPr/>
        </p:nvGrpSpPr>
        <p:grpSpPr>
          <a:xfrm>
            <a:off x="8924092" y="4616349"/>
            <a:ext cx="1347382" cy="1416708"/>
            <a:chOff x="9069933" y="5258633"/>
            <a:chExt cx="1030507" cy="1083527"/>
          </a:xfrm>
        </p:grpSpPr>
        <p:sp>
          <p:nvSpPr>
            <p:cNvPr id="48" name="Rectangle: Top Corners Snipped 47">
              <a:extLst>
                <a:ext uri="{FF2B5EF4-FFF2-40B4-BE49-F238E27FC236}">
                  <a16:creationId xmlns:a16="http://schemas.microsoft.com/office/drawing/2014/main" id="{74CAAA93-460E-AA9E-8ECF-2BC9A9C9EF51}"/>
                </a:ext>
              </a:extLst>
            </p:cNvPr>
            <p:cNvSpPr/>
            <p:nvPr/>
          </p:nvSpPr>
          <p:spPr bwMode="auto">
            <a:xfrm>
              <a:off x="9246530" y="5820280"/>
              <a:ext cx="681208" cy="382092"/>
            </a:xfrm>
            <a:prstGeom prst="snip2SameRect">
              <a:avLst>
                <a:gd name="adj1" fmla="val 50000"/>
                <a:gd name="adj2" fmla="val 0"/>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9" name="Rectangle 48">
              <a:extLst>
                <a:ext uri="{FF2B5EF4-FFF2-40B4-BE49-F238E27FC236}">
                  <a16:creationId xmlns:a16="http://schemas.microsoft.com/office/drawing/2014/main" id="{E502D224-ED13-9A3E-D373-A5CE81DE7956}"/>
                </a:ext>
              </a:extLst>
            </p:cNvPr>
            <p:cNvSpPr/>
            <p:nvPr/>
          </p:nvSpPr>
          <p:spPr bwMode="auto">
            <a:xfrm>
              <a:off x="9495600" y="5723741"/>
              <a:ext cx="189440" cy="152254"/>
            </a:xfrm>
            <a:prstGeom prst="rect">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0" name="Rectangle 49">
              <a:extLst>
                <a:ext uri="{FF2B5EF4-FFF2-40B4-BE49-F238E27FC236}">
                  <a16:creationId xmlns:a16="http://schemas.microsoft.com/office/drawing/2014/main" id="{B9507F90-57A3-4880-FF47-566259325FFA}"/>
                </a:ext>
              </a:extLst>
            </p:cNvPr>
            <p:cNvSpPr/>
            <p:nvPr/>
          </p:nvSpPr>
          <p:spPr bwMode="auto">
            <a:xfrm>
              <a:off x="9427033" y="6052458"/>
              <a:ext cx="310635" cy="24645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1" name="Oval 50">
              <a:extLst>
                <a:ext uri="{FF2B5EF4-FFF2-40B4-BE49-F238E27FC236}">
                  <a16:creationId xmlns:a16="http://schemas.microsoft.com/office/drawing/2014/main" id="{67F96A8F-C44F-FC0D-B026-7DE1DF3EB369}"/>
                </a:ext>
              </a:extLst>
            </p:cNvPr>
            <p:cNvSpPr/>
            <p:nvPr/>
          </p:nvSpPr>
          <p:spPr bwMode="auto">
            <a:xfrm>
              <a:off x="9450285" y="5442620"/>
              <a:ext cx="287383" cy="338554"/>
            </a:xfrm>
            <a:prstGeom prst="ellipse">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2" name="Graphic 51" descr="Programmer male with solid fill">
              <a:extLst>
                <a:ext uri="{FF2B5EF4-FFF2-40B4-BE49-F238E27FC236}">
                  <a16:creationId xmlns:a16="http://schemas.microsoft.com/office/drawing/2014/main" id="{A519C6B3-B9FF-F781-4A63-24B0FE30E8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69933" y="5258633"/>
              <a:ext cx="1030507" cy="1083527"/>
            </a:xfrm>
            <a:prstGeom prst="rect">
              <a:avLst/>
            </a:prstGeom>
          </p:spPr>
        </p:pic>
      </p:grpSp>
      <p:pic>
        <p:nvPicPr>
          <p:cNvPr id="12" name="Graphic 11" descr="Ticket with solid fill">
            <a:extLst>
              <a:ext uri="{FF2B5EF4-FFF2-40B4-BE49-F238E27FC236}">
                <a16:creationId xmlns:a16="http://schemas.microsoft.com/office/drawing/2014/main" id="{8CB8E0AD-12B3-1C60-6BC9-E35827C74F2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106681" y="4297422"/>
            <a:ext cx="517812" cy="517812"/>
          </a:xfrm>
          <a:prstGeom prst="rect">
            <a:avLst/>
          </a:prstGeom>
        </p:spPr>
      </p:pic>
      <p:pic>
        <p:nvPicPr>
          <p:cNvPr id="13" name="Graphic 12" descr="Key with solid fill">
            <a:extLst>
              <a:ext uri="{FF2B5EF4-FFF2-40B4-BE49-F238E27FC236}">
                <a16:creationId xmlns:a16="http://schemas.microsoft.com/office/drawing/2014/main" id="{CF547699-CB08-3D51-EC0D-1E4D2446C6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39354" y="4214417"/>
            <a:ext cx="648160" cy="681508"/>
          </a:xfrm>
          <a:prstGeom prst="rect">
            <a:avLst/>
          </a:prstGeom>
        </p:spPr>
      </p:pic>
      <p:cxnSp>
        <p:nvCxnSpPr>
          <p:cNvPr id="14" name="Straight Arrow Connector 1048">
            <a:extLst>
              <a:ext uri="{FF2B5EF4-FFF2-40B4-BE49-F238E27FC236}">
                <a16:creationId xmlns:a16="http://schemas.microsoft.com/office/drawing/2014/main" id="{8407EC48-C0BB-9B36-A2C4-CC645EF1E314}"/>
              </a:ext>
            </a:extLst>
          </p:cNvPr>
          <p:cNvCxnSpPr>
            <a:cxnSpLocks/>
            <a:stCxn id="48" idx="2"/>
          </p:cNvCxnSpPr>
          <p:nvPr/>
        </p:nvCxnSpPr>
        <p:spPr>
          <a:xfrm rot="10800000">
            <a:off x="8769900" y="4712537"/>
            <a:ext cx="385093" cy="887957"/>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048">
            <a:extLst>
              <a:ext uri="{FF2B5EF4-FFF2-40B4-BE49-F238E27FC236}">
                <a16:creationId xmlns:a16="http://schemas.microsoft.com/office/drawing/2014/main" id="{61A7B0F3-0C4E-8EC8-5D76-98488019AC2C}"/>
              </a:ext>
            </a:extLst>
          </p:cNvPr>
          <p:cNvCxnSpPr>
            <a:cxnSpLocks/>
            <a:stCxn id="48" idx="0"/>
            <a:endCxn id="12" idx="2"/>
          </p:cNvCxnSpPr>
          <p:nvPr/>
        </p:nvCxnSpPr>
        <p:spPr>
          <a:xfrm flipV="1">
            <a:off x="10045668" y="4815234"/>
            <a:ext cx="319919" cy="785259"/>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048">
            <a:extLst>
              <a:ext uri="{FF2B5EF4-FFF2-40B4-BE49-F238E27FC236}">
                <a16:creationId xmlns:a16="http://schemas.microsoft.com/office/drawing/2014/main" id="{424D3EF3-4D9A-6DE5-181A-2D1CDEB92DE9}"/>
              </a:ext>
            </a:extLst>
          </p:cNvPr>
          <p:cNvCxnSpPr>
            <a:cxnSpLocks/>
            <a:stCxn id="12" idx="1"/>
            <a:endCxn id="9" idx="2"/>
          </p:cNvCxnSpPr>
          <p:nvPr/>
        </p:nvCxnSpPr>
        <p:spPr>
          <a:xfrm rot="10800000">
            <a:off x="9564915" y="2735484"/>
            <a:ext cx="541766" cy="1820845"/>
          </a:xfrm>
          <a:prstGeom prst="bentConnector2">
            <a:avLst/>
          </a:prstGeom>
          <a:ln w="28575">
            <a:solidFill>
              <a:srgbClr val="00B0F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C0723BA-3337-B25C-D096-AE68BA8ECC28}"/>
              </a:ext>
            </a:extLst>
          </p:cNvPr>
          <p:cNvSpPr txBox="1"/>
          <p:nvPr/>
        </p:nvSpPr>
        <p:spPr>
          <a:xfrm>
            <a:off x="8309744" y="4139551"/>
            <a:ext cx="573683" cy="184666"/>
          </a:xfrm>
          <a:prstGeom prst="rect">
            <a:avLst/>
          </a:prstGeom>
          <a:noFill/>
        </p:spPr>
        <p:txBody>
          <a:bodyPr wrap="none" lIns="0" tIns="0" rIns="0" bIns="0" rtlCol="0">
            <a:spAutoFit/>
          </a:bodyPr>
          <a:lstStyle/>
          <a:p>
            <a:pPr algn="l"/>
            <a:r>
              <a:rPr lang="en-US" sz="1200" dirty="0">
                <a:latin typeface="+mj-lt"/>
              </a:rPr>
              <a:t>API  Key</a:t>
            </a:r>
          </a:p>
        </p:txBody>
      </p:sp>
      <p:sp>
        <p:nvSpPr>
          <p:cNvPr id="18" name="TextBox 17">
            <a:extLst>
              <a:ext uri="{FF2B5EF4-FFF2-40B4-BE49-F238E27FC236}">
                <a16:creationId xmlns:a16="http://schemas.microsoft.com/office/drawing/2014/main" id="{B018D1A9-E921-08A0-32E7-4FA8AACEF3D1}"/>
              </a:ext>
            </a:extLst>
          </p:cNvPr>
          <p:cNvSpPr txBox="1"/>
          <p:nvPr/>
        </p:nvSpPr>
        <p:spPr>
          <a:xfrm>
            <a:off x="10022289" y="4118139"/>
            <a:ext cx="790281" cy="184666"/>
          </a:xfrm>
          <a:prstGeom prst="rect">
            <a:avLst/>
          </a:prstGeom>
          <a:noFill/>
        </p:spPr>
        <p:txBody>
          <a:bodyPr wrap="none" lIns="0" tIns="0" rIns="0" bIns="0" rtlCol="0">
            <a:spAutoFit/>
          </a:bodyPr>
          <a:lstStyle/>
          <a:p>
            <a:pPr algn="l"/>
            <a:r>
              <a:rPr lang="en-US" sz="1200" dirty="0">
                <a:latin typeface="+mj-lt"/>
              </a:rPr>
              <a:t>Auth Token</a:t>
            </a:r>
          </a:p>
        </p:txBody>
      </p:sp>
      <p:grpSp>
        <p:nvGrpSpPr>
          <p:cNvPr id="19" name="Group 18">
            <a:extLst>
              <a:ext uri="{FF2B5EF4-FFF2-40B4-BE49-F238E27FC236}">
                <a16:creationId xmlns:a16="http://schemas.microsoft.com/office/drawing/2014/main" id="{D7865107-12FC-5492-D4CC-8366907115D1}"/>
              </a:ext>
            </a:extLst>
          </p:cNvPr>
          <p:cNvGrpSpPr/>
          <p:nvPr/>
        </p:nvGrpSpPr>
        <p:grpSpPr>
          <a:xfrm>
            <a:off x="8583945" y="822203"/>
            <a:ext cx="1461723" cy="1469228"/>
            <a:chOff x="7099202" y="2357199"/>
            <a:chExt cx="916211" cy="875852"/>
          </a:xfrm>
        </p:grpSpPr>
        <p:sp>
          <p:nvSpPr>
            <p:cNvPr id="45" name="Rectangle 44">
              <a:extLst>
                <a:ext uri="{FF2B5EF4-FFF2-40B4-BE49-F238E27FC236}">
                  <a16:creationId xmlns:a16="http://schemas.microsoft.com/office/drawing/2014/main" id="{0EFEAD80-8CB1-F5D0-C014-E02121A76874}"/>
                </a:ext>
              </a:extLst>
            </p:cNvPr>
            <p:cNvSpPr/>
            <p:nvPr/>
          </p:nvSpPr>
          <p:spPr bwMode="auto">
            <a:xfrm>
              <a:off x="7320947" y="2651342"/>
              <a:ext cx="694466" cy="581709"/>
            </a:xfrm>
            <a:prstGeom prst="rect">
              <a:avLst/>
            </a:prstGeom>
            <a:solidFill>
              <a:schemeClr val="bg1"/>
            </a:solidFill>
            <a:ln w="28575">
              <a:solidFill>
                <a:srgbClr val="7030A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6" name="Picture 45">
              <a:extLst>
                <a:ext uri="{FF2B5EF4-FFF2-40B4-BE49-F238E27FC236}">
                  <a16:creationId xmlns:a16="http://schemas.microsoft.com/office/drawing/2014/main" id="{1AB0AF16-B9C9-96F2-57F2-D91F6539D337}"/>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099202" y="2357199"/>
              <a:ext cx="549437" cy="588287"/>
            </a:xfrm>
            <a:prstGeom prst="rect">
              <a:avLst/>
            </a:prstGeom>
          </p:spPr>
        </p:pic>
        <p:pic>
          <p:nvPicPr>
            <p:cNvPr id="47" name="Picture 46">
              <a:extLst>
                <a:ext uri="{FF2B5EF4-FFF2-40B4-BE49-F238E27FC236}">
                  <a16:creationId xmlns:a16="http://schemas.microsoft.com/office/drawing/2014/main" id="{3B04C417-482F-58BB-B467-FA475B7170CB}"/>
                </a:ext>
              </a:extLst>
            </p:cNvPr>
            <p:cNvPicPr>
              <a:picLocks noChangeAspect="1"/>
            </p:cNvPicPr>
            <p:nvPr/>
          </p:nvPicPr>
          <p:blipFill>
            <a:blip r:embed="rId8"/>
            <a:srcRect/>
            <a:stretch/>
          </p:blipFill>
          <p:spPr>
            <a:xfrm>
              <a:off x="7439580" y="2731882"/>
              <a:ext cx="457200" cy="434828"/>
            </a:xfrm>
            <a:prstGeom prst="rect">
              <a:avLst/>
            </a:prstGeom>
          </p:spPr>
        </p:pic>
      </p:grpSp>
      <p:cxnSp>
        <p:nvCxnSpPr>
          <p:cNvPr id="34" name="Straight Arrow Connector 33">
            <a:extLst>
              <a:ext uri="{FF2B5EF4-FFF2-40B4-BE49-F238E27FC236}">
                <a16:creationId xmlns:a16="http://schemas.microsoft.com/office/drawing/2014/main" id="{5B174111-43A5-A520-0002-9FBBDFE6AE9A}"/>
              </a:ext>
            </a:extLst>
          </p:cNvPr>
          <p:cNvCxnSpPr>
            <a:cxnSpLocks/>
            <a:stCxn id="39" idx="1"/>
          </p:cNvCxnSpPr>
          <p:nvPr/>
        </p:nvCxnSpPr>
        <p:spPr>
          <a:xfrm flipV="1">
            <a:off x="9291902" y="3021923"/>
            <a:ext cx="0" cy="608747"/>
          </a:xfrm>
          <a:prstGeom prst="straightConnector1">
            <a:avLst/>
          </a:prstGeom>
          <a:ln w="38100">
            <a:solidFill>
              <a:schemeClr val="tx2">
                <a:lumMod val="50000"/>
                <a:lumOff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24B1DEB5-E537-E2F6-1CB0-8E7ABA68EF19}"/>
              </a:ext>
            </a:extLst>
          </p:cNvPr>
          <p:cNvGrpSpPr/>
          <p:nvPr/>
        </p:nvGrpSpPr>
        <p:grpSpPr>
          <a:xfrm>
            <a:off x="9125910" y="3213368"/>
            <a:ext cx="408656" cy="443418"/>
            <a:chOff x="6535951" y="4416034"/>
            <a:chExt cx="1123530" cy="1219100"/>
          </a:xfrm>
        </p:grpSpPr>
        <p:grpSp>
          <p:nvGrpSpPr>
            <p:cNvPr id="36" name="Group 35">
              <a:extLst>
                <a:ext uri="{FF2B5EF4-FFF2-40B4-BE49-F238E27FC236}">
                  <a16:creationId xmlns:a16="http://schemas.microsoft.com/office/drawing/2014/main" id="{DCA7BF19-936F-2184-8729-F40D0ED91A7C}"/>
                </a:ext>
              </a:extLst>
            </p:cNvPr>
            <p:cNvGrpSpPr/>
            <p:nvPr/>
          </p:nvGrpSpPr>
          <p:grpSpPr>
            <a:xfrm>
              <a:off x="6745081" y="4416034"/>
              <a:ext cx="914400" cy="914400"/>
              <a:chOff x="6745081" y="4416034"/>
              <a:chExt cx="914400" cy="914400"/>
            </a:xfrm>
          </p:grpSpPr>
          <p:sp>
            <p:nvSpPr>
              <p:cNvPr id="43" name="Rectangle: Single Corner Snipped 42">
                <a:extLst>
                  <a:ext uri="{FF2B5EF4-FFF2-40B4-BE49-F238E27FC236}">
                    <a16:creationId xmlns:a16="http://schemas.microsoft.com/office/drawing/2014/main" id="{682ED58A-68C7-B38F-BF7A-E52CDB6A6160}"/>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8788487A-B96C-A3DB-D213-F50FA9CF017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nvGrpSpPr>
            <p:cNvPr id="37" name="Group 36">
              <a:extLst>
                <a:ext uri="{FF2B5EF4-FFF2-40B4-BE49-F238E27FC236}">
                  <a16:creationId xmlns:a16="http://schemas.microsoft.com/office/drawing/2014/main" id="{6F8BB23F-6A97-5108-C3E3-58F7405BF8D8}"/>
                </a:ext>
              </a:extLst>
            </p:cNvPr>
            <p:cNvGrpSpPr/>
            <p:nvPr/>
          </p:nvGrpSpPr>
          <p:grpSpPr>
            <a:xfrm>
              <a:off x="6640516" y="4568384"/>
              <a:ext cx="914400" cy="914400"/>
              <a:chOff x="6745081" y="4416034"/>
              <a:chExt cx="914400" cy="914400"/>
            </a:xfrm>
          </p:grpSpPr>
          <p:sp>
            <p:nvSpPr>
              <p:cNvPr id="41" name="Rectangle: Single Corner Snipped 40">
                <a:extLst>
                  <a:ext uri="{FF2B5EF4-FFF2-40B4-BE49-F238E27FC236}">
                    <a16:creationId xmlns:a16="http://schemas.microsoft.com/office/drawing/2014/main" id="{28C4FC4E-DBD9-7AE7-C1DE-4F83475AFD3F}"/>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2" name="Graphic 41" descr="Document outline">
                <a:extLst>
                  <a:ext uri="{FF2B5EF4-FFF2-40B4-BE49-F238E27FC236}">
                    <a16:creationId xmlns:a16="http://schemas.microsoft.com/office/drawing/2014/main" id="{05F7433B-6D83-1909-18EC-569E1E9144C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nvGrpSpPr>
            <p:cNvPr id="38" name="Group 37">
              <a:extLst>
                <a:ext uri="{FF2B5EF4-FFF2-40B4-BE49-F238E27FC236}">
                  <a16:creationId xmlns:a16="http://schemas.microsoft.com/office/drawing/2014/main" id="{48ADF1AF-4161-ACDB-C0F5-8CADD9804F58}"/>
                </a:ext>
              </a:extLst>
            </p:cNvPr>
            <p:cNvGrpSpPr/>
            <p:nvPr/>
          </p:nvGrpSpPr>
          <p:grpSpPr>
            <a:xfrm>
              <a:off x="6535951" y="4720734"/>
              <a:ext cx="914400" cy="914400"/>
              <a:chOff x="6745081" y="4416034"/>
              <a:chExt cx="914400" cy="914400"/>
            </a:xfrm>
          </p:grpSpPr>
          <p:sp>
            <p:nvSpPr>
              <p:cNvPr id="39" name="Rectangle: Single Corner Snipped 38">
                <a:extLst>
                  <a:ext uri="{FF2B5EF4-FFF2-40B4-BE49-F238E27FC236}">
                    <a16:creationId xmlns:a16="http://schemas.microsoft.com/office/drawing/2014/main" id="{B81D37EF-06C9-3AC3-74ED-A161AAD38E93}"/>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0" name="Graphic 39" descr="Document outline">
                <a:extLst>
                  <a:ext uri="{FF2B5EF4-FFF2-40B4-BE49-F238E27FC236}">
                    <a16:creationId xmlns:a16="http://schemas.microsoft.com/office/drawing/2014/main" id="{1716B901-B6FB-0F05-856B-D2A700397B6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cxnSp>
        <p:nvCxnSpPr>
          <p:cNvPr id="30" name="Straight Arrow Connector 29">
            <a:extLst>
              <a:ext uri="{FF2B5EF4-FFF2-40B4-BE49-F238E27FC236}">
                <a16:creationId xmlns:a16="http://schemas.microsoft.com/office/drawing/2014/main" id="{117D1820-DCDE-7EE8-CD96-B92420D20F4E}"/>
              </a:ext>
            </a:extLst>
          </p:cNvPr>
          <p:cNvCxnSpPr>
            <a:cxnSpLocks/>
          </p:cNvCxnSpPr>
          <p:nvPr/>
        </p:nvCxnSpPr>
        <p:spPr>
          <a:xfrm>
            <a:off x="9810951" y="2944109"/>
            <a:ext cx="0" cy="597109"/>
          </a:xfrm>
          <a:prstGeom prst="straightConnector1">
            <a:avLst/>
          </a:prstGeom>
          <a:ln w="38100">
            <a:solidFill>
              <a:schemeClr val="tx2">
                <a:lumMod val="50000"/>
                <a:lumOff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DA9CCB82-0E27-8BA0-E1F0-DE1D58BDD1F5}"/>
              </a:ext>
            </a:extLst>
          </p:cNvPr>
          <p:cNvGrpSpPr/>
          <p:nvPr/>
        </p:nvGrpSpPr>
        <p:grpSpPr>
          <a:xfrm>
            <a:off x="9364867" y="3932363"/>
            <a:ext cx="490724" cy="539888"/>
            <a:chOff x="6645874" y="3598738"/>
            <a:chExt cx="469392" cy="516418"/>
          </a:xfrm>
        </p:grpSpPr>
        <p:sp>
          <p:nvSpPr>
            <p:cNvPr id="24" name="Rectangle: Single Corner Snipped 23">
              <a:extLst>
                <a:ext uri="{FF2B5EF4-FFF2-40B4-BE49-F238E27FC236}">
                  <a16:creationId xmlns:a16="http://schemas.microsoft.com/office/drawing/2014/main" id="{15A03D3E-1810-D4FC-D42C-4FDC7BAFEA94}"/>
                </a:ext>
              </a:extLst>
            </p:cNvPr>
            <p:cNvSpPr/>
            <p:nvPr/>
          </p:nvSpPr>
          <p:spPr bwMode="auto">
            <a:xfrm>
              <a:off x="6669741" y="3598738"/>
              <a:ext cx="293391" cy="424812"/>
            </a:xfrm>
            <a:prstGeom prst="snip1Rect">
              <a:avLst>
                <a:gd name="adj" fmla="val 28334"/>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4FB8951D-9AFF-9B53-212C-D4940B37C8A2}"/>
                </a:ext>
              </a:extLst>
            </p:cNvPr>
            <p:cNvGrpSpPr/>
            <p:nvPr/>
          </p:nvGrpSpPr>
          <p:grpSpPr>
            <a:xfrm>
              <a:off x="6645874" y="3643608"/>
              <a:ext cx="469392" cy="471548"/>
              <a:chOff x="5773647" y="3106653"/>
              <a:chExt cx="866574" cy="870550"/>
            </a:xfrm>
          </p:grpSpPr>
          <p:pic>
            <p:nvPicPr>
              <p:cNvPr id="28" name="Graphic 27" descr="Earth globe: Americas with solid fill">
                <a:extLst>
                  <a:ext uri="{FF2B5EF4-FFF2-40B4-BE49-F238E27FC236}">
                    <a16:creationId xmlns:a16="http://schemas.microsoft.com/office/drawing/2014/main" id="{BBF01C27-6BEA-23EC-8F4F-07E2805EF8D2}"/>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5773647" y="3106653"/>
                <a:ext cx="644691" cy="644694"/>
              </a:xfrm>
              <a:prstGeom prst="rect">
                <a:avLst/>
              </a:prstGeom>
            </p:spPr>
          </p:pic>
          <p:pic>
            <p:nvPicPr>
              <p:cNvPr id="29" name="Graphic 28" descr="Single gear with solid fill">
                <a:extLst>
                  <a:ext uri="{FF2B5EF4-FFF2-40B4-BE49-F238E27FC236}">
                    <a16:creationId xmlns:a16="http://schemas.microsoft.com/office/drawing/2014/main" id="{A62C1C66-0BD0-7AB7-21B9-16E464D976B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016544" y="3353524"/>
                <a:ext cx="623677" cy="623679"/>
              </a:xfrm>
              <a:prstGeom prst="rect">
                <a:avLst/>
              </a:prstGeom>
            </p:spPr>
          </p:pic>
        </p:grpSp>
      </p:grpSp>
      <p:sp>
        <p:nvSpPr>
          <p:cNvPr id="23" name="TextBox 22">
            <a:extLst>
              <a:ext uri="{FF2B5EF4-FFF2-40B4-BE49-F238E27FC236}">
                <a16:creationId xmlns:a16="http://schemas.microsoft.com/office/drawing/2014/main" id="{53F2AD75-43A4-6CD6-ACAA-20265BCE40D8}"/>
              </a:ext>
            </a:extLst>
          </p:cNvPr>
          <p:cNvSpPr txBox="1"/>
          <p:nvPr/>
        </p:nvSpPr>
        <p:spPr>
          <a:xfrm>
            <a:off x="8906939" y="3797107"/>
            <a:ext cx="1452064" cy="184666"/>
          </a:xfrm>
          <a:prstGeom prst="rect">
            <a:avLst/>
          </a:prstGeom>
          <a:solidFill>
            <a:schemeClr val="bg1"/>
          </a:solidFill>
        </p:spPr>
        <p:txBody>
          <a:bodyPr wrap="none" lIns="0" tIns="0" rIns="0" bIns="0" rtlCol="0">
            <a:spAutoFit/>
          </a:bodyPr>
          <a:lstStyle/>
          <a:p>
            <a:pPr algn="l"/>
            <a:r>
              <a:rPr lang="en-US" sz="1200" dirty="0" err="1">
                <a:latin typeface="+mj-lt"/>
              </a:rPr>
              <a:t>TextTranslationClient</a:t>
            </a:r>
            <a:endParaRPr lang="en-US" sz="1200" dirty="0">
              <a:latin typeface="+mj-lt"/>
            </a:endParaRPr>
          </a:p>
        </p:txBody>
      </p:sp>
      <p:grpSp>
        <p:nvGrpSpPr>
          <p:cNvPr id="59" name="Group 58">
            <a:extLst>
              <a:ext uri="{FF2B5EF4-FFF2-40B4-BE49-F238E27FC236}">
                <a16:creationId xmlns:a16="http://schemas.microsoft.com/office/drawing/2014/main" id="{9DB3B51B-C0F9-BF4B-9046-A6911055961A}"/>
              </a:ext>
            </a:extLst>
          </p:cNvPr>
          <p:cNvGrpSpPr/>
          <p:nvPr/>
        </p:nvGrpSpPr>
        <p:grpSpPr>
          <a:xfrm>
            <a:off x="9613633" y="2923209"/>
            <a:ext cx="408656" cy="443418"/>
            <a:chOff x="6535951" y="4416034"/>
            <a:chExt cx="1123530" cy="1219100"/>
          </a:xfrm>
        </p:grpSpPr>
        <p:grpSp>
          <p:nvGrpSpPr>
            <p:cNvPr id="60" name="Group 59">
              <a:extLst>
                <a:ext uri="{FF2B5EF4-FFF2-40B4-BE49-F238E27FC236}">
                  <a16:creationId xmlns:a16="http://schemas.microsoft.com/office/drawing/2014/main" id="{A9FCC410-735B-7AE0-798A-70B73DF9B197}"/>
                </a:ext>
              </a:extLst>
            </p:cNvPr>
            <p:cNvGrpSpPr/>
            <p:nvPr/>
          </p:nvGrpSpPr>
          <p:grpSpPr>
            <a:xfrm>
              <a:off x="6745081" y="4416034"/>
              <a:ext cx="914400" cy="914400"/>
              <a:chOff x="6745081" y="4416034"/>
              <a:chExt cx="914400" cy="914400"/>
            </a:xfrm>
          </p:grpSpPr>
          <p:sp>
            <p:nvSpPr>
              <p:cNvPr id="67" name="Rectangle: Single Corner Snipped 66">
                <a:extLst>
                  <a:ext uri="{FF2B5EF4-FFF2-40B4-BE49-F238E27FC236}">
                    <a16:creationId xmlns:a16="http://schemas.microsoft.com/office/drawing/2014/main" id="{F043A0EC-6C55-310D-B38E-9A18DE19B101}"/>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8" name="Graphic 67" descr="Document outline">
                <a:extLst>
                  <a:ext uri="{FF2B5EF4-FFF2-40B4-BE49-F238E27FC236}">
                    <a16:creationId xmlns:a16="http://schemas.microsoft.com/office/drawing/2014/main" id="{FCB3B752-7A54-F5C0-B654-2DBC464EE49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nvGrpSpPr>
            <p:cNvPr id="61" name="Group 60">
              <a:extLst>
                <a:ext uri="{FF2B5EF4-FFF2-40B4-BE49-F238E27FC236}">
                  <a16:creationId xmlns:a16="http://schemas.microsoft.com/office/drawing/2014/main" id="{8D40C97C-859A-3A70-4EB9-A8F87905F327}"/>
                </a:ext>
              </a:extLst>
            </p:cNvPr>
            <p:cNvGrpSpPr/>
            <p:nvPr/>
          </p:nvGrpSpPr>
          <p:grpSpPr>
            <a:xfrm>
              <a:off x="6640516" y="4568384"/>
              <a:ext cx="914400" cy="914400"/>
              <a:chOff x="6745081" y="4416034"/>
              <a:chExt cx="914400" cy="914400"/>
            </a:xfrm>
          </p:grpSpPr>
          <p:sp>
            <p:nvSpPr>
              <p:cNvPr id="65" name="Rectangle: Single Corner Snipped 64">
                <a:extLst>
                  <a:ext uri="{FF2B5EF4-FFF2-40B4-BE49-F238E27FC236}">
                    <a16:creationId xmlns:a16="http://schemas.microsoft.com/office/drawing/2014/main" id="{BA169782-D439-EB13-07A0-86855A56E196}"/>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6" name="Graphic 65" descr="Document outline">
                <a:extLst>
                  <a:ext uri="{FF2B5EF4-FFF2-40B4-BE49-F238E27FC236}">
                    <a16:creationId xmlns:a16="http://schemas.microsoft.com/office/drawing/2014/main" id="{37AC8774-7C34-2636-1FFD-1B4826E26F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nvGrpSpPr>
            <p:cNvPr id="62" name="Group 61">
              <a:extLst>
                <a:ext uri="{FF2B5EF4-FFF2-40B4-BE49-F238E27FC236}">
                  <a16:creationId xmlns:a16="http://schemas.microsoft.com/office/drawing/2014/main" id="{365DCAF9-C443-7693-79B4-79A68951BA74}"/>
                </a:ext>
              </a:extLst>
            </p:cNvPr>
            <p:cNvGrpSpPr/>
            <p:nvPr/>
          </p:nvGrpSpPr>
          <p:grpSpPr>
            <a:xfrm>
              <a:off x="6535951" y="4720734"/>
              <a:ext cx="914400" cy="914400"/>
              <a:chOff x="6745081" y="4416034"/>
              <a:chExt cx="914400" cy="914400"/>
            </a:xfrm>
          </p:grpSpPr>
          <p:sp>
            <p:nvSpPr>
              <p:cNvPr id="63" name="Rectangle: Single Corner Snipped 62">
                <a:extLst>
                  <a:ext uri="{FF2B5EF4-FFF2-40B4-BE49-F238E27FC236}">
                    <a16:creationId xmlns:a16="http://schemas.microsoft.com/office/drawing/2014/main" id="{1CF45F30-1EDF-79BB-0945-8FB1E4D5C911}"/>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4" name="Graphic 63" descr="Document outline">
                <a:extLst>
                  <a:ext uri="{FF2B5EF4-FFF2-40B4-BE49-F238E27FC236}">
                    <a16:creationId xmlns:a16="http://schemas.microsoft.com/office/drawing/2014/main" id="{04815919-FA1C-44C3-F457-41D71C6A010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081" y="4416034"/>
                <a:ext cx="914400" cy="914400"/>
              </a:xfrm>
              <a:prstGeom prst="rect">
                <a:avLst/>
              </a:prstGeom>
            </p:spPr>
          </p:pic>
        </p:grpSp>
      </p:grpSp>
      <p:sp>
        <p:nvSpPr>
          <p:cNvPr id="73" name="TextBox 72">
            <a:extLst>
              <a:ext uri="{FF2B5EF4-FFF2-40B4-BE49-F238E27FC236}">
                <a16:creationId xmlns:a16="http://schemas.microsoft.com/office/drawing/2014/main" id="{2B44DD74-212A-AF3A-8880-90B29788D0A2}"/>
              </a:ext>
              <a:ext uri="{C183D7F6-B498-43B3-948B-1728B52AA6E4}">
                <adec:decorative xmlns:adec="http://schemas.microsoft.com/office/drawing/2017/decorative" val="0"/>
              </a:ext>
            </a:extLst>
          </p:cNvPr>
          <p:cNvSpPr txBox="1"/>
          <p:nvPr/>
        </p:nvSpPr>
        <p:spPr>
          <a:xfrm>
            <a:off x="598897" y="1699451"/>
            <a:ext cx="7255305" cy="4154984"/>
          </a:xfrm>
          <a:prstGeom prst="rect">
            <a:avLst/>
          </a:prstGeom>
          <a:noFill/>
        </p:spPr>
        <p:txBody>
          <a:bodyPr wrap="square">
            <a:spAutoFit/>
          </a:bodyPr>
          <a:lstStyle/>
          <a:p>
            <a:pPr marL="457200" indent="-457200" algn="l">
              <a:spcAft>
                <a:spcPts val="600"/>
              </a:spcAft>
              <a:buClr>
                <a:schemeClr val="accent2">
                  <a:lumMod val="75000"/>
                </a:schemeClr>
              </a:buClr>
              <a:buFont typeface="+mj-lt"/>
              <a:buAutoNum type="arabicPeriod"/>
            </a:pPr>
            <a:r>
              <a:rPr lang="en-US" sz="2200" i="0" dirty="0">
                <a:solidFill>
                  <a:srgbClr val="161616"/>
                </a:solidFill>
                <a:effectLst/>
                <a:latin typeface="Segoe UI" panose="020B0502040204020203" pitchFamily="34" charset="0"/>
              </a:rPr>
              <a:t>Connect to the API</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Endpoint:</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Foundry resource</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Global / Regional translator endpoint</a:t>
            </a:r>
          </a:p>
          <a:p>
            <a:pPr marL="914383" lvl="1" indent="-457200">
              <a:spcAft>
                <a:spcPts val="600"/>
              </a:spcAft>
              <a:buClr>
                <a:schemeClr val="accent2">
                  <a:lumMod val="75000"/>
                </a:schemeClr>
              </a:buClr>
              <a:buFont typeface="Arial" panose="020B0604020202020204" pitchFamily="34" charset="0"/>
              <a:buChar char="•"/>
            </a:pPr>
            <a:r>
              <a:rPr lang="en-US" sz="2000" b="1" dirty="0">
                <a:solidFill>
                  <a:srgbClr val="161616"/>
                </a:solidFill>
                <a:latin typeface="Segoe UI" panose="020B0502040204020203" pitchFamily="34" charset="0"/>
              </a:rPr>
              <a:t>Credentials:</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Microsoft Foundry project API key</a:t>
            </a:r>
          </a:p>
          <a:p>
            <a:pPr marL="1371567" lvl="2" indent="-457200">
              <a:spcAft>
                <a:spcPts val="600"/>
              </a:spcAft>
              <a:buClr>
                <a:schemeClr val="accent2">
                  <a:lumMod val="75000"/>
                </a:schemeClr>
              </a:buClr>
              <a:buFont typeface="Arial" panose="020B0604020202020204" pitchFamily="34" charset="0"/>
              <a:buChar char="•"/>
            </a:pPr>
            <a:r>
              <a:rPr lang="en-US" sz="1800" dirty="0">
                <a:solidFill>
                  <a:srgbClr val="161616"/>
                </a:solidFill>
                <a:latin typeface="Segoe UI" panose="020B0502040204020203" pitchFamily="34" charset="0"/>
              </a:rPr>
              <a:t>Authentication token</a:t>
            </a:r>
          </a:p>
          <a:p>
            <a:pPr marL="457200" indent="-457200">
              <a:spcAft>
                <a:spcPts val="600"/>
              </a:spcAft>
              <a:buClr>
                <a:schemeClr val="accent2">
                  <a:lumMod val="75000"/>
                </a:schemeClr>
              </a:buClr>
              <a:buFont typeface="+mj-lt"/>
              <a:buAutoNum type="arabicPeriod"/>
            </a:pPr>
            <a:r>
              <a:rPr lang="en-US" sz="2000" dirty="0">
                <a:solidFill>
                  <a:srgbClr val="161616"/>
                </a:solidFill>
                <a:latin typeface="Segoe UI" panose="020B0502040204020203" pitchFamily="34" charset="0"/>
              </a:rPr>
              <a:t>Use a </a:t>
            </a:r>
            <a:r>
              <a:rPr lang="en-US" sz="2000" i="1" dirty="0" err="1">
                <a:solidFill>
                  <a:srgbClr val="161616"/>
                </a:solidFill>
                <a:latin typeface="Segoe UI" panose="020B0502040204020203" pitchFamily="34" charset="0"/>
              </a:rPr>
              <a:t>TextTranslationClient</a:t>
            </a:r>
            <a:r>
              <a:rPr lang="en-US" sz="2000" dirty="0">
                <a:solidFill>
                  <a:srgbClr val="161616"/>
                </a:solidFill>
                <a:latin typeface="Segoe UI" panose="020B0502040204020203" pitchFamily="34" charset="0"/>
              </a:rPr>
              <a:t> to perform tasks</a:t>
            </a:r>
          </a:p>
          <a:p>
            <a:pPr marL="914383" lvl="1" indent="-457200">
              <a:spcAft>
                <a:spcPts val="600"/>
              </a:spcAft>
              <a:buClr>
                <a:schemeClr val="accent2">
                  <a:lumMod val="75000"/>
                </a:schemeClr>
              </a:buClr>
              <a:buFont typeface="Arial" panose="020B0604020202020204" pitchFamily="34" charset="0"/>
              <a:buChar char="•"/>
            </a:pPr>
            <a:r>
              <a:rPr lang="en-US" sz="2000" i="0" dirty="0">
                <a:solidFill>
                  <a:srgbClr val="161616"/>
                </a:solidFill>
                <a:effectLst/>
                <a:latin typeface="Segoe UI" panose="020B0502040204020203" pitchFamily="34" charset="0"/>
              </a:rPr>
              <a:t>Get supported languages (for example “</a:t>
            </a:r>
            <a:r>
              <a:rPr lang="en-US" sz="2000" i="0" dirty="0" err="1">
                <a:solidFill>
                  <a:srgbClr val="161616"/>
                </a:solidFill>
                <a:effectLst/>
                <a:latin typeface="Segoe UI" panose="020B0502040204020203" pitchFamily="34" charset="0"/>
              </a:rPr>
              <a:t>en</a:t>
            </a:r>
            <a:r>
              <a:rPr lang="en-US" sz="2000" i="0" dirty="0">
                <a:solidFill>
                  <a:srgbClr val="161616"/>
                </a:solidFill>
                <a:effectLst/>
                <a:latin typeface="Segoe UI" panose="020B0502040204020203" pitchFamily="34" charset="0"/>
              </a:rPr>
              <a:t>” : “English”)</a:t>
            </a:r>
          </a:p>
          <a:p>
            <a:pPr marL="914383" lvl="1" indent="-457200">
              <a:spcAft>
                <a:spcPts val="600"/>
              </a:spcAft>
              <a:buClr>
                <a:schemeClr val="accent2">
                  <a:lumMod val="75000"/>
                </a:schemeClr>
              </a:buClr>
              <a:buFont typeface="Arial" panose="020B0604020202020204" pitchFamily="34" charset="0"/>
              <a:buChar char="•"/>
            </a:pPr>
            <a:r>
              <a:rPr lang="en-US" sz="2000" dirty="0">
                <a:solidFill>
                  <a:srgbClr val="161616"/>
                </a:solidFill>
                <a:latin typeface="Segoe UI" panose="020B0502040204020203" pitchFamily="34" charset="0"/>
              </a:rPr>
              <a:t>Translate text (“</a:t>
            </a:r>
            <a:r>
              <a:rPr lang="ja-JP" altLang="en-US" dirty="0"/>
              <a:t>こんにちは</a:t>
            </a:r>
            <a:r>
              <a:rPr lang="en-US" altLang="ja-JP" sz="2000" dirty="0">
                <a:solidFill>
                  <a:srgbClr val="161616"/>
                </a:solidFill>
                <a:latin typeface="Segoe UI" panose="020B0502040204020203" pitchFamily="34" charset="0"/>
              </a:rPr>
              <a:t>” </a:t>
            </a:r>
            <a:r>
              <a:rPr lang="en-US" altLang="ja-JP" dirty="0"/>
              <a:t>= </a:t>
            </a:r>
            <a:r>
              <a:rPr lang="en-US" sz="2000" dirty="0">
                <a:solidFill>
                  <a:srgbClr val="161616"/>
                </a:solidFill>
                <a:latin typeface="Segoe UI" panose="020B0502040204020203" pitchFamily="34" charset="0"/>
              </a:rPr>
              <a:t>“Hello”)</a:t>
            </a:r>
          </a:p>
          <a:p>
            <a:pPr marL="914383" lvl="1" indent="-457200">
              <a:spcAft>
                <a:spcPts val="600"/>
              </a:spcAft>
              <a:buClr>
                <a:schemeClr val="accent2">
                  <a:lumMod val="75000"/>
                </a:schemeClr>
              </a:buClr>
              <a:buFont typeface="Arial" panose="020B0604020202020204" pitchFamily="34" charset="0"/>
              <a:buChar char="•"/>
            </a:pPr>
            <a:r>
              <a:rPr lang="en-US" sz="2000" i="0" dirty="0">
                <a:solidFill>
                  <a:srgbClr val="161616"/>
                </a:solidFill>
                <a:effectLst/>
                <a:latin typeface="Segoe UI" panose="020B0502040204020203" pitchFamily="34" charset="0"/>
              </a:rPr>
              <a:t>Transliterate text </a:t>
            </a:r>
            <a:r>
              <a:rPr lang="en-US" sz="2000" dirty="0">
                <a:solidFill>
                  <a:srgbClr val="161616"/>
                </a:solidFill>
                <a:latin typeface="Segoe UI" panose="020B0502040204020203" pitchFamily="34" charset="0"/>
              </a:rPr>
              <a:t>(“</a:t>
            </a:r>
            <a:r>
              <a:rPr lang="ja-JP" altLang="en-US" sz="2000" dirty="0"/>
              <a:t>こんにちは</a:t>
            </a:r>
            <a:r>
              <a:rPr lang="en-US" altLang="ja-JP" sz="2000" dirty="0">
                <a:solidFill>
                  <a:srgbClr val="161616"/>
                </a:solidFill>
                <a:latin typeface="Segoe UI" panose="020B0502040204020203" pitchFamily="34" charset="0"/>
              </a:rPr>
              <a:t>” </a:t>
            </a:r>
            <a:r>
              <a:rPr lang="en-US" altLang="ja-JP" sz="2000" dirty="0"/>
              <a:t>= </a:t>
            </a:r>
            <a:r>
              <a:rPr lang="en-US" sz="2000" dirty="0">
                <a:solidFill>
                  <a:srgbClr val="161616"/>
                </a:solidFill>
                <a:latin typeface="Segoe UI" panose="020B0502040204020203" pitchFamily="34" charset="0"/>
              </a:rPr>
              <a:t>“</a:t>
            </a:r>
            <a:r>
              <a:rPr lang="en-US" sz="2000" dirty="0" err="1">
                <a:solidFill>
                  <a:srgbClr val="161616"/>
                </a:solidFill>
                <a:latin typeface="Segoe UI" panose="020B0502040204020203" pitchFamily="34" charset="0"/>
              </a:rPr>
              <a:t>Kon'nichiwa</a:t>
            </a:r>
            <a:r>
              <a:rPr lang="en-US" sz="2000" dirty="0">
                <a:solidFill>
                  <a:srgbClr val="161616"/>
                </a:solidFill>
                <a:latin typeface="Segoe UI" panose="020B0502040204020203" pitchFamily="34" charset="0"/>
              </a:rPr>
              <a:t>”)</a:t>
            </a:r>
            <a:endParaRPr lang="en-US" sz="2000" i="0" dirty="0">
              <a:solidFill>
                <a:srgbClr val="161616"/>
              </a:solidFill>
              <a:effectLst/>
              <a:latin typeface="Segoe UI" panose="020B0502040204020203" pitchFamily="34" charset="0"/>
            </a:endParaRPr>
          </a:p>
        </p:txBody>
      </p:sp>
    </p:spTree>
    <p:extLst>
      <p:ext uri="{BB962C8B-B14F-4D97-AF65-F5344CB8AC3E}">
        <p14:creationId xmlns:p14="http://schemas.microsoft.com/office/powerpoint/2010/main" val="227872425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8E4C3-CF97-5E84-0A70-E19255266B90}"/>
            </a:ext>
          </a:extLst>
        </p:cNvPr>
        <p:cNvGrpSpPr/>
        <p:nvPr/>
      </p:nvGrpSpPr>
      <p:grpSpPr>
        <a:xfrm>
          <a:off x="0" y="0"/>
          <a:ext cx="0" cy="0"/>
          <a:chOff x="0" y="0"/>
          <a:chExt cx="0" cy="0"/>
        </a:xfrm>
      </p:grpSpPr>
      <p:cxnSp>
        <p:nvCxnSpPr>
          <p:cNvPr id="26" name="Straight Arrow Connector 1048">
            <a:extLst>
              <a:ext uri="{FF2B5EF4-FFF2-40B4-BE49-F238E27FC236}">
                <a16:creationId xmlns:a16="http://schemas.microsoft.com/office/drawing/2014/main" id="{39A90AE5-A281-01EB-FA5D-2353F96C2D5B}"/>
              </a:ext>
            </a:extLst>
          </p:cNvPr>
          <p:cNvCxnSpPr>
            <a:cxnSpLocks/>
            <a:stCxn id="29" idx="3"/>
            <a:endCxn id="25" idx="2"/>
          </p:cNvCxnSpPr>
          <p:nvPr/>
        </p:nvCxnSpPr>
        <p:spPr>
          <a:xfrm flipV="1">
            <a:off x="8954164" y="2754533"/>
            <a:ext cx="475937" cy="1819688"/>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1048">
            <a:extLst>
              <a:ext uri="{FF2B5EF4-FFF2-40B4-BE49-F238E27FC236}">
                <a16:creationId xmlns:a16="http://schemas.microsoft.com/office/drawing/2014/main" id="{1C611682-DFFF-259A-2410-D48860661051}"/>
              </a:ext>
            </a:extLst>
          </p:cNvPr>
          <p:cNvCxnSpPr>
            <a:cxnSpLocks/>
            <a:stCxn id="28" idx="1"/>
            <a:endCxn id="25" idx="2"/>
          </p:cNvCxnSpPr>
          <p:nvPr/>
        </p:nvCxnSpPr>
        <p:spPr>
          <a:xfrm rot="10800000">
            <a:off x="9430101" y="2754533"/>
            <a:ext cx="543230" cy="1820706"/>
          </a:xfrm>
          <a:prstGeom prst="bentConnector2">
            <a:avLst/>
          </a:prstGeom>
          <a:ln w="28575">
            <a:solidFill>
              <a:srgbClr val="00B0F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3ACC3B4-5C33-4B39-7186-7163DC0ECF1F}"/>
              </a:ext>
            </a:extLst>
          </p:cNvPr>
          <p:cNvSpPr/>
          <p:nvPr/>
        </p:nvSpPr>
        <p:spPr bwMode="auto">
          <a:xfrm>
            <a:off x="9257648" y="3168616"/>
            <a:ext cx="337343" cy="22105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3D98AEB0-C7AB-2F12-ACF6-28A1FBC565AB}"/>
              </a:ext>
            </a:extLst>
          </p:cNvPr>
          <p:cNvSpPr>
            <a:spLocks noGrp="1"/>
          </p:cNvSpPr>
          <p:nvPr>
            <p:ph type="title"/>
          </p:nvPr>
        </p:nvSpPr>
        <p:spPr>
          <a:xfrm>
            <a:off x="588261" y="585216"/>
            <a:ext cx="8396989" cy="492443"/>
          </a:xfrm>
        </p:spPr>
        <p:txBody>
          <a:bodyPr/>
          <a:lstStyle/>
          <a:p>
            <a:r>
              <a:rPr lang="en-US" dirty="0"/>
              <a:t>Translating speech with Azure Speech</a:t>
            </a:r>
          </a:p>
        </p:txBody>
      </p:sp>
      <p:sp>
        <p:nvSpPr>
          <p:cNvPr id="4" name="Footer Placeholder 3">
            <a:extLst>
              <a:ext uri="{FF2B5EF4-FFF2-40B4-BE49-F238E27FC236}">
                <a16:creationId xmlns:a16="http://schemas.microsoft.com/office/drawing/2014/main" id="{D44CC7B1-4292-4FEB-EC3F-7821B11A8C96}"/>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sp>
        <p:nvSpPr>
          <p:cNvPr id="17" name="TextBox 16">
            <a:extLst>
              <a:ext uri="{FF2B5EF4-FFF2-40B4-BE49-F238E27FC236}">
                <a16:creationId xmlns:a16="http://schemas.microsoft.com/office/drawing/2014/main" id="{5198E358-A937-911F-EFE2-6111F7937281}"/>
              </a:ext>
              <a:ext uri="{C183D7F6-B498-43B3-948B-1728B52AA6E4}">
                <adec:decorative xmlns:adec="http://schemas.microsoft.com/office/drawing/2017/decorative" val="0"/>
              </a:ext>
            </a:extLst>
          </p:cNvPr>
          <p:cNvSpPr txBox="1"/>
          <p:nvPr/>
        </p:nvSpPr>
        <p:spPr>
          <a:xfrm>
            <a:off x="598899" y="1699451"/>
            <a:ext cx="5837530" cy="4001095"/>
          </a:xfrm>
          <a:prstGeom prst="rect">
            <a:avLst/>
          </a:prstGeom>
          <a:noFill/>
        </p:spPr>
        <p:txBody>
          <a:bodyPr wrap="square">
            <a:spAutoFit/>
          </a:bodyPr>
          <a:lstStyle/>
          <a:p>
            <a:pPr marL="457200" marR="0" lvl="0" indent="-457200" algn="l" defTabSz="914367" rtl="0" eaLnBrk="1" fontAlgn="auto" latinLnBrk="0" hangingPunct="1">
              <a:lnSpc>
                <a:spcPct val="100000"/>
              </a:lnSpc>
              <a:spcBef>
                <a:spcPts val="0"/>
              </a:spcBef>
              <a:spcAft>
                <a:spcPts val="600"/>
              </a:spcAft>
              <a:buClr>
                <a:srgbClr val="BF3AC4">
                  <a:lumMod val="75000"/>
                </a:srgbClr>
              </a:buClr>
              <a:buSzTx/>
              <a:buFont typeface="+mj-lt"/>
              <a:buAutoNum type="arabicPeriod"/>
              <a:tabLst/>
              <a:defRPr/>
            </a:pPr>
            <a:r>
              <a:rPr kumimoji="0" lang="en-US" sz="2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Connect to the API</a:t>
            </a:r>
          </a:p>
          <a:p>
            <a:pPr marL="914383" marR="0" lvl="1" indent="-457200" algn="l" defTabSz="914367" rtl="0" eaLnBrk="1" fontAlgn="auto" latinLnBrk="0" hangingPunct="1">
              <a:lnSpc>
                <a:spcPct val="100000"/>
              </a:lnSpc>
              <a:spcBef>
                <a:spcPts val="0"/>
              </a:spcBef>
              <a:spcAft>
                <a:spcPts val="600"/>
              </a:spcAft>
              <a:buClr>
                <a:srgbClr val="BF3AC4">
                  <a:lumMod val="75000"/>
                </a:srgbClr>
              </a:buClr>
              <a:buSzTx/>
              <a:buFont typeface="Arial" panose="020B0604020202020204" pitchFamily="34" charset="0"/>
              <a:buChar char="•"/>
              <a:tabLst/>
              <a:defRPr/>
            </a:pPr>
            <a:r>
              <a:rPr kumimoji="0" lang="en-US" sz="2000" b="1"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Endpoint:</a:t>
            </a:r>
          </a:p>
          <a:p>
            <a:pPr marL="1371567" marR="0" lvl="2" indent="-457200" algn="l" defTabSz="914367" rtl="0" eaLnBrk="1" fontAlgn="auto" latinLnBrk="0" hangingPunct="1">
              <a:lnSpc>
                <a:spcPct val="100000"/>
              </a:lnSpc>
              <a:spcBef>
                <a:spcPts val="0"/>
              </a:spcBef>
              <a:spcAft>
                <a:spcPts val="600"/>
              </a:spcAft>
              <a:buClr>
                <a:srgbClr val="BF3AC4">
                  <a:lumMod val="7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Microsoft Foundry resource*</a:t>
            </a:r>
          </a:p>
          <a:p>
            <a:pPr marL="1371567" marR="0" lvl="2" indent="-457200" algn="l" defTabSz="914367" rtl="0" eaLnBrk="1" fontAlgn="auto" latinLnBrk="0" hangingPunct="1">
              <a:lnSpc>
                <a:spcPct val="100000"/>
              </a:lnSpc>
              <a:spcBef>
                <a:spcPts val="0"/>
              </a:spcBef>
              <a:spcAft>
                <a:spcPts val="600"/>
              </a:spcAft>
              <a:buClr>
                <a:srgbClr val="BF3AC4">
                  <a:lumMod val="7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Global/Regional endpoint</a:t>
            </a:r>
          </a:p>
          <a:p>
            <a:pPr marL="914383" marR="0" lvl="1" indent="-457200" algn="l" defTabSz="914367" rtl="0" eaLnBrk="1" fontAlgn="auto" latinLnBrk="0" hangingPunct="1">
              <a:lnSpc>
                <a:spcPct val="100000"/>
              </a:lnSpc>
              <a:spcBef>
                <a:spcPts val="0"/>
              </a:spcBef>
              <a:spcAft>
                <a:spcPts val="600"/>
              </a:spcAft>
              <a:buClr>
                <a:srgbClr val="BF3AC4">
                  <a:lumMod val="75000"/>
                </a:srgbClr>
              </a:buClr>
              <a:buSzTx/>
              <a:buFont typeface="Arial" panose="020B0604020202020204" pitchFamily="34" charset="0"/>
              <a:buChar char="•"/>
              <a:tabLst/>
              <a:defRPr/>
            </a:pPr>
            <a:r>
              <a:rPr kumimoji="0" lang="en-US" sz="2000" b="1"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Credentials:</a:t>
            </a:r>
          </a:p>
          <a:p>
            <a:pPr marL="1371567" marR="0" lvl="2" indent="-457200" algn="l" defTabSz="914367" rtl="0" eaLnBrk="1" fontAlgn="auto" latinLnBrk="0" hangingPunct="1">
              <a:lnSpc>
                <a:spcPct val="100000"/>
              </a:lnSpc>
              <a:spcBef>
                <a:spcPts val="0"/>
              </a:spcBef>
              <a:spcAft>
                <a:spcPts val="600"/>
              </a:spcAft>
              <a:buClr>
                <a:srgbClr val="BF3AC4">
                  <a:lumMod val="7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Microsoft Foundry project API key</a:t>
            </a:r>
          </a:p>
          <a:p>
            <a:pPr marL="1371567" marR="0" lvl="2" indent="-457200" algn="l" defTabSz="914367" rtl="0" eaLnBrk="1" fontAlgn="auto" latinLnBrk="0" hangingPunct="1">
              <a:lnSpc>
                <a:spcPct val="100000"/>
              </a:lnSpc>
              <a:spcBef>
                <a:spcPts val="0"/>
              </a:spcBef>
              <a:spcAft>
                <a:spcPts val="600"/>
              </a:spcAft>
              <a:buClr>
                <a:srgbClr val="BF3AC4">
                  <a:lumMod val="7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Microsoft Entra ID</a:t>
            </a:r>
          </a:p>
          <a:p>
            <a:pPr marL="457200" marR="0" lvl="0" indent="-457200" algn="l" defTabSz="914367" rtl="0" eaLnBrk="1" fontAlgn="auto" latinLnBrk="0" hangingPunct="1">
              <a:lnSpc>
                <a:spcPct val="100000"/>
              </a:lnSpc>
              <a:spcBef>
                <a:spcPts val="0"/>
              </a:spcBef>
              <a:spcAft>
                <a:spcPts val="600"/>
              </a:spcAft>
              <a:buClr>
                <a:srgbClr val="BF3AC4">
                  <a:lumMod val="75000"/>
                </a:srgbClr>
              </a:buClr>
              <a:buSzTx/>
              <a:buFont typeface="+mj-lt"/>
              <a:buAutoNum type="arabicPeriod"/>
              <a:tabLst/>
              <a:defRPr/>
            </a:pPr>
            <a:r>
              <a:rPr kumimoji="0" lang="en-US" sz="20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Create a </a:t>
            </a:r>
            <a:r>
              <a:rPr kumimoji="0" lang="en-US" sz="2000" b="0" i="1"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SpeechTranslationConfig</a:t>
            </a:r>
            <a:r>
              <a:rPr kumimoji="0" lang="en-US" sz="2000" b="0" i="1"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a:t>
            </a:r>
            <a:r>
              <a:rPr kumimoji="0" lang="en-US" sz="20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object for the connection</a:t>
            </a:r>
          </a:p>
          <a:p>
            <a:pPr marL="457200" indent="-457200">
              <a:spcAft>
                <a:spcPts val="600"/>
              </a:spcAft>
              <a:buClr>
                <a:srgbClr val="BF3AC4">
                  <a:lumMod val="75000"/>
                </a:srgbClr>
              </a:buClr>
              <a:buFont typeface="+mj-lt"/>
              <a:buAutoNum type="arabicPeriod"/>
            </a:pPr>
            <a:r>
              <a:rPr kumimoji="0" lang="en-US" sz="20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Use the </a:t>
            </a:r>
            <a:r>
              <a:rPr kumimoji="0" lang="en-US" sz="2000" b="0" i="1"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TranslationRecognizer</a:t>
            </a:r>
            <a:r>
              <a:rPr kumimoji="0" lang="en-US" sz="20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object for translation operations</a:t>
            </a:r>
          </a:p>
        </p:txBody>
      </p:sp>
      <p:sp>
        <p:nvSpPr>
          <p:cNvPr id="19" name="Rectangle 18">
            <a:extLst>
              <a:ext uri="{FF2B5EF4-FFF2-40B4-BE49-F238E27FC236}">
                <a16:creationId xmlns:a16="http://schemas.microsoft.com/office/drawing/2014/main" id="{09681A10-3A61-923F-6DEB-9B4D32FA8060}"/>
              </a:ext>
            </a:extLst>
          </p:cNvPr>
          <p:cNvSpPr/>
          <p:nvPr/>
        </p:nvSpPr>
        <p:spPr bwMode="auto">
          <a:xfrm>
            <a:off x="10342045" y="4489450"/>
            <a:ext cx="174516" cy="312052"/>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3" name="Graphic 22">
            <a:extLst>
              <a:ext uri="{FF2B5EF4-FFF2-40B4-BE49-F238E27FC236}">
                <a16:creationId xmlns:a16="http://schemas.microsoft.com/office/drawing/2014/main" id="{9AE88547-A8F9-F4A9-449E-941A746DC5A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8513" y="2331443"/>
            <a:ext cx="515253" cy="513357"/>
          </a:xfrm>
          <a:prstGeom prst="rect">
            <a:avLst/>
          </a:prstGeom>
        </p:spPr>
      </p:pic>
      <p:sp>
        <p:nvSpPr>
          <p:cNvPr id="24" name="TextBox 23">
            <a:extLst>
              <a:ext uri="{FF2B5EF4-FFF2-40B4-BE49-F238E27FC236}">
                <a16:creationId xmlns:a16="http://schemas.microsoft.com/office/drawing/2014/main" id="{C4F119CD-3B08-7211-8AB2-1CD72F3C0393}"/>
              </a:ext>
            </a:extLst>
          </p:cNvPr>
          <p:cNvSpPr txBox="1"/>
          <p:nvPr/>
        </p:nvSpPr>
        <p:spPr>
          <a:xfrm>
            <a:off x="6659348" y="2133119"/>
            <a:ext cx="713587" cy="218822"/>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Endpoint</a:t>
            </a:r>
          </a:p>
        </p:txBody>
      </p:sp>
      <p:sp>
        <p:nvSpPr>
          <p:cNvPr id="25" name="TextBox 24">
            <a:extLst>
              <a:ext uri="{FF2B5EF4-FFF2-40B4-BE49-F238E27FC236}">
                <a16:creationId xmlns:a16="http://schemas.microsoft.com/office/drawing/2014/main" id="{DE659075-B12D-57D1-59A0-1F056DAF5497}"/>
              </a:ext>
              <a:ext uri="{C183D7F6-B498-43B3-948B-1728B52AA6E4}">
                <adec:decorative xmlns:adec="http://schemas.microsoft.com/office/drawing/2017/decorative" val="0"/>
              </a:ext>
            </a:extLst>
          </p:cNvPr>
          <p:cNvSpPr txBox="1"/>
          <p:nvPr/>
        </p:nvSpPr>
        <p:spPr>
          <a:xfrm>
            <a:off x="7219556" y="2415979"/>
            <a:ext cx="4421089" cy="338554"/>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61616"/>
                </a:solidFill>
                <a:effectLst/>
                <a:uLnTx/>
                <a:uFillTx/>
                <a:latin typeface="SFMono-Regular"/>
                <a:ea typeface="+mn-ea"/>
                <a:cs typeface="+mn-cs"/>
              </a:rPr>
              <a:t>https://{foundry_resource}.services.ai.azure.com/</a:t>
            </a:r>
            <a:endParaRPr kumimoji="0" lang="en-US" sz="1600" b="0" i="1" u="none" strike="noStrike" kern="1200" cap="none" spc="0" normalizeH="0" baseline="0" noProof="0" dirty="0">
              <a:ln>
                <a:noFill/>
              </a:ln>
              <a:solidFill>
                <a:srgbClr val="000000"/>
              </a:solidFill>
              <a:effectLst/>
              <a:uLnTx/>
              <a:uFillTx/>
              <a:latin typeface="Segoe UI"/>
              <a:ea typeface="+mn-ea"/>
              <a:cs typeface="+mn-cs"/>
            </a:endParaRPr>
          </a:p>
        </p:txBody>
      </p:sp>
      <p:grpSp>
        <p:nvGrpSpPr>
          <p:cNvPr id="27" name="Group 26">
            <a:extLst>
              <a:ext uri="{FF2B5EF4-FFF2-40B4-BE49-F238E27FC236}">
                <a16:creationId xmlns:a16="http://schemas.microsoft.com/office/drawing/2014/main" id="{5DF72D8B-5DE6-1015-9CEE-DB623E5DA781}"/>
              </a:ext>
            </a:extLst>
          </p:cNvPr>
          <p:cNvGrpSpPr/>
          <p:nvPr/>
        </p:nvGrpSpPr>
        <p:grpSpPr>
          <a:xfrm>
            <a:off x="8790742" y="4635399"/>
            <a:ext cx="1347382" cy="1416708"/>
            <a:chOff x="9069933" y="5258633"/>
            <a:chExt cx="1030507" cy="1083527"/>
          </a:xfrm>
        </p:grpSpPr>
        <p:sp>
          <p:nvSpPr>
            <p:cNvPr id="53" name="Rectangle: Top Corners Snipped 52">
              <a:extLst>
                <a:ext uri="{FF2B5EF4-FFF2-40B4-BE49-F238E27FC236}">
                  <a16:creationId xmlns:a16="http://schemas.microsoft.com/office/drawing/2014/main" id="{1DD894FB-93FD-7A62-A8EF-081A50F1C9DA}"/>
                </a:ext>
              </a:extLst>
            </p:cNvPr>
            <p:cNvSpPr/>
            <p:nvPr/>
          </p:nvSpPr>
          <p:spPr bwMode="auto">
            <a:xfrm>
              <a:off x="9246530" y="5820280"/>
              <a:ext cx="681208" cy="382092"/>
            </a:xfrm>
            <a:prstGeom prst="snip2SameRect">
              <a:avLst>
                <a:gd name="adj1" fmla="val 50000"/>
                <a:gd name="adj2" fmla="val 0"/>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80F411EF-8E26-7F37-59F1-D2CBEAC458CB}"/>
                </a:ext>
              </a:extLst>
            </p:cNvPr>
            <p:cNvSpPr/>
            <p:nvPr/>
          </p:nvSpPr>
          <p:spPr bwMode="auto">
            <a:xfrm>
              <a:off x="9495600" y="5723741"/>
              <a:ext cx="189440" cy="152254"/>
            </a:xfrm>
            <a:prstGeom prst="rect">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5" name="Rectangle 54">
              <a:extLst>
                <a:ext uri="{FF2B5EF4-FFF2-40B4-BE49-F238E27FC236}">
                  <a16:creationId xmlns:a16="http://schemas.microsoft.com/office/drawing/2014/main" id="{E6E7CDF5-EA53-CC45-04D9-AC3D7B2B8C5C}"/>
                </a:ext>
              </a:extLst>
            </p:cNvPr>
            <p:cNvSpPr/>
            <p:nvPr/>
          </p:nvSpPr>
          <p:spPr bwMode="auto">
            <a:xfrm>
              <a:off x="9427033" y="6052458"/>
              <a:ext cx="310635" cy="24645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74A48385-57C8-9DC0-2F77-0EB7B5629137}"/>
                </a:ext>
              </a:extLst>
            </p:cNvPr>
            <p:cNvSpPr/>
            <p:nvPr/>
          </p:nvSpPr>
          <p:spPr bwMode="auto">
            <a:xfrm>
              <a:off x="9450285" y="5442620"/>
              <a:ext cx="287383" cy="338554"/>
            </a:xfrm>
            <a:prstGeom prst="ellipse">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7" name="Graphic 56" descr="Programmer male with solid fill">
              <a:extLst>
                <a:ext uri="{FF2B5EF4-FFF2-40B4-BE49-F238E27FC236}">
                  <a16:creationId xmlns:a16="http://schemas.microsoft.com/office/drawing/2014/main" id="{74983717-DDDD-38CA-8B95-C280FD8B7F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69933" y="5258633"/>
              <a:ext cx="1030507" cy="1083527"/>
            </a:xfrm>
            <a:prstGeom prst="rect">
              <a:avLst/>
            </a:prstGeom>
          </p:spPr>
        </p:pic>
      </p:grpSp>
      <p:pic>
        <p:nvPicPr>
          <p:cNvPr id="28" name="Graphic 27" descr="Employee badge with solid fill">
            <a:extLst>
              <a:ext uri="{FF2B5EF4-FFF2-40B4-BE49-F238E27FC236}">
                <a16:creationId xmlns:a16="http://schemas.microsoft.com/office/drawing/2014/main" id="{F634FAB5-D1A8-21D8-2700-F4A28F08A1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73331" y="4234485"/>
            <a:ext cx="648160" cy="681508"/>
          </a:xfrm>
          <a:prstGeom prst="rect">
            <a:avLst/>
          </a:prstGeom>
        </p:spPr>
      </p:pic>
      <p:pic>
        <p:nvPicPr>
          <p:cNvPr id="29" name="Graphic 28" descr="Key with solid fill">
            <a:extLst>
              <a:ext uri="{FF2B5EF4-FFF2-40B4-BE49-F238E27FC236}">
                <a16:creationId xmlns:a16="http://schemas.microsoft.com/office/drawing/2014/main" id="{64820243-01B7-4A1F-3F2A-F07649296D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06004" y="4233467"/>
            <a:ext cx="648160" cy="681508"/>
          </a:xfrm>
          <a:prstGeom prst="rect">
            <a:avLst/>
          </a:prstGeom>
        </p:spPr>
      </p:pic>
      <p:cxnSp>
        <p:nvCxnSpPr>
          <p:cNvPr id="30" name="Straight Arrow Connector 1048">
            <a:extLst>
              <a:ext uri="{FF2B5EF4-FFF2-40B4-BE49-F238E27FC236}">
                <a16:creationId xmlns:a16="http://schemas.microsoft.com/office/drawing/2014/main" id="{7ABC7B4F-39AF-5DFF-DC8F-221D2363008F}"/>
              </a:ext>
            </a:extLst>
          </p:cNvPr>
          <p:cNvCxnSpPr>
            <a:cxnSpLocks/>
            <a:stCxn id="53" idx="2"/>
          </p:cNvCxnSpPr>
          <p:nvPr/>
        </p:nvCxnSpPr>
        <p:spPr>
          <a:xfrm rot="10800000">
            <a:off x="8636550" y="4731587"/>
            <a:ext cx="385093" cy="887957"/>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1048">
            <a:extLst>
              <a:ext uri="{FF2B5EF4-FFF2-40B4-BE49-F238E27FC236}">
                <a16:creationId xmlns:a16="http://schemas.microsoft.com/office/drawing/2014/main" id="{793D84EC-DB6D-9BC6-3779-B657CACBF16C}"/>
              </a:ext>
            </a:extLst>
          </p:cNvPr>
          <p:cNvCxnSpPr>
            <a:cxnSpLocks/>
            <a:stCxn id="53" idx="0"/>
            <a:endCxn id="28" idx="2"/>
          </p:cNvCxnSpPr>
          <p:nvPr/>
        </p:nvCxnSpPr>
        <p:spPr>
          <a:xfrm flipV="1">
            <a:off x="9912318" y="4915993"/>
            <a:ext cx="385093" cy="703550"/>
          </a:xfrm>
          <a:prstGeom prst="bentConnector2">
            <a:avLst/>
          </a:prstGeom>
          <a:ln w="28575">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2E621F8-D63A-A489-4516-22189B491F35}"/>
              </a:ext>
            </a:extLst>
          </p:cNvPr>
          <p:cNvSpPr txBox="1"/>
          <p:nvPr/>
        </p:nvSpPr>
        <p:spPr>
          <a:xfrm>
            <a:off x="8176394" y="4158601"/>
            <a:ext cx="573683" cy="184666"/>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API  Key</a:t>
            </a:r>
          </a:p>
        </p:txBody>
      </p:sp>
      <p:sp>
        <p:nvSpPr>
          <p:cNvPr id="34" name="TextBox 33">
            <a:extLst>
              <a:ext uri="{FF2B5EF4-FFF2-40B4-BE49-F238E27FC236}">
                <a16:creationId xmlns:a16="http://schemas.microsoft.com/office/drawing/2014/main" id="{B2DC4B77-4336-4C29-CF20-4EDC5136C830}"/>
              </a:ext>
            </a:extLst>
          </p:cNvPr>
          <p:cNvSpPr txBox="1"/>
          <p:nvPr/>
        </p:nvSpPr>
        <p:spPr>
          <a:xfrm>
            <a:off x="8639249" y="3572441"/>
            <a:ext cx="1728294" cy="184666"/>
          </a:xfrm>
          <a:prstGeom prst="rect">
            <a:avLst/>
          </a:prstGeom>
          <a:solidFill>
            <a:schemeClr val="bg1"/>
          </a:solid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Semibold"/>
                <a:ea typeface="+mn-ea"/>
                <a:cs typeface="+mn-cs"/>
              </a:rPr>
              <a:t>SpeechTranslationConfig</a:t>
            </a:r>
            <a:endParaRPr kumimoji="0" lang="en-US" sz="1200" b="0" i="0" u="none" strike="noStrike" kern="1200" cap="none" spc="0" normalizeH="0" baseline="0" noProof="0" dirty="0">
              <a:ln>
                <a:noFill/>
              </a:ln>
              <a:solidFill>
                <a:srgbClr val="000000"/>
              </a:solidFill>
              <a:effectLst/>
              <a:uLnTx/>
              <a:uFillTx/>
              <a:latin typeface="Segoe UI Semibold"/>
              <a:ea typeface="+mn-ea"/>
              <a:cs typeface="+mn-cs"/>
            </a:endParaRPr>
          </a:p>
        </p:txBody>
      </p:sp>
      <p:grpSp>
        <p:nvGrpSpPr>
          <p:cNvPr id="35" name="Group 34">
            <a:extLst>
              <a:ext uri="{FF2B5EF4-FFF2-40B4-BE49-F238E27FC236}">
                <a16:creationId xmlns:a16="http://schemas.microsoft.com/office/drawing/2014/main" id="{00F8F308-46F9-7D82-10CD-64DFDDA02800}"/>
              </a:ext>
            </a:extLst>
          </p:cNvPr>
          <p:cNvGrpSpPr/>
          <p:nvPr/>
        </p:nvGrpSpPr>
        <p:grpSpPr>
          <a:xfrm>
            <a:off x="8450595" y="841253"/>
            <a:ext cx="1461723" cy="1469228"/>
            <a:chOff x="7099202" y="2357199"/>
            <a:chExt cx="916211" cy="875852"/>
          </a:xfrm>
        </p:grpSpPr>
        <p:sp>
          <p:nvSpPr>
            <p:cNvPr id="50" name="Rectangle 49">
              <a:extLst>
                <a:ext uri="{FF2B5EF4-FFF2-40B4-BE49-F238E27FC236}">
                  <a16:creationId xmlns:a16="http://schemas.microsoft.com/office/drawing/2014/main" id="{D55D97A7-DD48-7F8C-9AC5-FBEE7C55D706}"/>
                </a:ext>
              </a:extLst>
            </p:cNvPr>
            <p:cNvSpPr/>
            <p:nvPr/>
          </p:nvSpPr>
          <p:spPr bwMode="auto">
            <a:xfrm>
              <a:off x="7320947" y="2651342"/>
              <a:ext cx="694466" cy="581709"/>
            </a:xfrm>
            <a:prstGeom prst="rect">
              <a:avLst/>
            </a:prstGeom>
            <a:solidFill>
              <a:schemeClr val="bg1"/>
            </a:solidFill>
            <a:ln w="28575">
              <a:solidFill>
                <a:srgbClr val="7030A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1" name="Picture 50">
              <a:extLst>
                <a:ext uri="{FF2B5EF4-FFF2-40B4-BE49-F238E27FC236}">
                  <a16:creationId xmlns:a16="http://schemas.microsoft.com/office/drawing/2014/main" id="{A529ABF1-D9E1-6A6B-AE72-2F5C9B288BEB}"/>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099202" y="2357199"/>
              <a:ext cx="549437" cy="588287"/>
            </a:xfrm>
            <a:prstGeom prst="rect">
              <a:avLst/>
            </a:prstGeom>
          </p:spPr>
        </p:pic>
        <p:pic>
          <p:nvPicPr>
            <p:cNvPr id="52" name="Picture 51">
              <a:extLst>
                <a:ext uri="{FF2B5EF4-FFF2-40B4-BE49-F238E27FC236}">
                  <a16:creationId xmlns:a16="http://schemas.microsoft.com/office/drawing/2014/main" id="{2DF95E82-C364-D4A9-524A-DF0A2405E628}"/>
                </a:ext>
              </a:extLst>
            </p:cNvPr>
            <p:cNvPicPr>
              <a:picLocks noChangeAspect="1"/>
            </p:cNvPicPr>
            <p:nvPr/>
          </p:nvPicPr>
          <p:blipFill>
            <a:blip r:embed="rId8"/>
            <a:srcRect/>
            <a:stretch/>
          </p:blipFill>
          <p:spPr>
            <a:xfrm>
              <a:off x="7439580" y="2731882"/>
              <a:ext cx="457200" cy="434828"/>
            </a:xfrm>
            <a:prstGeom prst="rect">
              <a:avLst/>
            </a:prstGeom>
          </p:spPr>
        </p:pic>
      </p:grpSp>
      <p:sp>
        <p:nvSpPr>
          <p:cNvPr id="63" name="TextBox 62">
            <a:extLst>
              <a:ext uri="{FF2B5EF4-FFF2-40B4-BE49-F238E27FC236}">
                <a16:creationId xmlns:a16="http://schemas.microsoft.com/office/drawing/2014/main" id="{73258ECD-5442-83C2-7983-50798E633DBF}"/>
              </a:ext>
            </a:extLst>
          </p:cNvPr>
          <p:cNvSpPr txBox="1"/>
          <p:nvPr/>
        </p:nvSpPr>
        <p:spPr>
          <a:xfrm>
            <a:off x="9870530" y="4144404"/>
            <a:ext cx="1433241" cy="218822"/>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Microsoft Entra ID</a:t>
            </a:r>
          </a:p>
        </p:txBody>
      </p:sp>
      <p:grpSp>
        <p:nvGrpSpPr>
          <p:cNvPr id="67" name="Group 66">
            <a:extLst>
              <a:ext uri="{FF2B5EF4-FFF2-40B4-BE49-F238E27FC236}">
                <a16:creationId xmlns:a16="http://schemas.microsoft.com/office/drawing/2014/main" id="{A28A96F6-9F19-B7D5-285E-F5653EA060E6}"/>
              </a:ext>
            </a:extLst>
          </p:cNvPr>
          <p:cNvGrpSpPr/>
          <p:nvPr/>
        </p:nvGrpSpPr>
        <p:grpSpPr>
          <a:xfrm>
            <a:off x="8986060" y="3625709"/>
            <a:ext cx="855812" cy="855814"/>
            <a:chOff x="5750484" y="3034642"/>
            <a:chExt cx="855812" cy="855814"/>
          </a:xfrm>
        </p:grpSpPr>
        <p:pic>
          <p:nvPicPr>
            <p:cNvPr id="61" name="Graphic 60" descr="Speech with solid fill">
              <a:extLst>
                <a:ext uri="{FF2B5EF4-FFF2-40B4-BE49-F238E27FC236}">
                  <a16:creationId xmlns:a16="http://schemas.microsoft.com/office/drawing/2014/main" id="{B3154F0E-F08B-CD12-2D65-4953423847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50484" y="3034642"/>
              <a:ext cx="855812" cy="855814"/>
            </a:xfrm>
            <a:prstGeom prst="rect">
              <a:avLst/>
            </a:prstGeom>
          </p:spPr>
        </p:pic>
        <p:pic>
          <p:nvPicPr>
            <p:cNvPr id="59" name="Graphic 58" descr="Single gear with solid fill">
              <a:extLst>
                <a:ext uri="{FF2B5EF4-FFF2-40B4-BE49-F238E27FC236}">
                  <a16:creationId xmlns:a16="http://schemas.microsoft.com/office/drawing/2014/main" id="{44D161D1-B8B6-FEC6-9734-D7325AB3C1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29873" y="3154106"/>
              <a:ext cx="295108" cy="295110"/>
            </a:xfrm>
            <a:prstGeom prst="rect">
              <a:avLst/>
            </a:prstGeom>
          </p:spPr>
        </p:pic>
        <p:grpSp>
          <p:nvGrpSpPr>
            <p:cNvPr id="66" name="Group 65">
              <a:extLst>
                <a:ext uri="{FF2B5EF4-FFF2-40B4-BE49-F238E27FC236}">
                  <a16:creationId xmlns:a16="http://schemas.microsoft.com/office/drawing/2014/main" id="{72031E44-B0C5-912D-CB5A-AE1874FDDF60}"/>
                </a:ext>
              </a:extLst>
            </p:cNvPr>
            <p:cNvGrpSpPr/>
            <p:nvPr/>
          </p:nvGrpSpPr>
          <p:grpSpPr>
            <a:xfrm>
              <a:off x="5906222" y="3224134"/>
              <a:ext cx="426323" cy="396581"/>
              <a:chOff x="4575454" y="1355599"/>
              <a:chExt cx="789033" cy="715316"/>
            </a:xfrm>
            <a:solidFill>
              <a:schemeClr val="bg1"/>
            </a:solidFill>
          </p:grpSpPr>
          <p:pic>
            <p:nvPicPr>
              <p:cNvPr id="64" name="Graphic 63" descr="Key with solid fill">
                <a:extLst>
                  <a:ext uri="{FF2B5EF4-FFF2-40B4-BE49-F238E27FC236}">
                    <a16:creationId xmlns:a16="http://schemas.microsoft.com/office/drawing/2014/main" id="{7E86834C-AE36-1AE8-4880-21353986327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18959995">
                <a:off x="4791643" y="1498079"/>
                <a:ext cx="572844" cy="572836"/>
              </a:xfrm>
              <a:prstGeom prst="rect">
                <a:avLst/>
              </a:prstGeom>
            </p:spPr>
          </p:pic>
          <p:pic>
            <p:nvPicPr>
              <p:cNvPr id="65" name="Graphic 64" descr="World with solid fill">
                <a:extLst>
                  <a:ext uri="{FF2B5EF4-FFF2-40B4-BE49-F238E27FC236}">
                    <a16:creationId xmlns:a16="http://schemas.microsoft.com/office/drawing/2014/main" id="{55575281-B11F-7B84-1A2E-3A117A2795C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575454" y="1355599"/>
                <a:ext cx="486185" cy="486186"/>
              </a:xfrm>
              <a:prstGeom prst="rect">
                <a:avLst/>
              </a:prstGeom>
            </p:spPr>
          </p:pic>
        </p:grpSp>
      </p:grpSp>
      <p:sp>
        <p:nvSpPr>
          <p:cNvPr id="3" name="TextBox 2">
            <a:extLst>
              <a:ext uri="{FF2B5EF4-FFF2-40B4-BE49-F238E27FC236}">
                <a16:creationId xmlns:a16="http://schemas.microsoft.com/office/drawing/2014/main" id="{2FA62F66-9277-21AF-4E95-4A8134B44FCF}"/>
              </a:ext>
            </a:extLst>
          </p:cNvPr>
          <p:cNvSpPr txBox="1"/>
          <p:nvPr/>
        </p:nvSpPr>
        <p:spPr>
          <a:xfrm>
            <a:off x="8821436" y="6550227"/>
            <a:ext cx="3073405" cy="184666"/>
          </a:xfrm>
          <a:prstGeom prst="rect">
            <a:avLst/>
          </a:prstGeom>
          <a:noFill/>
        </p:spPr>
        <p:txBody>
          <a:bodyPr wrap="none" lIns="0" tIns="0" rIns="0" bIns="0" rtlCol="0">
            <a:spAutoFit/>
          </a:bodyPr>
          <a:lstStyle/>
          <a:p>
            <a:pPr algn="l"/>
            <a:r>
              <a:rPr lang="en-US" sz="1200" dirty="0"/>
              <a:t>* </a:t>
            </a:r>
            <a:r>
              <a:rPr lang="en-US" sz="1200" i="1" dirty="0"/>
              <a:t>cognitiveservices.azure.com is also supported</a:t>
            </a:r>
            <a:endParaRPr lang="en-US" sz="1200" dirty="0"/>
          </a:p>
        </p:txBody>
      </p:sp>
      <p:sp>
        <p:nvSpPr>
          <p:cNvPr id="9" name="TextBox 8">
            <a:extLst>
              <a:ext uri="{FF2B5EF4-FFF2-40B4-BE49-F238E27FC236}">
                <a16:creationId xmlns:a16="http://schemas.microsoft.com/office/drawing/2014/main" id="{9DFC1668-9799-9513-6A27-F3ECB59F0461}"/>
              </a:ext>
            </a:extLst>
          </p:cNvPr>
          <p:cNvSpPr txBox="1"/>
          <p:nvPr/>
        </p:nvSpPr>
        <p:spPr>
          <a:xfrm>
            <a:off x="8630084" y="2933547"/>
            <a:ext cx="1535100" cy="184666"/>
          </a:xfrm>
          <a:prstGeom prst="rect">
            <a:avLst/>
          </a:prstGeom>
          <a:solidFill>
            <a:schemeClr val="bg1"/>
          </a:solid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Semibold"/>
                <a:ea typeface="+mn-ea"/>
                <a:cs typeface="+mn-cs"/>
              </a:rPr>
              <a:t>TranslationRecognizer</a:t>
            </a:r>
            <a:endParaRPr kumimoji="0" lang="en-US" sz="1200" b="0" i="0" u="none" strike="noStrike" kern="1200" cap="none" spc="0" normalizeH="0" baseline="0" noProof="0" dirty="0">
              <a:ln>
                <a:noFill/>
              </a:ln>
              <a:solidFill>
                <a:srgbClr val="000000"/>
              </a:solidFill>
              <a:effectLst/>
              <a:uLnTx/>
              <a:uFillTx/>
              <a:latin typeface="Segoe UI Semibold"/>
              <a:ea typeface="+mn-ea"/>
              <a:cs typeface="+mn-cs"/>
            </a:endParaRPr>
          </a:p>
        </p:txBody>
      </p:sp>
      <p:grpSp>
        <p:nvGrpSpPr>
          <p:cNvPr id="8" name="Group 7">
            <a:extLst>
              <a:ext uri="{FF2B5EF4-FFF2-40B4-BE49-F238E27FC236}">
                <a16:creationId xmlns:a16="http://schemas.microsoft.com/office/drawing/2014/main" id="{51D11162-16E4-E416-9DB9-5F111A600F9A}"/>
              </a:ext>
            </a:extLst>
          </p:cNvPr>
          <p:cNvGrpSpPr/>
          <p:nvPr/>
        </p:nvGrpSpPr>
        <p:grpSpPr>
          <a:xfrm>
            <a:off x="9083150" y="2988819"/>
            <a:ext cx="661866" cy="661866"/>
            <a:chOff x="5638800" y="2971800"/>
            <a:chExt cx="914400" cy="914400"/>
          </a:xfrm>
        </p:grpSpPr>
        <p:pic>
          <p:nvPicPr>
            <p:cNvPr id="6" name="Graphic 5" descr="Chat with solid fill">
              <a:extLst>
                <a:ext uri="{FF2B5EF4-FFF2-40B4-BE49-F238E27FC236}">
                  <a16:creationId xmlns:a16="http://schemas.microsoft.com/office/drawing/2014/main" id="{7C1AEA27-1EF2-53AF-B3A3-FF92B8F2565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38800" y="2971800"/>
              <a:ext cx="914400" cy="914400"/>
            </a:xfrm>
            <a:prstGeom prst="rect">
              <a:avLst/>
            </a:prstGeom>
          </p:spPr>
        </p:pic>
        <p:pic>
          <p:nvPicPr>
            <p:cNvPr id="7" name="Graphic 6" descr="Earth globe: Americas with solid fill">
              <a:extLst>
                <a:ext uri="{FF2B5EF4-FFF2-40B4-BE49-F238E27FC236}">
                  <a16:creationId xmlns:a16="http://schemas.microsoft.com/office/drawing/2014/main" id="{D19547F9-9025-B19E-50F4-20D1EEDB1217}"/>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6115533" y="3317560"/>
              <a:ext cx="238926" cy="238928"/>
            </a:xfrm>
            <a:prstGeom prst="rect">
              <a:avLst/>
            </a:prstGeom>
          </p:spPr>
        </p:pic>
      </p:grpSp>
    </p:spTree>
    <p:extLst>
      <p:ext uri="{BB962C8B-B14F-4D97-AF65-F5344CB8AC3E}">
        <p14:creationId xmlns:p14="http://schemas.microsoft.com/office/powerpoint/2010/main" val="61105173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4EC178E-B1B9-7F37-48FC-C44E16A15231}"/>
              </a:ext>
            </a:extLst>
          </p:cNvPr>
          <p:cNvSpPr>
            <a:spLocks noGrp="1"/>
          </p:cNvSpPr>
          <p:nvPr>
            <p:ph type="title"/>
          </p:nvPr>
        </p:nvSpPr>
        <p:spPr>
          <a:xfrm>
            <a:off x="588262" y="585216"/>
            <a:ext cx="11013474" cy="492443"/>
          </a:xfrm>
        </p:spPr>
        <p:txBody>
          <a:bodyPr/>
          <a:lstStyle/>
          <a:p>
            <a:r>
              <a:rPr lang="en-US" sz="3200" dirty="0"/>
              <a:t>Synthesizing Speech Translations</a:t>
            </a:r>
          </a:p>
        </p:txBody>
      </p:sp>
      <p:sp>
        <p:nvSpPr>
          <p:cNvPr id="10" name="Text Placeholder 9">
            <a:extLst>
              <a:ext uri="{FF2B5EF4-FFF2-40B4-BE49-F238E27FC236}">
                <a16:creationId xmlns:a16="http://schemas.microsoft.com/office/drawing/2014/main" id="{90B278A6-7C8B-8F88-2337-478D781A2F1C}"/>
              </a:ext>
            </a:extLst>
          </p:cNvPr>
          <p:cNvSpPr>
            <a:spLocks noGrp="1"/>
          </p:cNvSpPr>
          <p:nvPr>
            <p:ph type="body" sz="quarter" idx="15"/>
          </p:nvPr>
        </p:nvSpPr>
        <p:spPr>
          <a:xfrm>
            <a:off x="600645" y="1415143"/>
            <a:ext cx="5778711" cy="3995966"/>
          </a:xfrm>
        </p:spPr>
        <p:txBody>
          <a:bodyPr/>
          <a:lstStyle/>
          <a:p>
            <a:pPr marL="0" indent="0">
              <a:spcBef>
                <a:spcPts val="1200"/>
              </a:spcBef>
              <a:buNone/>
            </a:pPr>
            <a:r>
              <a:rPr lang="en-US" sz="2200" dirty="0">
                <a:latin typeface="+mj-lt"/>
              </a:rPr>
              <a:t>Event-based synthesis</a:t>
            </a:r>
          </a:p>
          <a:p>
            <a:pPr marL="342900" lvl="1" indent="-228600">
              <a:spcBef>
                <a:spcPts val="200"/>
              </a:spcBef>
              <a:spcAft>
                <a:spcPts val="400"/>
              </a:spcAft>
              <a:buFont typeface="Arial" panose="020B0604020202020204" pitchFamily="34" charset="0"/>
              <a:buChar char="•"/>
            </a:pPr>
            <a:r>
              <a:rPr lang="en-US" sz="1800" dirty="0"/>
              <a:t>Only supported for 1:1 translation (single target language)</a:t>
            </a:r>
          </a:p>
          <a:p>
            <a:pPr marL="342900" lvl="1" indent="-228600">
              <a:spcBef>
                <a:spcPts val="200"/>
              </a:spcBef>
              <a:spcAft>
                <a:spcPts val="400"/>
              </a:spcAft>
              <a:buFont typeface="Arial" panose="020B0604020202020204" pitchFamily="34" charset="0"/>
              <a:buChar char="•"/>
            </a:pPr>
            <a:r>
              <a:rPr lang="en-US" sz="1800" dirty="0"/>
              <a:t>Specify desired voice in the </a:t>
            </a:r>
            <a:r>
              <a:rPr lang="en-US" sz="1800" b="1" dirty="0" err="1"/>
              <a:t>TranslationConfig</a:t>
            </a:r>
            <a:endParaRPr lang="en-US" sz="1800" b="1" dirty="0"/>
          </a:p>
          <a:p>
            <a:pPr marL="342900" lvl="1" indent="-228600">
              <a:spcBef>
                <a:spcPts val="200"/>
              </a:spcBef>
              <a:spcAft>
                <a:spcPts val="400"/>
              </a:spcAft>
              <a:buFont typeface="Arial" panose="020B0604020202020204" pitchFamily="34" charset="0"/>
              <a:buChar char="•"/>
            </a:pPr>
            <a:r>
              <a:rPr lang="en-US" sz="1800" dirty="0"/>
              <a:t>Use the </a:t>
            </a:r>
            <a:r>
              <a:rPr lang="en-US" sz="1800" i="1" dirty="0"/>
              <a:t>Synthesizing</a:t>
            </a:r>
            <a:r>
              <a:rPr lang="en-US" sz="1800" dirty="0"/>
              <a:t> event to retrieve audio stream</a:t>
            </a:r>
          </a:p>
          <a:p>
            <a:pPr marL="342900" lvl="2" indent="-228600">
              <a:spcBef>
                <a:spcPts val="200"/>
              </a:spcBef>
              <a:spcAft>
                <a:spcPts val="400"/>
              </a:spcAft>
              <a:buFont typeface="Arial" panose="020B0604020202020204" pitchFamily="34" charset="0"/>
              <a:buChar char="•"/>
            </a:pPr>
            <a:r>
              <a:rPr lang="en-US" sz="1800" dirty="0"/>
              <a:t>Create an event handler and use </a:t>
            </a:r>
            <a:r>
              <a:rPr lang="en-US" sz="1800" i="1" dirty="0" err="1"/>
              <a:t>Result.GetAudio</a:t>
            </a:r>
            <a:r>
              <a:rPr lang="en-US" sz="1800" i="1" dirty="0"/>
              <a:t>()</a:t>
            </a:r>
            <a:r>
              <a:rPr lang="en-US" sz="1800" dirty="0"/>
              <a:t> to retrieve byte stream</a:t>
            </a:r>
          </a:p>
          <a:p>
            <a:pPr marL="114300" lvl="2" indent="0">
              <a:spcBef>
                <a:spcPts val="200"/>
              </a:spcBef>
              <a:spcAft>
                <a:spcPts val="400"/>
              </a:spcAft>
              <a:buNone/>
            </a:pPr>
            <a:endParaRPr lang="en-US" sz="500" dirty="0"/>
          </a:p>
          <a:p>
            <a:pPr marL="0" indent="0">
              <a:spcBef>
                <a:spcPts val="1200"/>
              </a:spcBef>
              <a:buNone/>
            </a:pPr>
            <a:r>
              <a:rPr lang="en-US" sz="2200" dirty="0">
                <a:latin typeface="+mj-lt"/>
              </a:rPr>
              <a:t>Manual synthesis</a:t>
            </a:r>
          </a:p>
          <a:p>
            <a:pPr marL="342900" lvl="1" indent="-228600">
              <a:spcBef>
                <a:spcPts val="200"/>
              </a:spcBef>
              <a:spcAft>
                <a:spcPts val="400"/>
              </a:spcAft>
              <a:buFont typeface="Arial" panose="020B0604020202020204" pitchFamily="34" charset="0"/>
              <a:buChar char="•"/>
            </a:pPr>
            <a:r>
              <a:rPr lang="en-US" sz="1800" dirty="0"/>
              <a:t>Use for multiple target languages</a:t>
            </a:r>
          </a:p>
          <a:p>
            <a:pPr marL="342900" lvl="1" indent="-228600">
              <a:spcBef>
                <a:spcPts val="200"/>
              </a:spcBef>
              <a:spcAft>
                <a:spcPts val="400"/>
              </a:spcAft>
              <a:buFont typeface="Arial" panose="020B0604020202020204" pitchFamily="34" charset="0"/>
              <a:buChar char="•"/>
            </a:pPr>
            <a:r>
              <a:rPr lang="en-US" sz="1800" dirty="0"/>
              <a:t>Translate to text then use Text-to-Speech API to synthesize each translation in the results</a:t>
            </a:r>
          </a:p>
        </p:txBody>
      </p:sp>
      <p:sp>
        <p:nvSpPr>
          <p:cNvPr id="8" name="Footer Placeholder 7">
            <a:extLst>
              <a:ext uri="{FF2B5EF4-FFF2-40B4-BE49-F238E27FC236}">
                <a16:creationId xmlns:a16="http://schemas.microsoft.com/office/drawing/2014/main" id="{540F5E89-9A32-1A66-7D02-061A958361D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52" name="Group 151">
            <a:extLst>
              <a:ext uri="{FF2B5EF4-FFF2-40B4-BE49-F238E27FC236}">
                <a16:creationId xmlns:a16="http://schemas.microsoft.com/office/drawing/2014/main" id="{D9361D63-029C-A1C7-DD75-DB70F199FF15}"/>
              </a:ext>
            </a:extLst>
          </p:cNvPr>
          <p:cNvGrpSpPr/>
          <p:nvPr/>
        </p:nvGrpSpPr>
        <p:grpSpPr>
          <a:xfrm>
            <a:off x="6640286" y="3887503"/>
            <a:ext cx="5355771" cy="2287109"/>
            <a:chOff x="6640286" y="3887503"/>
            <a:chExt cx="5355771" cy="2287109"/>
          </a:xfrm>
        </p:grpSpPr>
        <p:sp>
          <p:nvSpPr>
            <p:cNvPr id="140" name="Rectangle 139">
              <a:extLst>
                <a:ext uri="{FF2B5EF4-FFF2-40B4-BE49-F238E27FC236}">
                  <a16:creationId xmlns:a16="http://schemas.microsoft.com/office/drawing/2014/main" id="{2FA20699-A1CF-C2C5-7C04-E056F09A3587}"/>
                </a:ext>
              </a:extLst>
            </p:cNvPr>
            <p:cNvSpPr/>
            <p:nvPr/>
          </p:nvSpPr>
          <p:spPr bwMode="auto">
            <a:xfrm>
              <a:off x="6640286" y="3887503"/>
              <a:ext cx="5355771" cy="228710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37" name="Group 136">
              <a:extLst>
                <a:ext uri="{FF2B5EF4-FFF2-40B4-BE49-F238E27FC236}">
                  <a16:creationId xmlns:a16="http://schemas.microsoft.com/office/drawing/2014/main" id="{3418C7DF-FA1C-F293-9440-1ADDF2D4E6F4}"/>
                </a:ext>
              </a:extLst>
            </p:cNvPr>
            <p:cNvGrpSpPr/>
            <p:nvPr/>
          </p:nvGrpSpPr>
          <p:grpSpPr>
            <a:xfrm>
              <a:off x="6797440" y="3927775"/>
              <a:ext cx="5117169" cy="2184806"/>
              <a:chOff x="6742909" y="4522642"/>
              <a:chExt cx="5117169" cy="2184806"/>
            </a:xfrm>
          </p:grpSpPr>
          <p:sp>
            <p:nvSpPr>
              <p:cNvPr id="20" name="TextBox 19">
                <a:extLst>
                  <a:ext uri="{FF2B5EF4-FFF2-40B4-BE49-F238E27FC236}">
                    <a16:creationId xmlns:a16="http://schemas.microsoft.com/office/drawing/2014/main" id="{5EDF825F-14D6-D33C-DD4D-DABC5A89C2C2}"/>
                  </a:ext>
                </a:extLst>
              </p:cNvPr>
              <p:cNvSpPr txBox="1"/>
              <p:nvPr/>
            </p:nvSpPr>
            <p:spPr>
              <a:xfrm>
                <a:off x="9664841" y="5944809"/>
                <a:ext cx="1294778" cy="184666"/>
              </a:xfrm>
              <a:prstGeom prst="rect">
                <a:avLst/>
              </a:prstGeom>
              <a:noFill/>
            </p:spPr>
            <p:txBody>
              <a:bodyPr wrap="non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Semibold"/>
                  </a:defRPr>
                </a:lvl1pPr>
              </a:lstStyle>
              <a:p>
                <a:r>
                  <a:rPr lang="en-US" dirty="0" err="1"/>
                  <a:t>SpeechSynthesizer</a:t>
                </a:r>
                <a:endParaRPr lang="en-US" dirty="0"/>
              </a:p>
            </p:txBody>
          </p:sp>
          <p:sp>
            <p:nvSpPr>
              <p:cNvPr id="28" name="TextBox 27">
                <a:extLst>
                  <a:ext uri="{FF2B5EF4-FFF2-40B4-BE49-F238E27FC236}">
                    <a16:creationId xmlns:a16="http://schemas.microsoft.com/office/drawing/2014/main" id="{85BE2A0F-B5D0-DA2C-26E7-3696E5F54292}"/>
                  </a:ext>
                </a:extLst>
              </p:cNvPr>
              <p:cNvSpPr txBox="1"/>
              <p:nvPr/>
            </p:nvSpPr>
            <p:spPr>
              <a:xfrm>
                <a:off x="8584413" y="5946580"/>
                <a:ext cx="965008" cy="184666"/>
              </a:xfrm>
              <a:prstGeom prst="rect">
                <a:avLst/>
              </a:prstGeom>
              <a:noFill/>
            </p:spPr>
            <p:txBody>
              <a:bodyPr wrap="none" lIns="0" tIns="0" rIns="0" bIns="0" rtlCol="0">
                <a:spAutoFit/>
              </a:bodyPr>
              <a:lstStyle/>
              <a:p>
                <a:pPr algn="l"/>
                <a:r>
                  <a:rPr lang="en-US" sz="1200" dirty="0" err="1">
                    <a:latin typeface="+mj-lt"/>
                  </a:rPr>
                  <a:t>SpeechConfig</a:t>
                </a:r>
                <a:endParaRPr lang="en-US" sz="1200" dirty="0">
                  <a:latin typeface="+mj-lt"/>
                </a:endParaRPr>
              </a:p>
            </p:txBody>
          </p:sp>
          <p:grpSp>
            <p:nvGrpSpPr>
              <p:cNvPr id="29" name="Group 28">
                <a:extLst>
                  <a:ext uri="{FF2B5EF4-FFF2-40B4-BE49-F238E27FC236}">
                    <a16:creationId xmlns:a16="http://schemas.microsoft.com/office/drawing/2014/main" id="{831375F4-8C2E-9CBA-16AB-18C569FB8A1E}"/>
                  </a:ext>
                </a:extLst>
              </p:cNvPr>
              <p:cNvGrpSpPr/>
              <p:nvPr/>
            </p:nvGrpSpPr>
            <p:grpSpPr>
              <a:xfrm>
                <a:off x="8681393" y="5337946"/>
                <a:ext cx="609460" cy="609462"/>
                <a:chOff x="5587442" y="3044832"/>
                <a:chExt cx="855812" cy="855814"/>
              </a:xfrm>
            </p:grpSpPr>
            <p:pic>
              <p:nvPicPr>
                <p:cNvPr id="30" name="Graphic 29" descr="Speech with solid fill">
                  <a:extLst>
                    <a:ext uri="{FF2B5EF4-FFF2-40B4-BE49-F238E27FC236}">
                      <a16:creationId xmlns:a16="http://schemas.microsoft.com/office/drawing/2014/main" id="{C12B8DFE-2AA5-E3B5-DAE3-47ACA8023E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7442" y="3044832"/>
                  <a:ext cx="855812" cy="855814"/>
                </a:xfrm>
                <a:prstGeom prst="rect">
                  <a:avLst/>
                </a:prstGeom>
              </p:spPr>
            </p:pic>
            <p:pic>
              <p:nvPicPr>
                <p:cNvPr id="31" name="Graphic 30" descr="Single gear with solid fill">
                  <a:extLst>
                    <a:ext uri="{FF2B5EF4-FFF2-40B4-BE49-F238E27FC236}">
                      <a16:creationId xmlns:a16="http://schemas.microsoft.com/office/drawing/2014/main" id="{B75E5599-CE84-B7A7-580C-915CBCAD79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77021" y="3164296"/>
                  <a:ext cx="295108" cy="295111"/>
                </a:xfrm>
                <a:prstGeom prst="rect">
                  <a:avLst/>
                </a:prstGeom>
              </p:spPr>
            </p:pic>
            <p:grpSp>
              <p:nvGrpSpPr>
                <p:cNvPr id="32" name="Group 31">
                  <a:extLst>
                    <a:ext uri="{FF2B5EF4-FFF2-40B4-BE49-F238E27FC236}">
                      <a16:creationId xmlns:a16="http://schemas.microsoft.com/office/drawing/2014/main" id="{B1D047C8-DC6E-63FF-CBDB-34F33CA193F6}"/>
                    </a:ext>
                  </a:extLst>
                </p:cNvPr>
                <p:cNvGrpSpPr/>
                <p:nvPr/>
              </p:nvGrpSpPr>
              <p:grpSpPr>
                <a:xfrm>
                  <a:off x="5753371" y="3234323"/>
                  <a:ext cx="426344" cy="396582"/>
                  <a:chOff x="4292520" y="1373977"/>
                  <a:chExt cx="789065" cy="715318"/>
                </a:xfrm>
                <a:solidFill>
                  <a:schemeClr val="bg1"/>
                </a:solidFill>
              </p:grpSpPr>
              <p:pic>
                <p:nvPicPr>
                  <p:cNvPr id="33" name="Graphic 32" descr="Key with solid fill">
                    <a:extLst>
                      <a:ext uri="{FF2B5EF4-FFF2-40B4-BE49-F238E27FC236}">
                        <a16:creationId xmlns:a16="http://schemas.microsoft.com/office/drawing/2014/main" id="{85BEF45C-5521-A3B0-0A8B-96F660D556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59995">
                    <a:off x="4508739" y="1516459"/>
                    <a:ext cx="572846" cy="572836"/>
                  </a:xfrm>
                  <a:prstGeom prst="rect">
                    <a:avLst/>
                  </a:prstGeom>
                </p:spPr>
              </p:pic>
              <p:pic>
                <p:nvPicPr>
                  <p:cNvPr id="34" name="Graphic 33" descr="World with solid fill">
                    <a:extLst>
                      <a:ext uri="{FF2B5EF4-FFF2-40B4-BE49-F238E27FC236}">
                        <a16:creationId xmlns:a16="http://schemas.microsoft.com/office/drawing/2014/main" id="{00CFE8D7-ABAE-3DA5-19F4-7D25D0B342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92520" y="1373977"/>
                    <a:ext cx="486184" cy="486187"/>
                  </a:xfrm>
                  <a:prstGeom prst="rect">
                    <a:avLst/>
                  </a:prstGeom>
                </p:spPr>
              </p:pic>
            </p:grpSp>
          </p:grpSp>
          <p:cxnSp>
            <p:nvCxnSpPr>
              <p:cNvPr id="48" name="Straight Arrow Connector 47">
                <a:extLst>
                  <a:ext uri="{FF2B5EF4-FFF2-40B4-BE49-F238E27FC236}">
                    <a16:creationId xmlns:a16="http://schemas.microsoft.com/office/drawing/2014/main" id="{C030D1D9-0C86-3E64-DA3D-3E352DC5F2EA}"/>
                  </a:ext>
                </a:extLst>
              </p:cNvPr>
              <p:cNvCxnSpPr>
                <a:cxnSpLocks/>
                <a:stCxn id="80" idx="3"/>
                <a:endCxn id="59" idx="1"/>
              </p:cNvCxnSpPr>
              <p:nvPr/>
            </p:nvCxnSpPr>
            <p:spPr>
              <a:xfrm flipV="1">
                <a:off x="7742309" y="4853575"/>
                <a:ext cx="1839725" cy="7267"/>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386D1B7-B0C7-38A0-79D8-7DAF575DEBB3}"/>
                  </a:ext>
                </a:extLst>
              </p:cNvPr>
              <p:cNvSpPr txBox="1"/>
              <p:nvPr/>
            </p:nvSpPr>
            <p:spPr>
              <a:xfrm>
                <a:off x="7438116" y="5076618"/>
                <a:ext cx="1728294" cy="184666"/>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Semibold"/>
                    <a:ea typeface="+mn-ea"/>
                    <a:cs typeface="+mn-cs"/>
                  </a:rPr>
                  <a:t>SpeechTranslationConfig</a:t>
                </a:r>
                <a:endParaRPr kumimoji="0" lang="en-US" sz="12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50" name="Picture 49">
                <a:extLst>
                  <a:ext uri="{FF2B5EF4-FFF2-40B4-BE49-F238E27FC236}">
                    <a16:creationId xmlns:a16="http://schemas.microsoft.com/office/drawing/2014/main" id="{7AA261C3-42A6-6E8E-4DCA-70802D44B152}"/>
                  </a:ext>
                </a:extLst>
              </p:cNvPr>
              <p:cNvPicPr>
                <a:picLocks noChangeAspect="1"/>
              </p:cNvPicPr>
              <p:nvPr/>
            </p:nvPicPr>
            <p:blipFill>
              <a:blip r:embed="rId7"/>
              <a:srcRect/>
              <a:stretch/>
            </p:blipFill>
            <p:spPr>
              <a:xfrm>
                <a:off x="11242616" y="5200678"/>
                <a:ext cx="617462" cy="617462"/>
              </a:xfrm>
              <a:prstGeom prst="rect">
                <a:avLst/>
              </a:prstGeom>
            </p:spPr>
          </p:pic>
          <p:grpSp>
            <p:nvGrpSpPr>
              <p:cNvPr id="51" name="Group 50">
                <a:extLst>
                  <a:ext uri="{FF2B5EF4-FFF2-40B4-BE49-F238E27FC236}">
                    <a16:creationId xmlns:a16="http://schemas.microsoft.com/office/drawing/2014/main" id="{EF2F70D2-D1D8-69DC-F0FF-C0BBC7BF8F74}"/>
                  </a:ext>
                </a:extLst>
              </p:cNvPr>
              <p:cNvGrpSpPr/>
              <p:nvPr/>
            </p:nvGrpSpPr>
            <p:grpSpPr>
              <a:xfrm>
                <a:off x="7895267" y="4552903"/>
                <a:ext cx="615444" cy="615446"/>
                <a:chOff x="5750484" y="3034642"/>
                <a:chExt cx="855812" cy="855814"/>
              </a:xfrm>
            </p:grpSpPr>
            <p:pic>
              <p:nvPicPr>
                <p:cNvPr id="52" name="Graphic 51" descr="Speech with solid fill">
                  <a:extLst>
                    <a:ext uri="{FF2B5EF4-FFF2-40B4-BE49-F238E27FC236}">
                      <a16:creationId xmlns:a16="http://schemas.microsoft.com/office/drawing/2014/main" id="{721301E7-3384-2E10-6101-61FC15469C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50484" y="3034642"/>
                  <a:ext cx="855812" cy="855814"/>
                </a:xfrm>
                <a:prstGeom prst="rect">
                  <a:avLst/>
                </a:prstGeom>
              </p:spPr>
            </p:pic>
            <p:pic>
              <p:nvPicPr>
                <p:cNvPr id="53" name="Graphic 52" descr="Single gear with solid fill">
                  <a:extLst>
                    <a:ext uri="{FF2B5EF4-FFF2-40B4-BE49-F238E27FC236}">
                      <a16:creationId xmlns:a16="http://schemas.microsoft.com/office/drawing/2014/main" id="{9E2557D1-2631-2183-2C78-DECD18D8B3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29873" y="3154106"/>
                  <a:ext cx="295108" cy="295110"/>
                </a:xfrm>
                <a:prstGeom prst="rect">
                  <a:avLst/>
                </a:prstGeom>
              </p:spPr>
            </p:pic>
            <p:grpSp>
              <p:nvGrpSpPr>
                <p:cNvPr id="54" name="Group 53">
                  <a:extLst>
                    <a:ext uri="{FF2B5EF4-FFF2-40B4-BE49-F238E27FC236}">
                      <a16:creationId xmlns:a16="http://schemas.microsoft.com/office/drawing/2014/main" id="{DEBE03E4-47E4-6C01-A765-C7FBB220EC58}"/>
                    </a:ext>
                  </a:extLst>
                </p:cNvPr>
                <p:cNvGrpSpPr/>
                <p:nvPr/>
              </p:nvGrpSpPr>
              <p:grpSpPr>
                <a:xfrm>
                  <a:off x="5906222" y="3224134"/>
                  <a:ext cx="426323" cy="396581"/>
                  <a:chOff x="4575454" y="1355599"/>
                  <a:chExt cx="789033" cy="715316"/>
                </a:xfrm>
                <a:solidFill>
                  <a:schemeClr val="bg1"/>
                </a:solidFill>
              </p:grpSpPr>
              <p:pic>
                <p:nvPicPr>
                  <p:cNvPr id="55" name="Graphic 54" descr="Key with solid fill">
                    <a:extLst>
                      <a:ext uri="{FF2B5EF4-FFF2-40B4-BE49-F238E27FC236}">
                        <a16:creationId xmlns:a16="http://schemas.microsoft.com/office/drawing/2014/main" id="{E4BB05A9-9263-05DB-1FBD-BE16DF984A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59995">
                    <a:off x="4791643" y="1498079"/>
                    <a:ext cx="572844" cy="572836"/>
                  </a:xfrm>
                  <a:prstGeom prst="rect">
                    <a:avLst/>
                  </a:prstGeom>
                </p:spPr>
              </p:pic>
              <p:pic>
                <p:nvPicPr>
                  <p:cNvPr id="56" name="Graphic 55" descr="World with solid fill">
                    <a:extLst>
                      <a:ext uri="{FF2B5EF4-FFF2-40B4-BE49-F238E27FC236}">
                        <a16:creationId xmlns:a16="http://schemas.microsoft.com/office/drawing/2014/main" id="{64ABFF8F-F038-D6AC-12F7-0CCD9AEE16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75454" y="1355599"/>
                    <a:ext cx="486185" cy="486186"/>
                  </a:xfrm>
                  <a:prstGeom prst="rect">
                    <a:avLst/>
                  </a:prstGeom>
                </p:spPr>
              </p:pic>
            </p:grpSp>
          </p:grpSp>
          <p:sp>
            <p:nvSpPr>
              <p:cNvPr id="57" name="TextBox 56">
                <a:extLst>
                  <a:ext uri="{FF2B5EF4-FFF2-40B4-BE49-F238E27FC236}">
                    <a16:creationId xmlns:a16="http://schemas.microsoft.com/office/drawing/2014/main" id="{793333FE-36AD-BFFD-F71A-6939B1001FA1}"/>
                  </a:ext>
                </a:extLst>
              </p:cNvPr>
              <p:cNvSpPr txBox="1"/>
              <p:nvPr/>
            </p:nvSpPr>
            <p:spPr>
              <a:xfrm>
                <a:off x="9334877" y="5076016"/>
                <a:ext cx="1535100" cy="184666"/>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Semibold"/>
                    <a:ea typeface="+mn-ea"/>
                    <a:cs typeface="+mn-cs"/>
                  </a:rPr>
                  <a:t>TranslationRecognizer</a:t>
                </a:r>
                <a:endParaRPr kumimoji="0" lang="en-US" sz="1200" b="0" i="0" u="none" strike="noStrike" kern="1200" cap="none" spc="0" normalizeH="0" baseline="0" noProof="0" dirty="0">
                  <a:ln>
                    <a:noFill/>
                  </a:ln>
                  <a:solidFill>
                    <a:srgbClr val="000000"/>
                  </a:solidFill>
                  <a:effectLst/>
                  <a:uLnTx/>
                  <a:uFillTx/>
                  <a:latin typeface="Segoe UI Semibold"/>
                  <a:ea typeface="+mn-ea"/>
                  <a:cs typeface="+mn-cs"/>
                </a:endParaRPr>
              </a:p>
            </p:txBody>
          </p:sp>
          <p:grpSp>
            <p:nvGrpSpPr>
              <p:cNvPr id="58" name="Group 57">
                <a:extLst>
                  <a:ext uri="{FF2B5EF4-FFF2-40B4-BE49-F238E27FC236}">
                    <a16:creationId xmlns:a16="http://schemas.microsoft.com/office/drawing/2014/main" id="{FB9187D5-D180-B158-9C98-07F1A14D411C}"/>
                  </a:ext>
                </a:extLst>
              </p:cNvPr>
              <p:cNvGrpSpPr/>
              <p:nvPr/>
            </p:nvGrpSpPr>
            <p:grpSpPr>
              <a:xfrm>
                <a:off x="9582034" y="4522642"/>
                <a:ext cx="661866" cy="661866"/>
                <a:chOff x="5638800" y="2971800"/>
                <a:chExt cx="914400" cy="914400"/>
              </a:xfrm>
            </p:grpSpPr>
            <p:pic>
              <p:nvPicPr>
                <p:cNvPr id="59" name="Graphic 58" descr="Chat with solid fill">
                  <a:extLst>
                    <a:ext uri="{FF2B5EF4-FFF2-40B4-BE49-F238E27FC236}">
                      <a16:creationId xmlns:a16="http://schemas.microsoft.com/office/drawing/2014/main" id="{D536A549-B074-0CFD-A1AD-170E718838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38800" y="2971800"/>
                  <a:ext cx="914400" cy="914400"/>
                </a:xfrm>
                <a:prstGeom prst="rect">
                  <a:avLst/>
                </a:prstGeom>
              </p:spPr>
            </p:pic>
            <p:pic>
              <p:nvPicPr>
                <p:cNvPr id="60" name="Graphic 59" descr="Earth globe: Americas with solid fill">
                  <a:extLst>
                    <a:ext uri="{FF2B5EF4-FFF2-40B4-BE49-F238E27FC236}">
                      <a16:creationId xmlns:a16="http://schemas.microsoft.com/office/drawing/2014/main" id="{1AC931F9-EF11-F693-3787-7652856A0675}"/>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115533" y="3317560"/>
                  <a:ext cx="238926" cy="238928"/>
                </a:xfrm>
                <a:prstGeom prst="rect">
                  <a:avLst/>
                </a:prstGeom>
              </p:spPr>
            </p:pic>
          </p:grpSp>
          <p:grpSp>
            <p:nvGrpSpPr>
              <p:cNvPr id="61" name="Group 60">
                <a:extLst>
                  <a:ext uri="{FF2B5EF4-FFF2-40B4-BE49-F238E27FC236}">
                    <a16:creationId xmlns:a16="http://schemas.microsoft.com/office/drawing/2014/main" id="{DA8CD05D-EAD7-00E0-E179-2239652B776D}"/>
                  </a:ext>
                </a:extLst>
              </p:cNvPr>
              <p:cNvGrpSpPr/>
              <p:nvPr/>
            </p:nvGrpSpPr>
            <p:grpSpPr>
              <a:xfrm>
                <a:off x="7646807" y="6068565"/>
                <a:ext cx="554012" cy="472912"/>
                <a:chOff x="5410132" y="5200378"/>
                <a:chExt cx="1173277" cy="1001525"/>
              </a:xfrm>
            </p:grpSpPr>
            <p:pic>
              <p:nvPicPr>
                <p:cNvPr id="62" name="Graphic 61" descr="Volume with solid fill">
                  <a:extLst>
                    <a:ext uri="{FF2B5EF4-FFF2-40B4-BE49-F238E27FC236}">
                      <a16:creationId xmlns:a16="http://schemas.microsoft.com/office/drawing/2014/main" id="{65DD4F79-FC45-7CBF-2D07-231B96BD9148}"/>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5854996" y="5473490"/>
                  <a:ext cx="728413" cy="728413"/>
                </a:xfrm>
                <a:prstGeom prst="rect">
                  <a:avLst/>
                </a:prstGeom>
              </p:spPr>
            </p:pic>
            <p:pic>
              <p:nvPicPr>
                <p:cNvPr id="63" name="Graphic 62" descr="Paper outline">
                  <a:extLst>
                    <a:ext uri="{FF2B5EF4-FFF2-40B4-BE49-F238E27FC236}">
                      <a16:creationId xmlns:a16="http://schemas.microsoft.com/office/drawing/2014/main" id="{897CA730-BD06-0966-5624-8359311369E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0132" y="5200378"/>
                  <a:ext cx="728413" cy="728415"/>
                </a:xfrm>
                <a:prstGeom prst="rect">
                  <a:avLst/>
                </a:prstGeom>
              </p:spPr>
            </p:pic>
            <p:pic>
              <p:nvPicPr>
                <p:cNvPr id="64" name="Graphic 63" descr="Voice with solid fill">
                  <a:extLst>
                    <a:ext uri="{FF2B5EF4-FFF2-40B4-BE49-F238E27FC236}">
                      <a16:creationId xmlns:a16="http://schemas.microsoft.com/office/drawing/2014/main" id="{3434A70C-AE90-427E-8301-9BBB6DBF2D4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71414" y="5387194"/>
                  <a:ext cx="405811" cy="405812"/>
                </a:xfrm>
                <a:prstGeom prst="rect">
                  <a:avLst/>
                </a:prstGeom>
              </p:spPr>
            </p:pic>
          </p:grpSp>
          <p:sp>
            <p:nvSpPr>
              <p:cNvPr id="65" name="TextBox 64">
                <a:extLst>
                  <a:ext uri="{FF2B5EF4-FFF2-40B4-BE49-F238E27FC236}">
                    <a16:creationId xmlns:a16="http://schemas.microsoft.com/office/drawing/2014/main" id="{8B1EFA02-CBD8-2E81-BEAB-DB0C05C98351}"/>
                  </a:ext>
                </a:extLst>
              </p:cNvPr>
              <p:cNvSpPr txBox="1"/>
              <p:nvPr/>
            </p:nvSpPr>
            <p:spPr>
              <a:xfrm>
                <a:off x="7223689" y="6522782"/>
                <a:ext cx="1381789" cy="184666"/>
              </a:xfrm>
              <a:prstGeom prst="rect">
                <a:avLst/>
              </a:prstGeom>
              <a:noFill/>
            </p:spPr>
            <p:txBody>
              <a:bodyPr wrap="non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Semibold"/>
                  </a:defRPr>
                </a:lvl1pPr>
              </a:lstStyle>
              <a:p>
                <a:r>
                  <a:rPr lang="en-US" dirty="0" err="1"/>
                  <a:t>AudioOutputConfig</a:t>
                </a:r>
                <a:endParaRPr lang="en-US" dirty="0"/>
              </a:p>
            </p:txBody>
          </p:sp>
          <p:cxnSp>
            <p:nvCxnSpPr>
              <p:cNvPr id="66" name="Straight Arrow Connector 65">
                <a:extLst>
                  <a:ext uri="{FF2B5EF4-FFF2-40B4-BE49-F238E27FC236}">
                    <a16:creationId xmlns:a16="http://schemas.microsoft.com/office/drawing/2014/main" id="{75B04451-9169-1C68-287E-03B7BF1DD146}"/>
                  </a:ext>
                </a:extLst>
              </p:cNvPr>
              <p:cNvCxnSpPr>
                <a:cxnSpLocks/>
                <a:stCxn id="59" idx="3"/>
                <a:endCxn id="50" idx="0"/>
              </p:cNvCxnSpPr>
              <p:nvPr/>
            </p:nvCxnSpPr>
            <p:spPr>
              <a:xfrm>
                <a:off x="10243900" y="4853575"/>
                <a:ext cx="1307447" cy="347103"/>
              </a:xfrm>
              <a:prstGeom prst="bentConnector2">
                <a:avLst/>
              </a:prstGeom>
              <a:ln w="28575">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6478591D-1522-DE5F-F292-236615F4F62A}"/>
                  </a:ext>
                </a:extLst>
              </p:cNvPr>
              <p:cNvGrpSpPr/>
              <p:nvPr/>
            </p:nvGrpSpPr>
            <p:grpSpPr>
              <a:xfrm>
                <a:off x="7182024" y="4580698"/>
                <a:ext cx="560285" cy="560287"/>
                <a:chOff x="5410132" y="5200378"/>
                <a:chExt cx="728413" cy="728415"/>
              </a:xfrm>
            </p:grpSpPr>
            <p:pic>
              <p:nvPicPr>
                <p:cNvPr id="80" name="Graphic 79" descr="Paper outline">
                  <a:extLst>
                    <a:ext uri="{FF2B5EF4-FFF2-40B4-BE49-F238E27FC236}">
                      <a16:creationId xmlns:a16="http://schemas.microsoft.com/office/drawing/2014/main" id="{60A328C8-A865-6E66-168C-39A4E5690D6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0132" y="5200378"/>
                  <a:ext cx="728413" cy="728415"/>
                </a:xfrm>
                <a:prstGeom prst="rect">
                  <a:avLst/>
                </a:prstGeom>
              </p:spPr>
            </p:pic>
            <p:pic>
              <p:nvPicPr>
                <p:cNvPr id="81" name="Graphic 80" descr="Voice with solid fill">
                  <a:extLst>
                    <a:ext uri="{FF2B5EF4-FFF2-40B4-BE49-F238E27FC236}">
                      <a16:creationId xmlns:a16="http://schemas.microsoft.com/office/drawing/2014/main" id="{4B218799-2AD0-1348-7390-0C540E715CD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71414" y="5387194"/>
                  <a:ext cx="405811" cy="405812"/>
                </a:xfrm>
                <a:prstGeom prst="rect">
                  <a:avLst/>
                </a:prstGeom>
              </p:spPr>
            </p:pic>
          </p:grpSp>
          <p:grpSp>
            <p:nvGrpSpPr>
              <p:cNvPr id="86" name="Group 85">
                <a:extLst>
                  <a:ext uri="{FF2B5EF4-FFF2-40B4-BE49-F238E27FC236}">
                    <a16:creationId xmlns:a16="http://schemas.microsoft.com/office/drawing/2014/main" id="{181A02AE-AA50-D92A-3A59-3B62A5C35448}"/>
                  </a:ext>
                </a:extLst>
              </p:cNvPr>
              <p:cNvGrpSpPr/>
              <p:nvPr/>
            </p:nvGrpSpPr>
            <p:grpSpPr>
              <a:xfrm>
                <a:off x="7787407" y="5464929"/>
                <a:ext cx="408656" cy="443418"/>
                <a:chOff x="6535951" y="4416034"/>
                <a:chExt cx="1123530" cy="1219100"/>
              </a:xfrm>
            </p:grpSpPr>
            <p:grpSp>
              <p:nvGrpSpPr>
                <p:cNvPr id="87" name="Group 86">
                  <a:extLst>
                    <a:ext uri="{FF2B5EF4-FFF2-40B4-BE49-F238E27FC236}">
                      <a16:creationId xmlns:a16="http://schemas.microsoft.com/office/drawing/2014/main" id="{AA3EB92C-A109-383C-E5A4-71D527608C15}"/>
                    </a:ext>
                  </a:extLst>
                </p:cNvPr>
                <p:cNvGrpSpPr/>
                <p:nvPr/>
              </p:nvGrpSpPr>
              <p:grpSpPr>
                <a:xfrm>
                  <a:off x="6745081" y="4416034"/>
                  <a:ext cx="914400" cy="914400"/>
                  <a:chOff x="6745081" y="4416034"/>
                  <a:chExt cx="914400" cy="914400"/>
                </a:xfrm>
              </p:grpSpPr>
              <p:sp>
                <p:nvSpPr>
                  <p:cNvPr id="94" name="Rectangle: Single Corner Snipped 93">
                    <a:extLst>
                      <a:ext uri="{FF2B5EF4-FFF2-40B4-BE49-F238E27FC236}">
                        <a16:creationId xmlns:a16="http://schemas.microsoft.com/office/drawing/2014/main" id="{EAC7AE79-5F50-8172-CFC0-BEDEC04DFC80}"/>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5" name="Graphic 94" descr="Document outline">
                    <a:extLst>
                      <a:ext uri="{FF2B5EF4-FFF2-40B4-BE49-F238E27FC236}">
                        <a16:creationId xmlns:a16="http://schemas.microsoft.com/office/drawing/2014/main" id="{082FB782-43AB-0DAB-B5E5-93F7101837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45081" y="4416034"/>
                    <a:ext cx="914400" cy="914400"/>
                  </a:xfrm>
                  <a:prstGeom prst="rect">
                    <a:avLst/>
                  </a:prstGeom>
                </p:spPr>
              </p:pic>
            </p:grpSp>
            <p:grpSp>
              <p:nvGrpSpPr>
                <p:cNvPr id="88" name="Group 87">
                  <a:extLst>
                    <a:ext uri="{FF2B5EF4-FFF2-40B4-BE49-F238E27FC236}">
                      <a16:creationId xmlns:a16="http://schemas.microsoft.com/office/drawing/2014/main" id="{25EC5029-C6DF-19E3-0448-08E2C3B8A251}"/>
                    </a:ext>
                  </a:extLst>
                </p:cNvPr>
                <p:cNvGrpSpPr/>
                <p:nvPr/>
              </p:nvGrpSpPr>
              <p:grpSpPr>
                <a:xfrm>
                  <a:off x="6640516" y="4568384"/>
                  <a:ext cx="914400" cy="914400"/>
                  <a:chOff x="6745081" y="4416034"/>
                  <a:chExt cx="914400" cy="914400"/>
                </a:xfrm>
              </p:grpSpPr>
              <p:sp>
                <p:nvSpPr>
                  <p:cNvPr id="92" name="Rectangle: Single Corner Snipped 91">
                    <a:extLst>
                      <a:ext uri="{FF2B5EF4-FFF2-40B4-BE49-F238E27FC236}">
                        <a16:creationId xmlns:a16="http://schemas.microsoft.com/office/drawing/2014/main" id="{E8D1B8DC-CBFC-2DF7-B0B8-1C0B61EDF49D}"/>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3" name="Graphic 92" descr="Document outline">
                    <a:extLst>
                      <a:ext uri="{FF2B5EF4-FFF2-40B4-BE49-F238E27FC236}">
                        <a16:creationId xmlns:a16="http://schemas.microsoft.com/office/drawing/2014/main" id="{692CF030-75D0-7119-147E-79912B2713D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45081" y="4416034"/>
                    <a:ext cx="914400" cy="914400"/>
                  </a:xfrm>
                  <a:prstGeom prst="rect">
                    <a:avLst/>
                  </a:prstGeom>
                </p:spPr>
              </p:pic>
            </p:grpSp>
            <p:grpSp>
              <p:nvGrpSpPr>
                <p:cNvPr id="89" name="Group 88">
                  <a:extLst>
                    <a:ext uri="{FF2B5EF4-FFF2-40B4-BE49-F238E27FC236}">
                      <a16:creationId xmlns:a16="http://schemas.microsoft.com/office/drawing/2014/main" id="{D4649037-44BC-496E-B0D8-1A844C608DDA}"/>
                    </a:ext>
                  </a:extLst>
                </p:cNvPr>
                <p:cNvGrpSpPr/>
                <p:nvPr/>
              </p:nvGrpSpPr>
              <p:grpSpPr>
                <a:xfrm>
                  <a:off x="6535951" y="4720734"/>
                  <a:ext cx="914400" cy="914400"/>
                  <a:chOff x="6745081" y="4416034"/>
                  <a:chExt cx="914400" cy="914400"/>
                </a:xfrm>
              </p:grpSpPr>
              <p:sp>
                <p:nvSpPr>
                  <p:cNvPr id="90" name="Rectangle: Single Corner Snipped 89">
                    <a:extLst>
                      <a:ext uri="{FF2B5EF4-FFF2-40B4-BE49-F238E27FC236}">
                        <a16:creationId xmlns:a16="http://schemas.microsoft.com/office/drawing/2014/main" id="{91FE412C-5C05-5315-0849-7D4F95ACD17B}"/>
                      </a:ext>
                    </a:extLst>
                  </p:cNvPr>
                  <p:cNvSpPr/>
                  <p:nvPr/>
                </p:nvSpPr>
                <p:spPr bwMode="auto">
                  <a:xfrm>
                    <a:off x="6914606" y="4497917"/>
                    <a:ext cx="573683" cy="760716"/>
                  </a:xfrm>
                  <a:prstGeom prst="snip1Rect">
                    <a:avLst>
                      <a:gd name="adj" fmla="val 30329"/>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1" name="Graphic 90" descr="Document outline">
                    <a:extLst>
                      <a:ext uri="{FF2B5EF4-FFF2-40B4-BE49-F238E27FC236}">
                        <a16:creationId xmlns:a16="http://schemas.microsoft.com/office/drawing/2014/main" id="{6EBA7085-274A-DD28-53B6-6F2F92D2402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45081" y="4416034"/>
                    <a:ext cx="914400" cy="914400"/>
                  </a:xfrm>
                  <a:prstGeom prst="rect">
                    <a:avLst/>
                  </a:prstGeom>
                </p:spPr>
              </p:pic>
            </p:grpSp>
          </p:grpSp>
          <p:cxnSp>
            <p:nvCxnSpPr>
              <p:cNvPr id="98" name="Straight Arrow Connector 97">
                <a:extLst>
                  <a:ext uri="{FF2B5EF4-FFF2-40B4-BE49-F238E27FC236}">
                    <a16:creationId xmlns:a16="http://schemas.microsoft.com/office/drawing/2014/main" id="{CF9A8F5C-5118-FA9D-2DBF-47F95B13B41E}"/>
                  </a:ext>
                </a:extLst>
              </p:cNvPr>
              <p:cNvCxnSpPr>
                <a:cxnSpLocks/>
                <a:stCxn id="57" idx="2"/>
                <a:endCxn id="90" idx="2"/>
              </p:cNvCxnSpPr>
              <p:nvPr/>
            </p:nvCxnSpPr>
            <p:spPr>
              <a:xfrm rot="5400000">
                <a:off x="8734146" y="4375603"/>
                <a:ext cx="483203" cy="2253360"/>
              </a:xfrm>
              <a:prstGeom prst="bentConnector4">
                <a:avLst>
                  <a:gd name="adj1" fmla="val 23669"/>
                  <a:gd name="adj2" fmla="val 110145"/>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D8CAC83F-B2B8-B3B7-8627-B6C9C04F146C}"/>
                  </a:ext>
                </a:extLst>
              </p:cNvPr>
              <p:cNvCxnSpPr>
                <a:cxnSpLocks/>
                <a:stCxn id="94" idx="0"/>
                <a:endCxn id="30" idx="1"/>
              </p:cNvCxnSpPr>
              <p:nvPr/>
            </p:nvCxnSpPr>
            <p:spPr>
              <a:xfrm>
                <a:off x="8133796" y="5633058"/>
                <a:ext cx="547597" cy="9619"/>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1FE7A1CF-09DC-A059-BBEA-DA3FB5629519}"/>
                  </a:ext>
                </a:extLst>
              </p:cNvPr>
              <p:cNvCxnSpPr>
                <a:cxnSpLocks/>
                <a:stCxn id="30" idx="3"/>
              </p:cNvCxnSpPr>
              <p:nvPr/>
            </p:nvCxnSpPr>
            <p:spPr>
              <a:xfrm flipV="1">
                <a:off x="9290853" y="5637867"/>
                <a:ext cx="703223" cy="4810"/>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22DEE083-9A4D-F99D-D27E-158C46BF3C84}"/>
                  </a:ext>
                </a:extLst>
              </p:cNvPr>
              <p:cNvCxnSpPr>
                <a:cxnSpLocks/>
                <a:endCxn id="50" idx="2"/>
              </p:cNvCxnSpPr>
              <p:nvPr/>
            </p:nvCxnSpPr>
            <p:spPr>
              <a:xfrm>
                <a:off x="10571292" y="5782470"/>
                <a:ext cx="980055" cy="35670"/>
              </a:xfrm>
              <a:prstGeom prst="bentConnector4">
                <a:avLst>
                  <a:gd name="adj1" fmla="val 52761"/>
                  <a:gd name="adj2" fmla="val 740875"/>
                </a:avLst>
              </a:prstGeom>
              <a:ln w="28575">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7132835-8C1D-6535-FD7A-061D7CC3EF39}"/>
                  </a:ext>
                </a:extLst>
              </p:cNvPr>
              <p:cNvCxnSpPr>
                <a:cxnSpLocks/>
                <a:stCxn id="20" idx="2"/>
                <a:endCxn id="62" idx="3"/>
              </p:cNvCxnSpPr>
              <p:nvPr/>
            </p:nvCxnSpPr>
            <p:spPr>
              <a:xfrm rot="5400000">
                <a:off x="9136512" y="5193783"/>
                <a:ext cx="240027" cy="2111411"/>
              </a:xfrm>
              <a:prstGeom prst="bentConnector2">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EFC561C1-BE93-C994-E27C-25F4360ECF43}"/>
                  </a:ext>
                </a:extLst>
              </p:cNvPr>
              <p:cNvGrpSpPr/>
              <p:nvPr/>
            </p:nvGrpSpPr>
            <p:grpSpPr>
              <a:xfrm>
                <a:off x="6742909" y="5940193"/>
                <a:ext cx="552246" cy="602182"/>
                <a:chOff x="6513493" y="5939323"/>
                <a:chExt cx="633705" cy="691006"/>
              </a:xfrm>
            </p:grpSpPr>
            <p:grpSp>
              <p:nvGrpSpPr>
                <p:cNvPr id="122" name="Group 121">
                  <a:extLst>
                    <a:ext uri="{FF2B5EF4-FFF2-40B4-BE49-F238E27FC236}">
                      <a16:creationId xmlns:a16="http://schemas.microsoft.com/office/drawing/2014/main" id="{394E7FB5-9E22-F282-9A91-A12AACC8DAAC}"/>
                    </a:ext>
                  </a:extLst>
                </p:cNvPr>
                <p:cNvGrpSpPr/>
                <p:nvPr/>
              </p:nvGrpSpPr>
              <p:grpSpPr>
                <a:xfrm>
                  <a:off x="6586913" y="5939323"/>
                  <a:ext cx="560285" cy="560287"/>
                  <a:chOff x="5664063" y="5751512"/>
                  <a:chExt cx="560285" cy="560287"/>
                </a:xfrm>
              </p:grpSpPr>
              <p:sp>
                <p:nvSpPr>
                  <p:cNvPr id="121" name="Rectangle: Single Corner Snipped 120">
                    <a:extLst>
                      <a:ext uri="{FF2B5EF4-FFF2-40B4-BE49-F238E27FC236}">
                        <a16:creationId xmlns:a16="http://schemas.microsoft.com/office/drawing/2014/main" id="{E47EE6BC-FABE-CA6C-5E9D-475C5866F554}"/>
                      </a:ext>
                    </a:extLst>
                  </p:cNvPr>
                  <p:cNvSpPr/>
                  <p:nvPr/>
                </p:nvSpPr>
                <p:spPr bwMode="auto">
                  <a:xfrm>
                    <a:off x="5776686" y="5800305"/>
                    <a:ext cx="343265" cy="472479"/>
                  </a:xfrm>
                  <a:prstGeom prst="snip1Rect">
                    <a:avLst>
                      <a:gd name="adj" fmla="val 35695"/>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9" name="Graphic 118" descr="Paper outline">
                    <a:extLst>
                      <a:ext uri="{FF2B5EF4-FFF2-40B4-BE49-F238E27FC236}">
                        <a16:creationId xmlns:a16="http://schemas.microsoft.com/office/drawing/2014/main" id="{EF60271B-85AE-922D-F2D6-3263E09FE0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64063" y="5751512"/>
                    <a:ext cx="560285" cy="560287"/>
                  </a:xfrm>
                  <a:prstGeom prst="rect">
                    <a:avLst/>
                  </a:prstGeom>
                </p:spPr>
              </p:pic>
              <p:pic>
                <p:nvPicPr>
                  <p:cNvPr id="120" name="Graphic 119" descr="Voice with solid fill">
                    <a:extLst>
                      <a:ext uri="{FF2B5EF4-FFF2-40B4-BE49-F238E27FC236}">
                        <a16:creationId xmlns:a16="http://schemas.microsoft.com/office/drawing/2014/main" id="{8BE237D1-5717-C687-85DD-FB3F7231E4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86118" y="5901215"/>
                    <a:ext cx="312144" cy="312145"/>
                  </a:xfrm>
                  <a:prstGeom prst="rect">
                    <a:avLst/>
                  </a:prstGeom>
                </p:spPr>
              </p:pic>
            </p:grpSp>
            <p:grpSp>
              <p:nvGrpSpPr>
                <p:cNvPr id="123" name="Group 122">
                  <a:extLst>
                    <a:ext uri="{FF2B5EF4-FFF2-40B4-BE49-F238E27FC236}">
                      <a16:creationId xmlns:a16="http://schemas.microsoft.com/office/drawing/2014/main" id="{E6E5F184-1293-E20F-C661-BD29FF251BE4}"/>
                    </a:ext>
                  </a:extLst>
                </p:cNvPr>
                <p:cNvGrpSpPr/>
                <p:nvPr/>
              </p:nvGrpSpPr>
              <p:grpSpPr>
                <a:xfrm>
                  <a:off x="6548880" y="6010411"/>
                  <a:ext cx="560285" cy="560287"/>
                  <a:chOff x="5664063" y="5751512"/>
                  <a:chExt cx="560285" cy="560287"/>
                </a:xfrm>
              </p:grpSpPr>
              <p:sp>
                <p:nvSpPr>
                  <p:cNvPr id="124" name="Rectangle: Single Corner Snipped 123">
                    <a:extLst>
                      <a:ext uri="{FF2B5EF4-FFF2-40B4-BE49-F238E27FC236}">
                        <a16:creationId xmlns:a16="http://schemas.microsoft.com/office/drawing/2014/main" id="{2896C5F7-A9CE-1FD0-F765-64F6716609AC}"/>
                      </a:ext>
                    </a:extLst>
                  </p:cNvPr>
                  <p:cNvSpPr/>
                  <p:nvPr/>
                </p:nvSpPr>
                <p:spPr bwMode="auto">
                  <a:xfrm>
                    <a:off x="5776686" y="5800305"/>
                    <a:ext cx="343265" cy="472479"/>
                  </a:xfrm>
                  <a:prstGeom prst="snip1Rect">
                    <a:avLst>
                      <a:gd name="adj" fmla="val 35695"/>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5" name="Graphic 124" descr="Paper outline">
                    <a:extLst>
                      <a:ext uri="{FF2B5EF4-FFF2-40B4-BE49-F238E27FC236}">
                        <a16:creationId xmlns:a16="http://schemas.microsoft.com/office/drawing/2014/main" id="{6290675A-D464-576A-5FF0-DDC6DE25C57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64063" y="5751512"/>
                    <a:ext cx="560285" cy="560287"/>
                  </a:xfrm>
                  <a:prstGeom prst="rect">
                    <a:avLst/>
                  </a:prstGeom>
                </p:spPr>
              </p:pic>
              <p:pic>
                <p:nvPicPr>
                  <p:cNvPr id="126" name="Graphic 125" descr="Voice with solid fill">
                    <a:extLst>
                      <a:ext uri="{FF2B5EF4-FFF2-40B4-BE49-F238E27FC236}">
                        <a16:creationId xmlns:a16="http://schemas.microsoft.com/office/drawing/2014/main" id="{95E45D4B-15BD-AE64-C95F-AAD4E90E9DA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86118" y="5901215"/>
                    <a:ext cx="312144" cy="312145"/>
                  </a:xfrm>
                  <a:prstGeom prst="rect">
                    <a:avLst/>
                  </a:prstGeom>
                </p:spPr>
              </p:pic>
            </p:grpSp>
            <p:grpSp>
              <p:nvGrpSpPr>
                <p:cNvPr id="127" name="Group 126">
                  <a:extLst>
                    <a:ext uri="{FF2B5EF4-FFF2-40B4-BE49-F238E27FC236}">
                      <a16:creationId xmlns:a16="http://schemas.microsoft.com/office/drawing/2014/main" id="{16F7F08D-0690-B67F-2A72-2EB95CDD27EF}"/>
                    </a:ext>
                  </a:extLst>
                </p:cNvPr>
                <p:cNvGrpSpPr/>
                <p:nvPr/>
              </p:nvGrpSpPr>
              <p:grpSpPr>
                <a:xfrm>
                  <a:off x="6513493" y="6070042"/>
                  <a:ext cx="560285" cy="560287"/>
                  <a:chOff x="5664063" y="5751512"/>
                  <a:chExt cx="560285" cy="560287"/>
                </a:xfrm>
              </p:grpSpPr>
              <p:sp>
                <p:nvSpPr>
                  <p:cNvPr id="128" name="Rectangle: Single Corner Snipped 127">
                    <a:extLst>
                      <a:ext uri="{FF2B5EF4-FFF2-40B4-BE49-F238E27FC236}">
                        <a16:creationId xmlns:a16="http://schemas.microsoft.com/office/drawing/2014/main" id="{C8BC41EC-33E0-8CD1-34F6-6C51F241B3F6}"/>
                      </a:ext>
                    </a:extLst>
                  </p:cNvPr>
                  <p:cNvSpPr/>
                  <p:nvPr/>
                </p:nvSpPr>
                <p:spPr bwMode="auto">
                  <a:xfrm>
                    <a:off x="5776686" y="5800305"/>
                    <a:ext cx="343265" cy="472479"/>
                  </a:xfrm>
                  <a:prstGeom prst="snip1Rect">
                    <a:avLst>
                      <a:gd name="adj" fmla="val 35695"/>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9" name="Graphic 128" descr="Paper outline">
                    <a:extLst>
                      <a:ext uri="{FF2B5EF4-FFF2-40B4-BE49-F238E27FC236}">
                        <a16:creationId xmlns:a16="http://schemas.microsoft.com/office/drawing/2014/main" id="{9DB0BC15-4F32-237B-0C46-2189ECBF8BA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64063" y="5751512"/>
                    <a:ext cx="560285" cy="560287"/>
                  </a:xfrm>
                  <a:prstGeom prst="rect">
                    <a:avLst/>
                  </a:prstGeom>
                </p:spPr>
              </p:pic>
              <p:pic>
                <p:nvPicPr>
                  <p:cNvPr id="130" name="Graphic 129" descr="Voice with solid fill">
                    <a:extLst>
                      <a:ext uri="{FF2B5EF4-FFF2-40B4-BE49-F238E27FC236}">
                        <a16:creationId xmlns:a16="http://schemas.microsoft.com/office/drawing/2014/main" id="{47EFF2D0-211F-D3BB-5D1B-C5A42A9BAA3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86118" y="5901215"/>
                    <a:ext cx="312144" cy="312145"/>
                  </a:xfrm>
                  <a:prstGeom prst="rect">
                    <a:avLst/>
                  </a:prstGeom>
                </p:spPr>
              </p:pic>
            </p:grpSp>
          </p:grpSp>
          <p:cxnSp>
            <p:nvCxnSpPr>
              <p:cNvPr id="131" name="Straight Arrow Connector 130">
                <a:extLst>
                  <a:ext uri="{FF2B5EF4-FFF2-40B4-BE49-F238E27FC236}">
                    <a16:creationId xmlns:a16="http://schemas.microsoft.com/office/drawing/2014/main" id="{C8E775BD-D819-A5DB-A1CD-A28C32B9A02F}"/>
                  </a:ext>
                </a:extLst>
              </p:cNvPr>
              <p:cNvCxnSpPr>
                <a:cxnSpLocks/>
                <a:stCxn id="63" idx="1"/>
                <a:endCxn id="125" idx="3"/>
              </p:cNvCxnSpPr>
              <p:nvPr/>
            </p:nvCxnSpPr>
            <p:spPr>
              <a:xfrm flipH="1">
                <a:off x="7262011" y="6240541"/>
                <a:ext cx="384796" cy="5735"/>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grpSp>
          <p:nvGrpSpPr>
            <p:cNvPr id="148" name="Group 147">
              <a:extLst>
                <a:ext uri="{FF2B5EF4-FFF2-40B4-BE49-F238E27FC236}">
                  <a16:creationId xmlns:a16="http://schemas.microsoft.com/office/drawing/2014/main" id="{B4CB00EC-83C7-1084-F1AF-2D73B65E061C}"/>
                </a:ext>
              </a:extLst>
            </p:cNvPr>
            <p:cNvGrpSpPr/>
            <p:nvPr/>
          </p:nvGrpSpPr>
          <p:grpSpPr>
            <a:xfrm>
              <a:off x="10048607" y="4792394"/>
              <a:ext cx="639080" cy="614882"/>
              <a:chOff x="4767491" y="5658218"/>
              <a:chExt cx="1194114" cy="1148901"/>
            </a:xfrm>
          </p:grpSpPr>
          <p:pic>
            <p:nvPicPr>
              <p:cNvPr id="142" name="Graphic 141" descr="Gears with solid fill">
                <a:extLst>
                  <a:ext uri="{FF2B5EF4-FFF2-40B4-BE49-F238E27FC236}">
                    <a16:creationId xmlns:a16="http://schemas.microsoft.com/office/drawing/2014/main" id="{8A32AAFF-F63E-4EC1-E25F-CDA65555906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082402" y="5927915"/>
                <a:ext cx="879203" cy="879204"/>
              </a:xfrm>
              <a:prstGeom prst="rect">
                <a:avLst/>
              </a:prstGeom>
            </p:spPr>
          </p:pic>
          <p:grpSp>
            <p:nvGrpSpPr>
              <p:cNvPr id="147" name="Group 146">
                <a:extLst>
                  <a:ext uri="{FF2B5EF4-FFF2-40B4-BE49-F238E27FC236}">
                    <a16:creationId xmlns:a16="http://schemas.microsoft.com/office/drawing/2014/main" id="{83B94615-53EA-3010-98BB-7093D3E1E409}"/>
                  </a:ext>
                </a:extLst>
              </p:cNvPr>
              <p:cNvGrpSpPr/>
              <p:nvPr/>
            </p:nvGrpSpPr>
            <p:grpSpPr>
              <a:xfrm>
                <a:off x="4767491" y="5658218"/>
                <a:ext cx="879203" cy="879203"/>
                <a:chOff x="4767491" y="5658218"/>
                <a:chExt cx="879203" cy="879203"/>
              </a:xfrm>
            </p:grpSpPr>
            <p:pic>
              <p:nvPicPr>
                <p:cNvPr id="143" name="Graphic 142" descr="Speech with solid fill">
                  <a:extLst>
                    <a:ext uri="{FF2B5EF4-FFF2-40B4-BE49-F238E27FC236}">
                      <a16:creationId xmlns:a16="http://schemas.microsoft.com/office/drawing/2014/main" id="{07C989F7-31BF-5965-EA62-26661A1430E6}"/>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flipH="1">
                  <a:off x="4767491" y="5658218"/>
                  <a:ext cx="879203" cy="879203"/>
                </a:xfrm>
                <a:prstGeom prst="rect">
                  <a:avLst/>
                </a:prstGeom>
              </p:spPr>
            </p:pic>
            <p:pic>
              <p:nvPicPr>
                <p:cNvPr id="146" name="Graphic 145" descr="Voice with solid fill">
                  <a:extLst>
                    <a:ext uri="{FF2B5EF4-FFF2-40B4-BE49-F238E27FC236}">
                      <a16:creationId xmlns:a16="http://schemas.microsoft.com/office/drawing/2014/main" id="{6B15A809-443A-2E9C-68C4-D5BCFFA5A1E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flipH="1">
                  <a:off x="4993099" y="5826928"/>
                  <a:ext cx="406216" cy="406217"/>
                </a:xfrm>
                <a:prstGeom prst="rect">
                  <a:avLst/>
                </a:prstGeom>
              </p:spPr>
            </p:pic>
          </p:grpSp>
        </p:grpSp>
      </p:grpSp>
      <p:grpSp>
        <p:nvGrpSpPr>
          <p:cNvPr id="151" name="Group 150">
            <a:extLst>
              <a:ext uri="{FF2B5EF4-FFF2-40B4-BE49-F238E27FC236}">
                <a16:creationId xmlns:a16="http://schemas.microsoft.com/office/drawing/2014/main" id="{19D6F696-6668-0095-4B03-CA5148B805B3}"/>
              </a:ext>
            </a:extLst>
          </p:cNvPr>
          <p:cNvGrpSpPr/>
          <p:nvPr/>
        </p:nvGrpSpPr>
        <p:grpSpPr>
          <a:xfrm>
            <a:off x="6640286" y="1415143"/>
            <a:ext cx="5355771" cy="2287109"/>
            <a:chOff x="6640286" y="1415143"/>
            <a:chExt cx="5355771" cy="2287109"/>
          </a:xfrm>
        </p:grpSpPr>
        <p:sp>
          <p:nvSpPr>
            <p:cNvPr id="139" name="Rectangle 138">
              <a:extLst>
                <a:ext uri="{FF2B5EF4-FFF2-40B4-BE49-F238E27FC236}">
                  <a16:creationId xmlns:a16="http://schemas.microsoft.com/office/drawing/2014/main" id="{E9E9B467-3A34-4523-CEEF-CA2F664EDCEB}"/>
                </a:ext>
              </a:extLst>
            </p:cNvPr>
            <p:cNvSpPr/>
            <p:nvPr/>
          </p:nvSpPr>
          <p:spPr bwMode="auto">
            <a:xfrm>
              <a:off x="6640286" y="1415143"/>
              <a:ext cx="5355771" cy="228710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37" name="Straight Arrow Connector 36">
              <a:extLst>
                <a:ext uri="{FF2B5EF4-FFF2-40B4-BE49-F238E27FC236}">
                  <a16:creationId xmlns:a16="http://schemas.microsoft.com/office/drawing/2014/main" id="{7AA4063B-86C6-97DB-686E-DE2EB7CC43B1}"/>
                </a:ext>
              </a:extLst>
            </p:cNvPr>
            <p:cNvCxnSpPr>
              <a:cxnSpLocks/>
              <a:stCxn id="76" idx="3"/>
              <a:endCxn id="18" idx="1"/>
            </p:cNvCxnSpPr>
            <p:nvPr/>
          </p:nvCxnSpPr>
          <p:spPr>
            <a:xfrm>
              <a:off x="7861403" y="1918898"/>
              <a:ext cx="1903433" cy="3607"/>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3BD9B36-6C91-78CC-9F88-22EC7F3F4EBD}"/>
                </a:ext>
              </a:extLst>
            </p:cNvPr>
            <p:cNvSpPr txBox="1"/>
            <p:nvPr/>
          </p:nvSpPr>
          <p:spPr>
            <a:xfrm>
              <a:off x="7577376" y="2152805"/>
              <a:ext cx="1728294" cy="184666"/>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Semibold"/>
                  <a:ea typeface="+mn-ea"/>
                  <a:cs typeface="+mn-cs"/>
                </a:rPr>
                <a:t>SpeechTranslationConfig</a:t>
              </a:r>
              <a:endParaRPr kumimoji="0" lang="en-US" sz="12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6" name="Picture 5">
              <a:extLst>
                <a:ext uri="{FF2B5EF4-FFF2-40B4-BE49-F238E27FC236}">
                  <a16:creationId xmlns:a16="http://schemas.microsoft.com/office/drawing/2014/main" id="{402C8659-4ED4-851E-1DD9-355D5C26C7D1}"/>
                </a:ext>
              </a:extLst>
            </p:cNvPr>
            <p:cNvPicPr>
              <a:picLocks noChangeAspect="1"/>
            </p:cNvPicPr>
            <p:nvPr/>
          </p:nvPicPr>
          <p:blipFill>
            <a:blip r:embed="rId7"/>
            <a:srcRect/>
            <a:stretch/>
          </p:blipFill>
          <p:spPr>
            <a:xfrm>
              <a:off x="11189294" y="1606948"/>
              <a:ext cx="617462" cy="617462"/>
            </a:xfrm>
            <a:prstGeom prst="rect">
              <a:avLst/>
            </a:prstGeom>
          </p:spPr>
        </p:pic>
        <p:grpSp>
          <p:nvGrpSpPr>
            <p:cNvPr id="7" name="Group 6">
              <a:extLst>
                <a:ext uri="{FF2B5EF4-FFF2-40B4-BE49-F238E27FC236}">
                  <a16:creationId xmlns:a16="http://schemas.microsoft.com/office/drawing/2014/main" id="{A910608C-BB85-24CD-CF4C-498CD3F2ED41}"/>
                </a:ext>
              </a:extLst>
            </p:cNvPr>
            <p:cNvGrpSpPr/>
            <p:nvPr/>
          </p:nvGrpSpPr>
          <p:grpSpPr>
            <a:xfrm>
              <a:off x="8078069" y="1621833"/>
              <a:ext cx="615444" cy="615446"/>
              <a:chOff x="5750484" y="3034642"/>
              <a:chExt cx="855812" cy="855814"/>
            </a:xfrm>
          </p:grpSpPr>
          <p:pic>
            <p:nvPicPr>
              <p:cNvPr id="11" name="Graphic 10" descr="Speech with solid fill">
                <a:extLst>
                  <a:ext uri="{FF2B5EF4-FFF2-40B4-BE49-F238E27FC236}">
                    <a16:creationId xmlns:a16="http://schemas.microsoft.com/office/drawing/2014/main" id="{6AE359DD-E9F6-1898-7FE9-E1EED5ADFE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50484" y="3034642"/>
                <a:ext cx="855812" cy="855814"/>
              </a:xfrm>
              <a:prstGeom prst="rect">
                <a:avLst/>
              </a:prstGeom>
            </p:spPr>
          </p:pic>
          <p:pic>
            <p:nvPicPr>
              <p:cNvPr id="12" name="Graphic 11" descr="Single gear with solid fill">
                <a:extLst>
                  <a:ext uri="{FF2B5EF4-FFF2-40B4-BE49-F238E27FC236}">
                    <a16:creationId xmlns:a16="http://schemas.microsoft.com/office/drawing/2014/main" id="{D42B140C-466C-A7CB-11AE-8E7F854E85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29873" y="3154106"/>
                <a:ext cx="295108" cy="295110"/>
              </a:xfrm>
              <a:prstGeom prst="rect">
                <a:avLst/>
              </a:prstGeom>
            </p:spPr>
          </p:pic>
          <p:grpSp>
            <p:nvGrpSpPr>
              <p:cNvPr id="13" name="Group 12">
                <a:extLst>
                  <a:ext uri="{FF2B5EF4-FFF2-40B4-BE49-F238E27FC236}">
                    <a16:creationId xmlns:a16="http://schemas.microsoft.com/office/drawing/2014/main" id="{56E29788-AED3-AFD5-4182-5BD881BE1F94}"/>
                  </a:ext>
                </a:extLst>
              </p:cNvPr>
              <p:cNvGrpSpPr/>
              <p:nvPr/>
            </p:nvGrpSpPr>
            <p:grpSpPr>
              <a:xfrm>
                <a:off x="5906222" y="3224134"/>
                <a:ext cx="426323" cy="396581"/>
                <a:chOff x="4575454" y="1355599"/>
                <a:chExt cx="789033" cy="715316"/>
              </a:xfrm>
              <a:solidFill>
                <a:schemeClr val="bg1"/>
              </a:solidFill>
            </p:grpSpPr>
            <p:pic>
              <p:nvPicPr>
                <p:cNvPr id="14" name="Graphic 13" descr="Key with solid fill">
                  <a:extLst>
                    <a:ext uri="{FF2B5EF4-FFF2-40B4-BE49-F238E27FC236}">
                      <a16:creationId xmlns:a16="http://schemas.microsoft.com/office/drawing/2014/main" id="{32F0E8A8-0AA2-74D2-4ED7-7F34C8D23C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59995">
                  <a:off x="4791643" y="1498079"/>
                  <a:ext cx="572844" cy="572836"/>
                </a:xfrm>
                <a:prstGeom prst="rect">
                  <a:avLst/>
                </a:prstGeom>
              </p:spPr>
            </p:pic>
            <p:pic>
              <p:nvPicPr>
                <p:cNvPr id="15" name="Graphic 14" descr="World with solid fill">
                  <a:extLst>
                    <a:ext uri="{FF2B5EF4-FFF2-40B4-BE49-F238E27FC236}">
                      <a16:creationId xmlns:a16="http://schemas.microsoft.com/office/drawing/2014/main" id="{EEE07F75-1D15-BD66-86AF-ACA9E9270F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75454" y="1355599"/>
                  <a:ext cx="486185" cy="486186"/>
                </a:xfrm>
                <a:prstGeom prst="rect">
                  <a:avLst/>
                </a:prstGeom>
              </p:spPr>
            </p:pic>
          </p:grpSp>
        </p:grpSp>
        <p:sp>
          <p:nvSpPr>
            <p:cNvPr id="16" name="TextBox 15">
              <a:extLst>
                <a:ext uri="{FF2B5EF4-FFF2-40B4-BE49-F238E27FC236}">
                  <a16:creationId xmlns:a16="http://schemas.microsoft.com/office/drawing/2014/main" id="{AB442FC1-DC24-8690-DF48-D7C27E1B2B1D}"/>
                </a:ext>
              </a:extLst>
            </p:cNvPr>
            <p:cNvSpPr txBox="1"/>
            <p:nvPr/>
          </p:nvSpPr>
          <p:spPr>
            <a:xfrm>
              <a:off x="9517679" y="2144946"/>
              <a:ext cx="1535100" cy="184666"/>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Semibold"/>
                  <a:ea typeface="+mn-ea"/>
                  <a:cs typeface="+mn-cs"/>
                </a:rPr>
                <a:t>TranslationRecognizer</a:t>
              </a:r>
              <a:endParaRPr kumimoji="0" lang="en-US" sz="1200" b="0" i="0" u="none" strike="noStrike" kern="1200" cap="none" spc="0" normalizeH="0" baseline="0" noProof="0" dirty="0">
                <a:ln>
                  <a:noFill/>
                </a:ln>
                <a:solidFill>
                  <a:srgbClr val="000000"/>
                </a:solidFill>
                <a:effectLst/>
                <a:uLnTx/>
                <a:uFillTx/>
                <a:latin typeface="Segoe UI Semibold"/>
                <a:ea typeface="+mn-ea"/>
                <a:cs typeface="+mn-cs"/>
              </a:endParaRPr>
            </a:p>
          </p:txBody>
        </p:sp>
        <p:grpSp>
          <p:nvGrpSpPr>
            <p:cNvPr id="17" name="Group 16">
              <a:extLst>
                <a:ext uri="{FF2B5EF4-FFF2-40B4-BE49-F238E27FC236}">
                  <a16:creationId xmlns:a16="http://schemas.microsoft.com/office/drawing/2014/main" id="{B09017B5-B2ED-090F-85F9-0389AEEEEBC5}"/>
                </a:ext>
              </a:extLst>
            </p:cNvPr>
            <p:cNvGrpSpPr/>
            <p:nvPr/>
          </p:nvGrpSpPr>
          <p:grpSpPr>
            <a:xfrm>
              <a:off x="9764836" y="1591572"/>
              <a:ext cx="661866" cy="661866"/>
              <a:chOff x="5638800" y="2971800"/>
              <a:chExt cx="914400" cy="914400"/>
            </a:xfrm>
          </p:grpSpPr>
          <p:pic>
            <p:nvPicPr>
              <p:cNvPr id="18" name="Graphic 17" descr="Chat with solid fill">
                <a:extLst>
                  <a:ext uri="{FF2B5EF4-FFF2-40B4-BE49-F238E27FC236}">
                    <a16:creationId xmlns:a16="http://schemas.microsoft.com/office/drawing/2014/main" id="{F0767E87-1E2D-F2DC-F2A4-7C7798318C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38800" y="2971800"/>
                <a:ext cx="914400" cy="914400"/>
              </a:xfrm>
              <a:prstGeom prst="rect">
                <a:avLst/>
              </a:prstGeom>
            </p:spPr>
          </p:pic>
          <p:pic>
            <p:nvPicPr>
              <p:cNvPr id="19" name="Graphic 18" descr="Earth globe: Americas with solid fill">
                <a:extLst>
                  <a:ext uri="{FF2B5EF4-FFF2-40B4-BE49-F238E27FC236}">
                    <a16:creationId xmlns:a16="http://schemas.microsoft.com/office/drawing/2014/main" id="{7CF83C9E-8098-95D9-BFB9-AF3A5973610F}"/>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115533" y="3317560"/>
                <a:ext cx="238926" cy="238928"/>
              </a:xfrm>
              <a:prstGeom prst="rect">
                <a:avLst/>
              </a:prstGeom>
            </p:spPr>
          </p:pic>
        </p:grpSp>
        <p:grpSp>
          <p:nvGrpSpPr>
            <p:cNvPr id="27" name="Group 26">
              <a:extLst>
                <a:ext uri="{FF2B5EF4-FFF2-40B4-BE49-F238E27FC236}">
                  <a16:creationId xmlns:a16="http://schemas.microsoft.com/office/drawing/2014/main" id="{DF3BE043-FDD8-7F38-8D3E-5FA408E8BF8A}"/>
                </a:ext>
              </a:extLst>
            </p:cNvPr>
            <p:cNvGrpSpPr/>
            <p:nvPr/>
          </p:nvGrpSpPr>
          <p:grpSpPr>
            <a:xfrm>
              <a:off x="8284601" y="2689652"/>
              <a:ext cx="554012" cy="472912"/>
              <a:chOff x="5410132" y="5200378"/>
              <a:chExt cx="1173277" cy="1001525"/>
            </a:xfrm>
          </p:grpSpPr>
          <p:pic>
            <p:nvPicPr>
              <p:cNvPr id="23" name="Graphic 22" descr="Volume with solid fill">
                <a:extLst>
                  <a:ext uri="{FF2B5EF4-FFF2-40B4-BE49-F238E27FC236}">
                    <a16:creationId xmlns:a16="http://schemas.microsoft.com/office/drawing/2014/main" id="{BF98B8AC-7E81-5CF6-CD3C-CA4A7730A923}"/>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5854996" y="5473490"/>
                <a:ext cx="728413" cy="728413"/>
              </a:xfrm>
              <a:prstGeom prst="rect">
                <a:avLst/>
              </a:prstGeom>
            </p:spPr>
          </p:pic>
          <p:pic>
            <p:nvPicPr>
              <p:cNvPr id="24" name="Graphic 23" descr="Paper outline">
                <a:extLst>
                  <a:ext uri="{FF2B5EF4-FFF2-40B4-BE49-F238E27FC236}">
                    <a16:creationId xmlns:a16="http://schemas.microsoft.com/office/drawing/2014/main" id="{2C18AC7B-2808-539C-8175-7A5DCB23C7F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0132" y="5200378"/>
                <a:ext cx="728413" cy="728415"/>
              </a:xfrm>
              <a:prstGeom prst="rect">
                <a:avLst/>
              </a:prstGeom>
            </p:spPr>
          </p:pic>
          <p:pic>
            <p:nvPicPr>
              <p:cNvPr id="25" name="Graphic 24" descr="Voice with solid fill">
                <a:extLst>
                  <a:ext uri="{FF2B5EF4-FFF2-40B4-BE49-F238E27FC236}">
                    <a16:creationId xmlns:a16="http://schemas.microsoft.com/office/drawing/2014/main" id="{D9DB150E-B5E4-D1F5-D938-83C270A2761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71414" y="5387194"/>
                <a:ext cx="405811" cy="405812"/>
              </a:xfrm>
              <a:prstGeom prst="rect">
                <a:avLst/>
              </a:prstGeom>
            </p:spPr>
          </p:pic>
        </p:grpSp>
        <p:sp>
          <p:nvSpPr>
            <p:cNvPr id="26" name="TextBox 25">
              <a:extLst>
                <a:ext uri="{FF2B5EF4-FFF2-40B4-BE49-F238E27FC236}">
                  <a16:creationId xmlns:a16="http://schemas.microsoft.com/office/drawing/2014/main" id="{607F22FA-59E7-870B-1253-EBA5F6CEF23A}"/>
                </a:ext>
              </a:extLst>
            </p:cNvPr>
            <p:cNvSpPr txBox="1"/>
            <p:nvPr/>
          </p:nvSpPr>
          <p:spPr>
            <a:xfrm>
              <a:off x="7861483" y="3143869"/>
              <a:ext cx="1381789" cy="184666"/>
            </a:xfrm>
            <a:prstGeom prst="rect">
              <a:avLst/>
            </a:prstGeom>
            <a:noFill/>
          </p:spPr>
          <p:txBody>
            <a:bodyPr wrap="non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Semibold"/>
                </a:defRPr>
              </a:lvl1pPr>
            </a:lstStyle>
            <a:p>
              <a:r>
                <a:rPr lang="en-US" dirty="0" err="1"/>
                <a:t>AudioOutputConfig</a:t>
              </a:r>
              <a:endParaRPr lang="en-US" dirty="0"/>
            </a:p>
          </p:txBody>
        </p:sp>
        <p:sp>
          <p:nvSpPr>
            <p:cNvPr id="4" name="TextBox 3">
              <a:extLst>
                <a:ext uri="{FF2B5EF4-FFF2-40B4-BE49-F238E27FC236}">
                  <a16:creationId xmlns:a16="http://schemas.microsoft.com/office/drawing/2014/main" id="{28DC76C6-2669-774C-D348-77BCF10998EA}"/>
                </a:ext>
              </a:extLst>
            </p:cNvPr>
            <p:cNvSpPr txBox="1"/>
            <p:nvPr/>
          </p:nvSpPr>
          <p:spPr>
            <a:xfrm>
              <a:off x="9657677" y="3115363"/>
              <a:ext cx="1250342" cy="169277"/>
            </a:xfrm>
            <a:prstGeom prst="rect">
              <a:avLst/>
            </a:prstGeom>
            <a:noFill/>
          </p:spPr>
          <p:txBody>
            <a:bodyPr wrap="none" lIns="0" tIns="0" rIns="0" bIns="0" rtlCol="0">
              <a:spAutoFit/>
            </a:bodyPr>
            <a:lstStyle/>
            <a:p>
              <a:pPr algn="l"/>
              <a:r>
                <a:rPr lang="en-US" sz="1100" dirty="0" err="1">
                  <a:latin typeface="Cascadia Code" panose="020B0609020000020004" pitchFamily="49" charset="0"/>
                  <a:ea typeface="Cascadia Code" panose="020B0609020000020004" pitchFamily="49" charset="0"/>
                  <a:cs typeface="Cascadia Code" panose="020B0609020000020004" pitchFamily="49" charset="0"/>
                </a:rPr>
                <a:t>event_handler</a:t>
              </a:r>
              <a:r>
                <a:rPr lang="en-US" sz="1100" dirty="0">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35" name="Graphic 34" descr="High voltage with solid fill">
              <a:extLst>
                <a:ext uri="{FF2B5EF4-FFF2-40B4-BE49-F238E27FC236}">
                  <a16:creationId xmlns:a16="http://schemas.microsoft.com/office/drawing/2014/main" id="{9929FA70-8206-6195-3981-818763533DB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081103" y="2638230"/>
              <a:ext cx="405594" cy="405594"/>
            </a:xfrm>
            <a:prstGeom prst="rect">
              <a:avLst/>
            </a:prstGeom>
          </p:spPr>
        </p:pic>
        <p:cxnSp>
          <p:nvCxnSpPr>
            <p:cNvPr id="38" name="Straight Arrow Connector 37">
              <a:extLst>
                <a:ext uri="{FF2B5EF4-FFF2-40B4-BE49-F238E27FC236}">
                  <a16:creationId xmlns:a16="http://schemas.microsoft.com/office/drawing/2014/main" id="{687788CF-F065-C182-0903-B81ECD3169CD}"/>
                </a:ext>
              </a:extLst>
            </p:cNvPr>
            <p:cNvCxnSpPr>
              <a:cxnSpLocks/>
              <a:stCxn id="18" idx="3"/>
              <a:endCxn id="6" idx="1"/>
            </p:cNvCxnSpPr>
            <p:nvPr/>
          </p:nvCxnSpPr>
          <p:spPr>
            <a:xfrm flipV="1">
              <a:off x="10426702" y="1915679"/>
              <a:ext cx="762592" cy="6826"/>
            </a:xfrm>
            <a:prstGeom prst="straightConnector1">
              <a:avLst/>
            </a:prstGeom>
            <a:ln w="28575">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E135888-151F-8A4E-4FCC-6E4ED8678307}"/>
                </a:ext>
              </a:extLst>
            </p:cNvPr>
            <p:cNvCxnSpPr>
              <a:cxnSpLocks/>
              <a:stCxn id="16" idx="2"/>
              <a:endCxn id="35" idx="0"/>
            </p:cNvCxnSpPr>
            <p:nvPr/>
          </p:nvCxnSpPr>
          <p:spPr>
            <a:xfrm flipH="1">
              <a:off x="10283900" y="2329612"/>
              <a:ext cx="1329" cy="308618"/>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F72B269-C0D9-DB10-42CB-241F6BB54709}"/>
                </a:ext>
              </a:extLst>
            </p:cNvPr>
            <p:cNvCxnSpPr>
              <a:cxnSpLocks/>
              <a:stCxn id="35" idx="1"/>
            </p:cNvCxnSpPr>
            <p:nvPr/>
          </p:nvCxnSpPr>
          <p:spPr>
            <a:xfrm flipH="1">
              <a:off x="8900088" y="2841027"/>
              <a:ext cx="1181015" cy="0"/>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8110AE0-335E-C55A-FE15-45BFABB598E8}"/>
                </a:ext>
              </a:extLst>
            </p:cNvPr>
            <p:cNvCxnSpPr>
              <a:cxnSpLocks/>
              <a:stCxn id="24" idx="1"/>
              <a:endCxn id="70" idx="3"/>
            </p:cNvCxnSpPr>
            <p:nvPr/>
          </p:nvCxnSpPr>
          <p:spPr>
            <a:xfrm flipH="1" flipV="1">
              <a:off x="7436368" y="2852829"/>
              <a:ext cx="848233" cy="8799"/>
            </a:xfrm>
            <a:prstGeom prst="straightConnector1">
              <a:avLst/>
            </a:prstGeom>
            <a:ln w="28575">
              <a:solidFill>
                <a:srgbClr val="00B0F0"/>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85DE055D-42B9-7D41-22E7-607A4E21C200}"/>
                </a:ext>
              </a:extLst>
            </p:cNvPr>
            <p:cNvGrpSpPr/>
            <p:nvPr/>
          </p:nvGrpSpPr>
          <p:grpSpPr>
            <a:xfrm>
              <a:off x="7301118" y="1638754"/>
              <a:ext cx="560285" cy="560287"/>
              <a:chOff x="5410132" y="5200378"/>
              <a:chExt cx="728413" cy="728415"/>
            </a:xfrm>
          </p:grpSpPr>
          <p:pic>
            <p:nvPicPr>
              <p:cNvPr id="76" name="Graphic 75" descr="Paper outline">
                <a:extLst>
                  <a:ext uri="{FF2B5EF4-FFF2-40B4-BE49-F238E27FC236}">
                    <a16:creationId xmlns:a16="http://schemas.microsoft.com/office/drawing/2014/main" id="{28AA643F-9F0B-BCBB-49BA-4332974D370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0132" y="5200378"/>
                <a:ext cx="728413" cy="728415"/>
              </a:xfrm>
              <a:prstGeom prst="rect">
                <a:avLst/>
              </a:prstGeom>
            </p:spPr>
          </p:pic>
          <p:pic>
            <p:nvPicPr>
              <p:cNvPr id="77" name="Graphic 76" descr="Voice with solid fill">
                <a:extLst>
                  <a:ext uri="{FF2B5EF4-FFF2-40B4-BE49-F238E27FC236}">
                    <a16:creationId xmlns:a16="http://schemas.microsoft.com/office/drawing/2014/main" id="{1D751A84-19C3-BE16-6CDA-62B466AD764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71414" y="5387194"/>
                <a:ext cx="405811" cy="405812"/>
              </a:xfrm>
              <a:prstGeom prst="rect">
                <a:avLst/>
              </a:prstGeom>
            </p:spPr>
          </p:pic>
        </p:grpSp>
        <p:sp>
          <p:nvSpPr>
            <p:cNvPr id="141" name="TextBox 140">
              <a:extLst>
                <a:ext uri="{FF2B5EF4-FFF2-40B4-BE49-F238E27FC236}">
                  <a16:creationId xmlns:a16="http://schemas.microsoft.com/office/drawing/2014/main" id="{4034E368-89C4-5A04-0AB5-C1D94F45611F}"/>
                </a:ext>
              </a:extLst>
            </p:cNvPr>
            <p:cNvSpPr txBox="1"/>
            <p:nvPr/>
          </p:nvSpPr>
          <p:spPr>
            <a:xfrm>
              <a:off x="9962611" y="2357673"/>
              <a:ext cx="787075" cy="153888"/>
            </a:xfrm>
            <a:prstGeom prst="rect">
              <a:avLst/>
            </a:prstGeom>
            <a:solidFill>
              <a:schemeClr val="bg1">
                <a:lumMod val="95000"/>
              </a:schemeClr>
            </a:solidFill>
          </p:spPr>
          <p:txBody>
            <a:bodyPr wrap="none" lIns="0" tIns="0" rIns="0" bIns="0" rtlCol="0">
              <a:spAutoFit/>
            </a:bodyPr>
            <a:lstStyle/>
            <a:p>
              <a:pPr algn="l"/>
              <a:r>
                <a:rPr lang="en-US" sz="1000" i="1" dirty="0"/>
                <a:t>Synthesizing…</a:t>
              </a:r>
            </a:p>
          </p:txBody>
        </p:sp>
        <p:sp>
          <p:nvSpPr>
            <p:cNvPr id="150" name="Rectangle: Single Corner Snipped 149">
              <a:extLst>
                <a:ext uri="{FF2B5EF4-FFF2-40B4-BE49-F238E27FC236}">
                  <a16:creationId xmlns:a16="http://schemas.microsoft.com/office/drawing/2014/main" id="{DC85F286-BB9D-2C4B-5E6C-DCC16AB9FDB8}"/>
                </a:ext>
              </a:extLst>
            </p:cNvPr>
            <p:cNvSpPr/>
            <p:nvPr/>
          </p:nvSpPr>
          <p:spPr bwMode="auto">
            <a:xfrm>
              <a:off x="7017401" y="2664564"/>
              <a:ext cx="299141" cy="411745"/>
            </a:xfrm>
            <a:prstGeom prst="snip1Rect">
              <a:avLst>
                <a:gd name="adj" fmla="val 35695"/>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8" name="Group 67">
              <a:extLst>
                <a:ext uri="{FF2B5EF4-FFF2-40B4-BE49-F238E27FC236}">
                  <a16:creationId xmlns:a16="http://schemas.microsoft.com/office/drawing/2014/main" id="{C7508C2D-AA47-A2F5-2BD0-C943BE1F9F83}"/>
                </a:ext>
              </a:extLst>
            </p:cNvPr>
            <p:cNvGrpSpPr/>
            <p:nvPr/>
          </p:nvGrpSpPr>
          <p:grpSpPr>
            <a:xfrm>
              <a:off x="6911301" y="2590294"/>
              <a:ext cx="525067" cy="525069"/>
              <a:chOff x="5410132" y="5200378"/>
              <a:chExt cx="728413" cy="728415"/>
            </a:xfrm>
          </p:grpSpPr>
          <p:pic>
            <p:nvPicPr>
              <p:cNvPr id="70" name="Graphic 69" descr="Paper outline">
                <a:extLst>
                  <a:ext uri="{FF2B5EF4-FFF2-40B4-BE49-F238E27FC236}">
                    <a16:creationId xmlns:a16="http://schemas.microsoft.com/office/drawing/2014/main" id="{D8F66D49-6F1C-A38F-CB6A-EBFE5094B91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0132" y="5200378"/>
                <a:ext cx="728413" cy="728415"/>
              </a:xfrm>
              <a:prstGeom prst="rect">
                <a:avLst/>
              </a:prstGeom>
            </p:spPr>
          </p:pic>
          <p:pic>
            <p:nvPicPr>
              <p:cNvPr id="71" name="Graphic 70" descr="Voice with solid fill">
                <a:extLst>
                  <a:ext uri="{FF2B5EF4-FFF2-40B4-BE49-F238E27FC236}">
                    <a16:creationId xmlns:a16="http://schemas.microsoft.com/office/drawing/2014/main" id="{4A69C27A-5BB1-0419-DB4A-A80F5A609BA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71414" y="5387194"/>
                <a:ext cx="405811" cy="405812"/>
              </a:xfrm>
              <a:prstGeom prst="rect">
                <a:avLst/>
              </a:prstGeom>
            </p:spPr>
          </p:pic>
        </p:grpSp>
      </p:grpSp>
    </p:spTree>
    <p:extLst>
      <p:ext uri="{BB962C8B-B14F-4D97-AF65-F5344CB8AC3E}">
        <p14:creationId xmlns:p14="http://schemas.microsoft.com/office/powerpoint/2010/main" val="335523177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C604-C755-7165-DD3F-02B937791B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6AD34E-FFF0-D8F0-BAA6-4A203EAE1BC9}"/>
              </a:ext>
            </a:extLst>
          </p:cNvPr>
          <p:cNvSpPr>
            <a:spLocks noGrp="1"/>
          </p:cNvSpPr>
          <p:nvPr>
            <p:ph type="title"/>
          </p:nvPr>
        </p:nvSpPr>
        <p:spPr>
          <a:xfrm>
            <a:off x="588262" y="585216"/>
            <a:ext cx="5652201" cy="492443"/>
          </a:xfrm>
        </p:spPr>
        <p:txBody>
          <a:bodyPr/>
          <a:lstStyle/>
          <a:p>
            <a:r>
              <a:rPr lang="en-US" sz="3200" dirty="0"/>
              <a:t>Demo</a:t>
            </a:r>
          </a:p>
        </p:txBody>
      </p:sp>
      <p:sp>
        <p:nvSpPr>
          <p:cNvPr id="7" name="Text Placeholder 6">
            <a:extLst>
              <a:ext uri="{FF2B5EF4-FFF2-40B4-BE49-F238E27FC236}">
                <a16:creationId xmlns:a16="http://schemas.microsoft.com/office/drawing/2014/main" id="{DD9E4EDF-28AA-363B-4F2C-B8119E61C8C9}"/>
              </a:ext>
            </a:extLst>
          </p:cNvPr>
          <p:cNvSpPr>
            <a:spLocks noGrp="1"/>
          </p:cNvSpPr>
          <p:nvPr>
            <p:ph type="body" sz="quarter" idx="16"/>
          </p:nvPr>
        </p:nvSpPr>
        <p:spPr>
          <a:xfrm>
            <a:off x="584199" y="1594155"/>
            <a:ext cx="5654573" cy="307777"/>
          </a:xfrm>
        </p:spPr>
        <p:txBody>
          <a:bodyPr/>
          <a:lstStyle/>
          <a:p>
            <a:r>
              <a:rPr lang="en-US" sz="2000" dirty="0"/>
              <a:t>Translate text and speech</a:t>
            </a:r>
          </a:p>
        </p:txBody>
      </p:sp>
      <p:sp>
        <p:nvSpPr>
          <p:cNvPr id="6" name="Text Placeholder 5">
            <a:extLst>
              <a:ext uri="{FF2B5EF4-FFF2-40B4-BE49-F238E27FC236}">
                <a16:creationId xmlns:a16="http://schemas.microsoft.com/office/drawing/2014/main" id="{01D5B4EC-AED1-02C8-547B-D68DC59A379E}"/>
              </a:ext>
            </a:extLst>
          </p:cNvPr>
          <p:cNvSpPr>
            <a:spLocks noGrp="1"/>
          </p:cNvSpPr>
          <p:nvPr>
            <p:ph type="body" sz="quarter" idx="15"/>
          </p:nvPr>
        </p:nvSpPr>
        <p:spPr>
          <a:xfrm>
            <a:off x="586389" y="2085764"/>
            <a:ext cx="5652201" cy="1034129"/>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demo, you’ll:</a:t>
            </a:r>
          </a:p>
          <a:p>
            <a:pPr defTabSz="914367">
              <a:spcBef>
                <a:spcPts val="0"/>
              </a:spcBef>
              <a:buSzTx/>
              <a:defRPr/>
            </a:pPr>
            <a:r>
              <a:rPr lang="en-US" dirty="0"/>
              <a:t>Use Azure Translator in Foundry Tools to translate text</a:t>
            </a:r>
          </a:p>
          <a:p>
            <a:pPr defTabSz="914367">
              <a:spcBef>
                <a:spcPts val="0"/>
              </a:spcBef>
              <a:buSzTx/>
              <a:defRPr/>
            </a:pPr>
            <a:r>
              <a:rPr lang="en-US" dirty="0"/>
              <a:t>Use Azure Speech in Foundry Tools to translate speech</a:t>
            </a:r>
          </a:p>
          <a:p>
            <a:endParaRPr lang="en-US" dirty="0"/>
          </a:p>
        </p:txBody>
      </p:sp>
      <p:sp>
        <p:nvSpPr>
          <p:cNvPr id="10" name="TextBox 9">
            <a:extLst>
              <a:ext uri="{FF2B5EF4-FFF2-40B4-BE49-F238E27FC236}">
                <a16:creationId xmlns:a16="http://schemas.microsoft.com/office/drawing/2014/main" id="{106D8E79-BE76-0F2D-9CB8-AE8DE93A0B5C}"/>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on your own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https://go.microsoft.com/fwlink/?linkid=2356176</a:t>
            </a:r>
            <a:r>
              <a:rPr lang="en-US" sz="1600" dirty="0">
                <a:solidFill>
                  <a:srgbClr val="000000"/>
                </a:solidFill>
                <a:latin typeface="Segoe UI"/>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CD733B86-07AD-5E3F-816D-7E35F3BEE329}"/>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4" name="Picture 3">
            <a:extLst>
              <a:ext uri="{FF2B5EF4-FFF2-40B4-BE49-F238E27FC236}">
                <a16:creationId xmlns:a16="http://schemas.microsoft.com/office/drawing/2014/main" id="{DA663351-091D-C519-3AEA-4B1E3F75DEA3}"/>
              </a:ext>
              <a:ext uri="{C183D7F6-B498-43B3-948B-1728B52AA6E4}">
                <adec:decorative xmlns:adec="http://schemas.microsoft.com/office/drawing/2017/decorative" val="1"/>
              </a:ext>
            </a:extLst>
          </p:cNvPr>
          <p:cNvPicPr>
            <a:picLocks noChangeAspect="1"/>
          </p:cNvPicPr>
          <p:nvPr/>
        </p:nvPicPr>
        <p:blipFill>
          <a:blip r:embed="rId4"/>
          <a:srcRect t="68" b="68"/>
          <a:stretch/>
        </p:blipFill>
        <p:spPr>
          <a:xfrm>
            <a:off x="7699682" y="2014938"/>
            <a:ext cx="4598998" cy="3344462"/>
          </a:xfrm>
          <a:prstGeom prst="rect">
            <a:avLst/>
          </a:prstGeom>
        </p:spPr>
      </p:pic>
    </p:spTree>
    <p:extLst>
      <p:ext uri="{BB962C8B-B14F-4D97-AF65-F5344CB8AC3E}">
        <p14:creationId xmlns:p14="http://schemas.microsoft.com/office/powerpoint/2010/main" val="265877735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6526-3417-EFFB-2536-461221EF3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B58AB-842D-753E-C07F-9F7416EF6425}"/>
              </a:ext>
            </a:extLst>
          </p:cNvPr>
          <p:cNvSpPr>
            <a:spLocks noGrp="1"/>
          </p:cNvSpPr>
          <p:nvPr>
            <p:ph type="title"/>
          </p:nvPr>
        </p:nvSpPr>
        <p:spPr>
          <a:xfrm>
            <a:off x="588262" y="585216"/>
            <a:ext cx="8193024" cy="369332"/>
          </a:xfrm>
        </p:spPr>
        <p:txBody>
          <a:bodyPr/>
          <a:lstStyle/>
          <a:p>
            <a:r>
              <a:rPr lang="en-US" dirty="0"/>
              <a:t>Knowledge check</a:t>
            </a:r>
          </a:p>
        </p:txBody>
      </p:sp>
      <p:sp>
        <p:nvSpPr>
          <p:cNvPr id="27" name="Text Placeholder 26">
            <a:extLst>
              <a:ext uri="{FF2B5EF4-FFF2-40B4-BE49-F238E27FC236}">
                <a16:creationId xmlns:a16="http://schemas.microsoft.com/office/drawing/2014/main" id="{29E2AEAA-267C-51B2-F64E-98110E9ECF61}"/>
              </a:ext>
            </a:extLst>
          </p:cNvPr>
          <p:cNvSpPr>
            <a:spLocks noGrp="1"/>
          </p:cNvSpPr>
          <p:nvPr>
            <p:ph type="body" sz="quarter" idx="17"/>
          </p:nvPr>
        </p:nvSpPr>
        <p:spPr>
          <a:xfrm>
            <a:off x="1235075" y="1595378"/>
            <a:ext cx="8778782" cy="492443"/>
          </a:xfrm>
        </p:spPr>
        <p:txBody>
          <a:bodyPr/>
          <a:lstStyle/>
          <a:p>
            <a:r>
              <a:rPr lang="en-US" sz="1600" dirty="0"/>
              <a:t>What function of an Azure Translator </a:t>
            </a:r>
            <a:r>
              <a:rPr lang="en-US" sz="1600" dirty="0" err="1"/>
              <a:t>TextTranslationClient</a:t>
            </a:r>
            <a:r>
              <a:rPr lang="en-US" sz="1600" dirty="0"/>
              <a:t> object should you use to convert the Chinese word "</a:t>
            </a:r>
            <a:r>
              <a:rPr lang="en-US" sz="1600" dirty="0" err="1"/>
              <a:t>你好</a:t>
            </a:r>
            <a:r>
              <a:rPr lang="en-US" sz="1600" dirty="0"/>
              <a:t>" to the English word "Hello"?</a:t>
            </a:r>
          </a:p>
        </p:txBody>
      </p:sp>
      <p:sp>
        <p:nvSpPr>
          <p:cNvPr id="26" name="Text Placeholder 25">
            <a:extLst>
              <a:ext uri="{FF2B5EF4-FFF2-40B4-BE49-F238E27FC236}">
                <a16:creationId xmlns:a16="http://schemas.microsoft.com/office/drawing/2014/main" id="{1785CF05-7D43-B3B7-4D59-2259C3CE9161}"/>
              </a:ext>
            </a:extLst>
          </p:cNvPr>
          <p:cNvSpPr>
            <a:spLocks noGrp="1"/>
          </p:cNvSpPr>
          <p:nvPr>
            <p:ph type="body" sz="quarter" idx="15"/>
          </p:nvPr>
        </p:nvSpPr>
        <p:spPr>
          <a:xfrm>
            <a:off x="1236663" y="2136253"/>
            <a:ext cx="8775700" cy="732508"/>
          </a:xfrm>
        </p:spPr>
        <p:txBody>
          <a:bodyPr/>
          <a:lstStyle/>
          <a:p>
            <a:r>
              <a:rPr lang="en-US" dirty="0" err="1"/>
              <a:t>get_supported_language</a:t>
            </a:r>
            <a:endParaRPr lang="en-US" dirty="0"/>
          </a:p>
          <a:p>
            <a:r>
              <a:rPr lang="en-US" dirty="0"/>
              <a:t>translate</a:t>
            </a:r>
          </a:p>
          <a:p>
            <a:r>
              <a:rPr lang="en-US" dirty="0"/>
              <a:t>transliterate</a:t>
            </a:r>
          </a:p>
        </p:txBody>
      </p:sp>
      <p:sp>
        <p:nvSpPr>
          <p:cNvPr id="5" name="Graphic 26" descr="Checkmark">
            <a:extLst>
              <a:ext uri="{FF2B5EF4-FFF2-40B4-BE49-F238E27FC236}">
                <a16:creationId xmlns:a16="http://schemas.microsoft.com/office/drawing/2014/main" id="{94FE0087-8C26-01F8-FC3A-B31C8D827D3A}"/>
              </a:ext>
            </a:extLst>
          </p:cNvPr>
          <p:cNvSpPr/>
          <p:nvPr/>
        </p:nvSpPr>
        <p:spPr>
          <a:xfrm>
            <a:off x="1266510" y="2455015"/>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0" name="Text Placeholder 29">
            <a:extLst>
              <a:ext uri="{FF2B5EF4-FFF2-40B4-BE49-F238E27FC236}">
                <a16:creationId xmlns:a16="http://schemas.microsoft.com/office/drawing/2014/main" id="{ADA5EEA6-A814-C509-45A9-71FA16D8A9D1}"/>
              </a:ext>
            </a:extLst>
          </p:cNvPr>
          <p:cNvSpPr>
            <a:spLocks noGrp="1"/>
          </p:cNvSpPr>
          <p:nvPr>
            <p:ph type="body" sz="quarter" idx="22"/>
          </p:nvPr>
        </p:nvSpPr>
        <p:spPr>
          <a:xfrm>
            <a:off x="1235075" y="3166304"/>
            <a:ext cx="8778782" cy="492443"/>
          </a:xfrm>
        </p:spPr>
        <p:txBody>
          <a:bodyPr/>
          <a:lstStyle/>
          <a:p>
            <a:r>
              <a:rPr lang="en-US" sz="1600" dirty="0"/>
              <a:t>What function of an Azure Translator </a:t>
            </a:r>
            <a:r>
              <a:rPr lang="en-US" sz="1600" dirty="0" err="1"/>
              <a:t>TextTranslationClient</a:t>
            </a:r>
            <a:r>
              <a:rPr lang="en-US" sz="1600" dirty="0"/>
              <a:t> object should you use to convert the Russian word "</a:t>
            </a:r>
            <a:r>
              <a:rPr lang="en-US" sz="1600" dirty="0" err="1"/>
              <a:t>спасибо</a:t>
            </a:r>
            <a:r>
              <a:rPr lang="en-US" sz="1600" dirty="0"/>
              <a:t>" in Cyrillic characters to "</a:t>
            </a:r>
            <a:r>
              <a:rPr lang="en-US" sz="1600" dirty="0" err="1"/>
              <a:t>spasibo</a:t>
            </a:r>
            <a:r>
              <a:rPr lang="en-US" sz="1600" dirty="0"/>
              <a:t>" in Latin characters?</a:t>
            </a:r>
          </a:p>
        </p:txBody>
      </p:sp>
      <p:sp>
        <p:nvSpPr>
          <p:cNvPr id="31" name="Text Placeholder 30">
            <a:extLst>
              <a:ext uri="{FF2B5EF4-FFF2-40B4-BE49-F238E27FC236}">
                <a16:creationId xmlns:a16="http://schemas.microsoft.com/office/drawing/2014/main" id="{68AF569D-A650-D160-00FC-279BDCA0FEDB}"/>
              </a:ext>
            </a:extLst>
          </p:cNvPr>
          <p:cNvSpPr>
            <a:spLocks noGrp="1"/>
          </p:cNvSpPr>
          <p:nvPr>
            <p:ph type="body" sz="quarter" idx="23"/>
          </p:nvPr>
        </p:nvSpPr>
        <p:spPr>
          <a:xfrm>
            <a:off x="1235075" y="3677003"/>
            <a:ext cx="8775700" cy="732508"/>
          </a:xfrm>
        </p:spPr>
        <p:txBody>
          <a:bodyPr/>
          <a:lstStyle/>
          <a:p>
            <a:r>
              <a:rPr lang="en-US" dirty="0" err="1"/>
              <a:t>get_supported_language</a:t>
            </a:r>
            <a:endParaRPr lang="en-US" dirty="0"/>
          </a:p>
          <a:p>
            <a:r>
              <a:rPr lang="en-US" dirty="0"/>
              <a:t>translate</a:t>
            </a:r>
          </a:p>
          <a:p>
            <a:r>
              <a:rPr lang="en-US" dirty="0"/>
              <a:t>transliterate</a:t>
            </a:r>
          </a:p>
        </p:txBody>
      </p:sp>
      <p:sp>
        <p:nvSpPr>
          <p:cNvPr id="42" name="Graphic 26" descr="Checkmark">
            <a:extLst>
              <a:ext uri="{FF2B5EF4-FFF2-40B4-BE49-F238E27FC236}">
                <a16:creationId xmlns:a16="http://schemas.microsoft.com/office/drawing/2014/main" id="{10909B21-C111-FF49-CCA4-51166FAF8036}"/>
              </a:ext>
            </a:extLst>
          </p:cNvPr>
          <p:cNvSpPr/>
          <p:nvPr/>
        </p:nvSpPr>
        <p:spPr>
          <a:xfrm>
            <a:off x="1266510" y="423789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28" name="Text Placeholder 27">
            <a:extLst>
              <a:ext uri="{FF2B5EF4-FFF2-40B4-BE49-F238E27FC236}">
                <a16:creationId xmlns:a16="http://schemas.microsoft.com/office/drawing/2014/main" id="{29D1071F-015E-6627-E74A-6E0F452CE595}"/>
              </a:ext>
            </a:extLst>
          </p:cNvPr>
          <p:cNvSpPr>
            <a:spLocks noGrp="1"/>
          </p:cNvSpPr>
          <p:nvPr>
            <p:ph type="body" sz="quarter" idx="20"/>
          </p:nvPr>
        </p:nvSpPr>
        <p:spPr>
          <a:xfrm>
            <a:off x="1235075" y="4585680"/>
            <a:ext cx="8778782" cy="492443"/>
          </a:xfrm>
        </p:spPr>
        <p:txBody>
          <a:bodyPr/>
          <a:lstStyle/>
          <a:p>
            <a:r>
              <a:rPr lang="en-US" sz="1600" dirty="0"/>
              <a:t>Which Azure Speech SDK object should you use to specify the language(s) into which you want speech translated?</a:t>
            </a:r>
          </a:p>
        </p:txBody>
      </p:sp>
      <p:sp>
        <p:nvSpPr>
          <p:cNvPr id="29" name="Text Placeholder 28">
            <a:extLst>
              <a:ext uri="{FF2B5EF4-FFF2-40B4-BE49-F238E27FC236}">
                <a16:creationId xmlns:a16="http://schemas.microsoft.com/office/drawing/2014/main" id="{4B4E39E0-DFC0-DC71-73F3-16E6FD139311}"/>
              </a:ext>
            </a:extLst>
          </p:cNvPr>
          <p:cNvSpPr>
            <a:spLocks noGrp="1"/>
          </p:cNvSpPr>
          <p:nvPr>
            <p:ph type="body" sz="quarter" idx="21"/>
          </p:nvPr>
        </p:nvSpPr>
        <p:spPr>
          <a:xfrm>
            <a:off x="1235075" y="5097911"/>
            <a:ext cx="8775700" cy="732508"/>
          </a:xfrm>
        </p:spPr>
        <p:txBody>
          <a:bodyPr/>
          <a:lstStyle/>
          <a:p>
            <a:r>
              <a:rPr lang="en-US" sz="1400" dirty="0" err="1"/>
              <a:t>SpeechConfig</a:t>
            </a:r>
            <a:endParaRPr lang="en-US" sz="1400" dirty="0"/>
          </a:p>
          <a:p>
            <a:r>
              <a:rPr lang="en-US" sz="1400" dirty="0" err="1"/>
              <a:t>SpeechTranslationConfig</a:t>
            </a:r>
            <a:endParaRPr lang="en-US" sz="1400" dirty="0"/>
          </a:p>
          <a:p>
            <a:r>
              <a:rPr lang="en-US" sz="1400" dirty="0" err="1"/>
              <a:t>AudioConfig</a:t>
            </a:r>
            <a:endParaRPr lang="en-US" sz="1400" dirty="0"/>
          </a:p>
        </p:txBody>
      </p:sp>
      <p:sp>
        <p:nvSpPr>
          <p:cNvPr id="43" name="Graphic 26" descr="Checkmark">
            <a:extLst>
              <a:ext uri="{FF2B5EF4-FFF2-40B4-BE49-F238E27FC236}">
                <a16:creationId xmlns:a16="http://schemas.microsoft.com/office/drawing/2014/main" id="{352E626B-BF45-7744-124F-4CC0D315362A}"/>
              </a:ext>
            </a:extLst>
          </p:cNvPr>
          <p:cNvSpPr/>
          <p:nvPr/>
        </p:nvSpPr>
        <p:spPr>
          <a:xfrm>
            <a:off x="1266510" y="5387645"/>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3" name="Footer Placeholder 2">
            <a:extLst>
              <a:ext uri="{FF2B5EF4-FFF2-40B4-BE49-F238E27FC236}">
                <a16:creationId xmlns:a16="http://schemas.microsoft.com/office/drawing/2014/main" id="{073F18E3-1EC8-598E-766C-F7D8E21A5F7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Oval 3">
            <a:extLst>
              <a:ext uri="{FF2B5EF4-FFF2-40B4-BE49-F238E27FC236}">
                <a16:creationId xmlns:a16="http://schemas.microsoft.com/office/drawing/2014/main" id="{3F8557B3-8307-6377-7E11-CD6DFB83F2F6}"/>
              </a:ext>
              <a:ext uri="{C183D7F6-B498-43B3-948B-1728B52AA6E4}">
                <adec:decorative xmlns:adec="http://schemas.microsoft.com/office/drawing/2017/decorative" val="1"/>
              </a:ext>
            </a:extLst>
          </p:cNvPr>
          <p:cNvSpPr>
            <a:spLocks/>
          </p:cNvSpPr>
          <p:nvPr/>
        </p:nvSpPr>
        <p:spPr bwMode="auto">
          <a:xfrm>
            <a:off x="722582" y="1640768"/>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endParaRPr kumimoji="0" lang="en-IN" sz="1800" b="1" i="0" u="none" strike="noStrike" cap="none" spc="0" normalizeH="0" baseline="0" noProof="0" dirty="0">
              <a:ln>
                <a:noFill/>
              </a:ln>
              <a:solidFill>
                <a:schemeClr val="tx1"/>
              </a:solidFill>
              <a:effectLst/>
              <a:uLnTx/>
              <a:uFillTx/>
            </a:endParaRPr>
          </a:p>
        </p:txBody>
      </p:sp>
      <p:sp>
        <p:nvSpPr>
          <p:cNvPr id="6" name="Oval 5">
            <a:extLst>
              <a:ext uri="{FF2B5EF4-FFF2-40B4-BE49-F238E27FC236}">
                <a16:creationId xmlns:a16="http://schemas.microsoft.com/office/drawing/2014/main" id="{5F582A3E-4164-C6C2-7CAC-7CC344DB9785}"/>
              </a:ext>
              <a:ext uri="{C183D7F6-B498-43B3-948B-1728B52AA6E4}">
                <adec:decorative xmlns:adec="http://schemas.microsoft.com/office/drawing/2017/decorative" val="1"/>
              </a:ext>
            </a:extLst>
          </p:cNvPr>
          <p:cNvSpPr>
            <a:spLocks/>
          </p:cNvSpPr>
          <p:nvPr/>
        </p:nvSpPr>
        <p:spPr bwMode="auto">
          <a:xfrm>
            <a:off x="722582" y="30893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endParaRPr kumimoji="0" lang="en-IN" sz="1800" b="1" i="0" u="none" strike="noStrike" cap="none" spc="0" normalizeH="0" baseline="0" noProof="0" dirty="0">
              <a:ln>
                <a:noFill/>
              </a:ln>
              <a:solidFill>
                <a:schemeClr val="tx1"/>
              </a:solidFill>
              <a:effectLst/>
              <a:uLnTx/>
              <a:uFillTx/>
            </a:endParaRPr>
          </a:p>
        </p:txBody>
      </p:sp>
      <p:sp>
        <p:nvSpPr>
          <p:cNvPr id="7" name="Oval 6">
            <a:extLst>
              <a:ext uri="{FF2B5EF4-FFF2-40B4-BE49-F238E27FC236}">
                <a16:creationId xmlns:a16="http://schemas.microsoft.com/office/drawing/2014/main" id="{1D24DDD3-11B8-824B-AB10-DA69453E8B33}"/>
              </a:ext>
              <a:ext uri="{C183D7F6-B498-43B3-948B-1728B52AA6E4}">
                <adec:decorative xmlns:adec="http://schemas.microsoft.com/office/drawing/2017/decorative" val="1"/>
              </a:ext>
            </a:extLst>
          </p:cNvPr>
          <p:cNvSpPr>
            <a:spLocks/>
          </p:cNvSpPr>
          <p:nvPr/>
        </p:nvSpPr>
        <p:spPr bwMode="auto">
          <a:xfrm>
            <a:off x="722582" y="4539049"/>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endParaRPr kumimoji="0" lang="en-IN" sz="1800" b="1" i="0" u="none" strike="noStrike"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829282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P spid="4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FD3162-DA9E-4D67-9F87-E583DE6D64AE}"/>
              </a:ext>
            </a:extLst>
          </p:cNvPr>
          <p:cNvSpPr txBox="1">
            <a:spLocks noGrp="1"/>
          </p:cNvSpPr>
          <p:nvPr>
            <p:ph type="title"/>
          </p:nvPr>
        </p:nvSpPr>
        <p:spPr>
          <a:prstGeom prst="rect">
            <a:avLst/>
          </a:prstGeom>
          <a:noFill/>
          <a:ln>
            <a:noFill/>
            <a:prstDash/>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solidFill>
                  <a:schemeClr val="bg1"/>
                </a:solidFill>
                <a:effectLst/>
                <a:uLnTx/>
                <a:uFillTx/>
                <a:latin typeface="+mn-lt"/>
                <a:ea typeface="+mn-ea"/>
                <a:cs typeface="+mn-cs"/>
              </a:rPr>
              <a:t>Closing slide</a:t>
            </a:r>
            <a:endParaRPr kumimoji="0" lang="fr-FR" sz="1600" b="0" i="0" u="none" strike="noStrike" kern="1200" cap="none" spc="0" normalizeH="0" baseline="0" noProof="0" err="1">
              <a:ln>
                <a:noFill/>
              </a:ln>
              <a:solidFill>
                <a:schemeClr val="bg1"/>
              </a:solidFill>
              <a:effectLst/>
              <a:uLnTx/>
              <a:uFillTx/>
              <a:latin typeface="+mn-lt"/>
              <a:ea typeface="+mn-ea"/>
              <a:cs typeface="+mn-cs"/>
            </a:endParaRPr>
          </a:p>
        </p:txBody>
      </p:sp>
      <p:sp>
        <p:nvSpPr>
          <p:cNvPr id="2" name="Footer Placeholder 1">
            <a:extLst>
              <a:ext uri="{FF2B5EF4-FFF2-40B4-BE49-F238E27FC236}">
                <a16:creationId xmlns:a16="http://schemas.microsoft.com/office/drawing/2014/main" id="{5AF6C784-AA2B-54CE-A5D4-C5B6544A065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92321789"/>
      </p:ext>
    </p:extLst>
  </p:cSld>
  <p:clrMapOvr>
    <a:masterClrMapping/>
  </p:clrMapOvr>
  <p:transition>
    <p:fade/>
  </p:transition>
</p:sld>
</file>

<file path=ppt/theme/theme1.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2D07151C35047978CBB2C9B85873C" ma:contentTypeVersion="12" ma:contentTypeDescription="Create a new document." ma:contentTypeScope="" ma:versionID="3534ca723f0afde11e2a11eecba4c346">
  <xsd:schema xmlns:xsd="http://www.w3.org/2001/XMLSchema" xmlns:xs="http://www.w3.org/2001/XMLSchema" xmlns:p="http://schemas.microsoft.com/office/2006/metadata/properties" xmlns:ns1="http://schemas.microsoft.com/sharepoint/v3" xmlns:ns2="65939125-e560-4c0d-b0c5-36d0cbbdefe7" xmlns:ns3="e9b40ee8-a410-479f-a3f0-3e55b31bc197" targetNamespace="http://schemas.microsoft.com/office/2006/metadata/properties" ma:root="true" ma:fieldsID="f016192c923787f1dfe767fe6eb19d52" ns1:_="" ns2:_="" ns3:_="">
    <xsd:import namespace="http://schemas.microsoft.com/sharepoint/v3"/>
    <xsd:import namespace="65939125-e560-4c0d-b0c5-36d0cbbdefe7"/>
    <xsd:import namespace="e9b40ee8-a410-479f-a3f0-3e55b31bc19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939125-e560-4c0d-b0c5-36d0cbbdefe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b40ee8-a410-479f-a3f0-3e55b31bc19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ae8649e-307b-442d-9f75-1cd1fb9eba4e}" ma:internalName="TaxCatchAll" ma:showField="CatchAllData" ma:web="e9b40ee8-a410-479f-a3f0-3e55b31bc1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5939125-e560-4c0d-b0c5-36d0cbbdefe7">
      <Terms xmlns="http://schemas.microsoft.com/office/infopath/2007/PartnerControls"/>
    </lcf76f155ced4ddcb4097134ff3c332f>
    <TaxCatchAll xmlns="e9b40ee8-a410-479f-a3f0-3e55b31bc197"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683044-9CCF-49C2-86EF-175FB3A95D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5939125-e560-4c0d-b0c5-36d0cbbdefe7"/>
    <ds:schemaRef ds:uri="e9b40ee8-a410-479f-a3f0-3e55b31bc1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F4CE68-A85E-4373-86D0-F40255719C5F}">
  <ds:schemaRefs>
    <ds:schemaRef ds:uri="http://purl.org/dc/terms/"/>
    <ds:schemaRef ds:uri="http://schemas.microsoft.com/office/2006/documentManagement/types"/>
    <ds:schemaRef ds:uri="http://schemas.microsoft.com/sharepoint/v3"/>
    <ds:schemaRef ds:uri="http://www.w3.org/XML/1998/namespace"/>
    <ds:schemaRef ds:uri="http://schemas.openxmlformats.org/package/2006/metadata/core-properties"/>
    <ds:schemaRef ds:uri="92cc7923-7bd6-4c52-a535-c267c30bc123"/>
    <ds:schemaRef ds:uri="http://schemas.microsoft.com/office/2006/metadata/properties"/>
    <ds:schemaRef ds:uri="http://schemas.microsoft.com/office/infopath/2007/PartnerControls"/>
    <ds:schemaRef ds:uri="http://purl.org/dc/dcmitype/"/>
    <ds:schemaRef ds:uri="http://purl.org/dc/elements/1.1/"/>
    <ds:schemaRef ds:uri="59afee55-fc30-40da-a84e-ff6fc62c4efa"/>
    <ds:schemaRef ds:uri="65939125-e560-4c0d-b0c5-36d0cbbdefe7"/>
    <ds:schemaRef ds:uri="e9b40ee8-a410-479f-a3f0-3e55b31bc197"/>
  </ds:schemaRefs>
</ds:datastoreItem>
</file>

<file path=customXml/itemProps3.xml><?xml version="1.0" encoding="utf-8"?>
<ds:datastoreItem xmlns:ds="http://schemas.openxmlformats.org/officeDocument/2006/customXml" ds:itemID="{9BE6BE5F-0F3E-4688-943B-6A75B88CACC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5475</Words>
  <Application>Microsoft Office PowerPoint</Application>
  <PresentationFormat>Widescreen</PresentationFormat>
  <Paragraphs>686</Paragraphs>
  <Slides>44</Slides>
  <Notes>44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44</vt:i4>
      </vt:variant>
    </vt:vector>
  </HeadingPairs>
  <TitlesOfParts>
    <vt:vector size="58" baseType="lpstr">
      <vt:lpstr>Aptos</vt:lpstr>
      <vt:lpstr>Aptos Display</vt:lpstr>
      <vt:lpstr>Arial</vt:lpstr>
      <vt:lpstr>Cambria Math</vt:lpstr>
      <vt:lpstr>Cascadia Code</vt:lpstr>
      <vt:lpstr>Consolas</vt:lpstr>
      <vt:lpstr>Segoe UI</vt:lpstr>
      <vt:lpstr>Segoe UI Light</vt:lpstr>
      <vt:lpstr>Segoe UI Semibold</vt:lpstr>
      <vt:lpstr>Segoe UI Variable Text</vt:lpstr>
      <vt:lpstr>SFMono-Regular</vt:lpstr>
      <vt:lpstr>Wingdings</vt:lpstr>
      <vt:lpstr>1_LIGHT MODE</vt:lpstr>
      <vt:lpstr>LIGHT MODE</vt:lpstr>
      <vt:lpstr>Develop natural language solutions in Azure​</vt:lpstr>
      <vt:lpstr>Artificial Intelligence workloads</vt:lpstr>
      <vt:lpstr>Our focus today</vt:lpstr>
      <vt:lpstr>Analyze text with Azure Language in Foundry Tools</vt:lpstr>
      <vt:lpstr>Azure Language in Foundry Tools</vt:lpstr>
      <vt:lpstr>Using the Text Analytics API</vt:lpstr>
      <vt:lpstr>Exercise</vt:lpstr>
      <vt:lpstr>Knowledge check</vt:lpstr>
      <vt:lpstr>Develop a text analysis agent with the Azure Language MCP server</vt:lpstr>
      <vt:lpstr>The Azure Language MCP server</vt:lpstr>
      <vt:lpstr>Using the Azure Language MCP server</vt:lpstr>
      <vt:lpstr>Exercise</vt:lpstr>
      <vt:lpstr>Knowledge check</vt:lpstr>
      <vt:lpstr>Develop a speech-capable generative AI application</vt:lpstr>
      <vt:lpstr>Speech-capable models in Microsoft Foundry Models</vt:lpstr>
      <vt:lpstr>Using speech-capable generative AI models</vt:lpstr>
      <vt:lpstr>Exercise</vt:lpstr>
      <vt:lpstr>Knowledge check</vt:lpstr>
      <vt:lpstr>Create speech-enabled apps with Microsoft Foundry</vt:lpstr>
      <vt:lpstr>Azure Speech in Foundry Tools</vt:lpstr>
      <vt:lpstr>Using Azure Speech in Foundry Tools</vt:lpstr>
      <vt:lpstr>Speech to text</vt:lpstr>
      <vt:lpstr>Text to speech</vt:lpstr>
      <vt:lpstr>Speech Synthesis Markup Language (SSML)</vt:lpstr>
      <vt:lpstr>Exercise</vt:lpstr>
      <vt:lpstr>Knowledge check</vt:lpstr>
      <vt:lpstr>Develop a speech agent with the Azure Speech MCP server</vt:lpstr>
      <vt:lpstr>The Azure Speech MCP server</vt:lpstr>
      <vt:lpstr>Using the Azure Speech MCP server</vt:lpstr>
      <vt:lpstr>Exercise</vt:lpstr>
      <vt:lpstr>Knowledge check</vt:lpstr>
      <vt:lpstr>Develop an Azure Speech Voice Live Agent in Microsoft Foundry</vt:lpstr>
      <vt:lpstr>Azure Speech Voice Live</vt:lpstr>
      <vt:lpstr>Creating a Voice Live agent</vt:lpstr>
      <vt:lpstr>Exercise</vt:lpstr>
      <vt:lpstr>Knowledge check</vt:lpstr>
      <vt:lpstr>Translate text and speech with Microsoft Foundry Tools</vt:lpstr>
      <vt:lpstr>Translation in Microsoft Foundry</vt:lpstr>
      <vt:lpstr>Translate text with Azure Translator</vt:lpstr>
      <vt:lpstr>Translating speech with Azure Speech</vt:lpstr>
      <vt:lpstr>Synthesizing Speech Translations</vt:lpstr>
      <vt:lpstr>Demo</vt:lpstr>
      <vt:lpstr>Knowledge check</vt:lpstr>
      <vt:lpstr>Closing slide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2023-08-17T11:36:13Z</dcterms:created>
  <dcterms:modified xsi:type="dcterms:W3CDTF">2026-05-13T22:08:37Z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Application">
    <vt:lpwstr>Microsoft Azure Information Protection</vt:lpwstr>
  </property>
  <property fmtid="{D5CDD505-2E9C-101B-9397-08002B2CF9AE}" pid="3" name="_dlc_policyId">
    <vt:lpwstr>0x01010070AB3889E58DB141A6E1281B02136174|-369733750</vt:lpwstr>
  </property>
  <property fmtid="{D5CDD505-2E9C-101B-9397-08002B2CF9AE}" pid="4" name="MSIP_Label_f42aa342-8706-4288-bd11-ebb85995028c_Enabled">
    <vt:lpwstr>True</vt:lpwstr>
  </property>
  <property fmtid="{D5CDD505-2E9C-101B-9397-08002B2CF9AE}" pid="5" name="MediaServiceImageTags">
    <vt:lpwstr/>
  </property>
  <property fmtid="{D5CDD505-2E9C-101B-9397-08002B2CF9AE}" pid="6" name="ContentTypeId">
    <vt:lpwstr>0x0101002E32D07151C35047978CBB2C9B85873C</vt:lpwstr>
  </property>
  <property fmtid="{D5CDD505-2E9C-101B-9397-08002B2CF9AE}" pid="7" name="Audience">
    <vt:lpwstr/>
  </property>
  <property fmtid="{D5CDD505-2E9C-101B-9397-08002B2CF9AE}" pid="8" name="MSIP_Label_f42aa342-8706-4288-bd11-ebb85995028c_SetDate">
    <vt:lpwstr>2017-08-29T14:27:20.8568347-07:00</vt:lpwstr>
  </property>
  <property fmtid="{D5CDD505-2E9C-101B-9397-08002B2CF9AE}" pid="9" name="MSIP_Label_f42aa342-8706-4288-bd11-ebb85995028c_Name">
    <vt:lpwstr>General</vt:lpwstr>
  </property>
  <property fmtid="{D5CDD505-2E9C-101B-9397-08002B2CF9AE}" pid="10" name="MSIP_Label_f42aa342-8706-4288-bd11-ebb85995028c_SiteId">
    <vt:lpwstr>72f988bf-86f1-41af-91ab-2d7cd011db47</vt:lpwstr>
  </property>
  <property fmtid="{D5CDD505-2E9C-101B-9397-08002B2CF9AE}" pid="11" name="Campaign">
    <vt:lpwstr/>
  </property>
  <property fmtid="{D5CDD505-2E9C-101B-9397-08002B2CF9AE}" pid="12" name="MSIP_Label_f42aa342-8706-4288-bd11-ebb85995028c_Extended_MSFT_Method">
    <vt:lpwstr>Automatic</vt:lpwstr>
  </property>
  <property fmtid="{D5CDD505-2E9C-101B-9397-08002B2CF9AE}" pid="13" name="Track">
    <vt:lpwstr/>
  </property>
  <property fmtid="{D5CDD505-2E9C-101B-9397-08002B2CF9AE}" pid="14" name="MSIP_Label_f42aa342-8706-4288-bd11-ebb85995028c_Owner">
    <vt:lpwstr>maryfj@microsoft.com</vt:lpwstr>
  </property>
  <property fmtid="{D5CDD505-2E9C-101B-9397-08002B2CF9AE}" pid="15" name="Event Venue">
    <vt:lpwstr/>
  </property>
  <property fmtid="{D5CDD505-2E9C-101B-9397-08002B2CF9AE}" pid="16" name="IsMyDocuments">
    <vt:bool>true</vt:bool>
  </property>
  <property fmtid="{D5CDD505-2E9C-101B-9397-08002B2CF9AE}" pid="17" name="Sensitivity">
    <vt:lpwstr>General</vt:lpwstr>
  </property>
  <property fmtid="{D5CDD505-2E9C-101B-9397-08002B2CF9AE}" pid="18" name="MSIP_Label_f42aa342-8706-4288-bd11-ebb85995028c_Ref">
    <vt:lpwstr>https://api.informationprotection.azure.com/api/72f988bf-86f1-41af-91ab-2d7cd011db47</vt:lpwstr>
  </property>
  <property fmtid="{D5CDD505-2E9C-101B-9397-08002B2CF9AE}" pid="19" name="Product">
    <vt:lpwstr/>
  </property>
  <property fmtid="{D5CDD505-2E9C-101B-9397-08002B2CF9AE}" pid="20" name="Event Location">
    <vt:lpwstr/>
  </property>
  <property fmtid="{D5CDD505-2E9C-101B-9397-08002B2CF9AE}" pid="2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22" name="Event1">
    <vt:lpwstr>622;#Unassigned|2c8af875-f38a-40b8-a0a9-056aed3fc8c0</vt:lpwstr>
  </property>
</Properties>
</file>