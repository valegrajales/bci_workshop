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día 2. Ayer vimos los fundamentos de Foundry; hoy pasamos a construir: arquitectura de agentes, tools confiables, MCP, RAG con Azure AI Search, cerrando con un laboratorio pro-code. El público ya tiene experiencia con Foundry hosted agents, APIM/AI Gateway, MCP, semantic cache, Content Safety y evaluaciones, así que vamos a profundizar en diseño y buenas prácticas, no en conceptos básicos. Sugerido: presentar a Pablo y Valentina, repasar la agenda y pedir que todos tengan su entorno de laboratorio listo desde ahora para no perder tiempo más tarde. Mencionar que todos los escenarios de hoy son bancarios ficticios, sin datos reales de BCI. Fuente: MATERIALS_INDEX.md (§2 Día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en voz alta y anclarla a los resultados del día: una arquitectura de referencia, un patrón RAG con criterios de calidad y seguridad, y un agente con grounding y una tool propia funcionando. Avisar que el laboratorio pro-code es la parte más larga (75 minutos) y que conviene dejar dudas de implementación para ese momento; el diagnóstico profundo de trazas se practica recién mañana, como parte del módulo de Observabilidad que abre el día 3 a las 09:00. La pausa de 10 minutos es corta a propósito: sugerir que los conectados por Teams aprovechen para revisar su entorno de laboratorio. Sugerido: mostrar el checklist de prerequisitos (nivel día 1, Python o .NET básico, APIs, Azure) y confirmar que todos pueden acceder a su proyecto de Foundry antes de seguir. Fuente: MATERIALS_INDEX.md (§2 Día 2), instrucciones del taller.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Conectar explícitamente con el día 1: quienes ya construyen con Foundry hosted agents, APIM/AI Gateway, MCP, semantic cache y memoria de notas van a reconocer varios conceptos, pero hoy los llevamos a nivel de diseño de producción. Preguntar al grupo qué parte de su arquitectura actual les genera más dudas (tools, RAG, observabilidad) para calibrar énfasis durante el día. Sugerido: pedir que levanten la mano quienes ya tienen un agente con tools en producción, para adaptar el ritmo de la primera hora. Remarcar que el objetivo final del día es salir con una arquitectura de referencia y un checklist de preparación para producción, no solo demos aisladas. Fuente: contexto del taller (agenda y prerequisitos L200).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el primer bloque explicando que la decisión de arquitectura condiciona todo lo demás: qué tan rápido iteran, cuánto control tienen sobre el runtime y qué tan fácil es llevar el agente a producción. Vamos a ver los tres tipos de agente en Foundry, la arquitectura interna de un hosted agent, los protocolos disponibles y dónde encaja Microsoft Agent Framework. Sugerido: preguntar si alguien ya desplegó un hosted agent y qué framework usó, para conectar la teoría con su experiencia real. Cerrar la introducción aclarando que todo lo que viene aplica tanto si programan en Python como en .NET, y que el laboratorio de hoy va a usar Python como lenguaje principal. Fuente: MATERIALS_INDEX.md (§2 Día 2, módulo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los tres tipos de agente como un espectro: prompt-based para iterar rápido desde el portal, voice-based como variante optimizada para audio en tiempo real, y hosted para cuando el equipo quiere control total del código y del runtime. Insistir en que un hosted agent puede usar cualquier framework, incluyendo Agent Framework, LangGraph o código propio sin framework. Sugerido: mostrar en el portal de Foundry la pantalla de creación de agente y señalar dónde se elige cada tipo. Mencionar que Foundry crea automáticamente una identidad Entra ID y un endpoint dedicado para cada agente, lo que simplifica la gobernanza de permisos. Fuente: docs-oficiales/foundry/agents/concepts/hosted-agents.md, docs-oficiales/foundry/agents/concepts/development-lifecycle.md.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las capas de abajo hacia arriba o de arriba hacia abajo, según cómo se vea mejor en pantalla, explicando que cada hosted agent corre en un sandbox aislado por sesión, con un sistema de archivos persistente para mantener estado entre invocaciones y capacidad de escalar a cero cuando no hay tráfico. La identidad Entra del agente es distinta de la identidad administrada del proyecto: una es para runtime, la otra para operaciones de infraestructura. Sugerido: dibujar en el pizarrón o compartir pantalla con el diagrama de arquitectura de referencia del taller y pedir que identifiquen dónde encajaría su propio agente de normativa interna. Fuente: docs-oficiales/foundry/agents/concepts/hosted-agents.md, docs-oficiales/foundry/agents/concepts/hosted-agent-contract.md.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contraste ayuda a que cada equipo decida con criterio, no por moda. Prompt-based agents son ideales para prototipar o para casos donde el portal alcanza; hosted agents son la opción cuando el equipo ya tiene código, necesita un framework específico, o requiere control fino de recursos y protocolos. Sugerido: pedir ejemplos de los propios asistentes sobre qué tipo de agente tienen hoy en mente para su banco (por ejemplo, un asistente de políticas internas) y discutir en grupo cuál encaja mejor. Aclarar que se puede empezar prompt-based y migrar a hosted cuando el caso de uso lo requiera, sin perder el trabajo de diseño de instrucciones y tools. Fuente: docs-oficiales/foundry/agents/concepts/development-lifecycle.md, docs-oficiales/foundry/agents/concepts/hosted-agents.md.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hosted agent no tiene un único protocolo: Foundry ofrece varios según el canal. Responses es el punto de partida recomendado para la mayoría de los casos conversacionales o RAG. Invocations sirve para integraciones tipo webhook con payloads propios, por ejemplo procesos batch. Invocations WebSocket habilita voz en tiempo real. Activity conecta de forma automática con Teams y M365, y A2A permite que un agente delegue trabajo en otro agente. Sugerido: preguntar qué canal usarían para un asistente de normativa interna (probablemente Responses o Activity vía Teams) y para un proceso de validación de documentos en lote (Invocations). Fuente: docs-oficiales/foundry/agents/concepts/hosted-agents.md, docs-oficiales/foundry/agents/concepts/hosted-agent-contract.md.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combina lo mejor de AutoGen (abstracciones simples para agentes) y Semantic Kernel (estado de sesión, tipado fuerte, middleware, telemetría de nivel empresarial), y agrega workflows basados en grafos para coordinación explícita entre varios agentes y funciones. La decisión entre usar un agente o un workflow depende de la tarea: agente para algo abierto o conversacional con uso autónomo de tools, workflow cuando los pasos y el control son explícitos o hay varios agentes coordinados. Sugerido: mostrar el repositorio de samples oficial (01-get-started, 02-agents, 04-hosting) y explicar que el mismo código de agente se puede desplegar luego como hosted agent sin reescribirlo. Fuente: docs-oficiales/agent-framework/overview.md, docs-oficiales/agent-framework/hosting/foundry-hosted-agent.md.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cierra el bloque de arquitectura mostrando el ciclo completo: un hosted agent construido con Agent Framework recibe una pregunta, decide invocar una function tool ficticia de política de gastos, y devuelve una respuesta trazable. El objetivo es que el grupo vea en vivo lo que discutimos en las láminas anteriores: identidad, endpoint, sandbox y ejecución de tool. Sugerido: aprovechar para mostrar brevemente el portal de Foundry donde se ve el agente desplegado, su identidad y el log de la invocación, sin entrar todavía en trazas detalladas (eso viene en observabilidad). Aclarar que el escenario y los datos son ficticios. Fuente: docs-oficiales/foundry/agents/how-to/tools/function-calling.md, docs-oficiales/agent-framework/agents/tools.md, repos/publico-samples/agent-framework (02-agents).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Segundo bloque: tools. Un agente sin tools confiables es solo un chatbot; con tools mal diseñadas, es un riesgo operativo. Vamos a ver cómo describir una tool para que el modelo la use bien, qué contratos de confiabilidad y seguridad aplicar, y cómo Model Context Protocol (MCP) permite reutilizar tools entre agentes y equipos. Valentina abre con integración y protocolos, Pablo cierra con el diseño de tools confiables. Sugerido: preguntar qué tools ya tienen conectadas a sus agentes hoy (APIs internas, bases de datos, otros sistemas) para ambientar el resto del bloque con ejemplos reales del grupo. Fuente: MATERIALS_INDEX.md (§2 Día 2,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function calling depende de que el modelo entienda, solo por la descripción, para qué sirve cada tool y qué parámetros espera. Insistir en que el esquema JSON debe marcar bien los campos obligatorios y evitar ambigüedad en los nombres. tool_choice permite forzar, impedir o dejar libre la decisión de invocar una tool, útil para flujos determinísticos. El límite de 10 minutos por run es real y afecta tools lentas: para operaciones largas conviene devolver un estado intermedio y sondear después. Sugerido: mostrar un ejemplo de descripción de tool ambigua versus una bien escrita y discutir por qué una falla más seguido. Fuente: docs-oficiales/foundry/agents/how-to/tools/function-calling.md, docs-oficiales/foundry/agents/concepts/tool-best-practice.md.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reglas vienen directo de las guías de diseño de tools y de resiliencia de hosted agents, y son las que más previenen incidentes en producción. La idempotencia importa especialmente cuando el modelo puede reintentar una llamada por timeout: una idempotency key evita, por ejemplo, duplicar una solicitud de crédito ficticia. Mínimo privilegio significa que la identidad de la tool no debería poder, por ejemplo, borrar registros si solo necesita leerlos. Sugerido: pedir que cada equipo piense en una tool de su propio caso de uso y valide mentalmente si cumple las cuatro reglas, como ejercicio rápido de diseño. Fuente: docs-oficiales/foundry/agents/concepts/tool-best-practice.md, docs-oficiales/foundry/agents/concepts/long-running-agent-resilience.md.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resuelve un problema concreto: evitar reconstruir la misma integración (por ejemplo, consulta de normativa o de estado de una solicitud) para cada agente o framework distinto. Un servidor MCP expone un catálogo de tools con descripción y esquema, y cualquier cliente compatible (Foundry, Agent Framework, LangGraph) puede descubrirlas y usarlas. Toolbox agrega una capa de gobierno: autenticación, aprobación y logging centralizados sobre ese mismo endpoint MCP. Sugerido: dibujar el flujo agente -&gt; MCP -&gt; sistema interno y comparar con una integración tradicional de API para mostrar la ganancia de reutilización. Fuente: docs-oficiales/foundry/mcp/get-started.md, docs-oficiales/foundry/agents/how-to/tools/model-context-protocol.md, docs-oficiales/foundry/agents/concepts/toolbox-overview.md.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el prototipado conviene correr el servidor MCP local, para iterar rápido sin preocuparse por redes ni certificados. Para producción, Foundry soporta endpoints MCP públicos o privados; los privados usan Azure Container Apps con una subred dedicada e ingreso solo interno, apropiado para datos sensibles de un banco. La migración de local a remoto agrega autenticación (claves, OAuth o identidad Entra), control de aprobación para operaciones riesgosas, y logging de cada llamada. Sugerido: mostrar en pantalla la configuración de 'allowed_tools' y 'require_approval' para dejar claro que no todo servidor remoto expone todas sus tools por defecto. Fuente: docs-oficiales/foundry/mcp/get-started.md, docs-oficiales/foundry/mcp/security-best-practices.md, docs-oficiales/foundry/mcp/build-your-own-mcp-server.md.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snippet resume lo que acabamos de explicar en texto: declarar un MCPTool con su server_label, su server_url y la política de aprobación. require_approval='always' obliga a que un humano confirme cada llamada, buena práctica cuando la tool puede escribir datos o acceder a información sensible; para tools de solo lectura de bajo riesgo se puede relajar. El server_url del ejemplo es ficticio, nunca apunta a un sistema real de BCI. Sugerido: pedir que el grupo identifique en el código dónde cambiarían el nombre y la URL para su propio caso (por ejemplo, un servidor MCP de consulta de estado de solicitud). Fuente: docs-oficiales/foundry/agents/how-to/tools/model-context-protocol.md, docs-oficiales/foundry/mcp/security-best-practices.md.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existe un único modelo de autenticación para MCP; Foundry soporta varios según el servidor y el caso de uso. Passthrough de identidad Entra es el más adecuado cuando la respuesta debe respetar los permisos del usuario que pregunta, por ejemplo un asistente de normativa que no debería mostrar políticas de un área a la que el usuario no tiene acceso. Sugerido: relacionar esta tabla con el recorte de seguridad que vamos a ver en el módulo de RAG, porque el mismo principio de 'responder según permisos del usuario' aplica tanto a tools MCP como a retrieval sobre un índice. Preguntar qué modelo de autenticación usan hoy en sus integraciones internas. Fuente: docs-oficiales/foundry/mcp/get-started.md, docs-oficiales/foundry/mcp/security-best-practices.md.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 bloque, el más largo de la mañana: RAG y Azure AI Search. Vamos a recorrer la evolución del patrón RAG, cómo se arma un índice híbrido, qué es Foundry IQ y el retrieval agéntico, cómo medimos calidad y cómo pensamos la seguridad cuando el contenido recuperado puede venir de documentos no confiables. Sugerido: preguntar si alguien ya evaluó la calidad de un RAG en producción y qué métrica usó, para conectar con la parte de evaluación más adelante en el bloque. Recordar que todo ejemplo de este bloque usa normativa interna ficticia, nunca documentos reales de BCI. Fuente: MATERIALS_INDEX.md (§2 Día 2, módulo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no es una sola técnica, es una familia que fue madurando. El RAG clásico hace una consulta y pega los pasajes al prompt; la búsqueda híbrida mejora la precisión combinando texto y vectores con ranking semántico; el retrieval agéntico deja que el propio modelo decida qué y cuántas subconsultas lanzar, en paralelo, devolviendo datos estructurados con citas. Foundry IQ es la capa administrada que orquesta todo esto sobre múltiples fuentes de conocimiento con permisos por usuario. Sugerido: ubicar en qué escalón está hoy el RAG que cada equipo tiene en mente y qué ganaría al subir un escalón. Fuente: docs-oficiales/foundry/concepts/retrieval-augmented-generation.md, docs-oficiales/foundry/agents/concepts/what-is-foundry-iq.md, docs-oficiales/architecture-center-ai/ai-ml/guide/rag/rag-agentic.md.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pipeline es la base técnica de cualquier RAG serio. El chunking define cuánta información entra en cada fragmento y afecta directamente la calidad de la respuesta; fragmentos muy grandes diluyen la relevancia, muy chicos pierden contexto. Los embeddings habilitan la búsqueda semántica, que se combina con búsqueda por palabras clave en un mismo índice híbrido. El ranking final puede incluir un paso de ranking semántico que reordena con comprensión de lenguaje. Los filtros de seguridad se aplican antes de que el documento llegue al modelo, no después. Sugerido: mostrar un ejemplo de índice con campos mixtos (texto, vector, metadatos de seguridad) en el portal de Azure AI Search. Fuente: docs-oficiales/azure-ai-search/vector-search-overview.md, docs-oficiales/azure-ai-search/hybrid-search-overview.md.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búsqueda híbrida no requiere dos consultas separadas: un solo request a Azure AI Search lleva tanto el texto de búsqueda como el o los vectores de consulta, y el motor combina los resultados con Reciprocal Rank Fusion, un método que fusiona rankings de distintas señales sin necesitar que estén en la misma escala. El ranking semántico es un paso opcional adicional que usa comprensión de lenguaje para reordenar los mejores candidatos. Sugerido: mostrar en el portal una consulta híbrida real contra un índice de ejemplo y comparar el orden de resultados con y sin ranking semántico activado. Fuente: docs-oficiales/azure-ai-search/hybrid-search-overview.md, docs-oficiales/azure-ai-search/vector-search-overview.md, docs-oficiales/azure-ai-search/search-get-started-semantic.md.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IQ (preview) es la evolución gerenciada de lo que veníamos armando manualmente con Azure AI Search: en vez de que cada agente tenga su propia configuración de índice, una knowledge base centraliza fuentes, reglas de retrieval agéntico y permisos. La sincronización de ACLs y etiquetas de Purview permite que la misma pregunta devuelva distinta información según quién la hace, algo clave para un banco con áreas con distintos niveles de acceso. Sugerido: diferenciar Foundry IQ de Fabric IQ (datos de Fabric/OneLake) y Work IQ (señales de M365), que resuelven problemas relacionados pero distintos. Marcar explícitamente que es preview. Fuente: docs-oficiales/foundry/agents/concepts/what-is-foundry-iq.md.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la pena ser honestos sobre el trade-off: el retrieval agéntico no es gratis, agrega llamadas al modelo para planificar subconsultas y por lo tanto más latencia y costo de tokens, pero mejora notablemente la cobertura en preguntas complejas o de seguimiento. Para preguntas simples y de alto volumen, el retrieval clásico o la búsqueda híbrida sin capa agéntica puede ser suficiente y más económico. Sugerido: proponer un ejercicio mental: una pregunta simple de normativa ('¿cuál es el horario de atención?') versus una compuesta ('¿qué documentos necesito para un crédito hipotecario si ya tengo una cuenta de ahorro?'), y discutir cuál se beneficia más de retrieval agéntico. Fuente: docs-oficiales/foundry/concepts/retrieval-augmented-generation.md, docs-oficiales/architecture-center-ai/ai-ml/guide/rag/rag-agentic.md.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calidad de un RAG no se mide solo mirando si 'la respuesta suena bien'; Foundry ofrece evaluadores específicos para cada dimensión. Groundedness verifica que la respuesta no invente datos fuera del contexto recuperado, con una variante Pro que da un veredicto binario basado en Content Safety. Completeness y Relevance evalúan si se usó bien el contexto disponible. El evaluador de ataque indirecto (XPIA) es clave para RAG porque mide si el modelo cayó en una instrucción maliciosa escondida en un documento recuperado. Sugerido: mostrar brevemente el flujo de evaluación en el portal de Foundry (elegir unidad, elegir evaluadores, correr, revisar). Fuente: docs-oficiales/foundry/concepts/evaluation-overview.md, docs-oficiales/foundry/concepts/built-in-evaluators.md, docs-oficiales/architecture-center-ai/ai-ml/guide/rag/rag-llm-evaluation-phase.md.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que se suele subestimar: los documentos indexados no son neutrales, pueden contener texto diseñado (o contaminado) para manipular al modelo, lo que se conoce como prompt injection indirecta. Por eso el contenido recuperado debe tratarse con la misma desconfianza que la salida de una tool externa. El recorte de seguridad (security trimming) asegura que un usuario solo reciba fragmentos de documentos a los que tiene permiso de acceder, aplicado en el momento de la consulta, no después. Sugerido: conectar esto con la tabla de autenticación MCP vista antes, remarcando que preferir identidad Entra sobre claves de API es un patrón que se repite en todo el taller. Fuente: docs-oficiales/foundry/concepts/retrieval-augmented-generation.md, docs-oficiales/foundry/mcp/security-best-practices.md, docs-oficiales/foundry/agents/concepts/what-is-foundry-iq.md.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conecta todo el bloque de RAG: índice híbrido, retrieval agéntico, citas y seguridad. Se usa una pregunta deliberadamente ambigua para que el grupo vea cómo el modelo decide dividirla en subconsultas y las ejecuta en paralelo contra el índice. Al revisar las citas, mostrar que cada afirmación de la respuesta se puede rastrear hasta un fragmento específico del documento fuente. Sugerido: simular dos usuarios con distintos niveles de permiso y mostrar que la misma pregunta devuelve información distinta según el recorte de seguridad aplicado. Todo el contenido del índice es normativa ficticia creada para el taller. Fuente: docs-oficiales/foundry/agents/concepts/what-is-foundry-iq.md, docs-oficiales/azure-ai-search/hybrid-search-overview.md, repos/publico-samples/azure-search-python-samples.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Llegamos a la parte práctica más larga del día. El objetivo es que cada persona (o pareja) construya, de punta a punta, un agente pro-code en Python que combine grounding con Azure AI Search y una tool propia. El escenario es un asistente de normativa interna ficticio, pensado para no depender de ningún dato real de BCI. Sugerido: explicar la mecánica del laboratorio (starter code provisto, pasos incrementales, ayuda disponible de Pablo y Valentina) y aclarar que quien prefiera .NET tiene una alternativa abierta, aunque el soporte en vivo se va a enfocar en Python. Recordar que mañana, en el módulo de Observabilidad del día 3, van a retomar este mismo proyecto para inspeccionar su traza a fondo. Fuente: MATERIALS_INDEX.md (§2 Día 2, laboratorio), repos/publico-workshops/foundry-hosted-agents-workshop.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da el panorama completo antes de arrancar: qué vamos a construir, cuánto tiempo hay y qué se espera entregar al final. El starter code deriva de los samples públicos de hosted agents con Agent Framework; cada participante trabaja sobre su propia copia. Sugerido: mostrar la estructura de carpetas del proyecto inicial (agente, tools, configuración) antes de que empiecen a escribir código, para que no pierdan tiempo orientándose. Aclarar que la revisión profunda de la traza (diagnóstico de fallas, criterios de éxito) se hace mañana, en el módulo de Observabilidad del día 3, reutilizando este mismo proyecto. Recordar que la alternativa en .NET sigue el mismo flujo de tareas pero con otro starter; mencionarla solo brevemente porque el soporte en vivo del taller está pensado para Python. Fuente: repos/publico-workshops/foundry-hosted-agents-workshop (travel_assistant, adaptado), repos/microsoftlearning-labs/mslearn-ai-agents (Consolidated C0-C4).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bien usados acá ahorran frustraciones después: casi todos los bloqueos del laboratorio vienen de variables de entorno mal configuradas o permisos faltantes sobre el proyecto de Foundry. Sugerido: circular activamente durante este paso para destrabar a quien tenga problemas de conexión antes de que el resto avance a las tareas de código. Validar el agente base sin tools primero es clave: si falla acá, el problema es de entorno, no de lógica de negocio, y conviene resolverlo antes de seguir. Fuente: repos/publico-workshops/foundry-hosted-agents-workshop, docs-oficiales/foundry/agents/concepts/development-lifecycle.md.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dos tareas van juntas porque construir el agente y conectar el grounding son, en la práctica, el mismo paso: no tiene sentido validar el agente sin datos reales de contexto. Insistir en que prueben con una pregunta simple primero, para confirmar que el grounding funciona, y luego con una más compuesta, para ver el comportamiento del retrieval agéntico. Sugerido: si alguien termina antes, proponerle que pruebe con una pregunta fuera del alcance de la normativa indexada y observe cómo responde el agente (debería evitar inventar, no alucinar una respuesta). Fuente: docs-oficiales/foundry/concepts/retrieval-augmented-generation.md, docs-oficiales/agent-framework/agents/tools.md, repos/publico-samples/azure-search-python-samples.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tarea aplica directo las reglas de diseño de tools del módulo 2: descripción clara, esquema estricto y manejo de errores. Probar también una pregunta que no debería disparar la tool ayuda a detectar descripciones ambiguas que hacen que el modelo la llame de más o de menos. Sugerido: pedir que, si les sobra tiempo, agreguen una validación simple de parámetros dentro de la función (por ejemplo, rechazar un número de solicitud con formato inválido) para practicar manejo de errores devuelto al modelo. Recordar que el dato de 'estado de solicitud' es completamente ficticio. Fuente: docs-oficiales/foundry/agents/how-to/tools/function-calling.md, docs-oficiales/foundry/agents/concepts/tool-best-practice.md.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laboratorio sin la tarea de trazas: ese diagnóstico profundo pasa al día 3, como parte del nuevo módulo de Observabilidad, así que acá el foco es consolidar lo construido y despejar dudas. Sugerido: armar parejas que no hayan trabajado juntas antes, para que vean otra forma de resolver el mismo problema. Insistir en que dejen el proyecto guardado exactamente como queda: mañana lo van a volver a abrir para inspeccionar su traza y diagnosticar un caso fallido, reutilizando el mismo entorno y el mismo agente de hoy (el acceso del laboratorio se regenera a diario, pero el proyecto y los recursos de Azure persisten los tres días). Fuente: MATERIALS_INDEX.md (§2 Día 2,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Resumir el día conectando cada punto con el momento del taller donde se construyó: la arquitectura de referencia viene del módulo 1, el patrón RAG con calidad y seguridad del módulo 3, el agente instrumentado del laboratorio. Sugerido: pedir a dos o tres personas que compartan en una frase qué se llevan del día, para cerrar con la voz del grupo y no solo la del instructor. Aprovechar para recordar que todo el material (starter code, slides, checklist) queda disponible para revisar después del taller. Fuente: contexto del taller (outcomes y deliverables del día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checklist resume en cinco preguntas todo lo que cubrimos hoy, y está pensado para usarse literalmente como gate de revisión antes de un piloto con usuarios reales. La observabilidad queda fuera a propósito: ese tema se ve recién mañana, en el módulo dedicado del día 3. Sugerido: entregar este checklist como parte del material editable del taller, para que cada equipo lo adapte a su propio proceso de revisión interna. Proponer como ejercicio final que cada equipo marque, con honestidad, en qué estado está su propio agente hoy respecto a estas áreas, y qué harían primero la semana que viene. Fuente: síntesis de los módulos 1 a 4 del día 2 (arquitectura, tools, RAG,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 adelanto para generar expectativa sobre el día 3, que sube un nivel desde L200 hacia L300: observabilidad, protocolos y multiagente, arquitectura empresarial y seguridad, con menos foco en construir desde cero y más en operar y gobernar lo que ya se construyó hoy; el día termina con un workshop aplicado más largo. Sugerido: mencionar que mañana a las 09:00 retoman el mismo proyecto del laboratorio para diagnosticar una traza en el módulo de Observabilidad, y que varias de las preguntas abiertas de hoy sobre seguridad y multiagente también se retoman con más profundidad, para que quienes tengan dudas pendientes sepan que no se pierden, solo se postergan. Fuente: contexto del taller (estructura de tres días, nivel L100, L200 y L300).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enlaces son todos públicos y quedan como referencia para seguir profundizando después del taller, sin depender de material interno de Microsoft. Sugerido: leer en voz alta solo dos o tres destacados (Agent Framework overview y el repo de samples) y dejar el resto para que cada quien explore según su interés. Recordar que el material editable del taller (slides, starter code y checklist) se comparte aparte, por canal interno del programa, y no está en esta lista pública. Fuente: docs-oficiales (rutas citadas en cada lámina del día), repos/publico-workshops/foundry-hosted-agents-workshop.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día 2. Agradecer la energía del grupo durante un día técnico largo y recordarles que el laboratorio de hoy es la base directa para las discusiones de seguridad y gobernanza del día 3. Sugerido: dejar un canal abierto (chat de Teams o correo del equipo de Microsoft) para preguntas que surjan al revisar el material por su cuenta antes de mañana. Confirmar horario y modalidad del día 3 (09:00 a 13:00, mismo formato híbrido Microsoft Chile y Teams) y despedirse agradeciendo la participación activa durante el laboratorio pro-code. Fuente: contexto del taller (agenda general de los tres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github.com/microsoft-foundry/foundry-samples"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learn.microsoft.com/en-us/agent-framework/overview/" TargetMode="External"/><Relationship Id="rId2" Type="http://schemas.openxmlformats.org/officeDocument/2006/relationships/hyperlink" Target="https://learn.microsoft.com/en-us/azure/foundry/agents/concepts/hosted-agents" TargetMode="External"/><Relationship Id="rId3" Type="http://schemas.openxmlformats.org/officeDocument/2006/relationships/hyperlink" Target="https://learn.microsoft.com/en-us/azure/foundry/agents/how-to/tools/model-context-protocol" TargetMode="External"/><Relationship Id="rId4" Type="http://schemas.openxmlformats.org/officeDocument/2006/relationships/hyperlink" Target="https://learn.microsoft.com/en-us/azure/search/hybrid-search-overview" TargetMode="External"/><Relationship Id="rId5" Type="http://schemas.openxmlformats.org/officeDocument/2006/relationships/hyperlink" Target="https://learn.microsoft.com/en-us/azure/foundry/agents/concepts/what-is-foundry-iq" TargetMode="External"/><Relationship Id="rId6" Type="http://schemas.openxmlformats.org/officeDocument/2006/relationships/hyperlink" Target="https://learn.microsoft.com/en-us/azure/foundry/observability/concepts/trace-agent-concept" TargetMode="External"/><Relationship Id="rId7" Type="http://schemas.openxmlformats.org/officeDocument/2006/relationships/hyperlink" Target="https://learn.microsoft.com/en-us/azure/foundry/concepts/evaluation-overview" TargetMode="External"/><Relationship Id="rId8" Type="http://schemas.openxmlformats.org/officeDocument/2006/relationships/hyperlink" Target="https://github.com/microsoft-foundry/foundry-samples" TargetMode="External"/><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Shape 2"/>
          <p:cNvSpPr/>
          <p:nvPr/>
        </p:nvSpPr>
        <p:spPr>
          <a:xfrm>
            <a:off x="548640" y="914400"/>
            <a:ext cx="1737360" cy="420624"/>
          </a:xfrm>
          <a:prstGeom prst="roundRect">
            <a:avLst>
              <a:gd name="adj" fmla="val 21739"/>
            </a:avLst>
          </a:prstGeom>
          <a:solidFill>
            <a:srgbClr val="2F6FED"/>
          </a:solidFill>
          <a:ln/>
        </p:spPr>
      </p:sp>
      <p:sp>
        <p:nvSpPr>
          <p:cNvPr id="5" name="Text 3"/>
          <p:cNvSpPr/>
          <p:nvPr/>
        </p:nvSpPr>
        <p:spPr>
          <a:xfrm>
            <a:off x="548640" y="914400"/>
            <a:ext cx="173736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DÍA 2 · L200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indent="0" marL="0">
              <a:buNone/>
            </a:pPr>
            <a:r>
              <a:rPr lang="en-US" sz="4600" b="1" dirty="0">
                <a:solidFill>
                  <a:srgbClr val="FFFFFF"/>
                </a:solidFill>
                <a:latin typeface="Segoe UI Semibold" pitchFamily="34" charset="0"/>
                <a:ea typeface="Segoe UI Semibold" pitchFamily="34" charset="-122"/>
                <a:cs typeface="Segoe UI Semibold" pitchFamily="34" charset="-120"/>
              </a:rPr>
              <a:t>Agentes y RAG con Microsoft Foundry y Azure AI Search (L200)</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indent="0" marL="0">
              <a:buNone/>
            </a:pPr>
            <a:r>
              <a:rPr lang="en-US" sz="2200" dirty="0">
                <a:solidFill>
                  <a:srgbClr val="C9D7E4"/>
                </a:solidFill>
                <a:latin typeface="Segoe UI" pitchFamily="34" charset="0"/>
                <a:ea typeface="Segoe UI" pitchFamily="34" charset="-122"/>
                <a:cs typeface="Segoe UI" pitchFamily="34" charset="-120"/>
              </a:rPr>
              <a:t>Día 2 · Taller técnico: arquitectura, tools, MCP y RAG para agentes empresariales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indent="0" marL="0">
              <a:buNone/>
            </a:pPr>
            <a:r>
              <a:rPr lang="en-US" sz="1400" dirty="0">
                <a:solidFill>
                  <a:srgbClr val="F5B83D"/>
                </a:solidFill>
                <a:latin typeface="Segoe UI" pitchFamily="34" charset="0"/>
                <a:ea typeface="Segoe UI" pitchFamily="34" charset="-122"/>
                <a:cs typeface="Segoe UI" pitchFamily="34" charset="-120"/>
              </a:rPr>
              <a:t>Jueves 22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indent="0" marL="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sx="100000" sy="100000" kx="0" ky="0" algn="bl" rotWithShape="0" blurRad="76200" dist="25400" dir="5400000">
              <a:srgbClr val="000000">
                <a:alpha val="12000"/>
              </a:srgbClr>
            </a:outerShdw>
          </a:effectLst>
        </p:spPr>
      </p:sp>
      <p:pic>
        <p:nvPicPr>
          <p:cNvPr id="11" name="Image 0" descr="C:\Users\valentinag\microsoft\copilot-worktrees\bci_workshop\valegrajales-shiny-parakeet\presentaciones\_build\assets\logo_bci.png">    </p:cNvPr>
          <p:cNvPicPr>
            <a:picLocks noChangeAspect="1"/>
          </p:cNvPicPr>
          <p:nvPr/>
        </p:nvPicPr>
        <p:blipFill>
          <a:blip r:embed="rId1"/>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Agenda del día 2</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2F6FED"/>
          </a:solidFill>
          <a:ln/>
        </p:spPr>
      </p:sp>
      <p:sp>
        <p:nvSpPr>
          <p:cNvPr id="7" name="Text 5"/>
          <p:cNvSpPr/>
          <p:nvPr/>
        </p:nvSpPr>
        <p:spPr>
          <a:xfrm>
            <a:off x="548640" y="1591056"/>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09:00–09:40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Arquitectura y runtime</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Foundry agents, Agent Framework, hosting</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sp>
      <p:sp>
        <p:nvSpPr>
          <p:cNvPr id="11" name="Text 9"/>
          <p:cNvSpPr/>
          <p:nvPr/>
        </p:nvSpPr>
        <p:spPr>
          <a:xfrm>
            <a:off x="548640" y="2157984"/>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09:40–10:20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Tools e integración</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Function calling, contratos, MCP</a:t>
            </a:r>
            <a:endParaRPr lang="en-US" sz="1300" dirty="0"/>
          </a:p>
        </p:txBody>
      </p:sp>
      <p:sp>
        <p:nvSpPr>
          <p:cNvPr id="14" name="Shape 12"/>
          <p:cNvSpPr/>
          <p:nvPr/>
        </p:nvSpPr>
        <p:spPr>
          <a:xfrm>
            <a:off x="548640" y="2724912"/>
            <a:ext cx="1737360" cy="438912"/>
          </a:xfrm>
          <a:prstGeom prst="roundRect">
            <a:avLst>
              <a:gd name="adj" fmla="val 16667"/>
            </a:avLst>
          </a:prstGeom>
          <a:solidFill>
            <a:srgbClr val="2F6FED"/>
          </a:solidFill>
          <a:ln/>
        </p:spPr>
      </p:sp>
      <p:sp>
        <p:nvSpPr>
          <p:cNvPr id="15" name="Text 13"/>
          <p:cNvSpPr/>
          <p:nvPr/>
        </p:nvSpPr>
        <p:spPr>
          <a:xfrm>
            <a:off x="548640" y="2724912"/>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10:20–11:05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RAG y Azure AI Search</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Patrones RAG, indexación, retrieval híbrido</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sp>
      <p:sp>
        <p:nvSpPr>
          <p:cNvPr id="19" name="Text 17"/>
          <p:cNvSpPr/>
          <p:nvPr/>
        </p:nvSpPr>
        <p:spPr>
          <a:xfrm>
            <a:off x="548640" y="3291840"/>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11:05–11:15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Café y networking</a:t>
            </a:r>
            <a:endParaRPr lang="en-US" sz="1300" dirty="0"/>
          </a:p>
        </p:txBody>
      </p:sp>
      <p:sp>
        <p:nvSpPr>
          <p:cNvPr id="22" name="Shape 20"/>
          <p:cNvSpPr/>
          <p:nvPr/>
        </p:nvSpPr>
        <p:spPr>
          <a:xfrm>
            <a:off x="548640" y="3858768"/>
            <a:ext cx="1737360" cy="438912"/>
          </a:xfrm>
          <a:prstGeom prst="roundRect">
            <a:avLst>
              <a:gd name="adj" fmla="val 16667"/>
            </a:avLst>
          </a:prstGeom>
          <a:solidFill>
            <a:srgbClr val="2F6FED"/>
          </a:solidFill>
          <a:ln/>
        </p:spPr>
      </p:sp>
      <p:sp>
        <p:nvSpPr>
          <p:cNvPr id="23" name="Text 21"/>
          <p:cNvSpPr/>
          <p:nvPr/>
        </p:nvSpPr>
        <p:spPr>
          <a:xfrm>
            <a:off x="548640" y="3858768"/>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11:15–12:30</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Laboratorio pro-code</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Agente con grounding y herramienta propia</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sp>
      <p:sp>
        <p:nvSpPr>
          <p:cNvPr id="27" name="Text 25"/>
          <p:cNvSpPr/>
          <p:nvPr/>
        </p:nvSpPr>
        <p:spPr>
          <a:xfrm>
            <a:off x="548640" y="4425696"/>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12:30–13:00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Preguntas y cierre</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Checklist de preparación y adelanto del día 3</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 los fundamentos a construir agentes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Repaso: Día 1 (L100)</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Foundry: catálogo de modelos, deployments y SDK</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Servicios de IA: Language, Vision, Document Intelligence</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Primer agente con tools básicas y RAG introductorio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Evaluación y Content Safety como hábito desde el inicio</a:t>
            </a:r>
            <a:endParaRPr lang="en-US" sz="17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Objetivos: Día 2 (L200)</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Diseñar la arquitectura de un agente empresarial en Foundry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Conectar tools confiables, MCP y Azure AI Search</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Construir un patrón RAG con criterios de calidad y seguridad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Instrumentar el agente y dejarlo listo para producción</a:t>
            </a:r>
            <a:endParaRPr lang="en-US" sz="17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Hoy pasamos de un agente que responde a un agente que se puede operar, auditar y escalar.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Arquitectura y runtime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Agentes en Foundry, Microsoft Agent Framework y opciones de hosting</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40 min · Pablo</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100" b="1" dirty="0">
                <a:solidFill>
                  <a:srgbClr val="0B1F33"/>
                </a:solidFill>
                <a:latin typeface="Segoe UI Semibold" pitchFamily="34" charset="0"/>
                <a:ea typeface="Segoe UI Semibold" pitchFamily="34" charset="-122"/>
                <a:cs typeface="Segoe UI Semibold" pitchFamily="34" charset="-120"/>
              </a:rPr>
              <a:t>Tres formas de construir un agente en Foundry</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Prompt-based: instrucciones y tools declarativas en el portal, ideal para iterar rápido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Voice-based: prompt agent optimizado para conversación hablada en tiempo real</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Hosted: tu propio código en contenedor, con cualquier framework o código propio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Foundry asigna identidad Entra y endpoint dedicado a cada agente automáticamente</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La elección depende de cuánto control de runtime y cómputo necesita tu caso de uso</a:t>
            </a:r>
            <a:endParaRPr lang="en-US" sz="2000" dirty="0"/>
          </a:p>
        </p:txBody>
      </p:sp>
      <p:sp>
        <p:nvSpPr>
          <p:cNvPr id="9" name="Shape 7"/>
          <p:cNvSpPr/>
          <p:nvPr/>
        </p:nvSpPr>
        <p:spPr>
          <a:xfrm>
            <a:off x="7863840" y="1508760"/>
            <a:ext cx="3779215" cy="4754880"/>
          </a:xfrm>
          <a:prstGeom prst="rect">
            <a:avLst/>
          </a:prstGeom>
          <a:solidFill>
            <a:srgbClr val="0B1F33"/>
          </a:solidFill>
          <a:ln/>
        </p:spPr>
      </p:sp>
      <p:sp>
        <p:nvSpPr>
          <p:cNvPr id="10" name="Text 8"/>
          <p:cNvSpPr/>
          <p:nvPr/>
        </p:nvSpPr>
        <p:spPr>
          <a:xfrm>
            <a:off x="8183880" y="1828800"/>
            <a:ext cx="3139135" cy="320040"/>
          </a:xfrm>
          <a:prstGeom prst="rect">
            <a:avLst/>
          </a:prstGeom>
          <a:noFill/>
          <a:ln/>
        </p:spPr>
        <p:txBody>
          <a:bodyPr wrap="square" lIns="0" tIns="0" rIns="0" bIns="0" rtlCol="0" anchor="ctr"/>
          <a:lstStyle/>
          <a:p>
            <a:pPr indent="0" marL="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indent="0" marL="0">
              <a:buNone/>
            </a:pPr>
            <a:r>
              <a:rPr lang="en-US" sz="2200" dirty="0">
                <a:solidFill>
                  <a:srgbClr val="FFFFFF"/>
                </a:solidFill>
                <a:latin typeface="Segoe UI" pitchFamily="34" charset="0"/>
                <a:ea typeface="Segoe UI" pitchFamily="34" charset="-122"/>
                <a:cs typeface="Segoe UI" pitchFamily="34" charset="-120"/>
              </a:rPr>
              <a:t>Para equipos pro-code que ya usan Agent Framework, el hosted agent es el camino natural a producción.</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se arma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sp>
      <p:sp>
        <p:nvSpPr>
          <p:cNvPr id="7" name="Text 5"/>
          <p:cNvSpPr/>
          <p:nvPr/>
        </p:nvSpPr>
        <p:spPr>
          <a:xfrm>
            <a:off x="777240" y="150876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Endpoint y protocolo</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4114800" y="150876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Responses, Invocations, Invocations WebSocket o Activity, autenticado con Microsoft Entra ID</a:t>
            </a:r>
            <a:endParaRPr lang="en-US" sz="1700" dirty="0"/>
          </a:p>
        </p:txBody>
      </p:sp>
      <p:sp>
        <p:nvSpPr>
          <p:cNvPr id="10" name="Shape 8"/>
          <p:cNvSpPr/>
          <p:nvPr/>
        </p:nvSpPr>
        <p:spPr>
          <a:xfrm>
            <a:off x="548640" y="2488997"/>
            <a:ext cx="3291840" cy="833933"/>
          </a:xfrm>
          <a:prstGeom prst="rect">
            <a:avLst/>
          </a:prstGeom>
          <a:solidFill>
            <a:srgbClr val="143362"/>
          </a:solidFill>
          <a:ln/>
        </p:spPr>
      </p:sp>
      <p:sp>
        <p:nvSpPr>
          <p:cNvPr id="11" name="Text 9"/>
          <p:cNvSpPr/>
          <p:nvPr/>
        </p:nvSpPr>
        <p:spPr>
          <a:xfrm>
            <a:off x="777240" y="248899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Identidad del agente</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4114800" y="248899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Entra ID dedicado por agente, creado automáticamente al desplegar</a:t>
            </a:r>
            <a:endParaRPr lang="en-US" sz="1700" dirty="0"/>
          </a:p>
        </p:txBody>
      </p:sp>
      <p:sp>
        <p:nvSpPr>
          <p:cNvPr id="14" name="Shape 12"/>
          <p:cNvSpPr/>
          <p:nvPr/>
        </p:nvSpPr>
        <p:spPr>
          <a:xfrm>
            <a:off x="548640" y="3469234"/>
            <a:ext cx="3291840" cy="833933"/>
          </a:xfrm>
          <a:prstGeom prst="rect">
            <a:avLst/>
          </a:prstGeom>
          <a:solidFill>
            <a:srgbClr val="1D4790"/>
          </a:solidFill>
          <a:ln/>
        </p:spPr>
      </p:sp>
      <p:sp>
        <p:nvSpPr>
          <p:cNvPr id="15" name="Text 13"/>
          <p:cNvSpPr/>
          <p:nvPr/>
        </p:nvSpPr>
        <p:spPr>
          <a:xfrm>
            <a:off x="777240" y="3469234"/>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Sandbox por sesión</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Text 15"/>
          <p:cNvSpPr/>
          <p:nvPr/>
        </p:nvSpPr>
        <p:spPr>
          <a:xfrm>
            <a:off x="4114800" y="3469234"/>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VM aislada con sistema de archivos persistente, scale-to-zero con reanudación de estado</a:t>
            </a:r>
            <a:endParaRPr lang="en-US" sz="1700" dirty="0"/>
          </a:p>
        </p:txBody>
      </p:sp>
      <p:sp>
        <p:nvSpPr>
          <p:cNvPr id="18" name="Shape 16"/>
          <p:cNvSpPr/>
          <p:nvPr/>
        </p:nvSpPr>
        <p:spPr>
          <a:xfrm>
            <a:off x="548640" y="4449470"/>
            <a:ext cx="3291840" cy="833933"/>
          </a:xfrm>
          <a:prstGeom prst="rect">
            <a:avLst/>
          </a:prstGeom>
          <a:solidFill>
            <a:srgbClr val="265BBF"/>
          </a:solidFill>
          <a:ln/>
        </p:spPr>
      </p:sp>
      <p:sp>
        <p:nvSpPr>
          <p:cNvPr id="19" name="Text 17"/>
          <p:cNvSpPr/>
          <p:nvPr/>
        </p:nvSpPr>
        <p:spPr>
          <a:xfrm>
            <a:off x="777240" y="444947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Tu código</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1" name="Text 19"/>
          <p:cNvSpPr/>
          <p:nvPr/>
        </p:nvSpPr>
        <p:spPr>
          <a:xfrm>
            <a:off x="4114800" y="444947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Orquestación, framework elegido y lógica de negocio dentro del contenedor</a:t>
            </a:r>
            <a:endParaRPr lang="en-US" sz="1700" dirty="0"/>
          </a:p>
        </p:txBody>
      </p:sp>
      <p:sp>
        <p:nvSpPr>
          <p:cNvPr id="22" name="Shape 20"/>
          <p:cNvSpPr/>
          <p:nvPr/>
        </p:nvSpPr>
        <p:spPr>
          <a:xfrm>
            <a:off x="548640" y="5429707"/>
            <a:ext cx="3291840" cy="833933"/>
          </a:xfrm>
          <a:prstGeom prst="rect">
            <a:avLst/>
          </a:prstGeom>
          <a:solidFill>
            <a:srgbClr val="2F6FED"/>
          </a:solidFill>
          <a:ln/>
        </p:spPr>
      </p:sp>
      <p:sp>
        <p:nvSpPr>
          <p:cNvPr id="23" name="Text 21"/>
          <p:cNvSpPr/>
          <p:nvPr/>
        </p:nvSpPr>
        <p:spPr>
          <a:xfrm>
            <a:off x="777240" y="542970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Modelos, Toolbox y servicios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Text 23"/>
          <p:cNvSpPr/>
          <p:nvPr/>
        </p:nvSpPr>
        <p:spPr>
          <a:xfrm>
            <a:off x="4114800" y="542970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El sandbox llama a modelos de Foundry, al endpoint de Toolbox y a tus servicios de Azure</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Prompt-based agent vs.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Prompt-based agent</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Se configura en el portal con instrucciones y tools declarativas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Foundry controla el runtime completo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Rápido de iterar, menos control de cómputo y protocolo</a:t>
            </a:r>
            <a:endParaRPr lang="en-US" sz="21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Hosted 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Es tu código en contenedor, con el framework que elijas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Controlas cómputo, memoria y protocolos expuestos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Soporta cargas con estado y trabajo de larga duración</a:t>
            </a:r>
            <a:endParaRPr lang="en-US" sz="21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Usa hosted cuando necesites tu framework, protocolos custom o cómputo controlado; prompt-based para iterar rápido.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Elige el protocolo correcto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2F6FED"/>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Responses</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2F6FED"/>
          </a:solidFill>
          <a:ln/>
        </p:spPr>
      </p:sp>
      <p:sp>
        <p:nvSpPr>
          <p:cNvPr id="12" name="Text 10"/>
          <p:cNvSpPr/>
          <p:nvPr/>
        </p:nvSpPr>
        <p:spPr>
          <a:xfrm>
            <a:off x="777240"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Conversación, RAG o tools; Foundry administra historial y streaming</a:t>
            </a:r>
            <a:endParaRPr lang="en-US" sz="1900" dirty="0"/>
          </a:p>
        </p:txBody>
      </p:sp>
      <p:sp>
        <p:nvSpPr>
          <p:cNvPr id="13" name="Shape 11"/>
          <p:cNvSpPr/>
          <p:nvPr/>
        </p:nvSpPr>
        <p:spPr>
          <a:xfrm>
            <a:off x="3322244" y="1965960"/>
            <a:ext cx="731520" cy="731520"/>
          </a:xfrm>
          <a:prstGeom prst="ellipse">
            <a:avLst/>
          </a:prstGeom>
          <a:solidFill>
            <a:srgbClr val="0B1F33"/>
          </a:solidFill>
          <a:ln/>
        </p:spPr>
      </p:sp>
      <p:sp>
        <p:nvSpPr>
          <p:cNvPr id="14" name="Text 12"/>
          <p:cNvSpPr/>
          <p:nvPr/>
        </p:nvSpPr>
        <p:spPr>
          <a:xfrm>
            <a:off x="3322244"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Invocations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3322244" y="3657600"/>
            <a:ext cx="82296" cy="2514600"/>
          </a:xfrm>
          <a:prstGeom prst="rect">
            <a:avLst/>
          </a:prstGeom>
          <a:solidFill>
            <a:srgbClr val="0B1F33"/>
          </a:solidFill>
          <a:ln/>
        </p:spPr>
      </p:sp>
      <p:sp>
        <p:nvSpPr>
          <p:cNvPr id="18" name="Text 16"/>
          <p:cNvSpPr/>
          <p:nvPr/>
        </p:nvSpPr>
        <p:spPr>
          <a:xfrm>
            <a:off x="3550844"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Webhooks o payloads propios: JSON arbitrario de entrada y salida</a:t>
            </a:r>
            <a:endParaRPr lang="en-US" sz="1900" dirty="0"/>
          </a:p>
        </p:txBody>
      </p:sp>
      <p:sp>
        <p:nvSpPr>
          <p:cNvPr id="19" name="Shape 17"/>
          <p:cNvSpPr/>
          <p:nvPr/>
        </p:nvSpPr>
        <p:spPr>
          <a:xfrm>
            <a:off x="6095848" y="1965960"/>
            <a:ext cx="731520" cy="731520"/>
          </a:xfrm>
          <a:prstGeom prst="ellipse">
            <a:avLst/>
          </a:prstGeom>
          <a:solidFill>
            <a:srgbClr val="2F6FED"/>
          </a:solidFill>
          <a:ln/>
        </p:spPr>
      </p:sp>
      <p:sp>
        <p:nvSpPr>
          <p:cNvPr id="20" name="Text 18"/>
          <p:cNvSpPr/>
          <p:nvPr/>
        </p:nvSpPr>
        <p:spPr>
          <a:xfrm>
            <a:off x="609584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Invocations WebSocket</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6095848" y="3657600"/>
            <a:ext cx="82296" cy="2514600"/>
          </a:xfrm>
          <a:prstGeom prst="rect">
            <a:avLst/>
          </a:prstGeom>
          <a:solidFill>
            <a:srgbClr val="2F6FED"/>
          </a:solidFill>
          <a:ln/>
        </p:spPr>
      </p:sp>
      <p:sp>
        <p:nvSpPr>
          <p:cNvPr id="24" name="Text 22"/>
          <p:cNvSpPr/>
          <p:nvPr/>
        </p:nvSpPr>
        <p:spPr>
          <a:xfrm>
            <a:off x="6324448"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Voz en tiempo real con streaming bidireccional</a:t>
            </a:r>
            <a:endParaRPr lang="en-US" sz="1900" dirty="0"/>
          </a:p>
        </p:txBody>
      </p:sp>
      <p:sp>
        <p:nvSpPr>
          <p:cNvPr id="25" name="Shape 23"/>
          <p:cNvSpPr/>
          <p:nvPr/>
        </p:nvSpPr>
        <p:spPr>
          <a:xfrm>
            <a:off x="8869451" y="1965960"/>
            <a:ext cx="731520" cy="731520"/>
          </a:xfrm>
          <a:prstGeom prst="ellipse">
            <a:avLst/>
          </a:prstGeom>
          <a:solidFill>
            <a:srgbClr val="0B1F33"/>
          </a:solidFill>
          <a:ln/>
        </p:spPr>
      </p:sp>
      <p:sp>
        <p:nvSpPr>
          <p:cNvPr id="26" name="Text 24"/>
          <p:cNvSpPr/>
          <p:nvPr/>
        </p:nvSpPr>
        <p:spPr>
          <a:xfrm>
            <a:off x="8869451"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Activity / A2A</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8869451" y="3657600"/>
            <a:ext cx="82296" cy="2514600"/>
          </a:xfrm>
          <a:prstGeom prst="rect">
            <a:avLst/>
          </a:prstGeom>
          <a:solidFill>
            <a:srgbClr val="0B1F33"/>
          </a:solidFill>
          <a:ln/>
        </p:spPr>
      </p:sp>
      <p:sp>
        <p:nvSpPr>
          <p:cNvPr id="30" name="Text 28"/>
          <p:cNvSpPr/>
          <p:nvPr/>
        </p:nvSpPr>
        <p:spPr>
          <a:xfrm>
            <a:off x="9098051"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Publicación en Teams/M365 (bridge automático) o delegación entre agentes</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Microsoft Agent Framework en una vista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2F6FED"/>
          </a:solidFill>
          <a:ln/>
        </p:spPr>
      </p:sp>
      <p:sp>
        <p:nvSpPr>
          <p:cNvPr id="8" name="Text 6"/>
          <p:cNvSpPr/>
          <p:nvPr/>
        </p:nvSpPr>
        <p:spPr>
          <a:xfrm>
            <a:off x="868680" y="1965960"/>
            <a:ext cx="2019224" cy="1463040"/>
          </a:xfrm>
          <a:prstGeom prst="rect">
            <a:avLst/>
          </a:prstGeom>
          <a:noFill/>
          <a:ln/>
        </p:spPr>
        <p:txBody>
          <a:bodyPr wrap="square" lIns="0" tIns="0" rIns="0" bIns="0" rtlCol="0" anchor="ctr"/>
          <a:lstStyle/>
          <a:p>
            <a:pPr indent="0" marL="0">
              <a:buNone/>
            </a:pPr>
            <a:r>
              <a:rPr lang="en-US" sz="4700" b="1" dirty="0">
                <a:solidFill>
                  <a:srgbClr val="2F6FED"/>
                </a:solidFill>
                <a:latin typeface="Segoe UI Semibold" pitchFamily="34" charset="0"/>
                <a:ea typeface="Segoe UI Semibold" pitchFamily="34" charset="-122"/>
                <a:cs typeface="Segoe UI Semibold" pitchFamily="34" charset="-120"/>
              </a:rPr>
              <a:t>Agents</a:t>
            </a:r>
            <a:endParaRPr lang="en-US" sz="47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LLM + instrucciones + tools + MCP, con sesión y middleware</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3390824" y="1508760"/>
            <a:ext cx="82296" cy="4023360"/>
          </a:xfrm>
          <a:prstGeom prst="rect">
            <a:avLst/>
          </a:prstGeom>
          <a:solidFill>
            <a:srgbClr val="0B1F33"/>
          </a:solidFill>
          <a:ln/>
        </p:spPr>
      </p:sp>
      <p:sp>
        <p:nvSpPr>
          <p:cNvPr id="12" name="Text 10"/>
          <p:cNvSpPr/>
          <p:nvPr/>
        </p:nvSpPr>
        <p:spPr>
          <a:xfrm>
            <a:off x="3710864" y="1965960"/>
            <a:ext cx="2019224" cy="1463040"/>
          </a:xfrm>
          <a:prstGeom prst="rect">
            <a:avLst/>
          </a:prstGeom>
          <a:noFill/>
          <a:ln/>
        </p:spPr>
        <p:txBody>
          <a:bodyPr wrap="square" lIns="0" tIns="0" rIns="0" bIns="0" rtlCol="0" anchor="ctr"/>
          <a:lstStyle/>
          <a:p>
            <a:pPr indent="0" marL="0">
              <a:buNone/>
            </a:pPr>
            <a:r>
              <a:rPr lang="en-US" sz="4000" b="1" dirty="0">
                <a:solidFill>
                  <a:srgbClr val="0B1F33"/>
                </a:solidFill>
                <a:latin typeface="Segoe UI Semibold" pitchFamily="34" charset="0"/>
                <a:ea typeface="Segoe UI Semibold" pitchFamily="34" charset="-122"/>
                <a:cs typeface="Segoe UI Semibold" pitchFamily="34" charset="-120"/>
              </a:rPr>
              <a:t>Harness</a:t>
            </a:r>
            <a:endParaRPr lang="en-US" sz="40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Agente con planificación y aprobación de tools incorporadas</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6233008" y="1508760"/>
            <a:ext cx="82296" cy="4023360"/>
          </a:xfrm>
          <a:prstGeom prst="rect">
            <a:avLst/>
          </a:prstGeom>
          <a:solidFill>
            <a:srgbClr val="2F6FED"/>
          </a:solidFill>
          <a:ln/>
        </p:spPr>
      </p:sp>
      <p:sp>
        <p:nvSpPr>
          <p:cNvPr id="16" name="Text 14"/>
          <p:cNvSpPr/>
          <p:nvPr/>
        </p:nvSpPr>
        <p:spPr>
          <a:xfrm>
            <a:off x="6553048" y="1965960"/>
            <a:ext cx="2019224" cy="1463040"/>
          </a:xfrm>
          <a:prstGeom prst="rect">
            <a:avLst/>
          </a:prstGeom>
          <a:noFill/>
          <a:ln/>
        </p:spPr>
        <p:txBody>
          <a:bodyPr wrap="square" lIns="0" tIns="0" rIns="0" bIns="0" rtlCol="0" anchor="ctr"/>
          <a:lstStyle/>
          <a:p>
            <a:pPr indent="0" marL="0">
              <a:buNone/>
            </a:pPr>
            <a:r>
              <a:rPr lang="en-US" sz="3100" b="1" dirty="0">
                <a:solidFill>
                  <a:srgbClr val="2F6FED"/>
                </a:solidFill>
                <a:latin typeface="Segoe UI Semibold" pitchFamily="34" charset="0"/>
                <a:ea typeface="Segoe UI Semibold" pitchFamily="34" charset="-122"/>
                <a:cs typeface="Segoe UI Semibold" pitchFamily="34" charset="-120"/>
              </a:rPr>
              <a:t>Workflows</a:t>
            </a:r>
            <a:endParaRPr lang="en-US" sz="31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Grafos explícitos para coordinar agentes y funciones</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9075191" y="1508760"/>
            <a:ext cx="82296" cy="4023360"/>
          </a:xfrm>
          <a:prstGeom prst="rect">
            <a:avLst/>
          </a:prstGeom>
          <a:solidFill>
            <a:srgbClr val="0B1F33"/>
          </a:solidFill>
          <a:ln/>
        </p:spPr>
      </p:sp>
      <p:sp>
        <p:nvSpPr>
          <p:cNvPr id="20" name="Text 18"/>
          <p:cNvSpPr/>
          <p:nvPr/>
        </p:nvSpPr>
        <p:spPr>
          <a:xfrm>
            <a:off x="9395231" y="1965960"/>
            <a:ext cx="2019224" cy="1463040"/>
          </a:xfrm>
          <a:prstGeom prst="rect">
            <a:avLst/>
          </a:prstGeom>
          <a:noFill/>
          <a:ln/>
        </p:spPr>
        <p:txBody>
          <a:bodyPr wrap="square" lIns="0" tIns="0" rIns="0" bIns="0" rtlCol="0" anchor="ctr"/>
          <a:lstStyle/>
          <a:p>
            <a:pPr indent="0" marL="0">
              <a:buNone/>
            </a:pPr>
            <a:r>
              <a:rPr lang="en-US" sz="4000" b="1" dirty="0">
                <a:solidFill>
                  <a:srgbClr val="0B1F33"/>
                </a:solidFill>
                <a:latin typeface="Segoe UI Semibold" pitchFamily="34" charset="0"/>
                <a:ea typeface="Segoe UI Semibold" pitchFamily="34" charset="-122"/>
                <a:cs typeface="Segoe UI Semibold" pitchFamily="34" charset="-120"/>
              </a:rPr>
              <a:t>Hosting</a:t>
            </a:r>
            <a:endParaRPr lang="en-US" sz="40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El mismo código corre local o como hosted agent en Foundry</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indent="0" marL="0">
              <a:buNone/>
            </a:pPr>
            <a:r>
              <a:rPr lang="en-US" sz="1300" i="1" dirty="0">
                <a:solidFill>
                  <a:srgbClr val="5B6B7B"/>
                </a:solidFill>
                <a:latin typeface="Segoe UI" pitchFamily="34" charset="0"/>
                <a:ea typeface="Segoe UI" pitchFamily="34" charset="-122"/>
                <a:cs typeface="Segoe UI" pitchFamily="34" charset="-120"/>
              </a:rPr>
              <a:t>Sucesor directo de AutoGen y Semantic Kernel: agentes simples con estado, tipos y telemetría de nivel empresarial.</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Demo: un agente hosted con una tool propia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sp>
      <p:sp>
        <p:nvSpPr>
          <p:cNvPr id="7" name="Shape 5"/>
          <p:cNvSpPr/>
          <p:nvPr/>
        </p:nvSpPr>
        <p:spPr>
          <a:xfrm>
            <a:off x="868680" y="1828800"/>
            <a:ext cx="1097280" cy="365760"/>
          </a:xfrm>
          <a:prstGeom prst="roundRect">
            <a:avLst>
              <a:gd name="adj" fmla="val 20000"/>
            </a:avLst>
          </a:prstGeom>
          <a:solidFill>
            <a:srgbClr val="F5B83D"/>
          </a:solidFill>
          <a:ln/>
        </p:spPr>
      </p:sp>
      <p:sp>
        <p:nvSpPr>
          <p:cNvPr id="8" name="Text 6"/>
          <p:cNvSpPr/>
          <p:nvPr/>
        </p:nvSpPr>
        <p:spPr>
          <a:xfrm>
            <a:off x="868680" y="1828800"/>
            <a:ext cx="1097280" cy="365760"/>
          </a:xfrm>
          <a:prstGeom prst="rect">
            <a:avLst/>
          </a:prstGeom>
          <a:noFill/>
          <a:ln/>
        </p:spPr>
        <p:txBody>
          <a:bodyPr wrap="square" lIns="0" tIns="0" rIns="0" bIns="0" rtlCol="0" anchor="ctr"/>
          <a:lstStyle/>
          <a:p>
            <a:pPr algn="ctr" indent="0" marL="0">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indent="0" marL="0">
              <a:buNone/>
            </a:pPr>
            <a:r>
              <a:rPr lang="en-US" sz="2000" dirty="0">
                <a:solidFill>
                  <a:srgbClr val="FFFFFF"/>
                </a:solidFill>
                <a:latin typeface="Segoe UI" pitchFamily="34" charset="0"/>
                <a:ea typeface="Segoe UI" pitchFamily="34" charset="-122"/>
                <a:cs typeface="Segoe UI" pitchFamily="34" charset="-120"/>
              </a:rPr>
              <a:t>Asistente interno de un banco que responde sobre política de gastos y llama una function tool para calcular el límite vigente</a:t>
            </a:r>
            <a:endParaRPr lang="en-US" sz="2000" dirty="0"/>
          </a:p>
        </p:txBody>
      </p:sp>
      <p:sp>
        <p:nvSpPr>
          <p:cNvPr id="10" name="Shape 8"/>
          <p:cNvSpPr/>
          <p:nvPr/>
        </p:nvSpPr>
        <p:spPr>
          <a:xfrm>
            <a:off x="5212080" y="1777365"/>
            <a:ext cx="457200" cy="457200"/>
          </a:xfrm>
          <a:prstGeom prst="ellipse">
            <a:avLst/>
          </a:prstGeom>
          <a:solidFill>
            <a:srgbClr val="2F6FED"/>
          </a:solidFill>
          <a:ln/>
        </p:spPr>
      </p:sp>
      <p:sp>
        <p:nvSpPr>
          <p:cNvPr id="11" name="Text 9"/>
          <p:cNvSpPr/>
          <p:nvPr/>
        </p:nvSpPr>
        <p:spPr>
          <a:xfrm>
            <a:off x="5212080" y="177736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Mostrar el agente de Agent Framework corriendo como hosted agent en Foundry</a:t>
            </a:r>
            <a:endParaRPr lang="en-US" sz="1800" dirty="0"/>
          </a:p>
        </p:txBody>
      </p:sp>
      <p:sp>
        <p:nvSpPr>
          <p:cNvPr id="13" name="Shape 11"/>
          <p:cNvSpPr/>
          <p:nvPr/>
        </p:nvSpPr>
        <p:spPr>
          <a:xfrm>
            <a:off x="5212080" y="2771775"/>
            <a:ext cx="457200" cy="457200"/>
          </a:xfrm>
          <a:prstGeom prst="ellipse">
            <a:avLst/>
          </a:prstGeom>
          <a:solidFill>
            <a:srgbClr val="2F6FED"/>
          </a:solidFill>
          <a:ln/>
        </p:spPr>
      </p:sp>
      <p:sp>
        <p:nvSpPr>
          <p:cNvPr id="14" name="Text 12"/>
          <p:cNvSpPr/>
          <p:nvPr/>
        </p:nvSpPr>
        <p:spPr>
          <a:xfrm>
            <a:off x="5212080" y="277177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El usuario pregunta por su límite de gastos de viaje</a:t>
            </a:r>
            <a:endParaRPr lang="en-US" sz="1800" dirty="0"/>
          </a:p>
        </p:txBody>
      </p:sp>
      <p:sp>
        <p:nvSpPr>
          <p:cNvPr id="16" name="Shape 14"/>
          <p:cNvSpPr/>
          <p:nvPr/>
        </p:nvSpPr>
        <p:spPr>
          <a:xfrm>
            <a:off x="5212080" y="3766185"/>
            <a:ext cx="457200" cy="457200"/>
          </a:xfrm>
          <a:prstGeom prst="ellipse">
            <a:avLst/>
          </a:prstGeom>
          <a:solidFill>
            <a:srgbClr val="2F6FED"/>
          </a:solidFill>
          <a:ln/>
        </p:spPr>
      </p:sp>
      <p:sp>
        <p:nvSpPr>
          <p:cNvPr id="17" name="Text 15"/>
          <p:cNvSpPr/>
          <p:nvPr/>
        </p:nvSpPr>
        <p:spPr>
          <a:xfrm>
            <a:off x="5212080" y="37661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El modelo decide llamar a la function tool 'consultar_limite_gastos'</a:t>
            </a:r>
            <a:endParaRPr lang="en-US" sz="1800" dirty="0"/>
          </a:p>
        </p:txBody>
      </p:sp>
      <p:sp>
        <p:nvSpPr>
          <p:cNvPr id="19" name="Shape 17"/>
          <p:cNvSpPr/>
          <p:nvPr/>
        </p:nvSpPr>
        <p:spPr>
          <a:xfrm>
            <a:off x="5212080" y="4760595"/>
            <a:ext cx="457200" cy="457200"/>
          </a:xfrm>
          <a:prstGeom prst="ellipse">
            <a:avLst/>
          </a:prstGeom>
          <a:solidFill>
            <a:srgbClr val="2F6FED"/>
          </a:solidFill>
          <a:ln/>
        </p:spPr>
      </p:sp>
      <p:sp>
        <p:nvSpPr>
          <p:cNvPr id="20" name="Text 18"/>
          <p:cNvSpPr/>
          <p:nvPr/>
        </p:nvSpPr>
        <p:spPr>
          <a:xfrm>
            <a:off x="5212080" y="476059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La tool devuelve el dato y el agente arma la respuesta final con la fuente</a:t>
            </a:r>
            <a:endParaRPr lang="en-US" sz="1800" dirty="0"/>
          </a:p>
        </p:txBody>
      </p:sp>
      <p:sp>
        <p:nvSpPr>
          <p:cNvPr id="22" name="Shape 20"/>
          <p:cNvSpPr/>
          <p:nvPr/>
        </p:nvSpPr>
        <p:spPr>
          <a:xfrm>
            <a:off x="548640" y="5623560"/>
            <a:ext cx="11094415" cy="640080"/>
          </a:xfrm>
          <a:prstGeom prst="rect">
            <a:avLst/>
          </a:prstGeom>
          <a:solidFill>
            <a:srgbClr val="F5B83D"/>
          </a:solidFill>
          <a:ln/>
        </p:spPr>
      </p:sp>
      <p:sp>
        <p:nvSpPr>
          <p:cNvPr id="23" name="Text 21"/>
          <p:cNvSpPr/>
          <p:nvPr/>
        </p:nvSpPr>
        <p:spPr>
          <a:xfrm>
            <a:off x="822960" y="5623560"/>
            <a:ext cx="10545775" cy="640080"/>
          </a:xfrm>
          <a:prstGeom prst="rect">
            <a:avLst/>
          </a:prstGeom>
          <a:noFill/>
          <a:ln/>
        </p:spPr>
        <p:txBody>
          <a:bodyPr wrap="square" lIns="0" tIns="0" rIns="0" bIns="0" rtlCol="0" anchor="ctr"/>
          <a:lstStyle/>
          <a:p>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modelo elige la tool correcta, ejecuta la función y responde con el dato correcto citando el origen</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Tools e integración</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Diseño confiable de tools, function calling y MCP</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40 min · Ambos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000" b="1" dirty="0">
                <a:solidFill>
                  <a:srgbClr val="0B1F33"/>
                </a:solidFill>
                <a:latin typeface="Segoe UI Semibold" pitchFamily="34" charset="0"/>
                <a:ea typeface="Segoe UI Semibold" pitchFamily="34" charset="-122"/>
                <a:cs typeface="Segoe UI Semibold" pitchFamily="34" charset="-120"/>
              </a:rPr>
              <a:t>Diseñar una tool que un modelo pueda usar bien</a:t>
            </a:r>
            <a:endParaRPr lang="en-US" sz="30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Describe claramente qué hace la tool y cuándo usarla en la instrucción del agente</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Define un esquema JSON estricto: nombre, parámetros y cuáles son obligatorios</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Usa tool_choice (auto, required, none) para controlar cuándo se invoca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Los runs expiran a los 10 minutos: para tareas largas devuelve un estado y sondea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Trata argumentos y resultados de la tool como entrada no confiable</a:t>
            </a:r>
            <a:endParaRPr lang="en-US" sz="2100" dirty="0"/>
          </a:p>
        </p:txBody>
      </p:sp>
      <p:sp>
        <p:nvSpPr>
          <p:cNvPr id="9" name="Shape 7"/>
          <p:cNvSpPr/>
          <p:nvPr/>
        </p:nvSpPr>
        <p:spPr>
          <a:xfrm>
            <a:off x="7863840" y="1508760"/>
            <a:ext cx="3779215" cy="4754880"/>
          </a:xfrm>
          <a:prstGeom prst="rect">
            <a:avLst/>
          </a:prstGeom>
          <a:solidFill>
            <a:srgbClr val="0B1F33"/>
          </a:solidFill>
          <a:ln/>
        </p:spPr>
      </p:sp>
      <p:sp>
        <p:nvSpPr>
          <p:cNvPr id="10" name="Text 8"/>
          <p:cNvSpPr/>
          <p:nvPr/>
        </p:nvSpPr>
        <p:spPr>
          <a:xfrm>
            <a:off x="8183880" y="1828800"/>
            <a:ext cx="3139135" cy="320040"/>
          </a:xfrm>
          <a:prstGeom prst="rect">
            <a:avLst/>
          </a:prstGeom>
          <a:noFill/>
          <a:ln/>
        </p:spPr>
        <p:txBody>
          <a:bodyPr wrap="square" lIns="0" tIns="0" rIns="0" bIns="0" rtlCol="0" anchor="ctr"/>
          <a:lstStyle/>
          <a:p>
            <a:pPr indent="0" marL="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indent="0" marL="0">
              <a:buNone/>
            </a:pPr>
            <a:r>
              <a:rPr lang="en-US" sz="2200" dirty="0">
                <a:solidFill>
                  <a:srgbClr val="FFFFFF"/>
                </a:solidFill>
                <a:latin typeface="Segoe UI" pitchFamily="34" charset="0"/>
                <a:ea typeface="Segoe UI" pitchFamily="34" charset="-122"/>
                <a:cs typeface="Segoe UI" pitchFamily="34" charset="-120"/>
              </a:rPr>
              <a:t>Una tool mal descrita es la causa más común de que el modelo no la llame o la use mal.</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Contratos de tools: 4 reglas no negociables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2F6FED"/>
          </a:solidFill>
          <a:ln/>
        </p:spPr>
      </p:sp>
      <p:sp>
        <p:nvSpPr>
          <p:cNvPr id="8" name="Shape 6"/>
          <p:cNvSpPr/>
          <p:nvPr/>
        </p:nvSpPr>
        <p:spPr>
          <a:xfrm>
            <a:off x="822960" y="1783080"/>
            <a:ext cx="548640" cy="548640"/>
          </a:xfrm>
          <a:prstGeom prst="ellipse">
            <a:avLst/>
          </a:prstGeom>
          <a:solidFill>
            <a:srgbClr val="2F6FED"/>
          </a:solidFill>
          <a:ln/>
        </p:spPr>
      </p:sp>
      <p:sp>
        <p:nvSpPr>
          <p:cNvPr id="9" name="Text 7"/>
          <p:cNvSpPr/>
          <p:nvPr/>
        </p:nvSpPr>
        <p:spPr>
          <a:xfrm>
            <a:off x="82296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Idempotencia</a:t>
            </a:r>
            <a:endParaRPr lang="en-US" sz="2000" dirty="0"/>
          </a:p>
        </p:txBody>
      </p:sp>
      <p:sp>
        <p:nvSpPr>
          <p:cNvPr id="11" name="Text 9"/>
          <p:cNvSpPr/>
          <p:nvPr/>
        </p:nvSpPr>
        <p:spPr>
          <a:xfrm>
            <a:off x="822960"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Usa una idempotency key en operaciones externas para que un reintento no duplique el efecto</a:t>
            </a:r>
            <a:endParaRPr lang="en-US" sz="1700" dirty="0"/>
          </a:p>
        </p:txBody>
      </p:sp>
      <p:sp>
        <p:nvSpPr>
          <p:cNvPr id="12" name="Shape 10"/>
          <p:cNvSpPr/>
          <p:nvPr/>
        </p:nvSpPr>
        <p:spPr>
          <a:xfrm>
            <a:off x="3390824"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3390824" y="1508760"/>
            <a:ext cx="82296" cy="4023360"/>
          </a:xfrm>
          <a:prstGeom prst="rect">
            <a:avLst/>
          </a:prstGeom>
          <a:solidFill>
            <a:srgbClr val="2F6FED"/>
          </a:solidFill>
          <a:ln/>
        </p:spPr>
      </p:sp>
      <p:sp>
        <p:nvSpPr>
          <p:cNvPr id="14" name="Shape 12"/>
          <p:cNvSpPr/>
          <p:nvPr/>
        </p:nvSpPr>
        <p:spPr>
          <a:xfrm>
            <a:off x="3665144" y="1783080"/>
            <a:ext cx="548640" cy="548640"/>
          </a:xfrm>
          <a:prstGeom prst="ellipse">
            <a:avLst/>
          </a:prstGeom>
          <a:solidFill>
            <a:srgbClr val="2F6FED"/>
          </a:solidFill>
          <a:ln/>
        </p:spPr>
      </p:sp>
      <p:sp>
        <p:nvSpPr>
          <p:cNvPr id="15" name="Text 13"/>
          <p:cNvSpPr/>
          <p:nvPr/>
        </p:nvSpPr>
        <p:spPr>
          <a:xfrm>
            <a:off x="3665144"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Timeouts y reintentos</a:t>
            </a:r>
            <a:endParaRPr lang="en-US" sz="2000" dirty="0"/>
          </a:p>
        </p:txBody>
      </p:sp>
      <p:sp>
        <p:nvSpPr>
          <p:cNvPr id="17" name="Text 15"/>
          <p:cNvSpPr/>
          <p:nvPr/>
        </p:nvSpPr>
        <p:spPr>
          <a:xfrm>
            <a:off x="3665144"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Define un timeout corto y una política de reintento; devuelve un estado si la operación sigue corriendo</a:t>
            </a:r>
            <a:endParaRPr lang="en-US" sz="1700" dirty="0"/>
          </a:p>
        </p:txBody>
      </p:sp>
      <p:sp>
        <p:nvSpPr>
          <p:cNvPr id="18" name="Shape 16"/>
          <p:cNvSpPr/>
          <p:nvPr/>
        </p:nvSpPr>
        <p:spPr>
          <a:xfrm>
            <a:off x="6233008"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6233008" y="1508760"/>
            <a:ext cx="82296" cy="4023360"/>
          </a:xfrm>
          <a:prstGeom prst="rect">
            <a:avLst/>
          </a:prstGeom>
          <a:solidFill>
            <a:srgbClr val="2F6FED"/>
          </a:solidFill>
          <a:ln/>
        </p:spPr>
      </p:sp>
      <p:sp>
        <p:nvSpPr>
          <p:cNvPr id="20" name="Shape 18"/>
          <p:cNvSpPr/>
          <p:nvPr/>
        </p:nvSpPr>
        <p:spPr>
          <a:xfrm>
            <a:off x="6507328" y="1783080"/>
            <a:ext cx="548640" cy="548640"/>
          </a:xfrm>
          <a:prstGeom prst="ellipse">
            <a:avLst/>
          </a:prstGeom>
          <a:solidFill>
            <a:srgbClr val="2F6FED"/>
          </a:solidFill>
          <a:ln/>
        </p:spPr>
      </p:sp>
      <p:sp>
        <p:nvSpPr>
          <p:cNvPr id="21" name="Text 19"/>
          <p:cNvSpPr/>
          <p:nvPr/>
        </p:nvSpPr>
        <p:spPr>
          <a:xfrm>
            <a:off x="650732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Manejo de errores</a:t>
            </a:r>
            <a:endParaRPr lang="en-US" sz="2000" dirty="0"/>
          </a:p>
        </p:txBody>
      </p:sp>
      <p:sp>
        <p:nvSpPr>
          <p:cNvPr id="23" name="Text 21"/>
          <p:cNvSpPr/>
          <p:nvPr/>
        </p:nvSpPr>
        <p:spPr>
          <a:xfrm>
            <a:off x="6507328"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Nunca expongas trazas internas; devuelve un error claro que el modelo pueda explicar al usuario</a:t>
            </a:r>
            <a:endParaRPr lang="en-US" sz="1700" dirty="0"/>
          </a:p>
        </p:txBody>
      </p:sp>
      <p:sp>
        <p:nvSpPr>
          <p:cNvPr id="24" name="Shape 22"/>
          <p:cNvSpPr/>
          <p:nvPr/>
        </p:nvSpPr>
        <p:spPr>
          <a:xfrm>
            <a:off x="9075191"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9075191" y="1508760"/>
            <a:ext cx="82296" cy="4023360"/>
          </a:xfrm>
          <a:prstGeom prst="rect">
            <a:avLst/>
          </a:prstGeom>
          <a:solidFill>
            <a:srgbClr val="2F6FED"/>
          </a:solidFill>
          <a:ln/>
        </p:spPr>
      </p:sp>
      <p:sp>
        <p:nvSpPr>
          <p:cNvPr id="26" name="Shape 24"/>
          <p:cNvSpPr/>
          <p:nvPr/>
        </p:nvSpPr>
        <p:spPr>
          <a:xfrm>
            <a:off x="9349511" y="1783080"/>
            <a:ext cx="548640" cy="548640"/>
          </a:xfrm>
          <a:prstGeom prst="ellipse">
            <a:avLst/>
          </a:prstGeom>
          <a:solidFill>
            <a:srgbClr val="2F6FED"/>
          </a:solidFill>
          <a:ln/>
        </p:spPr>
      </p:sp>
      <p:sp>
        <p:nvSpPr>
          <p:cNvPr id="27" name="Text 25"/>
          <p:cNvSpPr/>
          <p:nvPr/>
        </p:nvSpPr>
        <p:spPr>
          <a:xfrm>
            <a:off x="9349511"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Mínimo privilegio</a:t>
            </a:r>
            <a:endParaRPr lang="en-US" sz="2000" dirty="0"/>
          </a:p>
        </p:txBody>
      </p:sp>
      <p:sp>
        <p:nvSpPr>
          <p:cNvPr id="29" name="Text 27"/>
          <p:cNvSpPr/>
          <p:nvPr/>
        </p:nvSpPr>
        <p:spPr>
          <a:xfrm>
            <a:off x="9349511"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La identidad que ejecuta la tool solo debe acceder a lo que esa tool necesita, nada más</a:t>
            </a:r>
            <a:endParaRPr lang="en-US" sz="1700" dirty="0"/>
          </a:p>
        </p:txBody>
      </p:sp>
      <p:sp>
        <p:nvSpPr>
          <p:cNvPr id="30" name="Text 28"/>
          <p:cNvSpPr/>
          <p:nvPr/>
        </p:nvSpPr>
        <p:spPr>
          <a:xfrm>
            <a:off x="548640" y="5669280"/>
            <a:ext cx="11094415" cy="502920"/>
          </a:xfrm>
          <a:prstGeom prst="rect">
            <a:avLst/>
          </a:prstGeom>
          <a:noFill/>
          <a:ln/>
        </p:spPr>
        <p:txBody>
          <a:bodyPr wrap="square" lIns="0" tIns="0" rIns="0" bIns="0" rtlCol="0" anchor="ctr"/>
          <a:lstStyle/>
          <a:p>
            <a:pPr indent="0" marL="0">
              <a:buNone/>
            </a:pPr>
            <a:r>
              <a:rPr lang="en-US" sz="1500" i="1" dirty="0">
                <a:solidFill>
                  <a:srgbClr val="5B6B7B"/>
                </a:solidFill>
                <a:latin typeface="Segoe UI" pitchFamily="34" charset="0"/>
                <a:ea typeface="Segoe UI" pitchFamily="34" charset="-122"/>
                <a:cs typeface="Segoe UI" pitchFamily="34" charset="-120"/>
              </a:rPr>
              <a:t>Estas reglas aplican igual a function calling, MCP y tools de Toolbox.</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Model Context Protocol (MCP), en breve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Estándar abierto para que una app exponga tools y contexto a un modelo</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Un agente Foundry se conecta a un servidor MCP como una tool más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Toolbox expone un único endpoint compatible con MCP para reutilizar tools entre agentes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Puedes construir tu propio servidor MCP, por ejemplo con Azure Functions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El mismo servidor MCP sirve a Foundry, Agent Framework o cualquier runtime compatible</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Servidor MCP local vs. remoto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Servidor MCP local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Corre en tu máquina o contenedor de desarrollo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Ideal para iterar rápido y depurar</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No apto para producción multiusuario</a:t>
            </a:r>
            <a:endParaRPr lang="en-US" sz="21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Servidor MCP remoto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Endpoint público o privado con subred dedicada</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Gobernado por Foundry: autenticación, approval y logging centralizados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Puede registrarse en un catálogo de tools de la organización</a:t>
            </a:r>
            <a:endParaRPr lang="en-US" sz="21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Empieza local para prototipar; migra a remoto con autenticación y approval antes de exponerlo a usuarios reales.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Un servidor MCP como tool, en código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114800"/>
          </a:xfrm>
          <a:prstGeom prst="rect">
            <a:avLst/>
          </a:prstGeom>
          <a:solidFill>
            <a:srgbClr val="0D1B2A"/>
          </a:solidFill>
          <a:ln/>
        </p:spPr>
      </p:sp>
      <p:sp>
        <p:nvSpPr>
          <p:cNvPr id="7" name="Shape 5"/>
          <p:cNvSpPr/>
          <p:nvPr/>
        </p:nvSpPr>
        <p:spPr>
          <a:xfrm>
            <a:off x="10271455" y="1673352"/>
            <a:ext cx="1188720" cy="310896"/>
          </a:xfrm>
          <a:prstGeom prst="roundRect">
            <a:avLst>
              <a:gd name="adj" fmla="val 23529"/>
            </a:avLst>
          </a:prstGeom>
          <a:solidFill>
            <a:srgbClr val="2F6FED"/>
          </a:solidFill>
          <a:ln/>
        </p:spPr>
      </p:sp>
      <p:sp>
        <p:nvSpPr>
          <p:cNvPr id="8" name="Text 6"/>
          <p:cNvSpPr/>
          <p:nvPr/>
        </p:nvSpPr>
        <p:spPr>
          <a:xfrm>
            <a:off x="10271455" y="1673352"/>
            <a:ext cx="118872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PYTHON</a:t>
            </a:r>
            <a:endParaRPr lang="en-US" sz="1050" dirty="0"/>
          </a:p>
        </p:txBody>
      </p:sp>
      <p:sp>
        <p:nvSpPr>
          <p:cNvPr id="9" name="Text 7"/>
          <p:cNvSpPr/>
          <p:nvPr/>
        </p:nvSpPr>
        <p:spPr>
          <a:xfrm>
            <a:off x="914400" y="2103120"/>
            <a:ext cx="10362895" cy="3337560"/>
          </a:xfrm>
          <a:prstGeom prst="rect">
            <a:avLst/>
          </a:prstGeom>
          <a:noFill/>
          <a:ln/>
        </p:spPr>
        <p:txBody>
          <a:bodyPr wrap="square" lIns="0" tIns="0" rIns="0" bIns="0" rtlCol="0" anchor="t"/>
          <a:lstStyle/>
          <a:p>
            <a:pPr indent="0" marL="0">
              <a:buNone/>
            </a:pPr>
            <a:r>
              <a:rPr lang="en-US" sz="1500" dirty="0">
                <a:solidFill>
                  <a:srgbClr val="E6EDF3"/>
                </a:solidFill>
                <a:latin typeface="Consolas" pitchFamily="34" charset="0"/>
                <a:ea typeface="Consolas" pitchFamily="34" charset="-122"/>
                <a:cs typeface="Consolas" pitchFamily="34" charset="-120"/>
              </a:rPr>
              <a:t>from azure.ai.projects.models import MCPTool</a:t>
            </a:r>
            <a:endParaRPr lang="en-US" sz="1500" dirty="0"/>
          </a:p>
          <a:p>
            <a:pPr indent="0" marL="0">
              <a:buNone/>
            </a:pP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tool = MCPTool(</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server_label="normativa-interna",</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server_url="https://mcp.ejemplo-banco.net/mcp",</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require_approval="always",</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a:t>
            </a:r>
            <a:endParaRPr lang="en-US" sz="1500" dirty="0"/>
          </a:p>
          <a:p>
            <a:pPr indent="0" marL="0">
              <a:buNone/>
            </a:pP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agent = PromptAgentDefinition(</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model=MODEL_DEPLOYMENT,</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instructions="Usa la tool MCP para consultar normativa.",</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tools=[tool],</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a:t>
            </a:r>
            <a:endParaRPr lang="en-US" sz="1500" dirty="0"/>
          </a:p>
        </p:txBody>
      </p:sp>
      <p:sp>
        <p:nvSpPr>
          <p:cNvPr id="10" name="Text 8"/>
          <p:cNvSpPr/>
          <p:nvPr/>
        </p:nvSpPr>
        <p:spPr>
          <a:xfrm>
            <a:off x="548640" y="5715000"/>
            <a:ext cx="11094415" cy="457200"/>
          </a:xfrm>
          <a:prstGeom prst="rect">
            <a:avLst/>
          </a:prstGeom>
          <a:noFill/>
          <a:ln/>
        </p:spPr>
        <p:txBody>
          <a:bodyPr wrap="square" lIns="0" tIns="0" rIns="0" bIns="0" rtlCol="0" anchor="ctr"/>
          <a:lstStyle/>
          <a:p>
            <a:pPr indent="0" marL="0">
              <a:buNone/>
            </a:pPr>
            <a:r>
              <a:rPr lang="en-US" sz="1300" i="1" dirty="0">
                <a:solidFill>
                  <a:srgbClr val="5B6B7B"/>
                </a:solidFill>
                <a:latin typeface="Segoe UI" pitchFamily="34" charset="0"/>
                <a:ea typeface="Segoe UI" pitchFamily="34" charset="-122"/>
                <a:cs typeface="Segoe UI" pitchFamily="34" charset="-120"/>
              </a:rPr>
              <a:t>Declarar un servidor MCP remoto como tool de un agente Foundry (Python)</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se autentica un servidor MCP</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177394"/>
                <a:gridCol w="5917021"/>
              </a:tblGrid>
              <a:tr h="701040">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Cuándo usarlo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Sin autenticación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Solo pruebas o servidores públicos sin datos sensibles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Header de clave</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Credenciales simples, por ejemplo un token de sistema externo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OAuth (app propia o de Foundry)</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Flujo estándar con consentimiento, bueno para SaaS de terceros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Passthrough de identidad Entra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El usuario final conserva sus propios permisos de punta a punta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Identidad administrada del proyecto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Acceso de la plataforma a recursos propios de Foundry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Elige siempre el modelo que preserve mínimo privilegio y trazabilidad por usuario.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RAG y Azure AI Search</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De la búsqueda simple al retrieval agéntico</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45 min · Pablo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La evolución del patrón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2F6FED"/>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RAG clásico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2F6FED"/>
          </a:solidFill>
          <a:ln/>
        </p:spPr>
      </p:sp>
      <p:sp>
        <p:nvSpPr>
          <p:cNvPr id="12" name="Text 10"/>
          <p:cNvSpPr/>
          <p:nvPr/>
        </p:nvSpPr>
        <p:spPr>
          <a:xfrm>
            <a:off x="777240"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Una consulta, un índice, pasajes pegados directo al prompt</a:t>
            </a:r>
            <a:endParaRPr lang="en-US" sz="1900" dirty="0"/>
          </a:p>
        </p:txBody>
      </p:sp>
      <p:sp>
        <p:nvSpPr>
          <p:cNvPr id="13" name="Shape 11"/>
          <p:cNvSpPr/>
          <p:nvPr/>
        </p:nvSpPr>
        <p:spPr>
          <a:xfrm>
            <a:off x="3322244" y="1965960"/>
            <a:ext cx="731520" cy="731520"/>
          </a:xfrm>
          <a:prstGeom prst="ellipse">
            <a:avLst/>
          </a:prstGeom>
          <a:solidFill>
            <a:srgbClr val="0B1F33"/>
          </a:solidFill>
          <a:ln/>
        </p:spPr>
      </p:sp>
      <p:sp>
        <p:nvSpPr>
          <p:cNvPr id="14" name="Text 12"/>
          <p:cNvSpPr/>
          <p:nvPr/>
        </p:nvSpPr>
        <p:spPr>
          <a:xfrm>
            <a:off x="3322244"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Búsqueda híbrida</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3322244" y="3657600"/>
            <a:ext cx="82296" cy="2514600"/>
          </a:xfrm>
          <a:prstGeom prst="rect">
            <a:avLst/>
          </a:prstGeom>
          <a:solidFill>
            <a:srgbClr val="0B1F33"/>
          </a:solidFill>
          <a:ln/>
        </p:spPr>
      </p:sp>
      <p:sp>
        <p:nvSpPr>
          <p:cNvPr id="18" name="Text 16"/>
          <p:cNvSpPr/>
          <p:nvPr/>
        </p:nvSpPr>
        <p:spPr>
          <a:xfrm>
            <a:off x="3550844"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Keyword y vector combinados y reordenados con ranking semántico</a:t>
            </a:r>
            <a:endParaRPr lang="en-US" sz="1900" dirty="0"/>
          </a:p>
        </p:txBody>
      </p:sp>
      <p:sp>
        <p:nvSpPr>
          <p:cNvPr id="19" name="Shape 17"/>
          <p:cNvSpPr/>
          <p:nvPr/>
        </p:nvSpPr>
        <p:spPr>
          <a:xfrm>
            <a:off x="6095848" y="1965960"/>
            <a:ext cx="731520" cy="731520"/>
          </a:xfrm>
          <a:prstGeom prst="ellipse">
            <a:avLst/>
          </a:prstGeom>
          <a:solidFill>
            <a:srgbClr val="2F6FED"/>
          </a:solidFill>
          <a:ln/>
        </p:spPr>
      </p:sp>
      <p:sp>
        <p:nvSpPr>
          <p:cNvPr id="20" name="Text 18"/>
          <p:cNvSpPr/>
          <p:nvPr/>
        </p:nvSpPr>
        <p:spPr>
          <a:xfrm>
            <a:off x="609584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6095848" y="3657600"/>
            <a:ext cx="82296" cy="2514600"/>
          </a:xfrm>
          <a:prstGeom prst="rect">
            <a:avLst/>
          </a:prstGeom>
          <a:solidFill>
            <a:srgbClr val="2F6FED"/>
          </a:solidFill>
          <a:ln/>
        </p:spPr>
      </p:sp>
      <p:sp>
        <p:nvSpPr>
          <p:cNvPr id="24" name="Text 22"/>
          <p:cNvSpPr/>
          <p:nvPr/>
        </p:nvSpPr>
        <p:spPr>
          <a:xfrm>
            <a:off x="6324448"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El modelo planifica subconsultas en paralelo y arma la respuesta con citas</a:t>
            </a:r>
            <a:endParaRPr lang="en-US" sz="1900" dirty="0"/>
          </a:p>
        </p:txBody>
      </p:sp>
      <p:sp>
        <p:nvSpPr>
          <p:cNvPr id="25" name="Shape 23"/>
          <p:cNvSpPr/>
          <p:nvPr/>
        </p:nvSpPr>
        <p:spPr>
          <a:xfrm>
            <a:off x="8869451" y="1965960"/>
            <a:ext cx="731520" cy="731520"/>
          </a:xfrm>
          <a:prstGeom prst="ellipse">
            <a:avLst/>
          </a:prstGeom>
          <a:solidFill>
            <a:srgbClr val="0B1F33"/>
          </a:solidFill>
          <a:ln/>
        </p:spPr>
      </p:sp>
      <p:sp>
        <p:nvSpPr>
          <p:cNvPr id="26" name="Text 24"/>
          <p:cNvSpPr/>
          <p:nvPr/>
        </p:nvSpPr>
        <p:spPr>
          <a:xfrm>
            <a:off x="8869451"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Foundry IQ</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8869451" y="3657600"/>
            <a:ext cx="82296" cy="2514600"/>
          </a:xfrm>
          <a:prstGeom prst="rect">
            <a:avLst/>
          </a:prstGeom>
          <a:solidFill>
            <a:srgbClr val="0B1F33"/>
          </a:solidFill>
          <a:ln/>
        </p:spPr>
      </p:sp>
      <p:sp>
        <p:nvSpPr>
          <p:cNvPr id="30" name="Text 28"/>
          <p:cNvSpPr/>
          <p:nvPr/>
        </p:nvSpPr>
        <p:spPr>
          <a:xfrm>
            <a:off x="9098051"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Base de conocimiento multi-fuente con permisos y retrieval agéntico administrados</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De documentos a respuestas: el pipeline de indexación</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sp>
      <p:sp>
        <p:nvSpPr>
          <p:cNvPr id="7" name="Text 5"/>
          <p:cNvSpPr/>
          <p:nvPr/>
        </p:nvSpPr>
        <p:spPr>
          <a:xfrm>
            <a:off x="777240" y="150876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Preparación y chunking</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4114800" y="150876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Dividir documentos en fragmentos manejables antes de indexar</a:t>
            </a:r>
            <a:endParaRPr lang="en-US" sz="1700" dirty="0"/>
          </a:p>
        </p:txBody>
      </p:sp>
      <p:sp>
        <p:nvSpPr>
          <p:cNvPr id="10" name="Shape 8"/>
          <p:cNvSpPr/>
          <p:nvPr/>
        </p:nvSpPr>
        <p:spPr>
          <a:xfrm>
            <a:off x="548640" y="2488997"/>
            <a:ext cx="3291840" cy="833933"/>
          </a:xfrm>
          <a:prstGeom prst="rect">
            <a:avLst/>
          </a:prstGeom>
          <a:solidFill>
            <a:srgbClr val="143362"/>
          </a:solidFill>
          <a:ln/>
        </p:spPr>
      </p:sp>
      <p:sp>
        <p:nvSpPr>
          <p:cNvPr id="11" name="Text 9"/>
          <p:cNvSpPr/>
          <p:nvPr/>
        </p:nvSpPr>
        <p:spPr>
          <a:xfrm>
            <a:off x="777240" y="248899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Embeddings</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4114800" y="248899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Generar vectores por fragmento para habilitar búsqueda semántica</a:t>
            </a:r>
            <a:endParaRPr lang="en-US" sz="1700" dirty="0"/>
          </a:p>
        </p:txBody>
      </p:sp>
      <p:sp>
        <p:nvSpPr>
          <p:cNvPr id="14" name="Shape 12"/>
          <p:cNvSpPr/>
          <p:nvPr/>
        </p:nvSpPr>
        <p:spPr>
          <a:xfrm>
            <a:off x="548640" y="3469234"/>
            <a:ext cx="3291840" cy="833933"/>
          </a:xfrm>
          <a:prstGeom prst="rect">
            <a:avLst/>
          </a:prstGeom>
          <a:solidFill>
            <a:srgbClr val="1D4790"/>
          </a:solidFill>
          <a:ln/>
        </p:spPr>
      </p:sp>
      <p:sp>
        <p:nvSpPr>
          <p:cNvPr id="15" name="Text 13"/>
          <p:cNvSpPr/>
          <p:nvPr/>
        </p:nvSpPr>
        <p:spPr>
          <a:xfrm>
            <a:off x="777240" y="3469234"/>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Índice híbrido</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Text 15"/>
          <p:cNvSpPr/>
          <p:nvPr/>
        </p:nvSpPr>
        <p:spPr>
          <a:xfrm>
            <a:off x="4114800" y="3469234"/>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Campos de texto y de vector conviven en el mismo índice de Azure AI Search</a:t>
            </a:r>
            <a:endParaRPr lang="en-US" sz="1700" dirty="0"/>
          </a:p>
        </p:txBody>
      </p:sp>
      <p:sp>
        <p:nvSpPr>
          <p:cNvPr id="18" name="Shape 16"/>
          <p:cNvSpPr/>
          <p:nvPr/>
        </p:nvSpPr>
        <p:spPr>
          <a:xfrm>
            <a:off x="548640" y="4449470"/>
            <a:ext cx="3291840" cy="833933"/>
          </a:xfrm>
          <a:prstGeom prst="rect">
            <a:avLst/>
          </a:prstGeom>
          <a:solidFill>
            <a:srgbClr val="265BBF"/>
          </a:solidFill>
          <a:ln/>
        </p:spPr>
      </p:sp>
      <p:sp>
        <p:nvSpPr>
          <p:cNvPr id="19" name="Text 17"/>
          <p:cNvSpPr/>
          <p:nvPr/>
        </p:nvSpPr>
        <p:spPr>
          <a:xfrm>
            <a:off x="777240" y="444947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Ranking</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1" name="Text 19"/>
          <p:cNvSpPr/>
          <p:nvPr/>
        </p:nvSpPr>
        <p:spPr>
          <a:xfrm>
            <a:off x="4114800" y="444947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BM25 y similitud vectorial se combinan; ranking semántico opcional</a:t>
            </a:r>
            <a:endParaRPr lang="en-US" sz="1700" dirty="0"/>
          </a:p>
        </p:txBody>
      </p:sp>
      <p:sp>
        <p:nvSpPr>
          <p:cNvPr id="22" name="Shape 20"/>
          <p:cNvSpPr/>
          <p:nvPr/>
        </p:nvSpPr>
        <p:spPr>
          <a:xfrm>
            <a:off x="548640" y="5429707"/>
            <a:ext cx="3291840" cy="833933"/>
          </a:xfrm>
          <a:prstGeom prst="rect">
            <a:avLst/>
          </a:prstGeom>
          <a:solidFill>
            <a:srgbClr val="2F6FED"/>
          </a:solidFill>
          <a:ln/>
        </p:spPr>
      </p:sp>
      <p:sp>
        <p:nvSpPr>
          <p:cNvPr id="23" name="Text 21"/>
          <p:cNvSpPr/>
          <p:nvPr/>
        </p:nvSpPr>
        <p:spPr>
          <a:xfrm>
            <a:off x="777240" y="542970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Filtros y seguridad</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Text 23"/>
          <p:cNvSpPr/>
          <p:nvPr/>
        </p:nvSpPr>
        <p:spPr>
          <a:xfrm>
            <a:off x="4114800" y="542970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Filtros de negocio y recorte de seguridad por documento antes de responder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Búsqueda híbrida, en detalle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Una sola consulta combina el parámetro search (texto) y vectorQueries (vector)</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BM25 para texto y HNSW/eKNN para vectores se fusionan con Reciprocal Rank Fusion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ranking semántico (queryType=semantic) reordena con comprensión de lenguaje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Los filtros aplican sobre campos de texto o numéricos durante la búsqueda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Vector search está disponible en todas las regiones y niveles del servicio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Foundry IQ: conocimiento administrado para agentes</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2249424"/>
          </a:xfrm>
          <a:prstGeom prst="rect">
            <a:avLst/>
          </a:prstGeom>
          <a:solidFill>
            <a:srgbClr val="2F6FED"/>
          </a:solidFill>
          <a:ln/>
        </p:spPr>
      </p:sp>
      <p:sp>
        <p:nvSpPr>
          <p:cNvPr id="8" name="Shape 6"/>
          <p:cNvSpPr/>
          <p:nvPr/>
        </p:nvSpPr>
        <p:spPr>
          <a:xfrm>
            <a:off x="822960" y="1737360"/>
            <a:ext cx="420624" cy="420624"/>
          </a:xfrm>
          <a:prstGeom prst="ellipse">
            <a:avLst/>
          </a:prstGeom>
          <a:solidFill>
            <a:srgbClr val="2F6FED"/>
          </a:solidFill>
          <a:ln/>
        </p:spPr>
      </p:sp>
      <p:sp>
        <p:nvSpPr>
          <p:cNvPr id="9" name="Text 7"/>
          <p:cNvSpPr/>
          <p:nvPr/>
        </p:nvSpPr>
        <p:spPr>
          <a:xfrm>
            <a:off x="822960"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Knowledge base</a:t>
            </a:r>
            <a:endParaRPr lang="en-US" sz="1800" dirty="0"/>
          </a:p>
        </p:txBody>
      </p:sp>
      <p:sp>
        <p:nvSpPr>
          <p:cNvPr id="11" name="Text 9"/>
          <p:cNvSpPr/>
          <p:nvPr/>
        </p:nvSpPr>
        <p:spPr>
          <a:xfrm>
            <a:off x="822960" y="2377440"/>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Orquesta el retrieval agéntico con un nivel de esfuerzo de razonamiento configurable</a:t>
            </a:r>
            <a:endParaRPr lang="en-US" sz="1800" dirty="0"/>
          </a:p>
        </p:txBody>
      </p:sp>
      <p:sp>
        <p:nvSpPr>
          <p:cNvPr id="12" name="Shape 10"/>
          <p:cNvSpPr/>
          <p:nvPr/>
        </p:nvSpPr>
        <p:spPr>
          <a:xfrm>
            <a:off x="6223864" y="1508760"/>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6223864" y="1508760"/>
            <a:ext cx="82296" cy="2249424"/>
          </a:xfrm>
          <a:prstGeom prst="rect">
            <a:avLst/>
          </a:prstGeom>
          <a:solidFill>
            <a:srgbClr val="0B1F33"/>
          </a:solidFill>
          <a:ln/>
        </p:spPr>
      </p:sp>
      <p:sp>
        <p:nvSpPr>
          <p:cNvPr id="14" name="Shape 12"/>
          <p:cNvSpPr/>
          <p:nvPr/>
        </p:nvSpPr>
        <p:spPr>
          <a:xfrm>
            <a:off x="6498184" y="1737360"/>
            <a:ext cx="420624" cy="420624"/>
          </a:xfrm>
          <a:prstGeom prst="ellipse">
            <a:avLst/>
          </a:prstGeom>
          <a:solidFill>
            <a:srgbClr val="0B1F33"/>
          </a:solidFill>
          <a:ln/>
        </p:spPr>
      </p:sp>
      <p:sp>
        <p:nvSpPr>
          <p:cNvPr id="15" name="Text 13"/>
          <p:cNvSpPr/>
          <p:nvPr/>
        </p:nvSpPr>
        <p:spPr>
          <a:xfrm>
            <a:off x="6498184"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7092544" y="1691640"/>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Knowledge sources</a:t>
            </a:r>
            <a:endParaRPr lang="en-US" sz="1800" dirty="0"/>
          </a:p>
        </p:txBody>
      </p:sp>
      <p:sp>
        <p:nvSpPr>
          <p:cNvPr id="17" name="Text 15"/>
          <p:cNvSpPr/>
          <p:nvPr/>
        </p:nvSpPr>
        <p:spPr>
          <a:xfrm>
            <a:off x="6498184" y="2377440"/>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Conecta Blob, SharePoint, OneLake o la web como fuentes de un mismo conocimiento</a:t>
            </a:r>
            <a:endParaRPr lang="en-US" sz="1800" dirty="0"/>
          </a:p>
        </p:txBody>
      </p:sp>
      <p:sp>
        <p:nvSpPr>
          <p:cNvPr id="18" name="Shape 16"/>
          <p:cNvSpPr/>
          <p:nvPr/>
        </p:nvSpPr>
        <p:spPr>
          <a:xfrm>
            <a:off x="548640" y="4014216"/>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548640" y="4014216"/>
            <a:ext cx="82296" cy="2249424"/>
          </a:xfrm>
          <a:prstGeom prst="rect">
            <a:avLst/>
          </a:prstGeom>
          <a:solidFill>
            <a:srgbClr val="2F6FED"/>
          </a:solidFill>
          <a:ln/>
        </p:spPr>
      </p:sp>
      <p:sp>
        <p:nvSpPr>
          <p:cNvPr id="20" name="Shape 18"/>
          <p:cNvSpPr/>
          <p:nvPr/>
        </p:nvSpPr>
        <p:spPr>
          <a:xfrm>
            <a:off x="822960" y="4242816"/>
            <a:ext cx="420624" cy="420624"/>
          </a:xfrm>
          <a:prstGeom prst="ellipse">
            <a:avLst/>
          </a:prstGeom>
          <a:solidFill>
            <a:srgbClr val="2F6FED"/>
          </a:solidFill>
          <a:ln/>
        </p:spPr>
      </p:sp>
      <p:sp>
        <p:nvSpPr>
          <p:cNvPr id="21" name="Text 19"/>
          <p:cNvSpPr/>
          <p:nvPr/>
        </p:nvSpPr>
        <p:spPr>
          <a:xfrm>
            <a:off x="822960"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1417320" y="4197096"/>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Permisos por usuario</a:t>
            </a:r>
            <a:endParaRPr lang="en-US" sz="1800" dirty="0"/>
          </a:p>
        </p:txBody>
      </p:sp>
      <p:sp>
        <p:nvSpPr>
          <p:cNvPr id="23" name="Text 21"/>
          <p:cNvSpPr/>
          <p:nvPr/>
        </p:nvSpPr>
        <p:spPr>
          <a:xfrm>
            <a:off x="822960" y="4882896"/>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Sincroniza ACLs y etiquetas de Purview; responde según la identidad de quien pregunta</a:t>
            </a:r>
            <a:endParaRPr lang="en-US" sz="1800" dirty="0"/>
          </a:p>
        </p:txBody>
      </p:sp>
      <p:sp>
        <p:nvSpPr>
          <p:cNvPr id="24" name="Shape 22"/>
          <p:cNvSpPr/>
          <p:nvPr/>
        </p:nvSpPr>
        <p:spPr>
          <a:xfrm>
            <a:off x="6223864" y="4014216"/>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6223864" y="4014216"/>
            <a:ext cx="82296" cy="2249424"/>
          </a:xfrm>
          <a:prstGeom prst="rect">
            <a:avLst/>
          </a:prstGeom>
          <a:solidFill>
            <a:srgbClr val="0B1F33"/>
          </a:solidFill>
          <a:ln/>
        </p:spPr>
      </p:sp>
      <p:sp>
        <p:nvSpPr>
          <p:cNvPr id="26" name="Shape 24"/>
          <p:cNvSpPr/>
          <p:nvPr/>
        </p:nvSpPr>
        <p:spPr>
          <a:xfrm>
            <a:off x="6498184" y="4242816"/>
            <a:ext cx="420624" cy="420624"/>
          </a:xfrm>
          <a:prstGeom prst="ellipse">
            <a:avLst/>
          </a:prstGeom>
          <a:solidFill>
            <a:srgbClr val="0B1F33"/>
          </a:solidFill>
          <a:ln/>
        </p:spPr>
      </p:sp>
      <p:sp>
        <p:nvSpPr>
          <p:cNvPr id="27" name="Text 25"/>
          <p:cNvSpPr/>
          <p:nvPr/>
        </p:nvSpPr>
        <p:spPr>
          <a:xfrm>
            <a:off x="6498184"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7092544" y="4197096"/>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Reutilizable</a:t>
            </a:r>
            <a:endParaRPr lang="en-US" sz="1800" dirty="0"/>
          </a:p>
        </p:txBody>
      </p:sp>
      <p:sp>
        <p:nvSpPr>
          <p:cNvPr id="29" name="Text 27"/>
          <p:cNvSpPr/>
          <p:nvPr/>
        </p:nvSpPr>
        <p:spPr>
          <a:xfrm>
            <a:off x="6498184" y="4882896"/>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Una knowledge base puede servir a varios agentes distintos sin duplicar configuración</a:t>
            </a:r>
            <a:endParaRPr lang="en-US" sz="18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Retrieval clásico vs. retrieval agéntico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Retrieval clásico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Una consulta, un disparo al índice</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desarrollador arma las subconsultas a mano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Respuesta basada en el primer conjunto de pasajes</a:t>
            </a:r>
            <a:endParaRPr lang="en-US" sz="21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modelo descompone la pregunta en subconsultas paralelas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Incluye contexto de la conversación para preguntas de seguimiento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Devuelve datos estructurados con citas y metadatos de ejecución</a:t>
            </a:r>
            <a:endParaRPr lang="en-US" sz="21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El retrieval agéntico mejora cobertura y trazabilidad, a costa de más latencia y llamadas al modelo.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medimos la calidad de un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40352"/>
                <a:gridCol w="5100881"/>
                <a:gridCol w="3953182"/>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Métrica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Qué responde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Evaluador en Foundry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Groundedness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¿La respuesta usa solo el contexto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Groundedness / Groundedness Pro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Completeness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¿Se respondió toda la pregunta?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Response Completeness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Relevance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¿El contexto recuperado es pertinente?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Retrieval / Relevance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Ataque 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¿El modelo siguió una instrucción oculta en un documento?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Indirect Attack (XPIA)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Combina Retrieval + Groundedness + Relevance + seguridad de contenido como línea base para cualquier RAG.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Seguridad en RAG: el documento también es una superficie de ataque</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Trata todo contenido recuperado como entrada no confiable, igual que una tool</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Aplica recorte de seguridad (security trimming) a nivel de documento en el índice</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Prefiere Microsoft Entra ID sobre claves de API para producción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Un documento puede contener instrucciones ocultas de prompt injection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Audita y registra qué se recuperó y qué se le mostró al modelo</a:t>
            </a:r>
            <a:endParaRPr lang="en-US" sz="24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Demo: retrieval sobre un índice de normativa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sp>
      <p:sp>
        <p:nvSpPr>
          <p:cNvPr id="7" name="Shape 5"/>
          <p:cNvSpPr/>
          <p:nvPr/>
        </p:nvSpPr>
        <p:spPr>
          <a:xfrm>
            <a:off x="868680" y="1828800"/>
            <a:ext cx="1097280" cy="365760"/>
          </a:xfrm>
          <a:prstGeom prst="roundRect">
            <a:avLst>
              <a:gd name="adj" fmla="val 20000"/>
            </a:avLst>
          </a:prstGeom>
          <a:solidFill>
            <a:srgbClr val="F5B83D"/>
          </a:solidFill>
          <a:ln/>
        </p:spPr>
      </p:sp>
      <p:sp>
        <p:nvSpPr>
          <p:cNvPr id="8" name="Text 6"/>
          <p:cNvSpPr/>
          <p:nvPr/>
        </p:nvSpPr>
        <p:spPr>
          <a:xfrm>
            <a:off x="868680" y="1828800"/>
            <a:ext cx="1097280" cy="365760"/>
          </a:xfrm>
          <a:prstGeom prst="rect">
            <a:avLst/>
          </a:prstGeom>
          <a:noFill/>
          <a:ln/>
        </p:spPr>
        <p:txBody>
          <a:bodyPr wrap="square" lIns="0" tIns="0" rIns="0" bIns="0" rtlCol="0" anchor="ctr"/>
          <a:lstStyle/>
          <a:p>
            <a:pPr algn="ctr" indent="0" marL="0">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indent="0" marL="0">
              <a:buNone/>
            </a:pPr>
            <a:r>
              <a:rPr lang="en-US" sz="2000" dirty="0">
                <a:solidFill>
                  <a:srgbClr val="FFFFFF"/>
                </a:solidFill>
                <a:latin typeface="Segoe UI" pitchFamily="34" charset="0"/>
                <a:ea typeface="Segoe UI" pitchFamily="34" charset="-122"/>
                <a:cs typeface="Segoe UI" pitchFamily="34" charset="-120"/>
              </a:rPr>
              <a:t>Un agente responde preguntas de un empleado bancario sobre normativa interna ficticia usando un índice de Azure AI Search</a:t>
            </a:r>
            <a:endParaRPr lang="en-US" sz="2000" dirty="0"/>
          </a:p>
        </p:txBody>
      </p:sp>
      <p:sp>
        <p:nvSpPr>
          <p:cNvPr id="10" name="Shape 8"/>
          <p:cNvSpPr/>
          <p:nvPr/>
        </p:nvSpPr>
        <p:spPr>
          <a:xfrm>
            <a:off x="5212080" y="1777365"/>
            <a:ext cx="457200" cy="457200"/>
          </a:xfrm>
          <a:prstGeom prst="ellipse">
            <a:avLst/>
          </a:prstGeom>
          <a:solidFill>
            <a:srgbClr val="2F6FED"/>
          </a:solidFill>
          <a:ln/>
        </p:spPr>
      </p:sp>
      <p:sp>
        <p:nvSpPr>
          <p:cNvPr id="11" name="Text 9"/>
          <p:cNvSpPr/>
          <p:nvPr/>
        </p:nvSpPr>
        <p:spPr>
          <a:xfrm>
            <a:off x="5212080" y="177736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Mostrar el índice con campos de texto, vector y metadatos de seguridad</a:t>
            </a:r>
            <a:endParaRPr lang="en-US" sz="1800" dirty="0"/>
          </a:p>
        </p:txBody>
      </p:sp>
      <p:sp>
        <p:nvSpPr>
          <p:cNvPr id="13" name="Shape 11"/>
          <p:cNvSpPr/>
          <p:nvPr/>
        </p:nvSpPr>
        <p:spPr>
          <a:xfrm>
            <a:off x="5212080" y="2771775"/>
            <a:ext cx="457200" cy="457200"/>
          </a:xfrm>
          <a:prstGeom prst="ellipse">
            <a:avLst/>
          </a:prstGeom>
          <a:solidFill>
            <a:srgbClr val="2F6FED"/>
          </a:solidFill>
          <a:ln/>
        </p:spPr>
      </p:sp>
      <p:sp>
        <p:nvSpPr>
          <p:cNvPr id="14" name="Text 12"/>
          <p:cNvSpPr/>
          <p:nvPr/>
        </p:nvSpPr>
        <p:spPr>
          <a:xfrm>
            <a:off x="5212080" y="277177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Hacer una pregunta ambigua que requiere dos subconsultas</a:t>
            </a:r>
            <a:endParaRPr lang="en-US" sz="1800" dirty="0"/>
          </a:p>
        </p:txBody>
      </p:sp>
      <p:sp>
        <p:nvSpPr>
          <p:cNvPr id="16" name="Shape 14"/>
          <p:cNvSpPr/>
          <p:nvPr/>
        </p:nvSpPr>
        <p:spPr>
          <a:xfrm>
            <a:off x="5212080" y="3766185"/>
            <a:ext cx="457200" cy="457200"/>
          </a:xfrm>
          <a:prstGeom prst="ellipse">
            <a:avLst/>
          </a:prstGeom>
          <a:solidFill>
            <a:srgbClr val="2F6FED"/>
          </a:solidFill>
          <a:ln/>
        </p:spPr>
      </p:sp>
      <p:sp>
        <p:nvSpPr>
          <p:cNvPr id="17" name="Text 15"/>
          <p:cNvSpPr/>
          <p:nvPr/>
        </p:nvSpPr>
        <p:spPr>
          <a:xfrm>
            <a:off x="5212080" y="37661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Ver cómo el retrieval agéntico arma las subconsultas en paralelo</a:t>
            </a:r>
            <a:endParaRPr lang="en-US" sz="1800" dirty="0"/>
          </a:p>
        </p:txBody>
      </p:sp>
      <p:sp>
        <p:nvSpPr>
          <p:cNvPr id="19" name="Shape 17"/>
          <p:cNvSpPr/>
          <p:nvPr/>
        </p:nvSpPr>
        <p:spPr>
          <a:xfrm>
            <a:off x="5212080" y="4760595"/>
            <a:ext cx="457200" cy="457200"/>
          </a:xfrm>
          <a:prstGeom prst="ellipse">
            <a:avLst/>
          </a:prstGeom>
          <a:solidFill>
            <a:srgbClr val="2F6FED"/>
          </a:solidFill>
          <a:ln/>
        </p:spPr>
      </p:sp>
      <p:sp>
        <p:nvSpPr>
          <p:cNvPr id="20" name="Text 18"/>
          <p:cNvSpPr/>
          <p:nvPr/>
        </p:nvSpPr>
        <p:spPr>
          <a:xfrm>
            <a:off x="5212080" y="476059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Revisar las citas devueltas y el fragmento exacto usado</a:t>
            </a:r>
            <a:endParaRPr lang="en-US" sz="1800" dirty="0"/>
          </a:p>
        </p:txBody>
      </p:sp>
      <p:sp>
        <p:nvSpPr>
          <p:cNvPr id="22" name="Shape 20"/>
          <p:cNvSpPr/>
          <p:nvPr/>
        </p:nvSpPr>
        <p:spPr>
          <a:xfrm>
            <a:off x="548640" y="5623560"/>
            <a:ext cx="11094415" cy="640080"/>
          </a:xfrm>
          <a:prstGeom prst="rect">
            <a:avLst/>
          </a:prstGeom>
          <a:solidFill>
            <a:srgbClr val="F5B83D"/>
          </a:solidFill>
          <a:ln/>
        </p:spPr>
      </p:sp>
      <p:sp>
        <p:nvSpPr>
          <p:cNvPr id="23" name="Text 21"/>
          <p:cNvSpPr/>
          <p:nvPr/>
        </p:nvSpPr>
        <p:spPr>
          <a:xfrm>
            <a:off x="822960" y="5623560"/>
            <a:ext cx="10545775" cy="640080"/>
          </a:xfrm>
          <a:prstGeom prst="rect">
            <a:avLst/>
          </a:prstGeom>
          <a:noFill/>
          <a:ln/>
        </p:spPr>
        <p:txBody>
          <a:bodyPr wrap="square" lIns="0" tIns="0" rIns="0" bIns="0" rtlCol="0" anchor="ctr"/>
          <a:lstStyle/>
          <a:p>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La respuesta llega con citas verificables y sin exponer documentos fuera del permiso del usuario simulado</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Laboratorio pro-code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Agente pro-code con grounding y herramientas</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75 min · Ambos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Visión general del laboratorio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Construir un agente pro-code en Python que responda con grounding de Azure AI Search y use una tool propia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955798"/>
            <a:ext cx="420624" cy="420624"/>
          </a:xfrm>
          <a:prstGeom prst="ellipse">
            <a:avLst/>
          </a:prstGeom>
          <a:solidFill>
            <a:srgbClr val="2F6FED"/>
          </a:solidFill>
          <a:ln/>
        </p:spPr>
      </p:sp>
      <p:sp>
        <p:nvSpPr>
          <p:cNvPr id="11" name="Text 9"/>
          <p:cNvSpPr/>
          <p:nvPr/>
        </p:nvSpPr>
        <p:spPr>
          <a:xfrm>
            <a:off x="822960" y="295579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Escenario: asistente de normativa interna ficticio de un banco, sin datos reales de BCI</a:t>
            </a:r>
            <a:endParaRPr lang="en-US" sz="1700" dirty="0"/>
          </a:p>
        </p:txBody>
      </p:sp>
      <p:sp>
        <p:nvSpPr>
          <p:cNvPr id="13" name="Shape 11"/>
          <p:cNvSpPr/>
          <p:nvPr/>
        </p:nvSpPr>
        <p:spPr>
          <a:xfrm>
            <a:off x="822960" y="3801618"/>
            <a:ext cx="420624" cy="420624"/>
          </a:xfrm>
          <a:prstGeom prst="ellipse">
            <a:avLst/>
          </a:prstGeom>
          <a:solidFill>
            <a:srgbClr val="0B1F33"/>
          </a:solidFill>
          <a:ln/>
        </p:spPr>
      </p:sp>
      <p:sp>
        <p:nvSpPr>
          <p:cNvPr id="14" name="Text 12"/>
          <p:cNvSpPr/>
          <p:nvPr/>
        </p:nvSpPr>
        <p:spPr>
          <a:xfrm>
            <a:off x="822960" y="380161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Partimos de un proyecto inicial con Agent Framework ya configurado</a:t>
            </a:r>
            <a:endParaRPr lang="en-US" sz="1700" dirty="0"/>
          </a:p>
        </p:txBody>
      </p:sp>
      <p:sp>
        <p:nvSpPr>
          <p:cNvPr id="16" name="Shape 14"/>
          <p:cNvSpPr/>
          <p:nvPr/>
        </p:nvSpPr>
        <p:spPr>
          <a:xfrm>
            <a:off x="822960" y="4647438"/>
            <a:ext cx="420624" cy="420624"/>
          </a:xfrm>
          <a:prstGeom prst="ellipse">
            <a:avLst/>
          </a:prstGeom>
          <a:solidFill>
            <a:srgbClr val="2F6FED"/>
          </a:solidFill>
          <a:ln/>
        </p:spPr>
      </p:sp>
      <p:sp>
        <p:nvSpPr>
          <p:cNvPr id="17" name="Text 15"/>
          <p:cNvSpPr/>
          <p:nvPr/>
        </p:nvSpPr>
        <p:spPr>
          <a:xfrm>
            <a:off x="822960" y="464743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Sumamos retrieval y una tool personalizada, y cerramos con revisión en parejas</a:t>
            </a:r>
            <a:endParaRPr lang="en-US" sz="1700" dirty="0"/>
          </a:p>
        </p:txBody>
      </p:sp>
      <p:sp>
        <p:nvSpPr>
          <p:cNvPr id="19" name="Shape 17"/>
          <p:cNvSpPr/>
          <p:nvPr/>
        </p:nvSpPr>
        <p:spPr>
          <a:xfrm>
            <a:off x="822960" y="5493258"/>
            <a:ext cx="420624" cy="420624"/>
          </a:xfrm>
          <a:prstGeom prst="ellipse">
            <a:avLst/>
          </a:prstGeom>
          <a:solidFill>
            <a:srgbClr val="0B1F33"/>
          </a:solidFill>
          <a:ln/>
        </p:spPr>
      </p:sp>
      <p:sp>
        <p:nvSpPr>
          <p:cNvPr id="20" name="Text 18"/>
          <p:cNvSpPr/>
          <p:nvPr/>
        </p:nvSpPr>
        <p:spPr>
          <a:xfrm>
            <a:off x="822960" y="549325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Python es el lenguaje principal; hay una alternativa .NET para quien la prefiera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8046720" y="2606040"/>
            <a:ext cx="82296" cy="3657600"/>
          </a:xfrm>
          <a:prstGeom prst="rect">
            <a:avLst/>
          </a:prstGeom>
          <a:solidFill>
            <a:srgbClr val="0B1F33"/>
          </a:solidFill>
          <a:ln/>
        </p:spPr>
      </p:sp>
      <p:sp>
        <p:nvSpPr>
          <p:cNvPr id="24" name="Text 22"/>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75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funcionando con respuesta grounded y una tool</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diseño completado para las tareas 1 a 3</a:t>
            </a:r>
            <a:endParaRPr lang="en-US" sz="1500" dirty="0"/>
          </a:p>
        </p:txBody>
      </p:sp>
      <p:sp>
        <p:nvSpPr>
          <p:cNvPr id="27" name="Text 25"/>
          <p:cNvSpPr/>
          <p:nvPr/>
        </p:nvSpPr>
        <p:spPr>
          <a:xfrm>
            <a:off x="8321040" y="5394960"/>
            <a:ext cx="3139135" cy="274320"/>
          </a:xfrm>
          <a:prstGeom prst="rect">
            <a:avLst/>
          </a:prstGeom>
          <a:noFill/>
          <a:ln/>
        </p:spPr>
        <p:txBody>
          <a:bodyPr wrap="square" lIns="0" tIns="0" rIns="0" bIns="0" rtlCol="0" anchor="ctr"/>
          <a:lstStyle/>
          <a:p>
            <a:pPr indent="0" marL="0">
              <a:buNone/>
            </a:pPr>
            <a:r>
              <a:rPr lang="en-US" sz="1200" b="1" dirty="0">
                <a:solidFill>
                  <a:srgbClr val="2F6FED"/>
                </a:solidFill>
                <a:latin typeface="Segoe UI Semibold" pitchFamily="34" charset="0"/>
                <a:ea typeface="Segoe UI Semibold" pitchFamily="34" charset="-122"/>
                <a:cs typeface="Segoe UI Semibold" pitchFamily="34" charset="-120"/>
              </a:rPr>
              <a:t>Repositorio</a:t>
            </a:r>
            <a:endParaRPr lang="en-US" sz="1200" dirty="0"/>
          </a:p>
        </p:txBody>
      </p:sp>
      <p:sp>
        <p:nvSpPr>
          <p:cNvPr id="28" name="Text 26"/>
          <p:cNvSpPr/>
          <p:nvPr/>
        </p:nvSpPr>
        <p:spPr>
          <a:xfrm>
            <a:off x="8321040" y="5669280"/>
            <a:ext cx="3139135" cy="457200"/>
          </a:xfrm>
          <a:prstGeom prst="rect">
            <a:avLst/>
          </a:prstGeom>
          <a:noFill/>
          <a:ln/>
        </p:spPr>
        <p:txBody>
          <a:bodyPr wrap="square" lIns="0" tIns="0" rIns="0" bIns="0" rtlCol="0" anchor="t"/>
          <a:lstStyle/>
          <a:p>
            <a:pPr indent="0" marL="0">
              <a:buNone/>
            </a:pPr>
            <a:r>
              <a:rPr lang="en-US" sz="1100" u="sng" dirty="0">
                <a:solidFill>
                  <a:srgbClr val="2F6FED"/>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github.com/microsoft-foundry/foundry-samples</a:t>
            </a:r>
            <a:endParaRPr lang="en-US" sz="11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Preparación del entorno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Dejar el entorno de desarrollo listo para iterar sin fricción durante el resto del laboratorio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871216"/>
            <a:ext cx="420624" cy="420624"/>
          </a:xfrm>
          <a:prstGeom prst="ellipse">
            <a:avLst/>
          </a:prstGeom>
          <a:solidFill>
            <a:srgbClr val="2F6FED"/>
          </a:solidFill>
          <a:ln/>
        </p:spPr>
      </p:sp>
      <p:sp>
        <p:nvSpPr>
          <p:cNvPr id="11" name="Text 9"/>
          <p:cNvSpPr/>
          <p:nvPr/>
        </p:nvSpPr>
        <p:spPr>
          <a:xfrm>
            <a:off x="822960" y="28712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Clonar o abrir tu copia del proyecto inicial del laboratorio</a:t>
            </a:r>
            <a:endParaRPr lang="en-US" sz="1700" dirty="0"/>
          </a:p>
        </p:txBody>
      </p:sp>
      <p:sp>
        <p:nvSpPr>
          <p:cNvPr id="13" name="Shape 11"/>
          <p:cNvSpPr/>
          <p:nvPr/>
        </p:nvSpPr>
        <p:spPr>
          <a:xfrm>
            <a:off x="822960" y="3547872"/>
            <a:ext cx="420624" cy="420624"/>
          </a:xfrm>
          <a:prstGeom prst="ellipse">
            <a:avLst/>
          </a:prstGeom>
          <a:solidFill>
            <a:srgbClr val="0B1F33"/>
          </a:solidFill>
          <a:ln/>
        </p:spPr>
      </p:sp>
      <p:sp>
        <p:nvSpPr>
          <p:cNvPr id="14" name="Text 12"/>
          <p:cNvSpPr/>
          <p:nvPr/>
        </p:nvSpPr>
        <p:spPr>
          <a:xfrm>
            <a:off x="822960" y="3547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Crear y activar un entorno virtual de Python e instalar agent-framework</a:t>
            </a:r>
            <a:endParaRPr lang="en-US" sz="1700" dirty="0"/>
          </a:p>
        </p:txBody>
      </p:sp>
      <p:sp>
        <p:nvSpPr>
          <p:cNvPr id="16" name="Shape 14"/>
          <p:cNvSpPr/>
          <p:nvPr/>
        </p:nvSpPr>
        <p:spPr>
          <a:xfrm>
            <a:off x="822960" y="4224528"/>
            <a:ext cx="420624" cy="420624"/>
          </a:xfrm>
          <a:prstGeom prst="ellipse">
            <a:avLst/>
          </a:prstGeom>
          <a:solidFill>
            <a:srgbClr val="2F6FED"/>
          </a:solidFill>
          <a:ln/>
        </p:spPr>
      </p:sp>
      <p:sp>
        <p:nvSpPr>
          <p:cNvPr id="17" name="Text 15"/>
          <p:cNvSpPr/>
          <p:nvPr/>
        </p:nvSpPr>
        <p:spPr>
          <a:xfrm>
            <a:off x="82296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Configurar el endpoint del proyecto de Foundry y el modelo deployado en el .env</a:t>
            </a:r>
            <a:endParaRPr lang="en-US" sz="1700" dirty="0"/>
          </a:p>
        </p:txBody>
      </p:sp>
      <p:sp>
        <p:nvSpPr>
          <p:cNvPr id="19" name="Shape 17"/>
          <p:cNvSpPr/>
          <p:nvPr/>
        </p:nvSpPr>
        <p:spPr>
          <a:xfrm>
            <a:off x="822960" y="4901184"/>
            <a:ext cx="420624" cy="420624"/>
          </a:xfrm>
          <a:prstGeom prst="ellipse">
            <a:avLst/>
          </a:prstGeom>
          <a:solidFill>
            <a:srgbClr val="0B1F33"/>
          </a:solidFill>
          <a:ln/>
        </p:spPr>
      </p:sp>
      <p:sp>
        <p:nvSpPr>
          <p:cNvPr id="20" name="Text 18"/>
          <p:cNvSpPr/>
          <p:nvPr/>
        </p:nvSpPr>
        <p:spPr>
          <a:xfrm>
            <a:off x="822960" y="49011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Confirmar la conexión a tu índice de Azure AI Search de normativa ficticia</a:t>
            </a:r>
            <a:endParaRPr lang="en-US" sz="1700" dirty="0"/>
          </a:p>
        </p:txBody>
      </p:sp>
      <p:sp>
        <p:nvSpPr>
          <p:cNvPr id="22" name="Shape 20"/>
          <p:cNvSpPr/>
          <p:nvPr/>
        </p:nvSpPr>
        <p:spPr>
          <a:xfrm>
            <a:off x="822960" y="5577840"/>
            <a:ext cx="420624" cy="420624"/>
          </a:xfrm>
          <a:prstGeom prst="ellipse">
            <a:avLst/>
          </a:prstGeom>
          <a:solidFill>
            <a:srgbClr val="2F6FED"/>
          </a:solidFill>
          <a:ln/>
        </p:spPr>
      </p:sp>
      <p:sp>
        <p:nvSpPr>
          <p:cNvPr id="23" name="Text 21"/>
          <p:cNvSpPr/>
          <p:nvPr/>
        </p:nvSpPr>
        <p:spPr>
          <a:xfrm>
            <a:off x="822960" y="55778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Correr el agente base sin tools para validar que responde</a:t>
            </a:r>
            <a:endParaRPr lang="en-US" sz="1700" dirty="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6" name="Shape 24"/>
          <p:cNvSpPr/>
          <p:nvPr/>
        </p:nvSpPr>
        <p:spPr>
          <a:xfrm>
            <a:off x="8046720" y="2606040"/>
            <a:ext cx="82296" cy="3657600"/>
          </a:xfrm>
          <a:prstGeom prst="rect">
            <a:avLst/>
          </a:prstGeom>
          <a:solidFill>
            <a:srgbClr val="0B1F33"/>
          </a:solidFill>
          <a:ln/>
        </p:spPr>
      </p:sp>
      <p:sp>
        <p:nvSpPr>
          <p:cNvPr id="27" name="Text 25"/>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10 min</a:t>
            </a:r>
            <a:endParaRPr lang="en-US" sz="1500" dirty="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9" name="Text 27"/>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Entorno con dependencias instaladas</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base respondiendo sin errores</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Tareas 1 y 2: agente pro-code con grounding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Construir el agente base en Python e integrar Azure AI Search para que responda con grounding de normativa interna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955798"/>
            <a:ext cx="420624" cy="420624"/>
          </a:xfrm>
          <a:prstGeom prst="ellipse">
            <a:avLst/>
          </a:prstGeom>
          <a:solidFill>
            <a:srgbClr val="2F6FED"/>
          </a:solidFill>
          <a:ln/>
        </p:spPr>
      </p:sp>
      <p:sp>
        <p:nvSpPr>
          <p:cNvPr id="11" name="Text 9"/>
          <p:cNvSpPr/>
          <p:nvPr/>
        </p:nvSpPr>
        <p:spPr>
          <a:xfrm>
            <a:off x="822960" y="295579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Definir el agente con Agent Framework: modelo, instrucciones y sesión</a:t>
            </a:r>
            <a:endParaRPr lang="en-US" sz="1700" dirty="0"/>
          </a:p>
        </p:txBody>
      </p:sp>
      <p:sp>
        <p:nvSpPr>
          <p:cNvPr id="13" name="Shape 11"/>
          <p:cNvSpPr/>
          <p:nvPr/>
        </p:nvSpPr>
        <p:spPr>
          <a:xfrm>
            <a:off x="822960" y="3801618"/>
            <a:ext cx="420624" cy="420624"/>
          </a:xfrm>
          <a:prstGeom prst="ellipse">
            <a:avLst/>
          </a:prstGeom>
          <a:solidFill>
            <a:srgbClr val="0B1F33"/>
          </a:solidFill>
          <a:ln/>
        </p:spPr>
      </p:sp>
      <p:sp>
        <p:nvSpPr>
          <p:cNvPr id="14" name="Text 12"/>
          <p:cNvSpPr/>
          <p:nvPr/>
        </p:nvSpPr>
        <p:spPr>
          <a:xfrm>
            <a:off x="822960" y="380161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Conectar el índice de Azure AI Search como fuente de grounding</a:t>
            </a:r>
            <a:endParaRPr lang="en-US" sz="1700" dirty="0"/>
          </a:p>
        </p:txBody>
      </p:sp>
      <p:sp>
        <p:nvSpPr>
          <p:cNvPr id="16" name="Shape 14"/>
          <p:cNvSpPr/>
          <p:nvPr/>
        </p:nvSpPr>
        <p:spPr>
          <a:xfrm>
            <a:off x="822960" y="4647438"/>
            <a:ext cx="420624" cy="420624"/>
          </a:xfrm>
          <a:prstGeom prst="ellipse">
            <a:avLst/>
          </a:prstGeom>
          <a:solidFill>
            <a:srgbClr val="2F6FED"/>
          </a:solidFill>
          <a:ln/>
        </p:spPr>
      </p:sp>
      <p:sp>
        <p:nvSpPr>
          <p:cNvPr id="17" name="Text 15"/>
          <p:cNvSpPr/>
          <p:nvPr/>
        </p:nvSpPr>
        <p:spPr>
          <a:xfrm>
            <a:off x="822960" y="464743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Probar una pregunta simple y una pregunta que requiera dos subconsultas</a:t>
            </a:r>
            <a:endParaRPr lang="en-US" sz="1700" dirty="0"/>
          </a:p>
        </p:txBody>
      </p:sp>
      <p:sp>
        <p:nvSpPr>
          <p:cNvPr id="19" name="Shape 17"/>
          <p:cNvSpPr/>
          <p:nvPr/>
        </p:nvSpPr>
        <p:spPr>
          <a:xfrm>
            <a:off x="822960" y="5493258"/>
            <a:ext cx="420624" cy="420624"/>
          </a:xfrm>
          <a:prstGeom prst="ellipse">
            <a:avLst/>
          </a:prstGeom>
          <a:solidFill>
            <a:srgbClr val="0B1F33"/>
          </a:solidFill>
          <a:ln/>
        </p:spPr>
      </p:sp>
      <p:sp>
        <p:nvSpPr>
          <p:cNvPr id="20" name="Text 18"/>
          <p:cNvSpPr/>
          <p:nvPr/>
        </p:nvSpPr>
        <p:spPr>
          <a:xfrm>
            <a:off x="822960" y="549325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Revisar que la respuesta incluya una cita al fragmento usado</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8046720" y="2606040"/>
            <a:ext cx="82296" cy="3657600"/>
          </a:xfrm>
          <a:prstGeom prst="rect">
            <a:avLst/>
          </a:prstGeom>
          <a:solidFill>
            <a:srgbClr val="0B1F33"/>
          </a:solidFill>
          <a:ln/>
        </p:spPr>
      </p:sp>
      <p:sp>
        <p:nvSpPr>
          <p:cNvPr id="24" name="Text 22"/>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25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que responde con contexto recuperado del índice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Al menos una respuesta con cita verificable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100" b="1" dirty="0">
                <a:solidFill>
                  <a:srgbClr val="0B1F33"/>
                </a:solidFill>
                <a:latin typeface="Segoe UI Semibold" pitchFamily="34" charset="0"/>
                <a:ea typeface="Segoe UI Semibold" pitchFamily="34" charset="-122"/>
                <a:cs typeface="Segoe UI Semibold" pitchFamily="34" charset="-120"/>
              </a:rPr>
              <a:t>Tarea 3: implementar y probar una tool propia</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Agregar una function tool que consulte el estado de una solicitud ficticia y validar que el agente la use correctamente</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955798"/>
            <a:ext cx="420624" cy="420624"/>
          </a:xfrm>
          <a:prstGeom prst="ellipse">
            <a:avLst/>
          </a:prstGeom>
          <a:solidFill>
            <a:srgbClr val="2F6FED"/>
          </a:solidFill>
          <a:ln/>
        </p:spPr>
      </p:sp>
      <p:sp>
        <p:nvSpPr>
          <p:cNvPr id="11" name="Text 9"/>
          <p:cNvSpPr/>
          <p:nvPr/>
        </p:nvSpPr>
        <p:spPr>
          <a:xfrm>
            <a:off x="822960" y="295579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Definir el esquema JSON de la tool: nombre, parámetros y campos obligatorios</a:t>
            </a:r>
            <a:endParaRPr lang="en-US" sz="1700" dirty="0"/>
          </a:p>
        </p:txBody>
      </p:sp>
      <p:sp>
        <p:nvSpPr>
          <p:cNvPr id="13" name="Shape 11"/>
          <p:cNvSpPr/>
          <p:nvPr/>
        </p:nvSpPr>
        <p:spPr>
          <a:xfrm>
            <a:off x="822960" y="3801618"/>
            <a:ext cx="420624" cy="420624"/>
          </a:xfrm>
          <a:prstGeom prst="ellipse">
            <a:avLst/>
          </a:prstGeom>
          <a:solidFill>
            <a:srgbClr val="0B1F33"/>
          </a:solidFill>
          <a:ln/>
        </p:spPr>
      </p:sp>
      <p:sp>
        <p:nvSpPr>
          <p:cNvPr id="14" name="Text 12"/>
          <p:cNvSpPr/>
          <p:nvPr/>
        </p:nvSpPr>
        <p:spPr>
          <a:xfrm>
            <a:off x="822960" y="380161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Implementar la función que devuelve un estado de solicitud ficticio</a:t>
            </a:r>
            <a:endParaRPr lang="en-US" sz="1700" dirty="0"/>
          </a:p>
        </p:txBody>
      </p:sp>
      <p:sp>
        <p:nvSpPr>
          <p:cNvPr id="16" name="Shape 14"/>
          <p:cNvSpPr/>
          <p:nvPr/>
        </p:nvSpPr>
        <p:spPr>
          <a:xfrm>
            <a:off x="822960" y="4647438"/>
            <a:ext cx="420624" cy="420624"/>
          </a:xfrm>
          <a:prstGeom prst="ellipse">
            <a:avLst/>
          </a:prstGeom>
          <a:solidFill>
            <a:srgbClr val="2F6FED"/>
          </a:solidFill>
          <a:ln/>
        </p:spPr>
      </p:sp>
      <p:sp>
        <p:nvSpPr>
          <p:cNvPr id="17" name="Text 15"/>
          <p:cNvSpPr/>
          <p:nvPr/>
        </p:nvSpPr>
        <p:spPr>
          <a:xfrm>
            <a:off x="822960" y="464743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Adjuntar la tool al agente junto con el índice de grounding</a:t>
            </a:r>
            <a:endParaRPr lang="en-US" sz="1700" dirty="0"/>
          </a:p>
        </p:txBody>
      </p:sp>
      <p:sp>
        <p:nvSpPr>
          <p:cNvPr id="19" name="Shape 17"/>
          <p:cNvSpPr/>
          <p:nvPr/>
        </p:nvSpPr>
        <p:spPr>
          <a:xfrm>
            <a:off x="822960" y="5493258"/>
            <a:ext cx="420624" cy="420624"/>
          </a:xfrm>
          <a:prstGeom prst="ellipse">
            <a:avLst/>
          </a:prstGeom>
          <a:solidFill>
            <a:srgbClr val="0B1F33"/>
          </a:solidFill>
          <a:ln/>
        </p:spPr>
      </p:sp>
      <p:sp>
        <p:nvSpPr>
          <p:cNvPr id="20" name="Text 18"/>
          <p:cNvSpPr/>
          <p:nvPr/>
        </p:nvSpPr>
        <p:spPr>
          <a:xfrm>
            <a:off x="822960" y="549325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Probar una pregunta que debería disparar la tool y otra que no debería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8046720" y="2606040"/>
            <a:ext cx="82296" cy="3657600"/>
          </a:xfrm>
          <a:prstGeom prst="rect">
            <a:avLst/>
          </a:prstGeom>
          <a:solidFill>
            <a:srgbClr val="0B1F33"/>
          </a:solidFill>
          <a:ln/>
        </p:spPr>
      </p:sp>
      <p:sp>
        <p:nvSpPr>
          <p:cNvPr id="24" name="Text 22"/>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20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Tool implementada y adjunta al agente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Evidencia de al menos una llamada exitosa a la tool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Revisión en parejas y preguntas técnicas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Revisar el agente construido con otra persona o pareja y resolver dudas técnicas antes de cerrar el laboratorio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955798"/>
            <a:ext cx="420624" cy="420624"/>
          </a:xfrm>
          <a:prstGeom prst="ellipse">
            <a:avLst/>
          </a:prstGeom>
          <a:solidFill>
            <a:srgbClr val="2F6FED"/>
          </a:solidFill>
          <a:ln/>
        </p:spPr>
      </p:sp>
      <p:sp>
        <p:nvSpPr>
          <p:cNvPr id="11" name="Text 9"/>
          <p:cNvSpPr/>
          <p:nvPr/>
        </p:nvSpPr>
        <p:spPr>
          <a:xfrm>
            <a:off x="822960" y="295579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Intercambiar agente con otra pareja y probar dos o tres preguntas cruzadas</a:t>
            </a:r>
            <a:endParaRPr lang="en-US" sz="1700" dirty="0"/>
          </a:p>
        </p:txBody>
      </p:sp>
      <p:sp>
        <p:nvSpPr>
          <p:cNvPr id="13" name="Shape 11"/>
          <p:cNvSpPr/>
          <p:nvPr/>
        </p:nvSpPr>
        <p:spPr>
          <a:xfrm>
            <a:off x="822960" y="3801618"/>
            <a:ext cx="420624" cy="420624"/>
          </a:xfrm>
          <a:prstGeom prst="ellipse">
            <a:avLst/>
          </a:prstGeom>
          <a:solidFill>
            <a:srgbClr val="0B1F33"/>
          </a:solidFill>
          <a:ln/>
        </p:spPr>
      </p:sp>
      <p:sp>
        <p:nvSpPr>
          <p:cNvPr id="14" name="Text 12"/>
          <p:cNvSpPr/>
          <p:nvPr/>
        </p:nvSpPr>
        <p:spPr>
          <a:xfrm>
            <a:off x="822960" y="380161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Comentar decisiones de diseño: cómo definieron la tool, qué prompt usaron</a:t>
            </a:r>
            <a:endParaRPr lang="en-US" sz="1700" dirty="0"/>
          </a:p>
        </p:txBody>
      </p:sp>
      <p:sp>
        <p:nvSpPr>
          <p:cNvPr id="16" name="Shape 14"/>
          <p:cNvSpPr/>
          <p:nvPr/>
        </p:nvSpPr>
        <p:spPr>
          <a:xfrm>
            <a:off x="822960" y="4647438"/>
            <a:ext cx="420624" cy="420624"/>
          </a:xfrm>
          <a:prstGeom prst="ellipse">
            <a:avLst/>
          </a:prstGeom>
          <a:solidFill>
            <a:srgbClr val="2F6FED"/>
          </a:solidFill>
          <a:ln/>
        </p:spPr>
      </p:sp>
      <p:sp>
        <p:nvSpPr>
          <p:cNvPr id="17" name="Text 15"/>
          <p:cNvSpPr/>
          <p:nvPr/>
        </p:nvSpPr>
        <p:spPr>
          <a:xfrm>
            <a:off x="822960" y="464743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Levantar con Pablo y Valentina cualquier bloqueo técnico pendiente</a:t>
            </a:r>
            <a:endParaRPr lang="en-US" sz="1700" dirty="0"/>
          </a:p>
        </p:txBody>
      </p:sp>
      <p:sp>
        <p:nvSpPr>
          <p:cNvPr id="19" name="Shape 17"/>
          <p:cNvSpPr/>
          <p:nvPr/>
        </p:nvSpPr>
        <p:spPr>
          <a:xfrm>
            <a:off x="822960" y="5493258"/>
            <a:ext cx="420624" cy="420624"/>
          </a:xfrm>
          <a:prstGeom prst="ellipse">
            <a:avLst/>
          </a:prstGeom>
          <a:solidFill>
            <a:srgbClr val="0B1F33"/>
          </a:solidFill>
          <a:ln/>
        </p:spPr>
      </p:sp>
      <p:sp>
        <p:nvSpPr>
          <p:cNvPr id="20" name="Text 18"/>
          <p:cNvSpPr/>
          <p:nvPr/>
        </p:nvSpPr>
        <p:spPr>
          <a:xfrm>
            <a:off x="822960" y="549325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Dejar el proyecto guardado tal como queda: se retoma mañana sin cambios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8046720" y="2606040"/>
            <a:ext cx="82296" cy="3657600"/>
          </a:xfrm>
          <a:prstGeom prst="rect">
            <a:avLst/>
          </a:prstGeom>
          <a:solidFill>
            <a:srgbClr val="0B1F33"/>
          </a:solidFill>
          <a:ln/>
        </p:spPr>
      </p:sp>
      <p:sp>
        <p:nvSpPr>
          <p:cNvPr id="24" name="Text 22"/>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20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Al menos una ronda de feedback cruzado entre parejas</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diseño completado para las tareas 1 a 3</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457200"/>
            <a:ext cx="10515600" cy="914400"/>
          </a:xfrm>
          <a:prstGeom prst="rect">
            <a:avLst/>
          </a:prstGeom>
          <a:noFill/>
          <a:ln/>
        </p:spPr>
        <p:txBody>
          <a:bodyPr wrap="square" lIns="0" tIns="0" rIns="0" bIns="0" rtlCol="0" anchor="ctr"/>
          <a:lstStyle/>
          <a:p>
            <a:pPr indent="0" marL="0">
              <a:buNone/>
            </a:pPr>
            <a:r>
              <a:rPr lang="en-US" sz="3400" b="1" dirty="0">
                <a:solidFill>
                  <a:srgbClr val="FFFFFF"/>
                </a:solidFill>
                <a:latin typeface="Segoe UI Semibold" pitchFamily="34" charset="0"/>
                <a:ea typeface="Segoe UI Semibold" pitchFamily="34" charset="-122"/>
                <a:cs typeface="Segoe UI Semibold" pitchFamily="34" charset="-120"/>
              </a:rPr>
              <a:t>Lo que nos llevamos del día 2</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Una arquitectura de referencia para un agente empresarial: hosted agent, Agent Framework, tools y MCP</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Un patrón RAG funcionando con criterios de calidad y seguridad definidos, no solo conectado a un índice</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indent="0" marL="0">
              <a:buNone/>
            </a:pPr>
            <a:r>
              <a:rPr lang="en-US" sz="2300" dirty="0">
                <a:solidFill>
                  <a:srgbClr val="FFFFFF"/>
                </a:solidFill>
                <a:latin typeface="Segoe UI" pitchFamily="34" charset="0"/>
                <a:ea typeface="Segoe UI" pitchFamily="34" charset="-122"/>
                <a:cs typeface="Segoe UI" pitchFamily="34" charset="-120"/>
              </a:rPr>
              <a:t>Un agente que emite trazas legibles y una tool propia probada de punta a punta (el diagnóstico profundo es mañana)</a:t>
            </a:r>
            <a:endParaRPr lang="en-US" sz="23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Un checklist de diseño y preparación aplicable a tu próximo agente</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Checklist de preparación para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60250"/>
                <a:gridCol w="8534166"/>
              </a:tblGrid>
              <a:tr h="701040">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Área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Qué revisar antes de publicar</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Arquitectura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¿Protocolo y hosting balancean control y velocidad?</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Tools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¿Cada tool es idempotente, con timeout y mínimo privilegio?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MCP</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¿Hay allow-list, approval y logging para operaciones sensibles?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RAG</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¿El índice filtra por seguridad con el ranking adecuado?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Calidad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¿Corres Groundedness y Relevance antes de publicar?</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Usa esta checklist como gate antes de mover un agente de prototipo a piloto con usuarios reales.</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Un adelanto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2F6FED"/>
          </a:solidFill>
          <a:ln/>
        </p:spPr>
      </p:sp>
      <p:sp>
        <p:nvSpPr>
          <p:cNvPr id="8" name="Shape 6"/>
          <p:cNvSpPr/>
          <p:nvPr/>
        </p:nvSpPr>
        <p:spPr>
          <a:xfrm>
            <a:off x="822960" y="1783080"/>
            <a:ext cx="548640" cy="548640"/>
          </a:xfrm>
          <a:prstGeom prst="ellipse">
            <a:avLst/>
          </a:prstGeom>
          <a:solidFill>
            <a:srgbClr val="2F6FED"/>
          </a:solidFill>
          <a:ln/>
        </p:spPr>
      </p:sp>
      <p:sp>
        <p:nvSpPr>
          <p:cNvPr id="9" name="Text 7"/>
          <p:cNvSpPr/>
          <p:nvPr/>
        </p:nvSpPr>
        <p:spPr>
          <a:xfrm>
            <a:off x="82296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Observabilidad (09:00)</a:t>
            </a:r>
            <a:endParaRPr lang="en-US" sz="2000" dirty="0"/>
          </a:p>
        </p:txBody>
      </p:sp>
      <p:sp>
        <p:nvSpPr>
          <p:cNvPr id="11" name="Text 9"/>
          <p:cNvSpPr/>
          <p:nvPr/>
        </p:nvSpPr>
        <p:spPr>
          <a:xfrm>
            <a:off x="822960"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Trazas, diagnóstico y evaluación: abrimos retomando el proyecto de hoy para diagnosticar una falla real</a:t>
            </a:r>
            <a:endParaRPr lang="en-US" sz="1700" dirty="0"/>
          </a:p>
        </p:txBody>
      </p:sp>
      <p:sp>
        <p:nvSpPr>
          <p:cNvPr id="12" name="Shape 10"/>
          <p:cNvSpPr/>
          <p:nvPr/>
        </p:nvSpPr>
        <p:spPr>
          <a:xfrm>
            <a:off x="3390824"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3390824" y="1508760"/>
            <a:ext cx="82296" cy="4023360"/>
          </a:xfrm>
          <a:prstGeom prst="rect">
            <a:avLst/>
          </a:prstGeom>
          <a:solidFill>
            <a:srgbClr val="2F6FED"/>
          </a:solidFill>
          <a:ln/>
        </p:spPr>
      </p:sp>
      <p:sp>
        <p:nvSpPr>
          <p:cNvPr id="14" name="Shape 12"/>
          <p:cNvSpPr/>
          <p:nvPr/>
        </p:nvSpPr>
        <p:spPr>
          <a:xfrm>
            <a:off x="3665144" y="1783080"/>
            <a:ext cx="548640" cy="548640"/>
          </a:xfrm>
          <a:prstGeom prst="ellipse">
            <a:avLst/>
          </a:prstGeom>
          <a:solidFill>
            <a:srgbClr val="2F6FED"/>
          </a:solidFill>
          <a:ln/>
        </p:spPr>
      </p:sp>
      <p:sp>
        <p:nvSpPr>
          <p:cNvPr id="15" name="Text 13"/>
          <p:cNvSpPr/>
          <p:nvPr/>
        </p:nvSpPr>
        <p:spPr>
          <a:xfrm>
            <a:off x="3665144"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Multiagente y protocolos</a:t>
            </a:r>
            <a:endParaRPr lang="en-US" sz="2000" dirty="0"/>
          </a:p>
        </p:txBody>
      </p:sp>
      <p:sp>
        <p:nvSpPr>
          <p:cNvPr id="17" name="Text 15"/>
          <p:cNvSpPr/>
          <p:nvPr/>
        </p:nvSpPr>
        <p:spPr>
          <a:xfrm>
            <a:off x="3665144"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MCP, A2A y patrones de colaboración entre agentes y workflows más complejos</a:t>
            </a:r>
            <a:endParaRPr lang="en-US" sz="1700" dirty="0"/>
          </a:p>
        </p:txBody>
      </p:sp>
      <p:sp>
        <p:nvSpPr>
          <p:cNvPr id="18" name="Shape 16"/>
          <p:cNvSpPr/>
          <p:nvPr/>
        </p:nvSpPr>
        <p:spPr>
          <a:xfrm>
            <a:off x="6233008"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6233008" y="1508760"/>
            <a:ext cx="82296" cy="4023360"/>
          </a:xfrm>
          <a:prstGeom prst="rect">
            <a:avLst/>
          </a:prstGeom>
          <a:solidFill>
            <a:srgbClr val="2F6FED"/>
          </a:solidFill>
          <a:ln/>
        </p:spPr>
      </p:sp>
      <p:sp>
        <p:nvSpPr>
          <p:cNvPr id="20" name="Shape 18"/>
          <p:cNvSpPr/>
          <p:nvPr/>
        </p:nvSpPr>
        <p:spPr>
          <a:xfrm>
            <a:off x="6507328" y="1783080"/>
            <a:ext cx="548640" cy="548640"/>
          </a:xfrm>
          <a:prstGeom prst="ellipse">
            <a:avLst/>
          </a:prstGeom>
          <a:solidFill>
            <a:srgbClr val="2F6FED"/>
          </a:solidFill>
          <a:ln/>
        </p:spPr>
      </p:sp>
      <p:sp>
        <p:nvSpPr>
          <p:cNvPr id="21" name="Text 19"/>
          <p:cNvSpPr/>
          <p:nvPr/>
        </p:nvSpPr>
        <p:spPr>
          <a:xfrm>
            <a:off x="650732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Seguridad y gobernanza</a:t>
            </a:r>
            <a:endParaRPr lang="en-US" sz="2000" dirty="0"/>
          </a:p>
        </p:txBody>
      </p:sp>
      <p:sp>
        <p:nvSpPr>
          <p:cNvPr id="23" name="Text 21"/>
          <p:cNvSpPr/>
          <p:nvPr/>
        </p:nvSpPr>
        <p:spPr>
          <a:xfrm>
            <a:off x="6507328"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Content Safety avanzado, Purview, políticas de datos e identidad a escala</a:t>
            </a:r>
            <a:endParaRPr lang="en-US" sz="1700" dirty="0"/>
          </a:p>
        </p:txBody>
      </p:sp>
      <p:sp>
        <p:nvSpPr>
          <p:cNvPr id="24" name="Shape 22"/>
          <p:cNvSpPr/>
          <p:nvPr/>
        </p:nvSpPr>
        <p:spPr>
          <a:xfrm>
            <a:off x="9075191"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9075191" y="1508760"/>
            <a:ext cx="82296" cy="4023360"/>
          </a:xfrm>
          <a:prstGeom prst="rect">
            <a:avLst/>
          </a:prstGeom>
          <a:solidFill>
            <a:srgbClr val="2F6FED"/>
          </a:solidFill>
          <a:ln/>
        </p:spPr>
      </p:sp>
      <p:sp>
        <p:nvSpPr>
          <p:cNvPr id="26" name="Shape 24"/>
          <p:cNvSpPr/>
          <p:nvPr/>
        </p:nvSpPr>
        <p:spPr>
          <a:xfrm>
            <a:off x="9349511" y="1783080"/>
            <a:ext cx="548640" cy="548640"/>
          </a:xfrm>
          <a:prstGeom prst="ellipse">
            <a:avLst/>
          </a:prstGeom>
          <a:solidFill>
            <a:srgbClr val="2F6FED"/>
          </a:solidFill>
          <a:ln/>
        </p:spPr>
      </p:sp>
      <p:sp>
        <p:nvSpPr>
          <p:cNvPr id="27" name="Text 25"/>
          <p:cNvSpPr/>
          <p:nvPr/>
        </p:nvSpPr>
        <p:spPr>
          <a:xfrm>
            <a:off x="9349511"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2000" dirty="0"/>
          </a:p>
        </p:txBody>
      </p:sp>
      <p:sp>
        <p:nvSpPr>
          <p:cNvPr id="29" name="Text 27"/>
          <p:cNvSpPr/>
          <p:nvPr/>
        </p:nvSpPr>
        <p:spPr>
          <a:xfrm>
            <a:off x="9349511"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Hosted Agents, Session Gateway y AI Gateway para escalar con resiliencia y límites</a:t>
            </a:r>
            <a:endParaRPr lang="en-US" sz="1700" dirty="0"/>
          </a:p>
        </p:txBody>
      </p:sp>
      <p:sp>
        <p:nvSpPr>
          <p:cNvPr id="30" name="Text 28"/>
          <p:cNvSpPr/>
          <p:nvPr/>
        </p:nvSpPr>
        <p:spPr>
          <a:xfrm>
            <a:off x="548640" y="5669280"/>
            <a:ext cx="11094415" cy="502920"/>
          </a:xfrm>
          <a:prstGeom prst="rect">
            <a:avLst/>
          </a:prstGeom>
          <a:noFill/>
          <a:ln/>
        </p:spPr>
        <p:txBody>
          <a:bodyPr wrap="square" lIns="0" tIns="0" rIns="0" bIns="0" rtlCol="0" anchor="ctr"/>
          <a:lstStyle/>
          <a:p>
            <a:pPr indent="0" marL="0">
              <a:buNone/>
            </a:pPr>
            <a:r>
              <a:rPr lang="en-US" sz="1500" i="1" dirty="0">
                <a:solidFill>
                  <a:srgbClr val="5B6B7B"/>
                </a:solidFill>
                <a:latin typeface="Segoe UI" pitchFamily="34" charset="0"/>
                <a:ea typeface="Segoe UI" pitchFamily="34" charset="-122"/>
                <a:cs typeface="Segoe UI" pitchFamily="34" charset="-120"/>
              </a:rPr>
              <a:t>Día 3 es L300: foco en observabilidad, arquitectura empresarial, seguridad y un workshop aplicado de decisiones.</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Para seguir explorando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2F6FED"/>
          </a:solidFill>
          <a:ln/>
        </p:spPr>
      </p:sp>
      <p:sp>
        <p:nvSpPr>
          <p:cNvPr id="7" name="Text 5"/>
          <p:cNvSpPr/>
          <p:nvPr/>
        </p:nvSpPr>
        <p:spPr>
          <a:xfrm>
            <a:off x="548640" y="16230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Microsoft Agent Framework: overview</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indent="0" marL="0">
              <a:buNone/>
            </a:pPr>
            <a:r>
              <a:rPr lang="en-US" sz="1300" u="sng" dirty="0">
                <a:solidFill>
                  <a:srgbClr val="2F6FED"/>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learn.microsoft.com/en-us/agent-framework/overview/</a:t>
            </a:r>
            <a:endParaRPr lang="en-US" sz="1300" dirty="0"/>
          </a:p>
        </p:txBody>
      </p:sp>
      <p:sp>
        <p:nvSpPr>
          <p:cNvPr id="10" name="Shape 8"/>
          <p:cNvSpPr/>
          <p:nvPr/>
        </p:nvSpPr>
        <p:spPr>
          <a:xfrm>
            <a:off x="548640" y="2217420"/>
            <a:ext cx="365760" cy="365760"/>
          </a:xfrm>
          <a:prstGeom prst="ellipse">
            <a:avLst/>
          </a:prstGeom>
          <a:solidFill>
            <a:srgbClr val="0B1F33"/>
          </a:solidFill>
          <a:ln/>
        </p:spPr>
      </p:sp>
      <p:sp>
        <p:nvSpPr>
          <p:cNvPr id="11" name="Text 9"/>
          <p:cNvSpPr/>
          <p:nvPr/>
        </p:nvSpPr>
        <p:spPr>
          <a:xfrm>
            <a:off x="548640" y="22174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Hosted agents en Microsoft Foundry</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indent="0" marL="0">
              <a:buNone/>
            </a:pPr>
            <a:r>
              <a:rPr lang="en-US" sz="1100" u="sng" dirty="0">
                <a:solidFill>
                  <a:srgbClr val="2F6FED"/>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4" name="Shape 12"/>
          <p:cNvSpPr/>
          <p:nvPr/>
        </p:nvSpPr>
        <p:spPr>
          <a:xfrm>
            <a:off x="548640" y="2811780"/>
            <a:ext cx="365760" cy="365760"/>
          </a:xfrm>
          <a:prstGeom prst="ellipse">
            <a:avLst/>
          </a:prstGeom>
          <a:solidFill>
            <a:srgbClr val="2F6FED"/>
          </a:solidFill>
          <a:ln/>
        </p:spPr>
      </p:sp>
      <p:sp>
        <p:nvSpPr>
          <p:cNvPr id="15" name="Text 13"/>
          <p:cNvSpPr/>
          <p:nvPr/>
        </p:nvSpPr>
        <p:spPr>
          <a:xfrm>
            <a:off x="548640" y="28117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Model Context Protocol en Foundry</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indent="0" marL="0">
              <a:buNone/>
            </a:pPr>
            <a:r>
              <a:rPr lang="en-US" sz="1000" u="sng" dirty="0">
                <a:solidFill>
                  <a:srgbClr val="2F6FED"/>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learn.microsoft.com/en-us/azure/foundry/agents/how-to/tools/model-context-protocol</a:t>
            </a:r>
            <a:endParaRPr lang="en-US" sz="1000" dirty="0"/>
          </a:p>
        </p:txBody>
      </p:sp>
      <p:sp>
        <p:nvSpPr>
          <p:cNvPr id="18" name="Shape 16"/>
          <p:cNvSpPr/>
          <p:nvPr/>
        </p:nvSpPr>
        <p:spPr>
          <a:xfrm>
            <a:off x="548640" y="3406140"/>
            <a:ext cx="365760" cy="365760"/>
          </a:xfrm>
          <a:prstGeom prst="ellipse">
            <a:avLst/>
          </a:prstGeom>
          <a:solidFill>
            <a:srgbClr val="0B1F33"/>
          </a:solidFill>
          <a:ln/>
        </p:spPr>
      </p:sp>
      <p:sp>
        <p:nvSpPr>
          <p:cNvPr id="19" name="Text 17"/>
          <p:cNvSpPr/>
          <p:nvPr/>
        </p:nvSpPr>
        <p:spPr>
          <a:xfrm>
            <a:off x="548640" y="34061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Búsqueda híbrida en Azure AI Search</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indent="0" marL="0">
              <a:buNone/>
            </a:pPr>
            <a:r>
              <a:rPr lang="en-US" sz="1200" u="sng" dirty="0">
                <a:solidFill>
                  <a:srgbClr val="2F6FED"/>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learn.microsoft.com/en-us/azure/search/hybrid-search-overview</a:t>
            </a:r>
            <a:endParaRPr lang="en-US" sz="1200" dirty="0"/>
          </a:p>
        </p:txBody>
      </p:sp>
      <p:sp>
        <p:nvSpPr>
          <p:cNvPr id="22" name="Shape 20"/>
          <p:cNvSpPr/>
          <p:nvPr/>
        </p:nvSpPr>
        <p:spPr>
          <a:xfrm>
            <a:off x="548640" y="4000500"/>
            <a:ext cx="365760" cy="365760"/>
          </a:xfrm>
          <a:prstGeom prst="ellipse">
            <a:avLst/>
          </a:prstGeom>
          <a:solidFill>
            <a:srgbClr val="2F6FED"/>
          </a:solidFill>
          <a:ln/>
        </p:spPr>
      </p:sp>
      <p:sp>
        <p:nvSpPr>
          <p:cNvPr id="23" name="Text 21"/>
          <p:cNvSpPr/>
          <p:nvPr/>
        </p:nvSpPr>
        <p:spPr>
          <a:xfrm>
            <a:off x="548640" y="40005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Foundry IQ: conocimiento administrado</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indent="0" marL="0">
              <a:buNone/>
            </a:pPr>
            <a:r>
              <a:rPr lang="en-US" sz="1000" u="sng" dirty="0">
                <a:solidFill>
                  <a:srgbClr val="2F6FED"/>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learn.microsoft.com/en-us/azure/foundry/agents/concepts/what-is-foundry-iq</a:t>
            </a:r>
            <a:endParaRPr lang="en-US" sz="1000" dirty="0"/>
          </a:p>
        </p:txBody>
      </p:sp>
      <p:sp>
        <p:nvSpPr>
          <p:cNvPr id="26" name="Shape 24"/>
          <p:cNvSpPr/>
          <p:nvPr/>
        </p:nvSpPr>
        <p:spPr>
          <a:xfrm>
            <a:off x="548640" y="4594860"/>
            <a:ext cx="365760" cy="365760"/>
          </a:xfrm>
          <a:prstGeom prst="ellipse">
            <a:avLst/>
          </a:prstGeom>
          <a:solidFill>
            <a:srgbClr val="0B1F33"/>
          </a:solidFill>
          <a:ln/>
        </p:spPr>
      </p:sp>
      <p:sp>
        <p:nvSpPr>
          <p:cNvPr id="27" name="Text 25"/>
          <p:cNvSpPr/>
          <p:nvPr/>
        </p:nvSpPr>
        <p:spPr>
          <a:xfrm>
            <a:off x="548640" y="45948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Tracing de agentes (OpenTelemetry)</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indent="0" marL="0">
              <a:buNone/>
            </a:pPr>
            <a:r>
              <a:rPr lang="en-US" sz="1000" u="sng" dirty="0">
                <a:solidFill>
                  <a:srgbClr val="2F6FED"/>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learn.microsoft.com/en-us/azure/foundry/observability/concepts/trace-agent-concept</a:t>
            </a:r>
            <a:endParaRPr lang="en-US" sz="1000" dirty="0"/>
          </a:p>
        </p:txBody>
      </p:sp>
      <p:sp>
        <p:nvSpPr>
          <p:cNvPr id="30" name="Shape 28"/>
          <p:cNvSpPr/>
          <p:nvPr/>
        </p:nvSpPr>
        <p:spPr>
          <a:xfrm>
            <a:off x="548640" y="5189220"/>
            <a:ext cx="365760" cy="365760"/>
          </a:xfrm>
          <a:prstGeom prst="ellipse">
            <a:avLst/>
          </a:prstGeom>
          <a:solidFill>
            <a:srgbClr val="2F6FED"/>
          </a:solidFill>
          <a:ln/>
        </p:spPr>
      </p:sp>
      <p:sp>
        <p:nvSpPr>
          <p:cNvPr id="31" name="Text 29"/>
          <p:cNvSpPr/>
          <p:nvPr/>
        </p:nvSpPr>
        <p:spPr>
          <a:xfrm>
            <a:off x="548640" y="51892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Evaluación de agentes en Foundry</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indent="0" marL="0">
              <a:buNone/>
            </a:pPr>
            <a:r>
              <a:rPr lang="en-US" sz="1100" u="sng" dirty="0">
                <a:solidFill>
                  <a:srgbClr val="2F6FED"/>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learn.microsoft.com/en-us/azure/foundry/concepts/evaluation-overview</a:t>
            </a:r>
            <a:endParaRPr lang="en-US" sz="1100" dirty="0"/>
          </a:p>
        </p:txBody>
      </p:sp>
      <p:sp>
        <p:nvSpPr>
          <p:cNvPr id="34" name="Shape 32"/>
          <p:cNvSpPr/>
          <p:nvPr/>
        </p:nvSpPr>
        <p:spPr>
          <a:xfrm>
            <a:off x="548640" y="5783580"/>
            <a:ext cx="365760" cy="365760"/>
          </a:xfrm>
          <a:prstGeom prst="ellipse">
            <a:avLst/>
          </a:prstGeom>
          <a:solidFill>
            <a:srgbClr val="0B1F33"/>
          </a:solidFill>
          <a:ln/>
        </p:spPr>
      </p:sp>
      <p:sp>
        <p:nvSpPr>
          <p:cNvPr id="35" name="Text 33"/>
          <p:cNvSpPr/>
          <p:nvPr/>
        </p:nvSpPr>
        <p:spPr>
          <a:xfrm>
            <a:off x="548640" y="57835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Repo público: samples de hosted agents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indent="0" marL="0">
              <a:buNone/>
            </a:pPr>
            <a:r>
              <a:rPr lang="en-US" sz="1300" u="sng" dirty="0">
                <a:solidFill>
                  <a:srgbClr val="2F6FED"/>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github.com/microsoft-foundry/foundry-samples</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1828800"/>
            <a:ext cx="9144000" cy="1645920"/>
          </a:xfrm>
          <a:prstGeom prst="rect">
            <a:avLst/>
          </a:prstGeom>
          <a:noFill/>
          <a:ln/>
        </p:spPr>
        <p:txBody>
          <a:bodyPr wrap="square" lIns="0" tIns="0" rIns="0" bIns="0" rtlCol="0" anchor="ctr"/>
          <a:lstStyle/>
          <a:p>
            <a:pPr indent="0" marL="0">
              <a:buNone/>
            </a:pPr>
            <a:r>
              <a:rPr lang="en-US" sz="5400" b="1" dirty="0">
                <a:solidFill>
                  <a:srgbClr val="FFFFFF"/>
                </a:solidFill>
                <a:latin typeface="Segoe UI Semibold" pitchFamily="34" charset="0"/>
                <a:ea typeface="Segoe UI Semibold" pitchFamily="34" charset="-122"/>
                <a:cs typeface="Segoe UI Semibold" pitchFamily="34" charset="-120"/>
              </a:rPr>
              <a:t>Gracias, nos vemos mañana</a:t>
            </a:r>
            <a:endParaRPr lang="en-US" sz="54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indent="0" marL="0">
              <a:buNone/>
            </a:pPr>
            <a:r>
              <a:rPr lang="en-US" sz="2200" dirty="0">
                <a:solidFill>
                  <a:srgbClr val="C9D7E4"/>
                </a:solidFill>
                <a:latin typeface="Segoe UI" pitchFamily="34" charset="0"/>
                <a:ea typeface="Segoe UI" pitchFamily="34" charset="-122"/>
                <a:cs typeface="Segoe UI" pitchFamily="34" charset="-120"/>
              </a:rPr>
              <a:t>Día 3 profundiza en seguridad, gobernanza y operación a escala. Traigan sus preguntas sobre este laboratorio.</a:t>
            </a:r>
            <a:endParaRPr lang="en-US" sz="22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indent="0" marL="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Agentes y RAG con Microsoft Foundry y Azure AI Search (L200)</dc:title>
  <dc:subject>Microsoft AI Foundry BCI Training Day</dc:subject>
  <dc:creator>Microsoft</dc:creator>
  <cp:lastModifiedBy>Microsoft</cp:lastModifiedBy>
  <cp:revision>1</cp:revision>
  <dcterms:created xsi:type="dcterms:W3CDTF">2026-10-21T21:43:39Z</dcterms:created>
  <dcterms:modified xsi:type="dcterms:W3CDTF">2026-10-21T21:43:39Z</dcterms:modified>
</cp:coreProperties>
</file>