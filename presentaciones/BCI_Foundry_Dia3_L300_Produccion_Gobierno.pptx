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08" r:id="rId39"/>
    <p:sldId id="309" r:id="rId40"/>
    <p:sldId id="310" r:id="rId41"/>
    <p:sldId id="311" r:id="rId42"/>
    <p:sldId id="31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7865" autoAdjust="0"/>
  </p:normalViewPr>
  <p:slideViewPr>
    <p:cSldViewPr snapToGrid="0" snapToObjects="1">
      <p:cViewPr varScale="1">
        <p:scale>
          <a:sx n="76" d="100"/>
          <a:sy n="76" d="100"/>
        </p:scale>
        <p:origin x="1902"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learn.microsoft.com/en-us/azure/foundry/agents/how-to/multiplex-session-users"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a:t>
            </a:r>
            <a:r>
              <a:rPr lang="en-US" dirty="0" err="1"/>
              <a:t>resuelven</a:t>
            </a:r>
            <a:r>
              <a:rPr lang="en-US" dirty="0"/>
              <a:t> </a:t>
            </a:r>
            <a:r>
              <a:rPr lang="en-US" dirty="0" err="1"/>
              <a:t>problemas</a:t>
            </a:r>
            <a:r>
              <a:rPr lang="en-US" dirty="0"/>
              <a:t> </a:t>
            </a:r>
            <a:r>
              <a:rPr lang="en-US" dirty="0" err="1"/>
              <a:t>distintos</a:t>
            </a:r>
            <a:r>
              <a:rPr lang="en-US" dirty="0"/>
              <a:t> y </a:t>
            </a:r>
            <a:r>
              <a:rPr lang="en-US" dirty="0" err="1"/>
              <a:t>suelen</a:t>
            </a:r>
            <a:r>
              <a:rPr lang="en-US" dirty="0"/>
              <a:t> </a:t>
            </a:r>
            <a:r>
              <a:rPr lang="en-US" dirty="0" err="1"/>
              <a:t>convivir</a:t>
            </a:r>
            <a:r>
              <a:rPr lang="en-US" dirty="0"/>
              <a:t> en la </a:t>
            </a:r>
            <a:r>
              <a:rPr lang="en-US" dirty="0" err="1"/>
              <a:t>misma</a:t>
            </a:r>
            <a:r>
              <a:rPr lang="en-US" dirty="0"/>
              <a:t> </a:t>
            </a:r>
            <a:r>
              <a:rPr lang="en-US" dirty="0" err="1"/>
              <a:t>arquitectura</a:t>
            </a:r>
            <a:r>
              <a:rPr lang="en-US" dirty="0"/>
              <a:t>. MCP </a:t>
            </a:r>
            <a:r>
              <a:rPr lang="en-US" dirty="0" err="1"/>
              <a:t>estandariza</a:t>
            </a:r>
            <a:r>
              <a:rPr lang="en-US" dirty="0"/>
              <a:t> </a:t>
            </a:r>
            <a:r>
              <a:rPr lang="en-US" dirty="0" err="1"/>
              <a:t>cómo</a:t>
            </a:r>
            <a:r>
              <a:rPr lang="en-US" dirty="0"/>
              <a:t> un </a:t>
            </a:r>
            <a:r>
              <a:rPr lang="en-US" dirty="0" err="1"/>
              <a:t>agente</a:t>
            </a:r>
            <a:r>
              <a:rPr lang="en-US" dirty="0"/>
              <a:t> llama </a:t>
            </a:r>
            <a:r>
              <a:rPr lang="en-US" dirty="0" err="1"/>
              <a:t>herramientas</a:t>
            </a:r>
            <a:r>
              <a:rPr lang="en-US" dirty="0"/>
              <a:t> y </a:t>
            </a:r>
            <a:r>
              <a:rPr lang="en-US" dirty="0" err="1"/>
              <a:t>fuentes</a:t>
            </a:r>
            <a:r>
              <a:rPr lang="en-US" dirty="0"/>
              <a:t> de datos </a:t>
            </a:r>
            <a:r>
              <a:rPr lang="en-US" dirty="0" err="1"/>
              <a:t>externas</a:t>
            </a:r>
            <a:r>
              <a:rPr lang="en-US" dirty="0"/>
              <a:t>, con endpoints </a:t>
            </a:r>
            <a:r>
              <a:rPr lang="en-US" dirty="0" err="1"/>
              <a:t>que</a:t>
            </a:r>
            <a:r>
              <a:rPr lang="en-US" dirty="0"/>
              <a:t> el </a:t>
            </a:r>
            <a:r>
              <a:rPr lang="en-US" dirty="0" err="1"/>
              <a:t>equipo</a:t>
            </a:r>
            <a:r>
              <a:rPr lang="en-US" dirty="0"/>
              <a:t> </a:t>
            </a:r>
            <a:r>
              <a:rPr lang="en-US" dirty="0" err="1"/>
              <a:t>debe</a:t>
            </a:r>
            <a:r>
              <a:rPr lang="en-US" dirty="0"/>
              <a:t> </a:t>
            </a:r>
            <a:r>
              <a:rPr lang="en-US" dirty="0" err="1"/>
              <a:t>autohospedar</a:t>
            </a:r>
            <a:r>
              <a:rPr lang="en-US" dirty="0"/>
              <a:t> y </a:t>
            </a:r>
            <a:r>
              <a:rPr lang="en-US" dirty="0" err="1"/>
              <a:t>que</a:t>
            </a:r>
            <a:r>
              <a:rPr lang="en-US" dirty="0"/>
              <a:t> </a:t>
            </a:r>
            <a:r>
              <a:rPr lang="en-US" dirty="0" err="1"/>
              <a:t>pueden</a:t>
            </a:r>
            <a:r>
              <a:rPr lang="en-US" dirty="0"/>
              <a:t> </a:t>
            </a:r>
            <a:r>
              <a:rPr lang="en-US" dirty="0" err="1"/>
              <a:t>gobernarse</a:t>
            </a:r>
            <a:r>
              <a:rPr lang="en-US" dirty="0"/>
              <a:t> </a:t>
            </a:r>
            <a:r>
              <a:rPr lang="en-US" dirty="0" err="1"/>
              <a:t>centralizadamente</a:t>
            </a:r>
            <a:r>
              <a:rPr lang="en-US" dirty="0"/>
              <a:t> a </a:t>
            </a:r>
            <a:r>
              <a:rPr lang="en-US" dirty="0" err="1"/>
              <a:t>través</a:t>
            </a:r>
            <a:r>
              <a:rPr lang="en-US" dirty="0"/>
              <a:t> de un AI Gateway. A2A </a:t>
            </a:r>
            <a:r>
              <a:rPr lang="en-US" dirty="0" err="1"/>
              <a:t>estandariza</a:t>
            </a:r>
            <a:r>
              <a:rPr lang="en-US" dirty="0"/>
              <a:t> </a:t>
            </a:r>
            <a:r>
              <a:rPr lang="en-US" dirty="0" err="1"/>
              <a:t>cómo</a:t>
            </a:r>
            <a:r>
              <a:rPr lang="en-US" dirty="0"/>
              <a:t> un </a:t>
            </a:r>
            <a:r>
              <a:rPr lang="en-US" dirty="0" err="1"/>
              <a:t>agente</a:t>
            </a:r>
            <a:r>
              <a:rPr lang="en-US" dirty="0"/>
              <a:t> </a:t>
            </a:r>
            <a:r>
              <a:rPr lang="en-US" dirty="0" err="1"/>
              <a:t>delega</a:t>
            </a:r>
            <a:r>
              <a:rPr lang="en-US" dirty="0"/>
              <a:t> </a:t>
            </a:r>
            <a:r>
              <a:rPr lang="en-US" dirty="0" err="1"/>
              <a:t>una</a:t>
            </a:r>
            <a:r>
              <a:rPr lang="en-US" dirty="0"/>
              <a:t> </a:t>
            </a:r>
            <a:r>
              <a:rPr lang="en-US" dirty="0" err="1"/>
              <a:t>tarea</a:t>
            </a:r>
            <a:r>
              <a:rPr lang="en-US" dirty="0"/>
              <a:t> completa a </a:t>
            </a:r>
            <a:r>
              <a:rPr lang="en-US" dirty="0" err="1"/>
              <a:t>otro</a:t>
            </a:r>
            <a:r>
              <a:rPr lang="en-US" dirty="0"/>
              <a:t> </a:t>
            </a:r>
            <a:r>
              <a:rPr lang="en-US" dirty="0" err="1"/>
              <a:t>agente</a:t>
            </a:r>
            <a:r>
              <a:rPr lang="en-US" dirty="0"/>
              <a:t>, y en </a:t>
            </a:r>
            <a:r>
              <a:rPr lang="en-US" dirty="0" err="1"/>
              <a:t>su</a:t>
            </a:r>
            <a:r>
              <a:rPr lang="en-US" dirty="0"/>
              <a:t> </a:t>
            </a:r>
            <a:r>
              <a:rPr lang="en-US" dirty="0" err="1"/>
              <a:t>versión</a:t>
            </a:r>
            <a:r>
              <a:rPr lang="en-US" dirty="0"/>
              <a:t> GA (v1.0) es JSON-RPC solo </a:t>
            </a:r>
            <a:r>
              <a:rPr lang="en-US" dirty="0" err="1"/>
              <a:t>texto</a:t>
            </a:r>
            <a:r>
              <a:rPr lang="en-US" dirty="0"/>
              <a:t>, sin streaming </a:t>
            </a:r>
            <a:r>
              <a:rPr lang="en-US" dirty="0" err="1"/>
              <a:t>todavía</a:t>
            </a:r>
            <a:r>
              <a:rPr lang="en-US" dirty="0"/>
              <a:t>; </a:t>
            </a:r>
            <a:r>
              <a:rPr lang="en-US" dirty="0" err="1"/>
              <a:t>reemplaza</a:t>
            </a:r>
            <a:r>
              <a:rPr lang="en-US" dirty="0"/>
              <a:t> el </a:t>
            </a:r>
            <a:r>
              <a:rPr lang="en-US" dirty="0" err="1"/>
              <a:t>patrón</a:t>
            </a:r>
            <a:r>
              <a:rPr lang="en-US" dirty="0"/>
              <a:t> </a:t>
            </a:r>
            <a:r>
              <a:rPr lang="en-US" dirty="0" err="1"/>
              <a:t>previo</a:t>
            </a:r>
            <a:r>
              <a:rPr lang="en-US" dirty="0"/>
              <a:t> de 'Connected Agents' </a:t>
            </a:r>
            <a:r>
              <a:rPr lang="en-US" dirty="0" err="1"/>
              <a:t>donde</a:t>
            </a:r>
            <a:r>
              <a:rPr lang="en-US" dirty="0"/>
              <a:t> un </a:t>
            </a:r>
            <a:r>
              <a:rPr lang="en-US" dirty="0" err="1"/>
              <a:t>agente</a:t>
            </a:r>
            <a:r>
              <a:rPr lang="en-US" dirty="0"/>
              <a:t> se </a:t>
            </a:r>
            <a:r>
              <a:rPr lang="en-US" dirty="0" err="1"/>
              <a:t>exponía</a:t>
            </a:r>
            <a:r>
              <a:rPr lang="en-US" dirty="0"/>
              <a:t> </a:t>
            </a:r>
            <a:r>
              <a:rPr lang="en-US" dirty="0" err="1"/>
              <a:t>como</a:t>
            </a:r>
            <a:r>
              <a:rPr lang="en-US" dirty="0"/>
              <a:t> </a:t>
            </a:r>
            <a:r>
              <a:rPr lang="en-US" dirty="0" err="1"/>
              <a:t>herramienta</a:t>
            </a:r>
            <a:r>
              <a:rPr lang="en-US" dirty="0"/>
              <a:t> de </a:t>
            </a:r>
            <a:r>
              <a:rPr lang="en-US" dirty="0" err="1"/>
              <a:t>otro</a:t>
            </a:r>
            <a:r>
              <a:rPr lang="en-US" dirty="0"/>
              <a:t>. Para BCI, </a:t>
            </a:r>
            <a:r>
              <a:rPr lang="en-US" dirty="0" err="1"/>
              <a:t>esto</a:t>
            </a:r>
            <a:r>
              <a:rPr lang="en-US" dirty="0"/>
              <a:t> </a:t>
            </a:r>
            <a:r>
              <a:rPr lang="en-US" dirty="0" err="1"/>
              <a:t>habilita</a:t>
            </a:r>
            <a:r>
              <a:rPr lang="en-US" dirty="0"/>
              <a:t> </a:t>
            </a:r>
            <a:r>
              <a:rPr lang="en-US" dirty="0" err="1"/>
              <a:t>escenarios</a:t>
            </a:r>
            <a:r>
              <a:rPr lang="en-US" dirty="0"/>
              <a:t> </a:t>
            </a:r>
            <a:r>
              <a:rPr lang="en-US" dirty="0" err="1"/>
              <a:t>donde</a:t>
            </a:r>
            <a:r>
              <a:rPr lang="en-US" dirty="0"/>
              <a:t> un </a:t>
            </a:r>
            <a:r>
              <a:rPr lang="en-US" dirty="0" err="1"/>
              <a:t>agente</a:t>
            </a:r>
            <a:r>
              <a:rPr lang="en-US" dirty="0"/>
              <a:t> </a:t>
            </a:r>
            <a:r>
              <a:rPr lang="en-US" dirty="0" err="1"/>
              <a:t>orquestador</a:t>
            </a:r>
            <a:r>
              <a:rPr lang="en-US" dirty="0"/>
              <a:t> </a:t>
            </a:r>
            <a:r>
              <a:rPr lang="en-US" dirty="0" err="1"/>
              <a:t>delega</a:t>
            </a:r>
            <a:r>
              <a:rPr lang="en-US" dirty="0"/>
              <a:t> en </a:t>
            </a:r>
            <a:r>
              <a:rPr lang="en-US" dirty="0" err="1"/>
              <a:t>agentes</a:t>
            </a:r>
            <a:r>
              <a:rPr lang="en-US" dirty="0"/>
              <a:t> </a:t>
            </a:r>
            <a:r>
              <a:rPr lang="en-US" dirty="0" err="1"/>
              <a:t>especialistas</a:t>
            </a:r>
            <a:r>
              <a:rPr lang="en-US" dirty="0"/>
              <a:t> (</a:t>
            </a:r>
            <a:r>
              <a:rPr lang="en-US" dirty="0" err="1"/>
              <a:t>por</a:t>
            </a:r>
            <a:r>
              <a:rPr lang="en-US" dirty="0"/>
              <a:t> </a:t>
            </a:r>
            <a:r>
              <a:rPr lang="en-US" dirty="0" err="1"/>
              <a:t>ejemplo</a:t>
            </a:r>
            <a:r>
              <a:rPr lang="en-US" dirty="0"/>
              <a:t>, </a:t>
            </a:r>
            <a:r>
              <a:rPr lang="en-US" dirty="0" err="1"/>
              <a:t>documentos</a:t>
            </a:r>
            <a:r>
              <a:rPr lang="en-US" dirty="0"/>
              <a:t> de </a:t>
            </a:r>
            <a:r>
              <a:rPr lang="en-US" dirty="0" err="1"/>
              <a:t>comercio</a:t>
            </a:r>
            <a:r>
              <a:rPr lang="en-US" dirty="0"/>
              <a:t> exterior) </a:t>
            </a:r>
            <a:r>
              <a:rPr lang="en-US" dirty="0" err="1"/>
              <a:t>vía</a:t>
            </a:r>
            <a:r>
              <a:rPr lang="en-US" dirty="0"/>
              <a:t> A2A, y </a:t>
            </a:r>
            <a:r>
              <a:rPr lang="en-US" dirty="0" err="1"/>
              <a:t>cada</a:t>
            </a:r>
            <a:r>
              <a:rPr lang="en-US" dirty="0"/>
              <a:t> uno </a:t>
            </a:r>
            <a:r>
              <a:rPr lang="en-US" dirty="0" err="1"/>
              <a:t>usa</a:t>
            </a:r>
            <a:r>
              <a:rPr lang="en-US" dirty="0"/>
              <a:t> sus </a:t>
            </a:r>
            <a:r>
              <a:rPr lang="en-US" dirty="0" err="1"/>
              <a:t>propias</a:t>
            </a:r>
            <a:r>
              <a:rPr lang="en-US" dirty="0"/>
              <a:t> </a:t>
            </a:r>
            <a:r>
              <a:rPr lang="en-US" dirty="0" err="1"/>
              <a:t>herramientas</a:t>
            </a:r>
            <a:r>
              <a:rPr lang="en-US" dirty="0"/>
              <a:t> </a:t>
            </a:r>
            <a:r>
              <a:rPr lang="en-US" dirty="0" err="1"/>
              <a:t>vía</a:t>
            </a:r>
            <a:r>
              <a:rPr lang="en-US" dirty="0"/>
              <a:t> MCP.</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mecanismo</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A2A, y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entender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vienen</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competir</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“Con MCP, </a:t>
            </a:r>
            <a:r>
              <a:rPr lang="en-US" sz="1200" b="0" i="0" kern="1200" dirty="0" err="1">
                <a:solidFill>
                  <a:schemeClr val="tx1"/>
                </a:solidFill>
                <a:effectLst/>
                <a:latin typeface="+mn-lt"/>
                <a:ea typeface="+mn-ea"/>
                <a:cs typeface="+mn-cs"/>
              </a:rPr>
              <a:t>nuestro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razonamiento</a:t>
            </a:r>
            <a:r>
              <a:rPr lang="en-US" sz="1200" b="0" i="0" kern="1200" dirty="0">
                <a:solidFill>
                  <a:schemeClr val="tx1"/>
                </a:solidFill>
                <a:effectLst/>
                <a:latin typeface="+mn-lt"/>
                <a:ea typeface="+mn-ea"/>
                <a:cs typeface="+mn-cs"/>
              </a:rPr>
              <a:t> y llama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obtener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ejecutar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consultar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buscar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documento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invocar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API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exponerse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tools </a:t>
            </a:r>
            <a:r>
              <a:rPr lang="en-US" sz="1200" b="0" i="0" kern="1200" dirty="0" err="1">
                <a:solidFill>
                  <a:schemeClr val="tx1"/>
                </a:solidFill>
                <a:effectLst/>
                <a:latin typeface="+mn-lt"/>
                <a:ea typeface="+mn-ea"/>
                <a:cs typeface="+mn-cs"/>
              </a:rPr>
              <a:t>vía</a:t>
            </a:r>
            <a:r>
              <a:rPr lang="en-US" sz="1200" b="0" i="0" kern="1200" dirty="0">
                <a:solidFill>
                  <a:schemeClr val="tx1"/>
                </a:solidFill>
                <a:effectLst/>
                <a:latin typeface="+mn-lt"/>
                <a:ea typeface="+mn-ea"/>
                <a:cs typeface="+mn-cs"/>
              </a:rPr>
              <a:t> MCP.”</a:t>
            </a:r>
          </a:p>
          <a:p>
            <a:pPr fontAlgn="t"/>
            <a:r>
              <a:rPr lang="en-US" sz="1200" b="0" i="0" kern="1200" dirty="0">
                <a:solidFill>
                  <a:schemeClr val="tx1"/>
                </a:solidFill>
                <a:effectLst/>
                <a:latin typeface="+mn-lt"/>
                <a:ea typeface="+mn-ea"/>
                <a:cs typeface="+mn-cs"/>
              </a:rPr>
              <a:t>“Con A2A </a:t>
            </a:r>
            <a:r>
              <a:rPr lang="en-US" sz="1200" b="0" i="0" kern="1200" dirty="0" err="1">
                <a:solidFill>
                  <a:schemeClr val="tx1"/>
                </a:solidFill>
                <a:effectLst/>
                <a:latin typeface="+mn-lt"/>
                <a:ea typeface="+mn-ea"/>
                <a:cs typeface="+mn-cs"/>
              </a:rPr>
              <a:t>sucede</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instrucciones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potencialmente</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tools.”</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imaginar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bancario</a:t>
            </a:r>
            <a:r>
              <a:rPr lang="en-US" sz="1200" b="0" i="0" kern="1200" dirty="0">
                <a:solidFill>
                  <a:schemeClr val="tx1"/>
                </a:solidFill>
                <a:effectLst/>
                <a:latin typeface="+mn-lt"/>
                <a:ea typeface="+mn-ea"/>
                <a:cs typeface="+mn-cs"/>
              </a:rPr>
              <a:t> general </a:t>
            </a:r>
            <a:r>
              <a:rPr lang="en-US" sz="1200" b="0" i="0" kern="1200" dirty="0" err="1">
                <a:solidFill>
                  <a:schemeClr val="tx1"/>
                </a:solidFill>
                <a:effectLst/>
                <a:latin typeface="+mn-lt"/>
                <a:ea typeface="+mn-ea"/>
                <a:cs typeface="+mn-cs"/>
              </a:rPr>
              <a:t>recibe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crédito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delega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resuelve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parte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devuelve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regla</a:t>
            </a:r>
            <a:r>
              <a:rPr lang="en-US" sz="1200" b="0" i="0" kern="1200" dirty="0">
                <a:solidFill>
                  <a:schemeClr val="tx1"/>
                </a:solidFill>
                <a:effectLst/>
                <a:latin typeface="+mn-lt"/>
                <a:ea typeface="+mn-ea"/>
                <a:cs typeface="+mn-cs"/>
              </a:rPr>
              <a:t> mental es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MCP </a:t>
            </a:r>
            <a:r>
              <a:rPr lang="en-US" sz="1200" b="1" i="0" kern="1200" dirty="0" err="1">
                <a:solidFill>
                  <a:schemeClr val="tx1"/>
                </a:solidFill>
                <a:effectLst/>
                <a:latin typeface="+mn-lt"/>
                <a:ea typeface="+mn-ea"/>
                <a:cs typeface="+mn-cs"/>
              </a:rPr>
              <a:t>conecta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capacidades</a:t>
            </a:r>
            <a:r>
              <a:rPr lang="en-US" sz="1200" b="1" i="0" kern="1200" dirty="0">
                <a:solidFill>
                  <a:schemeClr val="tx1"/>
                </a:solidFill>
                <a:effectLst/>
                <a:latin typeface="+mn-lt"/>
                <a:ea typeface="+mn-ea"/>
                <a:cs typeface="+mn-cs"/>
              </a:rPr>
              <a:t>; A2A </a:t>
            </a:r>
            <a:r>
              <a:rPr lang="en-US" sz="1200" b="1" i="0" kern="1200" dirty="0" err="1">
                <a:solidFill>
                  <a:schemeClr val="tx1"/>
                </a:solidFill>
                <a:effectLst/>
                <a:latin typeface="+mn-lt"/>
                <a:ea typeface="+mn-ea"/>
                <a:cs typeface="+mn-cs"/>
              </a:rPr>
              <a:t>conecta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otros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ambos </a:t>
            </a:r>
            <a:r>
              <a:rPr lang="en-US" sz="1200" b="0" i="0" kern="1200" dirty="0" err="1">
                <a:solidFill>
                  <a:schemeClr val="tx1"/>
                </a:solidFill>
                <a:effectLst/>
                <a:latin typeface="+mn-lt"/>
                <a:ea typeface="+mn-ea"/>
                <a:cs typeface="+mn-cs"/>
              </a:rPr>
              <a:t>juntos</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colaborar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A2A y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uno de </a:t>
            </a:r>
            <a:r>
              <a:rPr lang="en-US" sz="1200" b="0" i="0" kern="1200" dirty="0" err="1">
                <a:solidFill>
                  <a:schemeClr val="tx1"/>
                </a:solidFill>
                <a:effectLst/>
                <a:latin typeface="+mn-lt"/>
                <a:ea typeface="+mn-ea"/>
                <a:cs typeface="+mn-cs"/>
              </a:rPr>
              <a:t>esos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MCP.”</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a:t>
            </a:r>
            <a:r>
              <a:rPr lang="en-US" dirty="0" err="1"/>
              <a:t>conectar</a:t>
            </a:r>
            <a:r>
              <a:rPr lang="en-US" dirty="0"/>
              <a:t> un </a:t>
            </a:r>
            <a:r>
              <a:rPr lang="en-US" dirty="0" err="1"/>
              <a:t>agente</a:t>
            </a:r>
            <a:r>
              <a:rPr lang="en-US" dirty="0"/>
              <a:t> a MCP, el </a:t>
            </a:r>
            <a:r>
              <a:rPr lang="en-US" dirty="0" err="1"/>
              <a:t>equipo</a:t>
            </a:r>
            <a:r>
              <a:rPr lang="en-US" dirty="0"/>
              <a:t> de </a:t>
            </a:r>
            <a:r>
              <a:rPr lang="en-US" dirty="0" err="1"/>
              <a:t>plataforma</a:t>
            </a:r>
            <a:r>
              <a:rPr lang="en-US" dirty="0"/>
              <a:t> decide </a:t>
            </a:r>
            <a:r>
              <a:rPr lang="en-US" dirty="0" err="1"/>
              <a:t>si</a:t>
            </a:r>
            <a:r>
              <a:rPr lang="en-US" dirty="0"/>
              <a:t> el </a:t>
            </a:r>
            <a:r>
              <a:rPr lang="en-US" dirty="0" err="1"/>
              <a:t>servidor</a:t>
            </a:r>
            <a:r>
              <a:rPr lang="en-US" dirty="0"/>
              <a:t> es </a:t>
            </a:r>
            <a:r>
              <a:rPr lang="en-US" dirty="0" err="1"/>
              <a:t>público</a:t>
            </a:r>
            <a:r>
              <a:rPr lang="en-US" dirty="0"/>
              <a:t> o privado, </a:t>
            </a:r>
            <a:r>
              <a:rPr lang="en-US" dirty="0" err="1"/>
              <a:t>qué</a:t>
            </a:r>
            <a:r>
              <a:rPr lang="en-US" dirty="0"/>
              <a:t> </a:t>
            </a:r>
            <a:r>
              <a:rPr lang="en-US" dirty="0" err="1"/>
              <a:t>método</a:t>
            </a:r>
            <a:r>
              <a:rPr lang="en-US" dirty="0"/>
              <a:t> de </a:t>
            </a:r>
            <a:r>
              <a:rPr lang="en-US" dirty="0" err="1"/>
              <a:t>autenticación</a:t>
            </a:r>
            <a:r>
              <a:rPr lang="en-US" dirty="0"/>
              <a:t> usar, y </a:t>
            </a:r>
            <a:r>
              <a:rPr lang="en-US" dirty="0" err="1"/>
              <a:t>puede</a:t>
            </a:r>
            <a:r>
              <a:rPr lang="en-US" dirty="0"/>
              <a:t> </a:t>
            </a:r>
            <a:r>
              <a:rPr lang="en-US" dirty="0" err="1"/>
              <a:t>agruparlo</a:t>
            </a:r>
            <a:r>
              <a:rPr lang="en-US" dirty="0"/>
              <a:t> en un Toolbox junto a </a:t>
            </a:r>
            <a:r>
              <a:rPr lang="en-US" dirty="0" err="1"/>
              <a:t>otras</a:t>
            </a:r>
            <a:r>
              <a:rPr lang="en-US" dirty="0"/>
              <a:t> </a:t>
            </a:r>
            <a:r>
              <a:rPr lang="en-US" dirty="0" err="1"/>
              <a:t>herramientas</a:t>
            </a:r>
            <a:r>
              <a:rPr lang="en-US" dirty="0"/>
              <a:t> para </a:t>
            </a:r>
            <a:r>
              <a:rPr lang="en-US" dirty="0" err="1"/>
              <a:t>simplificar</a:t>
            </a:r>
            <a:r>
              <a:rPr lang="en-US" dirty="0"/>
              <a:t> la </a:t>
            </a:r>
            <a:r>
              <a:rPr lang="en-US" dirty="0" err="1"/>
              <a:t>configuración</a:t>
            </a:r>
            <a:r>
              <a:rPr lang="en-US" dirty="0"/>
              <a:t> del </a:t>
            </a:r>
            <a:r>
              <a:rPr lang="en-US" dirty="0" err="1"/>
              <a:t>agente</a:t>
            </a:r>
            <a:r>
              <a:rPr lang="en-US" dirty="0"/>
              <a:t>; </a:t>
            </a:r>
            <a:r>
              <a:rPr lang="en-US" dirty="0" err="1"/>
              <a:t>además</a:t>
            </a:r>
            <a:r>
              <a:rPr lang="en-US" dirty="0"/>
              <a:t> hay </a:t>
            </a:r>
            <a:r>
              <a:rPr lang="en-US" dirty="0" err="1"/>
              <a:t>límites</a:t>
            </a:r>
            <a:r>
              <a:rPr lang="en-US" dirty="0"/>
              <a:t> de </a:t>
            </a:r>
            <a:r>
              <a:rPr lang="en-US" dirty="0" err="1"/>
              <a:t>tiempo</a:t>
            </a:r>
            <a:r>
              <a:rPr lang="en-US" dirty="0"/>
              <a:t> de </a:t>
            </a:r>
            <a:r>
              <a:rPr lang="en-US" dirty="0" err="1"/>
              <a:t>espera</a:t>
            </a:r>
            <a:r>
              <a:rPr lang="en-US" dirty="0"/>
              <a:t> </a:t>
            </a:r>
            <a:r>
              <a:rPr lang="en-US" dirty="0" err="1"/>
              <a:t>por</a:t>
            </a:r>
            <a:r>
              <a:rPr lang="en-US" dirty="0"/>
              <a:t> </a:t>
            </a:r>
            <a:r>
              <a:rPr lang="en-US" dirty="0" err="1"/>
              <a:t>llamada</a:t>
            </a:r>
            <a:r>
              <a:rPr lang="en-US" dirty="0"/>
              <a:t> </a:t>
            </a:r>
            <a:r>
              <a:rPr lang="en-US" dirty="0" err="1"/>
              <a:t>que</a:t>
            </a:r>
            <a:r>
              <a:rPr lang="en-US" dirty="0"/>
              <a:t> </a:t>
            </a:r>
            <a:r>
              <a:rPr lang="en-US" dirty="0" err="1"/>
              <a:t>conviene</a:t>
            </a:r>
            <a:r>
              <a:rPr lang="en-US" dirty="0"/>
              <a:t> </a:t>
            </a:r>
            <a:r>
              <a:rPr lang="en-US" dirty="0" err="1"/>
              <a:t>conocer</a:t>
            </a:r>
            <a:r>
              <a:rPr lang="en-US" dirty="0"/>
              <a:t> al </a:t>
            </a:r>
            <a:r>
              <a:rPr lang="en-US" dirty="0" err="1"/>
              <a:t>diseñar</a:t>
            </a:r>
            <a:r>
              <a:rPr lang="en-US" dirty="0"/>
              <a:t> </a:t>
            </a:r>
            <a:r>
              <a:rPr lang="en-US" dirty="0" err="1"/>
              <a:t>herramientas</a:t>
            </a:r>
            <a:r>
              <a:rPr lang="en-US" dirty="0"/>
              <a:t> de </a:t>
            </a:r>
            <a:r>
              <a:rPr lang="en-US" dirty="0" err="1"/>
              <a:t>larga</a:t>
            </a:r>
            <a:r>
              <a:rPr lang="en-US" dirty="0"/>
              <a:t> </a:t>
            </a:r>
            <a:r>
              <a:rPr lang="en-US" dirty="0" err="1"/>
              <a:t>duración</a:t>
            </a:r>
            <a:r>
              <a:rPr lang="en-US" dirty="0"/>
              <a:t>. En A2A, la </a:t>
            </a:r>
            <a:r>
              <a:rPr lang="en-US" dirty="0" err="1"/>
              <a:t>elección</a:t>
            </a:r>
            <a:r>
              <a:rPr lang="en-US" dirty="0"/>
              <a:t> entre </a:t>
            </a:r>
            <a:r>
              <a:rPr lang="en-US" dirty="0" err="1"/>
              <a:t>autenticación</a:t>
            </a:r>
            <a:r>
              <a:rPr lang="en-US" dirty="0"/>
              <a:t> </a:t>
            </a:r>
            <a:r>
              <a:rPr lang="en-US" dirty="0" err="1"/>
              <a:t>compartida</a:t>
            </a:r>
            <a:r>
              <a:rPr lang="en-US" dirty="0"/>
              <a:t> o individual </a:t>
            </a:r>
            <a:r>
              <a:rPr lang="en-US" dirty="0" err="1"/>
              <a:t>determina</a:t>
            </a:r>
            <a:r>
              <a:rPr lang="en-US" dirty="0"/>
              <a:t> </a:t>
            </a:r>
            <a:r>
              <a:rPr lang="en-US" dirty="0" err="1"/>
              <a:t>si</a:t>
            </a:r>
            <a:r>
              <a:rPr lang="en-US" dirty="0"/>
              <a:t> </a:t>
            </a:r>
            <a:r>
              <a:rPr lang="en-US" dirty="0" err="1"/>
              <a:t>todos</a:t>
            </a:r>
            <a:r>
              <a:rPr lang="en-US" dirty="0"/>
              <a:t> los </a:t>
            </a:r>
            <a:r>
              <a:rPr lang="en-US" dirty="0" err="1"/>
              <a:t>usuarios</a:t>
            </a:r>
            <a:r>
              <a:rPr lang="en-US" dirty="0"/>
              <a:t> </a:t>
            </a:r>
            <a:r>
              <a:rPr lang="en-US" dirty="0" err="1"/>
              <a:t>comparten</a:t>
            </a:r>
            <a:r>
              <a:rPr lang="en-US" dirty="0"/>
              <a:t> el </a:t>
            </a:r>
            <a:r>
              <a:rPr lang="en-US" dirty="0" err="1"/>
              <a:t>mismo</a:t>
            </a:r>
            <a:r>
              <a:rPr lang="en-US" dirty="0"/>
              <a:t> </a:t>
            </a:r>
            <a:r>
              <a:rPr lang="en-US" dirty="0" err="1"/>
              <a:t>contexto</a:t>
            </a:r>
            <a:r>
              <a:rPr lang="en-US" dirty="0"/>
              <a:t> de </a:t>
            </a:r>
            <a:r>
              <a:rPr lang="en-US" dirty="0" err="1"/>
              <a:t>acceso</a:t>
            </a:r>
            <a:r>
              <a:rPr lang="en-US" dirty="0"/>
              <a:t> o </a:t>
            </a:r>
            <a:r>
              <a:rPr lang="en-US" dirty="0" err="1"/>
              <a:t>si</a:t>
            </a:r>
            <a:r>
              <a:rPr lang="en-US" dirty="0"/>
              <a:t> </a:t>
            </a:r>
            <a:r>
              <a:rPr lang="en-US" dirty="0" err="1"/>
              <a:t>cada</a:t>
            </a:r>
            <a:r>
              <a:rPr lang="en-US" dirty="0"/>
              <a:t> uno </a:t>
            </a:r>
            <a:r>
              <a:rPr lang="en-US" dirty="0" err="1"/>
              <a:t>conserva</a:t>
            </a:r>
            <a:r>
              <a:rPr lang="en-US" dirty="0"/>
              <a:t> sus </a:t>
            </a:r>
            <a:r>
              <a:rPr lang="en-US" dirty="0" err="1"/>
              <a:t>propios</a:t>
            </a:r>
            <a:r>
              <a:rPr lang="en-US" dirty="0"/>
              <a:t> </a:t>
            </a:r>
            <a:r>
              <a:rPr lang="en-US" dirty="0" err="1"/>
              <a:t>permisos</a:t>
            </a:r>
            <a:r>
              <a:rPr lang="en-US" dirty="0"/>
              <a:t> </a:t>
            </a:r>
            <a:r>
              <a:rPr lang="en-US" dirty="0" err="1"/>
              <a:t>delegados</a:t>
            </a:r>
            <a:r>
              <a:rPr lang="en-US" dirty="0"/>
              <a:t>. La </a:t>
            </a:r>
            <a:r>
              <a:rPr lang="en-US" dirty="0" err="1"/>
              <a:t>identidad</a:t>
            </a:r>
            <a:r>
              <a:rPr lang="en-US" dirty="0"/>
              <a:t> Entra </a:t>
            </a:r>
            <a:r>
              <a:rPr lang="en-US" dirty="0" err="1"/>
              <a:t>por</a:t>
            </a:r>
            <a:r>
              <a:rPr lang="en-US" dirty="0"/>
              <a:t> </a:t>
            </a:r>
            <a:r>
              <a:rPr lang="en-US" dirty="0" err="1"/>
              <a:t>agente</a:t>
            </a:r>
            <a:r>
              <a:rPr lang="en-US" dirty="0"/>
              <a:t> </a:t>
            </a:r>
            <a:r>
              <a:rPr lang="en-US" dirty="0" err="1"/>
              <a:t>publicado</a:t>
            </a:r>
            <a:r>
              <a:rPr lang="en-US" dirty="0"/>
              <a:t> es la base para </a:t>
            </a:r>
            <a:r>
              <a:rPr lang="en-US" dirty="0" err="1"/>
              <a:t>auditoría</a:t>
            </a:r>
            <a:r>
              <a:rPr lang="en-US" dirty="0"/>
              <a:t> y </a:t>
            </a:r>
            <a:r>
              <a:rPr lang="en-US" dirty="0" err="1"/>
              <a:t>mínimo</a:t>
            </a:r>
            <a:r>
              <a:rPr lang="en-US" dirty="0"/>
              <a:t> privilegio, </a:t>
            </a:r>
            <a:r>
              <a:rPr lang="en-US" dirty="0" err="1"/>
              <a:t>tema</a:t>
            </a:r>
            <a:r>
              <a:rPr lang="en-US" dirty="0"/>
              <a:t> </a:t>
            </a:r>
            <a:r>
              <a:rPr lang="en-US" dirty="0" err="1"/>
              <a:t>que</a:t>
            </a:r>
            <a:r>
              <a:rPr lang="en-US" dirty="0"/>
              <a:t> </a:t>
            </a:r>
            <a:r>
              <a:rPr lang="en-US" dirty="0" err="1"/>
              <a:t>retomamos</a:t>
            </a:r>
            <a:r>
              <a:rPr lang="en-US" dirty="0"/>
              <a:t> en el </a:t>
            </a:r>
            <a:r>
              <a:rPr lang="en-US" dirty="0" err="1"/>
              <a:t>módulo</a:t>
            </a:r>
            <a:r>
              <a:rPr lang="en-US" dirty="0"/>
              <a:t> de </a:t>
            </a:r>
            <a:r>
              <a:rPr lang="en-US" dirty="0" err="1"/>
              <a:t>seguridad</a:t>
            </a:r>
            <a:r>
              <a:rPr lang="en-US" dirty="0"/>
              <a:t>. </a:t>
            </a:r>
          </a:p>
          <a:p>
            <a:endParaRPr lang="en-US" dirty="0"/>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diferencia</a:t>
            </a:r>
            <a:r>
              <a:rPr lang="en-US" sz="1200" b="0" i="0" kern="1200" dirty="0">
                <a:solidFill>
                  <a:schemeClr val="tx1"/>
                </a:solidFill>
                <a:effectLst/>
                <a:latin typeface="+mn-lt"/>
                <a:ea typeface="+mn-ea"/>
                <a:cs typeface="+mn-cs"/>
              </a:rPr>
              <a:t> entre MCP y A2A, </a:t>
            </a:r>
            <a:r>
              <a:rPr lang="en-US" sz="1200" b="0" i="0" kern="1200" dirty="0" err="1">
                <a:solidFill>
                  <a:schemeClr val="tx1"/>
                </a:solidFill>
                <a:effectLst/>
                <a:latin typeface="+mn-lt"/>
                <a:ea typeface="+mn-ea"/>
                <a:cs typeface="+mn-cs"/>
              </a:rPr>
              <a:t>veamos</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ambos </a:t>
            </a:r>
            <a:r>
              <a:rPr lang="en-US" sz="1200" b="0" i="0" kern="1200" dirty="0" err="1">
                <a:solidFill>
                  <a:schemeClr val="tx1"/>
                </a:solidFill>
                <a:effectLst/>
                <a:latin typeface="+mn-lt"/>
                <a:ea typeface="+mn-ea"/>
                <a:cs typeface="+mn-cs"/>
              </a:rPr>
              <a:t>tienen</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común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llevamos</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entorno</a:t>
            </a:r>
            <a:r>
              <a:rPr lang="en-US" sz="1200" b="0" i="0" kern="1200" dirty="0">
                <a:solidFill>
                  <a:schemeClr val="tx1"/>
                </a:solidFill>
                <a:effectLst/>
                <a:latin typeface="+mn-lt"/>
                <a:ea typeface="+mn-ea"/>
                <a:cs typeface="+mn-cs"/>
              </a:rPr>
              <a:t> enterprise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en </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los </a:t>
            </a:r>
            <a:r>
              <a:rPr lang="en-US" sz="1200" b="1" i="0" kern="1200" dirty="0" err="1">
                <a:solidFill>
                  <a:schemeClr val="tx1"/>
                </a:solidFill>
                <a:effectLst/>
                <a:latin typeface="+mn-lt"/>
                <a:ea typeface="+mn-ea"/>
                <a:cs typeface="+mn-cs"/>
              </a:rPr>
              <a:t>autenticamos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controlamos</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gobernamos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el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a:t>
            </a:r>
            <a:r>
              <a:rPr lang="en-US" sz="1200" b="1" i="0" kern="1200" dirty="0">
                <a:solidFill>
                  <a:schemeClr val="tx1"/>
                </a:solidFill>
                <a:effectLst/>
                <a:latin typeface="+mn-lt"/>
                <a:ea typeface="+mn-ea"/>
                <a:cs typeface="+mn-cs"/>
              </a:rPr>
              <a:t>MCP</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conectando</a:t>
            </a:r>
            <a:r>
              <a:rPr lang="en-US" sz="1200" b="0" i="0" kern="1200" dirty="0">
                <a:solidFill>
                  <a:schemeClr val="tx1"/>
                </a:solidFill>
                <a:effectLst/>
                <a:latin typeface="+mn-lt"/>
                <a:ea typeface="+mn-ea"/>
                <a:cs typeface="+mn-cs"/>
              </a:rPr>
              <a:t> es un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expuesto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un endpoint </a:t>
            </a:r>
            <a:r>
              <a:rPr lang="en-US" sz="1200" b="0" i="0" kern="1200" dirty="0" err="1">
                <a:solidFill>
                  <a:schemeClr val="tx1"/>
                </a:solidFill>
                <a:effectLst/>
                <a:latin typeface="+mn-lt"/>
                <a:ea typeface="+mn-ea"/>
                <a:cs typeface="+mn-cs"/>
              </a:rPr>
              <a:t>público</a:t>
            </a:r>
            <a:r>
              <a:rPr lang="en-US" sz="1200" b="0" i="0" kern="1200" dirty="0">
                <a:solidFill>
                  <a:schemeClr val="tx1"/>
                </a:solidFill>
                <a:effectLst/>
                <a:latin typeface="+mn-lt"/>
                <a:ea typeface="+mn-ea"/>
                <a:cs typeface="+mn-cs"/>
              </a:rPr>
              <a:t> o privado, y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agrupar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consuman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manera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centralizada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“Un punto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conectarnos</a:t>
            </a:r>
            <a:r>
              <a:rPr lang="en-US" sz="1200" b="0" i="0" kern="1200" dirty="0">
                <a:solidFill>
                  <a:schemeClr val="tx1"/>
                </a:solidFill>
                <a:effectLst/>
                <a:latin typeface="+mn-lt"/>
                <a:ea typeface="+mn-ea"/>
                <a:cs typeface="+mn-cs"/>
              </a:rPr>
              <a:t> a un MCP no </a:t>
            </a:r>
            <a:r>
              <a:rPr lang="en-US" sz="1200" b="0" i="0" kern="1200" dirty="0" err="1">
                <a:solidFill>
                  <a:schemeClr val="tx1"/>
                </a:solidFill>
                <a:effectLst/>
                <a:latin typeface="+mn-lt"/>
                <a:ea typeface="+mn-ea"/>
                <a:cs typeface="+mn-cs"/>
              </a:rPr>
              <a:t>significa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automáticamente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tengamos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 sus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requerir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credencial</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realizará</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“Con </a:t>
            </a:r>
            <a:r>
              <a:rPr lang="en-US" sz="1200" b="1" i="0" kern="1200" dirty="0">
                <a:solidFill>
                  <a:schemeClr val="tx1"/>
                </a:solidFill>
                <a:effectLst/>
                <a:latin typeface="+mn-lt"/>
                <a:ea typeface="+mn-ea"/>
                <a:cs typeface="+mn-cs"/>
              </a:rPr>
              <a:t>A2A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situación</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conceptualmente</a:t>
            </a:r>
            <a:r>
              <a:rPr lang="en-US" sz="1200" b="0" i="0" kern="1200" dirty="0">
                <a:solidFill>
                  <a:schemeClr val="tx1"/>
                </a:solidFill>
                <a:effectLst/>
                <a:latin typeface="+mn-lt"/>
                <a:ea typeface="+mn-ea"/>
                <a:cs typeface="+mn-cs"/>
              </a:rPr>
              <a:t> similar,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accediendo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sino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A2A define un </a:t>
            </a:r>
            <a:r>
              <a:rPr lang="en-US" sz="1200" b="0" i="0" kern="1200" dirty="0" err="1">
                <a:solidFill>
                  <a:schemeClr val="tx1"/>
                </a:solidFill>
                <a:effectLst/>
                <a:latin typeface="+mn-lt"/>
                <a:ea typeface="+mn-ea"/>
                <a:cs typeface="+mn-cs"/>
              </a:rPr>
              <a:t>contrato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estándar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enviar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recibir</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respuestas</a:t>
            </a:r>
            <a:r>
              <a:rPr lang="en-US" sz="1200" b="0" i="0" kern="1200" dirty="0">
                <a:solidFill>
                  <a:schemeClr val="tx1"/>
                </a:solidFill>
                <a:effectLst/>
                <a:latin typeface="+mn-lt"/>
                <a:ea typeface="+mn-ea"/>
                <a:cs typeface="+mn-cs"/>
              </a:rPr>
              <a:t>.” </a:t>
            </a:r>
          </a:p>
          <a:p>
            <a:pPr fontAlgn="t"/>
            <a:r>
              <a:rPr lang="en-US" sz="1200" b="0" i="0" kern="1200" dirty="0">
                <a:solidFill>
                  <a:schemeClr val="tx1"/>
                </a:solidFill>
                <a:effectLst/>
                <a:latin typeface="+mn-lt"/>
                <a:ea typeface="+mn-ea"/>
                <a:cs typeface="+mn-cs"/>
              </a:rPr>
              <a:t>“Para A2A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decisión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compartida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todos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misma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para acceder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remoto</a:t>
            </a:r>
            <a:r>
              <a:rPr lang="en-US" sz="1200" b="0" i="0" kern="1200" dirty="0">
                <a:solidFill>
                  <a:schemeClr val="tx1"/>
                </a:solidFill>
                <a:effectLst/>
                <a:latin typeface="+mn-lt"/>
                <a:ea typeface="+mn-ea"/>
                <a:cs typeface="+mn-cs"/>
              </a:rPr>
              <a:t>, o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individual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preservar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contexto</a:t>
            </a:r>
            <a:r>
              <a:rPr lang="en-US" sz="1200" b="0" i="0" kern="1200" dirty="0">
                <a:solidFill>
                  <a:schemeClr val="tx1"/>
                </a:solidFill>
                <a:effectLst/>
                <a:latin typeface="+mn-lt"/>
                <a:ea typeface="+mn-ea"/>
                <a:cs typeface="+mn-cs"/>
              </a:rPr>
              <a:t> y los </a:t>
            </a:r>
            <a:r>
              <a:rPr lang="en-US" sz="1200" b="0" i="0" kern="1200" dirty="0" err="1">
                <a:solidFill>
                  <a:schemeClr val="tx1"/>
                </a:solidFill>
                <a:effectLst/>
                <a:latin typeface="+mn-lt"/>
                <a:ea typeface="+mn-ea"/>
                <a:cs typeface="+mn-cs"/>
              </a:rPr>
              <a:t>permisos</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final </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publicados</a:t>
            </a:r>
            <a:r>
              <a:rPr lang="en-US" sz="1200" b="0" i="0" kern="1200" dirty="0">
                <a:solidFill>
                  <a:schemeClr val="tx1"/>
                </a:solidFill>
                <a:effectLst/>
                <a:latin typeface="+mn-lt"/>
                <a:ea typeface="+mn-ea"/>
                <a:cs typeface="+mn-cs"/>
              </a:rPr>
              <a:t> en Foundry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Eso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tratar</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identificable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para acceder a </a:t>
            </a:r>
            <a:r>
              <a:rPr lang="en-US" sz="1200" b="0" i="0" kern="1200" dirty="0" err="1">
                <a:solidFill>
                  <a:schemeClr val="tx1"/>
                </a:solidFill>
                <a:effectLst/>
                <a:latin typeface="+mn-lt"/>
                <a:ea typeface="+mn-ea"/>
                <a:cs typeface="+mn-cs"/>
              </a:rPr>
              <a:t>recursos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protegidos</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contempla</a:t>
            </a:r>
            <a:r>
              <a:rPr lang="en-US" sz="1200" b="0" i="0" kern="1200" dirty="0">
                <a:solidFill>
                  <a:schemeClr val="tx1"/>
                </a:solidFill>
                <a:effectLst/>
                <a:latin typeface="+mn-lt"/>
                <a:ea typeface="+mn-ea"/>
                <a:cs typeface="+mn-cs"/>
              </a:rPr>
              <a:t> agent identity tanto para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para A2A.” </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sistema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responder </a:t>
            </a:r>
            <a:r>
              <a:rPr lang="en-US" sz="1200" b="0" i="0" kern="1200" dirty="0" err="1">
                <a:solidFill>
                  <a:schemeClr val="tx1"/>
                </a:solidFill>
                <a:effectLst/>
                <a:latin typeface="+mn-lt"/>
                <a:ea typeface="+mn-ea"/>
                <a:cs typeface="+mn-cs"/>
              </a:rPr>
              <a:t>preguntas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hizo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llamada</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recurso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accedió</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permisos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tenía</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AI Gateway con Azure API Management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APIM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existentes</a:t>
            </a:r>
            <a:r>
              <a:rPr lang="en-US" sz="1200" b="0" i="0" kern="1200" dirty="0">
                <a:solidFill>
                  <a:schemeClr val="tx1"/>
                </a:solidFill>
                <a:effectLst/>
                <a:latin typeface="+mn-lt"/>
                <a:ea typeface="+mn-ea"/>
                <a:cs typeface="+mn-cs"/>
              </a:rPr>
              <a:t> y también APIs de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compatibles con A2A.”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la idea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quiero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quede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slide es: </a:t>
            </a:r>
            <a:r>
              <a:rPr lang="en-US" sz="1200" b="1" i="0" kern="1200" dirty="0">
                <a:solidFill>
                  <a:schemeClr val="tx1"/>
                </a:solidFill>
                <a:effectLst/>
                <a:latin typeface="+mn-lt"/>
                <a:ea typeface="+mn-ea"/>
                <a:cs typeface="+mn-cs"/>
              </a:rPr>
              <a:t>MCP y A2A </a:t>
            </a:r>
            <a:r>
              <a:rPr lang="en-US" sz="1200" b="1" i="0" kern="1200" dirty="0" err="1">
                <a:solidFill>
                  <a:schemeClr val="tx1"/>
                </a:solidFill>
                <a:effectLst/>
                <a:latin typeface="+mn-lt"/>
                <a:ea typeface="+mn-ea"/>
                <a:cs typeface="+mn-cs"/>
              </a:rPr>
              <a:t>resuelven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problemas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diferentes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pero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cuando</a:t>
            </a:r>
            <a:r>
              <a:rPr lang="en-US" sz="1200" b="1" i="0" kern="1200" dirty="0">
                <a:solidFill>
                  <a:schemeClr val="tx1"/>
                </a:solidFill>
                <a:effectLst/>
                <a:latin typeface="+mn-lt"/>
                <a:ea typeface="+mn-ea"/>
                <a:cs typeface="+mn-cs"/>
              </a:rPr>
              <a:t> los </a:t>
            </a:r>
            <a:r>
              <a:rPr lang="en-US" sz="1200" b="1" i="0" kern="1200" dirty="0" err="1">
                <a:solidFill>
                  <a:schemeClr val="tx1"/>
                </a:solidFill>
                <a:effectLst/>
                <a:latin typeface="+mn-lt"/>
                <a:ea typeface="+mn-ea"/>
                <a:cs typeface="+mn-cs"/>
              </a:rPr>
              <a:t>llevamos</a:t>
            </a:r>
            <a:r>
              <a:rPr lang="en-US" sz="1200" b="1" i="0" kern="1200" dirty="0">
                <a:solidFill>
                  <a:schemeClr val="tx1"/>
                </a:solidFill>
                <a:effectLst/>
                <a:latin typeface="+mn-lt"/>
                <a:ea typeface="+mn-ea"/>
                <a:cs typeface="+mn-cs"/>
              </a:rPr>
              <a:t> a </a:t>
            </a:r>
            <a:r>
              <a:rPr lang="en-US" sz="1200" b="1" i="0" kern="1200" dirty="0" err="1">
                <a:solidFill>
                  <a:schemeClr val="tx1"/>
                </a:solidFill>
                <a:effectLst/>
                <a:latin typeface="+mn-lt"/>
                <a:ea typeface="+mn-ea"/>
                <a:cs typeface="+mn-cs"/>
              </a:rPr>
              <a:t>producción</a:t>
            </a:r>
            <a:r>
              <a:rPr lang="en-US" sz="1200" b="1" i="0" kern="1200" dirty="0">
                <a:solidFill>
                  <a:schemeClr val="tx1"/>
                </a:solidFill>
                <a:effectLst/>
                <a:latin typeface="+mn-lt"/>
                <a:ea typeface="+mn-ea"/>
                <a:cs typeface="+mn-cs"/>
              </a:rPr>
              <a:t> ambos </a:t>
            </a:r>
            <a:r>
              <a:rPr lang="en-US" sz="1200" b="1" i="0" kern="1200" dirty="0" err="1">
                <a:solidFill>
                  <a:schemeClr val="tx1"/>
                </a:solidFill>
                <a:effectLst/>
                <a:latin typeface="+mn-lt"/>
                <a:ea typeface="+mn-ea"/>
                <a:cs typeface="+mn-cs"/>
              </a:rPr>
              <a:t>necesitan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observabilidad</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a:t>
            </a:r>
            <a:r>
              <a:rPr lang="en-US" dirty="0" err="1"/>
              <a:t>cinco</a:t>
            </a:r>
            <a:r>
              <a:rPr lang="en-US" dirty="0"/>
              <a:t> </a:t>
            </a:r>
            <a:r>
              <a:rPr lang="en-US" dirty="0" err="1"/>
              <a:t>patrones</a:t>
            </a:r>
            <a:r>
              <a:rPr lang="en-US" dirty="0"/>
              <a:t> de </a:t>
            </a:r>
            <a:r>
              <a:rPr lang="en-US" dirty="0" err="1"/>
              <a:t>orquestación</a:t>
            </a:r>
            <a:r>
              <a:rPr lang="en-US" dirty="0"/>
              <a:t> </a:t>
            </a:r>
            <a:r>
              <a:rPr lang="en-US" dirty="0" err="1"/>
              <a:t>multiagente</a:t>
            </a:r>
            <a:r>
              <a:rPr lang="en-US" dirty="0"/>
              <a:t>: sequential (pipeline), concurrent (</a:t>
            </a:r>
            <a:r>
              <a:rPr lang="en-US" dirty="0" err="1"/>
              <a:t>paralelo</a:t>
            </a:r>
            <a:r>
              <a:rPr lang="en-US" dirty="0"/>
              <a:t>), handoff (</a:t>
            </a:r>
            <a:r>
              <a:rPr lang="en-US" dirty="0" err="1"/>
              <a:t>transferencia</a:t>
            </a:r>
            <a:r>
              <a:rPr lang="en-US" dirty="0"/>
              <a:t> de control sin </a:t>
            </a:r>
            <a:r>
              <a:rPr lang="en-US" dirty="0" err="1"/>
              <a:t>orquestador</a:t>
            </a:r>
            <a:r>
              <a:rPr lang="en-US" dirty="0"/>
              <a:t>, </a:t>
            </a:r>
            <a:r>
              <a:rPr lang="en-US" dirty="0" err="1"/>
              <a:t>topología</a:t>
            </a:r>
            <a:r>
              <a:rPr lang="en-US" dirty="0"/>
              <a:t> </a:t>
            </a:r>
            <a:r>
              <a:rPr lang="en-US" dirty="0" err="1"/>
              <a:t>malla</a:t>
            </a:r>
            <a:r>
              <a:rPr lang="en-US" dirty="0"/>
              <a:t>, el </a:t>
            </a:r>
            <a:r>
              <a:rPr lang="en-US" dirty="0" err="1"/>
              <a:t>agente</a:t>
            </a:r>
            <a:r>
              <a:rPr lang="en-US" dirty="0"/>
              <a:t> receptor </a:t>
            </a:r>
            <a:r>
              <a:rPr lang="en-US" dirty="0" err="1"/>
              <a:t>toma</a:t>
            </a:r>
            <a:r>
              <a:rPr lang="en-US" dirty="0"/>
              <a:t> </a:t>
            </a:r>
            <a:r>
              <a:rPr lang="en-US" dirty="0" err="1"/>
              <a:t>dueño</a:t>
            </a:r>
            <a:r>
              <a:rPr lang="en-US" dirty="0"/>
              <a:t> total de la </a:t>
            </a:r>
            <a:r>
              <a:rPr lang="en-US" dirty="0" err="1"/>
              <a:t>tarea</a:t>
            </a:r>
            <a:r>
              <a:rPr lang="en-US" dirty="0"/>
              <a:t>), group chat (</a:t>
            </a:r>
            <a:r>
              <a:rPr lang="en-US" dirty="0" err="1"/>
              <a:t>orquestador</a:t>
            </a:r>
            <a:r>
              <a:rPr lang="en-US" dirty="0"/>
              <a:t> central </a:t>
            </a:r>
            <a:r>
              <a:rPr lang="en-US" dirty="0" err="1"/>
              <a:t>que</a:t>
            </a:r>
            <a:r>
              <a:rPr lang="en-US" dirty="0"/>
              <a:t> </a:t>
            </a:r>
            <a:r>
              <a:rPr lang="en-US" dirty="0" err="1"/>
              <a:t>elige</a:t>
            </a:r>
            <a:r>
              <a:rPr lang="en-US" dirty="0"/>
              <a:t> </a:t>
            </a:r>
            <a:r>
              <a:rPr lang="en-US" dirty="0" err="1"/>
              <a:t>quién</a:t>
            </a:r>
            <a:r>
              <a:rPr lang="en-US" dirty="0"/>
              <a:t> </a:t>
            </a:r>
            <a:r>
              <a:rPr lang="en-US" dirty="0" err="1"/>
              <a:t>habla</a:t>
            </a:r>
            <a:r>
              <a:rPr lang="en-US" dirty="0"/>
              <a:t>, </a:t>
            </a:r>
            <a:r>
              <a:rPr lang="en-US" dirty="0" err="1"/>
              <a:t>topología</a:t>
            </a:r>
            <a:r>
              <a:rPr lang="en-US" dirty="0"/>
              <a:t> estrella) y </a:t>
            </a:r>
            <a:r>
              <a:rPr lang="en-US" dirty="0" err="1"/>
              <a:t>Magentic</a:t>
            </a:r>
            <a:r>
              <a:rPr lang="en-US" dirty="0"/>
              <a:t> (</a:t>
            </a:r>
            <a:r>
              <a:rPr lang="en-US" dirty="0" err="1"/>
              <a:t>inspirado</a:t>
            </a:r>
            <a:r>
              <a:rPr lang="en-US" dirty="0"/>
              <a:t> en </a:t>
            </a:r>
            <a:r>
              <a:rPr lang="en-US" dirty="0" err="1"/>
              <a:t>Magentic</a:t>
            </a:r>
            <a:r>
              <a:rPr lang="en-US" dirty="0"/>
              <a:t>-One de </a:t>
            </a:r>
            <a:r>
              <a:rPr lang="en-US" dirty="0" err="1"/>
              <a:t>AutoGen</a:t>
            </a:r>
            <a:r>
              <a:rPr lang="en-US" dirty="0"/>
              <a:t>, un manager </a:t>
            </a:r>
            <a:r>
              <a:rPr lang="en-US" dirty="0" err="1"/>
              <a:t>planifica</a:t>
            </a:r>
            <a:r>
              <a:rPr lang="en-US" dirty="0"/>
              <a:t> y </a:t>
            </a:r>
            <a:r>
              <a:rPr lang="en-US" dirty="0" err="1"/>
              <a:t>coordina</a:t>
            </a:r>
            <a:r>
              <a:rPr lang="en-US" dirty="0"/>
              <a:t> </a:t>
            </a:r>
            <a:r>
              <a:rPr lang="en-US" dirty="0" err="1"/>
              <a:t>dinámicamente</a:t>
            </a:r>
            <a:r>
              <a:rPr lang="en-US" dirty="0"/>
              <a:t> </a:t>
            </a:r>
            <a:r>
              <a:rPr lang="en-US" dirty="0" err="1"/>
              <a:t>agentes</a:t>
            </a:r>
            <a:r>
              <a:rPr lang="en-US" dirty="0"/>
              <a:t> </a:t>
            </a:r>
            <a:r>
              <a:rPr lang="en-US" dirty="0" err="1"/>
              <a:t>especialistas</a:t>
            </a:r>
            <a:r>
              <a:rPr lang="en-US" dirty="0"/>
              <a:t> para </a:t>
            </a:r>
            <a:r>
              <a:rPr lang="en-US" dirty="0" err="1"/>
              <a:t>tareas</a:t>
            </a:r>
            <a:r>
              <a:rPr lang="en-US" dirty="0"/>
              <a:t> </a:t>
            </a:r>
            <a:r>
              <a:rPr lang="en-US" dirty="0" err="1"/>
              <a:t>abiertas</a:t>
            </a:r>
            <a:r>
              <a:rPr lang="en-US" dirty="0"/>
              <a:t> sin </a:t>
            </a:r>
            <a:r>
              <a:rPr lang="en-US" dirty="0" err="1"/>
              <a:t>ruta</a:t>
            </a:r>
            <a:r>
              <a:rPr lang="en-US" dirty="0"/>
              <a:t> de </a:t>
            </a:r>
            <a:r>
              <a:rPr lang="en-US" dirty="0" err="1"/>
              <a:t>solución</a:t>
            </a:r>
            <a:r>
              <a:rPr lang="en-US" dirty="0"/>
              <a:t> </a:t>
            </a:r>
            <a:r>
              <a:rPr lang="en-US" dirty="0" err="1"/>
              <a:t>conocida</a:t>
            </a:r>
            <a:r>
              <a:rPr lang="en-US" dirty="0"/>
              <a:t> de </a:t>
            </a:r>
            <a:r>
              <a:rPr lang="en-US" dirty="0" err="1"/>
              <a:t>antemano</a:t>
            </a:r>
            <a:r>
              <a:rPr lang="en-US" dirty="0"/>
              <a:t>). El sexto </a:t>
            </a:r>
            <a:r>
              <a:rPr lang="en-US" dirty="0" err="1"/>
              <a:t>recuadro</a:t>
            </a:r>
            <a:r>
              <a:rPr lang="en-US" dirty="0"/>
              <a:t> es la </a:t>
            </a:r>
            <a:r>
              <a:rPr lang="en-US" dirty="0" err="1"/>
              <a:t>advertencia</a:t>
            </a:r>
            <a:r>
              <a:rPr lang="en-US" dirty="0"/>
              <a:t> </a:t>
            </a:r>
            <a:r>
              <a:rPr lang="en-US" dirty="0" err="1"/>
              <a:t>más</a:t>
            </a:r>
            <a:r>
              <a:rPr lang="en-US" dirty="0"/>
              <a:t> </a:t>
            </a:r>
            <a:r>
              <a:rPr lang="en-US" dirty="0" err="1"/>
              <a:t>importante</a:t>
            </a:r>
            <a:r>
              <a:rPr lang="en-US" dirty="0"/>
              <a:t> para </a:t>
            </a:r>
            <a:r>
              <a:rPr lang="en-US" dirty="0" err="1"/>
              <a:t>arquitectos</a:t>
            </a:r>
            <a:r>
              <a:rPr lang="en-US" dirty="0"/>
              <a:t>: </a:t>
            </a:r>
            <a:r>
              <a:rPr lang="en-US" dirty="0" err="1"/>
              <a:t>si</a:t>
            </a:r>
            <a:r>
              <a:rPr lang="en-US" dirty="0"/>
              <a:t> la </a:t>
            </a:r>
            <a:r>
              <a:rPr lang="en-US" dirty="0" err="1"/>
              <a:t>tarea</a:t>
            </a:r>
            <a:r>
              <a:rPr lang="en-US" dirty="0"/>
              <a:t> no </a:t>
            </a:r>
            <a:r>
              <a:rPr lang="en-US" dirty="0" err="1"/>
              <a:t>requiere</a:t>
            </a:r>
            <a:r>
              <a:rPr lang="en-US" dirty="0"/>
              <a:t> </a:t>
            </a:r>
            <a:r>
              <a:rPr lang="en-US" dirty="0" err="1"/>
              <a:t>especialización</a:t>
            </a:r>
            <a:r>
              <a:rPr lang="en-US" dirty="0"/>
              <a:t>, </a:t>
            </a:r>
            <a:r>
              <a:rPr lang="en-US" dirty="0" err="1"/>
              <a:t>paralelismo</a:t>
            </a:r>
            <a:r>
              <a:rPr lang="en-US" dirty="0"/>
              <a:t> real o </a:t>
            </a:r>
            <a:r>
              <a:rPr lang="en-US" dirty="0" err="1"/>
              <a:t>planificación</a:t>
            </a:r>
            <a:r>
              <a:rPr lang="en-US" dirty="0"/>
              <a:t> </a:t>
            </a:r>
            <a:r>
              <a:rPr lang="en-US" dirty="0" err="1"/>
              <a:t>dinámica</a:t>
            </a:r>
            <a:r>
              <a:rPr lang="en-US" dirty="0"/>
              <a:t>, un solo </a:t>
            </a:r>
            <a:r>
              <a:rPr lang="en-US" dirty="0" err="1"/>
              <a:t>agente</a:t>
            </a:r>
            <a:r>
              <a:rPr lang="en-US" dirty="0"/>
              <a:t> bien </a:t>
            </a:r>
            <a:r>
              <a:rPr lang="en-US" dirty="0" err="1"/>
              <a:t>diseñado</a:t>
            </a:r>
            <a:r>
              <a:rPr lang="en-US" dirty="0"/>
              <a:t> es </a:t>
            </a:r>
            <a:r>
              <a:rPr lang="en-US" dirty="0" err="1"/>
              <a:t>más</a:t>
            </a:r>
            <a:r>
              <a:rPr lang="en-US" dirty="0"/>
              <a:t> simple, </a:t>
            </a:r>
            <a:r>
              <a:rPr lang="en-US" dirty="0" err="1"/>
              <a:t>más</a:t>
            </a:r>
            <a:r>
              <a:rPr lang="en-US" dirty="0"/>
              <a:t> </a:t>
            </a:r>
            <a:r>
              <a:rPr lang="en-US" dirty="0" err="1"/>
              <a:t>barato</a:t>
            </a:r>
            <a:r>
              <a:rPr lang="en-US" dirty="0"/>
              <a:t> y </a:t>
            </a:r>
            <a:r>
              <a:rPr lang="en-US" dirty="0" err="1"/>
              <a:t>más</a:t>
            </a:r>
            <a:r>
              <a:rPr lang="en-US" dirty="0"/>
              <a:t> </a:t>
            </a:r>
            <a:r>
              <a:rPr lang="en-US" dirty="0" err="1"/>
              <a:t>fácil</a:t>
            </a:r>
            <a:r>
              <a:rPr lang="en-US" dirty="0"/>
              <a:t> de </a:t>
            </a:r>
            <a:r>
              <a:rPr lang="en-US" dirty="0" err="1"/>
              <a:t>evaluar</a:t>
            </a:r>
            <a:r>
              <a:rPr lang="en-US" dirty="0"/>
              <a:t> </a:t>
            </a:r>
            <a:r>
              <a:rPr lang="en-US" dirty="0" err="1"/>
              <a:t>que</a:t>
            </a:r>
            <a:r>
              <a:rPr lang="en-US" dirty="0"/>
              <a:t> </a:t>
            </a:r>
            <a:r>
              <a:rPr lang="en-US" dirty="0" err="1"/>
              <a:t>cualquier</a:t>
            </a:r>
            <a:r>
              <a:rPr lang="en-US" dirty="0"/>
              <a:t> </a:t>
            </a:r>
            <a:r>
              <a:rPr lang="en-US" dirty="0" err="1"/>
              <a:t>orquestación</a:t>
            </a:r>
            <a:r>
              <a:rPr lang="en-US" dirty="0"/>
              <a:t> </a:t>
            </a:r>
            <a:r>
              <a:rPr lang="en-US" dirty="0" err="1"/>
              <a:t>multiagente</a:t>
            </a:r>
            <a:r>
              <a:rPr lang="en-US" dirty="0"/>
              <a: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de forma </a:t>
            </a:r>
            <a:r>
              <a:rPr lang="en-US" sz="1200" b="0" i="0" kern="1200" dirty="0" err="1">
                <a:solidFill>
                  <a:schemeClr val="tx1"/>
                </a:solidFill>
                <a:effectLst/>
                <a:latin typeface="+mn-lt"/>
                <a:ea typeface="+mn-ea"/>
                <a:cs typeface="+mn-cs"/>
              </a:rPr>
              <a:t>segura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coordinamos</a:t>
            </a:r>
            <a:r>
              <a:rPr lang="en-US" sz="1200" b="1" i="0" kern="1200" dirty="0">
                <a:solidFill>
                  <a:schemeClr val="tx1"/>
                </a:solidFill>
                <a:effectLst/>
                <a:latin typeface="+mn-lt"/>
                <a:ea typeface="+mn-ea"/>
                <a:cs typeface="+mn-cs"/>
              </a:rPr>
              <a:t> el </a:t>
            </a:r>
            <a:r>
              <a:rPr lang="en-US" sz="1200" b="1" i="0" kern="1200" dirty="0" err="1">
                <a:solidFill>
                  <a:schemeClr val="tx1"/>
                </a:solidFill>
                <a:effectLst/>
                <a:latin typeface="+mn-lt"/>
                <a:ea typeface="+mn-ea"/>
                <a:cs typeface="+mn-cs"/>
              </a:rPr>
              <a:t>trabajo</a:t>
            </a:r>
            <a:r>
              <a:rPr lang="en-US" sz="1200" b="1" i="0" kern="1200" dirty="0">
                <a:solidFill>
                  <a:schemeClr val="tx1"/>
                </a:solidFill>
                <a:effectLst/>
                <a:latin typeface="+mn-lt"/>
                <a:ea typeface="+mn-ea"/>
                <a:cs typeface="+mn-cs"/>
              </a:rPr>
              <a:t> entre </a:t>
            </a:r>
            <a:r>
              <a:rPr lang="en-US" sz="1200" b="1" i="0" kern="1200" dirty="0" err="1">
                <a:solidFill>
                  <a:schemeClr val="tx1"/>
                </a:solidFill>
                <a:effectLst/>
                <a:latin typeface="+mn-lt"/>
                <a:ea typeface="+mn-ea"/>
                <a:cs typeface="+mn-cs"/>
              </a:rPr>
              <a:t>varios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Y ahí </a:t>
            </a:r>
            <a:r>
              <a:rPr lang="en-US" sz="1200" b="0" i="0" kern="1200" dirty="0" err="1">
                <a:solidFill>
                  <a:schemeClr val="tx1"/>
                </a:solidFill>
                <a:effectLst/>
                <a:latin typeface="+mn-lt"/>
                <a:ea typeface="+mn-ea"/>
                <a:cs typeface="+mn-cs"/>
              </a:rPr>
              <a:t>entramos</a:t>
            </a:r>
            <a:r>
              <a:rPr lang="en-US" sz="1200" b="0" i="0" kern="1200" dirty="0">
                <a:solidFill>
                  <a:schemeClr val="tx1"/>
                </a:solidFill>
                <a:effectLst/>
                <a:latin typeface="+mn-lt"/>
                <a:ea typeface="+mn-ea"/>
                <a:cs typeface="+mn-cs"/>
              </a:rPr>
              <a:t> en los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a:t>
            </a:r>
          </a:p>
          <a:p>
            <a:endParaRPr lang="en-US" dirty="0"/>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decidimos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de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es:</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van a </a:t>
            </a:r>
            <a:r>
              <a:rPr lang="en-US" sz="1200" b="1" i="0" kern="1200" dirty="0" err="1">
                <a:solidFill>
                  <a:schemeClr val="tx1"/>
                </a:solidFill>
                <a:effectLst/>
                <a:latin typeface="+mn-lt"/>
                <a:ea typeface="+mn-ea"/>
                <a:cs typeface="+mn-cs"/>
              </a:rPr>
              <a:t>colaborar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“No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único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elección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depende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principalmente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relacionan</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sí</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Sequential</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imaginarlo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línea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producción</a:t>
            </a:r>
            <a:r>
              <a:rPr lang="en-US" sz="1200" b="0" i="0" kern="1200" dirty="0">
                <a:solidFill>
                  <a:schemeClr val="tx1"/>
                </a:solidFill>
                <a:effectLst/>
                <a:latin typeface="+mn-lt"/>
                <a:ea typeface="+mn-ea"/>
                <a:cs typeface="+mn-cs"/>
              </a:rPr>
              <a:t>: el primer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pasa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procesa</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sucesivamente</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útil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dependencia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a:t>
            </a:r>
            <a:r>
              <a:rPr lang="en-US" sz="1200" b="0" i="0" kern="1200" dirty="0">
                <a:solidFill>
                  <a:schemeClr val="tx1"/>
                </a:solidFill>
                <a:effectLst/>
                <a:latin typeface="+mn-lt"/>
                <a:ea typeface="+mn-ea"/>
                <a:cs typeface="+mn-cs"/>
              </a:rPr>
              <a:t> entre las </a:t>
            </a:r>
            <a:r>
              <a:rPr lang="en-US" sz="1200" b="0" i="0" kern="1200" dirty="0" err="1">
                <a:solidFill>
                  <a:schemeClr val="tx1"/>
                </a:solidFill>
                <a:effectLst/>
                <a:latin typeface="+mn-lt"/>
                <a:ea typeface="+mn-ea"/>
                <a:cs typeface="+mn-cs"/>
              </a:rPr>
              <a:t>etapas</a:t>
            </a:r>
            <a:r>
              <a:rPr lang="en-US" sz="1200" b="0" i="0" kern="1200" dirty="0">
                <a:solidFill>
                  <a:schemeClr val="tx1"/>
                </a:solidFill>
                <a:effectLst/>
                <a:latin typeface="+mn-lt"/>
                <a:ea typeface="+mn-ea"/>
                <a:cs typeface="+mn-cs"/>
              </a:rPr>
              <a:t>.” </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proceso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crédito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podríamos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extrae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valida</a:t>
            </a:r>
            <a:r>
              <a:rPr lang="en-US" sz="1200" b="0" i="0" kern="1200" dirty="0">
                <a:solidFill>
                  <a:schemeClr val="tx1"/>
                </a:solidFill>
                <a:effectLst/>
                <a:latin typeface="+mn-lt"/>
                <a:ea typeface="+mn-ea"/>
                <a:cs typeface="+mn-cs"/>
              </a:rPr>
              <a:t> los datos 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Concurrent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ocurre</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reciben</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trabajan</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paralelo</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de compliance </a:t>
            </a:r>
            <a:r>
              <a:rPr lang="en-US" sz="1200" b="0" i="0" kern="1200" dirty="0" err="1">
                <a:solidFill>
                  <a:schemeClr val="tx1"/>
                </a:solidFill>
                <a:effectLst/>
                <a:latin typeface="+mn-lt"/>
                <a:ea typeface="+mn-ea"/>
                <a:cs typeface="+mn-cs"/>
              </a:rPr>
              <a:t>analizando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simultáneamente</a:t>
            </a:r>
            <a:r>
              <a:rPr lang="en-US" sz="1200" b="0" i="0" kern="1200" dirty="0">
                <a:solidFill>
                  <a:schemeClr val="tx1"/>
                </a:solidFill>
                <a:effectLst/>
                <a:latin typeface="+mn-lt"/>
                <a:ea typeface="+mn-ea"/>
                <a:cs typeface="+mn-cs"/>
              </a:rPr>
              <a:t>. Este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sentido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dependen</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sí</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Handoff</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transfiere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Pensemos</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general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conversa con un </a:t>
            </a:r>
            <a:r>
              <a:rPr lang="en-US" sz="1200" b="0" i="0" kern="1200" dirty="0" err="1">
                <a:solidFill>
                  <a:schemeClr val="tx1"/>
                </a:solidFill>
                <a:effectLst/>
                <a:latin typeface="+mn-lt"/>
                <a:ea typeface="+mn-ea"/>
                <a:cs typeface="+mn-cs"/>
              </a:rPr>
              <a:t>cliente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detecta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trata</a:t>
            </a:r>
            <a:r>
              <a:rPr lang="en-US" sz="1200" b="0" i="0" kern="1200" dirty="0">
                <a:solidFill>
                  <a:schemeClr val="tx1"/>
                </a:solidFill>
                <a:effectLst/>
                <a:latin typeface="+mn-lt"/>
                <a:ea typeface="+mn-ea"/>
                <a:cs typeface="+mn-cs"/>
              </a:rPr>
              <a:t> de un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deriva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procesamiento</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a:t>
            </a:r>
          </a:p>
          <a:p>
            <a:pPr fontAlgn="t"/>
            <a:endParaRPr lang="en-US" sz="1200" b="0" i="0" u="none" strike="noStrike"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Group Chat</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cambio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colaboran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sobre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útil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perspectivas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conversación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iterativa</a:t>
            </a:r>
            <a:r>
              <a:rPr lang="en-US" sz="1200" b="0" i="0" kern="1200" dirty="0">
                <a:solidFill>
                  <a:schemeClr val="tx1"/>
                </a:solidFill>
                <a:effectLst/>
                <a:latin typeface="+mn-lt"/>
                <a:ea typeface="+mn-ea"/>
                <a:cs typeface="+mn-cs"/>
              </a:rPr>
              <a:t> entre los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dinámicos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componente</a:t>
            </a:r>
            <a:r>
              <a:rPr lang="en-US" sz="1200" b="0" i="0" kern="1200" dirty="0">
                <a:solidFill>
                  <a:schemeClr val="tx1"/>
                </a:solidFill>
                <a:effectLst/>
                <a:latin typeface="+mn-lt"/>
                <a:ea typeface="+mn-ea"/>
                <a:cs typeface="+mn-cs"/>
              </a:rPr>
              <a:t> manager </a:t>
            </a:r>
            <a:r>
              <a:rPr lang="en-US" sz="1200" b="0" i="0" kern="1200" dirty="0" err="1">
                <a:solidFill>
                  <a:schemeClr val="tx1"/>
                </a:solidFill>
                <a:effectLst/>
                <a:latin typeface="+mn-lt"/>
                <a:ea typeface="+mn-ea"/>
                <a:cs typeface="+mn-cs"/>
              </a:rPr>
              <a:t>planifica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coordina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acuerdo</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evoluciona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“Pero </a:t>
            </a:r>
            <a:r>
              <a:rPr lang="en-US" sz="1200" b="0" i="0" kern="1200" dirty="0" err="1">
                <a:solidFill>
                  <a:schemeClr val="tx1"/>
                </a:solidFill>
                <a:effectLst/>
                <a:latin typeface="+mn-lt"/>
                <a:ea typeface="+mn-ea"/>
                <a:cs typeface="+mn-cs"/>
              </a:rPr>
              <a:t>probablemente</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slide sea el </a:t>
            </a:r>
            <a:r>
              <a:rPr lang="en-US" sz="1200" b="0" i="0" kern="1200" dirty="0" err="1">
                <a:solidFill>
                  <a:schemeClr val="tx1"/>
                </a:solidFill>
                <a:effectLst/>
                <a:latin typeface="+mn-lt"/>
                <a:ea typeface="+mn-ea"/>
                <a:cs typeface="+mn-cs"/>
              </a:rPr>
              <a:t>último</a:t>
            </a:r>
            <a:r>
              <a:rPr lang="en-US" sz="1200" b="0" i="0" kern="1200" dirty="0">
                <a:solidFill>
                  <a:schemeClr val="tx1"/>
                </a:solidFill>
                <a:effectLst/>
                <a:latin typeface="+mn-lt"/>
                <a:ea typeface="+mn-ea"/>
                <a:cs typeface="+mn-cs"/>
              </a:rPr>
              <a:t> punto: </a:t>
            </a:r>
            <a:r>
              <a:rPr lang="en-US" sz="1200" b="1" i="0" kern="1200" dirty="0">
                <a:solidFill>
                  <a:schemeClr val="tx1"/>
                </a:solidFill>
                <a:effectLst/>
                <a:latin typeface="+mn-lt"/>
                <a:ea typeface="+mn-ea"/>
                <a:cs typeface="+mn-cs"/>
              </a:rPr>
              <a:t>no </a:t>
            </a:r>
            <a:r>
              <a:rPr lang="en-US" sz="1200" b="1" i="0" kern="1200" dirty="0" err="1">
                <a:solidFill>
                  <a:schemeClr val="tx1"/>
                </a:solidFill>
                <a:effectLst/>
                <a:latin typeface="+mn-lt"/>
                <a:ea typeface="+mn-ea"/>
                <a:cs typeface="+mn-cs"/>
              </a:rPr>
              <a:t>todo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problema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necesita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arquitectura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“Microsoft </a:t>
            </a:r>
            <a:r>
              <a:rPr lang="en-US" sz="1200" b="0" i="0" kern="1200" dirty="0" err="1">
                <a:solidFill>
                  <a:schemeClr val="tx1"/>
                </a:solidFill>
                <a:effectLst/>
                <a:latin typeface="+mn-lt"/>
                <a:ea typeface="+mn-ea"/>
                <a:cs typeface="+mn-cs"/>
              </a:rPr>
              <a:t>recomienda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comenzar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simples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alcanzan</a:t>
            </a:r>
            <a:r>
              <a:rPr lang="en-US" sz="1200" b="0" i="0" kern="1200" dirty="0">
                <a:solidFill>
                  <a:schemeClr val="tx1"/>
                </a:solidFill>
                <a:effectLst/>
                <a:latin typeface="+mn-lt"/>
                <a:ea typeface="+mn-ea"/>
                <a:cs typeface="+mn-cs"/>
              </a:rPr>
              <a:t> para resolver el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son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implementar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depurar</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elegimos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sofisticado</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elegimos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paralelismo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delegación</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coordinación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justifique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t>
            </a:r>
            <a:r>
              <a:rPr lang="en-US" dirty="0" err="1"/>
              <a:t>proceso</a:t>
            </a:r>
            <a:r>
              <a:rPr lang="en-US" dirty="0"/>
              <a:t> de </a:t>
            </a:r>
            <a:r>
              <a:rPr lang="en-US" dirty="0" err="1"/>
              <a:t>cinco</a:t>
            </a:r>
            <a:r>
              <a:rPr lang="en-US" dirty="0"/>
              <a:t> pasos resume </a:t>
            </a:r>
            <a:r>
              <a:rPr lang="en-US" dirty="0" err="1"/>
              <a:t>cómo</a:t>
            </a:r>
            <a:r>
              <a:rPr lang="en-US" dirty="0"/>
              <a:t> </a:t>
            </a:r>
            <a:r>
              <a:rPr lang="en-US" dirty="0" err="1"/>
              <a:t>diseñar</a:t>
            </a:r>
            <a:r>
              <a:rPr lang="en-US" dirty="0"/>
              <a:t> un orchestrator en la </a:t>
            </a:r>
            <a:r>
              <a:rPr lang="en-US" dirty="0" err="1"/>
              <a:t>práctica</a:t>
            </a:r>
            <a:r>
              <a:rPr lang="en-US" dirty="0"/>
              <a:t>: primero un </a:t>
            </a:r>
            <a:r>
              <a:rPr lang="en-US" dirty="0" err="1"/>
              <a:t>contrato</a:t>
            </a:r>
            <a:r>
              <a:rPr lang="en-US" dirty="0"/>
              <a:t> claro de </a:t>
            </a:r>
            <a:r>
              <a:rPr lang="en-US" dirty="0" err="1"/>
              <a:t>tareas</a:t>
            </a:r>
            <a:r>
              <a:rPr lang="en-US" dirty="0"/>
              <a:t> </a:t>
            </a:r>
            <a:r>
              <a:rPr lang="en-US" dirty="0" err="1"/>
              <a:t>por</a:t>
            </a:r>
            <a:r>
              <a:rPr lang="en-US" dirty="0"/>
              <a:t> </a:t>
            </a:r>
            <a:r>
              <a:rPr lang="en-US" dirty="0" err="1"/>
              <a:t>agente</a:t>
            </a:r>
            <a:r>
              <a:rPr lang="en-US" dirty="0"/>
              <a:t> </a:t>
            </a:r>
            <a:r>
              <a:rPr lang="en-US" dirty="0" err="1"/>
              <a:t>especialista</a:t>
            </a:r>
            <a:r>
              <a:rPr lang="en-US" dirty="0"/>
              <a:t>, luego </a:t>
            </a:r>
            <a:r>
              <a:rPr lang="en-US" dirty="0" err="1"/>
              <a:t>elegir</a:t>
            </a:r>
            <a:r>
              <a:rPr lang="en-US" dirty="0"/>
              <a:t> el </a:t>
            </a:r>
            <a:r>
              <a:rPr lang="en-US" dirty="0" err="1"/>
              <a:t>patrón</a:t>
            </a:r>
            <a:r>
              <a:rPr lang="en-US" dirty="0"/>
              <a:t> de </a:t>
            </a:r>
            <a:r>
              <a:rPr lang="en-US" dirty="0" err="1"/>
              <a:t>orquestación</a:t>
            </a:r>
            <a:r>
              <a:rPr lang="en-US" dirty="0"/>
              <a:t> </a:t>
            </a:r>
            <a:r>
              <a:rPr lang="en-US" dirty="0" err="1"/>
              <a:t>que</a:t>
            </a:r>
            <a:r>
              <a:rPr lang="en-US" dirty="0"/>
              <a:t> </a:t>
            </a:r>
            <a:r>
              <a:rPr lang="en-US" dirty="0" err="1"/>
              <a:t>mejor</a:t>
            </a:r>
            <a:r>
              <a:rPr lang="en-US" dirty="0"/>
              <a:t> </a:t>
            </a:r>
            <a:r>
              <a:rPr lang="en-US" dirty="0" err="1"/>
              <a:t>calce</a:t>
            </a:r>
            <a:r>
              <a:rPr lang="en-US" dirty="0"/>
              <a:t> con el </a:t>
            </a:r>
            <a:r>
              <a:rPr lang="en-US" dirty="0" err="1"/>
              <a:t>problema</a:t>
            </a:r>
            <a:r>
              <a:rPr lang="en-US" dirty="0"/>
              <a:t> (no el </a:t>
            </a:r>
            <a:r>
              <a:rPr lang="en-US" dirty="0" err="1"/>
              <a:t>más</a:t>
            </a:r>
            <a:r>
              <a:rPr lang="en-US" dirty="0"/>
              <a:t> </a:t>
            </a:r>
            <a:r>
              <a:rPr lang="en-US" dirty="0" err="1"/>
              <a:t>novedoso</a:t>
            </a:r>
            <a:r>
              <a:rPr lang="en-US" dirty="0"/>
              <a:t>), </a:t>
            </a:r>
            <a:r>
              <a:rPr lang="en-US" dirty="0" err="1"/>
              <a:t>definir</a:t>
            </a:r>
            <a:r>
              <a:rPr lang="en-US" dirty="0"/>
              <a:t> </a:t>
            </a:r>
            <a:r>
              <a:rPr lang="en-US" dirty="0" err="1"/>
              <a:t>reglas</a:t>
            </a:r>
            <a:r>
              <a:rPr lang="en-US" dirty="0"/>
              <a:t> </a:t>
            </a:r>
            <a:r>
              <a:rPr lang="en-US" dirty="0" err="1"/>
              <a:t>explícitas</a:t>
            </a:r>
            <a:r>
              <a:rPr lang="en-US" dirty="0"/>
              <a:t> de </a:t>
            </a:r>
            <a:r>
              <a:rPr lang="en-US" dirty="0" err="1"/>
              <a:t>reintentos</a:t>
            </a:r>
            <a:r>
              <a:rPr lang="en-US" dirty="0"/>
              <a:t> y </a:t>
            </a:r>
            <a:r>
              <a:rPr lang="en-US" dirty="0" err="1"/>
              <a:t>condiciones</a:t>
            </a:r>
            <a:r>
              <a:rPr lang="en-US" dirty="0"/>
              <a:t> de salida para </a:t>
            </a:r>
            <a:r>
              <a:rPr lang="en-US" dirty="0" err="1"/>
              <a:t>evitar</a:t>
            </a:r>
            <a:r>
              <a:rPr lang="en-US" dirty="0"/>
              <a:t> loops </a:t>
            </a:r>
            <a:r>
              <a:rPr lang="en-US" dirty="0" err="1"/>
              <a:t>costosos</a:t>
            </a:r>
            <a:r>
              <a:rPr lang="en-US" dirty="0"/>
              <a:t>, </a:t>
            </a:r>
            <a:r>
              <a:rPr lang="en-US" dirty="0" err="1"/>
              <a:t>instrumentar</a:t>
            </a:r>
            <a:r>
              <a:rPr lang="en-US" dirty="0"/>
              <a:t> tracing </a:t>
            </a:r>
            <a:r>
              <a:rPr lang="en-US" dirty="0" err="1"/>
              <a:t>por</a:t>
            </a:r>
            <a:r>
              <a:rPr lang="en-US" dirty="0"/>
              <a:t> </a:t>
            </a:r>
            <a:r>
              <a:rPr lang="en-US" dirty="0" err="1"/>
              <a:t>agente</a:t>
            </a:r>
            <a:r>
              <a:rPr lang="en-US" dirty="0"/>
              <a:t> para </a:t>
            </a:r>
            <a:r>
              <a:rPr lang="en-US" dirty="0" err="1"/>
              <a:t>poder</a:t>
            </a:r>
            <a:r>
              <a:rPr lang="en-US" dirty="0"/>
              <a:t> </a:t>
            </a:r>
            <a:r>
              <a:rPr lang="en-US" dirty="0" err="1"/>
              <a:t>depurar</a:t>
            </a:r>
            <a:r>
              <a:rPr lang="en-US" dirty="0"/>
              <a:t> un </a:t>
            </a:r>
            <a:r>
              <a:rPr lang="en-US" dirty="0" err="1"/>
              <a:t>flujo</a:t>
            </a:r>
            <a:r>
              <a:rPr lang="en-US" dirty="0"/>
              <a:t> </a:t>
            </a:r>
            <a:r>
              <a:rPr lang="en-US" dirty="0" err="1"/>
              <a:t>que</a:t>
            </a:r>
            <a:r>
              <a:rPr lang="en-US" dirty="0"/>
              <a:t> </a:t>
            </a:r>
            <a:r>
              <a:rPr lang="en-US" dirty="0" err="1"/>
              <a:t>puede</a:t>
            </a:r>
            <a:r>
              <a:rPr lang="en-US" dirty="0"/>
              <a:t> </a:t>
            </a:r>
            <a:r>
              <a:rPr lang="en-US" dirty="0" err="1"/>
              <a:t>anidar</a:t>
            </a:r>
            <a:r>
              <a:rPr lang="en-US" dirty="0"/>
              <a:t> </a:t>
            </a:r>
            <a:r>
              <a:rPr lang="en-US" dirty="0" err="1"/>
              <a:t>varias</a:t>
            </a:r>
            <a:r>
              <a:rPr lang="en-US" dirty="0"/>
              <a:t> </a:t>
            </a:r>
            <a:r>
              <a:rPr lang="en-US" dirty="0" err="1"/>
              <a:t>llamadas</a:t>
            </a:r>
            <a:r>
              <a:rPr lang="en-US" dirty="0"/>
              <a:t>, y </a:t>
            </a:r>
            <a:r>
              <a:rPr lang="en-US" dirty="0" err="1"/>
              <a:t>finalmente</a:t>
            </a:r>
            <a:r>
              <a:rPr lang="en-US" dirty="0"/>
              <a:t> </a:t>
            </a:r>
            <a:r>
              <a:rPr lang="en-US" dirty="0" err="1"/>
              <a:t>evaluar</a:t>
            </a:r>
            <a:r>
              <a:rPr lang="en-US" dirty="0"/>
              <a:t> el </a:t>
            </a:r>
            <a:r>
              <a:rPr lang="en-US" dirty="0" err="1"/>
              <a:t>resultado</a:t>
            </a:r>
            <a:r>
              <a:rPr lang="en-US" dirty="0"/>
              <a:t> extremo a extremo y no solo </a:t>
            </a:r>
            <a:r>
              <a:rPr lang="en-US" dirty="0" err="1"/>
              <a:t>agente</a:t>
            </a:r>
            <a:r>
              <a:rPr lang="en-US" dirty="0"/>
              <a:t> </a:t>
            </a:r>
            <a:r>
              <a:rPr lang="en-US" dirty="0" err="1"/>
              <a:t>por</a:t>
            </a:r>
            <a:r>
              <a:rPr lang="en-US" dirty="0"/>
              <a:t> </a:t>
            </a:r>
            <a:r>
              <a:rPr lang="en-US" dirty="0" err="1"/>
              <a:t>agente</a:t>
            </a:r>
            <a:r>
              <a:rPr lang="en-US" dirty="0"/>
              <a:t>. Este </a:t>
            </a:r>
            <a:r>
              <a:rPr lang="en-US" dirty="0" err="1"/>
              <a:t>proceso</a:t>
            </a:r>
            <a:r>
              <a:rPr lang="en-US" dirty="0"/>
              <a:t> se </a:t>
            </a:r>
            <a:r>
              <a:rPr lang="en-US" dirty="0" err="1"/>
              <a:t>retomará</a:t>
            </a:r>
            <a:r>
              <a:rPr lang="en-US" dirty="0"/>
              <a:t> </a:t>
            </a:r>
            <a:r>
              <a:rPr lang="en-US" dirty="0" err="1"/>
              <a:t>como</a:t>
            </a:r>
            <a:r>
              <a:rPr lang="en-US" dirty="0"/>
              <a:t> </a:t>
            </a:r>
            <a:r>
              <a:rPr lang="en-US" dirty="0" err="1"/>
              <a:t>insumo</a:t>
            </a:r>
            <a:r>
              <a:rPr lang="en-US" dirty="0"/>
              <a:t> </a:t>
            </a:r>
            <a:r>
              <a:rPr lang="en-US" dirty="0" err="1"/>
              <a:t>directo</a:t>
            </a:r>
            <a:r>
              <a:rPr lang="en-US" dirty="0"/>
              <a:t> en el workshop del </a:t>
            </a:r>
            <a:r>
              <a:rPr lang="en-US" dirty="0" err="1"/>
              <a:t>cierre</a:t>
            </a:r>
            <a:r>
              <a:rPr lang="en-US" dirty="0"/>
              <a:t> de la jornada, </a:t>
            </a:r>
            <a:r>
              <a:rPr lang="en-US" dirty="0" err="1"/>
              <a:t>cuando</a:t>
            </a:r>
            <a:r>
              <a:rPr lang="en-US" dirty="0"/>
              <a:t> el </a:t>
            </a:r>
            <a:r>
              <a:rPr lang="en-US" dirty="0" err="1"/>
              <a:t>grupo</a:t>
            </a:r>
            <a:r>
              <a:rPr lang="en-US" dirty="0"/>
              <a:t> </a:t>
            </a:r>
            <a:r>
              <a:rPr lang="en-US" dirty="0" err="1"/>
              <a:t>deba</a:t>
            </a:r>
            <a:r>
              <a:rPr lang="en-US" dirty="0"/>
              <a:t> </a:t>
            </a:r>
            <a:r>
              <a:rPr lang="en-US" dirty="0" err="1"/>
              <a:t>decidir</a:t>
            </a:r>
            <a:r>
              <a:rPr lang="en-US" dirty="0"/>
              <a:t> el </a:t>
            </a:r>
            <a:r>
              <a:rPr lang="en-US" dirty="0" err="1"/>
              <a:t>patrón</a:t>
            </a:r>
            <a:r>
              <a:rPr lang="en-US" dirty="0"/>
              <a:t> de </a:t>
            </a:r>
            <a:r>
              <a:rPr lang="en-US" dirty="0" err="1"/>
              <a:t>orquestación</a:t>
            </a:r>
            <a:r>
              <a:rPr lang="en-US" dirty="0"/>
              <a:t> de </a:t>
            </a:r>
            <a:r>
              <a:rPr lang="en-US" dirty="0" err="1"/>
              <a:t>su</a:t>
            </a:r>
            <a:r>
              <a:rPr lang="en-US" dirty="0"/>
              <a:t> </a:t>
            </a:r>
            <a:r>
              <a:rPr lang="en-US" dirty="0" err="1"/>
              <a:t>propio</a:t>
            </a:r>
            <a:r>
              <a:rPr lang="en-US" dirty="0"/>
              <a:t> </a:t>
            </a:r>
            <a:r>
              <a:rPr lang="en-US" dirty="0" err="1"/>
              <a:t>caso</a:t>
            </a:r>
            <a:r>
              <a:rPr lang="en-US" dirty="0"/>
              <a:t>. </a:t>
            </a:r>
          </a:p>
          <a:p>
            <a:endParaRPr lang="en-US" dirty="0"/>
          </a:p>
          <a:p>
            <a:pPr fontAlgn="t"/>
            <a:r>
              <a:rPr lang="en-US" sz="1200" b="0" i="0" kern="1200" dirty="0">
                <a:solidFill>
                  <a:schemeClr val="tx1"/>
                </a:solidFill>
                <a:effectLst/>
                <a:latin typeface="+mn-lt"/>
                <a:ea typeface="+mn-ea"/>
                <a:cs typeface="+mn-cs"/>
              </a:rPr>
              <a:t>“El orchestrator es la </a:t>
            </a:r>
            <a:r>
              <a:rPr lang="en-US" sz="1200" b="0" i="0" kern="1200" dirty="0" err="1">
                <a:solidFill>
                  <a:schemeClr val="tx1"/>
                </a:solidFill>
                <a:effectLst/>
                <a:latin typeface="+mn-lt"/>
                <a:ea typeface="+mn-ea"/>
                <a:cs typeface="+mn-cs"/>
              </a:rPr>
              <a:t>pieza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define </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se </a:t>
            </a:r>
            <a:r>
              <a:rPr lang="en-US" sz="1200" b="1" i="0" kern="1200" dirty="0" err="1">
                <a:solidFill>
                  <a:schemeClr val="tx1"/>
                </a:solidFill>
                <a:effectLst/>
                <a:latin typeface="+mn-lt"/>
                <a:ea typeface="+mn-ea"/>
                <a:cs typeface="+mn-cs"/>
              </a:rPr>
              <a:t>ejecuta</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controla</a:t>
            </a:r>
            <a:r>
              <a:rPr lang="en-US" sz="1200" b="1" i="0" kern="1200" dirty="0">
                <a:solidFill>
                  <a:schemeClr val="tx1"/>
                </a:solidFill>
                <a:effectLst/>
                <a:latin typeface="+mn-lt"/>
                <a:ea typeface="+mn-ea"/>
                <a:cs typeface="+mn-cs"/>
              </a:rPr>
              <a:t> el </a:t>
            </a:r>
            <a:r>
              <a:rPr lang="en-US" sz="1200" b="1" i="0" kern="1200" dirty="0" err="1">
                <a:solidFill>
                  <a:schemeClr val="tx1"/>
                </a:solidFill>
                <a:effectLst/>
                <a:latin typeface="+mn-lt"/>
                <a:ea typeface="+mn-ea"/>
                <a:cs typeface="+mn-cs"/>
              </a:rPr>
              <a:t>trabajo</a:t>
            </a:r>
            <a:r>
              <a:rPr lang="en-US" sz="1200" b="1" i="0" kern="1200" dirty="0">
                <a:solidFill>
                  <a:schemeClr val="tx1"/>
                </a:solidFill>
                <a:effectLst/>
                <a:latin typeface="+mn-lt"/>
                <a:ea typeface="+mn-ea"/>
                <a:cs typeface="+mn-cs"/>
              </a:rPr>
              <a:t> de los </a:t>
            </a:r>
            <a:r>
              <a:rPr lang="en-US" sz="1200" b="1" i="0" kern="1200" dirty="0" err="1">
                <a:solidFill>
                  <a:schemeClr val="tx1"/>
                </a:solidFill>
                <a:effectLst/>
                <a:latin typeface="+mn-lt"/>
                <a:ea typeface="+mn-ea"/>
                <a:cs typeface="+mn-cs"/>
              </a:rPr>
              <a:t>diferentes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“Lo primero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son buenos </a:t>
            </a:r>
            <a:r>
              <a:rPr lang="en-US" sz="1200" b="1" i="0" kern="1200" dirty="0" err="1">
                <a:solidFill>
                  <a:schemeClr val="tx1"/>
                </a:solidFill>
                <a:effectLst/>
                <a:latin typeface="+mn-lt"/>
                <a:ea typeface="+mn-ea"/>
                <a:cs typeface="+mn-cs"/>
              </a:rPr>
              <a:t>contratos</a:t>
            </a:r>
            <a:r>
              <a:rPr lang="en-US" sz="1200" b="1" i="0" kern="1200" dirty="0">
                <a:solidFill>
                  <a:schemeClr val="tx1"/>
                </a:solidFill>
                <a:effectLst/>
                <a:latin typeface="+mn-lt"/>
                <a:ea typeface="+mn-ea"/>
                <a:cs typeface="+mn-cs"/>
              </a:rPr>
              <a:t> de </a:t>
            </a:r>
            <a:r>
              <a:rPr lang="en-US" sz="1200" b="1"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Cada </a:t>
            </a:r>
            <a:r>
              <a:rPr lang="en-US" sz="1200" b="0" i="0" kern="1200" dirty="0" err="1">
                <a:solidFill>
                  <a:schemeClr val="tx1"/>
                </a:solidFill>
                <a:effectLst/>
                <a:latin typeface="+mn-lt"/>
                <a:ea typeface="+mn-ea"/>
                <a:cs typeface="+mn-cs"/>
              </a:rPr>
              <a:t>especialista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producir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significa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terminó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podría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recibir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perfil</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cliente</a:t>
            </a:r>
            <a:r>
              <a:rPr lang="en-US" sz="1200" b="0" i="0" kern="1200" dirty="0">
                <a:solidFill>
                  <a:schemeClr val="tx1"/>
                </a:solidFill>
                <a:effectLst/>
                <a:latin typeface="+mn-lt"/>
                <a:ea typeface="+mn-ea"/>
                <a:cs typeface="+mn-cs"/>
              </a:rPr>
              <a:t> y la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crediticia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devolver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nivel</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principales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hallazgos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recomendación</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paso es </a:t>
            </a:r>
            <a:r>
              <a:rPr lang="en-US" sz="1200" b="0" i="0" kern="1200" dirty="0" err="1">
                <a:solidFill>
                  <a:schemeClr val="tx1"/>
                </a:solidFill>
                <a:effectLst/>
                <a:latin typeface="+mn-lt"/>
                <a:ea typeface="+mn-ea"/>
                <a:cs typeface="+mn-cs"/>
              </a:rPr>
              <a:t>elegir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adecuado</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de la anterior, </a:t>
            </a:r>
            <a:r>
              <a:rPr lang="en-US" sz="1200" b="0" i="0" kern="1200" dirty="0" err="1">
                <a:solidFill>
                  <a:schemeClr val="tx1"/>
                </a:solidFill>
                <a:effectLst/>
                <a:latin typeface="+mn-lt"/>
                <a:ea typeface="+mn-ea"/>
                <a:cs typeface="+mn-cs"/>
              </a:rPr>
              <a:t>probablemente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utilizaremos</a:t>
            </a:r>
            <a:r>
              <a:rPr lang="en-US" sz="1200" b="0" i="0" kern="1200" dirty="0">
                <a:solidFill>
                  <a:schemeClr val="tx1"/>
                </a:solidFill>
                <a:effectLst/>
                <a:latin typeface="+mn-lt"/>
                <a:ea typeface="+mn-ea"/>
                <a:cs typeface="+mn-cs"/>
              </a:rPr>
              <a:t> Sequential. Si son </a:t>
            </a:r>
            <a:r>
              <a:rPr lang="en-US" sz="1200" b="0" i="0" kern="1200" dirty="0" err="1">
                <a:solidFill>
                  <a:schemeClr val="tx1"/>
                </a:solidFill>
                <a:effectLst/>
                <a:latin typeface="+mn-lt"/>
                <a:ea typeface="+mn-ea"/>
                <a:cs typeface="+mn-cs"/>
              </a:rPr>
              <a:t>independientes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ejecutarlas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paralelo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Concurrent. Si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transferir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considerar</a:t>
            </a:r>
            <a:r>
              <a:rPr lang="en-US" sz="1200" b="0" i="0" kern="1200" dirty="0">
                <a:solidFill>
                  <a:schemeClr val="tx1"/>
                </a:solidFill>
                <a:effectLst/>
                <a:latin typeface="+mn-lt"/>
                <a:ea typeface="+mn-ea"/>
                <a:cs typeface="+mn-cs"/>
              </a:rPr>
              <a:t> Handoff</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tercer</a:t>
            </a:r>
            <a:r>
              <a:rPr lang="en-US" sz="1200" b="0" i="0" kern="1200" dirty="0">
                <a:solidFill>
                  <a:schemeClr val="tx1"/>
                </a:solidFill>
                <a:effectLst/>
                <a:latin typeface="+mn-lt"/>
                <a:ea typeface="+mn-ea"/>
                <a:cs typeface="+mn-cs"/>
              </a:rPr>
              <a:t> punto son las </a:t>
            </a:r>
            <a:r>
              <a:rPr lang="en-US" sz="1200" b="1" i="0" kern="1200" dirty="0" err="1">
                <a:solidFill>
                  <a:schemeClr val="tx1"/>
                </a:solidFill>
                <a:effectLst/>
                <a:latin typeface="+mn-lt"/>
                <a:ea typeface="+mn-ea"/>
                <a:cs typeface="+mn-cs"/>
              </a:rPr>
              <a:t>reglas</a:t>
            </a:r>
            <a:r>
              <a:rPr lang="en-US" sz="1200" b="1" i="0" kern="1200" dirty="0">
                <a:solidFill>
                  <a:schemeClr val="tx1"/>
                </a:solidFill>
                <a:effectLst/>
                <a:latin typeface="+mn-lt"/>
                <a:ea typeface="+mn-ea"/>
                <a:cs typeface="+mn-cs"/>
              </a:rPr>
              <a:t> de control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ocurre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falla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devuelve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respuesta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timeouts, </a:t>
            </a:r>
            <a:r>
              <a:rPr lang="en-US" sz="1200" b="0" i="0" kern="1200" dirty="0" err="1">
                <a:solidFill>
                  <a:schemeClr val="tx1"/>
                </a:solidFill>
                <a:effectLst/>
                <a:latin typeface="+mn-lt"/>
                <a:ea typeface="+mn-ea"/>
                <a:cs typeface="+mn-cs"/>
              </a:rPr>
              <a:t>reintentos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condiciones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finalizar</a:t>
            </a:r>
            <a:r>
              <a:rPr lang="en-US" sz="1200" b="0" i="0" kern="1200" dirty="0">
                <a:solidFill>
                  <a:schemeClr val="tx1"/>
                </a:solidFill>
                <a:effectLst/>
                <a:latin typeface="+mn-lt"/>
                <a:ea typeface="+mn-ea"/>
                <a:cs typeface="+mn-cs"/>
              </a:rPr>
              <a:t> el workflow.”</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cuarto</a:t>
            </a:r>
            <a:r>
              <a:rPr lang="en-US" sz="1200" b="0" i="0" kern="1200" dirty="0">
                <a:solidFill>
                  <a:schemeClr val="tx1"/>
                </a:solidFill>
                <a:effectLst/>
                <a:latin typeface="+mn-lt"/>
                <a:ea typeface="+mn-ea"/>
                <a:cs typeface="+mn-cs"/>
              </a:rPr>
              <a:t> punto es la </a:t>
            </a:r>
            <a:r>
              <a:rPr lang="en-US" sz="1200" b="1" i="0" kern="1200" dirty="0" err="1">
                <a:solidFill>
                  <a:schemeClr val="tx1"/>
                </a:solidFill>
                <a:effectLst/>
                <a:latin typeface="+mn-lt"/>
                <a:ea typeface="+mn-ea"/>
                <a:cs typeface="+mn-cs"/>
              </a:rPr>
              <a:t>trazabilidad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solución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involucra</a:t>
            </a:r>
            <a:r>
              <a:rPr lang="en-US" sz="1200" b="0" i="0" kern="1200" dirty="0">
                <a:solidFill>
                  <a:schemeClr val="tx1"/>
                </a:solidFill>
                <a:effectLst/>
                <a:latin typeface="+mn-lt"/>
                <a:ea typeface="+mn-ea"/>
                <a:cs typeface="+mn-cs"/>
              </a:rPr>
              <a:t> cuatro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reconstruir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hizo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uno. Esto es fundamental para debugging,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auditoría</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evaluar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sistema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de extremo a extremo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cuatro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individualmente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funcionen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bien y, </a:t>
            </a:r>
            <a:r>
              <a:rPr lang="en-US" sz="1200" b="0" i="0" kern="1200" dirty="0" err="1">
                <a:solidFill>
                  <a:schemeClr val="tx1"/>
                </a:solidFill>
                <a:effectLst/>
                <a:latin typeface="+mn-lt"/>
                <a:ea typeface="+mn-ea"/>
                <a:cs typeface="+mn-cs"/>
              </a:rPr>
              <a:t>aun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combinación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produzca</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deficiente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lento o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costoso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evaluar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componente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workflow </a:t>
            </a:r>
            <a:r>
              <a:rPr lang="en-US" sz="1200" b="0" i="0" kern="1200" dirty="0" err="1">
                <a:solidFill>
                  <a:schemeClr val="tx1"/>
                </a:solidFill>
                <a:effectLst/>
                <a:latin typeface="+mn-lt"/>
                <a:ea typeface="+mn-ea"/>
                <a:cs typeface="+mn-cs"/>
              </a:rPr>
              <a:t>completo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resolvió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necesidad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a:t>
            </a:r>
            <a:r>
              <a:rPr lang="en-US" sz="1200" b="0" i="0" kern="1200" dirty="0" err="1">
                <a:solidFill>
                  <a:schemeClr val="tx1"/>
                </a:solidFill>
                <a:effectLst/>
                <a:latin typeface="+mn-lt"/>
                <a:ea typeface="+mn-ea"/>
                <a:cs typeface="+mn-cs"/>
              </a:rPr>
              <a:t>resumen</a:t>
            </a:r>
            <a:r>
              <a:rPr lang="en-US" sz="1200" b="0" i="0" kern="1200" dirty="0">
                <a:solidFill>
                  <a:schemeClr val="tx1"/>
                </a:solidFill>
                <a:effectLst/>
                <a:latin typeface="+mn-lt"/>
                <a:ea typeface="+mn-ea"/>
                <a:cs typeface="+mn-cs"/>
              </a:rPr>
              <a:t>: el orchestrator no es </a:t>
            </a:r>
            <a:r>
              <a:rPr lang="en-US" sz="1200" b="0" i="0" kern="1200" dirty="0" err="1">
                <a:solidFill>
                  <a:schemeClr val="tx1"/>
                </a:solidFill>
                <a:effectLst/>
                <a:latin typeface="+mn-lt"/>
                <a:ea typeface="+mn-ea"/>
                <a:cs typeface="+mn-cs"/>
              </a:rPr>
              <a:t>simplemente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quien</a:t>
            </a:r>
            <a:r>
              <a:rPr lang="en-US" sz="1200" b="0" i="0" kern="1200" dirty="0">
                <a:solidFill>
                  <a:schemeClr val="tx1"/>
                </a:solidFill>
                <a:effectLst/>
                <a:latin typeface="+mn-lt"/>
                <a:ea typeface="+mn-ea"/>
                <a:cs typeface="+mn-cs"/>
              </a:rPr>
              <a:t> llama a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Define el </a:t>
            </a:r>
            <a:r>
              <a:rPr lang="en-US" sz="1200" b="0" i="0" kern="1200" dirty="0" err="1">
                <a:solidFill>
                  <a:schemeClr val="tx1"/>
                </a:solidFill>
                <a:effectLst/>
                <a:latin typeface="+mn-lt"/>
                <a:ea typeface="+mn-ea"/>
                <a:cs typeface="+mn-cs"/>
              </a:rPr>
              <a:t>contrato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coordina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fallos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condiciones</a:t>
            </a:r>
            <a:r>
              <a:rPr lang="en-US" sz="1200" b="0" i="0" kern="1200" dirty="0">
                <a:solidFill>
                  <a:schemeClr val="tx1"/>
                </a:solidFill>
                <a:effectLst/>
                <a:latin typeface="+mn-lt"/>
                <a:ea typeface="+mn-ea"/>
                <a:cs typeface="+mn-cs"/>
              </a:rPr>
              <a:t> de salida, y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realizó</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a:t>
            </a:r>
            <a:r>
              <a:rPr lang="en-US" dirty="0" err="1"/>
              <a:t>una</a:t>
            </a:r>
            <a:r>
              <a:rPr lang="en-US" dirty="0"/>
              <a:t> </a:t>
            </a:r>
            <a:r>
              <a:rPr lang="en-US" dirty="0" err="1"/>
              <a:t>organización</a:t>
            </a:r>
            <a:r>
              <a:rPr lang="en-US" dirty="0"/>
              <a:t> </a:t>
            </a:r>
            <a:r>
              <a:rPr lang="en-US" dirty="0" err="1"/>
              <a:t>tiene</a:t>
            </a:r>
            <a:r>
              <a:rPr lang="en-US" dirty="0"/>
              <a:t> </a:t>
            </a:r>
            <a:r>
              <a:rPr lang="en-US" dirty="0" err="1"/>
              <a:t>varios</a:t>
            </a:r>
            <a:r>
              <a:rPr lang="en-US" dirty="0"/>
              <a:t> </a:t>
            </a:r>
            <a:r>
              <a:rPr lang="en-US" dirty="0" err="1"/>
              <a:t>equipos</a:t>
            </a:r>
            <a:r>
              <a:rPr lang="en-US" dirty="0"/>
              <a:t> </a:t>
            </a:r>
            <a:r>
              <a:rPr lang="en-US" dirty="0" err="1"/>
              <a:t>construyendo</a:t>
            </a:r>
            <a:r>
              <a:rPr lang="en-US" dirty="0"/>
              <a:t> </a:t>
            </a:r>
            <a:r>
              <a:rPr lang="en-US" dirty="0" err="1"/>
              <a:t>agentes</a:t>
            </a:r>
            <a:r>
              <a:rPr lang="en-US" dirty="0"/>
              <a:t>, </a:t>
            </a:r>
            <a:r>
              <a:rPr lang="en-US" dirty="0" err="1"/>
              <a:t>conviene</a:t>
            </a:r>
            <a:r>
              <a:rPr lang="en-US" dirty="0"/>
              <a:t> </a:t>
            </a:r>
            <a:r>
              <a:rPr lang="en-US" dirty="0" err="1"/>
              <a:t>centralizar</a:t>
            </a:r>
            <a:r>
              <a:rPr lang="en-US" dirty="0"/>
              <a:t> el </a:t>
            </a:r>
            <a:r>
              <a:rPr lang="en-US" dirty="0" err="1"/>
              <a:t>gobierno</a:t>
            </a:r>
            <a:r>
              <a:rPr lang="en-US" dirty="0"/>
              <a:t> de MCP y A2A </a:t>
            </a:r>
            <a:r>
              <a:rPr lang="en-US" dirty="0" err="1"/>
              <a:t>detrás</a:t>
            </a:r>
            <a:r>
              <a:rPr lang="en-US" dirty="0"/>
              <a:t> de un AI Gateway en </a:t>
            </a:r>
            <a:r>
              <a:rPr lang="en-US" dirty="0" err="1"/>
              <a:t>lugar</a:t>
            </a:r>
            <a:r>
              <a:rPr lang="en-US" dirty="0"/>
              <a:t> de </a:t>
            </a:r>
            <a:r>
              <a:rPr lang="en-US" dirty="0" err="1"/>
              <a:t>que</a:t>
            </a:r>
            <a:r>
              <a:rPr lang="en-US" dirty="0"/>
              <a:t> </a:t>
            </a:r>
            <a:r>
              <a:rPr lang="en-US" dirty="0" err="1"/>
              <a:t>cada</a:t>
            </a:r>
            <a:r>
              <a:rPr lang="en-US" dirty="0"/>
              <a:t> </a:t>
            </a:r>
            <a:r>
              <a:rPr lang="en-US" dirty="0" err="1"/>
              <a:t>equipo</a:t>
            </a:r>
            <a:r>
              <a:rPr lang="en-US" dirty="0"/>
              <a:t> </a:t>
            </a:r>
            <a:r>
              <a:rPr lang="en-US" dirty="0" err="1"/>
              <a:t>conecte</a:t>
            </a:r>
            <a:r>
              <a:rPr lang="en-US" dirty="0"/>
              <a:t> sus </a:t>
            </a:r>
            <a:r>
              <a:rPr lang="en-US" dirty="0" err="1"/>
              <a:t>agentes</a:t>
            </a:r>
            <a:r>
              <a:rPr lang="en-US" dirty="0"/>
              <a:t> </a:t>
            </a:r>
            <a:r>
              <a:rPr lang="en-US" dirty="0" err="1"/>
              <a:t>directo</a:t>
            </a:r>
            <a:r>
              <a:rPr lang="en-US" dirty="0"/>
              <a:t> a </a:t>
            </a:r>
            <a:r>
              <a:rPr lang="en-US" dirty="0" err="1"/>
              <a:t>cada</a:t>
            </a:r>
            <a:r>
              <a:rPr lang="en-US" dirty="0"/>
              <a:t> </a:t>
            </a:r>
            <a:r>
              <a:rPr lang="en-US" dirty="0" err="1"/>
              <a:t>servidor</a:t>
            </a:r>
            <a:r>
              <a:rPr lang="en-US" dirty="0"/>
              <a:t>. Esto </a:t>
            </a:r>
            <a:r>
              <a:rPr lang="en-US" dirty="0" err="1"/>
              <a:t>permite</a:t>
            </a:r>
            <a:r>
              <a:rPr lang="en-US" dirty="0"/>
              <a:t> </a:t>
            </a:r>
            <a:r>
              <a:rPr lang="en-US" dirty="0" err="1"/>
              <a:t>tratar</a:t>
            </a:r>
            <a:r>
              <a:rPr lang="en-US" dirty="0"/>
              <a:t> el </a:t>
            </a:r>
            <a:r>
              <a:rPr lang="en-US" dirty="0" err="1"/>
              <a:t>descubrimiento</a:t>
            </a:r>
            <a:r>
              <a:rPr lang="en-US" dirty="0"/>
              <a:t> de </a:t>
            </a:r>
            <a:r>
              <a:rPr lang="en-US" dirty="0" err="1"/>
              <a:t>servidores</a:t>
            </a:r>
            <a:r>
              <a:rPr lang="en-US" dirty="0"/>
              <a:t> MCP </a:t>
            </a:r>
            <a:r>
              <a:rPr lang="en-US" dirty="0" err="1"/>
              <a:t>como</a:t>
            </a:r>
            <a:r>
              <a:rPr lang="en-US" dirty="0"/>
              <a:t> un </a:t>
            </a:r>
            <a:r>
              <a:rPr lang="en-US" dirty="0" err="1"/>
              <a:t>catálogo</a:t>
            </a:r>
            <a:r>
              <a:rPr lang="en-US" dirty="0"/>
              <a:t> </a:t>
            </a:r>
            <a:r>
              <a:rPr lang="en-US" dirty="0" err="1"/>
              <a:t>versionado</a:t>
            </a:r>
            <a:r>
              <a:rPr lang="en-US" dirty="0"/>
              <a:t>, </a:t>
            </a:r>
            <a:r>
              <a:rPr lang="en-US" dirty="0" err="1"/>
              <a:t>delegar</a:t>
            </a:r>
            <a:r>
              <a:rPr lang="en-US" dirty="0"/>
              <a:t> la </a:t>
            </a:r>
            <a:r>
              <a:rPr lang="en-US" dirty="0" err="1"/>
              <a:t>autenticación</a:t>
            </a:r>
            <a:r>
              <a:rPr lang="en-US" dirty="0"/>
              <a:t> OAuth2 </a:t>
            </a:r>
            <a:r>
              <a:rPr lang="en-US" dirty="0" err="1"/>
              <a:t>hacia</a:t>
            </a:r>
            <a:r>
              <a:rPr lang="en-US" dirty="0"/>
              <a:t> los backends al </a:t>
            </a:r>
            <a:r>
              <a:rPr lang="en-US" dirty="0" err="1"/>
              <a:t>propio</a:t>
            </a:r>
            <a:r>
              <a:rPr lang="en-US" dirty="0"/>
              <a:t> gateway (sin </a:t>
            </a:r>
            <a:r>
              <a:rPr lang="en-US" dirty="0" err="1"/>
              <a:t>exponer</a:t>
            </a:r>
            <a:r>
              <a:rPr lang="en-US" dirty="0"/>
              <a:t> </a:t>
            </a:r>
            <a:r>
              <a:rPr lang="en-US" dirty="0" err="1"/>
              <a:t>credenciales</a:t>
            </a:r>
            <a:r>
              <a:rPr lang="en-US" dirty="0"/>
              <a:t> al </a:t>
            </a:r>
            <a:r>
              <a:rPr lang="en-US" dirty="0" err="1"/>
              <a:t>agente</a:t>
            </a:r>
            <a:r>
              <a:rPr lang="en-US" dirty="0"/>
              <a:t>), </a:t>
            </a:r>
            <a:r>
              <a:rPr lang="en-US" dirty="0" err="1"/>
              <a:t>validar</a:t>
            </a:r>
            <a:r>
              <a:rPr lang="en-US" dirty="0"/>
              <a:t> tokens de los </a:t>
            </a:r>
            <a:r>
              <a:rPr lang="en-US" dirty="0" err="1"/>
              <a:t>clientes</a:t>
            </a:r>
            <a:r>
              <a:rPr lang="en-US" dirty="0"/>
              <a:t> antes de </a:t>
            </a:r>
            <a:r>
              <a:rPr lang="en-US" dirty="0" err="1"/>
              <a:t>dejarlos</a:t>
            </a:r>
            <a:r>
              <a:rPr lang="en-US" dirty="0"/>
              <a:t> pasar, y </a:t>
            </a:r>
            <a:r>
              <a:rPr lang="en-US" dirty="0" err="1"/>
              <a:t>centralizar</a:t>
            </a:r>
            <a:r>
              <a:rPr lang="en-US" dirty="0"/>
              <a:t> </a:t>
            </a:r>
            <a:r>
              <a:rPr lang="en-US" dirty="0" err="1"/>
              <a:t>auditoría</a:t>
            </a:r>
            <a:r>
              <a:rPr lang="en-US" dirty="0"/>
              <a:t> y </a:t>
            </a:r>
            <a:r>
              <a:rPr lang="en-US" dirty="0" err="1"/>
              <a:t>métricas</a:t>
            </a:r>
            <a:r>
              <a:rPr lang="en-US" dirty="0"/>
              <a:t> </a:t>
            </a:r>
            <a:r>
              <a:rPr lang="en-US" dirty="0" err="1"/>
              <a:t>por</a:t>
            </a:r>
            <a:r>
              <a:rPr lang="en-US" dirty="0"/>
              <a:t> </a:t>
            </a:r>
            <a:r>
              <a:rPr lang="en-US" dirty="0" err="1"/>
              <a:t>consumidor</a:t>
            </a:r>
            <a:r>
              <a:rPr lang="en-US" dirty="0"/>
              <a:t>. La </a:t>
            </a:r>
            <a:r>
              <a:rPr lang="en-US" dirty="0" err="1"/>
              <a:t>identidad</a:t>
            </a:r>
            <a:r>
              <a:rPr lang="en-US" dirty="0"/>
              <a:t> Entra del </a:t>
            </a:r>
            <a:r>
              <a:rPr lang="en-US" dirty="0" err="1"/>
              <a:t>agente</a:t>
            </a:r>
            <a:r>
              <a:rPr lang="en-US" dirty="0"/>
              <a:t> </a:t>
            </a:r>
            <a:r>
              <a:rPr lang="en-US" dirty="0" err="1"/>
              <a:t>sigue</a:t>
            </a:r>
            <a:r>
              <a:rPr lang="en-US" dirty="0"/>
              <a:t> </a:t>
            </a:r>
            <a:r>
              <a:rPr lang="en-US" dirty="0" err="1"/>
              <a:t>siendo</a:t>
            </a:r>
            <a:r>
              <a:rPr lang="en-US" dirty="0"/>
              <a:t> la </a:t>
            </a:r>
            <a:r>
              <a:rPr lang="en-US" dirty="0" err="1"/>
              <a:t>que</a:t>
            </a:r>
            <a:r>
              <a:rPr lang="en-US" dirty="0"/>
              <a:t> se </a:t>
            </a:r>
            <a:r>
              <a:rPr lang="en-US" dirty="0" err="1"/>
              <a:t>valida</a:t>
            </a:r>
            <a:r>
              <a:rPr lang="en-US" dirty="0"/>
              <a:t> en el token con la audiencia </a:t>
            </a:r>
            <a:r>
              <a:rPr lang="en-US" dirty="0" err="1"/>
              <a:t>correcta</a:t>
            </a:r>
            <a:r>
              <a:rPr lang="en-US" dirty="0"/>
              <a:t> del </a:t>
            </a:r>
            <a:r>
              <a:rPr lang="en-US" dirty="0" err="1"/>
              <a:t>recurso</a:t>
            </a:r>
            <a:r>
              <a:rPr lang="en-US" dirty="0"/>
              <a:t> </a:t>
            </a:r>
            <a:r>
              <a:rPr lang="en-US" dirty="0" err="1"/>
              <a:t>destino</a:t>
            </a:r>
            <a:r>
              <a:rPr lang="en-US" dirty="0"/>
              <a:t>. Esto se </a:t>
            </a:r>
            <a:r>
              <a:rPr lang="en-US" dirty="0" err="1"/>
              <a:t>conecta</a:t>
            </a:r>
            <a:r>
              <a:rPr lang="en-US" dirty="0"/>
              <a:t> </a:t>
            </a:r>
            <a:r>
              <a:rPr lang="en-US" dirty="0" err="1"/>
              <a:t>directamente</a:t>
            </a:r>
            <a:r>
              <a:rPr lang="en-US" dirty="0"/>
              <a:t> con el </a:t>
            </a:r>
            <a:r>
              <a:rPr lang="en-US" dirty="0" err="1"/>
              <a:t>módulo</a:t>
            </a:r>
            <a:r>
              <a:rPr lang="en-US" dirty="0"/>
              <a:t> de </a:t>
            </a:r>
            <a:r>
              <a:rPr lang="en-US" dirty="0" err="1"/>
              <a:t>arquitectura</a:t>
            </a:r>
            <a:r>
              <a:rPr lang="en-US" dirty="0"/>
              <a:t> </a:t>
            </a:r>
            <a:r>
              <a:rPr lang="en-US" dirty="0" err="1"/>
              <a:t>empresarial</a:t>
            </a:r>
            <a:r>
              <a:rPr lang="en-US" dirty="0"/>
              <a:t> </a:t>
            </a:r>
            <a:r>
              <a:rPr lang="en-US" dirty="0" err="1"/>
              <a:t>que</a:t>
            </a:r>
            <a:r>
              <a:rPr lang="en-US" dirty="0"/>
              <a:t> </a:t>
            </a:r>
            <a:r>
              <a:rPr lang="en-US" dirty="0" err="1"/>
              <a:t>viene</a:t>
            </a:r>
            <a:r>
              <a:rPr lang="en-US" dirty="0"/>
              <a:t> a </a:t>
            </a:r>
            <a:r>
              <a:rPr lang="en-US" dirty="0" err="1"/>
              <a:t>continuación</a:t>
            </a:r>
            <a:r>
              <a:rPr lang="en-US" dirty="0"/>
              <a:t>. </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interna de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pensemos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llevamos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esto</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entorno</a:t>
            </a:r>
            <a:r>
              <a:rPr lang="en-US" sz="1200" b="0" i="0" kern="1200" dirty="0">
                <a:solidFill>
                  <a:schemeClr val="tx1"/>
                </a:solidFill>
                <a:effectLst/>
                <a:latin typeface="+mn-lt"/>
                <a:ea typeface="+mn-ea"/>
                <a:cs typeface="+mn-cs"/>
              </a:rPr>
              <a:t> enterprise.”</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Supongamos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y </a:t>
            </a:r>
            <a:r>
              <a:rPr lang="en-US" sz="1200" b="0" i="0" kern="1200" dirty="0" err="1">
                <a:solidFill>
                  <a:schemeClr val="tx1"/>
                </a:solidFill>
                <a:effectLst/>
                <a:latin typeface="+mn-lt"/>
                <a:ea typeface="+mn-ea"/>
                <a:cs typeface="+mn-cs"/>
              </a:rPr>
              <a:t>comunicándose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A2A.”</a:t>
            </a:r>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posibilidad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sería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directamente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backend. Pero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distribuye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integración</a:t>
            </a:r>
            <a:r>
              <a:rPr lang="en-US" sz="1200" b="0" i="0" kern="1200" dirty="0">
                <a:solidFill>
                  <a:schemeClr val="tx1"/>
                </a:solidFill>
                <a:effectLst/>
                <a:latin typeface="+mn-lt"/>
                <a:ea typeface="+mn-ea"/>
                <a:cs typeface="+mn-cs"/>
              </a:rPr>
              <a:t> y sus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muchos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componentes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alternativa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introducir</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Azure API Management </a:t>
            </a:r>
            <a:r>
              <a:rPr lang="en-US" sz="1200" b="1" i="0" kern="1200" dirty="0" err="1">
                <a:solidFill>
                  <a:schemeClr val="tx1"/>
                </a:solidFill>
                <a:effectLst/>
                <a:latin typeface="+mn-lt"/>
                <a:ea typeface="+mn-ea"/>
                <a:cs typeface="+mn-cs"/>
              </a:rPr>
              <a:t>como</a:t>
            </a:r>
            <a:r>
              <a:rPr lang="en-US" sz="1200" b="1" i="0" kern="1200" dirty="0">
                <a:solidFill>
                  <a:schemeClr val="tx1"/>
                </a:solidFill>
                <a:effectLst/>
                <a:latin typeface="+mn-lt"/>
                <a:ea typeface="+mn-ea"/>
                <a:cs typeface="+mn-cs"/>
              </a:rPr>
              <a:t> AI Gateway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creando</a:t>
            </a:r>
            <a:r>
              <a:rPr lang="en-US" sz="1200" b="0" i="0" kern="1200" dirty="0">
                <a:solidFill>
                  <a:schemeClr val="tx1"/>
                </a:solidFill>
                <a:effectLst/>
                <a:latin typeface="+mn-lt"/>
                <a:ea typeface="+mn-ea"/>
                <a:cs typeface="+mn-cs"/>
              </a:rPr>
              <a:t> un punto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el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MCP, Azure API Management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exponer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gobernar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existentes</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incorporar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del gateway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y rate limiting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resolverlos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independientemente</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“Y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extiende</a:t>
            </a:r>
            <a:r>
              <a:rPr lang="en-US" sz="1200" b="0" i="0" kern="1200" dirty="0">
                <a:solidFill>
                  <a:schemeClr val="tx1"/>
                </a:solidFill>
                <a:effectLst/>
                <a:latin typeface="+mn-lt"/>
                <a:ea typeface="+mn-ea"/>
                <a:cs typeface="+mn-cs"/>
              </a:rPr>
              <a:t> a A2A. Azure API Management también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APIs de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compatibles con A2A junto con MCP,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y APIs </a:t>
            </a:r>
            <a:r>
              <a:rPr lang="en-US" sz="1200" b="0" i="0" kern="1200" dirty="0" err="1">
                <a:solidFill>
                  <a:schemeClr val="tx1"/>
                </a:solidFill>
                <a:effectLst/>
                <a:latin typeface="+mn-lt"/>
                <a:ea typeface="+mn-ea"/>
                <a:cs typeface="+mn-cs"/>
              </a:rPr>
              <a:t>tradicionales</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dimensiones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primera</a:t>
            </a:r>
            <a:r>
              <a:rPr lang="en-US" sz="1200" b="0" i="0" kern="1200" dirty="0">
                <a:solidFill>
                  <a:schemeClr val="tx1"/>
                </a:solidFill>
                <a:effectLst/>
                <a:latin typeface="+mn-lt"/>
                <a:ea typeface="+mn-ea"/>
                <a:cs typeface="+mn-cs"/>
              </a:rPr>
              <a:t> es </a:t>
            </a:r>
            <a:r>
              <a:rPr lang="en-US" sz="1200" b="1" i="0" kern="1200" dirty="0" err="1">
                <a:solidFill>
                  <a:schemeClr val="tx1"/>
                </a:solidFill>
                <a:effectLst/>
                <a:latin typeface="+mn-lt"/>
                <a:ea typeface="+mn-ea"/>
                <a:cs typeface="+mn-cs"/>
              </a:rPr>
              <a:t>descubrimiento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un punto central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esas</a:t>
            </a:r>
            <a:r>
              <a:rPr lang="en-US" sz="1200" b="0" i="0" kern="1200" dirty="0">
                <a:solidFill>
                  <a:schemeClr val="tx1"/>
                </a:solidFill>
                <a:effectLst/>
                <a:latin typeface="+mn-lt"/>
                <a:ea typeface="+mn-ea"/>
                <a:cs typeface="+mn-cs"/>
              </a:rPr>
              <a:t> interfaces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equipo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tenga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descubrirlas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conectarlas</a:t>
            </a:r>
            <a:r>
              <a:rPr lang="en-US" sz="1200" b="0" i="0" kern="1200" dirty="0">
                <a:solidFill>
                  <a:schemeClr val="tx1"/>
                </a:solidFill>
                <a:effectLst/>
                <a:latin typeface="+mn-lt"/>
                <a:ea typeface="+mn-ea"/>
                <a:cs typeface="+mn-cs"/>
              </a:rPr>
              <a:t> de forma </a:t>
            </a:r>
            <a:r>
              <a:rPr lang="en-US" sz="1200" b="0" i="0" kern="1200" dirty="0" err="1">
                <a:solidFill>
                  <a:schemeClr val="tx1"/>
                </a:solidFill>
                <a:effectLst/>
                <a:latin typeface="+mn-lt"/>
                <a:ea typeface="+mn-ea"/>
                <a:cs typeface="+mn-cs"/>
              </a:rPr>
              <a:t>aislada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segunda</a:t>
            </a:r>
            <a:r>
              <a:rPr lang="en-US" sz="1200" b="0" i="0" kern="1200" dirty="0">
                <a:solidFill>
                  <a:schemeClr val="tx1"/>
                </a:solidFill>
                <a:effectLst/>
                <a:latin typeface="+mn-lt"/>
                <a:ea typeface="+mn-ea"/>
                <a:cs typeface="+mn-cs"/>
              </a:rPr>
              <a:t> es </a:t>
            </a:r>
            <a:r>
              <a:rPr lang="en-US" sz="1200" b="1"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ayudarnos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centralizar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hacia</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protegiendo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tercera</a:t>
            </a:r>
            <a:r>
              <a:rPr lang="en-US" sz="1200" b="0" i="0" kern="1200" dirty="0">
                <a:solidFill>
                  <a:schemeClr val="tx1"/>
                </a:solidFill>
                <a:effectLst/>
                <a:latin typeface="+mn-lt"/>
                <a:ea typeface="+mn-ea"/>
                <a:cs typeface="+mn-cs"/>
              </a:rPr>
              <a:t> es la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del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En Foundry,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y tanto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A2A </a:t>
            </a:r>
            <a:r>
              <a:rPr lang="en-US" sz="1200" b="0" i="0" kern="1200" dirty="0" err="1">
                <a:solidFill>
                  <a:schemeClr val="tx1"/>
                </a:solidFill>
                <a:effectLst/>
                <a:latin typeface="+mn-lt"/>
                <a:ea typeface="+mn-ea"/>
                <a:cs typeface="+mn-cs"/>
              </a:rPr>
              <a:t>soportan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utilizando</a:t>
            </a:r>
            <a:r>
              <a:rPr lang="en-US" sz="1200" b="0" i="0" kern="1200" dirty="0">
                <a:solidFill>
                  <a:schemeClr val="tx1"/>
                </a:solidFill>
                <a:effectLst/>
                <a:latin typeface="+mn-lt"/>
                <a:ea typeface="+mn-ea"/>
                <a:cs typeface="+mn-cs"/>
              </a:rPr>
              <a:t> agent identity.”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“Esto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diferenciar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según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auditoría</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Cuando las </a:t>
            </a:r>
            <a:r>
              <a:rPr lang="en-US" sz="1200" b="0" i="0" kern="1200" dirty="0" err="1">
                <a:solidFill>
                  <a:schemeClr val="tx1"/>
                </a:solidFill>
                <a:effectLst/>
                <a:latin typeface="+mn-lt"/>
                <a:ea typeface="+mn-ea"/>
                <a:cs typeface="+mn-cs"/>
              </a:rPr>
              <a:t>interacciones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pasan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común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un punto central </a:t>
            </a:r>
            <a:r>
              <a:rPr lang="en-US" sz="1200" b="0" i="0" kern="1200" dirty="0" err="1">
                <a:solidFill>
                  <a:schemeClr val="tx1"/>
                </a:solidFill>
                <a:effectLst/>
                <a:latin typeface="+mn-lt"/>
                <a:ea typeface="+mn-ea"/>
                <a:cs typeface="+mn-cs"/>
              </a:rPr>
              <a:t>desde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cual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observar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idea </a:t>
            </a:r>
            <a:r>
              <a:rPr lang="en-US" sz="1200" b="0" i="0" kern="1200" dirty="0" err="1">
                <a:solidFill>
                  <a:schemeClr val="tx1"/>
                </a:solidFill>
                <a:effectLst/>
                <a:latin typeface="+mn-lt"/>
                <a:ea typeface="+mn-ea"/>
                <a:cs typeface="+mn-cs"/>
              </a:rPr>
              <a:t>arquitectónica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exactamente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misma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conocemos</a:t>
            </a:r>
            <a:r>
              <a:rPr lang="en-US" sz="1200" b="0" i="0" kern="1200" dirty="0">
                <a:solidFill>
                  <a:schemeClr val="tx1"/>
                </a:solidFill>
                <a:effectLst/>
                <a:latin typeface="+mn-lt"/>
                <a:ea typeface="+mn-ea"/>
                <a:cs typeface="+mn-cs"/>
              </a:rPr>
              <a:t> de API Management: </a:t>
            </a:r>
            <a:r>
              <a:rPr lang="en-US" sz="1200" b="1" i="0" kern="1200" dirty="0" err="1">
                <a:solidFill>
                  <a:schemeClr val="tx1"/>
                </a:solidFill>
                <a:effectLst/>
                <a:latin typeface="+mn-lt"/>
                <a:ea typeface="+mn-ea"/>
                <a:cs typeface="+mn-cs"/>
              </a:rPr>
              <a:t>separamos</a:t>
            </a:r>
            <a:r>
              <a:rPr lang="en-US" sz="1200" b="1" i="0" kern="1200" dirty="0">
                <a:solidFill>
                  <a:schemeClr val="tx1"/>
                </a:solidFill>
                <a:effectLst/>
                <a:latin typeface="+mn-lt"/>
                <a:ea typeface="+mn-ea"/>
                <a:cs typeface="+mn-cs"/>
              </a:rPr>
              <a:t> al </a:t>
            </a:r>
            <a:r>
              <a:rPr lang="en-US" sz="1200" b="1" i="0" kern="1200" dirty="0" err="1">
                <a:solidFill>
                  <a:schemeClr val="tx1"/>
                </a:solidFill>
                <a:effectLst/>
                <a:latin typeface="+mn-lt"/>
                <a:ea typeface="+mn-ea"/>
                <a:cs typeface="+mn-cs"/>
              </a:rPr>
              <a:t>consumidor</a:t>
            </a:r>
            <a:r>
              <a:rPr lang="en-US" sz="1200" b="1" i="0" kern="1200" dirty="0">
                <a:solidFill>
                  <a:schemeClr val="tx1"/>
                </a:solidFill>
                <a:effectLst/>
                <a:latin typeface="+mn-lt"/>
                <a:ea typeface="+mn-ea"/>
                <a:cs typeface="+mn-cs"/>
              </a:rPr>
              <a:t> del backend y </a:t>
            </a:r>
            <a:r>
              <a:rPr lang="en-US" sz="1200" b="1" i="0" kern="1200" dirty="0" err="1">
                <a:solidFill>
                  <a:schemeClr val="tx1"/>
                </a:solidFill>
                <a:effectLst/>
                <a:latin typeface="+mn-lt"/>
                <a:ea typeface="+mn-ea"/>
                <a:cs typeface="+mn-cs"/>
              </a:rPr>
              <a:t>colocamos</a:t>
            </a:r>
            <a:r>
              <a:rPr lang="en-US" sz="1200" b="1" i="0" kern="1200" dirty="0">
                <a:solidFill>
                  <a:schemeClr val="tx1"/>
                </a:solidFill>
                <a:effectLst/>
                <a:latin typeface="+mn-lt"/>
                <a:ea typeface="+mn-ea"/>
                <a:cs typeface="+mn-cs"/>
              </a:rPr>
              <a:t> en el medio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capa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donde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podemos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aplicar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diferencia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y backends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ser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no </a:t>
            </a:r>
            <a:r>
              <a:rPr lang="en-US" sz="1200" b="0" i="0" kern="1200" dirty="0" err="1">
                <a:solidFill>
                  <a:schemeClr val="tx1"/>
                </a:solidFill>
                <a:effectLst/>
                <a:latin typeface="+mn-lt"/>
                <a:ea typeface="+mn-ea"/>
                <a:cs typeface="+mn-cs"/>
              </a:rPr>
              <a:t>solamente</a:t>
            </a:r>
            <a:r>
              <a:rPr lang="en-US" sz="1200" b="0" i="0" kern="1200" dirty="0">
                <a:solidFill>
                  <a:schemeClr val="tx1"/>
                </a:solidFill>
                <a:effectLst/>
                <a:latin typeface="+mn-lt"/>
                <a:ea typeface="+mn-ea"/>
                <a:cs typeface="+mn-cs"/>
              </a:rPr>
              <a:t> APIs REST </a:t>
            </a:r>
            <a:r>
              <a:rPr lang="en-US" sz="1200" b="0" i="0" kern="1200" dirty="0" err="1">
                <a:solidFill>
                  <a:schemeClr val="tx1"/>
                </a:solidFill>
                <a:effectLst/>
                <a:latin typeface="+mn-lt"/>
                <a:ea typeface="+mn-ea"/>
                <a:cs typeface="+mn-cs"/>
              </a:rPr>
              <a:t>tradicionales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t>
            </a:r>
            <a:r>
              <a:rPr lang="en-US" dirty="0" err="1"/>
              <a:t>arquitectura</a:t>
            </a:r>
            <a:r>
              <a:rPr lang="en-US" dirty="0"/>
              <a:t> de </a:t>
            </a:r>
            <a:r>
              <a:rPr lang="en-US" dirty="0" err="1"/>
              <a:t>referencia</a:t>
            </a:r>
            <a:r>
              <a:rPr lang="en-US" dirty="0"/>
              <a:t> de </a:t>
            </a:r>
            <a:r>
              <a:rPr lang="en-US" dirty="0" err="1"/>
              <a:t>cinco</a:t>
            </a:r>
            <a:r>
              <a:rPr lang="en-US" dirty="0"/>
              <a:t> </a:t>
            </a:r>
            <a:r>
              <a:rPr lang="en-US" dirty="0" err="1"/>
              <a:t>capas</a:t>
            </a:r>
            <a:r>
              <a:rPr lang="en-US" dirty="0"/>
              <a:t> </a:t>
            </a:r>
            <a:r>
              <a:rPr lang="en-US" dirty="0" err="1"/>
              <a:t>que</a:t>
            </a:r>
            <a:r>
              <a:rPr lang="en-US" dirty="0"/>
              <a:t> se </a:t>
            </a:r>
            <a:r>
              <a:rPr lang="en-US" dirty="0" err="1"/>
              <a:t>repetirá</a:t>
            </a:r>
            <a:r>
              <a:rPr lang="en-US" dirty="0"/>
              <a:t> </a:t>
            </a:r>
            <a:r>
              <a:rPr lang="en-US" dirty="0" err="1"/>
              <a:t>durante</a:t>
            </a:r>
            <a:r>
              <a:rPr lang="en-US" dirty="0"/>
              <a:t> </a:t>
            </a:r>
            <a:r>
              <a:rPr lang="en-US" dirty="0" err="1"/>
              <a:t>todo</a:t>
            </a:r>
            <a:r>
              <a:rPr lang="en-US" dirty="0"/>
              <a:t> el </a:t>
            </a:r>
            <a:r>
              <a:rPr lang="en-US" dirty="0" err="1"/>
              <a:t>módulo</a:t>
            </a:r>
            <a:r>
              <a:rPr lang="en-US" dirty="0"/>
              <a:t>: el canal de entrada, un AI Gateway (</a:t>
            </a:r>
            <a:r>
              <a:rPr lang="en-US" dirty="0" err="1"/>
              <a:t>típicamente</a:t>
            </a:r>
            <a:r>
              <a:rPr lang="en-US" dirty="0"/>
              <a:t> APIM) </a:t>
            </a:r>
            <a:r>
              <a:rPr lang="en-US" dirty="0" err="1"/>
              <a:t>que</a:t>
            </a:r>
            <a:r>
              <a:rPr lang="en-US" dirty="0"/>
              <a:t> </a:t>
            </a:r>
            <a:r>
              <a:rPr lang="en-US" dirty="0" err="1"/>
              <a:t>centraliza</a:t>
            </a:r>
            <a:r>
              <a:rPr lang="en-US" dirty="0"/>
              <a:t> </a:t>
            </a:r>
            <a:r>
              <a:rPr lang="en-US" dirty="0" err="1"/>
              <a:t>autenticación</a:t>
            </a:r>
            <a:r>
              <a:rPr lang="en-US" dirty="0"/>
              <a:t>, </a:t>
            </a:r>
            <a:r>
              <a:rPr lang="en-US" dirty="0" err="1"/>
              <a:t>límites</a:t>
            </a:r>
            <a:r>
              <a:rPr lang="en-US" dirty="0"/>
              <a:t> y cache, un Session Gateway </a:t>
            </a:r>
            <a:r>
              <a:rPr lang="en-US" dirty="0" err="1"/>
              <a:t>opcional</a:t>
            </a:r>
            <a:r>
              <a:rPr lang="en-US" dirty="0"/>
              <a:t> para </a:t>
            </a:r>
            <a:r>
              <a:rPr lang="en-US" dirty="0" err="1"/>
              <a:t>multiplexar</a:t>
            </a:r>
            <a:r>
              <a:rPr lang="en-US" dirty="0"/>
              <a:t> </a:t>
            </a:r>
            <a:r>
              <a:rPr lang="en-US" dirty="0" err="1"/>
              <a:t>usuarios</a:t>
            </a:r>
            <a:r>
              <a:rPr lang="en-US" dirty="0"/>
              <a:t>, el Hosted Agent con </a:t>
            </a:r>
            <a:r>
              <a:rPr lang="en-US" dirty="0" err="1"/>
              <a:t>su</a:t>
            </a:r>
            <a:r>
              <a:rPr lang="en-US" dirty="0"/>
              <a:t> </a:t>
            </a:r>
            <a:r>
              <a:rPr lang="en-US" dirty="0" err="1"/>
              <a:t>propia</a:t>
            </a:r>
            <a:r>
              <a:rPr lang="en-US" dirty="0"/>
              <a:t> </a:t>
            </a:r>
            <a:r>
              <a:rPr lang="en-US" dirty="0" err="1"/>
              <a:t>identidad</a:t>
            </a:r>
            <a:r>
              <a:rPr lang="en-US" dirty="0"/>
              <a:t> Entra y </a:t>
            </a:r>
            <a:r>
              <a:rPr lang="en-US" dirty="0" err="1"/>
              <a:t>sesiones</a:t>
            </a:r>
            <a:r>
              <a:rPr lang="en-US" dirty="0"/>
              <a:t> </a:t>
            </a:r>
            <a:r>
              <a:rPr lang="en-US" dirty="0" err="1"/>
              <a:t>aisladas</a:t>
            </a:r>
            <a:r>
              <a:rPr lang="en-US" dirty="0"/>
              <a:t>, y </a:t>
            </a:r>
            <a:r>
              <a:rPr lang="en-US" dirty="0" err="1"/>
              <a:t>finalmente</a:t>
            </a:r>
            <a:r>
              <a:rPr lang="en-US" dirty="0"/>
              <a:t> los </a:t>
            </a:r>
            <a:r>
              <a:rPr lang="en-US" dirty="0" err="1"/>
              <a:t>modelos</a:t>
            </a:r>
            <a:r>
              <a:rPr lang="en-US" dirty="0"/>
              <a:t> y </a:t>
            </a:r>
            <a:r>
              <a:rPr lang="en-US" dirty="0" err="1"/>
              <a:t>herramientas</a:t>
            </a:r>
            <a:r>
              <a:rPr lang="en-US" dirty="0"/>
              <a:t> (Search, MCP, A2A). No </a:t>
            </a:r>
            <a:r>
              <a:rPr lang="en-US" dirty="0" err="1"/>
              <a:t>todas</a:t>
            </a:r>
            <a:r>
              <a:rPr lang="en-US" dirty="0"/>
              <a:t> las </a:t>
            </a:r>
            <a:r>
              <a:rPr lang="en-US" dirty="0" err="1"/>
              <a:t>organizaciones</a:t>
            </a:r>
            <a:r>
              <a:rPr lang="en-US" dirty="0"/>
              <a:t> </a:t>
            </a:r>
            <a:r>
              <a:rPr lang="en-US" dirty="0" err="1"/>
              <a:t>necesitan</a:t>
            </a:r>
            <a:r>
              <a:rPr lang="en-US" dirty="0"/>
              <a:t> las </a:t>
            </a:r>
            <a:r>
              <a:rPr lang="en-US" dirty="0" err="1"/>
              <a:t>cinco</a:t>
            </a:r>
            <a:r>
              <a:rPr lang="en-US" dirty="0"/>
              <a:t> </a:t>
            </a:r>
            <a:r>
              <a:rPr lang="en-US" dirty="0" err="1"/>
              <a:t>capas</a:t>
            </a:r>
            <a:r>
              <a:rPr lang="en-US" dirty="0"/>
              <a:t> </a:t>
            </a:r>
            <a:r>
              <a:rPr lang="en-US" dirty="0" err="1"/>
              <a:t>desde</a:t>
            </a:r>
            <a:r>
              <a:rPr lang="en-US" dirty="0"/>
              <a:t> el día uno: el Session Gateway, </a:t>
            </a:r>
            <a:r>
              <a:rPr lang="en-US" dirty="0" err="1"/>
              <a:t>por</a:t>
            </a:r>
            <a:r>
              <a:rPr lang="en-US" dirty="0"/>
              <a:t> </a:t>
            </a:r>
            <a:r>
              <a:rPr lang="en-US" dirty="0" err="1"/>
              <a:t>ejemplo</a:t>
            </a:r>
            <a:r>
              <a:rPr lang="en-US" dirty="0"/>
              <a:t>, solo se </a:t>
            </a:r>
            <a:r>
              <a:rPr lang="en-US" dirty="0" err="1"/>
              <a:t>justifica</a:t>
            </a:r>
            <a:r>
              <a:rPr lang="en-US" dirty="0"/>
              <a:t> </a:t>
            </a:r>
            <a:r>
              <a:rPr lang="en-US" dirty="0" err="1"/>
              <a:t>cuando</a:t>
            </a:r>
            <a:r>
              <a:rPr lang="en-US" dirty="0"/>
              <a:t> la </a:t>
            </a:r>
            <a:r>
              <a:rPr lang="en-US" dirty="0" err="1"/>
              <a:t>concurrencia</a:t>
            </a:r>
            <a:r>
              <a:rPr lang="en-US" dirty="0"/>
              <a:t> </a:t>
            </a:r>
            <a:r>
              <a:rPr lang="en-US" dirty="0" err="1"/>
              <a:t>esperada</a:t>
            </a:r>
            <a:r>
              <a:rPr lang="en-US" dirty="0"/>
              <a:t> </a:t>
            </a:r>
            <a:r>
              <a:rPr lang="en-US" dirty="0" err="1"/>
              <a:t>hace</a:t>
            </a:r>
            <a:r>
              <a:rPr lang="en-US" dirty="0"/>
              <a:t> </a:t>
            </a:r>
            <a:r>
              <a:rPr lang="en-US" dirty="0" err="1"/>
              <a:t>que</a:t>
            </a:r>
            <a:r>
              <a:rPr lang="en-US" dirty="0"/>
              <a:t> </a:t>
            </a:r>
            <a:r>
              <a:rPr lang="en-US" dirty="0" err="1"/>
              <a:t>una</a:t>
            </a:r>
            <a:r>
              <a:rPr lang="en-US" dirty="0"/>
              <a:t> </a:t>
            </a:r>
            <a:r>
              <a:rPr lang="en-US" dirty="0" err="1"/>
              <a:t>sesión</a:t>
            </a:r>
            <a:r>
              <a:rPr lang="en-US" dirty="0"/>
              <a:t> 1:1 </a:t>
            </a:r>
            <a:r>
              <a:rPr lang="en-US" dirty="0" err="1"/>
              <a:t>por</a:t>
            </a:r>
            <a:r>
              <a:rPr lang="en-US" dirty="0"/>
              <a:t> </a:t>
            </a:r>
            <a:r>
              <a:rPr lang="en-US" dirty="0" err="1"/>
              <a:t>usuario</a:t>
            </a:r>
            <a:r>
              <a:rPr lang="en-US" dirty="0"/>
              <a:t> sea </a:t>
            </a:r>
            <a:r>
              <a:rPr lang="en-US" dirty="0" err="1"/>
              <a:t>costosa</a:t>
            </a:r>
            <a:r>
              <a:rPr lang="en-US" dirty="0"/>
              <a:t> de </a:t>
            </a:r>
            <a:r>
              <a:rPr lang="en-US" dirty="0" err="1"/>
              <a:t>operar</a:t>
            </a:r>
            <a:r>
              <a:rPr lang="en-US" dirty="0"/>
              <a:t>. Esta </a:t>
            </a:r>
            <a:r>
              <a:rPr lang="en-US" dirty="0" err="1"/>
              <a:t>capa</a:t>
            </a:r>
            <a:r>
              <a:rPr lang="en-US" dirty="0"/>
              <a:t> se </a:t>
            </a:r>
            <a:r>
              <a:rPr lang="en-US" dirty="0" err="1"/>
              <a:t>retomará</a:t>
            </a:r>
            <a:r>
              <a:rPr lang="en-US" dirty="0"/>
              <a:t> </a:t>
            </a:r>
            <a:r>
              <a:rPr lang="en-US" dirty="0" err="1"/>
              <a:t>como</a:t>
            </a:r>
            <a:r>
              <a:rPr lang="en-US" dirty="0"/>
              <a:t> </a:t>
            </a:r>
            <a:r>
              <a:rPr lang="en-US" dirty="0" err="1"/>
              <a:t>plantilla</a:t>
            </a:r>
            <a:r>
              <a:rPr lang="en-US" dirty="0"/>
              <a:t> </a:t>
            </a:r>
            <a:r>
              <a:rPr lang="en-US" dirty="0" err="1"/>
              <a:t>directa</a:t>
            </a:r>
            <a:r>
              <a:rPr lang="en-US" dirty="0"/>
              <a:t> en el canvas del workshop. </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analizamos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piezas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separado</a:t>
            </a:r>
            <a:r>
              <a:rPr lang="en-US" sz="1200" b="0" i="0" kern="1200" dirty="0">
                <a:solidFill>
                  <a:schemeClr val="tx1"/>
                </a:solidFill>
                <a:effectLst/>
                <a:latin typeface="+mn-lt"/>
                <a:ea typeface="+mn-ea"/>
                <a:cs typeface="+mn-cs"/>
              </a:rPr>
              <a:t>. Este slide </a:t>
            </a:r>
            <a:r>
              <a:rPr lang="en-US" sz="1200" b="0" i="0" kern="1200" dirty="0" err="1">
                <a:solidFill>
                  <a:schemeClr val="tx1"/>
                </a:solidFill>
                <a:effectLst/>
                <a:latin typeface="+mn-lt"/>
                <a:ea typeface="+mn-ea"/>
                <a:cs typeface="+mn-cs"/>
              </a:rPr>
              <a:t>muestra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combinarlas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empresarial</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la </a:t>
            </a:r>
            <a:r>
              <a:rPr lang="en-US" sz="1200" b="0" i="0" kern="1200" dirty="0" err="1">
                <a:solidFill>
                  <a:schemeClr val="tx1"/>
                </a:solidFill>
                <a:effectLst/>
                <a:latin typeface="+mn-lt"/>
                <a:ea typeface="+mn-ea"/>
                <a:cs typeface="+mn-cs"/>
              </a:rPr>
              <a:t>parte</a:t>
            </a:r>
            <a:r>
              <a:rPr lang="en-US" sz="1200" b="0" i="0" kern="1200" dirty="0">
                <a:solidFill>
                  <a:schemeClr val="tx1"/>
                </a:solidFill>
                <a:effectLst/>
                <a:latin typeface="+mn-lt"/>
                <a:ea typeface="+mn-ea"/>
                <a:cs typeface="+mn-cs"/>
              </a:rPr>
              <a:t> superior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canal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ser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web, </a:t>
            </a:r>
            <a:r>
              <a:rPr lang="en-US" sz="1200" b="0" i="0" kern="1200" dirty="0" err="1">
                <a:solidFill>
                  <a:schemeClr val="tx1"/>
                </a:solidFill>
                <a:effectLst/>
                <a:latin typeface="+mn-lt"/>
                <a:ea typeface="+mn-ea"/>
                <a:cs typeface="+mn-cs"/>
              </a:rPr>
              <a:t>móvil</a:t>
            </a:r>
            <a:r>
              <a:rPr lang="en-US" sz="1200" b="0" i="0" kern="1200" dirty="0">
                <a:solidFill>
                  <a:schemeClr val="tx1"/>
                </a:solidFill>
                <a:effectLst/>
                <a:latin typeface="+mn-lt"/>
                <a:ea typeface="+mn-ea"/>
                <a:cs typeface="+mn-cs"/>
              </a:rPr>
              <a:t>, Teams o un contact center. Ese es </a:t>
            </a:r>
            <a:r>
              <a:rPr lang="en-US" sz="1200" b="0" i="0" kern="1200" dirty="0" err="1">
                <a:solidFill>
                  <a:schemeClr val="tx1"/>
                </a:solidFill>
                <a:effectLst/>
                <a:latin typeface="+mn-lt"/>
                <a:ea typeface="+mn-ea"/>
                <a:cs typeface="+mn-cs"/>
              </a:rPr>
              <a:t>simplemente</a:t>
            </a:r>
            <a:r>
              <a:rPr lang="en-US" sz="1200" b="0" i="0" kern="1200" dirty="0">
                <a:solidFill>
                  <a:schemeClr val="tx1"/>
                </a:solidFill>
                <a:effectLst/>
                <a:latin typeface="+mn-lt"/>
                <a:ea typeface="+mn-ea"/>
                <a:cs typeface="+mn-cs"/>
              </a:rPr>
              <a:t> el punto </a:t>
            </a:r>
            <a:r>
              <a:rPr lang="en-US" sz="1200" b="0" i="0" kern="1200" dirty="0" err="1">
                <a:solidFill>
                  <a:schemeClr val="tx1"/>
                </a:solidFill>
                <a:effectLst/>
                <a:latin typeface="+mn-lt"/>
                <a:ea typeface="+mn-ea"/>
                <a:cs typeface="+mn-cs"/>
              </a:rPr>
              <a:t>desde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llega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Después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AI Gateway con API Management</a:t>
            </a:r>
            <a:r>
              <a:rPr lang="en-US" sz="1200" b="0" i="0" kern="1200" dirty="0">
                <a:solidFill>
                  <a:schemeClr val="tx1"/>
                </a:solidFill>
                <a:effectLst/>
                <a:latin typeface="+mn-lt"/>
                <a:ea typeface="+mn-ea"/>
                <a:cs typeface="+mn-cs"/>
              </a:rPr>
              <a:t>. Su </a:t>
            </a:r>
            <a:r>
              <a:rPr lang="en-US" sz="1200" b="0" i="0" kern="1200" dirty="0" err="1">
                <a:solidFill>
                  <a:schemeClr val="tx1"/>
                </a:solidFill>
                <a:effectLst/>
                <a:latin typeface="+mn-lt"/>
                <a:ea typeface="+mn-ea"/>
                <a:cs typeface="+mn-cs"/>
              </a:rPr>
              <a:t>función</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separar</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de los backends y </a:t>
            </a:r>
            <a:r>
              <a:rPr lang="en-US" sz="1200" b="0" i="0" kern="1200" dirty="0" err="1">
                <a:solidFill>
                  <a:schemeClr val="tx1"/>
                </a:solidFill>
                <a:effectLst/>
                <a:latin typeface="+mn-lt"/>
                <a:ea typeface="+mn-ea"/>
                <a:cs typeface="+mn-cs"/>
              </a:rPr>
              <a:t>concentrar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transversales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límites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otras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opcional</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concurrencia</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Session Gateway</a:t>
            </a:r>
            <a:r>
              <a:rPr lang="en-US" sz="1200" b="0" i="0" kern="1200" dirty="0">
                <a:solidFill>
                  <a:schemeClr val="tx1"/>
                </a:solidFill>
                <a:effectLst/>
                <a:latin typeface="+mn-lt"/>
                <a:ea typeface="+mn-ea"/>
                <a:cs typeface="+mn-cs"/>
              </a:rPr>
              <a:t>. Su </a:t>
            </a:r>
            <a:r>
              <a:rPr lang="en-US" sz="1200" b="0" i="0" kern="1200" dirty="0" err="1">
                <a:solidFill>
                  <a:schemeClr val="tx1"/>
                </a:solidFill>
                <a:effectLst/>
                <a:latin typeface="+mn-lt"/>
                <a:ea typeface="+mn-ea"/>
                <a:cs typeface="+mn-cs"/>
              </a:rPr>
              <a:t>propósito</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permitir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compartir</a:t>
            </a:r>
            <a:r>
              <a:rPr lang="en-US" sz="1200" b="0" i="0" kern="1200" dirty="0">
                <a:solidFill>
                  <a:schemeClr val="tx1"/>
                </a:solidFill>
                <a:effectLst/>
                <a:latin typeface="+mn-lt"/>
                <a:ea typeface="+mn-ea"/>
                <a:cs typeface="+mn-cs"/>
              </a:rPr>
              <a:t> un pool </a:t>
            </a:r>
            <a:r>
              <a:rPr lang="en-US" sz="1200" b="0" i="0" kern="1200" dirty="0" err="1">
                <a:solidFill>
                  <a:schemeClr val="tx1"/>
                </a:solidFill>
                <a:effectLst/>
                <a:latin typeface="+mn-lt"/>
                <a:ea typeface="+mn-ea"/>
                <a:cs typeface="+mn-cs"/>
              </a:rPr>
              <a:t>acotado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de Hosted Agents, </a:t>
            </a:r>
            <a:r>
              <a:rPr lang="en-US" sz="1200" b="0" i="0" kern="1200" dirty="0" err="1">
                <a:solidFill>
                  <a:schemeClr val="tx1"/>
                </a:solidFill>
                <a:effectLst/>
                <a:latin typeface="+mn-lt"/>
                <a:ea typeface="+mn-ea"/>
                <a:cs typeface="+mn-cs"/>
              </a:rPr>
              <a:t>manteniendo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contexto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Multiplex multiple users in one hosted agent session - Microsoft Foundry </a:t>
            </a:r>
            <a:r>
              <a:rPr lang="en-US" sz="1200" b="0" i="0" u="none" strike="noStrike" kern="1200" dirty="0">
                <a:solidFill>
                  <a:schemeClr val="tx1"/>
                </a:solidFill>
                <a:effectLst/>
                <a:latin typeface="+mn-lt"/>
                <a:ea typeface="+mn-ea"/>
                <a:cs typeface="+mn-cs"/>
                <a:hlinkClick r:id="rId3"/>
              </a:rPr>
              <a:t>[learn.microsoft.com]</a:t>
            </a:r>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Después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Hosted Agent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o de </a:t>
            </a:r>
            <a:r>
              <a:rPr lang="en-US" sz="1200" b="0" i="0" kern="1200" dirty="0" err="1">
                <a:solidFill>
                  <a:schemeClr val="tx1"/>
                </a:solidFill>
                <a:effectLst/>
                <a:latin typeface="+mn-lt"/>
                <a:ea typeface="+mn-ea"/>
                <a:cs typeface="+mn-cs"/>
              </a:rPr>
              <a:t>orquestación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conocimiento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realizar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“Lo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resuelve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el canal </a:t>
            </a:r>
            <a:r>
              <a:rPr lang="en-US" sz="1200" b="0" i="0" kern="1200" dirty="0" err="1">
                <a:solidFill>
                  <a:schemeClr val="tx1"/>
                </a:solidFill>
                <a:effectLst/>
                <a:latin typeface="+mn-lt"/>
                <a:ea typeface="+mn-ea"/>
                <a:cs typeface="+mn-cs"/>
              </a:rPr>
              <a:t>presenta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experiencia</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gobierna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el Session Gateway </a:t>
            </a:r>
            <a:r>
              <a:rPr lang="en-US" sz="1200" b="0" i="0" kern="1200" dirty="0" err="1">
                <a:solidFill>
                  <a:schemeClr val="tx1"/>
                </a:solidFill>
                <a:effectLst/>
                <a:latin typeface="+mn-lt"/>
                <a:ea typeface="+mn-ea"/>
                <a:cs typeface="+mn-cs"/>
              </a:rPr>
              <a:t>optimiza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uso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el Hosted Agent </a:t>
            </a:r>
            <a:r>
              <a:rPr lang="en-US" sz="1200" b="0" i="0" kern="1200" dirty="0" err="1">
                <a:solidFill>
                  <a:schemeClr val="tx1"/>
                </a:solidFill>
                <a:effectLst/>
                <a:latin typeface="+mn-lt"/>
                <a:ea typeface="+mn-ea"/>
                <a:cs typeface="+mn-cs"/>
              </a:rPr>
              <a:t>ejecuta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y tools </a:t>
            </a:r>
            <a:r>
              <a:rPr lang="en-US" sz="1200" b="0" i="0" kern="1200" dirty="0" err="1">
                <a:solidFill>
                  <a:schemeClr val="tx1"/>
                </a:solidFill>
                <a:effectLst/>
                <a:latin typeface="+mn-lt"/>
                <a:ea typeface="+mn-ea"/>
                <a:cs typeface="+mn-cs"/>
              </a:rPr>
              <a:t>proporcionan</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necesarias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a:t>
            </a:r>
            <a:r>
              <a:rPr lang="en-US" dirty="0" err="1"/>
              <a:t>permiten</a:t>
            </a:r>
            <a:r>
              <a:rPr lang="en-US" dirty="0"/>
              <a:t> </a:t>
            </a:r>
            <a:r>
              <a:rPr lang="en-US" dirty="0" err="1"/>
              <a:t>traer</a:t>
            </a:r>
            <a:r>
              <a:rPr lang="en-US" dirty="0"/>
              <a:t> </a:t>
            </a:r>
            <a:r>
              <a:rPr lang="en-US" dirty="0" err="1"/>
              <a:t>código</a:t>
            </a:r>
            <a:r>
              <a:rPr lang="en-US" dirty="0"/>
              <a:t> </a:t>
            </a:r>
            <a:r>
              <a:rPr lang="en-US" dirty="0" err="1"/>
              <a:t>propio</a:t>
            </a:r>
            <a:r>
              <a:rPr lang="en-US" dirty="0"/>
              <a:t> en un framework </a:t>
            </a:r>
            <a:r>
              <a:rPr lang="en-US" dirty="0" err="1"/>
              <a:t>como</a:t>
            </a:r>
            <a:r>
              <a:rPr lang="en-US" dirty="0"/>
              <a:t> Agent Framework, </a:t>
            </a:r>
            <a:r>
              <a:rPr lang="en-US" dirty="0" err="1"/>
              <a:t>LangGraph</a:t>
            </a:r>
            <a:r>
              <a:rPr lang="en-US" dirty="0"/>
              <a:t> o Semantic Kernel, y la </a:t>
            </a:r>
            <a:r>
              <a:rPr lang="en-US" dirty="0" err="1"/>
              <a:t>plataforma</a:t>
            </a:r>
            <a:r>
              <a:rPr lang="en-US" dirty="0"/>
              <a:t> se </a:t>
            </a:r>
            <a:r>
              <a:rPr lang="en-US" dirty="0" err="1"/>
              <a:t>encarga</a:t>
            </a:r>
            <a:r>
              <a:rPr lang="en-US" dirty="0"/>
              <a:t> de </a:t>
            </a:r>
            <a:r>
              <a:rPr lang="en-US" dirty="0" err="1"/>
              <a:t>containerizar</a:t>
            </a:r>
            <a:r>
              <a:rPr lang="en-US" dirty="0"/>
              <a:t>, </a:t>
            </a:r>
            <a:r>
              <a:rPr lang="en-US" dirty="0" err="1"/>
              <a:t>escalar</a:t>
            </a:r>
            <a:r>
              <a:rPr lang="en-US" dirty="0"/>
              <a:t>, </a:t>
            </a:r>
            <a:r>
              <a:rPr lang="en-US" dirty="0" err="1"/>
              <a:t>aislar</a:t>
            </a:r>
            <a:r>
              <a:rPr lang="en-US" dirty="0"/>
              <a:t> </a:t>
            </a:r>
            <a:r>
              <a:rPr lang="en-US" dirty="0" err="1"/>
              <a:t>sesiones</a:t>
            </a:r>
            <a:r>
              <a:rPr lang="en-US" dirty="0"/>
              <a:t> y </a:t>
            </a:r>
            <a:r>
              <a:rPr lang="en-US" dirty="0" err="1"/>
              <a:t>versionar</a:t>
            </a:r>
            <a:r>
              <a:rPr lang="en-US" dirty="0"/>
              <a:t>. Cada </a:t>
            </a:r>
            <a:r>
              <a:rPr lang="en-US" dirty="0" err="1"/>
              <a:t>sesión</a:t>
            </a:r>
            <a:r>
              <a:rPr lang="en-US" dirty="0"/>
              <a:t> </a:t>
            </a:r>
            <a:r>
              <a:rPr lang="en-US" dirty="0" err="1"/>
              <a:t>corre</a:t>
            </a:r>
            <a:r>
              <a:rPr lang="en-US" dirty="0"/>
              <a:t> en un sandbox </a:t>
            </a:r>
            <a:r>
              <a:rPr lang="en-US" dirty="0" err="1"/>
              <a:t>aislado</a:t>
            </a:r>
            <a:r>
              <a:rPr lang="en-US" dirty="0"/>
              <a:t> con </a:t>
            </a:r>
            <a:r>
              <a:rPr lang="en-US" dirty="0" err="1"/>
              <a:t>almacenamiento</a:t>
            </a:r>
            <a:r>
              <a:rPr lang="en-US" dirty="0"/>
              <a:t> </a:t>
            </a:r>
            <a:r>
              <a:rPr lang="en-US" dirty="0" err="1"/>
              <a:t>persistente</a:t>
            </a:r>
            <a:r>
              <a:rPr lang="en-US" dirty="0"/>
              <a:t>, lo </a:t>
            </a:r>
            <a:r>
              <a:rPr lang="en-US" dirty="0" err="1"/>
              <a:t>que</a:t>
            </a:r>
            <a:r>
              <a:rPr lang="en-US" dirty="0"/>
              <a:t> </a:t>
            </a:r>
            <a:r>
              <a:rPr lang="en-US" dirty="0" err="1"/>
              <a:t>habilita</a:t>
            </a:r>
            <a:r>
              <a:rPr lang="en-US" dirty="0"/>
              <a:t> </a:t>
            </a:r>
            <a:r>
              <a:rPr lang="en-US" dirty="0" err="1"/>
              <a:t>flujos</a:t>
            </a:r>
            <a:r>
              <a:rPr lang="en-US" dirty="0"/>
              <a:t> con </a:t>
            </a:r>
            <a:r>
              <a:rPr lang="en-US" dirty="0" err="1"/>
              <a:t>estado</a:t>
            </a:r>
            <a:r>
              <a:rPr lang="en-US" dirty="0"/>
              <a:t> real, no solo request-response. El punto de </a:t>
            </a:r>
            <a:r>
              <a:rPr lang="en-US" dirty="0" err="1"/>
              <a:t>gobierno</a:t>
            </a:r>
            <a:r>
              <a:rPr lang="en-US" dirty="0"/>
              <a:t> </a:t>
            </a:r>
            <a:r>
              <a:rPr lang="en-US" dirty="0" err="1"/>
              <a:t>más</a:t>
            </a:r>
            <a:r>
              <a:rPr lang="en-US" dirty="0"/>
              <a:t> </a:t>
            </a:r>
            <a:r>
              <a:rPr lang="en-US" dirty="0" err="1"/>
              <a:t>importante</a:t>
            </a:r>
            <a:r>
              <a:rPr lang="en-US" dirty="0"/>
              <a:t> es el </a:t>
            </a:r>
            <a:r>
              <a:rPr lang="en-US" dirty="0" err="1"/>
              <a:t>ciclo</a:t>
            </a:r>
            <a:r>
              <a:rPr lang="en-US" dirty="0"/>
              <a:t> de </a:t>
            </a:r>
            <a:r>
              <a:rPr lang="en-US" dirty="0" err="1"/>
              <a:t>vida</a:t>
            </a:r>
            <a:r>
              <a:rPr lang="en-US" dirty="0"/>
              <a:t> de la </a:t>
            </a:r>
            <a:r>
              <a:rPr lang="en-US" dirty="0" err="1"/>
              <a:t>identidad</a:t>
            </a:r>
            <a:r>
              <a:rPr lang="en-US" dirty="0"/>
              <a:t>: antes de </a:t>
            </a:r>
            <a:r>
              <a:rPr lang="en-US" dirty="0" err="1"/>
              <a:t>publicar</a:t>
            </a:r>
            <a:r>
              <a:rPr lang="en-US" dirty="0"/>
              <a:t>, </a:t>
            </a:r>
            <a:r>
              <a:rPr lang="en-US" dirty="0" err="1"/>
              <a:t>todos</a:t>
            </a:r>
            <a:r>
              <a:rPr lang="en-US" dirty="0"/>
              <a:t> los </a:t>
            </a:r>
            <a:r>
              <a:rPr lang="en-US" dirty="0" err="1"/>
              <a:t>agentes</a:t>
            </a:r>
            <a:r>
              <a:rPr lang="en-US" dirty="0"/>
              <a:t> de un </a:t>
            </a:r>
            <a:r>
              <a:rPr lang="en-US" dirty="0" err="1"/>
              <a:t>proyecto</a:t>
            </a:r>
            <a:r>
              <a:rPr lang="en-US" dirty="0"/>
              <a:t> </a:t>
            </a:r>
            <a:r>
              <a:rPr lang="en-US" dirty="0" err="1"/>
              <a:t>comparten</a:t>
            </a:r>
            <a:r>
              <a:rPr lang="en-US" dirty="0"/>
              <a:t> </a:t>
            </a:r>
            <a:r>
              <a:rPr lang="en-US" dirty="0" err="1"/>
              <a:t>una</a:t>
            </a:r>
            <a:r>
              <a:rPr lang="en-US" dirty="0"/>
              <a:t> sola </a:t>
            </a:r>
            <a:r>
              <a:rPr lang="en-US" dirty="0" err="1"/>
              <a:t>identidad</a:t>
            </a:r>
            <a:r>
              <a:rPr lang="en-US" dirty="0"/>
              <a:t> Entra para </a:t>
            </a:r>
            <a:r>
              <a:rPr lang="en-US" dirty="0" err="1"/>
              <a:t>simplificar</a:t>
            </a:r>
            <a:r>
              <a:rPr lang="en-US" dirty="0"/>
              <a:t> el </a:t>
            </a:r>
            <a:r>
              <a:rPr lang="en-US" dirty="0" err="1"/>
              <a:t>desarrollo</a:t>
            </a:r>
            <a:r>
              <a:rPr lang="en-US" dirty="0"/>
              <a:t>; al </a:t>
            </a:r>
            <a:r>
              <a:rPr lang="en-US" dirty="0" err="1"/>
              <a:t>publicar</a:t>
            </a:r>
            <a:r>
              <a:rPr lang="en-US" dirty="0"/>
              <a:t>, </a:t>
            </a:r>
            <a:r>
              <a:rPr lang="en-US" dirty="0" err="1"/>
              <a:t>cada</a:t>
            </a:r>
            <a:r>
              <a:rPr lang="en-US" dirty="0"/>
              <a:t> </a:t>
            </a:r>
            <a:r>
              <a:rPr lang="en-US" dirty="0" err="1"/>
              <a:t>agente</a:t>
            </a:r>
            <a:r>
              <a:rPr lang="en-US" dirty="0"/>
              <a:t> </a:t>
            </a:r>
            <a:r>
              <a:rPr lang="en-US" dirty="0" err="1"/>
              <a:t>obtiene</a:t>
            </a:r>
            <a:r>
              <a:rPr lang="en-US" dirty="0"/>
              <a:t> </a:t>
            </a:r>
            <a:r>
              <a:rPr lang="en-US" dirty="0" err="1"/>
              <a:t>su</a:t>
            </a:r>
            <a:r>
              <a:rPr lang="en-US" dirty="0"/>
              <a:t> </a:t>
            </a:r>
            <a:r>
              <a:rPr lang="en-US" dirty="0" err="1"/>
              <a:t>propia</a:t>
            </a:r>
            <a:r>
              <a:rPr lang="en-US" dirty="0"/>
              <a:t> </a:t>
            </a:r>
            <a:r>
              <a:rPr lang="en-US" dirty="0" err="1"/>
              <a:t>identidad</a:t>
            </a:r>
            <a:r>
              <a:rPr lang="en-US" dirty="0"/>
              <a:t>, </a:t>
            </a:r>
            <a:r>
              <a:rPr lang="en-US" dirty="0" err="1"/>
              <a:t>habilitando</a:t>
            </a:r>
            <a:r>
              <a:rPr lang="en-US" dirty="0"/>
              <a:t> </a:t>
            </a:r>
            <a:r>
              <a:rPr lang="en-US" dirty="0" err="1"/>
              <a:t>aislamiento</a:t>
            </a:r>
            <a:r>
              <a:rPr lang="en-US" dirty="0"/>
              <a:t> y </a:t>
            </a:r>
            <a:r>
              <a:rPr lang="en-US" dirty="0" err="1"/>
              <a:t>auditoría</a:t>
            </a:r>
            <a:r>
              <a:rPr lang="en-US" dirty="0"/>
              <a:t> </a:t>
            </a:r>
            <a:r>
              <a:rPr lang="en-US" dirty="0" err="1"/>
              <a:t>independiente</a:t>
            </a:r>
            <a:r>
              <a:rPr lang="en-US" dirty="0"/>
              <a:t>. El </a:t>
            </a:r>
            <a:r>
              <a:rPr lang="en-US" dirty="0" err="1"/>
              <a:t>intercambio</a:t>
            </a:r>
            <a:r>
              <a:rPr lang="en-US" dirty="0"/>
              <a:t> de tokens </a:t>
            </a:r>
            <a:r>
              <a:rPr lang="en-US" dirty="0" err="1"/>
              <a:t>hacia</a:t>
            </a:r>
            <a:r>
              <a:rPr lang="en-US" dirty="0"/>
              <a:t> </a:t>
            </a:r>
            <a:r>
              <a:rPr lang="en-US" dirty="0" err="1"/>
              <a:t>servicios</a:t>
            </a:r>
            <a:r>
              <a:rPr lang="en-US" dirty="0"/>
              <a:t> </a:t>
            </a:r>
            <a:r>
              <a:rPr lang="en-US" dirty="0" err="1"/>
              <a:t>externos</a:t>
            </a:r>
            <a:r>
              <a:rPr lang="en-US" dirty="0"/>
              <a:t> es </a:t>
            </a:r>
            <a:r>
              <a:rPr lang="en-US" dirty="0" err="1"/>
              <a:t>manejado</a:t>
            </a:r>
            <a:r>
              <a:rPr lang="en-US" dirty="0"/>
              <a:t> </a:t>
            </a:r>
            <a:r>
              <a:rPr lang="en-US" dirty="0" err="1"/>
              <a:t>automáticamente</a:t>
            </a:r>
            <a:r>
              <a:rPr lang="en-US" dirty="0"/>
              <a:t> </a:t>
            </a:r>
            <a:r>
              <a:rPr lang="en-US" dirty="0" err="1"/>
              <a:t>por</a:t>
            </a:r>
            <a:r>
              <a:rPr lang="en-US" dirty="0"/>
              <a:t> la </a:t>
            </a:r>
            <a:r>
              <a:rPr lang="en-US" dirty="0" err="1"/>
              <a:t>plataforma</a:t>
            </a:r>
            <a:r>
              <a:rPr lang="en-US" dirty="0"/>
              <a:t> en cuatro </a:t>
            </a:r>
            <a:r>
              <a:rPr lang="en-US" dirty="0" err="1"/>
              <a:t>etapas</a:t>
            </a:r>
            <a:r>
              <a:rPr lang="en-US" dirty="0"/>
              <a:t>. </a:t>
            </a:r>
          </a:p>
          <a:p>
            <a:endParaRPr lang="en-US" dirty="0"/>
          </a:p>
          <a:p>
            <a:pPr fontAlgn="t"/>
            <a:r>
              <a:rPr lang="en-US" sz="1200" b="0" i="0" kern="1200" dirty="0">
                <a:solidFill>
                  <a:schemeClr val="tx1"/>
                </a:solidFill>
                <a:effectLst/>
                <a:latin typeface="+mn-lt"/>
                <a:ea typeface="+mn-ea"/>
                <a:cs typeface="+mn-cs"/>
              </a:rPr>
              <a:t>“Con Hosted Agents </a:t>
            </a:r>
            <a:r>
              <a:rPr lang="en-US" sz="1200" b="0" i="0" kern="1200" dirty="0" err="1">
                <a:solidFill>
                  <a:schemeClr val="tx1"/>
                </a:solidFill>
                <a:effectLst/>
                <a:latin typeface="+mn-lt"/>
                <a:ea typeface="+mn-ea"/>
                <a:cs typeface="+mn-cs"/>
              </a:rPr>
              <a:t>damos</a:t>
            </a:r>
            <a:r>
              <a:rPr lang="en-US" sz="1200" b="0" i="0" kern="1200" dirty="0">
                <a:solidFill>
                  <a:schemeClr val="tx1"/>
                </a:solidFill>
                <a:effectLst/>
                <a:latin typeface="+mn-lt"/>
                <a:ea typeface="+mn-ea"/>
                <a:cs typeface="+mn-cs"/>
              </a:rPr>
              <a:t> un paso </a:t>
            </a:r>
            <a:r>
              <a:rPr lang="en-US" sz="1200" b="0" i="0" kern="1200" dirty="0" err="1">
                <a:solidFill>
                  <a:schemeClr val="tx1"/>
                </a:solidFill>
                <a:effectLst/>
                <a:latin typeface="+mn-lt"/>
                <a:ea typeface="+mn-ea"/>
                <a:cs typeface="+mn-cs"/>
              </a:rPr>
              <a:t>adicional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respecto</a:t>
            </a:r>
            <a:r>
              <a:rPr lang="en-US" sz="1200" b="0" i="0" kern="1200" dirty="0">
                <a:solidFill>
                  <a:schemeClr val="tx1"/>
                </a:solidFill>
                <a:effectLst/>
                <a:latin typeface="+mn-lt"/>
                <a:ea typeface="+mn-ea"/>
                <a:cs typeface="+mn-cs"/>
              </a:rPr>
              <a:t> de un prompt agent: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implementación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propiedad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del runtime es el </a:t>
            </a:r>
            <a:r>
              <a:rPr lang="en-US" sz="1200" b="1" i="0" kern="1200" dirty="0" err="1">
                <a:solidFill>
                  <a:schemeClr val="tx1"/>
                </a:solidFill>
                <a:effectLst/>
                <a:latin typeface="+mn-lt"/>
                <a:ea typeface="+mn-ea"/>
                <a:cs typeface="+mn-cs"/>
              </a:rPr>
              <a:t>aislamiento</a:t>
            </a:r>
            <a:r>
              <a:rPr lang="en-US" sz="1200" b="1" i="0" kern="1200" dirty="0">
                <a:solidFill>
                  <a:schemeClr val="tx1"/>
                </a:solidFill>
                <a:effectLst/>
                <a:latin typeface="+mn-lt"/>
                <a:ea typeface="+mn-ea"/>
                <a:cs typeface="+mn-cs"/>
              </a:rPr>
              <a:t> de las </a:t>
            </a:r>
            <a:r>
              <a:rPr lang="en-US" sz="1200" b="1"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aisladas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conversaciones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y los datos </a:t>
            </a:r>
            <a:r>
              <a:rPr lang="en-US" sz="1200" b="0" i="0" kern="1200" dirty="0" err="1">
                <a:solidFill>
                  <a:schemeClr val="tx1"/>
                </a:solidFill>
                <a:effectLst/>
                <a:latin typeface="+mn-lt"/>
                <a:ea typeface="+mn-ea"/>
                <a:cs typeface="+mn-cs"/>
              </a:rPr>
              <a:t>almacenados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imaginar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un workspace privado de </a:t>
            </a:r>
            <a:r>
              <a:rPr lang="en-US" sz="1200" b="0" i="0" kern="1200" dirty="0" err="1">
                <a:solidFill>
                  <a:schemeClr val="tx1"/>
                </a:solidFill>
                <a:effectLst/>
                <a:latin typeface="+mn-lt"/>
                <a:ea typeface="+mn-ea"/>
                <a:cs typeface="+mn-cs"/>
              </a:rPr>
              <a:t>ejecución</a:t>
            </a:r>
            <a:r>
              <a:rPr lang="en-US" sz="1200" b="0" i="0" kern="1200" dirty="0">
                <a:solidFill>
                  <a:schemeClr val="tx1"/>
                </a:solidFill>
                <a:effectLst/>
                <a:latin typeface="+mn-lt"/>
                <a:ea typeface="+mn-ea"/>
                <a:cs typeface="+mn-cs"/>
              </a:rPr>
              <a:t>. Cada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dispone </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propio</a:t>
            </a:r>
            <a:r>
              <a:rPr lang="en-US" sz="1200" b="0" i="0" kern="1200" dirty="0">
                <a:solidFill>
                  <a:schemeClr val="tx1"/>
                </a:solidFill>
                <a:effectLst/>
                <a:latin typeface="+mn-lt"/>
                <a:ea typeface="+mn-ea"/>
                <a:cs typeface="+mn-cs"/>
              </a:rPr>
              <a:t> filesystem $HOME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del sandbox.</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“Esto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conservar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archivos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mientras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dimensión</a:t>
            </a:r>
            <a:r>
              <a:rPr lang="en-US" sz="1200" b="0" i="0" kern="1200" dirty="0">
                <a:solidFill>
                  <a:schemeClr val="tx1"/>
                </a:solidFill>
                <a:effectLst/>
                <a:latin typeface="+mn-lt"/>
                <a:ea typeface="+mn-ea"/>
                <a:cs typeface="+mn-cs"/>
              </a:rPr>
              <a:t> es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Cuando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a:t>
            </a:r>
            <a:r>
              <a:rPr lang="en-US" sz="1200" b="0" i="0" kern="1200" dirty="0">
                <a:solidFill>
                  <a:schemeClr val="tx1"/>
                </a:solidFill>
                <a:effectLst/>
                <a:latin typeface="+mn-lt"/>
                <a:ea typeface="+mn-ea"/>
                <a:cs typeface="+mn-cs"/>
              </a:rPr>
              <a:t> acceder a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comunicarse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operaciones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producción</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alcanza</a:t>
            </a:r>
            <a:r>
              <a:rPr lang="en-US" sz="1200" b="0" i="0" kern="1200" dirty="0">
                <a:solidFill>
                  <a:schemeClr val="tx1"/>
                </a:solidFill>
                <a:effectLst/>
                <a:latin typeface="+mn-lt"/>
                <a:ea typeface="+mn-ea"/>
                <a:cs typeface="+mn-cs"/>
              </a:rPr>
              <a:t> con saber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endpoint </a:t>
            </a:r>
            <a:r>
              <a:rPr lang="en-US" sz="1200" b="0" i="0" kern="1200" dirty="0" err="1">
                <a:solidFill>
                  <a:schemeClr val="tx1"/>
                </a:solidFill>
                <a:effectLst/>
                <a:latin typeface="+mn-lt"/>
                <a:ea typeface="+mn-ea"/>
                <a:cs typeface="+mn-cs"/>
              </a:rPr>
              <a:t>respondió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reconstruir</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ejecución</a:t>
            </a:r>
            <a:r>
              <a:rPr lang="en-US" sz="1200" b="0" i="0" kern="1200" dirty="0">
                <a:solidFill>
                  <a:schemeClr val="tx1"/>
                </a:solidFill>
                <a:effectLst/>
                <a:latin typeface="+mn-lt"/>
                <a:ea typeface="+mn-ea"/>
                <a:cs typeface="+mn-cs"/>
              </a:rPr>
              <a:t> completa del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pasos </a:t>
            </a:r>
            <a:r>
              <a:rPr lang="en-US" sz="1200" b="0" i="0" kern="1200" dirty="0" err="1">
                <a:solidFill>
                  <a:schemeClr val="tx1"/>
                </a:solidFill>
                <a:effectLst/>
                <a:latin typeface="+mn-lt"/>
                <a:ea typeface="+mn-ea"/>
                <a:cs typeface="+mn-cs"/>
              </a:rPr>
              <a:t>realizó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utilizó</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dónde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apareció</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tres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recordar</a:t>
            </a:r>
            <a:r>
              <a:rPr lang="en-US" sz="1200" b="0" i="0" kern="1200" dirty="0">
                <a:solidFill>
                  <a:schemeClr val="tx1"/>
                </a:solidFill>
                <a:effectLst/>
                <a:latin typeface="+mn-lt"/>
                <a:ea typeface="+mn-ea"/>
                <a:cs typeface="+mn-cs"/>
              </a:rPr>
              <a:t> son: </a:t>
            </a:r>
            <a:r>
              <a:rPr lang="en-US" sz="1200" b="1" i="0" kern="1200" dirty="0" err="1">
                <a:solidFill>
                  <a:schemeClr val="tx1"/>
                </a:solidFill>
                <a:effectLst/>
                <a:latin typeface="+mn-lt"/>
                <a:ea typeface="+mn-ea"/>
                <a:cs typeface="+mn-cs"/>
              </a:rPr>
              <a:t>ejecución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administrada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aislamiento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sesión</a:t>
            </a:r>
            <a:r>
              <a:rPr lang="en-US" sz="1200" b="1" i="0" kern="1200" dirty="0">
                <a:solidFill>
                  <a:schemeClr val="tx1"/>
                </a:solidFill>
                <a:effectLst/>
                <a:latin typeface="+mn-lt"/>
                <a:ea typeface="+mn-ea"/>
                <a:cs typeface="+mn-cs"/>
              </a:rPr>
              <a:t> e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controlada</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a:t>
            </a:r>
            <a:r>
              <a:rPr lang="en-US" dirty="0" err="1"/>
              <a:t>una</a:t>
            </a:r>
            <a:r>
              <a:rPr lang="en-US" dirty="0"/>
              <a:t> de las </a:t>
            </a:r>
            <a:r>
              <a:rPr lang="en-US" dirty="0" err="1"/>
              <a:t>decisiones</a:t>
            </a:r>
            <a:r>
              <a:rPr lang="en-US" dirty="0"/>
              <a:t> de </a:t>
            </a:r>
            <a:r>
              <a:rPr lang="en-US" dirty="0" err="1"/>
              <a:t>arquitectura</a:t>
            </a:r>
            <a:r>
              <a:rPr lang="en-US" dirty="0"/>
              <a:t> </a:t>
            </a:r>
            <a:r>
              <a:rPr lang="en-US" dirty="0" err="1"/>
              <a:t>más</a:t>
            </a:r>
            <a:r>
              <a:rPr lang="en-US" dirty="0"/>
              <a:t> </a:t>
            </a:r>
            <a:r>
              <a:rPr lang="en-US" dirty="0" err="1"/>
              <a:t>relevantes</a:t>
            </a:r>
            <a:r>
              <a:rPr lang="en-US" dirty="0"/>
              <a:t> del día. En el </a:t>
            </a:r>
            <a:r>
              <a:rPr lang="en-US" dirty="0" err="1"/>
              <a:t>modelo</a:t>
            </a:r>
            <a:r>
              <a:rPr lang="en-US" dirty="0"/>
              <a:t> 1:1, </a:t>
            </a:r>
            <a:r>
              <a:rPr lang="en-US" dirty="0" err="1"/>
              <a:t>cada</a:t>
            </a:r>
            <a:r>
              <a:rPr lang="en-US" dirty="0"/>
              <a:t> </a:t>
            </a:r>
            <a:r>
              <a:rPr lang="en-US" dirty="0" err="1"/>
              <a:t>usuario</a:t>
            </a:r>
            <a:r>
              <a:rPr lang="en-US" dirty="0"/>
              <a:t> </a:t>
            </a:r>
            <a:r>
              <a:rPr lang="en-US" dirty="0" err="1"/>
              <a:t>tiene</a:t>
            </a:r>
            <a:r>
              <a:rPr lang="en-US" dirty="0"/>
              <a:t> </a:t>
            </a:r>
            <a:r>
              <a:rPr lang="en-US" dirty="0" err="1"/>
              <a:t>su</a:t>
            </a:r>
            <a:r>
              <a:rPr lang="en-US" dirty="0"/>
              <a:t> </a:t>
            </a:r>
            <a:r>
              <a:rPr lang="en-US" dirty="0" err="1"/>
              <a:t>propia</a:t>
            </a:r>
            <a:r>
              <a:rPr lang="en-US" dirty="0"/>
              <a:t> </a:t>
            </a:r>
            <a:r>
              <a:rPr lang="en-US" dirty="0" err="1"/>
              <a:t>sesión</a:t>
            </a:r>
            <a:r>
              <a:rPr lang="en-US" dirty="0"/>
              <a:t> de Hosted Agent, lo </a:t>
            </a:r>
            <a:r>
              <a:rPr lang="en-US" dirty="0" err="1"/>
              <a:t>cual</a:t>
            </a:r>
            <a:r>
              <a:rPr lang="en-US" dirty="0"/>
              <a:t> es simple de </a:t>
            </a:r>
            <a:r>
              <a:rPr lang="en-US" dirty="0" err="1"/>
              <a:t>razonar</a:t>
            </a:r>
            <a:r>
              <a:rPr lang="en-US" dirty="0"/>
              <a:t> </a:t>
            </a:r>
            <a:r>
              <a:rPr lang="en-US" dirty="0" err="1"/>
              <a:t>pero</a:t>
            </a:r>
            <a:r>
              <a:rPr lang="en-US" dirty="0"/>
              <a:t> </a:t>
            </a:r>
            <a:r>
              <a:rPr lang="en-US" dirty="0" err="1"/>
              <a:t>escala</a:t>
            </a:r>
            <a:r>
              <a:rPr lang="en-US" dirty="0"/>
              <a:t> </a:t>
            </a:r>
            <a:r>
              <a:rPr lang="en-US" dirty="0" err="1"/>
              <a:t>linealmente</a:t>
            </a:r>
            <a:r>
              <a:rPr lang="en-US" dirty="0"/>
              <a:t> en </a:t>
            </a:r>
            <a:r>
              <a:rPr lang="en-US" dirty="0" err="1"/>
              <a:t>costo</a:t>
            </a:r>
            <a:r>
              <a:rPr lang="en-US" dirty="0"/>
              <a:t> de </a:t>
            </a:r>
            <a:r>
              <a:rPr lang="en-US" dirty="0" err="1"/>
              <a:t>cómputo</a:t>
            </a:r>
            <a:r>
              <a:rPr lang="en-US" dirty="0"/>
              <a:t> con la </a:t>
            </a:r>
            <a:r>
              <a:rPr lang="en-US" dirty="0" err="1"/>
              <a:t>cantidad</a:t>
            </a:r>
            <a:r>
              <a:rPr lang="en-US" dirty="0"/>
              <a:t> de </a:t>
            </a:r>
            <a:r>
              <a:rPr lang="en-US" dirty="0" err="1"/>
              <a:t>usuarios</a:t>
            </a:r>
            <a:r>
              <a:rPr lang="en-US" dirty="0"/>
              <a:t> </a:t>
            </a:r>
            <a:r>
              <a:rPr lang="en-US" dirty="0" err="1"/>
              <a:t>activos</a:t>
            </a:r>
            <a:r>
              <a:rPr lang="en-US" dirty="0"/>
              <a:t>. El </a:t>
            </a:r>
            <a:r>
              <a:rPr lang="en-US" dirty="0" err="1"/>
              <a:t>patrón</a:t>
            </a:r>
            <a:r>
              <a:rPr lang="en-US" dirty="0"/>
              <a:t> de Session Gateway introduce un </a:t>
            </a:r>
            <a:r>
              <a:rPr lang="en-US" dirty="0" err="1"/>
              <a:t>servicio</a:t>
            </a:r>
            <a:r>
              <a:rPr lang="en-US" dirty="0"/>
              <a:t> </a:t>
            </a:r>
            <a:r>
              <a:rPr lang="en-US" dirty="0" err="1"/>
              <a:t>intermedio</a:t>
            </a:r>
            <a:r>
              <a:rPr lang="en-US" dirty="0"/>
              <a:t> </a:t>
            </a:r>
            <a:r>
              <a:rPr lang="en-US" dirty="0" err="1"/>
              <a:t>que</a:t>
            </a:r>
            <a:r>
              <a:rPr lang="en-US" dirty="0"/>
              <a:t> </a:t>
            </a:r>
            <a:r>
              <a:rPr lang="en-US" dirty="0" err="1"/>
              <a:t>multiplexa</a:t>
            </a:r>
            <a:r>
              <a:rPr lang="en-US" dirty="0"/>
              <a:t> </a:t>
            </a:r>
            <a:r>
              <a:rPr lang="en-US" dirty="0" err="1"/>
              <a:t>muchos</a:t>
            </a:r>
            <a:r>
              <a:rPr lang="en-US" dirty="0"/>
              <a:t> </a:t>
            </a:r>
            <a:r>
              <a:rPr lang="en-US" dirty="0" err="1"/>
              <a:t>usuarios</a:t>
            </a:r>
            <a:r>
              <a:rPr lang="en-US" dirty="0"/>
              <a:t> </a:t>
            </a:r>
            <a:r>
              <a:rPr lang="en-US" dirty="0" err="1"/>
              <a:t>sobre</a:t>
            </a:r>
            <a:r>
              <a:rPr lang="en-US" dirty="0"/>
              <a:t> un </a:t>
            </a:r>
            <a:r>
              <a:rPr lang="en-US" dirty="0" err="1"/>
              <a:t>número</a:t>
            </a:r>
            <a:r>
              <a:rPr lang="en-US" dirty="0"/>
              <a:t> </a:t>
            </a:r>
            <a:r>
              <a:rPr lang="en-US" dirty="0" err="1"/>
              <a:t>acotado</a:t>
            </a:r>
            <a:r>
              <a:rPr lang="en-US" dirty="0"/>
              <a:t> de </a:t>
            </a:r>
            <a:r>
              <a:rPr lang="en-US" dirty="0" err="1"/>
              <a:t>sesiones</a:t>
            </a:r>
            <a:r>
              <a:rPr lang="en-US" dirty="0"/>
              <a:t> </a:t>
            </a:r>
            <a:r>
              <a:rPr lang="en-US" dirty="0" err="1"/>
              <a:t>compartidas</a:t>
            </a:r>
            <a:r>
              <a:rPr lang="en-US" dirty="0"/>
              <a:t>, </a:t>
            </a:r>
            <a:r>
              <a:rPr lang="en-US" dirty="0" err="1"/>
              <a:t>usando</a:t>
            </a:r>
            <a:r>
              <a:rPr lang="en-US" dirty="0"/>
              <a:t> un header de </a:t>
            </a:r>
            <a:r>
              <a:rPr lang="en-US" dirty="0" err="1"/>
              <a:t>identidad</a:t>
            </a:r>
            <a:r>
              <a:rPr lang="en-US" dirty="0"/>
              <a:t> de </a:t>
            </a:r>
            <a:r>
              <a:rPr lang="en-US" dirty="0" err="1"/>
              <a:t>usuario</a:t>
            </a:r>
            <a:r>
              <a:rPr lang="en-US" dirty="0"/>
              <a:t> para </a:t>
            </a:r>
            <a:r>
              <a:rPr lang="en-US" dirty="0" err="1"/>
              <a:t>delegar</a:t>
            </a:r>
            <a:r>
              <a:rPr lang="en-US" dirty="0"/>
              <a:t> el </a:t>
            </a:r>
            <a:r>
              <a:rPr lang="en-US" dirty="0" err="1"/>
              <a:t>contexto</a:t>
            </a:r>
            <a:r>
              <a:rPr lang="en-US" dirty="0"/>
              <a:t> </a:t>
            </a:r>
            <a:r>
              <a:rPr lang="en-US" dirty="0" err="1"/>
              <a:t>correcto</a:t>
            </a:r>
            <a:r>
              <a:rPr lang="en-US" dirty="0"/>
              <a:t> en </a:t>
            </a:r>
            <a:r>
              <a:rPr lang="en-US" dirty="0" err="1"/>
              <a:t>cada</a:t>
            </a:r>
            <a:r>
              <a:rPr lang="en-US" dirty="0"/>
              <a:t> request; </a:t>
            </a:r>
            <a:r>
              <a:rPr lang="en-US" dirty="0" err="1"/>
              <a:t>esto</a:t>
            </a:r>
            <a:r>
              <a:rPr lang="en-US" dirty="0"/>
              <a:t> </a:t>
            </a:r>
            <a:r>
              <a:rPr lang="en-US" dirty="0" err="1"/>
              <a:t>requiere</a:t>
            </a:r>
            <a:r>
              <a:rPr lang="en-US" dirty="0"/>
              <a:t> un </a:t>
            </a:r>
            <a:r>
              <a:rPr lang="en-US" dirty="0" err="1"/>
              <a:t>permiso</a:t>
            </a:r>
            <a:r>
              <a:rPr lang="en-US" dirty="0"/>
              <a:t> RBAC </a:t>
            </a:r>
            <a:r>
              <a:rPr lang="en-US" dirty="0" err="1"/>
              <a:t>dedicado</a:t>
            </a:r>
            <a:r>
              <a:rPr lang="en-US" dirty="0"/>
              <a:t> para </a:t>
            </a:r>
            <a:r>
              <a:rPr lang="en-US" dirty="0" err="1"/>
              <a:t>impersonar</a:t>
            </a:r>
            <a:r>
              <a:rPr lang="en-US" dirty="0"/>
              <a:t> </a:t>
            </a:r>
            <a:r>
              <a:rPr lang="en-US" dirty="0" err="1"/>
              <a:t>identidad</a:t>
            </a:r>
            <a:r>
              <a:rPr lang="en-US" dirty="0"/>
              <a:t> de </a:t>
            </a:r>
            <a:r>
              <a:rPr lang="en-US" dirty="0" err="1"/>
              <a:t>usuario</a:t>
            </a:r>
            <a:r>
              <a:rPr lang="en-US" dirty="0"/>
              <a:t>, </a:t>
            </a:r>
            <a:r>
              <a:rPr lang="en-US" dirty="0" err="1"/>
              <a:t>que</a:t>
            </a:r>
            <a:r>
              <a:rPr lang="en-US" dirty="0"/>
              <a:t> no </a:t>
            </a:r>
            <a:r>
              <a:rPr lang="en-US" dirty="0" err="1"/>
              <a:t>viene</a:t>
            </a:r>
            <a:r>
              <a:rPr lang="en-US" dirty="0"/>
              <a:t> en los roles </a:t>
            </a:r>
            <a:r>
              <a:rPr lang="en-US" dirty="0" err="1"/>
              <a:t>integrados</a:t>
            </a:r>
            <a:r>
              <a:rPr lang="en-US" dirty="0"/>
              <a:t>. Para BCI, con </a:t>
            </a:r>
            <a:r>
              <a:rPr lang="en-US" dirty="0" err="1"/>
              <a:t>potencialmente</a:t>
            </a:r>
            <a:r>
              <a:rPr lang="en-US" dirty="0"/>
              <a:t> miles de </a:t>
            </a:r>
            <a:r>
              <a:rPr lang="en-US" dirty="0" err="1"/>
              <a:t>usuarios</a:t>
            </a:r>
            <a:r>
              <a:rPr lang="en-US" dirty="0"/>
              <a:t> </a:t>
            </a:r>
            <a:r>
              <a:rPr lang="en-US" dirty="0" err="1"/>
              <a:t>corporativos</a:t>
            </a:r>
            <a:r>
              <a:rPr lang="en-US" dirty="0"/>
              <a:t> </a:t>
            </a:r>
            <a:r>
              <a:rPr lang="en-US" dirty="0" err="1"/>
              <a:t>concurrentes</a:t>
            </a:r>
            <a:r>
              <a:rPr lang="en-US" dirty="0"/>
              <a:t>, </a:t>
            </a:r>
            <a:r>
              <a:rPr lang="en-US" dirty="0" err="1"/>
              <a:t>esta</a:t>
            </a:r>
            <a:r>
              <a:rPr lang="en-US" dirty="0"/>
              <a:t> es </a:t>
            </a:r>
            <a:r>
              <a:rPr lang="en-US" dirty="0" err="1"/>
              <a:t>exactamente</a:t>
            </a:r>
            <a:r>
              <a:rPr lang="en-US" dirty="0"/>
              <a:t> la </a:t>
            </a:r>
            <a:r>
              <a:rPr lang="en-US" dirty="0" err="1"/>
              <a:t>decisión</a:t>
            </a:r>
            <a:r>
              <a:rPr lang="en-US" dirty="0"/>
              <a:t> </a:t>
            </a:r>
            <a:r>
              <a:rPr lang="en-US" dirty="0" err="1"/>
              <a:t>que</a:t>
            </a:r>
            <a:r>
              <a:rPr lang="en-US" dirty="0"/>
              <a:t> se </a:t>
            </a:r>
            <a:r>
              <a:rPr lang="en-US" dirty="0" err="1"/>
              <a:t>evaluará</a:t>
            </a:r>
            <a:r>
              <a:rPr lang="en-US" dirty="0"/>
              <a:t> en el workshop del </a:t>
            </a:r>
            <a:r>
              <a:rPr lang="en-US" dirty="0" err="1"/>
              <a:t>cierre</a:t>
            </a:r>
            <a:r>
              <a:rPr lang="en-US" dirty="0"/>
              <a:t> de la jornada. </a:t>
            </a:r>
          </a:p>
          <a:p>
            <a:endParaRPr lang="en-US" dirty="0"/>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operativo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“Esto </a:t>
            </a:r>
            <a:r>
              <a:rPr lang="en-US" sz="1200" b="0" i="0" kern="1200" dirty="0" err="1">
                <a:solidFill>
                  <a:schemeClr val="tx1"/>
                </a:solidFill>
                <a:effectLst/>
                <a:latin typeface="+mn-lt"/>
                <a:ea typeface="+mn-ea"/>
                <a:cs typeface="+mn-cs"/>
              </a:rPr>
              <a:t>hace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aislamiento</a:t>
            </a:r>
            <a:r>
              <a:rPr lang="en-US" sz="1200" b="0" i="0" kern="1200" dirty="0">
                <a:solidFill>
                  <a:schemeClr val="tx1"/>
                </a:solidFill>
                <a:effectLst/>
                <a:latin typeface="+mn-lt"/>
                <a:ea typeface="+mn-ea"/>
                <a:cs typeface="+mn-cs"/>
              </a:rPr>
              <a:t> sea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fácil</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razonar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conversación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espacio</a:t>
            </a:r>
            <a:r>
              <a:rPr lang="en-US" sz="1200" b="0" i="0" kern="1200" dirty="0">
                <a:solidFill>
                  <a:schemeClr val="tx1"/>
                </a:solidFill>
                <a:effectLst/>
                <a:latin typeface="+mn-lt"/>
                <a:ea typeface="+mn-ea"/>
                <a:cs typeface="+mn-cs"/>
              </a:rPr>
              <a:t> privado.”</a:t>
            </a:r>
          </a:p>
          <a:p>
            <a:pPr fontAlgn="t"/>
            <a:r>
              <a:rPr lang="en-US" sz="1200" b="0" i="0" kern="1200" dirty="0">
                <a:solidFill>
                  <a:schemeClr val="tx1"/>
                </a:solidFill>
                <a:effectLst/>
                <a:latin typeface="+mn-lt"/>
                <a:ea typeface="+mn-ea"/>
                <a:cs typeface="+mn-cs"/>
              </a:rPr>
              <a:t>“Este es </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comportamiento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de Hosted Agents.” </a:t>
            </a:r>
          </a:p>
          <a:p>
            <a:pPr fontAlgn="t"/>
            <a:r>
              <a:rPr lang="en-US" sz="1200" b="0" i="0" kern="1200" dirty="0">
                <a:solidFill>
                  <a:schemeClr val="tx1"/>
                </a:solidFill>
                <a:effectLst/>
                <a:latin typeface="+mn-lt"/>
                <a:ea typeface="+mn-ea"/>
                <a:cs typeface="+mn-cs"/>
              </a:rPr>
              <a:t>“Cuando la </a:t>
            </a:r>
            <a:r>
              <a:rPr lang="en-US" sz="1200" b="0" i="0" kern="1200" dirty="0" err="1">
                <a:solidFill>
                  <a:schemeClr val="tx1"/>
                </a:solidFill>
                <a:effectLst/>
                <a:latin typeface="+mn-lt"/>
                <a:ea typeface="+mn-ea"/>
                <a:cs typeface="+mn-cs"/>
              </a:rPr>
              <a:t>cantidad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aumenta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introducir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multiplexado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incorporamos</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servicio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intermedio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un Session Gateway,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un pool </a:t>
            </a:r>
            <a:r>
              <a:rPr lang="en-US" sz="1200" b="0" i="0" kern="1200" dirty="0" err="1">
                <a:solidFill>
                  <a:schemeClr val="tx1"/>
                </a:solidFill>
                <a:effectLst/>
                <a:latin typeface="+mn-lt"/>
                <a:ea typeface="+mn-ea"/>
                <a:cs typeface="+mn-cs"/>
              </a:rPr>
              <a:t>limitado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distribuye</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ellas</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Aunque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compartan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físicamente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continúa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aislando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estado</a:t>
            </a:r>
            <a:r>
              <a:rPr lang="en-US" sz="1200" b="0" i="0" kern="1200" dirty="0">
                <a:solidFill>
                  <a:schemeClr val="tx1"/>
                </a:solidFill>
                <a:effectLst/>
                <a:latin typeface="+mn-lt"/>
                <a:ea typeface="+mn-ea"/>
                <a:cs typeface="+mn-cs"/>
              </a:rPr>
              <a:t> de sus </a:t>
            </a:r>
            <a:r>
              <a:rPr lang="en-US" sz="1200" b="0" i="0" kern="1200" dirty="0" err="1">
                <a:solidFill>
                  <a:schemeClr val="tx1"/>
                </a:solidFill>
                <a:effectLst/>
                <a:latin typeface="+mn-lt"/>
                <a:ea typeface="+mn-ea"/>
                <a:cs typeface="+mn-cs"/>
              </a:rPr>
              <a:t>conversaciones</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“Para </a:t>
            </a:r>
            <a:r>
              <a:rPr lang="en-US" sz="1200" b="0" i="0" kern="1200" dirty="0" err="1">
                <a:solidFill>
                  <a:schemeClr val="tx1"/>
                </a:solidFill>
                <a:effectLst/>
                <a:latin typeface="+mn-lt"/>
                <a:ea typeface="+mn-ea"/>
                <a:cs typeface="+mn-cs"/>
              </a:rPr>
              <a:t>hacerlo</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intermedia </a:t>
            </a:r>
            <a:r>
              <a:rPr lang="en-US" sz="1200" b="0" i="0" kern="1200" dirty="0" err="1">
                <a:solidFill>
                  <a:schemeClr val="tx1"/>
                </a:solidFill>
                <a:effectLst/>
                <a:latin typeface="+mn-lt"/>
                <a:ea typeface="+mn-ea"/>
                <a:cs typeface="+mn-cs"/>
              </a:rPr>
              <a:t>identifica</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representado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request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x-</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-user-identity. Esa </a:t>
            </a:r>
            <a:r>
              <a:rPr lang="en-US" sz="1200" b="0" i="0" kern="1200" dirty="0" err="1">
                <a:solidFill>
                  <a:schemeClr val="tx1"/>
                </a:solidFill>
                <a:effectLst/>
                <a:latin typeface="+mn-lt"/>
                <a:ea typeface="+mn-ea"/>
                <a:cs typeface="+mn-cs"/>
              </a:rPr>
              <a:t>delegación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requiere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permiso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específico</a:t>
            </a:r>
            <a:r>
              <a:rPr lang="en-US" sz="1200" b="0" i="0" kern="1200" dirty="0">
                <a:solidFill>
                  <a:schemeClr val="tx1"/>
                </a:solidFill>
                <a:effectLst/>
                <a:latin typeface="+mn-lt"/>
                <a:ea typeface="+mn-ea"/>
                <a:cs typeface="+mn-cs"/>
              </a:rPr>
              <a:t> para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servicio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intermedio</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“Pero hay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sigue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código</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almacena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archivos</a:t>
            </a:r>
            <a:r>
              <a:rPr lang="en-US" sz="1200" b="0" i="0" kern="1200" dirty="0">
                <a:solidFill>
                  <a:schemeClr val="tx1"/>
                </a:solidFill>
                <a:effectLst/>
                <a:latin typeface="+mn-lt"/>
                <a:ea typeface="+mn-ea"/>
                <a:cs typeface="+mn-cs"/>
              </a:rPr>
              <a:t>, cache o datos </a:t>
            </a:r>
            <a:r>
              <a:rPr lang="en-US" sz="1200" b="0" i="0" kern="1200" dirty="0" err="1">
                <a:solidFill>
                  <a:schemeClr val="tx1"/>
                </a:solidFill>
                <a:effectLst/>
                <a:latin typeface="+mn-lt"/>
                <a:ea typeface="+mn-ea"/>
                <a:cs typeface="+mn-cs"/>
              </a:rPr>
              <a:t>propios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contenedor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asegurarnos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particionarlos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multiplexar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reducir</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cantidad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necesarias</a:t>
            </a:r>
            <a:r>
              <a:rPr lang="en-US" sz="1200" b="0" i="0" kern="1200" dirty="0">
                <a:solidFill>
                  <a:schemeClr val="tx1"/>
                </a:solidFill>
                <a:effectLst/>
                <a:latin typeface="+mn-lt"/>
                <a:ea typeface="+mn-ea"/>
                <a:cs typeface="+mn-cs"/>
              </a:rPr>
              <a:t> a gran </a:t>
            </a:r>
            <a:r>
              <a:rPr lang="en-US" sz="1200" b="0" i="0" kern="1200" dirty="0" err="1">
                <a:solidFill>
                  <a:schemeClr val="tx1"/>
                </a:solidFill>
                <a:effectLst/>
                <a:latin typeface="+mn-lt"/>
                <a:ea typeface="+mn-ea"/>
                <a:cs typeface="+mn-cs"/>
              </a:rPr>
              <a:t>escala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introduce mayor </a:t>
            </a:r>
            <a:r>
              <a:rPr lang="en-US" sz="1200" b="0"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operativa</a:t>
            </a:r>
            <a:r>
              <a:rPr lang="en-US" sz="1200" b="0" i="0" kern="1200" dirty="0">
                <a:solidFill>
                  <a:schemeClr val="tx1"/>
                </a:solidFill>
                <a:effectLst/>
                <a:latin typeface="+mn-lt"/>
                <a:ea typeface="+mn-ea"/>
                <a:cs typeface="+mn-cs"/>
              </a:rPr>
              <a:t> y de </a:t>
            </a:r>
            <a:r>
              <a:rPr lang="en-US" sz="1200" b="0" i="0" kern="1200" dirty="0" err="1">
                <a:solidFill>
                  <a:schemeClr val="tx1"/>
                </a:solidFill>
                <a:effectLst/>
                <a:latin typeface="+mn-lt"/>
                <a:ea typeface="+mn-ea"/>
                <a:cs typeface="+mn-cs"/>
              </a:rPr>
              <a:t>seguridad</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regla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sería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1:1 es el </a:t>
            </a:r>
            <a:r>
              <a:rPr lang="en-US" sz="1200" b="1" i="0" kern="1200" dirty="0" err="1">
                <a:solidFill>
                  <a:schemeClr val="tx1"/>
                </a:solidFill>
                <a:effectLst/>
                <a:latin typeface="+mn-lt"/>
                <a:ea typeface="+mn-ea"/>
                <a:cs typeface="+mn-cs"/>
              </a:rPr>
              <a:t>modelo</a:t>
            </a:r>
            <a:r>
              <a:rPr lang="en-US" sz="1200" b="1" i="0" kern="1200" dirty="0">
                <a:solidFill>
                  <a:schemeClr val="tx1"/>
                </a:solidFill>
                <a:effectLst/>
                <a:latin typeface="+mn-lt"/>
                <a:ea typeface="+mn-ea"/>
                <a:cs typeface="+mn-cs"/>
              </a:rPr>
              <a:t> simple; </a:t>
            </a:r>
            <a:r>
              <a:rPr lang="en-US" sz="1200" b="1" i="0" kern="1200" dirty="0" err="1">
                <a:solidFill>
                  <a:schemeClr val="tx1"/>
                </a:solidFill>
                <a:effectLst/>
                <a:latin typeface="+mn-lt"/>
                <a:ea typeface="+mn-ea"/>
                <a:cs typeface="+mn-cs"/>
              </a:rPr>
              <a:t>multiplexamos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cuando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tenemos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razón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concreta</a:t>
            </a:r>
            <a:r>
              <a:rPr lang="en-US" sz="1200" b="1" i="0" kern="1200" dirty="0">
                <a:solidFill>
                  <a:schemeClr val="tx1"/>
                </a:solidFill>
                <a:effectLst/>
                <a:latin typeface="+mn-lt"/>
                <a:ea typeface="+mn-ea"/>
                <a:cs typeface="+mn-cs"/>
              </a:rPr>
              <a:t> de </a:t>
            </a:r>
            <a:r>
              <a:rPr lang="en-US" sz="1200" b="1" i="0" kern="1200" dirty="0" err="1">
                <a:solidFill>
                  <a:schemeClr val="tx1"/>
                </a:solidFill>
                <a:effectLst/>
                <a:latin typeface="+mn-lt"/>
                <a:ea typeface="+mn-ea"/>
                <a:cs typeface="+mn-cs"/>
              </a:rPr>
              <a:t>escala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que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justifique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a:t>
            </a:r>
            <a:r>
              <a:rPr lang="en-US" dirty="0" err="1"/>
              <a:t>como</a:t>
            </a:r>
            <a:r>
              <a:rPr lang="en-US" dirty="0"/>
              <a:t> APIM </a:t>
            </a:r>
            <a:r>
              <a:rPr lang="en-US" dirty="0" err="1"/>
              <a:t>centraliza</a:t>
            </a:r>
            <a:r>
              <a:rPr lang="en-US" dirty="0"/>
              <a:t> cuatro </a:t>
            </a:r>
            <a:r>
              <a:rPr lang="en-US" dirty="0" err="1"/>
              <a:t>controles</a:t>
            </a:r>
            <a:r>
              <a:rPr lang="en-US" dirty="0"/>
              <a:t> </a:t>
            </a:r>
            <a:r>
              <a:rPr lang="en-US" dirty="0" err="1"/>
              <a:t>que</a:t>
            </a:r>
            <a:r>
              <a:rPr lang="en-US" dirty="0"/>
              <a:t> de </a:t>
            </a:r>
            <a:r>
              <a:rPr lang="en-US" dirty="0" err="1"/>
              <a:t>otra</a:t>
            </a:r>
            <a:r>
              <a:rPr lang="en-US" dirty="0"/>
              <a:t> forma </a:t>
            </a:r>
            <a:r>
              <a:rPr lang="en-US" dirty="0" err="1"/>
              <a:t>cada</a:t>
            </a:r>
            <a:r>
              <a:rPr lang="en-US" dirty="0"/>
              <a:t> </a:t>
            </a:r>
            <a:r>
              <a:rPr lang="en-US" dirty="0" err="1"/>
              <a:t>equipo</a:t>
            </a:r>
            <a:r>
              <a:rPr lang="en-US" dirty="0"/>
              <a:t> </a:t>
            </a:r>
            <a:r>
              <a:rPr lang="en-US" dirty="0" err="1"/>
              <a:t>tendría</a:t>
            </a:r>
            <a:r>
              <a:rPr lang="en-US" dirty="0"/>
              <a:t> </a:t>
            </a:r>
            <a:r>
              <a:rPr lang="en-US" dirty="0" err="1"/>
              <a:t>que</a:t>
            </a:r>
            <a:r>
              <a:rPr lang="en-US" dirty="0"/>
              <a:t> </a:t>
            </a:r>
            <a:r>
              <a:rPr lang="en-US" dirty="0" err="1"/>
              <a:t>reimplementar</a:t>
            </a:r>
            <a:r>
              <a:rPr lang="en-US" dirty="0"/>
              <a:t>: </a:t>
            </a:r>
            <a:r>
              <a:rPr lang="en-US" dirty="0" err="1"/>
              <a:t>autenticación</a:t>
            </a:r>
            <a:r>
              <a:rPr lang="en-US" dirty="0"/>
              <a:t> </a:t>
            </a:r>
            <a:r>
              <a:rPr lang="en-US" dirty="0" err="1"/>
              <a:t>hacia</a:t>
            </a:r>
            <a:r>
              <a:rPr lang="en-US" dirty="0"/>
              <a:t> los backends </a:t>
            </a:r>
            <a:r>
              <a:rPr lang="en-US" dirty="0" err="1"/>
              <a:t>usando</a:t>
            </a:r>
            <a:r>
              <a:rPr lang="en-US" dirty="0"/>
              <a:t> managed identity (sin </a:t>
            </a:r>
            <a:r>
              <a:rPr lang="en-US" dirty="0" err="1"/>
              <a:t>llaves</a:t>
            </a:r>
            <a:r>
              <a:rPr lang="en-US" dirty="0"/>
              <a:t> de </a:t>
            </a:r>
            <a:r>
              <a:rPr lang="en-US" dirty="0" err="1"/>
              <a:t>modelo</a:t>
            </a:r>
            <a:r>
              <a:rPr lang="en-US" dirty="0"/>
              <a:t> en el gateway </a:t>
            </a:r>
            <a:r>
              <a:rPr lang="en-US" dirty="0" err="1"/>
              <a:t>ni</a:t>
            </a:r>
            <a:r>
              <a:rPr lang="en-US" dirty="0"/>
              <a:t> en el </a:t>
            </a:r>
            <a:r>
              <a:rPr lang="en-US" dirty="0" err="1"/>
              <a:t>agente</a:t>
            </a:r>
            <a:r>
              <a:rPr lang="en-US" dirty="0"/>
              <a:t>), </a:t>
            </a:r>
            <a:r>
              <a:rPr lang="en-US" dirty="0" err="1"/>
              <a:t>límites</a:t>
            </a:r>
            <a:r>
              <a:rPr lang="en-US" dirty="0"/>
              <a:t> de tokens </a:t>
            </a:r>
            <a:r>
              <a:rPr lang="en-US" dirty="0" err="1"/>
              <a:t>por</a:t>
            </a:r>
            <a:r>
              <a:rPr lang="en-US" dirty="0"/>
              <a:t> </a:t>
            </a:r>
            <a:r>
              <a:rPr lang="en-US" dirty="0" err="1"/>
              <a:t>consumidor</a:t>
            </a:r>
            <a:r>
              <a:rPr lang="en-US" dirty="0"/>
              <a:t> o </a:t>
            </a:r>
            <a:r>
              <a:rPr lang="en-US" dirty="0" err="1"/>
              <a:t>equipo</a:t>
            </a:r>
            <a:r>
              <a:rPr lang="en-US" dirty="0"/>
              <a:t>, cache </a:t>
            </a:r>
            <a:r>
              <a:rPr lang="en-US" dirty="0" err="1"/>
              <a:t>semántico</a:t>
            </a:r>
            <a:r>
              <a:rPr lang="en-US" dirty="0"/>
              <a:t> para </a:t>
            </a:r>
            <a:r>
              <a:rPr lang="en-US" dirty="0" err="1"/>
              <a:t>reducir</a:t>
            </a:r>
            <a:r>
              <a:rPr lang="en-US" dirty="0"/>
              <a:t> </a:t>
            </a:r>
            <a:r>
              <a:rPr lang="en-US" dirty="0" err="1"/>
              <a:t>latencia</a:t>
            </a:r>
            <a:r>
              <a:rPr lang="en-US" dirty="0"/>
              <a:t> y </a:t>
            </a:r>
            <a:r>
              <a:rPr lang="en-US" dirty="0" err="1"/>
              <a:t>costo</a:t>
            </a:r>
            <a:r>
              <a:rPr lang="en-US" dirty="0"/>
              <a:t> en </a:t>
            </a:r>
            <a:r>
              <a:rPr lang="en-US" dirty="0" err="1"/>
              <a:t>preguntas</a:t>
            </a:r>
            <a:r>
              <a:rPr lang="en-US" dirty="0"/>
              <a:t> </a:t>
            </a:r>
            <a:r>
              <a:rPr lang="en-US" dirty="0" err="1"/>
              <a:t>repetidas</a:t>
            </a:r>
            <a:r>
              <a:rPr lang="en-US" dirty="0"/>
              <a:t>, y </a:t>
            </a:r>
            <a:r>
              <a:rPr lang="en-US" dirty="0" err="1"/>
              <a:t>balanceo</a:t>
            </a:r>
            <a:r>
              <a:rPr lang="en-US" dirty="0"/>
              <a:t> de carga entre </a:t>
            </a:r>
            <a:r>
              <a:rPr lang="en-US" dirty="0" err="1"/>
              <a:t>múltiples</a:t>
            </a:r>
            <a:r>
              <a:rPr lang="en-US" dirty="0"/>
              <a:t> backends o </a:t>
            </a:r>
            <a:r>
              <a:rPr lang="en-US" dirty="0" err="1"/>
              <a:t>modelos</a:t>
            </a:r>
            <a:r>
              <a:rPr lang="en-US" dirty="0"/>
              <a:t> (</a:t>
            </a:r>
            <a:r>
              <a:rPr lang="en-US" dirty="0" err="1"/>
              <a:t>incluyendo</a:t>
            </a:r>
            <a:r>
              <a:rPr lang="en-US" dirty="0"/>
              <a:t> </a:t>
            </a:r>
            <a:r>
              <a:rPr lang="en-US" dirty="0" err="1"/>
              <a:t>degradación</a:t>
            </a:r>
            <a:r>
              <a:rPr lang="en-US" dirty="0"/>
              <a:t> a un </a:t>
            </a:r>
            <a:r>
              <a:rPr lang="en-US" dirty="0" err="1"/>
              <a:t>modelo</a:t>
            </a:r>
            <a:r>
              <a:rPr lang="en-US" dirty="0"/>
              <a:t> </a:t>
            </a:r>
            <a:r>
              <a:rPr lang="en-US" dirty="0" err="1"/>
              <a:t>más</a:t>
            </a:r>
            <a:r>
              <a:rPr lang="en-US" dirty="0"/>
              <a:t> </a:t>
            </a:r>
            <a:r>
              <a:rPr lang="en-US" dirty="0" err="1"/>
              <a:t>económico</a:t>
            </a:r>
            <a:r>
              <a:rPr lang="en-US" dirty="0"/>
              <a:t> </a:t>
            </a:r>
            <a:r>
              <a:rPr lang="en-US" dirty="0" err="1"/>
              <a:t>si</a:t>
            </a:r>
            <a:r>
              <a:rPr lang="en-US" dirty="0"/>
              <a:t> se </a:t>
            </a:r>
            <a:r>
              <a:rPr lang="en-US" dirty="0" err="1"/>
              <a:t>agota</a:t>
            </a:r>
            <a:r>
              <a:rPr lang="en-US" dirty="0"/>
              <a:t> un </a:t>
            </a:r>
            <a:r>
              <a:rPr lang="en-US" dirty="0" err="1"/>
              <a:t>presupuesto</a:t>
            </a:r>
            <a:r>
              <a:rPr lang="en-US" dirty="0"/>
              <a:t>). Para </a:t>
            </a:r>
            <a:r>
              <a:rPr lang="en-US" dirty="0" err="1"/>
              <a:t>una</a:t>
            </a:r>
            <a:r>
              <a:rPr lang="en-US" dirty="0"/>
              <a:t> </a:t>
            </a:r>
            <a:r>
              <a:rPr lang="en-US" dirty="0" err="1"/>
              <a:t>organización</a:t>
            </a:r>
            <a:r>
              <a:rPr lang="en-US" dirty="0"/>
              <a:t> con </a:t>
            </a:r>
            <a:r>
              <a:rPr lang="en-US" dirty="0" err="1"/>
              <a:t>múltiples</a:t>
            </a:r>
            <a:r>
              <a:rPr lang="en-US" dirty="0"/>
              <a:t> </a:t>
            </a:r>
            <a:r>
              <a:rPr lang="en-US" dirty="0" err="1"/>
              <a:t>equipos</a:t>
            </a:r>
            <a:r>
              <a:rPr lang="en-US" dirty="0"/>
              <a:t> </a:t>
            </a:r>
            <a:r>
              <a:rPr lang="en-US" dirty="0" err="1"/>
              <a:t>construyendo</a:t>
            </a:r>
            <a:r>
              <a:rPr lang="en-US" dirty="0"/>
              <a:t> </a:t>
            </a:r>
            <a:r>
              <a:rPr lang="en-US" dirty="0" err="1"/>
              <a:t>agentes</a:t>
            </a:r>
            <a:r>
              <a:rPr lang="en-US" dirty="0"/>
              <a:t>, </a:t>
            </a:r>
            <a:r>
              <a:rPr lang="en-US" dirty="0" err="1"/>
              <a:t>como</a:t>
            </a:r>
            <a:r>
              <a:rPr lang="en-US" dirty="0"/>
              <a:t> </a:t>
            </a:r>
            <a:r>
              <a:rPr lang="en-US" dirty="0" err="1"/>
              <a:t>sería</a:t>
            </a:r>
            <a:r>
              <a:rPr lang="en-US" dirty="0"/>
              <a:t> el </a:t>
            </a:r>
            <a:r>
              <a:rPr lang="en-US" dirty="0" err="1"/>
              <a:t>caso</a:t>
            </a:r>
            <a:r>
              <a:rPr lang="en-US" dirty="0"/>
              <a:t> de BCI a </a:t>
            </a:r>
            <a:r>
              <a:rPr lang="en-US" dirty="0" err="1"/>
              <a:t>mediano</a:t>
            </a:r>
            <a:r>
              <a:rPr lang="en-US" dirty="0"/>
              <a:t> </a:t>
            </a:r>
            <a:r>
              <a:rPr lang="en-US" dirty="0" err="1"/>
              <a:t>plazo</a:t>
            </a:r>
            <a:r>
              <a:rPr lang="en-US" dirty="0"/>
              <a:t>, </a:t>
            </a:r>
            <a:r>
              <a:rPr lang="en-US" dirty="0" err="1"/>
              <a:t>este</a:t>
            </a:r>
            <a:r>
              <a:rPr lang="en-US" dirty="0"/>
              <a:t> </a:t>
            </a:r>
            <a:r>
              <a:rPr lang="en-US" dirty="0" err="1"/>
              <a:t>patrón</a:t>
            </a:r>
            <a:r>
              <a:rPr lang="en-US" dirty="0"/>
              <a:t> </a:t>
            </a:r>
            <a:r>
              <a:rPr lang="en-US" dirty="0" err="1"/>
              <a:t>evita</a:t>
            </a:r>
            <a:r>
              <a:rPr lang="en-US" dirty="0"/>
              <a:t> </a:t>
            </a:r>
            <a:r>
              <a:rPr lang="en-US" dirty="0" err="1"/>
              <a:t>que</a:t>
            </a:r>
            <a:r>
              <a:rPr lang="en-US" dirty="0"/>
              <a:t> </a:t>
            </a:r>
            <a:r>
              <a:rPr lang="en-US" dirty="0" err="1"/>
              <a:t>cada</a:t>
            </a:r>
            <a:r>
              <a:rPr lang="en-US" dirty="0"/>
              <a:t> </a:t>
            </a:r>
            <a:r>
              <a:rPr lang="en-US" dirty="0" err="1"/>
              <a:t>equipo</a:t>
            </a:r>
            <a:r>
              <a:rPr lang="en-US" dirty="0"/>
              <a:t> </a:t>
            </a:r>
            <a:r>
              <a:rPr lang="en-US" dirty="0" err="1"/>
              <a:t>reinvente</a:t>
            </a:r>
            <a:r>
              <a:rPr lang="en-US" dirty="0"/>
              <a:t> </a:t>
            </a:r>
            <a:r>
              <a:rPr lang="en-US" dirty="0" err="1"/>
              <a:t>gobierno</a:t>
            </a:r>
            <a:r>
              <a:rPr lang="en-US" dirty="0"/>
              <a:t> de </a:t>
            </a:r>
            <a:r>
              <a:rPr lang="en-US" dirty="0" err="1"/>
              <a:t>acceso</a:t>
            </a:r>
            <a:r>
              <a:rPr lang="en-US" dirty="0"/>
              <a:t> y </a:t>
            </a:r>
            <a:r>
              <a:rPr lang="en-US" dirty="0" err="1"/>
              <a:t>costo</a:t>
            </a:r>
            <a:r>
              <a:rPr lang="en-US" dirty="0"/>
              <a:t> de forma </a:t>
            </a:r>
            <a:r>
              <a:rPr lang="en-US" dirty="0" err="1"/>
              <a:t>aislada</a:t>
            </a:r>
            <a:r>
              <a:rPr lang="en-US" dirty="0"/>
              <a:t>. </a:t>
            </a:r>
          </a:p>
          <a:p>
            <a:endParaRPr lang="en-US" dirty="0"/>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volvemos</a:t>
            </a:r>
            <a:r>
              <a:rPr lang="en-US" sz="1200" b="0" i="0" kern="1200" dirty="0">
                <a:solidFill>
                  <a:schemeClr val="tx1"/>
                </a:solidFill>
                <a:effectLst/>
                <a:latin typeface="+mn-lt"/>
                <a:ea typeface="+mn-ea"/>
                <a:cs typeface="+mn-cs"/>
              </a:rPr>
              <a:t> a AI Gateway. La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sacar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centralmente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primero es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hacia</a:t>
            </a:r>
            <a:r>
              <a:rPr lang="en-US" sz="1200" b="1" i="0" kern="1200" dirty="0">
                <a:solidFill>
                  <a:schemeClr val="tx1"/>
                </a:solidFill>
                <a:effectLst/>
                <a:latin typeface="+mn-lt"/>
                <a:ea typeface="+mn-ea"/>
                <a:cs typeface="+mn-cs"/>
              </a:rPr>
              <a:t> el backend</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distribuir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credenciales</a:t>
            </a:r>
            <a:r>
              <a:rPr lang="en-US" sz="1200" b="0" i="0" kern="1200" dirty="0">
                <a:solidFill>
                  <a:schemeClr val="tx1"/>
                </a:solidFill>
                <a:effectLst/>
                <a:latin typeface="+mn-lt"/>
                <a:ea typeface="+mn-ea"/>
                <a:cs typeface="+mn-cs"/>
              </a:rPr>
              <a:t> entre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buscamos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recursos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protegidos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mecanismos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administrados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rate limiting o </a:t>
            </a:r>
            <a:r>
              <a:rPr lang="en-US" sz="1200" b="1" i="0" kern="1200" dirty="0" err="1">
                <a:solidFill>
                  <a:schemeClr val="tx1"/>
                </a:solidFill>
                <a:effectLst/>
                <a:latin typeface="+mn-lt"/>
                <a:ea typeface="+mn-ea"/>
                <a:cs typeface="+mn-cs"/>
              </a:rPr>
              <a:t>cuotas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equipos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generar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volúmenes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consumo</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sobre</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tercero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semantic caching</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determinados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escenarios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evitar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repetir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recibimos</a:t>
            </a:r>
            <a:r>
              <a:rPr lang="en-US" sz="1200" b="0" i="0" kern="1200" dirty="0">
                <a:solidFill>
                  <a:schemeClr val="tx1"/>
                </a:solidFill>
                <a:effectLst/>
                <a:latin typeface="+mn-lt"/>
                <a:ea typeface="+mn-ea"/>
                <a:cs typeface="+mn-cs"/>
              </a:rPr>
              <a:t> requests </a:t>
            </a:r>
            <a:r>
              <a:rPr lang="en-US" sz="1200" b="0" i="0" kern="1200" dirty="0" err="1">
                <a:solidFill>
                  <a:schemeClr val="tx1"/>
                </a:solidFill>
                <a:effectLst/>
                <a:latin typeface="+mn-lt"/>
                <a:ea typeface="+mn-ea"/>
                <a:cs typeface="+mn-cs"/>
              </a:rPr>
              <a:t>semánticamente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equivalentes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reduciendo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llamadas</a:t>
            </a:r>
            <a:r>
              <a:rPr lang="en-US" sz="1200" b="0" i="0" kern="1200" dirty="0">
                <a:solidFill>
                  <a:schemeClr val="tx1"/>
                </a:solidFill>
                <a:effectLst/>
                <a:latin typeface="+mn-lt"/>
                <a:ea typeface="+mn-ea"/>
                <a:cs typeface="+mn-cs"/>
              </a:rPr>
              <a:t> al backend.”</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cuarto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load balancing</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detrás</a:t>
            </a:r>
            <a:r>
              <a:rPr lang="en-US" sz="1200" b="0" i="0" kern="1200" dirty="0">
                <a:solidFill>
                  <a:schemeClr val="tx1"/>
                </a:solidFill>
                <a:effectLst/>
                <a:latin typeface="+mn-lt"/>
                <a:ea typeface="+mn-ea"/>
                <a:cs typeface="+mn-cs"/>
              </a:rPr>
              <a:t> del gateway,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estrategia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distribución</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ventaja</a:t>
            </a:r>
            <a:r>
              <a:rPr lang="en-US" sz="1200" b="0" i="0" kern="1200" dirty="0">
                <a:solidFill>
                  <a:schemeClr val="tx1"/>
                </a:solidFill>
                <a:effectLst/>
                <a:latin typeface="+mn-lt"/>
                <a:ea typeface="+mn-ea"/>
                <a:cs typeface="+mn-cs"/>
              </a:rPr>
              <a:t> conceptual de </a:t>
            </a:r>
            <a:r>
              <a:rPr lang="en-US" sz="1200" b="0" i="0" kern="1200" dirty="0" err="1">
                <a:solidFill>
                  <a:schemeClr val="tx1"/>
                </a:solidFill>
                <a:effectLst/>
                <a:latin typeface="+mn-lt"/>
                <a:ea typeface="+mn-ea"/>
                <a:cs typeface="+mn-cs"/>
              </a:rPr>
              <a:t>poner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en AI Gateway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no </a:t>
            </a:r>
            <a:r>
              <a:rPr lang="en-US" sz="1200" b="1" i="0" kern="1200" dirty="0" err="1">
                <a:solidFill>
                  <a:schemeClr val="tx1"/>
                </a:solidFill>
                <a:effectLst/>
                <a:latin typeface="+mn-lt"/>
                <a:ea typeface="+mn-ea"/>
                <a:cs typeface="+mn-cs"/>
              </a:rPr>
              <a:t>necesitamos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implementar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independientemente</a:t>
            </a:r>
            <a:r>
              <a:rPr lang="en-US" sz="1200" b="1" i="0" kern="1200" dirty="0">
                <a:solidFill>
                  <a:schemeClr val="tx1"/>
                </a:solidFill>
                <a:effectLst/>
                <a:latin typeface="+mn-lt"/>
                <a:ea typeface="+mn-ea"/>
                <a:cs typeface="+mn-cs"/>
              </a:rPr>
              <a:t> en </a:t>
            </a:r>
            <a:r>
              <a:rPr lang="en-US" sz="1200" b="1" i="0" kern="1200" dirty="0" err="1">
                <a:solidFill>
                  <a:schemeClr val="tx1"/>
                </a:solidFill>
                <a:effectLst/>
                <a:latin typeface="+mn-lt"/>
                <a:ea typeface="+mn-ea"/>
                <a:cs typeface="+mn-cs"/>
              </a:rPr>
              <a:t>cada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en APIM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frontera</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nuestros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de IA y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consumen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separamos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responsabilidades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concentra</a:t>
            </a:r>
            <a:r>
              <a:rPr lang="en-US" sz="1200" b="0" i="0" kern="1200" dirty="0">
                <a:solidFill>
                  <a:schemeClr val="tx1"/>
                </a:solidFill>
                <a:effectLst/>
                <a:latin typeface="+mn-lt"/>
                <a:ea typeface="+mn-ea"/>
                <a:cs typeface="+mn-cs"/>
              </a:rPr>
              <a:t> en resolver la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y el gateway se </a:t>
            </a:r>
            <a:r>
              <a:rPr lang="en-US" sz="1200" b="0" i="0" kern="1200" dirty="0" err="1">
                <a:solidFill>
                  <a:schemeClr val="tx1"/>
                </a:solidFill>
                <a:effectLst/>
                <a:latin typeface="+mn-lt"/>
                <a:ea typeface="+mn-ea"/>
                <a:cs typeface="+mn-cs"/>
              </a:rPr>
              <a:t>concentra</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gobernar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accede a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Gobernar agentes no es solo configurar guardrails: es saber qué agentes existen, quién responde por ellos, qué políticas aplican y cómo se retiran. Agent 365 (GA desde el 1 de mayo de 2026) es el plano de control; Entra Agent ID aporta identidad. Azure Policy gobierna modelos (efecto Deny para bloquear; Audit solo registra). Purview y Defender AI-SPM dependen de integración y configuración; las capacidades de agentes de Defender están en Preview y desde el 1-jul-2026 requieren Agent 365. Marcos: Responsible AI Standard (corporativo), NIST AI RMF (voluntario), ISO/IEC 42001:2023 (sistema de gestión), EU AI Act con aplicación escalonada. Verificar siempre estado GA/Preview por capacidad.</a:t>
            </a:r>
          </a:p>
          <a:p>
            <a:r>
              <a:t>Fuentes: microsoft.com/security/blog 2026/05/01 (Agent 365 GA); learn.microsoft.com/entra/agent-id/agent-registry-convergence; learn.microsoft.com/azure/foundry/how-to/model-deployment-policy; learn.microsoft.com/purview/ai-azure-foundry; learn.microsoft.com/azure/defender-for-cloud/ai-security-posture; learn.microsoft.com/agents/center-of-excellence/roles-responsibilities y agent-lifecycle; nist.gov/itl/ai-risk-management-framework; ai-act-service-desk.ec.europa.eu timeline.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Cuando un agente tiene herramientas, una inyección ya no solo sesga una respuesta: puede provocar acciones y exfiltración. Prompt Shields: API base GA desde agosto 2024; escaneo de tool responses y Spotlighting en Preview; no es una garantía. En MCP, las descripciones de tools son superficie de ataque (tool poisoning) y una tool aprobada puede cambiar después (rug pull). OWASP LLM06 Excessive Agency: reducir funcionalidad, permisos y autonomía. Confused deputy: consentimiento por cliente y usuario, redirecciones exactas, validar estado y audiencia de tokens; PKCE no lo sustituye.</a:t>
            </a:r>
          </a:p>
          <a:p>
            <a:r>
              <a:t>Fuentes: microsoft.com/security/blog 2026/06/30 (Securing AI agents); genai.owasp.org llm01-prompt-injection y llm062025-excessive-agency; developer.microsoft.com/blog/protecting-against-indirect-injection-attacks-mcp; learn.microsoft.com/azure/developer/azure-mcp-server/security; modelcontextprotocol.io security_best_practices; learn.microsoft.com/azure/ai-services/content-safety/concepts/jailbreak-detection.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Entra Agent ID está en GA: la agent identity no conserva credenciales propias y obtiene tokens mediante su blueprint. En el nuevo modelo de Foundry cada agente tiene identidad propia; los agentes legacy comparten identidad, y al migrar hay que reasignar permisos downstream. Asignar mínimo privilegio al principal que realmente llama (agent identity o managed identity del proyecto según tool). RBAC: Foundry User para desarrollar, Foundry Agent Consumer para consumir endpoints. A2A: a2a (protocolo 1.0) GA; a2a_preview (0.3) Preview. Red: entrada privada no equivale a salida controlada; revisar la matriz de aislamiento por herramienta.</a:t>
            </a:r>
          </a:p>
          <a:p>
            <a:r>
              <a:t>Fuentes: learn.microsoft.com/entra/agent-id/whats-new-agent-id y agent-identities; learn.microsoft.com/azure/foundry/agents/how-to/migrate-agent-applications, mcp-authentication, tools/tool-authentication, tools/agent-to-agent, tools/openapi, tools/toolbox-network-isolation; learn.microsoft.com/azure/foundry/concepts/rbac-foundry; learn.microsoft.com/azure/foundry/how-to/configure-private-link y set-up-key-vault-connection.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Mapa por capa de las tecnologías Microsoft. Estados verificados contra documentación oficial (oct-2026) y revisados con gpt-6.1-sol; el estado puede cambiar, confirmar antes de decidir. Notas: Guardrails de agentes (4 puntos de intervención) y task adherence en Preview; Prompt Shields para texto GA; groundedness Preview y no soportado como control agentic integrado. AI Gateway integrado en Foundry: Preview, controla consumo (TPM/cuotas), no iteraciones. Hosted Agents GA con sandbox VM por sesión. Tracing GA para prompt y hosted agents. Defender: protección de modelos GA; detección de agentes Preview y requiere Agent 365 desde 1-jul-2026. Un guardrail "active" no prueba protección: puede fallar abierto si el ID de política no existe; validar con pruebas de bloqueo.</a:t>
            </a:r>
          </a:p>
          <a:p>
            <a:r>
              <a:t>Fuentes: learn.microsoft.com/azure/foundry/guardrails/*; learn.microsoft.com/azure/foundry/control-plane/how-to-enforce-limits-models; learn.microsoft.com/azure/foundry/agents/how-to/isolate-sessions-per-user; learn.microsoft.com/azure/foundry/observability/*; learn.microsoft.com/azure/defender-for-cloud/ai-threat-protection; learn.microsoft.com/entra/agent-id/*.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Observar: tracing OpenTelemetry GA para agentes prompt y hosted, Preview para workflow y externos; Application Insights Agents y Agent Monitoring Dashboard en Preview; evaluación continua sobre tráfico muestreado, no sobre todas las interacciones. Auditoría: logs de diagnóstico y Purview Audit (requieren configuración y licencias). Red teaming con PyRIT (Preview). Contener: deshabilitar el endpoint rechaza nuevas solicitudes; bloquear identidad/blueprint o Conditional Access corta la autenticación; NO prometer cancelación instantánea de ejecuciones ni de tokens ya emitidos. Rollback: fijar versión conocida y verificar con sesión nueva; las sesiones existentes conservan su versión y los efectos externos requieren compensación. Los límites TPM/cuota no limitan iteraciones; Agent Framework tiene límites de looping experimentales. SLO: 95% y 10 s son referencias del dashboard, no compromisos oficiales.</a:t>
            </a:r>
          </a:p>
          <a:p>
            <a:r>
              <a:t>Fuentes: learn.microsoft.com/azure/foundry/observability/concepts/trace-agent-concept y how-to/how-to-monitor-agents-dashboard; learn.microsoft.com/azure/azure-monitor/app/agents-view; learn.microsoft.com/azure/foundry/how-to/develop/run-ai-red-teaming-cloud; learn.microsoft.com/azure/foundry/how-to/diagnostic-logging; learn.microsoft.com/azure/foundry/agents/how-to/manage-hosted-agent; learn.microsoft.com/entra/agent-id/disable-agent-identities; learn.microsoft.com/azure/foundry/agents/how-to/add-hosted-agent-guardrails; learn.microsoft.com/azure/foundry/how-to/agent-service-disaster-recovery.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a:t>
            </a:r>
            <a:r>
              <a:rPr lang="en-US" sz="2900" b="1" dirty="0" err="1">
                <a:solidFill>
                  <a:srgbClr val="0B1F33"/>
                </a:solidFill>
                <a:latin typeface="Segoe UI Semibold" pitchFamily="34" charset="0"/>
                <a:ea typeface="Segoe UI Semibold" pitchFamily="34" charset="-122"/>
                <a:cs typeface="Segoe UI Semibold" pitchFamily="34" charset="-120"/>
              </a:rPr>
              <a:t>inspeccionar</a:t>
            </a:r>
            <a:r>
              <a:rPr lang="en-US" sz="2900" b="1">
                <a:solidFill>
                  <a:srgbClr val="0B1F33"/>
                </a:solidFill>
                <a:latin typeface="Segoe UI Semibold" pitchFamily="34" charset="0"/>
                <a:ea typeface="Segoe UI Semibold" pitchFamily="34" charset="-122"/>
                <a:cs typeface="Segoe UI Semibold" pitchFamily="34" charset="-120"/>
              </a:rPr>
              <a:t> traza</a:t>
            </a:r>
            <a:r>
              <a:rPr lang="en-US" sz="2900" b="1" dirty="0">
                <a:solidFill>
                  <a:srgbClr val="0B1F33"/>
                </a:solidFill>
                <a:latin typeface="Segoe UI Semibold" pitchFamily="34" charset="0"/>
                <a:ea typeface="Segoe UI Semibold" pitchFamily="34" charset="-122"/>
                <a:cs typeface="Segoe UI Semibold" pitchFamily="34" charset="-120"/>
              </a:rPr>
              <a:t>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err="1">
                <a:solidFill>
                  <a:srgbClr val="FFFFFF"/>
                </a:solidFill>
                <a:latin typeface="Segoe UI Semibold" pitchFamily="34" charset="0"/>
                <a:ea typeface="Segoe UI Semibold" pitchFamily="34" charset="-122"/>
                <a:cs typeface="Segoe UI Semibold" pitchFamily="34" charset="-120"/>
              </a:rPr>
              <a:t>Presentar</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ejemplos</a:t>
            </a:r>
            <a:r>
              <a:rPr lang="en-US" sz="2000" b="1" dirty="0">
                <a:solidFill>
                  <a:srgbClr val="FFFFFF"/>
                </a:solidFill>
                <a:latin typeface="Segoe UI Semibold" pitchFamily="34" charset="0"/>
                <a:ea typeface="Segoe UI Semibold" pitchFamily="34" charset="-122"/>
                <a:cs typeface="Segoe UI Semibold" pitchFamily="34" charset="-120"/>
              </a:rPr>
              <a:t> de </a:t>
            </a:r>
            <a:r>
              <a:rPr lang="en-US" sz="2000" b="1" dirty="0" err="1">
                <a:solidFill>
                  <a:srgbClr val="FFFFFF"/>
                </a:solidFill>
                <a:latin typeface="Segoe UI Semibold" pitchFamily="34" charset="0"/>
                <a:ea typeface="Segoe UI Semibold" pitchFamily="34" charset="-122"/>
                <a:cs typeface="Segoe UI Semibold" pitchFamily="34" charset="-120"/>
              </a:rPr>
              <a:t>agentes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en</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los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que</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falla</a:t>
            </a:r>
            <a:r>
              <a:rPr lang="en-US" sz="2000" b="1" dirty="0">
                <a:solidFill>
                  <a:srgbClr val="FFFFFF"/>
                </a:solidFill>
                <a:latin typeface="Segoe UI Semibold" pitchFamily="34" charset="0"/>
                <a:ea typeface="Segoe UI Semibold" pitchFamily="34" charset="-122"/>
                <a:cs typeface="Segoe UI Semibold" pitchFamily="34" charset="-120"/>
              </a:rPr>
              <a:t> la </a:t>
            </a:r>
            <a:r>
              <a:rPr lang="en-US" sz="2000" b="1" dirty="0" err="1">
                <a:solidFill>
                  <a:srgbClr val="FFFFFF"/>
                </a:solidFill>
                <a:latin typeface="Segoe UI Semibold" pitchFamily="34" charset="0"/>
                <a:ea typeface="Segoe UI Semibold" pitchFamily="34" charset="-122"/>
                <a:cs typeface="Segoe UI Semibold" pitchFamily="34" charset="-120"/>
              </a:rPr>
              <a:t>llamada</a:t>
            </a:r>
            <a:r>
              <a:rPr lang="en-US" sz="2000" b="1" dirty="0">
                <a:solidFill>
                  <a:srgbClr val="FFFFFF"/>
                </a:solidFill>
                <a:latin typeface="Segoe UI Semibold" pitchFamily="34" charset="0"/>
                <a:ea typeface="Segoe UI Semibold" pitchFamily="34" charset="-122"/>
                <a:cs typeface="Segoe UI Semibold" pitchFamily="34" charset="-120"/>
              </a:rPr>
              <a:t> de tool</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r>
              <a:rPr lang="en-US" sz="1700" dirty="0">
                <a:solidFill>
                  <a:srgbClr val="1B2A3A"/>
                </a:solidFill>
                <a:latin typeface="Segoe UI" pitchFamily="34" charset="0"/>
                <a:cs typeface="Segoe UI" pitchFamily="34" charset="-120"/>
              </a:rPr>
              <a:t>, para </a:t>
            </a:r>
            <a:r>
              <a:rPr lang="en-US" sz="1700" dirty="0" err="1">
                <a:solidFill>
                  <a:srgbClr val="1B2A3A"/>
                </a:solidFill>
                <a:latin typeface="Segoe UI" pitchFamily="34" charset="0"/>
                <a:cs typeface="Segoe UI" pitchFamily="34" charset="-120"/>
              </a:rPr>
              <a:t>misma</a:t>
            </a:r>
            <a:r>
              <a:rPr lang="en-US" sz="1700" dirty="0">
                <a:solidFill>
                  <a:srgbClr val="1B2A3A"/>
                </a:solidFill>
                <a:latin typeface="Segoe UI" pitchFamily="34" charset="0"/>
                <a:cs typeface="Segoe UI" pitchFamily="34" charset="-120"/>
              </a:rPr>
              <a:t> tool</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ea typeface="Segoe UI" pitchFamily="34" charset="-122"/>
                <a:cs typeface="Segoe UI" pitchFamily="34" charset="-120"/>
              </a:rPr>
              <a:t>Presentar</a:t>
            </a:r>
            <a:r>
              <a:rPr lang="en-US" sz="1700" dirty="0">
                <a:solidFill>
                  <a:srgbClr val="1B2A3A"/>
                </a:solidFill>
                <a:latin typeface="Segoe UI" pitchFamily="34" charset="0"/>
                <a:ea typeface="Segoe UI" pitchFamily="34" charset="-122"/>
                <a:cs typeface="Segoe UI" pitchFamily="34" charset="-120"/>
              </a:rPr>
              <a:t> y </a:t>
            </a:r>
            <a:r>
              <a:rPr lang="en-US" sz="1700" dirty="0" err="1">
                <a:solidFill>
                  <a:srgbClr val="1B2A3A"/>
                </a:solidFill>
                <a:latin typeface="Segoe UI" pitchFamily="34" charset="0"/>
                <a:ea typeface="Segoe UI" pitchFamily="34" charset="-122"/>
                <a:cs typeface="Segoe UI" pitchFamily="34" charset="-120"/>
              </a:rPr>
              <a:t>comparar</a:t>
            </a:r>
            <a:r>
              <a:rPr lang="en-US" sz="1700" dirty="0">
                <a:solidFill>
                  <a:srgbClr val="1B2A3A"/>
                </a:solidFill>
                <a:latin typeface="Segoe UI" pitchFamily="34" charset="0"/>
                <a:ea typeface="Segoe UI" pitchFamily="34" charset="-122"/>
                <a:cs typeface="Segoe UI" pitchFamily="34" charset="-120"/>
              </a:rPr>
              <a:t> </a:t>
            </a:r>
            <a:r>
              <a:rPr lang="en-US" sz="1700" dirty="0" err="1">
                <a:solidFill>
                  <a:srgbClr val="1B2A3A"/>
                </a:solidFill>
                <a:latin typeface="Segoe UI" pitchFamily="34" charset="0"/>
                <a:ea typeface="Segoe UI" pitchFamily="34" charset="-122"/>
                <a:cs typeface="Segoe UI" pitchFamily="34" charset="-120"/>
              </a:rPr>
              <a:t>trazas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err="1">
                <a:solidFill>
                  <a:srgbClr val="E8743B"/>
                </a:solidFill>
                <a:latin typeface="Segoe UI Semibold" pitchFamily="34" charset="0"/>
                <a:ea typeface="Segoe UI Semibold" pitchFamily="34" charset="-122"/>
                <a:cs typeface="Segoe UI Semibold" pitchFamily="34" charset="-120"/>
              </a:rPr>
              <a:t>Sesión</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a:t>
            </a:r>
            <a:r>
              <a:rPr lang="en-US" sz="1500" dirty="0" err="1">
                <a:solidFill>
                  <a:srgbClr val="1B2A3A"/>
                </a:solidFill>
                <a:latin typeface="Segoe UI" pitchFamily="34" charset="0"/>
                <a:ea typeface="Segoe UI" pitchFamily="34" charset="-122"/>
                <a:cs typeface="Segoe UI" pitchFamily="34" charset="-120"/>
              </a:rPr>
              <a:t>caso</a:t>
            </a:r>
            <a:r>
              <a:rPr lang="en-US" sz="1500" dirty="0">
                <a:solidFill>
                  <a:srgbClr val="1B2A3A"/>
                </a:solidFill>
                <a:latin typeface="Segoe UI" pitchFamily="34" charset="0"/>
                <a:ea typeface="Segoe UI" pitchFamily="34" charset="-122"/>
                <a:cs typeface="Segoe UI" pitchFamily="34" charset="-120"/>
              </a:rPr>
              <a:t> explicado con evidencia concreta de la </a:t>
            </a:r>
            <a:r>
              <a:rPr lang="en-US" sz="1500" dirty="0" err="1">
                <a:solidFill>
                  <a:srgbClr val="1B2A3A"/>
                </a:solidFill>
                <a:latin typeface="Segoe UI" pitchFamily="34" charset="0"/>
                <a:ea typeface="Segoe UI" pitchFamily="34" charset="-122"/>
                <a:cs typeface="Segoe UI" pitchFamily="34" charset="-120"/>
              </a:rPr>
              <a:t>traza</a:t>
            </a:r>
            <a:endParaRPr lang="en-US" sz="1500" dirty="0">
              <a:solidFill>
                <a:srgbClr val="1B2A3A"/>
              </a:solidFill>
              <a:latin typeface="Segoe UI" pitchFamily="34" charset="0"/>
              <a:ea typeface="Segoe UI" pitchFamily="34" charset="-122"/>
              <a:cs typeface="Segoe UI" pitchFamily="34" charset="-120"/>
            </a:endParaRPr>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a:t>
            </a:r>
            <a:r>
              <a:rPr lang="en-US" sz="1700">
                <a:solidFill>
                  <a:srgbClr val="1B2A3A"/>
                </a:solidFill>
                <a:latin typeface="Segoe UI" pitchFamily="34" charset="0"/>
                <a:ea typeface="Segoe UI" pitchFamily="34" charset="-122"/>
                <a:cs typeface="Segoe UI" pitchFamily="34" charset="-120"/>
              </a:rPr>
              <a:t>GA v1.0.</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8862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IA y de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Inventario y control plane</a:t>
            </a:r>
            <a:endParaRPr lang="en-US" sz="2000" dirty="0"/>
          </a:p>
          <a:p>
            <a:pPr marL="0" indent="0">
              <a:spcAft>
                <a:spcPts val="500"/>
              </a:spcAft>
              <a:buNone/>
            </a:pPr>
            <a:r>
              <a:rPr sz="1500" b="0">
                <a:solidFill>
                  <a:srgbClr val="1B2A3A"/>
                </a:solidFill>
                <a:latin typeface="Segoe UI"/>
              </a:rPr>
              <a:t>• Agent 365 (GA desde 1-may-2026): observar, gobernar y proteger agentes; algunas integraciones en Preview</a:t>
            </a:r>
          </a:p>
          <a:p>
            <a:pPr marL="0" indent="0">
              <a:spcAft>
                <a:spcPts val="500"/>
              </a:spcAft>
              <a:buNone/>
            </a:pPr>
            <a:r>
              <a:rPr sz="1500" b="0">
                <a:solidFill>
                  <a:srgbClr val="1B2A3A"/>
                </a:solidFill>
                <a:latin typeface="Segoe UI"/>
              </a:rPr>
              <a:t>• Entra Agent ID aporta identidad y control de acceso; el registro y la identidad son complementarios</a:t>
            </a: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0B1F33"/>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Políticas de plataforma</a:t>
            </a:r>
            <a:endParaRPr lang="en-US" sz="2000" dirty="0"/>
          </a:p>
          <a:p>
            <a:pPr marL="0" indent="0">
              <a:spcAft>
                <a:spcPts val="500"/>
              </a:spcAft>
              <a:buNone/>
            </a:pPr>
            <a:r>
              <a:rPr sz="1500" b="0">
                <a:solidFill>
                  <a:srgbClr val="1B2A3A"/>
                </a:solidFill>
                <a:latin typeface="Segoe UI"/>
              </a:rPr>
              <a:t>• Azure Policy: modelos aprobados y elegibilidad (GA)</a:t>
            </a:r>
          </a:p>
          <a:p>
            <a:pPr marL="0" indent="0">
              <a:spcAft>
                <a:spcPts val="500"/>
              </a:spcAft>
              <a:buNone/>
            </a:pPr>
            <a:r>
              <a:rPr sz="1500" b="0">
                <a:solidFill>
                  <a:srgbClr val="1B2A3A"/>
                </a:solidFill>
                <a:latin typeface="Segoe UI"/>
              </a:rPr>
              <a:t>• Usar efecto Deny para bloquear; Audit solo registra</a:t>
            </a:r>
          </a:p>
          <a:p>
            <a:pPr marL="0" indent="0">
              <a:spcAft>
                <a:spcPts val="500"/>
              </a:spcAft>
              <a:buNone/>
            </a:pPr>
            <a:r>
              <a:rPr sz="1500" b="0">
                <a:solidFill>
                  <a:srgbClr val="1B2A3A"/>
                </a:solidFill>
                <a:latin typeface="Segoe UI"/>
              </a:rPr>
              <a:t>• Madurez GA/Preview se verifica por función, no por producto</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0B1F33"/>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dirty="0">
                <a:solidFill>
                  <a:srgbClr val="0B1F33"/>
                </a:solidFill>
                <a:latin typeface="Segoe UI Semibold"/>
              </a:rPr>
              <a:t>Datos e </a:t>
            </a:r>
            <a:r>
              <a:rPr sz="1450" b="1" dirty="0" err="1">
                <a:solidFill>
                  <a:srgbClr val="0B1F33"/>
                </a:solidFill>
                <a:latin typeface="Segoe UI Semibold"/>
              </a:rPr>
              <a:t>interacciones</a:t>
            </a:r>
            <a:endParaRPr lang="en-US" sz="2000" dirty="0"/>
          </a:p>
          <a:p>
            <a:pPr marL="0" indent="0">
              <a:spcAft>
                <a:spcPts val="500"/>
              </a:spcAft>
              <a:buNone/>
            </a:pPr>
            <a:r>
              <a:rPr sz="1500" b="0" dirty="0">
                <a:solidFill>
                  <a:srgbClr val="1B2A3A"/>
                </a:solidFill>
                <a:latin typeface="Segoe UI"/>
              </a:rPr>
              <a:t>• Defender AI-SPM: AI BOM y </a:t>
            </a:r>
            <a:r>
              <a:rPr sz="1500" b="0" dirty="0" err="1">
                <a:solidFill>
                  <a:srgbClr val="1B2A3A"/>
                </a:solidFill>
                <a:latin typeface="Segoe UI"/>
              </a:rPr>
              <a:t>rutas</a:t>
            </a:r>
            <a:r>
              <a:rPr sz="1500" b="0" dirty="0">
                <a:solidFill>
                  <a:srgbClr val="1B2A3A"/>
                </a:solidFill>
                <a:latin typeface="Segoe UI"/>
              </a:rPr>
              <a:t> de </a:t>
            </a:r>
            <a:r>
              <a:rPr sz="1500" b="0" dirty="0" err="1">
                <a:solidFill>
                  <a:srgbClr val="1B2A3A"/>
                </a:solidFill>
                <a:latin typeface="Segoe UI"/>
              </a:rPr>
              <a:t>ataque</a:t>
            </a:r>
            <a:r>
              <a:rPr sz="1500" b="0" dirty="0">
                <a:solidFill>
                  <a:srgbClr val="1B2A3A"/>
                </a:solidFill>
                <a:latin typeface="Segoe UI"/>
              </a:rPr>
              <a:t>; </a:t>
            </a:r>
            <a:r>
              <a:rPr sz="1500" b="0" dirty="0" err="1">
                <a:solidFill>
                  <a:srgbClr val="1B2A3A"/>
                </a:solidFill>
                <a:latin typeface="Segoe UI"/>
              </a:rPr>
              <a:t>capacidades</a:t>
            </a:r>
            <a:r>
              <a:rPr sz="1500" b="0" dirty="0">
                <a:solidFill>
                  <a:srgbClr val="1B2A3A"/>
                </a:solidFill>
                <a:latin typeface="Segoe UI"/>
              </a:rPr>
              <a:t> de </a:t>
            </a:r>
            <a:r>
              <a:rPr sz="1500" b="0" dirty="0" err="1">
                <a:solidFill>
                  <a:srgbClr val="1B2A3A"/>
                </a:solidFill>
                <a:latin typeface="Segoe UI"/>
              </a:rPr>
              <a:t>agentes</a:t>
            </a:r>
            <a:r>
              <a:rPr sz="1500" b="0" dirty="0">
                <a:solidFill>
                  <a:srgbClr val="1B2A3A"/>
                </a:solidFill>
                <a:latin typeface="Segoe UI"/>
              </a:rPr>
              <a:t> </a:t>
            </a:r>
            <a:r>
              <a:rPr sz="1500" b="0" dirty="0" err="1">
                <a:solidFill>
                  <a:srgbClr val="1B2A3A"/>
                </a:solidFill>
                <a:latin typeface="Segoe UI"/>
              </a:rPr>
              <a:t>en</a:t>
            </a:r>
            <a:r>
              <a:rPr sz="1500" b="0" dirty="0">
                <a:solidFill>
                  <a:srgbClr val="1B2A3A"/>
                </a:solidFill>
                <a:latin typeface="Segoe UI"/>
              </a:rPr>
              <a:t> Preview</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E8743B"/>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Roles y ciclo de vida (AgentOps)</a:t>
            </a:r>
            <a:endParaRPr lang="en-US" sz="2000" dirty="0"/>
          </a:p>
          <a:p>
            <a:pPr marL="0" indent="0">
              <a:spcAft>
                <a:spcPts val="500"/>
              </a:spcAft>
              <a:buNone/>
            </a:pPr>
            <a:r>
              <a:rPr sz="1500" b="0">
                <a:solidFill>
                  <a:srgbClr val="1B2A3A"/>
                </a:solidFill>
                <a:latin typeface="Segoe UI"/>
              </a:rPr>
              <a:t>• RACI de ejemplo de Microsoft, adaptable al modelo operativo</a:t>
            </a:r>
          </a:p>
          <a:p>
            <a:pPr marL="0" indent="0">
              <a:spcAft>
                <a:spcPts val="500"/>
              </a:spcAft>
              <a:buNone/>
            </a:pPr>
            <a:r>
              <a:rPr sz="1500" b="0">
                <a:solidFill>
                  <a:srgbClr val="1B2A3A"/>
                </a:solidFill>
                <a:latin typeface="Segoe UI"/>
              </a:rPr>
              <a:t>• Ciclo: recepción, priorización, construcción, despliegue, monitoreo, mejora y retiro</a:t>
            </a:r>
          </a:p>
        </p:txBody>
      </p:sp>
      <p:sp>
        <p:nvSpPr>
          <p:cNvPr id="1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Marcos complementarios: Microsoft Responsible AI Standard (corporativo) · NIST AI RMF (voluntario) · ISO/IEC 42001:2023 (sistema de gestión de IA) · EU AI Act (aplicación escalonada; GPAI desde 2-ago-2025)</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Seguridad de agentes y tools: del lector al actor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
        <p:nvSpPr>
          <p:cNvPr id="6" name="Shape 4"/>
          <p:cNvSpPr/>
          <p:nvPr/>
        </p:nvSpPr>
        <p:spPr>
          <a:xfrm>
            <a:off x="548640"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3900000"/>
          </a:xfrm>
          <a:prstGeom prst="rect">
            <a:avLst/>
          </a:prstGeom>
          <a:solidFill>
            <a:srgbClr val="E8743B"/>
          </a:solidFill>
          <a:ln/>
        </p:spPr>
        <p:txBody>
          <a:bodyPr/>
          <a:lstStyle/>
          <a:p>
            <a:endParaRPr lang="en-US"/>
          </a:p>
        </p:txBody>
      </p:sp>
      <p:sp>
        <p:nvSpPr>
          <p:cNvPr id="8" name="Text 6"/>
          <p:cNvSpPr/>
          <p:nvPr/>
        </p:nvSpPr>
        <p:spPr>
          <a:xfrm>
            <a:off x="748640"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Inyección de prompts</a:t>
            </a:r>
            <a:endParaRPr lang="en-US" sz="2000" dirty="0"/>
          </a:p>
          <a:p>
            <a:pPr marL="0" indent="0">
              <a:spcAft>
                <a:spcPts val="500"/>
              </a:spcAft>
              <a:buNone/>
            </a:pPr>
            <a:r>
              <a:rPr sz="1500" b="0">
                <a:solidFill>
                  <a:srgbClr val="1B2A3A"/>
                </a:solidFill>
                <a:latin typeface="Segoe UI"/>
              </a:rPr>
              <a:t>• Directa: en el prompt del usuario. Indirecta: contenido externo con instrucciones ocultas</a:t>
            </a:r>
          </a:p>
          <a:p>
            <a:pPr marL="0" indent="0">
              <a:spcAft>
                <a:spcPts val="500"/>
              </a:spcAft>
              <a:buNone/>
            </a:pPr>
            <a:r>
              <a:rPr sz="1500" b="0">
                <a:solidFill>
                  <a:srgbClr val="1B2A3A"/>
                </a:solidFill>
                <a:latin typeface="Segoe UI"/>
              </a:rPr>
              <a:t>• Con tools pasa de sesgar una respuesta a provocar acciones y exfiltración</a:t>
            </a:r>
          </a:p>
          <a:p>
            <a:pPr marL="0" indent="0">
              <a:spcAft>
                <a:spcPts val="500"/>
              </a:spcAft>
              <a:buNone/>
            </a:pPr>
            <a:r>
              <a:rPr sz="1500" b="0">
                <a:solidFill>
                  <a:srgbClr val="1B2A3A"/>
                </a:solidFill>
                <a:latin typeface="Segoe UI"/>
              </a:rPr>
              <a:t>• Prompt Shields: API GA; tool responses y Spotlighting en Preview. No es una garantía</a:t>
            </a:r>
          </a:p>
        </p:txBody>
      </p:sp>
      <p:sp>
        <p:nvSpPr>
          <p:cNvPr id="9" name="Shape 4"/>
          <p:cNvSpPr/>
          <p:nvPr/>
        </p:nvSpPr>
        <p:spPr>
          <a:xfrm>
            <a:off x="4306778"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4306778" y="1508760"/>
            <a:ext cx="82296" cy="3900000"/>
          </a:xfrm>
          <a:prstGeom prst="rect">
            <a:avLst/>
          </a:prstGeom>
          <a:solidFill>
            <a:srgbClr val="0B1F33"/>
          </a:solidFill>
          <a:ln/>
        </p:spPr>
        <p:txBody>
          <a:bodyPr/>
          <a:lstStyle/>
          <a:p>
            <a:endParaRPr lang="en-US"/>
          </a:p>
        </p:txBody>
      </p:sp>
      <p:sp>
        <p:nvSpPr>
          <p:cNvPr id="11" name="Text 6"/>
          <p:cNvSpPr/>
          <p:nvPr/>
        </p:nvSpPr>
        <p:spPr>
          <a:xfrm>
            <a:off x="4506778"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Cadena de suministro MCP</a:t>
            </a:r>
            <a:endParaRPr lang="en-US" sz="2000" dirty="0"/>
          </a:p>
          <a:p>
            <a:pPr marL="0" indent="0">
              <a:spcAft>
                <a:spcPts val="500"/>
              </a:spcAft>
              <a:buNone/>
            </a:pPr>
            <a:r>
              <a:rPr sz="1500" b="0">
                <a:solidFill>
                  <a:srgbClr val="1B2A3A"/>
                </a:solidFill>
                <a:latin typeface="Segoe UI"/>
              </a:rPr>
              <a:t>• Tool poisoning: las descripciones de tools son superficie de ataque</a:t>
            </a:r>
          </a:p>
          <a:p>
            <a:pPr marL="0" indent="0">
              <a:spcAft>
                <a:spcPts val="500"/>
              </a:spcAft>
              <a:buNone/>
            </a:pPr>
            <a:r>
              <a:rPr sz="1500" b="0">
                <a:solidFill>
                  <a:srgbClr val="1B2A3A"/>
                </a:solidFill>
                <a:latin typeface="Segoe UI"/>
              </a:rPr>
              <a:t>• Rug pull: una tool aprobada cambia después</a:t>
            </a:r>
          </a:p>
          <a:p>
            <a:pPr marL="0" indent="0">
              <a:spcAft>
                <a:spcPts val="500"/>
              </a:spcAft>
              <a:buNone/>
            </a:pPr>
            <a:r>
              <a:rPr sz="1500" b="0">
                <a:solidFill>
                  <a:srgbClr val="1B2A3A"/>
                </a:solidFill>
                <a:latin typeface="Segoe UI"/>
              </a:rPr>
              <a:t>• Inventariar y aprobar servidores, verificar procedencia, fijar esquemas y descripciones, re-aprobar cambios</a:t>
            </a:r>
          </a:p>
        </p:txBody>
      </p:sp>
      <p:sp>
        <p:nvSpPr>
          <p:cNvPr id="12" name="Shape 4"/>
          <p:cNvSpPr/>
          <p:nvPr/>
        </p:nvSpPr>
        <p:spPr>
          <a:xfrm>
            <a:off x="8064916"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8064916" y="1508760"/>
            <a:ext cx="82296" cy="3900000"/>
          </a:xfrm>
          <a:prstGeom prst="rect">
            <a:avLst/>
          </a:prstGeom>
          <a:solidFill>
            <a:srgbClr val="E8743B"/>
          </a:solidFill>
          <a:ln/>
        </p:spPr>
        <p:txBody>
          <a:bodyPr/>
          <a:lstStyle/>
          <a:p>
            <a:endParaRPr lang="en-US"/>
          </a:p>
        </p:txBody>
      </p:sp>
      <p:sp>
        <p:nvSpPr>
          <p:cNvPr id="14" name="Text 6"/>
          <p:cNvSpPr/>
          <p:nvPr/>
        </p:nvSpPr>
        <p:spPr>
          <a:xfrm>
            <a:off x="8264916"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Agencia y confused deputy</a:t>
            </a:r>
            <a:endParaRPr lang="en-US" sz="2000" dirty="0"/>
          </a:p>
          <a:p>
            <a:pPr marL="0" indent="0">
              <a:spcAft>
                <a:spcPts val="500"/>
              </a:spcAft>
              <a:buNone/>
            </a:pPr>
            <a:r>
              <a:rPr sz="1500" b="0">
                <a:solidFill>
                  <a:srgbClr val="1B2A3A"/>
                </a:solidFill>
                <a:latin typeface="Segoe UI"/>
              </a:rPr>
              <a:t>• Excessive Agency (OWASP LLM06): reducir funcionalidad, permisos y autonomía</a:t>
            </a:r>
          </a:p>
          <a:p>
            <a:pPr marL="0" indent="0">
              <a:spcAft>
                <a:spcPts val="500"/>
              </a:spcAft>
              <a:buNone/>
            </a:pPr>
            <a:r>
              <a:rPr sz="1500" b="0">
                <a:solidFill>
                  <a:srgbClr val="1B2A3A"/>
                </a:solidFill>
                <a:latin typeface="Segoe UI"/>
              </a:rPr>
              <a:t>• Autorizar en el sistema downstream; aprobación humana en acciones de alto impacto</a:t>
            </a:r>
          </a:p>
          <a:p>
            <a:pPr marL="0" indent="0">
              <a:spcAft>
                <a:spcPts val="500"/>
              </a:spcAft>
              <a:buNone/>
            </a:pPr>
            <a:r>
              <a:rPr sz="1500" b="0">
                <a:solidFill>
                  <a:srgbClr val="1B2A3A"/>
                </a:solidFill>
                <a:latin typeface="Segoe UI"/>
              </a:rPr>
              <a:t>• MCP: consentimiento por cliente y usuario, redirecciones exactas, validar estado y audiencia del token</a:t>
            </a:r>
          </a:p>
        </p:txBody>
      </p:sp>
      <p:sp>
        <p:nvSpPr>
          <p:cNvPr id="15" name="Text 6"/>
          <p:cNvSpPr/>
          <p:nvPr/>
        </p:nvSpPr>
        <p:spPr>
          <a:xfrm>
            <a:off x="548640" y="556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Defensa en capas: identidad + aislamiento + controles de salida + aprobación humana + telemetría. Validar qué cubre realmente cada control en tu arquitectura.</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acceso y red de agentes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Identidad propia por agente</a:t>
            </a:r>
            <a:endParaRPr lang="en-US" sz="2000" dirty="0"/>
          </a:p>
          <a:p>
            <a:pPr marL="0" indent="0">
              <a:spcAft>
                <a:spcPts val="500"/>
              </a:spcAft>
              <a:buNone/>
            </a:pPr>
            <a:r>
              <a:rPr sz="1500" b="0">
                <a:solidFill>
                  <a:srgbClr val="1B2A3A"/>
                </a:solidFill>
                <a:latin typeface="Segoe UI"/>
              </a:rPr>
              <a:t>• Entra Agent ID (GA): la agent identity no tiene credenciales propias; obtiene tokens vía su blueprint</a:t>
            </a:r>
          </a:p>
          <a:p>
            <a:pPr marL="0" indent="0">
              <a:spcAft>
                <a:spcPts val="500"/>
              </a:spcAft>
              <a:buNone/>
            </a:pPr>
            <a:r>
              <a:rPr sz="1500" b="0">
                <a:solidFill>
                  <a:srgbClr val="1B2A3A"/>
                </a:solidFill>
                <a:latin typeface="Segoe UI"/>
              </a:rPr>
              <a:t>• Nuevo modelo: identidad propia; agentes legacy: identidad compartida</a:t>
            </a:r>
          </a:p>
          <a:p>
            <a:pPr marL="0" indent="0">
              <a:spcAft>
                <a:spcPts val="500"/>
              </a:spcAft>
              <a:buNone/>
            </a:pPr>
            <a:r>
              <a:rPr sz="1500" b="0">
                <a:solidFill>
                  <a:srgbClr val="1B2A3A"/>
                </a:solidFill>
                <a:latin typeface="Segoe UI"/>
              </a:rPr>
              <a:t>• Al migrar, reasignar permisos downstream (no se transfieren)</a:t>
            </a: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0B1F33"/>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Autónomo vs. delegado</a:t>
            </a:r>
            <a:endParaRPr lang="en-US" sz="2000" dirty="0"/>
          </a:p>
          <a:p>
            <a:pPr marL="0" indent="0">
              <a:spcAft>
                <a:spcPts val="500"/>
              </a:spcAft>
              <a:buNone/>
            </a:pPr>
            <a:r>
              <a:rPr sz="1500" b="0">
                <a:solidFill>
                  <a:srgbClr val="1B2A3A"/>
                </a:solidFill>
                <a:latin typeface="Segoe UI"/>
              </a:rPr>
              <a:t>• Identidad de servicio para autoridad propia; OAuth passthrough o mecanismo delegado para respetar permisos del usuario</a:t>
            </a:r>
          </a:p>
          <a:p>
            <a:pPr marL="0" indent="0">
              <a:spcAft>
                <a:spcPts val="500"/>
              </a:spcAft>
              <a:buNone/>
            </a:pPr>
            <a:r>
              <a:rPr sz="1500" b="0">
                <a:solidFill>
                  <a:srgbClr val="1B2A3A"/>
                </a:solidFill>
                <a:latin typeface="Segoe UI"/>
              </a:rPr>
              <a:t>• Mínimo privilegio al principal que realmente llama: agent identity o managed identity del proyecto, según la tool</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0B1F33"/>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RBAC y protocolos</a:t>
            </a:r>
            <a:endParaRPr lang="en-US" sz="2000" dirty="0"/>
          </a:p>
          <a:p>
            <a:pPr marL="0" indent="0">
              <a:spcAft>
                <a:spcPts val="500"/>
              </a:spcAft>
              <a:buNone/>
            </a:pPr>
            <a:r>
              <a:rPr sz="1500" b="0">
                <a:solidFill>
                  <a:srgbClr val="1B2A3A"/>
                </a:solidFill>
                <a:latin typeface="Segoe UI"/>
              </a:rPr>
              <a:t>• Foundry User para desarrollar; Foundry Agent Consumer para consumir endpoints (ámbito de agente)</a:t>
            </a:r>
          </a:p>
          <a:p>
            <a:pPr marL="0" indent="0">
              <a:spcAft>
                <a:spcPts val="500"/>
              </a:spcAft>
              <a:buNone/>
            </a:pPr>
            <a:r>
              <a:rPr sz="1500" b="0">
                <a:solidFill>
                  <a:srgbClr val="1B2A3A"/>
                </a:solidFill>
                <a:latin typeface="Segoe UI"/>
              </a:rPr>
              <a:t>• A2A: a2a v1.0 GA; a2a_preview v0.3 Preview</a:t>
            </a:r>
          </a:p>
          <a:p>
            <a:pPr marL="0" indent="0">
              <a:spcAft>
                <a:spcPts val="500"/>
              </a:spcAft>
              <a:buNone/>
            </a:pPr>
            <a:r>
              <a:rPr sz="1500" b="0">
                <a:solidFill>
                  <a:srgbClr val="1B2A3A"/>
                </a:solidFill>
                <a:latin typeface="Segoe UI"/>
              </a:rPr>
              <a:t>• OpenAPI: conexiones con managed identity del proyecto</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E8743B"/>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Secretos y red</a:t>
            </a:r>
            <a:endParaRPr lang="en-US" sz="2000" dirty="0"/>
          </a:p>
          <a:p>
            <a:pPr marL="0" indent="0">
              <a:spcAft>
                <a:spcPts val="500"/>
              </a:spcAft>
              <a:buNone/>
            </a:pPr>
            <a:r>
              <a:rPr sz="1500" b="0">
                <a:solidFill>
                  <a:srgbClr val="1B2A3A"/>
                </a:solidFill>
                <a:latin typeface="Segoe UI"/>
              </a:rPr>
              <a:t>• Preferir autenticación sin secretos; si hay claves, Key Vault propio para secretos de conexiones</a:t>
            </a:r>
          </a:p>
          <a:p>
            <a:pPr marL="0" indent="0">
              <a:spcAft>
                <a:spcPts val="500"/>
              </a:spcAft>
              <a:buNone/>
            </a:pPr>
            <a:r>
              <a:rPr sz="1500" b="0">
                <a:solidFill>
                  <a:srgbClr val="1B2A3A"/>
                </a:solidFill>
                <a:latin typeface="Segoe UI"/>
              </a:rPr>
              <a:t>• Entrada privada (Private Link, DNS) y salida controlada (BYO VNet, dependencias) se diseñan por separado; revisar matriz por tool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Tecnologías Microsoft para agentes seguros, gobernados y monitoreados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graphicFrame>
        <p:nvGraphicFramePr>
          <p:cNvPr id="26" name="Table 25"/>
          <p:cNvGraphicFramePr>
            <a:graphicFrameLocks noGrp="1"/>
          </p:cNvGraphicFramePr>
          <p:nvPr>
            <p:extLst>
              <p:ext uri="{D42A27DB-BD31-4B8C-83A1-F6EECF244321}">
                <p14:modId xmlns:p14="http://schemas.microsoft.com/office/powerpoint/2010/main" val="3459107888"/>
              </p:ext>
            </p:extLst>
          </p:nvPr>
        </p:nvGraphicFramePr>
        <p:xfrm>
          <a:off x="548640" y="1448760"/>
          <a:ext cx="11094415" cy="3960000"/>
        </p:xfrm>
        <a:graphic>
          <a:graphicData uri="http://schemas.openxmlformats.org/drawingml/2006/table">
            <a:tbl>
              <a:tblPr firstRow="1" bandRow="1">
                <a:tableStyleId>{5C22544A-7EE6-4342-B048-85BDC9FD1C3A}</a:tableStyleId>
              </a:tblPr>
              <a:tblGrid>
                <a:gridCol w="1250000">
                  <a:extLst>
                    <a:ext uri="{9D8B030D-6E8A-4147-A177-3AD203B41FA5}">
                      <a16:colId xmlns:a16="http://schemas.microsoft.com/office/drawing/2014/main" val="20000"/>
                    </a:ext>
                  </a:extLst>
                </a:gridCol>
                <a:gridCol w="3300000">
                  <a:extLst>
                    <a:ext uri="{9D8B030D-6E8A-4147-A177-3AD203B41FA5}">
                      <a16:colId xmlns:a16="http://schemas.microsoft.com/office/drawing/2014/main" val="20001"/>
                    </a:ext>
                  </a:extLst>
                </a:gridCol>
                <a:gridCol w="3744415">
                  <a:extLst>
                    <a:ext uri="{9D8B030D-6E8A-4147-A177-3AD203B41FA5}">
                      <a16:colId xmlns:a16="http://schemas.microsoft.com/office/drawing/2014/main" val="20002"/>
                    </a:ext>
                  </a:extLst>
                </a:gridCol>
                <a:gridCol w="2800000">
                  <a:extLst>
                    <a:ext uri="{9D8B030D-6E8A-4147-A177-3AD203B41FA5}">
                      <a16:colId xmlns:a16="http://schemas.microsoft.com/office/drawing/2014/main" val="20003"/>
                    </a:ext>
                  </a:extLst>
                </a:gridCol>
              </a:tblGrid>
              <a:tr h="440000">
                <a:tc>
                  <a:txBody>
                    <a:bodyPr/>
                    <a:lstStyle/>
                    <a:p>
                      <a:r>
                        <a:rPr sz="1050" b="1">
                          <a:solidFill>
                            <a:srgbClr val="FFFFFF"/>
                          </a:solidFill>
                          <a:latin typeface="Segoe UI Semibold"/>
                        </a:rPr>
                        <a:t>Capa</a:t>
                      </a:r>
                    </a:p>
                  </a:txBody>
                  <a:tcPr marL="70000" marR="70000" marT="25000" marB="25000" anchor="ctr">
                    <a:solidFill>
                      <a:srgbClr val="0B1F33"/>
                    </a:solidFill>
                  </a:tcPr>
                </a:tc>
                <a:tc>
                  <a:txBody>
                    <a:bodyPr/>
                    <a:lstStyle/>
                    <a:p>
                      <a:r>
                        <a:rPr sz="1050" b="1">
                          <a:solidFill>
                            <a:srgbClr val="FFFFFF"/>
                          </a:solidFill>
                          <a:latin typeface="Segoe UI Semibold"/>
                        </a:rPr>
                        <a:t>Tecnología Microsoft</a:t>
                      </a:r>
                    </a:p>
                  </a:txBody>
                  <a:tcPr marL="70000" marR="70000" marT="25000" marB="25000" anchor="ctr">
                    <a:solidFill>
                      <a:srgbClr val="0B1F33"/>
                    </a:solidFill>
                  </a:tcPr>
                </a:tc>
                <a:tc>
                  <a:txBody>
                    <a:bodyPr/>
                    <a:lstStyle/>
                    <a:p>
                      <a:r>
                        <a:rPr sz="1050" b="1">
                          <a:solidFill>
                            <a:srgbClr val="FFFFFF"/>
                          </a:solidFill>
                          <a:latin typeface="Segoe UI Semibold"/>
                        </a:rPr>
                        <a:t>Qué aporta</a:t>
                      </a:r>
                    </a:p>
                  </a:txBody>
                  <a:tcPr marL="70000" marR="70000" marT="25000" marB="25000" anchor="ctr">
                    <a:solidFill>
                      <a:srgbClr val="0B1F33"/>
                    </a:solidFill>
                  </a:tcPr>
                </a:tc>
                <a:tc>
                  <a:txBody>
                    <a:bodyPr/>
                    <a:lstStyle/>
                    <a:p>
                      <a:r>
                        <a:rPr sz="1050" b="1">
                          <a:solidFill>
                            <a:srgbClr val="FFFFFF"/>
                          </a:solidFill>
                          <a:latin typeface="Segoe UI Semibold"/>
                        </a:rPr>
                        <a:t>Estado</a:t>
                      </a:r>
                    </a:p>
                  </a:txBody>
                  <a:tcPr marL="70000" marR="70000" marT="25000" marB="25000" anchor="ctr">
                    <a:solidFill>
                      <a:srgbClr val="0B1F33"/>
                    </a:solidFill>
                  </a:tcPr>
                </a:tc>
                <a:extLst>
                  <a:ext uri="{0D108BD9-81ED-4DB2-BD59-A6C34878D82A}">
                    <a16:rowId xmlns:a16="http://schemas.microsoft.com/office/drawing/2014/main" val="10000"/>
                  </a:ext>
                </a:extLst>
              </a:tr>
              <a:tr h="440000">
                <a:tc>
                  <a:txBody>
                    <a:bodyPr/>
                    <a:lstStyle/>
                    <a:p>
                      <a:r>
                        <a:rPr sz="1050" b="1">
                          <a:solidFill>
                            <a:srgbClr val="E8743B"/>
                          </a:solidFill>
                          <a:latin typeface="Segoe UI Semibold"/>
                        </a:rPr>
                        <a:t>Identidad</a:t>
                      </a:r>
                    </a:p>
                  </a:txBody>
                  <a:tcPr marL="70000" marR="70000" marT="25000" marB="25000" anchor="ctr">
                    <a:solidFill>
                      <a:srgbClr val="FFFFFF"/>
                    </a:solidFill>
                  </a:tcPr>
                </a:tc>
                <a:tc>
                  <a:txBody>
                    <a:bodyPr/>
                    <a:lstStyle/>
                    <a:p>
                      <a:r>
                        <a:rPr sz="1050" b="0">
                          <a:solidFill>
                            <a:srgbClr val="1B2A3A"/>
                          </a:solidFill>
                          <a:latin typeface="Segoe UI"/>
                        </a:rPr>
                        <a:t>Entra Agent ID · Conditional Access</a:t>
                      </a:r>
                    </a:p>
                  </a:txBody>
                  <a:tcPr marL="70000" marR="70000" marT="25000" marB="25000" anchor="ctr">
                    <a:solidFill>
                      <a:srgbClr val="FFFFFF"/>
                    </a:solidFill>
                  </a:tcPr>
                </a:tc>
                <a:tc>
                  <a:txBody>
                    <a:bodyPr/>
                    <a:lstStyle/>
                    <a:p>
                      <a:r>
                        <a:rPr sz="1050" b="0">
                          <a:solidFill>
                            <a:srgbClr val="1B2A3A"/>
                          </a:solidFill>
                          <a:latin typeface="Segoe UI"/>
                        </a:rPr>
                        <a:t>Identidad por agente, acceso condicional y bloqueo</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extLst>
                  <a:ext uri="{0D108BD9-81ED-4DB2-BD59-A6C34878D82A}">
                    <a16:rowId xmlns:a16="http://schemas.microsoft.com/office/drawing/2014/main" val="10001"/>
                  </a:ext>
                </a:extLst>
              </a:tr>
              <a:tr h="440000">
                <a:tc>
                  <a:txBody>
                    <a:bodyPr/>
                    <a:lstStyle/>
                    <a:p>
                      <a:r>
                        <a:rPr sz="1050" b="1">
                          <a:solidFill>
                            <a:srgbClr val="E8743B"/>
                          </a:solidFill>
                          <a:latin typeface="Segoe UI Semibold"/>
                        </a:rPr>
                        <a:t>Gobierno</a:t>
                      </a:r>
                    </a:p>
                  </a:txBody>
                  <a:tcPr marL="70000" marR="70000" marT="25000" marB="25000" anchor="ctr">
                    <a:solidFill>
                      <a:srgbClr val="F3F5F8"/>
                    </a:solidFill>
                  </a:tcPr>
                </a:tc>
                <a:tc>
                  <a:txBody>
                    <a:bodyPr/>
                    <a:lstStyle/>
                    <a:p>
                      <a:r>
                        <a:rPr sz="1050" b="0" dirty="0">
                          <a:solidFill>
                            <a:srgbClr val="1B2A3A"/>
                          </a:solidFill>
                          <a:latin typeface="Segoe UI"/>
                        </a:rPr>
                        <a:t>Agent 365 · Azure Policy</a:t>
                      </a:r>
                    </a:p>
                  </a:txBody>
                  <a:tcPr marL="70000" marR="70000" marT="25000" marB="25000" anchor="ctr">
                    <a:solidFill>
                      <a:srgbClr val="F3F5F8"/>
                    </a:solidFill>
                  </a:tcPr>
                </a:tc>
                <a:tc>
                  <a:txBody>
                    <a:bodyPr/>
                    <a:lstStyle/>
                    <a:p>
                      <a:r>
                        <a:rPr sz="1050" b="0">
                          <a:solidFill>
                            <a:srgbClr val="1B2A3A"/>
                          </a:solidFill>
                          <a:latin typeface="Segoe UI"/>
                        </a:rPr>
                        <a:t>Inventario y control plane; modelos aprobados (Deny); auditoría, DLP, DSPM</a:t>
                      </a:r>
                    </a:p>
                  </a:txBody>
                  <a:tcPr marL="70000" marR="70000" marT="25000" marB="25000" anchor="ctr">
                    <a:solidFill>
                      <a:srgbClr val="F3F5F8"/>
                    </a:solidFill>
                  </a:tcPr>
                </a:tc>
                <a:tc>
                  <a:txBody>
                    <a:bodyPr/>
                    <a:lstStyle/>
                    <a:p>
                      <a:r>
                        <a:rPr sz="1050" b="0">
                          <a:solidFill>
                            <a:srgbClr val="1B2A3A"/>
                          </a:solidFill>
                          <a:latin typeface="Segoe UI"/>
                        </a:rPr>
                        <a:t>GA (integraciones Preview)</a:t>
                      </a:r>
                    </a:p>
                  </a:txBody>
                  <a:tcPr marL="70000" marR="70000" marT="25000" marB="25000" anchor="ctr">
                    <a:solidFill>
                      <a:srgbClr val="F3F5F8"/>
                    </a:solidFill>
                  </a:tcPr>
                </a:tc>
                <a:extLst>
                  <a:ext uri="{0D108BD9-81ED-4DB2-BD59-A6C34878D82A}">
                    <a16:rowId xmlns:a16="http://schemas.microsoft.com/office/drawing/2014/main" val="10002"/>
                  </a:ext>
                </a:extLst>
              </a:tr>
              <a:tr h="440000">
                <a:tc>
                  <a:txBody>
                    <a:bodyPr/>
                    <a:lstStyle/>
                    <a:p>
                      <a:r>
                        <a:rPr sz="1050" b="1">
                          <a:solidFill>
                            <a:srgbClr val="E8743B"/>
                          </a:solidFill>
                          <a:latin typeface="Segoe UI Semibold"/>
                        </a:rPr>
                        <a:t>Guardrails</a:t>
                      </a:r>
                    </a:p>
                  </a:txBody>
                  <a:tcPr marL="70000" marR="70000" marT="25000" marB="25000" anchor="ctr">
                    <a:solidFill>
                      <a:srgbClr val="FFFFFF"/>
                    </a:solidFill>
                  </a:tcPr>
                </a:tc>
                <a:tc>
                  <a:txBody>
                    <a:bodyPr/>
                    <a:lstStyle/>
                    <a:p>
                      <a:r>
                        <a:rPr sz="1050" b="0">
                          <a:solidFill>
                            <a:srgbClr val="1B2A3A"/>
                          </a:solidFill>
                          <a:latin typeface="Segoe UI"/>
                        </a:rPr>
                        <a:t>Foundry Guardrails · Prompt Shields · Task adherence</a:t>
                      </a:r>
                    </a:p>
                  </a:txBody>
                  <a:tcPr marL="70000" marR="70000" marT="25000" marB="25000" anchor="ctr">
                    <a:solidFill>
                      <a:srgbClr val="FFFFFF"/>
                    </a:solidFill>
                  </a:tcPr>
                </a:tc>
                <a:tc>
                  <a:txBody>
                    <a:bodyPr/>
                    <a:lstStyle/>
                    <a:p>
                      <a:r>
                        <a:rPr sz="1050" b="0">
                          <a:solidFill>
                            <a:srgbClr val="1B2A3A"/>
                          </a:solidFill>
                          <a:latin typeface="Segoe UI"/>
                        </a:rPr>
                        <a:t>4 puntos de intervención: input, tool call, tool response, output</a:t>
                      </a:r>
                    </a:p>
                  </a:txBody>
                  <a:tcPr marL="70000" marR="70000" marT="25000" marB="25000" anchor="ctr">
                    <a:solidFill>
                      <a:srgbClr val="FFFFFF"/>
                    </a:solidFill>
                  </a:tcPr>
                </a:tc>
                <a:tc>
                  <a:txBody>
                    <a:bodyPr/>
                    <a:lstStyle/>
                    <a:p>
                      <a:r>
                        <a:rPr sz="1050" b="0">
                          <a:solidFill>
                            <a:srgbClr val="1B2A3A"/>
                          </a:solidFill>
                          <a:latin typeface="Segoe UI"/>
                        </a:rPr>
                        <a:t>Agentic y task adherence: Preview; Prompt Shields texto: GA</a:t>
                      </a:r>
                    </a:p>
                  </a:txBody>
                  <a:tcPr marL="70000" marR="70000" marT="25000" marB="25000" anchor="ctr">
                    <a:solidFill>
                      <a:srgbClr val="FFFFFF"/>
                    </a:solidFill>
                  </a:tcPr>
                </a:tc>
                <a:extLst>
                  <a:ext uri="{0D108BD9-81ED-4DB2-BD59-A6C34878D82A}">
                    <a16:rowId xmlns:a16="http://schemas.microsoft.com/office/drawing/2014/main" val="10003"/>
                  </a:ext>
                </a:extLst>
              </a:tr>
              <a:tr h="440000">
                <a:tc>
                  <a:txBody>
                    <a:bodyPr/>
                    <a:lstStyle/>
                    <a:p>
                      <a:r>
                        <a:rPr sz="1050" b="1">
                          <a:solidFill>
                            <a:srgbClr val="E8743B"/>
                          </a:solidFill>
                          <a:latin typeface="Segoe UI Semibold"/>
                        </a:rPr>
                        <a:t>Consumo</a:t>
                      </a:r>
                    </a:p>
                  </a:txBody>
                  <a:tcPr marL="70000" marR="70000" marT="25000" marB="25000" anchor="ctr">
                    <a:solidFill>
                      <a:srgbClr val="F3F5F8"/>
                    </a:solidFill>
                  </a:tcPr>
                </a:tc>
                <a:tc>
                  <a:txBody>
                    <a:bodyPr/>
                    <a:lstStyle/>
                    <a:p>
                      <a:r>
                        <a:rPr sz="1050" b="0">
                          <a:solidFill>
                            <a:srgbClr val="1B2A3A"/>
                          </a:solidFill>
                          <a:latin typeface="Segoe UI"/>
                        </a:rPr>
                        <a:t>AI Gateway (APIM)</a:t>
                      </a:r>
                    </a:p>
                  </a:txBody>
                  <a:tcPr marL="70000" marR="70000" marT="25000" marB="25000" anchor="ctr">
                    <a:solidFill>
                      <a:srgbClr val="F3F5F8"/>
                    </a:solidFill>
                  </a:tcPr>
                </a:tc>
                <a:tc>
                  <a:txBody>
                    <a:bodyPr/>
                    <a:lstStyle/>
                    <a:p>
                      <a:r>
                        <a:rPr sz="1050" b="0">
                          <a:solidFill>
                            <a:srgbClr val="1B2A3A"/>
                          </a:solidFill>
                          <a:latin typeface="Segoe UI"/>
                        </a:rPr>
                        <a:t>Cuotas de tokens/TPM por proyecto (no limita iteraciones)</a:t>
                      </a:r>
                    </a:p>
                  </a:txBody>
                  <a:tcPr marL="70000" marR="70000" marT="25000" marB="25000" anchor="ctr">
                    <a:solidFill>
                      <a:srgbClr val="F3F5F8"/>
                    </a:solidFill>
                  </a:tcPr>
                </a:tc>
                <a:tc>
                  <a:txBody>
                    <a:bodyPr/>
                    <a:lstStyle/>
                    <a:p>
                      <a:r>
                        <a:rPr sz="1050" b="0">
                          <a:solidFill>
                            <a:srgbClr val="1B2A3A"/>
                          </a:solidFill>
                          <a:latin typeface="Segoe UI"/>
                        </a:rPr>
                        <a:t>Preview en Foundry</a:t>
                      </a:r>
                    </a:p>
                  </a:txBody>
                  <a:tcPr marL="70000" marR="70000" marT="25000" marB="25000" anchor="ctr">
                    <a:solidFill>
                      <a:srgbClr val="F3F5F8"/>
                    </a:solidFill>
                  </a:tcPr>
                </a:tc>
                <a:extLst>
                  <a:ext uri="{0D108BD9-81ED-4DB2-BD59-A6C34878D82A}">
                    <a16:rowId xmlns:a16="http://schemas.microsoft.com/office/drawing/2014/main" val="10004"/>
                  </a:ext>
                </a:extLst>
              </a:tr>
              <a:tr h="440000">
                <a:tc>
                  <a:txBody>
                    <a:bodyPr/>
                    <a:lstStyle/>
                    <a:p>
                      <a:r>
                        <a:rPr sz="1050" b="1">
                          <a:solidFill>
                            <a:srgbClr val="E8743B"/>
                          </a:solidFill>
                          <a:latin typeface="Segoe UI Semibold"/>
                        </a:rPr>
                        <a:t>Aislamiento</a:t>
                      </a:r>
                    </a:p>
                  </a:txBody>
                  <a:tcPr marL="70000" marR="70000" marT="25000" marB="25000" anchor="ctr">
                    <a:solidFill>
                      <a:srgbClr val="FFFFFF"/>
                    </a:solidFill>
                  </a:tcPr>
                </a:tc>
                <a:tc>
                  <a:txBody>
                    <a:bodyPr/>
                    <a:lstStyle/>
                    <a:p>
                      <a:r>
                        <a:rPr sz="1050" b="0">
                          <a:solidFill>
                            <a:srgbClr val="1B2A3A"/>
                          </a:solidFill>
                          <a:latin typeface="Segoe UI"/>
                        </a:rPr>
                        <a:t>Hosted Agents · Private Link · BYO VNet</a:t>
                      </a:r>
                    </a:p>
                  </a:txBody>
                  <a:tcPr marL="70000" marR="70000" marT="25000" marB="25000" anchor="ctr">
                    <a:solidFill>
                      <a:srgbClr val="FFFFFF"/>
                    </a:solidFill>
                  </a:tcPr>
                </a:tc>
                <a:tc>
                  <a:txBody>
                    <a:bodyPr/>
                    <a:lstStyle/>
                    <a:p>
                      <a:r>
                        <a:rPr sz="1050" b="0">
                          <a:solidFill>
                            <a:srgbClr val="1B2A3A"/>
                          </a:solidFill>
                          <a:latin typeface="Segoe UI"/>
                        </a:rPr>
                        <a:t>Sandbox por sesión; entrada privada y salida controlada</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extLst>
                  <a:ext uri="{0D108BD9-81ED-4DB2-BD59-A6C34878D82A}">
                    <a16:rowId xmlns:a16="http://schemas.microsoft.com/office/drawing/2014/main" val="10005"/>
                  </a:ext>
                </a:extLst>
              </a:tr>
              <a:tr h="440000">
                <a:tc>
                  <a:txBody>
                    <a:bodyPr/>
                    <a:lstStyle/>
                    <a:p>
                      <a:r>
                        <a:rPr sz="1050" b="1">
                          <a:solidFill>
                            <a:srgbClr val="E8743B"/>
                          </a:solidFill>
                          <a:latin typeface="Segoe UI Semibold"/>
                        </a:rPr>
                        <a:t>Monitoreo</a:t>
                      </a:r>
                    </a:p>
                  </a:txBody>
                  <a:tcPr marL="70000" marR="70000" marT="25000" marB="25000" anchor="ctr">
                    <a:solidFill>
                      <a:srgbClr val="F3F5F8"/>
                    </a:solidFill>
                  </a:tcPr>
                </a:tc>
                <a:tc>
                  <a:txBody>
                    <a:bodyPr/>
                    <a:lstStyle/>
                    <a:p>
                      <a:r>
                        <a:rPr sz="1050" b="0">
                          <a:solidFill>
                            <a:srgbClr val="1B2A3A"/>
                          </a:solidFill>
                          <a:latin typeface="Segoe UI"/>
                        </a:rPr>
                        <a:t>OpenTelemetry + App Insights · Evaluaciones · AI Red Teaming</a:t>
                      </a:r>
                    </a:p>
                  </a:txBody>
                  <a:tcPr marL="70000" marR="70000" marT="25000" marB="25000" anchor="ctr">
                    <a:solidFill>
                      <a:srgbClr val="F3F5F8"/>
                    </a:solidFill>
                  </a:tcPr>
                </a:tc>
                <a:tc>
                  <a:txBody>
                    <a:bodyPr/>
                    <a:lstStyle/>
                    <a:p>
                      <a:r>
                        <a:rPr sz="1050" b="0">
                          <a:solidFill>
                            <a:srgbClr val="1B2A3A"/>
                          </a:solidFill>
                          <a:latin typeface="Segoe UI"/>
                        </a:rPr>
                        <a:t>Trazas, dashboard, evaluación continua y pruebas con PyRIT</a:t>
                      </a:r>
                    </a:p>
                  </a:txBody>
                  <a:tcPr marL="70000" marR="70000" marT="25000" marB="25000" anchor="ctr">
                    <a:solidFill>
                      <a:srgbClr val="F3F5F8"/>
                    </a:solidFill>
                  </a:tcPr>
                </a:tc>
                <a:tc>
                  <a:txBody>
                    <a:bodyPr/>
                    <a:lstStyle/>
                    <a:p>
                      <a:r>
                        <a:rPr sz="1050" b="0">
                          <a:solidFill>
                            <a:srgbClr val="1B2A3A"/>
                          </a:solidFill>
                          <a:latin typeface="Segoe UI"/>
                        </a:rPr>
                        <a:t>Tracing GA; resto Preview</a:t>
                      </a:r>
                    </a:p>
                  </a:txBody>
                  <a:tcPr marL="70000" marR="70000" marT="25000" marB="25000" anchor="ctr">
                    <a:solidFill>
                      <a:srgbClr val="F3F5F8"/>
                    </a:solidFill>
                  </a:tcPr>
                </a:tc>
                <a:extLst>
                  <a:ext uri="{0D108BD9-81ED-4DB2-BD59-A6C34878D82A}">
                    <a16:rowId xmlns:a16="http://schemas.microsoft.com/office/drawing/2014/main" val="10006"/>
                  </a:ext>
                </a:extLst>
              </a:tr>
              <a:tr h="440000">
                <a:tc>
                  <a:txBody>
                    <a:bodyPr/>
                    <a:lstStyle/>
                    <a:p>
                      <a:r>
                        <a:rPr sz="1050" b="1">
                          <a:solidFill>
                            <a:srgbClr val="E8743B"/>
                          </a:solidFill>
                          <a:latin typeface="Segoe UI Semibold"/>
                        </a:rPr>
                        <a:t>Detección</a:t>
                      </a:r>
                    </a:p>
                  </a:txBody>
                  <a:tcPr marL="70000" marR="70000" marT="25000" marB="25000" anchor="ctr">
                    <a:solidFill>
                      <a:srgbClr val="FFFFFF"/>
                    </a:solidFill>
                  </a:tcPr>
                </a:tc>
                <a:tc>
                  <a:txBody>
                    <a:bodyPr/>
                    <a:lstStyle/>
                    <a:p>
                      <a:r>
                        <a:rPr sz="1050" b="0">
                          <a:solidFill>
                            <a:srgbClr val="1B2A3A"/>
                          </a:solidFill>
                          <a:latin typeface="Segoe UI"/>
                        </a:rPr>
                        <a:t>Defender for Cloud (AI threat protection, AI-SPM)</a:t>
                      </a:r>
                    </a:p>
                  </a:txBody>
                  <a:tcPr marL="70000" marR="70000" marT="25000" marB="25000" anchor="ctr">
                    <a:solidFill>
                      <a:srgbClr val="FFFFFF"/>
                    </a:solidFill>
                  </a:tcPr>
                </a:tc>
                <a:tc>
                  <a:txBody>
                    <a:bodyPr/>
                    <a:lstStyle/>
                    <a:p>
                      <a:r>
                        <a:rPr sz="1050" b="0">
                          <a:solidFill>
                            <a:srgbClr val="1B2A3A"/>
                          </a:solidFill>
                          <a:latin typeface="Segoe UI"/>
                        </a:rPr>
                        <a:t>Alertas y postura de seguridad de IA</a:t>
                      </a:r>
                    </a:p>
                  </a:txBody>
                  <a:tcPr marL="70000" marR="70000" marT="25000" marB="25000" anchor="ctr">
                    <a:solidFill>
                      <a:srgbClr val="FFFFFF"/>
                    </a:solidFill>
                  </a:tcPr>
                </a:tc>
                <a:tc>
                  <a:txBody>
                    <a:bodyPr/>
                    <a:lstStyle/>
                    <a:p>
                      <a:r>
                        <a:rPr sz="1050" b="0">
                          <a:solidFill>
                            <a:srgbClr val="1B2A3A"/>
                          </a:solidFill>
                          <a:latin typeface="Segoe UI"/>
                        </a:rPr>
                        <a:t>Modelos GA; agentes Preview</a:t>
                      </a:r>
                    </a:p>
                  </a:txBody>
                  <a:tcPr marL="70000" marR="70000" marT="25000" marB="25000" anchor="ctr">
                    <a:solidFill>
                      <a:srgbClr val="FFFFFF"/>
                    </a:solidFill>
                  </a:tcPr>
                </a:tc>
                <a:extLst>
                  <a:ext uri="{0D108BD9-81ED-4DB2-BD59-A6C34878D82A}">
                    <a16:rowId xmlns:a16="http://schemas.microsoft.com/office/drawing/2014/main" val="10007"/>
                  </a:ext>
                </a:extLst>
              </a:tr>
              <a:tr h="440000">
                <a:tc>
                  <a:txBody>
                    <a:bodyPr/>
                    <a:lstStyle/>
                    <a:p>
                      <a:r>
                        <a:rPr sz="1050" b="1">
                          <a:solidFill>
                            <a:srgbClr val="E8743B"/>
                          </a:solidFill>
                          <a:latin typeface="Segoe UI Semibold"/>
                        </a:rPr>
                        <a:t>Contención</a:t>
                      </a:r>
                    </a:p>
                  </a:txBody>
                  <a:tcPr marL="70000" marR="70000" marT="25000" marB="25000" anchor="ctr">
                    <a:solidFill>
                      <a:srgbClr val="F3F5F8"/>
                    </a:solidFill>
                  </a:tcPr>
                </a:tc>
                <a:tc>
                  <a:txBody>
                    <a:bodyPr/>
                    <a:lstStyle/>
                    <a:p>
                      <a:r>
                        <a:rPr sz="1050" b="0">
                          <a:solidFill>
                            <a:srgbClr val="1B2A3A"/>
                          </a:solidFill>
                          <a:latin typeface="Segoe UI"/>
                        </a:rPr>
                        <a:t>Deshabilitar endpoint · bloquear identidad · fijar versión</a:t>
                      </a:r>
                    </a:p>
                  </a:txBody>
                  <a:tcPr marL="70000" marR="70000" marT="25000" marB="25000" anchor="ctr">
                    <a:solidFill>
                      <a:srgbClr val="F3F5F8"/>
                    </a:solidFill>
                  </a:tcPr>
                </a:tc>
                <a:tc>
                  <a:txBody>
                    <a:bodyPr/>
                    <a:lstStyle/>
                    <a:p>
                      <a:r>
                        <a:rPr sz="1050" b="0">
                          <a:solidFill>
                            <a:srgbClr val="1B2A3A"/>
                          </a:solidFill>
                          <a:latin typeface="Segoe UI"/>
                        </a:rPr>
                        <a:t>Detener nuevas solicitudes, revocar acceso y hacer rollback</a:t>
                      </a:r>
                    </a:p>
                  </a:txBody>
                  <a:tcPr marL="70000" marR="70000" marT="25000" marB="25000" anchor="ctr">
                    <a:solidFill>
                      <a:srgbClr val="F3F5F8"/>
                    </a:solidFill>
                  </a:tcPr>
                </a:tc>
                <a:tc>
                  <a:txBody>
                    <a:bodyPr/>
                    <a:lstStyle/>
                    <a:p>
                      <a:r>
                        <a:rPr sz="1050" b="0" dirty="0" err="1">
                          <a:solidFill>
                            <a:srgbClr val="1B2A3A"/>
                          </a:solidFill>
                          <a:latin typeface="Segoe UI"/>
                        </a:rPr>
                        <a:t>Capacidades</a:t>
                      </a:r>
                      <a:r>
                        <a:rPr sz="1050" b="0" dirty="0">
                          <a:solidFill>
                            <a:srgbClr val="1B2A3A"/>
                          </a:solidFill>
                          <a:latin typeface="Segoe UI"/>
                        </a:rPr>
                        <a:t> de </a:t>
                      </a:r>
                      <a:r>
                        <a:rPr sz="1050" b="0" dirty="0" err="1">
                          <a:solidFill>
                            <a:srgbClr val="1B2A3A"/>
                          </a:solidFill>
                          <a:latin typeface="Segoe UI"/>
                        </a:rPr>
                        <a:t>plataforma</a:t>
                      </a:r>
                      <a:endParaRPr sz="1050" b="0" dirty="0">
                        <a:solidFill>
                          <a:srgbClr val="1B2A3A"/>
                        </a:solidFill>
                        <a:latin typeface="Segoe UI"/>
                      </a:endParaRPr>
                    </a:p>
                  </a:txBody>
                  <a:tcPr marL="70000" marR="70000" marT="25000" marB="25000" anchor="ctr">
                    <a:solidFill>
                      <a:srgbClr val="F3F5F8"/>
                    </a:solidFill>
                  </a:tcPr>
                </a:tc>
                <a:extLst>
                  <a:ext uri="{0D108BD9-81ED-4DB2-BD59-A6C34878D82A}">
                    <a16:rowId xmlns:a16="http://schemas.microsoft.com/office/drawing/2014/main" val="10008"/>
                  </a:ext>
                </a:extLst>
              </a:tr>
            </a:tbl>
          </a:graphicData>
        </a:graphic>
      </p:graphicFrame>
      <p:sp>
        <p:nvSpPr>
          <p:cNvPr id="8" name="Text 6"/>
          <p:cNvSpPr/>
          <p:nvPr/>
        </p:nvSpPr>
        <p:spPr>
          <a:xfrm>
            <a:off x="548640" y="5700000"/>
            <a:ext cx="11094415" cy="45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Estados verificados contra documentación oficial (oct-2026); GA/Preview puede cambiar. Un guardrail “active” no prueba protección: validar con pruebas de bloqueo.</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Operar agentes: monitoreo, respuesta y contención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0B1F33"/>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Observar</a:t>
            </a:r>
            <a:r>
              <a:rPr sz="1450" b="1" dirty="0">
                <a:solidFill>
                  <a:srgbClr val="0B1F33"/>
                </a:solidFill>
                <a:latin typeface="Segoe UI Semibold"/>
              </a:rPr>
              <a:t> y </a:t>
            </a:r>
            <a:r>
              <a:rPr sz="1450" b="1" dirty="0" err="1">
                <a:solidFill>
                  <a:srgbClr val="0B1F33"/>
                </a:solidFill>
                <a:latin typeface="Segoe UI Semibold"/>
              </a:rPr>
              <a:t>auditar</a:t>
            </a:r>
            <a:endParaRPr lang="en-US" sz="2000" dirty="0"/>
          </a:p>
          <a:p>
            <a:pPr marL="0" indent="0">
              <a:spcAft>
                <a:spcPts val="500"/>
              </a:spcAft>
              <a:buNone/>
            </a:pPr>
            <a:r>
              <a:rPr sz="1500" b="0" dirty="0">
                <a:solidFill>
                  <a:srgbClr val="1B2A3A"/>
                </a:solidFill>
                <a:latin typeface="Segoe UI"/>
              </a:rPr>
              <a:t>• Tracing </a:t>
            </a:r>
            <a:r>
              <a:rPr sz="1500" b="0" dirty="0" err="1">
                <a:solidFill>
                  <a:srgbClr val="1B2A3A"/>
                </a:solidFill>
                <a:latin typeface="Segoe UI"/>
              </a:rPr>
              <a:t>OpenTelemetry</a:t>
            </a:r>
            <a:r>
              <a:rPr sz="1500" b="0" dirty="0">
                <a:solidFill>
                  <a:srgbClr val="1B2A3A"/>
                </a:solidFill>
                <a:latin typeface="Segoe UI"/>
              </a:rPr>
              <a:t>: GA </a:t>
            </a:r>
            <a:r>
              <a:rPr sz="1500" b="0" dirty="0" err="1">
                <a:solidFill>
                  <a:srgbClr val="1B2A3A"/>
                </a:solidFill>
                <a:latin typeface="Segoe UI"/>
              </a:rPr>
              <a:t>en</a:t>
            </a:r>
            <a:r>
              <a:rPr sz="1500" b="0" dirty="0">
                <a:solidFill>
                  <a:srgbClr val="1B2A3A"/>
                </a:solidFill>
                <a:latin typeface="Segoe UI"/>
              </a:rPr>
              <a:t> </a:t>
            </a:r>
            <a:r>
              <a:rPr sz="1500" b="0" dirty="0" err="1">
                <a:solidFill>
                  <a:srgbClr val="1B2A3A"/>
                </a:solidFill>
                <a:latin typeface="Segoe UI"/>
              </a:rPr>
              <a:t>agentes</a:t>
            </a:r>
            <a:r>
              <a:rPr sz="1500" b="0" dirty="0">
                <a:solidFill>
                  <a:srgbClr val="1B2A3A"/>
                </a:solidFill>
                <a:latin typeface="Segoe UI"/>
              </a:rPr>
              <a:t> prompt y hosted; Preview </a:t>
            </a:r>
            <a:r>
              <a:rPr sz="1500" b="0" dirty="0" err="1">
                <a:solidFill>
                  <a:srgbClr val="1B2A3A"/>
                </a:solidFill>
                <a:latin typeface="Segoe UI"/>
              </a:rPr>
              <a:t>en</a:t>
            </a:r>
            <a:r>
              <a:rPr sz="1500" b="0" dirty="0">
                <a:solidFill>
                  <a:srgbClr val="1B2A3A"/>
                </a:solidFill>
                <a:latin typeface="Segoe UI"/>
              </a:rPr>
              <a:t> workflow y </a:t>
            </a:r>
            <a:r>
              <a:rPr sz="1500" b="0" dirty="0" err="1">
                <a:solidFill>
                  <a:srgbClr val="1B2A3A"/>
                </a:solidFill>
                <a:latin typeface="Segoe UI"/>
              </a:rPr>
              <a:t>externos</a:t>
            </a:r>
            <a:endParaRPr sz="1500" b="0" dirty="0">
              <a:solidFill>
                <a:srgbClr val="1B2A3A"/>
              </a:solidFill>
              <a:latin typeface="Segoe UI"/>
            </a:endParaRPr>
          </a:p>
          <a:p>
            <a:pPr marL="0" indent="0">
              <a:spcAft>
                <a:spcPts val="500"/>
              </a:spcAft>
              <a:buNone/>
            </a:pPr>
            <a:r>
              <a:rPr sz="1500" b="0" dirty="0">
                <a:solidFill>
                  <a:srgbClr val="1B2A3A"/>
                </a:solidFill>
                <a:latin typeface="Segoe UI"/>
              </a:rPr>
              <a:t>• App Insights Agents y Agent Monitoring Dashboard: Preview</a:t>
            </a:r>
          </a:p>
          <a:p>
            <a:pPr marL="0" indent="0">
              <a:spcAft>
                <a:spcPts val="500"/>
              </a:spcAft>
              <a:buNone/>
            </a:pPr>
            <a:r>
              <a:rPr sz="1500" b="0" dirty="0">
                <a:solidFill>
                  <a:srgbClr val="1B2A3A"/>
                </a:solidFill>
                <a:latin typeface="Segoe UI"/>
              </a:rPr>
              <a:t>• </a:t>
            </a:r>
            <a:r>
              <a:rPr sz="1500" b="0" dirty="0" err="1">
                <a:solidFill>
                  <a:srgbClr val="1B2A3A"/>
                </a:solidFill>
                <a:latin typeface="Segoe UI"/>
              </a:rPr>
              <a:t>Auditoría</a:t>
            </a:r>
            <a:r>
              <a:rPr sz="1500" b="0" dirty="0">
                <a:solidFill>
                  <a:srgbClr val="1B2A3A"/>
                </a:solidFill>
                <a:latin typeface="Segoe UI"/>
              </a:rPr>
              <a:t>: logs de </a:t>
            </a:r>
            <a:r>
              <a:rPr sz="1500" b="0" dirty="0" err="1">
                <a:solidFill>
                  <a:srgbClr val="1B2A3A"/>
                </a:solidFill>
                <a:latin typeface="Segoe UI"/>
              </a:rPr>
              <a:t>diagnóstico</a:t>
            </a:r>
            <a:endParaRPr sz="1500" b="0" dirty="0">
              <a:solidFill>
                <a:srgbClr val="1B2A3A"/>
              </a:solidFill>
              <a:latin typeface="Segoe UI"/>
            </a:endParaRP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E8743B"/>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Probar</a:t>
            </a:r>
            <a:r>
              <a:rPr sz="1450" b="1" dirty="0">
                <a:solidFill>
                  <a:srgbClr val="0B1F33"/>
                </a:solidFill>
                <a:latin typeface="Segoe UI Semibold"/>
              </a:rPr>
              <a:t> y </a:t>
            </a:r>
            <a:r>
              <a:rPr sz="1450" b="1" dirty="0" err="1">
                <a:solidFill>
                  <a:srgbClr val="0B1F33"/>
                </a:solidFill>
                <a:latin typeface="Segoe UI Semibold"/>
              </a:rPr>
              <a:t>detectar</a:t>
            </a:r>
            <a:endParaRPr lang="en-US" sz="2000" dirty="0"/>
          </a:p>
          <a:p>
            <a:pPr marL="0" indent="0">
              <a:spcAft>
                <a:spcPts val="500"/>
              </a:spcAft>
              <a:buNone/>
            </a:pPr>
            <a:r>
              <a:rPr sz="1500" b="0" dirty="0">
                <a:solidFill>
                  <a:srgbClr val="1B2A3A"/>
                </a:solidFill>
                <a:latin typeface="Segoe UI"/>
              </a:rPr>
              <a:t>• </a:t>
            </a:r>
            <a:r>
              <a:rPr sz="1500" b="0" dirty="0" err="1">
                <a:solidFill>
                  <a:srgbClr val="1B2A3A"/>
                </a:solidFill>
                <a:latin typeface="Segoe UI"/>
              </a:rPr>
              <a:t>Evaluación</a:t>
            </a:r>
            <a:r>
              <a:rPr sz="1500" b="0" dirty="0">
                <a:solidFill>
                  <a:srgbClr val="1B2A3A"/>
                </a:solidFill>
                <a:latin typeface="Segoe UI"/>
              </a:rPr>
              <a:t> continua y </a:t>
            </a:r>
            <a:r>
              <a:rPr sz="1500" b="0" dirty="0" err="1">
                <a:solidFill>
                  <a:srgbClr val="1B2A3A"/>
                </a:solidFill>
                <a:latin typeface="Segoe UI"/>
              </a:rPr>
              <a:t>programada</a:t>
            </a:r>
            <a:r>
              <a:rPr sz="1500" b="0" dirty="0">
                <a:solidFill>
                  <a:srgbClr val="1B2A3A"/>
                </a:solidFill>
                <a:latin typeface="Segoe UI"/>
              </a:rPr>
              <a:t> (Preview): </a:t>
            </a:r>
            <a:r>
              <a:rPr sz="1500" b="0" dirty="0" err="1">
                <a:solidFill>
                  <a:srgbClr val="1B2A3A"/>
                </a:solidFill>
                <a:latin typeface="Segoe UI"/>
              </a:rPr>
              <a:t>sobre</a:t>
            </a:r>
            <a:r>
              <a:rPr sz="1500" b="0" dirty="0">
                <a:solidFill>
                  <a:srgbClr val="1B2A3A"/>
                </a:solidFill>
                <a:latin typeface="Segoe UI"/>
              </a:rPr>
              <a:t> </a:t>
            </a:r>
            <a:r>
              <a:rPr sz="1500" b="0" dirty="0" err="1">
                <a:solidFill>
                  <a:srgbClr val="1B2A3A"/>
                </a:solidFill>
                <a:latin typeface="Segoe UI"/>
              </a:rPr>
              <a:t>tráfico</a:t>
            </a:r>
            <a:r>
              <a:rPr sz="1500" b="0" dirty="0">
                <a:solidFill>
                  <a:srgbClr val="1B2A3A"/>
                </a:solidFill>
                <a:latin typeface="Segoe UI"/>
              </a:rPr>
              <a:t> </a:t>
            </a:r>
            <a:r>
              <a:rPr sz="1500" b="0" dirty="0" err="1">
                <a:solidFill>
                  <a:srgbClr val="1B2A3A"/>
                </a:solidFill>
                <a:latin typeface="Segoe UI"/>
              </a:rPr>
              <a:t>muestreado</a:t>
            </a:r>
            <a:r>
              <a:rPr sz="1500" b="0" dirty="0">
                <a:solidFill>
                  <a:srgbClr val="1B2A3A"/>
                </a:solidFill>
                <a:latin typeface="Segoe UI"/>
              </a:rPr>
              <a:t>, no </a:t>
            </a:r>
            <a:r>
              <a:rPr sz="1500" b="0" dirty="0" err="1">
                <a:solidFill>
                  <a:srgbClr val="1B2A3A"/>
                </a:solidFill>
                <a:latin typeface="Segoe UI"/>
              </a:rPr>
              <a:t>todas</a:t>
            </a:r>
            <a:r>
              <a:rPr sz="1500" b="0" dirty="0">
                <a:solidFill>
                  <a:srgbClr val="1B2A3A"/>
                </a:solidFill>
                <a:latin typeface="Segoe UI"/>
              </a:rPr>
              <a:t> las </a:t>
            </a:r>
            <a:r>
              <a:rPr sz="1500" b="0" dirty="0" err="1">
                <a:solidFill>
                  <a:srgbClr val="1B2A3A"/>
                </a:solidFill>
                <a:latin typeface="Segoe UI"/>
              </a:rPr>
              <a:t>interacciones</a:t>
            </a:r>
            <a:endParaRPr sz="1500" b="0" dirty="0">
              <a:solidFill>
                <a:srgbClr val="1B2A3A"/>
              </a:solidFill>
              <a:latin typeface="Segoe UI"/>
            </a:endParaRPr>
          </a:p>
          <a:p>
            <a:pPr marL="0" indent="0">
              <a:spcAft>
                <a:spcPts val="500"/>
              </a:spcAft>
              <a:buNone/>
            </a:pPr>
            <a:r>
              <a:rPr sz="1500" b="0" dirty="0">
                <a:solidFill>
                  <a:srgbClr val="1B2A3A"/>
                </a:solidFill>
                <a:latin typeface="Segoe UI"/>
              </a:rPr>
              <a:t>• AI Red Teaming (</a:t>
            </a:r>
            <a:r>
              <a:rPr sz="1500" b="0" dirty="0" err="1">
                <a:solidFill>
                  <a:srgbClr val="1B2A3A"/>
                </a:solidFill>
                <a:latin typeface="Segoe UI"/>
              </a:rPr>
              <a:t>PyRIT</a:t>
            </a:r>
            <a:r>
              <a:rPr sz="1500" b="0" dirty="0">
                <a:solidFill>
                  <a:srgbClr val="1B2A3A"/>
                </a:solidFill>
                <a:latin typeface="Segoe UI"/>
              </a:rPr>
              <a:t>): pre-</a:t>
            </a:r>
            <a:r>
              <a:rPr sz="1500" b="0" dirty="0" err="1">
                <a:solidFill>
                  <a:srgbClr val="1B2A3A"/>
                </a:solidFill>
                <a:latin typeface="Segoe UI"/>
              </a:rPr>
              <a:t>despliegue</a:t>
            </a:r>
            <a:r>
              <a:rPr sz="1500" b="0" dirty="0">
                <a:solidFill>
                  <a:srgbClr val="1B2A3A"/>
                </a:solidFill>
                <a:latin typeface="Segoe UI"/>
              </a:rPr>
              <a:t> y </a:t>
            </a:r>
            <a:r>
              <a:rPr sz="1500" b="0" dirty="0" err="1">
                <a:solidFill>
                  <a:srgbClr val="1B2A3A"/>
                </a:solidFill>
                <a:latin typeface="Segoe UI"/>
              </a:rPr>
              <a:t>programado</a:t>
            </a:r>
            <a:r>
              <a:rPr sz="1500" b="0" dirty="0">
                <a:solidFill>
                  <a:srgbClr val="1B2A3A"/>
                </a:solidFill>
                <a:latin typeface="Segoe UI"/>
              </a:rPr>
              <a:t> (Preview)</a:t>
            </a:r>
          </a:p>
          <a:p>
            <a:pPr marL="0" indent="0">
              <a:spcAft>
                <a:spcPts val="500"/>
              </a:spcAft>
              <a:buNone/>
            </a:pPr>
            <a:r>
              <a:rPr sz="1500" b="0" dirty="0">
                <a:solidFill>
                  <a:srgbClr val="1B2A3A"/>
                </a:solidFill>
                <a:latin typeface="Segoe UI"/>
              </a:rPr>
              <a:t>• Defender: </a:t>
            </a:r>
            <a:r>
              <a:rPr sz="1500" b="0" dirty="0" err="1">
                <a:solidFill>
                  <a:srgbClr val="1B2A3A"/>
                </a:solidFill>
                <a:latin typeface="Segoe UI"/>
              </a:rPr>
              <a:t>modelos</a:t>
            </a:r>
            <a:r>
              <a:rPr sz="1500" b="0" dirty="0">
                <a:solidFill>
                  <a:srgbClr val="1B2A3A"/>
                </a:solidFill>
                <a:latin typeface="Segoe UI"/>
              </a:rPr>
              <a:t> GA; </a:t>
            </a:r>
            <a:r>
              <a:rPr sz="1500" b="0" dirty="0" err="1">
                <a:solidFill>
                  <a:srgbClr val="1B2A3A"/>
                </a:solidFill>
                <a:latin typeface="Segoe UI"/>
              </a:rPr>
              <a:t>agentes</a:t>
            </a:r>
            <a:r>
              <a:rPr sz="1500" b="0" dirty="0">
                <a:solidFill>
                  <a:srgbClr val="1B2A3A"/>
                </a:solidFill>
                <a:latin typeface="Segoe UI"/>
              </a:rPr>
              <a:t> Preview</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E8743B"/>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Runbook de contención</a:t>
            </a:r>
            <a:endParaRPr lang="en-US" sz="2000" dirty="0"/>
          </a:p>
          <a:p>
            <a:pPr marL="0" indent="0">
              <a:spcAft>
                <a:spcPts val="500"/>
              </a:spcAft>
              <a:buNone/>
            </a:pPr>
            <a:r>
              <a:rPr sz="1500" b="0">
                <a:solidFill>
                  <a:srgbClr val="1B2A3A"/>
                </a:solidFill>
                <a:latin typeface="Segoe UI"/>
              </a:rPr>
              <a:t>• 1. Deshabilitar el endpoint del agente</a:t>
            </a:r>
          </a:p>
          <a:p>
            <a:pPr marL="0" indent="0">
              <a:spcAft>
                <a:spcPts val="500"/>
              </a:spcAft>
              <a:buNone/>
            </a:pPr>
            <a:r>
              <a:rPr sz="1500" b="0">
                <a:solidFill>
                  <a:srgbClr val="1B2A3A"/>
                </a:solidFill>
                <a:latin typeface="Segoe UI"/>
              </a:rPr>
              <a:t>• 2. Bloquear identidad/blueprint o Conditional Access</a:t>
            </a:r>
          </a:p>
          <a:p>
            <a:pPr marL="0" indent="0">
              <a:spcAft>
                <a:spcPts val="500"/>
              </a:spcAft>
              <a:buNone/>
            </a:pPr>
            <a:r>
              <a:rPr sz="1500" b="0">
                <a:solidFill>
                  <a:srgbClr val="1B2A3A"/>
                </a:solidFill>
                <a:latin typeface="Segoe UI"/>
              </a:rPr>
              <a:t>• 3. Rollback: fijar versión conocida y verificar con sesión nueva</a:t>
            </a:r>
          </a:p>
          <a:p>
            <a:pPr marL="0" indent="0">
              <a:spcAft>
                <a:spcPts val="500"/>
              </a:spcAft>
              <a:buNone/>
            </a:pPr>
            <a:r>
              <a:rPr sz="1500" b="0">
                <a:solidFill>
                  <a:srgbClr val="1B2A3A"/>
                </a:solidFill>
                <a:latin typeface="Segoe UI"/>
              </a:rPr>
              <a:t>• 4. Compensar efectos externos por separado. No cancela ejecuciones ni tokens ya emitidos</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0B1F33"/>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Prevenir</a:t>
            </a:r>
            <a:r>
              <a:rPr sz="1450" b="1" dirty="0">
                <a:solidFill>
                  <a:srgbClr val="0B1F33"/>
                </a:solidFill>
                <a:latin typeface="Segoe UI Semibold"/>
              </a:rPr>
              <a:t> y </a:t>
            </a:r>
            <a:r>
              <a:rPr sz="1450" b="1" dirty="0" err="1">
                <a:solidFill>
                  <a:srgbClr val="0B1F33"/>
                </a:solidFill>
                <a:latin typeface="Segoe UI Semibold"/>
              </a:rPr>
              <a:t>acotar</a:t>
            </a:r>
            <a:endParaRPr lang="en-US" sz="2000" dirty="0"/>
          </a:p>
          <a:p>
            <a:pPr marL="0" indent="0">
              <a:spcAft>
                <a:spcPts val="500"/>
              </a:spcAft>
              <a:buNone/>
            </a:pPr>
            <a:r>
              <a:rPr sz="1500" b="0" dirty="0">
                <a:solidFill>
                  <a:srgbClr val="1B2A3A"/>
                </a:solidFill>
                <a:latin typeface="Segoe UI"/>
              </a:rPr>
              <a:t>• TPM/</a:t>
            </a:r>
            <a:r>
              <a:rPr sz="1500" b="0" dirty="0" err="1">
                <a:solidFill>
                  <a:srgbClr val="1B2A3A"/>
                </a:solidFill>
                <a:latin typeface="Segoe UI"/>
              </a:rPr>
              <a:t>cuotas</a:t>
            </a:r>
            <a:r>
              <a:rPr sz="1500" b="0" dirty="0">
                <a:solidFill>
                  <a:srgbClr val="1B2A3A"/>
                </a:solidFill>
                <a:latin typeface="Segoe UI"/>
              </a:rPr>
              <a:t> (AI Gateway) </a:t>
            </a:r>
            <a:r>
              <a:rPr sz="1500" b="0" dirty="0" err="1">
                <a:solidFill>
                  <a:srgbClr val="1B2A3A"/>
                </a:solidFill>
                <a:latin typeface="Segoe UI"/>
              </a:rPr>
              <a:t>limitan</a:t>
            </a:r>
            <a:r>
              <a:rPr sz="1500" b="0" dirty="0">
                <a:solidFill>
                  <a:srgbClr val="1B2A3A"/>
                </a:solidFill>
                <a:latin typeface="Segoe UI"/>
              </a:rPr>
              <a:t> </a:t>
            </a:r>
            <a:r>
              <a:rPr sz="1500" b="0" dirty="0" err="1">
                <a:solidFill>
                  <a:srgbClr val="1B2A3A"/>
                </a:solidFill>
                <a:latin typeface="Segoe UI"/>
              </a:rPr>
              <a:t>consumo</a:t>
            </a:r>
            <a:r>
              <a:rPr sz="1500" b="0" dirty="0">
                <a:solidFill>
                  <a:srgbClr val="1B2A3A"/>
                </a:solidFill>
                <a:latin typeface="Segoe UI"/>
              </a:rPr>
              <a:t>, no </a:t>
            </a:r>
            <a:r>
              <a:rPr sz="1500" b="0" dirty="0" err="1">
                <a:solidFill>
                  <a:srgbClr val="1B2A3A"/>
                </a:solidFill>
                <a:latin typeface="Segoe UI"/>
              </a:rPr>
              <a:t>iteraciones</a:t>
            </a:r>
            <a:r>
              <a:rPr sz="1500" b="0" dirty="0">
                <a:solidFill>
                  <a:srgbClr val="1B2A3A"/>
                </a:solidFill>
                <a:latin typeface="Segoe UI"/>
              </a:rPr>
              <a:t>; </a:t>
            </a:r>
            <a:r>
              <a:rPr sz="1500" b="0" dirty="0" err="1">
                <a:solidFill>
                  <a:srgbClr val="1B2A3A"/>
                </a:solidFill>
                <a:latin typeface="Segoe UI"/>
              </a:rPr>
              <a:t>acotar</a:t>
            </a:r>
            <a:r>
              <a:rPr sz="1500" b="0" dirty="0">
                <a:solidFill>
                  <a:srgbClr val="1B2A3A"/>
                </a:solidFill>
                <a:latin typeface="Segoe UI"/>
              </a:rPr>
              <a:t> </a:t>
            </a:r>
            <a:r>
              <a:rPr sz="1500" b="0" dirty="0" err="1">
                <a:solidFill>
                  <a:srgbClr val="1B2A3A"/>
                </a:solidFill>
                <a:latin typeface="Segoe UI"/>
              </a:rPr>
              <a:t>bucles</a:t>
            </a:r>
            <a:r>
              <a:rPr sz="1500" b="0" dirty="0">
                <a:solidFill>
                  <a:srgbClr val="1B2A3A"/>
                </a:solidFill>
                <a:latin typeface="Segoe UI"/>
              </a:rPr>
              <a:t> </a:t>
            </a:r>
            <a:r>
              <a:rPr sz="1500" b="0" dirty="0" err="1">
                <a:solidFill>
                  <a:srgbClr val="1B2A3A"/>
                </a:solidFill>
                <a:latin typeface="Segoe UI"/>
              </a:rPr>
              <a:t>en</a:t>
            </a:r>
            <a:r>
              <a:rPr sz="1500" b="0" dirty="0">
                <a:solidFill>
                  <a:srgbClr val="1B2A3A"/>
                </a:solidFill>
                <a:latin typeface="Segoe UI"/>
              </a:rPr>
              <a:t> el framework</a:t>
            </a:r>
          </a:p>
          <a:p>
            <a:pPr marL="0" indent="0">
              <a:spcAft>
                <a:spcPts val="500"/>
              </a:spcAft>
              <a:buNone/>
            </a:pPr>
            <a:r>
              <a:rPr sz="1500" b="0" dirty="0">
                <a:solidFill>
                  <a:srgbClr val="1B2A3A"/>
                </a:solidFill>
                <a:latin typeface="Segoe UI"/>
              </a:rPr>
              <a:t>• MCP: </a:t>
            </a:r>
            <a:r>
              <a:rPr sz="1500" b="0" dirty="0" err="1">
                <a:solidFill>
                  <a:srgbClr val="1B2A3A"/>
                </a:solidFill>
                <a:latin typeface="Segoe UI"/>
              </a:rPr>
              <a:t>require_approval</a:t>
            </a:r>
            <a:r>
              <a:rPr sz="1500" b="0" dirty="0">
                <a:solidFill>
                  <a:srgbClr val="1B2A3A"/>
                </a:solidFill>
                <a:latin typeface="Segoe UI"/>
              </a:rPr>
              <a:t>="always" </a:t>
            </a:r>
            <a:r>
              <a:rPr sz="1500" b="0" dirty="0" err="1">
                <a:solidFill>
                  <a:srgbClr val="1B2A3A"/>
                </a:solidFill>
                <a:latin typeface="Segoe UI"/>
              </a:rPr>
              <a:t>por</a:t>
            </a:r>
            <a:r>
              <a:rPr sz="1500" b="0" dirty="0">
                <a:solidFill>
                  <a:srgbClr val="1B2A3A"/>
                </a:solidFill>
                <a:latin typeface="Segoe UI"/>
              </a:rPr>
              <a:t> </a:t>
            </a:r>
            <a:r>
              <a:rPr sz="1500" b="0" dirty="0" err="1">
                <a:solidFill>
                  <a:srgbClr val="1B2A3A"/>
                </a:solidFill>
                <a:latin typeface="Segoe UI"/>
              </a:rPr>
              <a:t>defecto</a:t>
            </a:r>
            <a:endParaRPr sz="1500" b="0" dirty="0">
              <a:solidFill>
                <a:srgbClr val="1B2A3A"/>
              </a:solidFill>
              <a:latin typeface="Segoe UI"/>
            </a:endParaRPr>
          </a:p>
          <a:p>
            <a:pPr marL="0" indent="0">
              <a:spcAft>
                <a:spcPts val="500"/>
              </a:spcAft>
              <a:buNone/>
            </a:pPr>
            <a:r>
              <a:rPr sz="1500" b="0" dirty="0">
                <a:solidFill>
                  <a:srgbClr val="1B2A3A"/>
                </a:solidFill>
                <a:latin typeface="Segoe UI"/>
              </a:rPr>
              <a:t>• Guardrail “active” </a:t>
            </a:r>
            <a:r>
              <a:rPr sz="1500" b="0" dirty="0" err="1">
                <a:solidFill>
                  <a:srgbClr val="1B2A3A"/>
                </a:solidFill>
                <a:latin typeface="Segoe UI"/>
              </a:rPr>
              <a:t>puede</a:t>
            </a:r>
            <a:r>
              <a:rPr sz="1500" b="0" dirty="0">
                <a:solidFill>
                  <a:srgbClr val="1B2A3A"/>
                </a:solidFill>
                <a:latin typeface="Segoe UI"/>
              </a:rPr>
              <a:t> </a:t>
            </a:r>
            <a:r>
              <a:rPr sz="1500" b="0" dirty="0" err="1">
                <a:solidFill>
                  <a:srgbClr val="1B2A3A"/>
                </a:solidFill>
                <a:latin typeface="Segoe UI"/>
              </a:rPr>
              <a:t>fallar</a:t>
            </a:r>
            <a:r>
              <a:rPr sz="1500" b="0" dirty="0">
                <a:solidFill>
                  <a:srgbClr val="1B2A3A"/>
                </a:solidFill>
                <a:latin typeface="Segoe UI"/>
              </a:rPr>
              <a:t> </a:t>
            </a:r>
            <a:r>
              <a:rPr sz="1500" b="0" dirty="0" err="1">
                <a:solidFill>
                  <a:srgbClr val="1B2A3A"/>
                </a:solidFill>
                <a:latin typeface="Segoe UI"/>
              </a:rPr>
              <a:t>abierto</a:t>
            </a:r>
            <a:r>
              <a:rPr sz="1500" b="0" dirty="0">
                <a:solidFill>
                  <a:srgbClr val="1B2A3A"/>
                </a:solidFill>
                <a:latin typeface="Segoe UI"/>
              </a:rPr>
              <a:t>: </a:t>
            </a:r>
            <a:r>
              <a:rPr sz="1500" b="0" dirty="0" err="1">
                <a:solidFill>
                  <a:srgbClr val="1B2A3A"/>
                </a:solidFill>
                <a:latin typeface="Segoe UI"/>
              </a:rPr>
              <a:t>probar</a:t>
            </a:r>
            <a:r>
              <a:rPr sz="1500" b="0" dirty="0">
                <a:solidFill>
                  <a:srgbClr val="1B2A3A"/>
                </a:solidFill>
                <a:latin typeface="Segoe UI"/>
              </a:rPr>
              <a:t> </a:t>
            </a:r>
            <a:r>
              <a:rPr sz="1500" b="0" dirty="0" err="1">
                <a:solidFill>
                  <a:srgbClr val="1B2A3A"/>
                </a:solidFill>
                <a:latin typeface="Segoe UI"/>
              </a:rPr>
              <a:t>bloqueos</a:t>
            </a:r>
            <a:endParaRPr sz="1500" b="0" dirty="0">
              <a:solidFill>
                <a:srgbClr val="1B2A3A"/>
              </a:solidFill>
              <a:latin typeface="Segoe UI"/>
            </a:endParaRPr>
          </a:p>
        </p:txBody>
      </p:sp>
      <p:sp>
        <p:nvSpPr>
          <p:cNvPr id="1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SLOs: 95% de éxito y 10 s son referencias del dashboard, no compromisos oficiales. Definir los propios y revisarlos con evaluaciones.</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48</TotalTime>
  <Words>16693</Words>
  <Application>Microsoft Office PowerPoint</Application>
  <PresentationFormat>Widescreen</PresentationFormat>
  <Paragraphs>1161</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Aptos</vt: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Valentina Grajales Olarte</cp:lastModifiedBy>
  <cp:revision>11</cp:revision>
  <dcterms:created xsi:type="dcterms:W3CDTF">2026-10-22T21:50:11Z</dcterms:created>
  <dcterms:modified xsi:type="dcterms:W3CDTF">2026-10-23T11:37:33Z</dcterms:modified>
</cp:coreProperties>
</file>