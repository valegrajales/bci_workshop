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308" r:id="rId39"/>
    <p:sldId id="309" r:id="rId40"/>
    <p:sldId id="310" r:id="rId41"/>
    <p:sldId id="311" r:id="rId42"/>
    <p:sldId id="31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3" d="100"/>
          <a:sy n="123" d="100"/>
        </p:scale>
        <p:origin x="81" y="23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3030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al tercer y último día del training. Hoy pasamos de construir agentes a operarlos como plataforma empresarial: arrancamos con observabilidad y ciclo de vida usando el proyecto de ayer, seguimos con protocolos de interoperabilidad y patrones multiagente, arquitectura empresarial, y seguridad y gobierno, cerrando con un workshop aplicado a un caso propio. La audiencia de hoy es más técnica y transversal: arquitectos, ingenieros de plataforma, seguridad, SRE/DevOps, gobierno e IA. El objetivo final es dejar una arquitectura objetivo validada y un backlog priorizado de decisiones y pruebas. Recordar que el contenido de hoy asume ya experiencia previa con agentes hospedados, APIM, MCP y evaluaciones vista en los días anteriores. Sugerido: Pablo y Valentina. Fuente: 00-agenda-y-contexto/MATERIALS_INDEX.md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Recorremos la agenda completa de 240 minutos. Abrimos con observabilidad y ciclo de vida, que retoma el proyecto del laboratorio de ayer; luego protocolos e interoperabilidad, arquitectura empresarial, una pausa y seguridad y gobierno. Cerramos con un workshop aplicado de 65 minutos y un cierre ejecutivo que conecta con los tres días. Pedimos a los arquitectos y responsables de seguridad que anoten preguntas específicas de su contexto para resolverlas en el workshop, y a todos que tengan abierta la carpeta del laboratorio de ayer para el ejercicio de las 09:00. El ritmo es denso: cada módulo combina exposición corta con decisiones de arquitectura concretas, no solo teoría. Sugerido: Pablo y Valentina. Fuente: 00-agenda-y-contexto/MATERIALS_INDEX.md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Retomamos brevemente lo cubierto en los dos días anteriores sin repetir contenido: fundamentos de Foundry y agentes el primer día, desarrollo, integración, RAG y primeras evaluaciones el segundo. El hilo conductor de hoy es explícito: pasar de 'un agente que funciona en una demo' a 'una plataforma de agentes operable, segura y gobernada a escala'. Esto ayuda a la audiencia de arquitectos y seguridad a entender por qué el foco de hoy es arquitectura, identidad, protocolos, riesgos y operación, y no nuevamente construcción de agentes. Vale la pena preguntar a la sala qué decisión de arquitectura quedó pendiente de los días anteriores. Sugerido: Pablo y Valentina. Fuente: 00-agenda-y-contexto/MATERIALS_INDEX.md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cinco objetivos de aprendizaje del día, alineados a los módulos de la agenda. El método no es solo exposición: cada bloque termina con una decisión de arquitectura o un control de seguridad que el grupo debe poder argumentar. El cierre del día es un workshop de decisiones de arquitectura sobre un caso bancario ficticio, seguido de un cierre ejecutivo que conecta con los tres días del training. Es un buen momento para preguntar a la audiencia qué rol cumple cada persona en su organización (arquitecto, seguridad, SRE, gobierno) para adaptar ejemplos durante el día. Sugerido: Pablo y Valentina. Fuente: 00-agenda-y-contexto/MATERIALS_INDEX.md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Abrimos el día con observabilidad, que retoma el trabajo de ayer: cubrimos cómo saber qué hizo realmente el agente, cómo depurar una falla y cómo usar evaluaciones para decidir con datos si responde bien, y cerramos con el ejercicio práctico que antes era la Tarea 4 del laboratorio pro-code del día 2. Cada participante retoma su propio proyecto de ayer (mismo entorno, mismo agente, mismo índice) para diagnosticar un caso fallido real con su propia traza. Son 30 minutos: unos 10-12 de teoría y el resto de ejercicio. Sugerido: preguntar cómo depuran hoy un agente cuando algo sale mal, si usan logs sueltos o alguna herramienta de tracing, para calibrar cuánto detalle dar sobre OpenTelemetry. Sugerido: Valentina. Fuente: MATERIALS_INDEX.md (§3 Día 3, módulo 1), laboratorios/dia2-lab-procode/README.md (Apéndice).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Tracing en Foundry está construido sobre OpenTelemetry y las convenciones semánticas de GenAI, un estándar que también adoptan Agent Framework, LangChain, LangGraph y el SDK de OpenAI Agents, lo que facilita correlacionar trazas entre distintos componentes. Cada ejecución genera spans anidados: invoke_agent envuelve toda la corrida, execute_tool registra cada llamada a una tool con sus argumentos y resultado, y hay spans específicos para workflows y memoria. Todo esto se exporta por OTLP y normalmente se almacena en Application Insights. Sugerido: mostrar en el portal de Foundry una traza real y señalar los distintos niveles de spans. Fuente: docs-oficiales/foundry/observability/concepts/trace-agent-concept.md, docs-oficiales/foundry/agents/how-to/configure-hosted-agent-telemetry.md.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traza es una herramienta de diagnóstico, pero también un dato sensible: si una tool recibe un número de cuenta o un dato personal como argumento, ese valor puede terminar en el span si no se redacta antes. La recomendación es tratar la telemetría con los mismos controles de acceso que cualquier log de producción, nunca como un espacio 'libre' para depurar sin cuidado. Correlacionar el ID de una corrida de evaluación con su traza permite, por ejemplo, entender por qué un evaluador de groundedness marcó una respuesta como mala, viendo exactamente qué contexto se recuperó. Sugerido: pedir ejemplos de datos que nunca deberían aparecer en una traza en el contexto bancario (números de cuenta, RUT, montos). Fuente: docs-oficiales/foundry/observability/concepts/trace-agent-concept.md, docs-oficiales/foundry/agents/how-to/configure-hosted-agent-telemetry.md.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cuatro categorías cubren la gran mayoría de los problemas que aparecen al operar un hosted agent en el día a día. Antes de sospechar del modelo conviene descartar lo básico: ¿arrancó bien el contenedor?, ¿hay errores de autenticación por identidad o permisos faltantes?, ¿la tool está realmente adjunta y bien descrita? Separar la latencia por etapa (arranque, modelo, tool) evita optimizar lo que no es el cuello de botella real. Sugerido: relacionar 'no llama a la tool' con el diseño de tools visto el día 2, mostrando que muchos problemas de observabilidad en realidad se originan en un mal diseño previo de la tool. Fuente: docs-oficiales/foundry/agents/how-to/debug-hosted-agent.md, docs-oficiales/foundry/agents/how-to/configure-hosted-agent-telemetry.md.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evaluación no es un paso único, es un proceso continuo con tres niveles distintos. A nivel de turno medimos la calidad de una respuesta individual; a nivel de conversación, si el agente cumplió la tarea completa a lo largo de varios turnos; y a nivel de uso de tools, si eligió y llamó correctamente las herramientas disponibles. Foundry permite correr estos evaluadores durante el desarrollo y también de forma recurrente sobre tráfico real ya en producción. Sugerido: anticipar que más tarde, en seguridad y gobierno, se suman los evaluadores de seguridad, y que ambos conjuntos se combinan para un agente listo para producción. Fuente: docs-oficiales/foundry/concepts/evaluation-overview.md, docs-oficiales/foundry/concepts/built-in-evaluators.md.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es el mapa de los siguientes: Foundry agrupa sus evaluadores integrados en familias, y cada familia responde una pregunta distinta. Calidad de respuesta mide la forma; RAG mide si la respuesta se apoya en el contexto recuperado; agente y tareas mide si se cumplió el objetivo del usuario; uso de herramientas mide la mecánica de las llamadas; seguridad mide riesgos; y las métricas de similitud y operacionales cubren comparación contra una referencia y la salud del servicio. En los próximos slides vemos para cada familia cómo funciona la métrica, su ventaja y su desventaja. Sugerido: preguntar a la audiencia cuáles de estas familias miden hoy en sus pruebas. Fuente: docs-oficiales/foundry/concepts/built-in-evaluators.md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métricas evalúan la forma de la respuesta. Coherence y Fluency se calculan con un modelo juez (LLM-as-judge) que recibe la consulta y la respuesta y devuelve una puntuación con su razonamiento; no necesitan referencia, por eso son fáciles de aplicar sobre tráfico real. Su límite es importante para arquitectos: una respuesta puede ser fluida y coherente y a la vez estar equivocada, así que nunca deben ser el único criterio. Similarity sí requiere una respuesta esperada y es la más útil cuando existe un dataset dorado. Sugerido: mostrar un ejemplo de respuesta fluida pero incorrecta. Fuente: docs-oficiales/foundry/concepts/built-in-evaluators.md; evaluation-evaluators/general-purpose-evaluators.md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familia clave para el agente de normativa del día 2. Groundedness responde si el agente inventó algo; Relevance si respondió lo preguntado; Retrieval si el buscador trajo los documentos correctos; y Document Retrieval lo mide de forma objetiva contra etiquetas humanas. Juntas permiten separar un problema del índice de un problema del modelo: si Retrieval es bajo hay que arreglar la búsqueda, y si Retrieval es alto pero Groundedness bajo, el problema está en la generación. Sugerido: conectar con el caso fallido del ejercicio. Fuente: docs-oficiales/foundry/concepts/built-in-evaluators.md; evaluation-evaluators/rag-evaluators.md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medimos si el agente hizo su trabajo. Intent Resolution y Task Adherence miran la comprensión y el respeto de instrucciones; Task Completion mira el resultado final; Navigation Efficiency compara el camino contra uno esperado y es la única de esta familia que no usa un juez libre, sino una comparación contra referencia. Estas métricas necesitan el contexto completo de la conversación y de las llamadas, por eso dependen de la calidad de la traza vista antes. Varias están en preview, conviene validar su estabilidad antes de usarlas como criterio de salida a producción. Sugerido: pedir que definan qué sería completar la tarea en un caso bancario. Fuente: docs-oficiales/foundry/concepts/built-in-evaluators.md; evaluation-evaluators/agent-evaluators.md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un agente falla, muchas veces el problema está en las herramientas y no en el modelo. Estas cinco métricas descomponen el problema: elegir la tool, armar los argumentos, ejecutarla, y usar su resultado. Tool Call Accuracy es el resumen; las demás sirven para diagnosticar cuál de los pasos se rompe. Tool Call Success es la más simple y objetiva porque revisa errores técnicos, pero no sabe si la llamada era la adecuada. Sugerido: relacionar con el diseño de tools del día 2 y con 'No llama a la tool' del diagnóstico rápido. Fuente: docs-oficiales/foundry/concepts/built-in-evaluators.md; evaluation-evaluators/agent-evaluators.md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métricas de riesgo se aplican a todo agente, no solo a los de cara al cliente. Las de contenido dañino devuelven una severidad por categoría. XPIA es especialmente relevante para agentes con RAG o herramientas, porque el contenido recuperado puede traer instrucciones maliciosas. Prohibited Actions y Sensitive Data Leakage son las más cercanas al contexto bancario, pero requieren que la organización defina sus propias políticas. Se retoman en el módulo de seguridad y red teaming. Sugerido: preguntar qué acciones nunca debería ejecutar un agente en BCI. Fuente: docs-oficiales/foundry/concepts/built-in-evaluators.md; evaluation-evaluators/risk-safety-evaluators.md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métricas algorítmicas como F1, BLEU, ROUGE o METEOR comparan texto contra una respuesta esperada. Son baratas y reproducibles, pero en agentes conversacionales castigan paráfrasis válidas, por lo que sirven sobre todo para respuestas cortas y estructuradas, como extracción de campos. Las operacionales no son evaluadores: provienen de la telemetría y se usan para SLOs de latencia, costo y disponibilidad. Son el contrapeso de las métricas de calidad: un agente más preciso pero diez veces más caro puede no ser mejor. Sugerido: conectar con el slide de SLOs del workshop. Fuente: docs-oficiales/foundry/concepts/built-in-evaluators.md; evaluation-evaluators/textual-similarity-evaluators.md; concepts/manage-costs.md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esta sección: ninguna métrica es suficiente por sí sola. Foundry recomienda combinar evaluadores según el tipo de aplicación: para RAG, Retrieval más Groundedness más Relevance más seguridad; para agentes, calidad de salida, calidad de uso de herramientas y seguridad. Los jueces LLM entienden significado pero cuestan y varían; las métricas determinísticas son estables pero superficiales; la revisión humana es la referencia pero no escala. La práctica recomendada es calibrar el juez con una muestra revisada por personas y fijar umbrales propios con datos reales, tal como se hará en la tabla de SLOs del workshop. Sugerido: pedir que cada grupo elija su set mínimo de cuatro métricas. Fuente: docs-oficiales/foundry/concepts/built-in-evaluators.md (sección Combining evaluators); concepts/evaluation-overview.md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método que aplicamos en el ejercicio: partimos del síntoma observable, lo reproducimos de forma controlada, abrimos su traza y recorremos los spans hasta aislar el paso donde se rompió el razonamiento, ya sea una recuperación sin los documentos correctos, una tool mal elegida o argumentos mal armados. Después confirmamos la hipótesis con datos usando un evaluador, en lugar de confiar solo en la intuición, y por último corregimos y volvemos a correr el mismo caso para comparar trazas. Es la práctica que separa un agente que 'parece funcionar' de uno que se puede operar. Sugerido: usar este slide como guion mientras los participantes trabajan en el ejercicio práctico. Fuente: docs-oficiales/foundry/observability/concepts/trace-agent-concept.md; docs-oficiales/foundry/concepts/evaluation-overview.md.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ejercicio práctico del módulo, no una demo del instructor: cada participante retoma su propio proyecto dia2-lab-procode del día 2 y corre el mismo script 05_caso_fallido.py que antes vivía en la Tarea 4 del laboratorio pro-code. El acceso del laboratorio (TAP) se regenera a diario, pero el proyecto y los recursos de Azure persisten los tres días, así que el entorno de cada participante sigue intacto. Sugerido: circular activamente para ayudar a quien no recuerde cómo reactivar su entorno virtual de Python. Si alguien no llega a terminar, lo mínimo esperable es diagnosticar el caso 1; el caso 2 es para quien le sobre tiempo. Fuente: laboratorios/dia2-lab-procode/README.md (Apéndice — Ejercicio de trazas y diagnóstico), laboratorios/dia2-lab-procode/instructores/README.md.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módulo cubre cómo los agentes se conectan con herramientas (MCP), cómo se conectan entre sí (A2A) y cuándo conviene usar más de un agente en lugar de uno solo. Es un módulo denso porque mezcla protocolos de interoperabilidad con decisiones de diseño de orquestación. El objetivo no es memorizar nombres de patrones, sino poder argumentar cuándo NO conviene multiagente: la complejidad adicional tiene un costo en latencia, evaluación y debugging. Sugerido: Pablo y Valentina. Fuente: docs-oficiales/foundry/agents/how-to/tools/model-context-protocol.md; docs-oficiales/agent-framework/workflows/orchestrations.md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y A2A resuelven problemas distintos y suelen convivir en la misma arquitectura. MCP estandariza cómo un agente llama herramientas y fuentes de datos externas, con endpoints que el equipo debe autohospedar y que pueden gobernarse centralizadamente a través de un AI Gateway. A2A estandariza cómo un agente delega una tarea completa a otro agente, y en su versión GA (v1.0) es JSON-RPC solo texto, sin streaming todavía; reemplaza el patrón previo de 'Connected Agents' donde un agente se exponía como herramienta de otro. Para BCI, esto habilita escenarios donde un agente orquestador delega en agentes especialistas (por ejemplo, documentos de comercio exterior) vía A2A, y cada uno usa sus propias herramientas vía MCP. Sugerido: Valentina. Fuente: docs-oficiales/foundry/agents/how-to/tools/{model-context-protocol,agent-to-agent}.md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conectar un agente a MCP, el equipo de plataforma decide si el servidor es público o privado, qué método de autenticación usar, y puede agruparlo en un Toolbox junto a otras herramientas para simplificar la configuración del agente; además hay límites de tiempo de espera por llamada que conviene conocer al diseñar herramientas de larga duración. En A2A, la elección entre autenticación compartida o individual determina si todos los usuarios comparten el mismo contexto de acceso o si cada uno conserva sus propios permisos delegados. La identidad Entra por agente publicado es la base para auditoría y mínimo privilegio, tema que retomamos en el módulo de seguridad. Sugerido: Valentina. Fuente: docs-oficiales/foundry/agents/how-to/{tools/model-context-protocol,tools/agent-to-agent,mcp-authentication}.md; agents/concepts/agent-to-agent-authentication.md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Agent Framework define cinco patrones de orquestación multiagente: sequential (pipeline), concurrent (paralelo), handoff (transferencia de control sin orquestador, topología malla, el agente receptor toma dueño total de la tarea), group chat (orquestador central que elige quién habla, topología estrella) y Magentic (inspirado en Magentic-One de AutoGen, un manager planifica y coordina dinámicamente agentes especialistas para tareas abiertas sin ruta de solución conocida de antemano). El sexto recuadro es la advertencia más importante para arquitectos: si la tarea no requiere especialización, paralelismo real o planificación dinámica, un solo agente bien diseñado es más simple, más barato y más fácil de evaluar que cualquier orquestación multiagente. Sugerido: Pablo. Fuente: docs-oficiales/agent-framework/workflows/orchestrations.md; orchestrations/{sequential,concurrent,handoff,group-chat,magentic}.md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proceso de cinco pasos resume cómo diseñar un orchestrator en la práctica: primero un contrato claro de tareas por agente especialista, luego elegir el patrón de orquestación que mejor calce con el problema (no el más novedoso), definir reglas explícitas de reintentos y condiciones de salida para evitar loops costosos, instrumentar tracing por agente para poder depurar un flujo que puede anidar varias llamadas, y finalmente evaluar el resultado extremo a extremo y no solo agente por agente. Este proceso se retomará como insumo directo en el workshop del cierre de la jornada, cuando el grupo deba decidir el patrón de orquestación de su propio caso. Sugerido: Pablo. Fuente: docs-oficiales/agent-framework/workflows/orchestrations.md; docs-oficiales/foundry/observability/concepts/trace-agent-concept.md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una organización tiene varios equipos construyendo agentes, conviene centralizar el gobierno de MCP y A2A detrás de un AI Gateway en lugar de que cada equipo conecte sus agentes directo a cada servidor. Esto permite tratar el descubrimiento de servidores MCP como un catálogo versionado, delegar la autenticación OAuth2 hacia los backends al propio gateway (sin exponer credenciales al agente), validar tokens de los clientes antes de dejarlos pasar, y centralizar auditoría y métricas por consumidor. La identidad Entra del agente sigue siendo la que se valida en el token con la audiencia correcta del recurso destino. Esto se conecta directamente con el módulo de arquitectura empresarial que viene a continuación. Sugerido: Pablo. Fuente: repos/publico-samples/AI-Gateway/labs/model-context-protocol/README.MD (laboratorio público, referencia); docs-oficiales/foundry/agents/concepts/agent-identity.md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módulo arma el esqueleto de referencia que usaremos en el workshop del cierre de la jornada: desde el canal de entrada hasta el modelo, pasando por un AI Gateway, un Session Gateway opcional y el Hosted Agent con su identidad propia. La pregunta central para arquitectos es cómo escalar de decenas a miles de usuarios concurrentes sin perder aislamiento ni control de costo. Cerramos con una demo de los controles típicos de un AI Gateway. Sugerido: Valentina. Fuente: docs-oficiales/foundry/agents/concepts/{hosted-agents,networking-options}.md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arquitectura de referencia de cinco capas que se repetirá durante todo el módulo: el canal de entrada, un AI Gateway (típicamente APIM) que centraliza autenticación, límites y cache, un Session Gateway opcional para multiplexar usuarios, el Hosted Agent con su propia identidad Entra y sesiones aisladas, y finalmente los modelos y herramientas (Search, MCP, A2A). No todas las organizaciones necesitan las cinco capas desde el día uno: el Session Gateway, por ejemplo, solo se justifica cuando la concurrencia esperada hace que una sesión 1:1 por usuario sea costosa de operar. Esta capa se retomará como plantilla directa en el canvas del workshop. Sugerido: Valentina. Fuente: docs-oficiales/foundry/agents/concepts/hosted-agents.md; agents/how-to/{isolate-sessions-per-user,multiplex-session-users,ai-gateway}.md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Hosted Agents permiten traer código propio en un framework como Agent Framework, LangGraph o Semantic Kernel, y la plataforma se encarga de containerizar, escalar, aislar sesiones y versionar. Cada sesión corre en un sandbox aislado con almacenamiento persistente, lo que habilita flujos con estado real, no solo request-response. El punto de gobierno más importante es el ciclo de vida de la identidad: antes de publicar, todos los agentes de un proyecto comparten una sola identidad Entra para simplificar el desarrollo; al publicar, cada agente obtiene su propia identidad, habilitando aislamiento y auditoría independiente. El intercambio de tokens hacia servicios externos es manejado automáticamente por la plataforma en cuatro etapas. Sugerido: Valentina. Fuente: docs-oficiales/foundry/agents/concepts/{hosted-agents,agent-identity}.md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de las decisiones de arquitectura más relevantes del día. En el modelo 1:1, cada usuario tiene su propia sesión de Hosted Agent, lo cual es simple de razonar pero escala linealmente en costo de cómputo con la cantidad de usuarios activos. El patrón de Session Gateway introduce un servicio intermedio que multiplexa muchos usuarios sobre un número acotado de sesiones compartidas, usando un header de identidad de usuario para delegar el contexto correcto en cada request; esto requiere un permiso RBAC dedicado para impersonar identidad de usuario, que no viene en los roles integrados. Para BCI, con potencialmente miles de usuarios corporativos concurrentes, esta es exactamente la decisión que se evaluará en el workshop del cierre de la jornada. Sugerido: Valentina. Fuente: docs-oficiales/foundry/agents/how-to/{isolate-sessions-per-user,multiplex-session-users}.md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AI Gateway como APIM centraliza cuatro controles que de otra forma cada equipo tendría que reimplementar: autenticación hacia los backends usando managed identity (sin llaves de modelo en el gateway ni en el agente), límites de tokens por consumidor o equipo, cache semántico para reducir latencia y costo en preguntas repetidas, y balanceo de carga entre múltiples backends o modelos (incluyendo degradación a un modelo más económico si se agota un presupuesto). Para una organización con múltiples equipos construyendo agentes, como sería el caso de BCI a mediano plazo, este patrón evita que cada equipo reinvente gobierno de acceso y costo de forma aislada. Sugerido: Valentina. Fuente: docs-oficiales/foundry/agents/how-to/ai-gateway.md; repos/publico-samples/apim-foundry-governance/README.md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demo usa un panel de gobierno construido sobre APIM como ejemplo ilustrativo de un AI Gateway empresarial: permisos de modelo por consumidor, límites de tasa de tokens, degradación automática a un modelo más económico cuando se agota un presupuesto diario, y un tablero de métricas de consumo por consumidor y modelo. El mensaje para la audiencia de plataforma y FinOps es que estos controles viven en el gateway, no en el código del agente, por lo que se pueden ajustar sin un nuevo despliegue. No se muestran cifras reales de BCI; los valores de cuota y presupuesto son ilustrativos. Conviene preguntar qué equipo sería el dueño natural de este gateway en la organización. Sugerido: Valentina. Fuente: repos/publico-samples/apim-foundry-governance/README.md (repositorio público de ejemplo)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módulo más denso del día: amenazas específicas de agentes y herramientas, identidad y mínimo privilegio, guardrails y Content Safety en runtime, y red teaming como validación previa a producción. La idea central es que un agente con acceso a herramientas reales (transferencias, documentos, sistemas core) necesita un modelo de amenazas propio, distinto al de una aplicación web tradicional. Cerramos con threat modeling aplicado. Sugerido: Pablo. Fuente: docs-oficiales/foundry/guardrails/guardrails-overview.md; concepts/ai-red-teaming-agent.md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seis amenazas son el punto de partida del modelo de amenazas de un agente empresarial. El prompt injection directo viene del propio usuario; el indirecto es más peligroso porque viaja oculto dentro de un documento o página que el agente recupera como parte de su contexto, sin que el usuario lo note. Tool poisoning ocurre cuando una herramienta externa (por ejemplo, un servidor MCP de terceros) devuelve resultados manipulados. Excessive agency y desviación de la tarea son problemas de diseño: el agente puede hacer más de lo que su tarea requiere, o usar una herramienta de forma no alineada con la intención real del usuario. Todas estas amenazas se mapean a controles concretos en la siguiente diapositiva. Sugerido: Pablo. Fuente: docs-oficiales/foundry/guardrails/{guardrails-overview,intervention-points,task-adherence}.md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conecta cada amenaza del recuadro anterior con un control concreto y documentado: Prompt Shields para detectar intentos de jailbreak o inyección en el texto de entrada y en contenido recuperado; mínimo privilegio más aprobación humana para acciones de alto impacto en el caso de excessive agency o tool poisoning; Content Safety junto con enmascarado de datos sensibles en logs para fuga de datos; y la API de task adherence, que detecta cuándo el uso de una herramienta por parte del agente está desalineado, es prematuro o no intencionado respecto a la interacción del usuario. Este mapeo amenaza-control-dueño es exactamente el formato que se usará en el threat modeling del workshop. Sugerido: Pablo. Fuente: docs-oficiales/ai-services-content-safety/overview.md; docs-oficiales/foundry/guardrails/intervention-points.md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identidad de agente (Entra Agent ID) es la base técnica del mínimo privilegio: cada agente publicado tiene su propio service principal, distinguible de identidades humanas o de aplicaciones, lo que permite asignar roles RBAC acotados y auditar accesos de forma independiente. Un detalle técnico importante para troubleshooting: un valor de audience incorrecto en el token produce fallas de autenticación aunque los roles estén bien asignados. El flujo delegado (on-behalf-of) limita al agente a lo que el usuario humano consintió; el flujo de client credentials le da al agente autoridad propia, gobernada solo por sus roles. Punto crítico para seguridad: un guardrail configurado a nivel de agente reemplaza por completo al del modelo, no se suman. Sugerido: Pablo. Fuente: docs-oficiales/foundry/agents/concepts/agent-identity.md; guardrails/guardrails-overview.md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proceso de cuatro pasos es el que se aplicará literalmente en el workshop del cierre de la jornada sobre el caso ficticio. Primero se mapea el flujo completo (canal, identidad, sesión, agente, herramientas y datos), porque muchas amenazas solo aparecen al ver el flujo end-to-end y no un componente aislado. Luego se enumeran amenazas por cada punto de intervención del flujo (entrada del usuario, llamada a herramienta, salida del modelo, memoria persistida). Priorizar por impacto y probabilidad evita que el equipo trate cada amenaza como igualmente crítica. El paso final es el que más se olvida: cada amenaza necesita un control, un punto de aplicación, un dueño y una fecha de revisión, no solo quedar documentada. Sugerido: Pablo. Fuente: docs-oficiales/foundry/guardrails/intervention-points.md; concepts/ai-red-teaming-agent.md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teaming y guardrails son complementarios, no alternativos. El AI Red Teaming Agent de Foundry usa PyRIT para automatizar ataques, cubre categorías de riesgo propias de agentes (acciones prohibidas, fuga de datos sensibles, desviación de la tarea), y para estas categorías agentic requiere correr en la nube con un agente ya desplegado en un entorno acotado; un detalle operativo a validar con el equipo de plataforma es la disponibilidad regional de este servicio en la nube para la región de despliegue de BCI. Los guardrails, en cambio, operan en tiempo real sobre cada conversación en cuatro puntos de intervención del flujo, y es clave recordar que el guardrail de un agente sobreescribe completamente al del modelo subyacente, no se combinan. Sugerido: Pablo. Fuente: docs-oficiales/foundry/concepts/ai-red-teaming-agent.md; how-to/develop/run-ai-red-teaming-cloud.md; guardrails/intervention-points.md</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Gobernar agentes no es solo configurar guardrails: es saber qué agentes existen, quién responde por ellos, qué políticas aplican y cómo se retiran. Agent 365 (GA desde el 1 de mayo de 2026) es el plano de control; Entra Agent ID aporta identidad. Azure Policy gobierna modelos (efecto Deny para bloquear; Audit solo registra). Purview y Defender AI-SPM dependen de integración y configuración; las capacidades de agentes de Defender están en Preview y desde el 1-jul-2026 requieren Agent 365. Marcos: Responsible AI Standard (corporativo), NIST AI RMF (voluntario), ISO/IEC 42001:2023 (sistema de gestión), EU AI Act con aplicación escalonada. Verificar siempre estado GA/Preview por capacidad.</a:t>
            </a:r>
          </a:p>
          <a:p>
            <a:r>
              <a:t>Fuentes: microsoft.com/security/blog 2026/05/01 (Agent 365 GA); learn.microsoft.com/entra/agent-id/agent-registry-convergence; learn.microsoft.com/azure/foundry/how-to/model-deployment-policy; learn.microsoft.com/purview/ai-azure-foundry; learn.microsoft.com/azure/defender-for-cloud/ai-security-posture; learn.microsoft.com/agents/center-of-excellence/roles-responsibilities y agent-lifecycle; nist.gov/itl/ai-risk-management-framework; ai-act-service-desk.ec.europa.eu timeline.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Cuando un agente tiene herramientas, una inyección ya no solo sesga una respuesta: puede provocar acciones y exfiltración. Prompt Shields: API base GA desde agosto 2024; escaneo de tool responses y Spotlighting en Preview; no es una garantía. En MCP, las descripciones de tools son superficie de ataque (tool poisoning) y una tool aprobada puede cambiar después (rug pull). OWASP LLM06 Excessive Agency: reducir funcionalidad, permisos y autonomía. Confused deputy: consentimiento por cliente y usuario, redirecciones exactas, validar estado y audiencia de tokens; PKCE no lo sustituye.</a:t>
            </a:r>
          </a:p>
          <a:p>
            <a:r>
              <a:t>Fuentes: microsoft.com/security/blog 2026/06/30 (Securing AI agents); genai.owasp.org llm01-prompt-injection y llm062025-excessive-agency; developer.microsoft.com/blog/protecting-against-indirect-injection-attacks-mcp; learn.microsoft.com/azure/developer/azure-mcp-server/security; modelcontextprotocol.io security_best_practices; learn.microsoft.com/azure/ai-services/content-safety/concepts/jailbreak-detection.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Entra Agent ID está en GA: la agent identity no conserva credenciales propias y obtiene tokens mediante su blueprint. En el nuevo modelo de Foundry cada agente tiene identidad propia; los agentes legacy comparten identidad, y al migrar hay que reasignar permisos downstream. Asignar mínimo privilegio al principal que realmente llama (agent identity o managed identity del proyecto según tool). RBAC: Foundry User para desarrollar, Foundry Agent Consumer para consumir endpoints. A2A: a2a (protocolo 1.0) GA; a2a_preview (0.3) Preview. Red: entrada privada no equivale a salida controlada; revisar la matriz de aislamiento por herramienta.</a:t>
            </a:r>
          </a:p>
          <a:p>
            <a:r>
              <a:t>Fuentes: learn.microsoft.com/entra/agent-id/whats-new-agent-id y agent-identities; learn.microsoft.com/azure/foundry/agents/how-to/migrate-agent-applications, mcp-authentication, tools/tool-authentication, tools/agent-to-agent, tools/openapi, tools/toolbox-network-isolation; learn.microsoft.com/azure/foundry/concepts/rbac-foundry; learn.microsoft.com/azure/foundry/how-to/configure-private-link y set-up-key-vault-connection.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Mapa por capa de las tecnologías Microsoft. Estados verificados contra documentación oficial (oct-2026) y revisados con gpt-6.1-sol; el estado puede cambiar, confirmar antes de decidir. Notas: Guardrails de agentes (4 puntos de intervención) y task adherence en Preview; Prompt Shields para texto GA; groundedness Preview y no soportado como control agentic integrado. AI Gateway integrado en Foundry: Preview, controla consumo (TPM/cuotas), no iteraciones. Hosted Agents GA con sandbox VM por sesión. Tracing GA para prompt y hosted agents. Defender: protección de modelos GA; detección de agentes Preview y requiere Agent 365 desde 1-jul-2026. Un guardrail "active" no prueba protección: puede fallar abierto si el ID de política no existe; validar con pruebas de bloqueo.</a:t>
            </a:r>
          </a:p>
          <a:p>
            <a:r>
              <a:t>Fuentes: learn.microsoft.com/azure/foundry/guardrails/*; learn.microsoft.com/azure/foundry/control-plane/how-to-enforce-limits-models; learn.microsoft.com/azure/foundry/agents/how-to/isolate-sessions-per-user; learn.microsoft.com/azure/foundry/observability/*; learn.microsoft.com/azure/defender-for-cloud/ai-threat-protection; learn.microsoft.com/entra/agent-id/*.</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Observar: tracing OpenTelemetry GA para agentes prompt y hosted, Preview para workflow y externos; Application Insights Agents y Agent Monitoring Dashboard en Preview; evaluación continua sobre tráfico muestreado, no sobre todas las interacciones. Auditoría: logs de diagnóstico y Purview Audit (requieren configuración y licencias). Red teaming con PyRIT (Preview). Contener: deshabilitar el endpoint rechaza nuevas solicitudes; bloquear identidad/blueprint o Conditional Access corta la autenticación; NO prometer cancelación instantánea de ejecuciones ni de tokens ya emitidos. Rollback: fijar versión conocida y verificar con sesión nueva; las sesiones existentes conservan su versión y los efectos externos requieren compensación. Los límites TPM/cuota no limitan iteraciones; Agent Framework tiene límites de looping experimentales. SLO: 95% y 10 s son referencias del dashboard, no compromisos oficiales.</a:t>
            </a:r>
          </a:p>
          <a:p>
            <a:r>
              <a:t>Fuentes: learn.microsoft.com/azure/foundry/observability/concepts/trace-agent-concept y how-to/how-to-monitor-agents-dashboard; learn.microsoft.com/azure/azure-monitor/app/agents-view; learn.microsoft.com/azure/foundry/how-to/develop/run-ai-red-teaming-cloud; learn.microsoft.com/azure/foundry/how-to/diagnostic-logging; learn.microsoft.com/azure/foundry/agents/how-to/manage-hosted-agent; learn.microsoft.com/entra/agent-id/disable-agent-identities; learn.microsoft.com/azure/foundry/agents/how-to/add-hosted-agent-guardrails; learn.microsoft.com/azure/foundry/how-to/agent-service-disaster-recovery.</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bloque aplicado del día: tomamos todo lo visto en los módulos anteriores (observabilidad, protocolos, arquitectura y seguridad) y lo convertimos en decisiones concretas sobre un caso bancario ficticio, 'Austral Bank' (sin datos reales de BCI). El resultado esperado no es una arquitectura perfecta, sino un canvas de decisiones, un mapa de riesgos y un backlog priorizado que el equipo pueda seguir trabajando después del training. Facilitamos entre ambos para cubrir tanto arquitectura como seguridad. Sugerido: Pablo y Valentina. Fuente: 00-agenda-y-contexto/MATERIALS_INDEX.md (mapa de módulos Día 3)</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caso ficticio que usará todo el workshop: 'Austral Bank', un banco inventado que quiere un asistente de tesorería para clientes corporativos, con necesidades de FX, cash management y comercio exterior, atendido por múltiples canales y con miles de usuarios corporativos potenciales. No se usa ningún dato real de BCI ni de otro cliente. Las reglas son simples: grupos de 4 a 6 personas, un relator que documenta, 65 minutos divididos en 5 pasos con tiempos acotados, y el foco puesto en la decisión y el supuesto detrás, no en un diagrama perfecto. El objetivo es que cada grupo salga con un canvas, un mapa de riesgos y un backlog que puedan adaptar a su propio contexto real después del training. Sugerido: Pablo y Valentina. Fuente: 00-agenda-y-contexto/MATERIALS_INDEX.md</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canvas central del workshop: cinco dimensiones (canal, identidad, sesión, agente/modelo, tools/datos) que cubren exactamente lo visto en los módulos de protocolos y arquitectura empresarial de la mañana. Cada grupo debe completar la columna de decisión y de criterio con su propio contexto, usando las opciones como punto de partida, no como lista cerrada. La columna de criterio es la más importante: obliga a explicitar por qué se elige una opción (por ejemplo, 'concurrencia esperada y costo' para decidir entre Hosted Agent dedicado o Session Gateway), en vez de elegir por intuición. Este canvas es el mismo que se usará como plantilla reutilizable después del training. Sugerido: Pablo y Valentina. Fuente: docs-oficiales/foundry/agents/concepts/{hosted-agents,networking-options}.md; agents/how-to/{ai-gateway,multiplex-session-users}.md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reloj del workshop: 5 minutos para leer el caso y alinear supuestos del grupo, 20 minutos para completar el canvas de decisiones de arquitectura, 15 minutos para identificar las tres amenazas más relevantes del caso y su control propuesto usando el proceso de threat modeling visto en la mañana, 12 minutos para definir SLOs y señales de observabilidad básicas, y 13 minutos finales para priorizar todo en un backlog corto. El facilitador debe avisar en voz alta cada cambio de paso para mantener el ritmo; es preferible un canvas incompleto pero con las columnas de criterio bien razonadas que uno completo pero superficial. Sugerido: Pablo y Valentina. Fuente: 00-agenda-y-contexto/MATERIALS_INDEX.md</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ejemplo ilustra el nivel de detalle esperado en el paso de amenazas del workshop, aplicando directamente el proceso de threat modeling del módulo de seguridad: mapear el flujo del caso Austral Bank, enumerar amenazas en los puntos de intervención relevantes (documentos adjuntos, permisos de cuenta, logs, comunicación entre agentes), y proponer un control concreto para cada una. Es solo un ejemplo de referencia; cada grupo debe generar sus propias tres amenazas priorizadas según su propio caso. Lo esencial es que ninguna amenaza quede sin control, punto de aplicación y dueño asignado antes de pasar al siguiente paso del workshop. Sugerido: Pablo y Valentina. Fuente: docs-oficiales/foundry/guardrails/intervention-points.md; agents/concepts/agent-to-agent-authentication.md</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mapa de riesgos convierte las amenazas identificadas en una vista de probabilidad e impacto, formato estándar para conversar con seguridad, gobierno y liderazgo ejecutivo. Los cuatro riesgos de ejemplo cubren seguridad (prompt injection, permisos excesivos), calidad (degradación silenciosa del retrieval, detectable solo con evaluación continua) y costo (dimensionamiento incorrecto del multiplexado). Cada grupo debe adaptar probabilidad e impacto a su propio contexto, no copiar el ejemplo literalmente. Este mapa, junto con el canvas de decisiones, es uno de los entregables formales del workshop que se presenta en el cierre ejecutivo. Sugerido: Pablo y Valentina. Fuente: docs-oficiales/foundry/guardrails/intervention-points.md; concepts/evaluation-overview.md</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la plantilla de SLOs que cada grupo completa en el paso 4 del workshop, retomando directamente el módulo de Observabilidad y ciclo de vida visto más temprano hoy: disponibilidad medida por éxito de sesión del Hosted Agent, calidad medida por evaluadores de groundedness y de uso de herramientas, seguridad medida por tasa de bloqueo de Prompt Shields y Content Safety, y costo medido por tokens y consumo de cómputo por sesión activa. Deliberadamente no fijamos objetivos numéricos de ejemplo: cada grupo debe definir sus propios umbrales según su tolerancia al riesgo y su presupuesto, evitando copiar cifras que no se hayan validado con su propio tráfico. Sugerido: Pablo y Valentina. Fuente: docs-oficiales/foundry/observability/concepts/trace-agent-concept.md; concepts/{evaluation-overview,manage-costs}.md</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pasar al backlog final, explicamos cómo será la puesta en común: cada grupo tiene 90 segundos para presentar su decisión principal de arquitectura, el supuesto más crítico detrás de ella, y el primer experimento o PoC que correrían para validarla. El canvas y el backlog sirven de apoyo visual directo, sin necesidad de preparar diapositivas adicionales. El criterio de éxito de la presentación no es un diagrama perfecto sino un razonamiento claro y defendible. Como facilitadores, tomamos nota de los patrones que se repiten entre grupos (mismas amenazas, mismas decisiones de sesión) porque esos patrones alimentan directamente el cierre ejecutivo del día. Sugerido: Pablo y Valentina. Fuente: 00-agenda-y-contexto/MATERIALS_INDEX.md</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backlog es el entregable final y más accionable del workshop: una lista corta de ítems clasificados por tipo (decisión formal tipo ADR, experimento o PoC a correr, o habilitador de plataforma), con prioridad y un dueño sugerido. Los cuatro ejemplos cubren las cuatro áreas del día: arquitectura (Session Gateway), diseño de orquestación (ADR), seguridad (Content Safety) y observabilidad (panel de trazas y evaluaciones de calidad). Cada grupo debe producir entre 3 y 5 ítems propios antes de la puesta en común. Este backlog, junto con el canvas y el mapa de riesgos, se retoma explícitamente en la próxima sección de cierre ejecutivo del training. Sugerido: Pablo y Valentina. Fuente: 00-agenda-y-contexto/MATERIALS_INDEX.md</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el día y el training conectando el resultado del workshop con una vista ejecutiva: qué arquitectura objetivo y qué backlog se llevan los equipos, cuáles son los próximos pasos a 30/60/90 días, y un resumen de los tres días completos. El tono de este bloque es de síntesis y compromiso, no de contenido nuevo. Sugerido: Pablo y Valentina. Fuente: 00-agenda-y-contexto/MATERIALS_INDEX.md</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pasar a los próximos pasos, dimensionamos lo que efectivamente se produjo en el workshop: cinco dimensiones de decisión cubiertas en el canvas, entre tres y cinco amenazas priorizadas con control y dueño, un backlog de tres a cinco ítems accionables, y una arquitectura objetivo de referencia que combina Hosted Agents, AI Gateway, Session Gateway donde corresponda, y los controles de seguridad y evaluación vistos durante el día. Es importante aclarar que estos números describen el ejercicio de hoy, no un compromiso real de BCI ni una proyección de esfuerzo; el valor de esta sesión es la calidad del razonamiento, no las cifras. Sugerido: Pablo y Valentina. Fuente: 00-agenda-y-contexto/MATERIALS_INDEX.md</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Proponemos un horizonte de 30/60/90 días como punto de partida, no como plan cerrado: a 30 días, validar formalmente los ADRs más importantes del canvas (por ejemplo, sesión 1:1 vs Session Gateway) y correr el primer PoC priorizado por el backlog; a 60 días, habilitar un AI Gateway con límites por consumidor y cache semántico, además de evaluaciones programadas sobre tráfico real; a 90 días, ampliar la cobertura de red teaming a un esquema continuo post-despliegue y revisar los SLOs de costo y calidad con datos reales de producción, no solo con el dataset inicial. Cada equipo debe ajustar estos plazos a su propia capacidad y gobierno interno. Sugerido: Pablo y Valentina. Fuente: docs-oficiales/foundry/how-to/develop/run-ai-red-teaming-cloud.md; concepts/evaluation-overview.md</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una síntesis de los tres días en una idea por día, pensada para quedar como resumen ejecutivo: el primer día sentó las bases conceptuales y los primeros casos de uso; el segundo día construyó capacidad técnica de desarrollo, integración, RAG y evaluación inicial; el tercer día, hoy, agregó la capa de arquitectura, seguridad y operación necesaria para escalar con confianza. El cuarto punto es el mensaje final del training completo: una plataforma de agentes no está lista para producción solo porque el agente responde bien en una demo, sino cuando el gobierno, la seguridad y la evaluación continua están igual de maduros que el agente mismo. Sugerido: Pablo y Valentina. Fuente: 00-agenda-y-contexto/MATERIALS_INDEX.md</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Dejamos una lista de recursos públicos para que cada persona siga profundizando según su rol: la documentación oficial de Hosted Agents y de las orquestaciones multiagente de Agent Framework, Content Safety y el inicio rápido de RBAC de Azure AI Search (que explica Foundry IQ), más cuatro repositorios públicos de laboratorios para practicar: AI Gateway sobre APIM, el playground de red teaming, el curso MCP for Beginners y los labs de multiagente de Microsoft Learning. Ninguno de estos enlaces apunta a material interno de Microsoft ni de BCI. Recomendamos a cada participante elegir uno o dos según su rol (arquitectura, seguridad u observabilidad) y no intentar cubrir todos. Sugerido: Pablo y Valentina. Fuente: enlaces públicos citados en cada URL de esta diapositiva</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los tres días de training agradeciendo la participación activa de todos los roles presentes: arquitectos, seguridad, plataforma, SRE y liderazgo de IA. El mensaje final resume el arco completo del training: pasamos de entender y construir agentes a diseñar una plataforma segura, gobernada y evaluable capaz de escalar en producción. El canvas, el mapa de riesgos y el backlog generados hoy no son un ejercicio aislado, sino el punto de partida real para las próximas decisiones de arquitectura de BCI. Quedamos disponibles para resolver dudas de seguimiento y para apoyar la validación de los primeros PoCs priorizados en el backlog. Sugerido: Pablo y Valentina. Fuente: 00-agenda-y-contexto/MATERIALS_INDEX.md</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8" Type="http://schemas.openxmlformats.org/officeDocument/2006/relationships/hyperlink" Target="https://github.com/microsoft/AI-Red-Teaming-Playground-Labs" TargetMode="External"/><Relationship Id="rId3" Type="http://schemas.openxmlformats.org/officeDocument/2006/relationships/hyperlink" Target="https://learn.microsoft.com/en-us/azure/foundry/agents/concepts/hosted-agents" TargetMode="External"/><Relationship Id="rId7" Type="http://schemas.openxmlformats.org/officeDocument/2006/relationships/hyperlink" Target="https://github.com/Azure-Samples/AI-Gateway" TargetMode="External"/><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hyperlink" Target="https://learn.microsoft.com/en-us/azure/search/search-get-started-rbac" TargetMode="External"/><Relationship Id="rId5" Type="http://schemas.openxmlformats.org/officeDocument/2006/relationships/hyperlink" Target="https://learn.microsoft.com/en-us/azure/ai-services/content-safety/overview" TargetMode="External"/><Relationship Id="rId10" Type="http://schemas.openxmlformats.org/officeDocument/2006/relationships/hyperlink" Target="https://github.com/MicrosoftLearning/mslearn-ai-multi-agents" TargetMode="External"/><Relationship Id="rId4" Type="http://schemas.openxmlformats.org/officeDocument/2006/relationships/hyperlink" Target="https://learn.microsoft.com/en-us/agent-framework/workflows/orchestrations/" TargetMode="External"/><Relationship Id="rId9" Type="http://schemas.openxmlformats.org/officeDocument/2006/relationships/hyperlink" Target="https://github.com/microsoft/mcp-for-beginners" TargetMode="Externa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E8743B">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E8743B">
              <a:alpha val="10000"/>
            </a:srgbClr>
          </a:solidFill>
          <a:ln/>
        </p:spPr>
        <p:txBody>
          <a:bodyPr/>
          <a:lstStyle/>
          <a:p>
            <a:endParaRPr lang="en-US"/>
          </a:p>
        </p:txBody>
      </p:sp>
      <p:sp>
        <p:nvSpPr>
          <p:cNvPr id="4" name="Shape 2"/>
          <p:cNvSpPr/>
          <p:nvPr/>
        </p:nvSpPr>
        <p:spPr>
          <a:xfrm>
            <a:off x="548640" y="914400"/>
            <a:ext cx="1737360" cy="420624"/>
          </a:xfrm>
          <a:prstGeom prst="roundRect">
            <a:avLst>
              <a:gd name="adj" fmla="val 21739"/>
            </a:avLst>
          </a:prstGeom>
          <a:solidFill>
            <a:srgbClr val="E8743B"/>
          </a:solidFill>
          <a:ln/>
        </p:spPr>
        <p:txBody>
          <a:bodyPr/>
          <a:lstStyle/>
          <a:p>
            <a:endParaRPr lang="en-US"/>
          </a:p>
        </p:txBody>
      </p:sp>
      <p:sp>
        <p:nvSpPr>
          <p:cNvPr id="5" name="Text 3"/>
          <p:cNvSpPr/>
          <p:nvPr/>
        </p:nvSpPr>
        <p:spPr>
          <a:xfrm>
            <a:off x="548640" y="914400"/>
            <a:ext cx="173736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DÍA 3 · L300</a:t>
            </a:r>
            <a:endParaRPr lang="en-US" sz="1400" dirty="0"/>
          </a:p>
        </p:txBody>
      </p:sp>
      <p:sp>
        <p:nvSpPr>
          <p:cNvPr id="6" name="Text 4"/>
          <p:cNvSpPr/>
          <p:nvPr/>
        </p:nvSpPr>
        <p:spPr>
          <a:xfrm>
            <a:off x="548640" y="1737360"/>
            <a:ext cx="8229600" cy="2194560"/>
          </a:xfrm>
          <a:prstGeom prst="rect">
            <a:avLst/>
          </a:prstGeom>
          <a:noFill/>
          <a:ln/>
        </p:spPr>
        <p:txBody>
          <a:bodyPr wrap="square" lIns="0" tIns="0" rIns="0" bIns="0" rtlCol="0" anchor="t"/>
          <a:lstStyle/>
          <a:p>
            <a:pPr marL="0" indent="0">
              <a:buNone/>
            </a:pPr>
            <a:r>
              <a:rPr lang="en-US" sz="4600" b="1" dirty="0">
                <a:solidFill>
                  <a:srgbClr val="FFFFFF"/>
                </a:solidFill>
                <a:latin typeface="Segoe UI Semibold" pitchFamily="34" charset="0"/>
                <a:ea typeface="Segoe UI Semibold" pitchFamily="34" charset="-122"/>
                <a:cs typeface="Segoe UI Semibold" pitchFamily="34" charset="-120"/>
              </a:rPr>
              <a:t>Microsoft AI Foundry BCI Training Day — Día 3</a:t>
            </a:r>
            <a:endParaRPr lang="en-US" sz="4600" dirty="0"/>
          </a:p>
        </p:txBody>
      </p:sp>
      <p:sp>
        <p:nvSpPr>
          <p:cNvPr id="7" name="Text 5"/>
          <p:cNvSpPr/>
          <p:nvPr/>
        </p:nvSpPr>
        <p:spPr>
          <a:xfrm>
            <a:off x="548640" y="4069080"/>
            <a:ext cx="7863840" cy="822960"/>
          </a:xfrm>
          <a:prstGeom prst="rect">
            <a:avLst/>
          </a:prstGeom>
          <a:noFill/>
          <a:ln/>
        </p:spPr>
        <p:txBody>
          <a:bodyPr wrap="square" lIns="0" tIns="0" rIns="0" bIns="0" rtlCol="0" anchor="t"/>
          <a:lstStyle/>
          <a:p>
            <a:pPr marL="0" indent="0">
              <a:buNone/>
            </a:pPr>
            <a:r>
              <a:rPr lang="en-US" sz="2200" dirty="0">
                <a:solidFill>
                  <a:srgbClr val="C9D7E4"/>
                </a:solidFill>
                <a:latin typeface="Segoe UI" pitchFamily="34" charset="0"/>
                <a:ea typeface="Segoe UI" pitchFamily="34" charset="-122"/>
                <a:cs typeface="Segoe UI" pitchFamily="34" charset="-120"/>
              </a:rPr>
              <a:t>L300 · Arquitecturas avanzadas, seguridad y operación de agentes</a:t>
            </a:r>
            <a:endParaRPr lang="en-US" sz="2200" dirty="0"/>
          </a:p>
        </p:txBody>
      </p:sp>
      <p:sp>
        <p:nvSpPr>
          <p:cNvPr id="8" name="Text 6"/>
          <p:cNvSpPr/>
          <p:nvPr/>
        </p:nvSpPr>
        <p:spPr>
          <a:xfrm>
            <a:off x="548640" y="5669280"/>
            <a:ext cx="8229600" cy="365760"/>
          </a:xfrm>
          <a:prstGeom prst="rect">
            <a:avLst/>
          </a:prstGeom>
          <a:noFill/>
          <a:ln/>
        </p:spPr>
        <p:txBody>
          <a:bodyPr wrap="square" lIns="0" tIns="0" rIns="0" bIns="0" rtlCol="0" anchor="ctr"/>
          <a:lstStyle/>
          <a:p>
            <a:pPr marL="0" indent="0">
              <a:buNone/>
            </a:pPr>
            <a:r>
              <a:rPr lang="en-US" sz="1400" dirty="0">
                <a:solidFill>
                  <a:srgbClr val="F5B83D"/>
                </a:solidFill>
                <a:latin typeface="Segoe UI" pitchFamily="34" charset="0"/>
                <a:ea typeface="Segoe UI" pitchFamily="34" charset="-122"/>
                <a:cs typeface="Segoe UI" pitchFamily="34" charset="-120"/>
              </a:rPr>
              <a:t>Viernes 23 de octubre de 2026 ·    09:00–13:00 Chile · Microsoft Chile + Teams</a:t>
            </a:r>
            <a:endParaRPr lang="en-US" sz="1400" dirty="0"/>
          </a:p>
        </p:txBody>
      </p:sp>
      <p:sp>
        <p:nvSpPr>
          <p:cNvPr id="9" name="Text 7"/>
          <p:cNvSpPr/>
          <p:nvPr/>
        </p:nvSpPr>
        <p:spPr>
          <a:xfrm>
            <a:off x="548640" y="6080760"/>
            <a:ext cx="5486400" cy="320040"/>
          </a:xfrm>
          <a:prstGeom prst="rect">
            <a:avLst/>
          </a:prstGeom>
          <a:noFill/>
          <a:ln/>
        </p:spPr>
        <p:txBody>
          <a:bodyPr wrap="square" lIns="0" tIns="0" rIns="0" bIns="0" rtlCol="0" anchor="ctr"/>
          <a:lstStyle/>
          <a:p>
            <a:pPr marL="0" indent="0">
              <a:buNone/>
            </a:pPr>
            <a:r>
              <a:rPr lang="en-US" sz="1200" dirty="0">
                <a:solidFill>
                  <a:srgbClr val="C9D7E4"/>
                </a:solidFill>
                <a:latin typeface="Segoe UI" pitchFamily="34" charset="0"/>
                <a:ea typeface="Segoe UI" pitchFamily="34" charset="-122"/>
                <a:cs typeface="Segoe UI" pitchFamily="34" charset="-120"/>
              </a:rPr>
              <a:t>Microsoft · Customer Success</a:t>
            </a:r>
            <a:endParaRPr lang="en-US" sz="1200" dirty="0"/>
          </a:p>
        </p:txBody>
      </p:sp>
      <p:sp>
        <p:nvSpPr>
          <p:cNvPr id="10" name="Shape 8"/>
          <p:cNvSpPr/>
          <p:nvPr/>
        </p:nvSpPr>
        <p:spPr>
          <a:xfrm>
            <a:off x="9281160" y="777240"/>
            <a:ext cx="2377440" cy="1280160"/>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pic>
        <p:nvPicPr>
          <p:cNvPr id="11" name="Image 0" descr="C:\Users\valentinag\microsoft\copilot-worktrees\bci_workshop\valegrajales-fuzzy-disco\presentaciones\_build\assets\logo_bci.png"/>
          <p:cNvPicPr>
            <a:picLocks noChangeAspect="1"/>
          </p:cNvPicPr>
          <p:nvPr/>
        </p:nvPicPr>
        <p:blipFill>
          <a:blip r:embed="rId3"/>
          <a:stretch>
            <a:fillRect/>
          </a:stretch>
        </p:blipFill>
        <p:spPr>
          <a:xfrm>
            <a:off x="9669780" y="1047902"/>
            <a:ext cx="1600200" cy="7388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Agenda del Día 3</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91056"/>
            <a:ext cx="1737360" cy="438912"/>
          </a:xfrm>
          <a:prstGeom prst="roundRect">
            <a:avLst>
              <a:gd name="adj" fmla="val 16667"/>
            </a:avLst>
          </a:prstGeom>
          <a:solidFill>
            <a:srgbClr val="E8743B"/>
          </a:solidFill>
          <a:ln/>
        </p:spPr>
        <p:txBody>
          <a:bodyPr/>
          <a:lstStyle/>
          <a:p>
            <a:endParaRPr lang="en-US"/>
          </a:p>
        </p:txBody>
      </p:sp>
      <p:sp>
        <p:nvSpPr>
          <p:cNvPr id="7" name="Text 5"/>
          <p:cNvSpPr/>
          <p:nvPr/>
        </p:nvSpPr>
        <p:spPr>
          <a:xfrm>
            <a:off x="548640" y="1591056"/>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09:00–09:30</a:t>
            </a:r>
            <a:endParaRPr lang="en-US" sz="1400" dirty="0"/>
          </a:p>
        </p:txBody>
      </p:sp>
      <p:sp>
        <p:nvSpPr>
          <p:cNvPr id="8" name="Text 6"/>
          <p:cNvSpPr/>
          <p:nvPr/>
        </p:nvSpPr>
        <p:spPr>
          <a:xfrm>
            <a:off x="2514600" y="1554480"/>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Observabilidad y ciclo de vida</a:t>
            </a:r>
            <a:endParaRPr lang="en-US" sz="1700" dirty="0"/>
          </a:p>
        </p:txBody>
      </p:sp>
      <p:sp>
        <p:nvSpPr>
          <p:cNvPr id="9" name="Text 7"/>
          <p:cNvSpPr/>
          <p:nvPr/>
        </p:nvSpPr>
        <p:spPr>
          <a:xfrm>
            <a:off x="7132320" y="1554480"/>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Tracing, debugging, evaluación</a:t>
            </a:r>
            <a:endParaRPr lang="en-US" sz="1300" dirty="0"/>
          </a:p>
        </p:txBody>
      </p:sp>
      <p:sp>
        <p:nvSpPr>
          <p:cNvPr id="10" name="Shape 8"/>
          <p:cNvSpPr/>
          <p:nvPr/>
        </p:nvSpPr>
        <p:spPr>
          <a:xfrm>
            <a:off x="548640" y="2157984"/>
            <a:ext cx="1737360" cy="438912"/>
          </a:xfrm>
          <a:prstGeom prst="roundRect">
            <a:avLst>
              <a:gd name="adj" fmla="val 16667"/>
            </a:avLst>
          </a:prstGeom>
          <a:solidFill>
            <a:srgbClr val="0B1F33"/>
          </a:solidFill>
          <a:ln/>
        </p:spPr>
        <p:txBody>
          <a:bodyPr/>
          <a:lstStyle/>
          <a:p>
            <a:endParaRPr lang="en-US"/>
          </a:p>
        </p:txBody>
      </p:sp>
      <p:sp>
        <p:nvSpPr>
          <p:cNvPr id="11" name="Text 9"/>
          <p:cNvSpPr/>
          <p:nvPr/>
        </p:nvSpPr>
        <p:spPr>
          <a:xfrm>
            <a:off x="548640" y="2157984"/>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09:30–10:10</a:t>
            </a:r>
            <a:endParaRPr lang="en-US" sz="1400" dirty="0"/>
          </a:p>
        </p:txBody>
      </p:sp>
      <p:sp>
        <p:nvSpPr>
          <p:cNvPr id="12" name="Text 10"/>
          <p:cNvSpPr/>
          <p:nvPr/>
        </p:nvSpPr>
        <p:spPr>
          <a:xfrm>
            <a:off x="2514600" y="2121408"/>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Protocolos y multiagente</a:t>
            </a:r>
            <a:endParaRPr lang="en-US" sz="1700" dirty="0"/>
          </a:p>
        </p:txBody>
      </p:sp>
      <p:sp>
        <p:nvSpPr>
          <p:cNvPr id="13" name="Text 11"/>
          <p:cNvSpPr/>
          <p:nvPr/>
        </p:nvSpPr>
        <p:spPr>
          <a:xfrm>
            <a:off x="7132320" y="2121408"/>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MCP, A2A, patrones multiagente, diseño de orchestrator</a:t>
            </a:r>
            <a:endParaRPr lang="en-US" sz="1300" dirty="0"/>
          </a:p>
        </p:txBody>
      </p:sp>
      <p:sp>
        <p:nvSpPr>
          <p:cNvPr id="14" name="Shape 12"/>
          <p:cNvSpPr/>
          <p:nvPr/>
        </p:nvSpPr>
        <p:spPr>
          <a:xfrm>
            <a:off x="548640" y="2724912"/>
            <a:ext cx="1737360" cy="438912"/>
          </a:xfrm>
          <a:prstGeom prst="roundRect">
            <a:avLst>
              <a:gd name="adj" fmla="val 16667"/>
            </a:avLst>
          </a:prstGeom>
          <a:solidFill>
            <a:srgbClr val="E8743B"/>
          </a:solidFill>
          <a:ln/>
        </p:spPr>
        <p:txBody>
          <a:bodyPr/>
          <a:lstStyle/>
          <a:p>
            <a:endParaRPr lang="en-US"/>
          </a:p>
        </p:txBody>
      </p:sp>
      <p:sp>
        <p:nvSpPr>
          <p:cNvPr id="15" name="Text 13"/>
          <p:cNvSpPr/>
          <p:nvPr/>
        </p:nvSpPr>
        <p:spPr>
          <a:xfrm>
            <a:off x="548640" y="2724912"/>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10:10–10:45</a:t>
            </a:r>
            <a:endParaRPr lang="en-US" sz="1400" dirty="0"/>
          </a:p>
        </p:txBody>
      </p:sp>
      <p:sp>
        <p:nvSpPr>
          <p:cNvPr id="16" name="Text 14"/>
          <p:cNvSpPr/>
          <p:nvPr/>
        </p:nvSpPr>
        <p:spPr>
          <a:xfrm>
            <a:off x="2514600" y="2688336"/>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Arquitectura empresarial</a:t>
            </a:r>
            <a:endParaRPr lang="en-US" sz="1700" dirty="0"/>
          </a:p>
        </p:txBody>
      </p:sp>
      <p:sp>
        <p:nvSpPr>
          <p:cNvPr id="17" name="Text 15"/>
          <p:cNvSpPr/>
          <p:nvPr/>
        </p:nvSpPr>
        <p:spPr>
          <a:xfrm>
            <a:off x="7132320" y="2688336"/>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Hosted Agents, Session Gateway, AI Gateway, escalabilidad</a:t>
            </a:r>
            <a:endParaRPr lang="en-US" sz="1300" dirty="0"/>
          </a:p>
        </p:txBody>
      </p:sp>
      <p:sp>
        <p:nvSpPr>
          <p:cNvPr id="18" name="Shape 16"/>
          <p:cNvSpPr/>
          <p:nvPr/>
        </p:nvSpPr>
        <p:spPr>
          <a:xfrm>
            <a:off x="548640" y="3291840"/>
            <a:ext cx="1737360" cy="438912"/>
          </a:xfrm>
          <a:prstGeom prst="roundRect">
            <a:avLst>
              <a:gd name="adj" fmla="val 16667"/>
            </a:avLst>
          </a:prstGeom>
          <a:solidFill>
            <a:srgbClr val="0B1F33"/>
          </a:solidFill>
          <a:ln/>
        </p:spPr>
        <p:txBody>
          <a:bodyPr/>
          <a:lstStyle/>
          <a:p>
            <a:endParaRPr lang="en-US"/>
          </a:p>
        </p:txBody>
      </p:sp>
      <p:sp>
        <p:nvSpPr>
          <p:cNvPr id="19" name="Text 17"/>
          <p:cNvSpPr/>
          <p:nvPr/>
        </p:nvSpPr>
        <p:spPr>
          <a:xfrm>
            <a:off x="548640" y="3291840"/>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10:45–10:55</a:t>
            </a:r>
            <a:endParaRPr lang="en-US" sz="1400" dirty="0"/>
          </a:p>
        </p:txBody>
      </p:sp>
      <p:sp>
        <p:nvSpPr>
          <p:cNvPr id="20" name="Text 18"/>
          <p:cNvSpPr/>
          <p:nvPr/>
        </p:nvSpPr>
        <p:spPr>
          <a:xfrm>
            <a:off x="2514600" y="3255264"/>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Pausa</a:t>
            </a:r>
            <a:endParaRPr lang="en-US" sz="1700" dirty="0"/>
          </a:p>
        </p:txBody>
      </p:sp>
      <p:sp>
        <p:nvSpPr>
          <p:cNvPr id="21" name="Text 19"/>
          <p:cNvSpPr/>
          <p:nvPr/>
        </p:nvSpPr>
        <p:spPr>
          <a:xfrm>
            <a:off x="7132320" y="3255264"/>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Café</a:t>
            </a:r>
            <a:endParaRPr lang="en-US" sz="1300" dirty="0"/>
          </a:p>
        </p:txBody>
      </p:sp>
      <p:sp>
        <p:nvSpPr>
          <p:cNvPr id="22" name="Shape 20"/>
          <p:cNvSpPr/>
          <p:nvPr/>
        </p:nvSpPr>
        <p:spPr>
          <a:xfrm>
            <a:off x="548640" y="3858768"/>
            <a:ext cx="1737360" cy="438912"/>
          </a:xfrm>
          <a:prstGeom prst="roundRect">
            <a:avLst>
              <a:gd name="adj" fmla="val 16667"/>
            </a:avLst>
          </a:prstGeom>
          <a:solidFill>
            <a:srgbClr val="E8743B"/>
          </a:solidFill>
          <a:ln/>
        </p:spPr>
        <p:txBody>
          <a:bodyPr/>
          <a:lstStyle/>
          <a:p>
            <a:endParaRPr lang="en-US"/>
          </a:p>
        </p:txBody>
      </p:sp>
      <p:sp>
        <p:nvSpPr>
          <p:cNvPr id="23" name="Text 21"/>
          <p:cNvSpPr/>
          <p:nvPr/>
        </p:nvSpPr>
        <p:spPr>
          <a:xfrm>
            <a:off x="548640" y="3858768"/>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10:55–11:35</a:t>
            </a:r>
            <a:endParaRPr lang="en-US" sz="1400" dirty="0"/>
          </a:p>
        </p:txBody>
      </p:sp>
      <p:sp>
        <p:nvSpPr>
          <p:cNvPr id="24" name="Text 22"/>
          <p:cNvSpPr/>
          <p:nvPr/>
        </p:nvSpPr>
        <p:spPr>
          <a:xfrm>
            <a:off x="2514600" y="3822192"/>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Seguridad y gobierno</a:t>
            </a:r>
            <a:endParaRPr lang="en-US" sz="1700" dirty="0"/>
          </a:p>
        </p:txBody>
      </p:sp>
      <p:sp>
        <p:nvSpPr>
          <p:cNvPr id="25" name="Text 23"/>
          <p:cNvSpPr/>
          <p:nvPr/>
        </p:nvSpPr>
        <p:spPr>
          <a:xfrm>
            <a:off x="7132320" y="3822192"/>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Seguridad de apps/agentes/tools, Responsible AI, red teaming</a:t>
            </a:r>
            <a:endParaRPr lang="en-US" sz="1300" dirty="0"/>
          </a:p>
        </p:txBody>
      </p:sp>
      <p:sp>
        <p:nvSpPr>
          <p:cNvPr id="26" name="Shape 24"/>
          <p:cNvSpPr/>
          <p:nvPr/>
        </p:nvSpPr>
        <p:spPr>
          <a:xfrm>
            <a:off x="548640" y="4425696"/>
            <a:ext cx="1737360" cy="438912"/>
          </a:xfrm>
          <a:prstGeom prst="roundRect">
            <a:avLst>
              <a:gd name="adj" fmla="val 16667"/>
            </a:avLst>
          </a:prstGeom>
          <a:solidFill>
            <a:srgbClr val="0B1F33"/>
          </a:solidFill>
          <a:ln/>
        </p:spPr>
        <p:txBody>
          <a:bodyPr/>
          <a:lstStyle/>
          <a:p>
            <a:endParaRPr lang="en-US"/>
          </a:p>
        </p:txBody>
      </p:sp>
      <p:sp>
        <p:nvSpPr>
          <p:cNvPr id="27" name="Text 25"/>
          <p:cNvSpPr/>
          <p:nvPr/>
        </p:nvSpPr>
        <p:spPr>
          <a:xfrm>
            <a:off x="548640" y="4425696"/>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11:35–12:40</a:t>
            </a:r>
            <a:endParaRPr lang="en-US" sz="1400" dirty="0"/>
          </a:p>
        </p:txBody>
      </p:sp>
      <p:sp>
        <p:nvSpPr>
          <p:cNvPr id="28" name="Text 26"/>
          <p:cNvSpPr/>
          <p:nvPr/>
        </p:nvSpPr>
        <p:spPr>
          <a:xfrm>
            <a:off x="2514600" y="4389120"/>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Workshop BCI</a:t>
            </a:r>
            <a:endParaRPr lang="en-US" sz="1700" dirty="0"/>
          </a:p>
        </p:txBody>
      </p:sp>
      <p:sp>
        <p:nvSpPr>
          <p:cNvPr id="29" name="Text 27"/>
          <p:cNvSpPr/>
          <p:nvPr/>
        </p:nvSpPr>
        <p:spPr>
          <a:xfrm>
            <a:off x="7132320" y="4389120"/>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Architecture Decision Workshop sobre un caso propio</a:t>
            </a:r>
            <a:endParaRPr lang="en-US" sz="1300" dirty="0"/>
          </a:p>
        </p:txBody>
      </p:sp>
      <p:sp>
        <p:nvSpPr>
          <p:cNvPr id="30" name="Shape 28"/>
          <p:cNvSpPr/>
          <p:nvPr/>
        </p:nvSpPr>
        <p:spPr>
          <a:xfrm>
            <a:off x="548640" y="4992624"/>
            <a:ext cx="1737360" cy="438912"/>
          </a:xfrm>
          <a:prstGeom prst="roundRect">
            <a:avLst>
              <a:gd name="adj" fmla="val 16667"/>
            </a:avLst>
          </a:prstGeom>
          <a:solidFill>
            <a:srgbClr val="E8743B"/>
          </a:solidFill>
          <a:ln/>
        </p:spPr>
        <p:txBody>
          <a:bodyPr/>
          <a:lstStyle/>
          <a:p>
            <a:endParaRPr lang="en-US"/>
          </a:p>
        </p:txBody>
      </p:sp>
      <p:sp>
        <p:nvSpPr>
          <p:cNvPr id="31" name="Text 29"/>
          <p:cNvSpPr/>
          <p:nvPr/>
        </p:nvSpPr>
        <p:spPr>
          <a:xfrm>
            <a:off x="548640" y="4992624"/>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12:40–13:00</a:t>
            </a:r>
            <a:endParaRPr lang="en-US" sz="1400" dirty="0"/>
          </a:p>
        </p:txBody>
      </p:sp>
      <p:sp>
        <p:nvSpPr>
          <p:cNvPr id="32" name="Text 30"/>
          <p:cNvSpPr/>
          <p:nvPr/>
        </p:nvSpPr>
        <p:spPr>
          <a:xfrm>
            <a:off x="2514600" y="4956048"/>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Cierre ejecutivo</a:t>
            </a:r>
            <a:endParaRPr lang="en-US" sz="1700" dirty="0"/>
          </a:p>
        </p:txBody>
      </p:sp>
      <p:sp>
        <p:nvSpPr>
          <p:cNvPr id="33" name="Text 31"/>
          <p:cNvSpPr/>
          <p:nvPr/>
        </p:nvSpPr>
        <p:spPr>
          <a:xfrm>
            <a:off x="7132320" y="4956048"/>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Arquitectura objetivo, backlog, próximos pasos</a:t>
            </a:r>
            <a:endParaRPr lang="en-US" sz="1300" dirty="0"/>
          </a:p>
        </p:txBody>
      </p:sp>
      <p:sp>
        <p:nvSpPr>
          <p:cNvPr id="34"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Qué vimos en los Días 1 y 2</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3515258"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023360"/>
          </a:xfrm>
          <a:prstGeom prst="rect">
            <a:avLst/>
          </a:prstGeom>
          <a:solidFill>
            <a:srgbClr val="E8743B"/>
          </a:solidFill>
          <a:ln/>
        </p:spPr>
        <p:txBody>
          <a:bodyPr/>
          <a:lstStyle/>
          <a:p>
            <a:endParaRPr lang="en-US"/>
          </a:p>
        </p:txBody>
      </p:sp>
      <p:sp>
        <p:nvSpPr>
          <p:cNvPr id="8" name="Shape 6"/>
          <p:cNvSpPr/>
          <p:nvPr/>
        </p:nvSpPr>
        <p:spPr>
          <a:xfrm>
            <a:off x="822960" y="1783080"/>
            <a:ext cx="548640" cy="548640"/>
          </a:xfrm>
          <a:prstGeom prst="ellipse">
            <a:avLst/>
          </a:prstGeom>
          <a:solidFill>
            <a:srgbClr val="E8743B"/>
          </a:solidFill>
          <a:ln/>
        </p:spPr>
        <p:txBody>
          <a:bodyPr/>
          <a:lstStyle/>
          <a:p>
            <a:endParaRPr lang="en-US"/>
          </a:p>
        </p:txBody>
      </p:sp>
      <p:sp>
        <p:nvSpPr>
          <p:cNvPr id="9" name="Text 7"/>
          <p:cNvSpPr/>
          <p:nvPr/>
        </p:nvSpPr>
        <p:spPr>
          <a:xfrm>
            <a:off x="822960"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1</a:t>
            </a:r>
            <a:endParaRPr lang="en-US" sz="1800" dirty="0"/>
          </a:p>
        </p:txBody>
      </p:sp>
      <p:sp>
        <p:nvSpPr>
          <p:cNvPr id="10" name="Text 8"/>
          <p:cNvSpPr/>
          <p:nvPr/>
        </p:nvSpPr>
        <p:spPr>
          <a:xfrm>
            <a:off x="822960" y="2468880"/>
            <a:ext cx="3012338"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Día 1 — Fundamentos</a:t>
            </a:r>
            <a:endParaRPr lang="en-US" sz="2000" dirty="0"/>
          </a:p>
        </p:txBody>
      </p:sp>
      <p:sp>
        <p:nvSpPr>
          <p:cNvPr id="11" name="Text 9"/>
          <p:cNvSpPr/>
          <p:nvPr/>
        </p:nvSpPr>
        <p:spPr>
          <a:xfrm>
            <a:off x="822960" y="3200400"/>
            <a:ext cx="3012338" cy="2011680"/>
          </a:xfrm>
          <a:prstGeom prst="rect">
            <a:avLst/>
          </a:prstGeom>
          <a:noFill/>
          <a:ln/>
        </p:spPr>
        <p:txBody>
          <a:bodyPr wrap="square" lIns="0" tIns="0" rIns="0" bIns="0" rtlCol="0" anchor="t"/>
          <a:lstStyle/>
          <a:p>
            <a:pPr marL="0" indent="0">
              <a:buNone/>
            </a:pPr>
            <a:r>
              <a:rPr lang="en-US" sz="2000" dirty="0">
                <a:solidFill>
                  <a:srgbClr val="1B2A3A"/>
                </a:solidFill>
                <a:latin typeface="Segoe UI" pitchFamily="34" charset="0"/>
                <a:ea typeface="Segoe UI" pitchFamily="34" charset="-122"/>
                <a:cs typeface="Segoe UI" pitchFamily="34" charset="-120"/>
              </a:rPr>
              <a:t>Conceptos de Foundry, agentes, modelos y primeros casos de uso con hosted agents y memoria.</a:t>
            </a:r>
            <a:endParaRPr lang="en-US" sz="2000" dirty="0"/>
          </a:p>
        </p:txBody>
      </p:sp>
      <p:sp>
        <p:nvSpPr>
          <p:cNvPr id="12" name="Shape 10"/>
          <p:cNvSpPr/>
          <p:nvPr/>
        </p:nvSpPr>
        <p:spPr>
          <a:xfrm>
            <a:off x="4338218" y="1508760"/>
            <a:ext cx="3515258"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4338218" y="1508760"/>
            <a:ext cx="82296" cy="4023360"/>
          </a:xfrm>
          <a:prstGeom prst="rect">
            <a:avLst/>
          </a:prstGeom>
          <a:solidFill>
            <a:srgbClr val="E8743B"/>
          </a:solidFill>
          <a:ln/>
        </p:spPr>
        <p:txBody>
          <a:bodyPr/>
          <a:lstStyle/>
          <a:p>
            <a:endParaRPr lang="en-US"/>
          </a:p>
        </p:txBody>
      </p:sp>
      <p:sp>
        <p:nvSpPr>
          <p:cNvPr id="14" name="Shape 12"/>
          <p:cNvSpPr/>
          <p:nvPr/>
        </p:nvSpPr>
        <p:spPr>
          <a:xfrm>
            <a:off x="4612538" y="1783080"/>
            <a:ext cx="548640" cy="548640"/>
          </a:xfrm>
          <a:prstGeom prst="ellipse">
            <a:avLst/>
          </a:prstGeom>
          <a:solidFill>
            <a:srgbClr val="E8743B"/>
          </a:solidFill>
          <a:ln/>
        </p:spPr>
        <p:txBody>
          <a:bodyPr/>
          <a:lstStyle/>
          <a:p>
            <a:endParaRPr lang="en-US"/>
          </a:p>
        </p:txBody>
      </p:sp>
      <p:sp>
        <p:nvSpPr>
          <p:cNvPr id="15" name="Text 13"/>
          <p:cNvSpPr/>
          <p:nvPr/>
        </p:nvSpPr>
        <p:spPr>
          <a:xfrm>
            <a:off x="4612538"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2</a:t>
            </a:r>
            <a:endParaRPr lang="en-US" sz="1800" dirty="0"/>
          </a:p>
        </p:txBody>
      </p:sp>
      <p:sp>
        <p:nvSpPr>
          <p:cNvPr id="16" name="Text 14"/>
          <p:cNvSpPr/>
          <p:nvPr/>
        </p:nvSpPr>
        <p:spPr>
          <a:xfrm>
            <a:off x="4612538" y="2468880"/>
            <a:ext cx="3012338"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Día 2 — Desarrollo e integración</a:t>
            </a:r>
            <a:endParaRPr lang="en-US" sz="2000" dirty="0"/>
          </a:p>
        </p:txBody>
      </p:sp>
      <p:sp>
        <p:nvSpPr>
          <p:cNvPr id="17" name="Text 15"/>
          <p:cNvSpPr/>
          <p:nvPr/>
        </p:nvSpPr>
        <p:spPr>
          <a:xfrm>
            <a:off x="4612538" y="3200400"/>
            <a:ext cx="3012338" cy="2011680"/>
          </a:xfrm>
          <a:prstGeom prst="rect">
            <a:avLst/>
          </a:prstGeom>
          <a:noFill/>
          <a:ln/>
        </p:spPr>
        <p:txBody>
          <a:bodyPr wrap="square" lIns="0" tIns="0" rIns="0" bIns="0" rtlCol="0" anchor="t"/>
          <a:lstStyle/>
          <a:p>
            <a:pPr marL="0" indent="0">
              <a:buNone/>
            </a:pPr>
            <a:r>
              <a:rPr lang="en-US" sz="2000" dirty="0">
                <a:solidFill>
                  <a:srgbClr val="1B2A3A"/>
                </a:solidFill>
                <a:latin typeface="Segoe UI" pitchFamily="34" charset="0"/>
                <a:ea typeface="Segoe UI" pitchFamily="34" charset="-122"/>
                <a:cs typeface="Segoe UI" pitchFamily="34" charset="-120"/>
              </a:rPr>
              <a:t>Construcción de agentes, herramientas, RAG, semantic cache y evaluaciones iniciales.</a:t>
            </a:r>
            <a:endParaRPr lang="en-US" sz="2000" dirty="0"/>
          </a:p>
        </p:txBody>
      </p:sp>
      <p:sp>
        <p:nvSpPr>
          <p:cNvPr id="18" name="Shape 16"/>
          <p:cNvSpPr/>
          <p:nvPr/>
        </p:nvSpPr>
        <p:spPr>
          <a:xfrm>
            <a:off x="8127797" y="1508760"/>
            <a:ext cx="3515258"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9" name="Shape 17"/>
          <p:cNvSpPr/>
          <p:nvPr/>
        </p:nvSpPr>
        <p:spPr>
          <a:xfrm>
            <a:off x="8127797" y="1508760"/>
            <a:ext cx="82296" cy="4023360"/>
          </a:xfrm>
          <a:prstGeom prst="rect">
            <a:avLst/>
          </a:prstGeom>
          <a:solidFill>
            <a:srgbClr val="E8743B"/>
          </a:solidFill>
          <a:ln/>
        </p:spPr>
        <p:txBody>
          <a:bodyPr/>
          <a:lstStyle/>
          <a:p>
            <a:endParaRPr lang="en-US"/>
          </a:p>
        </p:txBody>
      </p:sp>
      <p:sp>
        <p:nvSpPr>
          <p:cNvPr id="20" name="Shape 18"/>
          <p:cNvSpPr/>
          <p:nvPr/>
        </p:nvSpPr>
        <p:spPr>
          <a:xfrm>
            <a:off x="8402117" y="1783080"/>
            <a:ext cx="548640" cy="548640"/>
          </a:xfrm>
          <a:prstGeom prst="ellipse">
            <a:avLst/>
          </a:prstGeom>
          <a:solidFill>
            <a:srgbClr val="E8743B"/>
          </a:solidFill>
          <a:ln/>
        </p:spPr>
        <p:txBody>
          <a:bodyPr/>
          <a:lstStyle/>
          <a:p>
            <a:endParaRPr lang="en-US"/>
          </a:p>
        </p:txBody>
      </p:sp>
      <p:sp>
        <p:nvSpPr>
          <p:cNvPr id="21" name="Text 19"/>
          <p:cNvSpPr/>
          <p:nvPr/>
        </p:nvSpPr>
        <p:spPr>
          <a:xfrm>
            <a:off x="8402117"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3</a:t>
            </a:r>
            <a:endParaRPr lang="en-US" sz="1800" dirty="0"/>
          </a:p>
        </p:txBody>
      </p:sp>
      <p:sp>
        <p:nvSpPr>
          <p:cNvPr id="22" name="Text 20"/>
          <p:cNvSpPr/>
          <p:nvPr/>
        </p:nvSpPr>
        <p:spPr>
          <a:xfrm>
            <a:off x="8402117" y="2468880"/>
            <a:ext cx="3012338"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Hilo conductor</a:t>
            </a:r>
            <a:endParaRPr lang="en-US" sz="2000" dirty="0"/>
          </a:p>
        </p:txBody>
      </p:sp>
      <p:sp>
        <p:nvSpPr>
          <p:cNvPr id="23" name="Text 21"/>
          <p:cNvSpPr/>
          <p:nvPr/>
        </p:nvSpPr>
        <p:spPr>
          <a:xfrm>
            <a:off x="8402117" y="3200400"/>
            <a:ext cx="3012338" cy="2011680"/>
          </a:xfrm>
          <a:prstGeom prst="rect">
            <a:avLst/>
          </a:prstGeom>
          <a:noFill/>
          <a:ln/>
        </p:spPr>
        <p:txBody>
          <a:bodyPr wrap="square" lIns="0" tIns="0" rIns="0" bIns="0" rtlCol="0" anchor="t"/>
          <a:lstStyle/>
          <a:p>
            <a:pPr marL="0" indent="0">
              <a:buNone/>
            </a:pPr>
            <a:r>
              <a:rPr lang="en-US" sz="2000" dirty="0">
                <a:solidFill>
                  <a:srgbClr val="1B2A3A"/>
                </a:solidFill>
                <a:latin typeface="Segoe UI" pitchFamily="34" charset="0"/>
                <a:ea typeface="Segoe UI" pitchFamily="34" charset="-122"/>
                <a:cs typeface="Segoe UI" pitchFamily="34" charset="-120"/>
              </a:rPr>
              <a:t>De 'tener un agente que funciona' a 'operar una plataforma de agentes segura y escalable'.</a:t>
            </a:r>
            <a:endParaRPr lang="en-US" sz="2000" dirty="0"/>
          </a:p>
        </p:txBody>
      </p:sp>
      <p:sp>
        <p:nvSpPr>
          <p:cNvPr id="24" name="Text 22"/>
          <p:cNvSpPr/>
          <p:nvPr/>
        </p:nvSpPr>
        <p:spPr>
          <a:xfrm>
            <a:off x="548640" y="5669280"/>
            <a:ext cx="11094415" cy="502920"/>
          </a:xfrm>
          <a:prstGeom prst="rect">
            <a:avLst/>
          </a:prstGeom>
          <a:noFill/>
          <a:ln/>
        </p:spPr>
        <p:txBody>
          <a:bodyPr wrap="square" lIns="0" tIns="0" rIns="0" bIns="0" rtlCol="0" anchor="ctr"/>
          <a:lstStyle/>
          <a:p>
            <a:pPr marL="0" indent="0">
              <a:buNone/>
            </a:pPr>
            <a:r>
              <a:rPr lang="en-US" sz="1500" i="1" dirty="0">
                <a:solidFill>
                  <a:srgbClr val="5B6B7B"/>
                </a:solidFill>
                <a:latin typeface="Segoe UI" pitchFamily="34" charset="0"/>
                <a:ea typeface="Segoe UI" pitchFamily="34" charset="-122"/>
                <a:cs typeface="Segoe UI" pitchFamily="34" charset="-120"/>
              </a:rPr>
              <a:t>Hoy damos el salto de capacidades a plataforma empresarial.</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Objetivos y método del Día 3</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7040880"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E8743B"/>
          </a:solidFill>
          <a:ln/>
        </p:spPr>
        <p:txBody>
          <a:bodyPr/>
          <a:lstStyle/>
          <a:p>
            <a:endParaRPr lang="en-US"/>
          </a:p>
        </p:txBody>
      </p:sp>
      <p:sp>
        <p:nvSpPr>
          <p:cNvPr id="8" name="Text 6"/>
          <p:cNvSpPr/>
          <p:nvPr/>
        </p:nvSpPr>
        <p:spPr>
          <a:xfrm>
            <a:off x="868680" y="1737360"/>
            <a:ext cx="6400800" cy="429768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1B2A3A"/>
                </a:solidFill>
                <a:latin typeface="Segoe UI" pitchFamily="34" charset="0"/>
                <a:ea typeface="Segoe UI" pitchFamily="34" charset="-122"/>
                <a:cs typeface="Segoe UI" pitchFamily="34" charset="-120"/>
              </a:rPr>
              <a:t>Diagnosticar un agente con observabilidad: leer trazas, depurar fallas y evaluar su calidad.</a:t>
            </a:r>
            <a:endParaRPr lang="en-US" sz="1900" dirty="0"/>
          </a:p>
          <a:p>
            <a:pPr marL="228600" indent="-228600">
              <a:spcAft>
                <a:spcPts val="1000"/>
              </a:spcAft>
              <a:buSzPct val="100000"/>
              <a:buChar char="•"/>
            </a:pPr>
            <a:r>
              <a:rPr lang="en-US" sz="1900" dirty="0">
                <a:solidFill>
                  <a:srgbClr val="1B2A3A"/>
                </a:solidFill>
                <a:latin typeface="Segoe UI" pitchFamily="34" charset="0"/>
                <a:ea typeface="Segoe UI" pitchFamily="34" charset="-122"/>
                <a:cs typeface="Segoe UI" pitchFamily="34" charset="-120"/>
              </a:rPr>
              <a:t>Diseñar con criterio cuándo usar protocolos de interoperabilidad (MCP, A2A) y patrones multiagente.</a:t>
            </a:r>
            <a:endParaRPr lang="en-US" sz="1900" dirty="0"/>
          </a:p>
          <a:p>
            <a:pPr marL="228600" indent="-228600">
              <a:spcAft>
                <a:spcPts val="1000"/>
              </a:spcAft>
              <a:buSzPct val="100000"/>
              <a:buChar char="•"/>
            </a:pPr>
            <a:r>
              <a:rPr lang="en-US" sz="1900" dirty="0">
                <a:solidFill>
                  <a:srgbClr val="1B2A3A"/>
                </a:solidFill>
                <a:latin typeface="Segoe UI" pitchFamily="34" charset="0"/>
                <a:ea typeface="Segoe UI" pitchFamily="34" charset="-122"/>
                <a:cs typeface="Segoe UI" pitchFamily="34" charset="-120"/>
              </a:rPr>
              <a:t>Diseñar una arquitectura empresarial con Hosted Agents, Session Gateway y AI Gateway/APIM.</a:t>
            </a:r>
            <a:endParaRPr lang="en-US" sz="1900" dirty="0"/>
          </a:p>
          <a:p>
            <a:pPr marL="228600" indent="-228600">
              <a:spcAft>
                <a:spcPts val="1000"/>
              </a:spcAft>
              <a:buSzPct val="100000"/>
              <a:buChar char="•"/>
            </a:pPr>
            <a:r>
              <a:rPr lang="en-US" sz="1900" dirty="0">
                <a:solidFill>
                  <a:srgbClr val="1B2A3A"/>
                </a:solidFill>
                <a:latin typeface="Segoe UI" pitchFamily="34" charset="0"/>
                <a:ea typeface="Segoe UI" pitchFamily="34" charset="-122"/>
                <a:cs typeface="Segoe UI" pitchFamily="34" charset="-120"/>
              </a:rPr>
              <a:t>Aplicar seguridad, Responsible AI, guardrails y red teaming a agentes y herramientas.</a:t>
            </a:r>
            <a:endParaRPr lang="en-US" sz="1900" dirty="0"/>
          </a:p>
          <a:p>
            <a:pPr marL="228600" indent="-228600">
              <a:spcAft>
                <a:spcPts val="1000"/>
              </a:spcAft>
              <a:buSzPct val="100000"/>
              <a:buChar char="•"/>
            </a:pPr>
            <a:r>
              <a:rPr lang="en-US" sz="1900" dirty="0">
                <a:solidFill>
                  <a:srgbClr val="1B2A3A"/>
                </a:solidFill>
                <a:latin typeface="Segoe UI" pitchFamily="34" charset="0"/>
                <a:ea typeface="Segoe UI" pitchFamily="34" charset="-122"/>
                <a:cs typeface="Segoe UI" pitchFamily="34" charset="-120"/>
              </a:rPr>
              <a:t>Cerrar con una arquitectura objetivo y un backlog priorizado para un caso propio.</a:t>
            </a:r>
            <a:endParaRPr lang="en-US" sz="1900" dirty="0"/>
          </a:p>
        </p:txBody>
      </p:sp>
      <p:sp>
        <p:nvSpPr>
          <p:cNvPr id="9" name="Shape 7"/>
          <p:cNvSpPr/>
          <p:nvPr/>
        </p:nvSpPr>
        <p:spPr>
          <a:xfrm>
            <a:off x="7863840" y="1508760"/>
            <a:ext cx="3779215" cy="4754880"/>
          </a:xfrm>
          <a:prstGeom prst="rect">
            <a:avLst/>
          </a:prstGeom>
          <a:solidFill>
            <a:srgbClr val="0B1F33"/>
          </a:solidFill>
          <a:ln/>
        </p:spPr>
        <p:txBody>
          <a:bodyPr/>
          <a:lstStyle/>
          <a:p>
            <a:endParaRPr lang="en-US"/>
          </a:p>
        </p:txBody>
      </p:sp>
      <p:sp>
        <p:nvSpPr>
          <p:cNvPr id="10" name="Text 8"/>
          <p:cNvSpPr/>
          <p:nvPr/>
        </p:nvSpPr>
        <p:spPr>
          <a:xfrm>
            <a:off x="8183880" y="1828800"/>
            <a:ext cx="3139135" cy="320040"/>
          </a:xfrm>
          <a:prstGeom prst="rect">
            <a:avLst/>
          </a:prstGeom>
          <a:noFill/>
          <a:ln/>
        </p:spPr>
        <p:txBody>
          <a:bodyPr wrap="square" lIns="0" tIns="0" rIns="0" bIns="0" rtlCol="0" anchor="ctr"/>
          <a:lstStyle/>
          <a:p>
            <a:pPr marL="0" indent="0">
              <a:buNone/>
            </a:pPr>
            <a:r>
              <a:rPr lang="en-US" sz="1300" b="1" dirty="0">
                <a:solidFill>
                  <a:srgbClr val="F5B83D"/>
                </a:solidFill>
                <a:latin typeface="Segoe UI Semibold" pitchFamily="34" charset="0"/>
                <a:ea typeface="Segoe UI Semibold" pitchFamily="34" charset="-122"/>
                <a:cs typeface="Segoe UI Semibold" pitchFamily="34" charset="-120"/>
              </a:rPr>
              <a:t>CLAVE</a:t>
            </a:r>
            <a:endParaRPr lang="en-US" sz="1300" dirty="0"/>
          </a:p>
        </p:txBody>
      </p:sp>
      <p:sp>
        <p:nvSpPr>
          <p:cNvPr id="11" name="Text 9"/>
          <p:cNvSpPr/>
          <p:nvPr/>
        </p:nvSpPr>
        <p:spPr>
          <a:xfrm>
            <a:off x="8183880" y="2286000"/>
            <a:ext cx="3139135" cy="3657600"/>
          </a:xfrm>
          <a:prstGeom prst="rect">
            <a:avLst/>
          </a:prstGeom>
          <a:noFill/>
          <a:ln/>
        </p:spPr>
        <p:txBody>
          <a:bodyPr wrap="square" lIns="0" tIns="0" rIns="0" bIns="0" rtlCol="0" anchor="t"/>
          <a:lstStyle/>
          <a:p>
            <a:pPr marL="0" indent="0">
              <a:buNone/>
            </a:pPr>
            <a:r>
              <a:rPr lang="en-US" sz="2200" dirty="0">
                <a:solidFill>
                  <a:srgbClr val="FFFFFF"/>
                </a:solidFill>
                <a:latin typeface="Segoe UI" pitchFamily="34" charset="0"/>
                <a:ea typeface="Segoe UI" pitchFamily="34" charset="-122"/>
                <a:cs typeface="Segoe UI" pitchFamily="34" charset="-120"/>
              </a:rPr>
              <a:t>Método: profundización técnica + decisiones de arquitectura + threat modeling + taller aplicado.</a:t>
            </a:r>
            <a:endParaRPr lang="en-US" sz="2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E8743B">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E8743B">
              <a:alpha val="10000"/>
            </a:srgbClr>
          </a:solidFill>
          <a:ln/>
        </p:spPr>
        <p:txBody>
          <a:bodyPr/>
          <a:lstStyle/>
          <a:p>
            <a:endParaRPr lang="en-US"/>
          </a:p>
        </p:txBody>
      </p:sp>
      <p:sp>
        <p:nvSpPr>
          <p:cNvPr id="4" name="Text 2"/>
          <p:cNvSpPr/>
          <p:nvPr/>
        </p:nvSpPr>
        <p:spPr>
          <a:xfrm>
            <a:off x="548640" y="777240"/>
            <a:ext cx="3657600" cy="2194560"/>
          </a:xfrm>
          <a:prstGeom prst="rect">
            <a:avLst/>
          </a:prstGeom>
          <a:noFill/>
          <a:ln/>
        </p:spPr>
        <p:txBody>
          <a:bodyPr wrap="square" lIns="0" tIns="0" rIns="0" bIns="0" rtlCol="0" anchor="ctr"/>
          <a:lstStyle/>
          <a:p>
            <a:pPr marL="0" indent="0">
              <a:buNone/>
            </a:pPr>
            <a:r>
              <a:rPr lang="en-US" sz="12000" b="1" dirty="0">
                <a:solidFill>
                  <a:srgbClr val="E8743B"/>
                </a:solidFill>
                <a:latin typeface="Segoe UI Semibold" pitchFamily="34" charset="0"/>
                <a:ea typeface="Segoe UI Semibold" pitchFamily="34" charset="-122"/>
                <a:cs typeface="Segoe UI Semibold" pitchFamily="34" charset="-120"/>
              </a:rPr>
              <a:t>01</a:t>
            </a:r>
            <a:endParaRPr lang="en-US" sz="12000" dirty="0"/>
          </a:p>
        </p:txBody>
      </p:sp>
      <p:sp>
        <p:nvSpPr>
          <p:cNvPr id="5" name="Text 3"/>
          <p:cNvSpPr/>
          <p:nvPr/>
        </p:nvSpPr>
        <p:spPr>
          <a:xfrm>
            <a:off x="548640" y="3108960"/>
            <a:ext cx="9326880" cy="1508760"/>
          </a:xfrm>
          <a:prstGeom prst="rect">
            <a:avLst/>
          </a:prstGeom>
          <a:noFill/>
          <a:ln/>
        </p:spPr>
        <p:txBody>
          <a:bodyPr wrap="square" lIns="0" tIns="0" rIns="0" bIns="0" rtlCol="0" anchor="t"/>
          <a:lstStyle/>
          <a:p>
            <a:pPr marL="0" indent="0">
              <a:buNone/>
            </a:pPr>
            <a:r>
              <a:rPr lang="en-US" sz="4400" b="1" dirty="0">
                <a:solidFill>
                  <a:srgbClr val="FFFFFF"/>
                </a:solidFill>
                <a:latin typeface="Segoe UI Semibold" pitchFamily="34" charset="0"/>
                <a:ea typeface="Segoe UI Semibold" pitchFamily="34" charset="-122"/>
                <a:cs typeface="Segoe UI Semibold" pitchFamily="34" charset="-120"/>
              </a:rPr>
              <a:t>Observabilidad y ciclo de vida</a:t>
            </a:r>
            <a:endParaRPr lang="en-US" sz="4400" dirty="0"/>
          </a:p>
        </p:txBody>
      </p:sp>
      <p:sp>
        <p:nvSpPr>
          <p:cNvPr id="6" name="Text 4"/>
          <p:cNvSpPr/>
          <p:nvPr/>
        </p:nvSpPr>
        <p:spPr>
          <a:xfrm>
            <a:off x="548640" y="4754880"/>
            <a:ext cx="8595360" cy="914400"/>
          </a:xfrm>
          <a:prstGeom prst="rect">
            <a:avLst/>
          </a:prstGeom>
          <a:noFill/>
          <a:ln/>
        </p:spPr>
        <p:txBody>
          <a:bodyPr wrap="square" lIns="0" tIns="0" rIns="0" bIns="0" rtlCol="0" anchor="t"/>
          <a:lstStyle/>
          <a:p>
            <a:pPr marL="0" indent="0">
              <a:buNone/>
            </a:pPr>
            <a:r>
              <a:rPr lang="en-US" sz="2000" dirty="0">
                <a:solidFill>
                  <a:srgbClr val="C9D7E4"/>
                </a:solidFill>
                <a:latin typeface="Segoe UI" pitchFamily="34" charset="0"/>
                <a:ea typeface="Segoe UI" pitchFamily="34" charset="-122"/>
                <a:cs typeface="Segoe UI" pitchFamily="34" charset="-120"/>
              </a:rPr>
              <a:t>De trazas a decisiones: depurar y evaluar un agente</a:t>
            </a:r>
            <a:endParaRPr lang="en-US" sz="2000" dirty="0"/>
          </a:p>
        </p:txBody>
      </p:sp>
      <p:sp>
        <p:nvSpPr>
          <p:cNvPr id="7" name="Shape 5"/>
          <p:cNvSpPr/>
          <p:nvPr/>
        </p:nvSpPr>
        <p:spPr>
          <a:xfrm>
            <a:off x="548640" y="5852160"/>
            <a:ext cx="1371600" cy="384048"/>
          </a:xfrm>
          <a:prstGeom prst="roundRect">
            <a:avLst>
              <a:gd name="adj" fmla="val 23810"/>
            </a:avLst>
          </a:prstGeom>
          <a:solidFill>
            <a:srgbClr val="0B1F33"/>
          </a:solidFill>
          <a:ln w="15875">
            <a:solidFill>
              <a:srgbClr val="F5B83D"/>
            </a:solidFill>
            <a:prstDash val="solid"/>
          </a:ln>
        </p:spPr>
        <p:txBody>
          <a:bodyPr/>
          <a:lstStyle/>
          <a:p>
            <a:endParaRPr lang="en-US"/>
          </a:p>
        </p:txBody>
      </p:sp>
      <p:sp>
        <p:nvSpPr>
          <p:cNvPr id="8" name="Text 6"/>
          <p:cNvSpPr/>
          <p:nvPr/>
        </p:nvSpPr>
        <p:spPr>
          <a:xfrm>
            <a:off x="548640" y="5852160"/>
            <a:ext cx="1371600" cy="384048"/>
          </a:xfrm>
          <a:prstGeom prst="rect">
            <a:avLst/>
          </a:prstGeom>
          <a:noFill/>
          <a:ln/>
        </p:spPr>
        <p:txBody>
          <a:bodyPr wrap="square" lIns="0" tIns="0" rIns="0" bIns="0" rtlCol="0" anchor="ctr"/>
          <a:lstStyle/>
          <a:p>
            <a:pPr marL="0" indent="0" algn="ctr">
              <a:buNone/>
            </a:pPr>
            <a:r>
              <a:rPr lang="en-US" sz="1300" b="1" dirty="0">
                <a:solidFill>
                  <a:srgbClr val="F5B83D"/>
                </a:solidFill>
                <a:latin typeface="Segoe UI Semibold" pitchFamily="34" charset="0"/>
                <a:ea typeface="Segoe UI Semibold" pitchFamily="34" charset="-122"/>
                <a:cs typeface="Segoe UI Semibold" pitchFamily="34" charset="-120"/>
              </a:rPr>
              <a:t>30 min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Cómo viaja una traza en Foundry</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914400" y="2331720"/>
            <a:ext cx="8320811" cy="0"/>
          </a:xfrm>
          <a:prstGeom prst="line">
            <a:avLst/>
          </a:prstGeom>
          <a:noFill/>
          <a:ln w="38100">
            <a:solidFill>
              <a:srgbClr val="C9D7E4"/>
            </a:solidFill>
            <a:prstDash val="solid"/>
          </a:ln>
        </p:spPr>
        <p:txBody>
          <a:bodyPr/>
          <a:lstStyle/>
          <a:p>
            <a:endParaRPr lang="en-US"/>
          </a:p>
        </p:txBody>
      </p:sp>
      <p:sp>
        <p:nvSpPr>
          <p:cNvPr id="7" name="Shape 5"/>
          <p:cNvSpPr/>
          <p:nvPr/>
        </p:nvSpPr>
        <p:spPr>
          <a:xfrm>
            <a:off x="548640" y="1965960"/>
            <a:ext cx="731520" cy="731520"/>
          </a:xfrm>
          <a:prstGeom prst="ellipse">
            <a:avLst/>
          </a:prstGeom>
          <a:solidFill>
            <a:srgbClr val="E8743B"/>
          </a:solidFill>
          <a:ln/>
        </p:spPr>
        <p:txBody>
          <a:bodyPr/>
          <a:lstStyle/>
          <a:p>
            <a:endParaRPr lang="en-US"/>
          </a:p>
        </p:txBody>
      </p:sp>
      <p:sp>
        <p:nvSpPr>
          <p:cNvPr id="8" name="Text 6"/>
          <p:cNvSpPr/>
          <p:nvPr/>
        </p:nvSpPr>
        <p:spPr>
          <a:xfrm>
            <a:off x="548640"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1</a:t>
            </a:r>
            <a:endParaRPr lang="en-US" sz="2200" dirty="0"/>
          </a:p>
        </p:txBody>
      </p:sp>
      <p:sp>
        <p:nvSpPr>
          <p:cNvPr id="9" name="Text 7"/>
          <p:cNvSpPr/>
          <p:nvPr/>
        </p:nvSpPr>
        <p:spPr>
          <a:xfrm>
            <a:off x="548640"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Instrumentación</a:t>
            </a:r>
            <a:endParaRPr lang="en-US" sz="2000" dirty="0"/>
          </a:p>
        </p:txBody>
      </p:sp>
      <p:sp>
        <p:nvSpPr>
          <p:cNvPr id="10" name="Shape 8"/>
          <p:cNvSpPr/>
          <p:nvPr/>
        </p:nvSpPr>
        <p:spPr>
          <a:xfrm>
            <a:off x="548640"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9"/>
          <p:cNvSpPr/>
          <p:nvPr/>
        </p:nvSpPr>
        <p:spPr>
          <a:xfrm>
            <a:off x="548640" y="3657600"/>
            <a:ext cx="82296" cy="2514600"/>
          </a:xfrm>
          <a:prstGeom prst="rect">
            <a:avLst/>
          </a:prstGeom>
          <a:solidFill>
            <a:srgbClr val="E8743B"/>
          </a:solidFill>
          <a:ln/>
        </p:spPr>
        <p:txBody>
          <a:bodyPr/>
          <a:lstStyle/>
          <a:p>
            <a:endParaRPr lang="en-US"/>
          </a:p>
        </p:txBody>
      </p:sp>
      <p:sp>
        <p:nvSpPr>
          <p:cNvPr id="12" name="Text 10"/>
          <p:cNvSpPr/>
          <p:nvPr/>
        </p:nvSpPr>
        <p:spPr>
          <a:xfrm>
            <a:off x="777240"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El agente (o Agent Framework) emite spans con convenciones OpenTelemetry GenAI</a:t>
            </a:r>
            <a:endParaRPr lang="en-US" sz="1900" dirty="0"/>
          </a:p>
        </p:txBody>
      </p:sp>
      <p:sp>
        <p:nvSpPr>
          <p:cNvPr id="13" name="Shape 11"/>
          <p:cNvSpPr/>
          <p:nvPr/>
        </p:nvSpPr>
        <p:spPr>
          <a:xfrm>
            <a:off x="3322244" y="1965960"/>
            <a:ext cx="731520" cy="731520"/>
          </a:xfrm>
          <a:prstGeom prst="ellipse">
            <a:avLst/>
          </a:prstGeom>
          <a:solidFill>
            <a:srgbClr val="0B1F33"/>
          </a:solidFill>
          <a:ln/>
        </p:spPr>
        <p:txBody>
          <a:bodyPr/>
          <a:lstStyle/>
          <a:p>
            <a:endParaRPr lang="en-US"/>
          </a:p>
        </p:txBody>
      </p:sp>
      <p:sp>
        <p:nvSpPr>
          <p:cNvPr id="14" name="Text 12"/>
          <p:cNvSpPr/>
          <p:nvPr/>
        </p:nvSpPr>
        <p:spPr>
          <a:xfrm>
            <a:off x="3322244"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2</a:t>
            </a:r>
            <a:endParaRPr lang="en-US" sz="2200" dirty="0"/>
          </a:p>
        </p:txBody>
      </p:sp>
      <p:sp>
        <p:nvSpPr>
          <p:cNvPr id="15" name="Text 13"/>
          <p:cNvSpPr/>
          <p:nvPr/>
        </p:nvSpPr>
        <p:spPr>
          <a:xfrm>
            <a:off x="3322244"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Exportación</a:t>
            </a:r>
            <a:endParaRPr lang="en-US" sz="2000" dirty="0"/>
          </a:p>
        </p:txBody>
      </p:sp>
      <p:sp>
        <p:nvSpPr>
          <p:cNvPr id="16" name="Shape 14"/>
          <p:cNvSpPr/>
          <p:nvPr/>
        </p:nvSpPr>
        <p:spPr>
          <a:xfrm>
            <a:off x="3322244"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3322244" y="3657600"/>
            <a:ext cx="82296" cy="2514600"/>
          </a:xfrm>
          <a:prstGeom prst="rect">
            <a:avLst/>
          </a:prstGeom>
          <a:solidFill>
            <a:srgbClr val="0B1F33"/>
          </a:solidFill>
          <a:ln/>
        </p:spPr>
        <p:txBody>
          <a:bodyPr/>
          <a:lstStyle/>
          <a:p>
            <a:endParaRPr lang="en-US"/>
          </a:p>
        </p:txBody>
      </p:sp>
      <p:sp>
        <p:nvSpPr>
          <p:cNvPr id="18" name="Text 16"/>
          <p:cNvSpPr/>
          <p:nvPr/>
        </p:nvSpPr>
        <p:spPr>
          <a:xfrm>
            <a:off x="3550844"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Las trazas salen por OTLP hacia Application Insights u otro backend</a:t>
            </a:r>
            <a:endParaRPr lang="en-US" sz="1900" dirty="0"/>
          </a:p>
        </p:txBody>
      </p:sp>
      <p:sp>
        <p:nvSpPr>
          <p:cNvPr id="19" name="Shape 17"/>
          <p:cNvSpPr/>
          <p:nvPr/>
        </p:nvSpPr>
        <p:spPr>
          <a:xfrm>
            <a:off x="6095848" y="1965960"/>
            <a:ext cx="731520" cy="731520"/>
          </a:xfrm>
          <a:prstGeom prst="ellipse">
            <a:avLst/>
          </a:prstGeom>
          <a:solidFill>
            <a:srgbClr val="E8743B"/>
          </a:solidFill>
          <a:ln/>
        </p:spPr>
        <p:txBody>
          <a:bodyPr/>
          <a:lstStyle/>
          <a:p>
            <a:endParaRPr lang="en-US"/>
          </a:p>
        </p:txBody>
      </p:sp>
      <p:sp>
        <p:nvSpPr>
          <p:cNvPr id="20" name="Text 18"/>
          <p:cNvSpPr/>
          <p:nvPr/>
        </p:nvSpPr>
        <p:spPr>
          <a:xfrm>
            <a:off x="6095848"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3</a:t>
            </a:r>
            <a:endParaRPr lang="en-US" sz="2200" dirty="0"/>
          </a:p>
        </p:txBody>
      </p:sp>
      <p:sp>
        <p:nvSpPr>
          <p:cNvPr id="21" name="Text 19"/>
          <p:cNvSpPr/>
          <p:nvPr/>
        </p:nvSpPr>
        <p:spPr>
          <a:xfrm>
            <a:off x="6095848"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Almacenamiento</a:t>
            </a:r>
            <a:endParaRPr lang="en-US" sz="2000" dirty="0"/>
          </a:p>
        </p:txBody>
      </p:sp>
      <p:sp>
        <p:nvSpPr>
          <p:cNvPr id="22" name="Shape 20"/>
          <p:cNvSpPr/>
          <p:nvPr/>
        </p:nvSpPr>
        <p:spPr>
          <a:xfrm>
            <a:off x="6095848"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1"/>
          <p:cNvSpPr/>
          <p:nvPr/>
        </p:nvSpPr>
        <p:spPr>
          <a:xfrm>
            <a:off x="6095848" y="3657600"/>
            <a:ext cx="82296" cy="2514600"/>
          </a:xfrm>
          <a:prstGeom prst="rect">
            <a:avLst/>
          </a:prstGeom>
          <a:solidFill>
            <a:srgbClr val="E8743B"/>
          </a:solidFill>
          <a:ln/>
        </p:spPr>
        <p:txBody>
          <a:bodyPr/>
          <a:lstStyle/>
          <a:p>
            <a:endParaRPr lang="en-US"/>
          </a:p>
        </p:txBody>
      </p:sp>
      <p:sp>
        <p:nvSpPr>
          <p:cNvPr id="24" name="Text 22"/>
          <p:cNvSpPr/>
          <p:nvPr/>
        </p:nvSpPr>
        <p:spPr>
          <a:xfrm>
            <a:off x="6324448"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Azure Monitor guarda spans anidados: invoke_agent, execute_tool, plan</a:t>
            </a:r>
            <a:endParaRPr lang="en-US" sz="1900" dirty="0"/>
          </a:p>
        </p:txBody>
      </p:sp>
      <p:sp>
        <p:nvSpPr>
          <p:cNvPr id="25" name="Shape 23"/>
          <p:cNvSpPr/>
          <p:nvPr/>
        </p:nvSpPr>
        <p:spPr>
          <a:xfrm>
            <a:off x="8869451" y="1965960"/>
            <a:ext cx="731520" cy="731520"/>
          </a:xfrm>
          <a:prstGeom prst="ellipse">
            <a:avLst/>
          </a:prstGeom>
          <a:solidFill>
            <a:srgbClr val="0B1F33"/>
          </a:solidFill>
          <a:ln/>
        </p:spPr>
        <p:txBody>
          <a:bodyPr/>
          <a:lstStyle/>
          <a:p>
            <a:endParaRPr lang="en-US"/>
          </a:p>
        </p:txBody>
      </p:sp>
      <p:sp>
        <p:nvSpPr>
          <p:cNvPr id="26" name="Text 24"/>
          <p:cNvSpPr/>
          <p:nvPr/>
        </p:nvSpPr>
        <p:spPr>
          <a:xfrm>
            <a:off x="8869451"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4</a:t>
            </a:r>
            <a:endParaRPr lang="en-US" sz="2200" dirty="0"/>
          </a:p>
        </p:txBody>
      </p:sp>
      <p:sp>
        <p:nvSpPr>
          <p:cNvPr id="27" name="Text 25"/>
          <p:cNvSpPr/>
          <p:nvPr/>
        </p:nvSpPr>
        <p:spPr>
          <a:xfrm>
            <a:off x="8869451"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Análisis</a:t>
            </a:r>
            <a:endParaRPr lang="en-US" sz="2000" dirty="0"/>
          </a:p>
        </p:txBody>
      </p:sp>
      <p:sp>
        <p:nvSpPr>
          <p:cNvPr id="28" name="Shape 26"/>
          <p:cNvSpPr/>
          <p:nvPr/>
        </p:nvSpPr>
        <p:spPr>
          <a:xfrm>
            <a:off x="8869451"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9" name="Shape 27"/>
          <p:cNvSpPr/>
          <p:nvPr/>
        </p:nvSpPr>
        <p:spPr>
          <a:xfrm>
            <a:off x="8869451" y="3657600"/>
            <a:ext cx="82296" cy="2514600"/>
          </a:xfrm>
          <a:prstGeom prst="rect">
            <a:avLst/>
          </a:prstGeom>
          <a:solidFill>
            <a:srgbClr val="0B1F33"/>
          </a:solidFill>
          <a:ln/>
        </p:spPr>
        <p:txBody>
          <a:bodyPr/>
          <a:lstStyle/>
          <a:p>
            <a:endParaRPr lang="en-US"/>
          </a:p>
        </p:txBody>
      </p:sp>
      <p:sp>
        <p:nvSpPr>
          <p:cNvPr id="30" name="Text 28"/>
          <p:cNvSpPr/>
          <p:nvPr/>
        </p:nvSpPr>
        <p:spPr>
          <a:xfrm>
            <a:off x="9098051"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Portal de Foundry o Application Insights para inspeccionar paso a paso</a:t>
            </a:r>
            <a:endParaRPr lang="en-US" sz="1900" dirty="0"/>
          </a:p>
        </p:txBody>
      </p:sp>
      <p:sp>
        <p:nvSpPr>
          <p:cNvPr id="31"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2900" b="1" dirty="0">
                <a:solidFill>
                  <a:srgbClr val="0B1F33"/>
                </a:solidFill>
                <a:latin typeface="Segoe UI Semibold" pitchFamily="34" charset="0"/>
                <a:ea typeface="Segoe UI Semibold" pitchFamily="34" charset="-122"/>
                <a:cs typeface="Segoe UI Semibold" pitchFamily="34" charset="-120"/>
              </a:rPr>
              <a:t>Qué registrar (y qué nunca registrar) en una traza</a:t>
            </a:r>
            <a:endParaRPr lang="en-US" sz="29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E8743B"/>
          </a:solidFill>
          <a:ln/>
        </p:spPr>
        <p:txBody>
          <a:bodyPr/>
          <a:lstStyle/>
          <a:p>
            <a:endParaRPr lang="en-US"/>
          </a:p>
        </p:txBody>
      </p:sp>
      <p:sp>
        <p:nvSpPr>
          <p:cNvPr id="8" name="Text 6"/>
          <p:cNvSpPr/>
          <p:nvPr/>
        </p:nvSpPr>
        <p:spPr>
          <a:xfrm>
            <a:off x="868680" y="1737360"/>
            <a:ext cx="10454335" cy="4297680"/>
          </a:xfrm>
          <a:prstGeom prst="rect">
            <a:avLst/>
          </a:prstGeom>
          <a:noFill/>
          <a:ln/>
        </p:spPr>
        <p:txBody>
          <a:bodyPr wrap="square" lIns="0" tIns="0" rIns="0" bIns="0" rtlCol="0" anchor="t"/>
          <a:lstStyle/>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Registra entradas, salidas, llamadas a tools, tokens y latencias de cada paso</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Cada tool call guarda sus argumentos y su resultado como atributos del span</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Filtra secretos, credenciales y datos personales antes de que lleguen a la traza</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Trata los datos de traza con los mismos controles de acceso que un log de producción</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Correlaciona el ID de la corrida de evaluación con la traza para analizar todo junto</a:t>
            </a:r>
            <a:endParaRPr lang="en-US" sz="2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Diagnóstico rápido de un hosted agent</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2567864"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E8743B"/>
          </a:solidFill>
          <a:ln/>
        </p:spPr>
        <p:txBody>
          <a:bodyPr/>
          <a:lstStyle/>
          <a:p>
            <a:endParaRPr lang="en-US"/>
          </a:p>
        </p:txBody>
      </p:sp>
      <p:sp>
        <p:nvSpPr>
          <p:cNvPr id="8" name="Shape 6"/>
          <p:cNvSpPr/>
          <p:nvPr/>
        </p:nvSpPr>
        <p:spPr>
          <a:xfrm>
            <a:off x="822960" y="1783080"/>
            <a:ext cx="548640" cy="548640"/>
          </a:xfrm>
          <a:prstGeom prst="ellipse">
            <a:avLst/>
          </a:prstGeom>
          <a:solidFill>
            <a:srgbClr val="E8743B"/>
          </a:solidFill>
          <a:ln/>
        </p:spPr>
        <p:txBody>
          <a:bodyPr/>
          <a:lstStyle/>
          <a:p>
            <a:endParaRPr lang="en-US"/>
          </a:p>
        </p:txBody>
      </p:sp>
      <p:sp>
        <p:nvSpPr>
          <p:cNvPr id="9" name="Text 7"/>
          <p:cNvSpPr/>
          <p:nvPr/>
        </p:nvSpPr>
        <p:spPr>
          <a:xfrm>
            <a:off x="822960"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1</a:t>
            </a:r>
            <a:endParaRPr lang="en-US" sz="1800" dirty="0"/>
          </a:p>
        </p:txBody>
      </p:sp>
      <p:sp>
        <p:nvSpPr>
          <p:cNvPr id="10" name="Text 8"/>
          <p:cNvSpPr/>
          <p:nvPr/>
        </p:nvSpPr>
        <p:spPr>
          <a:xfrm>
            <a:off x="822960" y="2468880"/>
            <a:ext cx="2064944"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No responde</a:t>
            </a:r>
            <a:endParaRPr lang="en-US" sz="2000" dirty="0"/>
          </a:p>
        </p:txBody>
      </p:sp>
      <p:sp>
        <p:nvSpPr>
          <p:cNvPr id="11" name="Text 9"/>
          <p:cNvSpPr/>
          <p:nvPr/>
        </p:nvSpPr>
        <p:spPr>
          <a:xfrm>
            <a:off x="822960" y="3200400"/>
            <a:ext cx="2064944" cy="2743200"/>
          </a:xfrm>
          <a:prstGeom prst="rect">
            <a:avLst/>
          </a:prstGeom>
          <a:noFill/>
          <a:ln/>
        </p:spPr>
        <p:txBody>
          <a:bodyPr wrap="square" lIns="0" tIns="0" rIns="0" bIns="0" rtlCol="0" anchor="t"/>
          <a:lstStyle/>
          <a:p>
            <a:pPr marL="0" indent="0">
              <a:buNone/>
            </a:pPr>
            <a:r>
              <a:rPr lang="en-US" sz="2000" dirty="0">
                <a:solidFill>
                  <a:srgbClr val="1B2A3A"/>
                </a:solidFill>
                <a:latin typeface="Segoe UI" pitchFamily="34" charset="0"/>
                <a:ea typeface="Segoe UI" pitchFamily="34" charset="-122"/>
                <a:cs typeface="Segoe UI" pitchFamily="34" charset="-120"/>
              </a:rPr>
              <a:t>Revisa logs del contenedor: eventos de arranque, crashes y reinicios antes de mirar el modelo</a:t>
            </a:r>
            <a:endParaRPr lang="en-US" sz="2000" dirty="0"/>
          </a:p>
        </p:txBody>
      </p:sp>
      <p:sp>
        <p:nvSpPr>
          <p:cNvPr id="12" name="Shape 10"/>
          <p:cNvSpPr/>
          <p:nvPr/>
        </p:nvSpPr>
        <p:spPr>
          <a:xfrm>
            <a:off x="3390824" y="1508760"/>
            <a:ext cx="2567864"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3390824" y="1508760"/>
            <a:ext cx="82296" cy="4754880"/>
          </a:xfrm>
          <a:prstGeom prst="rect">
            <a:avLst/>
          </a:prstGeom>
          <a:solidFill>
            <a:srgbClr val="E8743B"/>
          </a:solidFill>
          <a:ln/>
        </p:spPr>
        <p:txBody>
          <a:bodyPr/>
          <a:lstStyle/>
          <a:p>
            <a:endParaRPr lang="en-US"/>
          </a:p>
        </p:txBody>
      </p:sp>
      <p:sp>
        <p:nvSpPr>
          <p:cNvPr id="14" name="Shape 12"/>
          <p:cNvSpPr/>
          <p:nvPr/>
        </p:nvSpPr>
        <p:spPr>
          <a:xfrm>
            <a:off x="3665144" y="1783080"/>
            <a:ext cx="548640" cy="548640"/>
          </a:xfrm>
          <a:prstGeom prst="ellipse">
            <a:avLst/>
          </a:prstGeom>
          <a:solidFill>
            <a:srgbClr val="E8743B"/>
          </a:solidFill>
          <a:ln/>
        </p:spPr>
        <p:txBody>
          <a:bodyPr/>
          <a:lstStyle/>
          <a:p>
            <a:endParaRPr lang="en-US"/>
          </a:p>
        </p:txBody>
      </p:sp>
      <p:sp>
        <p:nvSpPr>
          <p:cNvPr id="15" name="Text 13"/>
          <p:cNvSpPr/>
          <p:nvPr/>
        </p:nvSpPr>
        <p:spPr>
          <a:xfrm>
            <a:off x="3665144"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2</a:t>
            </a:r>
            <a:endParaRPr lang="en-US" sz="1800" dirty="0"/>
          </a:p>
        </p:txBody>
      </p:sp>
      <p:sp>
        <p:nvSpPr>
          <p:cNvPr id="16" name="Text 14"/>
          <p:cNvSpPr/>
          <p:nvPr/>
        </p:nvSpPr>
        <p:spPr>
          <a:xfrm>
            <a:off x="3665144" y="2468880"/>
            <a:ext cx="2064944"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Latencia alta</a:t>
            </a:r>
            <a:endParaRPr lang="en-US" sz="2000" dirty="0"/>
          </a:p>
        </p:txBody>
      </p:sp>
      <p:sp>
        <p:nvSpPr>
          <p:cNvPr id="17" name="Text 15"/>
          <p:cNvSpPr/>
          <p:nvPr/>
        </p:nvSpPr>
        <p:spPr>
          <a:xfrm>
            <a:off x="3665144" y="3200400"/>
            <a:ext cx="2064944" cy="2743200"/>
          </a:xfrm>
          <a:prstGeom prst="rect">
            <a:avLst/>
          </a:prstGeom>
          <a:noFill/>
          <a:ln/>
        </p:spPr>
        <p:txBody>
          <a:bodyPr wrap="square" lIns="0" tIns="0" rIns="0" bIns="0" rtlCol="0" anchor="t"/>
          <a:lstStyle/>
          <a:p>
            <a:pPr marL="0" indent="0">
              <a:buNone/>
            </a:pPr>
            <a:r>
              <a:rPr lang="en-US" sz="2000" dirty="0">
                <a:solidFill>
                  <a:srgbClr val="1B2A3A"/>
                </a:solidFill>
                <a:latin typeface="Segoe UI" pitchFamily="34" charset="0"/>
                <a:ea typeface="Segoe UI" pitchFamily="34" charset="-122"/>
                <a:cs typeface="Segoe UI" pitchFamily="34" charset="-120"/>
              </a:rPr>
              <a:t>Separa tiempo de arranque del contenedor, latencia del modelo y tiempo de la tool</a:t>
            </a:r>
            <a:endParaRPr lang="en-US" sz="2000" dirty="0"/>
          </a:p>
        </p:txBody>
      </p:sp>
      <p:sp>
        <p:nvSpPr>
          <p:cNvPr id="18" name="Shape 16"/>
          <p:cNvSpPr/>
          <p:nvPr/>
        </p:nvSpPr>
        <p:spPr>
          <a:xfrm>
            <a:off x="6233008" y="1508760"/>
            <a:ext cx="2567864"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9" name="Shape 17"/>
          <p:cNvSpPr/>
          <p:nvPr/>
        </p:nvSpPr>
        <p:spPr>
          <a:xfrm>
            <a:off x="6233008" y="1508760"/>
            <a:ext cx="82296" cy="4754880"/>
          </a:xfrm>
          <a:prstGeom prst="rect">
            <a:avLst/>
          </a:prstGeom>
          <a:solidFill>
            <a:srgbClr val="E8743B"/>
          </a:solidFill>
          <a:ln/>
        </p:spPr>
        <p:txBody>
          <a:bodyPr/>
          <a:lstStyle/>
          <a:p>
            <a:endParaRPr lang="en-US"/>
          </a:p>
        </p:txBody>
      </p:sp>
      <p:sp>
        <p:nvSpPr>
          <p:cNvPr id="20" name="Shape 18"/>
          <p:cNvSpPr/>
          <p:nvPr/>
        </p:nvSpPr>
        <p:spPr>
          <a:xfrm>
            <a:off x="6507328" y="1783080"/>
            <a:ext cx="548640" cy="548640"/>
          </a:xfrm>
          <a:prstGeom prst="ellipse">
            <a:avLst/>
          </a:prstGeom>
          <a:solidFill>
            <a:srgbClr val="E8743B"/>
          </a:solidFill>
          <a:ln/>
        </p:spPr>
        <p:txBody>
          <a:bodyPr/>
          <a:lstStyle/>
          <a:p>
            <a:endParaRPr lang="en-US"/>
          </a:p>
        </p:txBody>
      </p:sp>
      <p:sp>
        <p:nvSpPr>
          <p:cNvPr id="21" name="Text 19"/>
          <p:cNvSpPr/>
          <p:nvPr/>
        </p:nvSpPr>
        <p:spPr>
          <a:xfrm>
            <a:off x="6507328"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3</a:t>
            </a:r>
            <a:endParaRPr lang="en-US" sz="1800" dirty="0"/>
          </a:p>
        </p:txBody>
      </p:sp>
      <p:sp>
        <p:nvSpPr>
          <p:cNvPr id="22" name="Text 20"/>
          <p:cNvSpPr/>
          <p:nvPr/>
        </p:nvSpPr>
        <p:spPr>
          <a:xfrm>
            <a:off x="6507328" y="2468880"/>
            <a:ext cx="2064944"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Error de autenticación</a:t>
            </a:r>
            <a:endParaRPr lang="en-US" sz="2000" dirty="0"/>
          </a:p>
        </p:txBody>
      </p:sp>
      <p:sp>
        <p:nvSpPr>
          <p:cNvPr id="23" name="Text 21"/>
          <p:cNvSpPr/>
          <p:nvPr/>
        </p:nvSpPr>
        <p:spPr>
          <a:xfrm>
            <a:off x="6507328" y="3200400"/>
            <a:ext cx="2064944" cy="2743200"/>
          </a:xfrm>
          <a:prstGeom prst="rect">
            <a:avLst/>
          </a:prstGeom>
          <a:noFill/>
          <a:ln/>
        </p:spPr>
        <p:txBody>
          <a:bodyPr wrap="square" lIns="0" tIns="0" rIns="0" bIns="0" rtlCol="0" anchor="t"/>
          <a:lstStyle/>
          <a:p>
            <a:pPr marL="0" indent="0">
              <a:buNone/>
            </a:pPr>
            <a:r>
              <a:rPr lang="en-US" sz="2000" dirty="0">
                <a:solidFill>
                  <a:srgbClr val="1B2A3A"/>
                </a:solidFill>
                <a:latin typeface="Segoe UI" pitchFamily="34" charset="0"/>
                <a:ea typeface="Segoe UI" pitchFamily="34" charset="-122"/>
                <a:cs typeface="Segoe UI" pitchFamily="34" charset="-120"/>
              </a:rPr>
              <a:t>Confirma la identidad Entra del agente y los permisos sobre el recurso que falla</a:t>
            </a:r>
            <a:endParaRPr lang="en-US" sz="2000" dirty="0"/>
          </a:p>
        </p:txBody>
      </p:sp>
      <p:sp>
        <p:nvSpPr>
          <p:cNvPr id="24" name="Shape 22"/>
          <p:cNvSpPr/>
          <p:nvPr/>
        </p:nvSpPr>
        <p:spPr>
          <a:xfrm>
            <a:off x="9075191" y="1508760"/>
            <a:ext cx="2567864"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3"/>
          <p:cNvSpPr/>
          <p:nvPr/>
        </p:nvSpPr>
        <p:spPr>
          <a:xfrm>
            <a:off x="9075191" y="1508760"/>
            <a:ext cx="82296" cy="4754880"/>
          </a:xfrm>
          <a:prstGeom prst="rect">
            <a:avLst/>
          </a:prstGeom>
          <a:solidFill>
            <a:srgbClr val="E8743B"/>
          </a:solidFill>
          <a:ln/>
        </p:spPr>
        <p:txBody>
          <a:bodyPr/>
          <a:lstStyle/>
          <a:p>
            <a:endParaRPr lang="en-US"/>
          </a:p>
        </p:txBody>
      </p:sp>
      <p:sp>
        <p:nvSpPr>
          <p:cNvPr id="26" name="Shape 24"/>
          <p:cNvSpPr/>
          <p:nvPr/>
        </p:nvSpPr>
        <p:spPr>
          <a:xfrm>
            <a:off x="9349511" y="1783080"/>
            <a:ext cx="548640" cy="548640"/>
          </a:xfrm>
          <a:prstGeom prst="ellipse">
            <a:avLst/>
          </a:prstGeom>
          <a:solidFill>
            <a:srgbClr val="E8743B"/>
          </a:solidFill>
          <a:ln/>
        </p:spPr>
        <p:txBody>
          <a:bodyPr/>
          <a:lstStyle/>
          <a:p>
            <a:endParaRPr lang="en-US"/>
          </a:p>
        </p:txBody>
      </p:sp>
      <p:sp>
        <p:nvSpPr>
          <p:cNvPr id="27" name="Text 25"/>
          <p:cNvSpPr/>
          <p:nvPr/>
        </p:nvSpPr>
        <p:spPr>
          <a:xfrm>
            <a:off x="9349511"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4</a:t>
            </a:r>
            <a:endParaRPr lang="en-US" sz="1800" dirty="0"/>
          </a:p>
        </p:txBody>
      </p:sp>
      <p:sp>
        <p:nvSpPr>
          <p:cNvPr id="28" name="Text 26"/>
          <p:cNvSpPr/>
          <p:nvPr/>
        </p:nvSpPr>
        <p:spPr>
          <a:xfrm>
            <a:off x="9349511" y="2468880"/>
            <a:ext cx="2064944"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No llama a la tool</a:t>
            </a:r>
            <a:endParaRPr lang="en-US" sz="2000" dirty="0"/>
          </a:p>
        </p:txBody>
      </p:sp>
      <p:sp>
        <p:nvSpPr>
          <p:cNvPr id="29" name="Text 27"/>
          <p:cNvSpPr/>
          <p:nvPr/>
        </p:nvSpPr>
        <p:spPr>
          <a:xfrm>
            <a:off x="9349511" y="3200400"/>
            <a:ext cx="2064944" cy="2743200"/>
          </a:xfrm>
          <a:prstGeom prst="rect">
            <a:avLst/>
          </a:prstGeom>
          <a:noFill/>
          <a:ln/>
        </p:spPr>
        <p:txBody>
          <a:bodyPr wrap="square" lIns="0" tIns="0" rIns="0" bIns="0" rtlCol="0" anchor="t"/>
          <a:lstStyle/>
          <a:p>
            <a:pPr marL="0" indent="0">
              <a:buNone/>
            </a:pPr>
            <a:r>
              <a:rPr lang="en-US" sz="2000" dirty="0">
                <a:solidFill>
                  <a:srgbClr val="1B2A3A"/>
                </a:solidFill>
                <a:latin typeface="Segoe UI" pitchFamily="34" charset="0"/>
                <a:ea typeface="Segoe UI" pitchFamily="34" charset="-122"/>
                <a:cs typeface="Segoe UI" pitchFamily="34" charset="-120"/>
              </a:rPr>
              <a:t>Revisa que la tool esté adjunta al agente y que su descripción sea clara</a:t>
            </a:r>
            <a:endParaRPr lang="en-US" sz="2000" dirty="0"/>
          </a:p>
        </p:txBody>
      </p:sp>
      <p:sp>
        <p:nvSpPr>
          <p:cNvPr id="30"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Evaluar la calidad de un agente</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4" cy="3108960"/>
        </p:xfrm>
        <a:graphic>
          <a:graphicData uri="http://schemas.openxmlformats.org/drawingml/2006/table">
            <a:tbl>
              <a:tblPr/>
              <a:tblGrid>
                <a:gridCol w="1879032">
                  <a:extLst>
                    <a:ext uri="{9D8B030D-6E8A-4147-A177-3AD203B41FA5}">
                      <a16:colId xmlns:a16="http://schemas.microsoft.com/office/drawing/2014/main" val="20000"/>
                    </a:ext>
                  </a:extLst>
                </a:gridCol>
                <a:gridCol w="4468064">
                  <a:extLst>
                    <a:ext uri="{9D8B030D-6E8A-4147-A177-3AD203B41FA5}">
                      <a16:colId xmlns:a16="http://schemas.microsoft.com/office/drawing/2014/main" val="20001"/>
                    </a:ext>
                  </a:extLst>
                </a:gridCol>
                <a:gridCol w="4747318">
                  <a:extLst>
                    <a:ext uri="{9D8B030D-6E8A-4147-A177-3AD203B41FA5}">
                      <a16:colId xmlns:a16="http://schemas.microsoft.com/office/drawing/2014/main" val="20002"/>
                    </a:ext>
                  </a:extLst>
                </a:gridCol>
              </a:tblGrid>
              <a:tr h="777240">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Nivel</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Qué mide</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Ejemplos de evaluador</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Turn</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Calidad de una respuesta puntual</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Groundedness, Relevance, Coherence</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Conversation</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Resultado de toda la interacción</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Task Completion, Task Adherence</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Tool use</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Si el agente usó bien sus tools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Tool Call Accuracy, Tool Selection</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Evalúa durante el desarrollo y de forma recurrente sobre tráfico real.</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Métricas de evaluación: el mapa completo</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2249424"/>
          </a:xfrm>
          <a:prstGeom prst="rect">
            <a:avLst/>
          </a:prstGeom>
          <a:solidFill>
            <a:srgbClr val="E8743B"/>
          </a:solidFill>
          <a:ln/>
        </p:spPr>
        <p:txBody>
          <a:bodyPr/>
          <a:lstStyle/>
          <a:p>
            <a:endParaRPr lang="en-US"/>
          </a:p>
        </p:txBody>
      </p:sp>
      <p:sp>
        <p:nvSpPr>
          <p:cNvPr id="8" name="Shape 6"/>
          <p:cNvSpPr/>
          <p:nvPr/>
        </p:nvSpPr>
        <p:spPr>
          <a:xfrm>
            <a:off x="822960" y="1737360"/>
            <a:ext cx="420624" cy="420624"/>
          </a:xfrm>
          <a:prstGeom prst="ellipse">
            <a:avLst/>
          </a:prstGeom>
          <a:solidFill>
            <a:srgbClr val="E8743B"/>
          </a:solidFill>
          <a:ln/>
        </p:spPr>
        <p:txBody>
          <a:bodyPr/>
          <a:lstStyle/>
          <a:p>
            <a:endParaRPr lang="en-US"/>
          </a:p>
        </p:txBody>
      </p:sp>
      <p:sp>
        <p:nvSpPr>
          <p:cNvPr id="9" name="Text 7"/>
          <p:cNvSpPr/>
          <p:nvPr/>
        </p:nvSpPr>
        <p:spPr>
          <a:xfrm>
            <a:off x="822960" y="1737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0" name="Text 8"/>
          <p:cNvSpPr/>
          <p:nvPr/>
        </p:nvSpPr>
        <p:spPr>
          <a:xfrm>
            <a:off x="1417320" y="1691640"/>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Calidad de respuesta</a:t>
            </a:r>
            <a:endParaRPr lang="en-US" sz="1800" dirty="0"/>
          </a:p>
        </p:txBody>
      </p:sp>
      <p:sp>
        <p:nvSpPr>
          <p:cNvPr id="11" name="Text 9"/>
          <p:cNvSpPr/>
          <p:nvPr/>
        </p:nvSpPr>
        <p:spPr>
          <a:xfrm>
            <a:off x="822960" y="2377440"/>
            <a:ext cx="3024530" cy="1243584"/>
          </a:xfrm>
          <a:prstGeom prst="rect">
            <a:avLst/>
          </a:prstGeom>
          <a:noFill/>
          <a:ln/>
        </p:spPr>
        <p:txBody>
          <a:bodyPr wrap="square" lIns="0" tIns="0" rIns="0" bIns="0" rtlCol="0" anchor="t"/>
          <a:lstStyle/>
          <a:p>
            <a:pPr marL="0" indent="0">
              <a:buNone/>
            </a:pPr>
            <a:r>
              <a:rPr lang="en-US" sz="1500" dirty="0">
                <a:solidFill>
                  <a:srgbClr val="1B2A3A"/>
                </a:solidFill>
                <a:latin typeface="Segoe UI" pitchFamily="34" charset="0"/>
                <a:ea typeface="Segoe UI" pitchFamily="34" charset="-122"/>
                <a:cs typeface="Segoe UI" pitchFamily="34" charset="-120"/>
              </a:rPr>
              <a:t>Coherence, Fluency. Qué tan clara y consistente es la respuesta, sin importar el tema.</a:t>
            </a:r>
            <a:endParaRPr lang="en-US" sz="1500" dirty="0"/>
          </a:p>
        </p:txBody>
      </p:sp>
      <p:sp>
        <p:nvSpPr>
          <p:cNvPr id="12" name="Shape 10"/>
          <p:cNvSpPr/>
          <p:nvPr/>
        </p:nvSpPr>
        <p:spPr>
          <a:xfrm>
            <a:off x="4332122" y="1508760"/>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4332122" y="1508760"/>
            <a:ext cx="82296" cy="2249424"/>
          </a:xfrm>
          <a:prstGeom prst="rect">
            <a:avLst/>
          </a:prstGeom>
          <a:solidFill>
            <a:srgbClr val="0B1F33"/>
          </a:solidFill>
          <a:ln/>
        </p:spPr>
        <p:txBody>
          <a:bodyPr/>
          <a:lstStyle/>
          <a:p>
            <a:endParaRPr lang="en-US"/>
          </a:p>
        </p:txBody>
      </p:sp>
      <p:sp>
        <p:nvSpPr>
          <p:cNvPr id="14" name="Shape 12"/>
          <p:cNvSpPr/>
          <p:nvPr/>
        </p:nvSpPr>
        <p:spPr>
          <a:xfrm>
            <a:off x="4606442" y="1737360"/>
            <a:ext cx="420624" cy="420624"/>
          </a:xfrm>
          <a:prstGeom prst="ellipse">
            <a:avLst/>
          </a:prstGeom>
          <a:solidFill>
            <a:srgbClr val="0B1F33"/>
          </a:solidFill>
          <a:ln/>
        </p:spPr>
        <p:txBody>
          <a:bodyPr/>
          <a:lstStyle/>
          <a:p>
            <a:endParaRPr lang="en-US"/>
          </a:p>
        </p:txBody>
      </p:sp>
      <p:sp>
        <p:nvSpPr>
          <p:cNvPr id="15" name="Text 13"/>
          <p:cNvSpPr/>
          <p:nvPr/>
        </p:nvSpPr>
        <p:spPr>
          <a:xfrm>
            <a:off x="4606442" y="1737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6" name="Text 14"/>
          <p:cNvSpPr/>
          <p:nvPr/>
        </p:nvSpPr>
        <p:spPr>
          <a:xfrm>
            <a:off x="5200802" y="1691640"/>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RAG y retrieval</a:t>
            </a:r>
            <a:endParaRPr lang="en-US" sz="1800" dirty="0"/>
          </a:p>
        </p:txBody>
      </p:sp>
      <p:sp>
        <p:nvSpPr>
          <p:cNvPr id="17" name="Text 15"/>
          <p:cNvSpPr/>
          <p:nvPr/>
        </p:nvSpPr>
        <p:spPr>
          <a:xfrm>
            <a:off x="4606442" y="2377440"/>
            <a:ext cx="3024530" cy="1243584"/>
          </a:xfrm>
          <a:prstGeom prst="rect">
            <a:avLst/>
          </a:prstGeom>
          <a:noFill/>
          <a:ln/>
        </p:spPr>
        <p:txBody>
          <a:bodyPr wrap="square" lIns="0" tIns="0" rIns="0" bIns="0" rtlCol="0" anchor="t"/>
          <a:lstStyle/>
          <a:p>
            <a:pPr marL="0" indent="0">
              <a:buNone/>
            </a:pPr>
            <a:r>
              <a:rPr lang="en-US" sz="1500" dirty="0">
                <a:solidFill>
                  <a:srgbClr val="1B2A3A"/>
                </a:solidFill>
                <a:latin typeface="Segoe UI" pitchFamily="34" charset="0"/>
                <a:ea typeface="Segoe UI" pitchFamily="34" charset="-122"/>
                <a:cs typeface="Segoe UI" pitchFamily="34" charset="-120"/>
              </a:rPr>
              <a:t>Groundedness, Relevance, Retrieval, Response Completeness. ¿Responde con base en lo recuperado?</a:t>
            </a:r>
            <a:endParaRPr lang="en-US" sz="1500" dirty="0"/>
          </a:p>
        </p:txBody>
      </p:sp>
      <p:sp>
        <p:nvSpPr>
          <p:cNvPr id="18" name="Shape 16"/>
          <p:cNvSpPr/>
          <p:nvPr/>
        </p:nvSpPr>
        <p:spPr>
          <a:xfrm>
            <a:off x="8115605" y="1508760"/>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9" name="Shape 17"/>
          <p:cNvSpPr/>
          <p:nvPr/>
        </p:nvSpPr>
        <p:spPr>
          <a:xfrm>
            <a:off x="8115605" y="1508760"/>
            <a:ext cx="82296" cy="2249424"/>
          </a:xfrm>
          <a:prstGeom prst="rect">
            <a:avLst/>
          </a:prstGeom>
          <a:solidFill>
            <a:srgbClr val="E8743B"/>
          </a:solidFill>
          <a:ln/>
        </p:spPr>
        <p:txBody>
          <a:bodyPr/>
          <a:lstStyle/>
          <a:p>
            <a:endParaRPr lang="en-US"/>
          </a:p>
        </p:txBody>
      </p:sp>
      <p:sp>
        <p:nvSpPr>
          <p:cNvPr id="20" name="Shape 18"/>
          <p:cNvSpPr/>
          <p:nvPr/>
        </p:nvSpPr>
        <p:spPr>
          <a:xfrm>
            <a:off x="8389925" y="1737360"/>
            <a:ext cx="420624" cy="420624"/>
          </a:xfrm>
          <a:prstGeom prst="ellipse">
            <a:avLst/>
          </a:prstGeom>
          <a:solidFill>
            <a:srgbClr val="E8743B"/>
          </a:solidFill>
          <a:ln/>
        </p:spPr>
        <p:txBody>
          <a:bodyPr/>
          <a:lstStyle/>
          <a:p>
            <a:endParaRPr lang="en-US"/>
          </a:p>
        </p:txBody>
      </p:sp>
      <p:sp>
        <p:nvSpPr>
          <p:cNvPr id="21" name="Text 19"/>
          <p:cNvSpPr/>
          <p:nvPr/>
        </p:nvSpPr>
        <p:spPr>
          <a:xfrm>
            <a:off x="8389925" y="1737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Text 20"/>
          <p:cNvSpPr/>
          <p:nvPr/>
        </p:nvSpPr>
        <p:spPr>
          <a:xfrm>
            <a:off x="8984285" y="1691640"/>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Agente y tareas</a:t>
            </a:r>
            <a:endParaRPr lang="en-US" sz="1800" dirty="0"/>
          </a:p>
        </p:txBody>
      </p:sp>
      <p:sp>
        <p:nvSpPr>
          <p:cNvPr id="23" name="Text 21"/>
          <p:cNvSpPr/>
          <p:nvPr/>
        </p:nvSpPr>
        <p:spPr>
          <a:xfrm>
            <a:off x="8389925" y="2377440"/>
            <a:ext cx="3024530" cy="1243584"/>
          </a:xfrm>
          <a:prstGeom prst="rect">
            <a:avLst/>
          </a:prstGeom>
          <a:noFill/>
          <a:ln/>
        </p:spPr>
        <p:txBody>
          <a:bodyPr wrap="square" lIns="0" tIns="0" rIns="0" bIns="0" rtlCol="0" anchor="t"/>
          <a:lstStyle/>
          <a:p>
            <a:pPr marL="0" indent="0">
              <a:buNone/>
            </a:pPr>
            <a:r>
              <a:rPr lang="en-US" sz="1500" dirty="0">
                <a:solidFill>
                  <a:srgbClr val="1B2A3A"/>
                </a:solidFill>
                <a:latin typeface="Segoe UI" pitchFamily="34" charset="0"/>
                <a:ea typeface="Segoe UI" pitchFamily="34" charset="-122"/>
                <a:cs typeface="Segoe UI" pitchFamily="34" charset="-120"/>
              </a:rPr>
              <a:t>Intent Resolution, Task Adherence, Task Completion, Navigation Efficiency.</a:t>
            </a:r>
            <a:endParaRPr lang="en-US" sz="1500" dirty="0"/>
          </a:p>
        </p:txBody>
      </p:sp>
      <p:sp>
        <p:nvSpPr>
          <p:cNvPr id="24" name="Shape 22"/>
          <p:cNvSpPr/>
          <p:nvPr/>
        </p:nvSpPr>
        <p:spPr>
          <a:xfrm>
            <a:off x="548640" y="4014216"/>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3"/>
          <p:cNvSpPr/>
          <p:nvPr/>
        </p:nvSpPr>
        <p:spPr>
          <a:xfrm>
            <a:off x="548640" y="4014216"/>
            <a:ext cx="82296" cy="2249424"/>
          </a:xfrm>
          <a:prstGeom prst="rect">
            <a:avLst/>
          </a:prstGeom>
          <a:solidFill>
            <a:srgbClr val="0B1F33"/>
          </a:solidFill>
          <a:ln/>
        </p:spPr>
        <p:txBody>
          <a:bodyPr/>
          <a:lstStyle/>
          <a:p>
            <a:endParaRPr lang="en-US"/>
          </a:p>
        </p:txBody>
      </p:sp>
      <p:sp>
        <p:nvSpPr>
          <p:cNvPr id="26" name="Shape 24"/>
          <p:cNvSpPr/>
          <p:nvPr/>
        </p:nvSpPr>
        <p:spPr>
          <a:xfrm>
            <a:off x="822960" y="4242816"/>
            <a:ext cx="420624" cy="420624"/>
          </a:xfrm>
          <a:prstGeom prst="ellipse">
            <a:avLst/>
          </a:prstGeom>
          <a:solidFill>
            <a:srgbClr val="0B1F33"/>
          </a:solidFill>
          <a:ln/>
        </p:spPr>
        <p:txBody>
          <a:bodyPr/>
          <a:lstStyle/>
          <a:p>
            <a:endParaRPr lang="en-US"/>
          </a:p>
        </p:txBody>
      </p:sp>
      <p:sp>
        <p:nvSpPr>
          <p:cNvPr id="27" name="Text 25"/>
          <p:cNvSpPr/>
          <p:nvPr/>
        </p:nvSpPr>
        <p:spPr>
          <a:xfrm>
            <a:off x="822960" y="42428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8" name="Text 26"/>
          <p:cNvSpPr/>
          <p:nvPr/>
        </p:nvSpPr>
        <p:spPr>
          <a:xfrm>
            <a:off x="1417320" y="4197096"/>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Uso de herramientas</a:t>
            </a:r>
            <a:endParaRPr lang="en-US" sz="1800" dirty="0"/>
          </a:p>
        </p:txBody>
      </p:sp>
      <p:sp>
        <p:nvSpPr>
          <p:cNvPr id="29" name="Text 27"/>
          <p:cNvSpPr/>
          <p:nvPr/>
        </p:nvSpPr>
        <p:spPr>
          <a:xfrm>
            <a:off x="822960" y="4882896"/>
            <a:ext cx="3024530" cy="1243584"/>
          </a:xfrm>
          <a:prstGeom prst="rect">
            <a:avLst/>
          </a:prstGeom>
          <a:noFill/>
          <a:ln/>
        </p:spPr>
        <p:txBody>
          <a:bodyPr wrap="square" lIns="0" tIns="0" rIns="0" bIns="0" rtlCol="0" anchor="t"/>
          <a:lstStyle/>
          <a:p>
            <a:pPr marL="0" indent="0">
              <a:buNone/>
            </a:pPr>
            <a:r>
              <a:rPr lang="en-US" sz="1500" dirty="0">
                <a:solidFill>
                  <a:srgbClr val="1B2A3A"/>
                </a:solidFill>
                <a:latin typeface="Segoe UI" pitchFamily="34" charset="0"/>
                <a:ea typeface="Segoe UI" pitchFamily="34" charset="-122"/>
                <a:cs typeface="Segoe UI" pitchFamily="34" charset="-120"/>
              </a:rPr>
              <a:t>Tool Selection, Tool Call Accuracy, Tool Input Accuracy, Tool Output Utilization, Tool Call Success.</a:t>
            </a:r>
            <a:endParaRPr lang="en-US" sz="1500" dirty="0"/>
          </a:p>
        </p:txBody>
      </p:sp>
      <p:sp>
        <p:nvSpPr>
          <p:cNvPr id="30" name="Shape 28"/>
          <p:cNvSpPr/>
          <p:nvPr/>
        </p:nvSpPr>
        <p:spPr>
          <a:xfrm>
            <a:off x="4332122" y="4014216"/>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31" name="Shape 29"/>
          <p:cNvSpPr/>
          <p:nvPr/>
        </p:nvSpPr>
        <p:spPr>
          <a:xfrm>
            <a:off x="4332122" y="4014216"/>
            <a:ext cx="82296" cy="2249424"/>
          </a:xfrm>
          <a:prstGeom prst="rect">
            <a:avLst/>
          </a:prstGeom>
          <a:solidFill>
            <a:srgbClr val="E8743B"/>
          </a:solidFill>
          <a:ln/>
        </p:spPr>
        <p:txBody>
          <a:bodyPr/>
          <a:lstStyle/>
          <a:p>
            <a:endParaRPr lang="en-US"/>
          </a:p>
        </p:txBody>
      </p:sp>
      <p:sp>
        <p:nvSpPr>
          <p:cNvPr id="32" name="Shape 30"/>
          <p:cNvSpPr/>
          <p:nvPr/>
        </p:nvSpPr>
        <p:spPr>
          <a:xfrm>
            <a:off x="4606442" y="4242816"/>
            <a:ext cx="420624" cy="420624"/>
          </a:xfrm>
          <a:prstGeom prst="ellipse">
            <a:avLst/>
          </a:prstGeom>
          <a:solidFill>
            <a:srgbClr val="E8743B"/>
          </a:solidFill>
          <a:ln/>
        </p:spPr>
        <p:txBody>
          <a:bodyPr/>
          <a:lstStyle/>
          <a:p>
            <a:endParaRPr lang="en-US"/>
          </a:p>
        </p:txBody>
      </p:sp>
      <p:sp>
        <p:nvSpPr>
          <p:cNvPr id="33" name="Text 31"/>
          <p:cNvSpPr/>
          <p:nvPr/>
        </p:nvSpPr>
        <p:spPr>
          <a:xfrm>
            <a:off x="4606442" y="42428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4" name="Text 32"/>
          <p:cNvSpPr/>
          <p:nvPr/>
        </p:nvSpPr>
        <p:spPr>
          <a:xfrm>
            <a:off x="5200802" y="4197096"/>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Seguridad y riesgo</a:t>
            </a:r>
            <a:endParaRPr lang="en-US" sz="1800" dirty="0"/>
          </a:p>
        </p:txBody>
      </p:sp>
      <p:sp>
        <p:nvSpPr>
          <p:cNvPr id="35" name="Text 33"/>
          <p:cNvSpPr/>
          <p:nvPr/>
        </p:nvSpPr>
        <p:spPr>
          <a:xfrm>
            <a:off x="4606442" y="4882896"/>
            <a:ext cx="3024530" cy="1243584"/>
          </a:xfrm>
          <a:prstGeom prst="rect">
            <a:avLst/>
          </a:prstGeom>
          <a:noFill/>
          <a:ln/>
        </p:spPr>
        <p:txBody>
          <a:bodyPr wrap="square" lIns="0" tIns="0" rIns="0" bIns="0" rtlCol="0" anchor="t"/>
          <a:lstStyle/>
          <a:p>
            <a:pPr marL="0" indent="0">
              <a:buNone/>
            </a:pPr>
            <a:r>
              <a:rPr lang="en-US" sz="1500" dirty="0">
                <a:solidFill>
                  <a:srgbClr val="1B2A3A"/>
                </a:solidFill>
                <a:latin typeface="Segoe UI" pitchFamily="34" charset="0"/>
                <a:ea typeface="Segoe UI" pitchFamily="34" charset="-122"/>
                <a:cs typeface="Segoe UI" pitchFamily="34" charset="-120"/>
              </a:rPr>
              <a:t>Contenido dañino, Protected Materials, Indirect Attack (XPIA), Prohibited Actions, Sensitive Data Leakage.</a:t>
            </a:r>
            <a:endParaRPr lang="en-US" sz="1500" dirty="0"/>
          </a:p>
        </p:txBody>
      </p:sp>
      <p:sp>
        <p:nvSpPr>
          <p:cNvPr id="36" name="Shape 34"/>
          <p:cNvSpPr/>
          <p:nvPr/>
        </p:nvSpPr>
        <p:spPr>
          <a:xfrm>
            <a:off x="8115605" y="4014216"/>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37" name="Shape 35"/>
          <p:cNvSpPr/>
          <p:nvPr/>
        </p:nvSpPr>
        <p:spPr>
          <a:xfrm>
            <a:off x="8115605" y="4014216"/>
            <a:ext cx="82296" cy="2249424"/>
          </a:xfrm>
          <a:prstGeom prst="rect">
            <a:avLst/>
          </a:prstGeom>
          <a:solidFill>
            <a:srgbClr val="0B1F33"/>
          </a:solidFill>
          <a:ln/>
        </p:spPr>
        <p:txBody>
          <a:bodyPr/>
          <a:lstStyle/>
          <a:p>
            <a:endParaRPr lang="en-US"/>
          </a:p>
        </p:txBody>
      </p:sp>
      <p:sp>
        <p:nvSpPr>
          <p:cNvPr id="38" name="Shape 36"/>
          <p:cNvSpPr/>
          <p:nvPr/>
        </p:nvSpPr>
        <p:spPr>
          <a:xfrm>
            <a:off x="8389925" y="4242816"/>
            <a:ext cx="420624" cy="420624"/>
          </a:xfrm>
          <a:prstGeom prst="ellipse">
            <a:avLst/>
          </a:prstGeom>
          <a:solidFill>
            <a:srgbClr val="0B1F33"/>
          </a:solidFill>
          <a:ln/>
        </p:spPr>
        <p:txBody>
          <a:bodyPr/>
          <a:lstStyle/>
          <a:p>
            <a:endParaRPr lang="en-US"/>
          </a:p>
        </p:txBody>
      </p:sp>
      <p:sp>
        <p:nvSpPr>
          <p:cNvPr id="39" name="Text 37"/>
          <p:cNvSpPr/>
          <p:nvPr/>
        </p:nvSpPr>
        <p:spPr>
          <a:xfrm>
            <a:off x="8389925" y="42428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0" name="Text 38"/>
          <p:cNvSpPr/>
          <p:nvPr/>
        </p:nvSpPr>
        <p:spPr>
          <a:xfrm>
            <a:off x="8984285" y="4197096"/>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Similitud y operación</a:t>
            </a:r>
            <a:endParaRPr lang="en-US" sz="1800" dirty="0"/>
          </a:p>
        </p:txBody>
      </p:sp>
      <p:sp>
        <p:nvSpPr>
          <p:cNvPr id="41" name="Text 39"/>
          <p:cNvSpPr/>
          <p:nvPr/>
        </p:nvSpPr>
        <p:spPr>
          <a:xfrm>
            <a:off x="8389925" y="4882896"/>
            <a:ext cx="3024530" cy="1243584"/>
          </a:xfrm>
          <a:prstGeom prst="rect">
            <a:avLst/>
          </a:prstGeom>
          <a:noFill/>
          <a:ln/>
        </p:spPr>
        <p:txBody>
          <a:bodyPr wrap="square" lIns="0" tIns="0" rIns="0" bIns="0" rtlCol="0" anchor="t"/>
          <a:lstStyle/>
          <a:p>
            <a:pPr marL="0" indent="0">
              <a:buNone/>
            </a:pPr>
            <a:r>
              <a:rPr lang="en-US" sz="1500" dirty="0">
                <a:solidFill>
                  <a:srgbClr val="1B2A3A"/>
                </a:solidFill>
                <a:latin typeface="Segoe UI" pitchFamily="34" charset="0"/>
                <a:ea typeface="Segoe UI" pitchFamily="34" charset="-122"/>
                <a:cs typeface="Segoe UI" pitchFamily="34" charset="-120"/>
              </a:rPr>
              <a:t>F1, BLEU, ROUGE, METEOR contra una respuesta esperada; latencia, tokens, costo y tasa de error.</a:t>
            </a:r>
            <a:endParaRPr lang="en-US" sz="1500" dirty="0"/>
          </a:p>
        </p:txBody>
      </p:sp>
      <p:sp>
        <p:nvSpPr>
          <p:cNvPr id="4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Métricas de calidad de respuesta</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6" cy="3182112"/>
        </p:xfrm>
        <a:graphic>
          <a:graphicData uri="http://schemas.openxmlformats.org/drawingml/2006/table">
            <a:tbl>
              <a:tblPr/>
              <a:tblGrid>
                <a:gridCol w="1430876">
                  <a:extLst>
                    <a:ext uri="{9D8B030D-6E8A-4147-A177-3AD203B41FA5}">
                      <a16:colId xmlns:a16="http://schemas.microsoft.com/office/drawing/2014/main" val="20000"/>
                    </a:ext>
                  </a:extLst>
                </a:gridCol>
                <a:gridCol w="3221180">
                  <a:extLst>
                    <a:ext uri="{9D8B030D-6E8A-4147-A177-3AD203B41FA5}">
                      <a16:colId xmlns:a16="http://schemas.microsoft.com/office/drawing/2014/main" val="20001"/>
                    </a:ext>
                  </a:extLst>
                </a:gridCol>
                <a:gridCol w="3221180">
                  <a:extLst>
                    <a:ext uri="{9D8B030D-6E8A-4147-A177-3AD203B41FA5}">
                      <a16:colId xmlns:a16="http://schemas.microsoft.com/office/drawing/2014/main" val="20002"/>
                    </a:ext>
                  </a:extLst>
                </a:gridCol>
                <a:gridCol w="3221180">
                  <a:extLst>
                    <a:ext uri="{9D8B030D-6E8A-4147-A177-3AD203B41FA5}">
                      <a16:colId xmlns:a16="http://schemas.microsoft.com/office/drawing/2014/main" val="20003"/>
                    </a:ext>
                  </a:extLst>
                </a:gridCol>
              </a:tblGrid>
              <a:tr h="777240">
                <a:tc>
                  <a:txBody>
                    <a:bodyPr/>
                    <a:lstStyle/>
                    <a:p>
                      <a:pPr marL="0" indent="0">
                        <a:buNone/>
                      </a:pPr>
                      <a:r>
                        <a:rPr lang="en-US" sz="1500" b="1" dirty="0">
                          <a:solidFill>
                            <a:srgbClr val="FFFFFF"/>
                          </a:solidFill>
                          <a:latin typeface="Segoe UI Semibold" pitchFamily="34" charset="0"/>
                          <a:ea typeface="Segoe UI Semibold" pitchFamily="34" charset="-122"/>
                          <a:cs typeface="Segoe UI Semibold" pitchFamily="34" charset="-120"/>
                        </a:rPr>
                        <a:t>Métrica</a:t>
                      </a:r>
                      <a:endParaRPr lang="en-US" sz="15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500" b="1" dirty="0">
                          <a:solidFill>
                            <a:srgbClr val="FFFFFF"/>
                          </a:solidFill>
                          <a:latin typeface="Segoe UI Semibold" pitchFamily="34" charset="0"/>
                          <a:ea typeface="Segoe UI Semibold" pitchFamily="34" charset="-122"/>
                          <a:cs typeface="Segoe UI Semibold" pitchFamily="34" charset="-120"/>
                        </a:rPr>
                        <a:t>Cómo funciona</a:t>
                      </a:r>
                      <a:endParaRPr lang="en-US" sz="15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500" b="1" dirty="0">
                          <a:solidFill>
                            <a:srgbClr val="FFFFFF"/>
                          </a:solidFill>
                          <a:latin typeface="Segoe UI Semibold" pitchFamily="34" charset="0"/>
                          <a:ea typeface="Segoe UI Semibold" pitchFamily="34" charset="-122"/>
                          <a:cs typeface="Segoe UI Semibold" pitchFamily="34" charset="-120"/>
                        </a:rPr>
                        <a:t>Ventaja</a:t>
                      </a:r>
                      <a:endParaRPr lang="en-US" sz="15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500" b="1" dirty="0">
                          <a:solidFill>
                            <a:srgbClr val="FFFFFF"/>
                          </a:solidFill>
                          <a:latin typeface="Segoe UI Semibold" pitchFamily="34" charset="0"/>
                          <a:ea typeface="Segoe UI Semibold" pitchFamily="34" charset="-122"/>
                          <a:cs typeface="Segoe UI Semibold" pitchFamily="34" charset="-120"/>
                        </a:rPr>
                        <a:t>Desventaja</a:t>
                      </a:r>
                      <a:endParaRPr lang="en-US" sz="15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500" b="1" dirty="0">
                          <a:solidFill>
                            <a:srgbClr val="1B2A3A"/>
                          </a:solidFill>
                          <a:latin typeface="Segoe UI Semibold" pitchFamily="34" charset="0"/>
                          <a:ea typeface="Segoe UI Semibold" pitchFamily="34" charset="-122"/>
                          <a:cs typeface="Segoe UI Semibold" pitchFamily="34" charset="-120"/>
                        </a:rPr>
                        <a:t>Coherence</a:t>
                      </a:r>
                      <a:endParaRPr lang="en-US" sz="15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500" dirty="0">
                          <a:solidFill>
                            <a:srgbClr val="1B2A3A"/>
                          </a:solidFill>
                          <a:latin typeface="Segoe UI" pitchFamily="34" charset="0"/>
                          <a:ea typeface="Segoe UI" pitchFamily="34" charset="-122"/>
                          <a:cs typeface="Segoe UI" pitchFamily="34" charset="-120"/>
                        </a:rPr>
                        <a:t>Un LLM juez puntúa de 1 a 5 el flujo lógico entre las ideas de la respuesta</a:t>
                      </a:r>
                      <a:endParaRPr lang="en-US" sz="15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500" dirty="0">
                          <a:solidFill>
                            <a:srgbClr val="1B2A3A"/>
                          </a:solidFill>
                          <a:latin typeface="Segoe UI" pitchFamily="34" charset="0"/>
                          <a:ea typeface="Segoe UI" pitchFamily="34" charset="-122"/>
                          <a:cs typeface="Segoe UI" pitchFamily="34" charset="-120"/>
                        </a:rPr>
                        <a:t>No requiere respuesta de referencia; detecta respuestas desordenadas</a:t>
                      </a:r>
                      <a:endParaRPr lang="en-US" sz="15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500" dirty="0">
                          <a:solidFill>
                            <a:srgbClr val="1B2A3A"/>
                          </a:solidFill>
                          <a:latin typeface="Segoe UI" pitchFamily="34" charset="0"/>
                          <a:ea typeface="Segoe UI" pitchFamily="34" charset="-122"/>
                          <a:cs typeface="Segoe UI" pitchFamily="34" charset="-120"/>
                        </a:rPr>
                        <a:t>Una respuesta coherente puede ser falsa; depende del modelo juez</a:t>
                      </a:r>
                      <a:endParaRPr lang="en-US" sz="15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500" b="1" dirty="0">
                          <a:solidFill>
                            <a:srgbClr val="1B2A3A"/>
                          </a:solidFill>
                          <a:latin typeface="Segoe UI Semibold" pitchFamily="34" charset="0"/>
                          <a:ea typeface="Segoe UI Semibold" pitchFamily="34" charset="-122"/>
                          <a:cs typeface="Segoe UI Semibold" pitchFamily="34" charset="-120"/>
                        </a:rPr>
                        <a:t>Fluency</a:t>
                      </a:r>
                      <a:endParaRPr lang="en-US" sz="15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500" dirty="0">
                          <a:solidFill>
                            <a:srgbClr val="1B2A3A"/>
                          </a:solidFill>
                          <a:latin typeface="Segoe UI" pitchFamily="34" charset="0"/>
                          <a:ea typeface="Segoe UI" pitchFamily="34" charset="-122"/>
                          <a:cs typeface="Segoe UI" pitchFamily="34" charset="-120"/>
                        </a:rPr>
                        <a:t>Un LLM juez puntúa de 1 a 5 la calidad gramatical y la legibilidad</a:t>
                      </a:r>
                      <a:endParaRPr lang="en-US" sz="15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500" dirty="0">
                          <a:solidFill>
                            <a:srgbClr val="1B2A3A"/>
                          </a:solidFill>
                          <a:latin typeface="Segoe UI" pitchFamily="34" charset="0"/>
                          <a:ea typeface="Segoe UI" pitchFamily="34" charset="-122"/>
                          <a:cs typeface="Segoe UI" pitchFamily="34" charset="-120"/>
                        </a:rPr>
                        <a:t>Barata y rápida de automatizar en volumen</a:t>
                      </a:r>
                      <a:endParaRPr lang="en-US" sz="15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500" dirty="0">
                          <a:solidFill>
                            <a:srgbClr val="1B2A3A"/>
                          </a:solidFill>
                          <a:latin typeface="Segoe UI" pitchFamily="34" charset="0"/>
                          <a:ea typeface="Segoe UI" pitchFamily="34" charset="-122"/>
                          <a:cs typeface="Segoe UI" pitchFamily="34" charset="-120"/>
                        </a:rPr>
                        <a:t>Poco informativa en modelos actuales, casi todos puntúan alto</a:t>
                      </a:r>
                      <a:endParaRPr lang="en-US" sz="15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500" b="1" dirty="0">
                          <a:solidFill>
                            <a:srgbClr val="1B2A3A"/>
                          </a:solidFill>
                          <a:latin typeface="Segoe UI Semibold" pitchFamily="34" charset="0"/>
                          <a:ea typeface="Segoe UI Semibold" pitchFamily="34" charset="-122"/>
                          <a:cs typeface="Segoe UI Semibold" pitchFamily="34" charset="-120"/>
                        </a:rPr>
                        <a:t>Similarity</a:t>
                      </a:r>
                      <a:endParaRPr lang="en-US" sz="15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500" dirty="0">
                          <a:solidFill>
                            <a:srgbClr val="1B2A3A"/>
                          </a:solidFill>
                          <a:latin typeface="Segoe UI" pitchFamily="34" charset="0"/>
                          <a:ea typeface="Segoe UI" pitchFamily="34" charset="-122"/>
                          <a:cs typeface="Segoe UI" pitchFamily="34" charset="-120"/>
                        </a:rPr>
                        <a:t>Un LLM juez compara la respuesta con una respuesta esperada (ground truth)</a:t>
                      </a:r>
                      <a:endParaRPr lang="en-US" sz="15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500" dirty="0">
                          <a:solidFill>
                            <a:srgbClr val="1B2A3A"/>
                          </a:solidFill>
                          <a:latin typeface="Segoe UI" pitchFamily="34" charset="0"/>
                          <a:ea typeface="Segoe UI" pitchFamily="34" charset="-122"/>
                          <a:cs typeface="Segoe UI" pitchFamily="34" charset="-120"/>
                        </a:rPr>
                        <a:t>Tolera paráfrasis; útil con un dataset dorado</a:t>
                      </a:r>
                      <a:endParaRPr lang="en-US" sz="15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500" dirty="0">
                          <a:solidFill>
                            <a:srgbClr val="1B2A3A"/>
                          </a:solidFill>
                          <a:latin typeface="Segoe UI" pitchFamily="34" charset="0"/>
                          <a:ea typeface="Segoe UI" pitchFamily="34" charset="-122"/>
                          <a:cs typeface="Segoe UI" pitchFamily="34" charset="-120"/>
                        </a:rPr>
                        <a:t>Exige construir y mantener respuestas de referencia</a:t>
                      </a:r>
                      <a:endParaRPr lang="en-US" sz="15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Escala 1 a 5 con umbral configurable. Son métricas genéricas: no prueban que el agente sea correcto.</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Métricas para RAG y recuperación</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3195559047"/>
              </p:ext>
            </p:extLst>
          </p:nvPr>
        </p:nvGraphicFramePr>
        <p:xfrm>
          <a:off x="548640" y="1508760"/>
          <a:ext cx="11094415" cy="3886200"/>
        </p:xfrm>
        <a:graphic>
          <a:graphicData uri="http://schemas.openxmlformats.org/drawingml/2006/table">
            <a:tbl>
              <a:tblPr/>
              <a:tblGrid>
                <a:gridCol w="1619500">
                  <a:extLst>
                    <a:ext uri="{9D8B030D-6E8A-4147-A177-3AD203B41FA5}">
                      <a16:colId xmlns:a16="http://schemas.microsoft.com/office/drawing/2014/main" val="20000"/>
                    </a:ext>
                  </a:extLst>
                </a:gridCol>
                <a:gridCol w="3158305">
                  <a:extLst>
                    <a:ext uri="{9D8B030D-6E8A-4147-A177-3AD203B41FA5}">
                      <a16:colId xmlns:a16="http://schemas.microsoft.com/office/drawing/2014/main" val="20001"/>
                    </a:ext>
                  </a:extLst>
                </a:gridCol>
                <a:gridCol w="3158305">
                  <a:extLst>
                    <a:ext uri="{9D8B030D-6E8A-4147-A177-3AD203B41FA5}">
                      <a16:colId xmlns:a16="http://schemas.microsoft.com/office/drawing/2014/main" val="20002"/>
                    </a:ext>
                  </a:extLst>
                </a:gridCol>
                <a:gridCol w="3158305">
                  <a:extLst>
                    <a:ext uri="{9D8B030D-6E8A-4147-A177-3AD203B41FA5}">
                      <a16:colId xmlns:a16="http://schemas.microsoft.com/office/drawing/2014/main" val="20003"/>
                    </a:ext>
                  </a:extLst>
                </a:gridCol>
              </a:tblGrid>
              <a:tr h="777240">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Métrica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Cómo funciona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Ventaja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Desventaja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Groundedness</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Un LLM juez verifica si cada afirmación se apoya en el contexto recuperado (1 a 5)</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Detecta alucinaciones sin necesitar respuesta de referencia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Si el contexto es malo pero la respuesta lo respeta, puntúa alto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Relevance</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Un LLM juez mide si la respuesta atiende la pregunta del usuario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Detecta respuestas fuera de tema o evasivas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No verifica que lo dicho sea correcto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Retrieval</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Un LLM juez puntúa qué tan relevantes y bien ordenados son los fragmentos recuperados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Aísla fallas del índice o del buscador, no del modelo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Subjetiva; cuesta una llamada al juez por consulta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Document Retrieval</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Calcula métricas </a:t>
                      </a:r>
                      <a:r>
                        <a:rPr lang="en-US" sz="1400" dirty="0" err="1">
                          <a:solidFill>
                            <a:srgbClr val="1B2A3A"/>
                          </a:solidFill>
                          <a:latin typeface="Segoe UI" pitchFamily="34" charset="0"/>
                          <a:ea typeface="Segoe UI" pitchFamily="34" charset="-122"/>
                          <a:cs typeface="Segoe UI" pitchFamily="34" charset="-120"/>
                        </a:rPr>
                        <a:t>como</a:t>
                      </a:r>
                      <a:r>
                        <a:rPr lang="en-US" sz="1400" dirty="0">
                          <a:solidFill>
                            <a:srgbClr val="1B2A3A"/>
                          </a:solidFill>
                          <a:latin typeface="Segoe UI" pitchFamily="34" charset="0"/>
                          <a:ea typeface="Segoe UI" pitchFamily="34" charset="-122"/>
                          <a:cs typeface="Segoe UI" pitchFamily="34" charset="-120"/>
                        </a:rPr>
                        <a:t> NDCG o precisión@k contra documentos etiquetados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Objetiva y reproducible; ideal para comparar configuraciones de búsqueda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Requiere etiquetar documentos relevantes a mano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Groundedness Pro (preview) ofrece una versión pass/fail basada en Content Safety, sin desplegar un modelo.</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Métricas de agente: cumplir la tarea</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6" cy="3886200"/>
        </p:xfrm>
        <a:graphic>
          <a:graphicData uri="http://schemas.openxmlformats.org/drawingml/2006/table">
            <a:tbl>
              <a:tblPr/>
              <a:tblGrid>
                <a:gridCol w="1652360">
                  <a:extLst>
                    <a:ext uri="{9D8B030D-6E8A-4147-A177-3AD203B41FA5}">
                      <a16:colId xmlns:a16="http://schemas.microsoft.com/office/drawing/2014/main" val="20000"/>
                    </a:ext>
                  </a:extLst>
                </a:gridCol>
                <a:gridCol w="3147352">
                  <a:extLst>
                    <a:ext uri="{9D8B030D-6E8A-4147-A177-3AD203B41FA5}">
                      <a16:colId xmlns:a16="http://schemas.microsoft.com/office/drawing/2014/main" val="20001"/>
                    </a:ext>
                  </a:extLst>
                </a:gridCol>
                <a:gridCol w="3147352">
                  <a:extLst>
                    <a:ext uri="{9D8B030D-6E8A-4147-A177-3AD203B41FA5}">
                      <a16:colId xmlns:a16="http://schemas.microsoft.com/office/drawing/2014/main" val="20002"/>
                    </a:ext>
                  </a:extLst>
                </a:gridCol>
                <a:gridCol w="3147352">
                  <a:extLst>
                    <a:ext uri="{9D8B030D-6E8A-4147-A177-3AD203B41FA5}">
                      <a16:colId xmlns:a16="http://schemas.microsoft.com/office/drawing/2014/main" val="20003"/>
                    </a:ext>
                  </a:extLst>
                </a:gridCol>
              </a:tblGrid>
              <a:tr h="777240">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Métrica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Cómo funciona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Ventaja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Desventaja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Intent Resolution</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Un LLM juez evalúa si el agente identificó y atendió la intención real del usuario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Mide el resultado percibido por el usuario, no solo el texto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Intenciones ambiguas generan puntuaciones inconsistentes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Task Adherence</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Un LLM juez revisa si el agente siguió las instrucciones de sistema y la tarea identificada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Detecta desvíos de política, por ejemplo salirse del alcance autorizado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Depende de qué tan claras sean las instrucciones del agente</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Task Completion</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Un LLM juez revisa si la tarea se completó de extremo a extremo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Es la métrica más cercana al valor de negocio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Preview; exige trazas completas y puede ser costosa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Navigation Efficiency</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Compara la secuencia de pasos del agente con una ruta esperada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Detecta pasos redundantes y loops que suben costo y latencia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Requiere definir la ruta óptima de antemano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Varias son conversation-level: evalúan toda la interacción, no un turno aislado. Algunas están en preview.</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Métricas de uso de herramientas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4206240"/>
        </p:xfrm>
        <a:graphic>
          <a:graphicData uri="http://schemas.openxmlformats.org/drawingml/2006/table">
            <a:tbl>
              <a:tblPr/>
              <a:tblGrid>
                <a:gridCol w="1784416">
                  <a:extLst>
                    <a:ext uri="{9D8B030D-6E8A-4147-A177-3AD203B41FA5}">
                      <a16:colId xmlns:a16="http://schemas.microsoft.com/office/drawing/2014/main" val="20000"/>
                    </a:ext>
                  </a:extLst>
                </a:gridCol>
                <a:gridCol w="3103333">
                  <a:extLst>
                    <a:ext uri="{9D8B030D-6E8A-4147-A177-3AD203B41FA5}">
                      <a16:colId xmlns:a16="http://schemas.microsoft.com/office/drawing/2014/main" val="20001"/>
                    </a:ext>
                  </a:extLst>
                </a:gridCol>
                <a:gridCol w="3103333">
                  <a:extLst>
                    <a:ext uri="{9D8B030D-6E8A-4147-A177-3AD203B41FA5}">
                      <a16:colId xmlns:a16="http://schemas.microsoft.com/office/drawing/2014/main" val="20002"/>
                    </a:ext>
                  </a:extLst>
                </a:gridCol>
                <a:gridCol w="3103333">
                  <a:extLst>
                    <a:ext uri="{9D8B030D-6E8A-4147-A177-3AD203B41FA5}">
                      <a16:colId xmlns:a16="http://schemas.microsoft.com/office/drawing/2014/main" val="20003"/>
                    </a:ext>
                  </a:extLst>
                </a:gridCol>
              </a:tblGrid>
              <a:tr h="701040">
                <a:tc>
                  <a:txBody>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Métrica</a:t>
                      </a:r>
                      <a:endParaRPr lang="en-US" sz="125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Cómo funciona</a:t>
                      </a:r>
                      <a:endParaRPr lang="en-US" sz="125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Ventaja</a:t>
                      </a:r>
                      <a:endParaRPr lang="en-US" sz="125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Desventaja</a:t>
                      </a:r>
                      <a:endParaRPr lang="en-US" sz="125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01040">
                <a:tc>
                  <a:txBody>
                    <a:bodyPr/>
                    <a:lstStyle/>
                    <a:p>
                      <a:pPr marL="0" indent="0">
                        <a:buNone/>
                      </a:pPr>
                      <a:r>
                        <a:rPr lang="en-US" sz="1250" b="1" dirty="0">
                          <a:solidFill>
                            <a:srgbClr val="1B2A3A"/>
                          </a:solidFill>
                          <a:latin typeface="Segoe UI Semibold" pitchFamily="34" charset="0"/>
                          <a:ea typeface="Segoe UI Semibold" pitchFamily="34" charset="-122"/>
                          <a:cs typeface="Segoe UI Semibold" pitchFamily="34" charset="-120"/>
                        </a:rPr>
                        <a:t>Tool Selection</a:t>
                      </a:r>
                      <a:endParaRPr lang="en-US" sz="125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Revisa si el agente eligió la herramienta más adecuada y eficiente</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Detecta herramientas mal descritas o confundibles</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Puede haber más de una opción válida</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1040">
                <a:tc>
                  <a:txBody>
                    <a:bodyPr/>
                    <a:lstStyle/>
                    <a:p>
                      <a:pPr marL="0" indent="0">
                        <a:buNone/>
                      </a:pPr>
                      <a:r>
                        <a:rPr lang="en-US" sz="1250" b="1" dirty="0">
                          <a:solidFill>
                            <a:srgbClr val="1B2A3A"/>
                          </a:solidFill>
                          <a:latin typeface="Segoe UI Semibold" pitchFamily="34" charset="0"/>
                          <a:ea typeface="Segoe UI Semibold" pitchFamily="34" charset="-122"/>
                          <a:cs typeface="Segoe UI Semibold" pitchFamily="34" charset="-120"/>
                        </a:rPr>
                        <a:t>Tool Call Accuracy</a:t>
                      </a:r>
                      <a:endParaRPr lang="en-US" sz="125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Puntúa la calidad global de la llamada: selección, parámetros y eficiencia</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Una sola métrica resume el uso de tools</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Agrega varios factores; cuesta ver cuál falló</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01040">
                <a:tc>
                  <a:txBody>
                    <a:bodyPr/>
                    <a:lstStyle/>
                    <a:p>
                      <a:pPr marL="0" indent="0">
                        <a:buNone/>
                      </a:pPr>
                      <a:r>
                        <a:rPr lang="en-US" sz="1250" b="1" dirty="0">
                          <a:solidFill>
                            <a:srgbClr val="1B2A3A"/>
                          </a:solidFill>
                          <a:latin typeface="Segoe UI Semibold" pitchFamily="34" charset="0"/>
                          <a:ea typeface="Segoe UI Semibold" pitchFamily="34" charset="-122"/>
                          <a:cs typeface="Segoe UI Semibold" pitchFamily="34" charset="-120"/>
                        </a:rPr>
                        <a:t>Tool Input Accuracy</a:t>
                      </a:r>
                      <a:endParaRPr lang="en-US" sz="125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Valida con criterios estrictos que cada parámetro sea correcto, completo y bien formado</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Encuentra argumentos mal armados, la causa más común</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Estricta: puede penalizar variaciones aceptables</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1040">
                <a:tc>
                  <a:txBody>
                    <a:bodyPr/>
                    <a:lstStyle/>
                    <a:p>
                      <a:pPr marL="0" indent="0">
                        <a:buNone/>
                      </a:pPr>
                      <a:r>
                        <a:rPr lang="en-US" sz="1250" b="1" dirty="0">
                          <a:solidFill>
                            <a:srgbClr val="1B2A3A"/>
                          </a:solidFill>
                          <a:latin typeface="Segoe UI Semibold" pitchFamily="34" charset="0"/>
                          <a:ea typeface="Segoe UI Semibold" pitchFamily="34" charset="-122"/>
                          <a:cs typeface="Segoe UI Semibold" pitchFamily="34" charset="-120"/>
                        </a:rPr>
                        <a:t>Tool Output Utilization</a:t>
                      </a:r>
                      <a:endParaRPr lang="en-US" sz="125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Verifica que el agente interprete y use bien el resultado de la tool</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Detecta resultados ignorados o mal citados</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Requiere acceso al resultado en la traza</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701040">
                <a:tc>
                  <a:txBody>
                    <a:bodyPr/>
                    <a:lstStyle/>
                    <a:p>
                      <a:pPr marL="0" indent="0">
                        <a:buNone/>
                      </a:pPr>
                      <a:r>
                        <a:rPr lang="en-US" sz="1250" b="1" dirty="0">
                          <a:solidFill>
                            <a:srgbClr val="1B2A3A"/>
                          </a:solidFill>
                          <a:latin typeface="Segoe UI Semibold" pitchFamily="34" charset="0"/>
                          <a:ea typeface="Segoe UI Semibold" pitchFamily="34" charset="-122"/>
                          <a:cs typeface="Segoe UI Semibold" pitchFamily="34" charset="-120"/>
                        </a:rPr>
                        <a:t>Tool Call Success</a:t>
                      </a:r>
                      <a:endParaRPr lang="en-US" sz="125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Revisa que las llamadas se ejecuten sin fallas técnicas</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Objetiva y barata; detecta errores de integración</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250" dirty="0">
                          <a:solidFill>
                            <a:srgbClr val="1B2A3A"/>
                          </a:solidFill>
                          <a:latin typeface="Segoe UI" pitchFamily="34" charset="0"/>
                          <a:ea typeface="Segoe UI" pitchFamily="34" charset="-122"/>
                          <a:cs typeface="Segoe UI" pitchFamily="34" charset="-120"/>
                        </a:rPr>
                        <a:t>No dice si la llamada era la correcta</a:t>
                      </a:r>
                      <a:endParaRPr lang="en-US" sz="125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Tool Use Quality (preview) agrupa varias de estas métricas en una sola llamada al juez.</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Métricas de riesgo y seguridad</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6" cy="3886200"/>
        </p:xfrm>
        <a:graphic>
          <a:graphicData uri="http://schemas.openxmlformats.org/drawingml/2006/table">
            <a:tbl>
              <a:tblPr/>
              <a:tblGrid>
                <a:gridCol w="2773604">
                  <a:extLst>
                    <a:ext uri="{9D8B030D-6E8A-4147-A177-3AD203B41FA5}">
                      <a16:colId xmlns:a16="http://schemas.microsoft.com/office/drawing/2014/main" val="20000"/>
                    </a:ext>
                  </a:extLst>
                </a:gridCol>
                <a:gridCol w="2773604">
                  <a:extLst>
                    <a:ext uri="{9D8B030D-6E8A-4147-A177-3AD203B41FA5}">
                      <a16:colId xmlns:a16="http://schemas.microsoft.com/office/drawing/2014/main" val="20001"/>
                    </a:ext>
                  </a:extLst>
                </a:gridCol>
                <a:gridCol w="2773604">
                  <a:extLst>
                    <a:ext uri="{9D8B030D-6E8A-4147-A177-3AD203B41FA5}">
                      <a16:colId xmlns:a16="http://schemas.microsoft.com/office/drawing/2014/main" val="20002"/>
                    </a:ext>
                  </a:extLst>
                </a:gridCol>
                <a:gridCol w="2773604">
                  <a:extLst>
                    <a:ext uri="{9D8B030D-6E8A-4147-A177-3AD203B41FA5}">
                      <a16:colId xmlns:a16="http://schemas.microsoft.com/office/drawing/2014/main" val="20003"/>
                    </a:ext>
                  </a:extLst>
                </a:gridCol>
              </a:tblGrid>
              <a:tr h="777240">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Métrica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Cómo funciona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Ventaja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Desventaja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Contenido dañino</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Clasifica odio, sexual, violencia y autolesión con severidad por categoría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Cobertura estándar de responsabilidad en IA, sin armar un juez propio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Puede dar falsos positivos en contexto legítimo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Protected Materials</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Detecta texto con derechos de autor o material protegido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Reduce riesgo legal y reputacional</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No cubre todas las fuentes posibles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Indirect Attack (XPIA)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Mide si la respuesta cayó en instrucciones inyectadas en el contexto recuperado</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Prueba un riesgo real de RAG y agentes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Necesita casos adversariales bien diseñados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Prohibited Actions y Sensitive Data Leakage</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Evalúan si el agente ejecuta acciones prohibidas o expone datos sensibles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Conecta la evaluación con políticas propias de BCI</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Exigen definir qué es prohibido y qué es sensible</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Foundry recomienda sumar siempre estas métricas, sin importar el tipo de aplicación. Se profundizan en el módulo de seguridad.</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Métricas clásicas y operacionales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3886200"/>
        </p:xfrm>
        <a:graphic>
          <a:graphicData uri="http://schemas.openxmlformats.org/drawingml/2006/table">
            <a:tbl>
              <a:tblPr/>
              <a:tblGrid>
                <a:gridCol w="1784416">
                  <a:extLst>
                    <a:ext uri="{9D8B030D-6E8A-4147-A177-3AD203B41FA5}">
                      <a16:colId xmlns:a16="http://schemas.microsoft.com/office/drawing/2014/main" val="20000"/>
                    </a:ext>
                  </a:extLst>
                </a:gridCol>
                <a:gridCol w="3103333">
                  <a:extLst>
                    <a:ext uri="{9D8B030D-6E8A-4147-A177-3AD203B41FA5}">
                      <a16:colId xmlns:a16="http://schemas.microsoft.com/office/drawing/2014/main" val="20001"/>
                    </a:ext>
                  </a:extLst>
                </a:gridCol>
                <a:gridCol w="3103333">
                  <a:extLst>
                    <a:ext uri="{9D8B030D-6E8A-4147-A177-3AD203B41FA5}">
                      <a16:colId xmlns:a16="http://schemas.microsoft.com/office/drawing/2014/main" val="20002"/>
                    </a:ext>
                  </a:extLst>
                </a:gridCol>
                <a:gridCol w="3103333">
                  <a:extLst>
                    <a:ext uri="{9D8B030D-6E8A-4147-A177-3AD203B41FA5}">
                      <a16:colId xmlns:a16="http://schemas.microsoft.com/office/drawing/2014/main" val="20003"/>
                    </a:ext>
                  </a:extLst>
                </a:gridCol>
              </a:tblGrid>
              <a:tr h="777240">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Métrica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Cómo funciona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Ventaja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Desventaja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F1, BLEU, ROUGE, METEOR</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Cuentan coincidencias de palabras o n-gramas entre la respuesta y una referencia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Determinísticas, gratuitas y reproducibles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Penalizan paráfrasis correctas; poco útiles en respuestas largas o abiertas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Latencia</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Mide el tiempo por etapa: arranque, modelo y herramientas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Objetiva; se ve directo en las trazas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No dice nada sobre la calidad de la respuesta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Tokens y costo</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Suma tokens de entrada y salida por consulta, sesión o consumidor</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Base para FinOps y para comparar modelos</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Un costo bajo puede esconder una calidad baja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400" b="1" dirty="0">
                          <a:solidFill>
                            <a:srgbClr val="1B2A3A"/>
                          </a:solidFill>
                          <a:latin typeface="Segoe UI Semibold" pitchFamily="34" charset="0"/>
                          <a:ea typeface="Segoe UI Semibold" pitchFamily="34" charset="-122"/>
                          <a:cs typeface="Segoe UI Semibold" pitchFamily="34" charset="-120"/>
                        </a:rPr>
                        <a:t>Tasa de error o éxito</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Porcentaje de sesiones o llamadas completadas sin falla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Alimenta SLOs de disponibilidad</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400" dirty="0">
                          <a:solidFill>
                            <a:srgbClr val="1B2A3A"/>
                          </a:solidFill>
                          <a:latin typeface="Segoe UI" pitchFamily="34" charset="0"/>
                          <a:ea typeface="Segoe UI" pitchFamily="34" charset="-122"/>
                          <a:cs typeface="Segoe UI" pitchFamily="34" charset="-120"/>
                        </a:rPr>
                        <a:t>Éxito técnico no implica respuesta correcta</a:t>
                      </a:r>
                      <a:endParaRPr lang="en-US" sz="14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Las operacionales salen de la telemetría, no de evaluadores: se combinan con las métricas de calidad.</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LLM como juez vs. métricas determinísticas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5396332" cy="640080"/>
          </a:xfrm>
          <a:prstGeom prst="rect">
            <a:avLst/>
          </a:prstGeom>
          <a:solidFill>
            <a:srgbClr val="E8743B"/>
          </a:solidFill>
          <a:ln/>
        </p:spPr>
        <p:txBody>
          <a:bodyPr/>
          <a:lstStyle/>
          <a:p>
            <a:endParaRPr lang="en-US"/>
          </a:p>
        </p:txBody>
      </p:sp>
      <p:sp>
        <p:nvSpPr>
          <p:cNvPr id="7" name="Text 5"/>
          <p:cNvSpPr/>
          <p:nvPr/>
        </p:nvSpPr>
        <p:spPr>
          <a:xfrm>
            <a:off x="822960"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LLM como juez</a:t>
            </a:r>
            <a:endParaRPr lang="en-US" sz="2000" dirty="0"/>
          </a:p>
        </p:txBody>
      </p:sp>
      <p:sp>
        <p:nvSpPr>
          <p:cNvPr id="8" name="Shape 6"/>
          <p:cNvSpPr/>
          <p:nvPr/>
        </p:nvSpPr>
        <p:spPr>
          <a:xfrm>
            <a:off x="548640"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822960"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Ventaja: evalúa significado, tono y razonamiento, no solo texto</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Ventaja: no necesita respuesta de referencia</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Desventaja: tiene costo y latencia por cada evaluación</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Desventaja: puede sesgarse y variar entre corridas</a:t>
            </a:r>
            <a:endParaRPr lang="en-US" sz="1700" dirty="0"/>
          </a:p>
        </p:txBody>
      </p:sp>
      <p:sp>
        <p:nvSpPr>
          <p:cNvPr id="10" name="Shape 8"/>
          <p:cNvSpPr/>
          <p:nvPr/>
        </p:nvSpPr>
        <p:spPr>
          <a:xfrm>
            <a:off x="6246724" y="1508760"/>
            <a:ext cx="5396332" cy="640080"/>
          </a:xfrm>
          <a:prstGeom prst="rect">
            <a:avLst/>
          </a:prstGeom>
          <a:solidFill>
            <a:srgbClr val="0B1F33"/>
          </a:solidFill>
          <a:ln/>
        </p:spPr>
        <p:txBody>
          <a:bodyPr/>
          <a:lstStyle/>
          <a:p>
            <a:endParaRPr lang="en-US"/>
          </a:p>
        </p:txBody>
      </p:sp>
      <p:sp>
        <p:nvSpPr>
          <p:cNvPr id="11" name="Text 9"/>
          <p:cNvSpPr/>
          <p:nvPr/>
        </p:nvSpPr>
        <p:spPr>
          <a:xfrm>
            <a:off x="6521044"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Determinísticas y humanas</a:t>
            </a:r>
            <a:endParaRPr lang="en-US" sz="2000" dirty="0"/>
          </a:p>
        </p:txBody>
      </p:sp>
      <p:sp>
        <p:nvSpPr>
          <p:cNvPr id="12" name="Shape 10"/>
          <p:cNvSpPr/>
          <p:nvPr/>
        </p:nvSpPr>
        <p:spPr>
          <a:xfrm>
            <a:off x="6246724"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p:nvPr/>
        </p:nvSpPr>
        <p:spPr>
          <a:xfrm>
            <a:off x="6521044"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Ventaja: reproducibles y baratas (F1, ROUGE, errores de tool)</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Ventaja: la revisión humana es la referencia de calidad</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Desventaja: no captan paráfrasis ni matices</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Desventaja: la revisión humana no escala</a:t>
            </a:r>
            <a:endParaRPr lang="en-US" sz="1700" dirty="0"/>
          </a:p>
        </p:txBody>
      </p:sp>
      <p:sp>
        <p:nvSpPr>
          <p:cNvPr id="14" name="Shape 12"/>
          <p:cNvSpPr/>
          <p:nvPr/>
        </p:nvSpPr>
        <p:spPr>
          <a:xfrm>
            <a:off x="548640" y="5577840"/>
            <a:ext cx="11094415" cy="685800"/>
          </a:xfrm>
          <a:prstGeom prst="rect">
            <a:avLst/>
          </a:prstGeom>
          <a:solidFill>
            <a:srgbClr val="F5B83D"/>
          </a:solidFill>
          <a:ln/>
        </p:spPr>
        <p:txBody>
          <a:bodyPr/>
          <a:lstStyle/>
          <a:p>
            <a:endParaRPr lang="en-US"/>
          </a:p>
        </p:txBody>
      </p:sp>
      <p:sp>
        <p:nvSpPr>
          <p:cNvPr id="15" name="Text 13"/>
          <p:cNvSpPr/>
          <p:nvPr/>
        </p:nvSpPr>
        <p:spPr>
          <a:xfrm>
            <a:off x="822960" y="5577840"/>
            <a:ext cx="10545775" cy="685800"/>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Combina varias: un set mínimo por agente, umbrales propios y una muestra humana para calibrar al juez.</a:t>
            </a:r>
            <a:endParaRPr lang="en-US" sz="17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Del síntoma al diagnóstico</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914400" y="2331720"/>
            <a:ext cx="8875532" cy="0"/>
          </a:xfrm>
          <a:prstGeom prst="line">
            <a:avLst/>
          </a:prstGeom>
          <a:noFill/>
          <a:ln w="38100">
            <a:solidFill>
              <a:srgbClr val="C9D7E4"/>
            </a:solidFill>
            <a:prstDash val="solid"/>
          </a:ln>
        </p:spPr>
        <p:txBody>
          <a:bodyPr/>
          <a:lstStyle/>
          <a:p>
            <a:endParaRPr lang="en-US"/>
          </a:p>
        </p:txBody>
      </p:sp>
      <p:sp>
        <p:nvSpPr>
          <p:cNvPr id="7" name="Shape 5"/>
          <p:cNvSpPr/>
          <p:nvPr/>
        </p:nvSpPr>
        <p:spPr>
          <a:xfrm>
            <a:off x="548640" y="1965960"/>
            <a:ext cx="731520" cy="731520"/>
          </a:xfrm>
          <a:prstGeom prst="ellipse">
            <a:avLst/>
          </a:prstGeom>
          <a:solidFill>
            <a:srgbClr val="E8743B"/>
          </a:solidFill>
          <a:ln/>
        </p:spPr>
        <p:txBody>
          <a:bodyPr/>
          <a:lstStyle/>
          <a:p>
            <a:endParaRPr lang="en-US"/>
          </a:p>
        </p:txBody>
      </p:sp>
      <p:sp>
        <p:nvSpPr>
          <p:cNvPr id="8" name="Text 6"/>
          <p:cNvSpPr/>
          <p:nvPr/>
        </p:nvSpPr>
        <p:spPr>
          <a:xfrm>
            <a:off x="548640"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1</a:t>
            </a:r>
            <a:endParaRPr lang="en-US" sz="2200" dirty="0"/>
          </a:p>
        </p:txBody>
      </p:sp>
      <p:sp>
        <p:nvSpPr>
          <p:cNvPr id="9" name="Text 7"/>
          <p:cNvSpPr/>
          <p:nvPr/>
        </p:nvSpPr>
        <p:spPr>
          <a:xfrm>
            <a:off x="548640" y="2880360"/>
            <a:ext cx="1990283"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Reproducir</a:t>
            </a:r>
            <a:endParaRPr lang="en-US" sz="2000" dirty="0"/>
          </a:p>
        </p:txBody>
      </p:sp>
      <p:sp>
        <p:nvSpPr>
          <p:cNvPr id="10" name="Shape 8"/>
          <p:cNvSpPr/>
          <p:nvPr/>
        </p:nvSpPr>
        <p:spPr>
          <a:xfrm>
            <a:off x="548640"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9"/>
          <p:cNvSpPr/>
          <p:nvPr/>
        </p:nvSpPr>
        <p:spPr>
          <a:xfrm>
            <a:off x="548640" y="3657600"/>
            <a:ext cx="82296" cy="2514600"/>
          </a:xfrm>
          <a:prstGeom prst="rect">
            <a:avLst/>
          </a:prstGeom>
          <a:solidFill>
            <a:srgbClr val="E8743B"/>
          </a:solidFill>
          <a:ln/>
        </p:spPr>
        <p:txBody>
          <a:bodyPr/>
          <a:lstStyle/>
          <a:p>
            <a:endParaRPr lang="en-US"/>
          </a:p>
        </p:txBody>
      </p:sp>
      <p:sp>
        <p:nvSpPr>
          <p:cNvPr id="12" name="Text 10"/>
          <p:cNvSpPr/>
          <p:nvPr/>
        </p:nvSpPr>
        <p:spPr>
          <a:xfrm>
            <a:off x="777240" y="3840480"/>
            <a:ext cx="1688531" cy="214884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Corre el caso fallido con el mismo prompt y datos para confirmar el síntoma</a:t>
            </a:r>
            <a:endParaRPr lang="en-US" sz="1800" dirty="0"/>
          </a:p>
        </p:txBody>
      </p:sp>
      <p:sp>
        <p:nvSpPr>
          <p:cNvPr id="13" name="Shape 11"/>
          <p:cNvSpPr/>
          <p:nvPr/>
        </p:nvSpPr>
        <p:spPr>
          <a:xfrm>
            <a:off x="2767523" y="1965960"/>
            <a:ext cx="731520" cy="731520"/>
          </a:xfrm>
          <a:prstGeom prst="ellipse">
            <a:avLst/>
          </a:prstGeom>
          <a:solidFill>
            <a:srgbClr val="0B1F33"/>
          </a:solidFill>
          <a:ln/>
        </p:spPr>
        <p:txBody>
          <a:bodyPr/>
          <a:lstStyle/>
          <a:p>
            <a:endParaRPr lang="en-US"/>
          </a:p>
        </p:txBody>
      </p:sp>
      <p:sp>
        <p:nvSpPr>
          <p:cNvPr id="14" name="Text 12"/>
          <p:cNvSpPr/>
          <p:nvPr/>
        </p:nvSpPr>
        <p:spPr>
          <a:xfrm>
            <a:off x="2767523"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2</a:t>
            </a:r>
            <a:endParaRPr lang="en-US" sz="2200" dirty="0"/>
          </a:p>
        </p:txBody>
      </p:sp>
      <p:sp>
        <p:nvSpPr>
          <p:cNvPr id="15" name="Text 13"/>
          <p:cNvSpPr/>
          <p:nvPr/>
        </p:nvSpPr>
        <p:spPr>
          <a:xfrm>
            <a:off x="2767523" y="2880360"/>
            <a:ext cx="1990283"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Abrir la traza</a:t>
            </a:r>
            <a:endParaRPr lang="en-US" sz="2000" dirty="0"/>
          </a:p>
        </p:txBody>
      </p:sp>
      <p:sp>
        <p:nvSpPr>
          <p:cNvPr id="16" name="Shape 14"/>
          <p:cNvSpPr/>
          <p:nvPr/>
        </p:nvSpPr>
        <p:spPr>
          <a:xfrm>
            <a:off x="2767523"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2767523" y="3657600"/>
            <a:ext cx="82296" cy="2514600"/>
          </a:xfrm>
          <a:prstGeom prst="rect">
            <a:avLst/>
          </a:prstGeom>
          <a:solidFill>
            <a:srgbClr val="0B1F33"/>
          </a:solidFill>
          <a:ln/>
        </p:spPr>
        <p:txBody>
          <a:bodyPr/>
          <a:lstStyle/>
          <a:p>
            <a:endParaRPr lang="en-US"/>
          </a:p>
        </p:txBody>
      </p:sp>
      <p:sp>
        <p:nvSpPr>
          <p:cNvPr id="18" name="Text 16"/>
          <p:cNvSpPr/>
          <p:nvPr/>
        </p:nvSpPr>
        <p:spPr>
          <a:xfrm>
            <a:off x="2996123" y="3840480"/>
            <a:ext cx="1688531" cy="214884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Ubica la corrida en el portal de Foundry o Application Insights con su Trace ID</a:t>
            </a:r>
            <a:endParaRPr lang="en-US" sz="1800" dirty="0"/>
          </a:p>
        </p:txBody>
      </p:sp>
      <p:sp>
        <p:nvSpPr>
          <p:cNvPr id="19" name="Shape 17"/>
          <p:cNvSpPr/>
          <p:nvPr/>
        </p:nvSpPr>
        <p:spPr>
          <a:xfrm>
            <a:off x="4986406" y="1965960"/>
            <a:ext cx="731520" cy="731520"/>
          </a:xfrm>
          <a:prstGeom prst="ellipse">
            <a:avLst/>
          </a:prstGeom>
          <a:solidFill>
            <a:srgbClr val="E8743B"/>
          </a:solidFill>
          <a:ln/>
        </p:spPr>
        <p:txBody>
          <a:bodyPr/>
          <a:lstStyle/>
          <a:p>
            <a:endParaRPr lang="en-US"/>
          </a:p>
        </p:txBody>
      </p:sp>
      <p:sp>
        <p:nvSpPr>
          <p:cNvPr id="20" name="Text 18"/>
          <p:cNvSpPr/>
          <p:nvPr/>
        </p:nvSpPr>
        <p:spPr>
          <a:xfrm>
            <a:off x="4986406"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3</a:t>
            </a:r>
            <a:endParaRPr lang="en-US" sz="2200" dirty="0"/>
          </a:p>
        </p:txBody>
      </p:sp>
      <p:sp>
        <p:nvSpPr>
          <p:cNvPr id="21" name="Text 19"/>
          <p:cNvSpPr/>
          <p:nvPr/>
        </p:nvSpPr>
        <p:spPr>
          <a:xfrm>
            <a:off x="4986406" y="2880360"/>
            <a:ext cx="1990283"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Aislar el span</a:t>
            </a:r>
            <a:endParaRPr lang="en-US" sz="2000" dirty="0"/>
          </a:p>
        </p:txBody>
      </p:sp>
      <p:sp>
        <p:nvSpPr>
          <p:cNvPr id="22" name="Shape 20"/>
          <p:cNvSpPr/>
          <p:nvPr/>
        </p:nvSpPr>
        <p:spPr>
          <a:xfrm>
            <a:off x="4986406"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1"/>
          <p:cNvSpPr/>
          <p:nvPr/>
        </p:nvSpPr>
        <p:spPr>
          <a:xfrm>
            <a:off x="4986406" y="3657600"/>
            <a:ext cx="82296" cy="2514600"/>
          </a:xfrm>
          <a:prstGeom prst="rect">
            <a:avLst/>
          </a:prstGeom>
          <a:solidFill>
            <a:srgbClr val="E8743B"/>
          </a:solidFill>
          <a:ln/>
        </p:spPr>
        <p:txBody>
          <a:bodyPr/>
          <a:lstStyle/>
          <a:p>
            <a:endParaRPr lang="en-US"/>
          </a:p>
        </p:txBody>
      </p:sp>
      <p:sp>
        <p:nvSpPr>
          <p:cNvPr id="24" name="Text 22"/>
          <p:cNvSpPr/>
          <p:nvPr/>
        </p:nvSpPr>
        <p:spPr>
          <a:xfrm>
            <a:off x="5215006" y="3840480"/>
            <a:ext cx="1688531" cy="214884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Compara invoke_agent, retrieval y execute_tool para ver dónde se rompió</a:t>
            </a:r>
            <a:endParaRPr lang="en-US" sz="1800" dirty="0"/>
          </a:p>
        </p:txBody>
      </p:sp>
      <p:sp>
        <p:nvSpPr>
          <p:cNvPr id="25" name="Shape 23"/>
          <p:cNvSpPr/>
          <p:nvPr/>
        </p:nvSpPr>
        <p:spPr>
          <a:xfrm>
            <a:off x="7205289" y="1965960"/>
            <a:ext cx="731520" cy="731520"/>
          </a:xfrm>
          <a:prstGeom prst="ellipse">
            <a:avLst/>
          </a:prstGeom>
          <a:solidFill>
            <a:srgbClr val="0B1F33"/>
          </a:solidFill>
          <a:ln/>
        </p:spPr>
        <p:txBody>
          <a:bodyPr/>
          <a:lstStyle/>
          <a:p>
            <a:endParaRPr lang="en-US"/>
          </a:p>
        </p:txBody>
      </p:sp>
      <p:sp>
        <p:nvSpPr>
          <p:cNvPr id="26" name="Text 24"/>
          <p:cNvSpPr/>
          <p:nvPr/>
        </p:nvSpPr>
        <p:spPr>
          <a:xfrm>
            <a:off x="7205289"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4</a:t>
            </a:r>
            <a:endParaRPr lang="en-US" sz="2200" dirty="0"/>
          </a:p>
        </p:txBody>
      </p:sp>
      <p:sp>
        <p:nvSpPr>
          <p:cNvPr id="27" name="Text 25"/>
          <p:cNvSpPr/>
          <p:nvPr/>
        </p:nvSpPr>
        <p:spPr>
          <a:xfrm>
            <a:off x="7205289" y="2880360"/>
            <a:ext cx="1990283"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Confirmar con datos</a:t>
            </a:r>
            <a:endParaRPr lang="en-US" sz="2000" dirty="0"/>
          </a:p>
        </p:txBody>
      </p:sp>
      <p:sp>
        <p:nvSpPr>
          <p:cNvPr id="28" name="Shape 26"/>
          <p:cNvSpPr/>
          <p:nvPr/>
        </p:nvSpPr>
        <p:spPr>
          <a:xfrm>
            <a:off x="7205289"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9" name="Shape 27"/>
          <p:cNvSpPr/>
          <p:nvPr/>
        </p:nvSpPr>
        <p:spPr>
          <a:xfrm>
            <a:off x="7205289" y="3657600"/>
            <a:ext cx="82296" cy="2514600"/>
          </a:xfrm>
          <a:prstGeom prst="rect">
            <a:avLst/>
          </a:prstGeom>
          <a:solidFill>
            <a:srgbClr val="0B1F33"/>
          </a:solidFill>
          <a:ln/>
        </p:spPr>
        <p:txBody>
          <a:bodyPr/>
          <a:lstStyle/>
          <a:p>
            <a:endParaRPr lang="en-US"/>
          </a:p>
        </p:txBody>
      </p:sp>
      <p:sp>
        <p:nvSpPr>
          <p:cNvPr id="30" name="Text 28"/>
          <p:cNvSpPr/>
          <p:nvPr/>
        </p:nvSpPr>
        <p:spPr>
          <a:xfrm>
            <a:off x="7433889" y="3840480"/>
            <a:ext cx="1688531" cy="214884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Mide groundedness y uso de tools sobre el caso para validar la causa</a:t>
            </a:r>
            <a:endParaRPr lang="en-US" sz="1800" dirty="0"/>
          </a:p>
        </p:txBody>
      </p:sp>
      <p:sp>
        <p:nvSpPr>
          <p:cNvPr id="31" name="Shape 29"/>
          <p:cNvSpPr/>
          <p:nvPr/>
        </p:nvSpPr>
        <p:spPr>
          <a:xfrm>
            <a:off x="9424172" y="1965960"/>
            <a:ext cx="731520" cy="731520"/>
          </a:xfrm>
          <a:prstGeom prst="ellipse">
            <a:avLst/>
          </a:prstGeom>
          <a:solidFill>
            <a:srgbClr val="E8743B"/>
          </a:solidFill>
          <a:ln/>
        </p:spPr>
        <p:txBody>
          <a:bodyPr/>
          <a:lstStyle/>
          <a:p>
            <a:endParaRPr lang="en-US"/>
          </a:p>
        </p:txBody>
      </p:sp>
      <p:sp>
        <p:nvSpPr>
          <p:cNvPr id="32" name="Text 30"/>
          <p:cNvSpPr/>
          <p:nvPr/>
        </p:nvSpPr>
        <p:spPr>
          <a:xfrm>
            <a:off x="9424172"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5</a:t>
            </a:r>
            <a:endParaRPr lang="en-US" sz="2200" dirty="0"/>
          </a:p>
        </p:txBody>
      </p:sp>
      <p:sp>
        <p:nvSpPr>
          <p:cNvPr id="33" name="Text 31"/>
          <p:cNvSpPr/>
          <p:nvPr/>
        </p:nvSpPr>
        <p:spPr>
          <a:xfrm>
            <a:off x="9424172" y="2880360"/>
            <a:ext cx="1990283"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Corregir y re-probar</a:t>
            </a:r>
            <a:endParaRPr lang="en-US" sz="2000" dirty="0"/>
          </a:p>
        </p:txBody>
      </p:sp>
      <p:sp>
        <p:nvSpPr>
          <p:cNvPr id="34" name="Shape 32"/>
          <p:cNvSpPr/>
          <p:nvPr/>
        </p:nvSpPr>
        <p:spPr>
          <a:xfrm>
            <a:off x="9424172"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35" name="Shape 33"/>
          <p:cNvSpPr/>
          <p:nvPr/>
        </p:nvSpPr>
        <p:spPr>
          <a:xfrm>
            <a:off x="9424172" y="3657600"/>
            <a:ext cx="82296" cy="2514600"/>
          </a:xfrm>
          <a:prstGeom prst="rect">
            <a:avLst/>
          </a:prstGeom>
          <a:solidFill>
            <a:srgbClr val="E8743B"/>
          </a:solidFill>
          <a:ln/>
        </p:spPr>
        <p:txBody>
          <a:bodyPr/>
          <a:lstStyle/>
          <a:p>
            <a:endParaRPr lang="en-US"/>
          </a:p>
        </p:txBody>
      </p:sp>
      <p:sp>
        <p:nvSpPr>
          <p:cNvPr id="36" name="Text 34"/>
          <p:cNvSpPr/>
          <p:nvPr/>
        </p:nvSpPr>
        <p:spPr>
          <a:xfrm>
            <a:off x="9652772" y="3840480"/>
            <a:ext cx="1688531" cy="214884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Ajusta instrucciones, tool o índice y repite el caso con una traza nueva</a:t>
            </a:r>
            <a:endParaRPr lang="en-US" sz="1800" dirty="0"/>
          </a:p>
        </p:txBody>
      </p:sp>
      <p:sp>
        <p:nvSpPr>
          <p:cNvPr id="37"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2900" b="1" dirty="0">
                <a:solidFill>
                  <a:srgbClr val="0B1F33"/>
                </a:solidFill>
                <a:latin typeface="Segoe UI Semibold" pitchFamily="34" charset="0"/>
                <a:ea typeface="Segoe UI Semibold" pitchFamily="34" charset="-122"/>
                <a:cs typeface="Segoe UI Semibold" pitchFamily="34" charset="-120"/>
              </a:rPr>
              <a:t>Demo: </a:t>
            </a:r>
            <a:r>
              <a:rPr lang="en-US" sz="2900" b="1" dirty="0" err="1">
                <a:solidFill>
                  <a:srgbClr val="0B1F33"/>
                </a:solidFill>
                <a:latin typeface="Segoe UI Semibold" pitchFamily="34" charset="0"/>
                <a:ea typeface="Segoe UI Semibold" pitchFamily="34" charset="-122"/>
                <a:cs typeface="Segoe UI Semibold" pitchFamily="34" charset="-120"/>
              </a:rPr>
              <a:t>inspeccionar</a:t>
            </a:r>
            <a:r>
              <a:rPr lang="en-US" sz="2900" b="1">
                <a:solidFill>
                  <a:srgbClr val="0B1F33"/>
                </a:solidFill>
                <a:latin typeface="Segoe UI Semibold" pitchFamily="34" charset="0"/>
                <a:ea typeface="Segoe UI Semibold" pitchFamily="34" charset="-122"/>
                <a:cs typeface="Segoe UI Semibold" pitchFamily="34" charset="-120"/>
              </a:rPr>
              <a:t> traza</a:t>
            </a:r>
            <a:r>
              <a:rPr lang="en-US" sz="2900" b="1" dirty="0">
                <a:solidFill>
                  <a:srgbClr val="0B1F33"/>
                </a:solidFill>
                <a:latin typeface="Segoe UI Semibold" pitchFamily="34" charset="0"/>
                <a:ea typeface="Segoe UI Semibold" pitchFamily="34" charset="-122"/>
                <a:cs typeface="Segoe UI Semibold" pitchFamily="34" charset="-120"/>
              </a:rPr>
              <a:t> y diagnosticar una falla</a:t>
            </a:r>
            <a:endParaRPr lang="en-US" sz="29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868680"/>
          </a:xfrm>
          <a:prstGeom prst="rect">
            <a:avLst/>
          </a:prstGeom>
          <a:solidFill>
            <a:srgbClr val="E8743B"/>
          </a:solidFill>
          <a:ln/>
        </p:spPr>
        <p:txBody>
          <a:bodyPr/>
          <a:lstStyle/>
          <a:p>
            <a:endParaRPr lang="en-US"/>
          </a:p>
        </p:txBody>
      </p:sp>
      <p:sp>
        <p:nvSpPr>
          <p:cNvPr id="7" name="Text 5"/>
          <p:cNvSpPr/>
          <p:nvPr/>
        </p:nvSpPr>
        <p:spPr>
          <a:xfrm>
            <a:off x="822960" y="1508760"/>
            <a:ext cx="10545775" cy="868680"/>
          </a:xfrm>
          <a:prstGeom prst="rect">
            <a:avLst/>
          </a:prstGeom>
          <a:noFill/>
          <a:ln/>
        </p:spPr>
        <p:txBody>
          <a:bodyPr wrap="square" lIns="0" tIns="0" rIns="0" bIns="0" rtlCol="0" anchor="ctr"/>
          <a:lstStyle/>
          <a:p>
            <a:pPr marL="0" indent="0">
              <a:buNone/>
            </a:pPr>
            <a:r>
              <a:rPr lang="en-US" sz="2000" b="1" dirty="0" err="1">
                <a:solidFill>
                  <a:srgbClr val="FFFFFF"/>
                </a:solidFill>
                <a:latin typeface="Segoe UI Semibold" pitchFamily="34" charset="0"/>
                <a:ea typeface="Segoe UI Semibold" pitchFamily="34" charset="-122"/>
                <a:cs typeface="Segoe UI Semibold" pitchFamily="34" charset="-120"/>
              </a:rPr>
              <a:t>Presentar</a:t>
            </a:r>
            <a:r>
              <a:rPr lang="en-US" sz="2000" b="1" dirty="0">
                <a:solidFill>
                  <a:srgbClr val="FFFFFF"/>
                </a:solidFill>
                <a:latin typeface="Segoe UI Semibold" pitchFamily="34" charset="0"/>
                <a:ea typeface="Segoe UI Semibold" pitchFamily="34" charset="-122"/>
                <a:cs typeface="Segoe UI Semibold" pitchFamily="34" charset="-120"/>
              </a:rPr>
              <a:t> </a:t>
            </a:r>
            <a:r>
              <a:rPr lang="en-US" sz="2000" b="1" dirty="0" err="1">
                <a:solidFill>
                  <a:srgbClr val="FFFFFF"/>
                </a:solidFill>
                <a:latin typeface="Segoe UI Semibold" pitchFamily="34" charset="0"/>
                <a:ea typeface="Segoe UI Semibold" pitchFamily="34" charset="-122"/>
                <a:cs typeface="Segoe UI Semibold" pitchFamily="34" charset="-120"/>
              </a:rPr>
              <a:t>ejemplos</a:t>
            </a:r>
            <a:r>
              <a:rPr lang="en-US" sz="2000" b="1" dirty="0">
                <a:solidFill>
                  <a:srgbClr val="FFFFFF"/>
                </a:solidFill>
                <a:latin typeface="Segoe UI Semibold" pitchFamily="34" charset="0"/>
                <a:ea typeface="Segoe UI Semibold" pitchFamily="34" charset="-122"/>
                <a:cs typeface="Segoe UI Semibold" pitchFamily="34" charset="-120"/>
              </a:rPr>
              <a:t> de </a:t>
            </a:r>
            <a:r>
              <a:rPr lang="en-US" sz="2000" b="1" dirty="0" err="1">
                <a:solidFill>
                  <a:srgbClr val="FFFFFF"/>
                </a:solidFill>
                <a:latin typeface="Segoe UI Semibold" pitchFamily="34" charset="0"/>
                <a:ea typeface="Segoe UI Semibold" pitchFamily="34" charset="-122"/>
                <a:cs typeface="Segoe UI Semibold" pitchFamily="34" charset="-120"/>
              </a:rPr>
              <a:t>agentes</a:t>
            </a:r>
            <a:r>
              <a:rPr lang="en-US" sz="2000" b="1" dirty="0">
                <a:solidFill>
                  <a:srgbClr val="FFFFFF"/>
                </a:solidFill>
                <a:latin typeface="Segoe UI Semibold" pitchFamily="34" charset="0"/>
                <a:ea typeface="Segoe UI Semibold" pitchFamily="34" charset="-122"/>
                <a:cs typeface="Segoe UI Semibold" pitchFamily="34" charset="-120"/>
              </a:rPr>
              <a:t> </a:t>
            </a:r>
            <a:r>
              <a:rPr lang="en-US" sz="2000" b="1" dirty="0" err="1">
                <a:solidFill>
                  <a:srgbClr val="FFFFFF"/>
                </a:solidFill>
                <a:latin typeface="Segoe UI Semibold" pitchFamily="34" charset="0"/>
                <a:ea typeface="Segoe UI Semibold" pitchFamily="34" charset="-122"/>
                <a:cs typeface="Segoe UI Semibold" pitchFamily="34" charset="-120"/>
              </a:rPr>
              <a:t>en</a:t>
            </a:r>
            <a:r>
              <a:rPr lang="en-US" sz="2000" b="1" dirty="0">
                <a:solidFill>
                  <a:srgbClr val="FFFFFF"/>
                </a:solidFill>
                <a:latin typeface="Segoe UI Semibold" pitchFamily="34" charset="0"/>
                <a:ea typeface="Segoe UI Semibold" pitchFamily="34" charset="-122"/>
                <a:cs typeface="Segoe UI Semibold" pitchFamily="34" charset="-120"/>
              </a:rPr>
              <a:t> </a:t>
            </a:r>
            <a:r>
              <a:rPr lang="en-US" sz="2000" b="1" dirty="0" err="1">
                <a:solidFill>
                  <a:srgbClr val="FFFFFF"/>
                </a:solidFill>
                <a:latin typeface="Segoe UI Semibold" pitchFamily="34" charset="0"/>
                <a:ea typeface="Segoe UI Semibold" pitchFamily="34" charset="-122"/>
                <a:cs typeface="Segoe UI Semibold" pitchFamily="34" charset="-120"/>
              </a:rPr>
              <a:t>los</a:t>
            </a:r>
            <a:r>
              <a:rPr lang="en-US" sz="2000" b="1" dirty="0">
                <a:solidFill>
                  <a:srgbClr val="FFFFFF"/>
                </a:solidFill>
                <a:latin typeface="Segoe UI Semibold" pitchFamily="34" charset="0"/>
                <a:ea typeface="Segoe UI Semibold" pitchFamily="34" charset="-122"/>
                <a:cs typeface="Segoe UI Semibold" pitchFamily="34" charset="-120"/>
              </a:rPr>
              <a:t> </a:t>
            </a:r>
            <a:r>
              <a:rPr lang="en-US" sz="2000" b="1" dirty="0" err="1">
                <a:solidFill>
                  <a:srgbClr val="FFFFFF"/>
                </a:solidFill>
                <a:latin typeface="Segoe UI Semibold" pitchFamily="34" charset="0"/>
                <a:ea typeface="Segoe UI Semibold" pitchFamily="34" charset="-122"/>
                <a:cs typeface="Segoe UI Semibold" pitchFamily="34" charset="-120"/>
              </a:rPr>
              <a:t>que</a:t>
            </a:r>
            <a:r>
              <a:rPr lang="en-US" sz="2000" b="1" dirty="0">
                <a:solidFill>
                  <a:srgbClr val="FFFFFF"/>
                </a:solidFill>
                <a:latin typeface="Segoe UI Semibold" pitchFamily="34" charset="0"/>
                <a:ea typeface="Segoe UI Semibold" pitchFamily="34" charset="-122"/>
                <a:cs typeface="Segoe UI Semibold" pitchFamily="34" charset="-120"/>
              </a:rPr>
              <a:t> </a:t>
            </a:r>
            <a:r>
              <a:rPr lang="en-US" sz="2000" b="1" dirty="0" err="1">
                <a:solidFill>
                  <a:srgbClr val="FFFFFF"/>
                </a:solidFill>
                <a:latin typeface="Segoe UI Semibold" pitchFamily="34" charset="0"/>
                <a:ea typeface="Segoe UI Semibold" pitchFamily="34" charset="-122"/>
                <a:cs typeface="Segoe UI Semibold" pitchFamily="34" charset="-120"/>
              </a:rPr>
              <a:t>falla</a:t>
            </a:r>
            <a:r>
              <a:rPr lang="en-US" sz="2000" b="1" dirty="0">
                <a:solidFill>
                  <a:srgbClr val="FFFFFF"/>
                </a:solidFill>
                <a:latin typeface="Segoe UI Semibold" pitchFamily="34" charset="0"/>
                <a:ea typeface="Segoe UI Semibold" pitchFamily="34" charset="-122"/>
                <a:cs typeface="Segoe UI Semibold" pitchFamily="34" charset="-120"/>
              </a:rPr>
              <a:t> la </a:t>
            </a:r>
            <a:r>
              <a:rPr lang="en-US" sz="2000" b="1" dirty="0" err="1">
                <a:solidFill>
                  <a:srgbClr val="FFFFFF"/>
                </a:solidFill>
                <a:latin typeface="Segoe UI Semibold" pitchFamily="34" charset="0"/>
                <a:ea typeface="Segoe UI Semibold" pitchFamily="34" charset="-122"/>
                <a:cs typeface="Segoe UI Semibold" pitchFamily="34" charset="-120"/>
              </a:rPr>
              <a:t>llamada</a:t>
            </a:r>
            <a:r>
              <a:rPr lang="en-US" sz="2000" b="1" dirty="0">
                <a:solidFill>
                  <a:srgbClr val="FFFFFF"/>
                </a:solidFill>
                <a:latin typeface="Segoe UI Semibold" pitchFamily="34" charset="0"/>
                <a:ea typeface="Segoe UI Semibold" pitchFamily="34" charset="-122"/>
                <a:cs typeface="Segoe UI Semibold" pitchFamily="34" charset="-120"/>
              </a:rPr>
              <a:t> de tool</a:t>
            </a:r>
            <a:endParaRPr lang="en-US" sz="2000" dirty="0"/>
          </a:p>
        </p:txBody>
      </p:sp>
      <p:sp>
        <p:nvSpPr>
          <p:cNvPr id="8" name="Shape 6"/>
          <p:cNvSpPr/>
          <p:nvPr/>
        </p:nvSpPr>
        <p:spPr>
          <a:xfrm>
            <a:off x="548640" y="2606040"/>
            <a:ext cx="7223760" cy="3657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548640" y="2606040"/>
            <a:ext cx="82296" cy="3657600"/>
          </a:xfrm>
          <a:prstGeom prst="rect">
            <a:avLst/>
          </a:prstGeom>
          <a:solidFill>
            <a:srgbClr val="E8743B"/>
          </a:solidFill>
          <a:ln/>
        </p:spPr>
        <p:txBody>
          <a:bodyPr/>
          <a:lstStyle/>
          <a:p>
            <a:endParaRPr lang="en-US"/>
          </a:p>
        </p:txBody>
      </p:sp>
      <p:sp>
        <p:nvSpPr>
          <p:cNvPr id="10" name="Shape 8"/>
          <p:cNvSpPr/>
          <p:nvPr/>
        </p:nvSpPr>
        <p:spPr>
          <a:xfrm>
            <a:off x="822960" y="2955798"/>
            <a:ext cx="420624" cy="420624"/>
          </a:xfrm>
          <a:prstGeom prst="ellipse">
            <a:avLst/>
          </a:prstGeom>
          <a:solidFill>
            <a:srgbClr val="E8743B"/>
          </a:solidFill>
          <a:ln/>
        </p:spPr>
        <p:txBody>
          <a:bodyPr/>
          <a:lstStyle/>
          <a:p>
            <a:endParaRPr lang="en-US"/>
          </a:p>
        </p:txBody>
      </p:sp>
      <p:sp>
        <p:nvSpPr>
          <p:cNvPr id="11" name="Text 9"/>
          <p:cNvSpPr/>
          <p:nvPr/>
        </p:nvSpPr>
        <p:spPr>
          <a:xfrm>
            <a:off x="822960" y="295579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2" name="Text 10"/>
          <p:cNvSpPr/>
          <p:nvPr/>
        </p:nvSpPr>
        <p:spPr>
          <a:xfrm>
            <a:off x="1417320" y="2743200"/>
            <a:ext cx="6126480" cy="845820"/>
          </a:xfrm>
          <a:prstGeom prst="rect">
            <a:avLst/>
          </a:prstGeom>
          <a:noFill/>
          <a:ln/>
        </p:spPr>
        <p:txBody>
          <a:bodyPr wrap="square" lIns="0" tIns="0" rIns="0" bIns="0" rtlCol="0" anchor="ctr"/>
          <a:lstStyle/>
          <a:p>
            <a:pPr marL="0" indent="0">
              <a:buNone/>
            </a:pPr>
            <a:r>
              <a:rPr lang="en-US" sz="1700" dirty="0" err="1">
                <a:solidFill>
                  <a:srgbClr val="1B2A3A"/>
                </a:solidFill>
                <a:latin typeface="Segoe UI" pitchFamily="34" charset="0"/>
                <a:cs typeface="Segoe UI" pitchFamily="34" charset="-120"/>
              </a:rPr>
              <a:t>Presentar</a:t>
            </a:r>
            <a:r>
              <a:rPr lang="en-US" sz="1700" dirty="0">
                <a:solidFill>
                  <a:srgbClr val="1B2A3A"/>
                </a:solidFill>
                <a:latin typeface="Segoe UI" pitchFamily="34" charset="0"/>
                <a:cs typeface="Segoe UI" pitchFamily="34" charset="-120"/>
              </a:rPr>
              <a:t> </a:t>
            </a:r>
            <a:r>
              <a:rPr lang="en-US" sz="1700" dirty="0" err="1">
                <a:solidFill>
                  <a:srgbClr val="1B2A3A"/>
                </a:solidFill>
                <a:latin typeface="Segoe UI" pitchFamily="34" charset="0"/>
                <a:cs typeface="Segoe UI" pitchFamily="34" charset="-120"/>
              </a:rPr>
              <a:t>agente</a:t>
            </a:r>
            <a:r>
              <a:rPr lang="en-US" sz="1700" dirty="0">
                <a:solidFill>
                  <a:srgbClr val="1B2A3A"/>
                </a:solidFill>
                <a:latin typeface="Segoe UI" pitchFamily="34" charset="0"/>
                <a:cs typeface="Segoe UI" pitchFamily="34" charset="-120"/>
              </a:rPr>
              <a:t> </a:t>
            </a:r>
            <a:r>
              <a:rPr lang="en-US" sz="1700" dirty="0" err="1">
                <a:solidFill>
                  <a:srgbClr val="1B2A3A"/>
                </a:solidFill>
                <a:latin typeface="Segoe UI" pitchFamily="34" charset="0"/>
                <a:cs typeface="Segoe UI" pitchFamily="34" charset="-120"/>
              </a:rPr>
              <a:t>fallido</a:t>
            </a:r>
            <a:r>
              <a:rPr lang="en-US" sz="1700" dirty="0">
                <a:solidFill>
                  <a:srgbClr val="1B2A3A"/>
                </a:solidFill>
                <a:latin typeface="Segoe UI" pitchFamily="34" charset="0"/>
                <a:cs typeface="Segoe UI" pitchFamily="34" charset="-120"/>
              </a:rPr>
              <a:t> </a:t>
            </a:r>
            <a:r>
              <a:rPr lang="en-US" sz="1700" dirty="0" err="1">
                <a:solidFill>
                  <a:srgbClr val="1B2A3A"/>
                </a:solidFill>
                <a:latin typeface="Segoe UI" pitchFamily="34" charset="0"/>
                <a:cs typeface="Segoe UI" pitchFamily="34" charset="-120"/>
              </a:rPr>
              <a:t>por</a:t>
            </a:r>
            <a:r>
              <a:rPr lang="en-US" sz="1700" dirty="0">
                <a:solidFill>
                  <a:srgbClr val="1B2A3A"/>
                </a:solidFill>
                <a:latin typeface="Segoe UI" pitchFamily="34" charset="0"/>
                <a:cs typeface="Segoe UI" pitchFamily="34" charset="-120"/>
              </a:rPr>
              <a:t> </a:t>
            </a:r>
            <a:r>
              <a:rPr lang="en-US" sz="1700" dirty="0" err="1">
                <a:solidFill>
                  <a:srgbClr val="1B2A3A"/>
                </a:solidFill>
                <a:latin typeface="Segoe UI" pitchFamily="34" charset="0"/>
                <a:cs typeface="Segoe UI" pitchFamily="34" charset="-120"/>
              </a:rPr>
              <a:t>instrucción</a:t>
            </a:r>
            <a:r>
              <a:rPr lang="en-US" sz="1700" dirty="0">
                <a:solidFill>
                  <a:srgbClr val="1B2A3A"/>
                </a:solidFill>
                <a:latin typeface="Segoe UI" pitchFamily="34" charset="0"/>
                <a:cs typeface="Segoe UI" pitchFamily="34" charset="-120"/>
              </a:rPr>
              <a:t> no </a:t>
            </a:r>
            <a:r>
              <a:rPr lang="en-US" sz="1700" dirty="0" err="1">
                <a:solidFill>
                  <a:srgbClr val="1B2A3A"/>
                </a:solidFill>
                <a:latin typeface="Segoe UI" pitchFamily="34" charset="0"/>
                <a:cs typeface="Segoe UI" pitchFamily="34" charset="-120"/>
              </a:rPr>
              <a:t>específicas</a:t>
            </a:r>
            <a:endParaRPr lang="en-US" sz="1700" dirty="0"/>
          </a:p>
        </p:txBody>
      </p:sp>
      <p:sp>
        <p:nvSpPr>
          <p:cNvPr id="13" name="Shape 11"/>
          <p:cNvSpPr/>
          <p:nvPr/>
        </p:nvSpPr>
        <p:spPr>
          <a:xfrm>
            <a:off x="822960" y="3801618"/>
            <a:ext cx="420624" cy="420624"/>
          </a:xfrm>
          <a:prstGeom prst="ellipse">
            <a:avLst/>
          </a:prstGeom>
          <a:solidFill>
            <a:srgbClr val="0B1F33"/>
          </a:solidFill>
          <a:ln/>
        </p:spPr>
        <p:txBody>
          <a:bodyPr/>
          <a:lstStyle/>
          <a:p>
            <a:endParaRPr lang="en-US"/>
          </a:p>
        </p:txBody>
      </p:sp>
      <p:sp>
        <p:nvSpPr>
          <p:cNvPr id="14" name="Text 12"/>
          <p:cNvSpPr/>
          <p:nvPr/>
        </p:nvSpPr>
        <p:spPr>
          <a:xfrm>
            <a:off x="822960" y="380161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5" name="Text 13"/>
          <p:cNvSpPr/>
          <p:nvPr/>
        </p:nvSpPr>
        <p:spPr>
          <a:xfrm>
            <a:off x="1417320" y="3589020"/>
            <a:ext cx="6126480" cy="845820"/>
          </a:xfrm>
          <a:prstGeom prst="rect">
            <a:avLst/>
          </a:prstGeom>
          <a:noFill/>
          <a:ln/>
        </p:spPr>
        <p:txBody>
          <a:bodyPr wrap="square" lIns="0" tIns="0" rIns="0" bIns="0" rtlCol="0" anchor="ctr"/>
          <a:lstStyle/>
          <a:p>
            <a:r>
              <a:rPr lang="en-US" sz="1700" dirty="0" err="1">
                <a:solidFill>
                  <a:srgbClr val="1B2A3A"/>
                </a:solidFill>
                <a:latin typeface="Segoe UI" pitchFamily="34" charset="0"/>
                <a:cs typeface="Segoe UI" pitchFamily="34" charset="-120"/>
              </a:rPr>
              <a:t>Presentar</a:t>
            </a:r>
            <a:r>
              <a:rPr lang="en-US" sz="1700" dirty="0">
                <a:solidFill>
                  <a:srgbClr val="1B2A3A"/>
                </a:solidFill>
                <a:latin typeface="Segoe UI" pitchFamily="34" charset="0"/>
                <a:cs typeface="Segoe UI" pitchFamily="34" charset="-120"/>
              </a:rPr>
              <a:t> </a:t>
            </a:r>
            <a:r>
              <a:rPr lang="en-US" sz="1700" dirty="0" err="1">
                <a:solidFill>
                  <a:srgbClr val="1B2A3A"/>
                </a:solidFill>
                <a:latin typeface="Segoe UI" pitchFamily="34" charset="0"/>
                <a:cs typeface="Segoe UI" pitchFamily="34" charset="-120"/>
              </a:rPr>
              <a:t>agente</a:t>
            </a:r>
            <a:r>
              <a:rPr lang="en-US" sz="1700" dirty="0">
                <a:solidFill>
                  <a:srgbClr val="1B2A3A"/>
                </a:solidFill>
                <a:latin typeface="Segoe UI" pitchFamily="34" charset="0"/>
                <a:cs typeface="Segoe UI" pitchFamily="34" charset="-120"/>
              </a:rPr>
              <a:t> </a:t>
            </a:r>
            <a:r>
              <a:rPr lang="en-US" sz="1700" dirty="0" err="1">
                <a:solidFill>
                  <a:srgbClr val="1B2A3A"/>
                </a:solidFill>
                <a:latin typeface="Segoe UI" pitchFamily="34" charset="0"/>
                <a:cs typeface="Segoe UI" pitchFamily="34" charset="-120"/>
              </a:rPr>
              <a:t>fallido</a:t>
            </a:r>
            <a:r>
              <a:rPr lang="en-US" sz="1700" dirty="0">
                <a:solidFill>
                  <a:srgbClr val="1B2A3A"/>
                </a:solidFill>
                <a:latin typeface="Segoe UI" pitchFamily="34" charset="0"/>
                <a:cs typeface="Segoe UI" pitchFamily="34" charset="-120"/>
              </a:rPr>
              <a:t> </a:t>
            </a:r>
            <a:r>
              <a:rPr lang="en-US" sz="1700" dirty="0" err="1">
                <a:solidFill>
                  <a:srgbClr val="1B2A3A"/>
                </a:solidFill>
                <a:latin typeface="Segoe UI" pitchFamily="34" charset="0"/>
                <a:cs typeface="Segoe UI" pitchFamily="34" charset="-120"/>
              </a:rPr>
              <a:t>por</a:t>
            </a:r>
            <a:r>
              <a:rPr lang="en-US" sz="1700" dirty="0">
                <a:solidFill>
                  <a:srgbClr val="1B2A3A"/>
                </a:solidFill>
                <a:latin typeface="Segoe UI" pitchFamily="34" charset="0"/>
                <a:cs typeface="Segoe UI" pitchFamily="34" charset="-120"/>
              </a:rPr>
              <a:t> </a:t>
            </a:r>
            <a:r>
              <a:rPr lang="en-US" sz="1700" dirty="0" err="1">
                <a:solidFill>
                  <a:srgbClr val="1B2A3A"/>
                </a:solidFill>
                <a:latin typeface="Segoe UI" pitchFamily="34" charset="0"/>
                <a:cs typeface="Segoe UI" pitchFamily="34" charset="-120"/>
              </a:rPr>
              <a:t>instrucción</a:t>
            </a:r>
            <a:r>
              <a:rPr lang="en-US" sz="1700" dirty="0">
                <a:solidFill>
                  <a:srgbClr val="1B2A3A"/>
                </a:solidFill>
                <a:latin typeface="Segoe UI" pitchFamily="34" charset="0"/>
                <a:cs typeface="Segoe UI" pitchFamily="34" charset="-120"/>
              </a:rPr>
              <a:t> no </a:t>
            </a:r>
            <a:r>
              <a:rPr lang="en-US" sz="1700" dirty="0" err="1">
                <a:solidFill>
                  <a:srgbClr val="1B2A3A"/>
                </a:solidFill>
                <a:latin typeface="Segoe UI" pitchFamily="34" charset="0"/>
                <a:cs typeface="Segoe UI" pitchFamily="34" charset="-120"/>
              </a:rPr>
              <a:t>específicas</a:t>
            </a:r>
            <a:r>
              <a:rPr lang="en-US" sz="1700" dirty="0">
                <a:solidFill>
                  <a:srgbClr val="1B2A3A"/>
                </a:solidFill>
                <a:latin typeface="Segoe UI" pitchFamily="34" charset="0"/>
                <a:cs typeface="Segoe UI" pitchFamily="34" charset="-120"/>
              </a:rPr>
              <a:t>, para </a:t>
            </a:r>
            <a:r>
              <a:rPr lang="en-US" sz="1700" dirty="0" err="1">
                <a:solidFill>
                  <a:srgbClr val="1B2A3A"/>
                </a:solidFill>
                <a:latin typeface="Segoe UI" pitchFamily="34" charset="0"/>
                <a:cs typeface="Segoe UI" pitchFamily="34" charset="-120"/>
              </a:rPr>
              <a:t>misma</a:t>
            </a:r>
            <a:r>
              <a:rPr lang="en-US" sz="1700" dirty="0">
                <a:solidFill>
                  <a:srgbClr val="1B2A3A"/>
                </a:solidFill>
                <a:latin typeface="Segoe UI" pitchFamily="34" charset="0"/>
                <a:cs typeface="Segoe UI" pitchFamily="34" charset="-120"/>
              </a:rPr>
              <a:t> tool</a:t>
            </a:r>
            <a:endParaRPr lang="en-US" sz="1700" dirty="0"/>
          </a:p>
        </p:txBody>
      </p:sp>
      <p:sp>
        <p:nvSpPr>
          <p:cNvPr id="16" name="Shape 14"/>
          <p:cNvSpPr/>
          <p:nvPr/>
        </p:nvSpPr>
        <p:spPr>
          <a:xfrm>
            <a:off x="822960" y="4647438"/>
            <a:ext cx="420624" cy="420624"/>
          </a:xfrm>
          <a:prstGeom prst="ellipse">
            <a:avLst/>
          </a:prstGeom>
          <a:solidFill>
            <a:srgbClr val="E8743B"/>
          </a:solidFill>
          <a:ln/>
        </p:spPr>
        <p:txBody>
          <a:bodyPr/>
          <a:lstStyle/>
          <a:p>
            <a:endParaRPr lang="en-US"/>
          </a:p>
        </p:txBody>
      </p:sp>
      <p:sp>
        <p:nvSpPr>
          <p:cNvPr id="17" name="Text 15"/>
          <p:cNvSpPr/>
          <p:nvPr/>
        </p:nvSpPr>
        <p:spPr>
          <a:xfrm>
            <a:off x="822960" y="464743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8" name="Text 16"/>
          <p:cNvSpPr/>
          <p:nvPr/>
        </p:nvSpPr>
        <p:spPr>
          <a:xfrm>
            <a:off x="1417320" y="4434840"/>
            <a:ext cx="6126480" cy="845820"/>
          </a:xfrm>
          <a:prstGeom prst="rect">
            <a:avLst/>
          </a:prstGeom>
          <a:noFill/>
          <a:ln/>
        </p:spPr>
        <p:txBody>
          <a:bodyPr wrap="square" lIns="0" tIns="0" rIns="0" bIns="0" rtlCol="0" anchor="ctr"/>
          <a:lstStyle/>
          <a:p>
            <a:pPr marL="0" indent="0">
              <a:buNone/>
            </a:pPr>
            <a:r>
              <a:rPr lang="en-US" sz="1700" dirty="0" err="1">
                <a:solidFill>
                  <a:srgbClr val="1B2A3A"/>
                </a:solidFill>
                <a:latin typeface="Segoe UI" pitchFamily="34" charset="0"/>
                <a:ea typeface="Segoe UI" pitchFamily="34" charset="-122"/>
                <a:cs typeface="Segoe UI" pitchFamily="34" charset="-120"/>
              </a:rPr>
              <a:t>Presentar</a:t>
            </a:r>
            <a:r>
              <a:rPr lang="en-US" sz="1700" dirty="0">
                <a:solidFill>
                  <a:srgbClr val="1B2A3A"/>
                </a:solidFill>
                <a:latin typeface="Segoe UI" pitchFamily="34" charset="0"/>
                <a:ea typeface="Segoe UI" pitchFamily="34" charset="-122"/>
                <a:cs typeface="Segoe UI" pitchFamily="34" charset="-120"/>
              </a:rPr>
              <a:t> y </a:t>
            </a:r>
            <a:r>
              <a:rPr lang="en-US" sz="1700" dirty="0" err="1">
                <a:solidFill>
                  <a:srgbClr val="1B2A3A"/>
                </a:solidFill>
                <a:latin typeface="Segoe UI" pitchFamily="34" charset="0"/>
                <a:ea typeface="Segoe UI" pitchFamily="34" charset="-122"/>
                <a:cs typeface="Segoe UI" pitchFamily="34" charset="-120"/>
              </a:rPr>
              <a:t>comparar</a:t>
            </a:r>
            <a:r>
              <a:rPr lang="en-US" sz="1700" dirty="0">
                <a:solidFill>
                  <a:srgbClr val="1B2A3A"/>
                </a:solidFill>
                <a:latin typeface="Segoe UI" pitchFamily="34" charset="0"/>
                <a:ea typeface="Segoe UI" pitchFamily="34" charset="-122"/>
                <a:cs typeface="Segoe UI" pitchFamily="34" charset="-120"/>
              </a:rPr>
              <a:t> </a:t>
            </a:r>
            <a:r>
              <a:rPr lang="en-US" sz="1700" dirty="0" err="1">
                <a:solidFill>
                  <a:srgbClr val="1B2A3A"/>
                </a:solidFill>
                <a:latin typeface="Segoe UI" pitchFamily="34" charset="0"/>
                <a:ea typeface="Segoe UI" pitchFamily="34" charset="-122"/>
                <a:cs typeface="Segoe UI" pitchFamily="34" charset="-120"/>
              </a:rPr>
              <a:t>trazas</a:t>
            </a:r>
            <a:endParaRPr lang="en-US" sz="1700" dirty="0"/>
          </a:p>
        </p:txBody>
      </p:sp>
      <p:sp>
        <p:nvSpPr>
          <p:cNvPr id="22" name="Shape 20"/>
          <p:cNvSpPr/>
          <p:nvPr/>
        </p:nvSpPr>
        <p:spPr>
          <a:xfrm>
            <a:off x="8046720" y="2606040"/>
            <a:ext cx="3596335" cy="3657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1"/>
          <p:cNvSpPr/>
          <p:nvPr/>
        </p:nvSpPr>
        <p:spPr>
          <a:xfrm>
            <a:off x="8046720" y="2606040"/>
            <a:ext cx="82296" cy="3657600"/>
          </a:xfrm>
          <a:prstGeom prst="rect">
            <a:avLst/>
          </a:prstGeom>
          <a:solidFill>
            <a:srgbClr val="0B1F33"/>
          </a:solidFill>
          <a:ln/>
        </p:spPr>
        <p:txBody>
          <a:bodyPr/>
          <a:lstStyle/>
          <a:p>
            <a:endParaRPr lang="en-US"/>
          </a:p>
        </p:txBody>
      </p:sp>
      <p:sp>
        <p:nvSpPr>
          <p:cNvPr id="24" name="Text 22"/>
          <p:cNvSpPr/>
          <p:nvPr/>
        </p:nvSpPr>
        <p:spPr>
          <a:xfrm>
            <a:off x="8321040" y="2834640"/>
            <a:ext cx="3139135" cy="365760"/>
          </a:xfrm>
          <a:prstGeom prst="rect">
            <a:avLst/>
          </a:prstGeom>
          <a:noFill/>
          <a:ln/>
        </p:spPr>
        <p:txBody>
          <a:bodyPr wrap="square" lIns="0" tIns="0" rIns="0" bIns="0" rtlCol="0" anchor="ctr"/>
          <a:lstStyle/>
          <a:p>
            <a:pPr marL="0" indent="0">
              <a:buNone/>
            </a:pPr>
            <a:r>
              <a:rPr lang="en-US" sz="1500" dirty="0">
                <a:solidFill>
                  <a:srgbClr val="5B6B7B"/>
                </a:solidFill>
                <a:latin typeface="Segoe UI Semibold" pitchFamily="34" charset="0"/>
                <a:ea typeface="Segoe UI Semibold" pitchFamily="34" charset="-122"/>
                <a:cs typeface="Segoe UI Semibold" pitchFamily="34" charset="-120"/>
              </a:rPr>
              <a:t>Tiempo  </a:t>
            </a:r>
            <a:r>
              <a:rPr lang="en-US" sz="1500" b="1" dirty="0">
                <a:solidFill>
                  <a:srgbClr val="0B1F33"/>
                </a:solidFill>
                <a:latin typeface="Segoe UI Semibold" pitchFamily="34" charset="0"/>
                <a:ea typeface="Segoe UI Semibold" pitchFamily="34" charset="-122"/>
                <a:cs typeface="Segoe UI Semibold" pitchFamily="34" charset="-120"/>
              </a:rPr>
              <a:t>5 min</a:t>
            </a:r>
            <a:endParaRPr lang="en-US" sz="1500" dirty="0"/>
          </a:p>
        </p:txBody>
      </p:sp>
      <p:sp>
        <p:nvSpPr>
          <p:cNvPr id="25" name="Text 23"/>
          <p:cNvSpPr/>
          <p:nvPr/>
        </p:nvSpPr>
        <p:spPr>
          <a:xfrm>
            <a:off x="8321040" y="3337560"/>
            <a:ext cx="3139135" cy="320040"/>
          </a:xfrm>
          <a:prstGeom prst="rect">
            <a:avLst/>
          </a:prstGeom>
          <a:noFill/>
          <a:ln/>
        </p:spPr>
        <p:txBody>
          <a:bodyPr wrap="square" lIns="0" tIns="0" rIns="0" bIns="0" rtlCol="0" anchor="ctr"/>
          <a:lstStyle/>
          <a:p>
            <a:pPr marL="0" indent="0">
              <a:buNone/>
            </a:pPr>
            <a:r>
              <a:rPr lang="en-US" sz="1300" b="1" dirty="0" err="1">
                <a:solidFill>
                  <a:srgbClr val="E8743B"/>
                </a:solidFill>
                <a:latin typeface="Segoe UI Semibold" pitchFamily="34" charset="0"/>
                <a:ea typeface="Segoe UI Semibold" pitchFamily="34" charset="-122"/>
                <a:cs typeface="Segoe UI Semibold" pitchFamily="34" charset="-120"/>
              </a:rPr>
              <a:t>Sesión</a:t>
            </a:r>
            <a:endParaRPr lang="en-US" sz="1300" dirty="0"/>
          </a:p>
        </p:txBody>
      </p:sp>
      <p:sp>
        <p:nvSpPr>
          <p:cNvPr id="26" name="Text 24"/>
          <p:cNvSpPr/>
          <p:nvPr/>
        </p:nvSpPr>
        <p:spPr>
          <a:xfrm>
            <a:off x="8321040" y="3703320"/>
            <a:ext cx="3139135" cy="23774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B2A3A"/>
                </a:solidFill>
                <a:latin typeface="Segoe UI" pitchFamily="34" charset="0"/>
                <a:ea typeface="Segoe UI" pitchFamily="34" charset="-122"/>
                <a:cs typeface="Segoe UI" pitchFamily="34" charset="-120"/>
              </a:rPr>
              <a:t>Diagnóstico del </a:t>
            </a:r>
            <a:r>
              <a:rPr lang="en-US" sz="1500" dirty="0" err="1">
                <a:solidFill>
                  <a:srgbClr val="1B2A3A"/>
                </a:solidFill>
                <a:latin typeface="Segoe UI" pitchFamily="34" charset="0"/>
                <a:ea typeface="Segoe UI" pitchFamily="34" charset="-122"/>
                <a:cs typeface="Segoe UI" pitchFamily="34" charset="-120"/>
              </a:rPr>
              <a:t>caso</a:t>
            </a:r>
            <a:r>
              <a:rPr lang="en-US" sz="1500" dirty="0">
                <a:solidFill>
                  <a:srgbClr val="1B2A3A"/>
                </a:solidFill>
                <a:latin typeface="Segoe UI" pitchFamily="34" charset="0"/>
                <a:ea typeface="Segoe UI" pitchFamily="34" charset="-122"/>
                <a:cs typeface="Segoe UI" pitchFamily="34" charset="-120"/>
              </a:rPr>
              <a:t> explicado con evidencia concreta de la </a:t>
            </a:r>
            <a:r>
              <a:rPr lang="en-US" sz="1500" dirty="0" err="1">
                <a:solidFill>
                  <a:srgbClr val="1B2A3A"/>
                </a:solidFill>
                <a:latin typeface="Segoe UI" pitchFamily="34" charset="0"/>
                <a:ea typeface="Segoe UI" pitchFamily="34" charset="-122"/>
                <a:cs typeface="Segoe UI" pitchFamily="34" charset="-120"/>
              </a:rPr>
              <a:t>traza</a:t>
            </a:r>
            <a:endParaRPr lang="en-US" sz="1500" dirty="0">
              <a:solidFill>
                <a:srgbClr val="1B2A3A"/>
              </a:solidFill>
              <a:latin typeface="Segoe UI" pitchFamily="34" charset="0"/>
              <a:ea typeface="Segoe UI" pitchFamily="34" charset="-122"/>
              <a:cs typeface="Segoe UI" pitchFamily="34" charset="-120"/>
            </a:endParaRPr>
          </a:p>
        </p:txBody>
      </p:sp>
      <p:sp>
        <p:nvSpPr>
          <p:cNvPr id="27"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E8743B">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E8743B">
              <a:alpha val="10000"/>
            </a:srgbClr>
          </a:solidFill>
          <a:ln/>
        </p:spPr>
        <p:txBody>
          <a:bodyPr/>
          <a:lstStyle/>
          <a:p>
            <a:endParaRPr lang="en-US"/>
          </a:p>
        </p:txBody>
      </p:sp>
      <p:sp>
        <p:nvSpPr>
          <p:cNvPr id="4" name="Text 2"/>
          <p:cNvSpPr/>
          <p:nvPr/>
        </p:nvSpPr>
        <p:spPr>
          <a:xfrm>
            <a:off x="548640" y="777240"/>
            <a:ext cx="3657600" cy="2194560"/>
          </a:xfrm>
          <a:prstGeom prst="rect">
            <a:avLst/>
          </a:prstGeom>
          <a:noFill/>
          <a:ln/>
        </p:spPr>
        <p:txBody>
          <a:bodyPr wrap="square" lIns="0" tIns="0" rIns="0" bIns="0" rtlCol="0" anchor="ctr"/>
          <a:lstStyle/>
          <a:p>
            <a:pPr marL="0" indent="0">
              <a:buNone/>
            </a:pPr>
            <a:r>
              <a:rPr lang="en-US" sz="12000" b="1" dirty="0">
                <a:solidFill>
                  <a:srgbClr val="E8743B"/>
                </a:solidFill>
                <a:latin typeface="Segoe UI Semibold" pitchFamily="34" charset="0"/>
                <a:ea typeface="Segoe UI Semibold" pitchFamily="34" charset="-122"/>
                <a:cs typeface="Segoe UI Semibold" pitchFamily="34" charset="-120"/>
              </a:rPr>
              <a:t>02</a:t>
            </a:r>
            <a:endParaRPr lang="en-US" sz="12000" dirty="0"/>
          </a:p>
        </p:txBody>
      </p:sp>
      <p:sp>
        <p:nvSpPr>
          <p:cNvPr id="5" name="Text 3"/>
          <p:cNvSpPr/>
          <p:nvPr/>
        </p:nvSpPr>
        <p:spPr>
          <a:xfrm>
            <a:off x="548640" y="3108960"/>
            <a:ext cx="9326880" cy="1508760"/>
          </a:xfrm>
          <a:prstGeom prst="rect">
            <a:avLst/>
          </a:prstGeom>
          <a:noFill/>
          <a:ln/>
        </p:spPr>
        <p:txBody>
          <a:bodyPr wrap="square" lIns="0" tIns="0" rIns="0" bIns="0" rtlCol="0" anchor="t"/>
          <a:lstStyle/>
          <a:p>
            <a:pPr marL="0" indent="0">
              <a:buNone/>
            </a:pPr>
            <a:r>
              <a:rPr lang="en-US" sz="4400" b="1" dirty="0">
                <a:solidFill>
                  <a:srgbClr val="FFFFFF"/>
                </a:solidFill>
                <a:latin typeface="Segoe UI Semibold" pitchFamily="34" charset="0"/>
                <a:ea typeface="Segoe UI Semibold" pitchFamily="34" charset="-122"/>
                <a:cs typeface="Segoe UI Semibold" pitchFamily="34" charset="-120"/>
              </a:rPr>
              <a:t>Protocolos y multiagente</a:t>
            </a:r>
            <a:endParaRPr lang="en-US" sz="4400" dirty="0"/>
          </a:p>
        </p:txBody>
      </p:sp>
      <p:sp>
        <p:nvSpPr>
          <p:cNvPr id="6" name="Text 4"/>
          <p:cNvSpPr/>
          <p:nvPr/>
        </p:nvSpPr>
        <p:spPr>
          <a:xfrm>
            <a:off x="548640" y="4754880"/>
            <a:ext cx="8595360" cy="914400"/>
          </a:xfrm>
          <a:prstGeom prst="rect">
            <a:avLst/>
          </a:prstGeom>
          <a:noFill/>
          <a:ln/>
        </p:spPr>
        <p:txBody>
          <a:bodyPr wrap="square" lIns="0" tIns="0" rIns="0" bIns="0" rtlCol="0" anchor="t"/>
          <a:lstStyle/>
          <a:p>
            <a:pPr marL="0" indent="0">
              <a:buNone/>
            </a:pPr>
            <a:r>
              <a:rPr lang="en-US" sz="2000" dirty="0">
                <a:solidFill>
                  <a:srgbClr val="C9D7E4"/>
                </a:solidFill>
                <a:latin typeface="Segoe UI" pitchFamily="34" charset="0"/>
                <a:ea typeface="Segoe UI" pitchFamily="34" charset="-122"/>
                <a:cs typeface="Segoe UI" pitchFamily="34" charset="-120"/>
              </a:rPr>
              <a:t>MCP, A2A, patrones multiagente y diseño de orchestrator</a:t>
            </a:r>
            <a:endParaRPr lang="en-US" sz="2000" dirty="0"/>
          </a:p>
        </p:txBody>
      </p:sp>
      <p:sp>
        <p:nvSpPr>
          <p:cNvPr id="7" name="Shape 5"/>
          <p:cNvSpPr/>
          <p:nvPr/>
        </p:nvSpPr>
        <p:spPr>
          <a:xfrm>
            <a:off x="548640" y="5852160"/>
            <a:ext cx="1371600" cy="384048"/>
          </a:xfrm>
          <a:prstGeom prst="roundRect">
            <a:avLst>
              <a:gd name="adj" fmla="val 23810"/>
            </a:avLst>
          </a:prstGeom>
          <a:solidFill>
            <a:srgbClr val="0B1F33"/>
          </a:solidFill>
          <a:ln w="15875">
            <a:solidFill>
              <a:srgbClr val="F5B83D"/>
            </a:solidFill>
            <a:prstDash val="solid"/>
          </a:ln>
        </p:spPr>
        <p:txBody>
          <a:bodyPr/>
          <a:lstStyle/>
          <a:p>
            <a:endParaRPr lang="en-US"/>
          </a:p>
        </p:txBody>
      </p:sp>
      <p:sp>
        <p:nvSpPr>
          <p:cNvPr id="8" name="Text 6"/>
          <p:cNvSpPr/>
          <p:nvPr/>
        </p:nvSpPr>
        <p:spPr>
          <a:xfrm>
            <a:off x="548640" y="5852160"/>
            <a:ext cx="1371600" cy="384048"/>
          </a:xfrm>
          <a:prstGeom prst="rect">
            <a:avLst/>
          </a:prstGeom>
          <a:noFill/>
          <a:ln/>
        </p:spPr>
        <p:txBody>
          <a:bodyPr wrap="square" lIns="0" tIns="0" rIns="0" bIns="0" rtlCol="0" anchor="ctr"/>
          <a:lstStyle/>
          <a:p>
            <a:pPr marL="0" indent="0" algn="ctr">
              <a:buNone/>
            </a:pPr>
            <a:r>
              <a:rPr lang="en-US" sz="1300" b="1" dirty="0">
                <a:solidFill>
                  <a:srgbClr val="F5B83D"/>
                </a:solidFill>
                <a:latin typeface="Segoe UI Semibold" pitchFamily="34" charset="0"/>
                <a:ea typeface="Segoe UI Semibold" pitchFamily="34" charset="-122"/>
                <a:cs typeface="Segoe UI Semibold" pitchFamily="34" charset="-120"/>
              </a:rPr>
              <a:t>40 min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MCP y A2A: qué resuelve cada uno</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5396332" cy="640080"/>
          </a:xfrm>
          <a:prstGeom prst="rect">
            <a:avLst/>
          </a:prstGeom>
          <a:solidFill>
            <a:srgbClr val="E8743B"/>
          </a:solidFill>
          <a:ln/>
        </p:spPr>
        <p:txBody>
          <a:bodyPr/>
          <a:lstStyle/>
          <a:p>
            <a:endParaRPr lang="en-US"/>
          </a:p>
        </p:txBody>
      </p:sp>
      <p:sp>
        <p:nvSpPr>
          <p:cNvPr id="7" name="Text 5"/>
          <p:cNvSpPr/>
          <p:nvPr/>
        </p:nvSpPr>
        <p:spPr>
          <a:xfrm>
            <a:off x="822960"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MCP — Model Context Protocol</a:t>
            </a:r>
            <a:endParaRPr lang="en-US" sz="2000" dirty="0"/>
          </a:p>
        </p:txBody>
      </p:sp>
      <p:sp>
        <p:nvSpPr>
          <p:cNvPr id="8" name="Shape 6"/>
          <p:cNvSpPr/>
          <p:nvPr/>
        </p:nvSpPr>
        <p:spPr>
          <a:xfrm>
            <a:off x="548640"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822960"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Conecta un agente con herramientas y fuentes de datos externas.</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Cliente-servidor sobre JSON-RPC; endpoints públicos o privados.</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Se puede exponer y gobernar centralizadamente vía un AI Gateway.</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Requiere autohospedar el servidor MCP (Foundry no lo aloja por ti).</a:t>
            </a:r>
            <a:endParaRPr lang="en-US" sz="1700" dirty="0"/>
          </a:p>
        </p:txBody>
      </p:sp>
      <p:sp>
        <p:nvSpPr>
          <p:cNvPr id="10" name="Shape 8"/>
          <p:cNvSpPr/>
          <p:nvPr/>
        </p:nvSpPr>
        <p:spPr>
          <a:xfrm>
            <a:off x="6246724" y="1508760"/>
            <a:ext cx="5396332" cy="640080"/>
          </a:xfrm>
          <a:prstGeom prst="rect">
            <a:avLst/>
          </a:prstGeom>
          <a:solidFill>
            <a:srgbClr val="0B1F33"/>
          </a:solidFill>
          <a:ln/>
        </p:spPr>
        <p:txBody>
          <a:bodyPr/>
          <a:lstStyle/>
          <a:p>
            <a:endParaRPr lang="en-US"/>
          </a:p>
        </p:txBody>
      </p:sp>
      <p:sp>
        <p:nvSpPr>
          <p:cNvPr id="11" name="Text 9"/>
          <p:cNvSpPr/>
          <p:nvPr/>
        </p:nvSpPr>
        <p:spPr>
          <a:xfrm>
            <a:off x="6521044"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A2A — Agent2Agent</a:t>
            </a:r>
            <a:endParaRPr lang="en-US" sz="2000" dirty="0"/>
          </a:p>
        </p:txBody>
      </p:sp>
      <p:sp>
        <p:nvSpPr>
          <p:cNvPr id="12" name="Shape 10"/>
          <p:cNvSpPr/>
          <p:nvPr/>
        </p:nvSpPr>
        <p:spPr>
          <a:xfrm>
            <a:off x="6246724"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p:nvPr/>
        </p:nvSpPr>
        <p:spPr>
          <a:xfrm>
            <a:off x="6521044"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Conecta un agente con otro agente para delegar una tarea completa.</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Protocolo GA v1.0 (JSON-RPC, solo texto, sin streaming aún).</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Reemplaza el patrón previo de 'Connected Agents' (agent-as-tool).</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Soporta autenticación compartida o individual por usuario final.</a:t>
            </a:r>
            <a:endParaRPr lang="en-US" sz="1700" dirty="0"/>
          </a:p>
        </p:txBody>
      </p:sp>
      <p:sp>
        <p:nvSpPr>
          <p:cNvPr id="14" name="Shape 12"/>
          <p:cNvSpPr/>
          <p:nvPr/>
        </p:nvSpPr>
        <p:spPr>
          <a:xfrm>
            <a:off x="548640" y="5577840"/>
            <a:ext cx="11094415" cy="685800"/>
          </a:xfrm>
          <a:prstGeom prst="rect">
            <a:avLst/>
          </a:prstGeom>
          <a:solidFill>
            <a:srgbClr val="F5B83D"/>
          </a:solidFill>
          <a:ln/>
        </p:spPr>
        <p:txBody>
          <a:bodyPr/>
          <a:lstStyle/>
          <a:p>
            <a:endParaRPr lang="en-US"/>
          </a:p>
        </p:txBody>
      </p:sp>
      <p:sp>
        <p:nvSpPr>
          <p:cNvPr id="15" name="Text 13"/>
          <p:cNvSpPr/>
          <p:nvPr/>
        </p:nvSpPr>
        <p:spPr>
          <a:xfrm>
            <a:off x="822960" y="5577840"/>
            <a:ext cx="10545775" cy="685800"/>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No compiten: MCP da acceso a herramientas y datos; A2A da acceso a otros agentes como colaboradores.</a:t>
            </a:r>
            <a:endParaRPr lang="en-US" sz="17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MCP y A2A como tools: auth y gobierno</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E8743B"/>
          </a:solidFill>
          <a:ln/>
        </p:spPr>
        <p:txBody>
          <a:bodyPr/>
          <a:lstStyle/>
          <a:p>
            <a:endParaRPr lang="en-US"/>
          </a:p>
        </p:txBody>
      </p:sp>
      <p:sp>
        <p:nvSpPr>
          <p:cNvPr id="8" name="Text 6"/>
          <p:cNvSpPr/>
          <p:nvPr/>
        </p:nvSpPr>
        <p:spPr>
          <a:xfrm>
            <a:off x="868680" y="1737360"/>
            <a:ext cx="10454335" cy="4297680"/>
          </a:xfrm>
          <a:prstGeom prst="rect">
            <a:avLst/>
          </a:prstGeom>
          <a:noFill/>
          <a:ln/>
        </p:spPr>
        <p:txBody>
          <a:bodyPr wrap="square" lIns="0" tIns="0" rIns="0" bIns="0" rtlCol="0" anchor="t"/>
          <a:lstStyle/>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MCP: endpoints públicos o privados, agrupables en un Toolbox junto a otras herramientas del agente.</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MCP: múltiples métodos de autenticación hacia el servidor; timeouts del orden de ~100 segundos por llamada.</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A2A: autenticación compartida (misma identidad para todos los usuarios) o individual (por usuario final).</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A2A: cada agente publicado obtiene una identidad Entra propia, clave para auditar quién hizo qué.</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Ambos protocolos se pueden exponer y controlar centralizadamente a través de un AI Gateway (APIM).</a:t>
            </a:r>
            <a:endParaRPr lang="en-US" sz="2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Patrones multiagente (Agent Framework)</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2249424"/>
          </a:xfrm>
          <a:prstGeom prst="rect">
            <a:avLst/>
          </a:prstGeom>
          <a:solidFill>
            <a:srgbClr val="E8743B"/>
          </a:solidFill>
          <a:ln/>
        </p:spPr>
        <p:txBody>
          <a:bodyPr/>
          <a:lstStyle/>
          <a:p>
            <a:endParaRPr lang="en-US"/>
          </a:p>
        </p:txBody>
      </p:sp>
      <p:sp>
        <p:nvSpPr>
          <p:cNvPr id="8" name="Shape 6"/>
          <p:cNvSpPr/>
          <p:nvPr/>
        </p:nvSpPr>
        <p:spPr>
          <a:xfrm>
            <a:off x="822960" y="1737360"/>
            <a:ext cx="420624" cy="420624"/>
          </a:xfrm>
          <a:prstGeom prst="ellipse">
            <a:avLst/>
          </a:prstGeom>
          <a:solidFill>
            <a:srgbClr val="E8743B"/>
          </a:solidFill>
          <a:ln/>
        </p:spPr>
        <p:txBody>
          <a:bodyPr/>
          <a:lstStyle/>
          <a:p>
            <a:endParaRPr lang="en-US"/>
          </a:p>
        </p:txBody>
      </p:sp>
      <p:sp>
        <p:nvSpPr>
          <p:cNvPr id="9" name="Text 7"/>
          <p:cNvSpPr/>
          <p:nvPr/>
        </p:nvSpPr>
        <p:spPr>
          <a:xfrm>
            <a:off x="822960" y="1737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0" name="Text 8"/>
          <p:cNvSpPr/>
          <p:nvPr/>
        </p:nvSpPr>
        <p:spPr>
          <a:xfrm>
            <a:off x="1417320" y="1691640"/>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Sequential</a:t>
            </a:r>
            <a:endParaRPr lang="en-US" sz="1800" dirty="0"/>
          </a:p>
        </p:txBody>
      </p:sp>
      <p:sp>
        <p:nvSpPr>
          <p:cNvPr id="11" name="Text 9"/>
          <p:cNvSpPr/>
          <p:nvPr/>
        </p:nvSpPr>
        <p:spPr>
          <a:xfrm>
            <a:off x="822960" y="2377440"/>
            <a:ext cx="3024530" cy="1243584"/>
          </a:xfrm>
          <a:prstGeom prst="rect">
            <a:avLst/>
          </a:prstGeom>
          <a:noFill/>
          <a:ln/>
        </p:spPr>
        <p:txBody>
          <a:bodyPr wrap="square" lIns="0" tIns="0" rIns="0" bIns="0" rtlCol="0" anchor="t"/>
          <a:lstStyle/>
          <a:p>
            <a:pPr marL="0" indent="0">
              <a:buNone/>
            </a:pPr>
            <a:r>
              <a:rPr lang="en-US" sz="1500" dirty="0">
                <a:solidFill>
                  <a:srgbClr val="1B2A3A"/>
                </a:solidFill>
                <a:latin typeface="Segoe UI" pitchFamily="34" charset="0"/>
                <a:ea typeface="Segoe UI" pitchFamily="34" charset="-122"/>
                <a:cs typeface="Segoe UI" pitchFamily="34" charset="-120"/>
              </a:rPr>
              <a:t>Pipeline: cada agente procesa y pasa su salida al siguiente. Ideal para revisión por etapas.</a:t>
            </a:r>
            <a:endParaRPr lang="en-US" sz="1500" dirty="0"/>
          </a:p>
        </p:txBody>
      </p:sp>
      <p:sp>
        <p:nvSpPr>
          <p:cNvPr id="12" name="Shape 10"/>
          <p:cNvSpPr/>
          <p:nvPr/>
        </p:nvSpPr>
        <p:spPr>
          <a:xfrm>
            <a:off x="4332122" y="1508760"/>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4332122" y="1508760"/>
            <a:ext cx="82296" cy="2249424"/>
          </a:xfrm>
          <a:prstGeom prst="rect">
            <a:avLst/>
          </a:prstGeom>
          <a:solidFill>
            <a:srgbClr val="0B1F33"/>
          </a:solidFill>
          <a:ln/>
        </p:spPr>
        <p:txBody>
          <a:bodyPr/>
          <a:lstStyle/>
          <a:p>
            <a:endParaRPr lang="en-US"/>
          </a:p>
        </p:txBody>
      </p:sp>
      <p:sp>
        <p:nvSpPr>
          <p:cNvPr id="14" name="Shape 12"/>
          <p:cNvSpPr/>
          <p:nvPr/>
        </p:nvSpPr>
        <p:spPr>
          <a:xfrm>
            <a:off x="4606442" y="1737360"/>
            <a:ext cx="420624" cy="420624"/>
          </a:xfrm>
          <a:prstGeom prst="ellipse">
            <a:avLst/>
          </a:prstGeom>
          <a:solidFill>
            <a:srgbClr val="0B1F33"/>
          </a:solidFill>
          <a:ln/>
        </p:spPr>
        <p:txBody>
          <a:bodyPr/>
          <a:lstStyle/>
          <a:p>
            <a:endParaRPr lang="en-US"/>
          </a:p>
        </p:txBody>
      </p:sp>
      <p:sp>
        <p:nvSpPr>
          <p:cNvPr id="15" name="Text 13"/>
          <p:cNvSpPr/>
          <p:nvPr/>
        </p:nvSpPr>
        <p:spPr>
          <a:xfrm>
            <a:off x="4606442" y="1737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6" name="Text 14"/>
          <p:cNvSpPr/>
          <p:nvPr/>
        </p:nvSpPr>
        <p:spPr>
          <a:xfrm>
            <a:off x="5200802" y="1691640"/>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Concurrent</a:t>
            </a:r>
            <a:endParaRPr lang="en-US" sz="1800" dirty="0"/>
          </a:p>
        </p:txBody>
      </p:sp>
      <p:sp>
        <p:nvSpPr>
          <p:cNvPr id="17" name="Text 15"/>
          <p:cNvSpPr/>
          <p:nvPr/>
        </p:nvSpPr>
        <p:spPr>
          <a:xfrm>
            <a:off x="4606442" y="2377440"/>
            <a:ext cx="3024530" cy="1243584"/>
          </a:xfrm>
          <a:prstGeom prst="rect">
            <a:avLst/>
          </a:prstGeom>
          <a:noFill/>
          <a:ln/>
        </p:spPr>
        <p:txBody>
          <a:bodyPr wrap="square" lIns="0" tIns="0" rIns="0" bIns="0" rtlCol="0" anchor="t"/>
          <a:lstStyle/>
          <a:p>
            <a:pPr marL="0" indent="0">
              <a:buNone/>
            </a:pPr>
            <a:r>
              <a:rPr lang="en-US" sz="1500" dirty="0">
                <a:solidFill>
                  <a:srgbClr val="1B2A3A"/>
                </a:solidFill>
                <a:latin typeface="Segoe UI" pitchFamily="34" charset="0"/>
                <a:ea typeface="Segoe UI" pitchFamily="34" charset="-122"/>
                <a:cs typeface="Segoe UI" pitchFamily="34" charset="-120"/>
              </a:rPr>
              <a:t>Varios agentes trabajan la misma entrada en paralelo; útil para perspectivas diversas o votación.</a:t>
            </a:r>
            <a:endParaRPr lang="en-US" sz="1500" dirty="0"/>
          </a:p>
        </p:txBody>
      </p:sp>
      <p:sp>
        <p:nvSpPr>
          <p:cNvPr id="18" name="Shape 16"/>
          <p:cNvSpPr/>
          <p:nvPr/>
        </p:nvSpPr>
        <p:spPr>
          <a:xfrm>
            <a:off x="8115605" y="1508760"/>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9" name="Shape 17"/>
          <p:cNvSpPr/>
          <p:nvPr/>
        </p:nvSpPr>
        <p:spPr>
          <a:xfrm>
            <a:off x="8115605" y="1508760"/>
            <a:ext cx="82296" cy="2249424"/>
          </a:xfrm>
          <a:prstGeom prst="rect">
            <a:avLst/>
          </a:prstGeom>
          <a:solidFill>
            <a:srgbClr val="E8743B"/>
          </a:solidFill>
          <a:ln/>
        </p:spPr>
        <p:txBody>
          <a:bodyPr/>
          <a:lstStyle/>
          <a:p>
            <a:endParaRPr lang="en-US"/>
          </a:p>
        </p:txBody>
      </p:sp>
      <p:sp>
        <p:nvSpPr>
          <p:cNvPr id="20" name="Shape 18"/>
          <p:cNvSpPr/>
          <p:nvPr/>
        </p:nvSpPr>
        <p:spPr>
          <a:xfrm>
            <a:off x="8389925" y="1737360"/>
            <a:ext cx="420624" cy="420624"/>
          </a:xfrm>
          <a:prstGeom prst="ellipse">
            <a:avLst/>
          </a:prstGeom>
          <a:solidFill>
            <a:srgbClr val="E8743B"/>
          </a:solidFill>
          <a:ln/>
        </p:spPr>
        <p:txBody>
          <a:bodyPr/>
          <a:lstStyle/>
          <a:p>
            <a:endParaRPr lang="en-US"/>
          </a:p>
        </p:txBody>
      </p:sp>
      <p:sp>
        <p:nvSpPr>
          <p:cNvPr id="21" name="Text 19"/>
          <p:cNvSpPr/>
          <p:nvPr/>
        </p:nvSpPr>
        <p:spPr>
          <a:xfrm>
            <a:off x="8389925" y="1737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Text 20"/>
          <p:cNvSpPr/>
          <p:nvPr/>
        </p:nvSpPr>
        <p:spPr>
          <a:xfrm>
            <a:off x="8984285" y="1691640"/>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Handoff</a:t>
            </a:r>
            <a:endParaRPr lang="en-US" sz="1800" dirty="0"/>
          </a:p>
        </p:txBody>
      </p:sp>
      <p:sp>
        <p:nvSpPr>
          <p:cNvPr id="23" name="Text 21"/>
          <p:cNvSpPr/>
          <p:nvPr/>
        </p:nvSpPr>
        <p:spPr>
          <a:xfrm>
            <a:off x="8389925" y="2377440"/>
            <a:ext cx="3024530" cy="1243584"/>
          </a:xfrm>
          <a:prstGeom prst="rect">
            <a:avLst/>
          </a:prstGeom>
          <a:noFill/>
          <a:ln/>
        </p:spPr>
        <p:txBody>
          <a:bodyPr wrap="square" lIns="0" tIns="0" rIns="0" bIns="0" rtlCol="0" anchor="t"/>
          <a:lstStyle/>
          <a:p>
            <a:pPr marL="0" indent="0">
              <a:buNone/>
            </a:pPr>
            <a:r>
              <a:rPr lang="en-US" sz="1500" dirty="0">
                <a:solidFill>
                  <a:srgbClr val="1B2A3A"/>
                </a:solidFill>
                <a:latin typeface="Segoe UI" pitchFamily="34" charset="0"/>
                <a:ea typeface="Segoe UI" pitchFamily="34" charset="-122"/>
                <a:cs typeface="Segoe UI" pitchFamily="34" charset="-120"/>
              </a:rPr>
              <a:t>Los agentes se transfieren el control entre sí según el contexto; sin orquestador central.</a:t>
            </a:r>
            <a:endParaRPr lang="en-US" sz="1500" dirty="0"/>
          </a:p>
        </p:txBody>
      </p:sp>
      <p:sp>
        <p:nvSpPr>
          <p:cNvPr id="24" name="Shape 22"/>
          <p:cNvSpPr/>
          <p:nvPr/>
        </p:nvSpPr>
        <p:spPr>
          <a:xfrm>
            <a:off x="548640" y="4014216"/>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3"/>
          <p:cNvSpPr/>
          <p:nvPr/>
        </p:nvSpPr>
        <p:spPr>
          <a:xfrm>
            <a:off x="548640" y="4014216"/>
            <a:ext cx="82296" cy="2249424"/>
          </a:xfrm>
          <a:prstGeom prst="rect">
            <a:avLst/>
          </a:prstGeom>
          <a:solidFill>
            <a:srgbClr val="0B1F33"/>
          </a:solidFill>
          <a:ln/>
        </p:spPr>
        <p:txBody>
          <a:bodyPr/>
          <a:lstStyle/>
          <a:p>
            <a:endParaRPr lang="en-US"/>
          </a:p>
        </p:txBody>
      </p:sp>
      <p:sp>
        <p:nvSpPr>
          <p:cNvPr id="26" name="Shape 24"/>
          <p:cNvSpPr/>
          <p:nvPr/>
        </p:nvSpPr>
        <p:spPr>
          <a:xfrm>
            <a:off x="822960" y="4242816"/>
            <a:ext cx="420624" cy="420624"/>
          </a:xfrm>
          <a:prstGeom prst="ellipse">
            <a:avLst/>
          </a:prstGeom>
          <a:solidFill>
            <a:srgbClr val="0B1F33"/>
          </a:solidFill>
          <a:ln/>
        </p:spPr>
        <p:txBody>
          <a:bodyPr/>
          <a:lstStyle/>
          <a:p>
            <a:endParaRPr lang="en-US"/>
          </a:p>
        </p:txBody>
      </p:sp>
      <p:sp>
        <p:nvSpPr>
          <p:cNvPr id="27" name="Text 25"/>
          <p:cNvSpPr/>
          <p:nvPr/>
        </p:nvSpPr>
        <p:spPr>
          <a:xfrm>
            <a:off x="822960" y="42428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8" name="Text 26"/>
          <p:cNvSpPr/>
          <p:nvPr/>
        </p:nvSpPr>
        <p:spPr>
          <a:xfrm>
            <a:off x="1417320" y="4197096"/>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Group Chat</a:t>
            </a:r>
            <a:endParaRPr lang="en-US" sz="1800" dirty="0"/>
          </a:p>
        </p:txBody>
      </p:sp>
      <p:sp>
        <p:nvSpPr>
          <p:cNvPr id="29" name="Text 27"/>
          <p:cNvSpPr/>
          <p:nvPr/>
        </p:nvSpPr>
        <p:spPr>
          <a:xfrm>
            <a:off x="822960" y="4882896"/>
            <a:ext cx="3024530" cy="1243584"/>
          </a:xfrm>
          <a:prstGeom prst="rect">
            <a:avLst/>
          </a:prstGeom>
          <a:noFill/>
          <a:ln/>
        </p:spPr>
        <p:txBody>
          <a:bodyPr wrap="square" lIns="0" tIns="0" rIns="0" bIns="0" rtlCol="0" anchor="t"/>
          <a:lstStyle/>
          <a:p>
            <a:pPr marL="0" indent="0">
              <a:buNone/>
            </a:pPr>
            <a:r>
              <a:rPr lang="en-US" sz="1500" dirty="0">
                <a:solidFill>
                  <a:srgbClr val="1B2A3A"/>
                </a:solidFill>
                <a:latin typeface="Segoe UI" pitchFamily="34" charset="0"/>
                <a:ea typeface="Segoe UI" pitchFamily="34" charset="-122"/>
                <a:cs typeface="Segoe UI" pitchFamily="34" charset="-120"/>
              </a:rPr>
              <a:t>Un orquestador central elige quién habla; conversación compartida e iterativa.</a:t>
            </a:r>
            <a:endParaRPr lang="en-US" sz="1500" dirty="0"/>
          </a:p>
        </p:txBody>
      </p:sp>
      <p:sp>
        <p:nvSpPr>
          <p:cNvPr id="30" name="Shape 28"/>
          <p:cNvSpPr/>
          <p:nvPr/>
        </p:nvSpPr>
        <p:spPr>
          <a:xfrm>
            <a:off x="4332122" y="4014216"/>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31" name="Shape 29"/>
          <p:cNvSpPr/>
          <p:nvPr/>
        </p:nvSpPr>
        <p:spPr>
          <a:xfrm>
            <a:off x="4332122" y="4014216"/>
            <a:ext cx="82296" cy="2249424"/>
          </a:xfrm>
          <a:prstGeom prst="rect">
            <a:avLst/>
          </a:prstGeom>
          <a:solidFill>
            <a:srgbClr val="E8743B"/>
          </a:solidFill>
          <a:ln/>
        </p:spPr>
        <p:txBody>
          <a:bodyPr/>
          <a:lstStyle/>
          <a:p>
            <a:endParaRPr lang="en-US"/>
          </a:p>
        </p:txBody>
      </p:sp>
      <p:sp>
        <p:nvSpPr>
          <p:cNvPr id="32" name="Shape 30"/>
          <p:cNvSpPr/>
          <p:nvPr/>
        </p:nvSpPr>
        <p:spPr>
          <a:xfrm>
            <a:off x="4606442" y="4242816"/>
            <a:ext cx="420624" cy="420624"/>
          </a:xfrm>
          <a:prstGeom prst="ellipse">
            <a:avLst/>
          </a:prstGeom>
          <a:solidFill>
            <a:srgbClr val="E8743B"/>
          </a:solidFill>
          <a:ln/>
        </p:spPr>
        <p:txBody>
          <a:bodyPr/>
          <a:lstStyle/>
          <a:p>
            <a:endParaRPr lang="en-US"/>
          </a:p>
        </p:txBody>
      </p:sp>
      <p:sp>
        <p:nvSpPr>
          <p:cNvPr id="33" name="Text 31"/>
          <p:cNvSpPr/>
          <p:nvPr/>
        </p:nvSpPr>
        <p:spPr>
          <a:xfrm>
            <a:off x="4606442" y="42428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4" name="Text 32"/>
          <p:cNvSpPr/>
          <p:nvPr/>
        </p:nvSpPr>
        <p:spPr>
          <a:xfrm>
            <a:off x="5200802" y="4197096"/>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Magentic</a:t>
            </a:r>
            <a:endParaRPr lang="en-US" sz="1800" dirty="0"/>
          </a:p>
        </p:txBody>
      </p:sp>
      <p:sp>
        <p:nvSpPr>
          <p:cNvPr id="35" name="Text 33"/>
          <p:cNvSpPr/>
          <p:nvPr/>
        </p:nvSpPr>
        <p:spPr>
          <a:xfrm>
            <a:off x="4606442" y="4882896"/>
            <a:ext cx="3024530" cy="1243584"/>
          </a:xfrm>
          <a:prstGeom prst="rect">
            <a:avLst/>
          </a:prstGeom>
          <a:noFill/>
          <a:ln/>
        </p:spPr>
        <p:txBody>
          <a:bodyPr wrap="square" lIns="0" tIns="0" rIns="0" bIns="0" rtlCol="0" anchor="t"/>
          <a:lstStyle/>
          <a:p>
            <a:pPr marL="0" indent="0">
              <a:buNone/>
            </a:pPr>
            <a:r>
              <a:rPr lang="en-US" sz="1500" dirty="0">
                <a:solidFill>
                  <a:srgbClr val="1B2A3A"/>
                </a:solidFill>
                <a:latin typeface="Segoe UI" pitchFamily="34" charset="0"/>
                <a:ea typeface="Segoe UI" pitchFamily="34" charset="-122"/>
                <a:cs typeface="Segoe UI" pitchFamily="34" charset="-120"/>
              </a:rPr>
              <a:t>Un manager planifica dinámicamente y coordina agentes especialistas en tareas abiertas y complejas.</a:t>
            </a:r>
            <a:endParaRPr lang="en-US" sz="1500" dirty="0"/>
          </a:p>
        </p:txBody>
      </p:sp>
      <p:sp>
        <p:nvSpPr>
          <p:cNvPr id="36" name="Shape 34"/>
          <p:cNvSpPr/>
          <p:nvPr/>
        </p:nvSpPr>
        <p:spPr>
          <a:xfrm>
            <a:off x="8115605" y="4014216"/>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37" name="Shape 35"/>
          <p:cNvSpPr/>
          <p:nvPr/>
        </p:nvSpPr>
        <p:spPr>
          <a:xfrm>
            <a:off x="8115605" y="4014216"/>
            <a:ext cx="82296" cy="2249424"/>
          </a:xfrm>
          <a:prstGeom prst="rect">
            <a:avLst/>
          </a:prstGeom>
          <a:solidFill>
            <a:srgbClr val="0B1F33"/>
          </a:solidFill>
          <a:ln/>
        </p:spPr>
        <p:txBody>
          <a:bodyPr/>
          <a:lstStyle/>
          <a:p>
            <a:endParaRPr lang="en-US"/>
          </a:p>
        </p:txBody>
      </p:sp>
      <p:sp>
        <p:nvSpPr>
          <p:cNvPr id="38" name="Shape 36"/>
          <p:cNvSpPr/>
          <p:nvPr/>
        </p:nvSpPr>
        <p:spPr>
          <a:xfrm>
            <a:off x="8389925" y="4242816"/>
            <a:ext cx="420624" cy="420624"/>
          </a:xfrm>
          <a:prstGeom prst="ellipse">
            <a:avLst/>
          </a:prstGeom>
          <a:solidFill>
            <a:srgbClr val="0B1F33"/>
          </a:solidFill>
          <a:ln/>
        </p:spPr>
        <p:txBody>
          <a:bodyPr/>
          <a:lstStyle/>
          <a:p>
            <a:endParaRPr lang="en-US"/>
          </a:p>
        </p:txBody>
      </p:sp>
      <p:sp>
        <p:nvSpPr>
          <p:cNvPr id="39" name="Text 37"/>
          <p:cNvSpPr/>
          <p:nvPr/>
        </p:nvSpPr>
        <p:spPr>
          <a:xfrm>
            <a:off x="8389925" y="42428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0" name="Text 38"/>
          <p:cNvSpPr/>
          <p:nvPr/>
        </p:nvSpPr>
        <p:spPr>
          <a:xfrm>
            <a:off x="8984285" y="4197096"/>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Cuándo NO usar multiagente</a:t>
            </a:r>
            <a:endParaRPr lang="en-US" sz="1800" dirty="0"/>
          </a:p>
        </p:txBody>
      </p:sp>
      <p:sp>
        <p:nvSpPr>
          <p:cNvPr id="41" name="Text 39"/>
          <p:cNvSpPr/>
          <p:nvPr/>
        </p:nvSpPr>
        <p:spPr>
          <a:xfrm>
            <a:off x="8389925" y="4882896"/>
            <a:ext cx="3024530" cy="1243584"/>
          </a:xfrm>
          <a:prstGeom prst="rect">
            <a:avLst/>
          </a:prstGeom>
          <a:noFill/>
          <a:ln/>
        </p:spPr>
        <p:txBody>
          <a:bodyPr wrap="square" lIns="0" tIns="0" rIns="0" bIns="0" rtlCol="0" anchor="t"/>
          <a:lstStyle/>
          <a:p>
            <a:pPr marL="0" indent="0">
              <a:buNone/>
            </a:pPr>
            <a:r>
              <a:rPr lang="en-US" sz="1500" dirty="0">
                <a:solidFill>
                  <a:srgbClr val="1B2A3A"/>
                </a:solidFill>
                <a:latin typeface="Segoe UI" pitchFamily="34" charset="0"/>
                <a:ea typeface="Segoe UI" pitchFamily="34" charset="-122"/>
                <a:cs typeface="Segoe UI" pitchFamily="34" charset="-120"/>
              </a:rPr>
              <a:t>Si no hay especialización real, paralelismo o enrutamiento dinámico: un solo agente es más simple y barato.</a:t>
            </a:r>
            <a:endParaRPr lang="en-US" sz="1500" dirty="0"/>
          </a:p>
        </p:txBody>
      </p:sp>
      <p:sp>
        <p:nvSpPr>
          <p:cNvPr id="4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Diseño de un orchestrator</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914400" y="2331720"/>
            <a:ext cx="8875532" cy="0"/>
          </a:xfrm>
          <a:prstGeom prst="line">
            <a:avLst/>
          </a:prstGeom>
          <a:noFill/>
          <a:ln w="38100">
            <a:solidFill>
              <a:srgbClr val="C9D7E4"/>
            </a:solidFill>
            <a:prstDash val="solid"/>
          </a:ln>
        </p:spPr>
        <p:txBody>
          <a:bodyPr/>
          <a:lstStyle/>
          <a:p>
            <a:endParaRPr lang="en-US"/>
          </a:p>
        </p:txBody>
      </p:sp>
      <p:sp>
        <p:nvSpPr>
          <p:cNvPr id="7" name="Shape 5"/>
          <p:cNvSpPr/>
          <p:nvPr/>
        </p:nvSpPr>
        <p:spPr>
          <a:xfrm>
            <a:off x="548640" y="1965960"/>
            <a:ext cx="731520" cy="731520"/>
          </a:xfrm>
          <a:prstGeom prst="ellipse">
            <a:avLst/>
          </a:prstGeom>
          <a:solidFill>
            <a:srgbClr val="E8743B"/>
          </a:solidFill>
          <a:ln/>
        </p:spPr>
        <p:txBody>
          <a:bodyPr/>
          <a:lstStyle/>
          <a:p>
            <a:endParaRPr lang="en-US"/>
          </a:p>
        </p:txBody>
      </p:sp>
      <p:sp>
        <p:nvSpPr>
          <p:cNvPr id="8" name="Text 6"/>
          <p:cNvSpPr/>
          <p:nvPr/>
        </p:nvSpPr>
        <p:spPr>
          <a:xfrm>
            <a:off x="548640"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1</a:t>
            </a:r>
            <a:endParaRPr lang="en-US" sz="2200" dirty="0"/>
          </a:p>
        </p:txBody>
      </p:sp>
      <p:sp>
        <p:nvSpPr>
          <p:cNvPr id="9" name="Text 7"/>
          <p:cNvSpPr/>
          <p:nvPr/>
        </p:nvSpPr>
        <p:spPr>
          <a:xfrm>
            <a:off x="548640" y="2880360"/>
            <a:ext cx="1990283" cy="731520"/>
          </a:xfrm>
          <a:prstGeom prst="rect">
            <a:avLst/>
          </a:prstGeom>
          <a:noFill/>
          <a:ln/>
        </p:spPr>
        <p:txBody>
          <a:bodyPr wrap="square" lIns="0" tIns="0" rIns="0" bIns="0" rtlCol="0" anchor="t"/>
          <a:lstStyle/>
          <a:p>
            <a:pPr marL="0" indent="0">
              <a:buNone/>
            </a:pPr>
            <a:r>
              <a:rPr lang="en-US" sz="1900" b="1" dirty="0">
                <a:solidFill>
                  <a:srgbClr val="0B1F33"/>
                </a:solidFill>
                <a:latin typeface="Segoe UI Semibold" pitchFamily="34" charset="0"/>
                <a:ea typeface="Segoe UI Semibold" pitchFamily="34" charset="-122"/>
                <a:cs typeface="Segoe UI Semibold" pitchFamily="34" charset="-120"/>
              </a:rPr>
              <a:t>Contrato de tareas</a:t>
            </a:r>
            <a:endParaRPr lang="en-US" sz="1900" dirty="0"/>
          </a:p>
        </p:txBody>
      </p:sp>
      <p:sp>
        <p:nvSpPr>
          <p:cNvPr id="10" name="Shape 8"/>
          <p:cNvSpPr/>
          <p:nvPr/>
        </p:nvSpPr>
        <p:spPr>
          <a:xfrm>
            <a:off x="548640"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9"/>
          <p:cNvSpPr/>
          <p:nvPr/>
        </p:nvSpPr>
        <p:spPr>
          <a:xfrm>
            <a:off x="548640" y="3657600"/>
            <a:ext cx="82296" cy="2514600"/>
          </a:xfrm>
          <a:prstGeom prst="rect">
            <a:avLst/>
          </a:prstGeom>
          <a:solidFill>
            <a:srgbClr val="E8743B"/>
          </a:solidFill>
          <a:ln/>
        </p:spPr>
        <p:txBody>
          <a:bodyPr/>
          <a:lstStyle/>
          <a:p>
            <a:endParaRPr lang="en-US"/>
          </a:p>
        </p:txBody>
      </p:sp>
      <p:sp>
        <p:nvSpPr>
          <p:cNvPr id="12" name="Text 10"/>
          <p:cNvSpPr/>
          <p:nvPr/>
        </p:nvSpPr>
        <p:spPr>
          <a:xfrm>
            <a:off x="777240" y="3840480"/>
            <a:ext cx="1688531" cy="2148840"/>
          </a:xfrm>
          <a:prstGeom prst="rect">
            <a:avLst/>
          </a:prstGeom>
          <a:noFill/>
          <a:ln/>
        </p:spPr>
        <p:txBody>
          <a:bodyPr wrap="square" lIns="0" tIns="0" rIns="0" bIns="0" rtlCol="0" anchor="t"/>
          <a:lstStyle/>
          <a:p>
            <a:pPr marL="0" indent="0">
              <a:buNone/>
            </a:pPr>
            <a:r>
              <a:rPr lang="en-US" sz="1600" dirty="0">
                <a:solidFill>
                  <a:srgbClr val="1B2A3A"/>
                </a:solidFill>
                <a:latin typeface="Segoe UI" pitchFamily="34" charset="0"/>
                <a:ea typeface="Segoe UI" pitchFamily="34" charset="-122"/>
                <a:cs typeface="Segoe UI" pitchFamily="34" charset="-120"/>
              </a:rPr>
              <a:t>Definir entradas, salidas y criterios de éxito de cada agente especialista.</a:t>
            </a:r>
            <a:endParaRPr lang="en-US" sz="1600" dirty="0"/>
          </a:p>
        </p:txBody>
      </p:sp>
      <p:sp>
        <p:nvSpPr>
          <p:cNvPr id="13" name="Shape 11"/>
          <p:cNvSpPr/>
          <p:nvPr/>
        </p:nvSpPr>
        <p:spPr>
          <a:xfrm>
            <a:off x="2767523" y="1965960"/>
            <a:ext cx="731520" cy="731520"/>
          </a:xfrm>
          <a:prstGeom prst="ellipse">
            <a:avLst/>
          </a:prstGeom>
          <a:solidFill>
            <a:srgbClr val="0B1F33"/>
          </a:solidFill>
          <a:ln/>
        </p:spPr>
        <p:txBody>
          <a:bodyPr/>
          <a:lstStyle/>
          <a:p>
            <a:endParaRPr lang="en-US"/>
          </a:p>
        </p:txBody>
      </p:sp>
      <p:sp>
        <p:nvSpPr>
          <p:cNvPr id="14" name="Text 12"/>
          <p:cNvSpPr/>
          <p:nvPr/>
        </p:nvSpPr>
        <p:spPr>
          <a:xfrm>
            <a:off x="2767523"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2</a:t>
            </a:r>
            <a:endParaRPr lang="en-US" sz="2200" dirty="0"/>
          </a:p>
        </p:txBody>
      </p:sp>
      <p:sp>
        <p:nvSpPr>
          <p:cNvPr id="15" name="Text 13"/>
          <p:cNvSpPr/>
          <p:nvPr/>
        </p:nvSpPr>
        <p:spPr>
          <a:xfrm>
            <a:off x="2767523" y="2880360"/>
            <a:ext cx="1990283" cy="731520"/>
          </a:xfrm>
          <a:prstGeom prst="rect">
            <a:avLst/>
          </a:prstGeom>
          <a:noFill/>
          <a:ln/>
        </p:spPr>
        <p:txBody>
          <a:bodyPr wrap="square" lIns="0" tIns="0" rIns="0" bIns="0" rtlCol="0" anchor="t"/>
          <a:lstStyle/>
          <a:p>
            <a:pPr marL="0" indent="0">
              <a:buNone/>
            </a:pPr>
            <a:r>
              <a:rPr lang="en-US" sz="1900" b="1" dirty="0">
                <a:solidFill>
                  <a:srgbClr val="0B1F33"/>
                </a:solidFill>
                <a:latin typeface="Segoe UI Semibold" pitchFamily="34" charset="0"/>
                <a:ea typeface="Segoe UI Semibold" pitchFamily="34" charset="-122"/>
                <a:cs typeface="Segoe UI Semibold" pitchFamily="34" charset="-120"/>
              </a:rPr>
              <a:t>Elegir el patrón</a:t>
            </a:r>
            <a:endParaRPr lang="en-US" sz="1900" dirty="0"/>
          </a:p>
        </p:txBody>
      </p:sp>
      <p:sp>
        <p:nvSpPr>
          <p:cNvPr id="16" name="Shape 14"/>
          <p:cNvSpPr/>
          <p:nvPr/>
        </p:nvSpPr>
        <p:spPr>
          <a:xfrm>
            <a:off x="2767523"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2767523" y="3657600"/>
            <a:ext cx="82296" cy="2514600"/>
          </a:xfrm>
          <a:prstGeom prst="rect">
            <a:avLst/>
          </a:prstGeom>
          <a:solidFill>
            <a:srgbClr val="0B1F33"/>
          </a:solidFill>
          <a:ln/>
        </p:spPr>
        <p:txBody>
          <a:bodyPr/>
          <a:lstStyle/>
          <a:p>
            <a:endParaRPr lang="en-US"/>
          </a:p>
        </p:txBody>
      </p:sp>
      <p:sp>
        <p:nvSpPr>
          <p:cNvPr id="18" name="Text 16"/>
          <p:cNvSpPr/>
          <p:nvPr/>
        </p:nvSpPr>
        <p:spPr>
          <a:xfrm>
            <a:off x="2996123" y="3840480"/>
            <a:ext cx="1688531" cy="2148840"/>
          </a:xfrm>
          <a:prstGeom prst="rect">
            <a:avLst/>
          </a:prstGeom>
          <a:noFill/>
          <a:ln/>
        </p:spPr>
        <p:txBody>
          <a:bodyPr wrap="square" lIns="0" tIns="0" rIns="0" bIns="0" rtlCol="0" anchor="t"/>
          <a:lstStyle/>
          <a:p>
            <a:pPr marL="0" indent="0">
              <a:buNone/>
            </a:pPr>
            <a:r>
              <a:rPr lang="en-US" sz="1600" dirty="0">
                <a:solidFill>
                  <a:srgbClr val="1B2A3A"/>
                </a:solidFill>
                <a:latin typeface="Segoe UI" pitchFamily="34" charset="0"/>
                <a:ea typeface="Segoe UI" pitchFamily="34" charset="-122"/>
                <a:cs typeface="Segoe UI" pitchFamily="34" charset="-120"/>
              </a:rPr>
              <a:t>Sequential, concurrent, handoff, group chat o Magentic según el problema real.</a:t>
            </a:r>
            <a:endParaRPr lang="en-US" sz="1600" dirty="0"/>
          </a:p>
        </p:txBody>
      </p:sp>
      <p:sp>
        <p:nvSpPr>
          <p:cNvPr id="19" name="Shape 17"/>
          <p:cNvSpPr/>
          <p:nvPr/>
        </p:nvSpPr>
        <p:spPr>
          <a:xfrm>
            <a:off x="4986406" y="1965960"/>
            <a:ext cx="731520" cy="731520"/>
          </a:xfrm>
          <a:prstGeom prst="ellipse">
            <a:avLst/>
          </a:prstGeom>
          <a:solidFill>
            <a:srgbClr val="E8743B"/>
          </a:solidFill>
          <a:ln/>
        </p:spPr>
        <p:txBody>
          <a:bodyPr/>
          <a:lstStyle/>
          <a:p>
            <a:endParaRPr lang="en-US"/>
          </a:p>
        </p:txBody>
      </p:sp>
      <p:sp>
        <p:nvSpPr>
          <p:cNvPr id="20" name="Text 18"/>
          <p:cNvSpPr/>
          <p:nvPr/>
        </p:nvSpPr>
        <p:spPr>
          <a:xfrm>
            <a:off x="4986406"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3</a:t>
            </a:r>
            <a:endParaRPr lang="en-US" sz="2200" dirty="0"/>
          </a:p>
        </p:txBody>
      </p:sp>
      <p:sp>
        <p:nvSpPr>
          <p:cNvPr id="21" name="Text 19"/>
          <p:cNvSpPr/>
          <p:nvPr/>
        </p:nvSpPr>
        <p:spPr>
          <a:xfrm>
            <a:off x="4986406" y="2880360"/>
            <a:ext cx="1990283" cy="731520"/>
          </a:xfrm>
          <a:prstGeom prst="rect">
            <a:avLst/>
          </a:prstGeom>
          <a:noFill/>
          <a:ln/>
        </p:spPr>
        <p:txBody>
          <a:bodyPr wrap="square" lIns="0" tIns="0" rIns="0" bIns="0" rtlCol="0" anchor="t"/>
          <a:lstStyle/>
          <a:p>
            <a:pPr marL="0" indent="0">
              <a:buNone/>
            </a:pPr>
            <a:r>
              <a:rPr lang="en-US" sz="1900" b="1" dirty="0">
                <a:solidFill>
                  <a:srgbClr val="0B1F33"/>
                </a:solidFill>
                <a:latin typeface="Segoe UI Semibold" pitchFamily="34" charset="0"/>
                <a:ea typeface="Segoe UI Semibold" pitchFamily="34" charset="-122"/>
                <a:cs typeface="Segoe UI Semibold" pitchFamily="34" charset="-120"/>
              </a:rPr>
              <a:t>Reglas de control</a:t>
            </a:r>
            <a:endParaRPr lang="en-US" sz="1900" dirty="0"/>
          </a:p>
        </p:txBody>
      </p:sp>
      <p:sp>
        <p:nvSpPr>
          <p:cNvPr id="22" name="Shape 20"/>
          <p:cNvSpPr/>
          <p:nvPr/>
        </p:nvSpPr>
        <p:spPr>
          <a:xfrm>
            <a:off x="4986406"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1"/>
          <p:cNvSpPr/>
          <p:nvPr/>
        </p:nvSpPr>
        <p:spPr>
          <a:xfrm>
            <a:off x="4986406" y="3657600"/>
            <a:ext cx="82296" cy="2514600"/>
          </a:xfrm>
          <a:prstGeom prst="rect">
            <a:avLst/>
          </a:prstGeom>
          <a:solidFill>
            <a:srgbClr val="E8743B"/>
          </a:solidFill>
          <a:ln/>
        </p:spPr>
        <p:txBody>
          <a:bodyPr/>
          <a:lstStyle/>
          <a:p>
            <a:endParaRPr lang="en-US"/>
          </a:p>
        </p:txBody>
      </p:sp>
      <p:sp>
        <p:nvSpPr>
          <p:cNvPr id="24" name="Text 22"/>
          <p:cNvSpPr/>
          <p:nvPr/>
        </p:nvSpPr>
        <p:spPr>
          <a:xfrm>
            <a:off x="5215006" y="3840480"/>
            <a:ext cx="1688531" cy="2148840"/>
          </a:xfrm>
          <a:prstGeom prst="rect">
            <a:avLst/>
          </a:prstGeom>
          <a:noFill/>
          <a:ln/>
        </p:spPr>
        <p:txBody>
          <a:bodyPr wrap="square" lIns="0" tIns="0" rIns="0" bIns="0" rtlCol="0" anchor="t"/>
          <a:lstStyle/>
          <a:p>
            <a:pPr marL="0" indent="0">
              <a:buNone/>
            </a:pPr>
            <a:r>
              <a:rPr lang="en-US" sz="1600" dirty="0">
                <a:solidFill>
                  <a:srgbClr val="1B2A3A"/>
                </a:solidFill>
                <a:latin typeface="Segoe UI" pitchFamily="34" charset="0"/>
                <a:ea typeface="Segoe UI" pitchFamily="34" charset="-122"/>
                <a:cs typeface="Segoe UI" pitchFamily="34" charset="-120"/>
              </a:rPr>
              <a:t>Definir reintentos, timeouts y condiciones de salida del flujo multiagente.</a:t>
            </a:r>
            <a:endParaRPr lang="en-US" sz="1600" dirty="0"/>
          </a:p>
        </p:txBody>
      </p:sp>
      <p:sp>
        <p:nvSpPr>
          <p:cNvPr id="25" name="Shape 23"/>
          <p:cNvSpPr/>
          <p:nvPr/>
        </p:nvSpPr>
        <p:spPr>
          <a:xfrm>
            <a:off x="7205289" y="1965960"/>
            <a:ext cx="731520" cy="731520"/>
          </a:xfrm>
          <a:prstGeom prst="ellipse">
            <a:avLst/>
          </a:prstGeom>
          <a:solidFill>
            <a:srgbClr val="0B1F33"/>
          </a:solidFill>
          <a:ln/>
        </p:spPr>
        <p:txBody>
          <a:bodyPr/>
          <a:lstStyle/>
          <a:p>
            <a:endParaRPr lang="en-US"/>
          </a:p>
        </p:txBody>
      </p:sp>
      <p:sp>
        <p:nvSpPr>
          <p:cNvPr id="26" name="Text 24"/>
          <p:cNvSpPr/>
          <p:nvPr/>
        </p:nvSpPr>
        <p:spPr>
          <a:xfrm>
            <a:off x="7205289"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4</a:t>
            </a:r>
            <a:endParaRPr lang="en-US" sz="2200" dirty="0"/>
          </a:p>
        </p:txBody>
      </p:sp>
      <p:sp>
        <p:nvSpPr>
          <p:cNvPr id="27" name="Text 25"/>
          <p:cNvSpPr/>
          <p:nvPr/>
        </p:nvSpPr>
        <p:spPr>
          <a:xfrm>
            <a:off x="7205289" y="2880360"/>
            <a:ext cx="1990283" cy="731520"/>
          </a:xfrm>
          <a:prstGeom prst="rect">
            <a:avLst/>
          </a:prstGeom>
          <a:noFill/>
          <a:ln/>
        </p:spPr>
        <p:txBody>
          <a:bodyPr wrap="square" lIns="0" tIns="0" rIns="0" bIns="0" rtlCol="0" anchor="t"/>
          <a:lstStyle/>
          <a:p>
            <a:pPr marL="0" indent="0">
              <a:buNone/>
            </a:pPr>
            <a:r>
              <a:rPr lang="en-US" sz="1900" b="1" dirty="0">
                <a:solidFill>
                  <a:srgbClr val="0B1F33"/>
                </a:solidFill>
                <a:latin typeface="Segoe UI Semibold" pitchFamily="34" charset="0"/>
                <a:ea typeface="Segoe UI Semibold" pitchFamily="34" charset="-122"/>
                <a:cs typeface="Segoe UI Semibold" pitchFamily="34" charset="-120"/>
              </a:rPr>
              <a:t>Trazabilidad por agente</a:t>
            </a:r>
            <a:endParaRPr lang="en-US" sz="1900" dirty="0"/>
          </a:p>
        </p:txBody>
      </p:sp>
      <p:sp>
        <p:nvSpPr>
          <p:cNvPr id="28" name="Shape 26"/>
          <p:cNvSpPr/>
          <p:nvPr/>
        </p:nvSpPr>
        <p:spPr>
          <a:xfrm>
            <a:off x="7205289"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9" name="Shape 27"/>
          <p:cNvSpPr/>
          <p:nvPr/>
        </p:nvSpPr>
        <p:spPr>
          <a:xfrm>
            <a:off x="7205289" y="3657600"/>
            <a:ext cx="82296" cy="2514600"/>
          </a:xfrm>
          <a:prstGeom prst="rect">
            <a:avLst/>
          </a:prstGeom>
          <a:solidFill>
            <a:srgbClr val="0B1F33"/>
          </a:solidFill>
          <a:ln/>
        </p:spPr>
        <p:txBody>
          <a:bodyPr/>
          <a:lstStyle/>
          <a:p>
            <a:endParaRPr lang="en-US"/>
          </a:p>
        </p:txBody>
      </p:sp>
      <p:sp>
        <p:nvSpPr>
          <p:cNvPr id="30" name="Text 28"/>
          <p:cNvSpPr/>
          <p:nvPr/>
        </p:nvSpPr>
        <p:spPr>
          <a:xfrm>
            <a:off x="7433889" y="3840480"/>
            <a:ext cx="1688531" cy="2148840"/>
          </a:xfrm>
          <a:prstGeom prst="rect">
            <a:avLst/>
          </a:prstGeom>
          <a:noFill/>
          <a:ln/>
        </p:spPr>
        <p:txBody>
          <a:bodyPr wrap="square" lIns="0" tIns="0" rIns="0" bIns="0" rtlCol="0" anchor="t"/>
          <a:lstStyle/>
          <a:p>
            <a:pPr marL="0" indent="0">
              <a:buNone/>
            </a:pPr>
            <a:r>
              <a:rPr lang="en-US" sz="1600" dirty="0">
                <a:solidFill>
                  <a:srgbClr val="1B2A3A"/>
                </a:solidFill>
                <a:latin typeface="Segoe UI" pitchFamily="34" charset="0"/>
                <a:ea typeface="Segoe UI" pitchFamily="34" charset="-122"/>
                <a:cs typeface="Segoe UI" pitchFamily="34" charset="-120"/>
              </a:rPr>
              <a:t>Instrumentar cada paso con tracing para poder depurar el flujo completo.</a:t>
            </a:r>
            <a:endParaRPr lang="en-US" sz="1600" dirty="0"/>
          </a:p>
        </p:txBody>
      </p:sp>
      <p:sp>
        <p:nvSpPr>
          <p:cNvPr id="31" name="Shape 29"/>
          <p:cNvSpPr/>
          <p:nvPr/>
        </p:nvSpPr>
        <p:spPr>
          <a:xfrm>
            <a:off x="9424172" y="1965960"/>
            <a:ext cx="731520" cy="731520"/>
          </a:xfrm>
          <a:prstGeom prst="ellipse">
            <a:avLst/>
          </a:prstGeom>
          <a:solidFill>
            <a:srgbClr val="E8743B"/>
          </a:solidFill>
          <a:ln/>
        </p:spPr>
        <p:txBody>
          <a:bodyPr/>
          <a:lstStyle/>
          <a:p>
            <a:endParaRPr lang="en-US"/>
          </a:p>
        </p:txBody>
      </p:sp>
      <p:sp>
        <p:nvSpPr>
          <p:cNvPr id="32" name="Text 30"/>
          <p:cNvSpPr/>
          <p:nvPr/>
        </p:nvSpPr>
        <p:spPr>
          <a:xfrm>
            <a:off x="9424172"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5</a:t>
            </a:r>
            <a:endParaRPr lang="en-US" sz="2200" dirty="0"/>
          </a:p>
        </p:txBody>
      </p:sp>
      <p:sp>
        <p:nvSpPr>
          <p:cNvPr id="33" name="Text 31"/>
          <p:cNvSpPr/>
          <p:nvPr/>
        </p:nvSpPr>
        <p:spPr>
          <a:xfrm>
            <a:off x="9424172" y="2880360"/>
            <a:ext cx="1990283" cy="731520"/>
          </a:xfrm>
          <a:prstGeom prst="rect">
            <a:avLst/>
          </a:prstGeom>
          <a:noFill/>
          <a:ln/>
        </p:spPr>
        <p:txBody>
          <a:bodyPr wrap="square" lIns="0" tIns="0" rIns="0" bIns="0" rtlCol="0" anchor="t"/>
          <a:lstStyle/>
          <a:p>
            <a:pPr marL="0" indent="0">
              <a:buNone/>
            </a:pPr>
            <a:r>
              <a:rPr lang="en-US" sz="1900" b="1" dirty="0">
                <a:solidFill>
                  <a:srgbClr val="0B1F33"/>
                </a:solidFill>
                <a:latin typeface="Segoe UI Semibold" pitchFamily="34" charset="0"/>
                <a:ea typeface="Segoe UI Semibold" pitchFamily="34" charset="-122"/>
                <a:cs typeface="Segoe UI Semibold" pitchFamily="34" charset="-120"/>
              </a:rPr>
              <a:t>Evaluar extremo a extremo</a:t>
            </a:r>
            <a:endParaRPr lang="en-US" sz="1900" dirty="0"/>
          </a:p>
        </p:txBody>
      </p:sp>
      <p:sp>
        <p:nvSpPr>
          <p:cNvPr id="34" name="Shape 32"/>
          <p:cNvSpPr/>
          <p:nvPr/>
        </p:nvSpPr>
        <p:spPr>
          <a:xfrm>
            <a:off x="9424172"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35" name="Shape 33"/>
          <p:cNvSpPr/>
          <p:nvPr/>
        </p:nvSpPr>
        <p:spPr>
          <a:xfrm>
            <a:off x="9424172" y="3657600"/>
            <a:ext cx="82296" cy="2514600"/>
          </a:xfrm>
          <a:prstGeom prst="rect">
            <a:avLst/>
          </a:prstGeom>
          <a:solidFill>
            <a:srgbClr val="E8743B"/>
          </a:solidFill>
          <a:ln/>
        </p:spPr>
        <p:txBody>
          <a:bodyPr/>
          <a:lstStyle/>
          <a:p>
            <a:endParaRPr lang="en-US"/>
          </a:p>
        </p:txBody>
      </p:sp>
      <p:sp>
        <p:nvSpPr>
          <p:cNvPr id="36" name="Text 34"/>
          <p:cNvSpPr/>
          <p:nvPr/>
        </p:nvSpPr>
        <p:spPr>
          <a:xfrm>
            <a:off x="9652772" y="3840480"/>
            <a:ext cx="1688531" cy="2148840"/>
          </a:xfrm>
          <a:prstGeom prst="rect">
            <a:avLst/>
          </a:prstGeom>
          <a:noFill/>
          <a:ln/>
        </p:spPr>
        <p:txBody>
          <a:bodyPr wrap="square" lIns="0" tIns="0" rIns="0" bIns="0" rtlCol="0" anchor="t"/>
          <a:lstStyle/>
          <a:p>
            <a:pPr marL="0" indent="0">
              <a:buNone/>
            </a:pPr>
            <a:r>
              <a:rPr lang="en-US" sz="1600" dirty="0">
                <a:solidFill>
                  <a:srgbClr val="1B2A3A"/>
                </a:solidFill>
                <a:latin typeface="Segoe UI" pitchFamily="34" charset="0"/>
                <a:ea typeface="Segoe UI" pitchFamily="34" charset="-122"/>
                <a:cs typeface="Segoe UI" pitchFamily="34" charset="-120"/>
              </a:rPr>
              <a:t>No solo cada agente: medir calidad y costo del flujo completo.</a:t>
            </a:r>
            <a:endParaRPr lang="en-US" sz="1600" dirty="0"/>
          </a:p>
        </p:txBody>
      </p:sp>
      <p:sp>
        <p:nvSpPr>
          <p:cNvPr id="37"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Gobierno de MCP/A2A vía AI Gateway</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6" cy="3886200"/>
        </p:xfrm>
        <a:graphic>
          <a:graphicData uri="http://schemas.openxmlformats.org/drawingml/2006/table">
            <a:tbl>
              <a:tblPr/>
              <a:tblGrid>
                <a:gridCol w="2580097">
                  <a:extLst>
                    <a:ext uri="{9D8B030D-6E8A-4147-A177-3AD203B41FA5}">
                      <a16:colId xmlns:a16="http://schemas.microsoft.com/office/drawing/2014/main" val="20000"/>
                    </a:ext>
                  </a:extLst>
                </a:gridCol>
                <a:gridCol w="3354126">
                  <a:extLst>
                    <a:ext uri="{9D8B030D-6E8A-4147-A177-3AD203B41FA5}">
                      <a16:colId xmlns:a16="http://schemas.microsoft.com/office/drawing/2014/main" val="20001"/>
                    </a:ext>
                  </a:extLst>
                </a:gridCol>
                <a:gridCol w="5160193">
                  <a:extLst>
                    <a:ext uri="{9D8B030D-6E8A-4147-A177-3AD203B41FA5}">
                      <a16:colId xmlns:a16="http://schemas.microsoft.com/office/drawing/2014/main" val="20002"/>
                    </a:ext>
                  </a:extLst>
                </a:gridCol>
              </a:tblGrid>
              <a:tr h="777240">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Dimensión</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Control</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Mecanismo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Descubrimiento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Catálogo de servidores MCP</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APIM expone y versiona el MCP como una API más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Autenticación</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OAuth2 hacia backends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Credential manager de APIM + validación JWT del cliente</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Identidad del agente</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Entra Agent ID</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Token con audiencia (audience) del recurso destino</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Auditoría</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Logs centralizados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Métricas y eventos por consumidor en el gateway</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Patrón de referencia: exponer MCP detrás de APIM en vez de conectarlo directo desde cada agente.</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E8743B">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E8743B">
              <a:alpha val="10000"/>
            </a:srgbClr>
          </a:solidFill>
          <a:ln/>
        </p:spPr>
        <p:txBody>
          <a:bodyPr/>
          <a:lstStyle/>
          <a:p>
            <a:endParaRPr lang="en-US"/>
          </a:p>
        </p:txBody>
      </p:sp>
      <p:sp>
        <p:nvSpPr>
          <p:cNvPr id="4" name="Text 2"/>
          <p:cNvSpPr/>
          <p:nvPr/>
        </p:nvSpPr>
        <p:spPr>
          <a:xfrm>
            <a:off x="548640" y="777240"/>
            <a:ext cx="3657600" cy="2194560"/>
          </a:xfrm>
          <a:prstGeom prst="rect">
            <a:avLst/>
          </a:prstGeom>
          <a:noFill/>
          <a:ln/>
        </p:spPr>
        <p:txBody>
          <a:bodyPr wrap="square" lIns="0" tIns="0" rIns="0" bIns="0" rtlCol="0" anchor="ctr"/>
          <a:lstStyle/>
          <a:p>
            <a:pPr marL="0" indent="0">
              <a:buNone/>
            </a:pPr>
            <a:r>
              <a:rPr lang="en-US" sz="12000" b="1" dirty="0">
                <a:solidFill>
                  <a:srgbClr val="E8743B"/>
                </a:solidFill>
                <a:latin typeface="Segoe UI Semibold" pitchFamily="34" charset="0"/>
                <a:ea typeface="Segoe UI Semibold" pitchFamily="34" charset="-122"/>
                <a:cs typeface="Segoe UI Semibold" pitchFamily="34" charset="-120"/>
              </a:rPr>
              <a:t>03</a:t>
            </a:r>
            <a:endParaRPr lang="en-US" sz="12000" dirty="0"/>
          </a:p>
        </p:txBody>
      </p:sp>
      <p:sp>
        <p:nvSpPr>
          <p:cNvPr id="5" name="Text 3"/>
          <p:cNvSpPr/>
          <p:nvPr/>
        </p:nvSpPr>
        <p:spPr>
          <a:xfrm>
            <a:off x="548640" y="3108960"/>
            <a:ext cx="9326880" cy="1508760"/>
          </a:xfrm>
          <a:prstGeom prst="rect">
            <a:avLst/>
          </a:prstGeom>
          <a:noFill/>
          <a:ln/>
        </p:spPr>
        <p:txBody>
          <a:bodyPr wrap="square" lIns="0" tIns="0" rIns="0" bIns="0" rtlCol="0" anchor="t"/>
          <a:lstStyle/>
          <a:p>
            <a:pPr marL="0" indent="0">
              <a:buNone/>
            </a:pPr>
            <a:r>
              <a:rPr lang="en-US" sz="4400" b="1" dirty="0">
                <a:solidFill>
                  <a:srgbClr val="FFFFFF"/>
                </a:solidFill>
                <a:latin typeface="Segoe UI Semibold" pitchFamily="34" charset="0"/>
                <a:ea typeface="Segoe UI Semibold" pitchFamily="34" charset="-122"/>
                <a:cs typeface="Segoe UI Semibold" pitchFamily="34" charset="-120"/>
              </a:rPr>
              <a:t>Arquitectura empresarial</a:t>
            </a:r>
            <a:endParaRPr lang="en-US" sz="4400" dirty="0"/>
          </a:p>
        </p:txBody>
      </p:sp>
      <p:sp>
        <p:nvSpPr>
          <p:cNvPr id="6" name="Text 4"/>
          <p:cNvSpPr/>
          <p:nvPr/>
        </p:nvSpPr>
        <p:spPr>
          <a:xfrm>
            <a:off x="548640" y="4754880"/>
            <a:ext cx="8595360" cy="914400"/>
          </a:xfrm>
          <a:prstGeom prst="rect">
            <a:avLst/>
          </a:prstGeom>
          <a:noFill/>
          <a:ln/>
        </p:spPr>
        <p:txBody>
          <a:bodyPr wrap="square" lIns="0" tIns="0" rIns="0" bIns="0" rtlCol="0" anchor="t"/>
          <a:lstStyle/>
          <a:p>
            <a:pPr marL="0" indent="0">
              <a:buNone/>
            </a:pPr>
            <a:r>
              <a:rPr lang="en-US" sz="2000" dirty="0">
                <a:solidFill>
                  <a:srgbClr val="C9D7E4"/>
                </a:solidFill>
                <a:latin typeface="Segoe UI" pitchFamily="34" charset="0"/>
                <a:ea typeface="Segoe UI" pitchFamily="34" charset="-122"/>
                <a:cs typeface="Segoe UI" pitchFamily="34" charset="-120"/>
              </a:rPr>
              <a:t>Hosted Agents, Session Gateway, AI Gateway y escalabilidad</a:t>
            </a:r>
            <a:endParaRPr lang="en-US" sz="2000" dirty="0"/>
          </a:p>
        </p:txBody>
      </p:sp>
      <p:sp>
        <p:nvSpPr>
          <p:cNvPr id="7" name="Shape 5"/>
          <p:cNvSpPr/>
          <p:nvPr/>
        </p:nvSpPr>
        <p:spPr>
          <a:xfrm>
            <a:off x="548640" y="5852160"/>
            <a:ext cx="1371600" cy="384048"/>
          </a:xfrm>
          <a:prstGeom prst="roundRect">
            <a:avLst>
              <a:gd name="adj" fmla="val 23810"/>
            </a:avLst>
          </a:prstGeom>
          <a:solidFill>
            <a:srgbClr val="0B1F33"/>
          </a:solidFill>
          <a:ln w="15875">
            <a:solidFill>
              <a:srgbClr val="F5B83D"/>
            </a:solidFill>
            <a:prstDash val="solid"/>
          </a:ln>
        </p:spPr>
        <p:txBody>
          <a:bodyPr/>
          <a:lstStyle/>
          <a:p>
            <a:endParaRPr lang="en-US"/>
          </a:p>
        </p:txBody>
      </p:sp>
      <p:sp>
        <p:nvSpPr>
          <p:cNvPr id="8" name="Text 6"/>
          <p:cNvSpPr/>
          <p:nvPr/>
        </p:nvSpPr>
        <p:spPr>
          <a:xfrm>
            <a:off x="548640" y="5852160"/>
            <a:ext cx="1371600" cy="384048"/>
          </a:xfrm>
          <a:prstGeom prst="rect">
            <a:avLst/>
          </a:prstGeom>
          <a:noFill/>
          <a:ln/>
        </p:spPr>
        <p:txBody>
          <a:bodyPr wrap="square" lIns="0" tIns="0" rIns="0" bIns="0" rtlCol="0" anchor="ctr"/>
          <a:lstStyle/>
          <a:p>
            <a:pPr marL="0" indent="0" algn="ctr">
              <a:buNone/>
            </a:pPr>
            <a:r>
              <a:rPr lang="en-US" sz="1300" b="1" dirty="0">
                <a:solidFill>
                  <a:srgbClr val="F5B83D"/>
                </a:solidFill>
                <a:latin typeface="Segoe UI Semibold" pitchFamily="34" charset="0"/>
                <a:ea typeface="Segoe UI Semibold" pitchFamily="34" charset="-122"/>
                <a:cs typeface="Segoe UI Semibold" pitchFamily="34" charset="-120"/>
              </a:rPr>
              <a:t>35 min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Arquitectura de referencia empresarial</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3291840" cy="833933"/>
          </a:xfrm>
          <a:prstGeom prst="rect">
            <a:avLst/>
          </a:prstGeom>
          <a:solidFill>
            <a:srgbClr val="0B1F33"/>
          </a:solidFill>
          <a:ln/>
        </p:spPr>
        <p:txBody>
          <a:bodyPr/>
          <a:lstStyle/>
          <a:p>
            <a:endParaRPr lang="en-US"/>
          </a:p>
        </p:txBody>
      </p:sp>
      <p:sp>
        <p:nvSpPr>
          <p:cNvPr id="7" name="Text 5"/>
          <p:cNvSpPr/>
          <p:nvPr/>
        </p:nvSpPr>
        <p:spPr>
          <a:xfrm>
            <a:off x="777240" y="1508760"/>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Canal</a:t>
            </a:r>
            <a:endParaRPr lang="en-US" sz="1900" dirty="0"/>
          </a:p>
        </p:txBody>
      </p:sp>
      <p:sp>
        <p:nvSpPr>
          <p:cNvPr id="8" name="Shape 6"/>
          <p:cNvSpPr/>
          <p:nvPr/>
        </p:nvSpPr>
        <p:spPr>
          <a:xfrm>
            <a:off x="3840480" y="1508760"/>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4114800" y="1508760"/>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Web, app móvil, contact center o Teams; cada uno con su propio SLA de latencia.</a:t>
            </a:r>
            <a:endParaRPr lang="en-US" sz="1700" dirty="0"/>
          </a:p>
        </p:txBody>
      </p:sp>
      <p:sp>
        <p:nvSpPr>
          <p:cNvPr id="10" name="Shape 8"/>
          <p:cNvSpPr/>
          <p:nvPr/>
        </p:nvSpPr>
        <p:spPr>
          <a:xfrm>
            <a:off x="548640" y="2488997"/>
            <a:ext cx="3291840" cy="833933"/>
          </a:xfrm>
          <a:prstGeom prst="rect">
            <a:avLst/>
          </a:prstGeom>
          <a:solidFill>
            <a:srgbClr val="423435"/>
          </a:solidFill>
          <a:ln/>
        </p:spPr>
        <p:txBody>
          <a:bodyPr/>
          <a:lstStyle/>
          <a:p>
            <a:endParaRPr lang="en-US"/>
          </a:p>
        </p:txBody>
      </p:sp>
      <p:sp>
        <p:nvSpPr>
          <p:cNvPr id="11" name="Text 9"/>
          <p:cNvSpPr/>
          <p:nvPr/>
        </p:nvSpPr>
        <p:spPr>
          <a:xfrm>
            <a:off x="777240" y="2488997"/>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AI Gateway (APIM)</a:t>
            </a:r>
            <a:endParaRPr lang="en-US" sz="1900" dirty="0"/>
          </a:p>
        </p:txBody>
      </p:sp>
      <p:sp>
        <p:nvSpPr>
          <p:cNvPr id="12" name="Shape 10"/>
          <p:cNvSpPr/>
          <p:nvPr/>
        </p:nvSpPr>
        <p:spPr>
          <a:xfrm>
            <a:off x="3840480" y="2488997"/>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p:nvPr/>
        </p:nvSpPr>
        <p:spPr>
          <a:xfrm>
            <a:off x="4114800" y="2488997"/>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Autenticación de backends, límites por consumidor, cache semántico, logging.</a:t>
            </a:r>
            <a:endParaRPr lang="en-US" sz="1700" dirty="0"/>
          </a:p>
        </p:txBody>
      </p:sp>
      <p:sp>
        <p:nvSpPr>
          <p:cNvPr id="14" name="Shape 12"/>
          <p:cNvSpPr/>
          <p:nvPr/>
        </p:nvSpPr>
        <p:spPr>
          <a:xfrm>
            <a:off x="548640" y="3469234"/>
            <a:ext cx="3291840" cy="833933"/>
          </a:xfrm>
          <a:prstGeom prst="rect">
            <a:avLst/>
          </a:prstGeom>
          <a:solidFill>
            <a:srgbClr val="7A4A37"/>
          </a:solidFill>
          <a:ln/>
        </p:spPr>
        <p:txBody>
          <a:bodyPr/>
          <a:lstStyle/>
          <a:p>
            <a:endParaRPr lang="en-US"/>
          </a:p>
        </p:txBody>
      </p:sp>
      <p:sp>
        <p:nvSpPr>
          <p:cNvPr id="15" name="Text 13"/>
          <p:cNvSpPr/>
          <p:nvPr/>
        </p:nvSpPr>
        <p:spPr>
          <a:xfrm>
            <a:off x="777240" y="3469234"/>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Session Gateway (opcional)</a:t>
            </a:r>
            <a:endParaRPr lang="en-US" sz="1900" dirty="0"/>
          </a:p>
        </p:txBody>
      </p:sp>
      <p:sp>
        <p:nvSpPr>
          <p:cNvPr id="16" name="Shape 14"/>
          <p:cNvSpPr/>
          <p:nvPr/>
        </p:nvSpPr>
        <p:spPr>
          <a:xfrm>
            <a:off x="3840480" y="3469234"/>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5"/>
          <p:cNvSpPr/>
          <p:nvPr/>
        </p:nvSpPr>
        <p:spPr>
          <a:xfrm>
            <a:off x="4114800" y="3469234"/>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Multiplexa muchos usuarios sobre un pool acotado de sesiones del Hosted Agent.</a:t>
            </a:r>
            <a:endParaRPr lang="en-US" sz="1700" dirty="0"/>
          </a:p>
        </p:txBody>
      </p:sp>
      <p:sp>
        <p:nvSpPr>
          <p:cNvPr id="18" name="Shape 16"/>
          <p:cNvSpPr/>
          <p:nvPr/>
        </p:nvSpPr>
        <p:spPr>
          <a:xfrm>
            <a:off x="548640" y="4449470"/>
            <a:ext cx="3291840" cy="833933"/>
          </a:xfrm>
          <a:prstGeom prst="rect">
            <a:avLst/>
          </a:prstGeom>
          <a:solidFill>
            <a:srgbClr val="B15F39"/>
          </a:solidFill>
          <a:ln/>
        </p:spPr>
        <p:txBody>
          <a:bodyPr/>
          <a:lstStyle/>
          <a:p>
            <a:endParaRPr lang="en-US"/>
          </a:p>
        </p:txBody>
      </p:sp>
      <p:sp>
        <p:nvSpPr>
          <p:cNvPr id="19" name="Text 17"/>
          <p:cNvSpPr/>
          <p:nvPr/>
        </p:nvSpPr>
        <p:spPr>
          <a:xfrm>
            <a:off x="777240" y="4449470"/>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Hosted Agent</a:t>
            </a:r>
            <a:endParaRPr lang="en-US" sz="1900" dirty="0"/>
          </a:p>
        </p:txBody>
      </p:sp>
      <p:sp>
        <p:nvSpPr>
          <p:cNvPr id="20" name="Shape 18"/>
          <p:cNvSpPr/>
          <p:nvPr/>
        </p:nvSpPr>
        <p:spPr>
          <a:xfrm>
            <a:off x="3840480" y="4449470"/>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1" name="Text 19"/>
          <p:cNvSpPr/>
          <p:nvPr/>
        </p:nvSpPr>
        <p:spPr>
          <a:xfrm>
            <a:off x="4114800" y="4449470"/>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Identidad Entra propia, sesiones aisladas, estado persistente, observabilidad incorporada.</a:t>
            </a:r>
            <a:endParaRPr lang="en-US" sz="1700" dirty="0"/>
          </a:p>
        </p:txBody>
      </p:sp>
      <p:sp>
        <p:nvSpPr>
          <p:cNvPr id="22" name="Shape 20"/>
          <p:cNvSpPr/>
          <p:nvPr/>
        </p:nvSpPr>
        <p:spPr>
          <a:xfrm>
            <a:off x="548640" y="5429707"/>
            <a:ext cx="3291840" cy="833933"/>
          </a:xfrm>
          <a:prstGeom prst="rect">
            <a:avLst/>
          </a:prstGeom>
          <a:solidFill>
            <a:srgbClr val="E8743B"/>
          </a:solidFill>
          <a:ln/>
        </p:spPr>
        <p:txBody>
          <a:bodyPr/>
          <a:lstStyle/>
          <a:p>
            <a:endParaRPr lang="en-US"/>
          </a:p>
        </p:txBody>
      </p:sp>
      <p:sp>
        <p:nvSpPr>
          <p:cNvPr id="23" name="Text 21"/>
          <p:cNvSpPr/>
          <p:nvPr/>
        </p:nvSpPr>
        <p:spPr>
          <a:xfrm>
            <a:off x="777240" y="5429707"/>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Modelos y herramientas</a:t>
            </a:r>
            <a:endParaRPr lang="en-US" sz="1900" dirty="0"/>
          </a:p>
        </p:txBody>
      </p:sp>
      <p:sp>
        <p:nvSpPr>
          <p:cNvPr id="24" name="Shape 22"/>
          <p:cNvSpPr/>
          <p:nvPr/>
        </p:nvSpPr>
        <p:spPr>
          <a:xfrm>
            <a:off x="3840480" y="5429707"/>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5" name="Text 23"/>
          <p:cNvSpPr/>
          <p:nvPr/>
        </p:nvSpPr>
        <p:spPr>
          <a:xfrm>
            <a:off x="4114800" y="5429707"/>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AI Search, MCP, A2A y modelos de Azure OpenAI o partners/OSS.</a:t>
            </a:r>
            <a:endParaRPr lang="en-US" sz="1700" dirty="0"/>
          </a:p>
        </p:txBody>
      </p:sp>
      <p:sp>
        <p:nvSpPr>
          <p:cNvPr id="26"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Hosted Agents: identidad y aislamiento</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E8743B"/>
          </a:solidFill>
          <a:ln/>
        </p:spPr>
        <p:txBody>
          <a:bodyPr/>
          <a:lstStyle/>
          <a:p>
            <a:endParaRPr lang="en-US"/>
          </a:p>
        </p:txBody>
      </p:sp>
      <p:sp>
        <p:nvSpPr>
          <p:cNvPr id="8" name="Text 6"/>
          <p:cNvSpPr/>
          <p:nvPr/>
        </p:nvSpPr>
        <p:spPr>
          <a:xfrm>
            <a:off x="868680" y="1737360"/>
            <a:ext cx="10454335" cy="4297680"/>
          </a:xfrm>
          <a:prstGeom prst="rect">
            <a:avLst/>
          </a:prstGeom>
          <a:noFill/>
          <a:ln/>
        </p:spPr>
        <p:txBody>
          <a:bodyPr wrap="square" lIns="0" tIns="0" rIns="0" bIns="0" rtlCol="0" anchor="t"/>
          <a:lstStyle/>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Contenedor con código propio (Agent Framework, LangGraph, Semantic Kernel); la plataforma escala y versiona.</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Cada sesión corre en un sandbox aislado con estado persistente ($HOME, /files) y timeout configurable.</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Antes de publicar, los agentes comparten identidad; al publicar, cada uno obtiene identidad Entra propia.</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El intercambio de tokens hacia tools y otros agentes es automático: el desarrollador no maneja tokens.</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Trazas OpenTelemetry habilitadas por defecto hacia Application Insights para cada ejecución.</a:t>
            </a:r>
            <a:endParaRPr lang="en-US" sz="2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Sesión 1:1 vs multiplexado (Session Gateway)</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5396332" cy="640080"/>
          </a:xfrm>
          <a:prstGeom prst="rect">
            <a:avLst/>
          </a:prstGeom>
          <a:solidFill>
            <a:srgbClr val="E8743B"/>
          </a:solidFill>
          <a:ln/>
        </p:spPr>
        <p:txBody>
          <a:bodyPr/>
          <a:lstStyle/>
          <a:p>
            <a:endParaRPr lang="en-US"/>
          </a:p>
        </p:txBody>
      </p:sp>
      <p:sp>
        <p:nvSpPr>
          <p:cNvPr id="7" name="Text 5"/>
          <p:cNvSpPr/>
          <p:nvPr/>
        </p:nvSpPr>
        <p:spPr>
          <a:xfrm>
            <a:off x="822960"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Sesión 1:1 por usuario</a:t>
            </a:r>
            <a:endParaRPr lang="en-US" sz="2000" dirty="0"/>
          </a:p>
        </p:txBody>
      </p:sp>
      <p:sp>
        <p:nvSpPr>
          <p:cNvPr id="8" name="Shape 6"/>
          <p:cNvSpPr/>
          <p:nvPr/>
        </p:nvSpPr>
        <p:spPr>
          <a:xfrm>
            <a:off x="548640"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822960"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Cada usuario tiene su propia sesión de Hosted Agent.</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Modelo simple de operar y de razonar sobre aislamiento.</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El consumo de cómputo escala linealmente con usuarios activos.</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Recomendado para baja o mediana concurrencia.</a:t>
            </a:r>
            <a:endParaRPr lang="en-US" sz="1700" dirty="0"/>
          </a:p>
        </p:txBody>
      </p:sp>
      <p:sp>
        <p:nvSpPr>
          <p:cNvPr id="10" name="Shape 8"/>
          <p:cNvSpPr/>
          <p:nvPr/>
        </p:nvSpPr>
        <p:spPr>
          <a:xfrm>
            <a:off x="6246724" y="1508760"/>
            <a:ext cx="5396332" cy="640080"/>
          </a:xfrm>
          <a:prstGeom prst="rect">
            <a:avLst/>
          </a:prstGeom>
          <a:solidFill>
            <a:srgbClr val="0B1F33"/>
          </a:solidFill>
          <a:ln/>
        </p:spPr>
        <p:txBody>
          <a:bodyPr/>
          <a:lstStyle/>
          <a:p>
            <a:endParaRPr lang="en-US"/>
          </a:p>
        </p:txBody>
      </p:sp>
      <p:sp>
        <p:nvSpPr>
          <p:cNvPr id="11" name="Text 9"/>
          <p:cNvSpPr/>
          <p:nvPr/>
        </p:nvSpPr>
        <p:spPr>
          <a:xfrm>
            <a:off x="6521044"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Multiplexado con Session Gateway</a:t>
            </a:r>
            <a:endParaRPr lang="en-US" sz="2000" dirty="0"/>
          </a:p>
        </p:txBody>
      </p:sp>
      <p:sp>
        <p:nvSpPr>
          <p:cNvPr id="12" name="Shape 10"/>
          <p:cNvSpPr/>
          <p:nvPr/>
        </p:nvSpPr>
        <p:spPr>
          <a:xfrm>
            <a:off x="6246724"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p:nvPr/>
        </p:nvSpPr>
        <p:spPr>
          <a:xfrm>
            <a:off x="6521044"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Un servicio intermedio reutiliza un pool acotado de sesiones.</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Un header de identidad de usuario delega el contexto por request.</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Requiere un permiso RBAC dedicado para impersonar identidad de usuario.</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Reduce costo de cómputo a gran escala, a cambio de más complejidad operativa.</a:t>
            </a:r>
            <a:endParaRPr lang="en-US" sz="1700" dirty="0"/>
          </a:p>
        </p:txBody>
      </p:sp>
      <p:sp>
        <p:nvSpPr>
          <p:cNvPr id="14" name="Shape 12"/>
          <p:cNvSpPr/>
          <p:nvPr/>
        </p:nvSpPr>
        <p:spPr>
          <a:xfrm>
            <a:off x="548640" y="5577840"/>
            <a:ext cx="11094415" cy="685800"/>
          </a:xfrm>
          <a:prstGeom prst="rect">
            <a:avLst/>
          </a:prstGeom>
          <a:solidFill>
            <a:srgbClr val="F5B83D"/>
          </a:solidFill>
          <a:ln/>
        </p:spPr>
        <p:txBody>
          <a:bodyPr/>
          <a:lstStyle/>
          <a:p>
            <a:endParaRPr lang="en-US"/>
          </a:p>
        </p:txBody>
      </p:sp>
      <p:sp>
        <p:nvSpPr>
          <p:cNvPr id="15" name="Text 13"/>
          <p:cNvSpPr/>
          <p:nvPr/>
        </p:nvSpPr>
        <p:spPr>
          <a:xfrm>
            <a:off x="822960" y="5577840"/>
            <a:ext cx="10545775" cy="685800"/>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A mayor concurrencia esperada, el multiplexado reduce costo pero agrega una capa que hay que gobernar y observar.</a:t>
            </a:r>
            <a:endParaRPr lang="en-US" sz="17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AI Gateway / APIM: controles clave</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6" cy="3886200"/>
        </p:xfrm>
        <a:graphic>
          <a:graphicData uri="http://schemas.openxmlformats.org/drawingml/2006/table">
            <a:tbl>
              <a:tblPr/>
              <a:tblGrid>
                <a:gridCol w="3328325">
                  <a:extLst>
                    <a:ext uri="{9D8B030D-6E8A-4147-A177-3AD203B41FA5}">
                      <a16:colId xmlns:a16="http://schemas.microsoft.com/office/drawing/2014/main" val="20000"/>
                    </a:ext>
                  </a:extLst>
                </a:gridCol>
                <a:gridCol w="5547208">
                  <a:extLst>
                    <a:ext uri="{9D8B030D-6E8A-4147-A177-3AD203B41FA5}">
                      <a16:colId xmlns:a16="http://schemas.microsoft.com/office/drawing/2014/main" val="20001"/>
                    </a:ext>
                  </a:extLst>
                </a:gridCol>
                <a:gridCol w="2218883">
                  <a:extLst>
                    <a:ext uri="{9D8B030D-6E8A-4147-A177-3AD203B41FA5}">
                      <a16:colId xmlns:a16="http://schemas.microsoft.com/office/drawing/2014/main" val="20002"/>
                    </a:ext>
                  </a:extLst>
                </a:gridCol>
              </a:tblGrid>
              <a:tr h="777240">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Control</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Qué resuelve</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Capa</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Autenticación de backend</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Sin llaves de modelo expuestas en el gateway</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Managed identity</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Límite por consumidor</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Cuotas de tokens por app o equipo</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Rate limiting</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Cache semántico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Reduce latencia y costo en preguntas repetidas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Semantic cache</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Balanceo de carga</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Distribuye tráfico entre backends o modelos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Load balancing</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Estos controles se gobiernan desde un único punto, sin tocar el código de cada agente.</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Demo: AI Gateway / APIM en acción</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4297680" cy="3977640"/>
          </a:xfrm>
          <a:prstGeom prst="rect">
            <a:avLst/>
          </a:prstGeom>
          <a:solidFill>
            <a:srgbClr val="0B1F33"/>
          </a:solidFill>
          <a:ln/>
        </p:spPr>
        <p:txBody>
          <a:bodyPr/>
          <a:lstStyle/>
          <a:p>
            <a:endParaRPr lang="en-US"/>
          </a:p>
        </p:txBody>
      </p:sp>
      <p:sp>
        <p:nvSpPr>
          <p:cNvPr id="7" name="Shape 5"/>
          <p:cNvSpPr/>
          <p:nvPr/>
        </p:nvSpPr>
        <p:spPr>
          <a:xfrm>
            <a:off x="868680" y="1828800"/>
            <a:ext cx="1097280" cy="365760"/>
          </a:xfrm>
          <a:prstGeom prst="roundRect">
            <a:avLst>
              <a:gd name="adj" fmla="val 20000"/>
            </a:avLst>
          </a:prstGeom>
          <a:solidFill>
            <a:srgbClr val="F5B83D"/>
          </a:solidFill>
          <a:ln/>
        </p:spPr>
        <p:txBody>
          <a:bodyPr/>
          <a:lstStyle/>
          <a:p>
            <a:endParaRPr lang="en-US"/>
          </a:p>
        </p:txBody>
      </p:sp>
      <p:sp>
        <p:nvSpPr>
          <p:cNvPr id="8" name="Text 6"/>
          <p:cNvSpPr/>
          <p:nvPr/>
        </p:nvSpPr>
        <p:spPr>
          <a:xfrm>
            <a:off x="868680" y="1828800"/>
            <a:ext cx="1097280" cy="365760"/>
          </a:xfrm>
          <a:prstGeom prst="rect">
            <a:avLst/>
          </a:prstGeom>
          <a:noFill/>
          <a:ln/>
        </p:spPr>
        <p:txBody>
          <a:bodyPr wrap="square" lIns="0" tIns="0" rIns="0" bIns="0" rtlCol="0" anchor="ctr"/>
          <a:lstStyle/>
          <a:p>
            <a:pPr marL="0" indent="0" algn="ctr">
              <a:buNone/>
            </a:pPr>
            <a:r>
              <a:rPr lang="en-US" sz="1300" b="1" dirty="0">
                <a:solidFill>
                  <a:srgbClr val="0B1F33"/>
                </a:solidFill>
                <a:latin typeface="Segoe UI Semibold" pitchFamily="34" charset="0"/>
                <a:ea typeface="Segoe UI Semibold" pitchFamily="34" charset="-122"/>
                <a:cs typeface="Segoe UI Semibold" pitchFamily="34" charset="-120"/>
              </a:rPr>
              <a:t>DEMO</a:t>
            </a:r>
            <a:endParaRPr lang="en-US" sz="1300" dirty="0"/>
          </a:p>
        </p:txBody>
      </p:sp>
      <p:sp>
        <p:nvSpPr>
          <p:cNvPr id="9" name="Text 7"/>
          <p:cNvSpPr/>
          <p:nvPr/>
        </p:nvSpPr>
        <p:spPr>
          <a:xfrm>
            <a:off x="868680" y="2423160"/>
            <a:ext cx="3657600" cy="2788920"/>
          </a:xfrm>
          <a:prstGeom prst="rect">
            <a:avLst/>
          </a:prstGeom>
          <a:noFill/>
          <a:ln/>
        </p:spPr>
        <p:txBody>
          <a:bodyPr wrap="square" lIns="0" tIns="0" rIns="0" bIns="0" rtlCol="0" anchor="t"/>
          <a:lstStyle/>
          <a:p>
            <a:pPr marL="0" indent="0">
              <a:buNone/>
            </a:pPr>
            <a:r>
              <a:rPr lang="en-US" sz="2000" dirty="0">
                <a:solidFill>
                  <a:srgbClr val="FFFFFF"/>
                </a:solidFill>
                <a:latin typeface="Segoe UI" pitchFamily="34" charset="0"/>
                <a:ea typeface="Segoe UI" pitchFamily="34" charset="-122"/>
                <a:cs typeface="Segoe UI" pitchFamily="34" charset="-120"/>
              </a:rPr>
              <a:t>Panel de gobierno de un AI Gateway (APIM) frente a Azure OpenAI y modelos partner u OSS.</a:t>
            </a:r>
            <a:endParaRPr lang="en-US" sz="2000" dirty="0"/>
          </a:p>
        </p:txBody>
      </p:sp>
      <p:sp>
        <p:nvSpPr>
          <p:cNvPr id="10" name="Shape 8"/>
          <p:cNvSpPr/>
          <p:nvPr/>
        </p:nvSpPr>
        <p:spPr>
          <a:xfrm>
            <a:off x="5212080" y="1777365"/>
            <a:ext cx="457200" cy="457200"/>
          </a:xfrm>
          <a:prstGeom prst="ellipse">
            <a:avLst/>
          </a:prstGeom>
          <a:solidFill>
            <a:srgbClr val="E8743B"/>
          </a:solidFill>
          <a:ln/>
        </p:spPr>
        <p:txBody>
          <a:bodyPr/>
          <a:lstStyle/>
          <a:p>
            <a:endParaRPr lang="en-US"/>
          </a:p>
        </p:txBody>
      </p:sp>
      <p:sp>
        <p:nvSpPr>
          <p:cNvPr id="11" name="Text 9"/>
          <p:cNvSpPr/>
          <p:nvPr/>
        </p:nvSpPr>
        <p:spPr>
          <a:xfrm>
            <a:off x="5212080" y="1777365"/>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2" name="Text 10"/>
          <p:cNvSpPr/>
          <p:nvPr/>
        </p:nvSpPr>
        <p:spPr>
          <a:xfrm>
            <a:off x="5897880" y="1508760"/>
            <a:ext cx="5699455" cy="994410"/>
          </a:xfrm>
          <a:prstGeom prst="rect">
            <a:avLst/>
          </a:prstGeom>
          <a:noFill/>
          <a:ln/>
        </p:spPr>
        <p:txBody>
          <a:bodyPr wrap="square" lIns="0" tIns="0" rIns="0" bIns="0" rtlCol="0" anchor="ctr"/>
          <a:lstStyle/>
          <a:p>
            <a:pPr marL="0" indent="0">
              <a:buNone/>
            </a:pPr>
            <a:r>
              <a:rPr lang="en-US" sz="1800" dirty="0">
                <a:solidFill>
                  <a:srgbClr val="1B2A3A"/>
                </a:solidFill>
                <a:latin typeface="Segoe UI" pitchFamily="34" charset="0"/>
                <a:ea typeface="Segoe UI" pitchFamily="34" charset="-122"/>
                <a:cs typeface="Segoe UI" pitchFamily="34" charset="-120"/>
              </a:rPr>
              <a:t>Un consumidor sin permiso intenta llamar a un modelo no autorizado y recibe un rechazo (403).</a:t>
            </a:r>
            <a:endParaRPr lang="en-US" sz="1800" dirty="0"/>
          </a:p>
        </p:txBody>
      </p:sp>
      <p:sp>
        <p:nvSpPr>
          <p:cNvPr id="13" name="Shape 11"/>
          <p:cNvSpPr/>
          <p:nvPr/>
        </p:nvSpPr>
        <p:spPr>
          <a:xfrm>
            <a:off x="5212080" y="2771775"/>
            <a:ext cx="457200" cy="457200"/>
          </a:xfrm>
          <a:prstGeom prst="ellipse">
            <a:avLst/>
          </a:prstGeom>
          <a:solidFill>
            <a:srgbClr val="E8743B"/>
          </a:solidFill>
          <a:ln/>
        </p:spPr>
        <p:txBody>
          <a:bodyPr/>
          <a:lstStyle/>
          <a:p>
            <a:endParaRPr lang="en-US"/>
          </a:p>
        </p:txBody>
      </p:sp>
      <p:sp>
        <p:nvSpPr>
          <p:cNvPr id="14" name="Text 12"/>
          <p:cNvSpPr/>
          <p:nvPr/>
        </p:nvSpPr>
        <p:spPr>
          <a:xfrm>
            <a:off x="5212080" y="2771775"/>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5" name="Text 13"/>
          <p:cNvSpPr/>
          <p:nvPr/>
        </p:nvSpPr>
        <p:spPr>
          <a:xfrm>
            <a:off x="5897880" y="2503170"/>
            <a:ext cx="5699455" cy="994410"/>
          </a:xfrm>
          <a:prstGeom prst="rect">
            <a:avLst/>
          </a:prstGeom>
          <a:noFill/>
          <a:ln/>
        </p:spPr>
        <p:txBody>
          <a:bodyPr wrap="square" lIns="0" tIns="0" rIns="0" bIns="0" rtlCol="0" anchor="ctr"/>
          <a:lstStyle/>
          <a:p>
            <a:pPr marL="0" indent="0">
              <a:buNone/>
            </a:pPr>
            <a:r>
              <a:rPr lang="en-US" sz="1800" dirty="0">
                <a:solidFill>
                  <a:srgbClr val="1B2A3A"/>
                </a:solidFill>
                <a:latin typeface="Segoe UI" pitchFamily="34" charset="0"/>
                <a:ea typeface="Segoe UI" pitchFamily="34" charset="-122"/>
                <a:cs typeface="Segoe UI" pitchFamily="34" charset="-120"/>
              </a:rPr>
              <a:t>Un consumidor supera su cuota de tokens por minuto y recibe un rechazo por límite de tasa.</a:t>
            </a:r>
            <a:endParaRPr lang="en-US" sz="1800" dirty="0"/>
          </a:p>
        </p:txBody>
      </p:sp>
      <p:sp>
        <p:nvSpPr>
          <p:cNvPr id="16" name="Shape 14"/>
          <p:cNvSpPr/>
          <p:nvPr/>
        </p:nvSpPr>
        <p:spPr>
          <a:xfrm>
            <a:off x="5212080" y="3766185"/>
            <a:ext cx="457200" cy="457200"/>
          </a:xfrm>
          <a:prstGeom prst="ellipse">
            <a:avLst/>
          </a:prstGeom>
          <a:solidFill>
            <a:srgbClr val="E8743B"/>
          </a:solidFill>
          <a:ln/>
        </p:spPr>
        <p:txBody>
          <a:bodyPr/>
          <a:lstStyle/>
          <a:p>
            <a:endParaRPr lang="en-US"/>
          </a:p>
        </p:txBody>
      </p:sp>
      <p:sp>
        <p:nvSpPr>
          <p:cNvPr id="17" name="Text 15"/>
          <p:cNvSpPr/>
          <p:nvPr/>
        </p:nvSpPr>
        <p:spPr>
          <a:xfrm>
            <a:off x="5212080" y="3766185"/>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18" name="Text 16"/>
          <p:cNvSpPr/>
          <p:nvPr/>
        </p:nvSpPr>
        <p:spPr>
          <a:xfrm>
            <a:off x="5897880" y="3497580"/>
            <a:ext cx="5699455" cy="994410"/>
          </a:xfrm>
          <a:prstGeom prst="rect">
            <a:avLst/>
          </a:prstGeom>
          <a:noFill/>
          <a:ln/>
        </p:spPr>
        <p:txBody>
          <a:bodyPr wrap="square" lIns="0" tIns="0" rIns="0" bIns="0" rtlCol="0" anchor="ctr"/>
          <a:lstStyle/>
          <a:p>
            <a:pPr marL="0" indent="0">
              <a:buNone/>
            </a:pPr>
            <a:r>
              <a:rPr lang="en-US" sz="1800" dirty="0">
                <a:solidFill>
                  <a:srgbClr val="1B2A3A"/>
                </a:solidFill>
                <a:latin typeface="Segoe UI" pitchFamily="34" charset="0"/>
                <a:ea typeface="Segoe UI" pitchFamily="34" charset="-122"/>
                <a:cs typeface="Segoe UI" pitchFamily="34" charset="-120"/>
              </a:rPr>
              <a:t>El presupuesto diario configurado se agota y el gateway degrada a un modelo más económico.</a:t>
            </a:r>
            <a:endParaRPr lang="en-US" sz="1800" dirty="0"/>
          </a:p>
        </p:txBody>
      </p:sp>
      <p:sp>
        <p:nvSpPr>
          <p:cNvPr id="19" name="Shape 17"/>
          <p:cNvSpPr/>
          <p:nvPr/>
        </p:nvSpPr>
        <p:spPr>
          <a:xfrm>
            <a:off x="5212080" y="4760595"/>
            <a:ext cx="457200" cy="457200"/>
          </a:xfrm>
          <a:prstGeom prst="ellipse">
            <a:avLst/>
          </a:prstGeom>
          <a:solidFill>
            <a:srgbClr val="E8743B"/>
          </a:solidFill>
          <a:ln/>
        </p:spPr>
        <p:txBody>
          <a:bodyPr/>
          <a:lstStyle/>
          <a:p>
            <a:endParaRPr lang="en-US"/>
          </a:p>
        </p:txBody>
      </p:sp>
      <p:sp>
        <p:nvSpPr>
          <p:cNvPr id="20" name="Text 18"/>
          <p:cNvSpPr/>
          <p:nvPr/>
        </p:nvSpPr>
        <p:spPr>
          <a:xfrm>
            <a:off x="5212080" y="4760595"/>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1" name="Text 19"/>
          <p:cNvSpPr/>
          <p:nvPr/>
        </p:nvSpPr>
        <p:spPr>
          <a:xfrm>
            <a:off x="5897880" y="4491990"/>
            <a:ext cx="5699455" cy="994410"/>
          </a:xfrm>
          <a:prstGeom prst="rect">
            <a:avLst/>
          </a:prstGeom>
          <a:noFill/>
          <a:ln/>
        </p:spPr>
        <p:txBody>
          <a:bodyPr wrap="square" lIns="0" tIns="0" rIns="0" bIns="0" rtlCol="0" anchor="ctr"/>
          <a:lstStyle/>
          <a:p>
            <a:pPr marL="0" indent="0">
              <a:buNone/>
            </a:pPr>
            <a:r>
              <a:rPr lang="en-US" sz="1800" dirty="0">
                <a:solidFill>
                  <a:srgbClr val="1B2A3A"/>
                </a:solidFill>
                <a:latin typeface="Segoe UI" pitchFamily="34" charset="0"/>
                <a:ea typeface="Segoe UI" pitchFamily="34" charset="-122"/>
                <a:cs typeface="Segoe UI" pitchFamily="34" charset="-120"/>
              </a:rPr>
              <a:t>El tablero muestra métricas de tokens consumidos por consumidor y por modelo en tiempo real.</a:t>
            </a:r>
            <a:endParaRPr lang="en-US" sz="1800" dirty="0"/>
          </a:p>
        </p:txBody>
      </p:sp>
      <p:sp>
        <p:nvSpPr>
          <p:cNvPr id="22" name="Shape 20"/>
          <p:cNvSpPr/>
          <p:nvPr/>
        </p:nvSpPr>
        <p:spPr>
          <a:xfrm>
            <a:off x="548640" y="5623560"/>
            <a:ext cx="11094415" cy="640080"/>
          </a:xfrm>
          <a:prstGeom prst="rect">
            <a:avLst/>
          </a:prstGeom>
          <a:solidFill>
            <a:srgbClr val="F5B83D"/>
          </a:solidFill>
          <a:ln/>
        </p:spPr>
        <p:txBody>
          <a:bodyPr/>
          <a:lstStyle/>
          <a:p>
            <a:endParaRPr lang="en-US"/>
          </a:p>
        </p:txBody>
      </p:sp>
      <p:sp>
        <p:nvSpPr>
          <p:cNvPr id="23" name="Text 21"/>
          <p:cNvSpPr/>
          <p:nvPr/>
        </p:nvSpPr>
        <p:spPr>
          <a:xfrm>
            <a:off x="822960" y="5623560"/>
            <a:ext cx="10545775" cy="640080"/>
          </a:xfrm>
          <a:prstGeom prst="rect">
            <a:avLst/>
          </a:prstGeom>
          <a:noFill/>
          <a:ln/>
        </p:spPr>
        <p:txBody>
          <a:bodyPr wrap="square" lIns="0" tIns="0" rIns="0" bIns="0" rtlCol="0" anchor="ctr"/>
          <a:lstStyle/>
          <a:p>
            <a:pPr marL="0" indent="0">
              <a:buNone/>
            </a:pPr>
            <a:r>
              <a:rPr lang="en-US" sz="1500" b="1" dirty="0">
                <a:solidFill>
                  <a:srgbClr val="0B1F33"/>
                </a:solidFill>
                <a:latin typeface="Segoe UI Semibold" pitchFamily="34" charset="0"/>
                <a:ea typeface="Segoe UI Semibold" pitchFamily="34" charset="-122"/>
                <a:cs typeface="Segoe UI Semibold" pitchFamily="34" charset="-120"/>
              </a:rPr>
              <a:t>Resultado esperado: El equipo visualiza cómo gobernar acceso, costo y failover de modelos sin tocar el código del agente.</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E8743B">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E8743B">
              <a:alpha val="10000"/>
            </a:srgbClr>
          </a:solidFill>
          <a:ln/>
        </p:spPr>
        <p:txBody>
          <a:bodyPr/>
          <a:lstStyle/>
          <a:p>
            <a:endParaRPr lang="en-US"/>
          </a:p>
        </p:txBody>
      </p:sp>
      <p:sp>
        <p:nvSpPr>
          <p:cNvPr id="4" name="Text 2"/>
          <p:cNvSpPr/>
          <p:nvPr/>
        </p:nvSpPr>
        <p:spPr>
          <a:xfrm>
            <a:off x="548640" y="777240"/>
            <a:ext cx="3657600" cy="2194560"/>
          </a:xfrm>
          <a:prstGeom prst="rect">
            <a:avLst/>
          </a:prstGeom>
          <a:noFill/>
          <a:ln/>
        </p:spPr>
        <p:txBody>
          <a:bodyPr wrap="square" lIns="0" tIns="0" rIns="0" bIns="0" rtlCol="0" anchor="ctr"/>
          <a:lstStyle/>
          <a:p>
            <a:pPr marL="0" indent="0">
              <a:buNone/>
            </a:pPr>
            <a:r>
              <a:rPr lang="en-US" sz="12000" b="1" dirty="0">
                <a:solidFill>
                  <a:srgbClr val="E8743B"/>
                </a:solidFill>
                <a:latin typeface="Segoe UI Semibold" pitchFamily="34" charset="0"/>
                <a:ea typeface="Segoe UI Semibold" pitchFamily="34" charset="-122"/>
                <a:cs typeface="Segoe UI Semibold" pitchFamily="34" charset="-120"/>
              </a:rPr>
              <a:t>04</a:t>
            </a:r>
            <a:endParaRPr lang="en-US" sz="12000" dirty="0"/>
          </a:p>
        </p:txBody>
      </p:sp>
      <p:sp>
        <p:nvSpPr>
          <p:cNvPr id="5" name="Text 3"/>
          <p:cNvSpPr/>
          <p:nvPr/>
        </p:nvSpPr>
        <p:spPr>
          <a:xfrm>
            <a:off x="548640" y="3108960"/>
            <a:ext cx="9326880" cy="1508760"/>
          </a:xfrm>
          <a:prstGeom prst="rect">
            <a:avLst/>
          </a:prstGeom>
          <a:noFill/>
          <a:ln/>
        </p:spPr>
        <p:txBody>
          <a:bodyPr wrap="square" lIns="0" tIns="0" rIns="0" bIns="0" rtlCol="0" anchor="t"/>
          <a:lstStyle/>
          <a:p>
            <a:pPr marL="0" indent="0">
              <a:buNone/>
            </a:pPr>
            <a:r>
              <a:rPr lang="en-US" sz="4400" b="1" dirty="0">
                <a:solidFill>
                  <a:srgbClr val="FFFFFF"/>
                </a:solidFill>
                <a:latin typeface="Segoe UI Semibold" pitchFamily="34" charset="0"/>
                <a:ea typeface="Segoe UI Semibold" pitchFamily="34" charset="-122"/>
                <a:cs typeface="Segoe UI Semibold" pitchFamily="34" charset="-120"/>
              </a:rPr>
              <a:t>Seguridad y gobierno</a:t>
            </a:r>
            <a:endParaRPr lang="en-US" sz="4400" dirty="0"/>
          </a:p>
        </p:txBody>
      </p:sp>
      <p:sp>
        <p:nvSpPr>
          <p:cNvPr id="6" name="Text 4"/>
          <p:cNvSpPr/>
          <p:nvPr/>
        </p:nvSpPr>
        <p:spPr>
          <a:xfrm>
            <a:off x="548640" y="4754880"/>
            <a:ext cx="8595360" cy="914400"/>
          </a:xfrm>
          <a:prstGeom prst="rect">
            <a:avLst/>
          </a:prstGeom>
          <a:noFill/>
          <a:ln/>
        </p:spPr>
        <p:txBody>
          <a:bodyPr wrap="square" lIns="0" tIns="0" rIns="0" bIns="0" rtlCol="0" anchor="t"/>
          <a:lstStyle/>
          <a:p>
            <a:pPr marL="0" indent="0">
              <a:buNone/>
            </a:pPr>
            <a:r>
              <a:rPr lang="en-US" sz="2000" dirty="0">
                <a:solidFill>
                  <a:srgbClr val="C9D7E4"/>
                </a:solidFill>
                <a:latin typeface="Segoe UI" pitchFamily="34" charset="0"/>
                <a:ea typeface="Segoe UI" pitchFamily="34" charset="-122"/>
                <a:cs typeface="Segoe UI" pitchFamily="34" charset="-120"/>
              </a:rPr>
              <a:t>Seguridad de apps, agentes y tools; Responsible AI; red teaming</a:t>
            </a:r>
            <a:endParaRPr lang="en-US" sz="2000" dirty="0"/>
          </a:p>
        </p:txBody>
      </p:sp>
      <p:sp>
        <p:nvSpPr>
          <p:cNvPr id="7" name="Shape 5"/>
          <p:cNvSpPr/>
          <p:nvPr/>
        </p:nvSpPr>
        <p:spPr>
          <a:xfrm>
            <a:off x="548640" y="5852160"/>
            <a:ext cx="1371600" cy="384048"/>
          </a:xfrm>
          <a:prstGeom prst="roundRect">
            <a:avLst>
              <a:gd name="adj" fmla="val 23810"/>
            </a:avLst>
          </a:prstGeom>
          <a:solidFill>
            <a:srgbClr val="0B1F33"/>
          </a:solidFill>
          <a:ln w="15875">
            <a:solidFill>
              <a:srgbClr val="F5B83D"/>
            </a:solidFill>
            <a:prstDash val="solid"/>
          </a:ln>
        </p:spPr>
        <p:txBody>
          <a:bodyPr/>
          <a:lstStyle/>
          <a:p>
            <a:endParaRPr lang="en-US"/>
          </a:p>
        </p:txBody>
      </p:sp>
      <p:sp>
        <p:nvSpPr>
          <p:cNvPr id="8" name="Text 6"/>
          <p:cNvSpPr/>
          <p:nvPr/>
        </p:nvSpPr>
        <p:spPr>
          <a:xfrm>
            <a:off x="548640" y="5852160"/>
            <a:ext cx="1371600" cy="384048"/>
          </a:xfrm>
          <a:prstGeom prst="rect">
            <a:avLst/>
          </a:prstGeom>
          <a:noFill/>
          <a:ln/>
        </p:spPr>
        <p:txBody>
          <a:bodyPr wrap="square" lIns="0" tIns="0" rIns="0" bIns="0" rtlCol="0" anchor="ctr"/>
          <a:lstStyle/>
          <a:p>
            <a:pPr marL="0" indent="0" algn="ctr">
              <a:buNone/>
            </a:pPr>
            <a:r>
              <a:rPr lang="en-US" sz="1300" b="1" dirty="0">
                <a:solidFill>
                  <a:srgbClr val="F5B83D"/>
                </a:solidFill>
                <a:latin typeface="Segoe UI Semibold" pitchFamily="34" charset="0"/>
                <a:ea typeface="Segoe UI Semibold" pitchFamily="34" charset="-122"/>
                <a:cs typeface="Segoe UI Semibold" pitchFamily="34" charset="-120"/>
              </a:rPr>
              <a:t>40 min</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Amenazas propias de agentes y tools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2249424"/>
          </a:xfrm>
          <a:prstGeom prst="rect">
            <a:avLst/>
          </a:prstGeom>
          <a:solidFill>
            <a:srgbClr val="E8743B"/>
          </a:solidFill>
          <a:ln/>
        </p:spPr>
        <p:txBody>
          <a:bodyPr/>
          <a:lstStyle/>
          <a:p>
            <a:endParaRPr lang="en-US"/>
          </a:p>
        </p:txBody>
      </p:sp>
      <p:sp>
        <p:nvSpPr>
          <p:cNvPr id="8" name="Shape 6"/>
          <p:cNvSpPr/>
          <p:nvPr/>
        </p:nvSpPr>
        <p:spPr>
          <a:xfrm>
            <a:off x="822960" y="1737360"/>
            <a:ext cx="420624" cy="420624"/>
          </a:xfrm>
          <a:prstGeom prst="ellipse">
            <a:avLst/>
          </a:prstGeom>
          <a:solidFill>
            <a:srgbClr val="E8743B"/>
          </a:solidFill>
          <a:ln/>
        </p:spPr>
        <p:txBody>
          <a:bodyPr/>
          <a:lstStyle/>
          <a:p>
            <a:endParaRPr lang="en-US"/>
          </a:p>
        </p:txBody>
      </p:sp>
      <p:sp>
        <p:nvSpPr>
          <p:cNvPr id="9" name="Text 7"/>
          <p:cNvSpPr/>
          <p:nvPr/>
        </p:nvSpPr>
        <p:spPr>
          <a:xfrm>
            <a:off x="822960" y="1737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0" name="Text 8"/>
          <p:cNvSpPr/>
          <p:nvPr/>
        </p:nvSpPr>
        <p:spPr>
          <a:xfrm>
            <a:off x="1417320" y="1691640"/>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Prompt injection directo</a:t>
            </a:r>
            <a:endParaRPr lang="en-US" sz="1800" dirty="0"/>
          </a:p>
        </p:txBody>
      </p:sp>
      <p:sp>
        <p:nvSpPr>
          <p:cNvPr id="11" name="Text 9"/>
          <p:cNvSpPr/>
          <p:nvPr/>
        </p:nvSpPr>
        <p:spPr>
          <a:xfrm>
            <a:off x="822960" y="2377440"/>
            <a:ext cx="3024530" cy="1243584"/>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El propio usuario intenta manipular las instrucciones del agente.</a:t>
            </a:r>
            <a:endParaRPr lang="en-US" sz="1800" dirty="0"/>
          </a:p>
        </p:txBody>
      </p:sp>
      <p:sp>
        <p:nvSpPr>
          <p:cNvPr id="12" name="Shape 10"/>
          <p:cNvSpPr/>
          <p:nvPr/>
        </p:nvSpPr>
        <p:spPr>
          <a:xfrm>
            <a:off x="4332122" y="1508760"/>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4332122" y="1508760"/>
            <a:ext cx="82296" cy="2249424"/>
          </a:xfrm>
          <a:prstGeom prst="rect">
            <a:avLst/>
          </a:prstGeom>
          <a:solidFill>
            <a:srgbClr val="0B1F33"/>
          </a:solidFill>
          <a:ln/>
        </p:spPr>
        <p:txBody>
          <a:bodyPr/>
          <a:lstStyle/>
          <a:p>
            <a:endParaRPr lang="en-US"/>
          </a:p>
        </p:txBody>
      </p:sp>
      <p:sp>
        <p:nvSpPr>
          <p:cNvPr id="14" name="Shape 12"/>
          <p:cNvSpPr/>
          <p:nvPr/>
        </p:nvSpPr>
        <p:spPr>
          <a:xfrm>
            <a:off x="4606442" y="1737360"/>
            <a:ext cx="420624" cy="420624"/>
          </a:xfrm>
          <a:prstGeom prst="ellipse">
            <a:avLst/>
          </a:prstGeom>
          <a:solidFill>
            <a:srgbClr val="0B1F33"/>
          </a:solidFill>
          <a:ln/>
        </p:spPr>
        <p:txBody>
          <a:bodyPr/>
          <a:lstStyle/>
          <a:p>
            <a:endParaRPr lang="en-US"/>
          </a:p>
        </p:txBody>
      </p:sp>
      <p:sp>
        <p:nvSpPr>
          <p:cNvPr id="15" name="Text 13"/>
          <p:cNvSpPr/>
          <p:nvPr/>
        </p:nvSpPr>
        <p:spPr>
          <a:xfrm>
            <a:off x="4606442" y="1737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6" name="Text 14"/>
          <p:cNvSpPr/>
          <p:nvPr/>
        </p:nvSpPr>
        <p:spPr>
          <a:xfrm>
            <a:off x="5200802" y="1691640"/>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Prompt injection indirecto</a:t>
            </a:r>
            <a:endParaRPr lang="en-US" sz="1800" dirty="0"/>
          </a:p>
        </p:txBody>
      </p:sp>
      <p:sp>
        <p:nvSpPr>
          <p:cNvPr id="17" name="Text 15"/>
          <p:cNvSpPr/>
          <p:nvPr/>
        </p:nvSpPr>
        <p:spPr>
          <a:xfrm>
            <a:off x="4606442" y="2377440"/>
            <a:ext cx="3024530" cy="1243584"/>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Instrucciones maliciosas ocultas en un documento o página que el agente recupera.</a:t>
            </a:r>
            <a:endParaRPr lang="en-US" sz="1800" dirty="0"/>
          </a:p>
        </p:txBody>
      </p:sp>
      <p:sp>
        <p:nvSpPr>
          <p:cNvPr id="18" name="Shape 16"/>
          <p:cNvSpPr/>
          <p:nvPr/>
        </p:nvSpPr>
        <p:spPr>
          <a:xfrm>
            <a:off x="8115605" y="1508760"/>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9" name="Shape 17"/>
          <p:cNvSpPr/>
          <p:nvPr/>
        </p:nvSpPr>
        <p:spPr>
          <a:xfrm>
            <a:off x="8115605" y="1508760"/>
            <a:ext cx="82296" cy="2249424"/>
          </a:xfrm>
          <a:prstGeom prst="rect">
            <a:avLst/>
          </a:prstGeom>
          <a:solidFill>
            <a:srgbClr val="E8743B"/>
          </a:solidFill>
          <a:ln/>
        </p:spPr>
        <p:txBody>
          <a:bodyPr/>
          <a:lstStyle/>
          <a:p>
            <a:endParaRPr lang="en-US"/>
          </a:p>
        </p:txBody>
      </p:sp>
      <p:sp>
        <p:nvSpPr>
          <p:cNvPr id="20" name="Shape 18"/>
          <p:cNvSpPr/>
          <p:nvPr/>
        </p:nvSpPr>
        <p:spPr>
          <a:xfrm>
            <a:off x="8389925" y="1737360"/>
            <a:ext cx="420624" cy="420624"/>
          </a:xfrm>
          <a:prstGeom prst="ellipse">
            <a:avLst/>
          </a:prstGeom>
          <a:solidFill>
            <a:srgbClr val="E8743B"/>
          </a:solidFill>
          <a:ln/>
        </p:spPr>
        <p:txBody>
          <a:bodyPr/>
          <a:lstStyle/>
          <a:p>
            <a:endParaRPr lang="en-US"/>
          </a:p>
        </p:txBody>
      </p:sp>
      <p:sp>
        <p:nvSpPr>
          <p:cNvPr id="21" name="Text 19"/>
          <p:cNvSpPr/>
          <p:nvPr/>
        </p:nvSpPr>
        <p:spPr>
          <a:xfrm>
            <a:off x="8389925" y="1737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Text 20"/>
          <p:cNvSpPr/>
          <p:nvPr/>
        </p:nvSpPr>
        <p:spPr>
          <a:xfrm>
            <a:off x="8984285" y="1691640"/>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Tool poisoning</a:t>
            </a:r>
            <a:endParaRPr lang="en-US" sz="1800" dirty="0"/>
          </a:p>
        </p:txBody>
      </p:sp>
      <p:sp>
        <p:nvSpPr>
          <p:cNvPr id="23" name="Text 21"/>
          <p:cNvSpPr/>
          <p:nvPr/>
        </p:nvSpPr>
        <p:spPr>
          <a:xfrm>
            <a:off x="8389925" y="2377440"/>
            <a:ext cx="3024530" cy="1243584"/>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Una herramienta (MCP) externa devuelve resultados diseñados para engañar al agente.</a:t>
            </a:r>
            <a:endParaRPr lang="en-US" sz="1800" dirty="0"/>
          </a:p>
        </p:txBody>
      </p:sp>
      <p:sp>
        <p:nvSpPr>
          <p:cNvPr id="24" name="Shape 22"/>
          <p:cNvSpPr/>
          <p:nvPr/>
        </p:nvSpPr>
        <p:spPr>
          <a:xfrm>
            <a:off x="548640" y="4014216"/>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3"/>
          <p:cNvSpPr/>
          <p:nvPr/>
        </p:nvSpPr>
        <p:spPr>
          <a:xfrm>
            <a:off x="548640" y="4014216"/>
            <a:ext cx="82296" cy="2249424"/>
          </a:xfrm>
          <a:prstGeom prst="rect">
            <a:avLst/>
          </a:prstGeom>
          <a:solidFill>
            <a:srgbClr val="0B1F33"/>
          </a:solidFill>
          <a:ln/>
        </p:spPr>
        <p:txBody>
          <a:bodyPr/>
          <a:lstStyle/>
          <a:p>
            <a:endParaRPr lang="en-US"/>
          </a:p>
        </p:txBody>
      </p:sp>
      <p:sp>
        <p:nvSpPr>
          <p:cNvPr id="26" name="Shape 24"/>
          <p:cNvSpPr/>
          <p:nvPr/>
        </p:nvSpPr>
        <p:spPr>
          <a:xfrm>
            <a:off x="822960" y="4242816"/>
            <a:ext cx="420624" cy="420624"/>
          </a:xfrm>
          <a:prstGeom prst="ellipse">
            <a:avLst/>
          </a:prstGeom>
          <a:solidFill>
            <a:srgbClr val="0B1F33"/>
          </a:solidFill>
          <a:ln/>
        </p:spPr>
        <p:txBody>
          <a:bodyPr/>
          <a:lstStyle/>
          <a:p>
            <a:endParaRPr lang="en-US"/>
          </a:p>
        </p:txBody>
      </p:sp>
      <p:sp>
        <p:nvSpPr>
          <p:cNvPr id="27" name="Text 25"/>
          <p:cNvSpPr/>
          <p:nvPr/>
        </p:nvSpPr>
        <p:spPr>
          <a:xfrm>
            <a:off x="822960" y="42428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8" name="Text 26"/>
          <p:cNvSpPr/>
          <p:nvPr/>
        </p:nvSpPr>
        <p:spPr>
          <a:xfrm>
            <a:off x="1417320" y="4197096"/>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Excessive agency</a:t>
            </a:r>
            <a:endParaRPr lang="en-US" sz="1800" dirty="0"/>
          </a:p>
        </p:txBody>
      </p:sp>
      <p:sp>
        <p:nvSpPr>
          <p:cNvPr id="29" name="Text 27"/>
          <p:cNvSpPr/>
          <p:nvPr/>
        </p:nvSpPr>
        <p:spPr>
          <a:xfrm>
            <a:off x="822960" y="4882896"/>
            <a:ext cx="3024530" cy="1243584"/>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El agente tiene permisos o autonomía mayores a los que su tarea realmente requiere.</a:t>
            </a:r>
            <a:endParaRPr lang="en-US" sz="1800" dirty="0"/>
          </a:p>
        </p:txBody>
      </p:sp>
      <p:sp>
        <p:nvSpPr>
          <p:cNvPr id="30" name="Shape 28"/>
          <p:cNvSpPr/>
          <p:nvPr/>
        </p:nvSpPr>
        <p:spPr>
          <a:xfrm>
            <a:off x="4332122" y="4014216"/>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31" name="Shape 29"/>
          <p:cNvSpPr/>
          <p:nvPr/>
        </p:nvSpPr>
        <p:spPr>
          <a:xfrm>
            <a:off x="4332122" y="4014216"/>
            <a:ext cx="82296" cy="2249424"/>
          </a:xfrm>
          <a:prstGeom prst="rect">
            <a:avLst/>
          </a:prstGeom>
          <a:solidFill>
            <a:srgbClr val="E8743B"/>
          </a:solidFill>
          <a:ln/>
        </p:spPr>
        <p:txBody>
          <a:bodyPr/>
          <a:lstStyle/>
          <a:p>
            <a:endParaRPr lang="en-US"/>
          </a:p>
        </p:txBody>
      </p:sp>
      <p:sp>
        <p:nvSpPr>
          <p:cNvPr id="32" name="Shape 30"/>
          <p:cNvSpPr/>
          <p:nvPr/>
        </p:nvSpPr>
        <p:spPr>
          <a:xfrm>
            <a:off x="4606442" y="4242816"/>
            <a:ext cx="420624" cy="420624"/>
          </a:xfrm>
          <a:prstGeom prst="ellipse">
            <a:avLst/>
          </a:prstGeom>
          <a:solidFill>
            <a:srgbClr val="E8743B"/>
          </a:solidFill>
          <a:ln/>
        </p:spPr>
        <p:txBody>
          <a:bodyPr/>
          <a:lstStyle/>
          <a:p>
            <a:endParaRPr lang="en-US"/>
          </a:p>
        </p:txBody>
      </p:sp>
      <p:sp>
        <p:nvSpPr>
          <p:cNvPr id="33" name="Text 31"/>
          <p:cNvSpPr/>
          <p:nvPr/>
        </p:nvSpPr>
        <p:spPr>
          <a:xfrm>
            <a:off x="4606442" y="42428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4" name="Text 32"/>
          <p:cNvSpPr/>
          <p:nvPr/>
        </p:nvSpPr>
        <p:spPr>
          <a:xfrm>
            <a:off x="5200802" y="4197096"/>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Fuga de datos sensibles</a:t>
            </a:r>
            <a:endParaRPr lang="en-US" sz="1800" dirty="0"/>
          </a:p>
        </p:txBody>
      </p:sp>
      <p:sp>
        <p:nvSpPr>
          <p:cNvPr id="35" name="Text 33"/>
          <p:cNvSpPr/>
          <p:nvPr/>
        </p:nvSpPr>
        <p:spPr>
          <a:xfrm>
            <a:off x="4606442" y="4882896"/>
            <a:ext cx="3024530" cy="1243584"/>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El agente expone en su respuesta o en logs datos que no debía revelar.</a:t>
            </a:r>
            <a:endParaRPr lang="en-US" sz="1800" dirty="0"/>
          </a:p>
        </p:txBody>
      </p:sp>
      <p:sp>
        <p:nvSpPr>
          <p:cNvPr id="36" name="Shape 34"/>
          <p:cNvSpPr/>
          <p:nvPr/>
        </p:nvSpPr>
        <p:spPr>
          <a:xfrm>
            <a:off x="8115605" y="4014216"/>
            <a:ext cx="3527450"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37" name="Shape 35"/>
          <p:cNvSpPr/>
          <p:nvPr/>
        </p:nvSpPr>
        <p:spPr>
          <a:xfrm>
            <a:off x="8115605" y="4014216"/>
            <a:ext cx="82296" cy="2249424"/>
          </a:xfrm>
          <a:prstGeom prst="rect">
            <a:avLst/>
          </a:prstGeom>
          <a:solidFill>
            <a:srgbClr val="0B1F33"/>
          </a:solidFill>
          <a:ln/>
        </p:spPr>
        <p:txBody>
          <a:bodyPr/>
          <a:lstStyle/>
          <a:p>
            <a:endParaRPr lang="en-US"/>
          </a:p>
        </p:txBody>
      </p:sp>
      <p:sp>
        <p:nvSpPr>
          <p:cNvPr id="38" name="Shape 36"/>
          <p:cNvSpPr/>
          <p:nvPr/>
        </p:nvSpPr>
        <p:spPr>
          <a:xfrm>
            <a:off x="8389925" y="4242816"/>
            <a:ext cx="420624" cy="420624"/>
          </a:xfrm>
          <a:prstGeom prst="ellipse">
            <a:avLst/>
          </a:prstGeom>
          <a:solidFill>
            <a:srgbClr val="0B1F33"/>
          </a:solidFill>
          <a:ln/>
        </p:spPr>
        <p:txBody>
          <a:bodyPr/>
          <a:lstStyle/>
          <a:p>
            <a:endParaRPr lang="en-US"/>
          </a:p>
        </p:txBody>
      </p:sp>
      <p:sp>
        <p:nvSpPr>
          <p:cNvPr id="39" name="Text 37"/>
          <p:cNvSpPr/>
          <p:nvPr/>
        </p:nvSpPr>
        <p:spPr>
          <a:xfrm>
            <a:off x="8389925" y="42428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0" name="Text 38"/>
          <p:cNvSpPr/>
          <p:nvPr/>
        </p:nvSpPr>
        <p:spPr>
          <a:xfrm>
            <a:off x="8984285" y="4197096"/>
            <a:ext cx="2430170"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Desviación de la tarea</a:t>
            </a:r>
            <a:endParaRPr lang="en-US" sz="1800" dirty="0"/>
          </a:p>
        </p:txBody>
      </p:sp>
      <p:sp>
        <p:nvSpPr>
          <p:cNvPr id="41" name="Text 39"/>
          <p:cNvSpPr/>
          <p:nvPr/>
        </p:nvSpPr>
        <p:spPr>
          <a:xfrm>
            <a:off x="8389925" y="4882896"/>
            <a:ext cx="3024530" cy="1243584"/>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El agente usa una herramienta de forma no alineada con la intención del usuario.</a:t>
            </a:r>
            <a:endParaRPr lang="en-US" sz="1800" dirty="0"/>
          </a:p>
        </p:txBody>
      </p:sp>
      <p:sp>
        <p:nvSpPr>
          <p:cNvPr id="4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Amenazas vs controles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4" cy="3886200"/>
        </p:xfrm>
        <a:graphic>
          <a:graphicData uri="http://schemas.openxmlformats.org/drawingml/2006/table">
            <a:tbl>
              <a:tblPr/>
              <a:tblGrid>
                <a:gridCol w="3398289">
                  <a:extLst>
                    <a:ext uri="{9D8B030D-6E8A-4147-A177-3AD203B41FA5}">
                      <a16:colId xmlns:a16="http://schemas.microsoft.com/office/drawing/2014/main" val="20000"/>
                    </a:ext>
                  </a:extLst>
                </a:gridCol>
                <a:gridCol w="3698138">
                  <a:extLst>
                    <a:ext uri="{9D8B030D-6E8A-4147-A177-3AD203B41FA5}">
                      <a16:colId xmlns:a16="http://schemas.microsoft.com/office/drawing/2014/main" val="20001"/>
                    </a:ext>
                  </a:extLst>
                </a:gridCol>
                <a:gridCol w="3997987">
                  <a:extLst>
                    <a:ext uri="{9D8B030D-6E8A-4147-A177-3AD203B41FA5}">
                      <a16:colId xmlns:a16="http://schemas.microsoft.com/office/drawing/2014/main" val="20002"/>
                    </a:ext>
                  </a:extLst>
                </a:gridCol>
              </a:tblGrid>
              <a:tr h="777240">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Amenaza</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Control principal</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Dónde se aplica</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Prompt injection directo/indirecto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Prompt Shields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Entrada del usuario y contenido recuperado</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Tool poisoning / excessive agency</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Mínimo privilegio + aprobación humana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Identidad del agente y guardrails por tool</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Fuga de datos sensibles</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Content Safety + enmascarado en logs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Salida del modelo y telemetría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Desviación de la tarea</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Task adherence API</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Ejecución de herramientas del agente</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Cada amenaza debe tener un control, un punto de aplicación y un dueño explícito.</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Identidad y mínimo privilegio</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E8743B"/>
          </a:solidFill>
          <a:ln/>
        </p:spPr>
        <p:txBody>
          <a:bodyPr/>
          <a:lstStyle/>
          <a:p>
            <a:endParaRPr lang="en-US"/>
          </a:p>
        </p:txBody>
      </p:sp>
      <p:sp>
        <p:nvSpPr>
          <p:cNvPr id="8" name="Text 6"/>
          <p:cNvSpPr/>
          <p:nvPr/>
        </p:nvSpPr>
        <p:spPr>
          <a:xfrm>
            <a:off x="868680" y="1737360"/>
            <a:ext cx="10454335" cy="4297680"/>
          </a:xfrm>
          <a:prstGeom prst="rect">
            <a:avLst/>
          </a:prstGeom>
          <a:noFill/>
          <a:ln/>
        </p:spPr>
        <p:txBody>
          <a:bodyPr wrap="square" lIns="0" tIns="0" rIns="0" bIns="0" rtlCol="0" anchor="t"/>
          <a:lstStyle/>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Cada agente publicado tiene una identidad Entra (service principal) distinta del usuario y de aplicaciones.</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El token hacia el recurso destino usa el audience correcto; si está mal, falla aunque el RBAC esté bien.</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Flujo delegado (on-behalf-of): el agente solo accede a lo que el usuario consintió, nunca más.</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Flujo no delegado (client credentials): el agente actúa con autoridad propia, gobernado solo por sus propios roles.</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Un guardrail de agente sobreescribe por completo el del modelo subyacente; no se combinan.</a:t>
            </a:r>
            <a:endParaRPr lang="en-US" sz="2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Threat modeling de un agente</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914400" y="2331720"/>
            <a:ext cx="8320811" cy="0"/>
          </a:xfrm>
          <a:prstGeom prst="line">
            <a:avLst/>
          </a:prstGeom>
          <a:noFill/>
          <a:ln w="38100">
            <a:solidFill>
              <a:srgbClr val="C9D7E4"/>
            </a:solidFill>
            <a:prstDash val="solid"/>
          </a:ln>
        </p:spPr>
        <p:txBody>
          <a:bodyPr/>
          <a:lstStyle/>
          <a:p>
            <a:endParaRPr lang="en-US"/>
          </a:p>
        </p:txBody>
      </p:sp>
      <p:sp>
        <p:nvSpPr>
          <p:cNvPr id="7" name="Shape 5"/>
          <p:cNvSpPr/>
          <p:nvPr/>
        </p:nvSpPr>
        <p:spPr>
          <a:xfrm>
            <a:off x="548640" y="1965960"/>
            <a:ext cx="731520" cy="731520"/>
          </a:xfrm>
          <a:prstGeom prst="ellipse">
            <a:avLst/>
          </a:prstGeom>
          <a:solidFill>
            <a:srgbClr val="E8743B"/>
          </a:solidFill>
          <a:ln/>
        </p:spPr>
        <p:txBody>
          <a:bodyPr/>
          <a:lstStyle/>
          <a:p>
            <a:endParaRPr lang="en-US"/>
          </a:p>
        </p:txBody>
      </p:sp>
      <p:sp>
        <p:nvSpPr>
          <p:cNvPr id="8" name="Text 6"/>
          <p:cNvSpPr/>
          <p:nvPr/>
        </p:nvSpPr>
        <p:spPr>
          <a:xfrm>
            <a:off x="548640"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1</a:t>
            </a:r>
            <a:endParaRPr lang="en-US" sz="2200" dirty="0"/>
          </a:p>
        </p:txBody>
      </p:sp>
      <p:sp>
        <p:nvSpPr>
          <p:cNvPr id="9" name="Text 7"/>
          <p:cNvSpPr/>
          <p:nvPr/>
        </p:nvSpPr>
        <p:spPr>
          <a:xfrm>
            <a:off x="548640"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Mapear flujo</a:t>
            </a:r>
            <a:endParaRPr lang="en-US" sz="2000" dirty="0"/>
          </a:p>
        </p:txBody>
      </p:sp>
      <p:sp>
        <p:nvSpPr>
          <p:cNvPr id="10" name="Shape 8"/>
          <p:cNvSpPr/>
          <p:nvPr/>
        </p:nvSpPr>
        <p:spPr>
          <a:xfrm>
            <a:off x="548640"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9"/>
          <p:cNvSpPr/>
          <p:nvPr/>
        </p:nvSpPr>
        <p:spPr>
          <a:xfrm>
            <a:off x="548640" y="3657600"/>
            <a:ext cx="82296" cy="2514600"/>
          </a:xfrm>
          <a:prstGeom prst="rect">
            <a:avLst/>
          </a:prstGeom>
          <a:solidFill>
            <a:srgbClr val="E8743B"/>
          </a:solidFill>
          <a:ln/>
        </p:spPr>
        <p:txBody>
          <a:bodyPr/>
          <a:lstStyle/>
          <a:p>
            <a:endParaRPr lang="en-US"/>
          </a:p>
        </p:txBody>
      </p:sp>
      <p:sp>
        <p:nvSpPr>
          <p:cNvPr id="12" name="Text 10"/>
          <p:cNvSpPr/>
          <p:nvPr/>
        </p:nvSpPr>
        <p:spPr>
          <a:xfrm>
            <a:off x="777240"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Canal, identidad, sesión, agente, herramientas y datos involucrados en el caso.</a:t>
            </a:r>
            <a:endParaRPr lang="en-US" sz="1900" dirty="0"/>
          </a:p>
        </p:txBody>
      </p:sp>
      <p:sp>
        <p:nvSpPr>
          <p:cNvPr id="13" name="Shape 11"/>
          <p:cNvSpPr/>
          <p:nvPr/>
        </p:nvSpPr>
        <p:spPr>
          <a:xfrm>
            <a:off x="3322244" y="1965960"/>
            <a:ext cx="731520" cy="731520"/>
          </a:xfrm>
          <a:prstGeom prst="ellipse">
            <a:avLst/>
          </a:prstGeom>
          <a:solidFill>
            <a:srgbClr val="0B1F33"/>
          </a:solidFill>
          <a:ln/>
        </p:spPr>
        <p:txBody>
          <a:bodyPr/>
          <a:lstStyle/>
          <a:p>
            <a:endParaRPr lang="en-US"/>
          </a:p>
        </p:txBody>
      </p:sp>
      <p:sp>
        <p:nvSpPr>
          <p:cNvPr id="14" name="Text 12"/>
          <p:cNvSpPr/>
          <p:nvPr/>
        </p:nvSpPr>
        <p:spPr>
          <a:xfrm>
            <a:off x="3322244"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2</a:t>
            </a:r>
            <a:endParaRPr lang="en-US" sz="2200" dirty="0"/>
          </a:p>
        </p:txBody>
      </p:sp>
      <p:sp>
        <p:nvSpPr>
          <p:cNvPr id="15" name="Text 13"/>
          <p:cNvSpPr/>
          <p:nvPr/>
        </p:nvSpPr>
        <p:spPr>
          <a:xfrm>
            <a:off x="3322244"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Enumerar amenazas</a:t>
            </a:r>
            <a:endParaRPr lang="en-US" sz="2000" dirty="0"/>
          </a:p>
        </p:txBody>
      </p:sp>
      <p:sp>
        <p:nvSpPr>
          <p:cNvPr id="16" name="Shape 14"/>
          <p:cNvSpPr/>
          <p:nvPr/>
        </p:nvSpPr>
        <p:spPr>
          <a:xfrm>
            <a:off x="3322244"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3322244" y="3657600"/>
            <a:ext cx="82296" cy="2514600"/>
          </a:xfrm>
          <a:prstGeom prst="rect">
            <a:avLst/>
          </a:prstGeom>
          <a:solidFill>
            <a:srgbClr val="0B1F33"/>
          </a:solidFill>
          <a:ln/>
        </p:spPr>
        <p:txBody>
          <a:bodyPr/>
          <a:lstStyle/>
          <a:p>
            <a:endParaRPr lang="en-US"/>
          </a:p>
        </p:txBody>
      </p:sp>
      <p:sp>
        <p:nvSpPr>
          <p:cNvPr id="18" name="Text 16"/>
          <p:cNvSpPr/>
          <p:nvPr/>
        </p:nvSpPr>
        <p:spPr>
          <a:xfrm>
            <a:off x="3550844"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Por cada punto de intervención: entrada, herramienta, salida y memoria.</a:t>
            </a:r>
            <a:endParaRPr lang="en-US" sz="1900" dirty="0"/>
          </a:p>
        </p:txBody>
      </p:sp>
      <p:sp>
        <p:nvSpPr>
          <p:cNvPr id="19" name="Shape 17"/>
          <p:cNvSpPr/>
          <p:nvPr/>
        </p:nvSpPr>
        <p:spPr>
          <a:xfrm>
            <a:off x="6095848" y="1965960"/>
            <a:ext cx="731520" cy="731520"/>
          </a:xfrm>
          <a:prstGeom prst="ellipse">
            <a:avLst/>
          </a:prstGeom>
          <a:solidFill>
            <a:srgbClr val="E8743B"/>
          </a:solidFill>
          <a:ln/>
        </p:spPr>
        <p:txBody>
          <a:bodyPr/>
          <a:lstStyle/>
          <a:p>
            <a:endParaRPr lang="en-US"/>
          </a:p>
        </p:txBody>
      </p:sp>
      <p:sp>
        <p:nvSpPr>
          <p:cNvPr id="20" name="Text 18"/>
          <p:cNvSpPr/>
          <p:nvPr/>
        </p:nvSpPr>
        <p:spPr>
          <a:xfrm>
            <a:off x="6095848"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3</a:t>
            </a:r>
            <a:endParaRPr lang="en-US" sz="2200" dirty="0"/>
          </a:p>
        </p:txBody>
      </p:sp>
      <p:sp>
        <p:nvSpPr>
          <p:cNvPr id="21" name="Text 19"/>
          <p:cNvSpPr/>
          <p:nvPr/>
        </p:nvSpPr>
        <p:spPr>
          <a:xfrm>
            <a:off x="6095848"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Priorizar</a:t>
            </a:r>
            <a:endParaRPr lang="en-US" sz="2000" dirty="0"/>
          </a:p>
        </p:txBody>
      </p:sp>
      <p:sp>
        <p:nvSpPr>
          <p:cNvPr id="22" name="Shape 20"/>
          <p:cNvSpPr/>
          <p:nvPr/>
        </p:nvSpPr>
        <p:spPr>
          <a:xfrm>
            <a:off x="6095848"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1"/>
          <p:cNvSpPr/>
          <p:nvPr/>
        </p:nvSpPr>
        <p:spPr>
          <a:xfrm>
            <a:off x="6095848" y="3657600"/>
            <a:ext cx="82296" cy="2514600"/>
          </a:xfrm>
          <a:prstGeom prst="rect">
            <a:avLst/>
          </a:prstGeom>
          <a:solidFill>
            <a:srgbClr val="E8743B"/>
          </a:solidFill>
          <a:ln/>
        </p:spPr>
        <p:txBody>
          <a:bodyPr/>
          <a:lstStyle/>
          <a:p>
            <a:endParaRPr lang="en-US"/>
          </a:p>
        </p:txBody>
      </p:sp>
      <p:sp>
        <p:nvSpPr>
          <p:cNvPr id="24" name="Text 22"/>
          <p:cNvSpPr/>
          <p:nvPr/>
        </p:nvSpPr>
        <p:spPr>
          <a:xfrm>
            <a:off x="6324448"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Clasificar por impacto y probabilidad, no tratar todo como crítico.</a:t>
            </a:r>
            <a:endParaRPr lang="en-US" sz="1900" dirty="0"/>
          </a:p>
        </p:txBody>
      </p:sp>
      <p:sp>
        <p:nvSpPr>
          <p:cNvPr id="25" name="Shape 23"/>
          <p:cNvSpPr/>
          <p:nvPr/>
        </p:nvSpPr>
        <p:spPr>
          <a:xfrm>
            <a:off x="8869451" y="1965960"/>
            <a:ext cx="731520" cy="731520"/>
          </a:xfrm>
          <a:prstGeom prst="ellipse">
            <a:avLst/>
          </a:prstGeom>
          <a:solidFill>
            <a:srgbClr val="0B1F33"/>
          </a:solidFill>
          <a:ln/>
        </p:spPr>
        <p:txBody>
          <a:bodyPr/>
          <a:lstStyle/>
          <a:p>
            <a:endParaRPr lang="en-US"/>
          </a:p>
        </p:txBody>
      </p:sp>
      <p:sp>
        <p:nvSpPr>
          <p:cNvPr id="26" name="Text 24"/>
          <p:cNvSpPr/>
          <p:nvPr/>
        </p:nvSpPr>
        <p:spPr>
          <a:xfrm>
            <a:off x="8869451"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4</a:t>
            </a:r>
            <a:endParaRPr lang="en-US" sz="2200" dirty="0"/>
          </a:p>
        </p:txBody>
      </p:sp>
      <p:sp>
        <p:nvSpPr>
          <p:cNvPr id="27" name="Text 25"/>
          <p:cNvSpPr/>
          <p:nvPr/>
        </p:nvSpPr>
        <p:spPr>
          <a:xfrm>
            <a:off x="8869451"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Definir control</a:t>
            </a:r>
            <a:endParaRPr lang="en-US" sz="2000" dirty="0"/>
          </a:p>
        </p:txBody>
      </p:sp>
      <p:sp>
        <p:nvSpPr>
          <p:cNvPr id="28" name="Shape 26"/>
          <p:cNvSpPr/>
          <p:nvPr/>
        </p:nvSpPr>
        <p:spPr>
          <a:xfrm>
            <a:off x="8869451"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9" name="Shape 27"/>
          <p:cNvSpPr/>
          <p:nvPr/>
        </p:nvSpPr>
        <p:spPr>
          <a:xfrm>
            <a:off x="8869451" y="3657600"/>
            <a:ext cx="82296" cy="2514600"/>
          </a:xfrm>
          <a:prstGeom prst="rect">
            <a:avLst/>
          </a:prstGeom>
          <a:solidFill>
            <a:srgbClr val="0B1F33"/>
          </a:solidFill>
          <a:ln/>
        </p:spPr>
        <p:txBody>
          <a:bodyPr/>
          <a:lstStyle/>
          <a:p>
            <a:endParaRPr lang="en-US"/>
          </a:p>
        </p:txBody>
      </p:sp>
      <p:sp>
        <p:nvSpPr>
          <p:cNvPr id="30" name="Text 28"/>
          <p:cNvSpPr/>
          <p:nvPr/>
        </p:nvSpPr>
        <p:spPr>
          <a:xfrm>
            <a:off x="9098051"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Asignar control, punto de aplicación, dueño y fecha de revisión.</a:t>
            </a:r>
            <a:endParaRPr lang="en-US" sz="1900" dirty="0"/>
          </a:p>
        </p:txBody>
      </p:sp>
      <p:sp>
        <p:nvSpPr>
          <p:cNvPr id="31"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Responsible AI: red teaming vs guardrails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5396332" cy="640080"/>
          </a:xfrm>
          <a:prstGeom prst="rect">
            <a:avLst/>
          </a:prstGeom>
          <a:solidFill>
            <a:srgbClr val="E8743B"/>
          </a:solidFill>
          <a:ln/>
        </p:spPr>
        <p:txBody>
          <a:bodyPr/>
          <a:lstStyle/>
          <a:p>
            <a:endParaRPr lang="en-US"/>
          </a:p>
        </p:txBody>
      </p:sp>
      <p:sp>
        <p:nvSpPr>
          <p:cNvPr id="7" name="Text 5"/>
          <p:cNvSpPr/>
          <p:nvPr/>
        </p:nvSpPr>
        <p:spPr>
          <a:xfrm>
            <a:off x="822960"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Evaluación previa (red teaming)</a:t>
            </a:r>
            <a:endParaRPr lang="en-US" sz="2000" dirty="0"/>
          </a:p>
        </p:txBody>
      </p:sp>
      <p:sp>
        <p:nvSpPr>
          <p:cNvPr id="8" name="Shape 6"/>
          <p:cNvSpPr/>
          <p:nvPr/>
        </p:nvSpPr>
        <p:spPr>
          <a:xfrm>
            <a:off x="548640"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822960"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rgbClr val="1B2A3A"/>
                </a:solidFill>
                <a:latin typeface="Segoe UI" pitchFamily="34" charset="0"/>
                <a:ea typeface="Segoe UI" pitchFamily="34" charset="-122"/>
                <a:cs typeface="Segoe UI" pitchFamily="34" charset="-120"/>
              </a:rPr>
              <a:t>Ataques automatizados basados en PyRIT antes y después del despliegue.</a:t>
            </a:r>
            <a:endParaRPr lang="en-US" sz="1500" dirty="0"/>
          </a:p>
          <a:p>
            <a:pPr marL="203200" indent="-203200">
              <a:spcAft>
                <a:spcPts val="1200"/>
              </a:spcAft>
              <a:buSzPct val="100000"/>
              <a:buChar char="•"/>
            </a:pPr>
            <a:r>
              <a:rPr lang="en-US" sz="1500" dirty="0">
                <a:solidFill>
                  <a:srgbClr val="1B2A3A"/>
                </a:solidFill>
                <a:latin typeface="Segoe UI" pitchFamily="34" charset="0"/>
                <a:ea typeface="Segoe UI" pitchFamily="34" charset="-122"/>
                <a:cs typeface="Segoe UI" pitchFamily="34" charset="-120"/>
              </a:rPr>
              <a:t>Cubre categorías agentic: acciones prohibidas, fuga de datos, desviación de tarea.</a:t>
            </a:r>
            <a:endParaRPr lang="en-US" sz="1500" dirty="0"/>
          </a:p>
          <a:p>
            <a:pPr marL="203200" indent="-203200">
              <a:spcAft>
                <a:spcPts val="1200"/>
              </a:spcAft>
              <a:buSzPct val="100000"/>
              <a:buChar char="•"/>
            </a:pPr>
            <a:r>
              <a:rPr lang="en-US" sz="1500" dirty="0">
                <a:solidFill>
                  <a:srgbClr val="1B2A3A"/>
                </a:solidFill>
                <a:latin typeface="Segoe UI" pitchFamily="34" charset="0"/>
                <a:ea typeface="Segoe UI" pitchFamily="34" charset="-122"/>
                <a:cs typeface="Segoe UI" pitchFamily="34" charset="-120"/>
              </a:rPr>
              <a:t>Corre en la nube para mayor escala de combinaciones de ataque.</a:t>
            </a:r>
            <a:endParaRPr lang="en-US" sz="1500" dirty="0"/>
          </a:p>
          <a:p>
            <a:pPr marL="203200" indent="-203200">
              <a:spcAft>
                <a:spcPts val="1200"/>
              </a:spcAft>
              <a:buSzPct val="100000"/>
              <a:buChar char="•"/>
            </a:pPr>
            <a:r>
              <a:rPr lang="en-US" sz="1500" dirty="0">
                <a:solidFill>
                  <a:srgbClr val="1B2A3A"/>
                </a:solidFill>
                <a:latin typeface="Segoe UI" pitchFamily="34" charset="0"/>
                <a:ea typeface="Segoe UI" pitchFamily="34" charset="-122"/>
                <a:cs typeface="Segoe UI" pitchFamily="34" charset="-120"/>
              </a:rPr>
              <a:t>Requiere un agente ya desplegado y un entorno acotado ('purple').</a:t>
            </a:r>
            <a:endParaRPr lang="en-US" sz="1500" dirty="0"/>
          </a:p>
        </p:txBody>
      </p:sp>
      <p:sp>
        <p:nvSpPr>
          <p:cNvPr id="10" name="Shape 8"/>
          <p:cNvSpPr/>
          <p:nvPr/>
        </p:nvSpPr>
        <p:spPr>
          <a:xfrm>
            <a:off x="6246724" y="1508760"/>
            <a:ext cx="5396332" cy="640080"/>
          </a:xfrm>
          <a:prstGeom prst="rect">
            <a:avLst/>
          </a:prstGeom>
          <a:solidFill>
            <a:srgbClr val="0B1F33"/>
          </a:solidFill>
          <a:ln/>
        </p:spPr>
        <p:txBody>
          <a:bodyPr/>
          <a:lstStyle/>
          <a:p>
            <a:endParaRPr lang="en-US"/>
          </a:p>
        </p:txBody>
      </p:sp>
      <p:sp>
        <p:nvSpPr>
          <p:cNvPr id="11" name="Text 9"/>
          <p:cNvSpPr/>
          <p:nvPr/>
        </p:nvSpPr>
        <p:spPr>
          <a:xfrm>
            <a:off x="6521044"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Guardrails en runtime</a:t>
            </a:r>
            <a:endParaRPr lang="en-US" sz="2000" dirty="0"/>
          </a:p>
        </p:txBody>
      </p:sp>
      <p:sp>
        <p:nvSpPr>
          <p:cNvPr id="12" name="Shape 10"/>
          <p:cNvSpPr/>
          <p:nvPr/>
        </p:nvSpPr>
        <p:spPr>
          <a:xfrm>
            <a:off x="6246724"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p:nvPr/>
        </p:nvSpPr>
        <p:spPr>
          <a:xfrm>
            <a:off x="6521044"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rgbClr val="1B2A3A"/>
                </a:solidFill>
                <a:latin typeface="Segoe UI" pitchFamily="34" charset="0"/>
                <a:ea typeface="Segoe UI" pitchFamily="34" charset="-122"/>
                <a:cs typeface="Segoe UI" pitchFamily="34" charset="-120"/>
              </a:rPr>
              <a:t>Prompt Shields y Content Safety evalúan cada conversación en vivo.</a:t>
            </a:r>
            <a:endParaRPr lang="en-US" sz="1500" dirty="0"/>
          </a:p>
          <a:p>
            <a:pPr marL="203200" indent="-203200">
              <a:spcAft>
                <a:spcPts val="1200"/>
              </a:spcAft>
              <a:buSzPct val="100000"/>
              <a:buChar char="•"/>
            </a:pPr>
            <a:r>
              <a:rPr lang="en-US" sz="1500" dirty="0">
                <a:solidFill>
                  <a:srgbClr val="1B2A3A"/>
                </a:solidFill>
                <a:latin typeface="Segoe UI" pitchFamily="34" charset="0"/>
                <a:ea typeface="Segoe UI" pitchFamily="34" charset="-122"/>
                <a:cs typeface="Segoe UI" pitchFamily="34" charset="-120"/>
              </a:rPr>
              <a:t>El guardrail del agente sobreescribe por completo al del modelo.</a:t>
            </a:r>
            <a:endParaRPr lang="en-US" sz="1500" dirty="0"/>
          </a:p>
          <a:p>
            <a:pPr marL="203200" indent="-203200">
              <a:spcAft>
                <a:spcPts val="1200"/>
              </a:spcAft>
              <a:buSzPct val="100000"/>
              <a:buChar char="•"/>
            </a:pPr>
            <a:r>
              <a:rPr lang="en-US" sz="1500" dirty="0">
                <a:solidFill>
                  <a:srgbClr val="1B2A3A"/>
                </a:solidFill>
                <a:latin typeface="Segoe UI" pitchFamily="34" charset="0"/>
                <a:ea typeface="Segoe UI" pitchFamily="34" charset="-122"/>
                <a:cs typeface="Segoe UI" pitchFamily="34" charset="-120"/>
              </a:rPr>
              <a:t>Se aplican en cuatro puntos de intervención del flujo del agente.</a:t>
            </a:r>
            <a:endParaRPr lang="en-US" sz="1500" dirty="0"/>
          </a:p>
          <a:p>
            <a:pPr marL="203200" indent="-203200">
              <a:spcAft>
                <a:spcPts val="1200"/>
              </a:spcAft>
              <a:buSzPct val="100000"/>
              <a:buChar char="•"/>
            </a:pPr>
            <a:r>
              <a:rPr lang="en-US" sz="1500" dirty="0">
                <a:solidFill>
                  <a:srgbClr val="1B2A3A"/>
                </a:solidFill>
                <a:latin typeface="Segoe UI" pitchFamily="34" charset="0"/>
                <a:ea typeface="Segoe UI" pitchFamily="34" charset="-122"/>
                <a:cs typeface="Segoe UI" pitchFamily="34" charset="-120"/>
              </a:rPr>
              <a:t>Agregan una latencia adicional acotada por cada verificación.</a:t>
            </a:r>
            <a:endParaRPr lang="en-US" sz="1500" dirty="0"/>
          </a:p>
        </p:txBody>
      </p:sp>
      <p:sp>
        <p:nvSpPr>
          <p:cNvPr id="14" name="Shape 12"/>
          <p:cNvSpPr/>
          <p:nvPr/>
        </p:nvSpPr>
        <p:spPr>
          <a:xfrm>
            <a:off x="548640" y="5577840"/>
            <a:ext cx="11094415" cy="685800"/>
          </a:xfrm>
          <a:prstGeom prst="rect">
            <a:avLst/>
          </a:prstGeom>
          <a:solidFill>
            <a:srgbClr val="F5B83D"/>
          </a:solidFill>
          <a:ln/>
        </p:spPr>
        <p:txBody>
          <a:bodyPr/>
          <a:lstStyle/>
          <a:p>
            <a:endParaRPr lang="en-US"/>
          </a:p>
        </p:txBody>
      </p:sp>
      <p:sp>
        <p:nvSpPr>
          <p:cNvPr id="15" name="Text 13"/>
          <p:cNvSpPr/>
          <p:nvPr/>
        </p:nvSpPr>
        <p:spPr>
          <a:xfrm>
            <a:off x="822960" y="5577840"/>
            <a:ext cx="10545775" cy="685800"/>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Red teaming valida antes y después del despliegue; los guardrails protegen cada conversación en producción.</a:t>
            </a:r>
            <a:endParaRPr lang="en-US" sz="17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Gobierno de IA y de agentes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38</a:t>
            </a:fld>
            <a:endParaRPr lang="en-US"/>
          </a:p>
        </p:txBody>
      </p:sp>
      <p:sp>
        <p:nvSpPr>
          <p:cNvPr id="6" name="Shape 4"/>
          <p:cNvSpPr/>
          <p:nvPr/>
        </p:nvSpPr>
        <p:spPr>
          <a:xfrm>
            <a:off x="548640" y="1508760"/>
            <a:ext cx="5457207" cy="205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2050000"/>
          </a:xfrm>
          <a:prstGeom prst="rect">
            <a:avLst/>
          </a:prstGeom>
          <a:solidFill>
            <a:srgbClr val="E8743B"/>
          </a:solidFill>
          <a:ln/>
        </p:spPr>
        <p:txBody>
          <a:bodyPr/>
          <a:lstStyle/>
          <a:p>
            <a:endParaRPr lang="en-US"/>
          </a:p>
        </p:txBody>
      </p:sp>
      <p:sp>
        <p:nvSpPr>
          <p:cNvPr id="8" name="Text 6"/>
          <p:cNvSpPr/>
          <p:nvPr/>
        </p:nvSpPr>
        <p:spPr>
          <a:xfrm>
            <a:off x="748640" y="1598760"/>
            <a:ext cx="5157207" cy="1900000"/>
          </a:xfrm>
          <a:prstGeom prst="rect">
            <a:avLst/>
          </a:prstGeom>
          <a:noFill/>
          <a:ln/>
        </p:spPr>
        <p:txBody>
          <a:bodyPr wrap="square" lIns="0" tIns="0" rIns="0" bIns="0" rtlCol="0" anchor="t"/>
          <a:lstStyle/>
          <a:p>
            <a:pPr marL="0" indent="0">
              <a:spcAft>
                <a:spcPts val="500"/>
              </a:spcAft>
              <a:buSzPct val="100000"/>
              <a:buNone/>
            </a:pPr>
            <a:r>
              <a:rPr sz="1450" b="1">
                <a:solidFill>
                  <a:srgbClr val="0B1F33"/>
                </a:solidFill>
                <a:latin typeface="Segoe UI Semibold"/>
              </a:rPr>
              <a:t>Inventario y control plane</a:t>
            </a:r>
            <a:endParaRPr lang="en-US" sz="2000" dirty="0"/>
          </a:p>
          <a:p>
            <a:pPr marL="0" indent="0">
              <a:spcAft>
                <a:spcPts val="500"/>
              </a:spcAft>
              <a:buNone/>
            </a:pPr>
            <a:r>
              <a:rPr sz="1500" b="0">
                <a:solidFill>
                  <a:srgbClr val="1B2A3A"/>
                </a:solidFill>
                <a:latin typeface="Segoe UI"/>
              </a:rPr>
              <a:t>• Agent 365 (GA desde 1-may-2026): observar, gobernar y proteger agentes; algunas integraciones en Preview</a:t>
            </a:r>
          </a:p>
          <a:p>
            <a:pPr marL="0" indent="0">
              <a:spcAft>
                <a:spcPts val="500"/>
              </a:spcAft>
              <a:buNone/>
            </a:pPr>
            <a:r>
              <a:rPr sz="1500" b="0">
                <a:solidFill>
                  <a:srgbClr val="1B2A3A"/>
                </a:solidFill>
                <a:latin typeface="Segoe UI"/>
              </a:rPr>
              <a:t>• Entra Agent ID aporta identidad y control de acceso; el registro y la identidad son complementarios</a:t>
            </a:r>
          </a:p>
        </p:txBody>
      </p:sp>
      <p:sp>
        <p:nvSpPr>
          <p:cNvPr id="9" name="Shape 4"/>
          <p:cNvSpPr/>
          <p:nvPr/>
        </p:nvSpPr>
        <p:spPr>
          <a:xfrm>
            <a:off x="6185847" y="1508760"/>
            <a:ext cx="5457207" cy="205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5"/>
          <p:cNvSpPr/>
          <p:nvPr/>
        </p:nvSpPr>
        <p:spPr>
          <a:xfrm>
            <a:off x="6185847" y="1508760"/>
            <a:ext cx="82296" cy="2050000"/>
          </a:xfrm>
          <a:prstGeom prst="rect">
            <a:avLst/>
          </a:prstGeom>
          <a:solidFill>
            <a:srgbClr val="0B1F33"/>
          </a:solidFill>
          <a:ln/>
        </p:spPr>
        <p:txBody>
          <a:bodyPr/>
          <a:lstStyle/>
          <a:p>
            <a:endParaRPr lang="en-US"/>
          </a:p>
        </p:txBody>
      </p:sp>
      <p:sp>
        <p:nvSpPr>
          <p:cNvPr id="11" name="Text 6"/>
          <p:cNvSpPr/>
          <p:nvPr/>
        </p:nvSpPr>
        <p:spPr>
          <a:xfrm>
            <a:off x="6385847" y="1598760"/>
            <a:ext cx="5157207" cy="1900000"/>
          </a:xfrm>
          <a:prstGeom prst="rect">
            <a:avLst/>
          </a:prstGeom>
          <a:noFill/>
          <a:ln/>
        </p:spPr>
        <p:txBody>
          <a:bodyPr wrap="square" lIns="0" tIns="0" rIns="0" bIns="0" rtlCol="0" anchor="t"/>
          <a:lstStyle/>
          <a:p>
            <a:pPr marL="0" indent="0">
              <a:spcAft>
                <a:spcPts val="500"/>
              </a:spcAft>
              <a:buSzPct val="100000"/>
              <a:buNone/>
            </a:pPr>
            <a:r>
              <a:rPr sz="1450" b="1">
                <a:solidFill>
                  <a:srgbClr val="0B1F33"/>
                </a:solidFill>
                <a:latin typeface="Segoe UI Semibold"/>
              </a:rPr>
              <a:t>Políticas de plataforma</a:t>
            </a:r>
            <a:endParaRPr lang="en-US" sz="2000" dirty="0"/>
          </a:p>
          <a:p>
            <a:pPr marL="0" indent="0">
              <a:spcAft>
                <a:spcPts val="500"/>
              </a:spcAft>
              <a:buNone/>
            </a:pPr>
            <a:r>
              <a:rPr sz="1500" b="0">
                <a:solidFill>
                  <a:srgbClr val="1B2A3A"/>
                </a:solidFill>
                <a:latin typeface="Segoe UI"/>
              </a:rPr>
              <a:t>• Azure Policy: modelos aprobados y elegibilidad (GA)</a:t>
            </a:r>
          </a:p>
          <a:p>
            <a:pPr marL="0" indent="0">
              <a:spcAft>
                <a:spcPts val="500"/>
              </a:spcAft>
              <a:buNone/>
            </a:pPr>
            <a:r>
              <a:rPr sz="1500" b="0">
                <a:solidFill>
                  <a:srgbClr val="1B2A3A"/>
                </a:solidFill>
                <a:latin typeface="Segoe UI"/>
              </a:rPr>
              <a:t>• Usar efecto Deny para bloquear; Audit solo registra</a:t>
            </a:r>
          </a:p>
          <a:p>
            <a:pPr marL="0" indent="0">
              <a:spcAft>
                <a:spcPts val="500"/>
              </a:spcAft>
              <a:buNone/>
            </a:pPr>
            <a:r>
              <a:rPr sz="1500" b="0">
                <a:solidFill>
                  <a:srgbClr val="1B2A3A"/>
                </a:solidFill>
                <a:latin typeface="Segoe UI"/>
              </a:rPr>
              <a:t>• Madurez GA/Preview se verifica por función, no por producto</a:t>
            </a:r>
          </a:p>
        </p:txBody>
      </p:sp>
      <p:sp>
        <p:nvSpPr>
          <p:cNvPr id="12" name="Shape 4"/>
          <p:cNvSpPr/>
          <p:nvPr/>
        </p:nvSpPr>
        <p:spPr>
          <a:xfrm>
            <a:off x="548640" y="3738760"/>
            <a:ext cx="5457207" cy="205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5"/>
          <p:cNvSpPr/>
          <p:nvPr/>
        </p:nvSpPr>
        <p:spPr>
          <a:xfrm>
            <a:off x="548640" y="3738760"/>
            <a:ext cx="82296" cy="2050000"/>
          </a:xfrm>
          <a:prstGeom prst="rect">
            <a:avLst/>
          </a:prstGeom>
          <a:solidFill>
            <a:srgbClr val="0B1F33"/>
          </a:solidFill>
          <a:ln/>
        </p:spPr>
        <p:txBody>
          <a:bodyPr/>
          <a:lstStyle/>
          <a:p>
            <a:endParaRPr lang="en-US"/>
          </a:p>
        </p:txBody>
      </p:sp>
      <p:sp>
        <p:nvSpPr>
          <p:cNvPr id="14" name="Text 6"/>
          <p:cNvSpPr/>
          <p:nvPr/>
        </p:nvSpPr>
        <p:spPr>
          <a:xfrm>
            <a:off x="748640" y="3828760"/>
            <a:ext cx="5157207" cy="1900000"/>
          </a:xfrm>
          <a:prstGeom prst="rect">
            <a:avLst/>
          </a:prstGeom>
          <a:noFill/>
          <a:ln/>
        </p:spPr>
        <p:txBody>
          <a:bodyPr wrap="square" lIns="0" tIns="0" rIns="0" bIns="0" rtlCol="0" anchor="t"/>
          <a:lstStyle/>
          <a:p>
            <a:pPr marL="0" indent="0">
              <a:spcAft>
                <a:spcPts val="500"/>
              </a:spcAft>
              <a:buSzPct val="100000"/>
              <a:buNone/>
            </a:pPr>
            <a:r>
              <a:rPr sz="1450" b="1" dirty="0">
                <a:solidFill>
                  <a:srgbClr val="0B1F33"/>
                </a:solidFill>
                <a:latin typeface="Segoe UI Semibold"/>
              </a:rPr>
              <a:t>Datos e </a:t>
            </a:r>
            <a:r>
              <a:rPr sz="1450" b="1" dirty="0" err="1">
                <a:solidFill>
                  <a:srgbClr val="0B1F33"/>
                </a:solidFill>
                <a:latin typeface="Segoe UI Semibold"/>
              </a:rPr>
              <a:t>interacciones</a:t>
            </a:r>
            <a:endParaRPr lang="en-US" sz="2000" dirty="0"/>
          </a:p>
          <a:p>
            <a:pPr marL="0" indent="0">
              <a:spcAft>
                <a:spcPts val="500"/>
              </a:spcAft>
              <a:buNone/>
            </a:pPr>
            <a:r>
              <a:rPr sz="1500" b="0" dirty="0">
                <a:solidFill>
                  <a:srgbClr val="1B2A3A"/>
                </a:solidFill>
                <a:latin typeface="Segoe UI"/>
              </a:rPr>
              <a:t>• Defender AI-SPM: AI BOM y </a:t>
            </a:r>
            <a:r>
              <a:rPr sz="1500" b="0" dirty="0" err="1">
                <a:solidFill>
                  <a:srgbClr val="1B2A3A"/>
                </a:solidFill>
                <a:latin typeface="Segoe UI"/>
              </a:rPr>
              <a:t>rutas</a:t>
            </a:r>
            <a:r>
              <a:rPr sz="1500" b="0" dirty="0">
                <a:solidFill>
                  <a:srgbClr val="1B2A3A"/>
                </a:solidFill>
                <a:latin typeface="Segoe UI"/>
              </a:rPr>
              <a:t> de </a:t>
            </a:r>
            <a:r>
              <a:rPr sz="1500" b="0" dirty="0" err="1">
                <a:solidFill>
                  <a:srgbClr val="1B2A3A"/>
                </a:solidFill>
                <a:latin typeface="Segoe UI"/>
              </a:rPr>
              <a:t>ataque</a:t>
            </a:r>
            <a:r>
              <a:rPr sz="1500" b="0" dirty="0">
                <a:solidFill>
                  <a:srgbClr val="1B2A3A"/>
                </a:solidFill>
                <a:latin typeface="Segoe UI"/>
              </a:rPr>
              <a:t>; </a:t>
            </a:r>
            <a:r>
              <a:rPr sz="1500" b="0" dirty="0" err="1">
                <a:solidFill>
                  <a:srgbClr val="1B2A3A"/>
                </a:solidFill>
                <a:latin typeface="Segoe UI"/>
              </a:rPr>
              <a:t>capacidades</a:t>
            </a:r>
            <a:r>
              <a:rPr sz="1500" b="0" dirty="0">
                <a:solidFill>
                  <a:srgbClr val="1B2A3A"/>
                </a:solidFill>
                <a:latin typeface="Segoe UI"/>
              </a:rPr>
              <a:t> de </a:t>
            </a:r>
            <a:r>
              <a:rPr sz="1500" b="0" dirty="0" err="1">
                <a:solidFill>
                  <a:srgbClr val="1B2A3A"/>
                </a:solidFill>
                <a:latin typeface="Segoe UI"/>
              </a:rPr>
              <a:t>agentes</a:t>
            </a:r>
            <a:r>
              <a:rPr sz="1500" b="0" dirty="0">
                <a:solidFill>
                  <a:srgbClr val="1B2A3A"/>
                </a:solidFill>
                <a:latin typeface="Segoe UI"/>
              </a:rPr>
              <a:t> </a:t>
            </a:r>
            <a:r>
              <a:rPr sz="1500" b="0" dirty="0" err="1">
                <a:solidFill>
                  <a:srgbClr val="1B2A3A"/>
                </a:solidFill>
                <a:latin typeface="Segoe UI"/>
              </a:rPr>
              <a:t>en</a:t>
            </a:r>
            <a:r>
              <a:rPr sz="1500" b="0" dirty="0">
                <a:solidFill>
                  <a:srgbClr val="1B2A3A"/>
                </a:solidFill>
                <a:latin typeface="Segoe UI"/>
              </a:rPr>
              <a:t> Preview</a:t>
            </a:r>
          </a:p>
        </p:txBody>
      </p:sp>
      <p:sp>
        <p:nvSpPr>
          <p:cNvPr id="15" name="Shape 4"/>
          <p:cNvSpPr/>
          <p:nvPr/>
        </p:nvSpPr>
        <p:spPr>
          <a:xfrm>
            <a:off x="6185847" y="3738760"/>
            <a:ext cx="5457207" cy="205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6" name="Shape 5"/>
          <p:cNvSpPr/>
          <p:nvPr/>
        </p:nvSpPr>
        <p:spPr>
          <a:xfrm>
            <a:off x="6185847" y="3738760"/>
            <a:ext cx="82296" cy="2050000"/>
          </a:xfrm>
          <a:prstGeom prst="rect">
            <a:avLst/>
          </a:prstGeom>
          <a:solidFill>
            <a:srgbClr val="E8743B"/>
          </a:solidFill>
          <a:ln/>
        </p:spPr>
        <p:txBody>
          <a:bodyPr/>
          <a:lstStyle/>
          <a:p>
            <a:endParaRPr lang="en-US"/>
          </a:p>
        </p:txBody>
      </p:sp>
      <p:sp>
        <p:nvSpPr>
          <p:cNvPr id="17" name="Text 6"/>
          <p:cNvSpPr/>
          <p:nvPr/>
        </p:nvSpPr>
        <p:spPr>
          <a:xfrm>
            <a:off x="6385847" y="3828760"/>
            <a:ext cx="5157207" cy="1900000"/>
          </a:xfrm>
          <a:prstGeom prst="rect">
            <a:avLst/>
          </a:prstGeom>
          <a:noFill/>
          <a:ln/>
        </p:spPr>
        <p:txBody>
          <a:bodyPr wrap="square" lIns="0" tIns="0" rIns="0" bIns="0" rtlCol="0" anchor="t"/>
          <a:lstStyle/>
          <a:p>
            <a:pPr marL="0" indent="0">
              <a:spcAft>
                <a:spcPts val="500"/>
              </a:spcAft>
              <a:buSzPct val="100000"/>
              <a:buNone/>
            </a:pPr>
            <a:r>
              <a:rPr sz="1450" b="1">
                <a:solidFill>
                  <a:srgbClr val="0B1F33"/>
                </a:solidFill>
                <a:latin typeface="Segoe UI Semibold"/>
              </a:rPr>
              <a:t>Roles y ciclo de vida (AgentOps)</a:t>
            </a:r>
            <a:endParaRPr lang="en-US" sz="2000" dirty="0"/>
          </a:p>
          <a:p>
            <a:pPr marL="0" indent="0">
              <a:spcAft>
                <a:spcPts val="500"/>
              </a:spcAft>
              <a:buNone/>
            </a:pPr>
            <a:r>
              <a:rPr sz="1500" b="0">
                <a:solidFill>
                  <a:srgbClr val="1B2A3A"/>
                </a:solidFill>
                <a:latin typeface="Segoe UI"/>
              </a:rPr>
              <a:t>• RACI de ejemplo de Microsoft, adaptable al modelo operativo</a:t>
            </a:r>
          </a:p>
          <a:p>
            <a:pPr marL="0" indent="0">
              <a:spcAft>
                <a:spcPts val="500"/>
              </a:spcAft>
              <a:buNone/>
            </a:pPr>
            <a:r>
              <a:rPr sz="1500" b="0">
                <a:solidFill>
                  <a:srgbClr val="1B2A3A"/>
                </a:solidFill>
                <a:latin typeface="Segoe UI"/>
              </a:rPr>
              <a:t>• Ciclo: recepción, priorización, construcción, despliegue, monitoreo, mejora y retiro</a:t>
            </a:r>
          </a:p>
        </p:txBody>
      </p:sp>
      <p:sp>
        <p:nvSpPr>
          <p:cNvPr id="18" name="Text 6"/>
          <p:cNvSpPr/>
          <p:nvPr/>
        </p:nvSpPr>
        <p:spPr>
          <a:xfrm>
            <a:off x="548640" y="5850000"/>
            <a:ext cx="11094415" cy="520000"/>
          </a:xfrm>
          <a:prstGeom prst="rect">
            <a:avLst/>
          </a:prstGeom>
          <a:noFill/>
          <a:ln/>
        </p:spPr>
        <p:txBody>
          <a:bodyPr wrap="square" lIns="0" tIns="0" rIns="0" bIns="0" rtlCol="0" anchor="ctr"/>
          <a:lstStyle/>
          <a:p>
            <a:pPr marL="0" indent="0">
              <a:spcAft>
                <a:spcPts val="500"/>
              </a:spcAft>
              <a:buSzPct val="100000"/>
              <a:buNone/>
            </a:pPr>
            <a:r>
              <a:rPr sz="1300" b="0">
                <a:solidFill>
                  <a:srgbClr val="5B6B7B"/>
                </a:solidFill>
                <a:latin typeface="Segoe UI"/>
              </a:rPr>
              <a:t>Marcos complementarios: Microsoft Responsible AI Standard (corporativo) · NIST AI RMF (voluntario) · ISO/IEC 42001:2023 (sistema de gestión de IA) · EU AI Act (aplicación escalonada; GPAI desde 2-ago-2025)</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Seguridad de agentes y tools: del lector al actor</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39</a:t>
            </a:fld>
            <a:endParaRPr lang="en-US"/>
          </a:p>
        </p:txBody>
      </p:sp>
      <p:sp>
        <p:nvSpPr>
          <p:cNvPr id="6" name="Shape 4"/>
          <p:cNvSpPr/>
          <p:nvPr/>
        </p:nvSpPr>
        <p:spPr>
          <a:xfrm>
            <a:off x="548640" y="1508760"/>
            <a:ext cx="3578138" cy="390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3900000"/>
          </a:xfrm>
          <a:prstGeom prst="rect">
            <a:avLst/>
          </a:prstGeom>
          <a:solidFill>
            <a:srgbClr val="E8743B"/>
          </a:solidFill>
          <a:ln/>
        </p:spPr>
        <p:txBody>
          <a:bodyPr/>
          <a:lstStyle/>
          <a:p>
            <a:endParaRPr lang="en-US"/>
          </a:p>
        </p:txBody>
      </p:sp>
      <p:sp>
        <p:nvSpPr>
          <p:cNvPr id="8" name="Text 6"/>
          <p:cNvSpPr/>
          <p:nvPr/>
        </p:nvSpPr>
        <p:spPr>
          <a:xfrm>
            <a:off x="748640" y="1598760"/>
            <a:ext cx="3278138" cy="3750000"/>
          </a:xfrm>
          <a:prstGeom prst="rect">
            <a:avLst/>
          </a:prstGeom>
          <a:noFill/>
          <a:ln/>
        </p:spPr>
        <p:txBody>
          <a:bodyPr wrap="square" lIns="0" tIns="0" rIns="0" bIns="0" rtlCol="0" anchor="t"/>
          <a:lstStyle/>
          <a:p>
            <a:pPr marL="0" indent="0">
              <a:spcAft>
                <a:spcPts val="500"/>
              </a:spcAft>
              <a:buSzPct val="100000"/>
              <a:buNone/>
            </a:pPr>
            <a:r>
              <a:rPr sz="1450" b="1">
                <a:solidFill>
                  <a:srgbClr val="0B1F33"/>
                </a:solidFill>
                <a:latin typeface="Segoe UI Semibold"/>
              </a:rPr>
              <a:t>Inyección de prompts</a:t>
            </a:r>
            <a:endParaRPr lang="en-US" sz="2000" dirty="0"/>
          </a:p>
          <a:p>
            <a:pPr marL="0" indent="0">
              <a:spcAft>
                <a:spcPts val="500"/>
              </a:spcAft>
              <a:buNone/>
            </a:pPr>
            <a:r>
              <a:rPr sz="1500" b="0">
                <a:solidFill>
                  <a:srgbClr val="1B2A3A"/>
                </a:solidFill>
                <a:latin typeface="Segoe UI"/>
              </a:rPr>
              <a:t>• Directa: en el prompt del usuario. Indirecta: contenido externo con instrucciones ocultas</a:t>
            </a:r>
          </a:p>
          <a:p>
            <a:pPr marL="0" indent="0">
              <a:spcAft>
                <a:spcPts val="500"/>
              </a:spcAft>
              <a:buNone/>
            </a:pPr>
            <a:r>
              <a:rPr sz="1500" b="0">
                <a:solidFill>
                  <a:srgbClr val="1B2A3A"/>
                </a:solidFill>
                <a:latin typeface="Segoe UI"/>
              </a:rPr>
              <a:t>• Con tools pasa de sesgar una respuesta a provocar acciones y exfiltración</a:t>
            </a:r>
          </a:p>
          <a:p>
            <a:pPr marL="0" indent="0">
              <a:spcAft>
                <a:spcPts val="500"/>
              </a:spcAft>
              <a:buNone/>
            </a:pPr>
            <a:r>
              <a:rPr sz="1500" b="0">
                <a:solidFill>
                  <a:srgbClr val="1B2A3A"/>
                </a:solidFill>
                <a:latin typeface="Segoe UI"/>
              </a:rPr>
              <a:t>• Prompt Shields: API GA; tool responses y Spotlighting en Preview. No es una garantía</a:t>
            </a:r>
          </a:p>
        </p:txBody>
      </p:sp>
      <p:sp>
        <p:nvSpPr>
          <p:cNvPr id="9" name="Shape 4"/>
          <p:cNvSpPr/>
          <p:nvPr/>
        </p:nvSpPr>
        <p:spPr>
          <a:xfrm>
            <a:off x="4306778" y="1508760"/>
            <a:ext cx="3578138" cy="390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5"/>
          <p:cNvSpPr/>
          <p:nvPr/>
        </p:nvSpPr>
        <p:spPr>
          <a:xfrm>
            <a:off x="4306778" y="1508760"/>
            <a:ext cx="82296" cy="3900000"/>
          </a:xfrm>
          <a:prstGeom prst="rect">
            <a:avLst/>
          </a:prstGeom>
          <a:solidFill>
            <a:srgbClr val="0B1F33"/>
          </a:solidFill>
          <a:ln/>
        </p:spPr>
        <p:txBody>
          <a:bodyPr/>
          <a:lstStyle/>
          <a:p>
            <a:endParaRPr lang="en-US"/>
          </a:p>
        </p:txBody>
      </p:sp>
      <p:sp>
        <p:nvSpPr>
          <p:cNvPr id="11" name="Text 6"/>
          <p:cNvSpPr/>
          <p:nvPr/>
        </p:nvSpPr>
        <p:spPr>
          <a:xfrm>
            <a:off x="4506778" y="1598760"/>
            <a:ext cx="3278138" cy="3750000"/>
          </a:xfrm>
          <a:prstGeom prst="rect">
            <a:avLst/>
          </a:prstGeom>
          <a:noFill/>
          <a:ln/>
        </p:spPr>
        <p:txBody>
          <a:bodyPr wrap="square" lIns="0" tIns="0" rIns="0" bIns="0" rtlCol="0" anchor="t"/>
          <a:lstStyle/>
          <a:p>
            <a:pPr marL="0" indent="0">
              <a:spcAft>
                <a:spcPts val="500"/>
              </a:spcAft>
              <a:buSzPct val="100000"/>
              <a:buNone/>
            </a:pPr>
            <a:r>
              <a:rPr sz="1450" b="1">
                <a:solidFill>
                  <a:srgbClr val="0B1F33"/>
                </a:solidFill>
                <a:latin typeface="Segoe UI Semibold"/>
              </a:rPr>
              <a:t>Cadena de suministro MCP</a:t>
            </a:r>
            <a:endParaRPr lang="en-US" sz="2000" dirty="0"/>
          </a:p>
          <a:p>
            <a:pPr marL="0" indent="0">
              <a:spcAft>
                <a:spcPts val="500"/>
              </a:spcAft>
              <a:buNone/>
            </a:pPr>
            <a:r>
              <a:rPr sz="1500" b="0">
                <a:solidFill>
                  <a:srgbClr val="1B2A3A"/>
                </a:solidFill>
                <a:latin typeface="Segoe UI"/>
              </a:rPr>
              <a:t>• Tool poisoning: las descripciones de tools son superficie de ataque</a:t>
            </a:r>
          </a:p>
          <a:p>
            <a:pPr marL="0" indent="0">
              <a:spcAft>
                <a:spcPts val="500"/>
              </a:spcAft>
              <a:buNone/>
            </a:pPr>
            <a:r>
              <a:rPr sz="1500" b="0">
                <a:solidFill>
                  <a:srgbClr val="1B2A3A"/>
                </a:solidFill>
                <a:latin typeface="Segoe UI"/>
              </a:rPr>
              <a:t>• Rug pull: una tool aprobada cambia después</a:t>
            </a:r>
          </a:p>
          <a:p>
            <a:pPr marL="0" indent="0">
              <a:spcAft>
                <a:spcPts val="500"/>
              </a:spcAft>
              <a:buNone/>
            </a:pPr>
            <a:r>
              <a:rPr sz="1500" b="0">
                <a:solidFill>
                  <a:srgbClr val="1B2A3A"/>
                </a:solidFill>
                <a:latin typeface="Segoe UI"/>
              </a:rPr>
              <a:t>• Inventariar y aprobar servidores, verificar procedencia, fijar esquemas y descripciones, re-aprobar cambios</a:t>
            </a:r>
          </a:p>
        </p:txBody>
      </p:sp>
      <p:sp>
        <p:nvSpPr>
          <p:cNvPr id="12" name="Shape 4"/>
          <p:cNvSpPr/>
          <p:nvPr/>
        </p:nvSpPr>
        <p:spPr>
          <a:xfrm>
            <a:off x="8064916" y="1508760"/>
            <a:ext cx="3578138" cy="390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5"/>
          <p:cNvSpPr/>
          <p:nvPr/>
        </p:nvSpPr>
        <p:spPr>
          <a:xfrm>
            <a:off x="8064916" y="1508760"/>
            <a:ext cx="82296" cy="3900000"/>
          </a:xfrm>
          <a:prstGeom prst="rect">
            <a:avLst/>
          </a:prstGeom>
          <a:solidFill>
            <a:srgbClr val="E8743B"/>
          </a:solidFill>
          <a:ln/>
        </p:spPr>
        <p:txBody>
          <a:bodyPr/>
          <a:lstStyle/>
          <a:p>
            <a:endParaRPr lang="en-US"/>
          </a:p>
        </p:txBody>
      </p:sp>
      <p:sp>
        <p:nvSpPr>
          <p:cNvPr id="14" name="Text 6"/>
          <p:cNvSpPr/>
          <p:nvPr/>
        </p:nvSpPr>
        <p:spPr>
          <a:xfrm>
            <a:off x="8264916" y="1598760"/>
            <a:ext cx="3278138" cy="3750000"/>
          </a:xfrm>
          <a:prstGeom prst="rect">
            <a:avLst/>
          </a:prstGeom>
          <a:noFill/>
          <a:ln/>
        </p:spPr>
        <p:txBody>
          <a:bodyPr wrap="square" lIns="0" tIns="0" rIns="0" bIns="0" rtlCol="0" anchor="t"/>
          <a:lstStyle/>
          <a:p>
            <a:pPr marL="0" indent="0">
              <a:spcAft>
                <a:spcPts val="500"/>
              </a:spcAft>
              <a:buSzPct val="100000"/>
              <a:buNone/>
            </a:pPr>
            <a:r>
              <a:rPr sz="1450" b="1">
                <a:solidFill>
                  <a:srgbClr val="0B1F33"/>
                </a:solidFill>
                <a:latin typeface="Segoe UI Semibold"/>
              </a:rPr>
              <a:t>Agencia y confused deputy</a:t>
            </a:r>
            <a:endParaRPr lang="en-US" sz="2000" dirty="0"/>
          </a:p>
          <a:p>
            <a:pPr marL="0" indent="0">
              <a:spcAft>
                <a:spcPts val="500"/>
              </a:spcAft>
              <a:buNone/>
            </a:pPr>
            <a:r>
              <a:rPr sz="1500" b="0">
                <a:solidFill>
                  <a:srgbClr val="1B2A3A"/>
                </a:solidFill>
                <a:latin typeface="Segoe UI"/>
              </a:rPr>
              <a:t>• Excessive Agency (OWASP LLM06): reducir funcionalidad, permisos y autonomía</a:t>
            </a:r>
          </a:p>
          <a:p>
            <a:pPr marL="0" indent="0">
              <a:spcAft>
                <a:spcPts val="500"/>
              </a:spcAft>
              <a:buNone/>
            </a:pPr>
            <a:r>
              <a:rPr sz="1500" b="0">
                <a:solidFill>
                  <a:srgbClr val="1B2A3A"/>
                </a:solidFill>
                <a:latin typeface="Segoe UI"/>
              </a:rPr>
              <a:t>• Autorizar en el sistema downstream; aprobación humana en acciones de alto impacto</a:t>
            </a:r>
          </a:p>
          <a:p>
            <a:pPr marL="0" indent="0">
              <a:spcAft>
                <a:spcPts val="500"/>
              </a:spcAft>
              <a:buNone/>
            </a:pPr>
            <a:r>
              <a:rPr sz="1500" b="0">
                <a:solidFill>
                  <a:srgbClr val="1B2A3A"/>
                </a:solidFill>
                <a:latin typeface="Segoe UI"/>
              </a:rPr>
              <a:t>• MCP: consentimiento por cliente y usuario, redirecciones exactas, validar estado y audiencia del token</a:t>
            </a:r>
          </a:p>
        </p:txBody>
      </p:sp>
      <p:sp>
        <p:nvSpPr>
          <p:cNvPr id="15" name="Text 6"/>
          <p:cNvSpPr/>
          <p:nvPr/>
        </p:nvSpPr>
        <p:spPr>
          <a:xfrm>
            <a:off x="548640" y="5560000"/>
            <a:ext cx="11094415" cy="520000"/>
          </a:xfrm>
          <a:prstGeom prst="rect">
            <a:avLst/>
          </a:prstGeom>
          <a:noFill/>
          <a:ln/>
        </p:spPr>
        <p:txBody>
          <a:bodyPr wrap="square" lIns="0" tIns="0" rIns="0" bIns="0" rtlCol="0" anchor="ctr"/>
          <a:lstStyle/>
          <a:p>
            <a:pPr marL="0" indent="0">
              <a:spcAft>
                <a:spcPts val="500"/>
              </a:spcAft>
              <a:buSzPct val="100000"/>
              <a:buNone/>
            </a:pPr>
            <a:r>
              <a:rPr sz="1300" b="0">
                <a:solidFill>
                  <a:srgbClr val="5B6B7B"/>
                </a:solidFill>
                <a:latin typeface="Segoe UI"/>
              </a:rPr>
              <a:t>Defensa en capas: identidad + aislamiento + controles de salida + aprobación humana + telemetría. Validar qué cubre realmente cada control en tu arquitectura.</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Identidad, acceso y red de agentes en Foundry</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40</a:t>
            </a:fld>
            <a:endParaRPr lang="en-US"/>
          </a:p>
        </p:txBody>
      </p:sp>
      <p:sp>
        <p:nvSpPr>
          <p:cNvPr id="6" name="Shape 4"/>
          <p:cNvSpPr/>
          <p:nvPr/>
        </p:nvSpPr>
        <p:spPr>
          <a:xfrm>
            <a:off x="548640" y="1508760"/>
            <a:ext cx="5457207" cy="205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2050000"/>
          </a:xfrm>
          <a:prstGeom prst="rect">
            <a:avLst/>
          </a:prstGeom>
          <a:solidFill>
            <a:srgbClr val="E8743B"/>
          </a:solidFill>
          <a:ln/>
        </p:spPr>
        <p:txBody>
          <a:bodyPr/>
          <a:lstStyle/>
          <a:p>
            <a:endParaRPr lang="en-US"/>
          </a:p>
        </p:txBody>
      </p:sp>
      <p:sp>
        <p:nvSpPr>
          <p:cNvPr id="8" name="Text 6"/>
          <p:cNvSpPr/>
          <p:nvPr/>
        </p:nvSpPr>
        <p:spPr>
          <a:xfrm>
            <a:off x="748640" y="1598760"/>
            <a:ext cx="5157207" cy="1900000"/>
          </a:xfrm>
          <a:prstGeom prst="rect">
            <a:avLst/>
          </a:prstGeom>
          <a:noFill/>
          <a:ln/>
        </p:spPr>
        <p:txBody>
          <a:bodyPr wrap="square" lIns="0" tIns="0" rIns="0" bIns="0" rtlCol="0" anchor="t"/>
          <a:lstStyle/>
          <a:p>
            <a:pPr marL="0" indent="0">
              <a:spcAft>
                <a:spcPts val="500"/>
              </a:spcAft>
              <a:buSzPct val="100000"/>
              <a:buNone/>
            </a:pPr>
            <a:r>
              <a:rPr sz="1450" b="1">
                <a:solidFill>
                  <a:srgbClr val="0B1F33"/>
                </a:solidFill>
                <a:latin typeface="Segoe UI Semibold"/>
              </a:rPr>
              <a:t>Identidad propia por agente</a:t>
            </a:r>
            <a:endParaRPr lang="en-US" sz="2000" dirty="0"/>
          </a:p>
          <a:p>
            <a:pPr marL="0" indent="0">
              <a:spcAft>
                <a:spcPts val="500"/>
              </a:spcAft>
              <a:buNone/>
            </a:pPr>
            <a:r>
              <a:rPr sz="1500" b="0">
                <a:solidFill>
                  <a:srgbClr val="1B2A3A"/>
                </a:solidFill>
                <a:latin typeface="Segoe UI"/>
              </a:rPr>
              <a:t>• Entra Agent ID (GA): la agent identity no tiene credenciales propias; obtiene tokens vía su blueprint</a:t>
            </a:r>
          </a:p>
          <a:p>
            <a:pPr marL="0" indent="0">
              <a:spcAft>
                <a:spcPts val="500"/>
              </a:spcAft>
              <a:buNone/>
            </a:pPr>
            <a:r>
              <a:rPr sz="1500" b="0">
                <a:solidFill>
                  <a:srgbClr val="1B2A3A"/>
                </a:solidFill>
                <a:latin typeface="Segoe UI"/>
              </a:rPr>
              <a:t>• Nuevo modelo: identidad propia; agentes legacy: identidad compartida</a:t>
            </a:r>
          </a:p>
          <a:p>
            <a:pPr marL="0" indent="0">
              <a:spcAft>
                <a:spcPts val="500"/>
              </a:spcAft>
              <a:buNone/>
            </a:pPr>
            <a:r>
              <a:rPr sz="1500" b="0">
                <a:solidFill>
                  <a:srgbClr val="1B2A3A"/>
                </a:solidFill>
                <a:latin typeface="Segoe UI"/>
              </a:rPr>
              <a:t>• Al migrar, reasignar permisos downstream (no se transfieren)</a:t>
            </a:r>
          </a:p>
        </p:txBody>
      </p:sp>
      <p:sp>
        <p:nvSpPr>
          <p:cNvPr id="9" name="Shape 4"/>
          <p:cNvSpPr/>
          <p:nvPr/>
        </p:nvSpPr>
        <p:spPr>
          <a:xfrm>
            <a:off x="6185847" y="1508760"/>
            <a:ext cx="5457207" cy="205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5"/>
          <p:cNvSpPr/>
          <p:nvPr/>
        </p:nvSpPr>
        <p:spPr>
          <a:xfrm>
            <a:off x="6185847" y="1508760"/>
            <a:ext cx="82296" cy="2050000"/>
          </a:xfrm>
          <a:prstGeom prst="rect">
            <a:avLst/>
          </a:prstGeom>
          <a:solidFill>
            <a:srgbClr val="0B1F33"/>
          </a:solidFill>
          <a:ln/>
        </p:spPr>
        <p:txBody>
          <a:bodyPr/>
          <a:lstStyle/>
          <a:p>
            <a:endParaRPr lang="en-US"/>
          </a:p>
        </p:txBody>
      </p:sp>
      <p:sp>
        <p:nvSpPr>
          <p:cNvPr id="11" name="Text 6"/>
          <p:cNvSpPr/>
          <p:nvPr/>
        </p:nvSpPr>
        <p:spPr>
          <a:xfrm>
            <a:off x="6385847" y="1598760"/>
            <a:ext cx="5157207" cy="1900000"/>
          </a:xfrm>
          <a:prstGeom prst="rect">
            <a:avLst/>
          </a:prstGeom>
          <a:noFill/>
          <a:ln/>
        </p:spPr>
        <p:txBody>
          <a:bodyPr wrap="square" lIns="0" tIns="0" rIns="0" bIns="0" rtlCol="0" anchor="t"/>
          <a:lstStyle/>
          <a:p>
            <a:pPr marL="0" indent="0">
              <a:spcAft>
                <a:spcPts val="500"/>
              </a:spcAft>
              <a:buSzPct val="100000"/>
              <a:buNone/>
            </a:pPr>
            <a:r>
              <a:rPr sz="1450" b="1">
                <a:solidFill>
                  <a:srgbClr val="0B1F33"/>
                </a:solidFill>
                <a:latin typeface="Segoe UI Semibold"/>
              </a:rPr>
              <a:t>Autónomo vs. delegado</a:t>
            </a:r>
            <a:endParaRPr lang="en-US" sz="2000" dirty="0"/>
          </a:p>
          <a:p>
            <a:pPr marL="0" indent="0">
              <a:spcAft>
                <a:spcPts val="500"/>
              </a:spcAft>
              <a:buNone/>
            </a:pPr>
            <a:r>
              <a:rPr sz="1500" b="0">
                <a:solidFill>
                  <a:srgbClr val="1B2A3A"/>
                </a:solidFill>
                <a:latin typeface="Segoe UI"/>
              </a:rPr>
              <a:t>• Identidad de servicio para autoridad propia; OAuth passthrough o mecanismo delegado para respetar permisos del usuario</a:t>
            </a:r>
          </a:p>
          <a:p>
            <a:pPr marL="0" indent="0">
              <a:spcAft>
                <a:spcPts val="500"/>
              </a:spcAft>
              <a:buNone/>
            </a:pPr>
            <a:r>
              <a:rPr sz="1500" b="0">
                <a:solidFill>
                  <a:srgbClr val="1B2A3A"/>
                </a:solidFill>
                <a:latin typeface="Segoe UI"/>
              </a:rPr>
              <a:t>• Mínimo privilegio al principal que realmente llama: agent identity o managed identity del proyecto, según la tool</a:t>
            </a:r>
          </a:p>
        </p:txBody>
      </p:sp>
      <p:sp>
        <p:nvSpPr>
          <p:cNvPr id="12" name="Shape 4"/>
          <p:cNvSpPr/>
          <p:nvPr/>
        </p:nvSpPr>
        <p:spPr>
          <a:xfrm>
            <a:off x="548640" y="3738760"/>
            <a:ext cx="5457207" cy="205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5"/>
          <p:cNvSpPr/>
          <p:nvPr/>
        </p:nvSpPr>
        <p:spPr>
          <a:xfrm>
            <a:off x="548640" y="3738760"/>
            <a:ext cx="82296" cy="2050000"/>
          </a:xfrm>
          <a:prstGeom prst="rect">
            <a:avLst/>
          </a:prstGeom>
          <a:solidFill>
            <a:srgbClr val="0B1F33"/>
          </a:solidFill>
          <a:ln/>
        </p:spPr>
        <p:txBody>
          <a:bodyPr/>
          <a:lstStyle/>
          <a:p>
            <a:endParaRPr lang="en-US"/>
          </a:p>
        </p:txBody>
      </p:sp>
      <p:sp>
        <p:nvSpPr>
          <p:cNvPr id="14" name="Text 6"/>
          <p:cNvSpPr/>
          <p:nvPr/>
        </p:nvSpPr>
        <p:spPr>
          <a:xfrm>
            <a:off x="748640" y="3828760"/>
            <a:ext cx="5157207" cy="1900000"/>
          </a:xfrm>
          <a:prstGeom prst="rect">
            <a:avLst/>
          </a:prstGeom>
          <a:noFill/>
          <a:ln/>
        </p:spPr>
        <p:txBody>
          <a:bodyPr wrap="square" lIns="0" tIns="0" rIns="0" bIns="0" rtlCol="0" anchor="t"/>
          <a:lstStyle/>
          <a:p>
            <a:pPr marL="0" indent="0">
              <a:spcAft>
                <a:spcPts val="500"/>
              </a:spcAft>
              <a:buSzPct val="100000"/>
              <a:buNone/>
            </a:pPr>
            <a:r>
              <a:rPr sz="1450" b="1">
                <a:solidFill>
                  <a:srgbClr val="0B1F33"/>
                </a:solidFill>
                <a:latin typeface="Segoe UI Semibold"/>
              </a:rPr>
              <a:t>RBAC y protocolos</a:t>
            </a:r>
            <a:endParaRPr lang="en-US" sz="2000" dirty="0"/>
          </a:p>
          <a:p>
            <a:pPr marL="0" indent="0">
              <a:spcAft>
                <a:spcPts val="500"/>
              </a:spcAft>
              <a:buNone/>
            </a:pPr>
            <a:r>
              <a:rPr sz="1500" b="0">
                <a:solidFill>
                  <a:srgbClr val="1B2A3A"/>
                </a:solidFill>
                <a:latin typeface="Segoe UI"/>
              </a:rPr>
              <a:t>• Foundry User para desarrollar; Foundry Agent Consumer para consumir endpoints (ámbito de agente)</a:t>
            </a:r>
          </a:p>
          <a:p>
            <a:pPr marL="0" indent="0">
              <a:spcAft>
                <a:spcPts val="500"/>
              </a:spcAft>
              <a:buNone/>
            </a:pPr>
            <a:r>
              <a:rPr sz="1500" b="0">
                <a:solidFill>
                  <a:srgbClr val="1B2A3A"/>
                </a:solidFill>
                <a:latin typeface="Segoe UI"/>
              </a:rPr>
              <a:t>• A2A: a2a v1.0 GA; a2a_preview v0.3 Preview</a:t>
            </a:r>
          </a:p>
          <a:p>
            <a:pPr marL="0" indent="0">
              <a:spcAft>
                <a:spcPts val="500"/>
              </a:spcAft>
              <a:buNone/>
            </a:pPr>
            <a:r>
              <a:rPr sz="1500" b="0">
                <a:solidFill>
                  <a:srgbClr val="1B2A3A"/>
                </a:solidFill>
                <a:latin typeface="Segoe UI"/>
              </a:rPr>
              <a:t>• OpenAPI: conexiones con managed identity del proyecto</a:t>
            </a:r>
          </a:p>
        </p:txBody>
      </p:sp>
      <p:sp>
        <p:nvSpPr>
          <p:cNvPr id="15" name="Shape 4"/>
          <p:cNvSpPr/>
          <p:nvPr/>
        </p:nvSpPr>
        <p:spPr>
          <a:xfrm>
            <a:off x="6185847" y="3738760"/>
            <a:ext cx="5457207" cy="205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6" name="Shape 5"/>
          <p:cNvSpPr/>
          <p:nvPr/>
        </p:nvSpPr>
        <p:spPr>
          <a:xfrm>
            <a:off x="6185847" y="3738760"/>
            <a:ext cx="82296" cy="2050000"/>
          </a:xfrm>
          <a:prstGeom prst="rect">
            <a:avLst/>
          </a:prstGeom>
          <a:solidFill>
            <a:srgbClr val="E8743B"/>
          </a:solidFill>
          <a:ln/>
        </p:spPr>
        <p:txBody>
          <a:bodyPr/>
          <a:lstStyle/>
          <a:p>
            <a:endParaRPr lang="en-US"/>
          </a:p>
        </p:txBody>
      </p:sp>
      <p:sp>
        <p:nvSpPr>
          <p:cNvPr id="17" name="Text 6"/>
          <p:cNvSpPr/>
          <p:nvPr/>
        </p:nvSpPr>
        <p:spPr>
          <a:xfrm>
            <a:off x="6385847" y="3828760"/>
            <a:ext cx="5157207" cy="1900000"/>
          </a:xfrm>
          <a:prstGeom prst="rect">
            <a:avLst/>
          </a:prstGeom>
          <a:noFill/>
          <a:ln/>
        </p:spPr>
        <p:txBody>
          <a:bodyPr wrap="square" lIns="0" tIns="0" rIns="0" bIns="0" rtlCol="0" anchor="t"/>
          <a:lstStyle/>
          <a:p>
            <a:pPr marL="0" indent="0">
              <a:spcAft>
                <a:spcPts val="500"/>
              </a:spcAft>
              <a:buSzPct val="100000"/>
              <a:buNone/>
            </a:pPr>
            <a:r>
              <a:rPr sz="1450" b="1">
                <a:solidFill>
                  <a:srgbClr val="0B1F33"/>
                </a:solidFill>
                <a:latin typeface="Segoe UI Semibold"/>
              </a:rPr>
              <a:t>Secretos y red</a:t>
            </a:r>
            <a:endParaRPr lang="en-US" sz="2000" dirty="0"/>
          </a:p>
          <a:p>
            <a:pPr marL="0" indent="0">
              <a:spcAft>
                <a:spcPts val="500"/>
              </a:spcAft>
              <a:buNone/>
            </a:pPr>
            <a:r>
              <a:rPr sz="1500" b="0">
                <a:solidFill>
                  <a:srgbClr val="1B2A3A"/>
                </a:solidFill>
                <a:latin typeface="Segoe UI"/>
              </a:rPr>
              <a:t>• Preferir autenticación sin secretos; si hay claves, Key Vault propio para secretos de conexiones</a:t>
            </a:r>
          </a:p>
          <a:p>
            <a:pPr marL="0" indent="0">
              <a:spcAft>
                <a:spcPts val="500"/>
              </a:spcAft>
              <a:buNone/>
            </a:pPr>
            <a:r>
              <a:rPr sz="1500" b="0">
                <a:solidFill>
                  <a:srgbClr val="1B2A3A"/>
                </a:solidFill>
                <a:latin typeface="Segoe UI"/>
              </a:rPr>
              <a:t>• Entrada privada (Private Link, DNS) y salida controlada (BYO VNet, dependencias) se diseñan por separado; revisar matriz por tool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Tecnologías Microsoft para agentes seguros, gobernados y monitoreados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41</a:t>
            </a:fld>
            <a:endParaRPr lang="en-US"/>
          </a:p>
        </p:txBody>
      </p:sp>
      <p:graphicFrame>
        <p:nvGraphicFramePr>
          <p:cNvPr id="26" name="Table 25"/>
          <p:cNvGraphicFramePr>
            <a:graphicFrameLocks noGrp="1"/>
          </p:cNvGraphicFramePr>
          <p:nvPr>
            <p:extLst>
              <p:ext uri="{D42A27DB-BD31-4B8C-83A1-F6EECF244321}">
                <p14:modId xmlns:p14="http://schemas.microsoft.com/office/powerpoint/2010/main" val="3459107888"/>
              </p:ext>
            </p:extLst>
          </p:nvPr>
        </p:nvGraphicFramePr>
        <p:xfrm>
          <a:off x="548640" y="1448760"/>
          <a:ext cx="11094415" cy="3960000"/>
        </p:xfrm>
        <a:graphic>
          <a:graphicData uri="http://schemas.openxmlformats.org/drawingml/2006/table">
            <a:tbl>
              <a:tblPr firstRow="1" bandRow="1">
                <a:tableStyleId>{5C22544A-7EE6-4342-B048-85BDC9FD1C3A}</a:tableStyleId>
              </a:tblPr>
              <a:tblGrid>
                <a:gridCol w="1250000">
                  <a:extLst>
                    <a:ext uri="{9D8B030D-6E8A-4147-A177-3AD203B41FA5}">
                      <a16:colId xmlns:a16="http://schemas.microsoft.com/office/drawing/2014/main" val="20000"/>
                    </a:ext>
                  </a:extLst>
                </a:gridCol>
                <a:gridCol w="3300000">
                  <a:extLst>
                    <a:ext uri="{9D8B030D-6E8A-4147-A177-3AD203B41FA5}">
                      <a16:colId xmlns:a16="http://schemas.microsoft.com/office/drawing/2014/main" val="20001"/>
                    </a:ext>
                  </a:extLst>
                </a:gridCol>
                <a:gridCol w="3744415">
                  <a:extLst>
                    <a:ext uri="{9D8B030D-6E8A-4147-A177-3AD203B41FA5}">
                      <a16:colId xmlns:a16="http://schemas.microsoft.com/office/drawing/2014/main" val="20002"/>
                    </a:ext>
                  </a:extLst>
                </a:gridCol>
                <a:gridCol w="2800000">
                  <a:extLst>
                    <a:ext uri="{9D8B030D-6E8A-4147-A177-3AD203B41FA5}">
                      <a16:colId xmlns:a16="http://schemas.microsoft.com/office/drawing/2014/main" val="20003"/>
                    </a:ext>
                  </a:extLst>
                </a:gridCol>
              </a:tblGrid>
              <a:tr h="440000">
                <a:tc>
                  <a:txBody>
                    <a:bodyPr/>
                    <a:lstStyle/>
                    <a:p>
                      <a:r>
                        <a:rPr sz="1050" b="1">
                          <a:solidFill>
                            <a:srgbClr val="FFFFFF"/>
                          </a:solidFill>
                          <a:latin typeface="Segoe UI Semibold"/>
                        </a:rPr>
                        <a:t>Capa</a:t>
                      </a:r>
                    </a:p>
                  </a:txBody>
                  <a:tcPr marL="70000" marR="70000" marT="25000" marB="25000" anchor="ctr">
                    <a:solidFill>
                      <a:srgbClr val="0B1F33"/>
                    </a:solidFill>
                  </a:tcPr>
                </a:tc>
                <a:tc>
                  <a:txBody>
                    <a:bodyPr/>
                    <a:lstStyle/>
                    <a:p>
                      <a:r>
                        <a:rPr sz="1050" b="1">
                          <a:solidFill>
                            <a:srgbClr val="FFFFFF"/>
                          </a:solidFill>
                          <a:latin typeface="Segoe UI Semibold"/>
                        </a:rPr>
                        <a:t>Tecnología Microsoft</a:t>
                      </a:r>
                    </a:p>
                  </a:txBody>
                  <a:tcPr marL="70000" marR="70000" marT="25000" marB="25000" anchor="ctr">
                    <a:solidFill>
                      <a:srgbClr val="0B1F33"/>
                    </a:solidFill>
                  </a:tcPr>
                </a:tc>
                <a:tc>
                  <a:txBody>
                    <a:bodyPr/>
                    <a:lstStyle/>
                    <a:p>
                      <a:r>
                        <a:rPr sz="1050" b="1">
                          <a:solidFill>
                            <a:srgbClr val="FFFFFF"/>
                          </a:solidFill>
                          <a:latin typeface="Segoe UI Semibold"/>
                        </a:rPr>
                        <a:t>Qué aporta</a:t>
                      </a:r>
                    </a:p>
                  </a:txBody>
                  <a:tcPr marL="70000" marR="70000" marT="25000" marB="25000" anchor="ctr">
                    <a:solidFill>
                      <a:srgbClr val="0B1F33"/>
                    </a:solidFill>
                  </a:tcPr>
                </a:tc>
                <a:tc>
                  <a:txBody>
                    <a:bodyPr/>
                    <a:lstStyle/>
                    <a:p>
                      <a:r>
                        <a:rPr sz="1050" b="1">
                          <a:solidFill>
                            <a:srgbClr val="FFFFFF"/>
                          </a:solidFill>
                          <a:latin typeface="Segoe UI Semibold"/>
                        </a:rPr>
                        <a:t>Estado</a:t>
                      </a:r>
                    </a:p>
                  </a:txBody>
                  <a:tcPr marL="70000" marR="70000" marT="25000" marB="25000" anchor="ctr">
                    <a:solidFill>
                      <a:srgbClr val="0B1F33"/>
                    </a:solidFill>
                  </a:tcPr>
                </a:tc>
                <a:extLst>
                  <a:ext uri="{0D108BD9-81ED-4DB2-BD59-A6C34878D82A}">
                    <a16:rowId xmlns:a16="http://schemas.microsoft.com/office/drawing/2014/main" val="10000"/>
                  </a:ext>
                </a:extLst>
              </a:tr>
              <a:tr h="440000">
                <a:tc>
                  <a:txBody>
                    <a:bodyPr/>
                    <a:lstStyle/>
                    <a:p>
                      <a:r>
                        <a:rPr sz="1050" b="1">
                          <a:solidFill>
                            <a:srgbClr val="E8743B"/>
                          </a:solidFill>
                          <a:latin typeface="Segoe UI Semibold"/>
                        </a:rPr>
                        <a:t>Identidad</a:t>
                      </a:r>
                    </a:p>
                  </a:txBody>
                  <a:tcPr marL="70000" marR="70000" marT="25000" marB="25000" anchor="ctr">
                    <a:solidFill>
                      <a:srgbClr val="FFFFFF"/>
                    </a:solidFill>
                  </a:tcPr>
                </a:tc>
                <a:tc>
                  <a:txBody>
                    <a:bodyPr/>
                    <a:lstStyle/>
                    <a:p>
                      <a:r>
                        <a:rPr sz="1050" b="0">
                          <a:solidFill>
                            <a:srgbClr val="1B2A3A"/>
                          </a:solidFill>
                          <a:latin typeface="Segoe UI"/>
                        </a:rPr>
                        <a:t>Entra Agent ID · Conditional Access</a:t>
                      </a:r>
                    </a:p>
                  </a:txBody>
                  <a:tcPr marL="70000" marR="70000" marT="25000" marB="25000" anchor="ctr">
                    <a:solidFill>
                      <a:srgbClr val="FFFFFF"/>
                    </a:solidFill>
                  </a:tcPr>
                </a:tc>
                <a:tc>
                  <a:txBody>
                    <a:bodyPr/>
                    <a:lstStyle/>
                    <a:p>
                      <a:r>
                        <a:rPr sz="1050" b="0">
                          <a:solidFill>
                            <a:srgbClr val="1B2A3A"/>
                          </a:solidFill>
                          <a:latin typeface="Segoe UI"/>
                        </a:rPr>
                        <a:t>Identidad por agente, acceso condicional y bloqueo</a:t>
                      </a:r>
                    </a:p>
                  </a:txBody>
                  <a:tcPr marL="70000" marR="70000" marT="25000" marB="25000" anchor="ctr">
                    <a:solidFill>
                      <a:srgbClr val="FFFFFF"/>
                    </a:solidFill>
                  </a:tcPr>
                </a:tc>
                <a:tc>
                  <a:txBody>
                    <a:bodyPr/>
                    <a:lstStyle/>
                    <a:p>
                      <a:r>
                        <a:rPr sz="1050" b="0">
                          <a:solidFill>
                            <a:srgbClr val="1B2A3A"/>
                          </a:solidFill>
                          <a:latin typeface="Segoe UI"/>
                        </a:rPr>
                        <a:t>GA</a:t>
                      </a:r>
                    </a:p>
                  </a:txBody>
                  <a:tcPr marL="70000" marR="70000" marT="25000" marB="25000" anchor="ctr">
                    <a:solidFill>
                      <a:srgbClr val="FFFFFF"/>
                    </a:solidFill>
                  </a:tcPr>
                </a:tc>
                <a:extLst>
                  <a:ext uri="{0D108BD9-81ED-4DB2-BD59-A6C34878D82A}">
                    <a16:rowId xmlns:a16="http://schemas.microsoft.com/office/drawing/2014/main" val="10001"/>
                  </a:ext>
                </a:extLst>
              </a:tr>
              <a:tr h="440000">
                <a:tc>
                  <a:txBody>
                    <a:bodyPr/>
                    <a:lstStyle/>
                    <a:p>
                      <a:r>
                        <a:rPr sz="1050" b="1">
                          <a:solidFill>
                            <a:srgbClr val="E8743B"/>
                          </a:solidFill>
                          <a:latin typeface="Segoe UI Semibold"/>
                        </a:rPr>
                        <a:t>Gobierno</a:t>
                      </a:r>
                    </a:p>
                  </a:txBody>
                  <a:tcPr marL="70000" marR="70000" marT="25000" marB="25000" anchor="ctr">
                    <a:solidFill>
                      <a:srgbClr val="F3F5F8"/>
                    </a:solidFill>
                  </a:tcPr>
                </a:tc>
                <a:tc>
                  <a:txBody>
                    <a:bodyPr/>
                    <a:lstStyle/>
                    <a:p>
                      <a:r>
                        <a:rPr sz="1050" b="0" dirty="0">
                          <a:solidFill>
                            <a:srgbClr val="1B2A3A"/>
                          </a:solidFill>
                          <a:latin typeface="Segoe UI"/>
                        </a:rPr>
                        <a:t>Agent 365 · Azure Policy</a:t>
                      </a:r>
                    </a:p>
                  </a:txBody>
                  <a:tcPr marL="70000" marR="70000" marT="25000" marB="25000" anchor="ctr">
                    <a:solidFill>
                      <a:srgbClr val="F3F5F8"/>
                    </a:solidFill>
                  </a:tcPr>
                </a:tc>
                <a:tc>
                  <a:txBody>
                    <a:bodyPr/>
                    <a:lstStyle/>
                    <a:p>
                      <a:r>
                        <a:rPr sz="1050" b="0">
                          <a:solidFill>
                            <a:srgbClr val="1B2A3A"/>
                          </a:solidFill>
                          <a:latin typeface="Segoe UI"/>
                        </a:rPr>
                        <a:t>Inventario y control plane; modelos aprobados (Deny); auditoría, DLP, DSPM</a:t>
                      </a:r>
                    </a:p>
                  </a:txBody>
                  <a:tcPr marL="70000" marR="70000" marT="25000" marB="25000" anchor="ctr">
                    <a:solidFill>
                      <a:srgbClr val="F3F5F8"/>
                    </a:solidFill>
                  </a:tcPr>
                </a:tc>
                <a:tc>
                  <a:txBody>
                    <a:bodyPr/>
                    <a:lstStyle/>
                    <a:p>
                      <a:r>
                        <a:rPr sz="1050" b="0">
                          <a:solidFill>
                            <a:srgbClr val="1B2A3A"/>
                          </a:solidFill>
                          <a:latin typeface="Segoe UI"/>
                        </a:rPr>
                        <a:t>GA (integraciones Preview)</a:t>
                      </a:r>
                    </a:p>
                  </a:txBody>
                  <a:tcPr marL="70000" marR="70000" marT="25000" marB="25000" anchor="ctr">
                    <a:solidFill>
                      <a:srgbClr val="F3F5F8"/>
                    </a:solidFill>
                  </a:tcPr>
                </a:tc>
                <a:extLst>
                  <a:ext uri="{0D108BD9-81ED-4DB2-BD59-A6C34878D82A}">
                    <a16:rowId xmlns:a16="http://schemas.microsoft.com/office/drawing/2014/main" val="10002"/>
                  </a:ext>
                </a:extLst>
              </a:tr>
              <a:tr h="440000">
                <a:tc>
                  <a:txBody>
                    <a:bodyPr/>
                    <a:lstStyle/>
                    <a:p>
                      <a:r>
                        <a:rPr sz="1050" b="1">
                          <a:solidFill>
                            <a:srgbClr val="E8743B"/>
                          </a:solidFill>
                          <a:latin typeface="Segoe UI Semibold"/>
                        </a:rPr>
                        <a:t>Guardrails</a:t>
                      </a:r>
                    </a:p>
                  </a:txBody>
                  <a:tcPr marL="70000" marR="70000" marT="25000" marB="25000" anchor="ctr">
                    <a:solidFill>
                      <a:srgbClr val="FFFFFF"/>
                    </a:solidFill>
                  </a:tcPr>
                </a:tc>
                <a:tc>
                  <a:txBody>
                    <a:bodyPr/>
                    <a:lstStyle/>
                    <a:p>
                      <a:r>
                        <a:rPr sz="1050" b="0">
                          <a:solidFill>
                            <a:srgbClr val="1B2A3A"/>
                          </a:solidFill>
                          <a:latin typeface="Segoe UI"/>
                        </a:rPr>
                        <a:t>Foundry Guardrails · Prompt Shields · Task adherence</a:t>
                      </a:r>
                    </a:p>
                  </a:txBody>
                  <a:tcPr marL="70000" marR="70000" marT="25000" marB="25000" anchor="ctr">
                    <a:solidFill>
                      <a:srgbClr val="FFFFFF"/>
                    </a:solidFill>
                  </a:tcPr>
                </a:tc>
                <a:tc>
                  <a:txBody>
                    <a:bodyPr/>
                    <a:lstStyle/>
                    <a:p>
                      <a:r>
                        <a:rPr sz="1050" b="0">
                          <a:solidFill>
                            <a:srgbClr val="1B2A3A"/>
                          </a:solidFill>
                          <a:latin typeface="Segoe UI"/>
                        </a:rPr>
                        <a:t>4 puntos de intervención: input, tool call, tool response, output</a:t>
                      </a:r>
                    </a:p>
                  </a:txBody>
                  <a:tcPr marL="70000" marR="70000" marT="25000" marB="25000" anchor="ctr">
                    <a:solidFill>
                      <a:srgbClr val="FFFFFF"/>
                    </a:solidFill>
                  </a:tcPr>
                </a:tc>
                <a:tc>
                  <a:txBody>
                    <a:bodyPr/>
                    <a:lstStyle/>
                    <a:p>
                      <a:r>
                        <a:rPr sz="1050" b="0">
                          <a:solidFill>
                            <a:srgbClr val="1B2A3A"/>
                          </a:solidFill>
                          <a:latin typeface="Segoe UI"/>
                        </a:rPr>
                        <a:t>Agentic y task adherence: Preview; Prompt Shields texto: GA</a:t>
                      </a:r>
                    </a:p>
                  </a:txBody>
                  <a:tcPr marL="70000" marR="70000" marT="25000" marB="25000" anchor="ctr">
                    <a:solidFill>
                      <a:srgbClr val="FFFFFF"/>
                    </a:solidFill>
                  </a:tcPr>
                </a:tc>
                <a:extLst>
                  <a:ext uri="{0D108BD9-81ED-4DB2-BD59-A6C34878D82A}">
                    <a16:rowId xmlns:a16="http://schemas.microsoft.com/office/drawing/2014/main" val="10003"/>
                  </a:ext>
                </a:extLst>
              </a:tr>
              <a:tr h="440000">
                <a:tc>
                  <a:txBody>
                    <a:bodyPr/>
                    <a:lstStyle/>
                    <a:p>
                      <a:r>
                        <a:rPr sz="1050" b="1">
                          <a:solidFill>
                            <a:srgbClr val="E8743B"/>
                          </a:solidFill>
                          <a:latin typeface="Segoe UI Semibold"/>
                        </a:rPr>
                        <a:t>Consumo</a:t>
                      </a:r>
                    </a:p>
                  </a:txBody>
                  <a:tcPr marL="70000" marR="70000" marT="25000" marB="25000" anchor="ctr">
                    <a:solidFill>
                      <a:srgbClr val="F3F5F8"/>
                    </a:solidFill>
                  </a:tcPr>
                </a:tc>
                <a:tc>
                  <a:txBody>
                    <a:bodyPr/>
                    <a:lstStyle/>
                    <a:p>
                      <a:r>
                        <a:rPr sz="1050" b="0">
                          <a:solidFill>
                            <a:srgbClr val="1B2A3A"/>
                          </a:solidFill>
                          <a:latin typeface="Segoe UI"/>
                        </a:rPr>
                        <a:t>AI Gateway (APIM)</a:t>
                      </a:r>
                    </a:p>
                  </a:txBody>
                  <a:tcPr marL="70000" marR="70000" marT="25000" marB="25000" anchor="ctr">
                    <a:solidFill>
                      <a:srgbClr val="F3F5F8"/>
                    </a:solidFill>
                  </a:tcPr>
                </a:tc>
                <a:tc>
                  <a:txBody>
                    <a:bodyPr/>
                    <a:lstStyle/>
                    <a:p>
                      <a:r>
                        <a:rPr sz="1050" b="0">
                          <a:solidFill>
                            <a:srgbClr val="1B2A3A"/>
                          </a:solidFill>
                          <a:latin typeface="Segoe UI"/>
                        </a:rPr>
                        <a:t>Cuotas de tokens/TPM por proyecto (no limita iteraciones)</a:t>
                      </a:r>
                    </a:p>
                  </a:txBody>
                  <a:tcPr marL="70000" marR="70000" marT="25000" marB="25000" anchor="ctr">
                    <a:solidFill>
                      <a:srgbClr val="F3F5F8"/>
                    </a:solidFill>
                  </a:tcPr>
                </a:tc>
                <a:tc>
                  <a:txBody>
                    <a:bodyPr/>
                    <a:lstStyle/>
                    <a:p>
                      <a:r>
                        <a:rPr sz="1050" b="0">
                          <a:solidFill>
                            <a:srgbClr val="1B2A3A"/>
                          </a:solidFill>
                          <a:latin typeface="Segoe UI"/>
                        </a:rPr>
                        <a:t>Preview en Foundry</a:t>
                      </a:r>
                    </a:p>
                  </a:txBody>
                  <a:tcPr marL="70000" marR="70000" marT="25000" marB="25000" anchor="ctr">
                    <a:solidFill>
                      <a:srgbClr val="F3F5F8"/>
                    </a:solidFill>
                  </a:tcPr>
                </a:tc>
                <a:extLst>
                  <a:ext uri="{0D108BD9-81ED-4DB2-BD59-A6C34878D82A}">
                    <a16:rowId xmlns:a16="http://schemas.microsoft.com/office/drawing/2014/main" val="10004"/>
                  </a:ext>
                </a:extLst>
              </a:tr>
              <a:tr h="440000">
                <a:tc>
                  <a:txBody>
                    <a:bodyPr/>
                    <a:lstStyle/>
                    <a:p>
                      <a:r>
                        <a:rPr sz="1050" b="1">
                          <a:solidFill>
                            <a:srgbClr val="E8743B"/>
                          </a:solidFill>
                          <a:latin typeface="Segoe UI Semibold"/>
                        </a:rPr>
                        <a:t>Aislamiento</a:t>
                      </a:r>
                    </a:p>
                  </a:txBody>
                  <a:tcPr marL="70000" marR="70000" marT="25000" marB="25000" anchor="ctr">
                    <a:solidFill>
                      <a:srgbClr val="FFFFFF"/>
                    </a:solidFill>
                  </a:tcPr>
                </a:tc>
                <a:tc>
                  <a:txBody>
                    <a:bodyPr/>
                    <a:lstStyle/>
                    <a:p>
                      <a:r>
                        <a:rPr sz="1050" b="0">
                          <a:solidFill>
                            <a:srgbClr val="1B2A3A"/>
                          </a:solidFill>
                          <a:latin typeface="Segoe UI"/>
                        </a:rPr>
                        <a:t>Hosted Agents · Private Link · BYO VNet</a:t>
                      </a:r>
                    </a:p>
                  </a:txBody>
                  <a:tcPr marL="70000" marR="70000" marT="25000" marB="25000" anchor="ctr">
                    <a:solidFill>
                      <a:srgbClr val="FFFFFF"/>
                    </a:solidFill>
                  </a:tcPr>
                </a:tc>
                <a:tc>
                  <a:txBody>
                    <a:bodyPr/>
                    <a:lstStyle/>
                    <a:p>
                      <a:r>
                        <a:rPr sz="1050" b="0">
                          <a:solidFill>
                            <a:srgbClr val="1B2A3A"/>
                          </a:solidFill>
                          <a:latin typeface="Segoe UI"/>
                        </a:rPr>
                        <a:t>Sandbox por sesión; entrada privada y salida controlada</a:t>
                      </a:r>
                    </a:p>
                  </a:txBody>
                  <a:tcPr marL="70000" marR="70000" marT="25000" marB="25000" anchor="ctr">
                    <a:solidFill>
                      <a:srgbClr val="FFFFFF"/>
                    </a:solidFill>
                  </a:tcPr>
                </a:tc>
                <a:tc>
                  <a:txBody>
                    <a:bodyPr/>
                    <a:lstStyle/>
                    <a:p>
                      <a:r>
                        <a:rPr sz="1050" b="0">
                          <a:solidFill>
                            <a:srgbClr val="1B2A3A"/>
                          </a:solidFill>
                          <a:latin typeface="Segoe UI"/>
                        </a:rPr>
                        <a:t>GA</a:t>
                      </a:r>
                    </a:p>
                  </a:txBody>
                  <a:tcPr marL="70000" marR="70000" marT="25000" marB="25000" anchor="ctr">
                    <a:solidFill>
                      <a:srgbClr val="FFFFFF"/>
                    </a:solidFill>
                  </a:tcPr>
                </a:tc>
                <a:extLst>
                  <a:ext uri="{0D108BD9-81ED-4DB2-BD59-A6C34878D82A}">
                    <a16:rowId xmlns:a16="http://schemas.microsoft.com/office/drawing/2014/main" val="10005"/>
                  </a:ext>
                </a:extLst>
              </a:tr>
              <a:tr h="440000">
                <a:tc>
                  <a:txBody>
                    <a:bodyPr/>
                    <a:lstStyle/>
                    <a:p>
                      <a:r>
                        <a:rPr sz="1050" b="1">
                          <a:solidFill>
                            <a:srgbClr val="E8743B"/>
                          </a:solidFill>
                          <a:latin typeface="Segoe UI Semibold"/>
                        </a:rPr>
                        <a:t>Monitoreo</a:t>
                      </a:r>
                    </a:p>
                  </a:txBody>
                  <a:tcPr marL="70000" marR="70000" marT="25000" marB="25000" anchor="ctr">
                    <a:solidFill>
                      <a:srgbClr val="F3F5F8"/>
                    </a:solidFill>
                  </a:tcPr>
                </a:tc>
                <a:tc>
                  <a:txBody>
                    <a:bodyPr/>
                    <a:lstStyle/>
                    <a:p>
                      <a:r>
                        <a:rPr sz="1050" b="0">
                          <a:solidFill>
                            <a:srgbClr val="1B2A3A"/>
                          </a:solidFill>
                          <a:latin typeface="Segoe UI"/>
                        </a:rPr>
                        <a:t>OpenTelemetry + App Insights · Evaluaciones · AI Red Teaming</a:t>
                      </a:r>
                    </a:p>
                  </a:txBody>
                  <a:tcPr marL="70000" marR="70000" marT="25000" marB="25000" anchor="ctr">
                    <a:solidFill>
                      <a:srgbClr val="F3F5F8"/>
                    </a:solidFill>
                  </a:tcPr>
                </a:tc>
                <a:tc>
                  <a:txBody>
                    <a:bodyPr/>
                    <a:lstStyle/>
                    <a:p>
                      <a:r>
                        <a:rPr sz="1050" b="0">
                          <a:solidFill>
                            <a:srgbClr val="1B2A3A"/>
                          </a:solidFill>
                          <a:latin typeface="Segoe UI"/>
                        </a:rPr>
                        <a:t>Trazas, dashboard, evaluación continua y pruebas con PyRIT</a:t>
                      </a:r>
                    </a:p>
                  </a:txBody>
                  <a:tcPr marL="70000" marR="70000" marT="25000" marB="25000" anchor="ctr">
                    <a:solidFill>
                      <a:srgbClr val="F3F5F8"/>
                    </a:solidFill>
                  </a:tcPr>
                </a:tc>
                <a:tc>
                  <a:txBody>
                    <a:bodyPr/>
                    <a:lstStyle/>
                    <a:p>
                      <a:r>
                        <a:rPr sz="1050" b="0">
                          <a:solidFill>
                            <a:srgbClr val="1B2A3A"/>
                          </a:solidFill>
                          <a:latin typeface="Segoe UI"/>
                        </a:rPr>
                        <a:t>Tracing GA; resto Preview</a:t>
                      </a:r>
                    </a:p>
                  </a:txBody>
                  <a:tcPr marL="70000" marR="70000" marT="25000" marB="25000" anchor="ctr">
                    <a:solidFill>
                      <a:srgbClr val="F3F5F8"/>
                    </a:solidFill>
                  </a:tcPr>
                </a:tc>
                <a:extLst>
                  <a:ext uri="{0D108BD9-81ED-4DB2-BD59-A6C34878D82A}">
                    <a16:rowId xmlns:a16="http://schemas.microsoft.com/office/drawing/2014/main" val="10006"/>
                  </a:ext>
                </a:extLst>
              </a:tr>
              <a:tr h="440000">
                <a:tc>
                  <a:txBody>
                    <a:bodyPr/>
                    <a:lstStyle/>
                    <a:p>
                      <a:r>
                        <a:rPr sz="1050" b="1">
                          <a:solidFill>
                            <a:srgbClr val="E8743B"/>
                          </a:solidFill>
                          <a:latin typeface="Segoe UI Semibold"/>
                        </a:rPr>
                        <a:t>Detección</a:t>
                      </a:r>
                    </a:p>
                  </a:txBody>
                  <a:tcPr marL="70000" marR="70000" marT="25000" marB="25000" anchor="ctr">
                    <a:solidFill>
                      <a:srgbClr val="FFFFFF"/>
                    </a:solidFill>
                  </a:tcPr>
                </a:tc>
                <a:tc>
                  <a:txBody>
                    <a:bodyPr/>
                    <a:lstStyle/>
                    <a:p>
                      <a:r>
                        <a:rPr sz="1050" b="0">
                          <a:solidFill>
                            <a:srgbClr val="1B2A3A"/>
                          </a:solidFill>
                          <a:latin typeface="Segoe UI"/>
                        </a:rPr>
                        <a:t>Defender for Cloud (AI threat protection, AI-SPM)</a:t>
                      </a:r>
                    </a:p>
                  </a:txBody>
                  <a:tcPr marL="70000" marR="70000" marT="25000" marB="25000" anchor="ctr">
                    <a:solidFill>
                      <a:srgbClr val="FFFFFF"/>
                    </a:solidFill>
                  </a:tcPr>
                </a:tc>
                <a:tc>
                  <a:txBody>
                    <a:bodyPr/>
                    <a:lstStyle/>
                    <a:p>
                      <a:r>
                        <a:rPr sz="1050" b="0">
                          <a:solidFill>
                            <a:srgbClr val="1B2A3A"/>
                          </a:solidFill>
                          <a:latin typeface="Segoe UI"/>
                        </a:rPr>
                        <a:t>Alertas y postura de seguridad de IA</a:t>
                      </a:r>
                    </a:p>
                  </a:txBody>
                  <a:tcPr marL="70000" marR="70000" marT="25000" marB="25000" anchor="ctr">
                    <a:solidFill>
                      <a:srgbClr val="FFFFFF"/>
                    </a:solidFill>
                  </a:tcPr>
                </a:tc>
                <a:tc>
                  <a:txBody>
                    <a:bodyPr/>
                    <a:lstStyle/>
                    <a:p>
                      <a:r>
                        <a:rPr sz="1050" b="0">
                          <a:solidFill>
                            <a:srgbClr val="1B2A3A"/>
                          </a:solidFill>
                          <a:latin typeface="Segoe UI"/>
                        </a:rPr>
                        <a:t>Modelos GA; agentes Preview</a:t>
                      </a:r>
                    </a:p>
                  </a:txBody>
                  <a:tcPr marL="70000" marR="70000" marT="25000" marB="25000" anchor="ctr">
                    <a:solidFill>
                      <a:srgbClr val="FFFFFF"/>
                    </a:solidFill>
                  </a:tcPr>
                </a:tc>
                <a:extLst>
                  <a:ext uri="{0D108BD9-81ED-4DB2-BD59-A6C34878D82A}">
                    <a16:rowId xmlns:a16="http://schemas.microsoft.com/office/drawing/2014/main" val="10007"/>
                  </a:ext>
                </a:extLst>
              </a:tr>
              <a:tr h="440000">
                <a:tc>
                  <a:txBody>
                    <a:bodyPr/>
                    <a:lstStyle/>
                    <a:p>
                      <a:r>
                        <a:rPr sz="1050" b="1">
                          <a:solidFill>
                            <a:srgbClr val="E8743B"/>
                          </a:solidFill>
                          <a:latin typeface="Segoe UI Semibold"/>
                        </a:rPr>
                        <a:t>Contención</a:t>
                      </a:r>
                    </a:p>
                  </a:txBody>
                  <a:tcPr marL="70000" marR="70000" marT="25000" marB="25000" anchor="ctr">
                    <a:solidFill>
                      <a:srgbClr val="F3F5F8"/>
                    </a:solidFill>
                  </a:tcPr>
                </a:tc>
                <a:tc>
                  <a:txBody>
                    <a:bodyPr/>
                    <a:lstStyle/>
                    <a:p>
                      <a:r>
                        <a:rPr sz="1050" b="0">
                          <a:solidFill>
                            <a:srgbClr val="1B2A3A"/>
                          </a:solidFill>
                          <a:latin typeface="Segoe UI"/>
                        </a:rPr>
                        <a:t>Deshabilitar endpoint · bloquear identidad · fijar versión</a:t>
                      </a:r>
                    </a:p>
                  </a:txBody>
                  <a:tcPr marL="70000" marR="70000" marT="25000" marB="25000" anchor="ctr">
                    <a:solidFill>
                      <a:srgbClr val="F3F5F8"/>
                    </a:solidFill>
                  </a:tcPr>
                </a:tc>
                <a:tc>
                  <a:txBody>
                    <a:bodyPr/>
                    <a:lstStyle/>
                    <a:p>
                      <a:r>
                        <a:rPr sz="1050" b="0">
                          <a:solidFill>
                            <a:srgbClr val="1B2A3A"/>
                          </a:solidFill>
                          <a:latin typeface="Segoe UI"/>
                        </a:rPr>
                        <a:t>Detener nuevas solicitudes, revocar acceso y hacer rollback</a:t>
                      </a:r>
                    </a:p>
                  </a:txBody>
                  <a:tcPr marL="70000" marR="70000" marT="25000" marB="25000" anchor="ctr">
                    <a:solidFill>
                      <a:srgbClr val="F3F5F8"/>
                    </a:solidFill>
                  </a:tcPr>
                </a:tc>
                <a:tc>
                  <a:txBody>
                    <a:bodyPr/>
                    <a:lstStyle/>
                    <a:p>
                      <a:r>
                        <a:rPr sz="1050" b="0" dirty="0" err="1">
                          <a:solidFill>
                            <a:srgbClr val="1B2A3A"/>
                          </a:solidFill>
                          <a:latin typeface="Segoe UI"/>
                        </a:rPr>
                        <a:t>Capacidades</a:t>
                      </a:r>
                      <a:r>
                        <a:rPr sz="1050" b="0" dirty="0">
                          <a:solidFill>
                            <a:srgbClr val="1B2A3A"/>
                          </a:solidFill>
                          <a:latin typeface="Segoe UI"/>
                        </a:rPr>
                        <a:t> de </a:t>
                      </a:r>
                      <a:r>
                        <a:rPr sz="1050" b="0" dirty="0" err="1">
                          <a:solidFill>
                            <a:srgbClr val="1B2A3A"/>
                          </a:solidFill>
                          <a:latin typeface="Segoe UI"/>
                        </a:rPr>
                        <a:t>plataforma</a:t>
                      </a:r>
                      <a:endParaRPr sz="1050" b="0" dirty="0">
                        <a:solidFill>
                          <a:srgbClr val="1B2A3A"/>
                        </a:solidFill>
                        <a:latin typeface="Segoe UI"/>
                      </a:endParaRPr>
                    </a:p>
                  </a:txBody>
                  <a:tcPr marL="70000" marR="70000" marT="25000" marB="25000" anchor="ctr">
                    <a:solidFill>
                      <a:srgbClr val="F3F5F8"/>
                    </a:solidFill>
                  </a:tcPr>
                </a:tc>
                <a:extLst>
                  <a:ext uri="{0D108BD9-81ED-4DB2-BD59-A6C34878D82A}">
                    <a16:rowId xmlns:a16="http://schemas.microsoft.com/office/drawing/2014/main" val="10008"/>
                  </a:ext>
                </a:extLst>
              </a:tr>
            </a:tbl>
          </a:graphicData>
        </a:graphic>
      </p:graphicFrame>
      <p:sp>
        <p:nvSpPr>
          <p:cNvPr id="8" name="Text 6"/>
          <p:cNvSpPr/>
          <p:nvPr/>
        </p:nvSpPr>
        <p:spPr>
          <a:xfrm>
            <a:off x="548640" y="5700000"/>
            <a:ext cx="11094415" cy="450000"/>
          </a:xfrm>
          <a:prstGeom prst="rect">
            <a:avLst/>
          </a:prstGeom>
          <a:noFill/>
          <a:ln/>
        </p:spPr>
        <p:txBody>
          <a:bodyPr wrap="square" lIns="0" tIns="0" rIns="0" bIns="0" rtlCol="0" anchor="ctr"/>
          <a:lstStyle/>
          <a:p>
            <a:pPr marL="0" indent="0">
              <a:spcAft>
                <a:spcPts val="500"/>
              </a:spcAft>
              <a:buSzPct val="100000"/>
              <a:buNone/>
            </a:pPr>
            <a:r>
              <a:rPr sz="1300" b="0">
                <a:solidFill>
                  <a:srgbClr val="5B6B7B"/>
                </a:solidFill>
                <a:latin typeface="Segoe UI"/>
              </a:rPr>
              <a:t>Estados verificados contra documentación oficial (oct-2026); GA/Preview puede cambiar. Un guardrail “active” no prueba protección: validar con pruebas de bloqueo.</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Operar agentes: monitoreo, respuesta y contención</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42</a:t>
            </a:fld>
            <a:endParaRPr lang="en-US"/>
          </a:p>
        </p:txBody>
      </p:sp>
      <p:sp>
        <p:nvSpPr>
          <p:cNvPr id="6" name="Shape 4"/>
          <p:cNvSpPr/>
          <p:nvPr/>
        </p:nvSpPr>
        <p:spPr>
          <a:xfrm>
            <a:off x="548640" y="1508760"/>
            <a:ext cx="5457207" cy="205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2050000"/>
          </a:xfrm>
          <a:prstGeom prst="rect">
            <a:avLst/>
          </a:prstGeom>
          <a:solidFill>
            <a:srgbClr val="0B1F33"/>
          </a:solidFill>
          <a:ln/>
        </p:spPr>
        <p:txBody>
          <a:bodyPr/>
          <a:lstStyle/>
          <a:p>
            <a:endParaRPr lang="en-US"/>
          </a:p>
        </p:txBody>
      </p:sp>
      <p:sp>
        <p:nvSpPr>
          <p:cNvPr id="8" name="Text 6"/>
          <p:cNvSpPr/>
          <p:nvPr/>
        </p:nvSpPr>
        <p:spPr>
          <a:xfrm>
            <a:off x="748640" y="1598760"/>
            <a:ext cx="5157207" cy="1900000"/>
          </a:xfrm>
          <a:prstGeom prst="rect">
            <a:avLst/>
          </a:prstGeom>
          <a:noFill/>
          <a:ln/>
        </p:spPr>
        <p:txBody>
          <a:bodyPr wrap="square" lIns="0" tIns="0" rIns="0" bIns="0" rtlCol="0" anchor="t"/>
          <a:lstStyle/>
          <a:p>
            <a:pPr marL="0" indent="0">
              <a:spcAft>
                <a:spcPts val="500"/>
              </a:spcAft>
              <a:buSzPct val="100000"/>
              <a:buNone/>
            </a:pPr>
            <a:r>
              <a:rPr sz="1450" b="1" dirty="0" err="1">
                <a:solidFill>
                  <a:srgbClr val="0B1F33"/>
                </a:solidFill>
                <a:latin typeface="Segoe UI Semibold"/>
              </a:rPr>
              <a:t>Observar</a:t>
            </a:r>
            <a:r>
              <a:rPr sz="1450" b="1" dirty="0">
                <a:solidFill>
                  <a:srgbClr val="0B1F33"/>
                </a:solidFill>
                <a:latin typeface="Segoe UI Semibold"/>
              </a:rPr>
              <a:t> y </a:t>
            </a:r>
            <a:r>
              <a:rPr sz="1450" b="1" dirty="0" err="1">
                <a:solidFill>
                  <a:srgbClr val="0B1F33"/>
                </a:solidFill>
                <a:latin typeface="Segoe UI Semibold"/>
              </a:rPr>
              <a:t>auditar</a:t>
            </a:r>
            <a:endParaRPr lang="en-US" sz="2000" dirty="0"/>
          </a:p>
          <a:p>
            <a:pPr marL="0" indent="0">
              <a:spcAft>
                <a:spcPts val="500"/>
              </a:spcAft>
              <a:buNone/>
            </a:pPr>
            <a:r>
              <a:rPr sz="1500" b="0" dirty="0">
                <a:solidFill>
                  <a:srgbClr val="1B2A3A"/>
                </a:solidFill>
                <a:latin typeface="Segoe UI"/>
              </a:rPr>
              <a:t>• Tracing </a:t>
            </a:r>
            <a:r>
              <a:rPr sz="1500" b="0" dirty="0" err="1">
                <a:solidFill>
                  <a:srgbClr val="1B2A3A"/>
                </a:solidFill>
                <a:latin typeface="Segoe UI"/>
              </a:rPr>
              <a:t>OpenTelemetry</a:t>
            </a:r>
            <a:r>
              <a:rPr sz="1500" b="0" dirty="0">
                <a:solidFill>
                  <a:srgbClr val="1B2A3A"/>
                </a:solidFill>
                <a:latin typeface="Segoe UI"/>
              </a:rPr>
              <a:t>: GA </a:t>
            </a:r>
            <a:r>
              <a:rPr sz="1500" b="0" dirty="0" err="1">
                <a:solidFill>
                  <a:srgbClr val="1B2A3A"/>
                </a:solidFill>
                <a:latin typeface="Segoe UI"/>
              </a:rPr>
              <a:t>en</a:t>
            </a:r>
            <a:r>
              <a:rPr sz="1500" b="0" dirty="0">
                <a:solidFill>
                  <a:srgbClr val="1B2A3A"/>
                </a:solidFill>
                <a:latin typeface="Segoe UI"/>
              </a:rPr>
              <a:t> </a:t>
            </a:r>
            <a:r>
              <a:rPr sz="1500" b="0" dirty="0" err="1">
                <a:solidFill>
                  <a:srgbClr val="1B2A3A"/>
                </a:solidFill>
                <a:latin typeface="Segoe UI"/>
              </a:rPr>
              <a:t>agentes</a:t>
            </a:r>
            <a:r>
              <a:rPr sz="1500" b="0" dirty="0">
                <a:solidFill>
                  <a:srgbClr val="1B2A3A"/>
                </a:solidFill>
                <a:latin typeface="Segoe UI"/>
              </a:rPr>
              <a:t> prompt y hosted; Preview </a:t>
            </a:r>
            <a:r>
              <a:rPr sz="1500" b="0" dirty="0" err="1">
                <a:solidFill>
                  <a:srgbClr val="1B2A3A"/>
                </a:solidFill>
                <a:latin typeface="Segoe UI"/>
              </a:rPr>
              <a:t>en</a:t>
            </a:r>
            <a:r>
              <a:rPr sz="1500" b="0" dirty="0">
                <a:solidFill>
                  <a:srgbClr val="1B2A3A"/>
                </a:solidFill>
                <a:latin typeface="Segoe UI"/>
              </a:rPr>
              <a:t> workflow y </a:t>
            </a:r>
            <a:r>
              <a:rPr sz="1500" b="0" dirty="0" err="1">
                <a:solidFill>
                  <a:srgbClr val="1B2A3A"/>
                </a:solidFill>
                <a:latin typeface="Segoe UI"/>
              </a:rPr>
              <a:t>externos</a:t>
            </a:r>
            <a:endParaRPr sz="1500" b="0" dirty="0">
              <a:solidFill>
                <a:srgbClr val="1B2A3A"/>
              </a:solidFill>
              <a:latin typeface="Segoe UI"/>
            </a:endParaRPr>
          </a:p>
          <a:p>
            <a:pPr marL="0" indent="0">
              <a:spcAft>
                <a:spcPts val="500"/>
              </a:spcAft>
              <a:buNone/>
            </a:pPr>
            <a:r>
              <a:rPr sz="1500" b="0" dirty="0">
                <a:solidFill>
                  <a:srgbClr val="1B2A3A"/>
                </a:solidFill>
                <a:latin typeface="Segoe UI"/>
              </a:rPr>
              <a:t>• App Insights Agents y Agent Monitoring Dashboard: Preview</a:t>
            </a:r>
          </a:p>
          <a:p>
            <a:pPr marL="0" indent="0">
              <a:spcAft>
                <a:spcPts val="500"/>
              </a:spcAft>
              <a:buNone/>
            </a:pPr>
            <a:r>
              <a:rPr sz="1500" b="0" dirty="0">
                <a:solidFill>
                  <a:srgbClr val="1B2A3A"/>
                </a:solidFill>
                <a:latin typeface="Segoe UI"/>
              </a:rPr>
              <a:t>• </a:t>
            </a:r>
            <a:r>
              <a:rPr sz="1500" b="0" dirty="0" err="1">
                <a:solidFill>
                  <a:srgbClr val="1B2A3A"/>
                </a:solidFill>
                <a:latin typeface="Segoe UI"/>
              </a:rPr>
              <a:t>Auditoría</a:t>
            </a:r>
            <a:r>
              <a:rPr sz="1500" b="0" dirty="0">
                <a:solidFill>
                  <a:srgbClr val="1B2A3A"/>
                </a:solidFill>
                <a:latin typeface="Segoe UI"/>
              </a:rPr>
              <a:t>: logs de </a:t>
            </a:r>
            <a:r>
              <a:rPr sz="1500" b="0" dirty="0" err="1">
                <a:solidFill>
                  <a:srgbClr val="1B2A3A"/>
                </a:solidFill>
                <a:latin typeface="Segoe UI"/>
              </a:rPr>
              <a:t>diagnóstico</a:t>
            </a:r>
            <a:endParaRPr sz="1500" b="0" dirty="0">
              <a:solidFill>
                <a:srgbClr val="1B2A3A"/>
              </a:solidFill>
              <a:latin typeface="Segoe UI"/>
            </a:endParaRPr>
          </a:p>
        </p:txBody>
      </p:sp>
      <p:sp>
        <p:nvSpPr>
          <p:cNvPr id="9" name="Shape 4"/>
          <p:cNvSpPr/>
          <p:nvPr/>
        </p:nvSpPr>
        <p:spPr>
          <a:xfrm>
            <a:off x="6185847" y="1508760"/>
            <a:ext cx="5457207" cy="205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5"/>
          <p:cNvSpPr/>
          <p:nvPr/>
        </p:nvSpPr>
        <p:spPr>
          <a:xfrm>
            <a:off x="6185847" y="1508760"/>
            <a:ext cx="82296" cy="2050000"/>
          </a:xfrm>
          <a:prstGeom prst="rect">
            <a:avLst/>
          </a:prstGeom>
          <a:solidFill>
            <a:srgbClr val="E8743B"/>
          </a:solidFill>
          <a:ln/>
        </p:spPr>
        <p:txBody>
          <a:bodyPr/>
          <a:lstStyle/>
          <a:p>
            <a:endParaRPr lang="en-US"/>
          </a:p>
        </p:txBody>
      </p:sp>
      <p:sp>
        <p:nvSpPr>
          <p:cNvPr id="11" name="Text 6"/>
          <p:cNvSpPr/>
          <p:nvPr/>
        </p:nvSpPr>
        <p:spPr>
          <a:xfrm>
            <a:off x="6385847" y="1598760"/>
            <a:ext cx="5157207" cy="1900000"/>
          </a:xfrm>
          <a:prstGeom prst="rect">
            <a:avLst/>
          </a:prstGeom>
          <a:noFill/>
          <a:ln/>
        </p:spPr>
        <p:txBody>
          <a:bodyPr wrap="square" lIns="0" tIns="0" rIns="0" bIns="0" rtlCol="0" anchor="t"/>
          <a:lstStyle/>
          <a:p>
            <a:pPr marL="0" indent="0">
              <a:spcAft>
                <a:spcPts val="500"/>
              </a:spcAft>
              <a:buSzPct val="100000"/>
              <a:buNone/>
            </a:pPr>
            <a:r>
              <a:rPr sz="1450" b="1" dirty="0" err="1">
                <a:solidFill>
                  <a:srgbClr val="0B1F33"/>
                </a:solidFill>
                <a:latin typeface="Segoe UI Semibold"/>
              </a:rPr>
              <a:t>Probar</a:t>
            </a:r>
            <a:r>
              <a:rPr sz="1450" b="1" dirty="0">
                <a:solidFill>
                  <a:srgbClr val="0B1F33"/>
                </a:solidFill>
                <a:latin typeface="Segoe UI Semibold"/>
              </a:rPr>
              <a:t> y </a:t>
            </a:r>
            <a:r>
              <a:rPr sz="1450" b="1" dirty="0" err="1">
                <a:solidFill>
                  <a:srgbClr val="0B1F33"/>
                </a:solidFill>
                <a:latin typeface="Segoe UI Semibold"/>
              </a:rPr>
              <a:t>detectar</a:t>
            </a:r>
            <a:endParaRPr lang="en-US" sz="2000" dirty="0"/>
          </a:p>
          <a:p>
            <a:pPr marL="0" indent="0">
              <a:spcAft>
                <a:spcPts val="500"/>
              </a:spcAft>
              <a:buNone/>
            </a:pPr>
            <a:r>
              <a:rPr sz="1500" b="0" dirty="0">
                <a:solidFill>
                  <a:srgbClr val="1B2A3A"/>
                </a:solidFill>
                <a:latin typeface="Segoe UI"/>
              </a:rPr>
              <a:t>• </a:t>
            </a:r>
            <a:r>
              <a:rPr sz="1500" b="0" dirty="0" err="1">
                <a:solidFill>
                  <a:srgbClr val="1B2A3A"/>
                </a:solidFill>
                <a:latin typeface="Segoe UI"/>
              </a:rPr>
              <a:t>Evaluación</a:t>
            </a:r>
            <a:r>
              <a:rPr sz="1500" b="0" dirty="0">
                <a:solidFill>
                  <a:srgbClr val="1B2A3A"/>
                </a:solidFill>
                <a:latin typeface="Segoe UI"/>
              </a:rPr>
              <a:t> continua y </a:t>
            </a:r>
            <a:r>
              <a:rPr sz="1500" b="0" dirty="0" err="1">
                <a:solidFill>
                  <a:srgbClr val="1B2A3A"/>
                </a:solidFill>
                <a:latin typeface="Segoe UI"/>
              </a:rPr>
              <a:t>programada</a:t>
            </a:r>
            <a:r>
              <a:rPr sz="1500" b="0" dirty="0">
                <a:solidFill>
                  <a:srgbClr val="1B2A3A"/>
                </a:solidFill>
                <a:latin typeface="Segoe UI"/>
              </a:rPr>
              <a:t> (Preview): </a:t>
            </a:r>
            <a:r>
              <a:rPr sz="1500" b="0" dirty="0" err="1">
                <a:solidFill>
                  <a:srgbClr val="1B2A3A"/>
                </a:solidFill>
                <a:latin typeface="Segoe UI"/>
              </a:rPr>
              <a:t>sobre</a:t>
            </a:r>
            <a:r>
              <a:rPr sz="1500" b="0" dirty="0">
                <a:solidFill>
                  <a:srgbClr val="1B2A3A"/>
                </a:solidFill>
                <a:latin typeface="Segoe UI"/>
              </a:rPr>
              <a:t> </a:t>
            </a:r>
            <a:r>
              <a:rPr sz="1500" b="0" dirty="0" err="1">
                <a:solidFill>
                  <a:srgbClr val="1B2A3A"/>
                </a:solidFill>
                <a:latin typeface="Segoe UI"/>
              </a:rPr>
              <a:t>tráfico</a:t>
            </a:r>
            <a:r>
              <a:rPr sz="1500" b="0" dirty="0">
                <a:solidFill>
                  <a:srgbClr val="1B2A3A"/>
                </a:solidFill>
                <a:latin typeface="Segoe UI"/>
              </a:rPr>
              <a:t> </a:t>
            </a:r>
            <a:r>
              <a:rPr sz="1500" b="0" dirty="0" err="1">
                <a:solidFill>
                  <a:srgbClr val="1B2A3A"/>
                </a:solidFill>
                <a:latin typeface="Segoe UI"/>
              </a:rPr>
              <a:t>muestreado</a:t>
            </a:r>
            <a:r>
              <a:rPr sz="1500" b="0" dirty="0">
                <a:solidFill>
                  <a:srgbClr val="1B2A3A"/>
                </a:solidFill>
                <a:latin typeface="Segoe UI"/>
              </a:rPr>
              <a:t>, no </a:t>
            </a:r>
            <a:r>
              <a:rPr sz="1500" b="0" dirty="0" err="1">
                <a:solidFill>
                  <a:srgbClr val="1B2A3A"/>
                </a:solidFill>
                <a:latin typeface="Segoe UI"/>
              </a:rPr>
              <a:t>todas</a:t>
            </a:r>
            <a:r>
              <a:rPr sz="1500" b="0" dirty="0">
                <a:solidFill>
                  <a:srgbClr val="1B2A3A"/>
                </a:solidFill>
                <a:latin typeface="Segoe UI"/>
              </a:rPr>
              <a:t> las </a:t>
            </a:r>
            <a:r>
              <a:rPr sz="1500" b="0" dirty="0" err="1">
                <a:solidFill>
                  <a:srgbClr val="1B2A3A"/>
                </a:solidFill>
                <a:latin typeface="Segoe UI"/>
              </a:rPr>
              <a:t>interacciones</a:t>
            </a:r>
            <a:endParaRPr sz="1500" b="0" dirty="0">
              <a:solidFill>
                <a:srgbClr val="1B2A3A"/>
              </a:solidFill>
              <a:latin typeface="Segoe UI"/>
            </a:endParaRPr>
          </a:p>
          <a:p>
            <a:pPr marL="0" indent="0">
              <a:spcAft>
                <a:spcPts val="500"/>
              </a:spcAft>
              <a:buNone/>
            </a:pPr>
            <a:r>
              <a:rPr sz="1500" b="0" dirty="0">
                <a:solidFill>
                  <a:srgbClr val="1B2A3A"/>
                </a:solidFill>
                <a:latin typeface="Segoe UI"/>
              </a:rPr>
              <a:t>• AI Red Teaming (</a:t>
            </a:r>
            <a:r>
              <a:rPr sz="1500" b="0" dirty="0" err="1">
                <a:solidFill>
                  <a:srgbClr val="1B2A3A"/>
                </a:solidFill>
                <a:latin typeface="Segoe UI"/>
              </a:rPr>
              <a:t>PyRIT</a:t>
            </a:r>
            <a:r>
              <a:rPr sz="1500" b="0" dirty="0">
                <a:solidFill>
                  <a:srgbClr val="1B2A3A"/>
                </a:solidFill>
                <a:latin typeface="Segoe UI"/>
              </a:rPr>
              <a:t>): pre-</a:t>
            </a:r>
            <a:r>
              <a:rPr sz="1500" b="0" dirty="0" err="1">
                <a:solidFill>
                  <a:srgbClr val="1B2A3A"/>
                </a:solidFill>
                <a:latin typeface="Segoe UI"/>
              </a:rPr>
              <a:t>despliegue</a:t>
            </a:r>
            <a:r>
              <a:rPr sz="1500" b="0" dirty="0">
                <a:solidFill>
                  <a:srgbClr val="1B2A3A"/>
                </a:solidFill>
                <a:latin typeface="Segoe UI"/>
              </a:rPr>
              <a:t> y </a:t>
            </a:r>
            <a:r>
              <a:rPr sz="1500" b="0" dirty="0" err="1">
                <a:solidFill>
                  <a:srgbClr val="1B2A3A"/>
                </a:solidFill>
                <a:latin typeface="Segoe UI"/>
              </a:rPr>
              <a:t>programado</a:t>
            </a:r>
            <a:r>
              <a:rPr sz="1500" b="0" dirty="0">
                <a:solidFill>
                  <a:srgbClr val="1B2A3A"/>
                </a:solidFill>
                <a:latin typeface="Segoe UI"/>
              </a:rPr>
              <a:t> (Preview)</a:t>
            </a:r>
          </a:p>
          <a:p>
            <a:pPr marL="0" indent="0">
              <a:spcAft>
                <a:spcPts val="500"/>
              </a:spcAft>
              <a:buNone/>
            </a:pPr>
            <a:r>
              <a:rPr sz="1500" b="0" dirty="0">
                <a:solidFill>
                  <a:srgbClr val="1B2A3A"/>
                </a:solidFill>
                <a:latin typeface="Segoe UI"/>
              </a:rPr>
              <a:t>• Defender: </a:t>
            </a:r>
            <a:r>
              <a:rPr sz="1500" b="0" dirty="0" err="1">
                <a:solidFill>
                  <a:srgbClr val="1B2A3A"/>
                </a:solidFill>
                <a:latin typeface="Segoe UI"/>
              </a:rPr>
              <a:t>modelos</a:t>
            </a:r>
            <a:r>
              <a:rPr sz="1500" b="0" dirty="0">
                <a:solidFill>
                  <a:srgbClr val="1B2A3A"/>
                </a:solidFill>
                <a:latin typeface="Segoe UI"/>
              </a:rPr>
              <a:t> GA; </a:t>
            </a:r>
            <a:r>
              <a:rPr sz="1500" b="0" dirty="0" err="1">
                <a:solidFill>
                  <a:srgbClr val="1B2A3A"/>
                </a:solidFill>
                <a:latin typeface="Segoe UI"/>
              </a:rPr>
              <a:t>agentes</a:t>
            </a:r>
            <a:r>
              <a:rPr sz="1500" b="0" dirty="0">
                <a:solidFill>
                  <a:srgbClr val="1B2A3A"/>
                </a:solidFill>
                <a:latin typeface="Segoe UI"/>
              </a:rPr>
              <a:t> Preview</a:t>
            </a:r>
          </a:p>
        </p:txBody>
      </p:sp>
      <p:sp>
        <p:nvSpPr>
          <p:cNvPr id="12" name="Shape 4"/>
          <p:cNvSpPr/>
          <p:nvPr/>
        </p:nvSpPr>
        <p:spPr>
          <a:xfrm>
            <a:off x="548640" y="3738760"/>
            <a:ext cx="5457207" cy="205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5"/>
          <p:cNvSpPr/>
          <p:nvPr/>
        </p:nvSpPr>
        <p:spPr>
          <a:xfrm>
            <a:off x="548640" y="3738760"/>
            <a:ext cx="82296" cy="2050000"/>
          </a:xfrm>
          <a:prstGeom prst="rect">
            <a:avLst/>
          </a:prstGeom>
          <a:solidFill>
            <a:srgbClr val="E8743B"/>
          </a:solidFill>
          <a:ln/>
        </p:spPr>
        <p:txBody>
          <a:bodyPr/>
          <a:lstStyle/>
          <a:p>
            <a:endParaRPr lang="en-US"/>
          </a:p>
        </p:txBody>
      </p:sp>
      <p:sp>
        <p:nvSpPr>
          <p:cNvPr id="14" name="Text 6"/>
          <p:cNvSpPr/>
          <p:nvPr/>
        </p:nvSpPr>
        <p:spPr>
          <a:xfrm>
            <a:off x="748640" y="3828760"/>
            <a:ext cx="5157207" cy="1900000"/>
          </a:xfrm>
          <a:prstGeom prst="rect">
            <a:avLst/>
          </a:prstGeom>
          <a:noFill/>
          <a:ln/>
        </p:spPr>
        <p:txBody>
          <a:bodyPr wrap="square" lIns="0" tIns="0" rIns="0" bIns="0" rtlCol="0" anchor="t"/>
          <a:lstStyle/>
          <a:p>
            <a:pPr marL="0" indent="0">
              <a:spcAft>
                <a:spcPts val="500"/>
              </a:spcAft>
              <a:buSzPct val="100000"/>
              <a:buNone/>
            </a:pPr>
            <a:r>
              <a:rPr sz="1450" b="1">
                <a:solidFill>
                  <a:srgbClr val="0B1F33"/>
                </a:solidFill>
                <a:latin typeface="Segoe UI Semibold"/>
              </a:rPr>
              <a:t>Runbook de contención</a:t>
            </a:r>
            <a:endParaRPr lang="en-US" sz="2000" dirty="0"/>
          </a:p>
          <a:p>
            <a:pPr marL="0" indent="0">
              <a:spcAft>
                <a:spcPts val="500"/>
              </a:spcAft>
              <a:buNone/>
            </a:pPr>
            <a:r>
              <a:rPr sz="1500" b="0">
                <a:solidFill>
                  <a:srgbClr val="1B2A3A"/>
                </a:solidFill>
                <a:latin typeface="Segoe UI"/>
              </a:rPr>
              <a:t>• 1. Deshabilitar el endpoint del agente</a:t>
            </a:r>
          </a:p>
          <a:p>
            <a:pPr marL="0" indent="0">
              <a:spcAft>
                <a:spcPts val="500"/>
              </a:spcAft>
              <a:buNone/>
            </a:pPr>
            <a:r>
              <a:rPr sz="1500" b="0">
                <a:solidFill>
                  <a:srgbClr val="1B2A3A"/>
                </a:solidFill>
                <a:latin typeface="Segoe UI"/>
              </a:rPr>
              <a:t>• 2. Bloquear identidad/blueprint o Conditional Access</a:t>
            </a:r>
          </a:p>
          <a:p>
            <a:pPr marL="0" indent="0">
              <a:spcAft>
                <a:spcPts val="500"/>
              </a:spcAft>
              <a:buNone/>
            </a:pPr>
            <a:r>
              <a:rPr sz="1500" b="0">
                <a:solidFill>
                  <a:srgbClr val="1B2A3A"/>
                </a:solidFill>
                <a:latin typeface="Segoe UI"/>
              </a:rPr>
              <a:t>• 3. Rollback: fijar versión conocida y verificar con sesión nueva</a:t>
            </a:r>
          </a:p>
          <a:p>
            <a:pPr marL="0" indent="0">
              <a:spcAft>
                <a:spcPts val="500"/>
              </a:spcAft>
              <a:buNone/>
            </a:pPr>
            <a:r>
              <a:rPr sz="1500" b="0">
                <a:solidFill>
                  <a:srgbClr val="1B2A3A"/>
                </a:solidFill>
                <a:latin typeface="Segoe UI"/>
              </a:rPr>
              <a:t>• 4. Compensar efectos externos por separado. No cancela ejecuciones ni tokens ya emitidos</a:t>
            </a:r>
          </a:p>
        </p:txBody>
      </p:sp>
      <p:sp>
        <p:nvSpPr>
          <p:cNvPr id="15" name="Shape 4"/>
          <p:cNvSpPr/>
          <p:nvPr/>
        </p:nvSpPr>
        <p:spPr>
          <a:xfrm>
            <a:off x="6185847" y="3738760"/>
            <a:ext cx="5457207" cy="20500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6" name="Shape 5"/>
          <p:cNvSpPr/>
          <p:nvPr/>
        </p:nvSpPr>
        <p:spPr>
          <a:xfrm>
            <a:off x="6185847" y="3738760"/>
            <a:ext cx="82296" cy="2050000"/>
          </a:xfrm>
          <a:prstGeom prst="rect">
            <a:avLst/>
          </a:prstGeom>
          <a:solidFill>
            <a:srgbClr val="0B1F33"/>
          </a:solidFill>
          <a:ln/>
        </p:spPr>
        <p:txBody>
          <a:bodyPr/>
          <a:lstStyle/>
          <a:p>
            <a:endParaRPr lang="en-US"/>
          </a:p>
        </p:txBody>
      </p:sp>
      <p:sp>
        <p:nvSpPr>
          <p:cNvPr id="17" name="Text 6"/>
          <p:cNvSpPr/>
          <p:nvPr/>
        </p:nvSpPr>
        <p:spPr>
          <a:xfrm>
            <a:off x="6385847" y="3828760"/>
            <a:ext cx="5157207" cy="1900000"/>
          </a:xfrm>
          <a:prstGeom prst="rect">
            <a:avLst/>
          </a:prstGeom>
          <a:noFill/>
          <a:ln/>
        </p:spPr>
        <p:txBody>
          <a:bodyPr wrap="square" lIns="0" tIns="0" rIns="0" bIns="0" rtlCol="0" anchor="t"/>
          <a:lstStyle/>
          <a:p>
            <a:pPr marL="0" indent="0">
              <a:spcAft>
                <a:spcPts val="500"/>
              </a:spcAft>
              <a:buSzPct val="100000"/>
              <a:buNone/>
            </a:pPr>
            <a:r>
              <a:rPr sz="1450" b="1" dirty="0" err="1">
                <a:solidFill>
                  <a:srgbClr val="0B1F33"/>
                </a:solidFill>
                <a:latin typeface="Segoe UI Semibold"/>
              </a:rPr>
              <a:t>Prevenir</a:t>
            </a:r>
            <a:r>
              <a:rPr sz="1450" b="1" dirty="0">
                <a:solidFill>
                  <a:srgbClr val="0B1F33"/>
                </a:solidFill>
                <a:latin typeface="Segoe UI Semibold"/>
              </a:rPr>
              <a:t> y </a:t>
            </a:r>
            <a:r>
              <a:rPr sz="1450" b="1" dirty="0" err="1">
                <a:solidFill>
                  <a:srgbClr val="0B1F33"/>
                </a:solidFill>
                <a:latin typeface="Segoe UI Semibold"/>
              </a:rPr>
              <a:t>acotar</a:t>
            </a:r>
            <a:endParaRPr lang="en-US" sz="2000" dirty="0"/>
          </a:p>
          <a:p>
            <a:pPr marL="0" indent="0">
              <a:spcAft>
                <a:spcPts val="500"/>
              </a:spcAft>
              <a:buNone/>
            </a:pPr>
            <a:r>
              <a:rPr sz="1500" b="0" dirty="0">
                <a:solidFill>
                  <a:srgbClr val="1B2A3A"/>
                </a:solidFill>
                <a:latin typeface="Segoe UI"/>
              </a:rPr>
              <a:t>• TPM/</a:t>
            </a:r>
            <a:r>
              <a:rPr sz="1500" b="0" dirty="0" err="1">
                <a:solidFill>
                  <a:srgbClr val="1B2A3A"/>
                </a:solidFill>
                <a:latin typeface="Segoe UI"/>
              </a:rPr>
              <a:t>cuotas</a:t>
            </a:r>
            <a:r>
              <a:rPr sz="1500" b="0" dirty="0">
                <a:solidFill>
                  <a:srgbClr val="1B2A3A"/>
                </a:solidFill>
                <a:latin typeface="Segoe UI"/>
              </a:rPr>
              <a:t> (AI Gateway) </a:t>
            </a:r>
            <a:r>
              <a:rPr sz="1500" b="0" dirty="0" err="1">
                <a:solidFill>
                  <a:srgbClr val="1B2A3A"/>
                </a:solidFill>
                <a:latin typeface="Segoe UI"/>
              </a:rPr>
              <a:t>limitan</a:t>
            </a:r>
            <a:r>
              <a:rPr sz="1500" b="0" dirty="0">
                <a:solidFill>
                  <a:srgbClr val="1B2A3A"/>
                </a:solidFill>
                <a:latin typeface="Segoe UI"/>
              </a:rPr>
              <a:t> </a:t>
            </a:r>
            <a:r>
              <a:rPr sz="1500" b="0" dirty="0" err="1">
                <a:solidFill>
                  <a:srgbClr val="1B2A3A"/>
                </a:solidFill>
                <a:latin typeface="Segoe UI"/>
              </a:rPr>
              <a:t>consumo</a:t>
            </a:r>
            <a:r>
              <a:rPr sz="1500" b="0" dirty="0">
                <a:solidFill>
                  <a:srgbClr val="1B2A3A"/>
                </a:solidFill>
                <a:latin typeface="Segoe UI"/>
              </a:rPr>
              <a:t>, no </a:t>
            </a:r>
            <a:r>
              <a:rPr sz="1500" b="0" dirty="0" err="1">
                <a:solidFill>
                  <a:srgbClr val="1B2A3A"/>
                </a:solidFill>
                <a:latin typeface="Segoe UI"/>
              </a:rPr>
              <a:t>iteraciones</a:t>
            </a:r>
            <a:r>
              <a:rPr sz="1500" b="0" dirty="0">
                <a:solidFill>
                  <a:srgbClr val="1B2A3A"/>
                </a:solidFill>
                <a:latin typeface="Segoe UI"/>
              </a:rPr>
              <a:t>; </a:t>
            </a:r>
            <a:r>
              <a:rPr sz="1500" b="0" dirty="0" err="1">
                <a:solidFill>
                  <a:srgbClr val="1B2A3A"/>
                </a:solidFill>
                <a:latin typeface="Segoe UI"/>
              </a:rPr>
              <a:t>acotar</a:t>
            </a:r>
            <a:r>
              <a:rPr sz="1500" b="0" dirty="0">
                <a:solidFill>
                  <a:srgbClr val="1B2A3A"/>
                </a:solidFill>
                <a:latin typeface="Segoe UI"/>
              </a:rPr>
              <a:t> </a:t>
            </a:r>
            <a:r>
              <a:rPr sz="1500" b="0" dirty="0" err="1">
                <a:solidFill>
                  <a:srgbClr val="1B2A3A"/>
                </a:solidFill>
                <a:latin typeface="Segoe UI"/>
              </a:rPr>
              <a:t>bucles</a:t>
            </a:r>
            <a:r>
              <a:rPr sz="1500" b="0" dirty="0">
                <a:solidFill>
                  <a:srgbClr val="1B2A3A"/>
                </a:solidFill>
                <a:latin typeface="Segoe UI"/>
              </a:rPr>
              <a:t> </a:t>
            </a:r>
            <a:r>
              <a:rPr sz="1500" b="0" dirty="0" err="1">
                <a:solidFill>
                  <a:srgbClr val="1B2A3A"/>
                </a:solidFill>
                <a:latin typeface="Segoe UI"/>
              </a:rPr>
              <a:t>en</a:t>
            </a:r>
            <a:r>
              <a:rPr sz="1500" b="0" dirty="0">
                <a:solidFill>
                  <a:srgbClr val="1B2A3A"/>
                </a:solidFill>
                <a:latin typeface="Segoe UI"/>
              </a:rPr>
              <a:t> el framework</a:t>
            </a:r>
          </a:p>
          <a:p>
            <a:pPr marL="0" indent="0">
              <a:spcAft>
                <a:spcPts val="500"/>
              </a:spcAft>
              <a:buNone/>
            </a:pPr>
            <a:r>
              <a:rPr sz="1500" b="0" dirty="0">
                <a:solidFill>
                  <a:srgbClr val="1B2A3A"/>
                </a:solidFill>
                <a:latin typeface="Segoe UI"/>
              </a:rPr>
              <a:t>• MCP: </a:t>
            </a:r>
            <a:r>
              <a:rPr sz="1500" b="0" dirty="0" err="1">
                <a:solidFill>
                  <a:srgbClr val="1B2A3A"/>
                </a:solidFill>
                <a:latin typeface="Segoe UI"/>
              </a:rPr>
              <a:t>require_approval</a:t>
            </a:r>
            <a:r>
              <a:rPr sz="1500" b="0" dirty="0">
                <a:solidFill>
                  <a:srgbClr val="1B2A3A"/>
                </a:solidFill>
                <a:latin typeface="Segoe UI"/>
              </a:rPr>
              <a:t>="always" </a:t>
            </a:r>
            <a:r>
              <a:rPr sz="1500" b="0" dirty="0" err="1">
                <a:solidFill>
                  <a:srgbClr val="1B2A3A"/>
                </a:solidFill>
                <a:latin typeface="Segoe UI"/>
              </a:rPr>
              <a:t>por</a:t>
            </a:r>
            <a:r>
              <a:rPr sz="1500" b="0" dirty="0">
                <a:solidFill>
                  <a:srgbClr val="1B2A3A"/>
                </a:solidFill>
                <a:latin typeface="Segoe UI"/>
              </a:rPr>
              <a:t> </a:t>
            </a:r>
            <a:r>
              <a:rPr sz="1500" b="0" dirty="0" err="1">
                <a:solidFill>
                  <a:srgbClr val="1B2A3A"/>
                </a:solidFill>
                <a:latin typeface="Segoe UI"/>
              </a:rPr>
              <a:t>defecto</a:t>
            </a:r>
            <a:endParaRPr sz="1500" b="0" dirty="0">
              <a:solidFill>
                <a:srgbClr val="1B2A3A"/>
              </a:solidFill>
              <a:latin typeface="Segoe UI"/>
            </a:endParaRPr>
          </a:p>
          <a:p>
            <a:pPr marL="0" indent="0">
              <a:spcAft>
                <a:spcPts val="500"/>
              </a:spcAft>
              <a:buNone/>
            </a:pPr>
            <a:r>
              <a:rPr sz="1500" b="0" dirty="0">
                <a:solidFill>
                  <a:srgbClr val="1B2A3A"/>
                </a:solidFill>
                <a:latin typeface="Segoe UI"/>
              </a:rPr>
              <a:t>• Guardrail “active” </a:t>
            </a:r>
            <a:r>
              <a:rPr sz="1500" b="0" dirty="0" err="1">
                <a:solidFill>
                  <a:srgbClr val="1B2A3A"/>
                </a:solidFill>
                <a:latin typeface="Segoe UI"/>
              </a:rPr>
              <a:t>puede</a:t>
            </a:r>
            <a:r>
              <a:rPr sz="1500" b="0" dirty="0">
                <a:solidFill>
                  <a:srgbClr val="1B2A3A"/>
                </a:solidFill>
                <a:latin typeface="Segoe UI"/>
              </a:rPr>
              <a:t> </a:t>
            </a:r>
            <a:r>
              <a:rPr sz="1500" b="0" dirty="0" err="1">
                <a:solidFill>
                  <a:srgbClr val="1B2A3A"/>
                </a:solidFill>
                <a:latin typeface="Segoe UI"/>
              </a:rPr>
              <a:t>fallar</a:t>
            </a:r>
            <a:r>
              <a:rPr sz="1500" b="0" dirty="0">
                <a:solidFill>
                  <a:srgbClr val="1B2A3A"/>
                </a:solidFill>
                <a:latin typeface="Segoe UI"/>
              </a:rPr>
              <a:t> </a:t>
            </a:r>
            <a:r>
              <a:rPr sz="1500" b="0" dirty="0" err="1">
                <a:solidFill>
                  <a:srgbClr val="1B2A3A"/>
                </a:solidFill>
                <a:latin typeface="Segoe UI"/>
              </a:rPr>
              <a:t>abierto</a:t>
            </a:r>
            <a:r>
              <a:rPr sz="1500" b="0" dirty="0">
                <a:solidFill>
                  <a:srgbClr val="1B2A3A"/>
                </a:solidFill>
                <a:latin typeface="Segoe UI"/>
              </a:rPr>
              <a:t>: </a:t>
            </a:r>
            <a:r>
              <a:rPr sz="1500" b="0" dirty="0" err="1">
                <a:solidFill>
                  <a:srgbClr val="1B2A3A"/>
                </a:solidFill>
                <a:latin typeface="Segoe UI"/>
              </a:rPr>
              <a:t>probar</a:t>
            </a:r>
            <a:r>
              <a:rPr sz="1500" b="0" dirty="0">
                <a:solidFill>
                  <a:srgbClr val="1B2A3A"/>
                </a:solidFill>
                <a:latin typeface="Segoe UI"/>
              </a:rPr>
              <a:t> </a:t>
            </a:r>
            <a:r>
              <a:rPr sz="1500" b="0" dirty="0" err="1">
                <a:solidFill>
                  <a:srgbClr val="1B2A3A"/>
                </a:solidFill>
                <a:latin typeface="Segoe UI"/>
              </a:rPr>
              <a:t>bloqueos</a:t>
            </a:r>
            <a:endParaRPr sz="1500" b="0" dirty="0">
              <a:solidFill>
                <a:srgbClr val="1B2A3A"/>
              </a:solidFill>
              <a:latin typeface="Segoe UI"/>
            </a:endParaRPr>
          </a:p>
        </p:txBody>
      </p:sp>
      <p:sp>
        <p:nvSpPr>
          <p:cNvPr id="18" name="Text 6"/>
          <p:cNvSpPr/>
          <p:nvPr/>
        </p:nvSpPr>
        <p:spPr>
          <a:xfrm>
            <a:off x="548640" y="5850000"/>
            <a:ext cx="11094415" cy="520000"/>
          </a:xfrm>
          <a:prstGeom prst="rect">
            <a:avLst/>
          </a:prstGeom>
          <a:noFill/>
          <a:ln/>
        </p:spPr>
        <p:txBody>
          <a:bodyPr wrap="square" lIns="0" tIns="0" rIns="0" bIns="0" rtlCol="0" anchor="ctr"/>
          <a:lstStyle/>
          <a:p>
            <a:pPr marL="0" indent="0">
              <a:spcAft>
                <a:spcPts val="500"/>
              </a:spcAft>
              <a:buSzPct val="100000"/>
              <a:buNone/>
            </a:pPr>
            <a:r>
              <a:rPr sz="1300" b="0">
                <a:solidFill>
                  <a:srgbClr val="5B6B7B"/>
                </a:solidFill>
                <a:latin typeface="Segoe UI"/>
              </a:rPr>
              <a:t>SLOs: 95% de éxito y 10 s son referencias del dashboard, no compromisos oficiales. Definir los propios y revisarlos con evaluaciones.</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8">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E8743B">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E8743B">
              <a:alpha val="10000"/>
            </a:srgbClr>
          </a:solidFill>
          <a:ln/>
        </p:spPr>
        <p:txBody>
          <a:bodyPr/>
          <a:lstStyle/>
          <a:p>
            <a:endParaRPr lang="en-US"/>
          </a:p>
        </p:txBody>
      </p:sp>
      <p:sp>
        <p:nvSpPr>
          <p:cNvPr id="4" name="Text 2"/>
          <p:cNvSpPr/>
          <p:nvPr/>
        </p:nvSpPr>
        <p:spPr>
          <a:xfrm>
            <a:off x="548640" y="777240"/>
            <a:ext cx="3657600" cy="2194560"/>
          </a:xfrm>
          <a:prstGeom prst="rect">
            <a:avLst/>
          </a:prstGeom>
          <a:noFill/>
          <a:ln/>
        </p:spPr>
        <p:txBody>
          <a:bodyPr wrap="square" lIns="0" tIns="0" rIns="0" bIns="0" rtlCol="0" anchor="ctr"/>
          <a:lstStyle/>
          <a:p>
            <a:pPr marL="0" indent="0">
              <a:buNone/>
            </a:pPr>
            <a:r>
              <a:rPr lang="en-US" sz="12000" b="1" dirty="0">
                <a:solidFill>
                  <a:srgbClr val="E8743B"/>
                </a:solidFill>
                <a:latin typeface="Segoe UI Semibold" pitchFamily="34" charset="0"/>
                <a:ea typeface="Segoe UI Semibold" pitchFamily="34" charset="-122"/>
                <a:cs typeface="Segoe UI Semibold" pitchFamily="34" charset="-120"/>
              </a:rPr>
              <a:t>05</a:t>
            </a:r>
            <a:endParaRPr lang="en-US" sz="12000" dirty="0"/>
          </a:p>
        </p:txBody>
      </p:sp>
      <p:sp>
        <p:nvSpPr>
          <p:cNvPr id="5" name="Text 3"/>
          <p:cNvSpPr/>
          <p:nvPr/>
        </p:nvSpPr>
        <p:spPr>
          <a:xfrm>
            <a:off x="548640" y="3108960"/>
            <a:ext cx="9326880" cy="1508760"/>
          </a:xfrm>
          <a:prstGeom prst="rect">
            <a:avLst/>
          </a:prstGeom>
          <a:noFill/>
          <a:ln/>
        </p:spPr>
        <p:txBody>
          <a:bodyPr wrap="square" lIns="0" tIns="0" rIns="0" bIns="0" rtlCol="0" anchor="t"/>
          <a:lstStyle/>
          <a:p>
            <a:pPr marL="0" indent="0">
              <a:buNone/>
            </a:pPr>
            <a:r>
              <a:rPr lang="en-US" sz="4400" b="1" dirty="0">
                <a:solidFill>
                  <a:srgbClr val="FFFFFF"/>
                </a:solidFill>
                <a:latin typeface="Segoe UI Semibold" pitchFamily="34" charset="0"/>
                <a:ea typeface="Segoe UI Semibold" pitchFamily="34" charset="-122"/>
                <a:cs typeface="Segoe UI Semibold" pitchFamily="34" charset="-120"/>
              </a:rPr>
              <a:t>Workshop BCI: Architecture Decision Workshop</a:t>
            </a:r>
            <a:endParaRPr lang="en-US" sz="4400" dirty="0"/>
          </a:p>
        </p:txBody>
      </p:sp>
      <p:sp>
        <p:nvSpPr>
          <p:cNvPr id="6" name="Text 4"/>
          <p:cNvSpPr/>
          <p:nvPr/>
        </p:nvSpPr>
        <p:spPr>
          <a:xfrm>
            <a:off x="548640" y="4754880"/>
            <a:ext cx="8595360" cy="914400"/>
          </a:xfrm>
          <a:prstGeom prst="rect">
            <a:avLst/>
          </a:prstGeom>
          <a:noFill/>
          <a:ln/>
        </p:spPr>
        <p:txBody>
          <a:bodyPr wrap="square" lIns="0" tIns="0" rIns="0" bIns="0" rtlCol="0" anchor="t"/>
          <a:lstStyle/>
          <a:p>
            <a:pPr marL="0" indent="0">
              <a:buNone/>
            </a:pPr>
            <a:r>
              <a:rPr lang="en-US" sz="2000" dirty="0">
                <a:solidFill>
                  <a:srgbClr val="C9D7E4"/>
                </a:solidFill>
                <a:latin typeface="Segoe UI" pitchFamily="34" charset="0"/>
                <a:ea typeface="Segoe UI" pitchFamily="34" charset="-122"/>
                <a:cs typeface="Segoe UI" pitchFamily="34" charset="-120"/>
              </a:rPr>
              <a:t>Mapear decisiones, amenazas, SLOs y backlog sobre un caso propio</a:t>
            </a:r>
            <a:endParaRPr lang="en-US" sz="2000" dirty="0"/>
          </a:p>
        </p:txBody>
      </p:sp>
      <p:sp>
        <p:nvSpPr>
          <p:cNvPr id="7" name="Shape 5"/>
          <p:cNvSpPr/>
          <p:nvPr/>
        </p:nvSpPr>
        <p:spPr>
          <a:xfrm>
            <a:off x="548640" y="5852160"/>
            <a:ext cx="1371600" cy="384048"/>
          </a:xfrm>
          <a:prstGeom prst="roundRect">
            <a:avLst>
              <a:gd name="adj" fmla="val 23810"/>
            </a:avLst>
          </a:prstGeom>
          <a:solidFill>
            <a:srgbClr val="0B1F33"/>
          </a:solidFill>
          <a:ln w="15875">
            <a:solidFill>
              <a:srgbClr val="F5B83D"/>
            </a:solidFill>
            <a:prstDash val="solid"/>
          </a:ln>
        </p:spPr>
        <p:txBody>
          <a:bodyPr/>
          <a:lstStyle/>
          <a:p>
            <a:endParaRPr lang="en-US"/>
          </a:p>
        </p:txBody>
      </p:sp>
      <p:sp>
        <p:nvSpPr>
          <p:cNvPr id="8" name="Text 6"/>
          <p:cNvSpPr/>
          <p:nvPr/>
        </p:nvSpPr>
        <p:spPr>
          <a:xfrm>
            <a:off x="548640" y="5852160"/>
            <a:ext cx="1371600" cy="384048"/>
          </a:xfrm>
          <a:prstGeom prst="rect">
            <a:avLst/>
          </a:prstGeom>
          <a:noFill/>
          <a:ln/>
        </p:spPr>
        <p:txBody>
          <a:bodyPr wrap="square" lIns="0" tIns="0" rIns="0" bIns="0" rtlCol="0" anchor="ctr"/>
          <a:lstStyle/>
          <a:p>
            <a:pPr marL="0" indent="0" algn="ctr">
              <a:buNone/>
            </a:pPr>
            <a:r>
              <a:rPr lang="en-US" sz="1300" b="1" dirty="0">
                <a:solidFill>
                  <a:srgbClr val="F5B83D"/>
                </a:solidFill>
                <a:latin typeface="Segoe UI Semibold" pitchFamily="34" charset="0"/>
                <a:ea typeface="Segoe UI Semibold" pitchFamily="34" charset="-122"/>
                <a:cs typeface="Segoe UI Semibold" pitchFamily="34" charset="-120"/>
              </a:rPr>
              <a:t>65 min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Reglas del workshop y caso ficticio</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E8743B"/>
          </a:solidFill>
          <a:ln/>
        </p:spPr>
        <p:txBody>
          <a:bodyPr/>
          <a:lstStyle/>
          <a:p>
            <a:endParaRPr lang="en-US"/>
          </a:p>
        </p:txBody>
      </p:sp>
      <p:sp>
        <p:nvSpPr>
          <p:cNvPr id="8" name="Text 6"/>
          <p:cNvSpPr/>
          <p:nvPr/>
        </p:nvSpPr>
        <p:spPr>
          <a:xfrm>
            <a:off x="868680" y="1737360"/>
            <a:ext cx="10454335" cy="4297680"/>
          </a:xfrm>
          <a:prstGeom prst="rect">
            <a:avLst/>
          </a:prstGeom>
          <a:noFill/>
          <a:ln/>
        </p:spPr>
        <p:txBody>
          <a:bodyPr wrap="square" lIns="0" tIns="0" rIns="0" bIns="0" rtlCol="0" anchor="t"/>
          <a:lstStyle/>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Caso ficticio: 'Austral Bank' — Asistente de Tesorería para clientes corporativos (FX, cash management, comex).</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Trabajo en grupos de 4 a 6 personas, con un relator por grupo que documenta decisiones.</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65 minutos en 5 pasos con tiempo definido cada uno; el facilitador avisa los cambios de paso.</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El foco es la decisión y el supuesto detrás de ella, no un diagrama perfecto ni código.</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Todo el contenido generado es ficticio y reutilizable como plantilla para cualquier caso real después del training.</a:t>
            </a:r>
            <a:endParaRPr lang="en-US" sz="2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Canvas de arquitectura y decisiones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546845">
                  <a:extLst>
                    <a:ext uri="{9D8B030D-6E8A-4147-A177-3AD203B41FA5}">
                      <a16:colId xmlns:a16="http://schemas.microsoft.com/office/drawing/2014/main" val="20000"/>
                    </a:ext>
                  </a:extLst>
                </a:gridCol>
                <a:gridCol w="3359330">
                  <a:extLst>
                    <a:ext uri="{9D8B030D-6E8A-4147-A177-3AD203B41FA5}">
                      <a16:colId xmlns:a16="http://schemas.microsoft.com/office/drawing/2014/main" val="20001"/>
                    </a:ext>
                  </a:extLst>
                </a:gridCol>
                <a:gridCol w="3536137">
                  <a:extLst>
                    <a:ext uri="{9D8B030D-6E8A-4147-A177-3AD203B41FA5}">
                      <a16:colId xmlns:a16="http://schemas.microsoft.com/office/drawing/2014/main" val="20002"/>
                    </a:ext>
                  </a:extLst>
                </a:gridCol>
                <a:gridCol w="2652103">
                  <a:extLst>
                    <a:ext uri="{9D8B030D-6E8A-4147-A177-3AD203B41FA5}">
                      <a16:colId xmlns:a16="http://schemas.microsoft.com/office/drawing/2014/main" val="20003"/>
                    </a:ext>
                  </a:extLst>
                </a:gridCol>
              </a:tblGrid>
              <a:tr h="701040">
                <a:tc>
                  <a:txBody>
                    <a:bodyPr/>
                    <a:lstStyle/>
                    <a:p>
                      <a:pPr marL="0" indent="0">
                        <a:buNone/>
                      </a:pPr>
                      <a:r>
                        <a:rPr lang="en-US" sz="1600" b="1" dirty="0">
                          <a:solidFill>
                            <a:srgbClr val="FFFFFF"/>
                          </a:solidFill>
                          <a:latin typeface="Segoe UI Semibold" pitchFamily="34" charset="0"/>
                          <a:ea typeface="Segoe UI Semibold" pitchFamily="34" charset="-122"/>
                          <a:cs typeface="Segoe UI Semibold" pitchFamily="34" charset="-120"/>
                        </a:rPr>
                        <a:t>Dimensión</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600" b="1" dirty="0">
                          <a:solidFill>
                            <a:srgbClr val="FFFFFF"/>
                          </a:solidFill>
                          <a:latin typeface="Segoe UI Semibold" pitchFamily="34" charset="0"/>
                          <a:ea typeface="Segoe UI Semibold" pitchFamily="34" charset="-122"/>
                          <a:cs typeface="Segoe UI Semibold" pitchFamily="34" charset="-120"/>
                        </a:rPr>
                        <a:t>Decisión</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600" b="1" dirty="0">
                          <a:solidFill>
                            <a:srgbClr val="FFFFFF"/>
                          </a:solidFill>
                          <a:latin typeface="Segoe UI Semibold" pitchFamily="34" charset="0"/>
                          <a:ea typeface="Segoe UI Semibold" pitchFamily="34" charset="-122"/>
                          <a:cs typeface="Segoe UI Semibold" pitchFamily="34" charset="-120"/>
                        </a:rPr>
                        <a:t>Opciones</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600" b="1" dirty="0">
                          <a:solidFill>
                            <a:srgbClr val="FFFFFF"/>
                          </a:solidFill>
                          <a:latin typeface="Segoe UI Semibold" pitchFamily="34" charset="0"/>
                          <a:ea typeface="Segoe UI Semibold" pitchFamily="34" charset="-122"/>
                          <a:cs typeface="Segoe UI Semibold" pitchFamily="34" charset="-120"/>
                        </a:rPr>
                        <a:t>Criterio</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Canal</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¿Qué canales entran al agente?</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Web, app móvil, contact center, Teams</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Volumen y SLA por canal</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Identidad</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¿Cómo se autentica usuario y agente?</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OBO delegado vs client-credentials</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Sensibilidad del dato accedido</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Sesión</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¿Sesión 1:1 o multiplexada?</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Hosted Agent dedicado vs Session Gateway</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Concurrencia esperada y costo</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Agente / modelo</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¿Qué patrón de orquestación?</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Single agent, sequential, handoff, group chat</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Complejidad real de la tarea</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Tools / datos</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¿Cómo se exponen herramientas y datos?</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MCP directo vs vía AI Gateway</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Gobierno y auditoría requerida</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Cada grupo completa 'decisión' y 'criterio' con su propio contexto antes de avanzar al siguiente paso.</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Pasos del workshop (65 min)</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914400" y="2331720"/>
            <a:ext cx="8875532" cy="0"/>
          </a:xfrm>
          <a:prstGeom prst="line">
            <a:avLst/>
          </a:prstGeom>
          <a:noFill/>
          <a:ln w="38100">
            <a:solidFill>
              <a:srgbClr val="C9D7E4"/>
            </a:solidFill>
            <a:prstDash val="solid"/>
          </a:ln>
        </p:spPr>
        <p:txBody>
          <a:bodyPr/>
          <a:lstStyle/>
          <a:p>
            <a:endParaRPr lang="en-US"/>
          </a:p>
        </p:txBody>
      </p:sp>
      <p:sp>
        <p:nvSpPr>
          <p:cNvPr id="7" name="Shape 5"/>
          <p:cNvSpPr/>
          <p:nvPr/>
        </p:nvSpPr>
        <p:spPr>
          <a:xfrm>
            <a:off x="548640" y="1965960"/>
            <a:ext cx="731520" cy="731520"/>
          </a:xfrm>
          <a:prstGeom prst="ellipse">
            <a:avLst/>
          </a:prstGeom>
          <a:solidFill>
            <a:srgbClr val="E8743B"/>
          </a:solidFill>
          <a:ln/>
        </p:spPr>
        <p:txBody>
          <a:bodyPr/>
          <a:lstStyle/>
          <a:p>
            <a:endParaRPr lang="en-US"/>
          </a:p>
        </p:txBody>
      </p:sp>
      <p:sp>
        <p:nvSpPr>
          <p:cNvPr id="8" name="Text 6"/>
          <p:cNvSpPr/>
          <p:nvPr/>
        </p:nvSpPr>
        <p:spPr>
          <a:xfrm>
            <a:off x="548640"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1</a:t>
            </a:r>
            <a:endParaRPr lang="en-US" sz="2200" dirty="0"/>
          </a:p>
        </p:txBody>
      </p:sp>
      <p:sp>
        <p:nvSpPr>
          <p:cNvPr id="9" name="Text 7"/>
          <p:cNvSpPr/>
          <p:nvPr/>
        </p:nvSpPr>
        <p:spPr>
          <a:xfrm>
            <a:off x="548640" y="2880360"/>
            <a:ext cx="1990283"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Contexto</a:t>
            </a:r>
            <a:endParaRPr lang="en-US" sz="2000" dirty="0"/>
          </a:p>
        </p:txBody>
      </p:sp>
      <p:sp>
        <p:nvSpPr>
          <p:cNvPr id="10" name="Shape 8"/>
          <p:cNvSpPr/>
          <p:nvPr/>
        </p:nvSpPr>
        <p:spPr>
          <a:xfrm>
            <a:off x="548640"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9"/>
          <p:cNvSpPr/>
          <p:nvPr/>
        </p:nvSpPr>
        <p:spPr>
          <a:xfrm>
            <a:off x="548640" y="3657600"/>
            <a:ext cx="82296" cy="2514600"/>
          </a:xfrm>
          <a:prstGeom prst="rect">
            <a:avLst/>
          </a:prstGeom>
          <a:solidFill>
            <a:srgbClr val="E8743B"/>
          </a:solidFill>
          <a:ln/>
        </p:spPr>
        <p:txBody>
          <a:bodyPr/>
          <a:lstStyle/>
          <a:p>
            <a:endParaRPr lang="en-US"/>
          </a:p>
        </p:txBody>
      </p:sp>
      <p:sp>
        <p:nvSpPr>
          <p:cNvPr id="12" name="Text 10"/>
          <p:cNvSpPr/>
          <p:nvPr/>
        </p:nvSpPr>
        <p:spPr>
          <a:xfrm>
            <a:off x="777240" y="3840480"/>
            <a:ext cx="1688531"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5 min — Leer el caso Austral Bank y aclarar supuestos del grupo.</a:t>
            </a:r>
            <a:endParaRPr lang="en-US" sz="1900" dirty="0"/>
          </a:p>
        </p:txBody>
      </p:sp>
      <p:sp>
        <p:nvSpPr>
          <p:cNvPr id="13" name="Shape 11"/>
          <p:cNvSpPr/>
          <p:nvPr/>
        </p:nvSpPr>
        <p:spPr>
          <a:xfrm>
            <a:off x="2767523" y="1965960"/>
            <a:ext cx="731520" cy="731520"/>
          </a:xfrm>
          <a:prstGeom prst="ellipse">
            <a:avLst/>
          </a:prstGeom>
          <a:solidFill>
            <a:srgbClr val="0B1F33"/>
          </a:solidFill>
          <a:ln/>
        </p:spPr>
        <p:txBody>
          <a:bodyPr/>
          <a:lstStyle/>
          <a:p>
            <a:endParaRPr lang="en-US"/>
          </a:p>
        </p:txBody>
      </p:sp>
      <p:sp>
        <p:nvSpPr>
          <p:cNvPr id="14" name="Text 12"/>
          <p:cNvSpPr/>
          <p:nvPr/>
        </p:nvSpPr>
        <p:spPr>
          <a:xfrm>
            <a:off x="2767523"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2</a:t>
            </a:r>
            <a:endParaRPr lang="en-US" sz="2200" dirty="0"/>
          </a:p>
        </p:txBody>
      </p:sp>
      <p:sp>
        <p:nvSpPr>
          <p:cNvPr id="15" name="Text 13"/>
          <p:cNvSpPr/>
          <p:nvPr/>
        </p:nvSpPr>
        <p:spPr>
          <a:xfrm>
            <a:off x="2767523" y="2880360"/>
            <a:ext cx="1990283"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Canvas</a:t>
            </a:r>
            <a:endParaRPr lang="en-US" sz="2000" dirty="0"/>
          </a:p>
        </p:txBody>
      </p:sp>
      <p:sp>
        <p:nvSpPr>
          <p:cNvPr id="16" name="Shape 14"/>
          <p:cNvSpPr/>
          <p:nvPr/>
        </p:nvSpPr>
        <p:spPr>
          <a:xfrm>
            <a:off x="2767523"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2767523" y="3657600"/>
            <a:ext cx="82296" cy="2514600"/>
          </a:xfrm>
          <a:prstGeom prst="rect">
            <a:avLst/>
          </a:prstGeom>
          <a:solidFill>
            <a:srgbClr val="0B1F33"/>
          </a:solidFill>
          <a:ln/>
        </p:spPr>
        <p:txBody>
          <a:bodyPr/>
          <a:lstStyle/>
          <a:p>
            <a:endParaRPr lang="en-US"/>
          </a:p>
        </p:txBody>
      </p:sp>
      <p:sp>
        <p:nvSpPr>
          <p:cNvPr id="18" name="Text 16"/>
          <p:cNvSpPr/>
          <p:nvPr/>
        </p:nvSpPr>
        <p:spPr>
          <a:xfrm>
            <a:off x="2996123" y="3840480"/>
            <a:ext cx="1688531"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20 min — Completar canal, identidad, sesión, agente y tools/datos.</a:t>
            </a:r>
            <a:endParaRPr lang="en-US" sz="1900" dirty="0"/>
          </a:p>
        </p:txBody>
      </p:sp>
      <p:sp>
        <p:nvSpPr>
          <p:cNvPr id="19" name="Shape 17"/>
          <p:cNvSpPr/>
          <p:nvPr/>
        </p:nvSpPr>
        <p:spPr>
          <a:xfrm>
            <a:off x="4986406" y="1965960"/>
            <a:ext cx="731520" cy="731520"/>
          </a:xfrm>
          <a:prstGeom prst="ellipse">
            <a:avLst/>
          </a:prstGeom>
          <a:solidFill>
            <a:srgbClr val="E8743B"/>
          </a:solidFill>
          <a:ln/>
        </p:spPr>
        <p:txBody>
          <a:bodyPr/>
          <a:lstStyle/>
          <a:p>
            <a:endParaRPr lang="en-US"/>
          </a:p>
        </p:txBody>
      </p:sp>
      <p:sp>
        <p:nvSpPr>
          <p:cNvPr id="20" name="Text 18"/>
          <p:cNvSpPr/>
          <p:nvPr/>
        </p:nvSpPr>
        <p:spPr>
          <a:xfrm>
            <a:off x="4986406"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3</a:t>
            </a:r>
            <a:endParaRPr lang="en-US" sz="2200" dirty="0"/>
          </a:p>
        </p:txBody>
      </p:sp>
      <p:sp>
        <p:nvSpPr>
          <p:cNvPr id="21" name="Text 19"/>
          <p:cNvSpPr/>
          <p:nvPr/>
        </p:nvSpPr>
        <p:spPr>
          <a:xfrm>
            <a:off x="4986406" y="2880360"/>
            <a:ext cx="1990283"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Amenazas</a:t>
            </a:r>
            <a:endParaRPr lang="en-US" sz="2000" dirty="0"/>
          </a:p>
        </p:txBody>
      </p:sp>
      <p:sp>
        <p:nvSpPr>
          <p:cNvPr id="22" name="Shape 20"/>
          <p:cNvSpPr/>
          <p:nvPr/>
        </p:nvSpPr>
        <p:spPr>
          <a:xfrm>
            <a:off x="4986406"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1"/>
          <p:cNvSpPr/>
          <p:nvPr/>
        </p:nvSpPr>
        <p:spPr>
          <a:xfrm>
            <a:off x="4986406" y="3657600"/>
            <a:ext cx="82296" cy="2514600"/>
          </a:xfrm>
          <a:prstGeom prst="rect">
            <a:avLst/>
          </a:prstGeom>
          <a:solidFill>
            <a:srgbClr val="E8743B"/>
          </a:solidFill>
          <a:ln/>
        </p:spPr>
        <p:txBody>
          <a:bodyPr/>
          <a:lstStyle/>
          <a:p>
            <a:endParaRPr lang="en-US"/>
          </a:p>
        </p:txBody>
      </p:sp>
      <p:sp>
        <p:nvSpPr>
          <p:cNvPr id="24" name="Text 22"/>
          <p:cNvSpPr/>
          <p:nvPr/>
        </p:nvSpPr>
        <p:spPr>
          <a:xfrm>
            <a:off x="5215006" y="3840480"/>
            <a:ext cx="1688531"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15 min — Identificar 3 amenazas principales y su control propuesto.</a:t>
            </a:r>
            <a:endParaRPr lang="en-US" sz="1900" dirty="0"/>
          </a:p>
        </p:txBody>
      </p:sp>
      <p:sp>
        <p:nvSpPr>
          <p:cNvPr id="25" name="Shape 23"/>
          <p:cNvSpPr/>
          <p:nvPr/>
        </p:nvSpPr>
        <p:spPr>
          <a:xfrm>
            <a:off x="7205289" y="1965960"/>
            <a:ext cx="731520" cy="731520"/>
          </a:xfrm>
          <a:prstGeom prst="ellipse">
            <a:avLst/>
          </a:prstGeom>
          <a:solidFill>
            <a:srgbClr val="0B1F33"/>
          </a:solidFill>
          <a:ln/>
        </p:spPr>
        <p:txBody>
          <a:bodyPr/>
          <a:lstStyle/>
          <a:p>
            <a:endParaRPr lang="en-US"/>
          </a:p>
        </p:txBody>
      </p:sp>
      <p:sp>
        <p:nvSpPr>
          <p:cNvPr id="26" name="Text 24"/>
          <p:cNvSpPr/>
          <p:nvPr/>
        </p:nvSpPr>
        <p:spPr>
          <a:xfrm>
            <a:off x="7205289"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4</a:t>
            </a:r>
            <a:endParaRPr lang="en-US" sz="2200" dirty="0"/>
          </a:p>
        </p:txBody>
      </p:sp>
      <p:sp>
        <p:nvSpPr>
          <p:cNvPr id="27" name="Text 25"/>
          <p:cNvSpPr/>
          <p:nvPr/>
        </p:nvSpPr>
        <p:spPr>
          <a:xfrm>
            <a:off x="7205289" y="2880360"/>
            <a:ext cx="1990283"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SLOs y evaluación</a:t>
            </a:r>
            <a:endParaRPr lang="en-US" sz="2000" dirty="0"/>
          </a:p>
        </p:txBody>
      </p:sp>
      <p:sp>
        <p:nvSpPr>
          <p:cNvPr id="28" name="Shape 26"/>
          <p:cNvSpPr/>
          <p:nvPr/>
        </p:nvSpPr>
        <p:spPr>
          <a:xfrm>
            <a:off x="7205289"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9" name="Shape 27"/>
          <p:cNvSpPr/>
          <p:nvPr/>
        </p:nvSpPr>
        <p:spPr>
          <a:xfrm>
            <a:off x="7205289" y="3657600"/>
            <a:ext cx="82296" cy="2514600"/>
          </a:xfrm>
          <a:prstGeom prst="rect">
            <a:avLst/>
          </a:prstGeom>
          <a:solidFill>
            <a:srgbClr val="0B1F33"/>
          </a:solidFill>
          <a:ln/>
        </p:spPr>
        <p:txBody>
          <a:bodyPr/>
          <a:lstStyle/>
          <a:p>
            <a:endParaRPr lang="en-US"/>
          </a:p>
        </p:txBody>
      </p:sp>
      <p:sp>
        <p:nvSpPr>
          <p:cNvPr id="30" name="Text 28"/>
          <p:cNvSpPr/>
          <p:nvPr/>
        </p:nvSpPr>
        <p:spPr>
          <a:xfrm>
            <a:off x="7433889" y="3840480"/>
            <a:ext cx="1688531"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12 min — Definir SLOs, evaluaciones y señales de observabilidad.</a:t>
            </a:r>
            <a:endParaRPr lang="en-US" sz="1900" dirty="0"/>
          </a:p>
        </p:txBody>
      </p:sp>
      <p:sp>
        <p:nvSpPr>
          <p:cNvPr id="31" name="Shape 29"/>
          <p:cNvSpPr/>
          <p:nvPr/>
        </p:nvSpPr>
        <p:spPr>
          <a:xfrm>
            <a:off x="9424172" y="1965960"/>
            <a:ext cx="731520" cy="731520"/>
          </a:xfrm>
          <a:prstGeom prst="ellipse">
            <a:avLst/>
          </a:prstGeom>
          <a:solidFill>
            <a:srgbClr val="E8743B"/>
          </a:solidFill>
          <a:ln/>
        </p:spPr>
        <p:txBody>
          <a:bodyPr/>
          <a:lstStyle/>
          <a:p>
            <a:endParaRPr lang="en-US"/>
          </a:p>
        </p:txBody>
      </p:sp>
      <p:sp>
        <p:nvSpPr>
          <p:cNvPr id="32" name="Text 30"/>
          <p:cNvSpPr/>
          <p:nvPr/>
        </p:nvSpPr>
        <p:spPr>
          <a:xfrm>
            <a:off x="9424172"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5</a:t>
            </a:r>
            <a:endParaRPr lang="en-US" sz="2200" dirty="0"/>
          </a:p>
        </p:txBody>
      </p:sp>
      <p:sp>
        <p:nvSpPr>
          <p:cNvPr id="33" name="Text 31"/>
          <p:cNvSpPr/>
          <p:nvPr/>
        </p:nvSpPr>
        <p:spPr>
          <a:xfrm>
            <a:off x="9424172" y="2880360"/>
            <a:ext cx="1990283"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Backlog</a:t>
            </a:r>
            <a:endParaRPr lang="en-US" sz="2000" dirty="0"/>
          </a:p>
        </p:txBody>
      </p:sp>
      <p:sp>
        <p:nvSpPr>
          <p:cNvPr id="34" name="Shape 32"/>
          <p:cNvSpPr/>
          <p:nvPr/>
        </p:nvSpPr>
        <p:spPr>
          <a:xfrm>
            <a:off x="9424172" y="3657600"/>
            <a:ext cx="1990283"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35" name="Shape 33"/>
          <p:cNvSpPr/>
          <p:nvPr/>
        </p:nvSpPr>
        <p:spPr>
          <a:xfrm>
            <a:off x="9424172" y="3657600"/>
            <a:ext cx="82296" cy="2514600"/>
          </a:xfrm>
          <a:prstGeom prst="rect">
            <a:avLst/>
          </a:prstGeom>
          <a:solidFill>
            <a:srgbClr val="E8743B"/>
          </a:solidFill>
          <a:ln/>
        </p:spPr>
        <p:txBody>
          <a:bodyPr/>
          <a:lstStyle/>
          <a:p>
            <a:endParaRPr lang="en-US"/>
          </a:p>
        </p:txBody>
      </p:sp>
      <p:sp>
        <p:nvSpPr>
          <p:cNvPr id="36" name="Text 34"/>
          <p:cNvSpPr/>
          <p:nvPr/>
        </p:nvSpPr>
        <p:spPr>
          <a:xfrm>
            <a:off x="9652772" y="3840480"/>
            <a:ext cx="1688531"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13 min — Priorizar decisiones y experimentos en un backlog breve.</a:t>
            </a:r>
            <a:endParaRPr lang="en-US" sz="1900" dirty="0"/>
          </a:p>
        </p:txBody>
      </p:sp>
      <p:sp>
        <p:nvSpPr>
          <p:cNvPr id="37"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Threat modeling: amenazas vs controles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5396332" cy="640080"/>
          </a:xfrm>
          <a:prstGeom prst="rect">
            <a:avLst/>
          </a:prstGeom>
          <a:solidFill>
            <a:srgbClr val="E8743B"/>
          </a:solidFill>
          <a:ln/>
        </p:spPr>
        <p:txBody>
          <a:bodyPr/>
          <a:lstStyle/>
          <a:p>
            <a:endParaRPr lang="en-US"/>
          </a:p>
        </p:txBody>
      </p:sp>
      <p:sp>
        <p:nvSpPr>
          <p:cNvPr id="7" name="Text 5"/>
          <p:cNvSpPr/>
          <p:nvPr/>
        </p:nvSpPr>
        <p:spPr>
          <a:xfrm>
            <a:off x="822960"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Amenazas priorizadas (ejemplo)</a:t>
            </a:r>
            <a:endParaRPr lang="en-US" sz="2000" dirty="0"/>
          </a:p>
        </p:txBody>
      </p:sp>
      <p:sp>
        <p:nvSpPr>
          <p:cNvPr id="8" name="Shape 6"/>
          <p:cNvSpPr/>
          <p:nvPr/>
        </p:nvSpPr>
        <p:spPr>
          <a:xfrm>
            <a:off x="548640"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822960"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Prompt injection vía documentos adjuntos de comercio exterior.</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Agente con permisos excesivos sobre cuentas corporativas.</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Fuga de datos de clientes en logs de observabilidad.</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Suplantación entre agentes (A2A) sin validar identidad correctamente.</a:t>
            </a:r>
            <a:endParaRPr lang="en-US" sz="1700" dirty="0"/>
          </a:p>
        </p:txBody>
      </p:sp>
      <p:sp>
        <p:nvSpPr>
          <p:cNvPr id="10" name="Shape 8"/>
          <p:cNvSpPr/>
          <p:nvPr/>
        </p:nvSpPr>
        <p:spPr>
          <a:xfrm>
            <a:off x="6246724" y="1508760"/>
            <a:ext cx="5396332" cy="640080"/>
          </a:xfrm>
          <a:prstGeom prst="rect">
            <a:avLst/>
          </a:prstGeom>
          <a:solidFill>
            <a:srgbClr val="0B1F33"/>
          </a:solidFill>
          <a:ln/>
        </p:spPr>
        <p:txBody>
          <a:bodyPr/>
          <a:lstStyle/>
          <a:p>
            <a:endParaRPr lang="en-US"/>
          </a:p>
        </p:txBody>
      </p:sp>
      <p:sp>
        <p:nvSpPr>
          <p:cNvPr id="11" name="Text 9"/>
          <p:cNvSpPr/>
          <p:nvPr/>
        </p:nvSpPr>
        <p:spPr>
          <a:xfrm>
            <a:off x="6521044"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Controles propuestos (ejemplo)</a:t>
            </a:r>
            <a:endParaRPr lang="en-US" sz="2000" dirty="0"/>
          </a:p>
        </p:txBody>
      </p:sp>
      <p:sp>
        <p:nvSpPr>
          <p:cNvPr id="12" name="Shape 10"/>
          <p:cNvSpPr/>
          <p:nvPr/>
        </p:nvSpPr>
        <p:spPr>
          <a:xfrm>
            <a:off x="6246724"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p:nvPr/>
        </p:nvSpPr>
        <p:spPr>
          <a:xfrm>
            <a:off x="6521044"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Prompt Shields y Content Safety sobre el contenido recuperado.</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RBAC de mínimo privilegio y aprobación humana para montos altos.</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Enmascarado de datos sensibles en toda la telemetría.</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Entra Agent ID con validación de audience en cada token A2A.</a:t>
            </a:r>
            <a:endParaRPr lang="en-US" sz="1700" dirty="0"/>
          </a:p>
        </p:txBody>
      </p:sp>
      <p:sp>
        <p:nvSpPr>
          <p:cNvPr id="14" name="Shape 12"/>
          <p:cNvSpPr/>
          <p:nvPr/>
        </p:nvSpPr>
        <p:spPr>
          <a:xfrm>
            <a:off x="548640" y="5577840"/>
            <a:ext cx="11094415" cy="685800"/>
          </a:xfrm>
          <a:prstGeom prst="rect">
            <a:avLst/>
          </a:prstGeom>
          <a:solidFill>
            <a:srgbClr val="F5B83D"/>
          </a:solidFill>
          <a:ln/>
        </p:spPr>
        <p:txBody>
          <a:bodyPr/>
          <a:lstStyle/>
          <a:p>
            <a:endParaRPr lang="en-US"/>
          </a:p>
        </p:txBody>
      </p:sp>
      <p:sp>
        <p:nvSpPr>
          <p:cNvPr id="15" name="Text 13"/>
          <p:cNvSpPr/>
          <p:nvPr/>
        </p:nvSpPr>
        <p:spPr>
          <a:xfrm>
            <a:off x="822960" y="5577840"/>
            <a:ext cx="10545775" cy="685800"/>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Cada amenaza del canvas debe quedar mapeada a un control, un punto de aplicación y un dueño.</a:t>
            </a:r>
            <a:endParaRPr lang="en-US" sz="17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Mapa de riesgos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997718">
                  <a:extLst>
                    <a:ext uri="{9D8B030D-6E8A-4147-A177-3AD203B41FA5}">
                      <a16:colId xmlns:a16="http://schemas.microsoft.com/office/drawing/2014/main" val="20000"/>
                    </a:ext>
                  </a:extLst>
                </a:gridCol>
                <a:gridCol w="1859704">
                  <a:extLst>
                    <a:ext uri="{9D8B030D-6E8A-4147-A177-3AD203B41FA5}">
                      <a16:colId xmlns:a16="http://schemas.microsoft.com/office/drawing/2014/main" val="20001"/>
                    </a:ext>
                  </a:extLst>
                </a:gridCol>
                <a:gridCol w="1239276">
                  <a:extLst>
                    <a:ext uri="{9D8B030D-6E8A-4147-A177-3AD203B41FA5}">
                      <a16:colId xmlns:a16="http://schemas.microsoft.com/office/drawing/2014/main" val="20002"/>
                    </a:ext>
                  </a:extLst>
                </a:gridCol>
                <a:gridCol w="3997718">
                  <a:extLst>
                    <a:ext uri="{9D8B030D-6E8A-4147-A177-3AD203B41FA5}">
                      <a16:colId xmlns:a16="http://schemas.microsoft.com/office/drawing/2014/main" val="20003"/>
                    </a:ext>
                  </a:extLst>
                </a:gridCol>
              </a:tblGrid>
              <a:tr h="777240">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Riesgo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Probabilidad</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Impacto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Mitigación</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Prompt injection vía documento adjunto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Media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Alto</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Prompt Shields + revisión humana de adjuntos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Agente con permisos excesivos</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Baja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Alto</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RBAC mínimo privilegio + aprobación por monto</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Degradación silenciosa del retrieval</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Media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Medio</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Evaluación continua de groundedness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Costo fuera de rango por mal dimensionamiento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Media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Medio</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Límites y alertas en el AI Gateway</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Plantilla reutilizable: cada grupo la completa con sus propios riesgos antes de pasar al backlog.</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SLOs, evaluaciones y observabilidad</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069060">
                  <a:extLst>
                    <a:ext uri="{9D8B030D-6E8A-4147-A177-3AD203B41FA5}">
                      <a16:colId xmlns:a16="http://schemas.microsoft.com/office/drawing/2014/main" val="20000"/>
                    </a:ext>
                  </a:extLst>
                </a:gridCol>
                <a:gridCol w="4512678">
                  <a:extLst>
                    <a:ext uri="{9D8B030D-6E8A-4147-A177-3AD203B41FA5}">
                      <a16:colId xmlns:a16="http://schemas.microsoft.com/office/drawing/2014/main" val="20001"/>
                    </a:ext>
                  </a:extLst>
                </a:gridCol>
                <a:gridCol w="4512678">
                  <a:extLst>
                    <a:ext uri="{9D8B030D-6E8A-4147-A177-3AD203B41FA5}">
                      <a16:colId xmlns:a16="http://schemas.microsoft.com/office/drawing/2014/main" val="20002"/>
                    </a:ext>
                  </a:extLst>
                </a:gridCol>
              </a:tblGrid>
              <a:tr h="777240">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Dimensión</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Métrica u objetivo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Fuente</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Disponibilidad</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SLO de éxito de sesión del Hosted Agent</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Trazas OpenTelemetry</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Calidad</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Evaluadores de groundedness y tool-use</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Evaluaciones programadas sobre tráfico real</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Seguridad</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Tasa de bloqueo de Prompt Shields / Content Safety</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Logs de guardrails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Costo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Tokens y CPU/mem por sesión activa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AI Gateway + panel de costos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Definir un objetivo numérico queda a criterio de cada grupo según su propio contexto.</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Cómo presentar resultados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E8743B"/>
          </a:solidFill>
          <a:ln/>
        </p:spPr>
        <p:txBody>
          <a:bodyPr/>
          <a:lstStyle/>
          <a:p>
            <a:endParaRPr lang="en-US"/>
          </a:p>
        </p:txBody>
      </p:sp>
      <p:sp>
        <p:nvSpPr>
          <p:cNvPr id="8" name="Text 6"/>
          <p:cNvSpPr/>
          <p:nvPr/>
        </p:nvSpPr>
        <p:spPr>
          <a:xfrm>
            <a:off x="868680" y="1737360"/>
            <a:ext cx="10454335" cy="4297680"/>
          </a:xfrm>
          <a:prstGeom prst="rect">
            <a:avLst/>
          </a:prstGeom>
          <a:noFill/>
          <a:ln/>
        </p:spPr>
        <p:txBody>
          <a:bodyPr wrap="square" lIns="0" tIns="0" rIns="0" bIns="0" rtlCol="0" anchor="t"/>
          <a:lstStyle/>
          <a:p>
            <a:pPr marL="228600" indent="-228600">
              <a:spcAft>
                <a:spcPts val="1600"/>
              </a:spcAft>
              <a:buSzPct val="100000"/>
              <a:buChar char="•"/>
            </a:pPr>
            <a:r>
              <a:rPr lang="en-US" sz="2600" dirty="0">
                <a:solidFill>
                  <a:srgbClr val="1B2A3A"/>
                </a:solidFill>
                <a:latin typeface="Segoe UI" pitchFamily="34" charset="0"/>
                <a:ea typeface="Segoe UI" pitchFamily="34" charset="-122"/>
                <a:cs typeface="Segoe UI" pitchFamily="34" charset="-120"/>
              </a:rPr>
              <a:t>Cada grupo presenta en 90 segundos: decisión principal, supuesto crítico y primer experimento a correr.</a:t>
            </a:r>
            <a:endParaRPr lang="en-US" sz="2600" dirty="0"/>
          </a:p>
          <a:p>
            <a:pPr marL="228600" indent="-228600">
              <a:spcAft>
                <a:spcPts val="1600"/>
              </a:spcAft>
              <a:buSzPct val="100000"/>
              <a:buChar char="•"/>
            </a:pPr>
            <a:r>
              <a:rPr lang="en-US" sz="2600" dirty="0">
                <a:solidFill>
                  <a:srgbClr val="1B2A3A"/>
                </a:solidFill>
                <a:latin typeface="Segoe UI" pitchFamily="34" charset="0"/>
                <a:ea typeface="Segoe UI" pitchFamily="34" charset="-122"/>
                <a:cs typeface="Segoe UI" pitchFamily="34" charset="-120"/>
              </a:rPr>
              <a:t>Usar el canvas y el backlog como apoyo visual; no es necesario un diagrama elaborado.</a:t>
            </a:r>
            <a:endParaRPr lang="en-US" sz="2600" dirty="0"/>
          </a:p>
          <a:p>
            <a:pPr marL="228600" indent="-228600">
              <a:spcAft>
                <a:spcPts val="1600"/>
              </a:spcAft>
              <a:buSzPct val="100000"/>
              <a:buChar char="•"/>
            </a:pPr>
            <a:r>
              <a:rPr lang="en-US" sz="2600" dirty="0">
                <a:solidFill>
                  <a:srgbClr val="1B2A3A"/>
                </a:solidFill>
                <a:latin typeface="Segoe UI" pitchFamily="34" charset="0"/>
                <a:ea typeface="Segoe UI" pitchFamily="34" charset="-122"/>
                <a:cs typeface="Segoe UI" pitchFamily="34" charset="-120"/>
              </a:rPr>
              <a:t>Priorizar aprendizaje y claridad del razonamiento por sobre la perfección del resultado.</a:t>
            </a:r>
            <a:endParaRPr lang="en-US" sz="2600" dirty="0"/>
          </a:p>
          <a:p>
            <a:pPr marL="228600" indent="-228600">
              <a:spcAft>
                <a:spcPts val="1600"/>
              </a:spcAft>
              <a:buSzPct val="100000"/>
              <a:buChar char="•"/>
            </a:pPr>
            <a:r>
              <a:rPr lang="en-US" sz="2600" dirty="0">
                <a:solidFill>
                  <a:srgbClr val="1B2A3A"/>
                </a:solidFill>
                <a:latin typeface="Segoe UI" pitchFamily="34" charset="0"/>
                <a:ea typeface="Segoe UI" pitchFamily="34" charset="-122"/>
                <a:cs typeface="Segoe UI" pitchFamily="34" charset="-120"/>
              </a:rPr>
              <a:t>El facilitador anota amenazas o decisiones que se repiten entre grupos para el cierre ejecutivo.</a:t>
            </a:r>
            <a:endParaRPr lang="en-US" sz="2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Backlog de decisiones y experimentos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5734778">
                  <a:extLst>
                    <a:ext uri="{9D8B030D-6E8A-4147-A177-3AD203B41FA5}">
                      <a16:colId xmlns:a16="http://schemas.microsoft.com/office/drawing/2014/main" val="20000"/>
                    </a:ext>
                  </a:extLst>
                </a:gridCol>
                <a:gridCol w="1710706">
                  <a:extLst>
                    <a:ext uri="{9D8B030D-6E8A-4147-A177-3AD203B41FA5}">
                      <a16:colId xmlns:a16="http://schemas.microsoft.com/office/drawing/2014/main" val="20001"/>
                    </a:ext>
                  </a:extLst>
                </a:gridCol>
                <a:gridCol w="1578984">
                  <a:extLst>
                    <a:ext uri="{9D8B030D-6E8A-4147-A177-3AD203B41FA5}">
                      <a16:colId xmlns:a16="http://schemas.microsoft.com/office/drawing/2014/main" val="20002"/>
                    </a:ext>
                  </a:extLst>
                </a:gridCol>
                <a:gridCol w="2069947">
                  <a:extLst>
                    <a:ext uri="{9D8B030D-6E8A-4147-A177-3AD203B41FA5}">
                      <a16:colId xmlns:a16="http://schemas.microsoft.com/office/drawing/2014/main" val="20003"/>
                    </a:ext>
                  </a:extLst>
                </a:gridCol>
              </a:tblGrid>
              <a:tr h="777240">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Ítem</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Tipo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Prioridad</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Dueño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PoC Session Gateway con usuarios piloto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Experimento</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Alta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Plataforma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ADR: patrón de orquestación del asistente</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Decisión</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Alta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Arquitectura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Políticas de Content Safety para adjuntos</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Habilitador</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Media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Seguridad</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Panel de trazas y evaluaciones de calidad</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Habilitador</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Media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Observabilidad</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Plantilla final: cada grupo prioriza su propio backlog de 3 a 5 ítems antes del cierre.</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7">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E8743B">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E8743B">
              <a:alpha val="10000"/>
            </a:srgbClr>
          </a:solidFill>
          <a:ln/>
        </p:spPr>
        <p:txBody>
          <a:bodyPr/>
          <a:lstStyle/>
          <a:p>
            <a:endParaRPr lang="en-US"/>
          </a:p>
        </p:txBody>
      </p:sp>
      <p:sp>
        <p:nvSpPr>
          <p:cNvPr id="4" name="Text 2"/>
          <p:cNvSpPr/>
          <p:nvPr/>
        </p:nvSpPr>
        <p:spPr>
          <a:xfrm>
            <a:off x="548640" y="777240"/>
            <a:ext cx="3657600" cy="2194560"/>
          </a:xfrm>
          <a:prstGeom prst="rect">
            <a:avLst/>
          </a:prstGeom>
          <a:noFill/>
          <a:ln/>
        </p:spPr>
        <p:txBody>
          <a:bodyPr wrap="square" lIns="0" tIns="0" rIns="0" bIns="0" rtlCol="0" anchor="ctr"/>
          <a:lstStyle/>
          <a:p>
            <a:pPr marL="0" indent="0">
              <a:buNone/>
            </a:pPr>
            <a:r>
              <a:rPr lang="en-US" sz="12000" b="1" dirty="0">
                <a:solidFill>
                  <a:srgbClr val="E8743B"/>
                </a:solidFill>
                <a:latin typeface="Segoe UI Semibold" pitchFamily="34" charset="0"/>
                <a:ea typeface="Segoe UI Semibold" pitchFamily="34" charset="-122"/>
                <a:cs typeface="Segoe UI Semibold" pitchFamily="34" charset="-120"/>
              </a:rPr>
              <a:t>06</a:t>
            </a:r>
            <a:endParaRPr lang="en-US" sz="12000" dirty="0"/>
          </a:p>
        </p:txBody>
      </p:sp>
      <p:sp>
        <p:nvSpPr>
          <p:cNvPr id="5" name="Text 3"/>
          <p:cNvSpPr/>
          <p:nvPr/>
        </p:nvSpPr>
        <p:spPr>
          <a:xfrm>
            <a:off x="548640" y="3108960"/>
            <a:ext cx="9326880" cy="1508760"/>
          </a:xfrm>
          <a:prstGeom prst="rect">
            <a:avLst/>
          </a:prstGeom>
          <a:noFill/>
          <a:ln/>
        </p:spPr>
        <p:txBody>
          <a:bodyPr wrap="square" lIns="0" tIns="0" rIns="0" bIns="0" rtlCol="0" anchor="t"/>
          <a:lstStyle/>
          <a:p>
            <a:pPr marL="0" indent="0">
              <a:buNone/>
            </a:pPr>
            <a:r>
              <a:rPr lang="en-US" sz="4400" b="1" dirty="0">
                <a:solidFill>
                  <a:srgbClr val="FFFFFF"/>
                </a:solidFill>
                <a:latin typeface="Segoe UI Semibold" pitchFamily="34" charset="0"/>
                <a:ea typeface="Segoe UI Semibold" pitchFamily="34" charset="-122"/>
                <a:cs typeface="Segoe UI Semibold" pitchFamily="34" charset="-120"/>
              </a:rPr>
              <a:t>Cierre ejecutivo</a:t>
            </a:r>
            <a:endParaRPr lang="en-US" sz="4400" dirty="0"/>
          </a:p>
        </p:txBody>
      </p:sp>
      <p:sp>
        <p:nvSpPr>
          <p:cNvPr id="6" name="Text 4"/>
          <p:cNvSpPr/>
          <p:nvPr/>
        </p:nvSpPr>
        <p:spPr>
          <a:xfrm>
            <a:off x="548640" y="4754880"/>
            <a:ext cx="8595360" cy="914400"/>
          </a:xfrm>
          <a:prstGeom prst="rect">
            <a:avLst/>
          </a:prstGeom>
          <a:noFill/>
          <a:ln/>
        </p:spPr>
        <p:txBody>
          <a:bodyPr wrap="square" lIns="0" tIns="0" rIns="0" bIns="0" rtlCol="0" anchor="t"/>
          <a:lstStyle/>
          <a:p>
            <a:pPr marL="0" indent="0">
              <a:buNone/>
            </a:pPr>
            <a:r>
              <a:rPr lang="en-US" sz="2000" dirty="0">
                <a:solidFill>
                  <a:srgbClr val="C9D7E4"/>
                </a:solidFill>
                <a:latin typeface="Segoe UI" pitchFamily="34" charset="0"/>
                <a:ea typeface="Segoe UI" pitchFamily="34" charset="-122"/>
                <a:cs typeface="Segoe UI" pitchFamily="34" charset="-120"/>
              </a:rPr>
              <a:t>Arquitectura objetivo, backlog y próximos pasos</a:t>
            </a:r>
            <a:endParaRPr lang="en-US" sz="2000" dirty="0"/>
          </a:p>
        </p:txBody>
      </p:sp>
      <p:sp>
        <p:nvSpPr>
          <p:cNvPr id="7" name="Shape 5"/>
          <p:cNvSpPr/>
          <p:nvPr/>
        </p:nvSpPr>
        <p:spPr>
          <a:xfrm>
            <a:off x="548640" y="5852160"/>
            <a:ext cx="1371600" cy="384048"/>
          </a:xfrm>
          <a:prstGeom prst="roundRect">
            <a:avLst>
              <a:gd name="adj" fmla="val 23810"/>
            </a:avLst>
          </a:prstGeom>
          <a:solidFill>
            <a:srgbClr val="0B1F33"/>
          </a:solidFill>
          <a:ln w="15875">
            <a:solidFill>
              <a:srgbClr val="F5B83D"/>
            </a:solidFill>
            <a:prstDash val="solid"/>
          </a:ln>
        </p:spPr>
        <p:txBody>
          <a:bodyPr/>
          <a:lstStyle/>
          <a:p>
            <a:endParaRPr lang="en-US"/>
          </a:p>
        </p:txBody>
      </p:sp>
      <p:sp>
        <p:nvSpPr>
          <p:cNvPr id="8" name="Text 6"/>
          <p:cNvSpPr/>
          <p:nvPr/>
        </p:nvSpPr>
        <p:spPr>
          <a:xfrm>
            <a:off x="548640" y="5852160"/>
            <a:ext cx="1371600" cy="384048"/>
          </a:xfrm>
          <a:prstGeom prst="rect">
            <a:avLst/>
          </a:prstGeom>
          <a:noFill/>
          <a:ln/>
        </p:spPr>
        <p:txBody>
          <a:bodyPr wrap="square" lIns="0" tIns="0" rIns="0" bIns="0" rtlCol="0" anchor="ctr"/>
          <a:lstStyle/>
          <a:p>
            <a:pPr marL="0" indent="0" algn="ctr">
              <a:buNone/>
            </a:pPr>
            <a:r>
              <a:rPr lang="en-US" sz="1300" b="1" dirty="0">
                <a:solidFill>
                  <a:srgbClr val="F5B83D"/>
                </a:solidFill>
                <a:latin typeface="Segoe UI Semibold" pitchFamily="34" charset="0"/>
                <a:ea typeface="Segoe UI Semibold" pitchFamily="34" charset="-122"/>
                <a:cs typeface="Segoe UI Semibold" pitchFamily="34" charset="-120"/>
              </a:rPr>
              <a:t>20 min</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Lo que se lleva cada grupo del workshop</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023360"/>
          </a:xfrm>
          <a:prstGeom prst="rect">
            <a:avLst/>
          </a:prstGeom>
          <a:solidFill>
            <a:srgbClr val="E8743B"/>
          </a:solidFill>
          <a:ln/>
        </p:spPr>
        <p:txBody>
          <a:bodyPr/>
          <a:lstStyle/>
          <a:p>
            <a:endParaRPr lang="en-US"/>
          </a:p>
        </p:txBody>
      </p:sp>
      <p:sp>
        <p:nvSpPr>
          <p:cNvPr id="8" name="Text 6"/>
          <p:cNvSpPr/>
          <p:nvPr/>
        </p:nvSpPr>
        <p:spPr>
          <a:xfrm>
            <a:off x="868680" y="1965960"/>
            <a:ext cx="2019224" cy="1463040"/>
          </a:xfrm>
          <a:prstGeom prst="rect">
            <a:avLst/>
          </a:prstGeom>
          <a:noFill/>
          <a:ln/>
        </p:spPr>
        <p:txBody>
          <a:bodyPr wrap="square" lIns="0" tIns="0" rIns="0" bIns="0" rtlCol="0" anchor="ctr"/>
          <a:lstStyle/>
          <a:p>
            <a:pPr marL="0" indent="0">
              <a:buNone/>
            </a:pPr>
            <a:r>
              <a:rPr lang="en-US" sz="6600" b="1" dirty="0">
                <a:solidFill>
                  <a:srgbClr val="E8743B"/>
                </a:solidFill>
                <a:latin typeface="Segoe UI Semibold" pitchFamily="34" charset="0"/>
                <a:ea typeface="Segoe UI Semibold" pitchFamily="34" charset="-122"/>
                <a:cs typeface="Segoe UI Semibold" pitchFamily="34" charset="-120"/>
              </a:rPr>
              <a:t>5</a:t>
            </a:r>
            <a:endParaRPr lang="en-US" sz="6600" dirty="0"/>
          </a:p>
        </p:txBody>
      </p:sp>
      <p:sp>
        <p:nvSpPr>
          <p:cNvPr id="9" name="Text 7"/>
          <p:cNvSpPr/>
          <p:nvPr/>
        </p:nvSpPr>
        <p:spPr>
          <a:xfrm>
            <a:off x="868680" y="3611880"/>
            <a:ext cx="2019224" cy="164592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decisiones de arquitectura mapeadas en el canvas</a:t>
            </a:r>
            <a:endParaRPr lang="en-US" sz="1800" dirty="0"/>
          </a:p>
        </p:txBody>
      </p:sp>
      <p:sp>
        <p:nvSpPr>
          <p:cNvPr id="10" name="Shape 8"/>
          <p:cNvSpPr/>
          <p:nvPr/>
        </p:nvSpPr>
        <p:spPr>
          <a:xfrm>
            <a:off x="3390824"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9"/>
          <p:cNvSpPr/>
          <p:nvPr/>
        </p:nvSpPr>
        <p:spPr>
          <a:xfrm>
            <a:off x="3390824" y="1508760"/>
            <a:ext cx="82296" cy="4023360"/>
          </a:xfrm>
          <a:prstGeom prst="rect">
            <a:avLst/>
          </a:prstGeom>
          <a:solidFill>
            <a:srgbClr val="0B1F33"/>
          </a:solidFill>
          <a:ln/>
        </p:spPr>
        <p:txBody>
          <a:bodyPr/>
          <a:lstStyle/>
          <a:p>
            <a:endParaRPr lang="en-US"/>
          </a:p>
        </p:txBody>
      </p:sp>
      <p:sp>
        <p:nvSpPr>
          <p:cNvPr id="12" name="Text 10"/>
          <p:cNvSpPr/>
          <p:nvPr/>
        </p:nvSpPr>
        <p:spPr>
          <a:xfrm>
            <a:off x="3710864" y="1965960"/>
            <a:ext cx="2019224" cy="1463040"/>
          </a:xfrm>
          <a:prstGeom prst="rect">
            <a:avLst/>
          </a:prstGeom>
          <a:noFill/>
          <a:ln/>
        </p:spPr>
        <p:txBody>
          <a:bodyPr wrap="square" lIns="0" tIns="0" rIns="0" bIns="0" rtlCol="0" anchor="ctr"/>
          <a:lstStyle/>
          <a:p>
            <a:pPr marL="0" indent="0">
              <a:buNone/>
            </a:pPr>
            <a:r>
              <a:rPr lang="en-US" sz="6600" b="1" dirty="0">
                <a:solidFill>
                  <a:srgbClr val="0B1F33"/>
                </a:solidFill>
                <a:latin typeface="Segoe UI Semibold" pitchFamily="34" charset="0"/>
                <a:ea typeface="Segoe UI Semibold" pitchFamily="34" charset="-122"/>
                <a:cs typeface="Segoe UI Semibold" pitchFamily="34" charset="-120"/>
              </a:rPr>
              <a:t>3-5</a:t>
            </a:r>
            <a:endParaRPr lang="en-US" sz="6600" dirty="0"/>
          </a:p>
        </p:txBody>
      </p:sp>
      <p:sp>
        <p:nvSpPr>
          <p:cNvPr id="13" name="Text 11"/>
          <p:cNvSpPr/>
          <p:nvPr/>
        </p:nvSpPr>
        <p:spPr>
          <a:xfrm>
            <a:off x="3710864" y="3611880"/>
            <a:ext cx="2019224" cy="164592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amenazas priorizadas con control y dueño asignado</a:t>
            </a:r>
            <a:endParaRPr lang="en-US" sz="1800" dirty="0"/>
          </a:p>
        </p:txBody>
      </p:sp>
      <p:sp>
        <p:nvSpPr>
          <p:cNvPr id="14" name="Shape 12"/>
          <p:cNvSpPr/>
          <p:nvPr/>
        </p:nvSpPr>
        <p:spPr>
          <a:xfrm>
            <a:off x="6233008"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5" name="Shape 13"/>
          <p:cNvSpPr/>
          <p:nvPr/>
        </p:nvSpPr>
        <p:spPr>
          <a:xfrm>
            <a:off x="6233008" y="1508760"/>
            <a:ext cx="82296" cy="4023360"/>
          </a:xfrm>
          <a:prstGeom prst="rect">
            <a:avLst/>
          </a:prstGeom>
          <a:solidFill>
            <a:srgbClr val="E8743B"/>
          </a:solidFill>
          <a:ln/>
        </p:spPr>
        <p:txBody>
          <a:bodyPr/>
          <a:lstStyle/>
          <a:p>
            <a:endParaRPr lang="en-US"/>
          </a:p>
        </p:txBody>
      </p:sp>
      <p:sp>
        <p:nvSpPr>
          <p:cNvPr id="16" name="Text 14"/>
          <p:cNvSpPr/>
          <p:nvPr/>
        </p:nvSpPr>
        <p:spPr>
          <a:xfrm>
            <a:off x="6553048" y="1965960"/>
            <a:ext cx="2019224" cy="1463040"/>
          </a:xfrm>
          <a:prstGeom prst="rect">
            <a:avLst/>
          </a:prstGeom>
          <a:noFill/>
          <a:ln/>
        </p:spPr>
        <p:txBody>
          <a:bodyPr wrap="square" lIns="0" tIns="0" rIns="0" bIns="0" rtlCol="0" anchor="ctr"/>
          <a:lstStyle/>
          <a:p>
            <a:pPr marL="0" indent="0">
              <a:buNone/>
            </a:pPr>
            <a:r>
              <a:rPr lang="en-US" sz="6600" b="1" dirty="0">
                <a:solidFill>
                  <a:srgbClr val="E8743B"/>
                </a:solidFill>
                <a:latin typeface="Segoe UI Semibold" pitchFamily="34" charset="0"/>
                <a:ea typeface="Segoe UI Semibold" pitchFamily="34" charset="-122"/>
                <a:cs typeface="Segoe UI Semibold" pitchFamily="34" charset="-120"/>
              </a:rPr>
              <a:t>3-5</a:t>
            </a:r>
            <a:endParaRPr lang="en-US" sz="6600" dirty="0"/>
          </a:p>
        </p:txBody>
      </p:sp>
      <p:sp>
        <p:nvSpPr>
          <p:cNvPr id="17" name="Text 15"/>
          <p:cNvSpPr/>
          <p:nvPr/>
        </p:nvSpPr>
        <p:spPr>
          <a:xfrm>
            <a:off x="6553048" y="3611880"/>
            <a:ext cx="2019224" cy="164592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ítems de backlog listos con tipo, prioridad y dueño</a:t>
            </a:r>
            <a:endParaRPr lang="en-US" sz="1800" dirty="0"/>
          </a:p>
        </p:txBody>
      </p:sp>
      <p:sp>
        <p:nvSpPr>
          <p:cNvPr id="18" name="Shape 16"/>
          <p:cNvSpPr/>
          <p:nvPr/>
        </p:nvSpPr>
        <p:spPr>
          <a:xfrm>
            <a:off x="9075191"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9" name="Shape 17"/>
          <p:cNvSpPr/>
          <p:nvPr/>
        </p:nvSpPr>
        <p:spPr>
          <a:xfrm>
            <a:off x="9075191" y="1508760"/>
            <a:ext cx="82296" cy="4023360"/>
          </a:xfrm>
          <a:prstGeom prst="rect">
            <a:avLst/>
          </a:prstGeom>
          <a:solidFill>
            <a:srgbClr val="0B1F33"/>
          </a:solidFill>
          <a:ln/>
        </p:spPr>
        <p:txBody>
          <a:bodyPr/>
          <a:lstStyle/>
          <a:p>
            <a:endParaRPr lang="en-US"/>
          </a:p>
        </p:txBody>
      </p:sp>
      <p:sp>
        <p:nvSpPr>
          <p:cNvPr id="20" name="Text 18"/>
          <p:cNvSpPr/>
          <p:nvPr/>
        </p:nvSpPr>
        <p:spPr>
          <a:xfrm>
            <a:off x="9395231" y="1965960"/>
            <a:ext cx="2019224" cy="1463040"/>
          </a:xfrm>
          <a:prstGeom prst="rect">
            <a:avLst/>
          </a:prstGeom>
          <a:noFill/>
          <a:ln/>
        </p:spPr>
        <p:txBody>
          <a:bodyPr wrap="square" lIns="0" tIns="0" rIns="0" bIns="0" rtlCol="0" anchor="ctr"/>
          <a:lstStyle/>
          <a:p>
            <a:pPr marL="0" indent="0">
              <a:buNone/>
            </a:pPr>
            <a:r>
              <a:rPr lang="en-US" sz="6600" b="1" dirty="0">
                <a:solidFill>
                  <a:srgbClr val="0B1F33"/>
                </a:solidFill>
                <a:latin typeface="Segoe UI Semibold" pitchFamily="34" charset="0"/>
                <a:ea typeface="Segoe UI Semibold" pitchFamily="34" charset="-122"/>
                <a:cs typeface="Segoe UI Semibold" pitchFamily="34" charset="-120"/>
              </a:rPr>
              <a:t>1</a:t>
            </a:r>
            <a:endParaRPr lang="en-US" sz="6600" dirty="0"/>
          </a:p>
        </p:txBody>
      </p:sp>
      <p:sp>
        <p:nvSpPr>
          <p:cNvPr id="21" name="Text 19"/>
          <p:cNvSpPr/>
          <p:nvPr/>
        </p:nvSpPr>
        <p:spPr>
          <a:xfrm>
            <a:off x="9395231" y="3611880"/>
            <a:ext cx="2019224" cy="164592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arquitectura objetivo de referencia para seguir iterando</a:t>
            </a:r>
            <a:endParaRPr lang="en-US" sz="1800" dirty="0"/>
          </a:p>
        </p:txBody>
      </p:sp>
      <p:sp>
        <p:nvSpPr>
          <p:cNvPr id="22" name="Text 20"/>
          <p:cNvSpPr/>
          <p:nvPr/>
        </p:nvSpPr>
        <p:spPr>
          <a:xfrm>
            <a:off x="548640" y="5669280"/>
            <a:ext cx="11094415" cy="502920"/>
          </a:xfrm>
          <a:prstGeom prst="rect">
            <a:avLst/>
          </a:prstGeom>
          <a:noFill/>
          <a:ln/>
        </p:spPr>
        <p:txBody>
          <a:bodyPr wrap="square" lIns="0" tIns="0" rIns="0" bIns="0" rtlCol="0" anchor="ctr"/>
          <a:lstStyle/>
          <a:p>
            <a:pPr marL="0" indent="0">
              <a:buNone/>
            </a:pPr>
            <a:r>
              <a:rPr lang="en-US" sz="1300" i="1" dirty="0">
                <a:solidFill>
                  <a:srgbClr val="5B6B7B"/>
                </a:solidFill>
                <a:latin typeface="Segoe UI" pitchFamily="34" charset="0"/>
                <a:ea typeface="Segoe UI" pitchFamily="34" charset="-122"/>
                <a:cs typeface="Segoe UI" pitchFamily="34" charset="-120"/>
              </a:rPr>
              <a:t>Estos números son del propio ejercicio del workshop, no proyecciones ni compromisos de BCI.</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Próximos pasos: 30 / 60 / 90 días</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914400" y="2331720"/>
            <a:ext cx="7396277" cy="0"/>
          </a:xfrm>
          <a:prstGeom prst="line">
            <a:avLst/>
          </a:prstGeom>
          <a:noFill/>
          <a:ln w="38100">
            <a:solidFill>
              <a:srgbClr val="C9D7E4"/>
            </a:solidFill>
            <a:prstDash val="solid"/>
          </a:ln>
        </p:spPr>
        <p:txBody>
          <a:bodyPr/>
          <a:lstStyle/>
          <a:p>
            <a:endParaRPr lang="en-US"/>
          </a:p>
        </p:txBody>
      </p:sp>
      <p:sp>
        <p:nvSpPr>
          <p:cNvPr id="7" name="Shape 5"/>
          <p:cNvSpPr/>
          <p:nvPr/>
        </p:nvSpPr>
        <p:spPr>
          <a:xfrm>
            <a:off x="548640" y="1965960"/>
            <a:ext cx="731520" cy="731520"/>
          </a:xfrm>
          <a:prstGeom prst="ellipse">
            <a:avLst/>
          </a:prstGeom>
          <a:solidFill>
            <a:srgbClr val="E8743B"/>
          </a:solidFill>
          <a:ln/>
        </p:spPr>
        <p:txBody>
          <a:bodyPr/>
          <a:lstStyle/>
          <a:p>
            <a:endParaRPr lang="en-US"/>
          </a:p>
        </p:txBody>
      </p:sp>
      <p:sp>
        <p:nvSpPr>
          <p:cNvPr id="8" name="Text 6"/>
          <p:cNvSpPr/>
          <p:nvPr/>
        </p:nvSpPr>
        <p:spPr>
          <a:xfrm>
            <a:off x="548640"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1</a:t>
            </a:r>
            <a:endParaRPr lang="en-US" sz="2200" dirty="0"/>
          </a:p>
        </p:txBody>
      </p:sp>
      <p:sp>
        <p:nvSpPr>
          <p:cNvPr id="9" name="Text 7"/>
          <p:cNvSpPr/>
          <p:nvPr/>
        </p:nvSpPr>
        <p:spPr>
          <a:xfrm>
            <a:off x="548640" y="2880360"/>
            <a:ext cx="3469538"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30 días</a:t>
            </a:r>
            <a:endParaRPr lang="en-US" sz="2000" dirty="0"/>
          </a:p>
        </p:txBody>
      </p:sp>
      <p:sp>
        <p:nvSpPr>
          <p:cNvPr id="10" name="Shape 8"/>
          <p:cNvSpPr/>
          <p:nvPr/>
        </p:nvSpPr>
        <p:spPr>
          <a:xfrm>
            <a:off x="548640" y="3657600"/>
            <a:ext cx="3469538"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9"/>
          <p:cNvSpPr/>
          <p:nvPr/>
        </p:nvSpPr>
        <p:spPr>
          <a:xfrm>
            <a:off x="548640" y="3657600"/>
            <a:ext cx="82296" cy="2514600"/>
          </a:xfrm>
          <a:prstGeom prst="rect">
            <a:avLst/>
          </a:prstGeom>
          <a:solidFill>
            <a:srgbClr val="E8743B"/>
          </a:solidFill>
          <a:ln/>
        </p:spPr>
        <p:txBody>
          <a:bodyPr/>
          <a:lstStyle/>
          <a:p>
            <a:endParaRPr lang="en-US"/>
          </a:p>
        </p:txBody>
      </p:sp>
      <p:sp>
        <p:nvSpPr>
          <p:cNvPr id="12" name="Text 10"/>
          <p:cNvSpPr/>
          <p:nvPr/>
        </p:nvSpPr>
        <p:spPr>
          <a:xfrm>
            <a:off x="777240" y="3840480"/>
            <a:ext cx="3167786"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Validar los ADRs clave del canvas y correr el PoC priorizado (p.ej. Session Gateway).</a:t>
            </a:r>
            <a:endParaRPr lang="en-US" sz="1900" dirty="0"/>
          </a:p>
        </p:txBody>
      </p:sp>
      <p:sp>
        <p:nvSpPr>
          <p:cNvPr id="13" name="Shape 11"/>
          <p:cNvSpPr/>
          <p:nvPr/>
        </p:nvSpPr>
        <p:spPr>
          <a:xfrm>
            <a:off x="4246778" y="1965960"/>
            <a:ext cx="731520" cy="731520"/>
          </a:xfrm>
          <a:prstGeom prst="ellipse">
            <a:avLst/>
          </a:prstGeom>
          <a:solidFill>
            <a:srgbClr val="0B1F33"/>
          </a:solidFill>
          <a:ln/>
        </p:spPr>
        <p:txBody>
          <a:bodyPr/>
          <a:lstStyle/>
          <a:p>
            <a:endParaRPr lang="en-US"/>
          </a:p>
        </p:txBody>
      </p:sp>
      <p:sp>
        <p:nvSpPr>
          <p:cNvPr id="14" name="Text 12"/>
          <p:cNvSpPr/>
          <p:nvPr/>
        </p:nvSpPr>
        <p:spPr>
          <a:xfrm>
            <a:off x="4246778"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2</a:t>
            </a:r>
            <a:endParaRPr lang="en-US" sz="2200" dirty="0"/>
          </a:p>
        </p:txBody>
      </p:sp>
      <p:sp>
        <p:nvSpPr>
          <p:cNvPr id="15" name="Text 13"/>
          <p:cNvSpPr/>
          <p:nvPr/>
        </p:nvSpPr>
        <p:spPr>
          <a:xfrm>
            <a:off x="4246778" y="2880360"/>
            <a:ext cx="3469538"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60 días</a:t>
            </a:r>
            <a:endParaRPr lang="en-US" sz="2000" dirty="0"/>
          </a:p>
        </p:txBody>
      </p:sp>
      <p:sp>
        <p:nvSpPr>
          <p:cNvPr id="16" name="Shape 14"/>
          <p:cNvSpPr/>
          <p:nvPr/>
        </p:nvSpPr>
        <p:spPr>
          <a:xfrm>
            <a:off x="4246778" y="3657600"/>
            <a:ext cx="3469538"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4246778" y="3657600"/>
            <a:ext cx="82296" cy="2514600"/>
          </a:xfrm>
          <a:prstGeom prst="rect">
            <a:avLst/>
          </a:prstGeom>
          <a:solidFill>
            <a:srgbClr val="0B1F33"/>
          </a:solidFill>
          <a:ln/>
        </p:spPr>
        <p:txBody>
          <a:bodyPr/>
          <a:lstStyle/>
          <a:p>
            <a:endParaRPr lang="en-US"/>
          </a:p>
        </p:txBody>
      </p:sp>
      <p:sp>
        <p:nvSpPr>
          <p:cNvPr id="18" name="Text 16"/>
          <p:cNvSpPr/>
          <p:nvPr/>
        </p:nvSpPr>
        <p:spPr>
          <a:xfrm>
            <a:off x="4475378" y="3840480"/>
            <a:ext cx="3167786"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Habilitar AI Gateway con límites y cache, y evaluaciones programadas sobre tráfico real.</a:t>
            </a:r>
            <a:endParaRPr lang="en-US" sz="1900" dirty="0"/>
          </a:p>
        </p:txBody>
      </p:sp>
      <p:sp>
        <p:nvSpPr>
          <p:cNvPr id="19" name="Shape 17"/>
          <p:cNvSpPr/>
          <p:nvPr/>
        </p:nvSpPr>
        <p:spPr>
          <a:xfrm>
            <a:off x="7944917" y="1965960"/>
            <a:ext cx="731520" cy="731520"/>
          </a:xfrm>
          <a:prstGeom prst="ellipse">
            <a:avLst/>
          </a:prstGeom>
          <a:solidFill>
            <a:srgbClr val="E8743B"/>
          </a:solidFill>
          <a:ln/>
        </p:spPr>
        <p:txBody>
          <a:bodyPr/>
          <a:lstStyle/>
          <a:p>
            <a:endParaRPr lang="en-US"/>
          </a:p>
        </p:txBody>
      </p:sp>
      <p:sp>
        <p:nvSpPr>
          <p:cNvPr id="20" name="Text 18"/>
          <p:cNvSpPr/>
          <p:nvPr/>
        </p:nvSpPr>
        <p:spPr>
          <a:xfrm>
            <a:off x="7944917"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3</a:t>
            </a:r>
            <a:endParaRPr lang="en-US" sz="2200" dirty="0"/>
          </a:p>
        </p:txBody>
      </p:sp>
      <p:sp>
        <p:nvSpPr>
          <p:cNvPr id="21" name="Text 19"/>
          <p:cNvSpPr/>
          <p:nvPr/>
        </p:nvSpPr>
        <p:spPr>
          <a:xfrm>
            <a:off x="7944917" y="2880360"/>
            <a:ext cx="3469538"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90 días</a:t>
            </a:r>
            <a:endParaRPr lang="en-US" sz="2000" dirty="0"/>
          </a:p>
        </p:txBody>
      </p:sp>
      <p:sp>
        <p:nvSpPr>
          <p:cNvPr id="22" name="Shape 20"/>
          <p:cNvSpPr/>
          <p:nvPr/>
        </p:nvSpPr>
        <p:spPr>
          <a:xfrm>
            <a:off x="7944917" y="3657600"/>
            <a:ext cx="3469538"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1"/>
          <p:cNvSpPr/>
          <p:nvPr/>
        </p:nvSpPr>
        <p:spPr>
          <a:xfrm>
            <a:off x="7944917" y="3657600"/>
            <a:ext cx="82296" cy="2514600"/>
          </a:xfrm>
          <a:prstGeom prst="rect">
            <a:avLst/>
          </a:prstGeom>
          <a:solidFill>
            <a:srgbClr val="E8743B"/>
          </a:solidFill>
          <a:ln/>
        </p:spPr>
        <p:txBody>
          <a:bodyPr/>
          <a:lstStyle/>
          <a:p>
            <a:endParaRPr lang="en-US"/>
          </a:p>
        </p:txBody>
      </p:sp>
      <p:sp>
        <p:nvSpPr>
          <p:cNvPr id="24" name="Text 22"/>
          <p:cNvSpPr/>
          <p:nvPr/>
        </p:nvSpPr>
        <p:spPr>
          <a:xfrm>
            <a:off x="8173517" y="3840480"/>
            <a:ext cx="3167786"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Ampliar red teaming continuo y revisar SLOs de costo y calidad en producción.</a:t>
            </a:r>
            <a:endParaRPr lang="en-US" sz="19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0">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E8743B">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E8743B">
              <a:alpha val="10000"/>
            </a:srgbClr>
          </a:solidFill>
          <a:ln/>
        </p:spPr>
        <p:txBody>
          <a:bodyPr/>
          <a:lstStyle/>
          <a:p>
            <a:endParaRPr lang="en-US"/>
          </a:p>
        </p:txBody>
      </p:sp>
      <p:sp>
        <p:nvSpPr>
          <p:cNvPr id="4" name="Text 2"/>
          <p:cNvSpPr/>
          <p:nvPr/>
        </p:nvSpPr>
        <p:spPr>
          <a:xfrm>
            <a:off x="548640" y="457200"/>
            <a:ext cx="10515600" cy="914400"/>
          </a:xfrm>
          <a:prstGeom prst="rect">
            <a:avLst/>
          </a:prstGeom>
          <a:noFill/>
          <a:ln/>
        </p:spPr>
        <p:txBody>
          <a:bodyPr wrap="square" lIns="0" tIns="0" rIns="0" bIns="0" rtlCol="0" anchor="ctr"/>
          <a:lstStyle/>
          <a:p>
            <a:pPr marL="0" indent="0">
              <a:buNone/>
            </a:pPr>
            <a:r>
              <a:rPr lang="en-US" sz="3400" b="1" dirty="0">
                <a:solidFill>
                  <a:srgbClr val="FFFFFF"/>
                </a:solidFill>
                <a:latin typeface="Segoe UI Semibold" pitchFamily="34" charset="0"/>
                <a:ea typeface="Segoe UI Semibold" pitchFamily="34" charset="-122"/>
                <a:cs typeface="Segoe UI Semibold" pitchFamily="34" charset="-120"/>
              </a:rPr>
              <a:t>Los tres días en una idea por día</a:t>
            </a:r>
            <a:endParaRPr lang="en-US" sz="3400" dirty="0"/>
          </a:p>
        </p:txBody>
      </p:sp>
      <p:sp>
        <p:nvSpPr>
          <p:cNvPr id="5" name="Text 3"/>
          <p:cNvSpPr/>
          <p:nvPr/>
        </p:nvSpPr>
        <p:spPr>
          <a:xfrm>
            <a:off x="548640" y="1645920"/>
            <a:ext cx="1005840" cy="960120"/>
          </a:xfrm>
          <a:prstGeom prst="rect">
            <a:avLst/>
          </a:prstGeom>
          <a:noFill/>
          <a:ln/>
        </p:spPr>
        <p:txBody>
          <a:bodyPr wrap="square" lIns="0" tIns="0" rIns="0" bIns="0" rtlCol="0" anchor="ctr"/>
          <a:lstStyle/>
          <a:p>
            <a:pPr marL="0" indent="0">
              <a:buNone/>
            </a:pPr>
            <a:r>
              <a:rPr lang="en-US" sz="5400" b="1" dirty="0">
                <a:solidFill>
                  <a:srgbClr val="E8743B"/>
                </a:solidFill>
                <a:latin typeface="Segoe UI Semibold" pitchFamily="34" charset="0"/>
                <a:ea typeface="Segoe UI Semibold" pitchFamily="34" charset="-122"/>
                <a:cs typeface="Segoe UI Semibold" pitchFamily="34" charset="-120"/>
              </a:rPr>
              <a:t>1</a:t>
            </a:r>
            <a:endParaRPr lang="en-US" sz="5400" dirty="0"/>
          </a:p>
        </p:txBody>
      </p:sp>
      <p:sp>
        <p:nvSpPr>
          <p:cNvPr id="6" name="Text 4"/>
          <p:cNvSpPr/>
          <p:nvPr/>
        </p:nvSpPr>
        <p:spPr>
          <a:xfrm>
            <a:off x="1737360" y="1645920"/>
            <a:ext cx="9601200" cy="960120"/>
          </a:xfrm>
          <a:prstGeom prst="rect">
            <a:avLst/>
          </a:prstGeom>
          <a:noFill/>
          <a:ln/>
        </p:spPr>
        <p:txBody>
          <a:bodyPr wrap="square" lIns="0" tIns="0" rIns="0" bIns="0" rtlCol="0" anchor="ctr"/>
          <a:lstStyle/>
          <a:p>
            <a:pPr marL="0" indent="0">
              <a:buNone/>
            </a:pPr>
            <a:r>
              <a:rPr lang="en-US" sz="2400" dirty="0">
                <a:solidFill>
                  <a:srgbClr val="FFFFFF"/>
                </a:solidFill>
                <a:latin typeface="Segoe UI" pitchFamily="34" charset="0"/>
                <a:ea typeface="Segoe UI" pitchFamily="34" charset="-122"/>
                <a:cs typeface="Segoe UI" pitchFamily="34" charset="-120"/>
              </a:rPr>
              <a:t>Día 1: fundamentos de Foundry, agentes, modelos y primeros casos de uso.</a:t>
            </a:r>
            <a:endParaRPr lang="en-US" sz="2400" dirty="0"/>
          </a:p>
        </p:txBody>
      </p:sp>
      <p:sp>
        <p:nvSpPr>
          <p:cNvPr id="7" name="Text 5"/>
          <p:cNvSpPr/>
          <p:nvPr/>
        </p:nvSpPr>
        <p:spPr>
          <a:xfrm>
            <a:off x="548640" y="2743200"/>
            <a:ext cx="1005840" cy="960120"/>
          </a:xfrm>
          <a:prstGeom prst="rect">
            <a:avLst/>
          </a:prstGeom>
          <a:noFill/>
          <a:ln/>
        </p:spPr>
        <p:txBody>
          <a:bodyPr wrap="square" lIns="0" tIns="0" rIns="0" bIns="0" rtlCol="0" anchor="ctr"/>
          <a:lstStyle/>
          <a:p>
            <a:pPr marL="0" indent="0">
              <a:buNone/>
            </a:pPr>
            <a:r>
              <a:rPr lang="en-US" sz="5400" b="1" dirty="0">
                <a:solidFill>
                  <a:srgbClr val="E8743B"/>
                </a:solidFill>
                <a:latin typeface="Segoe UI Semibold" pitchFamily="34" charset="0"/>
                <a:ea typeface="Segoe UI Semibold" pitchFamily="34" charset="-122"/>
                <a:cs typeface="Segoe UI Semibold" pitchFamily="34" charset="-120"/>
              </a:rPr>
              <a:t>2</a:t>
            </a:r>
            <a:endParaRPr lang="en-US" sz="5400" dirty="0"/>
          </a:p>
        </p:txBody>
      </p:sp>
      <p:sp>
        <p:nvSpPr>
          <p:cNvPr id="8" name="Text 6"/>
          <p:cNvSpPr/>
          <p:nvPr/>
        </p:nvSpPr>
        <p:spPr>
          <a:xfrm>
            <a:off x="1737360" y="2743200"/>
            <a:ext cx="9601200" cy="960120"/>
          </a:xfrm>
          <a:prstGeom prst="rect">
            <a:avLst/>
          </a:prstGeom>
          <a:noFill/>
          <a:ln/>
        </p:spPr>
        <p:txBody>
          <a:bodyPr wrap="square" lIns="0" tIns="0" rIns="0" bIns="0" rtlCol="0" anchor="ctr"/>
          <a:lstStyle/>
          <a:p>
            <a:pPr marL="0" indent="0">
              <a:buNone/>
            </a:pPr>
            <a:r>
              <a:rPr lang="en-US" sz="2400" dirty="0">
                <a:solidFill>
                  <a:srgbClr val="FFFFFF"/>
                </a:solidFill>
                <a:latin typeface="Segoe UI" pitchFamily="34" charset="0"/>
                <a:ea typeface="Segoe UI" pitchFamily="34" charset="-122"/>
                <a:cs typeface="Segoe UI" pitchFamily="34" charset="-120"/>
              </a:rPr>
              <a:t>Día 2: desarrollo e integración de agentes, herramientas, RAG y evaluaciones iniciales.</a:t>
            </a:r>
            <a:endParaRPr lang="en-US" sz="2400" dirty="0"/>
          </a:p>
        </p:txBody>
      </p:sp>
      <p:sp>
        <p:nvSpPr>
          <p:cNvPr id="9" name="Text 7"/>
          <p:cNvSpPr/>
          <p:nvPr/>
        </p:nvSpPr>
        <p:spPr>
          <a:xfrm>
            <a:off x="548640" y="3840480"/>
            <a:ext cx="1005840" cy="960120"/>
          </a:xfrm>
          <a:prstGeom prst="rect">
            <a:avLst/>
          </a:prstGeom>
          <a:noFill/>
          <a:ln/>
        </p:spPr>
        <p:txBody>
          <a:bodyPr wrap="square" lIns="0" tIns="0" rIns="0" bIns="0" rtlCol="0" anchor="ctr"/>
          <a:lstStyle/>
          <a:p>
            <a:pPr marL="0" indent="0">
              <a:buNone/>
            </a:pPr>
            <a:r>
              <a:rPr lang="en-US" sz="5400" b="1" dirty="0">
                <a:solidFill>
                  <a:srgbClr val="E8743B"/>
                </a:solidFill>
                <a:latin typeface="Segoe UI Semibold" pitchFamily="34" charset="0"/>
                <a:ea typeface="Segoe UI Semibold" pitchFamily="34" charset="-122"/>
                <a:cs typeface="Segoe UI Semibold" pitchFamily="34" charset="-120"/>
              </a:rPr>
              <a:t>3</a:t>
            </a:r>
            <a:endParaRPr lang="en-US" sz="5400" dirty="0"/>
          </a:p>
        </p:txBody>
      </p:sp>
      <p:sp>
        <p:nvSpPr>
          <p:cNvPr id="10" name="Text 8"/>
          <p:cNvSpPr/>
          <p:nvPr/>
        </p:nvSpPr>
        <p:spPr>
          <a:xfrm>
            <a:off x="1737360" y="3840480"/>
            <a:ext cx="9601200" cy="960120"/>
          </a:xfrm>
          <a:prstGeom prst="rect">
            <a:avLst/>
          </a:prstGeom>
          <a:noFill/>
          <a:ln/>
        </p:spPr>
        <p:txBody>
          <a:bodyPr wrap="square" lIns="0" tIns="0" rIns="0" bIns="0" rtlCol="0" anchor="ctr"/>
          <a:lstStyle/>
          <a:p>
            <a:pPr marL="0" indent="0">
              <a:buNone/>
            </a:pPr>
            <a:r>
              <a:rPr lang="en-US" sz="2400" dirty="0">
                <a:solidFill>
                  <a:srgbClr val="FFFFFF"/>
                </a:solidFill>
                <a:latin typeface="Segoe UI" pitchFamily="34" charset="0"/>
                <a:ea typeface="Segoe UI" pitchFamily="34" charset="-122"/>
                <a:cs typeface="Segoe UI" pitchFamily="34" charset="-120"/>
              </a:rPr>
              <a:t>Día 3: arquitectura, seguridad y operación para escalar una plataforma de agentes en producción.</a:t>
            </a:r>
            <a:endParaRPr lang="en-US" sz="2400" dirty="0"/>
          </a:p>
        </p:txBody>
      </p:sp>
      <p:sp>
        <p:nvSpPr>
          <p:cNvPr id="11" name="Text 9"/>
          <p:cNvSpPr/>
          <p:nvPr/>
        </p:nvSpPr>
        <p:spPr>
          <a:xfrm>
            <a:off x="548640" y="4937760"/>
            <a:ext cx="1005840" cy="960120"/>
          </a:xfrm>
          <a:prstGeom prst="rect">
            <a:avLst/>
          </a:prstGeom>
          <a:noFill/>
          <a:ln/>
        </p:spPr>
        <p:txBody>
          <a:bodyPr wrap="square" lIns="0" tIns="0" rIns="0" bIns="0" rtlCol="0" anchor="ctr"/>
          <a:lstStyle/>
          <a:p>
            <a:pPr marL="0" indent="0">
              <a:buNone/>
            </a:pPr>
            <a:r>
              <a:rPr lang="en-US" sz="5400" b="1" dirty="0">
                <a:solidFill>
                  <a:srgbClr val="E8743B"/>
                </a:solidFill>
                <a:latin typeface="Segoe UI Semibold" pitchFamily="34" charset="0"/>
                <a:ea typeface="Segoe UI Semibold" pitchFamily="34" charset="-122"/>
                <a:cs typeface="Segoe UI Semibold" pitchFamily="34" charset="-120"/>
              </a:rPr>
              <a:t>4</a:t>
            </a:r>
            <a:endParaRPr lang="en-US" sz="5400" dirty="0"/>
          </a:p>
        </p:txBody>
      </p:sp>
      <p:sp>
        <p:nvSpPr>
          <p:cNvPr id="12" name="Text 10"/>
          <p:cNvSpPr/>
          <p:nvPr/>
        </p:nvSpPr>
        <p:spPr>
          <a:xfrm>
            <a:off x="1737360" y="4937760"/>
            <a:ext cx="9601200" cy="960120"/>
          </a:xfrm>
          <a:prstGeom prst="rect">
            <a:avLst/>
          </a:prstGeom>
          <a:noFill/>
          <a:ln/>
        </p:spPr>
        <p:txBody>
          <a:bodyPr wrap="square" lIns="0" tIns="0" rIns="0" bIns="0" rtlCol="0" anchor="ctr"/>
          <a:lstStyle/>
          <a:p>
            <a:pPr marL="0" indent="0">
              <a:buNone/>
            </a:pPr>
            <a:r>
              <a:rPr lang="en-US" sz="2400" dirty="0">
                <a:solidFill>
                  <a:srgbClr val="FFFFFF"/>
                </a:solidFill>
                <a:latin typeface="Segoe UI" pitchFamily="34" charset="0"/>
                <a:ea typeface="Segoe UI" pitchFamily="34" charset="-122"/>
                <a:cs typeface="Segoe UI" pitchFamily="34" charset="-120"/>
              </a:rPr>
              <a:t>La plataforma está lista cuando gobierno, seguridad y evaluación maduran tanto como el agente mismo.</a:t>
            </a:r>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Recursos públicos para seguir profundizando</a:t>
            </a:r>
            <a:endParaRPr lang="en-US" sz="3200" dirty="0"/>
          </a:p>
        </p:txBody>
      </p:sp>
      <p:sp>
        <p:nvSpPr>
          <p:cNvPr id="3" name="Shape 1"/>
          <p:cNvSpPr/>
          <p:nvPr/>
        </p:nvSpPr>
        <p:spPr>
          <a:xfrm>
            <a:off x="10241280" y="502920"/>
            <a:ext cx="1417320" cy="329184"/>
          </a:xfrm>
          <a:prstGeom prst="roundRect">
            <a:avLst>
              <a:gd name="adj" fmla="val 22222"/>
            </a:avLst>
          </a:prstGeom>
          <a:solidFill>
            <a:srgbClr val="E8743B"/>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3 · L300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623060"/>
            <a:ext cx="365760" cy="365760"/>
          </a:xfrm>
          <a:prstGeom prst="ellipse">
            <a:avLst/>
          </a:prstGeom>
          <a:solidFill>
            <a:srgbClr val="E8743B"/>
          </a:solidFill>
          <a:ln/>
        </p:spPr>
        <p:txBody>
          <a:bodyPr/>
          <a:lstStyle/>
          <a:p>
            <a:endParaRPr lang="en-US"/>
          </a:p>
        </p:txBody>
      </p:sp>
      <p:sp>
        <p:nvSpPr>
          <p:cNvPr id="7" name="Text 5"/>
          <p:cNvSpPr/>
          <p:nvPr/>
        </p:nvSpPr>
        <p:spPr>
          <a:xfrm>
            <a:off x="548640" y="16230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8" name="Text 6"/>
          <p:cNvSpPr/>
          <p:nvPr/>
        </p:nvSpPr>
        <p:spPr>
          <a:xfrm>
            <a:off x="1188720" y="150876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Hosted agents — conceptos</a:t>
            </a:r>
            <a:endParaRPr lang="en-US" sz="1600" dirty="0"/>
          </a:p>
        </p:txBody>
      </p:sp>
      <p:sp>
        <p:nvSpPr>
          <p:cNvPr id="9" name="Text 7"/>
          <p:cNvSpPr/>
          <p:nvPr/>
        </p:nvSpPr>
        <p:spPr>
          <a:xfrm>
            <a:off x="5943600" y="1508760"/>
            <a:ext cx="5715000" cy="594360"/>
          </a:xfrm>
          <a:prstGeom prst="rect">
            <a:avLst/>
          </a:prstGeom>
          <a:noFill/>
          <a:ln/>
        </p:spPr>
        <p:txBody>
          <a:bodyPr wrap="square" lIns="0" tIns="0" rIns="0" bIns="0" rtlCol="0" anchor="ctr"/>
          <a:lstStyle/>
          <a:p>
            <a:pPr marL="0" indent="0">
              <a:buNone/>
            </a:pPr>
            <a:r>
              <a:rPr lang="en-US" sz="1100" u="sng" dirty="0">
                <a:solidFill>
                  <a:srgbClr val="E8743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learn.microsoft.com/en-us/azure/foundry/agents/concepts/hosted-agents</a:t>
            </a:r>
            <a:endParaRPr lang="en-US" sz="1100" dirty="0"/>
          </a:p>
        </p:txBody>
      </p:sp>
      <p:sp>
        <p:nvSpPr>
          <p:cNvPr id="10" name="Shape 8"/>
          <p:cNvSpPr/>
          <p:nvPr/>
        </p:nvSpPr>
        <p:spPr>
          <a:xfrm>
            <a:off x="548640" y="2217420"/>
            <a:ext cx="365760" cy="365760"/>
          </a:xfrm>
          <a:prstGeom prst="ellipse">
            <a:avLst/>
          </a:prstGeom>
          <a:solidFill>
            <a:srgbClr val="0B1F33"/>
          </a:solidFill>
          <a:ln/>
        </p:spPr>
        <p:txBody>
          <a:bodyPr/>
          <a:lstStyle/>
          <a:p>
            <a:endParaRPr lang="en-US"/>
          </a:p>
        </p:txBody>
      </p:sp>
      <p:sp>
        <p:nvSpPr>
          <p:cNvPr id="11" name="Text 9"/>
          <p:cNvSpPr/>
          <p:nvPr/>
        </p:nvSpPr>
        <p:spPr>
          <a:xfrm>
            <a:off x="548640" y="22174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2" name="Text 10"/>
          <p:cNvSpPr/>
          <p:nvPr/>
        </p:nvSpPr>
        <p:spPr>
          <a:xfrm>
            <a:off x="1188720" y="210312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Agent Framework — orquestaciones multiagente</a:t>
            </a:r>
            <a:endParaRPr lang="en-US" sz="1600" dirty="0"/>
          </a:p>
        </p:txBody>
      </p:sp>
      <p:sp>
        <p:nvSpPr>
          <p:cNvPr id="13" name="Text 11"/>
          <p:cNvSpPr/>
          <p:nvPr/>
        </p:nvSpPr>
        <p:spPr>
          <a:xfrm>
            <a:off x="5943600" y="2103120"/>
            <a:ext cx="5715000" cy="594360"/>
          </a:xfrm>
          <a:prstGeom prst="rect">
            <a:avLst/>
          </a:prstGeom>
          <a:noFill/>
          <a:ln/>
        </p:spPr>
        <p:txBody>
          <a:bodyPr wrap="square" lIns="0" tIns="0" rIns="0" bIns="0" rtlCol="0" anchor="ctr"/>
          <a:lstStyle/>
          <a:p>
            <a:pPr marL="0" indent="0">
              <a:buNone/>
            </a:pPr>
            <a:r>
              <a:rPr lang="en-US" sz="1100" u="sng" dirty="0">
                <a:solidFill>
                  <a:srgbClr val="E8743B"/>
                </a:solidFill>
                <a:latin typeface="Segoe UI" pitchFamily="34" charset="0"/>
                <a:ea typeface="Segoe UI" pitchFamily="34" charset="-122"/>
                <a:cs typeface="Segoe UI" pitchFamily="34" charset="-120"/>
                <a:hlinkClick r:id="rId4">
                  <a:extLst>
                    <a:ext uri="{A12FA001-AC4F-418D-AE19-62706E023703}">
                      <ahyp:hlinkClr xmlns:ahyp="http://schemas.microsoft.com/office/drawing/2018/hyperlinkcolor" val="tx"/>
                    </a:ext>
                  </a:extLst>
                </a:hlinkClick>
              </a:rPr>
              <a:t>learn.microsoft.com/en-us/agent-framework/workflows/orchestrations/</a:t>
            </a:r>
            <a:endParaRPr lang="en-US" sz="1100" dirty="0"/>
          </a:p>
        </p:txBody>
      </p:sp>
      <p:sp>
        <p:nvSpPr>
          <p:cNvPr id="14" name="Shape 12"/>
          <p:cNvSpPr/>
          <p:nvPr/>
        </p:nvSpPr>
        <p:spPr>
          <a:xfrm>
            <a:off x="548640" y="2811780"/>
            <a:ext cx="365760" cy="365760"/>
          </a:xfrm>
          <a:prstGeom prst="ellipse">
            <a:avLst/>
          </a:prstGeom>
          <a:solidFill>
            <a:srgbClr val="E8743B"/>
          </a:solidFill>
          <a:ln/>
        </p:spPr>
        <p:txBody>
          <a:bodyPr/>
          <a:lstStyle/>
          <a:p>
            <a:endParaRPr lang="en-US"/>
          </a:p>
        </p:txBody>
      </p:sp>
      <p:sp>
        <p:nvSpPr>
          <p:cNvPr id="15" name="Text 13"/>
          <p:cNvSpPr/>
          <p:nvPr/>
        </p:nvSpPr>
        <p:spPr>
          <a:xfrm>
            <a:off x="548640" y="28117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6" name="Text 14"/>
          <p:cNvSpPr/>
          <p:nvPr/>
        </p:nvSpPr>
        <p:spPr>
          <a:xfrm>
            <a:off x="1188720" y="269748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Azure AI Content Safety — overview</a:t>
            </a:r>
            <a:endParaRPr lang="en-US" sz="1600" dirty="0"/>
          </a:p>
        </p:txBody>
      </p:sp>
      <p:sp>
        <p:nvSpPr>
          <p:cNvPr id="17" name="Text 15"/>
          <p:cNvSpPr/>
          <p:nvPr/>
        </p:nvSpPr>
        <p:spPr>
          <a:xfrm>
            <a:off x="5943600" y="2697480"/>
            <a:ext cx="5715000" cy="594360"/>
          </a:xfrm>
          <a:prstGeom prst="rect">
            <a:avLst/>
          </a:prstGeom>
          <a:noFill/>
          <a:ln/>
        </p:spPr>
        <p:txBody>
          <a:bodyPr wrap="square" lIns="0" tIns="0" rIns="0" bIns="0" rtlCol="0" anchor="ctr"/>
          <a:lstStyle/>
          <a:p>
            <a:pPr marL="0" indent="0">
              <a:buNone/>
            </a:pPr>
            <a:r>
              <a:rPr lang="en-US" sz="1100" u="sng" dirty="0">
                <a:solidFill>
                  <a:srgbClr val="E8743B"/>
                </a:solidFill>
                <a:latin typeface="Segoe UI" pitchFamily="34" charset="0"/>
                <a:ea typeface="Segoe UI" pitchFamily="34" charset="-122"/>
                <a:cs typeface="Segoe UI" pitchFamily="34" charset="-120"/>
                <a:hlinkClick r:id="rId5">
                  <a:extLst>
                    <a:ext uri="{A12FA001-AC4F-418D-AE19-62706E023703}">
                      <ahyp:hlinkClr xmlns:ahyp="http://schemas.microsoft.com/office/drawing/2018/hyperlinkcolor" val="tx"/>
                    </a:ext>
                  </a:extLst>
                </a:hlinkClick>
              </a:rPr>
              <a:t>learn.microsoft.com/en-us/azure/ai-services/content-safety/overview</a:t>
            </a:r>
            <a:endParaRPr lang="en-US" sz="1100" dirty="0"/>
          </a:p>
        </p:txBody>
      </p:sp>
      <p:sp>
        <p:nvSpPr>
          <p:cNvPr id="18" name="Shape 16"/>
          <p:cNvSpPr/>
          <p:nvPr/>
        </p:nvSpPr>
        <p:spPr>
          <a:xfrm>
            <a:off x="548640" y="3406140"/>
            <a:ext cx="365760" cy="365760"/>
          </a:xfrm>
          <a:prstGeom prst="ellipse">
            <a:avLst/>
          </a:prstGeom>
          <a:solidFill>
            <a:srgbClr val="0B1F33"/>
          </a:solidFill>
          <a:ln/>
        </p:spPr>
        <p:txBody>
          <a:bodyPr/>
          <a:lstStyle/>
          <a:p>
            <a:endParaRPr lang="en-US"/>
          </a:p>
        </p:txBody>
      </p:sp>
      <p:sp>
        <p:nvSpPr>
          <p:cNvPr id="19" name="Text 17"/>
          <p:cNvSpPr/>
          <p:nvPr/>
        </p:nvSpPr>
        <p:spPr>
          <a:xfrm>
            <a:off x="548640" y="34061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0" name="Text 18"/>
          <p:cNvSpPr/>
          <p:nvPr/>
        </p:nvSpPr>
        <p:spPr>
          <a:xfrm>
            <a:off x="1188720" y="329184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Azure AI Search — RBAC y Foundry IQ</a:t>
            </a:r>
            <a:endParaRPr lang="en-US" sz="1600" dirty="0"/>
          </a:p>
        </p:txBody>
      </p:sp>
      <p:sp>
        <p:nvSpPr>
          <p:cNvPr id="21" name="Text 19"/>
          <p:cNvSpPr/>
          <p:nvPr/>
        </p:nvSpPr>
        <p:spPr>
          <a:xfrm>
            <a:off x="5943600" y="3291840"/>
            <a:ext cx="5715000" cy="594360"/>
          </a:xfrm>
          <a:prstGeom prst="rect">
            <a:avLst/>
          </a:prstGeom>
          <a:noFill/>
          <a:ln/>
        </p:spPr>
        <p:txBody>
          <a:bodyPr wrap="square" lIns="0" tIns="0" rIns="0" bIns="0" rtlCol="0" anchor="ctr"/>
          <a:lstStyle/>
          <a:p>
            <a:pPr marL="0" indent="0">
              <a:buNone/>
            </a:pPr>
            <a:r>
              <a:rPr lang="en-US" sz="1200" u="sng" dirty="0">
                <a:solidFill>
                  <a:srgbClr val="E8743B"/>
                </a:solidFill>
                <a:latin typeface="Segoe UI" pitchFamily="34" charset="0"/>
                <a:ea typeface="Segoe UI" pitchFamily="34" charset="-122"/>
                <a:cs typeface="Segoe UI" pitchFamily="34" charset="-120"/>
                <a:hlinkClick r:id="rId6">
                  <a:extLst>
                    <a:ext uri="{A12FA001-AC4F-418D-AE19-62706E023703}">
                      <ahyp:hlinkClr xmlns:ahyp="http://schemas.microsoft.com/office/drawing/2018/hyperlinkcolor" val="tx"/>
                    </a:ext>
                  </a:extLst>
                </a:hlinkClick>
              </a:rPr>
              <a:t>learn.microsoft.com/en-us/azure/search/search-get-started-rbac</a:t>
            </a:r>
            <a:endParaRPr lang="en-US" sz="1200" dirty="0"/>
          </a:p>
        </p:txBody>
      </p:sp>
      <p:sp>
        <p:nvSpPr>
          <p:cNvPr id="22" name="Shape 20"/>
          <p:cNvSpPr/>
          <p:nvPr/>
        </p:nvSpPr>
        <p:spPr>
          <a:xfrm>
            <a:off x="548640" y="4000500"/>
            <a:ext cx="365760" cy="365760"/>
          </a:xfrm>
          <a:prstGeom prst="ellipse">
            <a:avLst/>
          </a:prstGeom>
          <a:solidFill>
            <a:srgbClr val="E8743B"/>
          </a:solidFill>
          <a:ln/>
        </p:spPr>
        <p:txBody>
          <a:bodyPr/>
          <a:lstStyle/>
          <a:p>
            <a:endParaRPr lang="en-US"/>
          </a:p>
        </p:txBody>
      </p:sp>
      <p:sp>
        <p:nvSpPr>
          <p:cNvPr id="23" name="Text 21"/>
          <p:cNvSpPr/>
          <p:nvPr/>
        </p:nvSpPr>
        <p:spPr>
          <a:xfrm>
            <a:off x="548640" y="40005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24" name="Text 22"/>
          <p:cNvSpPr/>
          <p:nvPr/>
        </p:nvSpPr>
        <p:spPr>
          <a:xfrm>
            <a:off x="1188720" y="388620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AI Gateway — laboratorios públicos (APIM)</a:t>
            </a:r>
            <a:endParaRPr lang="en-US" sz="1600" dirty="0"/>
          </a:p>
        </p:txBody>
      </p:sp>
      <p:sp>
        <p:nvSpPr>
          <p:cNvPr id="25" name="Text 23"/>
          <p:cNvSpPr/>
          <p:nvPr/>
        </p:nvSpPr>
        <p:spPr>
          <a:xfrm>
            <a:off x="5943600" y="3886200"/>
            <a:ext cx="5715000" cy="594360"/>
          </a:xfrm>
          <a:prstGeom prst="rect">
            <a:avLst/>
          </a:prstGeom>
          <a:noFill/>
          <a:ln/>
        </p:spPr>
        <p:txBody>
          <a:bodyPr wrap="square" lIns="0" tIns="0" rIns="0" bIns="0" rtlCol="0" anchor="ctr"/>
          <a:lstStyle/>
          <a:p>
            <a:pPr marL="0" indent="0">
              <a:buNone/>
            </a:pPr>
            <a:r>
              <a:rPr lang="en-US" sz="1300" u="sng" dirty="0">
                <a:solidFill>
                  <a:srgbClr val="E8743B"/>
                </a:solidFill>
                <a:latin typeface="Segoe UI" pitchFamily="34" charset="0"/>
                <a:ea typeface="Segoe UI" pitchFamily="34" charset="-122"/>
                <a:cs typeface="Segoe UI" pitchFamily="34" charset="-120"/>
                <a:hlinkClick r:id="rId7">
                  <a:extLst>
                    <a:ext uri="{A12FA001-AC4F-418D-AE19-62706E023703}">
                      <ahyp:hlinkClr xmlns:ahyp="http://schemas.microsoft.com/office/drawing/2018/hyperlinkcolor" val="tx"/>
                    </a:ext>
                  </a:extLst>
                </a:hlinkClick>
              </a:rPr>
              <a:t>github.com/Azure-Samples/AI-Gateway</a:t>
            </a:r>
            <a:endParaRPr lang="en-US" sz="1300" dirty="0"/>
          </a:p>
        </p:txBody>
      </p:sp>
      <p:sp>
        <p:nvSpPr>
          <p:cNvPr id="26" name="Shape 24"/>
          <p:cNvSpPr/>
          <p:nvPr/>
        </p:nvSpPr>
        <p:spPr>
          <a:xfrm>
            <a:off x="548640" y="4594860"/>
            <a:ext cx="365760" cy="365760"/>
          </a:xfrm>
          <a:prstGeom prst="ellipse">
            <a:avLst/>
          </a:prstGeom>
          <a:solidFill>
            <a:srgbClr val="0B1F33"/>
          </a:solidFill>
          <a:ln/>
        </p:spPr>
        <p:txBody>
          <a:bodyPr/>
          <a:lstStyle/>
          <a:p>
            <a:endParaRPr lang="en-US"/>
          </a:p>
        </p:txBody>
      </p:sp>
      <p:sp>
        <p:nvSpPr>
          <p:cNvPr id="27" name="Text 25"/>
          <p:cNvSpPr/>
          <p:nvPr/>
        </p:nvSpPr>
        <p:spPr>
          <a:xfrm>
            <a:off x="548640" y="45948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6</a:t>
            </a:r>
            <a:endParaRPr lang="en-US" sz="1200" dirty="0"/>
          </a:p>
        </p:txBody>
      </p:sp>
      <p:sp>
        <p:nvSpPr>
          <p:cNvPr id="28" name="Text 26"/>
          <p:cNvSpPr/>
          <p:nvPr/>
        </p:nvSpPr>
        <p:spPr>
          <a:xfrm>
            <a:off x="1188720" y="448056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AI Red Teaming Playground Labs</a:t>
            </a:r>
            <a:endParaRPr lang="en-US" sz="1600" dirty="0"/>
          </a:p>
        </p:txBody>
      </p:sp>
      <p:sp>
        <p:nvSpPr>
          <p:cNvPr id="29" name="Text 27"/>
          <p:cNvSpPr/>
          <p:nvPr/>
        </p:nvSpPr>
        <p:spPr>
          <a:xfrm>
            <a:off x="5943600" y="4480560"/>
            <a:ext cx="5715000" cy="594360"/>
          </a:xfrm>
          <a:prstGeom prst="rect">
            <a:avLst/>
          </a:prstGeom>
          <a:noFill/>
          <a:ln/>
        </p:spPr>
        <p:txBody>
          <a:bodyPr wrap="square" lIns="0" tIns="0" rIns="0" bIns="0" rtlCol="0" anchor="ctr"/>
          <a:lstStyle/>
          <a:p>
            <a:pPr marL="0" indent="0">
              <a:buNone/>
            </a:pPr>
            <a:r>
              <a:rPr lang="en-US" sz="1300" u="sng" dirty="0">
                <a:solidFill>
                  <a:srgbClr val="E8743B"/>
                </a:solidFill>
                <a:latin typeface="Segoe UI" pitchFamily="34" charset="0"/>
                <a:ea typeface="Segoe UI" pitchFamily="34" charset="-122"/>
                <a:cs typeface="Segoe UI" pitchFamily="34" charset="-120"/>
                <a:hlinkClick r:id="rId8">
                  <a:extLst>
                    <a:ext uri="{A12FA001-AC4F-418D-AE19-62706E023703}">
                      <ahyp:hlinkClr xmlns:ahyp="http://schemas.microsoft.com/office/drawing/2018/hyperlinkcolor" val="tx"/>
                    </a:ext>
                  </a:extLst>
                </a:hlinkClick>
              </a:rPr>
              <a:t>github.com/microsoft/AI-Red-Teaming-Playground-Labs</a:t>
            </a:r>
            <a:endParaRPr lang="en-US" sz="1300" dirty="0"/>
          </a:p>
        </p:txBody>
      </p:sp>
      <p:sp>
        <p:nvSpPr>
          <p:cNvPr id="30" name="Shape 28"/>
          <p:cNvSpPr/>
          <p:nvPr/>
        </p:nvSpPr>
        <p:spPr>
          <a:xfrm>
            <a:off x="548640" y="5189220"/>
            <a:ext cx="365760" cy="365760"/>
          </a:xfrm>
          <a:prstGeom prst="ellipse">
            <a:avLst/>
          </a:prstGeom>
          <a:solidFill>
            <a:srgbClr val="E8743B"/>
          </a:solidFill>
          <a:ln/>
        </p:spPr>
        <p:txBody>
          <a:bodyPr/>
          <a:lstStyle/>
          <a:p>
            <a:endParaRPr lang="en-US"/>
          </a:p>
        </p:txBody>
      </p:sp>
      <p:sp>
        <p:nvSpPr>
          <p:cNvPr id="31" name="Text 29"/>
          <p:cNvSpPr/>
          <p:nvPr/>
        </p:nvSpPr>
        <p:spPr>
          <a:xfrm>
            <a:off x="548640" y="51892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7</a:t>
            </a:r>
            <a:endParaRPr lang="en-US" sz="1200" dirty="0"/>
          </a:p>
        </p:txBody>
      </p:sp>
      <p:sp>
        <p:nvSpPr>
          <p:cNvPr id="32" name="Text 30"/>
          <p:cNvSpPr/>
          <p:nvPr/>
        </p:nvSpPr>
        <p:spPr>
          <a:xfrm>
            <a:off x="1188720" y="507492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MCP for Beginners</a:t>
            </a:r>
            <a:endParaRPr lang="en-US" sz="1600" dirty="0"/>
          </a:p>
        </p:txBody>
      </p:sp>
      <p:sp>
        <p:nvSpPr>
          <p:cNvPr id="33" name="Text 31"/>
          <p:cNvSpPr/>
          <p:nvPr/>
        </p:nvSpPr>
        <p:spPr>
          <a:xfrm>
            <a:off x="5943600" y="5074920"/>
            <a:ext cx="5715000" cy="594360"/>
          </a:xfrm>
          <a:prstGeom prst="rect">
            <a:avLst/>
          </a:prstGeom>
          <a:noFill/>
          <a:ln/>
        </p:spPr>
        <p:txBody>
          <a:bodyPr wrap="square" lIns="0" tIns="0" rIns="0" bIns="0" rtlCol="0" anchor="ctr"/>
          <a:lstStyle/>
          <a:p>
            <a:pPr marL="0" indent="0">
              <a:buNone/>
            </a:pPr>
            <a:r>
              <a:rPr lang="en-US" sz="1300" u="sng" dirty="0">
                <a:solidFill>
                  <a:srgbClr val="E8743B"/>
                </a:solidFill>
                <a:latin typeface="Segoe UI" pitchFamily="34" charset="0"/>
                <a:ea typeface="Segoe UI" pitchFamily="34" charset="-122"/>
                <a:cs typeface="Segoe UI" pitchFamily="34" charset="-120"/>
                <a:hlinkClick r:id="rId9">
                  <a:extLst>
                    <a:ext uri="{A12FA001-AC4F-418D-AE19-62706E023703}">
                      <ahyp:hlinkClr xmlns:ahyp="http://schemas.microsoft.com/office/drawing/2018/hyperlinkcolor" val="tx"/>
                    </a:ext>
                  </a:extLst>
                </a:hlinkClick>
              </a:rPr>
              <a:t>github.com/microsoft/mcp-for-beginners</a:t>
            </a:r>
            <a:endParaRPr lang="en-US" sz="1300" dirty="0"/>
          </a:p>
        </p:txBody>
      </p:sp>
      <p:sp>
        <p:nvSpPr>
          <p:cNvPr id="34" name="Shape 32"/>
          <p:cNvSpPr/>
          <p:nvPr/>
        </p:nvSpPr>
        <p:spPr>
          <a:xfrm>
            <a:off x="548640" y="5783580"/>
            <a:ext cx="365760" cy="365760"/>
          </a:xfrm>
          <a:prstGeom prst="ellipse">
            <a:avLst/>
          </a:prstGeom>
          <a:solidFill>
            <a:srgbClr val="0B1F33"/>
          </a:solidFill>
          <a:ln/>
        </p:spPr>
        <p:txBody>
          <a:bodyPr/>
          <a:lstStyle/>
          <a:p>
            <a:endParaRPr lang="en-US"/>
          </a:p>
        </p:txBody>
      </p:sp>
      <p:sp>
        <p:nvSpPr>
          <p:cNvPr id="35" name="Text 33"/>
          <p:cNvSpPr/>
          <p:nvPr/>
        </p:nvSpPr>
        <p:spPr>
          <a:xfrm>
            <a:off x="548640" y="57835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8</a:t>
            </a:r>
            <a:endParaRPr lang="en-US" sz="1200" dirty="0"/>
          </a:p>
        </p:txBody>
      </p:sp>
      <p:sp>
        <p:nvSpPr>
          <p:cNvPr id="36" name="Text 34"/>
          <p:cNvSpPr/>
          <p:nvPr/>
        </p:nvSpPr>
        <p:spPr>
          <a:xfrm>
            <a:off x="1188720" y="566928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mslearn-ai-multi-agents (labs)</a:t>
            </a:r>
            <a:endParaRPr lang="en-US" sz="1600" dirty="0"/>
          </a:p>
        </p:txBody>
      </p:sp>
      <p:sp>
        <p:nvSpPr>
          <p:cNvPr id="37" name="Text 35"/>
          <p:cNvSpPr/>
          <p:nvPr/>
        </p:nvSpPr>
        <p:spPr>
          <a:xfrm>
            <a:off x="5943600" y="5669280"/>
            <a:ext cx="5715000" cy="594360"/>
          </a:xfrm>
          <a:prstGeom prst="rect">
            <a:avLst/>
          </a:prstGeom>
          <a:noFill/>
          <a:ln/>
        </p:spPr>
        <p:txBody>
          <a:bodyPr wrap="square" lIns="0" tIns="0" rIns="0" bIns="0" rtlCol="0" anchor="ctr"/>
          <a:lstStyle/>
          <a:p>
            <a:pPr marL="0" indent="0">
              <a:buNone/>
            </a:pPr>
            <a:r>
              <a:rPr lang="en-US" sz="1300" u="sng" dirty="0">
                <a:solidFill>
                  <a:srgbClr val="E8743B"/>
                </a:solidFill>
                <a:latin typeface="Segoe UI" pitchFamily="34" charset="0"/>
                <a:ea typeface="Segoe UI" pitchFamily="34" charset="-122"/>
                <a:cs typeface="Segoe UI" pitchFamily="34" charset="-120"/>
                <a:hlinkClick r:id="rId10">
                  <a:extLst>
                    <a:ext uri="{A12FA001-AC4F-418D-AE19-62706E023703}">
                      <ahyp:hlinkClr xmlns:ahyp="http://schemas.microsoft.com/office/drawing/2018/hyperlinkcolor" val="tx"/>
                    </a:ext>
                  </a:extLst>
                </a:hlinkClick>
              </a:rPr>
              <a:t>github.com/MicrosoftLearning/mslearn-ai-multi-agents</a:t>
            </a:r>
            <a:endParaRPr lang="en-US" sz="1300" dirty="0"/>
          </a:p>
        </p:txBody>
      </p:sp>
      <p:sp>
        <p:nvSpPr>
          <p:cNvPr id="38"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2">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E8743B">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E8743B">
              <a:alpha val="10000"/>
            </a:srgbClr>
          </a:solidFill>
          <a:ln/>
        </p:spPr>
        <p:txBody>
          <a:bodyPr/>
          <a:lstStyle/>
          <a:p>
            <a:endParaRPr lang="en-US"/>
          </a:p>
        </p:txBody>
      </p:sp>
      <p:sp>
        <p:nvSpPr>
          <p:cNvPr id="4" name="Text 2"/>
          <p:cNvSpPr/>
          <p:nvPr/>
        </p:nvSpPr>
        <p:spPr>
          <a:xfrm>
            <a:off x="548640" y="1828800"/>
            <a:ext cx="9144000" cy="1645920"/>
          </a:xfrm>
          <a:prstGeom prst="rect">
            <a:avLst/>
          </a:prstGeom>
          <a:noFill/>
          <a:ln/>
        </p:spPr>
        <p:txBody>
          <a:bodyPr wrap="square" lIns="0" tIns="0" rIns="0" bIns="0" rtlCol="0" anchor="ctr"/>
          <a:lstStyle/>
          <a:p>
            <a:pPr marL="0" indent="0">
              <a:buNone/>
            </a:pPr>
            <a:r>
              <a:rPr lang="en-US" sz="5000" b="1" dirty="0">
                <a:solidFill>
                  <a:srgbClr val="FFFFFF"/>
                </a:solidFill>
                <a:latin typeface="Segoe UI Semibold" pitchFamily="34" charset="0"/>
                <a:ea typeface="Segoe UI Semibold" pitchFamily="34" charset="-122"/>
                <a:cs typeface="Segoe UI Semibold" pitchFamily="34" charset="-120"/>
              </a:rPr>
              <a:t>Gracias — fin del Microsoft AI Foundry BCI Training Day</a:t>
            </a:r>
            <a:endParaRPr lang="en-US" sz="5000" dirty="0"/>
          </a:p>
        </p:txBody>
      </p:sp>
      <p:sp>
        <p:nvSpPr>
          <p:cNvPr id="5" name="Text 3"/>
          <p:cNvSpPr/>
          <p:nvPr/>
        </p:nvSpPr>
        <p:spPr>
          <a:xfrm>
            <a:off x="548640" y="3657600"/>
            <a:ext cx="8412480" cy="1005840"/>
          </a:xfrm>
          <a:prstGeom prst="rect">
            <a:avLst/>
          </a:prstGeom>
          <a:noFill/>
          <a:ln/>
        </p:spPr>
        <p:txBody>
          <a:bodyPr wrap="square" lIns="0" tIns="0" rIns="0" bIns="0" rtlCol="0" anchor="t"/>
          <a:lstStyle/>
          <a:p>
            <a:pPr marL="0" indent="0">
              <a:buNone/>
            </a:pPr>
            <a:r>
              <a:rPr lang="en-US" sz="2100" dirty="0">
                <a:solidFill>
                  <a:srgbClr val="C9D7E4"/>
                </a:solidFill>
                <a:latin typeface="Segoe UI" pitchFamily="34" charset="0"/>
                <a:ea typeface="Segoe UI" pitchFamily="34" charset="-122"/>
                <a:cs typeface="Segoe UI" pitchFamily="34" charset="-120"/>
              </a:rPr>
              <a:t>De agentes que funcionan a una plataforma segura, gobernada y evaluable. El backlog de hoy es el punto de partida, no el final.</a:t>
            </a:r>
            <a:endParaRPr lang="en-US" sz="2100" dirty="0"/>
          </a:p>
        </p:txBody>
      </p:sp>
      <p:sp>
        <p:nvSpPr>
          <p:cNvPr id="6" name="Text 4"/>
          <p:cNvSpPr/>
          <p:nvPr/>
        </p:nvSpPr>
        <p:spPr>
          <a:xfrm>
            <a:off x="548640" y="5760720"/>
            <a:ext cx="8229600" cy="365760"/>
          </a:xfrm>
          <a:prstGeom prst="rect">
            <a:avLst/>
          </a:prstGeom>
          <a:noFill/>
          <a:ln/>
        </p:spPr>
        <p:txBody>
          <a:bodyPr wrap="square" lIns="0" tIns="0" rIns="0" bIns="0" rtlCol="0" anchor="ctr"/>
          <a:lstStyle/>
          <a:p>
            <a:pPr marL="0" indent="0">
              <a:buNone/>
            </a:pPr>
            <a:r>
              <a:rPr lang="en-US" sz="1400" dirty="0">
                <a:solidFill>
                  <a:srgbClr val="F5B83D"/>
                </a:solidFill>
                <a:latin typeface="Segoe UI" pitchFamily="34" charset="0"/>
                <a:ea typeface="Segoe UI" pitchFamily="34" charset="-122"/>
                <a:cs typeface="Segoe UI" pitchFamily="34" charset="-120"/>
              </a:rPr>
              <a:t>Pablo Braconi · Valentina Grajales · Microsoft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44</TotalTime>
  <Words>14461</Words>
  <Application>Microsoft Office PowerPoint</Application>
  <PresentationFormat>Widescreen</PresentationFormat>
  <Paragraphs>1047</Paragraphs>
  <Slides>57</Slides>
  <Notes>57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Arquitectura, seguridad y operación de agentes (L300)</dc:title>
  <dc:subject>Microsoft AI Foundry BCI Training Day</dc:subject>
  <dc:creator>Microsoft</dc:creator>
  <cp:lastModifiedBy>Valentina Grajales Olarte</cp:lastModifiedBy>
  <cp:revision>8</cp:revision>
  <dcterms:created xsi:type="dcterms:W3CDTF">2026-10-22T21:50:11Z</dcterms:created>
  <dcterms:modified xsi:type="dcterms:W3CDTF">2026-10-23T01:17:32Z</dcterms:modified>
</cp:coreProperties>
</file>