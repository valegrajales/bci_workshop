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23" d="100"/>
          <a:sy n="123" d="100"/>
        </p:scale>
        <p:origin x="81" y="23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30302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tercer y último día del training. Hoy pasamos de construir agentes a operarlos como plataforma empresarial: arrancamos con observabilidad y ciclo de vida usando el proyecto de ayer, seguimos con protocolos de interoperabilidad y patrones multiagente, arquitectura empresarial, y seguridad y gobierno, cerrando con un workshop aplicado a un caso propio. La audiencia de hoy es más técnica y transversal: arquitectos, ingenieros de plataforma, seguridad, SRE/DevOps, gobierno e IA. El objetivo final es dejar una arquitectura objetivo validada y un backlog priorizado de decisiones y pruebas. Recordar que el contenido de hoy asume ya experiencia previa con agentes hospedados, APIM, MCP y evaluaciones vista en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Recorremos la agenda completa de 240 minutos. Abrimos con observabilidad y ciclo de vida, que retoma el proyecto del laboratorio de ayer; luego protocolos e interoperabilidad, arquitectura empresarial, una pausa y seguridad y gobierno. Cerramos con un workshop aplicado de 65 minutos y un cierre ejecutivo que conecta con los tres días. Pedimos a los arquitectos y responsables de seguridad que anoten preguntas específicas de su contexto para resolverlas en el workshop, y a todos que tengan abierta la carpeta del laboratorio de ayer para el ejercicio de las 09:00. El ritmo es denso: cada módulo combina exposición corta con decisiones de arquitectura concretas, no solo teoría.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Retomamos brevemente lo cubierto en los dos días anteriores sin repetir contenido: fundamentos de Foundry y agentes el primer día, desarrollo, integración, RAG y primeras evaluaciones el segundo. El hilo conductor de hoy es explícito: pasar de 'un agente que funciona en una demo' a 'una plataforma de agentes operable, segura y gobernada a escala'. Esto ayuda a la audiencia de arquitectos y seguridad a entender por qué el foco de hoy es arquitectura, identidad, protocolos, riesgos y operación, y no nuevamente construcción de agentes. Vale la pena preguntar a la sala qué decisión de arquitectura quedó pendiente de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cinco objetivos de aprendizaje del día, alineados a los módulos de la agenda. El método no es solo exposición: cada bloque termina con una decisión de arquitectura o un control de seguridad que el grupo debe poder argumentar. El cierre del día es un workshop de decisiones de arquitectura sobre un caso bancario ficticio, seguido de un cierre ejecutivo que conecta con los tres días del training. Es un buen momento para preguntar a la audiencia qué rol cumple cada persona en su organización (arquitecto, seguridad, SRE, gobierno) para adaptar ejemplos durante 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Abrimos el día con observabilidad, que retoma el trabajo de ayer: cubrimos cómo saber qué hizo realmente el agente, cómo depurar una falla y cómo usar evaluaciones para decidir con datos si responde bien, y cerramos con el ejercicio práctico que antes era la Tarea 4 del laboratorio pro-code del día 2. Cada participante retoma su propio proyecto de ayer (mismo entorno, mismo agente, mismo índice) para diagnosticar un caso fallido real con su propia traza. Son 30 minutos: unos 10-12 de teoría y el resto de ejercicio. Sugerido: preguntar cómo depuran hoy un agente cuando algo sale mal, si usan logs sueltos o alguna herramienta de tracing, para calibrar cuánto detalle dar sobre OpenTelemetry. Sugerido: Valentina. Fuente: MATERIALS_INDEX.md (§3 Día 3, módulo 1), laboratorios/dia2-lab-procode/README.md (Apéndice).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en Foundry está construido sobre OpenTelemetry y las convenciones semánticas de GenAI, un estándar que también adoptan Agent Framework, LangChain, LangGraph y el SDK de OpenAI Agents, lo que facilita correlacionar trazas entre distintos componentes. Cada ejecución genera spans anidados: invoke_agent envuelve toda la corrida, execute_tool registra cada llamada a una tool con sus argumentos y resultado, y hay spans específicos para workflows y memoria. Todo esto se exporta por OTLP y normalmente se almacena en Application Insights. Sugerido: mostrar en el portal de Foundry una traza real y señalar los distintos niveles de spans.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 es una herramienta de diagnóstico, pero también un dato sensible: si una tool recibe un número de cuenta o un dato personal como argumento, ese valor puede terminar en el span si no se redacta antes. La recomendación es tratar la telemetría con los mismos controles de acceso que cualquier log de producción, nunca como un espacio 'libre' para depurar sin cuidado. Correlacionar el ID de una corrida de evaluación con su traza permite, por ejemplo, entender por qué un evaluador de groundedness marcó una respuesta como mala, viendo exactamente qué contexto se recuperó. Sugerido: pedir ejemplos de datos que nunca deberían aparecer en una traza en el contexto bancario (números de cuenta, RUT, montos).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categorías cubren la gran mayoría de los problemas que aparecen al operar un hosted agent en el día a día. Antes de sospechar del modelo conviene descartar lo básico: ¿arrancó bien el contenedor?, ¿hay errores de autenticación por identidad o permisos faltantes?, ¿la tool está realmente adjunta y bien descrita? Separar la latencia por etapa (arranque, modelo, tool) evita optimizar lo que no es el cuello de botella real. Sugerido: relacionar 'no llama a la tool' con el diseño de tools visto el día 2, mostrando que muchos problemas de observabilidad en realidad se originan en un mal diseño previo de la tool. Fuente: docs-oficiales/foundry/agents/how-to/debug-hosted-agent.md,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un paso único, es un proceso continuo con tres niveles distintos. A nivel de turno medimos la calidad de una respuesta individual; a nivel de conversación, si el agente cumplió la tarea completa a lo largo de varios turnos; y a nivel de uso de tools, si eligió y llamó correctamente las herramientas disponibles. Foundry permite correr estos evaluadores durante el desarrollo y también de forma recurrente sobre tráfico real ya en producción. Sugerido: anticipar que más tarde, en seguridad y gobierno, se suman los evaluadores de seguridad, y que ambos conjuntos se combinan para un agente listo para producción. Fuente: docs-oficiales/foundry/concepts/evaluation-overview.md,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es el mapa de los siguientes: Foundry agrupa sus evaluadores integrados en familias, y cada familia responde una pregunta distinta. Calidad de respuesta mide la forma; RAG mide si la respuesta se apoya en el contexto recuperado; agente y tareas mide si se cumplió el objetivo del usuario; uso de herramientas mide la mecánica de las llamadas; seguridad mide riesgos; y las métricas de similitud y operacionales cubren comparación contra una referencia y la salud del servicio. En los próximos slides vemos para cada familia cómo funciona la métrica, su ventaja y su desventaja. Sugerido: preguntar a la audiencia cuáles de estas familias miden hoy en sus pruebas. Fuente: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métricas evalúan la forma de la respuesta. Coherence y Fluency se calculan con un modelo juez (LLM-as-judge) que recibe la consulta y la respuesta y devuelve una puntuación con su razonamiento; no necesitan referencia, por eso son fáciles de aplicar sobre tráfico real. Su límite es importante para arquitectos: una respuesta puede ser fluida y coherente y a la vez estar equivocada, así que nunca deben ser el único criterio. Similarity sí requiere una respuesta esperada y es la más útil cuando existe un dataset dorado. Sugerido: mostrar un ejemplo de respuesta fluida pero incorrecta. Fuente: docs-oficiales/foundry/concepts/built-in-evaluators.md; evaluation-evaluators/general-purpose-evaluators.md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familia clave para el agente de normativa del día 2. Groundedness responde si el agente inventó algo; Relevance si respondió lo preguntado; Retrieval si el buscador trajo los documentos correctos; y Document Retrieval lo mide de forma objetiva contra etiquetas humanas. Juntas permiten separar un problema del índice de un problema del modelo: si Retrieval es bajo hay que arreglar la búsqueda, y si Retrieval es alto pero Groundedness bajo, el problema está en la generación. Sugerido: conectar con el caso fallido del ejercicio. Fuente: docs-oficiales/foundry/concepts/built-in-evaluators.md; evaluation-evaluators/rag-evaluators.md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medimos si el agente hizo su trabajo. Intent Resolution y Task Adherence miran la comprensión y el respeto de instrucciones; Task Completion mira el resultado final; Navigation Efficiency compara el camino contra uno esperado y es la única de esta familia que no usa un juez libre, sino una comparación contra referencia. Estas métricas necesitan el contexto completo de la conversación y de las llamadas, por eso dependen de la calidad de la traza vista antes. Varias están en preview, conviene validar su estabilidad antes de usarlas como criterio de salida a producción. Sugerido: pedir que definan qué sería completar la tarea en un caso bancario.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 agente falla, muchas veces el problema está en las herramientas y no en el modelo. Estas cinco métricas descomponen el problema: elegir la tool, armar los argumentos, ejecutarla, y usar su resultado. Tool Call Accuracy es el resumen; las demás sirven para diagnosticar cuál de los pasos se rompe. Tool Call Success es la más simple y objetiva porque revisa errores técnicos, pero no sabe si la llamada era la adecuada. Sugerido: relacionar con el diseño de tools del día 2 y con 'No llama a la tool' del diagnóstico rápido.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de riesgo se aplican a todo agente, no solo a los de cara al cliente. Las de contenido dañino devuelven una severidad por categoría. XPIA es especialmente relevante para agentes con RAG o herramientas, porque el contenido recuperado puede traer instrucciones maliciosas. Prohibited Actions y Sensitive Data Leakage son las más cercanas al contexto bancario, pero requieren que la organización defina sus propias políticas. Se retoman en el módulo de seguridad y red teaming. Sugerido: preguntar qué acciones nunca debería ejecutar un agente en BCI. Fuente: docs-oficiales/foundry/concepts/built-in-evaluators.md; evaluation-evaluators/risk-safety-evaluators.md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algorítmicas como F1, BLEU, ROUGE o METEOR comparan texto contra una respuesta esperada. Son baratas y reproducibles, pero en agentes conversacionales castigan paráfrasis válidas, por lo que sirven sobre todo para respuestas cortas y estructuradas, como extracción de campos. Las operacionales no son evaluadores: provienen de la telemetría y se usan para SLOs de latencia, costo y disponibilidad. Son el contrapeso de las métricas de calidad: un agente más preciso pero diez veces más caro puede no ser mejor. Sugerido: conectar con el slide de SLOs del workshop. Fuente: docs-oficiales/foundry/concepts/built-in-evaluators.md; evaluation-evaluators/textual-similarity-evaluators.md; concepts/manage-costs.md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esta sección: ninguna métrica es suficiente por sí sola. Foundry recomienda combinar evaluadores según el tipo de aplicación: para RAG, Retrieval más Groundedness más Relevance más seguridad; para agentes, calidad de salida, calidad de uso de herramientas y seguridad. Los jueces LLM entienden significado pero cuestan y varían; las métricas determinísticas son estables pero superficiales; la revisión humana es la referencia pero no escala. La práctica recomendada es calibrar el juez con una muestra revisada por personas y fijar umbrales propios con datos reales, tal como se hará en la tabla de SLOs del workshop. Sugerido: pedir que cada grupo elija su set mínimo de cuatro métricas. Fuente: docs-oficiales/foundry/concepts/built-in-evaluators.md (sección Combining evaluators);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método que aplicamos en el ejercicio: partimos del síntoma observable, lo reproducimos de forma controlada, abrimos su traza y recorremos los spans hasta aislar el paso donde se rompió el razonamiento, ya sea una recuperación sin los documentos correctos, una tool mal elegida o argumentos mal armados. Después confirmamos la hipótesis con datos usando un evaluador, en lugar de confiar solo en la intuición, y por último corregimos y volvemos a correr el mismo caso para comparar trazas. Es la práctica que separa un agente que 'parece funcionar' de uno que se puede operar. Sugerido: usar este slide como guion mientras los participantes trabajan en el ejercicio práctico. Fuente: docs-oficiales/foundry/observability/concepts/trace-agent-concept.md; docs-oficiales/foundry/concepts/evaluation-overview.md.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ejercicio práctico del módulo, no una demo del instructor: cada participante retoma su propio proyecto dia2-lab-procode del día 2 y corre el mismo script 05_caso_fallido.py que antes vivía en la Tarea 4 del laboratorio pro-code. El acceso del laboratorio (TAP) se regenera a diario, pero el proyecto y los recursos de Azure persisten los tres días, así que el entorno de cada participante sigue intacto. Sugerido: circular activamente para ayudar a quien no recuerde cómo reactivar su entorno virtual de Python. Si alguien no llega a terminar, lo mínimo esperable es diagnosticar el caso 1; el caso 2 es para quien le sobre tiempo. Fuente: laboratorios/dia2-lab-procode/README.md (Apéndice — Ejercicio de trazas y diagnóstico), laboratorios/dia2-lab-procode/instructores/README.md.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cubre cómo los agentes se conectan con herramientas (MCP), cómo se conectan entre sí (A2A) y cuándo conviene usar más de un agente en lugar de uno solo. Es un módulo denso porque mezcla protocolos de interoperabilidad con decisiones de diseño de orquestación. El objetivo no es memorizar nombres de patrones, sino poder argumentar cuándo NO conviene multiagente: la complejidad adicional tiene un costo en latencia, evaluación y debugging. Sugerido: Pablo y Valentina. Fuente: docs-oficiales/foundry/agents/how-to/tools/model-context-protocol.md; docs-oficiales/agent-framework/workflows/orchestrations.md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y A2A resuelven problemas distintos y suelen convivir en la misma arquitectura. MCP estandariza cómo un agente llama herramientas y fuentes de datos externas, con endpoints que el equipo debe autohospedar y que pueden gobernarse centralizadamente a través de un AI Gateway. A2A estandariza cómo un agente delega una tarea completa a otro agente, y en su versión GA (v1.0) es JSON-RPC solo texto, sin streaming todavía; reemplaza el patrón previo de 'Connected Agents' donde un agente se exponía como herramienta de otro. Para BCI, esto habilita escenarios donde un agente orquestador delega en agentes especialistas (por ejemplo, documentos de comercio exterior) vía A2A, y cada uno usa sus propias herramientas vía MCP. Sugerido: Valentina. Fuente: docs-oficiales/foundry/agents/how-to/tools/{model-context-protocol,agent-to-agent}.md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conectar un agente a MCP, el equipo de plataforma decide si el servidor es público o privado, qué método de autenticación usar, y puede agruparlo en un Toolbox junto a otras herramientas para simplificar la configuración del agente; además hay límites de tiempo de espera por llamada que conviene conocer al diseñar herramientas de larga duración. En A2A, la elección entre autenticación compartida o individual determina si todos los usuarios comparten el mismo contexto de acceso o si cada uno conserva sus propios permisos delegados. La identidad Entra por agente publicado es la base para auditoría y mínimo privilegio, tema que retomamos en el módulo de seguridad. Sugerido: Valentina. Fuente: docs-oficiales/foundry/agents/how-to/{tools/model-context-protocol,tools/agent-to-agent,mcp-authentication}.md;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define cinco patrones de orquestación multiagente: sequential (pipeline), concurrent (paralelo), handoff (transferencia de control sin orquestador, topología malla, el agente receptor toma dueño total de la tarea), group chat (orquestador central que elige quién habla, topología estrella) y Magentic (inspirado en Magentic-One de AutoGen, un manager planifica y coordina dinámicamente agentes especialistas para tareas abiertas sin ruta de solución conocida de antemano). El sexto recuadro es la advertencia más importante para arquitectos: si la tarea no requiere especialización, paralelismo real o planificación dinámica, un solo agente bien diseñado es más simple, más barato y más fácil de evaluar que cualquier orquestación multiagente. Sugerido: Pablo. Fuente: docs-oficiales/agent-framework/workflows/orchestrations.md; orchestrations/{sequential,concurrent,handoff,group-chat,magentic}.md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cinco pasos resume cómo diseñar un orchestrator en la práctica: primero un contrato claro de tareas por agente especialista, luego elegir el patrón de orquestación que mejor calce con el problema (no el más novedoso), definir reglas explícitas de reintentos y condiciones de salida para evitar loops costosos, instrumentar tracing por agente para poder depurar un flujo que puede anidar varias llamadas, y finalmente evaluar el resultado extremo a extremo y no solo agente por agente. Este proceso se retomará como insumo directo en el workshop del cierre de la jornada, cuando el grupo deba decidir el patrón de orquestación de su propio caso. Sugerido: Pablo. Fuente: docs-oficiales/agent-framework/workflows/orchestrations.md; docs-oficiales/foundry/observability/concepts/trace-agent-concept.md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una organización tiene varios equipos construyendo agentes, conviene centralizar el gobierno de MCP y A2A detrás de un AI Gateway en lugar de que cada equipo conecte sus agentes directo a cada servidor. Esto permite tratar el descubrimiento de servidores MCP como un catálogo versionado, delegar la autenticación OAuth2 hacia los backends al propio gateway (sin exponer credenciales al agente), validar tokens de los clientes antes de dejarlos pasar, y centralizar auditoría y métricas por consumidor. La identidad Entra del agente sigue siendo la que se valida en el token con la audiencia correcta del recurso destino. Esto se conecta directamente con el módulo de arquitectura empresarial que viene a continuación. Sugerido: Pablo. Fuente: repos/publico-samples/AI-Gateway/labs/model-context-protocol/README.MD (laboratorio público, referencia); docs-oficiales/foundry/agents/concepts/agent-identity.md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arma el esqueleto de referencia que usaremos en el workshop del cierre de la jornada: desde el canal de entrada hasta el modelo, pasando por un AI Gateway, un Session Gateway opcional y el Hosted Agent con su identidad propia. La pregunta central para arquitectos es cómo escalar de decenas a miles de usuarios concurrentes sin perder aislamiento ni control de costo. Cerramos con una demo de los controles típicos de un AI Gateway. Sugerido: Valentina. Fuente: docs-oficiales/foundry/agents/concepts/{hosted-agents,networking-options}.md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arquitectura de referencia de cinco capas que se repetirá durante todo el módulo: el canal de entrada, un AI Gateway (típicamente APIM) que centraliza autenticación, límites y cache, un Session Gateway opcional para multiplexar usuarios, el Hosted Agent con su propia identidad Entra y sesiones aisladas, y finalmente los modelos y herramientas (Search, MCP, A2A). No todas las organizaciones necesitan las cinco capas desde el día uno: el Session Gateway, por ejemplo, solo se justifica cuando la concurrencia esperada hace que una sesión 1:1 por usuario sea costosa de operar. Esta capa se retomará como plantilla directa en el canvas del workshop. Sugerido: Valentina. Fuente: docs-oficiales/foundry/agents/concepts/hosted-agents.md; agents/how-to/{isolate-sessions-per-user,multiplex-session-users,ai-gateway}.md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Hosted Agents permiten traer código propio en un framework como Agent Framework, LangGraph o Semantic Kernel, y la plataforma se encarga de containerizar, escalar, aislar sesiones y versionar. Cada sesión corre en un sandbox aislado con almacenamiento persistente, lo que habilita flujos con estado real, no solo request-response. El punto de gobierno más importante es el ciclo de vida de la identidad: antes de publicar, todos los agentes de un proyecto comparten una sola identidad Entra para simplificar el desarrollo; al publicar, cada agente obtiene su propia identidad, habilitando aislamiento y auditoría independiente. El intercambio de tokens hacia servicios externos es manejado automáticamente por la plataforma en cuatro etapas. Sugerido: Valentina. Fuente: docs-oficiales/foundry/agents/concepts/{hosted-agents,agent-identity}.md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decisiones de arquitectura más relevantes del día. En el modelo 1:1, cada usuario tiene su propia sesión de Hosted Agent, lo cual es simple de razonar pero escala linealmente en costo de cómputo con la cantidad de usuarios activos. El patrón de Session Gateway introduce un servicio intermedio que multiplexa muchos usuarios sobre un número acotado de sesiones compartidas, usando un header de identidad de usuario para delegar el contexto correcto en cada request; esto requiere un permiso RBAC dedicado para impersonar identidad de usuario, que no viene en los roles integrados. Para BCI, con potencialmente miles de usuarios corporativos concurrentes, esta es exactamente la decisión que se evaluará en el workshop del cierre de la jornada. Sugerido: Valentina. Fuente: docs-oficiales/foundry/agents/how-to/{isolate-sessions-per-user,multiplex-session-users}.md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AI Gateway como APIM centraliza cuatro controles que de otra forma cada equipo tendría que reimplementar: autenticación hacia los backends usando managed identity (sin llaves de modelo en el gateway ni en el agente), límites de tokens por consumidor o equipo, cache semántico para reducir latencia y costo en preguntas repetidas, y balanceo de carga entre múltiples backends o modelos (incluyendo degradación a un modelo más económico si se agota un presupuesto). Para una organización con múltiples equipos construyendo agentes, como sería el caso de BCI a mediano plazo, este patrón evita que cada equipo reinvente gobierno de acceso y costo de forma aislada. Sugerido: Valentina. Fuente: docs-oficiales/foundry/agents/how-to/ai-gateway.md; repos/publico-samples/apim-foundry-governance/README.md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usa un panel de gobierno construido sobre APIM como ejemplo ilustrativo de un AI Gateway empresarial: permisos de modelo por consumidor, límites de tasa de tokens, degradación automática a un modelo más económico cuando se agota un presupuesto diario, y un tablero de métricas de consumo por consumidor y modelo. El mensaje para la audiencia de plataforma y FinOps es que estos controles viven en el gateway, no en el código del agente, por lo que se pueden ajustar sin un nuevo despliegue. No se muestran cifras reales de BCI; los valores de cuota y presupuesto son ilustrativos. Conviene preguntar qué equipo sería el dueño natural de este gateway en la organización. Sugerido: Valentina. Fuente: repos/publico-samples/apim-foundry-governance/README.md (repositorio público de ejemplo)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módulo más denso del día: amenazas específicas de agentes y herramientas, identidad y mínimo privilegio, guardrails y Content Safety en runtime, y red teaming como validación previa a producción. La idea central es que un agente con acceso a herramientas reales (transferencias, documentos, sistemas core) necesita un modelo de amenazas propio, distinto al de una aplicación web tradicional. Cerramos con threat modeling aplicado. Sugerido: Pablo. Fuente: docs-oficiales/foundry/guardrails/guardrails-overview.md;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seis amenazas son el punto de partida del modelo de amenazas de un agente empresarial. El prompt injection directo viene del propio usuario; el indirecto es más peligroso porque viaja oculto dentro de un documento o página que el agente recupera como parte de su contexto, sin que el usuario lo note. Tool poisoning ocurre cuando una herramienta externa (por ejemplo, un servidor MCP de terceros) devuelve resultados manipulados. Excessive agency y desviación de la tarea son problemas de diseño: el agente puede hacer más de lo que su tarea requiere, o usar una herramienta de forma no alineada con la intención real del usuario. Todas estas amenazas se mapean a controles concretos en la siguiente diapositiva. Sugerido: Pablo. Fuente: docs-oficiales/foundry/guardrails/{guardrails-overview,intervention-points,task-adherence}.md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conecta cada amenaza del recuadro anterior con un control concreto y documentado: Prompt Shields para detectar intentos de jailbreak o inyección en el texto de entrada y en contenido recuperado; mínimo privilegio más aprobación humana para acciones de alto impacto en el caso de excessive agency o tool poisoning; Content Safety junto con enmascarado de datos sensibles en logs para fuga de datos; y la API de task adherence, que detecta cuándo el uso de una herramienta por parte del agente está desalineado, es prematuro o no intencionado respecto a la interacción del usuario. Este mapeo amenaza-control-dueño es exactamente el formato que se usará en el threat modeling del workshop. Sugerido: Pablo. Fuente: docs-oficiales/ai-services-content-safety/overview.md; docs-oficiales/foundry/guardrails/intervention-points.md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identidad de agente (Entra Agent ID) es la base técnica del mínimo privilegio: cada agente publicado tiene su propio service principal, distinguible de identidades humanas o de aplicaciones, lo que permite asignar roles RBAC acotados y auditar accesos de forma independiente. Un detalle técnico importante para troubleshooting: un valor de audience incorrecto en el token produce fallas de autenticación aunque los roles estén bien asignados. El flujo delegado (on-behalf-of) limita al agente a lo que el usuario humano consintió; el flujo de client credentials le da al agente autoridad propia, gobernada solo por sus roles. Punto crítico para seguridad: un guardrail configurado a nivel de agente reemplaza por completo al del modelo, no se suman. Sugerido: Pablo. Fuente: docs-oficiales/foundry/agents/concepts/agent-identity.md; guardrails/guardrails-overview.md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cuatro pasos es el que se aplicará literalmente en el workshop del cierre de la jornada sobre el caso ficticio. Primero se mapea el flujo completo (canal, identidad, sesión, agente, herramientas y datos), porque muchas amenazas solo aparecen al ver el flujo end-to-end y no un componente aislado. Luego se enumeran amenazas por cada punto de intervención del flujo (entrada del usuario, llamada a herramienta, salida del modelo, memoria persistida). Priorizar por impacto y probabilidad evita que el equipo trate cada amenaza como igualmente crítica. El paso final es el que más se olvida: cada amenaza necesita un control, un punto de aplicación, un dueño y una fecha de revisión, no solo quedar documentada. Sugerido: Pablo. Fuente: docs-oficiales/foundry/guardrails/intervention-points.md;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teaming y guardrails son complementarios, no alternativos. El AI Red Teaming Agent de Foundry usa PyRIT para automatizar ataques, cubre categorías de riesgo propias de agentes (acciones prohibidas, fuga de datos sensibles, desviación de la tarea), y para estas categorías agentic requiere correr en la nube con un agente ya desplegado en un entorno acotado; un detalle operativo a validar con el equipo de plataforma es la disponibilidad regional de este servicio en la nube para la región de despliegue de BCI. Los guardrails, en cambio, operan en tiempo real sobre cada conversación en cuatro puntos de intervención del flujo, y es clave recordar que el guardrail de un agente sobreescribe completamente al del modelo subyacente, no se combinan. Sugerido: Pablo. Fuente: docs-oficiales/foundry/concepts/ai-red-teaming-agent.md; how-to/develop/run-ai-red-teaming-cloud.md; 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bloque aplicado del día: tomamos todo lo visto en los módulos anteriores (observabilidad, protocolos, arquitectura y seguridad) y lo convertimos en decisiones concretas sobre un caso bancario ficticio, 'Austral Bank' (sin datos reales de BCI). El resultado esperado no es una arquitectura perfecta, sino un canvas de decisiones, un mapa de riesgos y un backlog priorizado que el equipo pueda seguir trabajando después del training. Facilitamos entre ambos para cubrir tanto arquitectura como seguridad. Sugerido: Pablo y Valentina. Fuente: 00-agenda-y-contexto/MATERIALS_INDEX.md (mapa de módulos Día 3)</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caso ficticio que usará todo el workshop: 'Austral Bank', un banco inventado que quiere un asistente de tesorería para clientes corporativos, con necesidades de FX, cash management y comercio exterior, atendido por múltiples canales y con miles de usuarios corporativos potenciales. No se usa ningún dato real de BCI ni de otro cliente. Las reglas son simples: grupos de 4 a 6 personas, un relator que documenta, 65 minutos divididos en 5 pasos con tiempos acotados, y el foco puesto en la decisión y el supuesto detrás, no en un diagrama perfecto. El objetivo es que cada grupo salga con un canvas, un mapa de riesgos y un backlog que puedan adaptar a su propio contexto real después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canvas central del workshop: cinco dimensiones (canal, identidad, sesión, agente/modelo, tools/datos) que cubren exactamente lo visto en los módulos de protocolos y arquitectura empresarial de la mañana. Cada grupo debe completar la columna de decisión y de criterio con su propio contexto, usando las opciones como punto de partida, no como lista cerrada. La columna de criterio es la más importante: obliga a explicitar por qué se elige una opción (por ejemplo, 'concurrencia esperada y costo' para decidir entre Hosted Agent dedicado o Session Gateway), en vez de elegir por intuición. Este canvas es el mismo que se usará como plantilla reutilizable después del training. Sugerido: Pablo y Valentina. Fuente: docs-oficiales/foundry/agents/concepts/{hosted-agents,networking-options}.md; agents/how-to/{ai-gateway,multiplex-session-users}.md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reloj del workshop: 5 minutos para leer el caso y alinear supuestos del grupo, 20 minutos para completar el canvas de decisiones de arquitectura, 15 minutos para identificar las tres amenazas más relevantes del caso y su control propuesto usando el proceso de threat modeling visto en la mañana, 12 minutos para definir SLOs y señales de observabilidad básicas, y 13 minutos finales para priorizar todo en un backlog corto. El facilitador debe avisar en voz alta cada cambio de paso para mantener el ritmo; es preferible un canvas incompleto pero con las columnas de criterio bien razonadas que uno completo pero superficial.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ejemplo ilustra el nivel de detalle esperado en el paso de amenazas del workshop, aplicando directamente el proceso de threat modeling del módulo de seguridad: mapear el flujo del caso Austral Bank, enumerar amenazas en los puntos de intervención relevantes (documentos adjuntos, permisos de cuenta, logs, comunicación entre agentes), y proponer un control concreto para cada una. Es solo un ejemplo de referencia; cada grupo debe generar sus propias tres amenazas priorizadas según su propio caso. Lo esencial es que ninguna amenaza quede sin control, punto de aplicación y dueño asignado antes de pasar al siguiente paso del workshop. Sugerido: Pablo y Valentina. Fuente: docs-oficiales/foundry/guardrails/intervention-points.md;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de riesgos convierte las amenazas identificadas en una vista de probabilidad e impacto, formato estándar para conversar con seguridad, gobierno y liderazgo ejecutivo. Los cuatro riesgos de ejemplo cubren seguridad (prompt injection, permisos excesivos), calidad (degradación silenciosa del retrieval, detectable solo con evaluación continua) y costo (dimensionamiento incorrecto del multiplexado). Cada grupo debe adaptar probabilidad e impacto a su propio contexto, no copiar el ejemplo literalmente. Este mapa, junto con el canvas de decisiones, es uno de los entregables formales del workshop que se presenta en el cierre ejecutivo. Sugerido: Pablo y Valentina. Fuente: docs-oficiales/foundry/guardrails/intervention-points.md;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plantilla de SLOs que cada grupo completa en el paso 4 del workshop, retomando directamente el módulo de Observabilidad y ciclo de vida visto más temprano hoy: disponibilidad medida por éxito de sesión del Hosted Agent, calidad medida por evaluadores de groundedness y de uso de herramientas, seguridad medida por tasa de bloqueo de Prompt Shields y Content Safety, y costo medido por tokens y consumo de cómputo por sesión activa. Deliberadamente no fijamos objetivos numéricos de ejemplo: cada grupo debe definir sus propios umbrales según su tolerancia al riesgo y su presupuesto, evitando copiar cifras que no se hayan validado con su propio tráfico. Sugerido: Pablo y Valentina. Fuente: docs-oficiales/foundry/observability/concepts/trace-agent-concept.md; concepts/{evaluation-overview,manage-costs}.md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al backlog final, explicamos cómo será la puesta en común: cada grupo tiene 90 segundos para presentar su decisión principal de arquitectura, el supuesto más crítico detrás de ella, y el primer experimento o PoC que correrían para validarla. El canvas y el backlog sirven de apoyo visual directo, sin necesidad de preparar diapositivas adicionales. El criterio de éxito de la presentación no es un diagrama perfecto sino un razonamiento claro y defendible. Como facilitadores, tomamos nota de los patrones que se repiten entre grupos (mismas amenazas, mismas decisiones de sesión) porque esos patrones alimentan directamente el cierre ejecutivo del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backlog es el entregable final y más accionable del workshop: una lista corta de ítems clasificados por tipo (decisión formal tipo ADR, experimento o PoC a correr, o habilitador de plataforma), con prioridad y un dueño sugerido. Los cuatro ejemplos cubren las cuatro áreas del día: arquitectura (Session Gateway), diseño de orquestación (ADR), seguridad (Content Safety) y observabilidad (panel de trazas y evaluaciones de calidad). Cada grupo debe producir entre 3 y 5 ítems propios antes de la puesta en común. Este backlog, junto con el canvas y el mapa de riesgos, se retoma explícitamente en la próxima sección de cierre ejecutivo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día y el training conectando el resultado del workshop con una vista ejecutiva: qué arquitectura objetivo y qué backlog se llevan los equipos, cuáles son los próximos pasos a 30/60/90 días, y un resumen de los tres días completos. El tono de este bloque es de síntesis y compromiso, no de contenido nuevo.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los próximos pasos, dimensionamos lo que efectivamente se produjo en el workshop: cinco dimensiones de decisión cubiertas en el canvas, entre tres y cinco amenazas priorizadas con control y dueño, un backlog de tres a cinco ítems accionables, y una arquitectura objetivo de referencia que combina Hosted Agents, AI Gateway, Session Gateway donde corresponda, y los controles de seguridad y evaluación vistos durante el día. Es importante aclarar que estos números describen el ejercicio de hoy, no un compromiso real de BCI ni una proyección de esfuerzo; el valor de esta sesión es la calidad del razonamiento, no las cifras.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Proponemos un horizonte de 30/60/90 días como punto de partida, no como plan cerrado: a 30 días, validar formalmente los ADRs más importantes del canvas (por ejemplo, sesión 1:1 vs Session Gateway) y correr el primer PoC priorizado por el backlog; a 60 días, habilitar un AI Gateway con límites por consumidor y cache semántico, además de evaluaciones programadas sobre tráfico real; a 90 días, ampliar la cobertura de red teaming a un esquema continuo post-despliegue y revisar los SLOs de costo y calidad con datos reales de producción, no solo con el dataset inicial. Cada equipo debe ajustar estos plazos a su propia capacidad y gobierno interno. Sugerido: Pablo y Valentina. Fuente: docs-oficiales/foundry/how-to/develop/run-ai-red-teaming-cloud.md;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una síntesis de los tres días en una idea por día, pensada para quedar como resumen ejecutivo: el primer día sentó las bases conceptuales y los primeros casos de uso; el segundo día construyó capacidad técnica de desarrollo, integración, RAG y evaluación inicial; el tercer día, hoy, agregó la capa de arquitectura, seguridad y operación necesaria para escalar con confianza. El cuarto punto es el mensaje final del training completo: una plataforma de agentes no está lista para producción solo porque el agente responde bien en una demo, sino cuando el gobierno, la seguridad y la evaluación continua están igual de maduros que el agente mismo.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Dejamos una lista de recursos públicos para que cada persona siga profundizando según su rol: la documentación oficial de Hosted Agents y de las orquestaciones multiagente de Agent Framework, Content Safety y el inicio rápido de RBAC de Azure AI Search (que explica Foundry IQ), más cuatro repositorios públicos de laboratorios para practicar: AI Gateway sobre APIM, el playground de red teaming, el curso MCP for Beginners y los labs de multiagente de Microsoft Learning. Ninguno de estos enlaces apunta a material interno de Microsoft ni de BCI. Recomendamos a cada participante elegir uno o dos según su rol (arquitectura, seguridad u observabilidad) y no intentar cubrir todos. Sugerido: Pablo y Valentina. Fuente: enlaces públicos citados en cada URL de esta diapositiva</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los tres días de training agradeciendo la participación activa de todos los roles presentes: arquitectos, seguridad, plataforma, SRE y liderazgo de IA. El mensaje final resume el arco completo del training: pasamos de entender y construir agentes a diseñar una plataforma segura, gobernada y evaluable capaz de escalar en producción. El canvas, el mapa de riesgos y el backlog generados hoy no son un ejercicio aislado, sino el punto de partida real para las próximas decisiones de arquitectura de BCI. Quedamos disponibles para resolver dudas de seguimiento y para apoyar la validación de los primeros PoCs priorizados en el backlog.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8" Type="http://schemas.openxmlformats.org/officeDocument/2006/relationships/hyperlink" Target="https://github.com/microsoft/AI-Red-Teaming-Playground-Labs" TargetMode="External"/><Relationship Id="rId3" Type="http://schemas.openxmlformats.org/officeDocument/2006/relationships/hyperlink" Target="https://learn.microsoft.com/en-us/azure/foundry/agents/concepts/hosted-agents" TargetMode="External"/><Relationship Id="rId7" Type="http://schemas.openxmlformats.org/officeDocument/2006/relationships/hyperlink" Target="https://github.com/Azure-Samples/AI-Gateway" TargetMode="External"/><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hyperlink" Target="https://learn.microsoft.com/en-us/azure/search/search-get-started-rbac" TargetMode="External"/><Relationship Id="rId5" Type="http://schemas.openxmlformats.org/officeDocument/2006/relationships/hyperlink" Target="https://learn.microsoft.com/en-us/azure/ai-services/content-safety/overview" TargetMode="External"/><Relationship Id="rId10" Type="http://schemas.openxmlformats.org/officeDocument/2006/relationships/hyperlink" Target="https://github.com/MicrosoftLearning/mslearn-ai-multi-agents" TargetMode="External"/><Relationship Id="rId4" Type="http://schemas.openxmlformats.org/officeDocument/2006/relationships/hyperlink" Target="https://learn.microsoft.com/en-us/agent-framework/workflows/orchestrations/" TargetMode="External"/><Relationship Id="rId9" Type="http://schemas.openxmlformats.org/officeDocument/2006/relationships/hyperlink" Target="https://github.com/microsoft/mcp-for-beginners"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E8743B"/>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DÍA 3 · L300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dirty="0">
                <a:solidFill>
                  <a:srgbClr val="FFFFFF"/>
                </a:solidFill>
                <a:latin typeface="Segoe UI Semibold" pitchFamily="34" charset="0"/>
                <a:ea typeface="Segoe UI Semibold" pitchFamily="34" charset="-122"/>
                <a:cs typeface="Segoe UI Semibold" pitchFamily="34" charset="-120"/>
              </a:rPr>
              <a:t>Microsoft AI Foundry BCI Training Day — Día 3</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L300 · Arquitecturas avanzadas, seguridad y operación de agentes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Viernes 23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
        <p:nvSpPr>
          <p:cNvPr id="10" name="Shape 8"/>
          <p:cNvSpPr/>
          <p:nvPr/>
        </p:nvSpPr>
        <p:spPr>
          <a:xfrm>
            <a:off x="9281160" y="777240"/>
            <a:ext cx="2377440" cy="1280160"/>
          </a:xfrm>
          <a:prstGeom prst="roundRect">
            <a:avLst>
              <a:gd name="adj" fmla="val 7143"/>
            </a:avLst>
          </a:prstGeom>
          <a:solidFill>
            <a:srgbClr val="FFFFFF"/>
          </a:solidFill>
          <a:ln/>
          <a:effectLst>
            <a:outerShdw blurRad="76200" dist="25400" dir="5400000" algn="bl" rotWithShape="0">
              <a:srgbClr val="000000">
                <a:alpha val="12000"/>
              </a:srgbClr>
            </a:outerShdw>
          </a:effectLst>
        </p:spPr>
        <p:txBody>
          <a:bodyPr/>
          <a:lstStyle/>
          <a:p>
            <a:endParaRPr lang="en-US"/>
          </a:p>
        </p:txBody>
      </p:sp>
      <p:pic>
        <p:nvPicPr>
          <p:cNvPr id="11" name="Image 0" descr="C:\Users\valentinag\microsoft\copilot-worktrees\bci_workshop\valegrajales-fuzzy-disco\presentaciones\_build\assets\logo_bci.png"/>
          <p:cNvPicPr>
            <a:picLocks noChangeAspect="1"/>
          </p:cNvPicPr>
          <p:nvPr/>
        </p:nvPicPr>
        <p:blipFill>
          <a:blip r:embed="rId3"/>
          <a:stretch>
            <a:fillRect/>
          </a:stretch>
        </p:blipFill>
        <p:spPr>
          <a:xfrm>
            <a:off x="9669780" y="1047902"/>
            <a:ext cx="1600200" cy="7388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Agenda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E8743B"/>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09:00–09:30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Observabilidad y ciclo de vida</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Tracing, debugging, evaluación</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09:30–10:10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Protocolos y multiagente</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MCP, A2A, patrones multiagente, diseño de orchestrator</a:t>
            </a:r>
            <a:endParaRPr lang="en-US" sz="1300" dirty="0"/>
          </a:p>
        </p:txBody>
      </p:sp>
      <p:sp>
        <p:nvSpPr>
          <p:cNvPr id="14" name="Shape 12"/>
          <p:cNvSpPr/>
          <p:nvPr/>
        </p:nvSpPr>
        <p:spPr>
          <a:xfrm>
            <a:off x="548640" y="2724912"/>
            <a:ext cx="1737360" cy="438912"/>
          </a:xfrm>
          <a:prstGeom prst="roundRect">
            <a:avLst>
              <a:gd name="adj" fmla="val 16667"/>
            </a:avLst>
          </a:prstGeom>
          <a:solidFill>
            <a:srgbClr val="E8743B"/>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10:10–10:45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Hosted Agents, Session Gateway, AI Gateway, escalabilidad</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10:45–10:55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Café</a:t>
            </a:r>
            <a:endParaRPr lang="en-US" sz="1300" dirty="0"/>
          </a:p>
        </p:txBody>
      </p:sp>
      <p:sp>
        <p:nvSpPr>
          <p:cNvPr id="22" name="Shape 20"/>
          <p:cNvSpPr/>
          <p:nvPr/>
        </p:nvSpPr>
        <p:spPr>
          <a:xfrm>
            <a:off x="548640" y="3858768"/>
            <a:ext cx="1737360" cy="438912"/>
          </a:xfrm>
          <a:prstGeom prst="roundRect">
            <a:avLst>
              <a:gd name="adj" fmla="val 16667"/>
            </a:avLst>
          </a:prstGeom>
          <a:solidFill>
            <a:srgbClr val="E8743B"/>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10:55–11:35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Seguridad y gobierno</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Seguridad de apps/agentes/tools, Responsible AI, red teaming</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11:35–12:40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Workshop BCI</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Architecture Decision Workshop sobre un caso propio</a:t>
            </a:r>
            <a:endParaRPr lang="en-US" sz="1300" dirty="0"/>
          </a:p>
        </p:txBody>
      </p:sp>
      <p:sp>
        <p:nvSpPr>
          <p:cNvPr id="30" name="Shape 28"/>
          <p:cNvSpPr/>
          <p:nvPr/>
        </p:nvSpPr>
        <p:spPr>
          <a:xfrm>
            <a:off x="548640" y="4992624"/>
            <a:ext cx="1737360" cy="438912"/>
          </a:xfrm>
          <a:prstGeom prst="roundRect">
            <a:avLst>
              <a:gd name="adj" fmla="val 16667"/>
            </a:avLst>
          </a:prstGeom>
          <a:solidFill>
            <a:srgbClr val="E8743B"/>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Cierre ejecutivo</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Arquitectura objetivo, backlog, próximos pasos</a:t>
            </a:r>
            <a:endParaRPr lang="en-US" sz="1300" dirty="0"/>
          </a:p>
        </p:txBody>
      </p:sp>
      <p:sp>
        <p:nvSpPr>
          <p:cNvPr id="34"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Qué vimos en los Días 1 y 2</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1 — Fundamentos</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Conceptos de Foundry, agentes, modelos y primeros casos de uso con hosted agents y memoria.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E8743B"/>
          </a:solidFill>
          <a:ln/>
        </p:spPr>
        <p:txBody>
          <a:bodyPr/>
          <a:lstStyle/>
          <a:p>
            <a:endParaRPr lang="en-US"/>
          </a:p>
        </p:txBody>
      </p:sp>
      <p:sp>
        <p:nvSpPr>
          <p:cNvPr id="14" name="Shape 12"/>
          <p:cNvSpPr/>
          <p:nvPr/>
        </p:nvSpPr>
        <p:spPr>
          <a:xfrm>
            <a:off x="4612538" y="1783080"/>
            <a:ext cx="548640" cy="548640"/>
          </a:xfrm>
          <a:prstGeom prst="ellipse">
            <a:avLst/>
          </a:prstGeom>
          <a:solidFill>
            <a:srgbClr val="E8743B"/>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2 — Desarrollo e integración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Construcción de agentes, herramientas, RAG, semantic cache y evaluaciones iniciales.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E8743B"/>
          </a:solidFill>
          <a:ln/>
        </p:spPr>
        <p:txBody>
          <a:bodyPr/>
          <a:lstStyle/>
          <a:p>
            <a:endParaRPr lang="en-US"/>
          </a:p>
        </p:txBody>
      </p:sp>
      <p:sp>
        <p:nvSpPr>
          <p:cNvPr id="20" name="Shape 18"/>
          <p:cNvSpPr/>
          <p:nvPr/>
        </p:nvSpPr>
        <p:spPr>
          <a:xfrm>
            <a:off x="8402117" y="1783080"/>
            <a:ext cx="548640" cy="548640"/>
          </a:xfrm>
          <a:prstGeom prst="ellipse">
            <a:avLst/>
          </a:prstGeom>
          <a:solidFill>
            <a:srgbClr val="E8743B"/>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Hilo conductor</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De 'tener un agente que funciona' a 'operar una plataforma de agentes segura y escalable'.</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Hoy damos el salto de capacidades a plataforma empresarial.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Objetivos y método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Diagnosticar un agente con observabilidad: leer trazas, depurar fallas y evaluar su calidad.</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con criterio cuándo usar protocolos de interoperabilidad (MCP, A2A) y patrones multiagente.</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una arquitectura empresarial con Hosted Agents, Session Gateway y AI Gateway/APIM.</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Aplicar seguridad, Responsible AI, guardrails y red teaming a agentes y herramientas.</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Cerrar con una arquitectura objetivo y un backlog priorizado para un caso propio.</a:t>
            </a:r>
            <a:endParaRPr lang="en-US" sz="19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Método: profundización técnica + decisiones de arquitectura + threat modeling + taller aplicado.</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Observabilidad y ciclo de vida</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De trazas a decisiones: depurar y evaluar un agente</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viaja una traza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Instrumentación</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 agente (o Agent Framework) emite spans con convenciones OpenTelemetry GenAI</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Exportación</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Las trazas salen por OTLP hacia Application Insights u otro backend</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Almacenamiento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Azure Monitor guarda spans anidados: invoke_agent, execute_tool, plan</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Análisis</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Portal de Foundry o Application Insights para inspeccionar paso a paso</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Qué registrar (y qué nunca registrar) en una traza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Registra entradas, salidas, llamadas a tools, tokens y latencias de cada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tool call guarda sus argumentos y su resultado como atributos del span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Filtra secretos, credenciales y datos personales antes de que lleguen a la traza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Trata los datos de traza con los mismos controles de acceso que un log de producción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Correlaciona el ID de la corrida de evaluación con la traza para analizar todo junto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Diagnóstico rápido de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responde</a:t>
            </a:r>
            <a:endParaRPr lang="en-US" sz="2000" dirty="0"/>
          </a:p>
        </p:txBody>
      </p:sp>
      <p:sp>
        <p:nvSpPr>
          <p:cNvPr id="11" name="Text 9"/>
          <p:cNvSpPr/>
          <p:nvPr/>
        </p:nvSpPr>
        <p:spPr>
          <a:xfrm>
            <a:off x="822960"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logs del contenedor: eventos de arranque, crashes y reinicios antes de mirar el modelo</a:t>
            </a:r>
            <a:endParaRPr lang="en-US" sz="2000" dirty="0"/>
          </a:p>
        </p:txBody>
      </p:sp>
      <p:sp>
        <p:nvSpPr>
          <p:cNvPr id="12" name="Shape 10"/>
          <p:cNvSpPr/>
          <p:nvPr/>
        </p:nvSpPr>
        <p:spPr>
          <a:xfrm>
            <a:off x="3390824"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3390824" y="1508760"/>
            <a:ext cx="82296" cy="4754880"/>
          </a:xfrm>
          <a:prstGeom prst="rect">
            <a:avLst/>
          </a:prstGeom>
          <a:solidFill>
            <a:srgbClr val="E8743B"/>
          </a:solidFill>
          <a:ln/>
        </p:spPr>
        <p:txBody>
          <a:bodyPr/>
          <a:lstStyle/>
          <a:p>
            <a:endParaRPr lang="en-US"/>
          </a:p>
        </p:txBody>
      </p:sp>
      <p:sp>
        <p:nvSpPr>
          <p:cNvPr id="14" name="Shape 12"/>
          <p:cNvSpPr/>
          <p:nvPr/>
        </p:nvSpPr>
        <p:spPr>
          <a:xfrm>
            <a:off x="3665144" y="1783080"/>
            <a:ext cx="548640" cy="548640"/>
          </a:xfrm>
          <a:prstGeom prst="ellipse">
            <a:avLst/>
          </a:prstGeom>
          <a:solidFill>
            <a:srgbClr val="E8743B"/>
          </a:solidFill>
          <a:ln/>
        </p:spPr>
        <p:txBody>
          <a:bodyPr/>
          <a:lstStyle/>
          <a:p>
            <a:endParaRPr lang="en-US"/>
          </a:p>
        </p:txBody>
      </p:sp>
      <p:sp>
        <p:nvSpPr>
          <p:cNvPr id="15" name="Text 13"/>
          <p:cNvSpPr/>
          <p:nvPr/>
        </p:nvSpPr>
        <p:spPr>
          <a:xfrm>
            <a:off x="3665144"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Latencia alta</a:t>
            </a:r>
            <a:endParaRPr lang="en-US" sz="2000" dirty="0"/>
          </a:p>
        </p:txBody>
      </p:sp>
      <p:sp>
        <p:nvSpPr>
          <p:cNvPr id="17" name="Text 15"/>
          <p:cNvSpPr/>
          <p:nvPr/>
        </p:nvSpPr>
        <p:spPr>
          <a:xfrm>
            <a:off x="3665144"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Separa tiempo de arranque del contenedor, latencia del modelo y tiempo de la tool</a:t>
            </a:r>
            <a:endParaRPr lang="en-US" sz="2000" dirty="0"/>
          </a:p>
        </p:txBody>
      </p:sp>
      <p:sp>
        <p:nvSpPr>
          <p:cNvPr id="18" name="Shape 16"/>
          <p:cNvSpPr/>
          <p:nvPr/>
        </p:nvSpPr>
        <p:spPr>
          <a:xfrm>
            <a:off x="6233008"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6233008" y="1508760"/>
            <a:ext cx="82296" cy="4754880"/>
          </a:xfrm>
          <a:prstGeom prst="rect">
            <a:avLst/>
          </a:prstGeom>
          <a:solidFill>
            <a:srgbClr val="E8743B"/>
          </a:solidFill>
          <a:ln/>
        </p:spPr>
        <p:txBody>
          <a:bodyPr/>
          <a:lstStyle/>
          <a:p>
            <a:endParaRPr lang="en-US"/>
          </a:p>
        </p:txBody>
      </p:sp>
      <p:sp>
        <p:nvSpPr>
          <p:cNvPr id="20" name="Shape 18"/>
          <p:cNvSpPr/>
          <p:nvPr/>
        </p:nvSpPr>
        <p:spPr>
          <a:xfrm>
            <a:off x="6507328" y="1783080"/>
            <a:ext cx="548640" cy="548640"/>
          </a:xfrm>
          <a:prstGeom prst="ellipse">
            <a:avLst/>
          </a:prstGeom>
          <a:solidFill>
            <a:srgbClr val="E8743B"/>
          </a:solidFill>
          <a:ln/>
        </p:spPr>
        <p:txBody>
          <a:bodyPr/>
          <a:lstStyle/>
          <a:p>
            <a:endParaRPr lang="en-US"/>
          </a:p>
        </p:txBody>
      </p:sp>
      <p:sp>
        <p:nvSpPr>
          <p:cNvPr id="21" name="Text 19"/>
          <p:cNvSpPr/>
          <p:nvPr/>
        </p:nvSpPr>
        <p:spPr>
          <a:xfrm>
            <a:off x="650732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Error de autenticación</a:t>
            </a:r>
            <a:endParaRPr lang="en-US" sz="2000" dirty="0"/>
          </a:p>
        </p:txBody>
      </p:sp>
      <p:sp>
        <p:nvSpPr>
          <p:cNvPr id="23" name="Text 21"/>
          <p:cNvSpPr/>
          <p:nvPr/>
        </p:nvSpPr>
        <p:spPr>
          <a:xfrm>
            <a:off x="6507328"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Confirma la identidad Entra del agente y los permisos sobre el recurso que falla</a:t>
            </a:r>
            <a:endParaRPr lang="en-US" sz="2000" dirty="0"/>
          </a:p>
        </p:txBody>
      </p:sp>
      <p:sp>
        <p:nvSpPr>
          <p:cNvPr id="24" name="Shape 22"/>
          <p:cNvSpPr/>
          <p:nvPr/>
        </p:nvSpPr>
        <p:spPr>
          <a:xfrm>
            <a:off x="9075191"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9075191" y="1508760"/>
            <a:ext cx="82296" cy="4754880"/>
          </a:xfrm>
          <a:prstGeom prst="rect">
            <a:avLst/>
          </a:prstGeom>
          <a:solidFill>
            <a:srgbClr val="E8743B"/>
          </a:solidFill>
          <a:ln/>
        </p:spPr>
        <p:txBody>
          <a:bodyPr/>
          <a:lstStyle/>
          <a:p>
            <a:endParaRPr lang="en-US"/>
          </a:p>
        </p:txBody>
      </p:sp>
      <p:sp>
        <p:nvSpPr>
          <p:cNvPr id="26" name="Shape 24"/>
          <p:cNvSpPr/>
          <p:nvPr/>
        </p:nvSpPr>
        <p:spPr>
          <a:xfrm>
            <a:off x="9349511" y="1783080"/>
            <a:ext cx="548640" cy="548640"/>
          </a:xfrm>
          <a:prstGeom prst="ellipse">
            <a:avLst/>
          </a:prstGeom>
          <a:solidFill>
            <a:srgbClr val="E8743B"/>
          </a:solidFill>
          <a:ln/>
        </p:spPr>
        <p:txBody>
          <a:bodyPr/>
          <a:lstStyle/>
          <a:p>
            <a:endParaRPr lang="en-US"/>
          </a:p>
        </p:txBody>
      </p:sp>
      <p:sp>
        <p:nvSpPr>
          <p:cNvPr id="27" name="Text 25"/>
          <p:cNvSpPr/>
          <p:nvPr/>
        </p:nvSpPr>
        <p:spPr>
          <a:xfrm>
            <a:off x="9349511"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llama a la tool</a:t>
            </a:r>
            <a:endParaRPr lang="en-US" sz="2000" dirty="0"/>
          </a:p>
        </p:txBody>
      </p:sp>
      <p:sp>
        <p:nvSpPr>
          <p:cNvPr id="29" name="Text 27"/>
          <p:cNvSpPr/>
          <p:nvPr/>
        </p:nvSpPr>
        <p:spPr>
          <a:xfrm>
            <a:off x="9349511"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que la tool esté adjunta al agente y que su descripción sea clara</a:t>
            </a:r>
            <a:endParaRPr lang="en-US" sz="20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Evaluar la calidad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4" cy="3108960"/>
        </p:xfrm>
        <a:graphic>
          <a:graphicData uri="http://schemas.openxmlformats.org/drawingml/2006/table">
            <a:tbl>
              <a:tblPr/>
              <a:tblGrid>
                <a:gridCol w="1879032">
                  <a:extLst>
                    <a:ext uri="{9D8B030D-6E8A-4147-A177-3AD203B41FA5}">
                      <a16:colId xmlns:a16="http://schemas.microsoft.com/office/drawing/2014/main" val="20000"/>
                    </a:ext>
                  </a:extLst>
                </a:gridCol>
                <a:gridCol w="4468064">
                  <a:extLst>
                    <a:ext uri="{9D8B030D-6E8A-4147-A177-3AD203B41FA5}">
                      <a16:colId xmlns:a16="http://schemas.microsoft.com/office/drawing/2014/main" val="20001"/>
                    </a:ext>
                  </a:extLst>
                </a:gridCol>
                <a:gridCol w="474731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Nivel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Ejemplos de evaluador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Turn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Calidad de una respuesta puntual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Groundedness, Relevance, Coherence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Conversation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Resultado de toda la interacción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Completion, Task Adherence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use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 el agente usó bien sus tools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Tool Call Accuracy, Tool Selection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Evalúa durante el desarrollo y de forma recurrente sobre tráfico real.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evaluación: el mapa completo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Calidad de respuesta</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Coherence, Fluency. Qué tan clara y consistente es la respuesta, sin importar el tema.</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RAG y retrieval</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Groundedness, Relevance, Retrieval, Response Completeness. ¿Responde con base en lo recuperado?</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Agente y tareas</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Intent Resolution, Task Adherence, Task Completion, Navigation Efficiency.</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Uso de herramientas</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Tool Selection, Tool Call Accuracy, Tool Input Accuracy, Tool Output Utilization, Tool Call Success.</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Seguridad y riesgo</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Contenido dañino, Protected Materials, Indirect Attack (XPIA), Prohibited Actions, Sensitive Data Leakage.</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Similitud y operación</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F1, BLEU, ROUGE, METEOR contra una respuesta esperada; latencia, tokens, costo y tasa de error.</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calidad de respuesta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182112"/>
        </p:xfrm>
        <a:graphic>
          <a:graphicData uri="http://schemas.openxmlformats.org/drawingml/2006/table">
            <a:tbl>
              <a:tblPr/>
              <a:tblGrid>
                <a:gridCol w="1430876">
                  <a:extLst>
                    <a:ext uri="{9D8B030D-6E8A-4147-A177-3AD203B41FA5}">
                      <a16:colId xmlns:a16="http://schemas.microsoft.com/office/drawing/2014/main" val="20000"/>
                    </a:ext>
                  </a:extLst>
                </a:gridCol>
                <a:gridCol w="3221180">
                  <a:extLst>
                    <a:ext uri="{9D8B030D-6E8A-4147-A177-3AD203B41FA5}">
                      <a16:colId xmlns:a16="http://schemas.microsoft.com/office/drawing/2014/main" val="20001"/>
                    </a:ext>
                  </a:extLst>
                </a:gridCol>
                <a:gridCol w="3221180">
                  <a:extLst>
                    <a:ext uri="{9D8B030D-6E8A-4147-A177-3AD203B41FA5}">
                      <a16:colId xmlns:a16="http://schemas.microsoft.com/office/drawing/2014/main" val="20002"/>
                    </a:ext>
                  </a:extLst>
                </a:gridCol>
                <a:gridCol w="3221180">
                  <a:extLst>
                    <a:ext uri="{9D8B030D-6E8A-4147-A177-3AD203B41FA5}">
                      <a16:colId xmlns:a16="http://schemas.microsoft.com/office/drawing/2014/main" val="20003"/>
                    </a:ext>
                  </a:extLst>
                </a:gridCol>
              </a:tblGrid>
              <a:tr h="777240">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Métrica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Cómo funciona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Desventaja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Coherence</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el flujo lógico entre las ideas de la respuesta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No requiere respuesta de referencia; detecta respuestas desordenadas</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Una respuesta coherente puede ser falsa; depende del modelo juez</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Fluency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la calidad gramatical y la legibilidad</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Barata y rápida de automatizar en volumen</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Poco informativa en modelos actuales, casi todos puntúan alto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Similarity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compara la respuesta con una respuesta esperada (ground truth)</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Tolera paráfrasis; útil con un dataset dorado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Exige construir y mantener respuestas de referencia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Escala 1 a 5 con umbral configurable. Son métricas genéricas: no prueban que el agente sea correcto.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para RAG y recuperación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3195559047"/>
              </p:ext>
            </p:extLst>
          </p:nvPr>
        </p:nvGraphicFramePr>
        <p:xfrm>
          <a:off x="548640" y="1508760"/>
          <a:ext cx="11094415" cy="3886200"/>
        </p:xfrm>
        <a:graphic>
          <a:graphicData uri="http://schemas.openxmlformats.org/drawingml/2006/table">
            <a:tbl>
              <a:tblPr/>
              <a:tblGrid>
                <a:gridCol w="1619500">
                  <a:extLst>
                    <a:ext uri="{9D8B030D-6E8A-4147-A177-3AD203B41FA5}">
                      <a16:colId xmlns:a16="http://schemas.microsoft.com/office/drawing/2014/main" val="20000"/>
                    </a:ext>
                  </a:extLst>
                </a:gridCol>
                <a:gridCol w="3158305">
                  <a:extLst>
                    <a:ext uri="{9D8B030D-6E8A-4147-A177-3AD203B41FA5}">
                      <a16:colId xmlns:a16="http://schemas.microsoft.com/office/drawing/2014/main" val="20001"/>
                    </a:ext>
                  </a:extLst>
                </a:gridCol>
                <a:gridCol w="3158305">
                  <a:extLst>
                    <a:ext uri="{9D8B030D-6E8A-4147-A177-3AD203B41FA5}">
                      <a16:colId xmlns:a16="http://schemas.microsoft.com/office/drawing/2014/main" val="20002"/>
                    </a:ext>
                  </a:extLst>
                </a:gridCol>
                <a:gridCol w="3158305">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Groundedness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verifica si cada afirmación se apoya en el contexto recuperado (1 a 5)</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alucinaciones sin necesitar respuesta de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Si el contexto es malo pero la respuesta lo respeta, puntúa alto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Relevance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mide si la respuesta atiende la pregunta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respuestas fuera de tema o evasivas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verifica que lo dicho sea correcto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puntúa qué tan relevantes y bien ordenados son los fragmentos recuperados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Aísla fallas del índice o del buscador, no del modelo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Subjetiva; cuesta una llamada al juez por consulta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Document 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Calcula métricas </a:t>
                      </a:r>
                      <a:r>
                        <a:rPr lang="en-US" sz="1400" dirty="0" err="1">
                          <a:solidFill>
                            <a:srgbClr val="1B2A3A"/>
                          </a:solidFill>
                          <a:latin typeface="Segoe UI" pitchFamily="34" charset="0"/>
                          <a:ea typeface="Segoe UI" pitchFamily="34" charset="-122"/>
                          <a:cs typeface="Segoe UI" pitchFamily="34" charset="-120"/>
                        </a:rPr>
                        <a:t>como</a:t>
                      </a:r>
                      <a:r>
                        <a:rPr lang="en-US" sz="1400" dirty="0">
                          <a:solidFill>
                            <a:srgbClr val="1B2A3A"/>
                          </a:solidFill>
                          <a:latin typeface="Segoe UI" pitchFamily="34" charset="0"/>
                          <a:ea typeface="Segoe UI" pitchFamily="34" charset="-122"/>
                          <a:cs typeface="Segoe UI" pitchFamily="34" charset="-120"/>
                        </a:rPr>
                        <a:t> NDCG o precisión@k contra documentos etiquetados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y reproducible; ideal para comparar configuraciones de búsqueda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etiquetar documentos relevantes a 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Groundedness Pro (preview) ofrece una versión pass/fail basada en Content Safety, sin desplegar un modelo.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agente: cumplir la tarea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1652360">
                  <a:extLst>
                    <a:ext uri="{9D8B030D-6E8A-4147-A177-3AD203B41FA5}">
                      <a16:colId xmlns:a16="http://schemas.microsoft.com/office/drawing/2014/main" val="20000"/>
                    </a:ext>
                  </a:extLst>
                </a:gridCol>
                <a:gridCol w="3147352">
                  <a:extLst>
                    <a:ext uri="{9D8B030D-6E8A-4147-A177-3AD203B41FA5}">
                      <a16:colId xmlns:a16="http://schemas.microsoft.com/office/drawing/2014/main" val="20001"/>
                    </a:ext>
                  </a:extLst>
                </a:gridCol>
                <a:gridCol w="3147352">
                  <a:extLst>
                    <a:ext uri="{9D8B030D-6E8A-4147-A177-3AD203B41FA5}">
                      <a16:colId xmlns:a16="http://schemas.microsoft.com/office/drawing/2014/main" val="20002"/>
                    </a:ext>
                  </a:extLst>
                </a:gridCol>
                <a:gridCol w="3147352">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Intent Resolution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evalúa si el agente identificó y atendió la intención real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resultado percibido por el usuario, no solo el texto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Intenciones ambiguas generan puntuaciones inconsistentes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Adherence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el agente siguió las instrucciones de sistema y la tarea identificada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desvíos de política, por ejemplo salirse del alcance autorizado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Depende de qué tan claras sean las instrucciones del agente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Completion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la tarea se completó de extremo a extremo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Es la métrica más cercana al valor de negocio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Preview; exige trazas completas y puede ser costosa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Navigation Efficiency</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Compara la secuencia de pasos del agente con una ruta esperada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pasos redundantes y loops que suben costo y latencia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definir la ruta óptima de antemano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Varias son conversation-level: evalúan toda la interacción, no un turno aislado. Algunas están en preview.</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uso de herramientas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01040">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Métrica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Cómo funciona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Desventaja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Selection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si el agente eligió la herramienta más adecuada y eficiente</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herramientas mal descritas o confundibles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Puede haber más de una opción válida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Puntúa la calidad global de la llamada: selección, parámetros y eficiencia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Una sola métrica resume el uso de tools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Agrega varios factores; cuesta ver cuál falló</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Input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Valida con criterios estrictos que cada parámetro sea correcto, completo y bien formado</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Encuentra argumentos mal armados, la causa más común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Estricta: puede penalizar variaciones aceptables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Output Utilization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Verifica que el agente interprete y use bien el resultado de la tool</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resultados ignorados o mal citados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Requiere acceso al resultado en la traza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Success</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que las llamadas se ejecuten sin fallas técnicas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Objetiva y barata; detecta errores de integración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No dice si la llamada era la correcta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Tool Use Quality (preview) agrupa varias de estas métricas en una sola llamada al juez.</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riesgo y seguridad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773604">
                  <a:extLst>
                    <a:ext uri="{9D8B030D-6E8A-4147-A177-3AD203B41FA5}">
                      <a16:colId xmlns:a16="http://schemas.microsoft.com/office/drawing/2014/main" val="20000"/>
                    </a:ext>
                  </a:extLst>
                </a:gridCol>
                <a:gridCol w="2773604">
                  <a:extLst>
                    <a:ext uri="{9D8B030D-6E8A-4147-A177-3AD203B41FA5}">
                      <a16:colId xmlns:a16="http://schemas.microsoft.com/office/drawing/2014/main" val="20001"/>
                    </a:ext>
                  </a:extLst>
                </a:gridCol>
                <a:gridCol w="2773604">
                  <a:extLst>
                    <a:ext uri="{9D8B030D-6E8A-4147-A177-3AD203B41FA5}">
                      <a16:colId xmlns:a16="http://schemas.microsoft.com/office/drawing/2014/main" val="20002"/>
                    </a:ext>
                  </a:extLst>
                </a:gridCol>
                <a:gridCol w="2773604">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Contenido dañino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Clasifica odio, sexual, violencia y autolesión con severidad por categoría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Cobertura estándar de responsabilidad en IA, sin armar un juez propio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Puede dar falsos positivos en contexto legítimo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Protected Materials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texto con derechos de autor o material protegido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Reduce riesgo legal y reputacional</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cubre todas las fuentes posibles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Indirect Attack (XPIA)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si la respuesta cayó en instrucciones inyectadas en el contexto recuperado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Prueba un riesgo real de RAG y agentes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Necesita casos adversariales bien diseñados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Prohibited Actions y Sensitive Data Leakage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Evalúan si el agente ejecuta acciones prohibidas o expone datos sensibles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Conecta la evaluación con políticas propias de BCI</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Exigen definir qué es prohibido y qué es sensible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Foundry recomienda sumar siempre estas métricas, sin importar el tipo de aplicación. Se profundizan en el módulo de seguridad.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clásicas y operacionales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388620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F1, BLEU, ROUGE, METEOR</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Cuentan coincidencias de palabras o n-gramas entre la respuesta y una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Determinísticas, gratuitas y reproducibles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Penalizan paráfrasis correctas; poco útiles en respuestas largas o abiertas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Latencia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tiempo por etapa: arranque, modelo y herramientas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se ve directo en las trazas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dice nada sobre la calidad de la respuesta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Tokens y costo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Suma tokens de entrada y salida por consulta, sesión o consumidor</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Base para FinOps y para comparar modelos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costo bajo puede esconder una calidad baja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Tasa de error o éxito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Porcentaje de sesiones o llamadas completadas sin falla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Alimenta SLOs de disponibilidad</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Éxito técnico no implica respuesta correcta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Las operacionales salen de la telemetría, no de evaluadores: se combinan con las métricas de calidad.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LLM como juez vs. métricas determinísticas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LLM como juez</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evalúa significado, tono y razonamiento, no solo texto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no necesita respuesta de referencia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tiene costo y latencia por cada evaluación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puede sesgarse y variar entre corridas</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Determinísticas y humanas</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reproducibles y baratas (F1, ROUGE, errores de 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la revisión humana es la referencia de calidad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no captan paráfrasis ni matices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la revisión humana no escala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Combina varias: un set mínimo por agente, umbrales propios y una muestra humana para calibrar al juez.</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Del síntoma al diagnóstico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Reproducir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Corre el caso fallido con el mismo prompt y datos para confirmar el síntoma</a:t>
            </a:r>
            <a:endParaRPr lang="en-US" sz="18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Abrir la traza</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Ubica la corrida en el portal de Foundry o Application Insights con su Trace ID</a:t>
            </a:r>
            <a:endParaRPr lang="en-US" sz="18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Aislar el span</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Compara invoke_agent, retrieval y execute_tool para ver dónde se rompió</a:t>
            </a:r>
            <a:endParaRPr lang="en-US" sz="18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Confirmar con datos</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Mide groundedness y uso de tools sobre el caso para validar la causa</a:t>
            </a:r>
            <a:endParaRPr lang="en-US" sz="18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Corregir y re-probar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Ajusta instrucciones, tool o índice y repite el caso con una traza nueva</a:t>
            </a:r>
            <a:endParaRPr lang="en-US" sz="18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Demo: inspeccionar tu traza y diagnosticar una falla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E8743B"/>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err="1">
                <a:solidFill>
                  <a:srgbClr val="FFFFFF"/>
                </a:solidFill>
                <a:latin typeface="Segoe UI Semibold" pitchFamily="34" charset="0"/>
                <a:ea typeface="Segoe UI Semibold" pitchFamily="34" charset="-122"/>
                <a:cs typeface="Segoe UI Semibold" pitchFamily="34" charset="-120"/>
              </a:rPr>
              <a:t>Presentar</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ejemplos</a:t>
            </a:r>
            <a:r>
              <a:rPr lang="en-US" sz="2000" b="1" dirty="0">
                <a:solidFill>
                  <a:srgbClr val="FFFFFF"/>
                </a:solidFill>
                <a:latin typeface="Segoe UI Semibold" pitchFamily="34" charset="0"/>
                <a:ea typeface="Segoe UI Semibold" pitchFamily="34" charset="-122"/>
                <a:cs typeface="Segoe UI Semibold" pitchFamily="34" charset="-120"/>
              </a:rPr>
              <a:t> de </a:t>
            </a:r>
            <a:r>
              <a:rPr lang="en-US" sz="2000" b="1" dirty="0" err="1">
                <a:solidFill>
                  <a:srgbClr val="FFFFFF"/>
                </a:solidFill>
                <a:latin typeface="Segoe UI Semibold" pitchFamily="34" charset="0"/>
                <a:ea typeface="Segoe UI Semibold" pitchFamily="34" charset="-122"/>
                <a:cs typeface="Segoe UI Semibold" pitchFamily="34" charset="-120"/>
              </a:rPr>
              <a:t>agentes</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en</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los</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que</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falla</a:t>
            </a:r>
            <a:r>
              <a:rPr lang="en-US" sz="2000" b="1" dirty="0">
                <a:solidFill>
                  <a:srgbClr val="FFFFFF"/>
                </a:solidFill>
                <a:latin typeface="Segoe UI Semibold" pitchFamily="34" charset="0"/>
                <a:ea typeface="Segoe UI Semibold" pitchFamily="34" charset="-122"/>
                <a:cs typeface="Segoe UI Semibold" pitchFamily="34" charset="-120"/>
              </a:rPr>
              <a:t> la </a:t>
            </a:r>
            <a:r>
              <a:rPr lang="en-US" sz="2000" b="1" dirty="0" err="1">
                <a:solidFill>
                  <a:srgbClr val="FFFFFF"/>
                </a:solidFill>
                <a:latin typeface="Segoe UI Semibold" pitchFamily="34" charset="0"/>
                <a:ea typeface="Segoe UI Semibold" pitchFamily="34" charset="-122"/>
                <a:cs typeface="Segoe UI Semibold" pitchFamily="34" charset="-120"/>
              </a:rPr>
              <a:t>llamada</a:t>
            </a:r>
            <a:r>
              <a:rPr lang="en-US" sz="2000" b="1" dirty="0">
                <a:solidFill>
                  <a:srgbClr val="FFFFFF"/>
                </a:solidFill>
                <a:latin typeface="Segoe UI Semibold" pitchFamily="34" charset="0"/>
                <a:ea typeface="Segoe UI Semibold" pitchFamily="34" charset="-122"/>
                <a:cs typeface="Segoe UI Semibold" pitchFamily="34" charset="-120"/>
              </a:rPr>
              <a:t> de tool</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E8743B"/>
          </a:solidFill>
          <a:ln/>
        </p:spPr>
        <p:txBody>
          <a:bodyPr/>
          <a:lstStyle/>
          <a:p>
            <a:endParaRPr lang="en-US"/>
          </a:p>
        </p:txBody>
      </p:sp>
      <p:sp>
        <p:nvSpPr>
          <p:cNvPr id="10" name="Shape 8"/>
          <p:cNvSpPr/>
          <p:nvPr/>
        </p:nvSpPr>
        <p:spPr>
          <a:xfrm>
            <a:off x="822960" y="2955798"/>
            <a:ext cx="420624" cy="420624"/>
          </a:xfrm>
          <a:prstGeom prst="ellipse">
            <a:avLst/>
          </a:prstGeom>
          <a:solidFill>
            <a:srgbClr val="E8743B"/>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err="1">
                <a:solidFill>
                  <a:srgbClr val="1B2A3A"/>
                </a:solidFill>
                <a:latin typeface="Segoe UI" pitchFamily="34" charset="0"/>
                <a:cs typeface="Segoe UI" pitchFamily="34" charset="-120"/>
              </a:rPr>
              <a:t>Presentar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agente</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fallido</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por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instrucción</a:t>
            </a:r>
            <a:r>
              <a:rPr lang="en-US" sz="1700" dirty="0">
                <a:solidFill>
                  <a:srgbClr val="1B2A3A"/>
                </a:solidFill>
                <a:latin typeface="Segoe UI" pitchFamily="34" charset="0"/>
                <a:cs typeface="Segoe UI" pitchFamily="34" charset="-120"/>
              </a:rPr>
              <a:t> no </a:t>
            </a:r>
            <a:r>
              <a:rPr lang="en-US" sz="1700" dirty="0" err="1">
                <a:solidFill>
                  <a:srgbClr val="1B2A3A"/>
                </a:solidFill>
                <a:latin typeface="Segoe UI" pitchFamily="34" charset="0"/>
                <a:cs typeface="Segoe UI" pitchFamily="34" charset="-120"/>
              </a:rPr>
              <a:t>específicas</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r>
              <a:rPr lang="en-US" sz="1700" dirty="0" err="1">
                <a:solidFill>
                  <a:srgbClr val="1B2A3A"/>
                </a:solidFill>
                <a:latin typeface="Segoe UI" pitchFamily="34" charset="0"/>
                <a:cs typeface="Segoe UI" pitchFamily="34" charset="-120"/>
              </a:rPr>
              <a:t>Presentar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agente</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fallido</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por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instrucción</a:t>
            </a:r>
            <a:r>
              <a:rPr lang="en-US" sz="1700" dirty="0">
                <a:solidFill>
                  <a:srgbClr val="1B2A3A"/>
                </a:solidFill>
                <a:latin typeface="Segoe UI" pitchFamily="34" charset="0"/>
                <a:cs typeface="Segoe UI" pitchFamily="34" charset="-120"/>
              </a:rPr>
              <a:t> no </a:t>
            </a:r>
            <a:r>
              <a:rPr lang="en-US" sz="1700" dirty="0" err="1">
                <a:solidFill>
                  <a:srgbClr val="1B2A3A"/>
                </a:solidFill>
                <a:latin typeface="Segoe UI" pitchFamily="34" charset="0"/>
                <a:cs typeface="Segoe UI" pitchFamily="34" charset="-120"/>
              </a:rPr>
              <a:t>específicas</a:t>
            </a:r>
            <a:r>
              <a:rPr lang="en-US" sz="1700" dirty="0">
                <a:solidFill>
                  <a:srgbClr val="1B2A3A"/>
                </a:solidFill>
                <a:latin typeface="Segoe UI" pitchFamily="34" charset="0"/>
                <a:cs typeface="Segoe UI" pitchFamily="34" charset="-120"/>
              </a:rPr>
              <a:t>, para </a:t>
            </a:r>
            <a:r>
              <a:rPr lang="en-US" sz="1700" dirty="0" err="1">
                <a:solidFill>
                  <a:srgbClr val="1B2A3A"/>
                </a:solidFill>
                <a:latin typeface="Segoe UI" pitchFamily="34" charset="0"/>
                <a:cs typeface="Segoe UI" pitchFamily="34" charset="-120"/>
              </a:rPr>
              <a:t>misma</a:t>
            </a:r>
            <a:r>
              <a:rPr lang="en-US" sz="1700" dirty="0">
                <a:solidFill>
                  <a:srgbClr val="1B2A3A"/>
                </a:solidFill>
                <a:latin typeface="Segoe UI" pitchFamily="34" charset="0"/>
                <a:cs typeface="Segoe UI" pitchFamily="34" charset="-120"/>
              </a:rPr>
              <a:t> tool</a:t>
            </a:r>
            <a:endParaRPr lang="en-US" sz="1700" dirty="0"/>
          </a:p>
        </p:txBody>
      </p:sp>
      <p:sp>
        <p:nvSpPr>
          <p:cNvPr id="16" name="Shape 14"/>
          <p:cNvSpPr/>
          <p:nvPr/>
        </p:nvSpPr>
        <p:spPr>
          <a:xfrm>
            <a:off x="822960" y="4647438"/>
            <a:ext cx="420624" cy="420624"/>
          </a:xfrm>
          <a:prstGeom prst="ellipse">
            <a:avLst/>
          </a:prstGeom>
          <a:solidFill>
            <a:srgbClr val="E8743B"/>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err="1">
                <a:solidFill>
                  <a:srgbClr val="1B2A3A"/>
                </a:solidFill>
                <a:latin typeface="Segoe UI" pitchFamily="34" charset="0"/>
                <a:ea typeface="Segoe UI" pitchFamily="34" charset="-122"/>
                <a:cs typeface="Segoe UI" pitchFamily="34" charset="-120"/>
              </a:rPr>
              <a:t>Presentar</a:t>
            </a:r>
            <a:r>
              <a:rPr lang="en-US" sz="1700" dirty="0">
                <a:solidFill>
                  <a:srgbClr val="1B2A3A"/>
                </a:solidFill>
                <a:latin typeface="Segoe UI" pitchFamily="34" charset="0"/>
                <a:ea typeface="Segoe UI" pitchFamily="34" charset="-122"/>
                <a:cs typeface="Segoe UI" pitchFamily="34" charset="-120"/>
              </a:rPr>
              <a:t> y </a:t>
            </a:r>
            <a:r>
              <a:rPr lang="en-US" sz="1700" dirty="0" err="1">
                <a:solidFill>
                  <a:srgbClr val="1B2A3A"/>
                </a:solidFill>
                <a:latin typeface="Segoe UI" pitchFamily="34" charset="0"/>
                <a:ea typeface="Segoe UI" pitchFamily="34" charset="-122"/>
                <a:cs typeface="Segoe UI" pitchFamily="34" charset="-120"/>
              </a:rPr>
              <a:t>comparar</a:t>
            </a:r>
            <a:r>
              <a:rPr lang="en-US" sz="1700" dirty="0">
                <a:solidFill>
                  <a:srgbClr val="1B2A3A"/>
                </a:solidFill>
                <a:latin typeface="Segoe UI" pitchFamily="34" charset="0"/>
                <a:ea typeface="Segoe UI" pitchFamily="34" charset="-122"/>
                <a:cs typeface="Segoe UI" pitchFamily="34" charset="-120"/>
              </a:rPr>
              <a:t> </a:t>
            </a:r>
            <a:r>
              <a:rPr lang="en-US" sz="1700" dirty="0" err="1">
                <a:solidFill>
                  <a:srgbClr val="1B2A3A"/>
                </a:solidFill>
                <a:latin typeface="Segoe UI" pitchFamily="34" charset="0"/>
                <a:ea typeface="Segoe UI" pitchFamily="34" charset="-122"/>
                <a:cs typeface="Segoe UI" pitchFamily="34" charset="-120"/>
              </a:rPr>
              <a:t>trazas</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err="1">
                <a:solidFill>
                  <a:srgbClr val="E8743B"/>
                </a:solidFill>
                <a:latin typeface="Segoe UI Semibold" pitchFamily="34" charset="0"/>
                <a:ea typeface="Segoe UI Semibold" pitchFamily="34" charset="-122"/>
                <a:cs typeface="Segoe UI Semibold" pitchFamily="34" charset="-120"/>
              </a:rPr>
              <a:t>Sesión</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Diagnóstico del </a:t>
            </a:r>
            <a:r>
              <a:rPr lang="en-US" sz="1500" dirty="0" err="1">
                <a:solidFill>
                  <a:srgbClr val="1B2A3A"/>
                </a:solidFill>
                <a:latin typeface="Segoe UI" pitchFamily="34" charset="0"/>
                <a:ea typeface="Segoe UI" pitchFamily="34" charset="-122"/>
                <a:cs typeface="Segoe UI" pitchFamily="34" charset="-120"/>
              </a:rPr>
              <a:t>caso</a:t>
            </a:r>
            <a:r>
              <a:rPr lang="en-US" sz="1500" dirty="0">
                <a:solidFill>
                  <a:srgbClr val="1B2A3A"/>
                </a:solidFill>
                <a:latin typeface="Segoe UI" pitchFamily="34" charset="0"/>
                <a:ea typeface="Segoe UI" pitchFamily="34" charset="-122"/>
                <a:cs typeface="Segoe UI" pitchFamily="34" charset="-120"/>
              </a:rPr>
              <a:t> explicado con evidencia concreta de la </a:t>
            </a:r>
            <a:r>
              <a:rPr lang="en-US" sz="1500" dirty="0" err="1">
                <a:solidFill>
                  <a:srgbClr val="1B2A3A"/>
                </a:solidFill>
                <a:latin typeface="Segoe UI" pitchFamily="34" charset="0"/>
                <a:ea typeface="Segoe UI" pitchFamily="34" charset="-122"/>
                <a:cs typeface="Segoe UI" pitchFamily="34" charset="-120"/>
              </a:rPr>
              <a:t>traza</a:t>
            </a:r>
            <a:endParaRPr lang="en-US" sz="1500" dirty="0">
              <a:solidFill>
                <a:srgbClr val="1B2A3A"/>
              </a:solidFill>
              <a:latin typeface="Segoe UI" pitchFamily="34" charset="0"/>
              <a:ea typeface="Segoe UI" pitchFamily="34" charset="-122"/>
              <a:cs typeface="Segoe UI" pitchFamily="34" charset="-120"/>
            </a:endParaRPr>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Protocolos y multiagente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MCP, A2A, patrones multiagente y diseño de orchestrator</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qué resuelve cada uno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MCP — Model Context Protocol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herramientas y fuentes de datos externas.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Cliente-servidor sobre JSON-RPC; endpoints públicos o privados.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 puede exponer y gobernar centralizadamente vía un AI Gateway.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autohospedar el servidor MCP (Foundry no lo aloja por ti).</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A2A — Agent2Agent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otro agente para delegar una tarea completa.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Protocolo GA v1.0 (JSON-RPC, solo texto, sin streaming aún).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Reemplaza el patrón previo de 'Connected Agents' (agent-as-tool).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Soporta autenticación compartida o individual por usuario final.</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No compiten: MCP da acceso a herramientas y datos; A2A da acceso a otros agentes como colaboradores.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como tools: auth y gobierno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endpoints públicos o privados, agrupables en un Toolbox junto a otras herramientas del agente.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múltiples métodos de autenticación hacia el servidor; timeouts del orden de ~100 segundos por llamada.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autenticación compartida (misma identidad para todos los usuarios) o individual (por usuario final).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cada agente publicado obtiene una identidad Entra propia, clave para auditar quién hizo qué.</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Ambos protocolos se pueden exponer y controlar centralizadamente a través de un AI Gateway (APIM).</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Patrones multiagente (Agent Framework)</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Sequential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Pipeline: cada agente procesa y pasa su salida al siguiente. Ideal para revisión por etapas.</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Concurrent</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Varios agentes trabajan la misma entrada en paralelo; útil para perspectivas diversas o votación.</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Handoff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Los agentes se transfieren el control entre sí según el contexto; sin orquestador central.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Group Chat</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orquestador central elige quién habla; conversación compartida e iterativa.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Magentic</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manager planifica dinámicamente y coordina agentes especialistas en tareas abiertas y complejas.</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Cuándo NO usar multiagente</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Si no hay especialización real, paralelismo o enrutamiento dinámico: un solo agente es más simple y barato.</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Diseño de un orchestrator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Contrato de tareas</a:t>
            </a:r>
            <a:endParaRPr lang="en-US" sz="19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entradas, salidas y criterios de éxito de cada agente especialista.</a:t>
            </a:r>
            <a:endParaRPr lang="en-US" sz="16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Elegir el patrón</a:t>
            </a:r>
            <a:endParaRPr lang="en-US" sz="19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Sequential, concurrent, handoff, group chat o Magentic según el problema real.</a:t>
            </a:r>
            <a:endParaRPr lang="en-US" sz="16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Reglas de control</a:t>
            </a:r>
            <a:endParaRPr lang="en-US" sz="19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reintentos, timeouts y condiciones de salida del flujo multiagente.</a:t>
            </a:r>
            <a:endParaRPr lang="en-US" sz="16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Trazabilidad por agente</a:t>
            </a:r>
            <a:endParaRPr lang="en-US" sz="19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Instrumentar cada paso con tracing para poder depurar el flujo completo.</a:t>
            </a:r>
            <a:endParaRPr lang="en-US" sz="16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Evaluar extremo a extremo</a:t>
            </a:r>
            <a:endParaRPr lang="en-US" sz="19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No solo cada agente: medir calidad y costo del flujo completo.</a:t>
            </a:r>
            <a:endParaRPr lang="en-US" sz="16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MCP/A2A vía AI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80097">
                  <a:extLst>
                    <a:ext uri="{9D8B030D-6E8A-4147-A177-3AD203B41FA5}">
                      <a16:colId xmlns:a16="http://schemas.microsoft.com/office/drawing/2014/main" val="20000"/>
                    </a:ext>
                  </a:extLst>
                </a:gridCol>
                <a:gridCol w="3354126">
                  <a:extLst>
                    <a:ext uri="{9D8B030D-6E8A-4147-A177-3AD203B41FA5}">
                      <a16:colId xmlns:a16="http://schemas.microsoft.com/office/drawing/2014/main" val="20001"/>
                    </a:ext>
                  </a:extLst>
                </a:gridCol>
                <a:gridCol w="516019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Descubrimiento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Catálogo de servidores MCP</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APIM expone y versiona el MCP como una API más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OAuth2 hacia backends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Credential manager de APIM + validación JWT del cliente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Identidad del agente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 Agent ID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 con audiencia (audience) del recurso destino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Auditoría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centralizados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Métricas y eventos por consumidor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Patrón de referencia: exponer MCP detrás de APIM en vez de conectarlo directo desde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Arquitectura empresarial</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Hosted Agents, Session Gateway, AI Gateway y escalabilidad</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Arquitectura de referencia empresarial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Canal</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Web, app móvil, contact center o Teams; cada uno con su propio SLA de latencia.</a:t>
            </a:r>
            <a:endParaRPr lang="en-US" sz="1700" dirty="0"/>
          </a:p>
        </p:txBody>
      </p:sp>
      <p:sp>
        <p:nvSpPr>
          <p:cNvPr id="10" name="Shape 8"/>
          <p:cNvSpPr/>
          <p:nvPr/>
        </p:nvSpPr>
        <p:spPr>
          <a:xfrm>
            <a:off x="548640" y="2488997"/>
            <a:ext cx="3291840" cy="833933"/>
          </a:xfrm>
          <a:prstGeom prst="rect">
            <a:avLst/>
          </a:prstGeom>
          <a:solidFill>
            <a:srgbClr val="423435"/>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AI Gateway (APIM)</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Autenticación de backends, límites por consumidor, cache semántico, logging.</a:t>
            </a:r>
            <a:endParaRPr lang="en-US" sz="1700" dirty="0"/>
          </a:p>
        </p:txBody>
      </p:sp>
      <p:sp>
        <p:nvSpPr>
          <p:cNvPr id="14" name="Shape 12"/>
          <p:cNvSpPr/>
          <p:nvPr/>
        </p:nvSpPr>
        <p:spPr>
          <a:xfrm>
            <a:off x="548640" y="3469234"/>
            <a:ext cx="3291840" cy="833933"/>
          </a:xfrm>
          <a:prstGeom prst="rect">
            <a:avLst/>
          </a:prstGeom>
          <a:solidFill>
            <a:srgbClr val="7A4A37"/>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Session Gateway (opcional)</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Multiplexa muchos usuarios sobre un pool acotado de sesiones del Hosted Agent.</a:t>
            </a:r>
            <a:endParaRPr lang="en-US" sz="1700" dirty="0"/>
          </a:p>
        </p:txBody>
      </p:sp>
      <p:sp>
        <p:nvSpPr>
          <p:cNvPr id="18" name="Shape 16"/>
          <p:cNvSpPr/>
          <p:nvPr/>
        </p:nvSpPr>
        <p:spPr>
          <a:xfrm>
            <a:off x="548640" y="4449470"/>
            <a:ext cx="3291840" cy="833933"/>
          </a:xfrm>
          <a:prstGeom prst="rect">
            <a:avLst/>
          </a:prstGeom>
          <a:solidFill>
            <a:srgbClr val="B15F39"/>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Hosted Agent</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Identidad Entra propia, sesiones aisladas, estado persistente, observabilidad incorporada.</a:t>
            </a:r>
            <a:endParaRPr lang="en-US" sz="1700" dirty="0"/>
          </a:p>
        </p:txBody>
      </p:sp>
      <p:sp>
        <p:nvSpPr>
          <p:cNvPr id="22" name="Shape 20"/>
          <p:cNvSpPr/>
          <p:nvPr/>
        </p:nvSpPr>
        <p:spPr>
          <a:xfrm>
            <a:off x="548640" y="5429707"/>
            <a:ext cx="3291840" cy="833933"/>
          </a:xfrm>
          <a:prstGeom prst="rect">
            <a:avLst/>
          </a:prstGeom>
          <a:solidFill>
            <a:srgbClr val="E8743B"/>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Modelos y herramientas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AI Search, MCP, A2A y modelos de Azure OpenAI o partners/OSS.</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Hosted Agents: identidad y aislamiento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Contenedor con código propio (Agent Framework, LangGraph, Semantic Kernel); la plataforma escala y versiona.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sesión corre en un sandbox aislado con estado persistente ($HOME, /files) y timeout configurable.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Antes de publicar, los agentes comparten identidad; al publicar, cada uno obtiene identidad Entra propia.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intercambio de tokens hacia tools y otros agentes es automático: el desarrollador no maneja tokens.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Trazas OpenTelemetry habilitadas por defecto hacia Application Insights para cada ejecución.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Sesión 1:1 vs multiplexado (Session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Sesión 1:1 por usuario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Cada usuario tiene su propia sesión de Hosted Agent.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Modelo simple de operar y de razonar sobre aislamiento.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El consumo de cómputo escala linealmente con usuarios activos.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Recomendado para baja o mediana concurrencia.</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Multiplexado con Session Gateway</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servicio intermedio reutiliza un pool acotado de sesiones.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header de identidad de usuario delega el contexto por request.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un permiso RBAC dedicado para impersonar identidad de usuario.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Reduce costo de cómputo a gran escala, a cambio de más complejidad operativa.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 mayor concurrencia esperada, el multiplexado reduce costo pero agrega una capa que hay que gobernar y observar.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AI Gateway / APIM: controles clave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328325">
                  <a:extLst>
                    <a:ext uri="{9D8B030D-6E8A-4147-A177-3AD203B41FA5}">
                      <a16:colId xmlns:a16="http://schemas.microsoft.com/office/drawing/2014/main" val="20000"/>
                    </a:ext>
                  </a:extLst>
                </a:gridCol>
                <a:gridCol w="5547208">
                  <a:extLst>
                    <a:ext uri="{9D8B030D-6E8A-4147-A177-3AD203B41FA5}">
                      <a16:colId xmlns:a16="http://schemas.microsoft.com/office/drawing/2014/main" val="20001"/>
                    </a:ext>
                  </a:extLst>
                </a:gridCol>
                <a:gridCol w="221888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resuelve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Capa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 de backend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Sin llaves de modelo expuestas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Managed identity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Límite por consumidor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Cuotas de tokens por app o equipo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Rate limiting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Cache semántico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Reduce latencia y costo en preguntas repetidas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Semantic cache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Balanceo de carga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Distribuye tráfico entre backends o modelos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Load balancing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Estos controles se gobiernan desde un único punto, sin tocar el código 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AI Gateway / APIM en acción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Panel de gobierno de un AI Gateway (APIM) frente a Azure OpenAI y modelos partner u OSS.</a:t>
            </a:r>
            <a:endParaRPr lang="en-US" sz="2000" dirty="0"/>
          </a:p>
        </p:txBody>
      </p:sp>
      <p:sp>
        <p:nvSpPr>
          <p:cNvPr id="10" name="Shape 8"/>
          <p:cNvSpPr/>
          <p:nvPr/>
        </p:nvSpPr>
        <p:spPr>
          <a:xfrm>
            <a:off x="5212080" y="1777365"/>
            <a:ext cx="457200" cy="457200"/>
          </a:xfrm>
          <a:prstGeom prst="ellipse">
            <a:avLst/>
          </a:prstGeom>
          <a:solidFill>
            <a:srgbClr val="E8743B"/>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sin permiso intenta llamar a un modelo no autorizado y recibe un rechazo (403).</a:t>
            </a:r>
            <a:endParaRPr lang="en-US" sz="1800" dirty="0"/>
          </a:p>
        </p:txBody>
      </p:sp>
      <p:sp>
        <p:nvSpPr>
          <p:cNvPr id="13" name="Shape 11"/>
          <p:cNvSpPr/>
          <p:nvPr/>
        </p:nvSpPr>
        <p:spPr>
          <a:xfrm>
            <a:off x="5212080" y="2771775"/>
            <a:ext cx="457200" cy="457200"/>
          </a:xfrm>
          <a:prstGeom prst="ellipse">
            <a:avLst/>
          </a:prstGeom>
          <a:solidFill>
            <a:srgbClr val="E8743B"/>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supera su cuota de tokens por minuto y recibe un rechazo por límite de tasa.</a:t>
            </a:r>
            <a:endParaRPr lang="en-US" sz="1800" dirty="0"/>
          </a:p>
        </p:txBody>
      </p:sp>
      <p:sp>
        <p:nvSpPr>
          <p:cNvPr id="16" name="Shape 14"/>
          <p:cNvSpPr/>
          <p:nvPr/>
        </p:nvSpPr>
        <p:spPr>
          <a:xfrm>
            <a:off x="5212080" y="3766185"/>
            <a:ext cx="457200" cy="457200"/>
          </a:xfrm>
          <a:prstGeom prst="ellipse">
            <a:avLst/>
          </a:prstGeom>
          <a:solidFill>
            <a:srgbClr val="E8743B"/>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presupuesto diario configurado se agota y el gateway degrada a un modelo más económico.</a:t>
            </a:r>
            <a:endParaRPr lang="en-US" sz="1800" dirty="0"/>
          </a:p>
        </p:txBody>
      </p:sp>
      <p:sp>
        <p:nvSpPr>
          <p:cNvPr id="19" name="Shape 17"/>
          <p:cNvSpPr/>
          <p:nvPr/>
        </p:nvSpPr>
        <p:spPr>
          <a:xfrm>
            <a:off x="5212080" y="4760595"/>
            <a:ext cx="457200" cy="457200"/>
          </a:xfrm>
          <a:prstGeom prst="ellipse">
            <a:avLst/>
          </a:prstGeom>
          <a:solidFill>
            <a:srgbClr val="E8743B"/>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tablero muestra métricas de tokens consumidos por consumidor y por modelo en tiempo real.</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visualiza cómo gobernar acceso, costo y failover de modelos sin tocar el código del agente.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Seguridad y gobierno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Seguridad de apps, agentes y tools; Responsible AI; red teaming</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propias de agentes y tools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directo</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propio usuario intenta manipular las instrucciones del agente.</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indirecto</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Instrucciones maliciosas ocultas en un documento o página que el agente recupera.</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Tool poisoning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Una herramienta (MCP) externa devuelve resultados diseñados para engañar al agente.</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Excessive agency</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tiene permisos o autonomía mayores a los que su tarea realmente requiere.</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Fuga de datos sensibles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expone en su respuesta o en logs datos que no debía revelar.</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Desviación de la tarea</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usa una herramienta de forma no alineada con la intención del usuario.</a:t>
            </a:r>
            <a:endParaRPr lang="en-US" sz="18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398289">
                  <a:extLst>
                    <a:ext uri="{9D8B030D-6E8A-4147-A177-3AD203B41FA5}">
                      <a16:colId xmlns:a16="http://schemas.microsoft.com/office/drawing/2014/main" val="20000"/>
                    </a:ext>
                  </a:extLst>
                </a:gridCol>
                <a:gridCol w="3698138">
                  <a:extLst>
                    <a:ext uri="{9D8B030D-6E8A-4147-A177-3AD203B41FA5}">
                      <a16:colId xmlns:a16="http://schemas.microsoft.com/office/drawing/2014/main" val="20001"/>
                    </a:ext>
                  </a:extLst>
                </a:gridCol>
                <a:gridCol w="3997987">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Amenaza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 principal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Dónde se aplica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directo/indirecto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Entrada del usuario y contenido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poisoning / excessive agency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Mínimo privilegio + aprobación humana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Identidad del agente y guardrails por tool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Fuga de datos sensibles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Content Safety + enmascarado en logs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Salida del modelo y telemetría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Desviación de la tarea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adherence API</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Ejecución de herramientas del agente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amenaza debe tener un control, un punto de aplicación y un dueño explícito.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y mínimo privilegio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agente publicado tiene una identidad Entra (service principal) distinta del usuario y de aplicaciones.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token hacia el recurso destino usa el audience correcto; si está mal, falla aunque el RBAC esté bien.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delegado (on-behalf-of): el agente solo accede a lo que el usuario consintió, nunca más.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no delegado (client credentials): el agente actúa con autoridad propia, gobernado solo por sus propios roles.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 guardrail de agente sobreescribe por completo el del modelo subyacente; no se combinan.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Mapear flujo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Canal, identidad, sesión, agente, herramientas y datos involucrados en el caso.</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Enumerar amenazas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 cada punto de intervención: entrada, herramienta, salida y memoria.</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Priorizar</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Clasificar por impacto y probabilidad, no tratar todo como crítico.</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Definir control</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Asignar control, punto de aplicación, dueño y fecha de revisión.</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Responsible AI: red teaming vs guardrails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Evaluación previa (red teaming)</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Ataques automatizados basados en PyRIT antes y después del despliegue.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Cubre categorías agentic: acciones prohibidas, fuga de datos, desviación de tarea.</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Corre en la nube para mayor escala de combinaciones de ataque.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Requiere un agente ya desplegado y un entorno acotado ('purple').</a:t>
            </a:r>
            <a:endParaRPr lang="en-US" sz="15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Guardrails en runtime</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Prompt Shields y Content Safety evalúan cada conversación en vivo.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El guardrail del agente sobreescribe por completo al del modelo.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Se aplican en cuatro puntos de intervención del flujo del agente.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Agregan una latencia adicional acotada por cada verificación.</a:t>
            </a:r>
            <a:endParaRPr lang="en-US" sz="15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Red teaming valida antes y después del despliegue; los guardrails protegen cada conversación en producción.</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Workshop BCI: Architecture Decision Workshop</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Mapear decisiones, amenazas, SLOs y backlog sobre un caso propio</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65 min</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Reglas del workshop y caso ficticio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Caso ficticio: 'Austral Bank' — Asistente de Tesorería para clientes corporativos (FX, cash management, comex).</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Trabajo en grupos de 4 a 6 personas, con un relator por grupo que documenta decisiones.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65 minutos en 5 pasos con tiempo definido cada uno; el facilitador avisa los cambios de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foco es la decisión y el supuesto detrás de ella, no un diagrama perfecto ni código.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Todo el contenido generado es ficticio y reutilizable como plantilla para cualquier caso real después del training.</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Canvas de arquitectura y decisiones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546845">
                  <a:extLst>
                    <a:ext uri="{9D8B030D-6E8A-4147-A177-3AD203B41FA5}">
                      <a16:colId xmlns:a16="http://schemas.microsoft.com/office/drawing/2014/main" val="20000"/>
                    </a:ext>
                  </a:extLst>
                </a:gridCol>
                <a:gridCol w="3359330">
                  <a:extLst>
                    <a:ext uri="{9D8B030D-6E8A-4147-A177-3AD203B41FA5}">
                      <a16:colId xmlns:a16="http://schemas.microsoft.com/office/drawing/2014/main" val="20001"/>
                    </a:ext>
                  </a:extLst>
                </a:gridCol>
                <a:gridCol w="3536137">
                  <a:extLst>
                    <a:ext uri="{9D8B030D-6E8A-4147-A177-3AD203B41FA5}">
                      <a16:colId xmlns:a16="http://schemas.microsoft.com/office/drawing/2014/main" val="20002"/>
                    </a:ext>
                  </a:extLst>
                </a:gridCol>
                <a:gridCol w="2652103">
                  <a:extLst>
                    <a:ext uri="{9D8B030D-6E8A-4147-A177-3AD203B41FA5}">
                      <a16:colId xmlns:a16="http://schemas.microsoft.com/office/drawing/2014/main" val="20003"/>
                    </a:ext>
                  </a:extLst>
                </a:gridCol>
              </a:tblGrid>
              <a:tr h="701040">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Dimensión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Decisión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Opciones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Criterio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Canal</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canales entran al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Web, app móvil, contact center, Teams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Volumen y SLA por canal</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Identidad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autentica usuario y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OBO delegado vs client-credentials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Sensibilidad del dato accedido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Sesión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¿Sesión 1:1 o multiplexada?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Hosted Agent dedicado vs Session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Concurrencia esperada y costo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Agente / 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patrón de orquestación?</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Single agent, sequential, handoff, group chat</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Complejidad real de la tarea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Tools / datos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exponen herramientas y datos?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MCP directo vs vía AI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Gobierno y auditoría requerida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grupo completa 'decisión' y 'criterio' con su propio contexto antes de avanzar al siguiente paso.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Pasos del workshop (65 min)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Contexto</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5 min — Leer el caso Austral Bank y aclarar supuestos del grupo.</a:t>
            </a:r>
            <a:endParaRPr lang="en-US" sz="19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Canvas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20 min — Completar canal, identidad, sesión, agente y tools/datos.</a:t>
            </a:r>
            <a:endParaRPr lang="en-US" sz="19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Amenazas</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15 min — Identificar 3 amenazas principales y su control propuesto.</a:t>
            </a:r>
            <a:endParaRPr lang="en-US" sz="19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SLOs y evaluación</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12 min — Definir SLOs, evaluaciones y señales de observabilidad.</a:t>
            </a:r>
            <a:endParaRPr lang="en-US" sz="19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Backlog</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13 min — Priorizar decisiones y experimentos en un backlog breve.</a:t>
            </a:r>
            <a:endParaRPr lang="en-US" sz="19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Amenazas priorizadas (ejemplo)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injection vía documentos adjuntos de comercio exterior.</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Agente con permisos excesivos sobre cuentas corporativas.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Fuga de datos de clientes en logs de observabilidad.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Suplantación entre agentes (A2A) sin validar identidad correctamente.</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Controles propuestos (ejemplo)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Shields y Content Safety sobre el contenido recuperado.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RBAC de mínimo privilegio y aprobación humana para montos altos.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Enmascarado de datos sensibles en toda la telemetría.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Entra Agent ID con validación de audience en cada token A2A.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Cada amenaza del canvas debe quedar mapeada a un control, un punto de aplicación y un dueño.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Mapa de riesgos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997718">
                  <a:extLst>
                    <a:ext uri="{9D8B030D-6E8A-4147-A177-3AD203B41FA5}">
                      <a16:colId xmlns:a16="http://schemas.microsoft.com/office/drawing/2014/main" val="20000"/>
                    </a:ext>
                  </a:extLst>
                </a:gridCol>
                <a:gridCol w="1859704">
                  <a:extLst>
                    <a:ext uri="{9D8B030D-6E8A-4147-A177-3AD203B41FA5}">
                      <a16:colId xmlns:a16="http://schemas.microsoft.com/office/drawing/2014/main" val="20001"/>
                    </a:ext>
                  </a:extLst>
                </a:gridCol>
                <a:gridCol w="1239276">
                  <a:extLst>
                    <a:ext uri="{9D8B030D-6E8A-4147-A177-3AD203B41FA5}">
                      <a16:colId xmlns:a16="http://schemas.microsoft.com/office/drawing/2014/main" val="20002"/>
                    </a:ext>
                  </a:extLst>
                </a:gridCol>
                <a:gridCol w="3997718">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Riesgo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Probabilidad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Impacto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Mitigación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vía documento adjunto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 + revisión humana de adjuntos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Agente con permisos excesivos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Baja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RBAC mínimo privilegio + aprobación por monto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Degradación silenciosa del retrieval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Evaluación continua de groundedness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 fuera de rango por mal dimensionamiento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Límites y alertas en el AI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reutilizable: cada grupo la completa con sus propios riesgos antes de pasar al backlog.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SLOs, evaluaciones y observabilidad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069060">
                  <a:extLst>
                    <a:ext uri="{9D8B030D-6E8A-4147-A177-3AD203B41FA5}">
                      <a16:colId xmlns:a16="http://schemas.microsoft.com/office/drawing/2014/main" val="20000"/>
                    </a:ext>
                  </a:extLst>
                </a:gridCol>
                <a:gridCol w="4512678">
                  <a:extLst>
                    <a:ext uri="{9D8B030D-6E8A-4147-A177-3AD203B41FA5}">
                      <a16:colId xmlns:a16="http://schemas.microsoft.com/office/drawing/2014/main" val="20001"/>
                    </a:ext>
                  </a:extLst>
                </a:gridCol>
                <a:gridCol w="451267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Métrica u objetivo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Fuente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Disponibilidad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SLO de éxito de sesión del Hosted Agent</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Trazas OpenTelemetry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Evaluadores de groundedness y tool-use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Evaluaciones programadas sobre tráfico real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Seguridad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Tasa de bloqueo de Prompt Shields / Content Safety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de guardrails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Tokens y CPU/mem por sesión activa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AI Gateway + panel de costos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Definir un objetivo numérico queda a criterio de cada grupo según su propio contexto.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presentar resultados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Cada grupo presenta en 90 segundos: decisión principal, supuesto crítico y primer experimento a correr.</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Usar el canvas y el backlog como apoyo visual; no es necesario un diagrama elaborado.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Priorizar aprendizaje y claridad del razonamiento por sobre la perfección del resultado.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facilitador anota amenazas o decisiones que se repiten entre grupos para el cierre ejecutivo.</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Backlog de decisiones y experimentos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734778">
                  <a:extLst>
                    <a:ext uri="{9D8B030D-6E8A-4147-A177-3AD203B41FA5}">
                      <a16:colId xmlns:a16="http://schemas.microsoft.com/office/drawing/2014/main" val="20000"/>
                    </a:ext>
                  </a:extLst>
                </a:gridCol>
                <a:gridCol w="1710706">
                  <a:extLst>
                    <a:ext uri="{9D8B030D-6E8A-4147-A177-3AD203B41FA5}">
                      <a16:colId xmlns:a16="http://schemas.microsoft.com/office/drawing/2014/main" val="20001"/>
                    </a:ext>
                  </a:extLst>
                </a:gridCol>
                <a:gridCol w="1578984">
                  <a:extLst>
                    <a:ext uri="{9D8B030D-6E8A-4147-A177-3AD203B41FA5}">
                      <a16:colId xmlns:a16="http://schemas.microsoft.com/office/drawing/2014/main" val="20002"/>
                    </a:ext>
                  </a:extLst>
                </a:gridCol>
                <a:gridCol w="2069947">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Ítem</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Tipo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Prioridad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Dueño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PoC Session Gateway con usuarios piloto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Experimento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Plataforma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ADR: patrón de orquestación del asistente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Decisión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Arquitectura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Políticas de Content Safety para adjuntos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Seguridad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Panel de trazas y evaluaciones de 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Observabilidad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final: cada grupo prioriza su propio backlog de 3 a 5 ítems antes del cierre.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Cierre ejecutivo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Arquitectura objetivo, backlog y próximos pasos</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20 min</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Lo que se lleva cada grupo del workshop</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Text 6"/>
          <p:cNvSpPr/>
          <p:nvPr/>
        </p:nvSpPr>
        <p:spPr>
          <a:xfrm>
            <a:off x="868680"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5</a:t>
            </a:r>
            <a:endParaRPr lang="en-US" sz="66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decisiones de arquitectura mapeadas en el canvas</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3390824" y="1508760"/>
            <a:ext cx="82296" cy="4023360"/>
          </a:xfrm>
          <a:prstGeom prst="rect">
            <a:avLst/>
          </a:prstGeom>
          <a:solidFill>
            <a:srgbClr val="0B1F33"/>
          </a:solidFill>
          <a:ln/>
        </p:spPr>
        <p:txBody>
          <a:bodyPr/>
          <a:lstStyle/>
          <a:p>
            <a:endParaRPr lang="en-US"/>
          </a:p>
        </p:txBody>
      </p:sp>
      <p:sp>
        <p:nvSpPr>
          <p:cNvPr id="12" name="Text 10"/>
          <p:cNvSpPr/>
          <p:nvPr/>
        </p:nvSpPr>
        <p:spPr>
          <a:xfrm>
            <a:off x="3710864"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3-5</a:t>
            </a:r>
            <a:endParaRPr lang="en-US" sz="66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amenazas priorizadas con control y dueño asignado</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5" name="Shape 13"/>
          <p:cNvSpPr/>
          <p:nvPr/>
        </p:nvSpPr>
        <p:spPr>
          <a:xfrm>
            <a:off x="6233008" y="1508760"/>
            <a:ext cx="82296" cy="4023360"/>
          </a:xfrm>
          <a:prstGeom prst="rect">
            <a:avLst/>
          </a:prstGeom>
          <a:solidFill>
            <a:srgbClr val="E8743B"/>
          </a:solidFill>
          <a:ln/>
        </p:spPr>
        <p:txBody>
          <a:bodyPr/>
          <a:lstStyle/>
          <a:p>
            <a:endParaRPr lang="en-US"/>
          </a:p>
        </p:txBody>
      </p:sp>
      <p:sp>
        <p:nvSpPr>
          <p:cNvPr id="16" name="Text 14"/>
          <p:cNvSpPr/>
          <p:nvPr/>
        </p:nvSpPr>
        <p:spPr>
          <a:xfrm>
            <a:off x="6553048"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3-5</a:t>
            </a:r>
            <a:endParaRPr lang="en-US" sz="66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ítems de backlog listos con tipo, prioridad y dueño</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9075191" y="1508760"/>
            <a:ext cx="82296" cy="4023360"/>
          </a:xfrm>
          <a:prstGeom prst="rect">
            <a:avLst/>
          </a:prstGeom>
          <a:solidFill>
            <a:srgbClr val="0B1F33"/>
          </a:solidFill>
          <a:ln/>
        </p:spPr>
        <p:txBody>
          <a:bodyPr/>
          <a:lstStyle/>
          <a:p>
            <a:endParaRPr lang="en-US"/>
          </a:p>
        </p:txBody>
      </p:sp>
      <p:sp>
        <p:nvSpPr>
          <p:cNvPr id="20" name="Text 18"/>
          <p:cNvSpPr/>
          <p:nvPr/>
        </p:nvSpPr>
        <p:spPr>
          <a:xfrm>
            <a:off x="9395231"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1</a:t>
            </a:r>
            <a:endParaRPr lang="en-US" sz="66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arquitectura objetivo de referencia para seguir iterando</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Estos números son del propio ejercicio del workshop, no proyecciones ni compromisos de BCI.</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Próximos pasos: 30 / 60 / 90 días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7396277"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30 días</a:t>
            </a:r>
            <a:endParaRPr lang="en-US" sz="2000" dirty="0"/>
          </a:p>
        </p:txBody>
      </p:sp>
      <p:sp>
        <p:nvSpPr>
          <p:cNvPr id="10" name="Shape 8"/>
          <p:cNvSpPr/>
          <p:nvPr/>
        </p:nvSpPr>
        <p:spPr>
          <a:xfrm>
            <a:off x="548640"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Validar los ADRs clave del canvas y correr el PoC priorizado (p.ej. Session Gateway).</a:t>
            </a:r>
            <a:endParaRPr lang="en-US" sz="1900" dirty="0"/>
          </a:p>
        </p:txBody>
      </p:sp>
      <p:sp>
        <p:nvSpPr>
          <p:cNvPr id="13" name="Shape 11"/>
          <p:cNvSpPr/>
          <p:nvPr/>
        </p:nvSpPr>
        <p:spPr>
          <a:xfrm>
            <a:off x="4246778" y="1965960"/>
            <a:ext cx="731520" cy="731520"/>
          </a:xfrm>
          <a:prstGeom prst="ellipse">
            <a:avLst/>
          </a:prstGeom>
          <a:solidFill>
            <a:srgbClr val="0B1F33"/>
          </a:solidFill>
          <a:ln/>
        </p:spPr>
        <p:txBody>
          <a:bodyPr/>
          <a:lstStyle/>
          <a:p>
            <a:endParaRPr lang="en-US"/>
          </a:p>
        </p:txBody>
      </p:sp>
      <p:sp>
        <p:nvSpPr>
          <p:cNvPr id="14" name="Text 12"/>
          <p:cNvSpPr/>
          <p:nvPr/>
        </p:nvSpPr>
        <p:spPr>
          <a:xfrm>
            <a:off x="424677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4246778"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60 días</a:t>
            </a:r>
            <a:endParaRPr lang="en-US" sz="2000" dirty="0"/>
          </a:p>
        </p:txBody>
      </p:sp>
      <p:sp>
        <p:nvSpPr>
          <p:cNvPr id="16" name="Shape 14"/>
          <p:cNvSpPr/>
          <p:nvPr/>
        </p:nvSpPr>
        <p:spPr>
          <a:xfrm>
            <a:off x="4246778"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4246778" y="3657600"/>
            <a:ext cx="82296" cy="2514600"/>
          </a:xfrm>
          <a:prstGeom prst="rect">
            <a:avLst/>
          </a:prstGeom>
          <a:solidFill>
            <a:srgbClr val="0B1F33"/>
          </a:solidFill>
          <a:ln/>
        </p:spPr>
        <p:txBody>
          <a:bodyPr/>
          <a:lstStyle/>
          <a:p>
            <a:endParaRPr lang="en-US"/>
          </a:p>
        </p:txBody>
      </p:sp>
      <p:sp>
        <p:nvSpPr>
          <p:cNvPr id="18" name="Text 16"/>
          <p:cNvSpPr/>
          <p:nvPr/>
        </p:nvSpPr>
        <p:spPr>
          <a:xfrm>
            <a:off x="4475378"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Habilitar AI Gateway con límites y cache, y evaluaciones programadas sobre tráfico real.</a:t>
            </a:r>
            <a:endParaRPr lang="en-US" sz="1900" dirty="0"/>
          </a:p>
        </p:txBody>
      </p:sp>
      <p:sp>
        <p:nvSpPr>
          <p:cNvPr id="19" name="Shape 17"/>
          <p:cNvSpPr/>
          <p:nvPr/>
        </p:nvSpPr>
        <p:spPr>
          <a:xfrm>
            <a:off x="7944917" y="1965960"/>
            <a:ext cx="731520" cy="731520"/>
          </a:xfrm>
          <a:prstGeom prst="ellipse">
            <a:avLst/>
          </a:prstGeom>
          <a:solidFill>
            <a:srgbClr val="E8743B"/>
          </a:solidFill>
          <a:ln/>
        </p:spPr>
        <p:txBody>
          <a:bodyPr/>
          <a:lstStyle/>
          <a:p>
            <a:endParaRPr lang="en-US"/>
          </a:p>
        </p:txBody>
      </p:sp>
      <p:sp>
        <p:nvSpPr>
          <p:cNvPr id="20" name="Text 18"/>
          <p:cNvSpPr/>
          <p:nvPr/>
        </p:nvSpPr>
        <p:spPr>
          <a:xfrm>
            <a:off x="7944917"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7944917"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90 días</a:t>
            </a:r>
            <a:endParaRPr lang="en-US" sz="2000" dirty="0"/>
          </a:p>
        </p:txBody>
      </p:sp>
      <p:sp>
        <p:nvSpPr>
          <p:cNvPr id="22" name="Shape 20"/>
          <p:cNvSpPr/>
          <p:nvPr/>
        </p:nvSpPr>
        <p:spPr>
          <a:xfrm>
            <a:off x="7944917"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7944917" y="3657600"/>
            <a:ext cx="82296" cy="2514600"/>
          </a:xfrm>
          <a:prstGeom prst="rect">
            <a:avLst/>
          </a:prstGeom>
          <a:solidFill>
            <a:srgbClr val="E8743B"/>
          </a:solidFill>
          <a:ln/>
        </p:spPr>
        <p:txBody>
          <a:bodyPr/>
          <a:lstStyle/>
          <a:p>
            <a:endParaRPr lang="en-US"/>
          </a:p>
        </p:txBody>
      </p:sp>
      <p:sp>
        <p:nvSpPr>
          <p:cNvPr id="24" name="Text 22"/>
          <p:cNvSpPr/>
          <p:nvPr/>
        </p:nvSpPr>
        <p:spPr>
          <a:xfrm>
            <a:off x="8173517"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Ampliar red teaming continuo y revisar SLOs de costo y calidad en producción.</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Los tres días en una idea por día</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1: fundamentos de Foundry, agentes, modelos y primeros casos de uso.</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2: desarrollo e integración de agentes, herramientas, RAG y evaluaciones iniciales.</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3: arquitectura, seguridad y operación para escalar una plataforma de agentes en producción.</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La plataforma está lista cuando gobierno, seguridad y evaluación maduran tanto como el agente mismo.</a:t>
            </a:r>
            <a:endParaRPr 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Recursos públicos para seguir profundizando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E8743B"/>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Hosted agents — conceptos</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Agent Framework — orquestaciones multiagente</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learn.microsoft.com/en-us/agent-framework/workflows/orchestrations/</a:t>
            </a:r>
            <a:endParaRPr lang="en-US" sz="1100" dirty="0"/>
          </a:p>
        </p:txBody>
      </p:sp>
      <p:sp>
        <p:nvSpPr>
          <p:cNvPr id="14" name="Shape 12"/>
          <p:cNvSpPr/>
          <p:nvPr/>
        </p:nvSpPr>
        <p:spPr>
          <a:xfrm>
            <a:off x="548640" y="2811780"/>
            <a:ext cx="365760" cy="365760"/>
          </a:xfrm>
          <a:prstGeom prst="ellipse">
            <a:avLst/>
          </a:prstGeom>
          <a:solidFill>
            <a:srgbClr val="E8743B"/>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Content Safety — overview</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learn.microsoft.com/en-us/azure/ai-services/content-safety/overview</a:t>
            </a:r>
            <a:endParaRPr lang="en-US" sz="1100" dirty="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Search — RBAC y Foundry IQ</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200" u="sng" dirty="0">
                <a:solidFill>
                  <a:srgbClr val="E8743B"/>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learn.microsoft.com/en-us/azure/search/search-get-started-rbac</a:t>
            </a:r>
            <a:endParaRPr lang="en-US" sz="1200" dirty="0"/>
          </a:p>
        </p:txBody>
      </p:sp>
      <p:sp>
        <p:nvSpPr>
          <p:cNvPr id="22" name="Shape 20"/>
          <p:cNvSpPr/>
          <p:nvPr/>
        </p:nvSpPr>
        <p:spPr>
          <a:xfrm>
            <a:off x="548640" y="4000500"/>
            <a:ext cx="365760" cy="365760"/>
          </a:xfrm>
          <a:prstGeom prst="ellipse">
            <a:avLst/>
          </a:prstGeom>
          <a:solidFill>
            <a:srgbClr val="E8743B"/>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Gateway — laboratorios públicos (APIM)</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github.com/Azure-Samples/AI-Gateway</a:t>
            </a:r>
            <a:endParaRPr lang="en-US" sz="1300" dirty="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Red Teaming Playground Labs</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github.com/microsoft/AI-Red-Teaming-Playground-Labs</a:t>
            </a:r>
            <a:endParaRPr lang="en-US" sz="1300" dirty="0"/>
          </a:p>
        </p:txBody>
      </p:sp>
      <p:sp>
        <p:nvSpPr>
          <p:cNvPr id="30" name="Shape 28"/>
          <p:cNvSpPr/>
          <p:nvPr/>
        </p:nvSpPr>
        <p:spPr>
          <a:xfrm>
            <a:off x="548640" y="5189220"/>
            <a:ext cx="365760" cy="365760"/>
          </a:xfrm>
          <a:prstGeom prst="ellipse">
            <a:avLst/>
          </a:prstGeom>
          <a:solidFill>
            <a:srgbClr val="E8743B"/>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MCP for Beginners</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github.com/microsoft/mcp-for-beginners</a:t>
            </a:r>
            <a:endParaRPr lang="en-US" sz="1300" dirty="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mslearn-ai-multi-agents (labs)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github.com/MicrosoftLearning/mslearn-ai-multi-agents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000" b="1" dirty="0">
                <a:solidFill>
                  <a:srgbClr val="FFFFFF"/>
                </a:solidFill>
                <a:latin typeface="Segoe UI Semibold" pitchFamily="34" charset="0"/>
                <a:ea typeface="Segoe UI Semibold" pitchFamily="34" charset="-122"/>
                <a:cs typeface="Segoe UI Semibold" pitchFamily="34" charset="-120"/>
              </a:rPr>
              <a:t>Gracias — fin del Microsoft AI Foundry BCI Training Day</a:t>
            </a:r>
            <a:endParaRPr lang="en-US" sz="50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100" dirty="0">
                <a:solidFill>
                  <a:srgbClr val="C9D7E4"/>
                </a:solidFill>
                <a:latin typeface="Segoe UI" pitchFamily="34" charset="0"/>
                <a:ea typeface="Segoe UI" pitchFamily="34" charset="-122"/>
                <a:cs typeface="Segoe UI" pitchFamily="34" charset="-120"/>
              </a:rPr>
              <a:t>De agentes que funcionan a una plataforma segura, gobernada y evaluable. El backlog de hoy es el punto de partida, no el final.</a:t>
            </a:r>
            <a:endParaRPr lang="en-US" sz="21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14</TotalTime>
  <Words>12330</Words>
  <Application>Microsoft Office PowerPoint</Application>
  <PresentationFormat>Widescreen</PresentationFormat>
  <Paragraphs>917</Paragraphs>
  <Slides>52</Slides>
  <Notes>52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52</vt:i4>
      </vt:variant>
    </vt:vector>
  </HeadingPairs>
  <TitlesOfParts>
    <vt:vector size="56"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Arquitectura, seguridad y operación de agentes (L300)</dc:title>
  <dc:subject>Microsoft AI Foundry BCI Training Day</dc:subject>
  <dc:creator>Microsoft</dc:creator>
  <cp:lastModifiedBy>Valentina Grajales Olarte</cp:lastModifiedBy>
  <cp:revision>5</cp:revision>
  <dcterms:created xsi:type="dcterms:W3CDTF">2026-10-22T21:50:11Z</dcterms:created>
  <dcterms:modified xsi:type="dcterms:W3CDTF">2026-10-22T23:25:35Z</dcterms:modified>
</cp:coreProperties>
</file>