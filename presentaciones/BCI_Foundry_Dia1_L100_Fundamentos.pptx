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99"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0B9762-560E-46DA-86E3-707786D58F96}" v="4" dt="2026-10-21T11:55:25.987"/>
    <p1510:client id="{C9C9DDC0-E854-47E7-AAB4-BDE1659DE892}" v="16" dt="2026-10-21T03:54:07.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8" d="100"/>
          <a:sy n="88" d="100"/>
        </p:scale>
        <p:origin x="53"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Braconi" userId="6db06187-911f-4718-acc2-1a1725bc1411" providerId="ADAL" clId="{36C933D3-20FA-4907-A962-B1B1A2DE1C5B}"/>
    <pc:docChg chg="custSel modSld">
      <pc:chgData name="Pablo Braconi" userId="6db06187-911f-4718-acc2-1a1725bc1411" providerId="ADAL" clId="{36C933D3-20FA-4907-A962-B1B1A2DE1C5B}" dt="2026-10-21T03:56:14.941" v="262" actId="20577"/>
      <pc:docMkLst>
        <pc:docMk/>
      </pc:docMkLst>
      <pc:sldChg chg="modSp mod">
        <pc:chgData name="Pablo Braconi" userId="6db06187-911f-4718-acc2-1a1725bc1411" providerId="ADAL" clId="{36C933D3-20FA-4907-A962-B1B1A2DE1C5B}" dt="2026-10-20T21:08:05.016" v="10" actId="20577"/>
        <pc:sldMkLst>
          <pc:docMk/>
          <pc:sldMk cId="0" sldId="257"/>
        </pc:sldMkLst>
        <pc:spChg chg="mod">
          <ac:chgData name="Pablo Braconi" userId="6db06187-911f-4718-acc2-1a1725bc1411" providerId="ADAL" clId="{36C933D3-20FA-4907-A962-B1B1A2DE1C5B}" dt="2026-10-20T21:07:47.906" v="8"/>
          <ac:spMkLst>
            <pc:docMk/>
            <pc:sldMk cId="0" sldId="257"/>
            <ac:spMk id="10" creationId="{00000000-0000-0000-0000-000000000000}"/>
          </ac:spMkLst>
        </pc:spChg>
        <pc:spChg chg="mod">
          <ac:chgData name="Pablo Braconi" userId="6db06187-911f-4718-acc2-1a1725bc1411" providerId="ADAL" clId="{36C933D3-20FA-4907-A962-B1B1A2DE1C5B}" dt="2026-10-20T21:07:57.889" v="9" actId="20577"/>
          <ac:spMkLst>
            <pc:docMk/>
            <pc:sldMk cId="0" sldId="257"/>
            <ac:spMk id="11" creationId="{00000000-0000-0000-0000-000000000000}"/>
          </ac:spMkLst>
        </pc:spChg>
        <pc:spChg chg="mod">
          <ac:chgData name="Pablo Braconi" userId="6db06187-911f-4718-acc2-1a1725bc1411" providerId="ADAL" clId="{36C933D3-20FA-4907-A962-B1B1A2DE1C5B}" dt="2026-10-20T21:07:38.627" v="1" actId="21"/>
          <ac:spMkLst>
            <pc:docMk/>
            <pc:sldMk cId="0" sldId="257"/>
            <ac:spMk id="16" creationId="{00000000-0000-0000-0000-000000000000}"/>
          </ac:spMkLst>
        </pc:spChg>
        <pc:spChg chg="mod">
          <ac:chgData name="Pablo Braconi" userId="6db06187-911f-4718-acc2-1a1725bc1411" providerId="ADAL" clId="{36C933D3-20FA-4907-A962-B1B1A2DE1C5B}" dt="2026-10-20T21:08:05.016" v="10" actId="20577"/>
          <ac:spMkLst>
            <pc:docMk/>
            <pc:sldMk cId="0" sldId="257"/>
            <ac:spMk id="17" creationId="{00000000-0000-0000-0000-000000000000}"/>
          </ac:spMkLst>
        </pc:spChg>
      </pc:sldChg>
      <pc:sldChg chg="delSp modSp mod">
        <pc:chgData name="Pablo Braconi" userId="6db06187-911f-4718-acc2-1a1725bc1411" providerId="ADAL" clId="{36C933D3-20FA-4907-A962-B1B1A2DE1C5B}" dt="2026-10-20T21:08:34.477" v="15" actId="478"/>
        <pc:sldMkLst>
          <pc:docMk/>
          <pc:sldMk cId="0" sldId="260"/>
        </pc:sldMkLst>
        <pc:spChg chg="del">
          <ac:chgData name="Pablo Braconi" userId="6db06187-911f-4718-acc2-1a1725bc1411" providerId="ADAL" clId="{36C933D3-20FA-4907-A962-B1B1A2DE1C5B}" dt="2026-10-20T21:08:32.248" v="13" actId="478"/>
          <ac:spMkLst>
            <pc:docMk/>
            <pc:sldMk cId="0" sldId="260"/>
            <ac:spMk id="7" creationId="{00000000-0000-0000-0000-000000000000}"/>
          </ac:spMkLst>
        </pc:spChg>
        <pc:spChg chg="del mod">
          <ac:chgData name="Pablo Braconi" userId="6db06187-911f-4718-acc2-1a1725bc1411" providerId="ADAL" clId="{36C933D3-20FA-4907-A962-B1B1A2DE1C5B}" dt="2026-10-20T21:08:34.477" v="15" actId="478"/>
          <ac:spMkLst>
            <pc:docMk/>
            <pc:sldMk cId="0" sldId="260"/>
            <ac:spMk id="8" creationId="{00000000-0000-0000-0000-000000000000}"/>
          </ac:spMkLst>
        </pc:spChg>
      </pc:sldChg>
      <pc:sldChg chg="delSp mod">
        <pc:chgData name="Pablo Braconi" userId="6db06187-911f-4718-acc2-1a1725bc1411" providerId="ADAL" clId="{36C933D3-20FA-4907-A962-B1B1A2DE1C5B}" dt="2026-10-20T21:08:40.282" v="17" actId="478"/>
        <pc:sldMkLst>
          <pc:docMk/>
          <pc:sldMk cId="0" sldId="261"/>
        </pc:sldMkLst>
        <pc:spChg chg="del">
          <ac:chgData name="Pablo Braconi" userId="6db06187-911f-4718-acc2-1a1725bc1411" providerId="ADAL" clId="{36C933D3-20FA-4907-A962-B1B1A2DE1C5B}" dt="2026-10-20T21:08:40.282" v="17" actId="478"/>
          <ac:spMkLst>
            <pc:docMk/>
            <pc:sldMk cId="0" sldId="261"/>
            <ac:spMk id="7" creationId="{00000000-0000-0000-0000-000000000000}"/>
          </ac:spMkLst>
        </pc:spChg>
        <pc:spChg chg="del">
          <ac:chgData name="Pablo Braconi" userId="6db06187-911f-4718-acc2-1a1725bc1411" providerId="ADAL" clId="{36C933D3-20FA-4907-A962-B1B1A2DE1C5B}" dt="2026-10-20T21:08:38.918" v="16" actId="478"/>
          <ac:spMkLst>
            <pc:docMk/>
            <pc:sldMk cId="0" sldId="261"/>
            <ac:spMk id="8" creationId="{00000000-0000-0000-0000-000000000000}"/>
          </ac:spMkLst>
        </pc:spChg>
      </pc:sldChg>
      <pc:sldChg chg="delSp mod">
        <pc:chgData name="Pablo Braconi" userId="6db06187-911f-4718-acc2-1a1725bc1411" providerId="ADAL" clId="{36C933D3-20FA-4907-A962-B1B1A2DE1C5B}" dt="2026-10-20T21:08:49.090" v="19" actId="478"/>
        <pc:sldMkLst>
          <pc:docMk/>
          <pc:sldMk cId="0" sldId="266"/>
        </pc:sldMkLst>
        <pc:spChg chg="del">
          <ac:chgData name="Pablo Braconi" userId="6db06187-911f-4718-acc2-1a1725bc1411" providerId="ADAL" clId="{36C933D3-20FA-4907-A962-B1B1A2DE1C5B}" dt="2026-10-20T21:08:49.090" v="19" actId="478"/>
          <ac:spMkLst>
            <pc:docMk/>
            <pc:sldMk cId="0" sldId="266"/>
            <ac:spMk id="7" creationId="{00000000-0000-0000-0000-000000000000}"/>
          </ac:spMkLst>
        </pc:spChg>
        <pc:spChg chg="del">
          <ac:chgData name="Pablo Braconi" userId="6db06187-911f-4718-acc2-1a1725bc1411" providerId="ADAL" clId="{36C933D3-20FA-4907-A962-B1B1A2DE1C5B}" dt="2026-10-20T21:08:47.981" v="18" actId="478"/>
          <ac:spMkLst>
            <pc:docMk/>
            <pc:sldMk cId="0" sldId="266"/>
            <ac:spMk id="8" creationId="{00000000-0000-0000-0000-000000000000}"/>
          </ac:spMkLst>
        </pc:spChg>
      </pc:sldChg>
      <pc:sldChg chg="delSp mod">
        <pc:chgData name="Pablo Braconi" userId="6db06187-911f-4718-acc2-1a1725bc1411" providerId="ADAL" clId="{36C933D3-20FA-4907-A962-B1B1A2DE1C5B}" dt="2026-10-20T21:08:21.649" v="12" actId="478"/>
        <pc:sldMkLst>
          <pc:docMk/>
          <pc:sldMk cId="0" sldId="275"/>
        </pc:sldMkLst>
        <pc:spChg chg="del">
          <ac:chgData name="Pablo Braconi" userId="6db06187-911f-4718-acc2-1a1725bc1411" providerId="ADAL" clId="{36C933D3-20FA-4907-A962-B1B1A2DE1C5B}" dt="2026-10-20T21:08:19.723" v="11" actId="478"/>
          <ac:spMkLst>
            <pc:docMk/>
            <pc:sldMk cId="0" sldId="275"/>
            <ac:spMk id="7" creationId="{00000000-0000-0000-0000-000000000000}"/>
          </ac:spMkLst>
        </pc:spChg>
        <pc:spChg chg="del">
          <ac:chgData name="Pablo Braconi" userId="6db06187-911f-4718-acc2-1a1725bc1411" providerId="ADAL" clId="{36C933D3-20FA-4907-A962-B1B1A2DE1C5B}" dt="2026-10-20T21:08:21.649" v="12" actId="478"/>
          <ac:spMkLst>
            <pc:docMk/>
            <pc:sldMk cId="0" sldId="275"/>
            <ac:spMk id="8" creationId="{00000000-0000-0000-0000-000000000000}"/>
          </ac:spMkLst>
        </pc:spChg>
      </pc:sldChg>
      <pc:sldChg chg="modSp mod">
        <pc:chgData name="Pablo Braconi" userId="6db06187-911f-4718-acc2-1a1725bc1411" providerId="ADAL" clId="{36C933D3-20FA-4907-A962-B1B1A2DE1C5B}" dt="2026-10-21T02:29:32.113" v="29" actId="20577"/>
        <pc:sldMkLst>
          <pc:docMk/>
          <pc:sldMk cId="0" sldId="276"/>
        </pc:sldMkLst>
        <pc:graphicFrameChg chg="modGraphic">
          <ac:chgData name="Pablo Braconi" userId="6db06187-911f-4718-acc2-1a1725bc1411" providerId="ADAL" clId="{36C933D3-20FA-4907-A962-B1B1A2DE1C5B}" dt="2026-10-21T02:29:32.113" v="29" actId="20577"/>
          <ac:graphicFrameMkLst>
            <pc:docMk/>
            <pc:sldMk cId="0" sldId="276"/>
            <ac:graphicFrameMk id="22" creationId="{00000000-0000-0000-0000-000000000000}"/>
          </ac:graphicFrameMkLst>
        </pc:graphicFrameChg>
      </pc:sldChg>
      <pc:sldChg chg="modNotesTx">
        <pc:chgData name="Pablo Braconi" userId="6db06187-911f-4718-acc2-1a1725bc1411" providerId="ADAL" clId="{36C933D3-20FA-4907-A962-B1B1A2DE1C5B}" dt="2026-10-21T03:26:24.609" v="138" actId="6549"/>
        <pc:sldMkLst>
          <pc:docMk/>
          <pc:sldMk cId="0" sldId="277"/>
        </pc:sldMkLst>
      </pc:sldChg>
      <pc:sldChg chg="modNotesTx">
        <pc:chgData name="Pablo Braconi" userId="6db06187-911f-4718-acc2-1a1725bc1411" providerId="ADAL" clId="{36C933D3-20FA-4907-A962-B1B1A2DE1C5B}" dt="2026-10-21T02:54:51.179" v="30"/>
        <pc:sldMkLst>
          <pc:docMk/>
          <pc:sldMk cId="0" sldId="278"/>
        </pc:sldMkLst>
      </pc:sldChg>
      <pc:sldChg chg="modNotesTx">
        <pc:chgData name="Pablo Braconi" userId="6db06187-911f-4718-acc2-1a1725bc1411" providerId="ADAL" clId="{36C933D3-20FA-4907-A962-B1B1A2DE1C5B}" dt="2026-10-21T03:32:20.638" v="231" actId="6549"/>
        <pc:sldMkLst>
          <pc:docMk/>
          <pc:sldMk cId="0" sldId="279"/>
        </pc:sldMkLst>
      </pc:sldChg>
      <pc:sldChg chg="delSp mod">
        <pc:chgData name="Pablo Braconi" userId="6db06187-911f-4718-acc2-1a1725bc1411" providerId="ADAL" clId="{36C933D3-20FA-4907-A962-B1B1A2DE1C5B}" dt="2026-10-21T03:32:46.145" v="233" actId="478"/>
        <pc:sldMkLst>
          <pc:docMk/>
          <pc:sldMk cId="0" sldId="281"/>
        </pc:sldMkLst>
        <pc:spChg chg="del">
          <ac:chgData name="Pablo Braconi" userId="6db06187-911f-4718-acc2-1a1725bc1411" providerId="ADAL" clId="{36C933D3-20FA-4907-A962-B1B1A2DE1C5B}" dt="2026-10-21T03:32:41.558" v="232" actId="478"/>
          <ac:spMkLst>
            <pc:docMk/>
            <pc:sldMk cId="0" sldId="281"/>
            <ac:spMk id="7" creationId="{00000000-0000-0000-0000-000000000000}"/>
          </ac:spMkLst>
        </pc:spChg>
        <pc:spChg chg="del">
          <ac:chgData name="Pablo Braconi" userId="6db06187-911f-4718-acc2-1a1725bc1411" providerId="ADAL" clId="{36C933D3-20FA-4907-A962-B1B1A2DE1C5B}" dt="2026-10-21T03:32:46.145" v="233" actId="478"/>
          <ac:spMkLst>
            <pc:docMk/>
            <pc:sldMk cId="0" sldId="281"/>
            <ac:spMk id="8" creationId="{00000000-0000-0000-0000-000000000000}"/>
          </ac:spMkLst>
        </pc:spChg>
      </pc:sldChg>
      <pc:sldChg chg="modNotesTx">
        <pc:chgData name="Pablo Braconi" userId="6db06187-911f-4718-acc2-1a1725bc1411" providerId="ADAL" clId="{36C933D3-20FA-4907-A962-B1B1A2DE1C5B}" dt="2026-10-21T03:38:11.421" v="244" actId="20577"/>
        <pc:sldMkLst>
          <pc:docMk/>
          <pc:sldMk cId="0" sldId="282"/>
        </pc:sldMkLst>
      </pc:sldChg>
      <pc:sldChg chg="modNotesTx">
        <pc:chgData name="Pablo Braconi" userId="6db06187-911f-4718-acc2-1a1725bc1411" providerId="ADAL" clId="{36C933D3-20FA-4907-A962-B1B1A2DE1C5B}" dt="2026-10-21T03:40:37.213" v="250" actId="20577"/>
        <pc:sldMkLst>
          <pc:docMk/>
          <pc:sldMk cId="0" sldId="283"/>
        </pc:sldMkLst>
      </pc:sldChg>
      <pc:sldChg chg="modNotesTx">
        <pc:chgData name="Pablo Braconi" userId="6db06187-911f-4718-acc2-1a1725bc1411" providerId="ADAL" clId="{36C933D3-20FA-4907-A962-B1B1A2DE1C5B}" dt="2026-10-21T03:45:27.154" v="252" actId="20577"/>
        <pc:sldMkLst>
          <pc:docMk/>
          <pc:sldMk cId="0" sldId="285"/>
        </pc:sldMkLst>
      </pc:sldChg>
      <pc:sldChg chg="modNotesTx">
        <pc:chgData name="Pablo Braconi" userId="6db06187-911f-4718-acc2-1a1725bc1411" providerId="ADAL" clId="{36C933D3-20FA-4907-A962-B1B1A2DE1C5B}" dt="2026-10-21T03:49:12.683" v="255" actId="20577"/>
        <pc:sldMkLst>
          <pc:docMk/>
          <pc:sldMk cId="0" sldId="286"/>
        </pc:sldMkLst>
      </pc:sldChg>
      <pc:sldChg chg="modNotesTx">
        <pc:chgData name="Pablo Braconi" userId="6db06187-911f-4718-acc2-1a1725bc1411" providerId="ADAL" clId="{36C933D3-20FA-4907-A962-B1B1A2DE1C5B}" dt="2026-10-21T03:51:19.767" v="258" actId="20577"/>
        <pc:sldMkLst>
          <pc:docMk/>
          <pc:sldMk cId="0" sldId="287"/>
        </pc:sldMkLst>
      </pc:sldChg>
      <pc:sldChg chg="modNotesTx">
        <pc:chgData name="Pablo Braconi" userId="6db06187-911f-4718-acc2-1a1725bc1411" providerId="ADAL" clId="{36C933D3-20FA-4907-A962-B1B1A2DE1C5B}" dt="2026-10-21T03:56:14.941" v="262" actId="20577"/>
        <pc:sldMkLst>
          <pc:docMk/>
          <pc:sldMk cId="0" sldId="288"/>
        </pc:sldMkLst>
      </pc:sldChg>
      <pc:sldChg chg="delSp modSp mod">
        <pc:chgData name="Pablo Braconi" userId="6db06187-911f-4718-acc2-1a1725bc1411" providerId="ADAL" clId="{36C933D3-20FA-4907-A962-B1B1A2DE1C5B}" dt="2026-10-20T21:09:09.998" v="23" actId="478"/>
        <pc:sldMkLst>
          <pc:docMk/>
          <pc:sldMk cId="0" sldId="290"/>
        </pc:sldMkLst>
        <pc:spChg chg="del mod">
          <ac:chgData name="Pablo Braconi" userId="6db06187-911f-4718-acc2-1a1725bc1411" providerId="ADAL" clId="{36C933D3-20FA-4907-A962-B1B1A2DE1C5B}" dt="2026-10-20T21:09:07.380" v="21" actId="478"/>
          <ac:spMkLst>
            <pc:docMk/>
            <pc:sldMk cId="0" sldId="290"/>
            <ac:spMk id="7" creationId="{00000000-0000-0000-0000-000000000000}"/>
          </ac:spMkLst>
        </pc:spChg>
        <pc:spChg chg="del mod">
          <ac:chgData name="Pablo Braconi" userId="6db06187-911f-4718-acc2-1a1725bc1411" providerId="ADAL" clId="{36C933D3-20FA-4907-A962-B1B1A2DE1C5B}" dt="2026-10-20T21:09:09.998" v="23" actId="478"/>
          <ac:spMkLst>
            <pc:docMk/>
            <pc:sldMk cId="0" sldId="290"/>
            <ac:spMk id="8" creationId="{00000000-0000-0000-0000-000000000000}"/>
          </ac:spMkLst>
        </pc:spChg>
      </pc:sldChg>
      <pc:sldChg chg="modSp mod">
        <pc:chgData name="Pablo Braconi" userId="6db06187-911f-4718-acc2-1a1725bc1411" providerId="ADAL" clId="{36C933D3-20FA-4907-A962-B1B1A2DE1C5B}" dt="2026-10-20T21:09:50.716" v="28"/>
        <pc:sldMkLst>
          <pc:docMk/>
          <pc:sldMk cId="0" sldId="298"/>
        </pc:sldMkLst>
        <pc:spChg chg="mod">
          <ac:chgData name="Pablo Braconi" userId="6db06187-911f-4718-acc2-1a1725bc1411" providerId="ADAL" clId="{36C933D3-20FA-4907-A962-B1B1A2DE1C5B}" dt="2026-10-20T21:09:50.716" v="28"/>
          <ac:spMkLst>
            <pc:docMk/>
            <pc:sldMk cId="0" sldId="298"/>
            <ac:spMk id="6" creationId="{00000000-0000-0000-0000-000000000000}"/>
          </ac:spMkLst>
        </pc:spChg>
      </pc:sldChg>
    </pc:docChg>
  </pc:docChgLst>
  <pc:docChgLst>
    <pc:chgData name="Valentina Grajales Olarte" userId="d50b8f55-2fd7-476a-a905-f672a6fd2718" providerId="ADAL" clId="{D11E3B7B-1E00-41DB-A700-CCD17F81BC6C}"/>
    <pc:docChg chg="custSel addSld modSld sldOrd">
      <pc:chgData name="Valentina Grajales Olarte" userId="d50b8f55-2fd7-476a-a905-f672a6fd2718" providerId="ADAL" clId="{D11E3B7B-1E00-41DB-A700-CCD17F81BC6C}" dt="2026-10-21T11:55:25.987" v="4" actId="22"/>
      <pc:docMkLst>
        <pc:docMk/>
      </pc:docMkLst>
      <pc:sldChg chg="addSp delSp add mod ord setBg">
        <pc:chgData name="Valentina Grajales Olarte" userId="d50b8f55-2fd7-476a-a905-f672a6fd2718" providerId="ADAL" clId="{D11E3B7B-1E00-41DB-A700-CCD17F81BC6C}" dt="2026-10-21T11:55:25.987" v="4" actId="22"/>
        <pc:sldMkLst>
          <pc:docMk/>
          <pc:sldMk cId="1760152067" sldId="299"/>
        </pc:sldMkLst>
        <pc:spChg chg="del">
          <ac:chgData name="Valentina Grajales Olarte" userId="d50b8f55-2fd7-476a-a905-f672a6fd2718" providerId="ADAL" clId="{D11E3B7B-1E00-41DB-A700-CCD17F81BC6C}" dt="2026-10-21T11:54:56.739" v="3" actId="478"/>
          <ac:spMkLst>
            <pc:docMk/>
            <pc:sldMk cId="1760152067" sldId="299"/>
            <ac:spMk id="7" creationId="{7D8E6FB4-D4BD-9618-F479-F6E8C802DD5F}"/>
          </ac:spMkLst>
        </pc:spChg>
        <pc:spChg chg="del">
          <ac:chgData name="Valentina Grajales Olarte" userId="d50b8f55-2fd7-476a-a905-f672a6fd2718" providerId="ADAL" clId="{D11E3B7B-1E00-41DB-A700-CCD17F81BC6C}" dt="2026-10-21T11:54:56.739" v="3" actId="478"/>
          <ac:spMkLst>
            <pc:docMk/>
            <pc:sldMk cId="1760152067" sldId="299"/>
            <ac:spMk id="10" creationId="{C7B51899-E12C-40D7-DD5B-6A9AD85445D2}"/>
          </ac:spMkLst>
        </pc:spChg>
        <pc:spChg chg="del">
          <ac:chgData name="Valentina Grajales Olarte" userId="d50b8f55-2fd7-476a-a905-f672a6fd2718" providerId="ADAL" clId="{D11E3B7B-1E00-41DB-A700-CCD17F81BC6C}" dt="2026-10-21T11:54:56.739" v="3" actId="478"/>
          <ac:spMkLst>
            <pc:docMk/>
            <pc:sldMk cId="1760152067" sldId="299"/>
            <ac:spMk id="11" creationId="{C7113309-3CD3-028F-5809-1B3A043CAAE4}"/>
          </ac:spMkLst>
        </pc:spChg>
        <pc:spChg chg="del">
          <ac:chgData name="Valentina Grajales Olarte" userId="d50b8f55-2fd7-476a-a905-f672a6fd2718" providerId="ADAL" clId="{D11E3B7B-1E00-41DB-A700-CCD17F81BC6C}" dt="2026-10-21T11:54:56.739" v="3" actId="478"/>
          <ac:spMkLst>
            <pc:docMk/>
            <pc:sldMk cId="1760152067" sldId="299"/>
            <ac:spMk id="15" creationId="{21CC46D1-8713-6854-36F1-2D225848D28B}"/>
          </ac:spMkLst>
        </pc:spChg>
        <pc:spChg chg="del">
          <ac:chgData name="Valentina Grajales Olarte" userId="d50b8f55-2fd7-476a-a905-f672a6fd2718" providerId="ADAL" clId="{D11E3B7B-1E00-41DB-A700-CCD17F81BC6C}" dt="2026-10-21T11:54:56.739" v="3" actId="478"/>
          <ac:spMkLst>
            <pc:docMk/>
            <pc:sldMk cId="1760152067" sldId="299"/>
            <ac:spMk id="16" creationId="{905FCB88-D3A4-5AE0-4ACC-887B0E3E5083}"/>
          </ac:spMkLst>
        </pc:spChg>
        <pc:spChg chg="del">
          <ac:chgData name="Valentina Grajales Olarte" userId="d50b8f55-2fd7-476a-a905-f672a6fd2718" providerId="ADAL" clId="{D11E3B7B-1E00-41DB-A700-CCD17F81BC6C}" dt="2026-10-21T11:54:56.739" v="3" actId="478"/>
          <ac:spMkLst>
            <pc:docMk/>
            <pc:sldMk cId="1760152067" sldId="299"/>
            <ac:spMk id="26" creationId="{D6781F7C-73CA-6F73-5D64-F0E32B30B06E}"/>
          </ac:spMkLst>
        </pc:spChg>
        <pc:spChg chg="del">
          <ac:chgData name="Valentina Grajales Olarte" userId="d50b8f55-2fd7-476a-a905-f672a6fd2718" providerId="ADAL" clId="{D11E3B7B-1E00-41DB-A700-CCD17F81BC6C}" dt="2026-10-21T11:54:56.739" v="3" actId="478"/>
          <ac:spMkLst>
            <pc:docMk/>
            <pc:sldMk cId="1760152067" sldId="299"/>
            <ac:spMk id="31" creationId="{4C993460-6610-57BE-E217-B504074BD69C}"/>
          </ac:spMkLst>
        </pc:spChg>
        <pc:spChg chg="del">
          <ac:chgData name="Valentina Grajales Olarte" userId="d50b8f55-2fd7-476a-a905-f672a6fd2718" providerId="ADAL" clId="{D11E3B7B-1E00-41DB-A700-CCD17F81BC6C}" dt="2026-10-21T11:54:56.739" v="3" actId="478"/>
          <ac:spMkLst>
            <pc:docMk/>
            <pc:sldMk cId="1760152067" sldId="299"/>
            <ac:spMk id="33" creationId="{0B38DF1F-2C1C-CB5C-E325-DDAC3F00BF74}"/>
          </ac:spMkLst>
        </pc:spChg>
        <pc:spChg chg="del">
          <ac:chgData name="Valentina Grajales Olarte" userId="d50b8f55-2fd7-476a-a905-f672a6fd2718" providerId="ADAL" clId="{D11E3B7B-1E00-41DB-A700-CCD17F81BC6C}" dt="2026-10-21T11:54:56.739" v="3" actId="478"/>
          <ac:spMkLst>
            <pc:docMk/>
            <pc:sldMk cId="1760152067" sldId="299"/>
            <ac:spMk id="34" creationId="{88ED778D-B927-0B1B-94FB-EE08E8CCEC58}"/>
          </ac:spMkLst>
        </pc:spChg>
        <pc:spChg chg="del">
          <ac:chgData name="Valentina Grajales Olarte" userId="d50b8f55-2fd7-476a-a905-f672a6fd2718" providerId="ADAL" clId="{D11E3B7B-1E00-41DB-A700-CCD17F81BC6C}" dt="2026-10-21T11:54:56.739" v="3" actId="478"/>
          <ac:spMkLst>
            <pc:docMk/>
            <pc:sldMk cId="1760152067" sldId="299"/>
            <ac:spMk id="36" creationId="{EFF397D3-3ECE-AC02-8581-2D744F6ABA7E}"/>
          </ac:spMkLst>
        </pc:spChg>
        <pc:picChg chg="add">
          <ac:chgData name="Valentina Grajales Olarte" userId="d50b8f55-2fd7-476a-a905-f672a6fd2718" providerId="ADAL" clId="{D11E3B7B-1E00-41DB-A700-CCD17F81BC6C}" dt="2026-10-21T11:55:25.987" v="4" actId="22"/>
          <ac:picMkLst>
            <pc:docMk/>
            <pc:sldMk cId="1760152067" sldId="299"/>
            <ac:picMk id="40" creationId="{D529248B-B403-788B-6994-CC21C2B9EF1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75602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learn.microsoft.com/en-us/azure/foundry/" TargetMode="External"/><Relationship Id="rId2" Type="http://schemas.openxmlformats.org/officeDocument/2006/relationships/slide" Target="../slides/slide22.xml"/><Relationship Id="rId1" Type="http://schemas.openxmlformats.org/officeDocument/2006/relationships/notesMaster" Target="../notesMasters/notesMaster1.xml"/><Relationship Id="rId5" Type="http://schemas.openxmlformats.org/officeDocument/2006/relationships/hyperlink" Target="https://learn.microsoft.com/en-us/azure/foundry-classic/" TargetMode="External"/><Relationship Id="rId4" Type="http://schemas.openxmlformats.org/officeDocument/2006/relationships/hyperlink" Target="https://learn.microsoft.com/en-us/azure/ai-services/content-understanding/faq" TargetMode="Externa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Bienvenida al Día 1 del AI Foundry Training Day para BCI. Mostrar que BCI y Microsoft comparten la portada (logo de BCI) y presentarse (Pablo Braconi y Valentina Grajales, Microsoft CSAs), explicar la modalidad híbrida (sala en Microsoft Chile y Teams) y confirmar que hoy es un nivel L100: no se requiere experiencia previa con Foundry. Mencionar que el grupo es heterogéneo (desarrolladores, arquitectos, data/AI engineers, DevOps y gobierno), así que el día combina conceptos, demos y un laboratorio guiado al final. Sugerido: usar los primeros 2 minutos para que cada mesa diga en una frase qué espera del día; ayuda a calibrar el nivel de profundidad de las próximas 4 horas. Fuente: 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Presentar al equipo y la dinámica de los tres días. Pablo Braconi y Valentina Grajales son los trainers de Microsoft: Valentina conduce el Módulo 1 (contexto y fundamentos) y Pablo el Módulo 2 (plataforma y catálogo de modelos); ambos acompañan el laboratorio. Recordar que el taller es híbrido (sala en Microsoft Chile y Teams) y que las preguntas pueden hacerse en voz alta o por el chat de Teams, donde habrá una persona monitoreando. Mencionar la progresión de los tres días: L100 fundamentos hoy, L200 agentes y RAG mañana, L300 producción y gobierno el viernes. Sugerido: invitar a presentarse a quien esté en sala con una frase (rol y qué espera del taller); sirve para calibrar el nivel. Fuente: MATERIALS_INDEX.md; README.md (raíz del material)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Recorrer la agenda en voz alta mostrando el reloj: abrimos con una presentación de 30 a 40 minutos (bienvenida, equipos y contexto del programa), seguimos con los fundamentos conceptuales (Valentina) y la plataforma y el catálogo de modelos (Pablo), luego Azure AI Services con una demo en vivo de Document Intelligence, y cerramos la parte teórica con agentes y conocimiento antes de la pausa. Después viene el laboratorio guiado de 65 minutos en tres bloques: preparación del entorno, primer agente y OCR con Document Intelligence. Aclarar que no hay laboratorio de voz: el tiempo se usa en dejar el entorno listo, que también sirve para el Día 2. Sugerido: remarcar que el Día 2 profundiza en desarrollo de agentes con código y RAG con Azure AI Search, y el Día 3 en arquitectura, seguridad y operación. Si la presentación de apertura se extiende, el margen se toma del Módulo 1. Fuente: MATERIALS_INDEX.md (§1 Día 1); laboratorios\dia1-lab-guiado\README.md (§3 Cronograma)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Explicar los tres resultados esperados del día: (1) un mapa mental de la plataforma para no perderse entre tantos nombres nuevos (Foundry, Agent Service, Foundry IQ, Toolbox); (2) criterios prácticos para decidir cuándo usar un modelo, un Azure AI Service o un patrón como RAG o fine-tuning; y (3) una experiencia concreta: salir con un agente propio ya configurado. Dejar claro que no se espera dominio técnico profundo todavía, eso vendrá en los Días 2 y 3. Sugerido: pedir que anoten una pregunta que quieran resolver hoy y revisarla en el cierre. Fuente: MATERIALS_INDEX.md (§1 Día 1, columna Outcomes)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Espacio reservado para la presentación de apertura, de 30 a 40 minutos (09:00–09:30 en la agenda; puede llegar hasta las 09:40). El contenido y quién presenta están por confirmar con el organizador del taller: la idea es que BCI y Microsoft den contexto del programa y de los objetivos del negocio antes de entrar en lo técnico. Si la presentación dura 40 minutos, el margen se toma del Módulo 1 (contexto y fundamentos), que se reduce a 5-10 minutos porque parte del contexto ya habrá quedado cubierto; no se recorta ni el laboratorio ni la demo de Document Intelligence. Sugerido: cronometrar la apertura y avisar a quien presente cuándo quedan 5 minutos. Fuente: MATERIALS_INDEX.md (§1 Día 1); agenda acordada con el organizador (por confirmar)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27D9C-DD47-85BC-BA4C-4F35465449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02571-8224-A689-48A4-84E85D8D2B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DBFE2F-5857-DF42-DC6A-2B7335F3B9D3}"/>
              </a:ext>
            </a:extLst>
          </p:cNvPr>
          <p:cNvSpPr>
            <a:spLocks noGrp="1"/>
          </p:cNvSpPr>
          <p:nvPr>
            <p:ph type="body" idx="1"/>
          </p:nvPr>
        </p:nvSpPr>
        <p:spPr/>
        <p:txBody>
          <a:bodyPr/>
          <a:lstStyle/>
          <a:p>
            <a:r>
              <a:rPr lang="en-US"/>
              <a:t>Recorrer la agenda en voz alta mostrando el reloj: abrimos con una presentación de 30 a 40 minutos (bienvenida, equipos y contexto del programa), seguimos con los fundamentos conceptuales (Valentina) y la plataforma y el catálogo de modelos (Pablo), luego Azure AI Services con una demo en vivo de Document Intelligence, y cerramos la parte teórica con agentes y conocimiento antes de la pausa. Después viene el laboratorio guiado de 65 minutos en tres bloques: preparación del entorno, primer agente y OCR con Document Intelligence. Aclarar que no hay laboratorio de voz: el tiempo se usa en dejar el entorno listo, que también sirve para el Día 2. Sugerido: remarcar que el Día 2 profundiza en desarrollo de agentes con código y RAG con Azure AI Search, y el Día 3 en arquitectura, seguridad y operación. Si la presentación de apertura se extiende, el margen se toma del Módulo 1. Fuente: MATERIALS_INDEX.md (§1 Día 1); laboratorios\dia1-lab-guiado\README.md (§3 Cronograma)</a:t>
            </a:r>
          </a:p>
        </p:txBody>
      </p:sp>
      <p:sp>
        <p:nvSpPr>
          <p:cNvPr id="4" name="Slide Number Placeholder 3">
            <a:extLst>
              <a:ext uri="{FF2B5EF4-FFF2-40B4-BE49-F238E27FC236}">
                <a16:creationId xmlns:a16="http://schemas.microsoft.com/office/drawing/2014/main" id="{0B9CFC5C-ADBD-9426-B39F-2D348DAD17B3}"/>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190726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Abrir el primer módulo (a cargo de Valentina). El objetivo de estos 15 minutos es nivelar conceptos: qué cambió con la IA generativa, qué es Microsoft Foundry a grandes rasgos y cómo se reparten las responsabilidades entre los distintos roles presentes en la sala (desarrollo, arquitectura, datos, DevOps y gobierno). No se entra todavía en detalle técnico de la plataforma; eso es el Módulo 2. Sugerido: mantener el ritmo rápido, es un módulo de contexto, no de profundidad; dejar las preguntas técnicas para los módulos siguientes. Fuente: MATERIALS_INDEX.md (§1, fila Contexto y fundamentos)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Contextualizar brevemente la evolución: de modelos que solo completan texto a sistemas que razonan, llaman herramientas y se conectan a datos corporativos. Usar ejemplos ficticios de banca (nunca datos reales de BCI): un asistente que responde sobre políticas internas, o que resume una llamada de atención al cliente. Mencionar que Microsoft Foundry es la respuesta de Microsoft a esta complejidad: una plataforma única para modelos, agentes y herramientas, en vez de servicios sueltos. Sugerido: preguntar a la sala qué casos de uso de IA generativa ya probaron, aunque sea informalmente, para calibrar el resto del módulo. Fuente: docs-oficiales\foundry\what-is-foundry.md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Presentar los cuatro bloques que forman Microsoft Foundry según la documentación oficial: agentes, modelos, tools/conocimiento y capacidades empresariales. La idea es que la sala se lleve una grilla mental simple: 'todo lo que antes eran servicios separados ahora vive bajo un mismo paraguas'. No hace falta profundizar en cada celda todavía, eso se retoma en los módulos 2, 3 y 4 del día. Sugerido: usar esta diapositiva como 'mapa' al que se puede volver mentalmente cuando se presenten Foundry IQ, Toolbox o Agent Service más adelante. Fuente: docs-oficiales\foundry\what-is-foundry.md (tabla 'What you can build')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Para quienes ya vieron Azure AI Studio o Azure OpenAI Service antes, esta diapositiva ubica qué cambió. Lo importante no es memorizar nombres, sino entender la dirección: consolidación. Menos recursos de Azure que administrar, un solo modelo de permisos y una API de agentes más moderna (Responses API) en reemplazo de Assistants API. Si alguien en la sala ya tiene proyectos en el portal clásico, aclarar que siguen siendo accesibles (hub-based projects en Foundry classic) pero que las inversiones nuevas van al portal nuevo. Sugerido: no entrar en detalle de migración hoy, es contenido de Día 2/3. Fuente: docs-oficiales\foundry\what-is-foundry.md (sección 'Evolution of Foundry')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Cerrar el módulo 1 conectando los roles presentes en la sala (desarrollo, arquitectura, datos, DevOps, gobierno) con responsabilidades concretas sobre la plataforma. Esto ayuda a que cada persona identifique, durante el resto del día, qué partes le van a resultar más relevantes: por ejemplo, quienes vienen de gobierno van a prestar más atención a guardrails y RBAC, mientras que los data/AI engineers se van a enfocar en RAG y Foundry IQ. Sugerido: invitar a que cada persona piense en qué rol se identifica más mientras avanza el día, y cerrar el módulo abriendo paso a Pablo para la plataforma Foundry en detalle. Fuente: docs-oficiales\foundry\guardrails\guardrails-overview.md; docs-oficiales\foundry\agents\overview.md (Enterprise capabilities)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Pablo toma el módulo 2. Ahora sí se entra en la plataforma concreta: cómo se organiza un proyecto Foundry, cómo se recorre el portal, cómo se elige un modelo del catálogo y qué significa 'deployment type'. También se compara Responses API con Chat Completions y se repasan las tres formas de mejorar un modelo (prompting, RAG, fine-tuning). Es el módulo más denso del día en términos técnicos. Sugerido: avisar que habrá dos demos en vivo (portal y catálogo+playground), así la sala sabe que puede guardar preguntas de detalle para esos momentos. Fuente: MATERIALS_INDEX.md (§1, fila Plataforma Foundry)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Explicar el modelo de recursos de arriba hacia abajo: primero las superficies de desarrollo que se eligen según el perfil (portal para prototipar, SDK para integrarlo a una app, CLI para automatizar, VS Code para quienes prefieren el editor). Debajo, un recurso Foundry agrupa RBAC y red para toda la organización, y dentro de ese recurso viven uno o más proyectos (por ejemplo, un proyecto de entrenamiento y otro de producción). En la base están los artefactos concretos: modelos desplegados, agentes y tools. Sugerido: dibujar esta pirámide en el pizarrón si la sala lo pide, ayuda mucho a fijar el concepto antes de la demo del portal. Fuente: docs-oficiales\foundry\what-is-foundry.md (sección 'Choose your developer surface')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en vivo del portal de Foundry (ai.azure.com). El objetivo no es mostrar cada botón, sino que la sala ubique mentalmente las cuatro zonas clave: catálogo de modelos, agentes, conocimiento (Foundry IQ) y observabilidad/evaluaciones. Aprovechar para mostrar también dónde se configuran RBAC y redes del proyecto, ya que son temas que van a preocupar especialmente a los perfiles de gobierno y DevOps en la sala. Sugerido: tener preparado de antemano un proyecto de ejemplo con algún modelo ya desplegado, para no depender de tiempos de aprovisionamiento en vivo. Como plan B si falla la conexión, usar capturas de pantalla preparadas. Fuente: docs-oficiales\foundry\concepts\capabilities.md (tabla 'Major products and capabilities')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Recorrer el flujo recomendado por la documentación de Foundry para elegir un modelo: explorar el catálogo (más de 10.000 modelos, ~50 nuevos por mes), comparar benchmarks con datos propios, elegir el tipo de deployment adecuado, validar cuota y región, y recién ahí desplegar. Remarcar que 'cuota y región' no es un detalle menor: no todos los modelos están disponibles en todas las regiones ni con todos los deployment types, así que conviene validarlo temprano en un proyecto real. Sugerido: mencionar que en el laboratorio de hoy se usa este mismo flujo mental, aunque simplificado. Fuente: docs-oficiales\foundry\concepts\foundry-models-overview.md; docs-oficiales\foundry\foundry-models\quotas-limits.md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Esta tabla resume los deployment types documentados para Foundry Models (aplican a la opción Serverless API; los modelos open-source con managed compute no usan estos tipos). La recomendación oficial es simple: arrancar siempre con Global Standard, que es el que llega primero para modelos nuevos, tiene el precio más bajo y la mayor cobertura de regiones. Solo conviene moverse a Data Zone o Standard/geografía si hay un requisito real de residencia de datos, y a Provisioned si se necesita throughput reservado y predecible. Batch sirve para trabajos grandes no urgentes con descuento. Sugerido: evitar entrar en números de precio o cuota exactos, la documentación no los fija de forma universal; remitir a la calculadora de precios oficial si preguntan. Fuente: docs-oficiales\foundry\foundry-models\concepts\deployment-types.md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Segunda demo del módulo: mostrar el recorrido completo desde buscar un modelo hasta conversar con él, sin escribir una sola línea de código. Usar un ejemplo ficticio de banca, nunca datos reales de BCI (por ejemplo, pedirle al modelo que resuma una política interna inventada o redacte un correo de ejemplo). Aprovechar para mostrar la ficha del modelo con sus deployment types disponibles, conectando con la diapositiva anterior. Sugerido: preparar de antemano el modelo ya desplegado por si el tiempo de aprovisionamiento en vivo es largo, y tener un prompt de respaldo escrito para no quedarse en blanco frente a la sala. Fuente: docs-oficiales\foundry\what-is-foundry.md (sección 'Get started'); repos\publico-samples\foundry-samples\samples\python\quickstart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Esta comparación viene directo del curso AI-103 (desarrollo de apps de IA generativa en Foundry): Chat Completions es el patrón clásico de mensajes por turno, muy conocido y compatible con mucho código existente, pero no tiene conceptos nativos de agente ni de tools. Responses API es la evolución pensada para agentes: maneja conversaciones, items y versiones de agente, e integra tools y estado en la misma llamada. Para código nuevo en Foundry, la recomendación es partir directamente por Responses API. Sugerido: aclarar que esto no es una decisión binaria permanente, muchas organizaciones migran gradualmente. Fuente: docs-oficiales\foundry\what-is-foundry.md (tabla 'Evolution of Foundry'); docs-oficiales\foundry\agents\overview.md (sección Responses API); 00-agenda-y-contexto\courseware-AI-103T00\OUTLINE_slides_AI-103T00.md (deck 01, slides 21-24)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Resumir las tres palancas para mejorar la calidad de un modelo, en el orden en que conviene probarlas. Prompt engineering es siempre el primer paso: barato, rápido de iterar y muchas veces suficiente. Cuando el problema es que el modelo no conoce información propia o actualizada (por ejemplo, políticas internas de crédito ficticias), la solución es RAG: conectar el modelo a una fuente de conocimiento en lugar de reentrenarlo. Fine-tuning queda para cuando se necesita que el modelo adopte un estilo, dominio o comportamiento muy específico que ni el prompting ni la recuperación logran resolver. Sugerido: conectar esta diapositiva con el módulo 4, donde se profundiza en RAG y Foundry IQ. Fuente: docs-oficiales\foundry\concepts\capabilities.md (fila Fine-tuning); 00-agenda-y-contexto\courseware-AI-103T00\OUTLINE_slides_AI-103T00.md (deck 01, slides 39-43)</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Cerrar el módulo 2 repasando las superficies de desarrollo disponibles para quienes van a escribir código: el SDK unificado de Foundry (azure-ai-projects), compatibilidad con el SDK de OpenAI y de Anthropic contra el mismo endpoint, Microsoft Agent Framework para agentes con código propio, la extensión de VS Code y Azure Developer CLI para automatizar, y el Foundry MCP Server en preview para quienes usan GitHub Copilot u otros asistentes de código. Sugerido: mencionar brevemente que Agent Framework y hosted agents se retoman con mucho más detalle en el Día 2, así que hoy alcanza con saber que existen. Fuente: docs-oficiales\foundry\how-to\develop\sdk-overview.md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Introducir el módulo 3: después de ver la plataforma general y el catálogo de modelos, ahora se revisan los servicios de IA especializados que viven dentro de Foundry Tools (el nombre actual de lo que antes era Azure AI Services): Document Intelligence, Speech, Language, Vision y Content Understanding. La idea es dar un panorama de qué hace cada uno y cuándo conviene usarlo, no un curso completo de cada servicio. Sugerido: anticipar que Document Intelligence se muestra en una demo en vivo dentro de este módulo y se retoma en el laboratorio guiado con un ejercicio de OCR sobre un documento bancario ficticio. Fuente: MATERIALS_INDEX.md (§1, fila Azure AI Services)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1" i="0" kern="1200">
                <a:solidFill>
                  <a:schemeClr val="tx1"/>
                </a:solidFill>
                <a:effectLst/>
                <a:latin typeface="+mn-lt"/>
                <a:ea typeface="+mn-ea"/>
                <a:cs typeface="+mn-cs"/>
              </a:rPr>
              <a:t>Hasta </a:t>
            </a:r>
            <a:r>
              <a:rPr lang="en-US" sz="1200" b="1" i="0" kern="1200" err="1">
                <a:solidFill>
                  <a:schemeClr val="tx1"/>
                </a:solidFill>
                <a:effectLst/>
                <a:latin typeface="+mn-lt"/>
                <a:ea typeface="+mn-ea"/>
                <a:cs typeface="+mn-cs"/>
              </a:rPr>
              <a:t>ahora</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veníamos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hablando</a:t>
            </a:r>
            <a:r>
              <a:rPr lang="en-US" sz="1200" b="1" i="0" kern="1200">
                <a:solidFill>
                  <a:schemeClr val="tx1"/>
                </a:solidFill>
                <a:effectLst/>
                <a:latin typeface="+mn-lt"/>
                <a:ea typeface="+mn-ea"/>
                <a:cs typeface="+mn-cs"/>
              </a:rPr>
              <a:t> de </a:t>
            </a:r>
            <a:r>
              <a:rPr lang="en-US" sz="1200" b="1" i="0" kern="1200" err="1">
                <a:solidFill>
                  <a:schemeClr val="tx1"/>
                </a:solidFill>
                <a:effectLst/>
                <a:latin typeface="+mn-lt"/>
                <a:ea typeface="+mn-ea"/>
                <a:cs typeface="+mn-cs"/>
              </a:rPr>
              <a:t>modelos</a:t>
            </a:r>
            <a:r>
              <a:rPr lang="en-US" sz="1200" b="1" i="0" kern="1200">
                <a:solidFill>
                  <a:schemeClr val="tx1"/>
                </a:solidFill>
                <a:effectLst/>
                <a:latin typeface="+mn-lt"/>
                <a:ea typeface="+mn-ea"/>
                <a:cs typeface="+mn-cs"/>
              </a:rPr>
              <a:t> y de </a:t>
            </a:r>
            <a:r>
              <a:rPr lang="en-US" sz="1200" b="1" i="0" kern="1200" err="1">
                <a:solidFill>
                  <a:schemeClr val="tx1"/>
                </a:solidFill>
                <a:effectLst/>
                <a:latin typeface="+mn-lt"/>
                <a:ea typeface="+mn-ea"/>
                <a:cs typeface="+mn-cs"/>
              </a:rPr>
              <a:t>inteligencia</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generativa</a:t>
            </a:r>
            <a:r>
              <a:rPr lang="en-US" sz="1200" b="1" i="0" kern="1200">
                <a:solidFill>
                  <a:schemeClr val="tx1"/>
                </a:solidFill>
                <a:effectLst/>
                <a:latin typeface="+mn-lt"/>
                <a:ea typeface="+mn-ea"/>
                <a:cs typeface="+mn-cs"/>
              </a:rPr>
              <a:t>. Pero no </a:t>
            </a:r>
            <a:r>
              <a:rPr lang="en-US" sz="1200" b="1" i="0" kern="1200" err="1">
                <a:solidFill>
                  <a:schemeClr val="tx1"/>
                </a:solidFill>
                <a:effectLst/>
                <a:latin typeface="+mn-lt"/>
                <a:ea typeface="+mn-ea"/>
                <a:cs typeface="+mn-cs"/>
              </a:rPr>
              <a:t>todo</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problema</a:t>
            </a:r>
            <a:r>
              <a:rPr lang="en-US" sz="1200" b="1" i="0" kern="1200">
                <a:solidFill>
                  <a:schemeClr val="tx1"/>
                </a:solidFill>
                <a:effectLst/>
                <a:latin typeface="+mn-lt"/>
                <a:ea typeface="+mn-ea"/>
                <a:cs typeface="+mn-cs"/>
              </a:rPr>
              <a:t> de IA </a:t>
            </a:r>
            <a:r>
              <a:rPr lang="en-US" sz="1200" b="1" i="0" kern="1200" err="1">
                <a:solidFill>
                  <a:schemeClr val="tx1"/>
                </a:solidFill>
                <a:effectLst/>
                <a:latin typeface="+mn-lt"/>
                <a:ea typeface="+mn-ea"/>
                <a:cs typeface="+mn-cs"/>
              </a:rPr>
              <a:t>requiere</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enviar</a:t>
            </a:r>
            <a:r>
              <a:rPr lang="en-US" sz="1200" b="1" i="0" kern="1200">
                <a:solidFill>
                  <a:schemeClr val="tx1"/>
                </a:solidFill>
                <a:effectLst/>
                <a:latin typeface="+mn-lt"/>
                <a:ea typeface="+mn-ea"/>
                <a:cs typeface="+mn-cs"/>
              </a:rPr>
              <a:t> algo a un LLM.”</a:t>
            </a:r>
            <a:endParaRPr lang="en-US" sz="1200" b="0" i="0" kern="1200">
              <a:solidFill>
                <a:schemeClr val="tx1"/>
              </a:solidFill>
              <a:effectLst/>
              <a:latin typeface="+mn-lt"/>
              <a:ea typeface="+mn-ea"/>
              <a:cs typeface="+mn-cs"/>
            </a:endParaRPr>
          </a:p>
          <a:p>
            <a:pPr fontAlgn="t"/>
            <a:r>
              <a:rPr lang="en-US" sz="1200" b="0" i="0" kern="1200">
                <a:solidFill>
                  <a:schemeClr val="tx1"/>
                </a:solidFill>
                <a:effectLst/>
                <a:latin typeface="+mn-lt"/>
                <a:ea typeface="+mn-ea"/>
                <a:cs typeface="+mn-cs"/>
              </a:rPr>
              <a:t>Microsoft Foundry también </a:t>
            </a:r>
            <a:r>
              <a:rPr lang="en-US" sz="1200" b="0" i="0" kern="1200" err="1">
                <a:solidFill>
                  <a:schemeClr val="tx1"/>
                </a:solidFill>
                <a:effectLst/>
                <a:latin typeface="+mn-lt"/>
                <a:ea typeface="+mn-ea"/>
                <a:cs typeface="+mn-cs"/>
              </a:rPr>
              <a:t>nos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ofrece</a:t>
            </a:r>
            <a:r>
              <a:rPr lang="en-US" sz="1200" b="0" i="0" kern="1200">
                <a:solidFill>
                  <a:schemeClr val="tx1"/>
                </a:solidFill>
                <a:effectLst/>
                <a:latin typeface="+mn-lt"/>
                <a:ea typeface="+mn-ea"/>
                <a:cs typeface="+mn-cs"/>
              </a:rPr>
              <a:t> un conjunto de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especializadas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llamadas</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Foundry Tools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Dentro</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estas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encontramos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servicios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Speech, Language, Document Intelligence y Content Understanding. </a:t>
            </a:r>
            <a:r>
              <a:rPr lang="en-US" sz="1200" b="0" i="0" u="none" strike="noStrike" kern="1200">
                <a:solidFill>
                  <a:schemeClr val="tx1"/>
                </a:solidFill>
                <a:effectLst/>
                <a:latin typeface="+mn-lt"/>
                <a:ea typeface="+mn-ea"/>
                <a:cs typeface="+mn-cs"/>
                <a:hlinkClick r:id="rId3"/>
              </a:rPr>
              <a:t>[Microsoft...soft Learn | Learn.Microsoft.com]</a:t>
            </a:r>
            <a:endParaRPr lang="en-US" sz="1200" b="0" i="0" kern="1200">
              <a:solidFill>
                <a:schemeClr val="tx1"/>
              </a:solidFill>
              <a:effectLst/>
              <a:latin typeface="+mn-lt"/>
              <a:ea typeface="+mn-ea"/>
              <a:cs typeface="+mn-cs"/>
            </a:endParaRPr>
          </a:p>
          <a:p>
            <a:pPr fontAlgn="t"/>
            <a:r>
              <a:rPr lang="en-US" sz="1200" b="0" i="0" kern="1200">
                <a:solidFill>
                  <a:schemeClr val="tx1"/>
                </a:solidFill>
                <a:effectLst/>
                <a:latin typeface="+mn-lt"/>
                <a:ea typeface="+mn-ea"/>
                <a:cs typeface="+mn-cs"/>
              </a:rPr>
              <a:t>La forma </a:t>
            </a:r>
            <a:r>
              <a:rPr lang="en-US" sz="1200" b="0" i="0" kern="1200" err="1">
                <a:solidFill>
                  <a:schemeClr val="tx1"/>
                </a:solidFill>
                <a:effectLst/>
                <a:latin typeface="+mn-lt"/>
                <a:ea typeface="+mn-ea"/>
                <a:cs typeface="+mn-cs"/>
              </a:rPr>
              <a:t>sencilla</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pensarlos</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especialistas</a:t>
            </a:r>
            <a:r>
              <a:rPr lang="en-US" sz="1200" b="0" i="0" kern="1200">
                <a:solidFill>
                  <a:schemeClr val="tx1"/>
                </a:solidFill>
                <a:effectLst/>
                <a:latin typeface="+mn-lt"/>
                <a:ea typeface="+mn-ea"/>
                <a:cs typeface="+mn-cs"/>
              </a:rPr>
              <a:t>.</a:t>
            </a:r>
          </a:p>
          <a:p>
            <a:pPr fontAlgn="t"/>
            <a:r>
              <a:rPr lang="en-US" sz="1200" b="0" i="0" kern="1200">
                <a:solidFill>
                  <a:schemeClr val="tx1"/>
                </a:solidFill>
                <a:effectLst/>
                <a:latin typeface="+mn-lt"/>
                <a:ea typeface="+mn-ea"/>
                <a:cs typeface="+mn-cs"/>
              </a:rPr>
              <a:t>Si </a:t>
            </a:r>
            <a:r>
              <a:rPr lang="en-US" sz="1200" b="0" i="0" kern="1200" err="1">
                <a:solidFill>
                  <a:schemeClr val="tx1"/>
                </a:solidFill>
                <a:effectLst/>
                <a:latin typeface="+mn-lt"/>
                <a:ea typeface="+mn-ea"/>
                <a:cs typeface="+mn-cs"/>
              </a:rPr>
              <a:t>necesito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entender</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documento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tengo</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Document Intelligence</a:t>
            </a:r>
            <a:r>
              <a:rPr lang="en-US" sz="1200" b="0" i="0" kern="1200">
                <a:solidFill>
                  <a:schemeClr val="tx1"/>
                </a:solidFill>
                <a:effectLst/>
                <a:latin typeface="+mn-lt"/>
                <a:ea typeface="+mn-ea"/>
                <a:cs typeface="+mn-cs"/>
              </a:rPr>
              <a:t>.</a:t>
            </a:r>
            <a:br>
              <a:rPr lang="en-US" sz="1200" b="0" i="0" kern="1200">
                <a:solidFill>
                  <a:schemeClr val="tx1"/>
                </a:solidFill>
                <a:effectLst/>
                <a:latin typeface="+mn-lt"/>
                <a:ea typeface="+mn-ea"/>
                <a:cs typeface="+mn-cs"/>
              </a:rPr>
            </a:br>
            <a:r>
              <a:rPr lang="en-US" sz="1200" b="0" i="0" kern="1200">
                <a:solidFill>
                  <a:schemeClr val="tx1"/>
                </a:solidFill>
                <a:effectLst/>
                <a:latin typeface="+mn-lt"/>
                <a:ea typeface="+mn-ea"/>
                <a:cs typeface="+mn-cs"/>
              </a:rPr>
              <a:t>Si </a:t>
            </a:r>
            <a:r>
              <a:rPr lang="en-US" sz="1200" b="0" i="0" kern="1200" err="1">
                <a:solidFill>
                  <a:schemeClr val="tx1"/>
                </a:solidFill>
                <a:effectLst/>
                <a:latin typeface="+mn-lt"/>
                <a:ea typeface="+mn-ea"/>
                <a:cs typeface="+mn-cs"/>
              </a:rPr>
              <a:t>necesito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trabajar</a:t>
            </a:r>
            <a:r>
              <a:rPr lang="en-US" sz="1200" b="0" i="0" kern="1200">
                <a:solidFill>
                  <a:schemeClr val="tx1"/>
                </a:solidFill>
                <a:effectLst/>
                <a:latin typeface="+mn-lt"/>
                <a:ea typeface="+mn-ea"/>
                <a:cs typeface="+mn-cs"/>
              </a:rPr>
              <a:t> con </a:t>
            </a:r>
            <a:r>
              <a:rPr lang="en-US" sz="1200" b="0" i="0" kern="1200" err="1">
                <a:solidFill>
                  <a:schemeClr val="tx1"/>
                </a:solidFill>
                <a:effectLst/>
                <a:latin typeface="+mn-lt"/>
                <a:ea typeface="+mn-ea"/>
                <a:cs typeface="+mn-cs"/>
              </a:rPr>
              <a:t>voz</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tengo</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Speech</a:t>
            </a:r>
            <a:r>
              <a:rPr lang="en-US" sz="1200" b="0" i="0" kern="1200">
                <a:solidFill>
                  <a:schemeClr val="tx1"/>
                </a:solidFill>
                <a:effectLst/>
                <a:latin typeface="+mn-lt"/>
                <a:ea typeface="+mn-ea"/>
                <a:cs typeface="+mn-cs"/>
              </a:rPr>
              <a:t>.</a:t>
            </a:r>
            <a:br>
              <a:rPr lang="en-US" sz="1200" b="0" i="0" kern="1200">
                <a:solidFill>
                  <a:schemeClr val="tx1"/>
                </a:solidFill>
                <a:effectLst/>
                <a:latin typeface="+mn-lt"/>
                <a:ea typeface="+mn-ea"/>
                <a:cs typeface="+mn-cs"/>
              </a:rPr>
            </a:br>
            <a:r>
              <a:rPr lang="en-US" sz="1200" b="0" i="0" kern="1200">
                <a:solidFill>
                  <a:schemeClr val="tx1"/>
                </a:solidFill>
                <a:effectLst/>
                <a:latin typeface="+mn-lt"/>
                <a:ea typeface="+mn-ea"/>
                <a:cs typeface="+mn-cs"/>
              </a:rPr>
              <a:t>Si </a:t>
            </a:r>
            <a:r>
              <a:rPr lang="en-US" sz="1200" b="0" i="0" kern="1200" err="1">
                <a:solidFill>
                  <a:schemeClr val="tx1"/>
                </a:solidFill>
                <a:effectLst/>
                <a:latin typeface="+mn-lt"/>
                <a:ea typeface="+mn-ea"/>
                <a:cs typeface="+mn-cs"/>
              </a:rPr>
              <a:t>necesito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analizar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lenguaje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escrito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tengo</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Language</a:t>
            </a:r>
            <a:r>
              <a:rPr lang="en-US" sz="1200" b="0" i="0" kern="1200">
                <a:solidFill>
                  <a:schemeClr val="tx1"/>
                </a:solidFill>
                <a:effectLst/>
                <a:latin typeface="+mn-lt"/>
                <a:ea typeface="+mn-ea"/>
                <a:cs typeface="+mn-cs"/>
              </a:rPr>
              <a:t>.</a:t>
            </a:r>
            <a:br>
              <a:rPr lang="en-US" sz="1200" b="0" i="0" kern="1200">
                <a:solidFill>
                  <a:schemeClr val="tx1"/>
                </a:solidFill>
                <a:effectLst/>
                <a:latin typeface="+mn-lt"/>
                <a:ea typeface="+mn-ea"/>
                <a:cs typeface="+mn-cs"/>
              </a:rPr>
            </a:br>
            <a:r>
              <a:rPr lang="en-US" sz="1200" b="0" i="0" kern="1200">
                <a:solidFill>
                  <a:schemeClr val="tx1"/>
                </a:solidFill>
                <a:effectLst/>
                <a:latin typeface="+mn-lt"/>
                <a:ea typeface="+mn-ea"/>
                <a:cs typeface="+mn-cs"/>
              </a:rPr>
              <a:t>Si </a:t>
            </a:r>
            <a:r>
              <a:rPr lang="en-US" sz="1200" b="0" i="0" kern="1200" err="1">
                <a:solidFill>
                  <a:schemeClr val="tx1"/>
                </a:solidFill>
                <a:effectLst/>
                <a:latin typeface="+mn-lt"/>
                <a:ea typeface="+mn-ea"/>
                <a:cs typeface="+mn-cs"/>
              </a:rPr>
              <a:t>necesito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analizar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imágenes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utilizar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capacidades</a:t>
            </a:r>
            <a:r>
              <a:rPr lang="en-US" sz="1200" b="0" i="0" kern="1200">
                <a:solidFill>
                  <a:schemeClr val="tx1"/>
                </a:solidFill>
                <a:effectLst/>
                <a:latin typeface="+mn-lt"/>
                <a:ea typeface="+mn-ea"/>
                <a:cs typeface="+mn-cs"/>
              </a:rPr>
              <a:t> de </a:t>
            </a:r>
            <a:r>
              <a:rPr lang="en-US" sz="1200" b="1" i="0" kern="1200">
                <a:solidFill>
                  <a:schemeClr val="tx1"/>
                </a:solidFill>
                <a:effectLst/>
                <a:latin typeface="+mn-lt"/>
                <a:ea typeface="+mn-ea"/>
                <a:cs typeface="+mn-cs"/>
              </a:rPr>
              <a:t>Vision</a:t>
            </a:r>
            <a:r>
              <a:rPr lang="en-US" sz="1200" b="0" i="0" kern="1200">
                <a:solidFill>
                  <a:schemeClr val="tx1"/>
                </a:solidFill>
                <a:effectLst/>
                <a:latin typeface="+mn-lt"/>
                <a:ea typeface="+mn-ea"/>
                <a:cs typeface="+mn-cs"/>
              </a:rPr>
              <a:t>.</a:t>
            </a:r>
            <a:br>
              <a:rPr lang="en-US" sz="1200" b="0" i="0" kern="1200">
                <a:solidFill>
                  <a:schemeClr val="tx1"/>
                </a:solidFill>
                <a:effectLst/>
                <a:latin typeface="+mn-lt"/>
                <a:ea typeface="+mn-ea"/>
                <a:cs typeface="+mn-cs"/>
              </a:rPr>
            </a:br>
            <a:r>
              <a:rPr lang="en-US" sz="1200" b="0" i="0" kern="1200">
                <a:solidFill>
                  <a:schemeClr val="tx1"/>
                </a:solidFill>
                <a:effectLst/>
                <a:latin typeface="+mn-lt"/>
                <a:ea typeface="+mn-ea"/>
                <a:cs typeface="+mn-cs"/>
              </a:rPr>
              <a:t>Y </a:t>
            </a:r>
            <a:r>
              <a:rPr lang="en-US" sz="1200" b="0" i="0" kern="1200" err="1">
                <a:solidFill>
                  <a:schemeClr val="tx1"/>
                </a:solidFill>
                <a:effectLst/>
                <a:latin typeface="+mn-lt"/>
                <a:ea typeface="+mn-ea"/>
                <a:cs typeface="+mn-cs"/>
              </a:rPr>
              <a:t>si</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tengo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contenido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más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complejo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mezclar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imágenes</a:t>
            </a:r>
            <a:r>
              <a:rPr lang="en-US" sz="1200" b="0" i="0" kern="1200">
                <a:solidFill>
                  <a:schemeClr val="tx1"/>
                </a:solidFill>
                <a:effectLst/>
                <a:latin typeface="+mn-lt"/>
                <a:ea typeface="+mn-ea"/>
                <a:cs typeface="+mn-cs"/>
              </a:rPr>
              <a:t>, audio o video y </a:t>
            </a:r>
            <a:r>
              <a:rPr lang="en-US" sz="1200" b="0" i="0" kern="1200" err="1">
                <a:solidFill>
                  <a:schemeClr val="tx1"/>
                </a:solidFill>
                <a:effectLst/>
                <a:latin typeface="+mn-lt"/>
                <a:ea typeface="+mn-ea"/>
                <a:cs typeface="+mn-cs"/>
              </a:rPr>
              <a:t>quiero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convertirlo</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estructurada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aparece</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Content Understanding</a:t>
            </a:r>
            <a:r>
              <a:rPr lang="en-US" sz="1200" b="0" i="0" kern="1200">
                <a:solidFill>
                  <a:schemeClr val="tx1"/>
                </a:solidFill>
                <a:effectLst/>
                <a:latin typeface="+mn-lt"/>
                <a:ea typeface="+mn-ea"/>
                <a:cs typeface="+mn-cs"/>
              </a:rPr>
              <a:t>. </a:t>
            </a:r>
            <a:r>
              <a:rPr lang="en-US" sz="1200" b="0" i="0" u="none" strike="noStrike" kern="1200">
                <a:solidFill>
                  <a:schemeClr val="tx1"/>
                </a:solidFill>
                <a:effectLst/>
                <a:latin typeface="+mn-lt"/>
                <a:ea typeface="+mn-ea"/>
                <a:cs typeface="+mn-cs"/>
                <a:hlinkClick r:id="rId4"/>
              </a:rPr>
              <a:t>[Azure Cont...soft Learn | Learn.Microsoft.com]</a:t>
            </a:r>
            <a:r>
              <a:rPr lang="en-US" sz="1200" b="0" i="0" kern="1200">
                <a:solidFill>
                  <a:schemeClr val="tx1"/>
                </a:solidFill>
                <a:effectLst/>
                <a:latin typeface="+mn-lt"/>
                <a:ea typeface="+mn-ea"/>
                <a:cs typeface="+mn-cs"/>
              </a:rPr>
              <a:t>, </a:t>
            </a:r>
            <a:r>
              <a:rPr lang="en-US" sz="1200" b="0" i="0" u="none" strike="noStrike" kern="1200">
                <a:solidFill>
                  <a:schemeClr val="tx1"/>
                </a:solidFill>
                <a:effectLst/>
                <a:latin typeface="+mn-lt"/>
                <a:ea typeface="+mn-ea"/>
                <a:cs typeface="+mn-cs"/>
                <a:hlinkClick r:id="rId5"/>
              </a:rPr>
              <a:t>[Microsoft...soft Learn | Learn.Microsoft.com]</a:t>
            </a:r>
            <a:endParaRPr lang="en-US" sz="1200" b="0" i="0" kern="1200">
              <a:solidFill>
                <a:schemeClr val="tx1"/>
              </a:solidFill>
              <a:effectLst/>
              <a:latin typeface="+mn-lt"/>
              <a:ea typeface="+mn-ea"/>
              <a:cs typeface="+mn-cs"/>
            </a:endParaRPr>
          </a:p>
          <a:p>
            <a:pPr fontAlgn="t"/>
            <a:r>
              <a:rPr lang="en-US" sz="1200" b="0" i="0" kern="1200">
                <a:solidFill>
                  <a:schemeClr val="tx1"/>
                </a:solidFill>
                <a:effectLst/>
                <a:latin typeface="+mn-lt"/>
                <a:ea typeface="+mn-ea"/>
                <a:cs typeface="+mn-cs"/>
              </a:rPr>
              <a:t>En banca </a:t>
            </a:r>
            <a:r>
              <a:rPr lang="en-US" sz="1200" b="0" i="0" kern="1200" err="1">
                <a:solidFill>
                  <a:schemeClr val="tx1"/>
                </a:solidFill>
                <a:effectLst/>
                <a:latin typeface="+mn-lt"/>
                <a:ea typeface="+mn-ea"/>
                <a:cs typeface="+mn-cs"/>
              </a:rPr>
              <a:t>esto</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especialmente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interesante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porque</a:t>
            </a:r>
            <a:r>
              <a:rPr lang="en-US" sz="1200" b="0" i="0" kern="1200">
                <a:solidFill>
                  <a:schemeClr val="tx1"/>
                </a:solidFill>
                <a:effectLst/>
                <a:latin typeface="+mn-lt"/>
                <a:ea typeface="+mn-ea"/>
                <a:cs typeface="+mn-cs"/>
              </a:rPr>
              <a:t> gran </a:t>
            </a:r>
            <a:r>
              <a:rPr lang="en-US" sz="1200" b="0" i="0" kern="1200" err="1">
                <a:solidFill>
                  <a:schemeClr val="tx1"/>
                </a:solidFill>
                <a:effectLst/>
                <a:latin typeface="+mn-lt"/>
                <a:ea typeface="+mn-ea"/>
                <a:cs typeface="+mn-cs"/>
              </a:rPr>
              <a:t>parte</a:t>
            </a:r>
            <a:r>
              <a:rPr lang="en-US" sz="1200" b="0" i="0" kern="1200">
                <a:solidFill>
                  <a:schemeClr val="tx1"/>
                </a:solidFill>
                <a:effectLst/>
                <a:latin typeface="+mn-lt"/>
                <a:ea typeface="+mn-ea"/>
                <a:cs typeface="+mn-cs"/>
              </a:rPr>
              <a:t> de la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manejamos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está</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formatos</a:t>
            </a:r>
            <a:r>
              <a:rPr lang="en-US" sz="1200" b="0" i="0" kern="1200">
                <a:solidFill>
                  <a:schemeClr val="tx1"/>
                </a:solidFill>
                <a:effectLst/>
                <a:latin typeface="+mn-lt"/>
                <a:ea typeface="+mn-ea"/>
                <a:cs typeface="+mn-cs"/>
              </a:rPr>
              <a:t> no </a:t>
            </a:r>
            <a:r>
              <a:rPr lang="en-US" sz="1200" b="0" i="0" kern="1200" err="1">
                <a:solidFill>
                  <a:schemeClr val="tx1"/>
                </a:solidFill>
                <a:effectLst/>
                <a:latin typeface="+mn-lt"/>
                <a:ea typeface="+mn-ea"/>
                <a:cs typeface="+mn-cs"/>
              </a:rPr>
              <a:t>estructurados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formularios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comprobantes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contratos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llamadas</a:t>
            </a:r>
            <a:r>
              <a:rPr lang="en-US" sz="1200" b="0" i="0" kern="1200">
                <a:solidFill>
                  <a:schemeClr val="tx1"/>
                </a:solidFill>
                <a:effectLst/>
                <a:latin typeface="+mn-lt"/>
                <a:ea typeface="+mn-ea"/>
                <a:cs typeface="+mn-cs"/>
              </a:rPr>
              <a:t>, tickets, </a:t>
            </a:r>
            <a:r>
              <a:rPr lang="en-US" sz="1200" b="0" i="0" kern="1200" err="1">
                <a:solidFill>
                  <a:schemeClr val="tx1"/>
                </a:solidFill>
                <a:effectLst/>
                <a:latin typeface="+mn-lt"/>
                <a:ea typeface="+mn-ea"/>
                <a:cs typeface="+mn-cs"/>
              </a:rPr>
              <a:t>imágenes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a:t>
            </a:r>
          </a:p>
          <a:p>
            <a:pPr fontAlgn="t"/>
            <a:r>
              <a:rPr lang="en-US" sz="1200" b="1" i="0" kern="1200">
                <a:solidFill>
                  <a:schemeClr val="tx1"/>
                </a:solidFill>
                <a:effectLst/>
                <a:latin typeface="+mn-lt"/>
                <a:ea typeface="+mn-ea"/>
                <a:cs typeface="+mn-cs"/>
              </a:rPr>
              <a:t>No </a:t>
            </a:r>
            <a:r>
              <a:rPr lang="en-US" sz="1200" b="1" i="0" kern="1200" err="1">
                <a:solidFill>
                  <a:schemeClr val="tx1"/>
                </a:solidFill>
                <a:effectLst/>
                <a:latin typeface="+mn-lt"/>
                <a:ea typeface="+mn-ea"/>
                <a:cs typeface="+mn-cs"/>
              </a:rPr>
              <a:t>tenemos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que</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construir</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desde</a:t>
            </a:r>
            <a:r>
              <a:rPr lang="en-US" sz="1200" b="1" i="0" kern="1200">
                <a:solidFill>
                  <a:schemeClr val="tx1"/>
                </a:solidFill>
                <a:effectLst/>
                <a:latin typeface="+mn-lt"/>
                <a:ea typeface="+mn-ea"/>
                <a:cs typeface="+mn-cs"/>
              </a:rPr>
              <a:t> cero un </a:t>
            </a:r>
            <a:r>
              <a:rPr lang="en-US" sz="1200" b="1" i="0" kern="1200" err="1">
                <a:solidFill>
                  <a:schemeClr val="tx1"/>
                </a:solidFill>
                <a:effectLst/>
                <a:latin typeface="+mn-lt"/>
                <a:ea typeface="+mn-ea"/>
                <a:cs typeface="+mn-cs"/>
              </a:rPr>
              <a:t>modelo</a:t>
            </a:r>
            <a:r>
              <a:rPr lang="en-US" sz="1200" b="1" i="0" kern="1200">
                <a:solidFill>
                  <a:schemeClr val="tx1"/>
                </a:solidFill>
                <a:effectLst/>
                <a:latin typeface="+mn-lt"/>
                <a:ea typeface="+mn-ea"/>
                <a:cs typeface="+mn-cs"/>
              </a:rPr>
              <a:t> de IA para </a:t>
            </a:r>
            <a:r>
              <a:rPr lang="en-US" sz="1200" b="1" i="0" kern="1200" err="1">
                <a:solidFill>
                  <a:schemeClr val="tx1"/>
                </a:solidFill>
                <a:effectLst/>
                <a:latin typeface="+mn-lt"/>
                <a:ea typeface="+mn-ea"/>
                <a:cs typeface="+mn-cs"/>
              </a:rPr>
              <a:t>cada</a:t>
            </a:r>
            <a:r>
              <a:rPr lang="en-US" sz="1200" b="1" i="0" kern="1200">
                <a:solidFill>
                  <a:schemeClr val="tx1"/>
                </a:solidFill>
                <a:effectLst/>
                <a:latin typeface="+mn-lt"/>
                <a:ea typeface="+mn-ea"/>
                <a:cs typeface="+mn-cs"/>
              </a:rPr>
              <a:t> uno de </a:t>
            </a:r>
            <a:r>
              <a:rPr lang="en-US" sz="1200" b="1" i="0" kern="1200" err="1">
                <a:solidFill>
                  <a:schemeClr val="tx1"/>
                </a:solidFill>
                <a:effectLst/>
                <a:latin typeface="+mn-lt"/>
                <a:ea typeface="+mn-ea"/>
                <a:cs typeface="+mn-cs"/>
              </a:rPr>
              <a:t>estos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problemas</a:t>
            </a:r>
            <a:r>
              <a:rPr lang="en-US" sz="1200" b="1" i="0" kern="1200">
                <a:solidFill>
                  <a:schemeClr val="tx1"/>
                </a:solidFill>
                <a:effectLst/>
                <a:latin typeface="+mn-lt"/>
                <a:ea typeface="+mn-ea"/>
                <a:cs typeface="+mn-cs"/>
              </a:rPr>
              <a:t>.</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servicios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permiten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incorporar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capacidades</a:t>
            </a:r>
            <a:r>
              <a:rPr lang="en-US" sz="1200" b="0" i="0" kern="1200">
                <a:solidFill>
                  <a:schemeClr val="tx1"/>
                </a:solidFill>
                <a:effectLst/>
                <a:latin typeface="+mn-lt"/>
                <a:ea typeface="+mn-ea"/>
                <a:cs typeface="+mn-cs"/>
              </a:rPr>
              <a:t> de IA </a:t>
            </a:r>
            <a:r>
              <a:rPr lang="en-US" sz="1200" b="0" i="0" kern="1200" err="1">
                <a:solidFill>
                  <a:schemeClr val="tx1"/>
                </a:solidFill>
                <a:effectLst/>
                <a:latin typeface="+mn-lt"/>
                <a:ea typeface="+mn-ea"/>
                <a:cs typeface="+mn-cs"/>
              </a:rPr>
              <a:t>ya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preparadas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dentro</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nuestras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aplicaciones</a:t>
            </a:r>
            <a:r>
              <a:rPr lang="en-US" sz="1200" b="0" i="0" kern="1200">
                <a:solidFill>
                  <a:schemeClr val="tx1"/>
                </a:solidFill>
                <a:effectLst/>
                <a:latin typeface="+mn-lt"/>
                <a:ea typeface="+mn-ea"/>
                <a:cs typeface="+mn-cs"/>
              </a:rPr>
              <a: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err="1">
                <a:solidFill>
                  <a:schemeClr val="tx1"/>
                </a:solidFill>
                <a:effectLst/>
                <a:latin typeface="+mn-lt"/>
                <a:ea typeface="+mn-ea"/>
                <a:cs typeface="+mn-cs"/>
              </a:rPr>
              <a:t>Ahora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vamos</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profundizar</a:t>
            </a:r>
            <a:r>
              <a:rPr lang="en-US" sz="1200" b="0" i="0" kern="1200">
                <a:solidFill>
                  <a:schemeClr val="tx1"/>
                </a:solidFill>
                <a:effectLst/>
                <a:latin typeface="+mn-lt"/>
                <a:ea typeface="+mn-ea"/>
                <a:cs typeface="+mn-cs"/>
              </a:rPr>
              <a:t> en Document Intelligence,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es el </a:t>
            </a:r>
            <a:r>
              <a:rPr lang="en-US" sz="1200" b="0" i="0" kern="1200" err="1">
                <a:solidFill>
                  <a:schemeClr val="tx1"/>
                </a:solidFill>
                <a:effectLst/>
                <a:latin typeface="+mn-lt"/>
                <a:ea typeface="+mn-ea"/>
                <a:cs typeface="+mn-cs"/>
              </a:rPr>
              <a:t>servicio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utilizaremos</a:t>
            </a:r>
            <a:r>
              <a:rPr lang="en-US" sz="1200" b="0" i="0" kern="1200">
                <a:solidFill>
                  <a:schemeClr val="tx1"/>
                </a:solidFill>
                <a:effectLst/>
                <a:latin typeface="+mn-lt"/>
                <a:ea typeface="+mn-ea"/>
                <a:cs typeface="+mn-cs"/>
              </a:rPr>
              <a:t> en el </a:t>
            </a:r>
            <a:r>
              <a:rPr lang="en-US" sz="1200" b="0" i="0" kern="1200" err="1">
                <a:solidFill>
                  <a:schemeClr val="tx1"/>
                </a:solidFill>
                <a:effectLst/>
                <a:latin typeface="+mn-lt"/>
                <a:ea typeface="+mn-ea"/>
                <a:cs typeface="+mn-cs"/>
              </a:rPr>
              <a:t>laboratorio</a:t>
            </a:r>
            <a:r>
              <a:rPr lang="en-US" sz="1200" b="0" i="0" kern="1200">
                <a:solidFill>
                  <a:schemeClr val="tx1"/>
                </a:solidFill>
                <a:effectLst/>
                <a:latin typeface="+mn-lt"/>
                <a:ea typeface="+mn-ea"/>
                <a:cs typeface="+mn-cs"/>
              </a:rPr>
              <a:t>.</a:t>
            </a:r>
          </a:p>
          <a:p>
            <a:pPr fontAlgn="t"/>
            <a:r>
              <a:rPr lang="en-US" sz="1200" b="0" i="0" kern="1200">
                <a:solidFill>
                  <a:schemeClr val="tx1"/>
                </a:solidFill>
                <a:effectLst/>
                <a:latin typeface="+mn-lt"/>
                <a:ea typeface="+mn-ea"/>
                <a:cs typeface="+mn-cs"/>
              </a:rPr>
              <a:t>Document Intelligence es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a:t>
            </a:r>
            <a:r>
              <a:rPr lang="en-US" sz="1200" b="0" i="0" kern="1200">
                <a:solidFill>
                  <a:schemeClr val="tx1"/>
                </a:solidFill>
                <a:effectLst/>
                <a:latin typeface="+mn-lt"/>
                <a:ea typeface="+mn-ea"/>
                <a:cs typeface="+mn-cs"/>
              </a:rPr>
              <a:t> de Microsoft Foundry para </a:t>
            </a:r>
            <a:r>
              <a:rPr lang="en-US" sz="1200" b="0" i="0" kern="1200" err="1">
                <a:solidFill>
                  <a:schemeClr val="tx1"/>
                </a:solidFill>
                <a:effectLst/>
                <a:latin typeface="+mn-lt"/>
                <a:ea typeface="+mn-ea"/>
                <a:cs typeface="+mn-cs"/>
              </a:rPr>
              <a:t>construir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soluciones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procesamiento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inteligente</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Su </a:t>
            </a:r>
            <a:r>
              <a:rPr lang="en-US" sz="1200" b="0" i="0" kern="1200" err="1">
                <a:solidFill>
                  <a:schemeClr val="tx1"/>
                </a:solidFill>
                <a:effectLst/>
                <a:latin typeface="+mn-lt"/>
                <a:ea typeface="+mn-ea"/>
                <a:cs typeface="+mn-cs"/>
              </a:rPr>
              <a:t>objetivo</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identificar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extraer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devolverla</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manera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estructurada</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aplicación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utilizarla</a:t>
            </a:r>
            <a:r>
              <a:rPr lang="en-US" sz="1200" b="0" i="0" kern="1200">
                <a:solidFill>
                  <a:schemeClr val="tx1"/>
                </a:solidFill>
                <a:effectLst/>
                <a:latin typeface="+mn-lt"/>
                <a:ea typeface="+mn-ea"/>
                <a:cs typeface="+mn-cs"/>
              </a:rPr>
              <a:t>. </a:t>
            </a:r>
          </a:p>
          <a:p>
            <a:pPr fontAlgn="t"/>
            <a:r>
              <a:rPr lang="en-US" sz="1200" b="0" i="0" kern="1200">
                <a:solidFill>
                  <a:schemeClr val="tx1"/>
                </a:solidFill>
                <a:effectLst/>
                <a:latin typeface="+mn-lt"/>
                <a:ea typeface="+mn-ea"/>
                <a:cs typeface="+mn-cs"/>
              </a:rPr>
              <a:t>La forma </a:t>
            </a:r>
            <a:r>
              <a:rPr lang="en-US" sz="1200" b="0" i="0" kern="1200" err="1">
                <a:solidFill>
                  <a:schemeClr val="tx1"/>
                </a:solidFill>
                <a:effectLst/>
                <a:latin typeface="+mn-lt"/>
                <a:ea typeface="+mn-ea"/>
                <a:cs typeface="+mn-cs"/>
              </a:rPr>
              <a:t>más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sencilla</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entenderlo</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imaginar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persona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recibe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los lee y carga sus datos en un </a:t>
            </a:r>
            <a:r>
              <a:rPr lang="en-US" sz="1200" b="0" i="0" kern="1200" err="1">
                <a:solidFill>
                  <a:schemeClr val="tx1"/>
                </a:solidFill>
                <a:effectLst/>
                <a:latin typeface="+mn-lt"/>
                <a:ea typeface="+mn-ea"/>
                <a:cs typeface="+mn-cs"/>
              </a:rPr>
              <a:t>sistema</a:t>
            </a:r>
            <a:r>
              <a:rPr lang="en-US" sz="1200" b="0" i="0" kern="1200">
                <a:solidFill>
                  <a:schemeClr val="tx1"/>
                </a:solidFill>
                <a:effectLst/>
                <a:latin typeface="+mn-lt"/>
                <a:ea typeface="+mn-ea"/>
                <a:cs typeface="+mn-cs"/>
              </a:rPr>
              <a:t>. Document Intelligence </a:t>
            </a:r>
            <a:r>
              <a:rPr lang="en-US" sz="1200" b="0" i="0" kern="1200" err="1">
                <a:solidFill>
                  <a:schemeClr val="tx1"/>
                </a:solidFill>
                <a:effectLst/>
                <a:latin typeface="+mn-lt"/>
                <a:ea typeface="+mn-ea"/>
                <a:cs typeface="+mn-cs"/>
              </a:rPr>
              <a:t>busca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automatizar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parte</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proceso</a:t>
            </a:r>
            <a:r>
              <a:rPr lang="en-US" sz="1200" b="0" i="0" kern="1200">
                <a:solidFill>
                  <a:schemeClr val="tx1"/>
                </a:solidFill>
                <a:effectLst/>
                <a:latin typeface="+mn-lt"/>
                <a:ea typeface="+mn-ea"/>
                <a:cs typeface="+mn-cs"/>
              </a:rPr>
              <a:t>.</a:t>
            </a:r>
          </a:p>
          <a:p>
            <a:pPr fontAlgn="t"/>
            <a:r>
              <a:rPr lang="en-US" sz="1200" b="0" i="0" kern="1200">
                <a:solidFill>
                  <a:schemeClr val="tx1"/>
                </a:solidFill>
                <a:effectLst/>
                <a:latin typeface="+mn-lt"/>
                <a:ea typeface="+mn-ea"/>
                <a:cs typeface="+mn-cs"/>
              </a:rPr>
              <a:t>Para </a:t>
            </a:r>
            <a:r>
              <a:rPr lang="en-US" sz="1200" b="0" i="0" kern="1200" err="1">
                <a:solidFill>
                  <a:schemeClr val="tx1"/>
                </a:solidFill>
                <a:effectLst/>
                <a:latin typeface="+mn-lt"/>
                <a:ea typeface="+mn-ea"/>
                <a:cs typeface="+mn-cs"/>
              </a:rPr>
              <a:t>comenzar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tenemos</a:t>
            </a:r>
            <a:r>
              <a:rPr lang="en-US" sz="1200" b="0"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modelos</a:t>
            </a:r>
            <a:r>
              <a:rPr lang="en-US" sz="1200" b="1" i="0" kern="1200">
                <a:solidFill>
                  <a:schemeClr val="tx1"/>
                </a:solidFill>
                <a:effectLst/>
                <a:latin typeface="+mn-lt"/>
                <a:ea typeface="+mn-ea"/>
                <a:cs typeface="+mn-cs"/>
              </a:rPr>
              <a:t> prebuilt o </a:t>
            </a:r>
            <a:r>
              <a:rPr lang="en-US" sz="1200" b="1" i="0" kern="1200" err="1">
                <a:solidFill>
                  <a:schemeClr val="tx1"/>
                </a:solidFill>
                <a:effectLst/>
                <a:latin typeface="+mn-lt"/>
                <a:ea typeface="+mn-ea"/>
                <a:cs typeface="+mn-cs"/>
              </a:rPr>
              <a:t>preconstruidos</a:t>
            </a:r>
            <a:r>
              <a:rPr lang="en-US" sz="1200" b="0" i="0" kern="1200">
                <a:solidFill>
                  <a:schemeClr val="tx1"/>
                </a:solidFill>
                <a:effectLst/>
                <a:latin typeface="+mn-lt"/>
                <a:ea typeface="+mn-ea"/>
                <a:cs typeface="+mn-cs"/>
              </a:rPr>
              <a:t>. Son </a:t>
            </a:r>
            <a:r>
              <a:rPr lang="en-US" sz="1200" b="0" i="0" kern="1200" err="1">
                <a:solidFill>
                  <a:schemeClr val="tx1"/>
                </a:solidFill>
                <a:effectLst/>
                <a:latin typeface="+mn-lt"/>
                <a:ea typeface="+mn-ea"/>
                <a:cs typeface="+mn-cs"/>
              </a:rPr>
              <a:t>modelos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Microsoft </a:t>
            </a:r>
            <a:r>
              <a:rPr lang="en-US" sz="1200" b="0" i="0" kern="1200" err="1">
                <a:solidFill>
                  <a:schemeClr val="tx1"/>
                </a:solidFill>
                <a:effectLst/>
                <a:latin typeface="+mn-lt"/>
                <a:ea typeface="+mn-ea"/>
                <a:cs typeface="+mn-cs"/>
              </a:rPr>
              <a:t>ya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entrenó</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tipos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comunes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También </a:t>
            </a:r>
            <a:r>
              <a:rPr lang="en-US" sz="1200" b="0" i="0" kern="1200" err="1">
                <a:solidFill>
                  <a:schemeClr val="tx1"/>
                </a:solidFill>
                <a:effectLst/>
                <a:latin typeface="+mn-lt"/>
                <a:ea typeface="+mn-ea"/>
                <a:cs typeface="+mn-cs"/>
              </a:rPr>
              <a:t>existen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modelos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generales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Read,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extrae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texto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impreso</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manuscrito</a:t>
            </a:r>
            <a:r>
              <a:rPr lang="en-US" sz="1200" b="0" i="0" kern="1200">
                <a:solidFill>
                  <a:schemeClr val="tx1"/>
                </a:solidFill>
                <a:effectLst/>
                <a:latin typeface="+mn-lt"/>
                <a:ea typeface="+mn-ea"/>
                <a:cs typeface="+mn-cs"/>
              </a:rPr>
              <a:t>, y Layout,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además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identifica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tablas</a:t>
            </a:r>
            <a:r>
              <a:rPr lang="en-US" sz="1200" b="0" i="0" kern="1200">
                <a:solidFill>
                  <a:schemeClr val="tx1"/>
                </a:solidFill>
                <a:effectLst/>
                <a:latin typeface="+mn-lt"/>
                <a:ea typeface="+mn-ea"/>
                <a:cs typeface="+mn-cs"/>
              </a:rPr>
              <a:t> y la </a:t>
            </a:r>
            <a:r>
              <a:rPr lang="en-US" sz="1200" b="0" i="0" kern="1200" err="1">
                <a:solidFill>
                  <a:schemeClr val="tx1"/>
                </a:solidFill>
                <a:effectLst/>
                <a:latin typeface="+mn-lt"/>
                <a:ea typeface="+mn-ea"/>
                <a:cs typeface="+mn-cs"/>
              </a:rPr>
              <a:t>estructura</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documento</a:t>
            </a:r>
            <a:r>
              <a:rPr lang="en-US" sz="1200" b="0" i="0" kern="1200">
                <a:solidFill>
                  <a:schemeClr val="tx1"/>
                </a:solidFill>
                <a:effectLst/>
                <a:latin typeface="+mn-lt"/>
                <a:ea typeface="+mn-ea"/>
                <a:cs typeface="+mn-cs"/>
              </a:rPr>
              <a:t>. </a:t>
            </a:r>
          </a:p>
          <a:p>
            <a:pPr fontAlgn="t"/>
            <a:r>
              <a:rPr lang="en-US" sz="1200" b="0" i="0" kern="1200">
                <a:solidFill>
                  <a:schemeClr val="tx1"/>
                </a:solidFill>
                <a:effectLst/>
                <a:latin typeface="+mn-lt"/>
                <a:ea typeface="+mn-ea"/>
                <a:cs typeface="+mn-cs"/>
              </a:rPr>
              <a:t>El </a:t>
            </a:r>
            <a:r>
              <a:rPr lang="en-US" sz="1200" b="0" i="0" kern="1200" err="1">
                <a:solidFill>
                  <a:schemeClr val="tx1"/>
                </a:solidFill>
                <a:effectLst/>
                <a:latin typeface="+mn-lt"/>
                <a:ea typeface="+mn-ea"/>
                <a:cs typeface="+mn-cs"/>
              </a:rPr>
              <a:t>segundo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componente</a:t>
            </a:r>
            <a:r>
              <a:rPr lang="en-US" sz="1200" b="0" i="0" kern="1200">
                <a:solidFill>
                  <a:schemeClr val="tx1"/>
                </a:solidFill>
                <a:effectLst/>
                <a:latin typeface="+mn-lt"/>
                <a:ea typeface="+mn-ea"/>
                <a:cs typeface="+mn-cs"/>
              </a:rPr>
              <a:t> es </a:t>
            </a:r>
            <a:r>
              <a:rPr lang="en-US" sz="1200" b="1" i="0" kern="1200">
                <a:solidFill>
                  <a:schemeClr val="tx1"/>
                </a:solidFill>
                <a:effectLst/>
                <a:latin typeface="+mn-lt"/>
                <a:ea typeface="+mn-ea"/>
                <a:cs typeface="+mn-cs"/>
              </a:rPr>
              <a:t>Document Intelligence Studio</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experiencia</a:t>
            </a:r>
            <a:r>
              <a:rPr lang="en-US" sz="1200" b="0" i="0" kern="1200">
                <a:solidFill>
                  <a:schemeClr val="tx1"/>
                </a:solidFill>
                <a:effectLst/>
                <a:latin typeface="+mn-lt"/>
                <a:ea typeface="+mn-ea"/>
                <a:cs typeface="+mn-cs"/>
              </a:rPr>
              <a:t> visual </a:t>
            </a:r>
            <a:r>
              <a:rPr lang="en-US" sz="1200" b="0" i="0" kern="1200" err="1">
                <a:solidFill>
                  <a:schemeClr val="tx1"/>
                </a:solidFill>
                <a:effectLst/>
                <a:latin typeface="+mn-lt"/>
                <a:ea typeface="+mn-ea"/>
                <a:cs typeface="+mn-cs"/>
              </a:rPr>
              <a:t>donde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podemos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cargar</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documento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elegir</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observar</a:t>
            </a:r>
            <a:r>
              <a:rPr lang="en-US" sz="1200" b="0" i="0" kern="1200">
                <a:solidFill>
                  <a:schemeClr val="tx1"/>
                </a:solidFill>
                <a:effectLst/>
                <a:latin typeface="+mn-lt"/>
                <a:ea typeface="+mn-ea"/>
                <a:cs typeface="+mn-cs"/>
              </a:rPr>
              <a:t> los </a:t>
            </a:r>
            <a:r>
              <a:rPr lang="en-US" sz="1200" b="0" i="0" kern="1200" err="1">
                <a:solidFill>
                  <a:schemeClr val="tx1"/>
                </a:solidFill>
                <a:effectLst/>
                <a:latin typeface="+mn-lt"/>
                <a:ea typeface="+mn-ea"/>
                <a:cs typeface="+mn-cs"/>
              </a:rPr>
              <a:t>resultados</a:t>
            </a:r>
            <a:r>
              <a:rPr lang="en-US" sz="1200" b="0" i="0" kern="1200">
                <a:solidFill>
                  <a:schemeClr val="tx1"/>
                </a:solidFill>
                <a:effectLst/>
                <a:latin typeface="+mn-lt"/>
                <a:ea typeface="+mn-ea"/>
                <a:cs typeface="+mn-cs"/>
              </a:rPr>
              <a:t> sin </a:t>
            </a:r>
            <a:r>
              <a:rPr lang="en-US" sz="1200" b="0" i="0" kern="1200" err="1">
                <a:solidFill>
                  <a:schemeClr val="tx1"/>
                </a:solidFill>
                <a:effectLst/>
                <a:latin typeface="+mn-lt"/>
                <a:ea typeface="+mn-ea"/>
                <a:cs typeface="+mn-cs"/>
              </a:rPr>
              <a:t>tener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comenzar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escribiendo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código</a:t>
            </a:r>
            <a:r>
              <a:rPr lang="en-US" sz="1200" b="0" i="0" kern="1200">
                <a:solidFill>
                  <a:schemeClr val="tx1"/>
                </a:solidFill>
                <a:effectLst/>
                <a:latin typeface="+mn-lt"/>
                <a:ea typeface="+mn-ea"/>
                <a:cs typeface="+mn-cs"/>
              </a:rPr>
              <a:t>. También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experimentar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etiquetar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entrenar</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validar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modelos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personalizados</a:t>
            </a:r>
            <a:r>
              <a:rPr lang="en-US" sz="1200" b="0" i="0" kern="1200">
                <a:solidFill>
                  <a:schemeClr val="tx1"/>
                </a:solidFill>
                <a:effectLst/>
                <a:latin typeface="+mn-lt"/>
                <a:ea typeface="+mn-ea"/>
                <a:cs typeface="+mn-cs"/>
              </a:rPr>
              <a:t>. </a:t>
            </a:r>
          </a:p>
          <a:p>
            <a:pPr fontAlgn="t"/>
            <a:r>
              <a:rPr lang="en-US" sz="1200" b="0" i="0" kern="1200" err="1">
                <a:solidFill>
                  <a:schemeClr val="tx1"/>
                </a:solidFill>
                <a:effectLst/>
                <a:latin typeface="+mn-lt"/>
                <a:ea typeface="+mn-ea"/>
                <a:cs typeface="+mn-cs"/>
              </a:rPr>
              <a:t>Finalmente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si</a:t>
            </a:r>
            <a:r>
              <a:rPr lang="en-US" sz="1200" b="0" i="0" kern="1200">
                <a:solidFill>
                  <a:schemeClr val="tx1"/>
                </a:solidFill>
                <a:effectLst/>
                <a:latin typeface="+mn-lt"/>
                <a:ea typeface="+mn-ea"/>
                <a:cs typeface="+mn-cs"/>
              </a:rPr>
              <a:t> el banco </a:t>
            </a:r>
            <a:r>
              <a:rPr lang="en-US" sz="1200" b="0" i="0" kern="1200" err="1">
                <a:solidFill>
                  <a:schemeClr val="tx1"/>
                </a:solidFill>
                <a:effectLst/>
                <a:latin typeface="+mn-lt"/>
                <a:ea typeface="+mn-ea"/>
                <a:cs typeface="+mn-cs"/>
              </a:rPr>
              <a:t>tiene</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documento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propio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no coincide bien con un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prebuilt, </a:t>
            </a:r>
            <a:r>
              <a:rPr lang="en-US" sz="1200" b="0" i="0" kern="1200" err="1">
                <a:solidFill>
                  <a:schemeClr val="tx1"/>
                </a:solidFill>
                <a:effectLst/>
                <a:latin typeface="+mn-lt"/>
                <a:ea typeface="+mn-ea"/>
                <a:cs typeface="+mn-cs"/>
              </a:rPr>
              <a:t>podemos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crear</a:t>
            </a:r>
            <a:r>
              <a:rPr lang="en-US" sz="1200" b="0" i="0" kern="1200">
                <a:solidFill>
                  <a:schemeClr val="tx1"/>
                </a:solidFill>
                <a:effectLst/>
                <a:latin typeface="+mn-lt"/>
                <a:ea typeface="+mn-ea"/>
                <a:cs typeface="+mn-cs"/>
              </a:rPr>
              <a:t> un </a:t>
            </a:r>
            <a:r>
              <a:rPr lang="en-US" sz="1200" b="1" i="0" kern="1200" err="1">
                <a:solidFill>
                  <a:schemeClr val="tx1"/>
                </a:solidFill>
                <a:effectLst/>
                <a:latin typeface="+mn-lt"/>
                <a:ea typeface="+mn-ea"/>
                <a:cs typeface="+mn-cs"/>
              </a:rPr>
              <a:t>modelo</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personalizado</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eso</a:t>
            </a:r>
            <a:r>
              <a:rPr lang="en-US" sz="1200" b="0" i="0" kern="1200">
                <a:solidFill>
                  <a:schemeClr val="tx1"/>
                </a:solidFill>
                <a:effectLst/>
                <a:latin typeface="+mn-lt"/>
                <a:ea typeface="+mn-ea"/>
                <a:cs typeface="+mn-cs"/>
              </a:rPr>
              <a:t>, le </a:t>
            </a:r>
            <a:r>
              <a:rPr lang="en-US" sz="1200" b="0" i="0" kern="1200" err="1">
                <a:solidFill>
                  <a:schemeClr val="tx1"/>
                </a:solidFill>
                <a:effectLst/>
                <a:latin typeface="+mn-lt"/>
                <a:ea typeface="+mn-ea"/>
                <a:cs typeface="+mn-cs"/>
              </a:rPr>
              <a:t>mostramos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ejemplos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etiquetamos</a:t>
            </a:r>
            <a:r>
              <a:rPr lang="en-US" sz="1200" b="0" i="0" kern="1200">
                <a:solidFill>
                  <a:schemeClr val="tx1"/>
                </a:solidFill>
                <a:effectLst/>
                <a:latin typeface="+mn-lt"/>
                <a:ea typeface="+mn-ea"/>
                <a:cs typeface="+mn-cs"/>
              </a:rPr>
              <a:t> los campos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necesitamos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entrenamos</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reconocer</a:t>
            </a:r>
            <a:r>
              <a:rPr lang="en-US" sz="1200" b="0" i="0" kern="1200">
                <a:solidFill>
                  <a:schemeClr val="tx1"/>
                </a:solidFill>
                <a:effectLst/>
                <a:latin typeface="+mn-lt"/>
                <a:ea typeface="+mn-ea"/>
                <a:cs typeface="+mn-cs"/>
              </a:rPr>
              <a:t> ese </a:t>
            </a:r>
            <a:r>
              <a:rPr lang="en-US" sz="1200" b="0" i="0" kern="1200" err="1">
                <a:solidFill>
                  <a:schemeClr val="tx1"/>
                </a:solidFill>
                <a:effectLst/>
                <a:latin typeface="+mn-lt"/>
                <a:ea typeface="+mn-ea"/>
                <a:cs typeface="+mn-cs"/>
              </a:rPr>
              <a:t>formato</a:t>
            </a:r>
            <a:r>
              <a:rPr lang="en-US" sz="1200" b="0" i="0" kern="1200">
                <a:solidFill>
                  <a:schemeClr val="tx1"/>
                </a:solidFill>
                <a:effectLst/>
                <a:latin typeface="+mn-lt"/>
                <a:ea typeface="+mn-ea"/>
                <a:cs typeface="+mn-cs"/>
              </a:rPr>
              <a:t> particular. </a:t>
            </a:r>
          </a:p>
          <a:p>
            <a:pPr fontAlgn="t"/>
            <a:r>
              <a:rPr lang="en-US" sz="1200" b="0" i="0" kern="1200">
                <a:solidFill>
                  <a:schemeClr val="tx1"/>
                </a:solidFill>
                <a:effectLst/>
                <a:latin typeface="+mn-lt"/>
                <a:ea typeface="+mn-ea"/>
                <a:cs typeface="+mn-cs"/>
              </a:rPr>
              <a:t>En el </a:t>
            </a:r>
            <a:r>
              <a:rPr lang="en-US" sz="1200" b="0" i="0" kern="1200" err="1">
                <a:solidFill>
                  <a:schemeClr val="tx1"/>
                </a:solidFill>
                <a:effectLst/>
                <a:latin typeface="+mn-lt"/>
                <a:ea typeface="+mn-ea"/>
                <a:cs typeface="+mn-cs"/>
              </a:rPr>
              <a:t>laboratorio</a:t>
            </a:r>
            <a:r>
              <a:rPr lang="en-US" sz="1200" b="0" i="0" kern="1200">
                <a:solidFill>
                  <a:schemeClr val="tx1"/>
                </a:solidFill>
                <a:effectLst/>
                <a:latin typeface="+mn-lt"/>
                <a:ea typeface="+mn-ea"/>
                <a:cs typeface="+mn-cs"/>
              </a:rPr>
              <a:t> no </a:t>
            </a:r>
            <a:r>
              <a:rPr lang="en-US" sz="1200" b="0" i="0" kern="1200" err="1">
                <a:solidFill>
                  <a:schemeClr val="tx1"/>
                </a:solidFill>
                <a:effectLst/>
                <a:latin typeface="+mn-lt"/>
                <a:ea typeface="+mn-ea"/>
                <a:cs typeface="+mn-cs"/>
              </a:rPr>
              <a:t>vamos</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entrenar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todo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desde</a:t>
            </a:r>
            <a:r>
              <a:rPr lang="en-US" sz="1200" b="0" i="0" kern="1200">
                <a:solidFill>
                  <a:schemeClr val="tx1"/>
                </a:solidFill>
                <a:effectLst/>
                <a:latin typeface="+mn-lt"/>
                <a:ea typeface="+mn-ea"/>
                <a:cs typeface="+mn-cs"/>
              </a:rPr>
              <a:t> cero. Vamos a </a:t>
            </a:r>
            <a:r>
              <a:rPr lang="en-US" sz="1200" b="0" i="0" kern="1200" err="1">
                <a:solidFill>
                  <a:schemeClr val="tx1"/>
                </a:solidFill>
                <a:effectLst/>
                <a:latin typeface="+mn-lt"/>
                <a:ea typeface="+mn-ea"/>
                <a:cs typeface="+mn-cs"/>
              </a:rPr>
              <a:t>empezar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el camino </a:t>
            </a:r>
            <a:r>
              <a:rPr lang="en-US" sz="1200" b="0" i="0" kern="1200" err="1">
                <a:solidFill>
                  <a:schemeClr val="tx1"/>
                </a:solidFill>
                <a:effectLst/>
                <a:latin typeface="+mn-lt"/>
                <a:ea typeface="+mn-ea"/>
                <a:cs typeface="+mn-cs"/>
              </a:rPr>
              <a:t>más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sencillo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cargar</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documento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bancario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ficticio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ejecutar</a:t>
            </a:r>
            <a:r>
              <a:rPr lang="en-US" sz="1200" b="0" i="0" kern="1200">
                <a:solidFill>
                  <a:schemeClr val="tx1"/>
                </a:solidFill>
                <a:effectLst/>
                <a:latin typeface="+mn-lt"/>
                <a:ea typeface="+mn-ea"/>
                <a:cs typeface="+mn-cs"/>
              </a:rPr>
              <a:t> OCR y </a:t>
            </a:r>
            <a:r>
              <a:rPr lang="en-US" sz="1200" b="0" i="0" kern="1200" err="1">
                <a:solidFill>
                  <a:schemeClr val="tx1"/>
                </a:solidFill>
                <a:effectLst/>
                <a:latin typeface="+mn-lt"/>
                <a:ea typeface="+mn-ea"/>
                <a:cs typeface="+mn-cs"/>
              </a:rPr>
              <a:t>revisar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qué</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extraer</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servicio</a:t>
            </a:r>
            <a:r>
              <a:rPr lang="en-US" sz="1200" b="0" i="0" kern="1200">
                <a:solidFill>
                  <a:schemeClr val="tx1"/>
                </a:solidFill>
                <a:effectLst/>
                <a:latin typeface="+mn-lt"/>
                <a:ea typeface="+mn-ea"/>
                <a:cs typeface="+mn-cs"/>
              </a:rPr>
              <a: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en vivo de unos 10 minutos con Document Intelligence Studio (https://contentunderstanding.ai.azure.com/documentintelligence/studio), usando el comprobante de compra ficticio de la carpeta de datos del laboratorio y el modelo prebuilt Receipt; el laboratorio usa otros dos documentos (factura y solicitud de crédito), así que nadie ve dos veces el mismo. Mostrar primero el documento, ejecutar el análisis y recorrer los campos extraídos señalando la confianza de cada uno; después correr Layout sobre el mismo archivo para contrastar texto plano con extracción estructurada, y cerrar con la pestaña de JSON como puente hacia los agentes: ese resultado es el tipo de dato que una tool personalizada entregaría a un agente (Día 2). Plan B: tener capturas y el JSON ya generado por si Studio va lento o falla la sesión. Sugerido: pedir a alguien de la sala que adivine qué campo tendrá menor confianza antes de ejecutar. Fuente: laboratorios\dia1-lab-guiado\demo-document-intelligence.md; laboratorios\dia1-lab-guiado\datos\documentos-ocr\03-comprobante-compra.pdf; docs-oficiales\ai-services-document-intelligence\studio-overview.md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err="1">
                <a:solidFill>
                  <a:schemeClr val="tx1"/>
                </a:solidFill>
                <a:effectLst/>
                <a:latin typeface="+mn-lt"/>
                <a:ea typeface="+mn-ea"/>
                <a:cs typeface="+mn-cs"/>
              </a:rPr>
              <a:t>Además</a:t>
            </a:r>
            <a:r>
              <a:rPr lang="en-US" sz="1200" b="0" i="0" kern="1200">
                <a:solidFill>
                  <a:schemeClr val="tx1"/>
                </a:solidFill>
                <a:effectLst/>
                <a:latin typeface="+mn-lt"/>
                <a:ea typeface="+mn-ea"/>
                <a:cs typeface="+mn-cs"/>
              </a:rPr>
              <a:t> de Document Intelligence, Foundry </a:t>
            </a:r>
            <a:r>
              <a:rPr lang="en-US" sz="1200" b="0" i="0" kern="1200" err="1">
                <a:solidFill>
                  <a:schemeClr val="tx1"/>
                </a:solidFill>
                <a:effectLst/>
                <a:latin typeface="+mn-lt"/>
                <a:ea typeface="+mn-ea"/>
                <a:cs typeface="+mn-cs"/>
              </a:rPr>
              <a:t>incluye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diferentes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especializadas</a:t>
            </a:r>
            <a:r>
              <a:rPr lang="en-US" sz="1200" b="0" i="0" kern="1200">
                <a:solidFill>
                  <a:schemeClr val="tx1"/>
                </a:solidFill>
                <a:effectLst/>
                <a:latin typeface="+mn-lt"/>
                <a:ea typeface="+mn-ea"/>
                <a:cs typeface="+mn-cs"/>
              </a:rPr>
              <a:t>.</a:t>
            </a:r>
          </a:p>
          <a:p>
            <a:pPr fontAlgn="t"/>
            <a:r>
              <a:rPr lang="en-US" sz="1200" b="0" i="0" kern="1200">
                <a:solidFill>
                  <a:schemeClr val="tx1"/>
                </a:solidFill>
                <a:effectLst/>
                <a:latin typeface="+mn-lt"/>
                <a:ea typeface="+mn-ea"/>
                <a:cs typeface="+mn-cs"/>
              </a:rPr>
              <a:t>No </a:t>
            </a:r>
            <a:r>
              <a:rPr lang="en-US" sz="1200" b="0" i="0" kern="1200" err="1">
                <a:solidFill>
                  <a:schemeClr val="tx1"/>
                </a:solidFill>
                <a:effectLst/>
                <a:latin typeface="+mn-lt"/>
                <a:ea typeface="+mn-ea"/>
                <a:cs typeface="+mn-cs"/>
              </a:rPr>
              <a:t>debemos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pensar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única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resuelve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todos</a:t>
            </a:r>
            <a:r>
              <a:rPr lang="en-US" sz="1200" b="0" i="0" kern="1200">
                <a:solidFill>
                  <a:schemeClr val="tx1"/>
                </a:solidFill>
                <a:effectLst/>
                <a:latin typeface="+mn-lt"/>
                <a:ea typeface="+mn-ea"/>
                <a:cs typeface="+mn-cs"/>
              </a:rPr>
              <a:t> los </a:t>
            </a:r>
            <a:r>
              <a:rPr lang="en-US" sz="1200" b="0" i="0" kern="1200" err="1">
                <a:solidFill>
                  <a:schemeClr val="tx1"/>
                </a:solidFill>
                <a:effectLst/>
                <a:latin typeface="+mn-lt"/>
                <a:ea typeface="+mn-ea"/>
                <a:cs typeface="+mn-cs"/>
              </a:rPr>
              <a:t>escenarios</a:t>
            </a:r>
            <a:r>
              <a:rPr lang="en-US" sz="1200" b="0" i="0" kern="1200">
                <a:solidFill>
                  <a:schemeClr val="tx1"/>
                </a:solidFill>
                <a:effectLst/>
                <a:latin typeface="+mn-lt"/>
                <a:ea typeface="+mn-ea"/>
                <a:cs typeface="+mn-cs"/>
              </a:rPr>
              <a:t>. Cada </a:t>
            </a:r>
            <a:r>
              <a:rPr lang="en-US" sz="1200" b="0" i="0" kern="1200" err="1">
                <a:solidFill>
                  <a:schemeClr val="tx1"/>
                </a:solidFill>
                <a:effectLst/>
                <a:latin typeface="+mn-lt"/>
                <a:ea typeface="+mn-ea"/>
                <a:cs typeface="+mn-cs"/>
              </a:rPr>
              <a:t>servicio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está</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optimizado</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trabajar</a:t>
            </a:r>
            <a:r>
              <a:rPr lang="en-US" sz="1200" b="0" i="0" kern="1200">
                <a:solidFill>
                  <a:schemeClr val="tx1"/>
                </a:solidFill>
                <a:effectLst/>
                <a:latin typeface="+mn-lt"/>
                <a:ea typeface="+mn-ea"/>
                <a:cs typeface="+mn-cs"/>
              </a:rPr>
              <a:t> con </a:t>
            </a:r>
            <a:r>
              <a:rPr lang="en-US" sz="1200" b="0" i="0" kern="1200" err="1">
                <a:solidFill>
                  <a:schemeClr val="tx1"/>
                </a:solidFill>
                <a:effectLst/>
                <a:latin typeface="+mn-lt"/>
                <a:ea typeface="+mn-ea"/>
                <a:cs typeface="+mn-cs"/>
              </a:rPr>
              <a:t>determinados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tipos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a:t>
            </a:r>
          </a:p>
          <a:p>
            <a:pPr fontAlgn="t"/>
            <a:r>
              <a:rPr lang="en-US" sz="1200" b="1" i="0" kern="1200">
                <a:solidFill>
                  <a:schemeClr val="tx1"/>
                </a:solidFill>
                <a:effectLst/>
                <a:latin typeface="+mn-lt"/>
                <a:ea typeface="+mn-ea"/>
                <a:cs typeface="+mn-cs"/>
              </a:rPr>
              <a:t>Speech</a:t>
            </a:r>
            <a:r>
              <a:rPr lang="en-US" sz="1200" b="0" i="0" kern="1200">
                <a:solidFill>
                  <a:schemeClr val="tx1"/>
                </a:solidFill>
                <a:effectLst/>
                <a:latin typeface="+mn-lt"/>
                <a:ea typeface="+mn-ea"/>
                <a:cs typeface="+mn-cs"/>
              </a:rPr>
              <a:t> se </a:t>
            </a:r>
            <a:r>
              <a:rPr lang="en-US" sz="1200" b="0" i="0" kern="1200" err="1">
                <a:solidFill>
                  <a:schemeClr val="tx1"/>
                </a:solidFill>
                <a:effectLst/>
                <a:latin typeface="+mn-lt"/>
                <a:ea typeface="+mn-ea"/>
                <a:cs typeface="+mn-cs"/>
              </a:rPr>
              <a:t>relaciona</a:t>
            </a:r>
            <a:r>
              <a:rPr lang="en-US" sz="1200" b="0" i="0" kern="1200">
                <a:solidFill>
                  <a:schemeClr val="tx1"/>
                </a:solidFill>
                <a:effectLst/>
                <a:latin typeface="+mn-lt"/>
                <a:ea typeface="+mn-ea"/>
                <a:cs typeface="+mn-cs"/>
              </a:rPr>
              <a:t> con la </a:t>
            </a:r>
            <a:r>
              <a:rPr lang="en-US" sz="1200" b="0" i="0" kern="1200" err="1">
                <a:solidFill>
                  <a:schemeClr val="tx1"/>
                </a:solidFill>
                <a:effectLst/>
                <a:latin typeface="+mn-lt"/>
                <a:ea typeface="+mn-ea"/>
                <a:cs typeface="+mn-cs"/>
              </a:rPr>
              <a:t>voz</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Incluye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capacidades</a:t>
            </a:r>
            <a:r>
              <a:rPr lang="en-US" sz="1200" b="0" i="0" kern="1200">
                <a:solidFill>
                  <a:schemeClr val="tx1"/>
                </a:solidFill>
                <a:effectLst/>
                <a:latin typeface="+mn-lt"/>
                <a:ea typeface="+mn-ea"/>
                <a:cs typeface="+mn-cs"/>
              </a:rPr>
              <a:t> para pasar de </a:t>
            </a:r>
            <a:r>
              <a:rPr lang="en-US" sz="1200" b="0" i="0" kern="1200" err="1">
                <a:solidFill>
                  <a:schemeClr val="tx1"/>
                </a:solidFill>
                <a:effectLst/>
                <a:latin typeface="+mn-lt"/>
                <a:ea typeface="+mn-ea"/>
                <a:cs typeface="+mn-cs"/>
              </a:rPr>
              <a:t>voz</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texto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generar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voz</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partir</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texto</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construir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experiencias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habladas</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tiempo</a:t>
            </a:r>
            <a:r>
              <a:rPr lang="en-US" sz="1200" b="0" i="0" kern="1200">
                <a:solidFill>
                  <a:schemeClr val="tx1"/>
                </a:solidFill>
                <a:effectLst/>
                <a:latin typeface="+mn-lt"/>
                <a:ea typeface="+mn-ea"/>
                <a:cs typeface="+mn-cs"/>
              </a:rPr>
              <a:t> real. Como </a:t>
            </a:r>
            <a:r>
              <a:rPr lang="en-US" sz="1200" b="0" i="0" kern="1200" err="1">
                <a:solidFill>
                  <a:schemeClr val="tx1"/>
                </a:solidFill>
                <a:effectLst/>
                <a:latin typeface="+mn-lt"/>
                <a:ea typeface="+mn-ea"/>
                <a:cs typeface="+mn-cs"/>
              </a:rPr>
              <a:t>vimos</a:t>
            </a:r>
            <a:r>
              <a:rPr lang="en-US" sz="1200" b="0" i="0" kern="1200">
                <a:solidFill>
                  <a:schemeClr val="tx1"/>
                </a:solidFill>
                <a:effectLst/>
                <a:latin typeface="+mn-lt"/>
                <a:ea typeface="+mn-ea"/>
                <a:cs typeface="+mn-cs"/>
              </a:rPr>
              <a:t>, Speech es el </a:t>
            </a:r>
            <a:r>
              <a:rPr lang="en-US" sz="1200" b="0" i="0" kern="1200" err="1">
                <a:solidFill>
                  <a:schemeClr val="tx1"/>
                </a:solidFill>
                <a:effectLst/>
                <a:latin typeface="+mn-lt"/>
                <a:ea typeface="+mn-ea"/>
                <a:cs typeface="+mn-cs"/>
              </a:rPr>
              <a:t>servicio</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plataforma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mientras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MAI-Transcribe es uno de los </a:t>
            </a:r>
            <a:r>
              <a:rPr lang="en-US" sz="1200" b="0" i="0" kern="1200" err="1">
                <a:solidFill>
                  <a:schemeClr val="tx1"/>
                </a:solidFill>
                <a:effectLst/>
                <a:latin typeface="+mn-lt"/>
                <a:ea typeface="+mn-ea"/>
                <a:cs typeface="+mn-cs"/>
              </a:rPr>
              <a:t>modelos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transcripción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podemos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utilizar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dentro</a:t>
            </a:r>
            <a:r>
              <a:rPr lang="en-US" sz="1200" b="0" i="0" kern="1200">
                <a:solidFill>
                  <a:schemeClr val="tx1"/>
                </a:solidFill>
                <a:effectLst/>
                <a:latin typeface="+mn-lt"/>
                <a:ea typeface="+mn-ea"/>
                <a:cs typeface="+mn-cs"/>
              </a:rPr>
              <a:t> de Azure Speech.</a:t>
            </a:r>
          </a:p>
          <a:p>
            <a:pPr fontAlgn="t"/>
            <a:r>
              <a:rPr lang="en-US" sz="1200" b="1" i="0" kern="1200">
                <a:solidFill>
                  <a:schemeClr val="tx1"/>
                </a:solidFill>
                <a:effectLst/>
                <a:latin typeface="+mn-lt"/>
                <a:ea typeface="+mn-ea"/>
                <a:cs typeface="+mn-cs"/>
              </a:rPr>
              <a:t>Language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analizar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texto</a:t>
            </a:r>
            <a:r>
              <a:rPr lang="en-US" sz="1200" b="0" i="0" kern="1200">
                <a:solidFill>
                  <a:schemeClr val="tx1"/>
                </a:solidFill>
                <a:effectLst/>
                <a:latin typeface="+mn-lt"/>
                <a:ea typeface="+mn-ea"/>
                <a:cs typeface="+mn-cs"/>
              </a:rPr>
              <a:t>. Podemos </a:t>
            </a:r>
            <a:r>
              <a:rPr lang="en-US" sz="1200" b="0" i="0" kern="1200" err="1">
                <a:solidFill>
                  <a:schemeClr val="tx1"/>
                </a:solidFill>
                <a:effectLst/>
                <a:latin typeface="+mn-lt"/>
                <a:ea typeface="+mn-ea"/>
                <a:cs typeface="+mn-cs"/>
              </a:rPr>
              <a:t>utilizarlo</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identificar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entidades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clasificar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contenido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detectar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personal o sensible y </a:t>
            </a:r>
            <a:r>
              <a:rPr lang="en-US" sz="1200" b="0" i="0" kern="1200" err="1">
                <a:solidFill>
                  <a:schemeClr val="tx1"/>
                </a:solidFill>
                <a:effectLst/>
                <a:latin typeface="+mn-lt"/>
                <a:ea typeface="+mn-ea"/>
                <a:cs typeface="+mn-cs"/>
              </a:rPr>
              <a:t>llevar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capacidades</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soluciones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 Microsoft también documenta la </a:t>
            </a:r>
            <a:r>
              <a:rPr lang="en-US" sz="1200" b="0" i="0" kern="1200" err="1">
                <a:solidFill>
                  <a:schemeClr val="tx1"/>
                </a:solidFill>
                <a:effectLst/>
                <a:latin typeface="+mn-lt"/>
                <a:ea typeface="+mn-ea"/>
                <a:cs typeface="+mn-cs"/>
              </a:rPr>
              <a:t>integración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mediante</a:t>
            </a:r>
            <a:r>
              <a:rPr lang="en-US" sz="1200" b="0" i="0" kern="1200">
                <a:solidFill>
                  <a:schemeClr val="tx1"/>
                </a:solidFill>
                <a:effectLst/>
                <a:latin typeface="+mn-lt"/>
                <a:ea typeface="+mn-ea"/>
                <a:cs typeface="+mn-cs"/>
              </a:rPr>
              <a:t> Azure Language MCP Server </a:t>
            </a:r>
            <a:r>
              <a:rPr lang="en-US" sz="1200" b="0" i="0" kern="1200" err="1">
                <a:solidFill>
                  <a:schemeClr val="tx1"/>
                </a:solidFill>
                <a:effectLst/>
                <a:latin typeface="+mn-lt"/>
                <a:ea typeface="+mn-ea"/>
                <a:cs typeface="+mn-cs"/>
              </a:rPr>
              <a:t>dentro</a:t>
            </a:r>
            <a:r>
              <a:rPr lang="en-US" sz="1200" b="0" i="0" kern="1200">
                <a:solidFill>
                  <a:schemeClr val="tx1"/>
                </a:solidFill>
                <a:effectLst/>
                <a:latin typeface="+mn-lt"/>
                <a:ea typeface="+mn-ea"/>
                <a:cs typeface="+mn-cs"/>
              </a:rPr>
              <a:t> de Foundry. </a:t>
            </a:r>
          </a:p>
          <a:p>
            <a:pPr fontAlgn="t"/>
            <a:r>
              <a:rPr lang="en-US" sz="1200" b="1" i="0" kern="1200">
                <a:solidFill>
                  <a:schemeClr val="tx1"/>
                </a:solidFill>
                <a:effectLst/>
                <a:latin typeface="+mn-lt"/>
                <a:ea typeface="+mn-ea"/>
                <a:cs typeface="+mn-cs"/>
              </a:rPr>
              <a:t>Vision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trabaja</a:t>
            </a:r>
            <a:r>
              <a:rPr lang="en-US" sz="1200" b="0" i="0" kern="1200">
                <a:solidFill>
                  <a:schemeClr val="tx1"/>
                </a:solidFill>
                <a:effectLst/>
                <a:latin typeface="+mn-lt"/>
                <a:ea typeface="+mn-ea"/>
                <a:cs typeface="+mn-cs"/>
              </a:rPr>
              <a:t> con </a:t>
            </a:r>
            <a:r>
              <a:rPr lang="en-US" sz="1200" b="0" i="0" kern="1200" err="1">
                <a:solidFill>
                  <a:schemeClr val="tx1"/>
                </a:solidFill>
                <a:effectLst/>
                <a:latin typeface="+mn-lt"/>
                <a:ea typeface="+mn-ea"/>
                <a:cs typeface="+mn-cs"/>
              </a:rPr>
              <a:t>imágenes</a:t>
            </a:r>
            <a:r>
              <a:rPr lang="en-US" sz="1200" b="0" i="0" kern="1200">
                <a:solidFill>
                  <a:schemeClr val="tx1"/>
                </a:solidFill>
                <a:effectLst/>
                <a:latin typeface="+mn-lt"/>
                <a:ea typeface="+mn-ea"/>
                <a:cs typeface="+mn-cs"/>
              </a:rPr>
              <a:t>. Sin embargo, hay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prestar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atención</a:t>
            </a:r>
            <a:r>
              <a:rPr lang="en-US" sz="1200" b="0" i="0" kern="1200">
                <a:solidFill>
                  <a:schemeClr val="tx1"/>
                </a:solidFill>
                <a:effectLst/>
                <a:latin typeface="+mn-lt"/>
                <a:ea typeface="+mn-ea"/>
                <a:cs typeface="+mn-cs"/>
              </a:rPr>
              <a:t> al roadmap: la API Azure Vision Image Analysis, </a:t>
            </a:r>
            <a:r>
              <a:rPr lang="en-US" sz="1200" b="0" i="0" kern="1200" err="1">
                <a:solidFill>
                  <a:schemeClr val="tx1"/>
                </a:solidFill>
                <a:effectLst/>
                <a:latin typeface="+mn-lt"/>
                <a:ea typeface="+mn-ea"/>
                <a:cs typeface="+mn-cs"/>
              </a:rPr>
              <a:t>incluidas</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versiones</a:t>
            </a:r>
            <a:r>
              <a:rPr lang="en-US" sz="1200" b="0" i="0" kern="1200">
                <a:solidFill>
                  <a:schemeClr val="tx1"/>
                </a:solidFill>
                <a:effectLst/>
                <a:latin typeface="+mn-lt"/>
                <a:ea typeface="+mn-ea"/>
                <a:cs typeface="+mn-cs"/>
              </a:rPr>
              <a:t> 3.2 y 4.0 del endpoint /</a:t>
            </a:r>
            <a:r>
              <a:rPr lang="en-US" sz="1200" b="0" i="0" kern="1200" err="1">
                <a:solidFill>
                  <a:schemeClr val="tx1"/>
                </a:solidFill>
                <a:effectLst/>
                <a:latin typeface="+mn-lt"/>
                <a:ea typeface="+mn-ea"/>
                <a:cs typeface="+mn-cs"/>
              </a:rPr>
              <a:t>imageanalysis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tiene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retiro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anunciado</a:t>
            </a:r>
            <a:r>
              <a:rPr lang="en-US" sz="1200" b="0" i="0" kern="1200">
                <a:solidFill>
                  <a:schemeClr val="tx1"/>
                </a:solidFill>
                <a:effectLst/>
                <a:latin typeface="+mn-lt"/>
                <a:ea typeface="+mn-ea"/>
                <a:cs typeface="+mn-cs"/>
              </a:rPr>
              <a:t> para el 25 de </a:t>
            </a:r>
            <a:r>
              <a:rPr lang="en-US" sz="1200" b="0" i="0" kern="1200" err="1">
                <a:solidFill>
                  <a:schemeClr val="tx1"/>
                </a:solidFill>
                <a:effectLst/>
                <a:latin typeface="+mn-lt"/>
                <a:ea typeface="+mn-ea"/>
                <a:cs typeface="+mn-cs"/>
              </a:rPr>
              <a:t>septiembre</a:t>
            </a:r>
            <a:r>
              <a:rPr lang="en-US" sz="1200" b="0" i="0" kern="1200">
                <a:solidFill>
                  <a:schemeClr val="tx1"/>
                </a:solidFill>
                <a:effectLst/>
                <a:latin typeface="+mn-lt"/>
                <a:ea typeface="+mn-ea"/>
                <a:cs typeface="+mn-cs"/>
              </a:rPr>
              <a:t> de 2028. Microsoft </a:t>
            </a:r>
            <a:r>
              <a:rPr lang="en-US" sz="1200" b="0" i="0" kern="1200" err="1">
                <a:solidFill>
                  <a:schemeClr val="tx1"/>
                </a:solidFill>
                <a:effectLst/>
                <a:latin typeface="+mn-lt"/>
                <a:ea typeface="+mn-ea"/>
                <a:cs typeface="+mn-cs"/>
              </a:rPr>
              <a:t>recomienda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evaluar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alternativas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según</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caso</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uso</a:t>
            </a:r>
            <a:r>
              <a:rPr lang="en-US" sz="1200" b="0" i="0" kern="1200">
                <a:solidFill>
                  <a:schemeClr val="tx1"/>
                </a:solidFill>
                <a:effectLst/>
                <a:latin typeface="+mn-lt"/>
                <a:ea typeface="+mn-ea"/>
                <a:cs typeface="+mn-cs"/>
              </a:rPr>
              <a:t>. Para OCR,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alternativa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recomendada</a:t>
            </a:r>
            <a:r>
              <a:rPr lang="en-US" sz="1200" b="0" i="0" kern="1200">
                <a:solidFill>
                  <a:schemeClr val="tx1"/>
                </a:solidFill>
                <a:effectLst/>
                <a:latin typeface="+mn-lt"/>
                <a:ea typeface="+mn-ea"/>
                <a:cs typeface="+mn-cs"/>
              </a:rPr>
              <a:t> es Document Intelligence. </a:t>
            </a:r>
          </a:p>
          <a:p>
            <a:pPr fontAlgn="t"/>
            <a:r>
              <a:rPr lang="en-US" sz="1200" b="0" i="0" kern="1200" err="1">
                <a:solidFill>
                  <a:schemeClr val="tx1"/>
                </a:solidFill>
                <a:effectLst/>
                <a:latin typeface="+mn-lt"/>
                <a:ea typeface="+mn-ea"/>
                <a:cs typeface="+mn-cs"/>
              </a:rPr>
              <a:t>Finalmente</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Content Understanding</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procesar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contenido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más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complejo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trabajar</a:t>
            </a:r>
            <a:r>
              <a:rPr lang="en-US" sz="1200" b="0" i="0" kern="1200">
                <a:solidFill>
                  <a:schemeClr val="tx1"/>
                </a:solidFill>
                <a:effectLst/>
                <a:latin typeface="+mn-lt"/>
                <a:ea typeface="+mn-ea"/>
                <a:cs typeface="+mn-cs"/>
              </a:rPr>
              <a:t> con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imágenes</a:t>
            </a:r>
            <a:r>
              <a:rPr lang="en-US" sz="1200" b="0" i="0" kern="1200">
                <a:solidFill>
                  <a:schemeClr val="tx1"/>
                </a:solidFill>
                <a:effectLst/>
                <a:latin typeface="+mn-lt"/>
                <a:ea typeface="+mn-ea"/>
                <a:cs typeface="+mn-cs"/>
              </a:rPr>
              <a:t>, audio, video y </a:t>
            </a:r>
            <a:r>
              <a:rPr lang="en-US" sz="1200" b="0" i="0" kern="1200" err="1">
                <a:solidFill>
                  <a:schemeClr val="tx1"/>
                </a:solidFill>
                <a:effectLst/>
                <a:latin typeface="+mn-lt"/>
                <a:ea typeface="+mn-ea"/>
                <a:cs typeface="+mn-cs"/>
              </a:rPr>
              <a:t>texto</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producir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salida </a:t>
            </a:r>
            <a:r>
              <a:rPr lang="en-US" sz="1200" b="0" i="0" kern="1200" err="1">
                <a:solidFill>
                  <a:schemeClr val="tx1"/>
                </a:solidFill>
                <a:effectLst/>
                <a:latin typeface="+mn-lt"/>
                <a:ea typeface="+mn-ea"/>
                <a:cs typeface="+mn-cs"/>
              </a:rPr>
              <a:t>estructurada</a:t>
            </a:r>
            <a:r>
              <a:rPr lang="en-US" sz="1200" b="0" i="0" kern="1200">
                <a:solidFill>
                  <a:schemeClr val="tx1"/>
                </a:solidFill>
                <a:effectLst/>
                <a:latin typeface="+mn-lt"/>
                <a:ea typeface="+mn-ea"/>
                <a:cs typeface="+mn-cs"/>
              </a:rPr>
              <a:t> con un </a:t>
            </a:r>
            <a:r>
              <a:rPr lang="en-US" sz="1200" b="0" i="0" kern="1200" err="1">
                <a:solidFill>
                  <a:schemeClr val="tx1"/>
                </a:solidFill>
                <a:effectLst/>
                <a:latin typeface="+mn-lt"/>
                <a:ea typeface="+mn-ea"/>
                <a:cs typeface="+mn-cs"/>
              </a:rPr>
              <a:t>único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analizador</a:t>
            </a:r>
            <a:r>
              <a:rPr lang="en-US" sz="1200" b="0" i="0" kern="1200">
                <a:solidFill>
                  <a:schemeClr val="tx1"/>
                </a:solidFill>
                <a:effectLst/>
                <a:latin typeface="+mn-lt"/>
                <a:ea typeface="+mn-ea"/>
                <a:cs typeface="+mn-cs"/>
              </a:rPr>
              <a:t>. </a:t>
            </a:r>
          </a:p>
          <a:p>
            <a:pPr fontAlgn="t"/>
            <a:r>
              <a:rPr lang="en-US" sz="1200" b="0" i="0" kern="1200">
                <a:solidFill>
                  <a:schemeClr val="tx1"/>
                </a:solidFill>
                <a:effectLst/>
                <a:latin typeface="+mn-lt"/>
                <a:ea typeface="+mn-ea"/>
                <a:cs typeface="+mn-cs"/>
              </a:rPr>
              <a:t>Lo </a:t>
            </a:r>
            <a:r>
              <a:rPr lang="en-US" sz="1200" b="0" i="0" kern="1200" err="1">
                <a:solidFill>
                  <a:schemeClr val="tx1"/>
                </a:solidFill>
                <a:effectLst/>
                <a:latin typeface="+mn-lt"/>
                <a:ea typeface="+mn-ea"/>
                <a:cs typeface="+mn-cs"/>
              </a:rPr>
              <a:t>importante</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se </a:t>
            </a:r>
            <a:r>
              <a:rPr lang="en-US" sz="1200" b="0" i="0" kern="1200" err="1">
                <a:solidFill>
                  <a:schemeClr val="tx1"/>
                </a:solidFill>
                <a:effectLst/>
                <a:latin typeface="+mn-lt"/>
                <a:ea typeface="+mn-ea"/>
                <a:cs typeface="+mn-cs"/>
              </a:rPr>
              <a:t>pueden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combinar</a:t>
            </a:r>
            <a:r>
              <a:rPr lang="en-US" sz="1200" b="0" i="0" kern="1200">
                <a:solidFill>
                  <a:schemeClr val="tx1"/>
                </a:solidFill>
                <a:effectLst/>
                <a:latin typeface="+mn-lt"/>
                <a:ea typeface="+mn-ea"/>
                <a:cs typeface="+mn-cs"/>
              </a:rPr>
              <a:t>. Una </a:t>
            </a:r>
            <a:r>
              <a:rPr lang="en-US" sz="1200" b="0" i="0" kern="1200" err="1">
                <a:solidFill>
                  <a:schemeClr val="tx1"/>
                </a:solidFill>
                <a:effectLst/>
                <a:latin typeface="+mn-lt"/>
                <a:ea typeface="+mn-ea"/>
                <a:cs typeface="+mn-cs"/>
              </a:rPr>
              <a:t>solución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bancaria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transcribir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llamada</a:t>
            </a:r>
            <a:r>
              <a:rPr lang="en-US" sz="1200" b="0" i="0" kern="1200">
                <a:solidFill>
                  <a:schemeClr val="tx1"/>
                </a:solidFill>
                <a:effectLst/>
                <a:latin typeface="+mn-lt"/>
                <a:ea typeface="+mn-ea"/>
                <a:cs typeface="+mn-cs"/>
              </a:rPr>
              <a:t> con Speech, </a:t>
            </a:r>
            <a:r>
              <a:rPr lang="en-US" sz="1200" b="0" i="0" kern="1200" err="1">
                <a:solidFill>
                  <a:schemeClr val="tx1"/>
                </a:solidFill>
                <a:effectLst/>
                <a:latin typeface="+mn-lt"/>
                <a:ea typeface="+mn-ea"/>
                <a:cs typeface="+mn-cs"/>
              </a:rPr>
              <a:t>analizar</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texto</a:t>
            </a:r>
            <a:r>
              <a:rPr lang="en-US" sz="1200" b="0" i="0" kern="1200">
                <a:solidFill>
                  <a:schemeClr val="tx1"/>
                </a:solidFill>
                <a:effectLst/>
                <a:latin typeface="+mn-lt"/>
                <a:ea typeface="+mn-ea"/>
                <a:cs typeface="+mn-cs"/>
              </a:rPr>
              <a:t> con Language, </a:t>
            </a:r>
            <a:r>
              <a:rPr lang="en-US" sz="1200" b="0" i="0" kern="1200" err="1">
                <a:solidFill>
                  <a:schemeClr val="tx1"/>
                </a:solidFill>
                <a:effectLst/>
                <a:latin typeface="+mn-lt"/>
                <a:ea typeface="+mn-ea"/>
                <a:cs typeface="+mn-cs"/>
              </a:rPr>
              <a:t>procesar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adjuntos</a:t>
            </a:r>
            <a:r>
              <a:rPr lang="en-US" sz="1200" b="0" i="0" kern="1200">
                <a:solidFill>
                  <a:schemeClr val="tx1"/>
                </a:solidFill>
                <a:effectLst/>
                <a:latin typeface="+mn-lt"/>
                <a:ea typeface="+mn-ea"/>
                <a:cs typeface="+mn-cs"/>
              </a:rPr>
              <a:t> con Document Intelligence y </a:t>
            </a:r>
            <a:r>
              <a:rPr lang="en-US" sz="1200" b="0" i="0" kern="1200" err="1">
                <a:solidFill>
                  <a:schemeClr val="tx1"/>
                </a:solidFill>
                <a:effectLst/>
                <a:latin typeface="+mn-lt"/>
                <a:ea typeface="+mn-ea"/>
                <a:cs typeface="+mn-cs"/>
              </a:rPr>
              <a:t>consolidar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contenido</a:t>
            </a:r>
            <a:r>
              <a:rPr lang="en-US" sz="1200" b="0" i="0" kern="1200">
                <a:solidFill>
                  <a:schemeClr val="tx1"/>
                </a:solidFill>
                <a:effectLst/>
                <a:latin typeface="+mn-lt"/>
                <a:ea typeface="+mn-ea"/>
                <a:cs typeface="+mn-cs"/>
              </a:rPr>
              <a:t> multimodal con Content Understanding.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Cerrar el módulo 3 con una tabla de decisión rápida, siempre con escenarios bancarios ficticios. El mensaje clave de la nota al pie es que en la práctica casi ningún caso usa un solo servicio: resumir una llamada combina Speech (transcribir) y Language (resumir o clasificar el sentimiento), y es el agente el que orquesta esa secuencia de pasos, no un único servicio aislado. Sugerido: pedir a la sala que piense en voz alta un escenario propio (sin datos reales) y entre todos ubicar qué combinación de servicios usarían, como puente hacia el módulo 4 de agentes. Fuente: docs-oficiales\ai-services-document-intelligence\overview.md; docs-oficiales\ai-services-speech-service\overview.md; docs-oficiales\ai-services-content-understanding\overview.md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Abrir el módulo 4, el más largo de la mañana y compartido entre Valentina (agentes) y Pablo (conocimiento/RAG). Es el módulo bisagra hacia el laboratorio: se explica qué es un agente, qué tipos existen, cómo se le dan herramientas, cómo se conecta a conocimiento propio con RAG y Foundry IQ, y qué es MCP como estándar para conectar tools. Al final de este módulo la sala ya tiene todo el vocabulario necesario para entender el laboratorio guiado. Sugerido: anunciar que habrá una demo de creación de un agente en el portal antes de pasar al laboratorio. Fuente: MATERIALS_INDEX.md (§1, fila Agentes y conocimiento)</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a:solidFill>
                  <a:schemeClr val="tx1"/>
                </a:solidFill>
                <a:effectLst/>
                <a:latin typeface="+mn-lt"/>
                <a:ea typeface="+mn-ea"/>
                <a:cs typeface="+mn-cs"/>
              </a:rPr>
              <a:t>Un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no es </a:t>
            </a:r>
            <a:r>
              <a:rPr lang="en-US" sz="1200" b="0" i="0" kern="1200" err="1">
                <a:solidFill>
                  <a:schemeClr val="tx1"/>
                </a:solidFill>
                <a:effectLst/>
                <a:latin typeface="+mn-lt"/>
                <a:ea typeface="+mn-ea"/>
                <a:cs typeface="+mn-cs"/>
              </a:rPr>
              <a:t>solamente</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lenguaje</a:t>
            </a:r>
            <a:r>
              <a:rPr lang="en-US" sz="1200" b="0" i="0" kern="1200">
                <a:solidFill>
                  <a:schemeClr val="tx1"/>
                </a:solidFill>
                <a:effectLst/>
                <a:latin typeface="+mn-lt"/>
                <a:ea typeface="+mn-ea"/>
                <a:cs typeface="+mn-cs"/>
              </a:rPr>
              <a:t>. Podemos </a:t>
            </a:r>
            <a:r>
              <a:rPr lang="en-US" sz="1200" b="0" i="0" kern="1200" err="1">
                <a:solidFill>
                  <a:schemeClr val="tx1"/>
                </a:solidFill>
                <a:effectLst/>
                <a:latin typeface="+mn-lt"/>
                <a:ea typeface="+mn-ea"/>
                <a:cs typeface="+mn-cs"/>
              </a:rPr>
              <a:t>pensar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está</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compuesto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varias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piezas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trabajan</a:t>
            </a:r>
            <a:r>
              <a:rPr lang="en-US" sz="1200" b="0" i="0" kern="1200">
                <a:solidFill>
                  <a:schemeClr val="tx1"/>
                </a:solidFill>
                <a:effectLst/>
                <a:latin typeface="+mn-lt"/>
                <a:ea typeface="+mn-ea"/>
                <a:cs typeface="+mn-cs"/>
              </a:rPr>
              <a:t> juntas.</a:t>
            </a:r>
          </a:p>
          <a:p>
            <a:pPr fontAlgn="t"/>
            <a:r>
              <a:rPr lang="en-US" sz="1200" b="1" i="0" kern="1200">
                <a:solidFill>
                  <a:schemeClr val="tx1"/>
                </a:solidFill>
                <a:effectLst/>
                <a:latin typeface="+mn-lt"/>
                <a:ea typeface="+mn-ea"/>
                <a:cs typeface="+mn-cs"/>
              </a:rPr>
              <a:t>Primero </a:t>
            </a:r>
            <a:r>
              <a:rPr lang="en-US" sz="1200" b="1" i="0" kern="1200" err="1">
                <a:solidFill>
                  <a:schemeClr val="tx1"/>
                </a:solidFill>
                <a:effectLst/>
                <a:latin typeface="+mn-lt"/>
                <a:ea typeface="+mn-ea"/>
                <a:cs typeface="+mn-cs"/>
              </a:rPr>
              <a:t>tenemos</a:t>
            </a:r>
            <a:r>
              <a:rPr lang="en-US" sz="1200" b="1" i="0" kern="1200">
                <a:solidFill>
                  <a:schemeClr val="tx1"/>
                </a:solidFill>
                <a:effectLst/>
                <a:latin typeface="+mn-lt"/>
                <a:ea typeface="+mn-ea"/>
                <a:cs typeface="+mn-cs"/>
              </a:rPr>
              <a:t> el </a:t>
            </a:r>
            <a:r>
              <a:rPr lang="en-US" sz="1200" b="1" i="0" kern="1200" err="1">
                <a:solidFill>
                  <a:schemeClr val="tx1"/>
                </a:solidFill>
                <a:effectLst/>
                <a:latin typeface="+mn-lt"/>
                <a:ea typeface="+mn-ea"/>
                <a:cs typeface="+mn-cs"/>
              </a:rPr>
              <a:t>modelo</a:t>
            </a:r>
            <a:r>
              <a:rPr lang="en-US" sz="1200" b="1" i="0" kern="1200">
                <a:solidFill>
                  <a:schemeClr val="tx1"/>
                </a:solidFill>
                <a:effectLst/>
                <a:latin typeface="+mn-lt"/>
                <a:ea typeface="+mn-ea"/>
                <a:cs typeface="+mn-cs"/>
              </a:rPr>
              <a:t>.</a:t>
            </a:r>
            <a:r>
              <a:rPr lang="en-US" sz="1200" b="0" i="0" kern="1200">
                <a:solidFill>
                  <a:schemeClr val="tx1"/>
                </a:solidFill>
                <a:effectLst/>
                <a:latin typeface="+mn-lt"/>
                <a:ea typeface="+mn-ea"/>
                <a:cs typeface="+mn-cs"/>
              </a:rPr>
              <a:t> Es el motor de </a:t>
            </a:r>
            <a:r>
              <a:rPr lang="en-US" sz="1200" b="0" i="0" kern="1200" err="1">
                <a:solidFill>
                  <a:schemeClr val="tx1"/>
                </a:solidFill>
                <a:effectLst/>
                <a:latin typeface="+mn-lt"/>
                <a:ea typeface="+mn-ea"/>
                <a:cs typeface="+mn-cs"/>
              </a:rPr>
              <a:t>razonamiento</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Podemos </a:t>
            </a:r>
            <a:r>
              <a:rPr lang="en-US" sz="1200" b="0" i="0" kern="1200" err="1">
                <a:solidFill>
                  <a:schemeClr val="tx1"/>
                </a:solidFill>
                <a:effectLst/>
                <a:latin typeface="+mn-lt"/>
                <a:ea typeface="+mn-ea"/>
                <a:cs typeface="+mn-cs"/>
              </a:rPr>
              <a:t>seleccionar</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catálogo</a:t>
            </a:r>
            <a:r>
              <a:rPr lang="en-US" sz="1200" b="0" i="0" kern="1200">
                <a:solidFill>
                  <a:schemeClr val="tx1"/>
                </a:solidFill>
                <a:effectLst/>
                <a:latin typeface="+mn-lt"/>
                <a:ea typeface="+mn-ea"/>
                <a:cs typeface="+mn-cs"/>
              </a:rPr>
              <a:t> de Foundry </a:t>
            </a:r>
            <a:r>
              <a:rPr lang="en-US" sz="1200" b="0" i="0" kern="1200" err="1">
                <a:solidFill>
                  <a:schemeClr val="tx1"/>
                </a:solidFill>
                <a:effectLst/>
                <a:latin typeface="+mn-lt"/>
                <a:ea typeface="+mn-ea"/>
                <a:cs typeface="+mn-cs"/>
              </a:rPr>
              <a:t>según</a:t>
            </a:r>
            <a:r>
              <a:rPr lang="en-US" sz="1200" b="0" i="0" kern="1200">
                <a:solidFill>
                  <a:schemeClr val="tx1"/>
                </a:solidFill>
                <a:effectLst/>
                <a:latin typeface="+mn-lt"/>
                <a:ea typeface="+mn-ea"/>
                <a:cs typeface="+mn-cs"/>
              </a:rPr>
              <a:t> lo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necesitemos</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nuestro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escenario</a:t>
            </a:r>
            <a:r>
              <a:rPr lang="en-US" sz="1200" b="0" i="0" kern="1200">
                <a:solidFill>
                  <a:schemeClr val="tx1"/>
                </a:solidFill>
                <a:effectLst/>
                <a:latin typeface="+mn-lt"/>
                <a:ea typeface="+mn-ea"/>
                <a:cs typeface="+mn-cs"/>
              </a:rPr>
              <a:t>. </a:t>
            </a:r>
          </a:p>
          <a:p>
            <a:pPr fontAlgn="t"/>
            <a:r>
              <a:rPr lang="en-US" sz="1200" b="1" i="0" kern="1200" err="1">
                <a:solidFill>
                  <a:schemeClr val="tx1"/>
                </a:solidFill>
                <a:effectLst/>
                <a:latin typeface="+mn-lt"/>
                <a:ea typeface="+mn-ea"/>
                <a:cs typeface="+mn-cs"/>
              </a:rPr>
              <a:t>Después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tenemos</a:t>
            </a:r>
            <a:r>
              <a:rPr lang="en-US" sz="1200" b="1" i="0" kern="1200">
                <a:solidFill>
                  <a:schemeClr val="tx1"/>
                </a:solidFill>
                <a:effectLst/>
                <a:latin typeface="+mn-lt"/>
                <a:ea typeface="+mn-ea"/>
                <a:cs typeface="+mn-cs"/>
              </a:rPr>
              <a:t> las </a:t>
            </a:r>
            <a:r>
              <a:rPr lang="en-US" sz="1200" b="1" i="0" kern="1200" err="1">
                <a:solidFill>
                  <a:schemeClr val="tx1"/>
                </a:solidFill>
                <a:effectLst/>
                <a:latin typeface="+mn-lt"/>
                <a:ea typeface="+mn-ea"/>
                <a:cs typeface="+mn-cs"/>
              </a:rPr>
              <a:t>instrucciones</a:t>
            </a:r>
            <a:r>
              <a:rPr lang="en-US" sz="1200" b="1" i="0" kern="1200">
                <a:solidFill>
                  <a:schemeClr val="tx1"/>
                </a:solidFill>
                <a:effectLst/>
                <a:latin typeface="+mn-lt"/>
                <a:ea typeface="+mn-ea"/>
                <a:cs typeface="+mn-cs"/>
              </a:rPr>
              <a:t>.</a:t>
            </a:r>
            <a:r>
              <a:rPr lang="en-US" sz="1200" b="0" i="0" kern="1200">
                <a:solidFill>
                  <a:schemeClr val="tx1"/>
                </a:solidFill>
                <a:effectLst/>
                <a:latin typeface="+mn-lt"/>
                <a:ea typeface="+mn-ea"/>
                <a:cs typeface="+mn-cs"/>
              </a:rPr>
              <a:t> Ahí </a:t>
            </a:r>
            <a:r>
              <a:rPr lang="en-US" sz="1200" b="0" i="0" kern="1200" err="1">
                <a:solidFill>
                  <a:schemeClr val="tx1"/>
                </a:solidFill>
                <a:effectLst/>
                <a:latin typeface="+mn-lt"/>
                <a:ea typeface="+mn-ea"/>
                <a:cs typeface="+mn-cs"/>
              </a:rPr>
              <a:t>definimos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qué</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esperamos</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cuál</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su</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función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cómo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debe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comportarse</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qué</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reglas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debe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seguir</a:t>
            </a:r>
            <a:r>
              <a:rPr lang="en-US" sz="1200" b="0" i="0" kern="1200">
                <a:solidFill>
                  <a:schemeClr val="tx1"/>
                </a:solidFill>
                <a:effectLst/>
                <a:latin typeface="+mn-lt"/>
                <a:ea typeface="+mn-ea"/>
                <a:cs typeface="+mn-cs"/>
              </a:rPr>
              <a:t>. En un prompt agent,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ejemplo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configuramos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instrucciones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a:t>
            </a:r>
          </a:p>
          <a:p>
            <a:pPr fontAlgn="t"/>
            <a:r>
              <a:rPr lang="en-US" sz="1200" b="1" i="0" kern="1200">
                <a:solidFill>
                  <a:schemeClr val="tx1"/>
                </a:solidFill>
                <a:effectLst/>
                <a:latin typeface="+mn-lt"/>
                <a:ea typeface="+mn-ea"/>
                <a:cs typeface="+mn-cs"/>
              </a:rPr>
              <a:t>La </a:t>
            </a:r>
            <a:r>
              <a:rPr lang="en-US" sz="1200" b="1" i="0" kern="1200" err="1">
                <a:solidFill>
                  <a:schemeClr val="tx1"/>
                </a:solidFill>
                <a:effectLst/>
                <a:latin typeface="+mn-lt"/>
                <a:ea typeface="+mn-ea"/>
                <a:cs typeface="+mn-cs"/>
              </a:rPr>
              <a:t>tercera</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pieza</a:t>
            </a:r>
            <a:r>
              <a:rPr lang="en-US" sz="1200" b="1" i="0" kern="1200">
                <a:solidFill>
                  <a:schemeClr val="tx1"/>
                </a:solidFill>
                <a:effectLst/>
                <a:latin typeface="+mn-lt"/>
                <a:ea typeface="+mn-ea"/>
                <a:cs typeface="+mn-cs"/>
              </a:rPr>
              <a:t> son las tools o </a:t>
            </a:r>
            <a:r>
              <a:rPr lang="en-US" sz="1200" b="1" i="0" kern="1200" err="1">
                <a:solidFill>
                  <a:schemeClr val="tx1"/>
                </a:solidFill>
                <a:effectLst/>
                <a:latin typeface="+mn-lt"/>
                <a:ea typeface="+mn-ea"/>
                <a:cs typeface="+mn-cs"/>
              </a:rPr>
              <a:t>herramientas</a:t>
            </a:r>
            <a:r>
              <a:rPr lang="en-US" sz="1200" b="1" i="0" kern="1200">
                <a:solidFill>
                  <a:schemeClr val="tx1"/>
                </a:solidFill>
                <a:effectLst/>
                <a:latin typeface="+mn-lt"/>
                <a:ea typeface="+mn-ea"/>
                <a:cs typeface="+mn-cs"/>
              </a:rPr>
              <a:t>.</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sí</a:t>
            </a:r>
            <a:r>
              <a:rPr lang="en-US" sz="1200" b="0" i="0" kern="1200">
                <a:solidFill>
                  <a:schemeClr val="tx1"/>
                </a:solidFill>
                <a:effectLst/>
                <a:latin typeface="+mn-lt"/>
                <a:ea typeface="+mn-ea"/>
                <a:cs typeface="+mn-cs"/>
              </a:rPr>
              <a:t> solo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razonar</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generar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respuesta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pero</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le </a:t>
            </a:r>
            <a:r>
              <a:rPr lang="en-US" sz="1200" b="0" i="0" kern="1200" err="1">
                <a:solidFill>
                  <a:schemeClr val="tx1"/>
                </a:solidFill>
                <a:effectLst/>
                <a:latin typeface="+mn-lt"/>
                <a:ea typeface="+mn-ea"/>
                <a:cs typeface="+mn-cs"/>
              </a:rPr>
              <a:t>permiten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realizar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acciones</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consultar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sistemas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externos</a:t>
            </a:r>
            <a:r>
              <a:rPr lang="en-US" sz="1200" b="0" i="0" kern="1200">
                <a:solidFill>
                  <a:schemeClr val="tx1"/>
                </a:solidFill>
                <a:effectLst/>
                <a:latin typeface="+mn-lt"/>
                <a:ea typeface="+mn-ea"/>
                <a:cs typeface="+mn-cs"/>
              </a:rPr>
              <a:t>. En Foundry </a:t>
            </a:r>
            <a:r>
              <a:rPr lang="en-US" sz="1200" b="0" i="0" kern="1200" err="1">
                <a:solidFill>
                  <a:schemeClr val="tx1"/>
                </a:solidFill>
                <a:effectLst/>
                <a:latin typeface="+mn-lt"/>
                <a:ea typeface="+mn-ea"/>
                <a:cs typeface="+mn-cs"/>
              </a:rPr>
              <a:t>podemos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trabajar</a:t>
            </a:r>
            <a:r>
              <a:rPr lang="en-US" sz="1200" b="0" i="0" kern="1200">
                <a:solidFill>
                  <a:schemeClr val="tx1"/>
                </a:solidFill>
                <a:effectLst/>
                <a:latin typeface="+mn-lt"/>
                <a:ea typeface="+mn-ea"/>
                <a:cs typeface="+mn-cs"/>
              </a:rPr>
              <a:t> con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web search, file search, code interpreter, </a:t>
            </a:r>
            <a:r>
              <a:rPr lang="en-US" sz="1200" b="0" i="0" kern="1200" err="1">
                <a:solidFill>
                  <a:schemeClr val="tx1"/>
                </a:solidFill>
                <a:effectLst/>
                <a:latin typeface="+mn-lt"/>
                <a:ea typeface="+mn-ea"/>
                <a:cs typeface="+mn-cs"/>
              </a:rPr>
              <a:t>servidores</a:t>
            </a:r>
            <a:r>
              <a:rPr lang="en-US" sz="1200" b="0" i="0" kern="1200">
                <a:solidFill>
                  <a:schemeClr val="tx1"/>
                </a:solidFill>
                <a:effectLst/>
                <a:latin typeface="+mn-lt"/>
                <a:ea typeface="+mn-ea"/>
                <a:cs typeface="+mn-cs"/>
              </a:rPr>
              <a:t> MCP y </a:t>
            </a:r>
            <a:r>
              <a:rPr lang="en-US" sz="1200" b="0" i="0" kern="1200" err="1">
                <a:solidFill>
                  <a:schemeClr val="tx1"/>
                </a:solidFill>
                <a:effectLst/>
                <a:latin typeface="+mn-lt"/>
                <a:ea typeface="+mn-ea"/>
                <a:cs typeface="+mn-cs"/>
              </a:rPr>
              <a:t>funciones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personalizadas</a:t>
            </a:r>
            <a:r>
              <a:rPr lang="en-US" sz="1200" b="0" i="0" kern="1200">
                <a:solidFill>
                  <a:schemeClr val="tx1"/>
                </a:solidFill>
                <a:effectLst/>
                <a:latin typeface="+mn-lt"/>
                <a:ea typeface="+mn-ea"/>
                <a:cs typeface="+mn-cs"/>
              </a:rPr>
              <a:t>. </a:t>
            </a:r>
          </a:p>
          <a:p>
            <a:pPr fontAlgn="t"/>
            <a:r>
              <a:rPr lang="en-US" sz="1200" b="1" i="0" kern="1200" err="1">
                <a:solidFill>
                  <a:schemeClr val="tx1"/>
                </a:solidFill>
                <a:effectLst/>
                <a:latin typeface="+mn-lt"/>
                <a:ea typeface="+mn-ea"/>
                <a:cs typeface="+mn-cs"/>
              </a:rPr>
              <a:t>Después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tenemos</a:t>
            </a:r>
            <a:r>
              <a:rPr lang="en-US" sz="1200" b="1" i="0" kern="1200">
                <a:solidFill>
                  <a:schemeClr val="tx1"/>
                </a:solidFill>
                <a:effectLst/>
                <a:latin typeface="+mn-lt"/>
                <a:ea typeface="+mn-ea"/>
                <a:cs typeface="+mn-cs"/>
              </a:rPr>
              <a:t> el </a:t>
            </a:r>
            <a:r>
              <a:rPr lang="en-US" sz="1200" b="1" i="0" kern="1200" err="1">
                <a:solidFill>
                  <a:schemeClr val="tx1"/>
                </a:solidFill>
                <a:effectLst/>
                <a:latin typeface="+mn-lt"/>
                <a:ea typeface="+mn-ea"/>
                <a:cs typeface="+mn-cs"/>
              </a:rPr>
              <a:t>conocimiento</a:t>
            </a:r>
            <a:r>
              <a:rPr lang="en-US" sz="1200" b="1" i="0" kern="1200">
                <a:solidFill>
                  <a:schemeClr val="tx1"/>
                </a:solidFill>
                <a:effectLst/>
                <a:latin typeface="+mn-lt"/>
                <a:ea typeface="+mn-ea"/>
                <a:cs typeface="+mn-cs"/>
              </a:rPr>
              <a:t>.</a:t>
            </a:r>
            <a:r>
              <a:rPr lang="en-US" sz="1200" b="0" i="0" kern="1200">
                <a:solidFill>
                  <a:schemeClr val="tx1"/>
                </a:solidFill>
                <a:effectLst/>
                <a:latin typeface="+mn-lt"/>
                <a:ea typeface="+mn-ea"/>
                <a:cs typeface="+mn-cs"/>
              </a:rPr>
              <a:t> Esto </a:t>
            </a:r>
            <a:r>
              <a:rPr lang="en-US" sz="1200" b="0" i="0" kern="1200" err="1">
                <a:solidFill>
                  <a:schemeClr val="tx1"/>
                </a:solidFill>
                <a:effectLst/>
                <a:latin typeface="+mn-lt"/>
                <a:ea typeface="+mn-ea"/>
                <a:cs typeface="+mn-cs"/>
              </a:rPr>
              <a:t>nos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fundamentar</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respuestas</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utilizando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empresarial</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lugar</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depender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solamente</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Foundry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conectar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 con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empresarial</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mediante</a:t>
            </a:r>
            <a:r>
              <a:rPr lang="en-US" sz="1200" b="0" i="0" kern="1200">
                <a:solidFill>
                  <a:schemeClr val="tx1"/>
                </a:solidFill>
                <a:effectLst/>
                <a:latin typeface="+mn-lt"/>
                <a:ea typeface="+mn-ea"/>
                <a:cs typeface="+mn-cs"/>
              </a:rPr>
              <a:t> Foundry IQ. </a:t>
            </a:r>
          </a:p>
          <a:p>
            <a:pPr fontAlgn="t"/>
            <a:r>
              <a:rPr lang="en-US" sz="1200" b="1" i="0" kern="1200">
                <a:solidFill>
                  <a:schemeClr val="tx1"/>
                </a:solidFill>
                <a:effectLst/>
                <a:latin typeface="+mn-lt"/>
                <a:ea typeface="+mn-ea"/>
                <a:cs typeface="+mn-cs"/>
              </a:rPr>
              <a:t>Y </a:t>
            </a:r>
            <a:r>
              <a:rPr lang="en-US" sz="1200" b="1" i="0" kern="1200" err="1">
                <a:solidFill>
                  <a:schemeClr val="tx1"/>
                </a:solidFill>
                <a:effectLst/>
                <a:latin typeface="+mn-lt"/>
                <a:ea typeface="+mn-ea"/>
                <a:cs typeface="+mn-cs"/>
              </a:rPr>
              <a:t>finalmente</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tenemos</a:t>
            </a:r>
            <a:r>
              <a:rPr lang="en-US" sz="1200" b="1" i="0" kern="1200">
                <a:solidFill>
                  <a:schemeClr val="tx1"/>
                </a:solidFill>
                <a:effectLst/>
                <a:latin typeface="+mn-lt"/>
                <a:ea typeface="+mn-ea"/>
                <a:cs typeface="+mn-cs"/>
              </a:rPr>
              <a:t> la memoria.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Acá</a:t>
            </a:r>
            <a:r>
              <a:rPr lang="en-US" sz="1200" b="0" i="0" kern="1200">
                <a:solidFill>
                  <a:schemeClr val="tx1"/>
                </a:solidFill>
                <a:effectLst/>
                <a:latin typeface="+mn-lt"/>
                <a:ea typeface="+mn-ea"/>
                <a:cs typeface="+mn-cs"/>
              </a:rPr>
              <a:t> hay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diferencia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importante</a:t>
            </a:r>
            <a:r>
              <a:rPr lang="en-US" sz="1200" b="0" i="0" kern="1200">
                <a:solidFill>
                  <a:schemeClr val="tx1"/>
                </a:solidFill>
                <a:effectLst/>
                <a:latin typeface="+mn-lt"/>
                <a:ea typeface="+mn-ea"/>
                <a:cs typeface="+mn-cs"/>
              </a:rPr>
              <a:t> con el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representa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consultar</a:t>
            </a:r>
            <a:r>
              <a:rPr lang="en-US" sz="1200" b="0" i="0" kern="1200">
                <a:solidFill>
                  <a:schemeClr val="tx1"/>
                </a:solidFill>
                <a:effectLst/>
                <a:latin typeface="+mn-lt"/>
                <a:ea typeface="+mn-ea"/>
                <a:cs typeface="+mn-cs"/>
              </a:rPr>
              <a:t>; la memoria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mantener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contexto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relevante</a:t>
            </a:r>
            <a:r>
              <a:rPr lang="en-US" sz="1200" b="0" i="0" kern="1200">
                <a:solidFill>
                  <a:schemeClr val="tx1"/>
                </a:solidFill>
                <a:effectLst/>
                <a:latin typeface="+mn-lt"/>
                <a:ea typeface="+mn-ea"/>
                <a:cs typeface="+mn-cs"/>
              </a:rPr>
              <a:t> a lo largo del </a:t>
            </a:r>
            <a:r>
              <a:rPr lang="en-US" sz="1200" b="0" i="0" kern="1200" err="1">
                <a:solidFill>
                  <a:schemeClr val="tx1"/>
                </a:solidFill>
                <a:effectLst/>
                <a:latin typeface="+mn-lt"/>
                <a:ea typeface="+mn-ea"/>
                <a:cs typeface="+mn-cs"/>
              </a:rPr>
              <a:t>tiempo</a:t>
            </a:r>
            <a:r>
              <a:rPr lang="en-US" sz="1200" b="0" i="0" kern="1200">
                <a:solidFill>
                  <a:schemeClr val="tx1"/>
                </a:solidFill>
                <a:effectLst/>
                <a:latin typeface="+mn-lt"/>
                <a:ea typeface="+mn-ea"/>
                <a:cs typeface="+mn-cs"/>
              </a:rPr>
              <a:t>. La memoria </a:t>
            </a:r>
            <a:r>
              <a:rPr lang="en-US" sz="1200" b="0" i="0" kern="1200" err="1">
                <a:solidFill>
                  <a:schemeClr val="tx1"/>
                </a:solidFill>
                <a:effectLst/>
                <a:latin typeface="+mn-lt"/>
                <a:ea typeface="+mn-ea"/>
                <a:cs typeface="+mn-cs"/>
              </a:rPr>
              <a:t>administrada</a:t>
            </a:r>
            <a:r>
              <a:rPr lang="en-US" sz="1200" b="0" i="0" kern="1200">
                <a:solidFill>
                  <a:schemeClr val="tx1"/>
                </a:solidFill>
                <a:effectLst/>
                <a:latin typeface="+mn-lt"/>
                <a:ea typeface="+mn-ea"/>
                <a:cs typeface="+mn-cs"/>
              </a:rPr>
              <a:t> de Foundry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conservar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preferencias</a:t>
            </a:r>
            <a:r>
              <a:rPr lang="en-US" sz="1200" b="0" i="0" kern="1200">
                <a:solidFill>
                  <a:schemeClr val="tx1"/>
                </a:solidFill>
                <a:effectLst/>
                <a:latin typeface="+mn-lt"/>
                <a:ea typeface="+mn-ea"/>
                <a:cs typeface="+mn-cs"/>
              </a:rPr>
              <a:t> e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entre </a:t>
            </a:r>
            <a:r>
              <a:rPr lang="en-US" sz="1200" b="0" i="0" kern="1200" err="1">
                <a:solidFill>
                  <a:schemeClr val="tx1"/>
                </a:solidFill>
                <a:effectLst/>
                <a:latin typeface="+mn-lt"/>
                <a:ea typeface="+mn-ea"/>
                <a:cs typeface="+mn-cs"/>
              </a:rPr>
              <a:t>distintas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sesiones</a:t>
            </a:r>
            <a:endParaRPr lang="en-US" sz="1200" b="0" i="0" kern="1200">
              <a:solidFill>
                <a:schemeClr val="tx1"/>
              </a:solidFill>
              <a:effectLst/>
              <a:latin typeface="+mn-lt"/>
              <a:ea typeface="+mn-ea"/>
              <a:cs typeface="+mn-cs"/>
            </a:endParaRPr>
          </a:p>
          <a:p>
            <a:pPr fontAlgn="t"/>
            <a:r>
              <a:rPr lang="en-US" sz="1200" b="0" i="0" kern="1200">
                <a:solidFill>
                  <a:schemeClr val="tx1"/>
                </a:solidFill>
                <a:effectLst/>
                <a:latin typeface="+mn-lt"/>
                <a:ea typeface="+mn-ea"/>
                <a:cs typeface="+mn-cs"/>
              </a:rPr>
              <a:t>“</a:t>
            </a:r>
            <a:r>
              <a:rPr lang="en-US" sz="1200" b="0" i="0" kern="1200" err="1">
                <a:solidFill>
                  <a:schemeClr val="tx1"/>
                </a:solidFill>
                <a:effectLst/>
                <a:latin typeface="+mn-lt"/>
                <a:ea typeface="+mn-ea"/>
                <a:cs typeface="+mn-cs"/>
              </a:rPr>
              <a:t>Entonces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regla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sencilla</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el </a:t>
            </a:r>
            <a:r>
              <a:rPr lang="en-US" sz="1200" b="1" i="0" kern="1200" err="1">
                <a:solidFill>
                  <a:schemeClr val="tx1"/>
                </a:solidFill>
                <a:effectLst/>
                <a:latin typeface="+mn-lt"/>
                <a:ea typeface="+mn-ea"/>
                <a:cs typeface="+mn-cs"/>
              </a:rPr>
              <a:t>modelo</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piensa</a:t>
            </a:r>
            <a:r>
              <a:rPr lang="en-US" sz="1200" b="1" i="0" kern="1200">
                <a:solidFill>
                  <a:schemeClr val="tx1"/>
                </a:solidFill>
                <a:effectLst/>
                <a:latin typeface="+mn-lt"/>
                <a:ea typeface="+mn-ea"/>
                <a:cs typeface="+mn-cs"/>
              </a:rPr>
              <a:t>, las </a:t>
            </a:r>
            <a:r>
              <a:rPr lang="en-US" sz="1200" b="1" i="0" kern="1200" err="1">
                <a:solidFill>
                  <a:schemeClr val="tx1"/>
                </a:solidFill>
                <a:effectLst/>
                <a:latin typeface="+mn-lt"/>
                <a:ea typeface="+mn-ea"/>
                <a:cs typeface="+mn-cs"/>
              </a:rPr>
              <a:t>instrucciones</a:t>
            </a:r>
            <a:r>
              <a:rPr lang="en-US" sz="1200" b="1" i="0" kern="1200">
                <a:solidFill>
                  <a:schemeClr val="tx1"/>
                </a:solidFill>
                <a:effectLst/>
                <a:latin typeface="+mn-lt"/>
                <a:ea typeface="+mn-ea"/>
                <a:cs typeface="+mn-cs"/>
              </a:rPr>
              <a:t> le </a:t>
            </a:r>
            <a:r>
              <a:rPr lang="en-US" sz="1200" b="1" i="0" kern="1200" err="1">
                <a:solidFill>
                  <a:schemeClr val="tx1"/>
                </a:solidFill>
                <a:effectLst/>
                <a:latin typeface="+mn-lt"/>
                <a:ea typeface="+mn-ea"/>
                <a:cs typeface="+mn-cs"/>
              </a:rPr>
              <a:t>dicen</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cómo</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comportarse</a:t>
            </a:r>
            <a:r>
              <a:rPr lang="en-US" sz="1200" b="1" i="0" kern="1200">
                <a:solidFill>
                  <a:schemeClr val="tx1"/>
                </a:solidFill>
                <a:effectLst/>
                <a:latin typeface="+mn-lt"/>
                <a:ea typeface="+mn-ea"/>
                <a:cs typeface="+mn-cs"/>
              </a:rPr>
              <a:t>, las tools le </a:t>
            </a:r>
            <a:r>
              <a:rPr lang="en-US" sz="1200" b="1" i="0" kern="1200" err="1">
                <a:solidFill>
                  <a:schemeClr val="tx1"/>
                </a:solidFill>
                <a:effectLst/>
                <a:latin typeface="+mn-lt"/>
                <a:ea typeface="+mn-ea"/>
                <a:cs typeface="+mn-cs"/>
              </a:rPr>
              <a:t>permiten</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actuar</a:t>
            </a:r>
            <a:r>
              <a:rPr lang="en-US" sz="1200" b="1" i="0" kern="1200">
                <a:solidFill>
                  <a:schemeClr val="tx1"/>
                </a:solidFill>
                <a:effectLst/>
                <a:latin typeface="+mn-lt"/>
                <a:ea typeface="+mn-ea"/>
                <a:cs typeface="+mn-cs"/>
              </a:rPr>
              <a:t>, el </a:t>
            </a:r>
            <a:r>
              <a:rPr lang="en-US" sz="1200" b="1" i="0" kern="1200" err="1">
                <a:solidFill>
                  <a:schemeClr val="tx1"/>
                </a:solidFill>
                <a:effectLst/>
                <a:latin typeface="+mn-lt"/>
                <a:ea typeface="+mn-ea"/>
                <a:cs typeface="+mn-cs"/>
              </a:rPr>
              <a:t>conocimiento</a:t>
            </a:r>
            <a:r>
              <a:rPr lang="en-US" sz="1200" b="1" i="0" kern="1200">
                <a:solidFill>
                  <a:schemeClr val="tx1"/>
                </a:solidFill>
                <a:effectLst/>
                <a:latin typeface="+mn-lt"/>
                <a:ea typeface="+mn-ea"/>
                <a:cs typeface="+mn-cs"/>
              </a:rPr>
              <a:t> le da </a:t>
            </a:r>
            <a:r>
              <a:rPr lang="en-US" sz="1200" b="1" i="0" kern="1200" err="1">
                <a:solidFill>
                  <a:schemeClr val="tx1"/>
                </a:solidFill>
                <a:effectLst/>
                <a:latin typeface="+mn-lt"/>
                <a:ea typeface="+mn-ea"/>
                <a:cs typeface="+mn-cs"/>
              </a:rPr>
              <a:t>información</a:t>
            </a:r>
            <a:r>
              <a:rPr lang="en-US" sz="1200" b="1" i="0" kern="1200">
                <a:solidFill>
                  <a:schemeClr val="tx1"/>
                </a:solidFill>
                <a:effectLst/>
                <a:latin typeface="+mn-lt"/>
                <a:ea typeface="+mn-ea"/>
                <a:cs typeface="+mn-cs"/>
              </a:rPr>
              <a:t> y la memoria le </a:t>
            </a:r>
            <a:r>
              <a:rPr lang="en-US" sz="1200" b="1" i="0" kern="1200" err="1">
                <a:solidFill>
                  <a:schemeClr val="tx1"/>
                </a:solidFill>
                <a:effectLst/>
                <a:latin typeface="+mn-lt"/>
                <a:ea typeface="+mn-ea"/>
                <a:cs typeface="+mn-cs"/>
              </a:rPr>
              <a:t>permite</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recordar</a:t>
            </a:r>
            <a:r>
              <a:rPr lang="en-US" sz="1200" b="1" i="0" kern="1200">
                <a:solidFill>
                  <a:schemeClr val="tx1"/>
                </a:solidFill>
                <a:effectLst/>
                <a:latin typeface="+mn-lt"/>
                <a:ea typeface="+mn-ea"/>
                <a:cs typeface="+mn-cs"/>
              </a:rPr>
              <a:t>.</a:t>
            </a:r>
            <a:r>
              <a:rPr lang="en-US" sz="1200" b="0" i="0" kern="1200">
                <a:solidFill>
                  <a:schemeClr val="tx1"/>
                </a:solidFill>
                <a:effectLst/>
                <a:latin typeface="+mn-lt"/>
                <a:ea typeface="+mn-ea"/>
                <a:cs typeface="+mn-cs"/>
              </a:rPr>
              <a:t>”</a:t>
            </a:r>
          </a:p>
          <a:p>
            <a:pPr fontAlgn="t"/>
            <a:r>
              <a:rPr lang="en-US" sz="1200" b="0" i="0" kern="1200">
                <a:solidFill>
                  <a:schemeClr val="tx1"/>
                </a:solidFill>
                <a:effectLst/>
                <a:latin typeface="+mn-lt"/>
                <a:ea typeface="+mn-ea"/>
                <a:cs typeface="+mn-cs"/>
              </a:rPr>
              <a:t>“Cuando </a:t>
            </a:r>
            <a:r>
              <a:rPr lang="en-US" sz="1200" b="0" i="0" kern="1200" err="1">
                <a:solidFill>
                  <a:schemeClr val="tx1"/>
                </a:solidFill>
                <a:effectLst/>
                <a:latin typeface="+mn-lt"/>
                <a:ea typeface="+mn-ea"/>
                <a:cs typeface="+mn-cs"/>
              </a:rPr>
              <a:t>combinamos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todas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piezas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dejamos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tener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simplemente</a:t>
            </a:r>
            <a:r>
              <a:rPr lang="en-US" sz="1200" b="0" i="0" kern="1200">
                <a:solidFill>
                  <a:schemeClr val="tx1"/>
                </a:solidFill>
                <a:effectLst/>
                <a:latin typeface="+mn-lt"/>
                <a:ea typeface="+mn-ea"/>
                <a:cs typeface="+mn-cs"/>
              </a:rPr>
              <a:t> un chatbot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genera </a:t>
            </a:r>
            <a:r>
              <a:rPr lang="en-US" sz="1200" b="0" i="0" kern="1200" err="1">
                <a:solidFill>
                  <a:schemeClr val="tx1"/>
                </a:solidFill>
                <a:effectLst/>
                <a:latin typeface="+mn-lt"/>
                <a:ea typeface="+mn-ea"/>
                <a:cs typeface="+mn-cs"/>
              </a:rPr>
              <a:t>texto</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empezamos</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construir</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capaz</a:t>
            </a:r>
            <a:r>
              <a:rPr lang="en-US" sz="1200" b="0" i="0" kern="1200">
                <a:solidFill>
                  <a:schemeClr val="tx1"/>
                </a:solidFill>
                <a:effectLst/>
                <a:latin typeface="+mn-lt"/>
                <a:ea typeface="+mn-ea"/>
                <a:cs typeface="+mn-cs"/>
              </a:rPr>
              <a:t> de responder </a:t>
            </a:r>
            <a:r>
              <a:rPr lang="en-US" sz="1200" b="0" i="0" kern="1200" err="1">
                <a:solidFill>
                  <a:schemeClr val="tx1"/>
                </a:solidFill>
                <a:effectLst/>
                <a:latin typeface="+mn-lt"/>
                <a:ea typeface="+mn-ea"/>
                <a:cs typeface="+mn-cs"/>
              </a:rPr>
              <a:t>utilizando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contexto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e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externa.”</a:t>
            </a:r>
          </a:p>
          <a:p>
            <a:pPr fontAlgn="t"/>
            <a:endParaRPr lang="en-US" sz="1200" b="0" i="0" kern="120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a:solidFill>
                  <a:schemeClr val="tx1"/>
                </a:solidFill>
                <a:effectLst/>
                <a:latin typeface="+mn-lt"/>
                <a:ea typeface="+mn-ea"/>
                <a:cs typeface="+mn-cs"/>
              </a:rPr>
              <a:t>“En Foundry </a:t>
            </a:r>
            <a:r>
              <a:rPr lang="en-US" sz="1200" b="0" i="0" kern="1200" err="1">
                <a:solidFill>
                  <a:schemeClr val="tx1"/>
                </a:solidFill>
                <a:effectLst/>
                <a:latin typeface="+mn-lt"/>
                <a:ea typeface="+mn-ea"/>
                <a:cs typeface="+mn-cs"/>
              </a:rPr>
              <a:t>tenemos</a:t>
            </a:r>
            <a:r>
              <a:rPr lang="en-US" sz="1200" b="0" i="0" kern="1200">
                <a:solidFill>
                  <a:schemeClr val="tx1"/>
                </a:solidFill>
                <a:effectLst/>
                <a:latin typeface="+mn-lt"/>
                <a:ea typeface="+mn-ea"/>
                <a:cs typeface="+mn-cs"/>
              </a:rPr>
              <a:t> dos formas </a:t>
            </a:r>
            <a:r>
              <a:rPr lang="en-US" sz="1200" b="0" i="0" kern="1200" err="1">
                <a:solidFill>
                  <a:schemeClr val="tx1"/>
                </a:solidFill>
                <a:effectLst/>
                <a:latin typeface="+mn-lt"/>
                <a:ea typeface="+mn-ea"/>
                <a:cs typeface="+mn-cs"/>
              </a:rPr>
              <a:t>principales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construir</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ejecutar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prompt agents</a:t>
            </a:r>
            <a:r>
              <a:rPr lang="en-US" sz="1200" b="0" i="0" kern="1200">
                <a:solidFill>
                  <a:schemeClr val="tx1"/>
                </a:solidFill>
                <a:effectLst/>
                <a:latin typeface="+mn-lt"/>
                <a:ea typeface="+mn-ea"/>
                <a:cs typeface="+mn-cs"/>
              </a:rPr>
              <a:t> y </a:t>
            </a:r>
            <a:r>
              <a:rPr lang="en-US" sz="1200" b="1" i="0" kern="1200">
                <a:solidFill>
                  <a:schemeClr val="tx1"/>
                </a:solidFill>
                <a:effectLst/>
                <a:latin typeface="+mn-lt"/>
                <a:ea typeface="+mn-ea"/>
                <a:cs typeface="+mn-cs"/>
              </a:rPr>
              <a:t>hosted agents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“Un </a:t>
            </a:r>
            <a:r>
              <a:rPr lang="en-US" sz="1200" b="1" i="0" kern="1200">
                <a:solidFill>
                  <a:schemeClr val="tx1"/>
                </a:solidFill>
                <a:effectLst/>
                <a:latin typeface="+mn-lt"/>
                <a:ea typeface="+mn-ea"/>
                <a:cs typeface="+mn-cs"/>
              </a:rPr>
              <a:t>prompt agent</a:t>
            </a:r>
            <a:r>
              <a:rPr lang="en-US" sz="1200" b="0" i="0" kern="1200">
                <a:solidFill>
                  <a:schemeClr val="tx1"/>
                </a:solidFill>
                <a:effectLst/>
                <a:latin typeface="+mn-lt"/>
                <a:ea typeface="+mn-ea"/>
                <a:cs typeface="+mn-cs"/>
              </a:rPr>
              <a:t> se define </a:t>
            </a:r>
            <a:r>
              <a:rPr lang="en-US" sz="1200" b="0" i="0" kern="1200" err="1">
                <a:solidFill>
                  <a:schemeClr val="tx1"/>
                </a:solidFill>
                <a:effectLst/>
                <a:latin typeface="+mn-lt"/>
                <a:ea typeface="+mn-ea"/>
                <a:cs typeface="+mn-cs"/>
              </a:rPr>
              <a:t>principalmente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mediante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configuración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Elegimos</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escribimos</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instrucciones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agregamos</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fuentes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necesite</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“Foundry se </a:t>
            </a:r>
            <a:r>
              <a:rPr lang="en-US" sz="1200" b="0" i="0" kern="1200" err="1">
                <a:solidFill>
                  <a:schemeClr val="tx1"/>
                </a:solidFill>
                <a:effectLst/>
                <a:latin typeface="+mn-lt"/>
                <a:ea typeface="+mn-ea"/>
                <a:cs typeface="+mn-cs"/>
              </a:rPr>
              <a:t>encarga</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ejecutar</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administrar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Nosotros</a:t>
            </a:r>
            <a:r>
              <a:rPr lang="en-US" sz="1200" b="0" i="0" kern="1200">
                <a:solidFill>
                  <a:schemeClr val="tx1"/>
                </a:solidFill>
                <a:effectLst/>
                <a:latin typeface="+mn-lt"/>
                <a:ea typeface="+mn-ea"/>
                <a:cs typeface="+mn-cs"/>
              </a:rPr>
              <a:t> no </a:t>
            </a:r>
            <a:r>
              <a:rPr lang="en-US" sz="1200" b="0" i="0" kern="1200" err="1">
                <a:solidFill>
                  <a:schemeClr val="tx1"/>
                </a:solidFill>
                <a:effectLst/>
                <a:latin typeface="+mn-lt"/>
                <a:ea typeface="+mn-ea"/>
                <a:cs typeface="+mn-cs"/>
              </a:rPr>
              <a:t>tenemos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desarrollar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ni</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mantener</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contenedor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propio</a:t>
            </a:r>
            <a:r>
              <a:rPr lang="en-US" sz="1200" b="0" i="0" kern="1200">
                <a:solidFill>
                  <a:schemeClr val="tx1"/>
                </a:solidFill>
                <a:effectLst/>
                <a:latin typeface="+mn-lt"/>
                <a:ea typeface="+mn-ea"/>
                <a:cs typeface="+mn-cs"/>
              </a:rPr>
              <a:t>. Por </a:t>
            </a:r>
            <a:r>
              <a:rPr lang="en-US" sz="1200" b="0" i="0" kern="1200" err="1">
                <a:solidFill>
                  <a:schemeClr val="tx1"/>
                </a:solidFill>
                <a:effectLst/>
                <a:latin typeface="+mn-lt"/>
                <a:ea typeface="+mn-ea"/>
                <a:cs typeface="+mn-cs"/>
              </a:rPr>
              <a:t>eso</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buena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alternativa</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empezar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rápido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validar</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caso</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uso</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construir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cuya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lógica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resolverse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mediante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instrucciones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“Un </a:t>
            </a:r>
            <a:r>
              <a:rPr lang="en-US" sz="1200" b="1" i="0" kern="1200">
                <a:solidFill>
                  <a:schemeClr val="tx1"/>
                </a:solidFill>
                <a:effectLst/>
                <a:latin typeface="+mn-lt"/>
                <a:ea typeface="+mn-ea"/>
                <a:cs typeface="+mn-cs"/>
              </a:rPr>
              <a:t>hosted agent</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cambio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llevar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nuestro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propio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código</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utilizar</a:t>
            </a:r>
            <a:r>
              <a:rPr lang="en-US" sz="1200" b="0" i="0" kern="1200">
                <a:solidFill>
                  <a:schemeClr val="tx1"/>
                </a:solidFill>
                <a:effectLst/>
                <a:latin typeface="+mn-lt"/>
                <a:ea typeface="+mn-ea"/>
                <a:cs typeface="+mn-cs"/>
              </a:rPr>
              <a:t> frameworks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Microsoft Agent Framework o </a:t>
            </a:r>
            <a:r>
              <a:rPr lang="en-US" sz="1200" b="0" i="0" kern="1200" err="1">
                <a:solidFill>
                  <a:schemeClr val="tx1"/>
                </a:solidFill>
                <a:effectLst/>
                <a:latin typeface="+mn-lt"/>
                <a:ea typeface="+mn-ea"/>
                <a:cs typeface="+mn-cs"/>
              </a:rPr>
              <a:t>LangGraph</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“Foundry </a:t>
            </a:r>
            <a:r>
              <a:rPr lang="en-US" sz="1200" b="0" i="0" kern="1200" err="1">
                <a:solidFill>
                  <a:schemeClr val="tx1"/>
                </a:solidFill>
                <a:effectLst/>
                <a:latin typeface="+mn-lt"/>
                <a:ea typeface="+mn-ea"/>
                <a:cs typeface="+mn-cs"/>
              </a:rPr>
              <a:t>ejecuta</a:t>
            </a:r>
            <a:r>
              <a:rPr lang="en-US" sz="1200" b="0" i="0" kern="1200">
                <a:solidFill>
                  <a:schemeClr val="tx1"/>
                </a:solidFill>
                <a:effectLst/>
                <a:latin typeface="+mn-lt"/>
                <a:ea typeface="+mn-ea"/>
                <a:cs typeface="+mn-cs"/>
              </a:rPr>
              <a:t> ese </a:t>
            </a:r>
            <a:r>
              <a:rPr lang="en-US" sz="1200" b="0" i="0" kern="1200" err="1">
                <a:solidFill>
                  <a:schemeClr val="tx1"/>
                </a:solidFill>
                <a:effectLst/>
                <a:latin typeface="+mn-lt"/>
                <a:ea typeface="+mn-ea"/>
                <a:cs typeface="+mn-cs"/>
              </a:rPr>
              <a:t>código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servicio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administrado</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nos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proporciona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capacidades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un endpoint para </a:t>
            </a:r>
            <a:r>
              <a:rPr lang="en-US" sz="1200" b="0" i="0" kern="1200" err="1">
                <a:solidFill>
                  <a:schemeClr val="tx1"/>
                </a:solidFill>
                <a:effectLst/>
                <a:latin typeface="+mn-lt"/>
                <a:ea typeface="+mn-ea"/>
                <a:cs typeface="+mn-cs"/>
              </a:rPr>
              <a:t>invocarlo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escalado</a:t>
            </a:r>
            <a:r>
              <a:rPr lang="en-US" sz="1200" b="0" i="0" kern="1200">
                <a:solidFill>
                  <a:schemeClr val="tx1"/>
                </a:solidFill>
                <a:effectLst/>
                <a:latin typeface="+mn-lt"/>
                <a:ea typeface="+mn-ea"/>
                <a:cs typeface="+mn-cs"/>
              </a:rPr>
              <a:t> e </a:t>
            </a:r>
            <a:r>
              <a:rPr lang="en-US" sz="1200" b="0" i="0" kern="1200" err="1">
                <a:solidFill>
                  <a:schemeClr val="tx1"/>
                </a:solidFill>
                <a:effectLst/>
                <a:latin typeface="+mn-lt"/>
                <a:ea typeface="+mn-ea"/>
                <a:cs typeface="+mn-cs"/>
              </a:rPr>
              <a:t>identidad</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“Esta </a:t>
            </a:r>
            <a:r>
              <a:rPr lang="en-US" sz="1200" b="0" i="0" kern="1200" err="1">
                <a:solidFill>
                  <a:schemeClr val="tx1"/>
                </a:solidFill>
                <a:effectLst/>
                <a:latin typeface="+mn-lt"/>
                <a:ea typeface="+mn-ea"/>
                <a:cs typeface="+mn-cs"/>
              </a:rPr>
              <a:t>opción</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útil</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cuando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necesitamos</a:t>
            </a:r>
            <a:r>
              <a:rPr lang="en-US" sz="1200" b="0" i="0" kern="1200">
                <a:solidFill>
                  <a:schemeClr val="tx1"/>
                </a:solidFill>
                <a:effectLst/>
                <a:latin typeface="+mn-lt"/>
                <a:ea typeface="+mn-ea"/>
                <a:cs typeface="+mn-cs"/>
              </a:rPr>
              <a:t> mayor control </a:t>
            </a:r>
            <a:r>
              <a:rPr lang="en-US" sz="1200" b="0" i="0" kern="1200" err="1">
                <a:solidFill>
                  <a:schemeClr val="tx1"/>
                </a:solidFill>
                <a:effectLst/>
                <a:latin typeface="+mn-lt"/>
                <a:ea typeface="+mn-ea"/>
                <a:cs typeface="+mn-cs"/>
              </a:rPr>
              <a:t>sobre</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lógica</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Por </a:t>
            </a:r>
            <a:r>
              <a:rPr lang="en-US" sz="1200" b="0" i="0" kern="1200" err="1">
                <a:solidFill>
                  <a:schemeClr val="tx1"/>
                </a:solidFill>
                <a:effectLst/>
                <a:latin typeface="+mn-lt"/>
                <a:ea typeface="+mn-ea"/>
                <a:cs typeface="+mn-cs"/>
              </a:rPr>
              <a:t>ejemplo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cuando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tenemos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flujos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orquestación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propios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múltiples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estados</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decisiones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deben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implementarse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directamente</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código</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“La </a:t>
            </a:r>
            <a:r>
              <a:rPr lang="en-US" sz="1200" b="0" i="0" kern="1200" err="1">
                <a:solidFill>
                  <a:schemeClr val="tx1"/>
                </a:solidFill>
                <a:effectLst/>
                <a:latin typeface="+mn-lt"/>
                <a:ea typeface="+mn-ea"/>
                <a:cs typeface="+mn-cs"/>
              </a:rPr>
              <a:t>diferencia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sencilla</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esta</a:t>
            </a:r>
            <a:r>
              <a:rPr lang="en-US" sz="1200" b="0" i="0" kern="1200">
                <a:solidFill>
                  <a:schemeClr val="tx1"/>
                </a:solidFill>
                <a:effectLst/>
                <a:latin typeface="+mn-lt"/>
                <a:ea typeface="+mn-ea"/>
                <a:cs typeface="+mn-cs"/>
              </a:rPr>
              <a:t>: con un </a:t>
            </a:r>
            <a:r>
              <a:rPr lang="en-US" sz="1200" b="1" i="0" kern="1200">
                <a:solidFill>
                  <a:schemeClr val="tx1"/>
                </a:solidFill>
                <a:effectLst/>
                <a:latin typeface="+mn-lt"/>
                <a:ea typeface="+mn-ea"/>
                <a:cs typeface="+mn-cs"/>
              </a:rPr>
              <a:t>prompt agent </a:t>
            </a:r>
            <a:r>
              <a:rPr lang="en-US" sz="1200" b="1" i="0" kern="1200" err="1">
                <a:solidFill>
                  <a:schemeClr val="tx1"/>
                </a:solidFill>
                <a:effectLst/>
                <a:latin typeface="+mn-lt"/>
                <a:ea typeface="+mn-ea"/>
                <a:cs typeface="+mn-cs"/>
              </a:rPr>
              <a:t>configuramos</a:t>
            </a:r>
            <a:r>
              <a:rPr lang="en-US" sz="1200" b="1" i="0" kern="1200">
                <a:solidFill>
                  <a:schemeClr val="tx1"/>
                </a:solidFill>
                <a:effectLst/>
                <a:latin typeface="+mn-lt"/>
                <a:ea typeface="+mn-ea"/>
                <a:cs typeface="+mn-cs"/>
              </a:rPr>
              <a:t> el </a:t>
            </a:r>
            <a:r>
              <a:rPr lang="en-US" sz="1200" b="1"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con un </a:t>
            </a:r>
            <a:r>
              <a:rPr lang="en-US" sz="1200" b="1" i="0" kern="1200">
                <a:solidFill>
                  <a:schemeClr val="tx1"/>
                </a:solidFill>
                <a:effectLst/>
                <a:latin typeface="+mn-lt"/>
                <a:ea typeface="+mn-ea"/>
                <a:cs typeface="+mn-cs"/>
              </a:rPr>
              <a:t>hosted agent </a:t>
            </a:r>
            <a:r>
              <a:rPr lang="en-US" sz="1200" b="1" i="0" kern="1200" err="1">
                <a:solidFill>
                  <a:schemeClr val="tx1"/>
                </a:solidFill>
                <a:effectLst/>
                <a:latin typeface="+mn-lt"/>
                <a:ea typeface="+mn-ea"/>
                <a:cs typeface="+mn-cs"/>
              </a:rPr>
              <a:t>desarrollamos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su</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lógica</a:t>
            </a:r>
            <a:r>
              <a:rPr lang="en-US" sz="1200" b="1" i="0" kern="1200">
                <a:solidFill>
                  <a:schemeClr val="tx1"/>
                </a:solidFill>
                <a:effectLst/>
                <a:latin typeface="+mn-lt"/>
                <a:ea typeface="+mn-ea"/>
                <a:cs typeface="+mn-cs"/>
              </a:rPr>
              <a:t> y </a:t>
            </a:r>
            <a:r>
              <a:rPr lang="en-US" sz="1200" b="1" i="0" kern="1200" err="1">
                <a:solidFill>
                  <a:schemeClr val="tx1"/>
                </a:solidFill>
                <a:effectLst/>
                <a:latin typeface="+mn-lt"/>
                <a:ea typeface="+mn-ea"/>
                <a:cs typeface="+mn-cs"/>
              </a:rPr>
              <a:t>llevamos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nuestro</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código</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“Para el </a:t>
            </a:r>
            <a:r>
              <a:rPr lang="en-US" sz="1200" b="0" i="0" kern="1200" err="1">
                <a:solidFill>
                  <a:schemeClr val="tx1"/>
                </a:solidFill>
                <a:effectLst/>
                <a:latin typeface="+mn-lt"/>
                <a:ea typeface="+mn-ea"/>
                <a:cs typeface="+mn-cs"/>
              </a:rPr>
              <a:t>laboratorio</a:t>
            </a:r>
            <a:r>
              <a:rPr lang="en-US" sz="1200" b="0" i="0" kern="1200">
                <a:solidFill>
                  <a:schemeClr val="tx1"/>
                </a:solidFill>
                <a:effectLst/>
                <a:latin typeface="+mn-lt"/>
                <a:ea typeface="+mn-ea"/>
                <a:cs typeface="+mn-cs"/>
              </a:rPr>
              <a:t> de hoy </a:t>
            </a:r>
            <a:r>
              <a:rPr lang="en-US" sz="1200" b="0" i="0" kern="1200" err="1">
                <a:solidFill>
                  <a:schemeClr val="tx1"/>
                </a:solidFill>
                <a:effectLst/>
                <a:latin typeface="+mn-lt"/>
                <a:ea typeface="+mn-ea"/>
                <a:cs typeface="+mn-cs"/>
              </a:rPr>
              <a:t>vamos</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utilizar</a:t>
            </a:r>
            <a:r>
              <a:rPr lang="en-US" sz="1200" b="0" i="0" kern="1200">
                <a:solidFill>
                  <a:schemeClr val="tx1"/>
                </a:solidFill>
                <a:effectLst/>
                <a:latin typeface="+mn-lt"/>
                <a:ea typeface="+mn-ea"/>
                <a:cs typeface="+mn-cs"/>
              </a:rPr>
              <a:t> un prompt agent, </a:t>
            </a:r>
            <a:r>
              <a:rPr lang="en-US" sz="1200" b="0" i="0" kern="1200" err="1">
                <a:solidFill>
                  <a:schemeClr val="tx1"/>
                </a:solidFill>
                <a:effectLst/>
                <a:latin typeface="+mn-lt"/>
                <a:ea typeface="+mn-ea"/>
                <a:cs typeface="+mn-cs"/>
              </a:rPr>
              <a:t>porque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llegar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rápidamente</a:t>
            </a:r>
            <a:r>
              <a:rPr lang="en-US" sz="1200" b="0" i="0" kern="1200">
                <a:solidFill>
                  <a:schemeClr val="tx1"/>
                </a:solidFill>
                <a:effectLst/>
                <a:latin typeface="+mn-lt"/>
                <a:ea typeface="+mn-ea"/>
                <a:cs typeface="+mn-cs"/>
              </a:rPr>
              <a:t> a un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funcional</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concentrarnos</a:t>
            </a:r>
            <a:r>
              <a:rPr lang="en-US" sz="1200" b="0" i="0" kern="1200">
                <a:solidFill>
                  <a:schemeClr val="tx1"/>
                </a:solidFill>
                <a:effectLst/>
                <a:latin typeface="+mn-lt"/>
                <a:ea typeface="+mn-ea"/>
                <a:cs typeface="+mn-cs"/>
              </a:rPr>
              <a:t> en los </a:t>
            </a:r>
            <a:r>
              <a:rPr lang="en-US" sz="1200" b="0" i="0" kern="1200" err="1">
                <a:solidFill>
                  <a:schemeClr val="tx1"/>
                </a:solidFill>
                <a:effectLst/>
                <a:latin typeface="+mn-lt"/>
                <a:ea typeface="+mn-ea"/>
                <a:cs typeface="+mn-cs"/>
              </a:rPr>
              <a:t>conceptos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instrucciones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“Esto no </a:t>
            </a:r>
            <a:r>
              <a:rPr lang="en-US" sz="1200" b="0" i="0" kern="1200" err="1">
                <a:solidFill>
                  <a:schemeClr val="tx1"/>
                </a:solidFill>
                <a:effectLst/>
                <a:latin typeface="+mn-lt"/>
                <a:ea typeface="+mn-ea"/>
                <a:cs typeface="+mn-cs"/>
              </a:rPr>
              <a:t>significa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uno sea </a:t>
            </a:r>
            <a:r>
              <a:rPr lang="en-US" sz="1200" b="0" i="0" kern="1200" err="1">
                <a:solidFill>
                  <a:schemeClr val="tx1"/>
                </a:solidFill>
                <a:effectLst/>
                <a:latin typeface="+mn-lt"/>
                <a:ea typeface="+mn-ea"/>
                <a:cs typeface="+mn-cs"/>
              </a:rPr>
              <a:t>mejor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otro</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elección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depende</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nivel</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personalización</a:t>
            </a:r>
            <a:r>
              <a:rPr lang="en-US" sz="1200" b="0" i="0" kern="1200">
                <a:solidFill>
                  <a:schemeClr val="tx1"/>
                </a:solidFill>
                <a:effectLst/>
                <a:latin typeface="+mn-lt"/>
                <a:ea typeface="+mn-ea"/>
                <a:cs typeface="+mn-cs"/>
              </a:rPr>
              <a:t> y control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necesitemos</a:t>
            </a:r>
            <a:r>
              <a:rPr lang="en-US" sz="1200" b="0" i="0" kern="1200">
                <a:solidFill>
                  <a:schemeClr val="tx1"/>
                </a:solidFill>
                <a:effectLst/>
                <a:latin typeface="+mn-lt"/>
                <a:ea typeface="+mn-ea"/>
                <a:cs typeface="+mn-cs"/>
              </a:rPr>
              <a: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Tercera demo del día y la más importante antes del laboratorio: mostrar en vivo, paso a paso, cómo se crea un prompt agent en el portal, desde elegir el modelo hasta probarlo en el playground de agentes. Usar un caso bancario ficticio, por ejemplo un asistente que responde preguntas sobre una política interna inventada para el training. Agregar al menos una tool (file search es la más simple de mostrar) para que la sala vea cómo se conecta conocimiento o acción al agente. Sugerido: ir despacio en esta demo, ya que es exactamente lo que cada persona va a replicar por su cuenta en el bloque B del laboratorio; si algo falla, tener capturas de respaldo del flujo completo. Fuente: docs-oficiales\foundry\agents\overview.md (sección 'Choose how to build'); repos\microsoftlearning-labs\mslearn-agent-quickstart\Instructions\01b-create-first-agent.md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Explicar el problema que resuelve Toolbox: a medida que una organización crea más agentes, cada uno termina reimplementando sus propias tools, credenciales y controles de seguridad, lo que genera duplicación e inconsistencia. Toolbox centraliza esto en cuatro pilares: Build (definir tools y skills una sola vez), Discover (tool search, para que el agente encuentre la tool correcta sin saturar el contexto del modelo con cientos de definiciones), Consume (un único endpoint compatible con MCP que cualquier framework puede usar) y Govern (guardrails y versionado aplicados de forma centralizada). </a:t>
            </a:r>
          </a:p>
          <a:p>
            <a:endParaRPr lang="en-US"/>
          </a:p>
          <a:p>
            <a:r>
              <a:rPr lang="en-US" sz="1200" b="1" i="0" kern="1200" err="1">
                <a:solidFill>
                  <a:schemeClr val="tx1"/>
                </a:solidFill>
                <a:effectLst/>
                <a:latin typeface="+mn-lt"/>
                <a:ea typeface="+mn-ea"/>
                <a:cs typeface="+mn-cs"/>
              </a:rPr>
              <a:t>Notas</a:t>
            </a:r>
            <a:r>
              <a:rPr lang="en-US" sz="1200" b="1" i="0" kern="1200">
                <a:solidFill>
                  <a:schemeClr val="tx1"/>
                </a:solidFill>
                <a:effectLst/>
                <a:latin typeface="+mn-lt"/>
                <a:ea typeface="+mn-ea"/>
                <a:cs typeface="+mn-cs"/>
              </a:rPr>
              <a:t> del </a:t>
            </a:r>
            <a:r>
              <a:rPr lang="en-US" sz="1200" b="1" i="0" kern="1200" err="1">
                <a:solidFill>
                  <a:schemeClr val="tx1"/>
                </a:solidFill>
                <a:effectLst/>
                <a:latin typeface="+mn-lt"/>
                <a:ea typeface="+mn-ea"/>
                <a:cs typeface="+mn-cs"/>
              </a:rPr>
              <a:t>presentador</a:t>
            </a:r>
            <a:endParaRPr lang="en-US" sz="1200" b="1"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“Una </a:t>
            </a:r>
            <a:r>
              <a:rPr lang="en-US" sz="1200" b="0" i="0" kern="1200" err="1">
                <a:solidFill>
                  <a:schemeClr val="tx1"/>
                </a:solidFill>
                <a:effectLst/>
                <a:latin typeface="+mn-lt"/>
                <a:ea typeface="+mn-ea"/>
                <a:cs typeface="+mn-cs"/>
              </a:rPr>
              <a:t>vez</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necesita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utilizar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aparece</a:t>
            </a:r>
            <a:r>
              <a:rPr lang="en-US" sz="1200" b="0" i="0" kern="1200">
                <a:solidFill>
                  <a:schemeClr val="tx1"/>
                </a:solidFill>
                <a:effectLst/>
                <a:latin typeface="+mn-lt"/>
                <a:ea typeface="+mn-ea"/>
                <a:cs typeface="+mn-cs"/>
              </a:rPr>
              <a:t> un nuevo </a:t>
            </a:r>
            <a:r>
              <a:rPr lang="en-US" sz="1200" b="0" i="0" kern="1200" err="1">
                <a:solidFill>
                  <a:schemeClr val="tx1"/>
                </a:solidFill>
                <a:effectLst/>
                <a:latin typeface="+mn-lt"/>
                <a:ea typeface="+mn-ea"/>
                <a:cs typeface="+mn-cs"/>
              </a:rPr>
              <a:t>desafío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cómo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administramos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conectamos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esas</a:t>
            </a:r>
            <a:r>
              <a:rPr lang="en-US" sz="1200" b="0" i="0" kern="1200">
                <a:solidFill>
                  <a:schemeClr val="tx1"/>
                </a:solidFill>
                <a:effectLst/>
                <a:latin typeface="+mn-lt"/>
                <a:ea typeface="+mn-ea"/>
                <a:cs typeface="+mn-cs"/>
              </a:rPr>
              <a:t> tools de </a:t>
            </a:r>
            <a:r>
              <a:rPr lang="en-US" sz="1200" b="0" i="0" kern="1200" err="1">
                <a:solidFill>
                  <a:schemeClr val="tx1"/>
                </a:solidFill>
                <a:effectLst/>
                <a:latin typeface="+mn-lt"/>
                <a:ea typeface="+mn-ea"/>
                <a:cs typeface="+mn-cs"/>
              </a:rPr>
              <a:t>manera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ordenada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“Toolbox </a:t>
            </a:r>
            <a:r>
              <a:rPr lang="en-US" sz="1200" b="0" i="0" kern="1200" err="1">
                <a:solidFill>
                  <a:schemeClr val="tx1"/>
                </a:solidFill>
                <a:effectLst/>
                <a:latin typeface="+mn-lt"/>
                <a:ea typeface="+mn-ea"/>
                <a:cs typeface="+mn-cs"/>
              </a:rPr>
              <a:t>busca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funcionar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un </a:t>
            </a:r>
            <a:r>
              <a:rPr lang="en-US" sz="1200" b="1" i="0" kern="1200">
                <a:solidFill>
                  <a:schemeClr val="tx1"/>
                </a:solidFill>
                <a:effectLst/>
                <a:latin typeface="+mn-lt"/>
                <a:ea typeface="+mn-ea"/>
                <a:cs typeface="+mn-cs"/>
              </a:rPr>
              <a:t>punto de entrada </a:t>
            </a:r>
            <a:r>
              <a:rPr lang="en-US" sz="1200" b="1" i="0" kern="1200" err="1">
                <a:solidFill>
                  <a:schemeClr val="tx1"/>
                </a:solidFill>
                <a:effectLst/>
                <a:latin typeface="+mn-lt"/>
                <a:ea typeface="+mn-ea"/>
                <a:cs typeface="+mn-cs"/>
              </a:rPr>
              <a:t>común</a:t>
            </a:r>
            <a:r>
              <a:rPr lang="en-US" sz="1200" b="0" i="0" kern="1200">
                <a:solidFill>
                  <a:schemeClr val="tx1"/>
                </a:solidFill>
                <a:effectLst/>
                <a:latin typeface="+mn-lt"/>
                <a:ea typeface="+mn-ea"/>
                <a:cs typeface="+mn-cs"/>
              </a:rPr>
              <a:t> para las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utilizar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nuestros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“El primer paso es </a:t>
            </a:r>
            <a:r>
              <a:rPr lang="en-US" sz="1200" b="1" i="0" kern="1200">
                <a:solidFill>
                  <a:schemeClr val="tx1"/>
                </a:solidFill>
                <a:effectLst/>
                <a:latin typeface="+mn-lt"/>
                <a:ea typeface="+mn-ea"/>
                <a:cs typeface="+mn-cs"/>
              </a:rPr>
              <a:t>Build</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lugar</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implementar</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misma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integración</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cada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podemos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definir</a:t>
            </a:r>
            <a:r>
              <a:rPr lang="en-US" sz="1200" b="0" i="0" kern="1200">
                <a:solidFill>
                  <a:schemeClr val="tx1"/>
                </a:solidFill>
                <a:effectLst/>
                <a:latin typeface="+mn-lt"/>
                <a:ea typeface="+mn-ea"/>
                <a:cs typeface="+mn-cs"/>
              </a:rPr>
              <a:t> tools y skills </a:t>
            </a:r>
            <a:r>
              <a:rPr lang="en-US" sz="1200" b="0" i="0" kern="1200" err="1">
                <a:solidFill>
                  <a:schemeClr val="tx1"/>
                </a:solidFill>
                <a:effectLst/>
                <a:latin typeface="+mn-lt"/>
                <a:ea typeface="+mn-ea"/>
                <a:cs typeface="+mn-cs"/>
              </a:rPr>
              <a:t>reutilizables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sola </a:t>
            </a:r>
            <a:r>
              <a:rPr lang="en-US" sz="1200" b="0" i="0" kern="1200" err="1">
                <a:solidFill>
                  <a:schemeClr val="tx1"/>
                </a:solidFill>
                <a:effectLst/>
                <a:latin typeface="+mn-lt"/>
                <a:ea typeface="+mn-ea"/>
                <a:cs typeface="+mn-cs"/>
              </a:rPr>
              <a:t>vez</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centralizando</a:t>
            </a:r>
            <a:r>
              <a:rPr lang="en-US" sz="1200" b="0" i="0" kern="1200">
                <a:solidFill>
                  <a:schemeClr val="tx1"/>
                </a:solidFill>
                <a:effectLst/>
                <a:latin typeface="+mn-lt"/>
                <a:ea typeface="+mn-ea"/>
                <a:cs typeface="+mn-cs"/>
              </a:rPr>
              <a:t> también </a:t>
            </a:r>
            <a:r>
              <a:rPr lang="en-US" sz="1200" b="0" i="0" kern="1200" err="1">
                <a:solidFill>
                  <a:schemeClr val="tx1"/>
                </a:solidFill>
                <a:effectLst/>
                <a:latin typeface="+mn-lt"/>
                <a:ea typeface="+mn-ea"/>
                <a:cs typeface="+mn-cs"/>
              </a:rPr>
              <a:t>su</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autenticación</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a:t>
            </a:r>
            <a:r>
              <a:rPr lang="en-US" sz="1200" b="0" i="0" kern="1200" err="1">
                <a:solidFill>
                  <a:schemeClr val="tx1"/>
                </a:solidFill>
                <a:effectLst/>
                <a:latin typeface="+mn-lt"/>
                <a:ea typeface="+mn-ea"/>
                <a:cs typeface="+mn-cs"/>
              </a:rPr>
              <a:t>Después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tenemos</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Discover</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organización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podemos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llegar</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tener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cientos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No es </a:t>
            </a:r>
            <a:r>
              <a:rPr lang="en-US" sz="1200" b="0" i="0" kern="1200" err="1">
                <a:solidFill>
                  <a:schemeClr val="tx1"/>
                </a:solidFill>
                <a:effectLst/>
                <a:latin typeface="+mn-lt"/>
                <a:ea typeface="+mn-ea"/>
                <a:cs typeface="+mn-cs"/>
              </a:rPr>
              <a:t>conveniente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cargar</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definición</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todas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dentro</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contexto</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Tool search </a:t>
            </a:r>
            <a:r>
              <a:rPr lang="en-US" sz="1200" b="0" i="0" kern="1200" err="1">
                <a:solidFill>
                  <a:schemeClr val="tx1"/>
                </a:solidFill>
                <a:effectLst/>
                <a:latin typeface="+mn-lt"/>
                <a:ea typeface="+mn-ea"/>
                <a:cs typeface="+mn-cs"/>
              </a:rPr>
              <a:t>ayuda</a:t>
            </a:r>
            <a:r>
              <a:rPr lang="en-US" sz="1200" b="0" i="0" kern="1200">
                <a:solidFill>
                  <a:schemeClr val="tx1"/>
                </a:solidFill>
                <a:effectLst/>
                <a:latin typeface="+mn-lt"/>
                <a:ea typeface="+mn-ea"/>
                <a:cs typeface="+mn-cs"/>
              </a:rPr>
              <a:t> al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descubrir</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seleccionar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solamente</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herramienta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adecuada</a:t>
            </a:r>
            <a:r>
              <a:rPr lang="en-US" sz="1200" b="0" i="0" kern="1200">
                <a:solidFill>
                  <a:schemeClr val="tx1"/>
                </a:solidFill>
                <a:effectLst/>
                <a:latin typeface="+mn-lt"/>
                <a:ea typeface="+mn-ea"/>
                <a:cs typeface="+mn-cs"/>
              </a:rPr>
              <a:t> para la </a:t>
            </a:r>
            <a:r>
              <a:rPr lang="en-US" sz="1200" b="0" i="0" kern="1200" err="1">
                <a:solidFill>
                  <a:schemeClr val="tx1"/>
                </a:solidFill>
                <a:effectLst/>
                <a:latin typeface="+mn-lt"/>
                <a:ea typeface="+mn-ea"/>
                <a:cs typeface="+mn-cs"/>
              </a:rPr>
              <a:t>tarea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está</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resolviendo</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“El </a:t>
            </a:r>
            <a:r>
              <a:rPr lang="en-US" sz="1200" b="0" i="0" kern="1200" err="1">
                <a:solidFill>
                  <a:schemeClr val="tx1"/>
                </a:solidFill>
                <a:effectLst/>
                <a:latin typeface="+mn-lt"/>
                <a:ea typeface="+mn-ea"/>
                <a:cs typeface="+mn-cs"/>
              </a:rPr>
              <a:t>tercer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concepto</a:t>
            </a:r>
            <a:r>
              <a:rPr lang="en-US" sz="1200" b="0" i="0" kern="1200">
                <a:solidFill>
                  <a:schemeClr val="tx1"/>
                </a:solidFill>
                <a:effectLst/>
                <a:latin typeface="+mn-lt"/>
                <a:ea typeface="+mn-ea"/>
                <a:cs typeface="+mn-cs"/>
              </a:rPr>
              <a:t> es </a:t>
            </a:r>
            <a:r>
              <a:rPr lang="en-US" sz="1200" b="1" i="0" kern="1200">
                <a:solidFill>
                  <a:schemeClr val="tx1"/>
                </a:solidFill>
                <a:effectLst/>
                <a:latin typeface="+mn-lt"/>
                <a:ea typeface="+mn-ea"/>
                <a:cs typeface="+mn-cs"/>
              </a:rPr>
              <a:t>Consume</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se </a:t>
            </a:r>
            <a:r>
              <a:rPr lang="en-US" sz="1200" b="0" i="0" kern="1200" err="1">
                <a:solidFill>
                  <a:schemeClr val="tx1"/>
                </a:solidFill>
                <a:effectLst/>
                <a:latin typeface="+mn-lt"/>
                <a:ea typeface="+mn-ea"/>
                <a:cs typeface="+mn-cs"/>
              </a:rPr>
              <a:t>exponen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mediante</a:t>
            </a:r>
            <a:r>
              <a:rPr lang="en-US" sz="1200" b="0" i="0" kern="1200">
                <a:solidFill>
                  <a:schemeClr val="tx1"/>
                </a:solidFill>
                <a:effectLst/>
                <a:latin typeface="+mn-lt"/>
                <a:ea typeface="+mn-ea"/>
                <a:cs typeface="+mn-cs"/>
              </a:rPr>
              <a:t> un endpoint compatible con MCP. Esto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construidos</a:t>
            </a:r>
            <a:r>
              <a:rPr lang="en-US" sz="1200" b="0" i="0" kern="1200">
                <a:solidFill>
                  <a:schemeClr val="tx1"/>
                </a:solidFill>
                <a:effectLst/>
                <a:latin typeface="+mn-lt"/>
                <a:ea typeface="+mn-ea"/>
                <a:cs typeface="+mn-cs"/>
              </a:rPr>
              <a:t> con </a:t>
            </a:r>
            <a:r>
              <a:rPr lang="en-US" sz="1200" b="0" i="0" kern="1200" err="1">
                <a:solidFill>
                  <a:schemeClr val="tx1"/>
                </a:solidFill>
                <a:effectLst/>
                <a:latin typeface="+mn-lt"/>
                <a:ea typeface="+mn-ea"/>
                <a:cs typeface="+mn-cs"/>
              </a:rPr>
              <a:t>diferentes</a:t>
            </a:r>
            <a:r>
              <a:rPr lang="en-US" sz="1200" b="0" i="0" kern="1200">
                <a:solidFill>
                  <a:schemeClr val="tx1"/>
                </a:solidFill>
                <a:effectLst/>
                <a:latin typeface="+mn-lt"/>
                <a:ea typeface="+mn-ea"/>
                <a:cs typeface="+mn-cs"/>
              </a:rPr>
              <a:t> frameworks </a:t>
            </a:r>
            <a:r>
              <a:rPr lang="en-US" sz="1200" b="0" i="0" kern="1200" err="1">
                <a:solidFill>
                  <a:schemeClr val="tx1"/>
                </a:solidFill>
                <a:effectLst/>
                <a:latin typeface="+mn-lt"/>
                <a:ea typeface="+mn-ea"/>
                <a:cs typeface="+mn-cs"/>
              </a:rPr>
              <a:t>puedan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consumirlas</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través</a:t>
            </a:r>
            <a:r>
              <a:rPr lang="en-US" sz="1200" b="0" i="0" kern="1200">
                <a:solidFill>
                  <a:schemeClr val="tx1"/>
                </a:solidFill>
                <a:effectLst/>
                <a:latin typeface="+mn-lt"/>
                <a:ea typeface="+mn-ea"/>
                <a:cs typeface="+mn-cs"/>
              </a:rPr>
              <a:t> de un </a:t>
            </a:r>
            <a:r>
              <a:rPr lang="en-US" sz="1200" b="0" i="0" kern="1200" err="1">
                <a:solidFill>
                  <a:schemeClr val="tx1"/>
                </a:solidFill>
                <a:effectLst/>
                <a:latin typeface="+mn-lt"/>
                <a:ea typeface="+mn-ea"/>
                <a:cs typeface="+mn-cs"/>
              </a:rPr>
              <a:t>mecanismo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común</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a:t>
            </a:r>
            <a:r>
              <a:rPr lang="en-US" sz="1200" b="0" i="0" kern="1200" err="1">
                <a:solidFill>
                  <a:schemeClr val="tx1"/>
                </a:solidFill>
                <a:effectLst/>
                <a:latin typeface="+mn-lt"/>
                <a:ea typeface="+mn-ea"/>
                <a:cs typeface="+mn-cs"/>
              </a:rPr>
              <a:t>Finalmente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tenemos</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Govern</a:t>
            </a:r>
            <a:r>
              <a:rPr lang="en-US" sz="1200" b="0" i="0" kern="1200">
                <a:solidFill>
                  <a:schemeClr val="tx1"/>
                </a:solidFill>
                <a:effectLst/>
                <a:latin typeface="+mn-lt"/>
                <a:ea typeface="+mn-ea"/>
                <a:cs typeface="+mn-cs"/>
              </a:rPr>
              <a:t>. Al </a:t>
            </a:r>
            <a:r>
              <a:rPr lang="en-US" sz="1200" b="0" i="0" kern="1200" err="1">
                <a:solidFill>
                  <a:schemeClr val="tx1"/>
                </a:solidFill>
                <a:effectLst/>
                <a:latin typeface="+mn-lt"/>
                <a:ea typeface="+mn-ea"/>
                <a:cs typeface="+mn-cs"/>
              </a:rPr>
              <a:t>centralizar</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también </a:t>
            </a:r>
            <a:r>
              <a:rPr lang="en-US" sz="1200" b="0" i="0" kern="1200" err="1">
                <a:solidFill>
                  <a:schemeClr val="tx1"/>
                </a:solidFill>
                <a:effectLst/>
                <a:latin typeface="+mn-lt"/>
                <a:ea typeface="+mn-ea"/>
                <a:cs typeface="+mn-cs"/>
              </a:rPr>
              <a:t>podemos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aplicar</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manera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consistente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controles</a:t>
            </a:r>
            <a:r>
              <a:rPr lang="en-US" sz="1200" b="0" i="0" kern="1200">
                <a:solidFill>
                  <a:schemeClr val="tx1"/>
                </a:solidFill>
                <a:effectLst/>
                <a:latin typeface="+mn-lt"/>
                <a:ea typeface="+mn-ea"/>
                <a:cs typeface="+mn-cs"/>
              </a:rPr>
              <a:t>, guardrails y </a:t>
            </a:r>
            <a:r>
              <a:rPr lang="en-US" sz="1200" b="0" i="0" kern="1200" err="1">
                <a:solidFill>
                  <a:schemeClr val="tx1"/>
                </a:solidFill>
                <a:effectLst/>
                <a:latin typeface="+mn-lt"/>
                <a:ea typeface="+mn-ea"/>
                <a:cs typeface="+mn-cs"/>
              </a:rPr>
              <a:t>versionado</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lugar</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administrar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políticas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separado</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cada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“En </a:t>
            </a:r>
            <a:r>
              <a:rPr lang="en-US" sz="1200" b="0" i="0" kern="1200" err="1">
                <a:solidFill>
                  <a:schemeClr val="tx1"/>
                </a:solidFill>
                <a:effectLst/>
                <a:latin typeface="+mn-lt"/>
                <a:ea typeface="+mn-ea"/>
                <a:cs typeface="+mn-cs"/>
              </a:rPr>
              <a:t>resumen</a:t>
            </a:r>
            <a:r>
              <a:rPr lang="en-US" sz="1200" b="0" i="0" kern="1200">
                <a:solidFill>
                  <a:schemeClr val="tx1"/>
                </a:solidFill>
                <a:effectLst/>
                <a:latin typeface="+mn-lt"/>
                <a:ea typeface="+mn-ea"/>
                <a:cs typeface="+mn-cs"/>
              </a:rPr>
              <a:t>: con Toolbox, </a:t>
            </a:r>
            <a:r>
              <a:rPr lang="en-US" sz="1200" b="1" i="0" kern="1200" err="1">
                <a:solidFill>
                  <a:schemeClr val="tx1"/>
                </a:solidFill>
                <a:effectLst/>
                <a:latin typeface="+mn-lt"/>
                <a:ea typeface="+mn-ea"/>
                <a:cs typeface="+mn-cs"/>
              </a:rPr>
              <a:t>construimos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una</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vez</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facilitamos</a:t>
            </a:r>
            <a:r>
              <a:rPr lang="en-US" sz="1200" b="1" i="0" kern="1200">
                <a:solidFill>
                  <a:schemeClr val="tx1"/>
                </a:solidFill>
                <a:effectLst/>
                <a:latin typeface="+mn-lt"/>
                <a:ea typeface="+mn-ea"/>
                <a:cs typeface="+mn-cs"/>
              </a:rPr>
              <a:t> el </a:t>
            </a:r>
            <a:r>
              <a:rPr lang="en-US" sz="1200" b="1" i="0" kern="1200" err="1">
                <a:solidFill>
                  <a:schemeClr val="tx1"/>
                </a:solidFill>
                <a:effectLst/>
                <a:latin typeface="+mn-lt"/>
                <a:ea typeface="+mn-ea"/>
                <a:cs typeface="+mn-cs"/>
              </a:rPr>
              <a:t>descubrimiento</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consumimos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mediante</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una</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interfaz</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común</a:t>
            </a:r>
            <a:r>
              <a:rPr lang="en-US" sz="1200" b="1" i="0" kern="1200">
                <a:solidFill>
                  <a:schemeClr val="tx1"/>
                </a:solidFill>
                <a:effectLst/>
                <a:latin typeface="+mn-lt"/>
                <a:ea typeface="+mn-ea"/>
                <a:cs typeface="+mn-cs"/>
              </a:rPr>
              <a:t> y </a:t>
            </a:r>
            <a:r>
              <a:rPr lang="en-US" sz="1200" b="1" i="0" kern="1200" err="1">
                <a:solidFill>
                  <a:schemeClr val="tx1"/>
                </a:solidFill>
                <a:effectLst/>
                <a:latin typeface="+mn-lt"/>
                <a:ea typeface="+mn-ea"/>
                <a:cs typeface="+mn-cs"/>
              </a:rPr>
              <a:t>gobernamos</a:t>
            </a:r>
            <a:r>
              <a:rPr lang="en-US" sz="1200" b="1" i="0" kern="1200">
                <a:solidFill>
                  <a:schemeClr val="tx1"/>
                </a:solidFill>
                <a:effectLst/>
                <a:latin typeface="+mn-lt"/>
                <a:ea typeface="+mn-ea"/>
                <a:cs typeface="+mn-cs"/>
              </a:rPr>
              <a:t> de forma </a:t>
            </a:r>
            <a:r>
              <a:rPr lang="en-US" sz="1200" b="1" i="0" kern="1200" err="1">
                <a:solidFill>
                  <a:schemeClr val="tx1"/>
                </a:solidFill>
                <a:effectLst/>
                <a:latin typeface="+mn-lt"/>
                <a:ea typeface="+mn-ea"/>
                <a:cs typeface="+mn-cs"/>
              </a:rPr>
              <a:t>centralizada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“La idea no es </a:t>
            </a:r>
            <a:r>
              <a:rPr lang="en-US" sz="1200" b="0" i="0" kern="1200" err="1">
                <a:solidFill>
                  <a:schemeClr val="tx1"/>
                </a:solidFill>
                <a:effectLst/>
                <a:latin typeface="+mn-lt"/>
                <a:ea typeface="+mn-ea"/>
                <a:cs typeface="+mn-cs"/>
              </a:rPr>
              <a:t>darle</a:t>
            </a:r>
            <a:r>
              <a:rPr lang="en-US" sz="1200" b="0" i="0" kern="1200">
                <a:solidFill>
                  <a:schemeClr val="tx1"/>
                </a:solidFill>
                <a:effectLst/>
                <a:latin typeface="+mn-lt"/>
                <a:ea typeface="+mn-ea"/>
                <a:cs typeface="+mn-cs"/>
              </a:rPr>
              <a:t> al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acceso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indiscriminado</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todas</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La idea es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pueda</a:t>
            </a:r>
            <a:r>
              <a:rPr lang="en-US" sz="1200" b="0" i="0" kern="1200">
                <a:solidFill>
                  <a:schemeClr val="tx1"/>
                </a:solidFill>
                <a:effectLst/>
                <a:latin typeface="+mn-lt"/>
                <a:ea typeface="+mn-ea"/>
                <a:cs typeface="+mn-cs"/>
              </a:rPr>
              <a:t> encontrar y </a:t>
            </a:r>
            <a:r>
              <a:rPr lang="en-US" sz="1200" b="0" i="0" kern="1200" err="1">
                <a:solidFill>
                  <a:schemeClr val="tx1"/>
                </a:solidFill>
                <a:effectLst/>
                <a:latin typeface="+mn-lt"/>
                <a:ea typeface="+mn-ea"/>
                <a:cs typeface="+mn-cs"/>
              </a:rPr>
              <a:t>utilizar</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herramienta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correcta</a:t>
            </a:r>
            <a:r>
              <a:rPr lang="en-US" sz="1200" b="0" i="0" kern="1200">
                <a:solidFill>
                  <a:schemeClr val="tx1"/>
                </a:solidFill>
                <a:effectLst/>
                <a:latin typeface="+mn-lt"/>
                <a:ea typeface="+mn-ea"/>
                <a:cs typeface="+mn-cs"/>
              </a:rPr>
              <a:t>, bajo los </a:t>
            </a:r>
            <a:r>
              <a:rPr lang="en-US" sz="1200" b="0" i="0" kern="1200" err="1">
                <a:solidFill>
                  <a:schemeClr val="tx1"/>
                </a:solidFill>
                <a:effectLst/>
                <a:latin typeface="+mn-lt"/>
                <a:ea typeface="+mn-ea"/>
                <a:cs typeface="+mn-cs"/>
              </a:rPr>
              <a:t>controles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definidos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organización</a:t>
            </a:r>
            <a:r>
              <a:rPr lang="en-US" sz="1200" b="0" i="0" kern="1200">
                <a:solidFill>
                  <a:schemeClr val="tx1"/>
                </a:solidFill>
                <a:effectLst/>
                <a:latin typeface="+mn-lt"/>
                <a:ea typeface="+mn-ea"/>
                <a:cs typeface="+mn-cs"/>
              </a:rPr>
              <a:t>.”</a:t>
            </a:r>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Introducir RAG (retrieval-augmented generation) con el flujo clásico de cinco pasos: ingerir documentos propios, dividirlos en fragmentos (chunking), generar embeddings que representan el significado de cada fragmento, indexarlos en Azure AI Search (que soporta búsqueda de texto, vectorial e híbrida) y finalmente recuperar los fragmentos relevantes para que el agente fundamente su respuesta en ellos en vez de 'inventar'. Usar como ejemplo ficticio una política interna de crédito que el agente debe citar </a:t>
            </a:r>
            <a:r>
              <a:rPr lang="en-US" err="1"/>
              <a:t>correctamente</a:t>
            </a:r>
            <a:r>
              <a:rPr lang="en-US"/>
              <a:t>.</a:t>
            </a:r>
          </a:p>
          <a:p>
            <a:endParaRPr lang="en-US"/>
          </a:p>
          <a:p>
            <a:endParaRPr lang="en-US" sz="1200" b="1"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a:t>
            </a:r>
            <a:r>
              <a:rPr lang="en-US" sz="1200" b="0" i="0" kern="1200" err="1">
                <a:solidFill>
                  <a:schemeClr val="tx1"/>
                </a:solidFill>
                <a:effectLst/>
                <a:latin typeface="+mn-lt"/>
                <a:ea typeface="+mn-ea"/>
                <a:cs typeface="+mn-cs"/>
              </a:rPr>
              <a:t>Ahora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veamos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cómo</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responder </a:t>
            </a:r>
            <a:r>
              <a:rPr lang="en-US" sz="1200" b="0" i="0" kern="1200" err="1">
                <a:solidFill>
                  <a:schemeClr val="tx1"/>
                </a:solidFill>
                <a:effectLst/>
                <a:latin typeface="+mn-lt"/>
                <a:ea typeface="+mn-ea"/>
                <a:cs typeface="+mn-cs"/>
              </a:rPr>
              <a:t>utilizando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propia</a:t>
            </a:r>
            <a:r>
              <a:rPr lang="en-US" sz="1200" b="0" i="0" kern="1200">
                <a:solidFill>
                  <a:schemeClr val="tx1"/>
                </a:solidFill>
                <a:effectLst/>
                <a:latin typeface="+mn-lt"/>
                <a:ea typeface="+mn-ea"/>
                <a:cs typeface="+mn-cs"/>
              </a:rPr>
              <a:t> de la </a:t>
            </a:r>
            <a:r>
              <a:rPr lang="en-US" sz="1200" b="0" i="0" kern="1200" err="1">
                <a:solidFill>
                  <a:schemeClr val="tx1"/>
                </a:solidFill>
                <a:effectLst/>
                <a:latin typeface="+mn-lt"/>
                <a:ea typeface="+mn-ea"/>
                <a:cs typeface="+mn-cs"/>
              </a:rPr>
              <a:t>organización</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“RAG </a:t>
            </a:r>
            <a:r>
              <a:rPr lang="en-US" sz="1200" b="0" i="0" kern="1200" err="1">
                <a:solidFill>
                  <a:schemeClr val="tx1"/>
                </a:solidFill>
                <a:effectLst/>
                <a:latin typeface="+mn-lt"/>
                <a:ea typeface="+mn-ea"/>
                <a:cs typeface="+mn-cs"/>
              </a:rPr>
              <a:t>significa</a:t>
            </a:r>
            <a:r>
              <a:rPr lang="en-US" sz="1200" b="0" i="0" kern="1200">
                <a:solidFill>
                  <a:schemeClr val="tx1"/>
                </a:solidFill>
                <a:effectLst/>
                <a:latin typeface="+mn-lt"/>
                <a:ea typeface="+mn-ea"/>
                <a:cs typeface="+mn-cs"/>
              </a:rPr>
              <a:t> </a:t>
            </a:r>
            <a:r>
              <a:rPr lang="en-US" sz="1200" b="0" i="1" kern="1200">
                <a:solidFill>
                  <a:schemeClr val="tx1"/>
                </a:solidFill>
                <a:effectLst/>
                <a:latin typeface="+mn-lt"/>
                <a:ea typeface="+mn-ea"/>
                <a:cs typeface="+mn-cs"/>
              </a:rPr>
              <a:t>Retrieval-Augmented Generation</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generación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aumentada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mediante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recuperación</a:t>
            </a:r>
            <a:r>
              <a:rPr lang="en-US" sz="1200" b="0" i="0" kern="1200">
                <a:solidFill>
                  <a:schemeClr val="tx1"/>
                </a:solidFill>
                <a:effectLst/>
                <a:latin typeface="+mn-lt"/>
                <a:ea typeface="+mn-ea"/>
                <a:cs typeface="+mn-cs"/>
              </a:rPr>
              <a:t>. La idea es </a:t>
            </a:r>
            <a:r>
              <a:rPr lang="en-US" sz="1200" b="0" i="0" kern="1200" err="1">
                <a:solidFill>
                  <a:schemeClr val="tx1"/>
                </a:solidFill>
                <a:effectLst/>
                <a:latin typeface="+mn-lt"/>
                <a:ea typeface="+mn-ea"/>
                <a:cs typeface="+mn-cs"/>
              </a:rPr>
              <a:t>sencilla</a:t>
            </a:r>
            <a:r>
              <a:rPr lang="en-US" sz="1200" b="0" i="0" kern="1200">
                <a:solidFill>
                  <a:schemeClr val="tx1"/>
                </a:solidFill>
                <a:effectLst/>
                <a:latin typeface="+mn-lt"/>
                <a:ea typeface="+mn-ea"/>
                <a:cs typeface="+mn-cs"/>
              </a:rPr>
              <a:t>: antes de responder, 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busca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relevante</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nuestros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utiliza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fragmentos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contexto</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“El </a:t>
            </a:r>
            <a:r>
              <a:rPr lang="en-US" sz="1200" b="0" i="0" kern="1200" err="1">
                <a:solidFill>
                  <a:schemeClr val="tx1"/>
                </a:solidFill>
                <a:effectLst/>
                <a:latin typeface="+mn-lt"/>
                <a:ea typeface="+mn-ea"/>
                <a:cs typeface="+mn-cs"/>
              </a:rPr>
              <a:t>proceso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comienza</a:t>
            </a:r>
            <a:r>
              <a:rPr lang="en-US" sz="1200" b="0" i="0" kern="1200">
                <a:solidFill>
                  <a:schemeClr val="tx1"/>
                </a:solidFill>
                <a:effectLst/>
                <a:latin typeface="+mn-lt"/>
                <a:ea typeface="+mn-ea"/>
                <a:cs typeface="+mn-cs"/>
              </a:rPr>
              <a:t> con la </a:t>
            </a:r>
            <a:r>
              <a:rPr lang="en-US" sz="1200" b="1" i="0" kern="1200">
                <a:solidFill>
                  <a:schemeClr val="tx1"/>
                </a:solidFill>
                <a:effectLst/>
                <a:latin typeface="+mn-lt"/>
                <a:ea typeface="+mn-ea"/>
                <a:cs typeface="+mn-cs"/>
              </a:rPr>
              <a:t>ingesta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Cargamos</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fuentes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queremos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poner</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disposición</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ejemplo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políticas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procedimientos</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documentación</a:t>
            </a:r>
            <a:r>
              <a:rPr lang="en-US" sz="1200" b="0" i="0" kern="1200">
                <a:solidFill>
                  <a:schemeClr val="tx1"/>
                </a:solidFill>
                <a:effectLst/>
                <a:latin typeface="+mn-lt"/>
                <a:ea typeface="+mn-ea"/>
                <a:cs typeface="+mn-cs"/>
              </a:rPr>
              <a:t> interna.”</a:t>
            </a:r>
          </a:p>
          <a:p>
            <a:r>
              <a:rPr lang="en-US" sz="1200" b="0" i="0" kern="1200">
                <a:solidFill>
                  <a:schemeClr val="tx1"/>
                </a:solidFill>
                <a:effectLst/>
                <a:latin typeface="+mn-lt"/>
                <a:ea typeface="+mn-ea"/>
                <a:cs typeface="+mn-cs"/>
              </a:rPr>
              <a:t>“Luego </a:t>
            </a:r>
            <a:r>
              <a:rPr lang="en-US" sz="1200" b="0" i="0" kern="1200" err="1">
                <a:solidFill>
                  <a:schemeClr val="tx1"/>
                </a:solidFill>
                <a:effectLst/>
                <a:latin typeface="+mn-lt"/>
                <a:ea typeface="+mn-ea"/>
                <a:cs typeface="+mn-cs"/>
              </a:rPr>
              <a:t>viene</a:t>
            </a:r>
            <a:r>
              <a:rPr lang="en-US" sz="1200" b="0" i="0" kern="1200">
                <a:solidFill>
                  <a:schemeClr val="tx1"/>
                </a:solidFill>
                <a:effectLst/>
                <a:latin typeface="+mn-lt"/>
                <a:ea typeface="+mn-ea"/>
                <a:cs typeface="+mn-cs"/>
              </a:rPr>
              <a:t> el </a:t>
            </a:r>
            <a:r>
              <a:rPr lang="en-US" sz="1200" b="1" i="0" kern="1200">
                <a:solidFill>
                  <a:schemeClr val="tx1"/>
                </a:solidFill>
                <a:effectLst/>
                <a:latin typeface="+mn-lt"/>
                <a:ea typeface="+mn-ea"/>
                <a:cs typeface="+mn-cs"/>
              </a:rPr>
              <a:t>chunking</a:t>
            </a:r>
            <a:r>
              <a:rPr lang="en-US" sz="1200" b="0" i="0" kern="1200">
                <a:solidFill>
                  <a:schemeClr val="tx1"/>
                </a:solidFill>
                <a:effectLst/>
                <a:latin typeface="+mn-lt"/>
                <a:ea typeface="+mn-ea"/>
                <a:cs typeface="+mn-cs"/>
              </a:rPr>
              <a:t>. Como un </a:t>
            </a:r>
            <a:r>
              <a:rPr lang="en-US" sz="1200" b="0" i="0" kern="1200" err="1">
                <a:solidFill>
                  <a:schemeClr val="tx1"/>
                </a:solidFill>
                <a:effectLst/>
                <a:latin typeface="+mn-lt"/>
                <a:ea typeface="+mn-ea"/>
                <a:cs typeface="+mn-cs"/>
              </a:rPr>
              <a:t>documento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ser </a:t>
            </a:r>
            <a:r>
              <a:rPr lang="en-US" sz="1200" b="0" i="0" kern="1200" err="1">
                <a:solidFill>
                  <a:schemeClr val="tx1"/>
                </a:solidFill>
                <a:effectLst/>
                <a:latin typeface="+mn-lt"/>
                <a:ea typeface="+mn-ea"/>
                <a:cs typeface="+mn-cs"/>
              </a:rPr>
              <a:t>muy</a:t>
            </a:r>
            <a:r>
              <a:rPr lang="en-US" sz="1200" b="0" i="0" kern="1200">
                <a:solidFill>
                  <a:schemeClr val="tx1"/>
                </a:solidFill>
                <a:effectLst/>
                <a:latin typeface="+mn-lt"/>
                <a:ea typeface="+mn-ea"/>
                <a:cs typeface="+mn-cs"/>
              </a:rPr>
              <a:t> largo, lo </a:t>
            </a:r>
            <a:r>
              <a:rPr lang="en-US" sz="1200" b="0" i="0" kern="1200" err="1">
                <a:solidFill>
                  <a:schemeClr val="tx1"/>
                </a:solidFill>
                <a:effectLst/>
                <a:latin typeface="+mn-lt"/>
                <a:ea typeface="+mn-ea"/>
                <a:cs typeface="+mn-cs"/>
              </a:rPr>
              <a:t>dividimos</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fragmentos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más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pequeños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manejables</a:t>
            </a:r>
            <a:r>
              <a:rPr lang="en-US" sz="1200" b="0" i="0" kern="1200">
                <a:solidFill>
                  <a:schemeClr val="tx1"/>
                </a:solidFill>
                <a:effectLst/>
                <a:latin typeface="+mn-lt"/>
                <a:ea typeface="+mn-ea"/>
                <a:cs typeface="+mn-cs"/>
              </a:rPr>
              <a:t>. Esto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recuperar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solamente</a:t>
            </a:r>
            <a:r>
              <a:rPr lang="en-US" sz="1200" b="0" i="0" kern="1200">
                <a:solidFill>
                  <a:schemeClr val="tx1"/>
                </a:solidFill>
                <a:effectLst/>
                <a:latin typeface="+mn-lt"/>
                <a:ea typeface="+mn-ea"/>
                <a:cs typeface="+mn-cs"/>
              </a:rPr>
              <a:t> las partes </a:t>
            </a:r>
            <a:r>
              <a:rPr lang="en-US" sz="1200" b="0" i="0" kern="1200" err="1">
                <a:solidFill>
                  <a:schemeClr val="tx1"/>
                </a:solidFill>
                <a:effectLst/>
                <a:latin typeface="+mn-lt"/>
                <a:ea typeface="+mn-ea"/>
                <a:cs typeface="+mn-cs"/>
              </a:rPr>
              <a:t>relacionadas</a:t>
            </a:r>
            <a:r>
              <a:rPr lang="en-US" sz="1200" b="0" i="0" kern="1200">
                <a:solidFill>
                  <a:schemeClr val="tx1"/>
                </a:solidFill>
                <a:effectLst/>
                <a:latin typeface="+mn-lt"/>
                <a:ea typeface="+mn-ea"/>
                <a:cs typeface="+mn-cs"/>
              </a:rPr>
              <a:t> con la </a:t>
            </a:r>
            <a:r>
              <a:rPr lang="en-US" sz="1200" b="0" i="0" kern="1200" err="1">
                <a:solidFill>
                  <a:schemeClr val="tx1"/>
                </a:solidFill>
                <a:effectLst/>
                <a:latin typeface="+mn-lt"/>
                <a:ea typeface="+mn-ea"/>
                <a:cs typeface="+mn-cs"/>
              </a:rPr>
              <a:t>pregunta</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lugar</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enviar</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documento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completo</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“El </a:t>
            </a:r>
            <a:r>
              <a:rPr lang="en-US" sz="1200" b="0" i="0" kern="1200" err="1">
                <a:solidFill>
                  <a:schemeClr val="tx1"/>
                </a:solidFill>
                <a:effectLst/>
                <a:latin typeface="+mn-lt"/>
                <a:ea typeface="+mn-ea"/>
                <a:cs typeface="+mn-cs"/>
              </a:rPr>
              <a:t>tercer</a:t>
            </a:r>
            <a:r>
              <a:rPr lang="en-US" sz="1200" b="0" i="0" kern="1200">
                <a:solidFill>
                  <a:schemeClr val="tx1"/>
                </a:solidFill>
                <a:effectLst/>
                <a:latin typeface="+mn-lt"/>
                <a:ea typeface="+mn-ea"/>
                <a:cs typeface="+mn-cs"/>
              </a:rPr>
              <a:t> paso es </a:t>
            </a:r>
            <a:r>
              <a:rPr lang="en-US" sz="1200" b="0" i="0" kern="1200" err="1">
                <a:solidFill>
                  <a:schemeClr val="tx1"/>
                </a:solidFill>
                <a:effectLst/>
                <a:latin typeface="+mn-lt"/>
                <a:ea typeface="+mn-ea"/>
                <a:cs typeface="+mn-cs"/>
              </a:rPr>
              <a:t>generar</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embeddings</a:t>
            </a:r>
            <a:r>
              <a:rPr lang="en-US" sz="1200" b="0" i="0" kern="1200">
                <a:solidFill>
                  <a:schemeClr val="tx1"/>
                </a:solidFill>
                <a:effectLst/>
                <a:latin typeface="+mn-lt"/>
                <a:ea typeface="+mn-ea"/>
                <a:cs typeface="+mn-cs"/>
              </a:rPr>
              <a:t>. Un embedding es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representación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numérica</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significado</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cada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fragmento</a:t>
            </a:r>
            <a:r>
              <a:rPr lang="en-US" sz="1200" b="0" i="0" kern="1200">
                <a:solidFill>
                  <a:schemeClr val="tx1"/>
                </a:solidFill>
                <a:effectLst/>
                <a:latin typeface="+mn-lt"/>
                <a:ea typeface="+mn-ea"/>
                <a:cs typeface="+mn-cs"/>
              </a:rPr>
              <a:t>. Podemos </a:t>
            </a:r>
            <a:r>
              <a:rPr lang="en-US" sz="1200" b="0" i="0" kern="1200" err="1">
                <a:solidFill>
                  <a:schemeClr val="tx1"/>
                </a:solidFill>
                <a:effectLst/>
                <a:latin typeface="+mn-lt"/>
                <a:ea typeface="+mn-ea"/>
                <a:cs typeface="+mn-cs"/>
              </a:rPr>
              <a:t>imaginarlo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coordenada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ayuda</a:t>
            </a:r>
            <a:r>
              <a:rPr lang="en-US" sz="1200" b="0" i="0" kern="1200">
                <a:solidFill>
                  <a:schemeClr val="tx1"/>
                </a:solidFill>
                <a:effectLst/>
                <a:latin typeface="+mn-lt"/>
                <a:ea typeface="+mn-ea"/>
                <a:cs typeface="+mn-cs"/>
              </a:rPr>
              <a:t> a encontrar </a:t>
            </a:r>
            <a:r>
              <a:rPr lang="en-US" sz="1200" b="0" i="0" kern="1200" err="1">
                <a:solidFill>
                  <a:schemeClr val="tx1"/>
                </a:solidFill>
                <a:effectLst/>
                <a:latin typeface="+mn-lt"/>
                <a:ea typeface="+mn-ea"/>
                <a:cs typeface="+mn-cs"/>
              </a:rPr>
              <a:t>contenidos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conceptualmente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similares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aunque</a:t>
            </a:r>
            <a:r>
              <a:rPr lang="en-US" sz="1200" b="0" i="0" kern="1200">
                <a:solidFill>
                  <a:schemeClr val="tx1"/>
                </a:solidFill>
                <a:effectLst/>
                <a:latin typeface="+mn-lt"/>
                <a:ea typeface="+mn-ea"/>
                <a:cs typeface="+mn-cs"/>
              </a:rPr>
              <a:t> no </a:t>
            </a:r>
            <a:r>
              <a:rPr lang="en-US" sz="1200" b="0" i="0" kern="1200" err="1">
                <a:solidFill>
                  <a:schemeClr val="tx1"/>
                </a:solidFill>
                <a:effectLst/>
                <a:latin typeface="+mn-lt"/>
                <a:ea typeface="+mn-ea"/>
                <a:cs typeface="+mn-cs"/>
              </a:rPr>
              <a:t>utilicen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exactamente</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mismas</a:t>
            </a:r>
            <a:r>
              <a:rPr lang="en-US" sz="1200" b="0" i="0" kern="1200">
                <a:solidFill>
                  <a:schemeClr val="tx1"/>
                </a:solidFill>
                <a:effectLst/>
                <a:latin typeface="+mn-lt"/>
                <a:ea typeface="+mn-ea"/>
                <a:cs typeface="+mn-cs"/>
              </a:rPr>
              <a:t> palabras.”</a:t>
            </a:r>
          </a:p>
          <a:p>
            <a:r>
              <a:rPr lang="en-US" sz="1200" b="0" i="0" kern="1200">
                <a:solidFill>
                  <a:schemeClr val="tx1"/>
                </a:solidFill>
                <a:effectLst/>
                <a:latin typeface="+mn-lt"/>
                <a:ea typeface="+mn-ea"/>
                <a:cs typeface="+mn-cs"/>
              </a:rPr>
              <a:t>“</a:t>
            </a:r>
            <a:r>
              <a:rPr lang="en-US" sz="1200" b="0" i="0" kern="1200" err="1">
                <a:solidFill>
                  <a:schemeClr val="tx1"/>
                </a:solidFill>
                <a:effectLst/>
                <a:latin typeface="+mn-lt"/>
                <a:ea typeface="+mn-ea"/>
                <a:cs typeface="+mn-cs"/>
              </a:rPr>
              <a:t>Después</a:t>
            </a:r>
            <a:r>
              <a:rPr lang="en-US" sz="1200" b="0" i="0" kern="1200">
                <a:solidFill>
                  <a:schemeClr val="tx1"/>
                </a:solidFill>
                <a:effectLst/>
                <a:latin typeface="+mn-lt"/>
                <a:ea typeface="+mn-ea"/>
                <a:cs typeface="+mn-cs"/>
              </a:rPr>
              <a:t>, los </a:t>
            </a:r>
            <a:r>
              <a:rPr lang="en-US" sz="1200" b="0" i="0" kern="1200" err="1">
                <a:solidFill>
                  <a:schemeClr val="tx1"/>
                </a:solidFill>
                <a:effectLst/>
                <a:latin typeface="+mn-lt"/>
                <a:ea typeface="+mn-ea"/>
                <a:cs typeface="+mn-cs"/>
              </a:rPr>
              <a:t>fragmentos</a:t>
            </a:r>
            <a:r>
              <a:rPr lang="en-US" sz="1200" b="0" i="0" kern="1200">
                <a:solidFill>
                  <a:schemeClr val="tx1"/>
                </a:solidFill>
                <a:effectLst/>
                <a:latin typeface="+mn-lt"/>
                <a:ea typeface="+mn-ea"/>
                <a:cs typeface="+mn-cs"/>
              </a:rPr>
              <a:t> y sus </a:t>
            </a:r>
            <a:r>
              <a:rPr lang="en-US" sz="1200" b="0" i="0" kern="1200" err="1">
                <a:solidFill>
                  <a:schemeClr val="tx1"/>
                </a:solidFill>
                <a:effectLst/>
                <a:latin typeface="+mn-lt"/>
                <a:ea typeface="+mn-ea"/>
                <a:cs typeface="+mn-cs"/>
              </a:rPr>
              <a:t>representaciones</a:t>
            </a:r>
            <a:r>
              <a:rPr lang="en-US" sz="1200" b="0" i="0" kern="1200">
                <a:solidFill>
                  <a:schemeClr val="tx1"/>
                </a:solidFill>
                <a:effectLst/>
                <a:latin typeface="+mn-lt"/>
                <a:ea typeface="+mn-ea"/>
                <a:cs typeface="+mn-cs"/>
              </a:rPr>
              <a:t> se </a:t>
            </a:r>
            <a:r>
              <a:rPr lang="en-US" sz="1200" b="0" i="0" kern="1200" err="1">
                <a:solidFill>
                  <a:schemeClr val="tx1"/>
                </a:solidFill>
                <a:effectLst/>
                <a:latin typeface="+mn-lt"/>
                <a:ea typeface="+mn-ea"/>
                <a:cs typeface="+mn-cs"/>
              </a:rPr>
              <a:t>guardan</a:t>
            </a:r>
            <a:r>
              <a:rPr lang="en-US" sz="1200" b="0" i="0" kern="1200">
                <a:solidFill>
                  <a:schemeClr val="tx1"/>
                </a:solidFill>
                <a:effectLst/>
                <a:latin typeface="+mn-lt"/>
                <a:ea typeface="+mn-ea"/>
                <a:cs typeface="+mn-cs"/>
              </a:rPr>
              <a:t> en un </a:t>
            </a:r>
            <a:r>
              <a:rPr lang="en-US" sz="1200" b="0" i="0" kern="1200" err="1">
                <a:solidFill>
                  <a:schemeClr val="tx1"/>
                </a:solidFill>
                <a:effectLst/>
                <a:latin typeface="+mn-lt"/>
                <a:ea typeface="+mn-ea"/>
                <a:cs typeface="+mn-cs"/>
              </a:rPr>
              <a:t>índice</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este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ejemplo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utilizamos</a:t>
            </a:r>
            <a:r>
              <a:rPr lang="en-US" sz="1200" b="0" i="0" kern="1200">
                <a:solidFill>
                  <a:schemeClr val="tx1"/>
                </a:solidFill>
                <a:effectLst/>
                <a:latin typeface="+mn-lt"/>
                <a:ea typeface="+mn-ea"/>
                <a:cs typeface="+mn-cs"/>
              </a:rPr>
              <a:t> Azure AI Search,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combinar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búsqueda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palabras con </a:t>
            </a:r>
            <a:r>
              <a:rPr lang="en-US" sz="1200" b="0" i="0" kern="1200" err="1">
                <a:solidFill>
                  <a:schemeClr val="tx1"/>
                </a:solidFill>
                <a:effectLst/>
                <a:latin typeface="+mn-lt"/>
                <a:ea typeface="+mn-ea"/>
                <a:cs typeface="+mn-cs"/>
              </a:rPr>
              <a:t>búsqueda</a:t>
            </a:r>
            <a:r>
              <a:rPr lang="en-US" sz="1200" b="0" i="0" kern="1200">
                <a:solidFill>
                  <a:schemeClr val="tx1"/>
                </a:solidFill>
                <a:effectLst/>
                <a:latin typeface="+mn-lt"/>
                <a:ea typeface="+mn-ea"/>
                <a:cs typeface="+mn-cs"/>
              </a:rPr>
              <a:t> vectorial.”</a:t>
            </a:r>
          </a:p>
          <a:p>
            <a:r>
              <a:rPr lang="en-US" sz="1200" b="0" i="0" kern="1200">
                <a:solidFill>
                  <a:schemeClr val="tx1"/>
                </a:solidFill>
                <a:effectLst/>
                <a:latin typeface="+mn-lt"/>
                <a:ea typeface="+mn-ea"/>
                <a:cs typeface="+mn-cs"/>
              </a:rPr>
              <a:t>“Cuando </a:t>
            </a:r>
            <a:r>
              <a:rPr lang="en-US" sz="1200" b="0" i="0" kern="1200" err="1">
                <a:solidFill>
                  <a:schemeClr val="tx1"/>
                </a:solidFill>
                <a:effectLst/>
                <a:latin typeface="+mn-lt"/>
                <a:ea typeface="+mn-ea"/>
                <a:cs typeface="+mn-cs"/>
              </a:rPr>
              <a:t>llega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pregunta</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busca</a:t>
            </a:r>
            <a:r>
              <a:rPr lang="en-US" sz="1200" b="0" i="0" kern="1200">
                <a:solidFill>
                  <a:schemeClr val="tx1"/>
                </a:solidFill>
                <a:effectLst/>
                <a:latin typeface="+mn-lt"/>
                <a:ea typeface="+mn-ea"/>
                <a:cs typeface="+mn-cs"/>
              </a:rPr>
              <a:t> en ese </a:t>
            </a:r>
            <a:r>
              <a:rPr lang="en-US" sz="1200" b="0" i="0" kern="1200" err="1">
                <a:solidFill>
                  <a:schemeClr val="tx1"/>
                </a:solidFill>
                <a:effectLst/>
                <a:latin typeface="+mn-lt"/>
                <a:ea typeface="+mn-ea"/>
                <a:cs typeface="+mn-cs"/>
              </a:rPr>
              <a:t>índice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recupera</a:t>
            </a:r>
            <a:r>
              <a:rPr lang="en-US" sz="1200" b="0" i="0" kern="1200">
                <a:solidFill>
                  <a:schemeClr val="tx1"/>
                </a:solidFill>
                <a:effectLst/>
                <a:latin typeface="+mn-lt"/>
                <a:ea typeface="+mn-ea"/>
                <a:cs typeface="+mn-cs"/>
              </a:rPr>
              <a:t> los </a:t>
            </a:r>
            <a:r>
              <a:rPr lang="en-US" sz="1200" b="0" i="0" kern="1200" err="1">
                <a:solidFill>
                  <a:schemeClr val="tx1"/>
                </a:solidFill>
                <a:effectLst/>
                <a:latin typeface="+mn-lt"/>
                <a:ea typeface="+mn-ea"/>
                <a:cs typeface="+mn-cs"/>
              </a:rPr>
              <a:t>fragmentos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más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relevantes</a:t>
            </a:r>
            <a:r>
              <a:rPr lang="en-US" sz="1200" b="0" i="0" kern="1200">
                <a:solidFill>
                  <a:schemeClr val="tx1"/>
                </a:solidFill>
                <a:effectLst/>
                <a:latin typeface="+mn-lt"/>
                <a:ea typeface="+mn-ea"/>
                <a:cs typeface="+mn-cs"/>
              </a:rPr>
              <a:t> y los </a:t>
            </a:r>
            <a:r>
              <a:rPr lang="en-US" sz="1200" b="0" i="0" kern="1200" err="1">
                <a:solidFill>
                  <a:schemeClr val="tx1"/>
                </a:solidFill>
                <a:effectLst/>
                <a:latin typeface="+mn-lt"/>
                <a:ea typeface="+mn-ea"/>
                <a:cs typeface="+mn-cs"/>
              </a:rPr>
              <a:t>incorpora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contexto</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generar</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respuesta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“Lo </a:t>
            </a:r>
            <a:r>
              <a:rPr lang="en-US" sz="1200" b="0" i="0" kern="1200" err="1">
                <a:solidFill>
                  <a:schemeClr val="tx1"/>
                </a:solidFill>
                <a:effectLst/>
                <a:latin typeface="+mn-lt"/>
                <a:ea typeface="+mn-ea"/>
                <a:cs typeface="+mn-cs"/>
              </a:rPr>
              <a:t>importante</a:t>
            </a:r>
            <a:r>
              <a:rPr lang="en-US" sz="1200" b="0" i="0" kern="1200">
                <a:solidFill>
                  <a:schemeClr val="tx1"/>
                </a:solidFill>
                <a:effectLst/>
                <a:latin typeface="+mn-lt"/>
                <a:ea typeface="+mn-ea"/>
                <a:cs typeface="+mn-cs"/>
              </a:rPr>
              <a:t> es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no </a:t>
            </a:r>
            <a:r>
              <a:rPr lang="en-US" sz="1200" b="0" i="0" kern="1200" err="1">
                <a:solidFill>
                  <a:schemeClr val="tx1"/>
                </a:solidFill>
                <a:effectLst/>
                <a:latin typeface="+mn-lt"/>
                <a:ea typeface="+mn-ea"/>
                <a:cs typeface="+mn-cs"/>
              </a:rPr>
              <a:t>está</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siendo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reentrenado</a:t>
            </a:r>
            <a:r>
              <a:rPr lang="en-US" sz="1200" b="0" i="0" kern="1200">
                <a:solidFill>
                  <a:schemeClr val="tx1"/>
                </a:solidFill>
                <a:effectLst/>
                <a:latin typeface="+mn-lt"/>
                <a:ea typeface="+mn-ea"/>
                <a:cs typeface="+mn-cs"/>
              </a:rPr>
              <a:t> con </a:t>
            </a:r>
            <a:r>
              <a:rPr lang="en-US" sz="1200" b="0" i="0" kern="1200" err="1">
                <a:solidFill>
                  <a:schemeClr val="tx1"/>
                </a:solidFill>
                <a:effectLst/>
                <a:latin typeface="+mn-lt"/>
                <a:ea typeface="+mn-ea"/>
                <a:cs typeface="+mn-cs"/>
              </a:rPr>
              <a:t>estos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Los </a:t>
            </a:r>
            <a:r>
              <a:rPr lang="en-US" sz="1200" b="0" i="0" kern="1200" err="1">
                <a:solidFill>
                  <a:schemeClr val="tx1"/>
                </a:solidFill>
                <a:effectLst/>
                <a:latin typeface="+mn-lt"/>
                <a:ea typeface="+mn-ea"/>
                <a:cs typeface="+mn-cs"/>
              </a:rPr>
              <a:t>documentos</a:t>
            </a:r>
            <a:r>
              <a:rPr lang="en-US" sz="1200" b="0" i="0" kern="1200">
                <a:solidFill>
                  <a:schemeClr val="tx1"/>
                </a:solidFill>
                <a:effectLst/>
                <a:latin typeface="+mn-lt"/>
                <a:ea typeface="+mn-ea"/>
                <a:cs typeface="+mn-cs"/>
              </a:rPr>
              <a:t> se </a:t>
            </a:r>
            <a:r>
              <a:rPr lang="en-US" sz="1200" b="0" i="0" kern="1200" err="1">
                <a:solidFill>
                  <a:schemeClr val="tx1"/>
                </a:solidFill>
                <a:effectLst/>
                <a:latin typeface="+mn-lt"/>
                <a:ea typeface="+mn-ea"/>
                <a:cs typeface="+mn-cs"/>
              </a:rPr>
              <a:t>consultan</a:t>
            </a:r>
            <a:r>
              <a:rPr lang="en-US" sz="1200" b="0" i="0" kern="1200">
                <a:solidFill>
                  <a:schemeClr val="tx1"/>
                </a:solidFill>
                <a:effectLst/>
                <a:latin typeface="+mn-lt"/>
                <a:ea typeface="+mn-ea"/>
                <a:cs typeface="+mn-cs"/>
              </a:rPr>
              <a:t> en el </a:t>
            </a:r>
            <a:r>
              <a:rPr lang="en-US" sz="1200" b="0" i="0" kern="1200" err="1">
                <a:solidFill>
                  <a:schemeClr val="tx1"/>
                </a:solidFill>
                <a:effectLst/>
                <a:latin typeface="+mn-lt"/>
                <a:ea typeface="+mn-ea"/>
                <a:cs typeface="+mn-cs"/>
              </a:rPr>
              <a:t>momento</a:t>
            </a:r>
            <a:r>
              <a:rPr lang="en-US" sz="1200" b="0" i="0" kern="1200">
                <a:solidFill>
                  <a:schemeClr val="tx1"/>
                </a:solidFill>
                <a:effectLst/>
                <a:latin typeface="+mn-lt"/>
                <a:ea typeface="+mn-ea"/>
                <a:cs typeface="+mn-cs"/>
              </a:rPr>
              <a:t> de responder.”</a:t>
            </a:r>
          </a:p>
          <a:p>
            <a:r>
              <a:rPr lang="en-US" sz="1200" b="0" i="0" kern="1200">
                <a:solidFill>
                  <a:schemeClr val="tx1"/>
                </a:solidFill>
                <a:effectLst/>
                <a:latin typeface="+mn-lt"/>
                <a:ea typeface="+mn-ea"/>
                <a:cs typeface="+mn-cs"/>
              </a:rPr>
              <a:t>“En </a:t>
            </a:r>
            <a:r>
              <a:rPr lang="en-US" sz="1200" b="0" i="0" kern="1200" err="1">
                <a:solidFill>
                  <a:schemeClr val="tx1"/>
                </a:solidFill>
                <a:effectLst/>
                <a:latin typeface="+mn-lt"/>
                <a:ea typeface="+mn-ea"/>
                <a:cs typeface="+mn-cs"/>
              </a:rPr>
              <a:t>resumen</a:t>
            </a:r>
            <a:r>
              <a:rPr lang="en-US" sz="1200" b="0"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cargamos</a:t>
            </a:r>
            <a:r>
              <a:rPr lang="en-US" sz="1200" b="1" i="0" kern="1200">
                <a:solidFill>
                  <a:schemeClr val="tx1"/>
                </a:solidFill>
                <a:effectLst/>
                <a:latin typeface="+mn-lt"/>
                <a:ea typeface="+mn-ea"/>
                <a:cs typeface="+mn-cs"/>
              </a:rPr>
              <a:t> los </a:t>
            </a:r>
            <a:r>
              <a:rPr lang="en-US" sz="1200" b="1" i="0" kern="1200" err="1">
                <a:solidFill>
                  <a:schemeClr val="tx1"/>
                </a:solidFill>
                <a:effectLst/>
                <a:latin typeface="+mn-lt"/>
                <a:ea typeface="+mn-ea"/>
                <a:cs typeface="+mn-cs"/>
              </a:rPr>
              <a:t>documentos</a:t>
            </a:r>
            <a:r>
              <a:rPr lang="en-US" sz="1200" b="1" i="0" kern="1200">
                <a:solidFill>
                  <a:schemeClr val="tx1"/>
                </a:solidFill>
                <a:effectLst/>
                <a:latin typeface="+mn-lt"/>
                <a:ea typeface="+mn-ea"/>
                <a:cs typeface="+mn-cs"/>
              </a:rPr>
              <a:t>, los </a:t>
            </a:r>
            <a:r>
              <a:rPr lang="en-US" sz="1200" b="1" i="0" kern="1200" err="1">
                <a:solidFill>
                  <a:schemeClr val="tx1"/>
                </a:solidFill>
                <a:effectLst/>
                <a:latin typeface="+mn-lt"/>
                <a:ea typeface="+mn-ea"/>
                <a:cs typeface="+mn-cs"/>
              </a:rPr>
              <a:t>dividimos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representamos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su</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significado</a:t>
            </a:r>
            <a:r>
              <a:rPr lang="en-US" sz="1200" b="1" i="0" kern="1200">
                <a:solidFill>
                  <a:schemeClr val="tx1"/>
                </a:solidFill>
                <a:effectLst/>
                <a:latin typeface="+mn-lt"/>
                <a:ea typeface="+mn-ea"/>
                <a:cs typeface="+mn-cs"/>
              </a:rPr>
              <a:t>, los </a:t>
            </a:r>
            <a:r>
              <a:rPr lang="en-US" sz="1200" b="1" i="0" kern="1200" err="1">
                <a:solidFill>
                  <a:schemeClr val="tx1"/>
                </a:solidFill>
                <a:effectLst/>
                <a:latin typeface="+mn-lt"/>
                <a:ea typeface="+mn-ea"/>
                <a:cs typeface="+mn-cs"/>
              </a:rPr>
              <a:t>indexamos</a:t>
            </a:r>
            <a:r>
              <a:rPr lang="en-US" sz="1200" b="1" i="0" kern="1200">
                <a:solidFill>
                  <a:schemeClr val="tx1"/>
                </a:solidFill>
                <a:effectLst/>
                <a:latin typeface="+mn-lt"/>
                <a:ea typeface="+mn-ea"/>
                <a:cs typeface="+mn-cs"/>
              </a:rPr>
              <a:t> y </a:t>
            </a:r>
            <a:r>
              <a:rPr lang="en-US" sz="1200" b="1" i="0" kern="1200" err="1">
                <a:solidFill>
                  <a:schemeClr val="tx1"/>
                </a:solidFill>
                <a:effectLst/>
                <a:latin typeface="+mn-lt"/>
                <a:ea typeface="+mn-ea"/>
                <a:cs typeface="+mn-cs"/>
              </a:rPr>
              <a:t>recuperamos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solamente</a:t>
            </a:r>
            <a:r>
              <a:rPr lang="en-US" sz="1200" b="1" i="0" kern="1200">
                <a:solidFill>
                  <a:schemeClr val="tx1"/>
                </a:solidFill>
                <a:effectLst/>
                <a:latin typeface="+mn-lt"/>
                <a:ea typeface="+mn-ea"/>
                <a:cs typeface="+mn-cs"/>
              </a:rPr>
              <a:t> la </a:t>
            </a:r>
            <a:r>
              <a:rPr lang="en-US" sz="1200" b="1" i="0" kern="1200" err="1">
                <a:solidFill>
                  <a:schemeClr val="tx1"/>
                </a:solidFill>
                <a:effectLst/>
                <a:latin typeface="+mn-lt"/>
                <a:ea typeface="+mn-ea"/>
                <a:cs typeface="+mn-cs"/>
              </a:rPr>
              <a:t>información</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necesaria</a:t>
            </a:r>
            <a:r>
              <a:rPr lang="en-US" sz="1200" b="1" i="0" kern="1200">
                <a:solidFill>
                  <a:schemeClr val="tx1"/>
                </a:solidFill>
                <a:effectLst/>
                <a:latin typeface="+mn-lt"/>
                <a:ea typeface="+mn-ea"/>
                <a:cs typeface="+mn-cs"/>
              </a:rPr>
              <a:t> para </a:t>
            </a:r>
            <a:r>
              <a:rPr lang="en-US" sz="1200" b="1" i="0" kern="1200" err="1">
                <a:solidFill>
                  <a:schemeClr val="tx1"/>
                </a:solidFill>
                <a:effectLst/>
                <a:latin typeface="+mn-lt"/>
                <a:ea typeface="+mn-ea"/>
                <a:cs typeface="+mn-cs"/>
              </a:rPr>
              <a:t>cada</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pregunta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a:t>
            </a:r>
            <a:r>
              <a:rPr lang="en-US" sz="1200" b="0" i="0" kern="1200" err="1">
                <a:solidFill>
                  <a:schemeClr val="tx1"/>
                </a:solidFill>
                <a:effectLst/>
                <a:latin typeface="+mn-lt"/>
                <a:ea typeface="+mn-ea"/>
                <a:cs typeface="+mn-cs"/>
              </a:rPr>
              <a:t>Así</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pasamos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respuesta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basada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únicamente</a:t>
            </a:r>
            <a:r>
              <a:rPr lang="en-US" sz="1200" b="0" i="0" kern="1200">
                <a:solidFill>
                  <a:schemeClr val="tx1"/>
                </a:solidFill>
                <a:effectLst/>
                <a:latin typeface="+mn-lt"/>
                <a:ea typeface="+mn-ea"/>
                <a:cs typeface="+mn-cs"/>
              </a:rPr>
              <a:t> en el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general del </a:t>
            </a:r>
            <a:r>
              <a:rPr lang="en-US" sz="1200" b="0" i="0" kern="1200" err="1">
                <a:solidFill>
                  <a:schemeClr val="tx1"/>
                </a:solidFill>
                <a:effectLst/>
                <a:latin typeface="+mn-lt"/>
                <a:ea typeface="+mn-ea"/>
                <a:cs typeface="+mn-cs"/>
              </a:rPr>
              <a:t>modelo</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respuesta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fundamentada</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propia</a:t>
            </a:r>
            <a:r>
              <a:rPr lang="en-US" sz="1200" b="0" i="0" kern="1200">
                <a:solidFill>
                  <a:schemeClr val="tx1"/>
                </a:solidFill>
                <a:effectLst/>
                <a:latin typeface="+mn-lt"/>
                <a:ea typeface="+mn-ea"/>
                <a:cs typeface="+mn-cs"/>
              </a:rPr>
              <a:t> de la </a:t>
            </a:r>
            <a:r>
              <a:rPr lang="en-US" sz="1200" b="0" i="0" kern="1200" err="1">
                <a:solidFill>
                  <a:schemeClr val="tx1"/>
                </a:solidFill>
                <a:effectLst/>
                <a:latin typeface="+mn-lt"/>
                <a:ea typeface="+mn-ea"/>
                <a:cs typeface="+mn-cs"/>
              </a:rPr>
              <a:t>organización</a:t>
            </a:r>
            <a:r>
              <a:rPr lang="en-US" sz="1200" b="0" i="0" kern="1200">
                <a:solidFill>
                  <a:schemeClr val="tx1"/>
                </a:solidFill>
                <a:effectLst/>
                <a:latin typeface="+mn-lt"/>
                <a:ea typeface="+mn-ea"/>
                <a:cs typeface="+mn-cs"/>
              </a:rPr>
              <a:t>.”</a:t>
            </a:r>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Foundry IQ es la capa administrada que empaqueta RAG como servicio: en vez de armar manualmente el pipeline de chunking, embeddings e índice, se define una knowledge base con una o más fuentes de conocimiento y Foundry IQ se encarga de la recuperación agentic (planificar subconsultas, buscar en paralelo, reordenar resultados). Un punto clave para un banco es que respeta permisos: sincroniza listas de control de acceso y Purview, y responde con el contenido que el usuario que pregunta tiene autorizado ver. Una misma knowledge base puede conectarse a varios agentes, incluso a agentes de Copilot Studio. </a:t>
            </a:r>
          </a:p>
          <a:p>
            <a:endParaRPr lang="en-US"/>
          </a:p>
          <a:p>
            <a:r>
              <a:rPr lang="en-US" sz="1200" b="1" i="0" kern="1200" err="1">
                <a:solidFill>
                  <a:schemeClr val="tx1"/>
                </a:solidFill>
                <a:effectLst/>
                <a:latin typeface="+mn-lt"/>
                <a:ea typeface="+mn-ea"/>
                <a:cs typeface="+mn-cs"/>
              </a:rPr>
              <a:t>Notas</a:t>
            </a:r>
            <a:r>
              <a:rPr lang="en-US" sz="1200" b="1" i="0" kern="1200">
                <a:solidFill>
                  <a:schemeClr val="tx1"/>
                </a:solidFill>
                <a:effectLst/>
                <a:latin typeface="+mn-lt"/>
                <a:ea typeface="+mn-ea"/>
                <a:cs typeface="+mn-cs"/>
              </a:rPr>
              <a:t> del </a:t>
            </a:r>
            <a:r>
              <a:rPr lang="en-US" sz="1200" b="1" i="0" kern="1200" err="1">
                <a:solidFill>
                  <a:schemeClr val="tx1"/>
                </a:solidFill>
                <a:effectLst/>
                <a:latin typeface="+mn-lt"/>
                <a:ea typeface="+mn-ea"/>
                <a:cs typeface="+mn-cs"/>
              </a:rPr>
              <a:t>presentador</a:t>
            </a:r>
            <a:endParaRPr lang="en-US" sz="1200" b="1"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“En el slide anterior </a:t>
            </a:r>
            <a:r>
              <a:rPr lang="en-US" sz="1200" b="0" i="0" kern="1200" err="1">
                <a:solidFill>
                  <a:schemeClr val="tx1"/>
                </a:solidFill>
                <a:effectLst/>
                <a:latin typeface="+mn-lt"/>
                <a:ea typeface="+mn-ea"/>
                <a:cs typeface="+mn-cs"/>
              </a:rPr>
              <a:t>vimos</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proceso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tradicional</a:t>
            </a:r>
            <a:r>
              <a:rPr lang="en-US" sz="1200" b="0" i="0" kern="1200">
                <a:solidFill>
                  <a:schemeClr val="tx1"/>
                </a:solidFill>
                <a:effectLst/>
                <a:latin typeface="+mn-lt"/>
                <a:ea typeface="+mn-ea"/>
                <a:cs typeface="+mn-cs"/>
              </a:rPr>
              <a:t> de RAG. </a:t>
            </a:r>
            <a:r>
              <a:rPr lang="en-US" sz="1200" b="0" i="0" kern="1200" err="1">
                <a:solidFill>
                  <a:schemeClr val="tx1"/>
                </a:solidFill>
                <a:effectLst/>
                <a:latin typeface="+mn-lt"/>
                <a:ea typeface="+mn-ea"/>
                <a:cs typeface="+mn-cs"/>
              </a:rPr>
              <a:t>Ahora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vamos</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ver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cómo</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Foundry IQ</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lleva</a:t>
            </a:r>
            <a:r>
              <a:rPr lang="en-US" sz="1200" b="0" i="0" kern="1200">
                <a:solidFill>
                  <a:schemeClr val="tx1"/>
                </a:solidFill>
                <a:effectLst/>
                <a:latin typeface="+mn-lt"/>
                <a:ea typeface="+mn-ea"/>
                <a:cs typeface="+mn-cs"/>
              </a:rPr>
              <a:t> ese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a un </a:t>
            </a:r>
            <a:r>
              <a:rPr lang="en-US" sz="1200" b="0" i="0" kern="1200" err="1">
                <a:solidFill>
                  <a:schemeClr val="tx1"/>
                </a:solidFill>
                <a:effectLst/>
                <a:latin typeface="+mn-lt"/>
                <a:ea typeface="+mn-ea"/>
                <a:cs typeface="+mn-cs"/>
              </a:rPr>
              <a:t>servicio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reutilizable</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“La idea central es la base de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lugar</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conectar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separado</a:t>
            </a:r>
            <a:r>
              <a:rPr lang="en-US" sz="1200" b="0" i="0" kern="1200">
                <a:solidFill>
                  <a:schemeClr val="tx1"/>
                </a:solidFill>
                <a:effectLst/>
                <a:latin typeface="+mn-lt"/>
                <a:ea typeface="+mn-ea"/>
                <a:cs typeface="+mn-cs"/>
              </a:rPr>
              <a:t> con </a:t>
            </a:r>
            <a:r>
              <a:rPr lang="en-US" sz="1200" b="0" i="0" kern="1200" err="1">
                <a:solidFill>
                  <a:schemeClr val="tx1"/>
                </a:solidFill>
                <a:effectLst/>
                <a:latin typeface="+mn-lt"/>
                <a:ea typeface="+mn-ea"/>
                <a:cs typeface="+mn-cs"/>
              </a:rPr>
              <a:t>cada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fuente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podemos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agrupar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distintas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fuentes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Blob Storage, SharePoint, OneLake o </a:t>
            </a:r>
            <a:r>
              <a:rPr lang="en-US" sz="1200" b="0" i="0" kern="1200" err="1">
                <a:solidFill>
                  <a:schemeClr val="tx1"/>
                </a:solidFill>
                <a:effectLst/>
                <a:latin typeface="+mn-lt"/>
                <a:ea typeface="+mn-ea"/>
                <a:cs typeface="+mn-cs"/>
              </a:rPr>
              <a:t>contenido</a:t>
            </a:r>
            <a:r>
              <a:rPr lang="en-US" sz="1200" b="0" i="0" kern="1200">
                <a:solidFill>
                  <a:schemeClr val="tx1"/>
                </a:solidFill>
                <a:effectLst/>
                <a:latin typeface="+mn-lt"/>
                <a:ea typeface="+mn-ea"/>
                <a:cs typeface="+mn-cs"/>
              </a:rPr>
              <a:t> web, y </a:t>
            </a:r>
            <a:r>
              <a:rPr lang="en-US" sz="1200" b="0" i="0" kern="1200" err="1">
                <a:solidFill>
                  <a:schemeClr val="tx1"/>
                </a:solidFill>
                <a:effectLst/>
                <a:latin typeface="+mn-lt"/>
                <a:ea typeface="+mn-ea"/>
                <a:cs typeface="+mn-cs"/>
              </a:rPr>
              <a:t>ofrecerlas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única</a:t>
            </a:r>
            <a:r>
              <a:rPr lang="en-US" sz="1200" b="0" i="0" kern="1200">
                <a:solidFill>
                  <a:schemeClr val="tx1"/>
                </a:solidFill>
                <a:effectLst/>
                <a:latin typeface="+mn-lt"/>
                <a:ea typeface="+mn-ea"/>
                <a:cs typeface="+mn-cs"/>
              </a:rPr>
              <a:t> base de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“Cuando </a:t>
            </a:r>
            <a:r>
              <a:rPr lang="en-US" sz="1200" b="0" i="0" kern="1200" err="1">
                <a:solidFill>
                  <a:schemeClr val="tx1"/>
                </a:solidFill>
                <a:effectLst/>
                <a:latin typeface="+mn-lt"/>
                <a:ea typeface="+mn-ea"/>
                <a:cs typeface="+mn-cs"/>
              </a:rPr>
              <a:t>llega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pregunta</a:t>
            </a:r>
            <a:r>
              <a:rPr lang="en-US" sz="1200" b="0" i="0" kern="1200">
                <a:solidFill>
                  <a:schemeClr val="tx1"/>
                </a:solidFill>
                <a:effectLst/>
                <a:latin typeface="+mn-lt"/>
                <a:ea typeface="+mn-ea"/>
                <a:cs typeface="+mn-cs"/>
              </a:rPr>
              <a:t>, Foundry IQ </a:t>
            </a:r>
            <a:r>
              <a:rPr lang="en-US" sz="1200" b="0" i="0" kern="1200" err="1">
                <a:solidFill>
                  <a:schemeClr val="tx1"/>
                </a:solidFill>
                <a:effectLst/>
                <a:latin typeface="+mn-lt"/>
                <a:ea typeface="+mn-ea"/>
                <a:cs typeface="+mn-cs"/>
              </a:rPr>
              <a:t>utiliza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recuperación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agéntica</a:t>
            </a:r>
            <a:r>
              <a:rPr lang="en-US" sz="1200" b="0" i="0" kern="1200">
                <a:solidFill>
                  <a:schemeClr val="tx1"/>
                </a:solidFill>
                <a:effectLst/>
                <a:latin typeface="+mn-lt"/>
                <a:ea typeface="+mn-ea"/>
                <a:cs typeface="+mn-cs"/>
              </a:rPr>
              <a:t>. Esto </a:t>
            </a:r>
            <a:r>
              <a:rPr lang="en-US" sz="1200" b="0" i="0" kern="1200" err="1">
                <a:solidFill>
                  <a:schemeClr val="tx1"/>
                </a:solidFill>
                <a:effectLst/>
                <a:latin typeface="+mn-lt"/>
                <a:ea typeface="+mn-ea"/>
                <a:cs typeface="+mn-cs"/>
              </a:rPr>
              <a:t>significa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no se </a:t>
            </a:r>
            <a:r>
              <a:rPr lang="en-US" sz="1200" b="0" i="0" kern="1200" err="1">
                <a:solidFill>
                  <a:schemeClr val="tx1"/>
                </a:solidFill>
                <a:effectLst/>
                <a:latin typeface="+mn-lt"/>
                <a:ea typeface="+mn-ea"/>
                <a:cs typeface="+mn-cs"/>
              </a:rPr>
              <a:t>limita</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ejecutar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sola </a:t>
            </a:r>
            <a:r>
              <a:rPr lang="en-US" sz="1200" b="0" i="0" kern="1200" err="1">
                <a:solidFill>
                  <a:schemeClr val="tx1"/>
                </a:solidFill>
                <a:effectLst/>
                <a:latin typeface="+mn-lt"/>
                <a:ea typeface="+mn-ea"/>
                <a:cs typeface="+mn-cs"/>
              </a:rPr>
              <a:t>búsqueda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descomponer</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pregunta</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subconsultas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buscar</a:t>
            </a:r>
            <a:r>
              <a:rPr lang="en-US" sz="1200" b="0" i="0" kern="1200">
                <a:solidFill>
                  <a:schemeClr val="tx1"/>
                </a:solidFill>
                <a:effectLst/>
                <a:latin typeface="+mn-lt"/>
                <a:ea typeface="+mn-ea"/>
                <a:cs typeface="+mn-cs"/>
              </a:rPr>
              <a:t> en </a:t>
            </a:r>
            <a:r>
              <a:rPr lang="en-US" sz="1200" b="0" i="0" kern="1200" err="1">
                <a:solidFill>
                  <a:schemeClr val="tx1"/>
                </a:solidFill>
                <a:effectLst/>
                <a:latin typeface="+mn-lt"/>
                <a:ea typeface="+mn-ea"/>
                <a:cs typeface="+mn-cs"/>
              </a:rPr>
              <a:t>paralelo</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reorganizar</a:t>
            </a:r>
            <a:r>
              <a:rPr lang="en-US" sz="1200" b="0" i="0" kern="1200">
                <a:solidFill>
                  <a:schemeClr val="tx1"/>
                </a:solidFill>
                <a:effectLst/>
                <a:latin typeface="+mn-lt"/>
                <a:ea typeface="+mn-ea"/>
                <a:cs typeface="+mn-cs"/>
              </a:rPr>
              <a:t> los </a:t>
            </a:r>
            <a:r>
              <a:rPr lang="en-US" sz="1200" b="0" i="0" kern="1200" err="1">
                <a:solidFill>
                  <a:schemeClr val="tx1"/>
                </a:solidFill>
                <a:effectLst/>
                <a:latin typeface="+mn-lt"/>
                <a:ea typeface="+mn-ea"/>
                <a:cs typeface="+mn-cs"/>
              </a:rPr>
              <a:t>resultados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según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su</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relevancia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a:t>
            </a:r>
            <a:r>
              <a:rPr lang="en-US" sz="1200" b="0" i="0" kern="1200" err="1">
                <a:solidFill>
                  <a:schemeClr val="tx1"/>
                </a:solidFill>
                <a:effectLst/>
                <a:latin typeface="+mn-lt"/>
                <a:ea typeface="+mn-ea"/>
                <a:cs typeface="+mn-cs"/>
              </a:rPr>
              <a:t>Otro</a:t>
            </a:r>
            <a:r>
              <a:rPr lang="en-US" sz="1200" b="0" i="0" kern="1200">
                <a:solidFill>
                  <a:schemeClr val="tx1"/>
                </a:solidFill>
                <a:effectLst/>
                <a:latin typeface="+mn-lt"/>
                <a:ea typeface="+mn-ea"/>
                <a:cs typeface="+mn-cs"/>
              </a:rPr>
              <a:t> punto fundamental es la </a:t>
            </a:r>
            <a:r>
              <a:rPr lang="en-US" sz="1200" b="0" i="0" kern="1200" err="1">
                <a:solidFill>
                  <a:schemeClr val="tx1"/>
                </a:solidFill>
                <a:effectLst/>
                <a:latin typeface="+mn-lt"/>
                <a:ea typeface="+mn-ea"/>
                <a:cs typeface="+mn-cs"/>
              </a:rPr>
              <a:t>seguridad</a:t>
            </a:r>
            <a:r>
              <a:rPr lang="en-US" sz="1200" b="0" i="0" kern="1200">
                <a:solidFill>
                  <a:schemeClr val="tx1"/>
                </a:solidFill>
                <a:effectLst/>
                <a:latin typeface="+mn-lt"/>
                <a:ea typeface="+mn-ea"/>
                <a:cs typeface="+mn-cs"/>
              </a:rPr>
              <a:t>. La base de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respeta</a:t>
            </a:r>
            <a:r>
              <a:rPr lang="en-US" sz="1200" b="0" i="0" kern="1200">
                <a:solidFill>
                  <a:schemeClr val="tx1"/>
                </a:solidFill>
                <a:effectLst/>
                <a:latin typeface="+mn-lt"/>
                <a:ea typeface="+mn-ea"/>
                <a:cs typeface="+mn-cs"/>
              </a:rPr>
              <a:t> los </a:t>
            </a:r>
            <a:r>
              <a:rPr lang="en-US" sz="1200" b="0" i="0" kern="1200" err="1">
                <a:solidFill>
                  <a:schemeClr val="tx1"/>
                </a:solidFill>
                <a:effectLst/>
                <a:latin typeface="+mn-lt"/>
                <a:ea typeface="+mn-ea"/>
                <a:cs typeface="+mn-cs"/>
              </a:rPr>
              <a:t>permisos</a:t>
            </a:r>
            <a:r>
              <a:rPr lang="en-US" sz="1200" b="0" i="0" kern="1200">
                <a:solidFill>
                  <a:schemeClr val="tx1"/>
                </a:solidFill>
                <a:effectLst/>
                <a:latin typeface="+mn-lt"/>
                <a:ea typeface="+mn-ea"/>
                <a:cs typeface="+mn-cs"/>
              </a:rPr>
              <a:t> de las </a:t>
            </a:r>
            <a:r>
              <a:rPr lang="en-US" sz="1200" b="0" i="0" kern="1200" err="1">
                <a:solidFill>
                  <a:schemeClr val="tx1"/>
                </a:solidFill>
                <a:effectLst/>
                <a:latin typeface="+mn-lt"/>
                <a:ea typeface="+mn-ea"/>
                <a:cs typeface="+mn-cs"/>
              </a:rPr>
              <a:t>fuentes</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solo </a:t>
            </a:r>
            <a:r>
              <a:rPr lang="en-US" sz="1200" b="0" i="0" kern="1200" err="1">
                <a:solidFill>
                  <a:schemeClr val="tx1"/>
                </a:solidFill>
                <a:effectLst/>
                <a:latin typeface="+mn-lt"/>
                <a:ea typeface="+mn-ea"/>
                <a:cs typeface="+mn-cs"/>
              </a:rPr>
              <a:t>pueda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recuperar</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utilizar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contenido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la persona </a:t>
            </a:r>
            <a:r>
              <a:rPr lang="en-US" sz="1200" b="0" i="0" kern="1200" err="1">
                <a:solidFill>
                  <a:schemeClr val="tx1"/>
                </a:solidFill>
                <a:effectLst/>
                <a:latin typeface="+mn-lt"/>
                <a:ea typeface="+mn-ea"/>
                <a:cs typeface="+mn-cs"/>
              </a:rPr>
              <a:t>tenga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autorizado</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a:t>
            </a:r>
            <a:r>
              <a:rPr lang="en-US" sz="1200" b="0" i="0" kern="1200" err="1">
                <a:solidFill>
                  <a:schemeClr val="tx1"/>
                </a:solidFill>
                <a:effectLst/>
                <a:latin typeface="+mn-lt"/>
                <a:ea typeface="+mn-ea"/>
                <a:cs typeface="+mn-cs"/>
              </a:rPr>
              <a:t>Además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misma</a:t>
            </a:r>
            <a:r>
              <a:rPr lang="en-US" sz="1200" b="0" i="0" kern="1200">
                <a:solidFill>
                  <a:schemeClr val="tx1"/>
                </a:solidFill>
                <a:effectLst/>
                <a:latin typeface="+mn-lt"/>
                <a:ea typeface="+mn-ea"/>
                <a:cs typeface="+mn-cs"/>
              </a:rPr>
              <a:t> knowledge base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ser </a:t>
            </a:r>
            <a:r>
              <a:rPr lang="en-US" sz="1200" b="0" i="0" kern="1200" err="1">
                <a:solidFill>
                  <a:schemeClr val="tx1"/>
                </a:solidFill>
                <a:effectLst/>
                <a:latin typeface="+mn-lt"/>
                <a:ea typeface="+mn-ea"/>
                <a:cs typeface="+mn-cs"/>
              </a:rPr>
              <a:t>compartida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varios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esta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manera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evitamos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construir</a:t>
            </a:r>
            <a:r>
              <a:rPr lang="en-US" sz="1200" b="0" i="0" kern="1200">
                <a:solidFill>
                  <a:schemeClr val="tx1"/>
                </a:solidFill>
                <a:effectLst/>
                <a:latin typeface="+mn-lt"/>
                <a:ea typeface="+mn-ea"/>
                <a:cs typeface="+mn-cs"/>
              </a:rPr>
              <a:t> e </a:t>
            </a:r>
            <a:r>
              <a:rPr lang="en-US" sz="1200" b="0" i="0" kern="1200" err="1">
                <a:solidFill>
                  <a:schemeClr val="tx1"/>
                </a:solidFill>
                <a:effectLst/>
                <a:latin typeface="+mn-lt"/>
                <a:ea typeface="+mn-ea"/>
                <a:cs typeface="+mn-cs"/>
              </a:rPr>
              <a:t>indexar</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mismo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repetidamente</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cada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solución</a:t>
            </a:r>
            <a:r>
              <a:rPr lang="en-US" sz="1200" b="0" i="0" kern="1200">
                <a:solidFill>
                  <a:schemeClr val="tx1"/>
                </a:solidFill>
                <a:effectLst/>
                <a:latin typeface="+mn-lt"/>
                <a:ea typeface="+mn-ea"/>
                <a:cs typeface="+mn-cs"/>
              </a:rPr>
              <a:t>, e </a:t>
            </a:r>
            <a:r>
              <a:rPr lang="en-US" sz="1200" b="0" i="0" kern="1200" err="1">
                <a:solidFill>
                  <a:schemeClr val="tx1"/>
                </a:solidFill>
                <a:effectLst/>
                <a:latin typeface="+mn-lt"/>
                <a:ea typeface="+mn-ea"/>
                <a:cs typeface="+mn-cs"/>
              </a:rPr>
              <a:t>incluso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podemos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reutilizarlo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desde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 de Copilot Studio.”</a:t>
            </a:r>
          </a:p>
          <a:p>
            <a:r>
              <a:rPr lang="en-US" sz="1200" b="0" i="0" kern="1200">
                <a:solidFill>
                  <a:schemeClr val="tx1"/>
                </a:solidFill>
                <a:effectLst/>
                <a:latin typeface="+mn-lt"/>
                <a:ea typeface="+mn-ea"/>
                <a:cs typeface="+mn-cs"/>
              </a:rPr>
              <a:t>“</a:t>
            </a:r>
            <a:r>
              <a:rPr lang="en-US" sz="1200" b="0" i="0" kern="1200" err="1">
                <a:solidFill>
                  <a:schemeClr val="tx1"/>
                </a:solidFill>
                <a:effectLst/>
                <a:latin typeface="+mn-lt"/>
                <a:ea typeface="+mn-ea"/>
                <a:cs typeface="+mn-cs"/>
              </a:rPr>
              <a:t>Detrás</a:t>
            </a:r>
            <a:r>
              <a:rPr lang="en-US" sz="1200" b="0" i="0" kern="1200">
                <a:solidFill>
                  <a:schemeClr val="tx1"/>
                </a:solidFill>
                <a:effectLst/>
                <a:latin typeface="+mn-lt"/>
                <a:ea typeface="+mn-ea"/>
                <a:cs typeface="+mn-cs"/>
              </a:rPr>
              <a:t> de Foundry IQ se </a:t>
            </a:r>
            <a:r>
              <a:rPr lang="en-US" sz="1200" b="0" i="0" kern="1200" err="1">
                <a:solidFill>
                  <a:schemeClr val="tx1"/>
                </a:solidFill>
                <a:effectLst/>
                <a:latin typeface="+mn-lt"/>
                <a:ea typeface="+mn-ea"/>
                <a:cs typeface="+mn-cs"/>
              </a:rPr>
              <a:t>encuentra</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Azure AI Search</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proporciona</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infraestructura</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indexación</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recuperación</a:t>
            </a:r>
            <a:r>
              <a:rPr lang="en-US" sz="1200" b="0" i="0" kern="1200">
                <a:solidFill>
                  <a:schemeClr val="tx1"/>
                </a:solidFill>
                <a:effectLst/>
                <a:latin typeface="+mn-lt"/>
                <a:ea typeface="+mn-ea"/>
                <a:cs typeface="+mn-cs"/>
              </a:rPr>
              <a:t>. Foundry IQ </a:t>
            </a:r>
            <a:r>
              <a:rPr lang="en-US" sz="1200" b="0" i="0" kern="1200" err="1">
                <a:solidFill>
                  <a:schemeClr val="tx1"/>
                </a:solidFill>
                <a:effectLst/>
                <a:latin typeface="+mn-lt"/>
                <a:ea typeface="+mn-ea"/>
                <a:cs typeface="+mn-cs"/>
              </a:rPr>
              <a:t>agrega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capa</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organizar</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fuentes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aplicar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recuperación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agéntica</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exponer</a:t>
            </a:r>
            <a:r>
              <a:rPr lang="en-US" sz="1200" b="0" i="0" kern="1200">
                <a:solidFill>
                  <a:schemeClr val="tx1"/>
                </a:solidFill>
                <a:effectLst/>
                <a:latin typeface="+mn-lt"/>
                <a:ea typeface="+mn-ea"/>
                <a:cs typeface="+mn-cs"/>
              </a:rPr>
              <a:t> ese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a los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“Como </a:t>
            </a:r>
            <a:r>
              <a:rPr lang="en-US" sz="1200" b="0" i="0" kern="1200" err="1">
                <a:solidFill>
                  <a:schemeClr val="tx1"/>
                </a:solidFill>
                <a:effectLst/>
                <a:latin typeface="+mn-lt"/>
                <a:ea typeface="+mn-ea"/>
                <a:cs typeface="+mn-cs"/>
              </a:rPr>
              <a:t>regla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sencilla</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Azure AI Search es el motor de </a:t>
            </a:r>
            <a:r>
              <a:rPr lang="en-US" sz="1200" b="1" i="0" kern="1200" err="1">
                <a:solidFill>
                  <a:schemeClr val="tx1"/>
                </a:solidFill>
                <a:effectLst/>
                <a:latin typeface="+mn-lt"/>
                <a:ea typeface="+mn-ea"/>
                <a:cs typeface="+mn-cs"/>
              </a:rPr>
              <a:t>búsqueda</a:t>
            </a:r>
            <a:r>
              <a:rPr lang="en-US" sz="1200" b="1" i="0" kern="1200">
                <a:solidFill>
                  <a:schemeClr val="tx1"/>
                </a:solidFill>
                <a:effectLst/>
                <a:latin typeface="+mn-lt"/>
                <a:ea typeface="+mn-ea"/>
                <a:cs typeface="+mn-cs"/>
              </a:rPr>
              <a:t> y Foundry IQ </a:t>
            </a:r>
            <a:r>
              <a:rPr lang="en-US" sz="1200" b="1" i="0" kern="1200" err="1">
                <a:solidFill>
                  <a:schemeClr val="tx1"/>
                </a:solidFill>
                <a:effectLst/>
                <a:latin typeface="+mn-lt"/>
                <a:ea typeface="+mn-ea"/>
                <a:cs typeface="+mn-cs"/>
              </a:rPr>
              <a:t>convierte</a:t>
            </a:r>
            <a:r>
              <a:rPr lang="en-US" sz="1200" b="1" i="0" kern="1200">
                <a:solidFill>
                  <a:schemeClr val="tx1"/>
                </a:solidFill>
                <a:effectLst/>
                <a:latin typeface="+mn-lt"/>
                <a:ea typeface="+mn-ea"/>
                <a:cs typeface="+mn-cs"/>
              </a:rPr>
              <a:t> ese motor en </a:t>
            </a:r>
            <a:r>
              <a:rPr lang="en-US" sz="1200" b="1" i="0" kern="1200" err="1">
                <a:solidFill>
                  <a:schemeClr val="tx1"/>
                </a:solidFill>
                <a:effectLst/>
                <a:latin typeface="+mn-lt"/>
                <a:ea typeface="+mn-ea"/>
                <a:cs typeface="+mn-cs"/>
              </a:rPr>
              <a:t>conocimiento</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reutilizable</a:t>
            </a:r>
            <a:r>
              <a:rPr lang="en-US" sz="1200" b="1" i="0" kern="1200">
                <a:solidFill>
                  <a:schemeClr val="tx1"/>
                </a:solidFill>
                <a:effectLst/>
                <a:latin typeface="+mn-lt"/>
                <a:ea typeface="+mn-ea"/>
                <a:cs typeface="+mn-cs"/>
              </a:rPr>
              <a:t> para los </a:t>
            </a:r>
            <a:r>
              <a:rPr lang="en-US" sz="1200" b="1"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“Por </a:t>
            </a:r>
            <a:r>
              <a:rPr lang="en-US" sz="1200" b="0" i="0" kern="1200" err="1">
                <a:solidFill>
                  <a:schemeClr val="tx1"/>
                </a:solidFill>
                <a:effectLst/>
                <a:latin typeface="+mn-lt"/>
                <a:ea typeface="+mn-ea"/>
                <a:cs typeface="+mn-cs"/>
              </a:rPr>
              <a:t>eso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hablamos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conocimiento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servicio</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fuentes</a:t>
            </a:r>
            <a:r>
              <a:rPr lang="en-US" sz="1200" b="0" i="0" kern="1200">
                <a:solidFill>
                  <a:schemeClr val="tx1"/>
                </a:solidFill>
                <a:effectLst/>
                <a:latin typeface="+mn-lt"/>
                <a:ea typeface="+mn-ea"/>
                <a:cs typeface="+mn-cs"/>
              </a:rPr>
              <a:t> se </a:t>
            </a:r>
            <a:r>
              <a:rPr lang="en-US" sz="1200" b="0" i="0" kern="1200" err="1">
                <a:solidFill>
                  <a:schemeClr val="tx1"/>
                </a:solidFill>
                <a:effectLst/>
                <a:latin typeface="+mn-lt"/>
                <a:ea typeface="+mn-ea"/>
                <a:cs typeface="+mn-cs"/>
              </a:rPr>
              <a:t>conectan</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gobiernan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vez</a:t>
            </a:r>
            <a:r>
              <a:rPr lang="en-US" sz="1200" b="0" i="0" kern="1200">
                <a:solidFill>
                  <a:schemeClr val="tx1"/>
                </a:solidFill>
                <a:effectLst/>
                <a:latin typeface="+mn-lt"/>
                <a:ea typeface="+mn-ea"/>
                <a:cs typeface="+mn-cs"/>
              </a:rPr>
              <a:t>, y luego </a:t>
            </a:r>
            <a:r>
              <a:rPr lang="en-US" sz="1200" b="0" i="0" kern="1200" err="1">
                <a:solidFill>
                  <a:schemeClr val="tx1"/>
                </a:solidFill>
                <a:effectLst/>
                <a:latin typeface="+mn-lt"/>
                <a:ea typeface="+mn-ea"/>
                <a:cs typeface="+mn-cs"/>
              </a:rPr>
              <a:t>pueden</a:t>
            </a:r>
            <a:r>
              <a:rPr lang="en-US" sz="1200" b="0" i="0" kern="1200">
                <a:solidFill>
                  <a:schemeClr val="tx1"/>
                </a:solidFill>
                <a:effectLst/>
                <a:latin typeface="+mn-lt"/>
                <a:ea typeface="+mn-ea"/>
                <a:cs typeface="+mn-cs"/>
              </a:rPr>
              <a:t> ser </a:t>
            </a:r>
            <a:r>
              <a:rPr lang="en-US" sz="1200" b="0" i="0" kern="1200" err="1">
                <a:solidFill>
                  <a:schemeClr val="tx1"/>
                </a:solidFill>
                <a:effectLst/>
                <a:latin typeface="+mn-lt"/>
                <a:ea typeface="+mn-ea"/>
                <a:cs typeface="+mn-cs"/>
              </a:rPr>
              <a:t>consumidas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diferentes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a:t>
            </a:r>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Cerrar el bloque conceptual del módulo 4 con una introducción a MCP (Model Context Protocol): un estándar abierto, no exclusivo de Microsoft, que define cómo una aplicación ofrece tools y datos contextuales a un modelo de lenguaje. En Foundry, un agente puede conectarse a un servidor MCP remoto (autenticado por clave, Entra ID u OAuth on-behalf-of) como si fuera una tool más. El valor práctico es que la misma tool se puede reusar entre agentes distintos, frameworks distintos e incluso organizaciones distintas, en lugar de reescribir una integración a medida cada vez. </a:t>
            </a:r>
          </a:p>
          <a:p>
            <a:endParaRPr lang="en-US"/>
          </a:p>
          <a:p>
            <a:r>
              <a:rPr lang="en-US" sz="1200" b="0" i="0" kern="1200">
                <a:solidFill>
                  <a:schemeClr val="tx1"/>
                </a:solidFill>
                <a:effectLst/>
                <a:latin typeface="+mn-lt"/>
                <a:ea typeface="+mn-ea"/>
                <a:cs typeface="+mn-cs"/>
              </a:rPr>
              <a:t>“Hasta </a:t>
            </a:r>
            <a:r>
              <a:rPr lang="en-US" sz="1200" b="0" i="0" kern="1200" err="1">
                <a:solidFill>
                  <a:schemeClr val="tx1"/>
                </a:solidFill>
                <a:effectLst/>
                <a:latin typeface="+mn-lt"/>
                <a:ea typeface="+mn-ea"/>
                <a:cs typeface="+mn-cs"/>
              </a:rPr>
              <a:t>ahora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hablamos</a:t>
            </a:r>
            <a:r>
              <a:rPr lang="en-US" sz="1200" b="0" i="0" kern="1200">
                <a:solidFill>
                  <a:schemeClr val="tx1"/>
                </a:solidFill>
                <a:effectLst/>
                <a:latin typeface="+mn-lt"/>
                <a:ea typeface="+mn-ea"/>
                <a:cs typeface="+mn-cs"/>
              </a:rPr>
              <a:t> de tools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capacidades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permiten</a:t>
            </a:r>
            <a:r>
              <a:rPr lang="en-US" sz="1200" b="0" i="0" kern="1200">
                <a:solidFill>
                  <a:schemeClr val="tx1"/>
                </a:solidFill>
                <a:effectLst/>
                <a:latin typeface="+mn-lt"/>
                <a:ea typeface="+mn-ea"/>
                <a:cs typeface="+mn-cs"/>
              </a:rPr>
              <a:t> al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consultar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ejecutar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acciones</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siguiente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concepto</a:t>
            </a:r>
            <a:r>
              <a:rPr lang="en-US" sz="1200" b="0" i="0" kern="1200">
                <a:solidFill>
                  <a:schemeClr val="tx1"/>
                </a:solidFill>
                <a:effectLst/>
                <a:latin typeface="+mn-lt"/>
                <a:ea typeface="+mn-ea"/>
                <a:cs typeface="+mn-cs"/>
              </a:rPr>
              <a:t> es </a:t>
            </a:r>
            <a:r>
              <a:rPr lang="en-US" sz="1200" b="1" i="0" kern="1200">
                <a:solidFill>
                  <a:schemeClr val="tx1"/>
                </a:solidFill>
                <a:effectLst/>
                <a:latin typeface="+mn-lt"/>
                <a:ea typeface="+mn-ea"/>
                <a:cs typeface="+mn-cs"/>
              </a:rPr>
              <a:t>MCP</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define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forma </a:t>
            </a:r>
            <a:r>
              <a:rPr lang="en-US" sz="1200" b="0" i="0" kern="1200" err="1">
                <a:solidFill>
                  <a:schemeClr val="tx1"/>
                </a:solidFill>
                <a:effectLst/>
                <a:latin typeface="+mn-lt"/>
                <a:ea typeface="+mn-ea"/>
                <a:cs typeface="+mn-cs"/>
              </a:rPr>
              <a:t>estándar</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conectar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esas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“MCP </a:t>
            </a:r>
            <a:r>
              <a:rPr lang="en-US" sz="1200" b="0" i="0" kern="1200" err="1">
                <a:solidFill>
                  <a:schemeClr val="tx1"/>
                </a:solidFill>
                <a:effectLst/>
                <a:latin typeface="+mn-lt"/>
                <a:ea typeface="+mn-ea"/>
                <a:cs typeface="+mn-cs"/>
              </a:rPr>
              <a:t>significa</a:t>
            </a:r>
            <a:r>
              <a:rPr lang="en-US" sz="1200" b="0" i="0" kern="1200">
                <a:solidFill>
                  <a:schemeClr val="tx1"/>
                </a:solidFill>
                <a:effectLst/>
                <a:latin typeface="+mn-lt"/>
                <a:ea typeface="+mn-ea"/>
                <a:cs typeface="+mn-cs"/>
              </a:rPr>
              <a:t> </a:t>
            </a:r>
            <a:r>
              <a:rPr lang="en-US" sz="1200" b="0" i="1" kern="1200">
                <a:solidFill>
                  <a:schemeClr val="tx1"/>
                </a:solidFill>
                <a:effectLst/>
                <a:latin typeface="+mn-lt"/>
                <a:ea typeface="+mn-ea"/>
                <a:cs typeface="+mn-cs"/>
              </a:rPr>
              <a:t>Model Context Protocol</a:t>
            </a:r>
            <a:r>
              <a:rPr lang="en-US" sz="1200" b="0" i="0" kern="1200">
                <a:solidFill>
                  <a:schemeClr val="tx1"/>
                </a:solidFill>
                <a:effectLst/>
                <a:latin typeface="+mn-lt"/>
                <a:ea typeface="+mn-ea"/>
                <a:cs typeface="+mn-cs"/>
              </a:rPr>
              <a:t>. Podemos </a:t>
            </a:r>
            <a:r>
              <a:rPr lang="en-US" sz="1200" b="0" i="0" kern="1200" err="1">
                <a:solidFill>
                  <a:schemeClr val="tx1"/>
                </a:solidFill>
                <a:effectLst/>
                <a:latin typeface="+mn-lt"/>
                <a:ea typeface="+mn-ea"/>
                <a:cs typeface="+mn-cs"/>
              </a:rPr>
              <a:t>pensarlo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contrato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común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permite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aplicación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exponga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y datos para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descubrirlos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utilizarlos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“En Foundry, un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conectarse</a:t>
            </a:r>
            <a:r>
              <a:rPr lang="en-US" sz="1200" b="0" i="0" kern="1200">
                <a:solidFill>
                  <a:schemeClr val="tx1"/>
                </a:solidFill>
                <a:effectLst/>
                <a:latin typeface="+mn-lt"/>
                <a:ea typeface="+mn-ea"/>
                <a:cs typeface="+mn-cs"/>
              </a:rPr>
              <a:t> a un </a:t>
            </a:r>
            <a:r>
              <a:rPr lang="en-US" sz="1200" b="0" i="0" kern="1200" err="1">
                <a:solidFill>
                  <a:schemeClr val="tx1"/>
                </a:solidFill>
                <a:effectLst/>
                <a:latin typeface="+mn-lt"/>
                <a:ea typeface="+mn-ea"/>
                <a:cs typeface="+mn-cs"/>
              </a:rPr>
              <a:t>servidor</a:t>
            </a:r>
            <a:r>
              <a:rPr lang="en-US" sz="1200" b="0" i="0" kern="1200">
                <a:solidFill>
                  <a:schemeClr val="tx1"/>
                </a:solidFill>
                <a:effectLst/>
                <a:latin typeface="+mn-lt"/>
                <a:ea typeface="+mn-ea"/>
                <a:cs typeface="+mn-cs"/>
              </a:rPr>
              <a:t> MCP </a:t>
            </a:r>
            <a:r>
              <a:rPr lang="en-US" sz="1200" b="0" i="0" kern="1200" err="1">
                <a:solidFill>
                  <a:schemeClr val="tx1"/>
                </a:solidFill>
                <a:effectLst/>
                <a:latin typeface="+mn-lt"/>
                <a:ea typeface="+mn-ea"/>
                <a:cs typeface="+mn-cs"/>
              </a:rPr>
              <a:t>remoto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ya</a:t>
            </a:r>
            <a:r>
              <a:rPr lang="en-US" sz="1200" b="0" i="0" kern="1200">
                <a:solidFill>
                  <a:schemeClr val="tx1"/>
                </a:solidFill>
                <a:effectLst/>
                <a:latin typeface="+mn-lt"/>
                <a:ea typeface="+mn-ea"/>
                <a:cs typeface="+mn-cs"/>
              </a:rPr>
              <a:t> sea </a:t>
            </a:r>
            <a:r>
              <a:rPr lang="en-US" sz="1200" b="0" i="0" kern="1200" err="1">
                <a:solidFill>
                  <a:schemeClr val="tx1"/>
                </a:solidFill>
                <a:effectLst/>
                <a:latin typeface="+mn-lt"/>
                <a:ea typeface="+mn-ea"/>
                <a:cs typeface="+mn-cs"/>
              </a:rPr>
              <a:t>desarrollado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nuestra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organización</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proporcionado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por</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tercero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Desde</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perspectiva</a:t>
            </a:r>
            <a:r>
              <a:rPr lang="en-US" sz="1200" b="0" i="0" kern="1200">
                <a:solidFill>
                  <a:schemeClr val="tx1"/>
                </a:solidFill>
                <a:effectLst/>
                <a:latin typeface="+mn-lt"/>
                <a:ea typeface="+mn-ea"/>
                <a:cs typeface="+mn-cs"/>
              </a:rPr>
              <a:t> del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capacidades</a:t>
            </a:r>
            <a:r>
              <a:rPr lang="en-US" sz="1200" b="0" i="0" kern="1200">
                <a:solidFill>
                  <a:schemeClr val="tx1"/>
                </a:solidFill>
                <a:effectLst/>
                <a:latin typeface="+mn-lt"/>
                <a:ea typeface="+mn-ea"/>
                <a:cs typeface="+mn-cs"/>
              </a:rPr>
              <a:t> de ese </a:t>
            </a:r>
            <a:r>
              <a:rPr lang="en-US" sz="1200" b="0" i="0" kern="1200" err="1">
                <a:solidFill>
                  <a:schemeClr val="tx1"/>
                </a:solidFill>
                <a:effectLst/>
                <a:latin typeface="+mn-lt"/>
                <a:ea typeface="+mn-ea"/>
                <a:cs typeface="+mn-cs"/>
              </a:rPr>
              <a:t>servidor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aparecen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disponibles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“Por </a:t>
            </a:r>
            <a:r>
              <a:rPr lang="en-US" sz="1200" b="0" i="0" kern="1200" err="1">
                <a:solidFill>
                  <a:schemeClr val="tx1"/>
                </a:solidFill>
                <a:effectLst/>
                <a:latin typeface="+mn-lt"/>
                <a:ea typeface="+mn-ea"/>
                <a:cs typeface="+mn-cs"/>
              </a:rPr>
              <a:t>ejemplo</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servidor</a:t>
            </a:r>
            <a:r>
              <a:rPr lang="en-US" sz="1200" b="0" i="0" kern="1200">
                <a:solidFill>
                  <a:schemeClr val="tx1"/>
                </a:solidFill>
                <a:effectLst/>
                <a:latin typeface="+mn-lt"/>
                <a:ea typeface="+mn-ea"/>
                <a:cs typeface="+mn-cs"/>
              </a:rPr>
              <a:t> MCP </a:t>
            </a:r>
            <a:r>
              <a:rPr lang="en-US" sz="1200" b="0" i="0" kern="1200" err="1">
                <a:solidFill>
                  <a:schemeClr val="tx1"/>
                </a:solidFill>
                <a:effectLst/>
                <a:latin typeface="+mn-lt"/>
                <a:ea typeface="+mn-ea"/>
                <a:cs typeface="+mn-cs"/>
              </a:rPr>
              <a:t>podría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ofrecer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consultar</a:t>
            </a:r>
            <a:r>
              <a:rPr lang="en-US" sz="1200" b="0" i="0" kern="1200">
                <a:solidFill>
                  <a:schemeClr val="tx1"/>
                </a:solidFill>
                <a:effectLst/>
                <a:latin typeface="+mn-lt"/>
                <a:ea typeface="+mn-ea"/>
                <a:cs typeface="+mn-cs"/>
              </a:rPr>
              <a:t> el </a:t>
            </a:r>
            <a:r>
              <a:rPr lang="en-US" sz="1200" b="0" i="0" kern="1200" err="1">
                <a:solidFill>
                  <a:schemeClr val="tx1"/>
                </a:solidFill>
                <a:effectLst/>
                <a:latin typeface="+mn-lt"/>
                <a:ea typeface="+mn-ea"/>
                <a:cs typeface="+mn-cs"/>
              </a:rPr>
              <a:t>estado</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solicitud</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buscar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información</a:t>
            </a:r>
            <a:r>
              <a:rPr lang="en-US" sz="1200" b="0" i="0" kern="1200">
                <a:solidFill>
                  <a:schemeClr val="tx1"/>
                </a:solidFill>
                <a:effectLst/>
                <a:latin typeface="+mn-lt"/>
                <a:ea typeface="+mn-ea"/>
                <a:cs typeface="+mn-cs"/>
              </a:rPr>
              <a:t> en un </a:t>
            </a:r>
            <a:r>
              <a:rPr lang="en-US" sz="1200" b="0" i="0" kern="1200" err="1">
                <a:solidFill>
                  <a:schemeClr val="tx1"/>
                </a:solidFill>
                <a:effectLst/>
                <a:latin typeface="+mn-lt"/>
                <a:ea typeface="+mn-ea"/>
                <a:cs typeface="+mn-cs"/>
              </a:rPr>
              <a:t>sistema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interno</a:t>
            </a:r>
            <a:r>
              <a:rPr lang="en-US" sz="1200" b="0" i="0" kern="1200">
                <a:solidFill>
                  <a:schemeClr val="tx1"/>
                </a:solidFill>
                <a:effectLst/>
                <a:latin typeface="+mn-lt"/>
                <a:ea typeface="+mn-ea"/>
                <a:cs typeface="+mn-cs"/>
              </a:rPr>
              <a:t> o </a:t>
            </a:r>
            <a:r>
              <a:rPr lang="en-US" sz="1200" b="0" i="0" kern="1200" err="1">
                <a:solidFill>
                  <a:schemeClr val="tx1"/>
                </a:solidFill>
                <a:effectLst/>
                <a:latin typeface="+mn-lt"/>
                <a:ea typeface="+mn-ea"/>
                <a:cs typeface="+mn-cs"/>
              </a:rPr>
              <a:t>realizar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operación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autorizada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“La principal </a:t>
            </a:r>
            <a:r>
              <a:rPr lang="en-US" sz="1200" b="0" i="0" kern="1200" err="1">
                <a:solidFill>
                  <a:schemeClr val="tx1"/>
                </a:solidFill>
                <a:effectLst/>
                <a:latin typeface="+mn-lt"/>
                <a:ea typeface="+mn-ea"/>
                <a:cs typeface="+mn-cs"/>
              </a:rPr>
              <a:t>ventaja</a:t>
            </a:r>
            <a:r>
              <a:rPr lang="en-US" sz="1200" b="0" i="0" kern="1200">
                <a:solidFill>
                  <a:schemeClr val="tx1"/>
                </a:solidFill>
                <a:effectLst/>
                <a:latin typeface="+mn-lt"/>
                <a:ea typeface="+mn-ea"/>
                <a:cs typeface="+mn-cs"/>
              </a:rPr>
              <a:t> es la </a:t>
            </a:r>
            <a:r>
              <a:rPr lang="en-US" sz="1200" b="0" i="0" kern="1200" err="1">
                <a:solidFill>
                  <a:schemeClr val="tx1"/>
                </a:solidFill>
                <a:effectLst/>
                <a:latin typeface="+mn-lt"/>
                <a:ea typeface="+mn-ea"/>
                <a:cs typeface="+mn-cs"/>
              </a:rPr>
              <a:t>reutilización</a:t>
            </a:r>
            <a:r>
              <a:rPr lang="en-US" sz="1200" b="0" i="0" kern="1200">
                <a:solidFill>
                  <a:schemeClr val="tx1"/>
                </a:solidFill>
                <a:effectLst/>
                <a:latin typeface="+mn-lt"/>
                <a:ea typeface="+mn-ea"/>
                <a:cs typeface="+mn-cs"/>
              </a:rPr>
              <a:t>. Sin un </a:t>
            </a:r>
            <a:r>
              <a:rPr lang="en-US" sz="1200" b="0" i="0" kern="1200" err="1">
                <a:solidFill>
                  <a:schemeClr val="tx1"/>
                </a:solidFill>
                <a:effectLst/>
                <a:latin typeface="+mn-lt"/>
                <a:ea typeface="+mn-ea"/>
                <a:cs typeface="+mn-cs"/>
              </a:rPr>
              <a:t>estándar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común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podríamos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tener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desarrollar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integración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diferente</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cada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y framework. Con MCP, </a:t>
            </a:r>
            <a:r>
              <a:rPr lang="en-US" sz="1200" b="0" i="0" kern="1200" err="1">
                <a:solidFill>
                  <a:schemeClr val="tx1"/>
                </a:solidFill>
                <a:effectLst/>
                <a:latin typeface="+mn-lt"/>
                <a:ea typeface="+mn-ea"/>
                <a:cs typeface="+mn-cs"/>
              </a:rPr>
              <a:t>una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misma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implementación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ponerse</a:t>
            </a:r>
            <a:r>
              <a:rPr lang="en-US" sz="1200" b="0" i="0" kern="1200">
                <a:solidFill>
                  <a:schemeClr val="tx1"/>
                </a:solidFill>
                <a:effectLst/>
                <a:latin typeface="+mn-lt"/>
                <a:ea typeface="+mn-ea"/>
                <a:cs typeface="+mn-cs"/>
              </a:rPr>
              <a:t> a </a:t>
            </a:r>
            <a:r>
              <a:rPr lang="en-US" sz="1200" b="0" i="0" kern="1200" err="1">
                <a:solidFill>
                  <a:schemeClr val="tx1"/>
                </a:solidFill>
                <a:effectLst/>
                <a:latin typeface="+mn-lt"/>
                <a:ea typeface="+mn-ea"/>
                <a:cs typeface="+mn-cs"/>
              </a:rPr>
              <a:t>disposición</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distintos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agentes</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“Es </a:t>
            </a:r>
            <a:r>
              <a:rPr lang="en-US" sz="1200" b="0" i="0" kern="1200" err="1">
                <a:solidFill>
                  <a:schemeClr val="tx1"/>
                </a:solidFill>
                <a:effectLst/>
                <a:latin typeface="+mn-lt"/>
                <a:ea typeface="+mn-ea"/>
                <a:cs typeface="+mn-cs"/>
              </a:rPr>
              <a:t>importante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aclarar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que</a:t>
            </a:r>
            <a:r>
              <a:rPr lang="en-US" sz="1200" b="0" i="0" kern="1200">
                <a:solidFill>
                  <a:schemeClr val="tx1"/>
                </a:solidFill>
                <a:effectLst/>
                <a:latin typeface="+mn-lt"/>
                <a:ea typeface="+mn-ea"/>
                <a:cs typeface="+mn-cs"/>
              </a:rPr>
              <a:t> MCP define la forma de </a:t>
            </a:r>
            <a:r>
              <a:rPr lang="en-US" sz="1200" b="0" i="0" kern="1200" err="1">
                <a:solidFill>
                  <a:schemeClr val="tx1"/>
                </a:solidFill>
                <a:effectLst/>
                <a:latin typeface="+mn-lt"/>
                <a:ea typeface="+mn-ea"/>
                <a:cs typeface="+mn-cs"/>
              </a:rPr>
              <a:t>comunicación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pero</a:t>
            </a:r>
            <a:r>
              <a:rPr lang="en-US" sz="1200" b="0" i="0" kern="1200">
                <a:solidFill>
                  <a:schemeClr val="tx1"/>
                </a:solidFill>
                <a:effectLst/>
                <a:latin typeface="+mn-lt"/>
                <a:ea typeface="+mn-ea"/>
                <a:cs typeface="+mn-cs"/>
              </a:rPr>
              <a:t> no </a:t>
            </a:r>
            <a:r>
              <a:rPr lang="en-US" sz="1200" b="0" i="0" kern="1200" err="1">
                <a:solidFill>
                  <a:schemeClr val="tx1"/>
                </a:solidFill>
                <a:effectLst/>
                <a:latin typeface="+mn-lt"/>
                <a:ea typeface="+mn-ea"/>
                <a:cs typeface="+mn-cs"/>
              </a:rPr>
              <a:t>reemplaza</a:t>
            </a:r>
            <a:r>
              <a:rPr lang="en-US" sz="1200" b="0" i="0" kern="1200">
                <a:solidFill>
                  <a:schemeClr val="tx1"/>
                </a:solidFill>
                <a:effectLst/>
                <a:latin typeface="+mn-lt"/>
                <a:ea typeface="+mn-ea"/>
                <a:cs typeface="+mn-cs"/>
              </a:rPr>
              <a:t> los </a:t>
            </a:r>
            <a:r>
              <a:rPr lang="en-US" sz="1200" b="0" i="0" kern="1200" err="1">
                <a:solidFill>
                  <a:schemeClr val="tx1"/>
                </a:solidFill>
                <a:effectLst/>
                <a:latin typeface="+mn-lt"/>
                <a:ea typeface="+mn-ea"/>
                <a:cs typeface="+mn-cs"/>
              </a:rPr>
              <a:t>controles</a:t>
            </a:r>
            <a:r>
              <a:rPr lang="en-US" sz="1200" b="0" i="0" kern="1200">
                <a:solidFill>
                  <a:schemeClr val="tx1"/>
                </a:solidFill>
                <a:effectLst/>
                <a:latin typeface="+mn-lt"/>
                <a:ea typeface="+mn-ea"/>
                <a:cs typeface="+mn-cs"/>
              </a:rPr>
              <a:t> de </a:t>
            </a:r>
            <a:r>
              <a:rPr lang="en-US" sz="1200" b="0" i="0" kern="1200" err="1">
                <a:solidFill>
                  <a:schemeClr val="tx1"/>
                </a:solidFill>
                <a:effectLst/>
                <a:latin typeface="+mn-lt"/>
                <a:ea typeface="+mn-ea"/>
                <a:cs typeface="+mn-cs"/>
              </a:rPr>
              <a:t>seguridad</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autenticación</a:t>
            </a:r>
            <a:r>
              <a:rPr lang="en-US" sz="1200" b="0" i="0" kern="1200">
                <a:solidFill>
                  <a:schemeClr val="tx1"/>
                </a:solidFill>
                <a:effectLst/>
                <a:latin typeface="+mn-lt"/>
                <a:ea typeface="+mn-ea"/>
                <a:cs typeface="+mn-cs"/>
              </a:rPr>
              <a:t>, la </a:t>
            </a:r>
            <a:r>
              <a:rPr lang="en-US" sz="1200" b="0" i="0" kern="1200" err="1">
                <a:solidFill>
                  <a:schemeClr val="tx1"/>
                </a:solidFill>
                <a:effectLst/>
                <a:latin typeface="+mn-lt"/>
                <a:ea typeface="+mn-ea"/>
                <a:cs typeface="+mn-cs"/>
              </a:rPr>
              <a:t>autorización</a:t>
            </a:r>
            <a:r>
              <a:rPr lang="en-US" sz="1200" b="0" i="0" kern="1200">
                <a:solidFill>
                  <a:schemeClr val="tx1"/>
                </a:solidFill>
                <a:effectLst/>
                <a:latin typeface="+mn-lt"/>
                <a:ea typeface="+mn-ea"/>
                <a:cs typeface="+mn-cs"/>
              </a:rPr>
              <a:t> y los </a:t>
            </a:r>
            <a:r>
              <a:rPr lang="en-US" sz="1200" b="0" i="0" kern="1200" err="1">
                <a:solidFill>
                  <a:schemeClr val="tx1"/>
                </a:solidFill>
                <a:effectLst/>
                <a:latin typeface="+mn-lt"/>
                <a:ea typeface="+mn-ea"/>
                <a:cs typeface="+mn-cs"/>
              </a:rPr>
              <a:t>permisos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siguen</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siendo</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necesarios</a:t>
            </a:r>
            <a:r>
              <a:rPr lang="en-US" sz="1200" b="0" i="0" kern="1200">
                <a:solidFill>
                  <a:schemeClr val="tx1"/>
                </a:solidFill>
                <a:effectLst/>
                <a:latin typeface="+mn-lt"/>
                <a:ea typeface="+mn-ea"/>
                <a:cs typeface="+mn-cs"/>
              </a:rPr>
              <a:t> para </a:t>
            </a:r>
            <a:r>
              <a:rPr lang="en-US" sz="1200" b="0" i="0" kern="1200" err="1">
                <a:solidFill>
                  <a:schemeClr val="tx1"/>
                </a:solidFill>
                <a:effectLst/>
                <a:latin typeface="+mn-lt"/>
                <a:ea typeface="+mn-ea"/>
                <a:cs typeface="+mn-cs"/>
              </a:rPr>
              <a:t>determinar</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qué</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usar </a:t>
            </a:r>
            <a:r>
              <a:rPr lang="en-US" sz="1200" b="0" i="0" kern="1200" err="1">
                <a:solidFill>
                  <a:schemeClr val="tx1"/>
                </a:solidFill>
                <a:effectLst/>
                <a:latin typeface="+mn-lt"/>
                <a:ea typeface="+mn-ea"/>
                <a:cs typeface="+mn-cs"/>
              </a:rPr>
              <a:t>cada</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agente</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qué</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operaciones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realizar</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“Esto se </a:t>
            </a:r>
            <a:r>
              <a:rPr lang="en-US" sz="1200" b="0" i="0" kern="1200" err="1">
                <a:solidFill>
                  <a:schemeClr val="tx1"/>
                </a:solidFill>
                <a:effectLst/>
                <a:latin typeface="+mn-lt"/>
                <a:ea typeface="+mn-ea"/>
                <a:cs typeface="+mn-cs"/>
              </a:rPr>
              <a:t>conecta</a:t>
            </a:r>
            <a:r>
              <a:rPr lang="en-US" sz="1200" b="0" i="0" kern="1200">
                <a:solidFill>
                  <a:schemeClr val="tx1"/>
                </a:solidFill>
                <a:effectLst/>
                <a:latin typeface="+mn-lt"/>
                <a:ea typeface="+mn-ea"/>
                <a:cs typeface="+mn-cs"/>
              </a:rPr>
              <a:t> con el slide anterior: Foundry Toolbox </a:t>
            </a:r>
            <a:r>
              <a:rPr lang="en-US" sz="1200" b="0" i="0" kern="1200" err="1">
                <a:solidFill>
                  <a:schemeClr val="tx1"/>
                </a:solidFill>
                <a:effectLst/>
                <a:latin typeface="+mn-lt"/>
                <a:ea typeface="+mn-ea"/>
                <a:cs typeface="+mn-cs"/>
              </a:rPr>
              <a:t>puede</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agrupar</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gobernar</a:t>
            </a:r>
            <a:r>
              <a:rPr lang="en-US" sz="1200" b="0" i="0" kern="1200">
                <a:solidFill>
                  <a:schemeClr val="tx1"/>
                </a:solidFill>
                <a:effectLst/>
                <a:latin typeface="+mn-lt"/>
                <a:ea typeface="+mn-ea"/>
                <a:cs typeface="+mn-cs"/>
              </a:rPr>
              <a:t> las </a:t>
            </a:r>
            <a:r>
              <a:rPr lang="en-US" sz="1200" b="0" i="0" kern="1200" err="1">
                <a:solidFill>
                  <a:schemeClr val="tx1"/>
                </a:solidFill>
                <a:effectLst/>
                <a:latin typeface="+mn-lt"/>
                <a:ea typeface="+mn-ea"/>
                <a:cs typeface="+mn-cs"/>
              </a:rPr>
              <a:t>herramientas</a:t>
            </a:r>
            <a:r>
              <a:rPr lang="en-US" sz="1200" b="0" i="0" kern="1200">
                <a:solidFill>
                  <a:schemeClr val="tx1"/>
                </a:solidFill>
                <a:effectLst/>
                <a:latin typeface="+mn-lt"/>
                <a:ea typeface="+mn-ea"/>
                <a:cs typeface="+mn-cs"/>
              </a:rPr>
              <a:t>, y </a:t>
            </a:r>
            <a:r>
              <a:rPr lang="en-US" sz="1200" b="0" i="0" kern="1200" err="1">
                <a:solidFill>
                  <a:schemeClr val="tx1"/>
                </a:solidFill>
                <a:effectLst/>
                <a:latin typeface="+mn-lt"/>
                <a:ea typeface="+mn-ea"/>
                <a:cs typeface="+mn-cs"/>
              </a:rPr>
              <a:t>exponerlas</a:t>
            </a:r>
            <a:r>
              <a:rPr lang="en-US" sz="1200" b="0" i="0" kern="1200">
                <a:solidFill>
                  <a:schemeClr val="tx1"/>
                </a:solidFill>
                <a:effectLst/>
                <a:latin typeface="+mn-lt"/>
                <a:ea typeface="+mn-ea"/>
                <a:cs typeface="+mn-cs"/>
              </a:rPr>
              <a:t> </a:t>
            </a:r>
            <a:r>
              <a:rPr lang="en-US" sz="1200" b="0" i="0" kern="1200" err="1">
                <a:solidFill>
                  <a:schemeClr val="tx1"/>
                </a:solidFill>
                <a:effectLst/>
                <a:latin typeface="+mn-lt"/>
                <a:ea typeface="+mn-ea"/>
                <a:cs typeface="+mn-cs"/>
              </a:rPr>
              <a:t>mediante</a:t>
            </a:r>
            <a:r>
              <a:rPr lang="en-US" sz="1200" b="0" i="0" kern="1200">
                <a:solidFill>
                  <a:schemeClr val="tx1"/>
                </a:solidFill>
                <a:effectLst/>
                <a:latin typeface="+mn-lt"/>
                <a:ea typeface="+mn-ea"/>
                <a:cs typeface="+mn-cs"/>
              </a:rPr>
              <a:t> un </a:t>
            </a:r>
            <a:r>
              <a:rPr lang="en-US" sz="1200" b="0" i="0" kern="1200" err="1">
                <a:solidFill>
                  <a:schemeClr val="tx1"/>
                </a:solidFill>
                <a:effectLst/>
                <a:latin typeface="+mn-lt"/>
                <a:ea typeface="+mn-ea"/>
                <a:cs typeface="+mn-cs"/>
              </a:rPr>
              <a:t>único</a:t>
            </a:r>
            <a:r>
              <a:rPr lang="en-US" sz="1200" b="0" i="0" kern="1200">
                <a:solidFill>
                  <a:schemeClr val="tx1"/>
                </a:solidFill>
                <a:effectLst/>
                <a:latin typeface="+mn-lt"/>
                <a:ea typeface="+mn-ea"/>
                <a:cs typeface="+mn-cs"/>
              </a:rPr>
              <a:t> endpoint compatible con MCP.”</a:t>
            </a:r>
          </a:p>
          <a:p>
            <a:r>
              <a:rPr lang="en-US" sz="1200" b="0" i="0" kern="1200">
                <a:solidFill>
                  <a:schemeClr val="tx1"/>
                </a:solidFill>
                <a:effectLst/>
                <a:latin typeface="+mn-lt"/>
                <a:ea typeface="+mn-ea"/>
                <a:cs typeface="+mn-cs"/>
              </a:rPr>
              <a:t>“En </a:t>
            </a:r>
            <a:r>
              <a:rPr lang="en-US" sz="1200" b="0" i="0" kern="1200" err="1">
                <a:solidFill>
                  <a:schemeClr val="tx1"/>
                </a:solidFill>
                <a:effectLst/>
                <a:latin typeface="+mn-lt"/>
                <a:ea typeface="+mn-ea"/>
                <a:cs typeface="+mn-cs"/>
              </a:rPr>
              <a:t>resumen</a:t>
            </a:r>
            <a:r>
              <a:rPr lang="en-US" sz="1200" b="0" i="0" kern="1200">
                <a:solidFill>
                  <a:schemeClr val="tx1"/>
                </a:solidFill>
                <a:effectLst/>
                <a:latin typeface="+mn-lt"/>
                <a:ea typeface="+mn-ea"/>
                <a:cs typeface="+mn-cs"/>
              </a:rPr>
              <a:t>: </a:t>
            </a:r>
            <a:r>
              <a:rPr lang="en-US" sz="1200" b="1" i="0" kern="1200">
                <a:solidFill>
                  <a:schemeClr val="tx1"/>
                </a:solidFill>
                <a:effectLst/>
                <a:latin typeface="+mn-lt"/>
                <a:ea typeface="+mn-ea"/>
                <a:cs typeface="+mn-cs"/>
              </a:rPr>
              <a:t>MCP </a:t>
            </a:r>
            <a:r>
              <a:rPr lang="en-US" sz="1200" b="1" i="0" kern="1200" err="1">
                <a:solidFill>
                  <a:schemeClr val="tx1"/>
                </a:solidFill>
                <a:effectLst/>
                <a:latin typeface="+mn-lt"/>
                <a:ea typeface="+mn-ea"/>
                <a:cs typeface="+mn-cs"/>
              </a:rPr>
              <a:t>estandariza</a:t>
            </a:r>
            <a:r>
              <a:rPr lang="en-US" sz="1200" b="1" i="0" kern="1200">
                <a:solidFill>
                  <a:schemeClr val="tx1"/>
                </a:solidFill>
                <a:effectLst/>
                <a:latin typeface="+mn-lt"/>
                <a:ea typeface="+mn-ea"/>
                <a:cs typeface="+mn-cs"/>
              </a:rPr>
              <a:t> la </a:t>
            </a:r>
            <a:r>
              <a:rPr lang="en-US" sz="1200" b="1" i="0" kern="1200" err="1">
                <a:solidFill>
                  <a:schemeClr val="tx1"/>
                </a:solidFill>
                <a:effectLst/>
                <a:latin typeface="+mn-lt"/>
                <a:ea typeface="+mn-ea"/>
                <a:cs typeface="+mn-cs"/>
              </a:rPr>
              <a:t>conexión</a:t>
            </a:r>
            <a:r>
              <a:rPr lang="en-US" sz="1200" b="1" i="0" kern="1200">
                <a:solidFill>
                  <a:schemeClr val="tx1"/>
                </a:solidFill>
                <a:effectLst/>
                <a:latin typeface="+mn-lt"/>
                <a:ea typeface="+mn-ea"/>
                <a:cs typeface="+mn-cs"/>
              </a:rPr>
              <a:t>, el </a:t>
            </a:r>
            <a:r>
              <a:rPr lang="en-US" sz="1200" b="1" i="0" kern="1200" err="1">
                <a:solidFill>
                  <a:schemeClr val="tx1"/>
                </a:solidFill>
                <a:effectLst/>
                <a:latin typeface="+mn-lt"/>
                <a:ea typeface="+mn-ea"/>
                <a:cs typeface="+mn-cs"/>
              </a:rPr>
              <a:t>servidor</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ofrece</a:t>
            </a:r>
            <a:r>
              <a:rPr lang="en-US" sz="1200" b="1" i="0" kern="1200">
                <a:solidFill>
                  <a:schemeClr val="tx1"/>
                </a:solidFill>
                <a:effectLst/>
                <a:latin typeface="+mn-lt"/>
                <a:ea typeface="+mn-ea"/>
                <a:cs typeface="+mn-cs"/>
              </a:rPr>
              <a:t> las </a:t>
            </a:r>
            <a:r>
              <a:rPr lang="en-US" sz="1200" b="1" i="0" kern="1200" err="1">
                <a:solidFill>
                  <a:schemeClr val="tx1"/>
                </a:solidFill>
                <a:effectLst/>
                <a:latin typeface="+mn-lt"/>
                <a:ea typeface="+mn-ea"/>
                <a:cs typeface="+mn-cs"/>
              </a:rPr>
              <a:t>herramientas</a:t>
            </a:r>
            <a:r>
              <a:rPr lang="en-US" sz="1200" b="1" i="0" kern="1200">
                <a:solidFill>
                  <a:schemeClr val="tx1"/>
                </a:solidFill>
                <a:effectLst/>
                <a:latin typeface="+mn-lt"/>
                <a:ea typeface="+mn-ea"/>
                <a:cs typeface="+mn-cs"/>
              </a:rPr>
              <a:t> y el </a:t>
            </a:r>
            <a:r>
              <a:rPr lang="en-US" sz="1200" b="1" i="0" kern="1200" err="1">
                <a:solidFill>
                  <a:schemeClr val="tx1"/>
                </a:solidFill>
                <a:effectLst/>
                <a:latin typeface="+mn-lt"/>
                <a:ea typeface="+mn-ea"/>
                <a:cs typeface="+mn-cs"/>
              </a:rPr>
              <a:t>agente</a:t>
            </a:r>
            <a:r>
              <a:rPr lang="en-US" sz="1200" b="1" i="0" kern="1200">
                <a:solidFill>
                  <a:schemeClr val="tx1"/>
                </a:solidFill>
                <a:effectLst/>
                <a:latin typeface="+mn-lt"/>
                <a:ea typeface="+mn-ea"/>
                <a:cs typeface="+mn-cs"/>
              </a:rPr>
              <a:t> decide </a:t>
            </a:r>
            <a:r>
              <a:rPr lang="en-US" sz="1200" b="1" i="0" kern="1200" err="1">
                <a:solidFill>
                  <a:schemeClr val="tx1"/>
                </a:solidFill>
                <a:effectLst/>
                <a:latin typeface="+mn-lt"/>
                <a:ea typeface="+mn-ea"/>
                <a:cs typeface="+mn-cs"/>
              </a:rPr>
              <a:t>cuándo</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utilizarlas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según</a:t>
            </a:r>
            <a:r>
              <a:rPr lang="en-US" sz="1200" b="1" i="0" kern="1200">
                <a:solidFill>
                  <a:schemeClr val="tx1"/>
                </a:solidFill>
                <a:effectLst/>
                <a:latin typeface="+mn-lt"/>
                <a:ea typeface="+mn-ea"/>
                <a:cs typeface="+mn-cs"/>
              </a:rPr>
              <a:t> la </a:t>
            </a:r>
            <a:r>
              <a:rPr lang="en-US" sz="1200" b="1" i="0" kern="1200" err="1">
                <a:solidFill>
                  <a:schemeClr val="tx1"/>
                </a:solidFill>
                <a:effectLst/>
                <a:latin typeface="+mn-lt"/>
                <a:ea typeface="+mn-ea"/>
                <a:cs typeface="+mn-cs"/>
              </a:rPr>
              <a:t>tarea</a:t>
            </a:r>
            <a:r>
              <a:rPr lang="en-US" sz="1200" b="1" i="0" kern="1200">
                <a:solidFill>
                  <a:schemeClr val="tx1"/>
                </a:solidFill>
                <a:effectLst/>
                <a:latin typeface="+mn-lt"/>
                <a:ea typeface="+mn-ea"/>
                <a:cs typeface="+mn-cs"/>
              </a:rPr>
              <a:t> y los </a:t>
            </a:r>
            <a:r>
              <a:rPr lang="en-US" sz="1200" b="1" i="0" kern="1200" err="1">
                <a:solidFill>
                  <a:schemeClr val="tx1"/>
                </a:solidFill>
                <a:effectLst/>
                <a:latin typeface="+mn-lt"/>
                <a:ea typeface="+mn-ea"/>
                <a:cs typeface="+mn-cs"/>
              </a:rPr>
              <a:t>permisos</a:t>
            </a:r>
            <a:r>
              <a:rPr lang="en-US" sz="1200" b="1" i="0" kern="1200">
                <a:solidFill>
                  <a:schemeClr val="tx1"/>
                </a:solidFill>
                <a:effectLst/>
                <a:latin typeface="+mn-lt"/>
                <a:ea typeface="+mn-ea"/>
                <a:cs typeface="+mn-cs"/>
              </a:rPr>
              <a:t> </a:t>
            </a:r>
            <a:r>
              <a:rPr lang="en-US" sz="1200" b="1" i="0" kern="1200" err="1">
                <a:solidFill>
                  <a:schemeClr val="tx1"/>
                </a:solidFill>
                <a:effectLst/>
                <a:latin typeface="+mn-lt"/>
                <a:ea typeface="+mn-ea"/>
                <a:cs typeface="+mn-cs"/>
              </a:rPr>
              <a:t>disponibles</a:t>
            </a:r>
            <a:r>
              <a:rPr lang="en-US" sz="1200" b="0" i="0" kern="1200">
                <a:solidFill>
                  <a:schemeClr val="tx1"/>
                </a:solidFill>
                <a:effectLst/>
                <a:latin typeface="+mn-lt"/>
                <a:ea typeface="+mn-ea"/>
                <a:cs typeface="+mn-cs"/>
              </a:rPr>
              <a:t>.”</a:t>
            </a:r>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Cerrar el módulo 4 con una tabla de decisión que resume todo lo visto en el día: cuándo alcanza con ajustar el prompt, cuándo conviene RAG, cuándo fine-tuning, cuándo se necesitan tools o MCP, cuándo conviene un Azure AI Service específico y cuándo un agente de voz. Esta diapositiva funciona como 'chuleta' para que cada persona se lleve un criterio inicial de decisión, que es justamente uno de los objetivos del día planteados al inicio. Sugerido: invitar a la sala a guardar esta diapositiva como referencia, y aclarar que se va a volver a usar implícitamente durante el laboratorio guiado que viene a continuación, después de la pausa. Fuente: docs-oficiales\foundry\concepts\capabilities.md (sección 'Start with your goal'); docs-oficiales\foundry\agents\concepts\what-is-foundry-iq.md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Después de la pausa de 10 minutos, arranca el bloque práctico del día: 65 minutos de laboratorio guiado en tres bloques, todos hands-on. El bloque A (15 min) deja el entorno listo: herramientas instaladas, az login con el Temporary Access Pass y acceso al proyecto Foundry; el bloque B (25 min) es la creación del primer agente; y el bloque C (25 min) es el OCR con Document Intelligence. No hay bloque de voz y avatar: ese tiempo se usa en la preparación del entorno, que además deja a todos listos para el Día 2. Sugerido: organizar a la sala en parejas o tríos antes de empezar y pedir que instalen las herramientas antes del taller, para que el bloque A sea solo una verificación. Fuente: laboratorios\dia1-lab-guiado\README.md (§3 Cronograma); MATERIALS_INDEX.md (§1, fila Lab guiado; §4 Entorno de laboratorio)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Dar la visión general del laboratorio antes de entrar al detalle de cada bloque. Explicar los tiempos aproximados (15/25/25 minutos) y los tres entregables: el entorno verificado, un agente probado y un documento ficticio con campos extraídos. Aclarar que el modelo de trabajo es gpt-5.6-luna, ya desplegado en la cuenta de cada persona con una cuota chica (unos 4K tokens por minuto): conviene que cada pareja haga preguntas cortas y, si aparece un error de límite, espere unos segundos o cambie a gpt-5-mini, también desplegado. Remarcar que en el bloque A el objetivo es verificar lo que ya se instaló antes del taller, no instalar todo desde cero. Sugerido: recorrer rápidamente dónde están las instrucciones escritas (guía del participante y repositorio público) para que cada grupo avance a su ritmo. Fuente: laboratorios\dia1-lab-guiado\README.md; repos\microsoftlearning-labs\mslearn-agent-quickstart\readme.md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Este bloque deja el entorno listo y sigue los prerrequisitos del ejercicio público de Microsoft Learn sobre funciones personalizadas en agentes: Visual Studio Code, una suscripción de Azure activa, Python 3.13 (la 3.14 todavía no está soportada por algunas dependencias) y Git; a eso se suma Azure CLI. Las cuentas del taller entran con un Temporary Access Pass entregado por los organizadores, sin registrar MFA; si alguien ve el error de registro de MFA, no está usando el pase. La mayor parte debería estar instalada antes del taller, así que el bloque es sobre todo una verificación. Sugerido: pedir que cada pareja confirme en voz alta que ve su proyecto en ai.azure.com y que az account show responde; quien no lo logre en 10 minutos se une a otra pareja mientras un facilitador lo ayuda. Este mismo entorno se usa en el Día 2. Fuente: laboratorios\dia1-lab-guiado\README.md (Bloque A); repos\microsoftlearning-labs (mslearn-ai-agents, ejercicio 02-agent-custom-tools)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Este bloque (el segundo del laboratorio) replica, paso a paso, la demo de creación de agente mostrada en el módulo 4: usar el modelo ya desplegado, escribir instrucciones y agregar una tool; el proyecto y el modelo gpt-5.6-luna ya vienen listos desde el bloque A, y gpt-5-mini queda de respaldo si hay límite de cuota. Usar como ejemplo un asistente de políticas internas ficticio (nunca información real de BCI), por ejemplo un reglamento interno inventado para el training. Circular entre las mesas para resolver dudas de acceso al proyecto o de permisos, que suelen ser el primer obstáculo. Sugerido: tener a mano 2-3 preguntas de ejemplo ya escritas para que quien se atrase pueda copiarlas y seguir avanzando sin perder el ritmo del grupo. El agente creado aquí es la base que se retoma el Día 2 para agregarle código propio. Fuente: repos\microsoftlearning-labs\mslearn-agent-quickstart\Instructions\01-get-started-in-foundry.md; repos\microsoftlearning-labs\mslearn-agent-quickstart\Instructions\01b-create-first-agent.md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Tercer bloque del laboratorio: cada grupo carga documentos bancarios ficticios (factura y solicitud de crédito; el comprobante ya se vio en la demo) (provisto en el material del laboratorio, jamás un documento real de un cliente de BCI) y corre un modelo prebuilt de Document Intelligence para extraer campos clave. El objetivo es que la sala vea de primera mano la diferencia entre un OCR clásico (solo texto plano) y la extracción estructurada con confianza por campo que ofrece Document Intelligence. Cerrar el bloque conectando con el módulo 4: estos campos extraídos son exactamente el tipo de dato que después alimentaría a un agente con una tool personalizada. Sugerido: si algún grupo termina antes, invitarlo a probar con un segundo documento ficticio de distinto formato para ver cómo cambia la confianza de extracción. Fuente: repos\microsoftlearning-labs\mslearn-ai-information-extraction\Instructions\03-document-intelligence.md; docs-oficiales\ai-services-document-intelligence\studio-overview.md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Abrir el cierre del día (módulo 'Preguntas y cierre', 15 minutos) recapitulando los cuatro mensajes centrales de la jornada: la plataforma unificada, la importancia de elegir bien modelo y deployment type, la anatomía de un agente, y las piezas de conocimiento e integración (RAG, Foundry IQ, MCP). Pedir a la sala que, en voz alta o por chat de Teams, compartan una cosa que les haya sorprendido o una duda que les haya quedado pendiente. Sugerido: dejar unos 5 minutos reales de preguntas abiertas antes de pasar al adelanto del Día 2, priorizando preguntas que ayuden a todo el grupo. Fuente: MATERIALS_INDEX.md (§1 Día 1, columna Outcomes)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Dar el adelanto del Día 2 (L200: desarrollo de agentes y RAG con Azure AI Search). Explicar que mañana se retoma el agente creado hoy en el bloque B del laboratorio, para evolucionarlo hacia un hosted agent con Microsoft Agent Framework, agregarle tools personalizadas y MCP en profundidad, y finalmente construir una solución de RAG completa con Azure AI Search sobre un caso bancario ficticio. Confirmar el mismo horario y modalidad híbrida. Sugerido: pedir a cada persona que guarde el agente creado hoy, ya que se reutiliza mañana como punto de partida; esto motiva a no dejar el laboratorio a medio terminar. Fuente: MATERIALS_INDEX.md (§2 Día 2 – L200)</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Compartir los enlaces públicos para quienes quieran seguir explorando por su cuenta antes del Día 2: la documentación oficial de Microsoft Foundry (qué es, mapa de capacidades, Agent Service, Foundry IQ), la documentación de Azure AI Search, el sitio oficial de Model Context Protocol, y la guía para instalar Azure CLI, el repositorio público del laboratorio de hoy para quien quiera repetir el ejercicio en su propio tiempo. Todos los enlaces son públicos y no requieren acceso interno de Microsoft. Sugerido: pegar estos enlaces también en el canal de Teams del training para que queden a mano después de la sesión. Fuente: enlaces públicos de Microsoft Learn y modelcontextprotocol.io citados en cada diapositiva anterior</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Cerrar el Día 1 agradeciendo la participación activa del grupo, sobre todo durante el laboratorio guiado. Recordar el canal de Teams para dudas asincrónicas antes del Día 2 y confirmar que el material de hoy (enlaces públicos y el agente creado) queda disponible para quien quiera repasarlo. Sugerido: cerrar con una frase que conecte el logro concreto del día ('hoy configuraron su primer agente en Microsoft Foundry') con la expectativa de mañana ('mañana lo llevamos a código'), para dar sensación de progreso continuo entre los tres días del training. Fuente: MATERIALS_INDEX.md (introducción y §1-2)</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MicrosoftLearning/mslearn-agent-quickstart" TargetMode="External"/><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hyperlink" Target="https://microsoftlearning.github.io/mslearn-ai-agents/Instructions/Exercises/02-agent-custom-tools.html" TargetMode="External"/><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MicrosoftLearning/mslearn-agent-quickstart" TargetMode="External"/><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MicrosoftLearning/mslearn-ai-information-extraction" TargetMode="External"/><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8" Type="http://schemas.openxmlformats.org/officeDocument/2006/relationships/hyperlink" Target="https://modelcontextprotocol.io/introduction" TargetMode="External"/><Relationship Id="rId3" Type="http://schemas.openxmlformats.org/officeDocument/2006/relationships/hyperlink" Target="https://learn.microsoft.com/azure/foundry/what-is-foundry" TargetMode="External"/><Relationship Id="rId7" Type="http://schemas.openxmlformats.org/officeDocument/2006/relationships/hyperlink" Target="https://learn.microsoft.com/azure/search/search-what-is-azure-search"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hyperlink" Target="https://learn.microsoft.com/azure/foundry/agents/concepts/what-is-foundry-iq" TargetMode="External"/><Relationship Id="rId5" Type="http://schemas.openxmlformats.org/officeDocument/2006/relationships/hyperlink" Target="https://learn.microsoft.com/azure/foundry/agents/overview" TargetMode="External"/><Relationship Id="rId10" Type="http://schemas.openxmlformats.org/officeDocument/2006/relationships/hyperlink" Target="https://learn.microsoft.com/cli/azure/install-azure-cli" TargetMode="External"/><Relationship Id="rId4" Type="http://schemas.openxmlformats.org/officeDocument/2006/relationships/hyperlink" Target="https://learn.microsoft.com/azure/foundry/concepts/capabilities" TargetMode="External"/><Relationship Id="rId9" Type="http://schemas.openxmlformats.org/officeDocument/2006/relationships/hyperlink" Target="https://github.com/MicrosoftLearning/mslearn-agent-quickstart"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2A5A0">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12A5A0">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12A5A0"/>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DÍA 1 · L100</a:t>
            </a:r>
            <a:endParaRPr lang="en-US" sz="140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a:solidFill>
                  <a:srgbClr val="FFFFFF"/>
                </a:solidFill>
                <a:latin typeface="Segoe UI Semibold" pitchFamily="34" charset="0"/>
                <a:ea typeface="Segoe UI Semibold" pitchFamily="34" charset="-122"/>
                <a:cs typeface="Segoe UI Semibold" pitchFamily="34" charset="-120"/>
              </a:rPr>
              <a:t>Microsoft Foundry: fundamentos y servicios de IA</a:t>
            </a:r>
            <a:endParaRPr lang="en-US" sz="460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a:solidFill>
                  <a:srgbClr val="C9D7E4"/>
                </a:solidFill>
                <a:latin typeface="Segoe UI" pitchFamily="34" charset="0"/>
                <a:ea typeface="Segoe UI" pitchFamily="34" charset="-122"/>
                <a:cs typeface="Segoe UI" pitchFamily="34" charset="-120"/>
              </a:rPr>
              <a:t>L100 · Día 1 del AI Foundry BCI Training Day</a:t>
            </a:r>
            <a:endParaRPr lang="en-US" sz="220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a:solidFill>
                  <a:srgbClr val="F5B83D"/>
                </a:solidFill>
                <a:latin typeface="Segoe UI" pitchFamily="34" charset="0"/>
                <a:ea typeface="Segoe UI" pitchFamily="34" charset="-122"/>
                <a:cs typeface="Segoe UI" pitchFamily="34" charset="-120"/>
              </a:rPr>
              <a:t>Miércoles 21 de octubre de 2026 · 09:00–13:00 (Chile) · Microsoft Chile + Teams</a:t>
            </a:r>
            <a:endParaRPr lang="en-US" sz="140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a:solidFill>
                  <a:srgbClr val="C9D7E4"/>
                </a:solidFill>
                <a:latin typeface="Segoe UI" pitchFamily="34" charset="0"/>
                <a:ea typeface="Segoe UI" pitchFamily="34" charset="-122"/>
                <a:cs typeface="Segoe UI" pitchFamily="34" charset="-120"/>
              </a:rPr>
              <a:t>Microsoft · Customer Success</a:t>
            </a:r>
            <a:endParaRPr lang="en-US" sz="120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blurRad="76200" dist="25400" dir="5400000" algn="bl" rotWithShape="0">
              <a:srgbClr val="000000">
                <a:alpha val="12000"/>
              </a:srgbClr>
            </a:outerShdw>
          </a:effectLst>
        </p:spPr>
        <p:txBody>
          <a:bodyPr/>
          <a:lstStyle/>
          <a:p>
            <a:endParaRPr lang="en-US"/>
          </a:p>
        </p:txBody>
      </p:sp>
      <p:pic>
        <p:nvPicPr>
          <p:cNvPr id="11" name="Image 0" descr="C:\Users\pabracon\OneDrive - Microsoft\Documents\Microsoft Scout\BCI-Foundry-Workshop\presentaciones\_build\assets\logo_bci.png"/>
          <p:cNvPicPr>
            <a:picLocks noChangeAspect="1"/>
          </p:cNvPicPr>
          <p:nvPr/>
        </p:nvPicPr>
        <p:blipFill>
          <a:blip r:embed="rId3"/>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Quiénes somos y cómo trabajamos</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12A5A0"/>
          </a:solidFill>
          <a:ln/>
        </p:spPr>
        <p:txBody>
          <a:bodyPr/>
          <a:lstStyle/>
          <a:p>
            <a:endParaRPr lang="en-US"/>
          </a:p>
        </p:txBody>
      </p:sp>
      <p:sp>
        <p:nvSpPr>
          <p:cNvPr id="8" name="Shape 6"/>
          <p:cNvSpPr/>
          <p:nvPr/>
        </p:nvSpPr>
        <p:spPr>
          <a:xfrm>
            <a:off x="822960" y="1783080"/>
            <a:ext cx="548640" cy="548640"/>
          </a:xfrm>
          <a:prstGeom prst="ellipse">
            <a:avLst/>
          </a:prstGeom>
          <a:solidFill>
            <a:srgbClr val="12A5A0"/>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1</a:t>
            </a:r>
            <a:endParaRPr lang="en-US" sz="1800"/>
          </a:p>
        </p:txBody>
      </p:sp>
      <p:sp>
        <p:nvSpPr>
          <p:cNvPr id="10" name="Text 8"/>
          <p:cNvSpPr/>
          <p:nvPr/>
        </p:nvSpPr>
        <p:spPr>
          <a:xfrm>
            <a:off x="822960" y="2468880"/>
            <a:ext cx="3012338" cy="822960"/>
          </a:xfrm>
          <a:prstGeom prst="rect">
            <a:avLst/>
          </a:prstGeom>
          <a:noFill/>
          <a:ln/>
        </p:spPr>
        <p:txBody>
          <a:bodyPr wrap="square" lIns="0" tIns="0" rIns="0" bIns="0" rtlCol="0" anchor="t"/>
          <a:lstStyle/>
          <a:p>
            <a:r>
              <a:rPr lang="en-US" sz="2000" b="1">
                <a:solidFill>
                  <a:srgbClr val="0B1F33"/>
                </a:solidFill>
                <a:latin typeface="Segoe UI Semibold" pitchFamily="34" charset="0"/>
                <a:ea typeface="Segoe UI Semibold" pitchFamily="34" charset="-122"/>
                <a:cs typeface="Segoe UI Semibold" pitchFamily="34" charset="-120"/>
              </a:rPr>
              <a:t>Valentina Grajales</a:t>
            </a:r>
            <a:endParaRPr lang="en-US" sz="2000"/>
          </a:p>
          <a:p>
            <a:pPr marL="0" indent="0">
              <a:buNone/>
            </a:pPr>
            <a:endParaRPr lang="en-US" sz="200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Microsoft Customer Success (CSA). </a:t>
            </a:r>
            <a:endParaRPr lang="en-US" sz="200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12A5A0"/>
          </a:solidFill>
          <a:ln/>
        </p:spPr>
        <p:txBody>
          <a:bodyPr/>
          <a:lstStyle/>
          <a:p>
            <a:endParaRPr lang="en-US"/>
          </a:p>
        </p:txBody>
      </p:sp>
      <p:sp>
        <p:nvSpPr>
          <p:cNvPr id="14" name="Shape 12"/>
          <p:cNvSpPr/>
          <p:nvPr/>
        </p:nvSpPr>
        <p:spPr>
          <a:xfrm>
            <a:off x="4612538" y="1783080"/>
            <a:ext cx="548640" cy="548640"/>
          </a:xfrm>
          <a:prstGeom prst="ellipse">
            <a:avLst/>
          </a:prstGeom>
          <a:solidFill>
            <a:srgbClr val="12A5A0"/>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2</a:t>
            </a:r>
            <a:endParaRPr lang="en-US" sz="1800"/>
          </a:p>
        </p:txBody>
      </p:sp>
      <p:sp>
        <p:nvSpPr>
          <p:cNvPr id="16" name="Text 14"/>
          <p:cNvSpPr/>
          <p:nvPr/>
        </p:nvSpPr>
        <p:spPr>
          <a:xfrm>
            <a:off x="4612538" y="2468880"/>
            <a:ext cx="3012338" cy="822960"/>
          </a:xfrm>
          <a:prstGeom prst="rect">
            <a:avLst/>
          </a:prstGeom>
          <a:noFill/>
          <a:ln/>
        </p:spPr>
        <p:txBody>
          <a:bodyPr wrap="square" lIns="0" tIns="0" rIns="0" bIns="0" rtlCol="0" anchor="t"/>
          <a:lstStyle/>
          <a:p>
            <a:r>
              <a:rPr lang="en-US" sz="2000" b="1">
                <a:solidFill>
                  <a:srgbClr val="0B1F33"/>
                </a:solidFill>
                <a:latin typeface="Segoe UI Semibold" pitchFamily="34" charset="0"/>
                <a:ea typeface="Segoe UI Semibold" pitchFamily="34" charset="-122"/>
                <a:cs typeface="Segoe UI Semibold" pitchFamily="34" charset="-120"/>
              </a:rPr>
              <a:t>Pablo Braconi</a:t>
            </a:r>
            <a:endParaRPr lang="en-US" sz="200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Microsoft Customer Success (CSA). </a:t>
            </a:r>
            <a:endParaRPr lang="en-US" sz="200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12A5A0"/>
          </a:solidFill>
          <a:ln/>
        </p:spPr>
        <p:txBody>
          <a:bodyPr/>
          <a:lstStyle/>
          <a:p>
            <a:endParaRPr lang="en-US"/>
          </a:p>
        </p:txBody>
      </p:sp>
      <p:sp>
        <p:nvSpPr>
          <p:cNvPr id="20" name="Shape 18"/>
          <p:cNvSpPr/>
          <p:nvPr/>
        </p:nvSpPr>
        <p:spPr>
          <a:xfrm>
            <a:off x="8402117" y="1783080"/>
            <a:ext cx="548640" cy="548640"/>
          </a:xfrm>
          <a:prstGeom prst="ellipse">
            <a:avLst/>
          </a:prstGeom>
          <a:solidFill>
            <a:srgbClr val="12A5A0"/>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3</a:t>
            </a:r>
            <a:endParaRPr lang="en-US" sz="180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Cómo trabajamos</a:t>
            </a:r>
            <a:endParaRPr lang="en-US" sz="200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Modalidad híbrida: sala en Microsoft Chile y Teams. Puedes preguntar en cualquier momento, por voz o por el chat.</a:t>
            </a:r>
            <a:endParaRPr lang="en-US" sz="200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a:solidFill>
                  <a:srgbClr val="5B6B7B"/>
                </a:solidFill>
                <a:latin typeface="Segoe UI" pitchFamily="34" charset="0"/>
                <a:ea typeface="Segoe UI" pitchFamily="34" charset="-122"/>
                <a:cs typeface="Segoe UI" pitchFamily="34" charset="-120"/>
              </a:rPr>
              <a:t>BCI y Microsoft · AI Foundry Training Day · 21, 22 y 23 de octubre de 2026</a:t>
            </a:r>
            <a:endParaRPr lang="en-US" sz="15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Agenda del Día 1</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91056"/>
            <a:ext cx="1737360" cy="438912"/>
          </a:xfrm>
          <a:prstGeom prst="roundRect">
            <a:avLst>
              <a:gd name="adj" fmla="val 16667"/>
            </a:avLst>
          </a:prstGeom>
          <a:solidFill>
            <a:srgbClr val="12A5A0"/>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09:00–09:30</a:t>
            </a:r>
            <a:endParaRPr lang="en-US" sz="140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Presentación de apertura</a:t>
            </a:r>
            <a:endParaRPr lang="en-US" sz="170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a:solidFill>
                  <a:srgbClr val="5B6B7B"/>
                </a:solidFill>
                <a:latin typeface="Segoe UI" pitchFamily="34" charset="0"/>
                <a:ea typeface="Segoe UI" pitchFamily="34" charset="-122"/>
                <a:cs typeface="Segoe UI" pitchFamily="34" charset="-120"/>
              </a:rPr>
              <a:t>Bienvenida, equipos y contexto del programa</a:t>
            </a:r>
            <a:endParaRPr lang="en-US" sz="130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09:30–09:45</a:t>
            </a:r>
            <a:endParaRPr lang="en-US" sz="140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Contexto y fundamentos</a:t>
            </a:r>
            <a:endParaRPr lang="en-US" sz="170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a:solidFill>
                  <a:srgbClr val="5B6B7B"/>
                </a:solidFill>
                <a:latin typeface="Segoe UI" pitchFamily="34" charset="0"/>
                <a:ea typeface="Segoe UI" pitchFamily="34" charset="-122"/>
                <a:cs typeface="Segoe UI" pitchFamily="34" charset="-120"/>
              </a:rPr>
              <a:t>IA generativa, Microsoft Foundry y responsabilidades compartidas</a:t>
            </a:r>
            <a:endParaRPr lang="en-US" sz="1300"/>
          </a:p>
        </p:txBody>
      </p:sp>
      <p:sp>
        <p:nvSpPr>
          <p:cNvPr id="14" name="Shape 12"/>
          <p:cNvSpPr/>
          <p:nvPr/>
        </p:nvSpPr>
        <p:spPr>
          <a:xfrm>
            <a:off x="548640" y="2724912"/>
            <a:ext cx="1737360" cy="438912"/>
          </a:xfrm>
          <a:prstGeom prst="roundRect">
            <a:avLst>
              <a:gd name="adj" fmla="val 16667"/>
            </a:avLst>
          </a:prstGeom>
          <a:solidFill>
            <a:srgbClr val="12A5A0"/>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09:45–10:15</a:t>
            </a:r>
            <a:endParaRPr lang="en-US" sz="140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Plataforma Foundry</a:t>
            </a:r>
            <a:endParaRPr lang="en-US" sz="170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a:solidFill>
                  <a:srgbClr val="5B6B7B"/>
                </a:solidFill>
                <a:latin typeface="Segoe UI" pitchFamily="34" charset="0"/>
                <a:ea typeface="Segoe UI" pitchFamily="34" charset="-122"/>
                <a:cs typeface="Segoe UI" pitchFamily="34" charset="-120"/>
              </a:rPr>
              <a:t>Recursos, portal, catálogo de modelos y deployments</a:t>
            </a:r>
            <a:endParaRPr lang="en-US" sz="130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10:15–10:55</a:t>
            </a:r>
            <a:endParaRPr lang="en-US" sz="140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Azure AI Services</a:t>
            </a:r>
            <a:endParaRPr lang="en-US" sz="170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a:solidFill>
                  <a:srgbClr val="5B6B7B"/>
                </a:solidFill>
                <a:latin typeface="Segoe UI" pitchFamily="34" charset="0"/>
                <a:ea typeface="Segoe UI" pitchFamily="34" charset="-122"/>
                <a:cs typeface="Segoe UI" pitchFamily="34" charset="-120"/>
              </a:rPr>
              <a:t>Panorama de servicios y demo de Document Intelligence</a:t>
            </a:r>
            <a:endParaRPr lang="en-US" sz="1300"/>
          </a:p>
        </p:txBody>
      </p:sp>
      <p:sp>
        <p:nvSpPr>
          <p:cNvPr id="22" name="Shape 20"/>
          <p:cNvSpPr/>
          <p:nvPr/>
        </p:nvSpPr>
        <p:spPr>
          <a:xfrm>
            <a:off x="548640" y="3858768"/>
            <a:ext cx="1737360" cy="438912"/>
          </a:xfrm>
          <a:prstGeom prst="roundRect">
            <a:avLst>
              <a:gd name="adj" fmla="val 16667"/>
            </a:avLst>
          </a:prstGeom>
          <a:solidFill>
            <a:srgbClr val="12A5A0"/>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10:55–11:30</a:t>
            </a:r>
            <a:endParaRPr lang="en-US" sz="140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Agentes y conocimiento</a:t>
            </a:r>
            <a:endParaRPr lang="en-US" sz="170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a:solidFill>
                  <a:srgbClr val="5B6B7B"/>
                </a:solidFill>
                <a:latin typeface="Segoe UI" pitchFamily="34" charset="0"/>
                <a:ea typeface="Segoe UI" pitchFamily="34" charset="-122"/>
                <a:cs typeface="Segoe UI" pitchFamily="34" charset="-120"/>
              </a:rPr>
              <a:t>Foundry Agent Service, tools, RAG y MCP</a:t>
            </a:r>
            <a:endParaRPr lang="en-US" sz="130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11:30–11:40</a:t>
            </a:r>
            <a:endParaRPr lang="en-US" sz="140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Pausa</a:t>
            </a:r>
            <a:endParaRPr lang="en-US" sz="170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a:solidFill>
                  <a:srgbClr val="5B6B7B"/>
                </a:solidFill>
                <a:latin typeface="Segoe UI" pitchFamily="34" charset="0"/>
                <a:ea typeface="Segoe UI" pitchFamily="34" charset="-122"/>
                <a:cs typeface="Segoe UI" pitchFamily="34" charset="-120"/>
              </a:rPr>
              <a:t>Café y networking</a:t>
            </a:r>
            <a:endParaRPr lang="en-US" sz="1300"/>
          </a:p>
        </p:txBody>
      </p:sp>
      <p:sp>
        <p:nvSpPr>
          <p:cNvPr id="30" name="Shape 28"/>
          <p:cNvSpPr/>
          <p:nvPr/>
        </p:nvSpPr>
        <p:spPr>
          <a:xfrm>
            <a:off x="548640" y="4992624"/>
            <a:ext cx="1737360" cy="438912"/>
          </a:xfrm>
          <a:prstGeom prst="roundRect">
            <a:avLst>
              <a:gd name="adj" fmla="val 16667"/>
            </a:avLst>
          </a:prstGeom>
          <a:solidFill>
            <a:srgbClr val="12A5A0"/>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11:40–12:45</a:t>
            </a:r>
            <a:endParaRPr lang="en-US" sz="140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Laboratorio guiado</a:t>
            </a:r>
            <a:endParaRPr lang="en-US" sz="170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a:solidFill>
                  <a:srgbClr val="5B6B7B"/>
                </a:solidFill>
                <a:latin typeface="Segoe UI" pitchFamily="34" charset="0"/>
                <a:ea typeface="Segoe UI" pitchFamily="34" charset="-122"/>
                <a:cs typeface="Segoe UI" pitchFamily="34" charset="-120"/>
              </a:rPr>
              <a:t>Entorno, primer agente y OCR con Document Intelligence</a:t>
            </a:r>
            <a:endParaRPr lang="en-US" sz="1300"/>
          </a:p>
        </p:txBody>
      </p:sp>
      <p:sp>
        <p:nvSpPr>
          <p:cNvPr id="34" name="Shape 32"/>
          <p:cNvSpPr/>
          <p:nvPr/>
        </p:nvSpPr>
        <p:spPr>
          <a:xfrm>
            <a:off x="548640" y="5559552"/>
            <a:ext cx="1737360" cy="438912"/>
          </a:xfrm>
          <a:prstGeom prst="roundRect">
            <a:avLst>
              <a:gd name="adj" fmla="val 16667"/>
            </a:avLst>
          </a:prstGeom>
          <a:solidFill>
            <a:srgbClr val="0B1F33"/>
          </a:solidFill>
          <a:ln/>
        </p:spPr>
        <p:txBody>
          <a:bodyPr/>
          <a:lstStyle/>
          <a:p>
            <a:endParaRPr lang="en-US"/>
          </a:p>
        </p:txBody>
      </p:sp>
      <p:sp>
        <p:nvSpPr>
          <p:cNvPr id="35" name="Text 33"/>
          <p:cNvSpPr/>
          <p:nvPr/>
        </p:nvSpPr>
        <p:spPr>
          <a:xfrm>
            <a:off x="548640" y="5559552"/>
            <a:ext cx="1737360" cy="438912"/>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12:45–13:00</a:t>
            </a:r>
            <a:endParaRPr lang="en-US" sz="1400"/>
          </a:p>
        </p:txBody>
      </p:sp>
      <p:sp>
        <p:nvSpPr>
          <p:cNvPr id="36" name="Text 34"/>
          <p:cNvSpPr/>
          <p:nvPr/>
        </p:nvSpPr>
        <p:spPr>
          <a:xfrm>
            <a:off x="2514600" y="5522976"/>
            <a:ext cx="4572000" cy="512064"/>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Preguntas y cierre</a:t>
            </a:r>
            <a:endParaRPr lang="en-US" sz="1700"/>
          </a:p>
        </p:txBody>
      </p:sp>
      <p:sp>
        <p:nvSpPr>
          <p:cNvPr id="37" name="Text 35"/>
          <p:cNvSpPr/>
          <p:nvPr/>
        </p:nvSpPr>
        <p:spPr>
          <a:xfrm>
            <a:off x="7132320" y="5522976"/>
            <a:ext cx="4526280" cy="512064"/>
          </a:xfrm>
          <a:prstGeom prst="rect">
            <a:avLst/>
          </a:prstGeom>
          <a:noFill/>
          <a:ln/>
        </p:spPr>
        <p:txBody>
          <a:bodyPr wrap="square" lIns="0" tIns="0" rIns="0" bIns="0" rtlCol="0" anchor="ctr"/>
          <a:lstStyle/>
          <a:p>
            <a:pPr marL="0" indent="0">
              <a:buNone/>
            </a:pPr>
            <a:r>
              <a:rPr lang="en-US" sz="1300">
                <a:solidFill>
                  <a:srgbClr val="5B6B7B"/>
                </a:solidFill>
                <a:latin typeface="Segoe UI" pitchFamily="34" charset="0"/>
                <a:ea typeface="Segoe UI" pitchFamily="34" charset="-122"/>
                <a:cs typeface="Segoe UI" pitchFamily="34" charset="-120"/>
              </a:rPr>
              <a:t>Resumen, próximos pasos y adelanto del Día 2</a:t>
            </a:r>
            <a:endParaRPr lang="en-US" sz="130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Objetivos del Día 1</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12A5A0"/>
          </a:solidFill>
          <a:ln/>
        </p:spPr>
        <p:txBody>
          <a:bodyPr/>
          <a:lstStyle/>
          <a:p>
            <a:endParaRPr lang="en-US"/>
          </a:p>
        </p:txBody>
      </p:sp>
      <p:sp>
        <p:nvSpPr>
          <p:cNvPr id="8" name="Shape 6"/>
          <p:cNvSpPr/>
          <p:nvPr/>
        </p:nvSpPr>
        <p:spPr>
          <a:xfrm>
            <a:off x="822960" y="1783080"/>
            <a:ext cx="548640" cy="548640"/>
          </a:xfrm>
          <a:prstGeom prst="ellipse">
            <a:avLst/>
          </a:prstGeom>
          <a:solidFill>
            <a:srgbClr val="12A5A0"/>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1</a:t>
            </a:r>
            <a:endParaRPr lang="en-US" sz="180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Mapa conceptual</a:t>
            </a:r>
            <a:endParaRPr lang="en-US" sz="200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Entender qué es Microsoft Foundry, sus componentes principales y cómo se relacionan entre sí.</a:t>
            </a:r>
            <a:endParaRPr lang="en-US" sz="200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12A5A0"/>
          </a:solidFill>
          <a:ln/>
        </p:spPr>
        <p:txBody>
          <a:bodyPr/>
          <a:lstStyle/>
          <a:p>
            <a:endParaRPr lang="en-US"/>
          </a:p>
        </p:txBody>
      </p:sp>
      <p:sp>
        <p:nvSpPr>
          <p:cNvPr id="14" name="Shape 12"/>
          <p:cNvSpPr/>
          <p:nvPr/>
        </p:nvSpPr>
        <p:spPr>
          <a:xfrm>
            <a:off x="4612538" y="1783080"/>
            <a:ext cx="548640" cy="548640"/>
          </a:xfrm>
          <a:prstGeom prst="ellipse">
            <a:avLst/>
          </a:prstGeom>
          <a:solidFill>
            <a:srgbClr val="12A5A0"/>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2</a:t>
            </a:r>
            <a:endParaRPr lang="en-US" sz="180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Criterios de elección</a:t>
            </a:r>
            <a:endParaRPr lang="en-US" sz="200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Tener criterios iniciales para elegir servicios, modelos y patrones (prompting, RAG, fine-tuning) según el caso de uso.</a:t>
            </a:r>
            <a:endParaRPr lang="en-US" sz="200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12A5A0"/>
          </a:solidFill>
          <a:ln/>
        </p:spPr>
        <p:txBody>
          <a:bodyPr/>
          <a:lstStyle/>
          <a:p>
            <a:endParaRPr lang="en-US"/>
          </a:p>
        </p:txBody>
      </p:sp>
      <p:sp>
        <p:nvSpPr>
          <p:cNvPr id="20" name="Shape 18"/>
          <p:cNvSpPr/>
          <p:nvPr/>
        </p:nvSpPr>
        <p:spPr>
          <a:xfrm>
            <a:off x="8402117" y="1783080"/>
            <a:ext cx="548640" cy="548640"/>
          </a:xfrm>
          <a:prstGeom prst="ellipse">
            <a:avLst/>
          </a:prstGeom>
          <a:solidFill>
            <a:srgbClr val="12A5A0"/>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3</a:t>
            </a:r>
            <a:endParaRPr lang="en-US" sz="180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Primer agente</a:t>
            </a:r>
            <a:endParaRPr lang="en-US" sz="200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Terminar el día con un agente configurado y validado en Microsoft Foundry, con una experiencia práctica guiada.</a:t>
            </a:r>
            <a:endParaRPr lang="en-US" sz="200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a:solidFill>
                  <a:srgbClr val="5B6B7B"/>
                </a:solidFill>
                <a:latin typeface="Segoe UI" pitchFamily="34" charset="0"/>
                <a:ea typeface="Segoe UI" pitchFamily="34" charset="-122"/>
                <a:cs typeface="Segoe UI" pitchFamily="34" charset="-120"/>
              </a:rPr>
              <a:t>Nivel L100 · No se requiere experiencia previa con Foundry</a:t>
            </a:r>
            <a:endParaRPr lang="en-US" sz="15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2A5A0">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12A5A0">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a:solidFill>
                  <a:srgbClr val="12A5A0"/>
                </a:solidFill>
                <a:latin typeface="Segoe UI Semibold" pitchFamily="34" charset="0"/>
                <a:ea typeface="Segoe UI Semibold" pitchFamily="34" charset="-122"/>
                <a:cs typeface="Segoe UI Semibold" pitchFamily="34" charset="-120"/>
              </a:rPr>
              <a:t>00</a:t>
            </a:r>
            <a:endParaRPr lang="en-US" sz="1200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a:solidFill>
                  <a:srgbClr val="FFFFFF"/>
                </a:solidFill>
                <a:latin typeface="Segoe UI Semibold" pitchFamily="34" charset="0"/>
                <a:ea typeface="Segoe UI Semibold" pitchFamily="34" charset="-122"/>
                <a:cs typeface="Segoe UI Semibold" pitchFamily="34" charset="-120"/>
              </a:rPr>
              <a:t>Presentación de apertura</a:t>
            </a:r>
            <a:endParaRPr lang="en-US" sz="440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a:solidFill>
                  <a:srgbClr val="C9D7E4"/>
                </a:solidFill>
                <a:latin typeface="Segoe UI" pitchFamily="34" charset="0"/>
                <a:ea typeface="Segoe UI" pitchFamily="34" charset="-122"/>
                <a:cs typeface="Segoe UI" pitchFamily="34" charset="-120"/>
              </a:rPr>
              <a:t>Bienvenida, presentación de los equipos y contexto del programa</a:t>
            </a:r>
            <a:endParaRPr lang="en-US" sz="2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1B91B-E2DF-453A-9D75-AD6050E684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E3DBEFA-09F6-9645-39A7-AE512599BF97}"/>
              </a:ext>
            </a:extLst>
          </p:cNvPr>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Agenda del Día 1</a:t>
            </a:r>
            <a:endParaRPr lang="en-US" sz="3200"/>
          </a:p>
        </p:txBody>
      </p:sp>
      <p:sp>
        <p:nvSpPr>
          <p:cNvPr id="3" name="Shape 1">
            <a:extLst>
              <a:ext uri="{FF2B5EF4-FFF2-40B4-BE49-F238E27FC236}">
                <a16:creationId xmlns:a16="http://schemas.microsoft.com/office/drawing/2014/main" id="{4E2ED0AF-CA44-C30F-BFCB-F0151B7757D9}"/>
              </a:ext>
            </a:extLst>
          </p:cNvPr>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a:extLst>
              <a:ext uri="{FF2B5EF4-FFF2-40B4-BE49-F238E27FC236}">
                <a16:creationId xmlns:a16="http://schemas.microsoft.com/office/drawing/2014/main" id="{F08B4E13-348E-0C86-5E60-5EAA986E6615}"/>
              </a:ext>
            </a:extLst>
          </p:cNvPr>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a:extLst>
              <a:ext uri="{FF2B5EF4-FFF2-40B4-BE49-F238E27FC236}">
                <a16:creationId xmlns:a16="http://schemas.microsoft.com/office/drawing/2014/main" id="{A72B34EC-5D8F-1AB1-C79B-358B6463E01B}"/>
              </a:ext>
            </a:extLst>
          </p:cNvPr>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38" name="Slide Number Placeholder 0">
            <a:extLst>
              <a:ext uri="{FF2B5EF4-FFF2-40B4-BE49-F238E27FC236}">
                <a16:creationId xmlns:a16="http://schemas.microsoft.com/office/drawing/2014/main" id="{9C1CA26D-6472-8020-6CB5-523662CD6319}"/>
              </a:ext>
            </a:extLst>
          </p:cNvPr>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pic>
        <p:nvPicPr>
          <p:cNvPr id="40" name="Picture 39">
            <a:extLst>
              <a:ext uri="{FF2B5EF4-FFF2-40B4-BE49-F238E27FC236}">
                <a16:creationId xmlns:a16="http://schemas.microsoft.com/office/drawing/2014/main" id="{D529248B-B403-788B-6994-CC21C2B9EF11}"/>
              </a:ext>
            </a:extLst>
          </p:cNvPr>
          <p:cNvPicPr>
            <a:picLocks noChangeAspect="1"/>
          </p:cNvPicPr>
          <p:nvPr/>
        </p:nvPicPr>
        <p:blipFill>
          <a:blip r:embed="rId3"/>
          <a:stretch>
            <a:fillRect/>
          </a:stretch>
        </p:blipFill>
        <p:spPr>
          <a:xfrm>
            <a:off x="0" y="6350"/>
            <a:ext cx="12192000" cy="6845300"/>
          </a:xfrm>
          <a:prstGeom prst="rect">
            <a:avLst/>
          </a:prstGeom>
        </p:spPr>
      </p:pic>
    </p:spTree>
    <p:extLst>
      <p:ext uri="{BB962C8B-B14F-4D97-AF65-F5344CB8AC3E}">
        <p14:creationId xmlns:p14="http://schemas.microsoft.com/office/powerpoint/2010/main" val="17601520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2A5A0">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12A5A0">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a:solidFill>
                  <a:srgbClr val="12A5A0"/>
                </a:solidFill>
                <a:latin typeface="Segoe UI Semibold" pitchFamily="34" charset="0"/>
                <a:ea typeface="Segoe UI Semibold" pitchFamily="34" charset="-122"/>
                <a:cs typeface="Segoe UI Semibold" pitchFamily="34" charset="-120"/>
              </a:rPr>
              <a:t>01</a:t>
            </a:r>
            <a:endParaRPr lang="en-US" sz="1200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a:solidFill>
                  <a:srgbClr val="FFFFFF"/>
                </a:solidFill>
                <a:latin typeface="Segoe UI Semibold" pitchFamily="34" charset="0"/>
                <a:ea typeface="Segoe UI Semibold" pitchFamily="34" charset="-122"/>
                <a:cs typeface="Segoe UI Semibold" pitchFamily="34" charset="-120"/>
              </a:rPr>
              <a:t>Módulo 1 · Contexto y fundamentos</a:t>
            </a:r>
            <a:endParaRPr lang="en-US" sz="440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a:solidFill>
                  <a:srgbClr val="C9D7E4"/>
                </a:solidFill>
                <a:latin typeface="Segoe UI" pitchFamily="34" charset="0"/>
                <a:ea typeface="Segoe UI" pitchFamily="34" charset="-122"/>
                <a:cs typeface="Segoe UI" pitchFamily="34" charset="-120"/>
              </a:rPr>
              <a:t>IA generativa, Microsoft Foundry y responsabilidades compartidas</a:t>
            </a:r>
            <a:endParaRPr lang="en-US" sz="2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¿Qué cambió con la IA generativa?</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12A5A0"/>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1900">
                <a:solidFill>
                  <a:srgbClr val="1B2A3A"/>
                </a:solidFill>
                <a:latin typeface="Segoe UI" pitchFamily="34" charset="0"/>
                <a:ea typeface="Segoe UI" pitchFamily="34" charset="-122"/>
                <a:cs typeface="Segoe UI" pitchFamily="34" charset="-120"/>
              </a:rPr>
              <a:t>Modelos de lenguaje y multimodales generan texto, imágenes y código a partir de instrucciones en lenguaje natural.</a:t>
            </a:r>
            <a:endParaRPr lang="en-US" sz="1900"/>
          </a:p>
          <a:p>
            <a:pPr marL="228600" indent="-228600">
              <a:spcAft>
                <a:spcPts val="1000"/>
              </a:spcAft>
              <a:buSzPct val="100000"/>
              <a:buChar char="•"/>
            </a:pPr>
            <a:r>
              <a:rPr lang="en-US" sz="1900">
                <a:solidFill>
                  <a:srgbClr val="1B2A3A"/>
                </a:solidFill>
                <a:latin typeface="Segoe UI" pitchFamily="34" charset="0"/>
                <a:ea typeface="Segoe UI" pitchFamily="34" charset="-122"/>
                <a:cs typeface="Segoe UI" pitchFamily="34" charset="-120"/>
              </a:rPr>
              <a:t>El foco pasó de modelos puntuales a agentes que razonan, usan herramientas y acceden a datos propios.</a:t>
            </a:r>
            <a:endParaRPr lang="en-US" sz="1900"/>
          </a:p>
          <a:p>
            <a:pPr marL="228600" indent="-228600">
              <a:spcAft>
                <a:spcPts val="1000"/>
              </a:spcAft>
              <a:buSzPct val="100000"/>
              <a:buChar char="•"/>
            </a:pPr>
            <a:r>
              <a:rPr lang="en-US" sz="1900">
                <a:solidFill>
                  <a:srgbClr val="1B2A3A"/>
                </a:solidFill>
                <a:latin typeface="Segoe UI" pitchFamily="34" charset="0"/>
                <a:ea typeface="Segoe UI" pitchFamily="34" charset="-122"/>
                <a:cs typeface="Segoe UI" pitchFamily="34" charset="-120"/>
              </a:rPr>
              <a:t>Microsoft Foundry unifica modelos, agentes y herramientas en una plataforma con gobierno y observabilidad integrados.</a:t>
            </a:r>
            <a:endParaRPr lang="en-US" sz="1900"/>
          </a:p>
          <a:p>
            <a:pPr marL="228600" indent="-228600">
              <a:spcAft>
                <a:spcPts val="1000"/>
              </a:spcAft>
              <a:buSzPct val="100000"/>
              <a:buChar char="•"/>
            </a:pPr>
            <a:r>
              <a:rPr lang="en-US" sz="1900">
                <a:solidFill>
                  <a:srgbClr val="1B2A3A"/>
                </a:solidFill>
                <a:latin typeface="Segoe UI" pitchFamily="34" charset="0"/>
                <a:ea typeface="Segoe UI" pitchFamily="34" charset="-122"/>
                <a:cs typeface="Segoe UI" pitchFamily="34" charset="-120"/>
              </a:rPr>
              <a:t>Oportunidad en banca: asistentes internos, automatización de documentos y atención aumentada, con supervisión humana.</a:t>
            </a:r>
            <a:endParaRPr lang="en-US" sz="190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a:solidFill>
                  <a:srgbClr val="F5B83D"/>
                </a:solidFill>
                <a:latin typeface="Segoe UI Semibold" pitchFamily="34" charset="0"/>
                <a:ea typeface="Segoe UI Semibold" pitchFamily="34" charset="-122"/>
                <a:cs typeface="Segoe UI Semibold" pitchFamily="34" charset="-120"/>
              </a:rPr>
              <a:t>CLAVE</a:t>
            </a:r>
            <a:endParaRPr lang="en-US" sz="130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a:solidFill>
                  <a:srgbClr val="FFFFFF"/>
                </a:solidFill>
                <a:latin typeface="Segoe UI" pitchFamily="34" charset="0"/>
                <a:ea typeface="Segoe UI" pitchFamily="34" charset="-122"/>
                <a:cs typeface="Segoe UI" pitchFamily="34" charset="-120"/>
              </a:rPr>
              <a:t>La pregunta ya no es “¿puede generar texto?” sino “¿puede razonar, actuar y responder con datos confiables?”.</a:t>
            </a:r>
            <a:endParaRPr lang="en-US" sz="22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Microsoft Foundry en una vista</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12A5A0"/>
          </a:solidFill>
          <a:ln/>
        </p:spPr>
        <p:txBody>
          <a:bodyPr/>
          <a:lstStyle/>
          <a:p>
            <a:endParaRPr lang="en-US"/>
          </a:p>
        </p:txBody>
      </p:sp>
      <p:sp>
        <p:nvSpPr>
          <p:cNvPr id="8" name="Shape 6"/>
          <p:cNvSpPr/>
          <p:nvPr/>
        </p:nvSpPr>
        <p:spPr>
          <a:xfrm>
            <a:off x="822960" y="1737360"/>
            <a:ext cx="420624" cy="420624"/>
          </a:xfrm>
          <a:prstGeom prst="ellipse">
            <a:avLst/>
          </a:prstGeom>
          <a:solidFill>
            <a:srgbClr val="12A5A0"/>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a:t>
            </a:r>
            <a:endParaRPr lang="en-US" sz="1400"/>
          </a:p>
        </p:txBody>
      </p:sp>
      <p:sp>
        <p:nvSpPr>
          <p:cNvPr id="10" name="Text 8"/>
          <p:cNvSpPr/>
          <p:nvPr/>
        </p:nvSpPr>
        <p:spPr>
          <a:xfrm>
            <a:off x="1417320" y="1691640"/>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Agentes</a:t>
            </a:r>
            <a:endParaRPr lang="en-US" sz="1800"/>
          </a:p>
        </p:txBody>
      </p:sp>
      <p:sp>
        <p:nvSpPr>
          <p:cNvPr id="11" name="Text 9"/>
          <p:cNvSpPr/>
          <p:nvPr/>
        </p:nvSpPr>
        <p:spPr>
          <a:xfrm>
            <a:off x="822960" y="2377440"/>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Agentes declarativos (prompt agents), agentes de voz y agentes hosteados con tu propio código.</a:t>
            </a:r>
            <a:endParaRPr lang="en-US" sz="1800"/>
          </a:p>
        </p:txBody>
      </p:sp>
      <p:sp>
        <p:nvSpPr>
          <p:cNvPr id="12" name="Shape 10"/>
          <p:cNvSpPr/>
          <p:nvPr/>
        </p:nvSpPr>
        <p:spPr>
          <a:xfrm>
            <a:off x="6223864"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6223864" y="1508760"/>
            <a:ext cx="82296" cy="2249424"/>
          </a:xfrm>
          <a:prstGeom prst="rect">
            <a:avLst/>
          </a:prstGeom>
          <a:solidFill>
            <a:srgbClr val="0B1F33"/>
          </a:solidFill>
          <a:ln/>
        </p:spPr>
        <p:txBody>
          <a:bodyPr/>
          <a:lstStyle/>
          <a:p>
            <a:endParaRPr lang="en-US"/>
          </a:p>
        </p:txBody>
      </p:sp>
      <p:sp>
        <p:nvSpPr>
          <p:cNvPr id="14" name="Shape 12"/>
          <p:cNvSpPr/>
          <p:nvPr/>
        </p:nvSpPr>
        <p:spPr>
          <a:xfrm>
            <a:off x="6498184" y="1737360"/>
            <a:ext cx="420624" cy="420624"/>
          </a:xfrm>
          <a:prstGeom prst="ellipse">
            <a:avLst/>
          </a:prstGeom>
          <a:solidFill>
            <a:srgbClr val="0B1F33"/>
          </a:solidFill>
          <a:ln/>
        </p:spPr>
        <p:txBody>
          <a:bodyPr/>
          <a:lstStyle/>
          <a:p>
            <a:endParaRPr lang="en-US"/>
          </a:p>
        </p:txBody>
      </p:sp>
      <p:sp>
        <p:nvSpPr>
          <p:cNvPr id="15" name="Text 13"/>
          <p:cNvSpPr/>
          <p:nvPr/>
        </p:nvSpPr>
        <p:spPr>
          <a:xfrm>
            <a:off x="6498184" y="1737360"/>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2</a:t>
            </a:r>
            <a:endParaRPr lang="en-US" sz="1400"/>
          </a:p>
        </p:txBody>
      </p:sp>
      <p:sp>
        <p:nvSpPr>
          <p:cNvPr id="16" name="Text 14"/>
          <p:cNvSpPr/>
          <p:nvPr/>
        </p:nvSpPr>
        <p:spPr>
          <a:xfrm>
            <a:off x="7092544" y="1691640"/>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Modelos</a:t>
            </a:r>
            <a:endParaRPr lang="en-US" sz="1800"/>
          </a:p>
        </p:txBody>
      </p:sp>
      <p:sp>
        <p:nvSpPr>
          <p:cNvPr id="17" name="Text 15"/>
          <p:cNvSpPr/>
          <p:nvPr/>
        </p:nvSpPr>
        <p:spPr>
          <a:xfrm>
            <a:off x="6498184" y="2377440"/>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Catálogo con miles de modelos de Microsoft, OpenAI, Anthropic, Meta y otros proveedores.</a:t>
            </a:r>
            <a:endParaRPr lang="en-US" sz="1800"/>
          </a:p>
        </p:txBody>
      </p:sp>
      <p:sp>
        <p:nvSpPr>
          <p:cNvPr id="18" name="Shape 16"/>
          <p:cNvSpPr/>
          <p:nvPr/>
        </p:nvSpPr>
        <p:spPr>
          <a:xfrm>
            <a:off x="548640"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548640" y="4014216"/>
            <a:ext cx="82296" cy="2249424"/>
          </a:xfrm>
          <a:prstGeom prst="rect">
            <a:avLst/>
          </a:prstGeom>
          <a:solidFill>
            <a:srgbClr val="12A5A0"/>
          </a:solidFill>
          <a:ln/>
        </p:spPr>
        <p:txBody>
          <a:bodyPr/>
          <a:lstStyle/>
          <a:p>
            <a:endParaRPr lang="en-US"/>
          </a:p>
        </p:txBody>
      </p:sp>
      <p:sp>
        <p:nvSpPr>
          <p:cNvPr id="20" name="Shape 18"/>
          <p:cNvSpPr/>
          <p:nvPr/>
        </p:nvSpPr>
        <p:spPr>
          <a:xfrm>
            <a:off x="822960" y="4242816"/>
            <a:ext cx="420624" cy="420624"/>
          </a:xfrm>
          <a:prstGeom prst="ellipse">
            <a:avLst/>
          </a:prstGeom>
          <a:solidFill>
            <a:srgbClr val="12A5A0"/>
          </a:solidFill>
          <a:ln/>
        </p:spPr>
        <p:txBody>
          <a:bodyPr/>
          <a:lstStyle/>
          <a:p>
            <a:endParaRPr lang="en-US"/>
          </a:p>
        </p:txBody>
      </p:sp>
      <p:sp>
        <p:nvSpPr>
          <p:cNvPr id="21" name="Text 19"/>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3</a:t>
            </a:r>
            <a:endParaRPr lang="en-US" sz="1400"/>
          </a:p>
        </p:txBody>
      </p:sp>
      <p:sp>
        <p:nvSpPr>
          <p:cNvPr id="22" name="Text 20"/>
          <p:cNvSpPr/>
          <p:nvPr/>
        </p:nvSpPr>
        <p:spPr>
          <a:xfrm>
            <a:off x="1417320" y="4197096"/>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Tools y conocimiento</a:t>
            </a:r>
            <a:endParaRPr lang="en-US" sz="1800"/>
          </a:p>
        </p:txBody>
      </p:sp>
      <p:sp>
        <p:nvSpPr>
          <p:cNvPr id="23" name="Text 21"/>
          <p:cNvSpPr/>
          <p:nvPr/>
        </p:nvSpPr>
        <p:spPr>
          <a:xfrm>
            <a:off x="822960" y="4882896"/>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Herramientas, memoria y recuperación de datos propios a través del Foundry Toolbox.</a:t>
            </a:r>
            <a:endParaRPr lang="en-US" sz="1800"/>
          </a:p>
        </p:txBody>
      </p:sp>
      <p:sp>
        <p:nvSpPr>
          <p:cNvPr id="24" name="Shape 22"/>
          <p:cNvSpPr/>
          <p:nvPr/>
        </p:nvSpPr>
        <p:spPr>
          <a:xfrm>
            <a:off x="6223864"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6223864" y="4014216"/>
            <a:ext cx="82296" cy="2249424"/>
          </a:xfrm>
          <a:prstGeom prst="rect">
            <a:avLst/>
          </a:prstGeom>
          <a:solidFill>
            <a:srgbClr val="0B1F33"/>
          </a:solidFill>
          <a:ln/>
        </p:spPr>
        <p:txBody>
          <a:bodyPr/>
          <a:lstStyle/>
          <a:p>
            <a:endParaRPr lang="en-US"/>
          </a:p>
        </p:txBody>
      </p:sp>
      <p:sp>
        <p:nvSpPr>
          <p:cNvPr id="26" name="Shape 24"/>
          <p:cNvSpPr/>
          <p:nvPr/>
        </p:nvSpPr>
        <p:spPr>
          <a:xfrm>
            <a:off x="6498184" y="4242816"/>
            <a:ext cx="420624" cy="420624"/>
          </a:xfrm>
          <a:prstGeom prst="ellipse">
            <a:avLst/>
          </a:prstGeom>
          <a:solidFill>
            <a:srgbClr val="0B1F33"/>
          </a:solidFill>
          <a:ln/>
        </p:spPr>
        <p:txBody>
          <a:bodyPr/>
          <a:lstStyle/>
          <a:p>
            <a:endParaRPr lang="en-US"/>
          </a:p>
        </p:txBody>
      </p:sp>
      <p:sp>
        <p:nvSpPr>
          <p:cNvPr id="27" name="Text 25"/>
          <p:cNvSpPr/>
          <p:nvPr/>
        </p:nvSpPr>
        <p:spPr>
          <a:xfrm>
            <a:off x="6498184" y="4242816"/>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4</a:t>
            </a:r>
            <a:endParaRPr lang="en-US" sz="1400"/>
          </a:p>
        </p:txBody>
      </p:sp>
      <p:sp>
        <p:nvSpPr>
          <p:cNvPr id="28" name="Text 26"/>
          <p:cNvSpPr/>
          <p:nvPr/>
        </p:nvSpPr>
        <p:spPr>
          <a:xfrm>
            <a:off x="7092544" y="4197096"/>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Plataforma empresarial</a:t>
            </a:r>
            <a:endParaRPr lang="en-US" sz="1800"/>
          </a:p>
        </p:txBody>
      </p:sp>
      <p:sp>
        <p:nvSpPr>
          <p:cNvPr id="29" name="Text 27"/>
          <p:cNvSpPr/>
          <p:nvPr/>
        </p:nvSpPr>
        <p:spPr>
          <a:xfrm>
            <a:off x="6498184" y="4882896"/>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Observabilidad, RBAC, redes privadas y políticas, todo bajo un mismo recurso de Azure.</a:t>
            </a:r>
            <a:endParaRPr lang="en-US" sz="180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La evolución de la plataforma</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5396332" cy="640080"/>
          </a:xfrm>
          <a:prstGeom prst="rect">
            <a:avLst/>
          </a:prstGeom>
          <a:solidFill>
            <a:srgbClr val="12A5A0"/>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a:solidFill>
                  <a:srgbClr val="FFFFFF"/>
                </a:solidFill>
                <a:latin typeface="Segoe UI Semibold" pitchFamily="34" charset="0"/>
                <a:ea typeface="Segoe UI Semibold" pitchFamily="34" charset="-122"/>
                <a:cs typeface="Segoe UI Semibold" pitchFamily="34" charset="-120"/>
              </a:rPr>
              <a:t>Antes (Azure AI Studio / hub)</a:t>
            </a:r>
            <a:endParaRPr lang="en-US" sz="200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Hub + recurso de Azure OpenAI + Azure AI Services por separado</a:t>
            </a:r>
            <a:endParaRPr lang="en-US" sz="2000"/>
          </a:p>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Agentes vía Assistants API (v0.5/v1)</a:t>
            </a:r>
            <a:endParaRPr lang="en-US" sz="2000"/>
          </a:p>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Múltiples SDKs y endpoints (azure-ai-inference, azure-ai-ml...)</a:t>
            </a:r>
            <a:endParaRPr lang="en-US" sz="200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a:solidFill>
                  <a:srgbClr val="FFFFFF"/>
                </a:solidFill>
                <a:latin typeface="Segoe UI Semibold" pitchFamily="34" charset="0"/>
                <a:ea typeface="Segoe UI Semibold" pitchFamily="34" charset="-122"/>
                <a:cs typeface="Segoe UI Semibold" pitchFamily="34" charset="-120"/>
              </a:rPr>
              <a:t>Ahora (Microsoft Foundry)</a:t>
            </a:r>
            <a:endParaRPr lang="en-US" sz="200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Un recurso Foundry con proyectos, RBAC y redes unificados</a:t>
            </a:r>
            <a:endParaRPr lang="en-US" sz="2000"/>
          </a:p>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Agentes vía Responses API (Agents v2), rutas estables /openai/v1/</a:t>
            </a:r>
            <a:endParaRPr lang="en-US" sz="2000"/>
          </a:p>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Un cliente de proyecto unificado (azure-ai-projects 2.x) + SDK de OpenAI</a:t>
            </a:r>
            <a:endParaRPr lang="en-US" sz="200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Mismo objetivo, menos piezas que administrar: un namespace, un modelo de permisos, una forma de observar.</a:t>
            </a:r>
            <a:endParaRPr lang="en-US" sz="17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Quién hace qué en la plataforma</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12A5A0"/>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100">
                <a:solidFill>
                  <a:srgbClr val="1B2A3A"/>
                </a:solidFill>
                <a:latin typeface="Segoe UI" pitchFamily="34" charset="0"/>
                <a:ea typeface="Segoe UI" pitchFamily="34" charset="-122"/>
                <a:cs typeface="Segoe UI" pitchFamily="34" charset="-120"/>
              </a:rPr>
              <a:t>Developers y arquitectos: eligen modelos, diseñan agentes y construyen la lógica de la aplicación.</a:t>
            </a:r>
            <a:endParaRPr lang="en-US" sz="2100"/>
          </a:p>
          <a:p>
            <a:pPr marL="228600" indent="-228600">
              <a:spcAft>
                <a:spcPts val="1000"/>
              </a:spcAft>
              <a:buSzPct val="100000"/>
              <a:buChar char="•"/>
            </a:pPr>
            <a:r>
              <a:rPr lang="en-US" sz="2100">
                <a:solidFill>
                  <a:srgbClr val="1B2A3A"/>
                </a:solidFill>
                <a:latin typeface="Segoe UI" pitchFamily="34" charset="0"/>
                <a:ea typeface="Segoe UI" pitchFamily="34" charset="-122"/>
                <a:cs typeface="Segoe UI" pitchFamily="34" charset="-120"/>
              </a:rPr>
              <a:t>Data/AI engineers: preparan datos, conectan fuentes de conocimiento y ajustan la recuperación (RAG).</a:t>
            </a:r>
            <a:endParaRPr lang="en-US" sz="2100"/>
          </a:p>
          <a:p>
            <a:pPr marL="228600" indent="-228600">
              <a:spcAft>
                <a:spcPts val="1000"/>
              </a:spcAft>
              <a:buSzPct val="100000"/>
              <a:buChar char="•"/>
            </a:pPr>
            <a:r>
              <a:rPr lang="en-US" sz="2100">
                <a:solidFill>
                  <a:srgbClr val="1B2A3A"/>
                </a:solidFill>
                <a:latin typeface="Segoe UI" pitchFamily="34" charset="0"/>
                <a:ea typeface="Segoe UI" pitchFamily="34" charset="-122"/>
                <a:cs typeface="Segoe UI" pitchFamily="34" charset="-120"/>
              </a:rPr>
              <a:t>DevOps: automatizan despliegues, observabilidad y ciclo de vida de agentes y modelos.</a:t>
            </a:r>
            <a:endParaRPr lang="en-US" sz="2100"/>
          </a:p>
          <a:p>
            <a:pPr marL="228600" indent="-228600">
              <a:spcAft>
                <a:spcPts val="1000"/>
              </a:spcAft>
              <a:buSzPct val="100000"/>
              <a:buChar char="•"/>
            </a:pPr>
            <a:r>
              <a:rPr lang="en-US" sz="2100">
                <a:solidFill>
                  <a:srgbClr val="1B2A3A"/>
                </a:solidFill>
                <a:latin typeface="Segoe UI" pitchFamily="34" charset="0"/>
                <a:ea typeface="Segoe UI" pitchFamily="34" charset="-122"/>
                <a:cs typeface="Segoe UI" pitchFamily="34" charset="-120"/>
              </a:rPr>
              <a:t>Gobierno y seguridad: definen guardrails, RBAC, redes y políticas de IA responsable.</a:t>
            </a:r>
            <a:endParaRPr lang="en-US" sz="210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a:solidFill>
                  <a:srgbClr val="F5B83D"/>
                </a:solidFill>
                <a:latin typeface="Segoe UI Semibold" pitchFamily="34" charset="0"/>
                <a:ea typeface="Segoe UI Semibold" pitchFamily="34" charset="-122"/>
                <a:cs typeface="Segoe UI Semibold" pitchFamily="34" charset="-120"/>
              </a:rPr>
              <a:t>CLAVE</a:t>
            </a:r>
            <a:endParaRPr lang="en-US" sz="130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a:solidFill>
                  <a:srgbClr val="FFFFFF"/>
                </a:solidFill>
                <a:latin typeface="Segoe UI" pitchFamily="34" charset="0"/>
                <a:ea typeface="Segoe UI" pitchFamily="34" charset="-122"/>
                <a:cs typeface="Segoe UI" pitchFamily="34" charset="-120"/>
              </a:rPr>
              <a:t>Foundry da el andamiaje técnico; la responsabilidad del uso correcto sigue siendo de cada equipo.</a:t>
            </a:r>
            <a:endParaRPr lang="en-US" sz="22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2A5A0">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12A5A0">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a:solidFill>
                  <a:srgbClr val="12A5A0"/>
                </a:solidFill>
                <a:latin typeface="Segoe UI Semibold" pitchFamily="34" charset="0"/>
                <a:ea typeface="Segoe UI Semibold" pitchFamily="34" charset="-122"/>
                <a:cs typeface="Segoe UI Semibold" pitchFamily="34" charset="-120"/>
              </a:rPr>
              <a:t>02</a:t>
            </a:r>
            <a:endParaRPr lang="en-US" sz="1200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a:solidFill>
                  <a:srgbClr val="FFFFFF"/>
                </a:solidFill>
                <a:latin typeface="Segoe UI Semibold" pitchFamily="34" charset="0"/>
                <a:ea typeface="Segoe UI Semibold" pitchFamily="34" charset="-122"/>
                <a:cs typeface="Segoe UI Semibold" pitchFamily="34" charset="-120"/>
              </a:rPr>
              <a:t>Módulo 2 · Plataforma Foundry</a:t>
            </a:r>
            <a:endParaRPr lang="en-US" sz="440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a:solidFill>
                  <a:srgbClr val="C9D7E4"/>
                </a:solidFill>
                <a:latin typeface="Segoe UI" pitchFamily="34" charset="0"/>
                <a:ea typeface="Segoe UI" pitchFamily="34" charset="-122"/>
                <a:cs typeface="Segoe UI" pitchFamily="34" charset="-120"/>
              </a:rPr>
              <a:t>Del recurso Foundry al primer modelo desplegado</a:t>
            </a:r>
            <a:endParaRPr lang="en-US" sz="20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Cómo se organiza un proyecto Foundry</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3291840" cy="1078992"/>
          </a:xfrm>
          <a:prstGeom prst="rect">
            <a:avLst/>
          </a:prstGeom>
          <a:solidFill>
            <a:srgbClr val="0B1F33"/>
          </a:solidFill>
          <a:ln/>
        </p:spPr>
        <p:txBody>
          <a:bodyPr/>
          <a:lstStyle/>
          <a:p>
            <a:endParaRPr lang="en-US"/>
          </a:p>
        </p:txBody>
      </p:sp>
      <p:sp>
        <p:nvSpPr>
          <p:cNvPr id="7" name="Text 5"/>
          <p:cNvSpPr/>
          <p:nvPr/>
        </p:nvSpPr>
        <p:spPr>
          <a:xfrm>
            <a:off x="777240" y="1508760"/>
            <a:ext cx="2834640" cy="1078992"/>
          </a:xfrm>
          <a:prstGeom prst="rect">
            <a:avLst/>
          </a:prstGeom>
          <a:noFill/>
          <a:ln/>
        </p:spPr>
        <p:txBody>
          <a:bodyPr wrap="square" lIns="0" tIns="0" rIns="0" bIns="0" rtlCol="0" anchor="ctr"/>
          <a:lstStyle/>
          <a:p>
            <a:pPr marL="0" indent="0">
              <a:buNone/>
            </a:pPr>
            <a:r>
              <a:rPr lang="en-US" sz="1900" b="1">
                <a:solidFill>
                  <a:srgbClr val="FFFFFF"/>
                </a:solidFill>
                <a:latin typeface="Segoe UI Semibold" pitchFamily="34" charset="0"/>
                <a:ea typeface="Segoe UI Semibold" pitchFamily="34" charset="-122"/>
                <a:cs typeface="Segoe UI Semibold" pitchFamily="34" charset="-120"/>
              </a:rPr>
              <a:t>Portal, SDKs, CLI y VS Code</a:t>
            </a:r>
            <a:endParaRPr lang="en-US" sz="1900"/>
          </a:p>
        </p:txBody>
      </p:sp>
      <p:sp>
        <p:nvSpPr>
          <p:cNvPr id="8" name="Shape 6"/>
          <p:cNvSpPr/>
          <p:nvPr/>
        </p:nvSpPr>
        <p:spPr>
          <a:xfrm>
            <a:off x="3840480" y="1508760"/>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1078992"/>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Superficies para construir: portal web, SDKs (Python, C#, JS, Java), Azure Developer CLI y extensión de VS Code.</a:t>
            </a:r>
            <a:endParaRPr lang="en-US" sz="1700"/>
          </a:p>
        </p:txBody>
      </p:sp>
      <p:sp>
        <p:nvSpPr>
          <p:cNvPr id="10" name="Shape 8"/>
          <p:cNvSpPr/>
          <p:nvPr/>
        </p:nvSpPr>
        <p:spPr>
          <a:xfrm>
            <a:off x="548640" y="2734056"/>
            <a:ext cx="3291840" cy="1078992"/>
          </a:xfrm>
          <a:prstGeom prst="rect">
            <a:avLst/>
          </a:prstGeom>
          <a:solidFill>
            <a:srgbClr val="0D4C57"/>
          </a:solidFill>
          <a:ln/>
        </p:spPr>
        <p:txBody>
          <a:bodyPr/>
          <a:lstStyle/>
          <a:p>
            <a:endParaRPr lang="en-US"/>
          </a:p>
        </p:txBody>
      </p:sp>
      <p:sp>
        <p:nvSpPr>
          <p:cNvPr id="11" name="Text 9"/>
          <p:cNvSpPr/>
          <p:nvPr/>
        </p:nvSpPr>
        <p:spPr>
          <a:xfrm>
            <a:off x="777240" y="2734056"/>
            <a:ext cx="2834640" cy="1078992"/>
          </a:xfrm>
          <a:prstGeom prst="rect">
            <a:avLst/>
          </a:prstGeom>
          <a:noFill/>
          <a:ln/>
        </p:spPr>
        <p:txBody>
          <a:bodyPr wrap="square" lIns="0" tIns="0" rIns="0" bIns="0" rtlCol="0" anchor="ctr"/>
          <a:lstStyle/>
          <a:p>
            <a:pPr marL="0" indent="0">
              <a:buNone/>
            </a:pPr>
            <a:r>
              <a:rPr lang="en-US" sz="1900" b="1">
                <a:solidFill>
                  <a:srgbClr val="FFFFFF"/>
                </a:solidFill>
                <a:latin typeface="Segoe UI Semibold" pitchFamily="34" charset="0"/>
                <a:ea typeface="Segoe UI Semibold" pitchFamily="34" charset="-122"/>
                <a:cs typeface="Segoe UI Semibold" pitchFamily="34" charset="-120"/>
              </a:rPr>
              <a:t>Recurso Foundry</a:t>
            </a:r>
            <a:endParaRPr lang="en-US" sz="1900"/>
          </a:p>
        </p:txBody>
      </p:sp>
      <p:sp>
        <p:nvSpPr>
          <p:cNvPr id="12" name="Shape 10"/>
          <p:cNvSpPr/>
          <p:nvPr/>
        </p:nvSpPr>
        <p:spPr>
          <a:xfrm>
            <a:off x="3840480" y="2734056"/>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734056"/>
            <a:ext cx="7253935" cy="1078992"/>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Un único recurso de Azure con RBAC, redes y políticas compartidas para todos los proyectos.</a:t>
            </a:r>
            <a:endParaRPr lang="en-US" sz="1700"/>
          </a:p>
        </p:txBody>
      </p:sp>
      <p:sp>
        <p:nvSpPr>
          <p:cNvPr id="14" name="Shape 12"/>
          <p:cNvSpPr/>
          <p:nvPr/>
        </p:nvSpPr>
        <p:spPr>
          <a:xfrm>
            <a:off x="548640" y="3959352"/>
            <a:ext cx="3291840" cy="1078992"/>
          </a:xfrm>
          <a:prstGeom prst="rect">
            <a:avLst/>
          </a:prstGeom>
          <a:solidFill>
            <a:srgbClr val="10787C"/>
          </a:solidFill>
          <a:ln/>
        </p:spPr>
        <p:txBody>
          <a:bodyPr/>
          <a:lstStyle/>
          <a:p>
            <a:endParaRPr lang="en-US"/>
          </a:p>
        </p:txBody>
      </p:sp>
      <p:sp>
        <p:nvSpPr>
          <p:cNvPr id="15" name="Text 13"/>
          <p:cNvSpPr/>
          <p:nvPr/>
        </p:nvSpPr>
        <p:spPr>
          <a:xfrm>
            <a:off x="777240" y="3959352"/>
            <a:ext cx="2834640" cy="1078992"/>
          </a:xfrm>
          <a:prstGeom prst="rect">
            <a:avLst/>
          </a:prstGeom>
          <a:noFill/>
          <a:ln/>
        </p:spPr>
        <p:txBody>
          <a:bodyPr wrap="square" lIns="0" tIns="0" rIns="0" bIns="0" rtlCol="0" anchor="ctr"/>
          <a:lstStyle/>
          <a:p>
            <a:pPr marL="0" indent="0">
              <a:buNone/>
            </a:pPr>
            <a:r>
              <a:rPr lang="en-US" sz="1900" b="1">
                <a:solidFill>
                  <a:srgbClr val="FFFFFF"/>
                </a:solidFill>
                <a:latin typeface="Segoe UI Semibold" pitchFamily="34" charset="0"/>
                <a:ea typeface="Segoe UI Semibold" pitchFamily="34" charset="-122"/>
                <a:cs typeface="Segoe UI Semibold" pitchFamily="34" charset="-120"/>
              </a:rPr>
              <a:t>Proyectos</a:t>
            </a:r>
            <a:endParaRPr lang="en-US" sz="1900"/>
          </a:p>
        </p:txBody>
      </p:sp>
      <p:sp>
        <p:nvSpPr>
          <p:cNvPr id="16" name="Shape 14"/>
          <p:cNvSpPr/>
          <p:nvPr/>
        </p:nvSpPr>
        <p:spPr>
          <a:xfrm>
            <a:off x="3840480" y="3959352"/>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959352"/>
            <a:ext cx="7253935" cy="1078992"/>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Espacios de trabajo dentro del recurso: cada equipo o caso de uso puede tener su propio proyecto.</a:t>
            </a:r>
            <a:endParaRPr lang="en-US" sz="1700"/>
          </a:p>
        </p:txBody>
      </p:sp>
      <p:sp>
        <p:nvSpPr>
          <p:cNvPr id="18" name="Shape 16"/>
          <p:cNvSpPr/>
          <p:nvPr/>
        </p:nvSpPr>
        <p:spPr>
          <a:xfrm>
            <a:off x="548640" y="5184648"/>
            <a:ext cx="3291840" cy="1078992"/>
          </a:xfrm>
          <a:prstGeom prst="rect">
            <a:avLst/>
          </a:prstGeom>
          <a:solidFill>
            <a:srgbClr val="12A5A0"/>
          </a:solidFill>
          <a:ln/>
        </p:spPr>
        <p:txBody>
          <a:bodyPr/>
          <a:lstStyle/>
          <a:p>
            <a:endParaRPr lang="en-US"/>
          </a:p>
        </p:txBody>
      </p:sp>
      <p:sp>
        <p:nvSpPr>
          <p:cNvPr id="19" name="Text 17"/>
          <p:cNvSpPr/>
          <p:nvPr/>
        </p:nvSpPr>
        <p:spPr>
          <a:xfrm>
            <a:off x="777240" y="5184648"/>
            <a:ext cx="2834640" cy="1078992"/>
          </a:xfrm>
          <a:prstGeom prst="rect">
            <a:avLst/>
          </a:prstGeom>
          <a:noFill/>
          <a:ln/>
        </p:spPr>
        <p:txBody>
          <a:bodyPr wrap="square" lIns="0" tIns="0" rIns="0" bIns="0" rtlCol="0" anchor="ctr"/>
          <a:lstStyle/>
          <a:p>
            <a:pPr marL="0" indent="0">
              <a:buNone/>
            </a:pPr>
            <a:r>
              <a:rPr lang="en-US" sz="1900" b="1">
                <a:solidFill>
                  <a:srgbClr val="FFFFFF"/>
                </a:solidFill>
                <a:latin typeface="Segoe UI Semibold" pitchFamily="34" charset="0"/>
                <a:ea typeface="Segoe UI Semibold" pitchFamily="34" charset="-122"/>
                <a:cs typeface="Segoe UI Semibold" pitchFamily="34" charset="-120"/>
              </a:rPr>
              <a:t>Modelos, agentes y tools</a:t>
            </a:r>
            <a:endParaRPr lang="en-US" sz="1900"/>
          </a:p>
        </p:txBody>
      </p:sp>
      <p:sp>
        <p:nvSpPr>
          <p:cNvPr id="20" name="Shape 18"/>
          <p:cNvSpPr/>
          <p:nvPr/>
        </p:nvSpPr>
        <p:spPr>
          <a:xfrm>
            <a:off x="3840480" y="5184648"/>
            <a:ext cx="7802575" cy="1078992"/>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5184648"/>
            <a:ext cx="7253935" cy="1078992"/>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Deployments de modelos, agentes (prompt o hosted) y herramientas conectadas, con observabilidad integrada.</a:t>
            </a:r>
            <a:endParaRPr lang="en-US" sz="17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Demo: recorrido por el portal de Foundry</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a:solidFill>
                  <a:srgbClr val="0B1F33"/>
                </a:solidFill>
                <a:latin typeface="Segoe UI Semibold" pitchFamily="34" charset="0"/>
                <a:ea typeface="Segoe UI Semibold" pitchFamily="34" charset="-122"/>
                <a:cs typeface="Segoe UI Semibold" pitchFamily="34" charset="-120"/>
              </a:rPr>
              <a:t>DEMO</a:t>
            </a:r>
            <a:endParaRPr lang="en-US" sz="130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a:solidFill>
                  <a:srgbClr val="FFFFFF"/>
                </a:solidFill>
                <a:latin typeface="Segoe UI" pitchFamily="34" charset="0"/>
                <a:ea typeface="Segoe UI" pitchFamily="34" charset="-122"/>
                <a:cs typeface="Segoe UI" pitchFamily="34" charset="-120"/>
              </a:rPr>
              <a:t>Explorar el portal ai.azure.com para ubicar catálogo de modelos, agentes, conocimiento y observabilidad.</a:t>
            </a:r>
            <a:endParaRPr lang="en-US" sz="2000"/>
          </a:p>
        </p:txBody>
      </p:sp>
      <p:sp>
        <p:nvSpPr>
          <p:cNvPr id="10" name="Shape 8"/>
          <p:cNvSpPr/>
          <p:nvPr/>
        </p:nvSpPr>
        <p:spPr>
          <a:xfrm>
            <a:off x="5212080" y="1777365"/>
            <a:ext cx="457200" cy="457200"/>
          </a:xfrm>
          <a:prstGeom prst="ellipse">
            <a:avLst/>
          </a:prstGeom>
          <a:solidFill>
            <a:srgbClr val="12A5A0"/>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1</a:t>
            </a:r>
            <a:endParaRPr lang="en-US" sz="150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Iniciar sesión y abrir (o crear) un proyecto Foundry.</a:t>
            </a:r>
            <a:endParaRPr lang="en-US" sz="1800"/>
          </a:p>
        </p:txBody>
      </p:sp>
      <p:sp>
        <p:nvSpPr>
          <p:cNvPr id="13" name="Shape 11"/>
          <p:cNvSpPr/>
          <p:nvPr/>
        </p:nvSpPr>
        <p:spPr>
          <a:xfrm>
            <a:off x="5212080" y="2771775"/>
            <a:ext cx="457200" cy="457200"/>
          </a:xfrm>
          <a:prstGeom prst="ellipse">
            <a:avLst/>
          </a:prstGeom>
          <a:solidFill>
            <a:srgbClr val="12A5A0"/>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2</a:t>
            </a:r>
            <a:endParaRPr lang="en-US" sz="150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Recorrer la pestaña Build: modelos, agentes y conocimiento.</a:t>
            </a:r>
            <a:endParaRPr lang="en-US" sz="1800"/>
          </a:p>
        </p:txBody>
      </p:sp>
      <p:sp>
        <p:nvSpPr>
          <p:cNvPr id="16" name="Shape 14"/>
          <p:cNvSpPr/>
          <p:nvPr/>
        </p:nvSpPr>
        <p:spPr>
          <a:xfrm>
            <a:off x="5212080" y="3766185"/>
            <a:ext cx="457200" cy="457200"/>
          </a:xfrm>
          <a:prstGeom prst="ellipse">
            <a:avLst/>
          </a:prstGeom>
          <a:solidFill>
            <a:srgbClr val="12A5A0"/>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3</a:t>
            </a:r>
            <a:endParaRPr lang="en-US" sz="150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Mostrar la sección de observabilidad y evaluaciones.</a:t>
            </a:r>
            <a:endParaRPr lang="en-US" sz="1800"/>
          </a:p>
        </p:txBody>
      </p:sp>
      <p:sp>
        <p:nvSpPr>
          <p:cNvPr id="19" name="Shape 17"/>
          <p:cNvSpPr/>
          <p:nvPr/>
        </p:nvSpPr>
        <p:spPr>
          <a:xfrm>
            <a:off x="5212080" y="4760595"/>
            <a:ext cx="457200" cy="457200"/>
          </a:xfrm>
          <a:prstGeom prst="ellipse">
            <a:avLst/>
          </a:prstGeom>
          <a:solidFill>
            <a:srgbClr val="12A5A0"/>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4</a:t>
            </a:r>
            <a:endParaRPr lang="en-US" sz="150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Revisar RBAC y configuración de red del proyecto.</a:t>
            </a:r>
            <a:endParaRPr lang="en-US" sz="180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a:solidFill>
                  <a:srgbClr val="0B1F33"/>
                </a:solidFill>
                <a:latin typeface="Segoe UI Semibold" pitchFamily="34" charset="0"/>
                <a:ea typeface="Segoe UI Semibold" pitchFamily="34" charset="-122"/>
                <a:cs typeface="Segoe UI Semibold" pitchFamily="34" charset="-120"/>
              </a:rPr>
              <a:t>Resultado esperado: El grupo identifica dónde viven modelos, agentes, tools y métricas dentro de un mismo portal.</a:t>
            </a:r>
            <a:endParaRPr lang="en-US" sz="15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Cómo elegir un modelo en el catálogo</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12A5A0"/>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1</a:t>
            </a:r>
            <a:endParaRPr lang="en-US" sz="220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1900" b="1">
                <a:solidFill>
                  <a:srgbClr val="0B1F33"/>
                </a:solidFill>
                <a:latin typeface="Segoe UI Semibold" pitchFamily="34" charset="0"/>
                <a:ea typeface="Segoe UI Semibold" pitchFamily="34" charset="-122"/>
                <a:cs typeface="Segoe UI Semibold" pitchFamily="34" charset="-120"/>
              </a:rPr>
              <a:t>Explorar catálogo</a:t>
            </a:r>
            <a:endParaRPr lang="en-US" sz="190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12A5A0"/>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500">
                <a:solidFill>
                  <a:srgbClr val="1B2A3A"/>
                </a:solidFill>
                <a:latin typeface="Segoe UI" pitchFamily="34" charset="0"/>
                <a:ea typeface="Segoe UI" pitchFamily="34" charset="-122"/>
                <a:cs typeface="Segoe UI" pitchFamily="34" charset="-120"/>
              </a:rPr>
              <a:t>Filtrar por capacidad (texto, visión, agentes), proveedor y licencia entre miles de modelos.</a:t>
            </a:r>
            <a:endParaRPr lang="en-US" sz="150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2</a:t>
            </a:r>
            <a:endParaRPr lang="en-US" sz="220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1900" b="1">
                <a:solidFill>
                  <a:srgbClr val="0B1F33"/>
                </a:solidFill>
                <a:latin typeface="Segoe UI Semibold" pitchFamily="34" charset="0"/>
                <a:ea typeface="Segoe UI Semibold" pitchFamily="34" charset="-122"/>
                <a:cs typeface="Segoe UI Semibold" pitchFamily="34" charset="-120"/>
              </a:rPr>
              <a:t>Comparar benchmarks</a:t>
            </a:r>
            <a:endParaRPr lang="en-US" sz="190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500">
                <a:solidFill>
                  <a:srgbClr val="1B2A3A"/>
                </a:solidFill>
                <a:latin typeface="Segoe UI" pitchFamily="34" charset="0"/>
                <a:ea typeface="Segoe UI" pitchFamily="34" charset="-122"/>
                <a:cs typeface="Segoe UI" pitchFamily="34" charset="-120"/>
              </a:rPr>
              <a:t>Evaluar calidad, costo y latencia lado a lado con tareas reales o datos propios.</a:t>
            </a:r>
            <a:endParaRPr lang="en-US" sz="1500"/>
          </a:p>
        </p:txBody>
      </p:sp>
      <p:sp>
        <p:nvSpPr>
          <p:cNvPr id="19" name="Shape 17"/>
          <p:cNvSpPr/>
          <p:nvPr/>
        </p:nvSpPr>
        <p:spPr>
          <a:xfrm>
            <a:off x="4986406" y="1965960"/>
            <a:ext cx="731520" cy="731520"/>
          </a:xfrm>
          <a:prstGeom prst="ellipse">
            <a:avLst/>
          </a:prstGeom>
          <a:solidFill>
            <a:srgbClr val="12A5A0"/>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3</a:t>
            </a:r>
            <a:endParaRPr lang="en-US" sz="220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1900" b="1">
                <a:solidFill>
                  <a:srgbClr val="0B1F33"/>
                </a:solidFill>
                <a:latin typeface="Segoe UI Semibold" pitchFamily="34" charset="0"/>
                <a:ea typeface="Segoe UI Semibold" pitchFamily="34" charset="-122"/>
                <a:cs typeface="Segoe UI Semibold" pitchFamily="34" charset="-120"/>
              </a:rPr>
              <a:t>Elegir deployment type</a:t>
            </a:r>
            <a:endParaRPr lang="en-US" sz="190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12A5A0"/>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500">
                <a:solidFill>
                  <a:srgbClr val="1B2A3A"/>
                </a:solidFill>
                <a:latin typeface="Segoe UI" pitchFamily="34" charset="0"/>
                <a:ea typeface="Segoe UI" pitchFamily="34" charset="-122"/>
                <a:cs typeface="Segoe UI" pitchFamily="34" charset="-120"/>
              </a:rPr>
              <a:t>Definir si se necesita pago por token, capacidad reservada o procesamiento por lotes.</a:t>
            </a:r>
            <a:endParaRPr lang="en-US" sz="150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4</a:t>
            </a:r>
            <a:endParaRPr lang="en-US" sz="220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1900" b="1">
                <a:solidFill>
                  <a:srgbClr val="0B1F33"/>
                </a:solidFill>
                <a:latin typeface="Segoe UI Semibold" pitchFamily="34" charset="0"/>
                <a:ea typeface="Segoe UI Semibold" pitchFamily="34" charset="-122"/>
                <a:cs typeface="Segoe UI Semibold" pitchFamily="34" charset="-120"/>
              </a:rPr>
              <a:t>Validar cuota y región</a:t>
            </a:r>
            <a:endParaRPr lang="en-US" sz="190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500">
                <a:solidFill>
                  <a:srgbClr val="1B2A3A"/>
                </a:solidFill>
                <a:latin typeface="Segoe UI" pitchFamily="34" charset="0"/>
                <a:ea typeface="Segoe UI" pitchFamily="34" charset="-122"/>
                <a:cs typeface="Segoe UI" pitchFamily="34" charset="-120"/>
              </a:rPr>
              <a:t>Confirmar disponibilidad del modelo y cuota en la región elegida antes de producción.</a:t>
            </a:r>
            <a:endParaRPr lang="en-US" sz="1500"/>
          </a:p>
        </p:txBody>
      </p:sp>
      <p:sp>
        <p:nvSpPr>
          <p:cNvPr id="31" name="Shape 29"/>
          <p:cNvSpPr/>
          <p:nvPr/>
        </p:nvSpPr>
        <p:spPr>
          <a:xfrm>
            <a:off x="9424172" y="1965960"/>
            <a:ext cx="731520" cy="731520"/>
          </a:xfrm>
          <a:prstGeom prst="ellipse">
            <a:avLst/>
          </a:prstGeom>
          <a:solidFill>
            <a:srgbClr val="12A5A0"/>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5</a:t>
            </a:r>
            <a:endParaRPr lang="en-US" sz="220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1900" b="1">
                <a:solidFill>
                  <a:srgbClr val="0B1F33"/>
                </a:solidFill>
                <a:latin typeface="Segoe UI Semibold" pitchFamily="34" charset="0"/>
                <a:ea typeface="Segoe UI Semibold" pitchFamily="34" charset="-122"/>
                <a:cs typeface="Segoe UI Semibold" pitchFamily="34" charset="-120"/>
              </a:rPr>
              <a:t>Desplegar y probar</a:t>
            </a:r>
            <a:endParaRPr lang="en-US" sz="190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12A5A0"/>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500">
                <a:solidFill>
                  <a:srgbClr val="1B2A3A"/>
                </a:solidFill>
                <a:latin typeface="Segoe UI" pitchFamily="34" charset="0"/>
                <a:ea typeface="Segoe UI" pitchFamily="34" charset="-122"/>
                <a:cs typeface="Segoe UI" pitchFamily="34" charset="-120"/>
              </a:rPr>
              <a:t>Crear el deployment y validarlo en el playground antes de integrarlo a una app.</a:t>
            </a:r>
            <a:endParaRPr lang="en-US" sz="150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Tipos de deployment de modelos</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3098440">
                  <a:extLst>
                    <a:ext uri="{9D8B030D-6E8A-4147-A177-3AD203B41FA5}">
                      <a16:colId xmlns:a16="http://schemas.microsoft.com/office/drawing/2014/main" val="20000"/>
                    </a:ext>
                  </a:extLst>
                </a:gridCol>
                <a:gridCol w="3098440">
                  <a:extLst>
                    <a:ext uri="{9D8B030D-6E8A-4147-A177-3AD203B41FA5}">
                      <a16:colId xmlns:a16="http://schemas.microsoft.com/office/drawing/2014/main" val="20001"/>
                    </a:ext>
                  </a:extLst>
                </a:gridCol>
                <a:gridCol w="1998994">
                  <a:extLst>
                    <a:ext uri="{9D8B030D-6E8A-4147-A177-3AD203B41FA5}">
                      <a16:colId xmlns:a16="http://schemas.microsoft.com/office/drawing/2014/main" val="20002"/>
                    </a:ext>
                  </a:extLst>
                </a:gridCol>
                <a:gridCol w="2898541">
                  <a:extLst>
                    <a:ext uri="{9D8B030D-6E8A-4147-A177-3AD203B41FA5}">
                      <a16:colId xmlns:a16="http://schemas.microsoft.com/office/drawing/2014/main" val="20003"/>
                    </a:ext>
                  </a:extLst>
                </a:gridCol>
              </a:tblGrid>
              <a:tr h="525780">
                <a:tc>
                  <a:txBody>
                    <a:bodyPr/>
                    <a:lstStyle/>
                    <a:p>
                      <a:pPr marL="0" indent="0">
                        <a:buNone/>
                      </a:pPr>
                      <a:r>
                        <a:rPr lang="en-US" sz="1350" b="1">
                          <a:solidFill>
                            <a:srgbClr val="FFFFFF"/>
                          </a:solidFill>
                          <a:latin typeface="Segoe UI Semibold" pitchFamily="34" charset="0"/>
                          <a:ea typeface="Segoe UI Semibold" pitchFamily="34" charset="-122"/>
                          <a:cs typeface="Segoe UI Semibold" pitchFamily="34" charset="-120"/>
                        </a:rPr>
                        <a:t>Tipo</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350" b="1">
                          <a:solidFill>
                            <a:srgbClr val="FFFFFF"/>
                          </a:solidFill>
                          <a:latin typeface="Segoe UI Semibold" pitchFamily="34" charset="0"/>
                          <a:ea typeface="Segoe UI Semibold" pitchFamily="34" charset="-122"/>
                          <a:cs typeface="Segoe UI Semibold" pitchFamily="34" charset="-120"/>
                        </a:rPr>
                        <a:t>Procesamiento</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350" b="1">
                          <a:solidFill>
                            <a:srgbClr val="FFFFFF"/>
                          </a:solidFill>
                          <a:latin typeface="Segoe UI Semibold" pitchFamily="34" charset="0"/>
                          <a:ea typeface="Segoe UI Semibold" pitchFamily="34" charset="-122"/>
                          <a:cs typeface="Segoe UI Semibold" pitchFamily="34" charset="-120"/>
                        </a:rPr>
                        <a:t>Facturación</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350" b="1">
                          <a:solidFill>
                            <a:srgbClr val="FFFFFF"/>
                          </a:solidFill>
                          <a:latin typeface="Segoe UI Semibold" pitchFamily="34" charset="0"/>
                          <a:ea typeface="Segoe UI Semibold" pitchFamily="34" charset="-122"/>
                          <a:cs typeface="Segoe UI Semibold" pitchFamily="34" charset="-120"/>
                        </a:rPr>
                        <a:t>Uso típico</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525780">
                <a:tc>
                  <a:txBody>
                    <a:bodyPr/>
                    <a:lstStyle/>
                    <a:p>
                      <a:pPr marL="0" indent="0">
                        <a:buNone/>
                      </a:pPr>
                      <a:r>
                        <a:rPr lang="en-US" sz="1350" b="1">
                          <a:solidFill>
                            <a:srgbClr val="1B2A3A"/>
                          </a:solidFill>
                          <a:latin typeface="Segoe UI Semibold" pitchFamily="34" charset="0"/>
                          <a:ea typeface="Segoe UI Semibold" pitchFamily="34" charset="-122"/>
                          <a:cs typeface="Segoe UI Semibold" pitchFamily="34" charset="-120"/>
                        </a:rPr>
                        <a:t>Global Standard</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Cualquier región de Azure</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Pago por token</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Uso general, mayor cuota</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5780">
                <a:tc>
                  <a:txBody>
                    <a:bodyPr/>
                    <a:lstStyle/>
                    <a:p>
                      <a:pPr marL="0" indent="0">
                        <a:buNone/>
                      </a:pPr>
                      <a:r>
                        <a:rPr lang="en-US" sz="1350" b="1">
                          <a:solidFill>
                            <a:srgbClr val="1B2A3A"/>
                          </a:solidFill>
                          <a:latin typeface="Segoe UI Semibold" pitchFamily="34" charset="0"/>
                          <a:ea typeface="Segoe UI Semibold" pitchFamily="34" charset="-122"/>
                          <a:cs typeface="Segoe UI Semibold" pitchFamily="34" charset="-120"/>
                        </a:rPr>
                        <a:t>Global Provisioned</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Cualquier región de Azure</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Capacidad reservada</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Throughput alto y predecible</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525780">
                <a:tc>
                  <a:txBody>
                    <a:bodyPr/>
                    <a:lstStyle/>
                    <a:p>
                      <a:pPr marL="0" indent="0">
                        <a:buNone/>
                      </a:pPr>
                      <a:r>
                        <a:rPr lang="en-US" sz="1350" b="1">
                          <a:solidFill>
                            <a:srgbClr val="1B2A3A"/>
                          </a:solidFill>
                          <a:latin typeface="Segoe UI Semibold" pitchFamily="34" charset="0"/>
                          <a:ea typeface="Segoe UI Semibold" pitchFamily="34" charset="-122"/>
                          <a:cs typeface="Segoe UI Semibold" pitchFamily="34" charset="-120"/>
                        </a:rPr>
                        <a:t>Data Zone Standard</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Dentro de la zona de datos</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Pago por token</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Cumplimiento US/EU/APAC</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5780">
                <a:tc>
                  <a:txBody>
                    <a:bodyPr/>
                    <a:lstStyle/>
                    <a:p>
                      <a:pPr marL="0" indent="0">
                        <a:buNone/>
                      </a:pPr>
                      <a:r>
                        <a:rPr lang="en-US" sz="1350" b="1">
                          <a:solidFill>
                            <a:srgbClr val="1B2A3A"/>
                          </a:solidFill>
                          <a:latin typeface="Segoe UI Semibold" pitchFamily="34" charset="0"/>
                          <a:ea typeface="Segoe UI Semibold" pitchFamily="34" charset="-122"/>
                          <a:cs typeface="Segoe UI Semibold" pitchFamily="34" charset="-120"/>
                        </a:rPr>
                        <a:t>Data Zone Provisioned</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Dentro de la zona de datos</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Capacidad reservada</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Zona de datos + throughput</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525780">
                <a:tc>
                  <a:txBody>
                    <a:bodyPr/>
                    <a:lstStyle/>
                    <a:p>
                      <a:pPr marL="0" indent="0">
                        <a:buNone/>
                      </a:pPr>
                      <a:r>
                        <a:rPr lang="en-US" sz="1350" b="1">
                          <a:solidFill>
                            <a:srgbClr val="1B2A3A"/>
                          </a:solidFill>
                          <a:latin typeface="Segoe UI Semibold" pitchFamily="34" charset="0"/>
                          <a:ea typeface="Segoe UI Semibold" pitchFamily="34" charset="-122"/>
                          <a:cs typeface="Segoe UI Semibold" pitchFamily="34" charset="-120"/>
                        </a:rPr>
                        <a:t>Standard / Regional Provisioned</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Dentro de la geografía de Azure</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Token o reservada</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Cumplimiento por geografía</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25780">
                <a:tc>
                  <a:txBody>
                    <a:bodyPr/>
                    <a:lstStyle/>
                    <a:p>
                      <a:pPr marL="0" indent="0">
                        <a:buNone/>
                      </a:pPr>
                      <a:r>
                        <a:rPr lang="en-US" sz="1350" b="1">
                          <a:solidFill>
                            <a:srgbClr val="1B2A3A"/>
                          </a:solidFill>
                          <a:latin typeface="Segoe UI Semibold" pitchFamily="34" charset="0"/>
                          <a:ea typeface="Segoe UI Semibold" pitchFamily="34" charset="-122"/>
                          <a:cs typeface="Segoe UI Semibold" pitchFamily="34" charset="-120"/>
                        </a:rPr>
                        <a:t>Batch</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Cualquier región o zona</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Descuento, asíncrono</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Trabajos grandes, no urgentes</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6"/>
                  </a:ext>
                </a:extLst>
              </a:tr>
              <a:tr h="525780">
                <a:tc>
                  <a:txBody>
                    <a:bodyPr/>
                    <a:lstStyle/>
                    <a:p>
                      <a:pPr marL="0" indent="0">
                        <a:buNone/>
                      </a:pPr>
                      <a:r>
                        <a:rPr lang="en-US" sz="1350" b="1">
                          <a:solidFill>
                            <a:srgbClr val="1B2A3A"/>
                          </a:solidFill>
                          <a:latin typeface="Segoe UI Semibold" pitchFamily="34" charset="0"/>
                          <a:ea typeface="Segoe UI Semibold" pitchFamily="34" charset="-122"/>
                          <a:cs typeface="Segoe UI Semibold" pitchFamily="34" charset="-120"/>
                        </a:rPr>
                        <a:t>Developer</a:t>
                      </a:r>
                      <a:endParaRPr lang="en-US" sz="13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Cualquier región de Azure</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Pago por token</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350">
                          <a:solidFill>
                            <a:srgbClr val="1B2A3A"/>
                          </a:solidFill>
                          <a:latin typeface="Segoe UI" pitchFamily="34" charset="0"/>
                          <a:ea typeface="Segoe UI" pitchFamily="34" charset="-122"/>
                          <a:cs typeface="Segoe UI" pitchFamily="34" charset="-120"/>
                        </a:rPr>
                        <a:t>Evaluar modelos fine-tuned</a:t>
                      </a:r>
                      <a:endParaRPr lang="en-US" sz="13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a:solidFill>
                  <a:srgbClr val="5B6B7B"/>
                </a:solidFill>
                <a:latin typeface="Segoe UI" pitchFamily="34" charset="0"/>
                <a:ea typeface="Segoe UI" pitchFamily="34" charset="-122"/>
                <a:cs typeface="Segoe UI" pitchFamily="34" charset="-120"/>
              </a:rPr>
              <a:t>Empezar por Global Standard; cambiar solo si hay un motivo concreto de residencia o throughput.</a:t>
            </a:r>
            <a:endParaRPr lang="en-US" sz="12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Demo: catálogo de modelos y playground</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a:solidFill>
                  <a:srgbClr val="0B1F33"/>
                </a:solidFill>
                <a:latin typeface="Segoe UI Semibold" pitchFamily="34" charset="0"/>
                <a:ea typeface="Segoe UI Semibold" pitchFamily="34" charset="-122"/>
                <a:cs typeface="Segoe UI Semibold" pitchFamily="34" charset="-120"/>
              </a:rPr>
              <a:t>DEMO</a:t>
            </a:r>
            <a:endParaRPr lang="en-US" sz="130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a:solidFill>
                  <a:srgbClr val="FFFFFF"/>
                </a:solidFill>
                <a:latin typeface="Segoe UI" pitchFamily="34" charset="0"/>
                <a:ea typeface="Segoe UI" pitchFamily="34" charset="-122"/>
                <a:cs typeface="Segoe UI" pitchFamily="34" charset="-120"/>
              </a:rPr>
              <a:t>Desplegar un modelo del catálogo y conversar con él en el playground del proyecto.</a:t>
            </a:r>
            <a:endParaRPr lang="en-US" sz="2000"/>
          </a:p>
        </p:txBody>
      </p:sp>
      <p:sp>
        <p:nvSpPr>
          <p:cNvPr id="10" name="Shape 8"/>
          <p:cNvSpPr/>
          <p:nvPr/>
        </p:nvSpPr>
        <p:spPr>
          <a:xfrm>
            <a:off x="5212080" y="1777365"/>
            <a:ext cx="457200" cy="457200"/>
          </a:xfrm>
          <a:prstGeom prst="ellipse">
            <a:avLst/>
          </a:prstGeom>
          <a:solidFill>
            <a:srgbClr val="12A5A0"/>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1</a:t>
            </a:r>
            <a:endParaRPr lang="en-US" sz="150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Buscar un modelo de propósito general en el catálogo.</a:t>
            </a:r>
            <a:endParaRPr lang="en-US" sz="1800"/>
          </a:p>
        </p:txBody>
      </p:sp>
      <p:sp>
        <p:nvSpPr>
          <p:cNvPr id="13" name="Shape 11"/>
          <p:cNvSpPr/>
          <p:nvPr/>
        </p:nvSpPr>
        <p:spPr>
          <a:xfrm>
            <a:off x="5212080" y="2771775"/>
            <a:ext cx="457200" cy="457200"/>
          </a:xfrm>
          <a:prstGeom prst="ellipse">
            <a:avLst/>
          </a:prstGeom>
          <a:solidFill>
            <a:srgbClr val="12A5A0"/>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2</a:t>
            </a:r>
            <a:endParaRPr lang="en-US" sz="150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Revisar su ficha: capacidades y deployment types disponibles.</a:t>
            </a:r>
            <a:endParaRPr lang="en-US" sz="1800"/>
          </a:p>
        </p:txBody>
      </p:sp>
      <p:sp>
        <p:nvSpPr>
          <p:cNvPr id="16" name="Shape 14"/>
          <p:cNvSpPr/>
          <p:nvPr/>
        </p:nvSpPr>
        <p:spPr>
          <a:xfrm>
            <a:off x="5212080" y="3766185"/>
            <a:ext cx="457200" cy="457200"/>
          </a:xfrm>
          <a:prstGeom prst="ellipse">
            <a:avLst/>
          </a:prstGeom>
          <a:solidFill>
            <a:srgbClr val="12A5A0"/>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3</a:t>
            </a:r>
            <a:endParaRPr lang="en-US" sz="150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Crear el deployment con Global Standard.</a:t>
            </a:r>
            <a:endParaRPr lang="en-US" sz="1800"/>
          </a:p>
        </p:txBody>
      </p:sp>
      <p:sp>
        <p:nvSpPr>
          <p:cNvPr id="19" name="Shape 17"/>
          <p:cNvSpPr/>
          <p:nvPr/>
        </p:nvSpPr>
        <p:spPr>
          <a:xfrm>
            <a:off x="5212080" y="4760595"/>
            <a:ext cx="457200" cy="457200"/>
          </a:xfrm>
          <a:prstGeom prst="ellipse">
            <a:avLst/>
          </a:prstGeom>
          <a:solidFill>
            <a:srgbClr val="12A5A0"/>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4</a:t>
            </a:r>
            <a:endParaRPr lang="en-US" sz="150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Abrir el playground y probar un prompt bancario ficticio (p. ej. resumir una política interna).</a:t>
            </a:r>
            <a:endParaRPr lang="en-US" sz="180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a:solidFill>
                  <a:srgbClr val="0B1F33"/>
                </a:solidFill>
                <a:latin typeface="Segoe UI Semibold" pitchFamily="34" charset="0"/>
                <a:ea typeface="Segoe UI Semibold" pitchFamily="34" charset="-122"/>
                <a:cs typeface="Segoe UI Semibold" pitchFamily="34" charset="-120"/>
              </a:rPr>
              <a:t>Resultado esperado: El grupo ve el camino completo: catálogo → deployment → prueba en playground, sin escribir código.</a:t>
            </a:r>
            <a:endParaRPr lang="en-US" sz="15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Responses API vs Chat Completions</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5396332" cy="640080"/>
          </a:xfrm>
          <a:prstGeom prst="rect">
            <a:avLst/>
          </a:prstGeom>
          <a:solidFill>
            <a:srgbClr val="12A5A0"/>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a:solidFill>
                  <a:srgbClr val="FFFFFF"/>
                </a:solidFill>
                <a:latin typeface="Segoe UI Semibold" pitchFamily="34" charset="0"/>
                <a:ea typeface="Segoe UI Semibold" pitchFamily="34" charset="-122"/>
                <a:cs typeface="Segoe UI Semibold" pitchFamily="34" charset="-120"/>
              </a:rPr>
              <a:t>Chat Completions</a:t>
            </a:r>
            <a:endParaRPr lang="en-US" sz="200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900">
                <a:solidFill>
                  <a:srgbClr val="1B2A3A"/>
                </a:solidFill>
                <a:latin typeface="Segoe UI" pitchFamily="34" charset="0"/>
                <a:ea typeface="Segoe UI" pitchFamily="34" charset="-122"/>
                <a:cs typeface="Segoe UI" pitchFamily="34" charset="-120"/>
              </a:rPr>
              <a:t>Modelo de mensajes por turno, histórico administrado por la app</a:t>
            </a:r>
            <a:endParaRPr lang="en-US" sz="1900"/>
          </a:p>
          <a:p>
            <a:pPr marL="203200" indent="-203200">
              <a:spcAft>
                <a:spcPts val="1200"/>
              </a:spcAft>
              <a:buSzPct val="100000"/>
              <a:buChar char="•"/>
            </a:pPr>
            <a:r>
              <a:rPr lang="en-US" sz="1900">
                <a:solidFill>
                  <a:srgbClr val="1B2A3A"/>
                </a:solidFill>
                <a:latin typeface="Segoe UI" pitchFamily="34" charset="0"/>
                <a:ea typeface="Segoe UI" pitchFamily="34" charset="-122"/>
                <a:cs typeface="Segoe UI" pitchFamily="34" charset="-120"/>
              </a:rPr>
              <a:t>Patrón conocido, amplia compatibilidad con integraciones existentes</a:t>
            </a:r>
            <a:endParaRPr lang="en-US" sz="1900"/>
          </a:p>
          <a:p>
            <a:pPr marL="203200" indent="-203200">
              <a:spcAft>
                <a:spcPts val="1200"/>
              </a:spcAft>
              <a:buSzPct val="100000"/>
              <a:buChar char="•"/>
            </a:pPr>
            <a:r>
              <a:rPr lang="en-US" sz="1900">
                <a:solidFill>
                  <a:srgbClr val="1B2A3A"/>
                </a:solidFill>
                <a:latin typeface="Segoe UI" pitchFamily="34" charset="0"/>
                <a:ea typeface="Segoe UI" pitchFamily="34" charset="-122"/>
                <a:cs typeface="Segoe UI" pitchFamily="34" charset="-120"/>
              </a:rPr>
              <a:t>Sin conceptos nativos de agente, tools o estado persistente</a:t>
            </a:r>
            <a:endParaRPr lang="en-US" sz="190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a:solidFill>
                  <a:srgbClr val="FFFFFF"/>
                </a:solidFill>
                <a:latin typeface="Segoe UI Semibold" pitchFamily="34" charset="0"/>
                <a:ea typeface="Segoe UI Semibold" pitchFamily="34" charset="-122"/>
                <a:cs typeface="Segoe UI Semibold" pitchFamily="34" charset="-120"/>
              </a:rPr>
              <a:t>Responses API (Agents v2)</a:t>
            </a:r>
            <a:endParaRPr lang="en-US" sz="200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900">
                <a:solidFill>
                  <a:srgbClr val="1B2A3A"/>
                </a:solidFill>
                <a:latin typeface="Segoe UI" pitchFamily="34" charset="0"/>
                <a:ea typeface="Segoe UI" pitchFamily="34" charset="-122"/>
                <a:cs typeface="Segoe UI" pitchFamily="34" charset="-120"/>
              </a:rPr>
              <a:t>Pensado para agentes: conversaciones, items y versiones de agente</a:t>
            </a:r>
            <a:endParaRPr lang="en-US" sz="1900"/>
          </a:p>
          <a:p>
            <a:pPr marL="203200" indent="-203200">
              <a:spcAft>
                <a:spcPts val="1200"/>
              </a:spcAft>
              <a:buSzPct val="100000"/>
              <a:buChar char="•"/>
            </a:pPr>
            <a:r>
              <a:rPr lang="en-US" sz="1900">
                <a:solidFill>
                  <a:srgbClr val="1B2A3A"/>
                </a:solidFill>
                <a:latin typeface="Segoe UI" pitchFamily="34" charset="0"/>
                <a:ea typeface="Segoe UI" pitchFamily="34" charset="-122"/>
                <a:cs typeface="Segoe UI" pitchFamily="34" charset="-120"/>
              </a:rPr>
              <a:t>Integra tools, archivos y estado de forma nativa en la misma llamada</a:t>
            </a:r>
            <a:endParaRPr lang="en-US" sz="1900"/>
          </a:p>
          <a:p>
            <a:pPr marL="203200" indent="-203200">
              <a:spcAft>
                <a:spcPts val="1200"/>
              </a:spcAft>
              <a:buSzPct val="100000"/>
              <a:buChar char="•"/>
            </a:pPr>
            <a:r>
              <a:rPr lang="en-US" sz="1900">
                <a:solidFill>
                  <a:srgbClr val="1B2A3A"/>
                </a:solidFill>
                <a:latin typeface="Segoe UI" pitchFamily="34" charset="0"/>
                <a:ea typeface="Segoe UI" pitchFamily="34" charset="-122"/>
                <a:cs typeface="Segoe UI" pitchFamily="34" charset="-120"/>
              </a:rPr>
              <a:t>Es la ruta recomendada para nuevos desarrollos en Foundry</a:t>
            </a:r>
            <a:endParaRPr lang="en-US" sz="190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Para apps nuevas con agentes o tools, partir de Responses API; Chat Completions sigue disponible para migrar gradualmente.</a:t>
            </a:r>
            <a:endParaRPr lang="en-US" sz="17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Tres formas de mejorar un modelo</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12A5A0"/>
          </a:solidFill>
          <a:ln/>
        </p:spPr>
        <p:txBody>
          <a:bodyPr/>
          <a:lstStyle/>
          <a:p>
            <a:endParaRPr lang="en-US"/>
          </a:p>
        </p:txBody>
      </p:sp>
      <p:sp>
        <p:nvSpPr>
          <p:cNvPr id="8" name="Shape 6"/>
          <p:cNvSpPr/>
          <p:nvPr/>
        </p:nvSpPr>
        <p:spPr>
          <a:xfrm>
            <a:off x="822960" y="1783080"/>
            <a:ext cx="548640" cy="548640"/>
          </a:xfrm>
          <a:prstGeom prst="ellipse">
            <a:avLst/>
          </a:prstGeom>
          <a:solidFill>
            <a:srgbClr val="12A5A0"/>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1</a:t>
            </a:r>
            <a:endParaRPr lang="en-US" sz="180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Prompt engineering</a:t>
            </a:r>
            <a:endParaRPr lang="en-US" sz="200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1900">
                <a:solidFill>
                  <a:srgbClr val="1B2A3A"/>
                </a:solidFill>
                <a:latin typeface="Segoe UI" pitchFamily="34" charset="0"/>
                <a:ea typeface="Segoe UI" pitchFamily="34" charset="-122"/>
                <a:cs typeface="Segoe UI" pitchFamily="34" charset="-120"/>
              </a:rPr>
              <a:t>Ajustar instrucciones, ejemplos y formato de salida. Es el primer paso, rápido y sin infraestructura adicional.</a:t>
            </a:r>
            <a:endParaRPr lang="en-US" sz="190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12A5A0"/>
          </a:solidFill>
          <a:ln/>
        </p:spPr>
        <p:txBody>
          <a:bodyPr/>
          <a:lstStyle/>
          <a:p>
            <a:endParaRPr lang="en-US"/>
          </a:p>
        </p:txBody>
      </p:sp>
      <p:sp>
        <p:nvSpPr>
          <p:cNvPr id="14" name="Shape 12"/>
          <p:cNvSpPr/>
          <p:nvPr/>
        </p:nvSpPr>
        <p:spPr>
          <a:xfrm>
            <a:off x="4612538" y="1783080"/>
            <a:ext cx="548640" cy="548640"/>
          </a:xfrm>
          <a:prstGeom prst="ellipse">
            <a:avLst/>
          </a:prstGeom>
          <a:solidFill>
            <a:srgbClr val="12A5A0"/>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2</a:t>
            </a:r>
            <a:endParaRPr lang="en-US" sz="180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RAG (grounding)</a:t>
            </a:r>
            <a:endParaRPr lang="en-US" sz="200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1900">
                <a:solidFill>
                  <a:srgbClr val="1B2A3A"/>
                </a:solidFill>
                <a:latin typeface="Segoe UI" pitchFamily="34" charset="0"/>
                <a:ea typeface="Segoe UI" pitchFamily="34" charset="-122"/>
                <a:cs typeface="Segoe UI" pitchFamily="34" charset="-120"/>
              </a:rPr>
              <a:t>Conectar el modelo a datos propios (p. ej. políticas internas ficticias) para respuestas actualizadas y verificables.</a:t>
            </a:r>
            <a:endParaRPr lang="en-US" sz="190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12A5A0"/>
          </a:solidFill>
          <a:ln/>
        </p:spPr>
        <p:txBody>
          <a:bodyPr/>
          <a:lstStyle/>
          <a:p>
            <a:endParaRPr lang="en-US"/>
          </a:p>
        </p:txBody>
      </p:sp>
      <p:sp>
        <p:nvSpPr>
          <p:cNvPr id="20" name="Shape 18"/>
          <p:cNvSpPr/>
          <p:nvPr/>
        </p:nvSpPr>
        <p:spPr>
          <a:xfrm>
            <a:off x="8402117" y="1783080"/>
            <a:ext cx="548640" cy="548640"/>
          </a:xfrm>
          <a:prstGeom prst="ellipse">
            <a:avLst/>
          </a:prstGeom>
          <a:solidFill>
            <a:srgbClr val="12A5A0"/>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3</a:t>
            </a:r>
            <a:endParaRPr lang="en-US" sz="180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Fine-tuning</a:t>
            </a:r>
            <a:endParaRPr lang="en-US" sz="200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1900">
                <a:solidFill>
                  <a:srgbClr val="1B2A3A"/>
                </a:solidFill>
                <a:latin typeface="Segoe UI" pitchFamily="34" charset="0"/>
                <a:ea typeface="Segoe UI" pitchFamily="34" charset="-122"/>
                <a:cs typeface="Segoe UI" pitchFamily="34" charset="-120"/>
              </a:rPr>
              <a:t>Entrenar el modelo con ejemplos propios cuando el prompting y la recuperación no alcanzan la calidad necesaria.</a:t>
            </a:r>
            <a:endParaRPr lang="en-US" sz="190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a:solidFill>
                  <a:srgbClr val="5B6B7B"/>
                </a:solidFill>
                <a:latin typeface="Segoe UI" pitchFamily="34" charset="0"/>
                <a:ea typeface="Segoe UI" pitchFamily="34" charset="-122"/>
                <a:cs typeface="Segoe UI" pitchFamily="34" charset="-120"/>
              </a:rPr>
              <a:t>Orden recomendado: prompting → RAG → fine-tuning, de menor a mayor esfuerzo.</a:t>
            </a:r>
            <a:endParaRPr lang="en-US" sz="15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Cómo se construye en código</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12A5A0"/>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000">
                <a:solidFill>
                  <a:srgbClr val="1B2A3A"/>
                </a:solidFill>
                <a:latin typeface="Segoe UI" pitchFamily="34" charset="0"/>
                <a:ea typeface="Segoe UI" pitchFamily="34" charset="-122"/>
                <a:cs typeface="Segoe UI" pitchFamily="34" charset="-120"/>
              </a:rPr>
              <a:t>Foundry SDK unificado (azure-ai-projects) para Python, C#, JavaScript y Java.</a:t>
            </a:r>
            <a:endParaRPr lang="en-US" sz="2000"/>
          </a:p>
          <a:p>
            <a:pPr marL="228600" indent="-228600">
              <a:spcAft>
                <a:spcPts val="1000"/>
              </a:spcAft>
              <a:buSzPct val="100000"/>
              <a:buChar char="•"/>
            </a:pPr>
            <a:r>
              <a:rPr lang="en-US" sz="2000">
                <a:solidFill>
                  <a:srgbClr val="1B2A3A"/>
                </a:solidFill>
                <a:latin typeface="Segoe UI" pitchFamily="34" charset="0"/>
                <a:ea typeface="Segoe UI" pitchFamily="34" charset="-122"/>
                <a:cs typeface="Segoe UI" pitchFamily="34" charset="-120"/>
              </a:rPr>
              <a:t>SDK de OpenAI y de Anthropic disponibles contra el mismo endpoint de proyecto.</a:t>
            </a:r>
            <a:endParaRPr lang="en-US" sz="2000"/>
          </a:p>
          <a:p>
            <a:pPr marL="228600" indent="-228600">
              <a:spcAft>
                <a:spcPts val="1000"/>
              </a:spcAft>
              <a:buSzPct val="100000"/>
              <a:buChar char="•"/>
            </a:pPr>
            <a:r>
              <a:rPr lang="en-US" sz="2000">
                <a:solidFill>
                  <a:srgbClr val="1B2A3A"/>
                </a:solidFill>
                <a:latin typeface="Segoe UI" pitchFamily="34" charset="0"/>
                <a:ea typeface="Segoe UI" pitchFamily="34" charset="-122"/>
                <a:cs typeface="Segoe UI" pitchFamily="34" charset="-120"/>
              </a:rPr>
              <a:t>Microsoft Agent Framework para construir agentes con código propio.</a:t>
            </a:r>
            <a:endParaRPr lang="en-US" sz="2000"/>
          </a:p>
          <a:p>
            <a:pPr marL="228600" indent="-228600">
              <a:spcAft>
                <a:spcPts val="1000"/>
              </a:spcAft>
              <a:buSzPct val="100000"/>
              <a:buChar char="•"/>
            </a:pPr>
            <a:r>
              <a:rPr lang="en-US" sz="2000">
                <a:solidFill>
                  <a:srgbClr val="1B2A3A"/>
                </a:solidFill>
                <a:latin typeface="Segoe UI" pitchFamily="34" charset="0"/>
                <a:ea typeface="Segoe UI" pitchFamily="34" charset="-122"/>
                <a:cs typeface="Segoe UI" pitchFamily="34" charset="-120"/>
              </a:rPr>
              <a:t>Extensión de VS Code y Azure Developer CLI (azd) para flujos de trabajo repetibles.</a:t>
            </a:r>
            <a:endParaRPr lang="en-US" sz="2000"/>
          </a:p>
          <a:p>
            <a:pPr marL="228600" indent="-228600">
              <a:spcAft>
                <a:spcPts val="1000"/>
              </a:spcAft>
              <a:buSzPct val="100000"/>
              <a:buChar char="•"/>
            </a:pPr>
            <a:r>
              <a:rPr lang="en-US" sz="2000">
                <a:solidFill>
                  <a:srgbClr val="1B2A3A"/>
                </a:solidFill>
                <a:latin typeface="Segoe UI" pitchFamily="34" charset="0"/>
                <a:ea typeface="Segoe UI" pitchFamily="34" charset="-122"/>
                <a:cs typeface="Segoe UI" pitchFamily="34" charset="-120"/>
              </a:rPr>
              <a:t>Foundry MCP Server (preview) habilita que asistentes de código operen Foundry por lenguaje natural.</a:t>
            </a:r>
            <a:endParaRPr lang="en-US" sz="200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a:solidFill>
                  <a:srgbClr val="F5B83D"/>
                </a:solidFill>
                <a:latin typeface="Segoe UI Semibold" pitchFamily="34" charset="0"/>
                <a:ea typeface="Segoe UI Semibold" pitchFamily="34" charset="-122"/>
                <a:cs typeface="Segoe UI Semibold" pitchFamily="34" charset="-120"/>
              </a:rPr>
              <a:t>CLAVE</a:t>
            </a:r>
            <a:endParaRPr lang="en-US" sz="130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a:solidFill>
                  <a:srgbClr val="FFFFFF"/>
                </a:solidFill>
                <a:latin typeface="Segoe UI" pitchFamily="34" charset="0"/>
                <a:ea typeface="Segoe UI" pitchFamily="34" charset="-122"/>
                <a:cs typeface="Segoe UI" pitchFamily="34" charset="-120"/>
              </a:rPr>
              <a:t>No hace falta elegir un único camino: es común prototipar en el portal y pasar a SDK después.</a:t>
            </a:r>
            <a:endParaRPr lang="en-US" sz="22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2A5A0">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12A5A0">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a:solidFill>
                  <a:srgbClr val="12A5A0"/>
                </a:solidFill>
                <a:latin typeface="Segoe UI Semibold" pitchFamily="34" charset="0"/>
                <a:ea typeface="Segoe UI Semibold" pitchFamily="34" charset="-122"/>
                <a:cs typeface="Segoe UI Semibold" pitchFamily="34" charset="-120"/>
              </a:rPr>
              <a:t>03</a:t>
            </a:r>
            <a:endParaRPr lang="en-US" sz="1200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a:solidFill>
                  <a:srgbClr val="FFFFFF"/>
                </a:solidFill>
                <a:latin typeface="Segoe UI Semibold" pitchFamily="34" charset="0"/>
                <a:ea typeface="Segoe UI Semibold" pitchFamily="34" charset="-122"/>
                <a:cs typeface="Segoe UI Semibold" pitchFamily="34" charset="-120"/>
              </a:rPr>
              <a:t>Módulo 3 · Azure AI Services</a:t>
            </a:r>
            <a:endParaRPr lang="en-US" sz="440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a:solidFill>
                  <a:srgbClr val="C9D7E4"/>
                </a:solidFill>
                <a:latin typeface="Segoe UI" pitchFamily="34" charset="0"/>
                <a:ea typeface="Segoe UI" pitchFamily="34" charset="-122"/>
                <a:cs typeface="Segoe UI" pitchFamily="34" charset="-120"/>
              </a:rPr>
              <a:t>Foundry Tools especializados: documentos, voz, lenguaje y visión</a:t>
            </a:r>
            <a:endParaRPr lang="en-US" sz="20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Azure AI Services en Foundry Tools</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graphicFrame>
        <p:nvGraphicFramePr>
          <p:cNvPr id="22" name="Table 0"/>
          <p:cNvGraphicFramePr>
            <a:graphicFrameLocks noGrp="1"/>
          </p:cNvGraphicFramePr>
          <p:nvPr>
            <p:extLst>
              <p:ext uri="{D42A27DB-BD31-4B8C-83A1-F6EECF244321}">
                <p14:modId xmlns:p14="http://schemas.microsoft.com/office/powerpoint/2010/main" val="2248030735"/>
              </p:ext>
            </p:extLst>
          </p:nvPr>
        </p:nvGraphicFramePr>
        <p:xfrm>
          <a:off x="548640" y="1508760"/>
          <a:ext cx="11094416" cy="4206240"/>
        </p:xfrm>
        <a:graphic>
          <a:graphicData uri="http://schemas.openxmlformats.org/drawingml/2006/table">
            <a:tbl>
              <a:tblPr/>
              <a:tblGrid>
                <a:gridCol w="2306760">
                  <a:extLst>
                    <a:ext uri="{9D8B030D-6E8A-4147-A177-3AD203B41FA5}">
                      <a16:colId xmlns:a16="http://schemas.microsoft.com/office/drawing/2014/main" val="20000"/>
                    </a:ext>
                  </a:extLst>
                </a:gridCol>
                <a:gridCol w="4393828">
                  <a:extLst>
                    <a:ext uri="{9D8B030D-6E8A-4147-A177-3AD203B41FA5}">
                      <a16:colId xmlns:a16="http://schemas.microsoft.com/office/drawing/2014/main" val="20001"/>
                    </a:ext>
                  </a:extLst>
                </a:gridCol>
                <a:gridCol w="4393828">
                  <a:extLst>
                    <a:ext uri="{9D8B030D-6E8A-4147-A177-3AD203B41FA5}">
                      <a16:colId xmlns:a16="http://schemas.microsoft.com/office/drawing/2014/main" val="20002"/>
                    </a:ext>
                  </a:extLst>
                </a:gridCol>
              </a:tblGrid>
              <a:tr h="701040">
                <a:tc>
                  <a:txBody>
                    <a:bodyPr/>
                    <a:lstStyle/>
                    <a:p>
                      <a:pPr marL="0" indent="0">
                        <a:buNone/>
                      </a:pPr>
                      <a:r>
                        <a:rPr lang="en-US" sz="1600" b="1">
                          <a:solidFill>
                            <a:srgbClr val="FFFFFF"/>
                          </a:solidFill>
                          <a:latin typeface="Segoe UI Semibold" pitchFamily="34" charset="0"/>
                          <a:ea typeface="Segoe UI Semibold" pitchFamily="34" charset="-122"/>
                          <a:cs typeface="Segoe UI Semibold" pitchFamily="34" charset="-120"/>
                        </a:rPr>
                        <a:t>Servicio</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a:solidFill>
                            <a:srgbClr val="FFFFFF"/>
                          </a:solidFill>
                          <a:latin typeface="Segoe UI Semibold" pitchFamily="34" charset="0"/>
                          <a:ea typeface="Segoe UI Semibold" pitchFamily="34" charset="-122"/>
                          <a:cs typeface="Segoe UI Semibold" pitchFamily="34" charset="-120"/>
                        </a:rPr>
                        <a:t>Qué hace</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a:solidFill>
                            <a:srgbClr val="FFFFFF"/>
                          </a:solidFill>
                          <a:latin typeface="Segoe UI Semibold" pitchFamily="34" charset="0"/>
                          <a:ea typeface="Segoe UI Semibold" pitchFamily="34" charset="-122"/>
                          <a:cs typeface="Segoe UI Semibold" pitchFamily="34" charset="-120"/>
                        </a:rPr>
                        <a:t>Uso bancario típico</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Document Intelligence</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Extrae texto, tablas y campos clave de documentos</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Solicitudes de crédito o </a:t>
                      </a:r>
                      <a:r>
                        <a:rPr lang="en-US" sz="1600" err="1">
                          <a:solidFill>
                            <a:srgbClr val="1B2A3A"/>
                          </a:solidFill>
                          <a:latin typeface="Segoe UI" pitchFamily="34" charset="0"/>
                          <a:ea typeface="Segoe UI" pitchFamily="34" charset="-122"/>
                          <a:cs typeface="Segoe UI" pitchFamily="34" charset="-120"/>
                        </a:rPr>
                        <a:t>formularios</a:t>
                      </a:r>
                      <a:r>
                        <a:rPr lang="en-US" sz="1600">
                          <a:solidFill>
                            <a:srgbClr val="1B2A3A"/>
                          </a:solidFill>
                          <a:latin typeface="Segoe UI" pitchFamily="34" charset="0"/>
                          <a:ea typeface="Segoe UI" pitchFamily="34" charset="-122"/>
                          <a:cs typeface="Segoe UI" pitchFamily="34" charset="-120"/>
                        </a:rPr>
                        <a:t> </a:t>
                      </a:r>
                      <a:r>
                        <a:rPr lang="en-US" sz="1600" err="1">
                          <a:solidFill>
                            <a:srgbClr val="1B2A3A"/>
                          </a:solidFill>
                          <a:latin typeface="Segoe UI" pitchFamily="34" charset="0"/>
                          <a:ea typeface="Segoe UI" pitchFamily="34" charset="-122"/>
                          <a:cs typeface="Segoe UI" pitchFamily="34" charset="-120"/>
                        </a:rPr>
                        <a:t>internos</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Speech</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Convierte voz a texto y texto a voz, en vivo o por lotes</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Transcripción de llamadas de atención al cliente</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Language</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Analiza texto: entidades, PII, sentimiento, clasificación</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Clasificar reclamos o detectar datos sensibles en tickets</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Vision</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Analiza imágenes: objetos, texto, descripciones</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Validar fotos de documentos o comprobantes</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Content Understanding</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Genera salida estructurada desde documentos, audio o video</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Esquematizar contratos o llamadas en un formato único</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a:solidFill>
                  <a:srgbClr val="5B6B7B"/>
                </a:solidFill>
                <a:latin typeface="Segoe UI" pitchFamily="34" charset="0"/>
                <a:ea typeface="Segoe UI" pitchFamily="34" charset="-122"/>
                <a:cs typeface="Segoe UI" pitchFamily="34" charset="-120"/>
              </a:rPr>
              <a:t>Todos se consumen como Foundry Tools, con el mismo modelo de identidad y gobierno del proyecto.</a:t>
            </a:r>
            <a:endParaRPr lang="en-US" sz="12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Document Intelligence en detalle</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12A5A0"/>
          </a:solidFill>
          <a:ln/>
        </p:spPr>
        <p:txBody>
          <a:bodyPr/>
          <a:lstStyle/>
          <a:p>
            <a:endParaRPr lang="en-US"/>
          </a:p>
        </p:txBody>
      </p:sp>
      <p:sp>
        <p:nvSpPr>
          <p:cNvPr id="8" name="Shape 6"/>
          <p:cNvSpPr/>
          <p:nvPr/>
        </p:nvSpPr>
        <p:spPr>
          <a:xfrm>
            <a:off x="822960" y="1783080"/>
            <a:ext cx="548640" cy="548640"/>
          </a:xfrm>
          <a:prstGeom prst="ellipse">
            <a:avLst/>
          </a:prstGeom>
          <a:solidFill>
            <a:srgbClr val="12A5A0"/>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1</a:t>
            </a:r>
            <a:endParaRPr lang="en-US" sz="180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Modelos prebuilt</a:t>
            </a:r>
            <a:endParaRPr lang="en-US" sz="200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Plantillas listas para facturas, recibos, identificaciones y formularios comunes, sin entrenar nada.</a:t>
            </a:r>
            <a:endParaRPr lang="en-US" sz="200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12A5A0"/>
          </a:solidFill>
          <a:ln/>
        </p:spPr>
        <p:txBody>
          <a:bodyPr/>
          <a:lstStyle/>
          <a:p>
            <a:endParaRPr lang="en-US"/>
          </a:p>
        </p:txBody>
      </p:sp>
      <p:sp>
        <p:nvSpPr>
          <p:cNvPr id="14" name="Shape 12"/>
          <p:cNvSpPr/>
          <p:nvPr/>
        </p:nvSpPr>
        <p:spPr>
          <a:xfrm>
            <a:off x="4612538" y="1783080"/>
            <a:ext cx="548640" cy="548640"/>
          </a:xfrm>
          <a:prstGeom prst="ellipse">
            <a:avLst/>
          </a:prstGeom>
          <a:solidFill>
            <a:srgbClr val="12A5A0"/>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2</a:t>
            </a:r>
            <a:endParaRPr lang="en-US" sz="180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Document Intelligence Studio</a:t>
            </a:r>
            <a:endParaRPr lang="en-US" sz="200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Entorno visual para probar modelos, revisar la extracción y entrenar modelos personalizados.</a:t>
            </a:r>
            <a:endParaRPr lang="en-US" sz="200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12A5A0"/>
          </a:solidFill>
          <a:ln/>
        </p:spPr>
        <p:txBody>
          <a:bodyPr/>
          <a:lstStyle/>
          <a:p>
            <a:endParaRPr lang="en-US"/>
          </a:p>
        </p:txBody>
      </p:sp>
      <p:sp>
        <p:nvSpPr>
          <p:cNvPr id="20" name="Shape 18"/>
          <p:cNvSpPr/>
          <p:nvPr/>
        </p:nvSpPr>
        <p:spPr>
          <a:xfrm>
            <a:off x="8402117" y="1783080"/>
            <a:ext cx="548640" cy="548640"/>
          </a:xfrm>
          <a:prstGeom prst="ellipse">
            <a:avLst/>
          </a:prstGeom>
          <a:solidFill>
            <a:srgbClr val="12A5A0"/>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3</a:t>
            </a:r>
            <a:endParaRPr lang="en-US" sz="180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Modelos personalizados</a:t>
            </a:r>
            <a:endParaRPr lang="en-US" sz="200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Entrenables con ejemplos propios cuando el formato del documento es específico del negocio.</a:t>
            </a:r>
            <a:endParaRPr lang="en-US" sz="200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a:solidFill>
                  <a:srgbClr val="5B6B7B"/>
                </a:solidFill>
                <a:latin typeface="Segoe UI" pitchFamily="34" charset="0"/>
                <a:ea typeface="Segoe UI" pitchFamily="34" charset="-122"/>
                <a:cs typeface="Segoe UI" pitchFamily="34" charset="-120"/>
              </a:rPr>
              <a:t>En el laboratorio de hoy probamos OCR sobre un documento bancario ficticio.</a:t>
            </a:r>
            <a:endParaRPr lang="en-US" sz="15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Demo: Document Intelligence Studio</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a:solidFill>
                  <a:srgbClr val="0B1F33"/>
                </a:solidFill>
                <a:latin typeface="Segoe UI Semibold" pitchFamily="34" charset="0"/>
                <a:ea typeface="Segoe UI Semibold" pitchFamily="34" charset="-122"/>
                <a:cs typeface="Segoe UI Semibold" pitchFamily="34" charset="-120"/>
              </a:rPr>
              <a:t>DEMO</a:t>
            </a:r>
            <a:endParaRPr lang="en-US" sz="130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a:solidFill>
                  <a:srgbClr val="FFFFFF"/>
                </a:solidFill>
                <a:latin typeface="Segoe UI" pitchFamily="34" charset="0"/>
                <a:ea typeface="Segoe UI" pitchFamily="34" charset="-122"/>
                <a:cs typeface="Segoe UI" pitchFamily="34" charset="-120"/>
              </a:rPr>
              <a:t>Extraer los campos de un comprobante de compra ficticio con un modelo prebuilt y revisar la confianza de cada campo.</a:t>
            </a:r>
            <a:endParaRPr lang="en-US" sz="2000"/>
          </a:p>
        </p:txBody>
      </p:sp>
      <p:sp>
        <p:nvSpPr>
          <p:cNvPr id="10" name="Shape 8"/>
          <p:cNvSpPr/>
          <p:nvPr/>
        </p:nvSpPr>
        <p:spPr>
          <a:xfrm>
            <a:off x="5212080" y="1677924"/>
            <a:ext cx="457200" cy="457200"/>
          </a:xfrm>
          <a:prstGeom prst="ellipse">
            <a:avLst/>
          </a:prstGeom>
          <a:solidFill>
            <a:srgbClr val="12A5A0"/>
          </a:solidFill>
          <a:ln/>
        </p:spPr>
        <p:txBody>
          <a:bodyPr/>
          <a:lstStyle/>
          <a:p>
            <a:endParaRPr lang="en-US"/>
          </a:p>
        </p:txBody>
      </p:sp>
      <p:sp>
        <p:nvSpPr>
          <p:cNvPr id="11" name="Text 9"/>
          <p:cNvSpPr/>
          <p:nvPr/>
        </p:nvSpPr>
        <p:spPr>
          <a:xfrm>
            <a:off x="5212080" y="1677924"/>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1</a:t>
            </a:r>
            <a:endParaRPr lang="en-US" sz="1500"/>
          </a:p>
        </p:txBody>
      </p:sp>
      <p:sp>
        <p:nvSpPr>
          <p:cNvPr id="12" name="Text 10"/>
          <p:cNvSpPr/>
          <p:nvPr/>
        </p:nvSpPr>
        <p:spPr>
          <a:xfrm>
            <a:off x="5897880" y="1508760"/>
            <a:ext cx="5699455" cy="795528"/>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Abrir Document Intelligence Studio y elegir el modelo prebuilt Receipt.</a:t>
            </a:r>
            <a:endParaRPr lang="en-US" sz="1800"/>
          </a:p>
        </p:txBody>
      </p:sp>
      <p:sp>
        <p:nvSpPr>
          <p:cNvPr id="13" name="Shape 11"/>
          <p:cNvSpPr/>
          <p:nvPr/>
        </p:nvSpPr>
        <p:spPr>
          <a:xfrm>
            <a:off x="5212080" y="2473452"/>
            <a:ext cx="457200" cy="457200"/>
          </a:xfrm>
          <a:prstGeom prst="ellipse">
            <a:avLst/>
          </a:prstGeom>
          <a:solidFill>
            <a:srgbClr val="12A5A0"/>
          </a:solidFill>
          <a:ln/>
        </p:spPr>
        <p:txBody>
          <a:bodyPr/>
          <a:lstStyle/>
          <a:p>
            <a:endParaRPr lang="en-US"/>
          </a:p>
        </p:txBody>
      </p:sp>
      <p:sp>
        <p:nvSpPr>
          <p:cNvPr id="14" name="Text 12"/>
          <p:cNvSpPr/>
          <p:nvPr/>
        </p:nvSpPr>
        <p:spPr>
          <a:xfrm>
            <a:off x="5212080" y="2473452"/>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2</a:t>
            </a:r>
            <a:endParaRPr lang="en-US" sz="1500"/>
          </a:p>
        </p:txBody>
      </p:sp>
      <p:sp>
        <p:nvSpPr>
          <p:cNvPr id="15" name="Text 13"/>
          <p:cNvSpPr/>
          <p:nvPr/>
        </p:nvSpPr>
        <p:spPr>
          <a:xfrm>
            <a:off x="5897880" y="2304288"/>
            <a:ext cx="5699455" cy="795528"/>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Cargar el comprobante de compra ficticio y ejecutar el análisis.</a:t>
            </a:r>
            <a:endParaRPr lang="en-US" sz="1800"/>
          </a:p>
        </p:txBody>
      </p:sp>
      <p:sp>
        <p:nvSpPr>
          <p:cNvPr id="16" name="Shape 14"/>
          <p:cNvSpPr/>
          <p:nvPr/>
        </p:nvSpPr>
        <p:spPr>
          <a:xfrm>
            <a:off x="5212080" y="3268980"/>
            <a:ext cx="457200" cy="457200"/>
          </a:xfrm>
          <a:prstGeom prst="ellipse">
            <a:avLst/>
          </a:prstGeom>
          <a:solidFill>
            <a:srgbClr val="12A5A0"/>
          </a:solidFill>
          <a:ln/>
        </p:spPr>
        <p:txBody>
          <a:bodyPr/>
          <a:lstStyle/>
          <a:p>
            <a:endParaRPr lang="en-US"/>
          </a:p>
        </p:txBody>
      </p:sp>
      <p:sp>
        <p:nvSpPr>
          <p:cNvPr id="17" name="Text 15"/>
          <p:cNvSpPr/>
          <p:nvPr/>
        </p:nvSpPr>
        <p:spPr>
          <a:xfrm>
            <a:off x="5212080" y="3268980"/>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3</a:t>
            </a:r>
            <a:endParaRPr lang="en-US" sz="1500"/>
          </a:p>
        </p:txBody>
      </p:sp>
      <p:sp>
        <p:nvSpPr>
          <p:cNvPr id="18" name="Text 16"/>
          <p:cNvSpPr/>
          <p:nvPr/>
        </p:nvSpPr>
        <p:spPr>
          <a:xfrm>
            <a:off x="5897880" y="3099816"/>
            <a:ext cx="5699455" cy="795528"/>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Revisar los campos extraídos y el nivel de confianza de cada uno.</a:t>
            </a:r>
            <a:endParaRPr lang="en-US" sz="1800"/>
          </a:p>
        </p:txBody>
      </p:sp>
      <p:sp>
        <p:nvSpPr>
          <p:cNvPr id="19" name="Shape 17"/>
          <p:cNvSpPr/>
          <p:nvPr/>
        </p:nvSpPr>
        <p:spPr>
          <a:xfrm>
            <a:off x="5212080" y="4064508"/>
            <a:ext cx="457200" cy="457200"/>
          </a:xfrm>
          <a:prstGeom prst="ellipse">
            <a:avLst/>
          </a:prstGeom>
          <a:solidFill>
            <a:srgbClr val="12A5A0"/>
          </a:solidFill>
          <a:ln/>
        </p:spPr>
        <p:txBody>
          <a:bodyPr/>
          <a:lstStyle/>
          <a:p>
            <a:endParaRPr lang="en-US"/>
          </a:p>
        </p:txBody>
      </p:sp>
      <p:sp>
        <p:nvSpPr>
          <p:cNvPr id="20" name="Text 18"/>
          <p:cNvSpPr/>
          <p:nvPr/>
        </p:nvSpPr>
        <p:spPr>
          <a:xfrm>
            <a:off x="5212080" y="4064508"/>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4</a:t>
            </a:r>
            <a:endParaRPr lang="en-US" sz="1500"/>
          </a:p>
        </p:txBody>
      </p:sp>
      <p:sp>
        <p:nvSpPr>
          <p:cNvPr id="21" name="Text 19"/>
          <p:cNvSpPr/>
          <p:nvPr/>
        </p:nvSpPr>
        <p:spPr>
          <a:xfrm>
            <a:off x="5897880" y="3895344"/>
            <a:ext cx="5699455" cy="795528"/>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Contrastar con Layout: texto plano frente a extracción estructurada.</a:t>
            </a:r>
            <a:endParaRPr lang="en-US" sz="1800"/>
          </a:p>
        </p:txBody>
      </p:sp>
      <p:sp>
        <p:nvSpPr>
          <p:cNvPr id="22" name="Shape 20"/>
          <p:cNvSpPr/>
          <p:nvPr/>
        </p:nvSpPr>
        <p:spPr>
          <a:xfrm>
            <a:off x="5212080" y="4860036"/>
            <a:ext cx="457200" cy="457200"/>
          </a:xfrm>
          <a:prstGeom prst="ellipse">
            <a:avLst/>
          </a:prstGeom>
          <a:solidFill>
            <a:srgbClr val="12A5A0"/>
          </a:solidFill>
          <a:ln/>
        </p:spPr>
        <p:txBody>
          <a:bodyPr/>
          <a:lstStyle/>
          <a:p>
            <a:endParaRPr lang="en-US"/>
          </a:p>
        </p:txBody>
      </p:sp>
      <p:sp>
        <p:nvSpPr>
          <p:cNvPr id="23" name="Text 21"/>
          <p:cNvSpPr/>
          <p:nvPr/>
        </p:nvSpPr>
        <p:spPr>
          <a:xfrm>
            <a:off x="5212080" y="4860036"/>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5</a:t>
            </a:r>
            <a:endParaRPr lang="en-US" sz="1500"/>
          </a:p>
        </p:txBody>
      </p:sp>
      <p:sp>
        <p:nvSpPr>
          <p:cNvPr id="24" name="Text 22"/>
          <p:cNvSpPr/>
          <p:nvPr/>
        </p:nvSpPr>
        <p:spPr>
          <a:xfrm>
            <a:off x="5897880" y="4690872"/>
            <a:ext cx="5699455" cy="795528"/>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Ver el JSON del resultado: lo que consumiría una app o un agente.</a:t>
            </a:r>
            <a:endParaRPr lang="en-US" sz="1800"/>
          </a:p>
        </p:txBody>
      </p:sp>
      <p:sp>
        <p:nvSpPr>
          <p:cNvPr id="25" name="Shape 23"/>
          <p:cNvSpPr/>
          <p:nvPr/>
        </p:nvSpPr>
        <p:spPr>
          <a:xfrm>
            <a:off x="548640" y="5623560"/>
            <a:ext cx="11094415" cy="640080"/>
          </a:xfrm>
          <a:prstGeom prst="rect">
            <a:avLst/>
          </a:prstGeom>
          <a:solidFill>
            <a:srgbClr val="F5B83D"/>
          </a:solidFill>
          <a:ln/>
        </p:spPr>
        <p:txBody>
          <a:bodyPr/>
          <a:lstStyle/>
          <a:p>
            <a:endParaRPr lang="en-US"/>
          </a:p>
        </p:txBody>
      </p:sp>
      <p:sp>
        <p:nvSpPr>
          <p:cNvPr id="26" name="Text 24"/>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a:solidFill>
                  <a:srgbClr val="0B1F33"/>
                </a:solidFill>
                <a:latin typeface="Segoe UI Semibold" pitchFamily="34" charset="0"/>
                <a:ea typeface="Segoe UI Semibold" pitchFamily="34" charset="-122"/>
                <a:cs typeface="Segoe UI Semibold" pitchFamily="34" charset="-120"/>
              </a:rPr>
              <a:t>Resultado esperado: La sala distingue OCR de extracción estructurada antes de hacerlo por su cuenta en el bloque C del laboratorio.</a:t>
            </a:r>
            <a:endParaRPr lang="en-US" sz="1500"/>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El resto de los Foundry Tools, en breve</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12A5A0"/>
          </a:solidFill>
          <a:ln/>
        </p:spPr>
        <p:txBody>
          <a:bodyPr/>
          <a:lstStyle/>
          <a:p>
            <a:endParaRPr lang="en-US"/>
          </a:p>
        </p:txBody>
      </p:sp>
      <p:sp>
        <p:nvSpPr>
          <p:cNvPr id="8" name="Shape 6"/>
          <p:cNvSpPr/>
          <p:nvPr/>
        </p:nvSpPr>
        <p:spPr>
          <a:xfrm>
            <a:off x="822960" y="1737360"/>
            <a:ext cx="420624" cy="420624"/>
          </a:xfrm>
          <a:prstGeom prst="ellipse">
            <a:avLst/>
          </a:prstGeom>
          <a:solidFill>
            <a:srgbClr val="12A5A0"/>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a:t>
            </a:r>
            <a:endParaRPr lang="en-US" sz="1400"/>
          </a:p>
        </p:txBody>
      </p:sp>
      <p:sp>
        <p:nvSpPr>
          <p:cNvPr id="10" name="Text 8"/>
          <p:cNvSpPr/>
          <p:nvPr/>
        </p:nvSpPr>
        <p:spPr>
          <a:xfrm>
            <a:off x="1417320" y="1691640"/>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Speech</a:t>
            </a:r>
            <a:endParaRPr lang="en-US" sz="1800"/>
          </a:p>
        </p:txBody>
      </p:sp>
      <p:sp>
        <p:nvSpPr>
          <p:cNvPr id="11" name="Text 9"/>
          <p:cNvSpPr/>
          <p:nvPr/>
        </p:nvSpPr>
        <p:spPr>
          <a:xfrm>
            <a:off x="822960" y="2377440"/>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Voz a texto, texto a voz y Voice Live para conversaciones habladas en tiempo real.</a:t>
            </a:r>
            <a:endParaRPr lang="en-US" sz="1800"/>
          </a:p>
        </p:txBody>
      </p:sp>
      <p:sp>
        <p:nvSpPr>
          <p:cNvPr id="12" name="Shape 10"/>
          <p:cNvSpPr/>
          <p:nvPr/>
        </p:nvSpPr>
        <p:spPr>
          <a:xfrm>
            <a:off x="6223864"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6223864" y="1508760"/>
            <a:ext cx="82296" cy="2249424"/>
          </a:xfrm>
          <a:prstGeom prst="rect">
            <a:avLst/>
          </a:prstGeom>
          <a:solidFill>
            <a:srgbClr val="0B1F33"/>
          </a:solidFill>
          <a:ln/>
        </p:spPr>
        <p:txBody>
          <a:bodyPr/>
          <a:lstStyle/>
          <a:p>
            <a:endParaRPr lang="en-US"/>
          </a:p>
        </p:txBody>
      </p:sp>
      <p:sp>
        <p:nvSpPr>
          <p:cNvPr id="14" name="Shape 12"/>
          <p:cNvSpPr/>
          <p:nvPr/>
        </p:nvSpPr>
        <p:spPr>
          <a:xfrm>
            <a:off x="6498184" y="1737360"/>
            <a:ext cx="420624" cy="420624"/>
          </a:xfrm>
          <a:prstGeom prst="ellipse">
            <a:avLst/>
          </a:prstGeom>
          <a:solidFill>
            <a:srgbClr val="0B1F33"/>
          </a:solidFill>
          <a:ln/>
        </p:spPr>
        <p:txBody>
          <a:bodyPr/>
          <a:lstStyle/>
          <a:p>
            <a:endParaRPr lang="en-US"/>
          </a:p>
        </p:txBody>
      </p:sp>
      <p:sp>
        <p:nvSpPr>
          <p:cNvPr id="15" name="Text 13"/>
          <p:cNvSpPr/>
          <p:nvPr/>
        </p:nvSpPr>
        <p:spPr>
          <a:xfrm>
            <a:off x="6498184" y="1737360"/>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2</a:t>
            </a:r>
            <a:endParaRPr lang="en-US" sz="1400"/>
          </a:p>
        </p:txBody>
      </p:sp>
      <p:sp>
        <p:nvSpPr>
          <p:cNvPr id="16" name="Text 14"/>
          <p:cNvSpPr/>
          <p:nvPr/>
        </p:nvSpPr>
        <p:spPr>
          <a:xfrm>
            <a:off x="7092544" y="1691640"/>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Language</a:t>
            </a:r>
            <a:endParaRPr lang="en-US" sz="1800"/>
          </a:p>
        </p:txBody>
      </p:sp>
      <p:sp>
        <p:nvSpPr>
          <p:cNvPr id="17" name="Text 15"/>
          <p:cNvSpPr/>
          <p:nvPr/>
        </p:nvSpPr>
        <p:spPr>
          <a:xfrm>
            <a:off x="6498184" y="2377440"/>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Análisis de texto, detección de PII y un servidor MCP para integrarlo en agentes.</a:t>
            </a:r>
            <a:endParaRPr lang="en-US" sz="1800"/>
          </a:p>
        </p:txBody>
      </p:sp>
      <p:sp>
        <p:nvSpPr>
          <p:cNvPr id="18" name="Shape 16"/>
          <p:cNvSpPr/>
          <p:nvPr/>
        </p:nvSpPr>
        <p:spPr>
          <a:xfrm>
            <a:off x="548640"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548640" y="4014216"/>
            <a:ext cx="82296" cy="2249424"/>
          </a:xfrm>
          <a:prstGeom prst="rect">
            <a:avLst/>
          </a:prstGeom>
          <a:solidFill>
            <a:srgbClr val="12A5A0"/>
          </a:solidFill>
          <a:ln/>
        </p:spPr>
        <p:txBody>
          <a:bodyPr/>
          <a:lstStyle/>
          <a:p>
            <a:endParaRPr lang="en-US"/>
          </a:p>
        </p:txBody>
      </p:sp>
      <p:sp>
        <p:nvSpPr>
          <p:cNvPr id="20" name="Shape 18"/>
          <p:cNvSpPr/>
          <p:nvPr/>
        </p:nvSpPr>
        <p:spPr>
          <a:xfrm>
            <a:off x="822960" y="4242816"/>
            <a:ext cx="420624" cy="420624"/>
          </a:xfrm>
          <a:prstGeom prst="ellipse">
            <a:avLst/>
          </a:prstGeom>
          <a:solidFill>
            <a:srgbClr val="12A5A0"/>
          </a:solidFill>
          <a:ln/>
        </p:spPr>
        <p:txBody>
          <a:bodyPr/>
          <a:lstStyle/>
          <a:p>
            <a:endParaRPr lang="en-US"/>
          </a:p>
        </p:txBody>
      </p:sp>
      <p:sp>
        <p:nvSpPr>
          <p:cNvPr id="21" name="Text 19"/>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3</a:t>
            </a:r>
            <a:endParaRPr lang="en-US" sz="1400"/>
          </a:p>
        </p:txBody>
      </p:sp>
      <p:sp>
        <p:nvSpPr>
          <p:cNvPr id="22" name="Text 20"/>
          <p:cNvSpPr/>
          <p:nvPr/>
        </p:nvSpPr>
        <p:spPr>
          <a:xfrm>
            <a:off x="1417320" y="4197096"/>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Vision</a:t>
            </a:r>
            <a:endParaRPr lang="en-US" sz="1800"/>
          </a:p>
        </p:txBody>
      </p:sp>
      <p:sp>
        <p:nvSpPr>
          <p:cNvPr id="23" name="Text 21"/>
          <p:cNvSpPr/>
          <p:nvPr/>
        </p:nvSpPr>
        <p:spPr>
          <a:xfrm>
            <a:off x="822960" y="4882896"/>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Análisis de imágenes y OCR clásico; la familia Image Analysis 4.0 está en migración.</a:t>
            </a:r>
            <a:endParaRPr lang="en-US" sz="1800"/>
          </a:p>
        </p:txBody>
      </p:sp>
      <p:sp>
        <p:nvSpPr>
          <p:cNvPr id="24" name="Shape 22"/>
          <p:cNvSpPr/>
          <p:nvPr/>
        </p:nvSpPr>
        <p:spPr>
          <a:xfrm>
            <a:off x="6223864"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6223864" y="4014216"/>
            <a:ext cx="82296" cy="2249424"/>
          </a:xfrm>
          <a:prstGeom prst="rect">
            <a:avLst/>
          </a:prstGeom>
          <a:solidFill>
            <a:srgbClr val="0B1F33"/>
          </a:solidFill>
          <a:ln/>
        </p:spPr>
        <p:txBody>
          <a:bodyPr/>
          <a:lstStyle/>
          <a:p>
            <a:endParaRPr lang="en-US"/>
          </a:p>
        </p:txBody>
      </p:sp>
      <p:sp>
        <p:nvSpPr>
          <p:cNvPr id="26" name="Shape 24"/>
          <p:cNvSpPr/>
          <p:nvPr/>
        </p:nvSpPr>
        <p:spPr>
          <a:xfrm>
            <a:off x="6498184" y="4242816"/>
            <a:ext cx="420624" cy="420624"/>
          </a:xfrm>
          <a:prstGeom prst="ellipse">
            <a:avLst/>
          </a:prstGeom>
          <a:solidFill>
            <a:srgbClr val="0B1F33"/>
          </a:solidFill>
          <a:ln/>
        </p:spPr>
        <p:txBody>
          <a:bodyPr/>
          <a:lstStyle/>
          <a:p>
            <a:endParaRPr lang="en-US"/>
          </a:p>
        </p:txBody>
      </p:sp>
      <p:sp>
        <p:nvSpPr>
          <p:cNvPr id="27" name="Text 25"/>
          <p:cNvSpPr/>
          <p:nvPr/>
        </p:nvSpPr>
        <p:spPr>
          <a:xfrm>
            <a:off x="6498184" y="4242816"/>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4</a:t>
            </a:r>
            <a:endParaRPr lang="en-US" sz="1400"/>
          </a:p>
        </p:txBody>
      </p:sp>
      <p:sp>
        <p:nvSpPr>
          <p:cNvPr id="28" name="Text 26"/>
          <p:cNvSpPr/>
          <p:nvPr/>
        </p:nvSpPr>
        <p:spPr>
          <a:xfrm>
            <a:off x="7092544" y="4197096"/>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Content Understanding</a:t>
            </a:r>
            <a:endParaRPr lang="en-US" sz="1800"/>
          </a:p>
        </p:txBody>
      </p:sp>
      <p:sp>
        <p:nvSpPr>
          <p:cNvPr id="29" name="Text 27"/>
          <p:cNvSpPr/>
          <p:nvPr/>
        </p:nvSpPr>
        <p:spPr>
          <a:xfrm>
            <a:off x="6498184" y="4882896"/>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Extrae campos y genera markdown desde documentos, imágenes, audio y video con un único analizador.</a:t>
            </a:r>
            <a:endParaRPr lang="en-US" sz="180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Qué servicio uso en cada escenario</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7275026">
                  <a:extLst>
                    <a:ext uri="{9D8B030D-6E8A-4147-A177-3AD203B41FA5}">
                      <a16:colId xmlns:a16="http://schemas.microsoft.com/office/drawing/2014/main" val="20000"/>
                    </a:ext>
                  </a:extLst>
                </a:gridCol>
                <a:gridCol w="3819389">
                  <a:extLst>
                    <a:ext uri="{9D8B030D-6E8A-4147-A177-3AD203B41FA5}">
                      <a16:colId xmlns:a16="http://schemas.microsoft.com/office/drawing/2014/main" val="20001"/>
                    </a:ext>
                  </a:extLst>
                </a:gridCol>
              </a:tblGrid>
              <a:tr h="701040">
                <a:tc>
                  <a:txBody>
                    <a:bodyPr/>
                    <a:lstStyle/>
                    <a:p>
                      <a:pPr marL="0" indent="0">
                        <a:buNone/>
                      </a:pPr>
                      <a:r>
                        <a:rPr lang="en-US" sz="1600" b="1">
                          <a:solidFill>
                            <a:srgbClr val="FFFFFF"/>
                          </a:solidFill>
                          <a:latin typeface="Segoe UI Semibold" pitchFamily="34" charset="0"/>
                          <a:ea typeface="Segoe UI Semibold" pitchFamily="34" charset="-122"/>
                          <a:cs typeface="Segoe UI Semibold" pitchFamily="34" charset="-120"/>
                        </a:rPr>
                        <a:t>Escenario bancario (ficticio)</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a:solidFill>
                            <a:srgbClr val="FFFFFF"/>
                          </a:solidFill>
                          <a:latin typeface="Segoe UI Semibold" pitchFamily="34" charset="0"/>
                          <a:ea typeface="Segoe UI Semibold" pitchFamily="34" charset="-122"/>
                          <a:cs typeface="Segoe UI Semibold" pitchFamily="34" charset="-120"/>
                        </a:rPr>
                        <a:t>Servicio recomendado</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Extraer datos de un formulario de apertura de cuenta</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Document Intelligence</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Resumir una llamada de atención al cliente</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Speech + Language</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Clasificar reclamos por tipo y urgencia</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Language</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Validar que una foto de comprobante es legible</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Vision</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a:solidFill>
                            <a:srgbClr val="1B2A3A"/>
                          </a:solidFill>
                          <a:latin typeface="Segoe UI Semibold" pitchFamily="34" charset="0"/>
                          <a:ea typeface="Segoe UI Semibold" pitchFamily="34" charset="-122"/>
                          <a:cs typeface="Segoe UI Semibold" pitchFamily="34" charset="-120"/>
                        </a:rPr>
                        <a:t>Convertir un contrato en campos estructurados</a:t>
                      </a:r>
                      <a:endParaRPr lang="en-US" sz="160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a:solidFill>
                            <a:srgbClr val="1B2A3A"/>
                          </a:solidFill>
                          <a:latin typeface="Segoe UI" pitchFamily="34" charset="0"/>
                          <a:ea typeface="Segoe UI" pitchFamily="34" charset="-122"/>
                          <a:cs typeface="Segoe UI" pitchFamily="34" charset="-120"/>
                        </a:rPr>
                        <a:t>Content Understanding</a:t>
                      </a:r>
                      <a:endParaRPr lang="en-US" sz="160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a:solidFill>
                  <a:srgbClr val="5B6B7B"/>
                </a:solidFill>
                <a:latin typeface="Segoe UI" pitchFamily="34" charset="0"/>
                <a:ea typeface="Segoe UI" pitchFamily="34" charset="-122"/>
                <a:cs typeface="Segoe UI" pitchFamily="34" charset="-120"/>
              </a:rPr>
              <a:t>Varios escenarios combinan más de un servicio; el agente orquesta la secuencia.</a:t>
            </a:r>
            <a:endParaRPr lang="en-US" sz="12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2A5A0">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12A5A0">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a:solidFill>
                  <a:srgbClr val="12A5A0"/>
                </a:solidFill>
                <a:latin typeface="Segoe UI Semibold" pitchFamily="34" charset="0"/>
                <a:ea typeface="Segoe UI Semibold" pitchFamily="34" charset="-122"/>
                <a:cs typeface="Segoe UI Semibold" pitchFamily="34" charset="-120"/>
              </a:rPr>
              <a:t>04</a:t>
            </a:r>
            <a:endParaRPr lang="en-US" sz="1200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a:solidFill>
                  <a:srgbClr val="FFFFFF"/>
                </a:solidFill>
                <a:latin typeface="Segoe UI Semibold" pitchFamily="34" charset="0"/>
                <a:ea typeface="Segoe UI Semibold" pitchFamily="34" charset="-122"/>
                <a:cs typeface="Segoe UI Semibold" pitchFamily="34" charset="-120"/>
              </a:rPr>
              <a:t>Módulo 4 · Agentes y conocimiento</a:t>
            </a:r>
            <a:endParaRPr lang="en-US" sz="440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a:solidFill>
                  <a:srgbClr val="C9D7E4"/>
                </a:solidFill>
                <a:latin typeface="Segoe UI" pitchFamily="34" charset="0"/>
                <a:ea typeface="Segoe UI" pitchFamily="34" charset="-122"/>
                <a:cs typeface="Segoe UI" pitchFamily="34" charset="-120"/>
              </a:rPr>
              <a:t>Foundry Agent Service, tools, RAG y MCP</a:t>
            </a:r>
            <a:endParaRPr lang="en-US" sz="20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La anatomía de un agente</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a:solidFill>
                  <a:srgbClr val="FFFFFF"/>
                </a:solidFill>
                <a:latin typeface="Segoe UI Semibold" pitchFamily="34" charset="0"/>
                <a:ea typeface="Segoe UI Semibold" pitchFamily="34" charset="-122"/>
                <a:cs typeface="Segoe UI Semibold" pitchFamily="34" charset="-120"/>
              </a:rPr>
              <a:t>Modelo</a:t>
            </a:r>
            <a:endParaRPr lang="en-US" sz="190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El motor de razonamiento: un modelo del catálogo elegido según capacidad, costo y latencia.</a:t>
            </a:r>
            <a:endParaRPr lang="en-US" sz="1700"/>
          </a:p>
        </p:txBody>
      </p:sp>
      <p:sp>
        <p:nvSpPr>
          <p:cNvPr id="10" name="Shape 8"/>
          <p:cNvSpPr/>
          <p:nvPr/>
        </p:nvSpPr>
        <p:spPr>
          <a:xfrm>
            <a:off x="548640" y="2488997"/>
            <a:ext cx="3291840" cy="833933"/>
          </a:xfrm>
          <a:prstGeom prst="rect">
            <a:avLst/>
          </a:prstGeom>
          <a:solidFill>
            <a:srgbClr val="0D414E"/>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a:solidFill>
                  <a:srgbClr val="FFFFFF"/>
                </a:solidFill>
                <a:latin typeface="Segoe UI Semibold" pitchFamily="34" charset="0"/>
                <a:ea typeface="Segoe UI Semibold" pitchFamily="34" charset="-122"/>
                <a:cs typeface="Segoe UI Semibold" pitchFamily="34" charset="-120"/>
              </a:rPr>
              <a:t>Instrucciones</a:t>
            </a:r>
            <a:endParaRPr lang="en-US" sz="190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El rol, tono y reglas de negocio que guían cómo responde el agente.</a:t>
            </a:r>
            <a:endParaRPr lang="en-US" sz="1700"/>
          </a:p>
        </p:txBody>
      </p:sp>
      <p:sp>
        <p:nvSpPr>
          <p:cNvPr id="14" name="Shape 12"/>
          <p:cNvSpPr/>
          <p:nvPr/>
        </p:nvSpPr>
        <p:spPr>
          <a:xfrm>
            <a:off x="548640" y="3469234"/>
            <a:ext cx="3291840" cy="833933"/>
          </a:xfrm>
          <a:prstGeom prst="rect">
            <a:avLst/>
          </a:prstGeom>
          <a:solidFill>
            <a:srgbClr val="0F626A"/>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a:solidFill>
                  <a:srgbClr val="FFFFFF"/>
                </a:solidFill>
                <a:latin typeface="Segoe UI Semibold" pitchFamily="34" charset="0"/>
                <a:ea typeface="Segoe UI Semibold" pitchFamily="34" charset="-122"/>
                <a:cs typeface="Segoe UI Semibold" pitchFamily="34" charset="-120"/>
              </a:rPr>
              <a:t>Tools</a:t>
            </a:r>
            <a:endParaRPr lang="en-US" sz="190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Acciones que el agente puede invocar: búsqueda web, code interpreter, funciones propias, MCP.</a:t>
            </a:r>
            <a:endParaRPr lang="en-US" sz="1700"/>
          </a:p>
        </p:txBody>
      </p:sp>
      <p:sp>
        <p:nvSpPr>
          <p:cNvPr id="18" name="Shape 16"/>
          <p:cNvSpPr/>
          <p:nvPr/>
        </p:nvSpPr>
        <p:spPr>
          <a:xfrm>
            <a:off x="548640" y="4449470"/>
            <a:ext cx="3291840" cy="833933"/>
          </a:xfrm>
          <a:prstGeom prst="rect">
            <a:avLst/>
          </a:prstGeom>
          <a:solidFill>
            <a:srgbClr val="108485"/>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a:solidFill>
                  <a:srgbClr val="FFFFFF"/>
                </a:solidFill>
                <a:latin typeface="Segoe UI Semibold" pitchFamily="34" charset="0"/>
                <a:ea typeface="Segoe UI Semibold" pitchFamily="34" charset="-122"/>
                <a:cs typeface="Segoe UI Semibold" pitchFamily="34" charset="-120"/>
              </a:rPr>
              <a:t>Conocimiento</a:t>
            </a:r>
            <a:endParaRPr lang="en-US" sz="190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Datos propios a los que el agente accede vía RAG y Foundry IQ para fundamentar sus respuestas.</a:t>
            </a:r>
            <a:endParaRPr lang="en-US" sz="1700"/>
          </a:p>
        </p:txBody>
      </p:sp>
      <p:sp>
        <p:nvSpPr>
          <p:cNvPr id="22" name="Shape 20"/>
          <p:cNvSpPr/>
          <p:nvPr/>
        </p:nvSpPr>
        <p:spPr>
          <a:xfrm>
            <a:off x="548640" y="5429707"/>
            <a:ext cx="3291840" cy="833933"/>
          </a:xfrm>
          <a:prstGeom prst="rect">
            <a:avLst/>
          </a:prstGeom>
          <a:solidFill>
            <a:srgbClr val="12A5A0"/>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a:solidFill>
                  <a:srgbClr val="FFFFFF"/>
                </a:solidFill>
                <a:latin typeface="Segoe UI Semibold" pitchFamily="34" charset="0"/>
                <a:ea typeface="Segoe UI Semibold" pitchFamily="34" charset="-122"/>
                <a:cs typeface="Segoe UI Semibold" pitchFamily="34" charset="-120"/>
              </a:rPr>
              <a:t>Memoria</a:t>
            </a:r>
            <a:endParaRPr lang="en-US" sz="190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Contexto persistente entre sesiones (preview) para recordar preferencias o estado previo.</a:t>
            </a:r>
            <a:endParaRPr lang="en-US" sz="170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Prompt agent vs hosted agent</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5396332" cy="640080"/>
          </a:xfrm>
          <a:prstGeom prst="rect">
            <a:avLst/>
          </a:prstGeom>
          <a:solidFill>
            <a:srgbClr val="12A5A0"/>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a:solidFill>
                  <a:srgbClr val="FFFFFF"/>
                </a:solidFill>
                <a:latin typeface="Segoe UI Semibold" pitchFamily="34" charset="0"/>
                <a:ea typeface="Segoe UI Semibold" pitchFamily="34" charset="-122"/>
                <a:cs typeface="Segoe UI Semibold" pitchFamily="34" charset="-120"/>
              </a:rPr>
              <a:t>Prompt agent</a:t>
            </a:r>
            <a:endParaRPr lang="en-US" sz="200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Se define por configuración: instrucciones, modelo y tools</a:t>
            </a:r>
            <a:endParaRPr lang="en-US" sz="2000"/>
          </a:p>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Foundry lo ejecuta; no hay código ni contenedores que mantener</a:t>
            </a:r>
            <a:endParaRPr lang="en-US" sz="2000"/>
          </a:p>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Ideal para empezar rápido y para agentes sin lógica custom</a:t>
            </a:r>
            <a:endParaRPr lang="en-US" sz="200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a:solidFill>
                  <a:srgbClr val="FFFFFF"/>
                </a:solidFill>
                <a:latin typeface="Segoe UI Semibold" pitchFamily="34" charset="0"/>
                <a:ea typeface="Segoe UI Semibold" pitchFamily="34" charset="-122"/>
                <a:cs typeface="Segoe UI Semibold" pitchFamily="34" charset="-120"/>
              </a:rPr>
              <a:t>Hosted agent</a:t>
            </a:r>
            <a:endParaRPr lang="en-US" sz="200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Trae tu propio código o framework (Agent Framework, LangGraph...)</a:t>
            </a:r>
            <a:endParaRPr lang="en-US" sz="2000"/>
          </a:p>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Foundry lo corre como contenedor con endpoint, escalado e identidad</a:t>
            </a:r>
            <a:endParaRPr lang="en-US" sz="2000"/>
          </a:p>
          <a:p>
            <a:pPr marL="203200" indent="-203200">
              <a:spcAft>
                <a:spcPts val="1200"/>
              </a:spcAft>
              <a:buSzPct val="100000"/>
              <a:buChar char="•"/>
            </a:pPr>
            <a:r>
              <a:rPr lang="en-US" sz="2000">
                <a:solidFill>
                  <a:srgbClr val="1B2A3A"/>
                </a:solidFill>
                <a:latin typeface="Segoe UI" pitchFamily="34" charset="0"/>
                <a:ea typeface="Segoe UI" pitchFamily="34" charset="-122"/>
                <a:cs typeface="Segoe UI" pitchFamily="34" charset="-120"/>
              </a:rPr>
              <a:t>Ideal cuando se necesita lógica de orquestación propia</a:t>
            </a:r>
            <a:endParaRPr lang="en-US" sz="200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a:solidFill>
                  <a:srgbClr val="0B1F33"/>
                </a:solidFill>
                <a:latin typeface="Segoe UI Semibold" pitchFamily="34" charset="0"/>
                <a:ea typeface="Segoe UI Semibold" pitchFamily="34" charset="-122"/>
                <a:cs typeface="Segoe UI Semibold" pitchFamily="34" charset="-120"/>
              </a:rPr>
              <a:t>Para el laboratorio de hoy usamos un prompt agent: la forma más rápida de llegar a un agente funcionando.</a:t>
            </a:r>
            <a:endParaRPr lang="en-US" sz="17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Demo: crear un agente en el portal</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a:solidFill>
                  <a:srgbClr val="0B1F33"/>
                </a:solidFill>
                <a:latin typeface="Segoe UI Semibold" pitchFamily="34" charset="0"/>
                <a:ea typeface="Segoe UI Semibold" pitchFamily="34" charset="-122"/>
                <a:cs typeface="Segoe UI Semibold" pitchFamily="34" charset="-120"/>
              </a:rPr>
              <a:t>DEMO</a:t>
            </a:r>
            <a:endParaRPr lang="en-US" sz="130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a:solidFill>
                  <a:srgbClr val="FFFFFF"/>
                </a:solidFill>
                <a:latin typeface="Segoe UI" pitchFamily="34" charset="0"/>
                <a:ea typeface="Segoe UI" pitchFamily="34" charset="-122"/>
                <a:cs typeface="Segoe UI" pitchFamily="34" charset="-120"/>
              </a:rPr>
              <a:t>Configurar un prompt agent en el portal de Foundry y probarlo en el playground de agentes.</a:t>
            </a:r>
            <a:endParaRPr lang="en-US" sz="2000"/>
          </a:p>
        </p:txBody>
      </p:sp>
      <p:sp>
        <p:nvSpPr>
          <p:cNvPr id="10" name="Shape 8"/>
          <p:cNvSpPr/>
          <p:nvPr/>
        </p:nvSpPr>
        <p:spPr>
          <a:xfrm>
            <a:off x="5212080" y="1777365"/>
            <a:ext cx="457200" cy="457200"/>
          </a:xfrm>
          <a:prstGeom prst="ellipse">
            <a:avLst/>
          </a:prstGeom>
          <a:solidFill>
            <a:srgbClr val="12A5A0"/>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1</a:t>
            </a:r>
            <a:endParaRPr lang="en-US" sz="150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Crear un nuevo agente y elegir el modelo.</a:t>
            </a:r>
            <a:endParaRPr lang="en-US" sz="1800"/>
          </a:p>
        </p:txBody>
      </p:sp>
      <p:sp>
        <p:nvSpPr>
          <p:cNvPr id="13" name="Shape 11"/>
          <p:cNvSpPr/>
          <p:nvPr/>
        </p:nvSpPr>
        <p:spPr>
          <a:xfrm>
            <a:off x="5212080" y="2771775"/>
            <a:ext cx="457200" cy="457200"/>
          </a:xfrm>
          <a:prstGeom prst="ellipse">
            <a:avLst/>
          </a:prstGeom>
          <a:solidFill>
            <a:srgbClr val="12A5A0"/>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2</a:t>
            </a:r>
            <a:endParaRPr lang="en-US" sz="150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Escribir instrucciones para un caso bancario ficticio (p. ej. asistente de políticas internas).</a:t>
            </a:r>
            <a:endParaRPr lang="en-US" sz="1800"/>
          </a:p>
        </p:txBody>
      </p:sp>
      <p:sp>
        <p:nvSpPr>
          <p:cNvPr id="16" name="Shape 14"/>
          <p:cNvSpPr/>
          <p:nvPr/>
        </p:nvSpPr>
        <p:spPr>
          <a:xfrm>
            <a:off x="5212080" y="3766185"/>
            <a:ext cx="457200" cy="457200"/>
          </a:xfrm>
          <a:prstGeom prst="ellipse">
            <a:avLst/>
          </a:prstGeom>
          <a:solidFill>
            <a:srgbClr val="12A5A0"/>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3</a:t>
            </a:r>
            <a:endParaRPr lang="en-US" sz="150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Agregar una tool (file search o code interpreter).</a:t>
            </a:r>
            <a:endParaRPr lang="en-US" sz="1800"/>
          </a:p>
        </p:txBody>
      </p:sp>
      <p:sp>
        <p:nvSpPr>
          <p:cNvPr id="19" name="Shape 17"/>
          <p:cNvSpPr/>
          <p:nvPr/>
        </p:nvSpPr>
        <p:spPr>
          <a:xfrm>
            <a:off x="5212080" y="4760595"/>
            <a:ext cx="457200" cy="457200"/>
          </a:xfrm>
          <a:prstGeom prst="ellipse">
            <a:avLst/>
          </a:prstGeom>
          <a:solidFill>
            <a:srgbClr val="12A5A0"/>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a:solidFill>
                  <a:srgbClr val="FFFFFF"/>
                </a:solidFill>
                <a:latin typeface="Segoe UI Semibold" pitchFamily="34" charset="0"/>
                <a:ea typeface="Segoe UI Semibold" pitchFamily="34" charset="-122"/>
                <a:cs typeface="Segoe UI Semibold" pitchFamily="34" charset="-120"/>
              </a:rPr>
              <a:t>4</a:t>
            </a:r>
            <a:endParaRPr lang="en-US" sz="150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a:solidFill>
                  <a:srgbClr val="1B2A3A"/>
                </a:solidFill>
                <a:latin typeface="Segoe UI" pitchFamily="34" charset="0"/>
                <a:ea typeface="Segoe UI" pitchFamily="34" charset="-122"/>
                <a:cs typeface="Segoe UI" pitchFamily="34" charset="-120"/>
              </a:rPr>
              <a:t>Probarlo en el playground con una pregunta de ejemplo.</a:t>
            </a:r>
            <a:endParaRPr lang="en-US" sz="180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a:solidFill>
                  <a:srgbClr val="0B1F33"/>
                </a:solidFill>
                <a:latin typeface="Segoe UI Semibold" pitchFamily="34" charset="0"/>
                <a:ea typeface="Segoe UI Semibold" pitchFamily="34" charset="-122"/>
                <a:cs typeface="Segoe UI Semibold" pitchFamily="34" charset="-120"/>
              </a:rPr>
              <a:t>Resultado esperado: El grupo ve el flujo completo antes de replicarlo en el laboratorio guiado.</a:t>
            </a:r>
            <a:endParaRPr lang="en-US" sz="15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Toolbox: un punto de entrada para las tools</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12A5A0"/>
          </a:solidFill>
          <a:ln/>
        </p:spPr>
        <p:txBody>
          <a:bodyPr/>
          <a:lstStyle/>
          <a:p>
            <a:endParaRPr lang="en-US"/>
          </a:p>
        </p:txBody>
      </p:sp>
      <p:sp>
        <p:nvSpPr>
          <p:cNvPr id="8" name="Shape 6"/>
          <p:cNvSpPr/>
          <p:nvPr/>
        </p:nvSpPr>
        <p:spPr>
          <a:xfrm>
            <a:off x="822960" y="1737360"/>
            <a:ext cx="420624" cy="420624"/>
          </a:xfrm>
          <a:prstGeom prst="ellipse">
            <a:avLst/>
          </a:prstGeom>
          <a:solidFill>
            <a:srgbClr val="12A5A0"/>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a:t>
            </a:r>
            <a:endParaRPr lang="en-US" sz="1400"/>
          </a:p>
        </p:txBody>
      </p:sp>
      <p:sp>
        <p:nvSpPr>
          <p:cNvPr id="10" name="Text 8"/>
          <p:cNvSpPr/>
          <p:nvPr/>
        </p:nvSpPr>
        <p:spPr>
          <a:xfrm>
            <a:off x="1417320" y="1691640"/>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Build</a:t>
            </a:r>
            <a:endParaRPr lang="en-US" sz="1800"/>
          </a:p>
        </p:txBody>
      </p:sp>
      <p:sp>
        <p:nvSpPr>
          <p:cNvPr id="11" name="Text 9"/>
          <p:cNvSpPr/>
          <p:nvPr/>
        </p:nvSpPr>
        <p:spPr>
          <a:xfrm>
            <a:off x="822960" y="2377440"/>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Definir tools y skills reutilizables una sola vez, con autenticación centralizada.</a:t>
            </a:r>
            <a:endParaRPr lang="en-US" sz="1800"/>
          </a:p>
        </p:txBody>
      </p:sp>
      <p:sp>
        <p:nvSpPr>
          <p:cNvPr id="12" name="Shape 10"/>
          <p:cNvSpPr/>
          <p:nvPr/>
        </p:nvSpPr>
        <p:spPr>
          <a:xfrm>
            <a:off x="6223864" y="1508760"/>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6223864" y="1508760"/>
            <a:ext cx="82296" cy="2249424"/>
          </a:xfrm>
          <a:prstGeom prst="rect">
            <a:avLst/>
          </a:prstGeom>
          <a:solidFill>
            <a:srgbClr val="0B1F33"/>
          </a:solidFill>
          <a:ln/>
        </p:spPr>
        <p:txBody>
          <a:bodyPr/>
          <a:lstStyle/>
          <a:p>
            <a:endParaRPr lang="en-US"/>
          </a:p>
        </p:txBody>
      </p:sp>
      <p:sp>
        <p:nvSpPr>
          <p:cNvPr id="14" name="Shape 12"/>
          <p:cNvSpPr/>
          <p:nvPr/>
        </p:nvSpPr>
        <p:spPr>
          <a:xfrm>
            <a:off x="6498184" y="1737360"/>
            <a:ext cx="420624" cy="420624"/>
          </a:xfrm>
          <a:prstGeom prst="ellipse">
            <a:avLst/>
          </a:prstGeom>
          <a:solidFill>
            <a:srgbClr val="0B1F33"/>
          </a:solidFill>
          <a:ln/>
        </p:spPr>
        <p:txBody>
          <a:bodyPr/>
          <a:lstStyle/>
          <a:p>
            <a:endParaRPr lang="en-US"/>
          </a:p>
        </p:txBody>
      </p:sp>
      <p:sp>
        <p:nvSpPr>
          <p:cNvPr id="15" name="Text 13"/>
          <p:cNvSpPr/>
          <p:nvPr/>
        </p:nvSpPr>
        <p:spPr>
          <a:xfrm>
            <a:off x="6498184" y="1737360"/>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2</a:t>
            </a:r>
            <a:endParaRPr lang="en-US" sz="1400"/>
          </a:p>
        </p:txBody>
      </p:sp>
      <p:sp>
        <p:nvSpPr>
          <p:cNvPr id="16" name="Text 14"/>
          <p:cNvSpPr/>
          <p:nvPr/>
        </p:nvSpPr>
        <p:spPr>
          <a:xfrm>
            <a:off x="7092544" y="1691640"/>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Discover</a:t>
            </a:r>
            <a:endParaRPr lang="en-US" sz="1800"/>
          </a:p>
        </p:txBody>
      </p:sp>
      <p:sp>
        <p:nvSpPr>
          <p:cNvPr id="17" name="Text 15"/>
          <p:cNvSpPr/>
          <p:nvPr/>
        </p:nvSpPr>
        <p:spPr>
          <a:xfrm>
            <a:off x="6498184" y="2377440"/>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Tool search ayuda al agente a encontrar la tool correcta entre cientos sin saturar el contexto.</a:t>
            </a:r>
            <a:endParaRPr lang="en-US" sz="1800"/>
          </a:p>
        </p:txBody>
      </p:sp>
      <p:sp>
        <p:nvSpPr>
          <p:cNvPr id="18" name="Shape 16"/>
          <p:cNvSpPr/>
          <p:nvPr/>
        </p:nvSpPr>
        <p:spPr>
          <a:xfrm>
            <a:off x="548640"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548640" y="4014216"/>
            <a:ext cx="82296" cy="2249424"/>
          </a:xfrm>
          <a:prstGeom prst="rect">
            <a:avLst/>
          </a:prstGeom>
          <a:solidFill>
            <a:srgbClr val="12A5A0"/>
          </a:solidFill>
          <a:ln/>
        </p:spPr>
        <p:txBody>
          <a:bodyPr/>
          <a:lstStyle/>
          <a:p>
            <a:endParaRPr lang="en-US"/>
          </a:p>
        </p:txBody>
      </p:sp>
      <p:sp>
        <p:nvSpPr>
          <p:cNvPr id="20" name="Shape 18"/>
          <p:cNvSpPr/>
          <p:nvPr/>
        </p:nvSpPr>
        <p:spPr>
          <a:xfrm>
            <a:off x="822960" y="4242816"/>
            <a:ext cx="420624" cy="420624"/>
          </a:xfrm>
          <a:prstGeom prst="ellipse">
            <a:avLst/>
          </a:prstGeom>
          <a:solidFill>
            <a:srgbClr val="12A5A0"/>
          </a:solidFill>
          <a:ln/>
        </p:spPr>
        <p:txBody>
          <a:bodyPr/>
          <a:lstStyle/>
          <a:p>
            <a:endParaRPr lang="en-US"/>
          </a:p>
        </p:txBody>
      </p:sp>
      <p:sp>
        <p:nvSpPr>
          <p:cNvPr id="21" name="Text 19"/>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3</a:t>
            </a:r>
            <a:endParaRPr lang="en-US" sz="1400"/>
          </a:p>
        </p:txBody>
      </p:sp>
      <p:sp>
        <p:nvSpPr>
          <p:cNvPr id="22" name="Text 20"/>
          <p:cNvSpPr/>
          <p:nvPr/>
        </p:nvSpPr>
        <p:spPr>
          <a:xfrm>
            <a:off x="1417320" y="4197096"/>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Consume</a:t>
            </a:r>
            <a:endParaRPr lang="en-US" sz="1800"/>
          </a:p>
        </p:txBody>
      </p:sp>
      <p:sp>
        <p:nvSpPr>
          <p:cNvPr id="23" name="Text 21"/>
          <p:cNvSpPr/>
          <p:nvPr/>
        </p:nvSpPr>
        <p:spPr>
          <a:xfrm>
            <a:off x="822960" y="4882896"/>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Un único endpoint compatible con MCP conecta agentes de distintos frameworks.</a:t>
            </a:r>
            <a:endParaRPr lang="en-US" sz="1800"/>
          </a:p>
        </p:txBody>
      </p:sp>
      <p:sp>
        <p:nvSpPr>
          <p:cNvPr id="24" name="Shape 22"/>
          <p:cNvSpPr/>
          <p:nvPr/>
        </p:nvSpPr>
        <p:spPr>
          <a:xfrm>
            <a:off x="6223864" y="4014216"/>
            <a:ext cx="5419192"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6223864" y="4014216"/>
            <a:ext cx="82296" cy="2249424"/>
          </a:xfrm>
          <a:prstGeom prst="rect">
            <a:avLst/>
          </a:prstGeom>
          <a:solidFill>
            <a:srgbClr val="0B1F33"/>
          </a:solidFill>
          <a:ln/>
        </p:spPr>
        <p:txBody>
          <a:bodyPr/>
          <a:lstStyle/>
          <a:p>
            <a:endParaRPr lang="en-US"/>
          </a:p>
        </p:txBody>
      </p:sp>
      <p:sp>
        <p:nvSpPr>
          <p:cNvPr id="26" name="Shape 24"/>
          <p:cNvSpPr/>
          <p:nvPr/>
        </p:nvSpPr>
        <p:spPr>
          <a:xfrm>
            <a:off x="6498184" y="4242816"/>
            <a:ext cx="420624" cy="420624"/>
          </a:xfrm>
          <a:prstGeom prst="ellipse">
            <a:avLst/>
          </a:prstGeom>
          <a:solidFill>
            <a:srgbClr val="0B1F33"/>
          </a:solidFill>
          <a:ln/>
        </p:spPr>
        <p:txBody>
          <a:bodyPr/>
          <a:lstStyle/>
          <a:p>
            <a:endParaRPr lang="en-US"/>
          </a:p>
        </p:txBody>
      </p:sp>
      <p:sp>
        <p:nvSpPr>
          <p:cNvPr id="27" name="Text 25"/>
          <p:cNvSpPr/>
          <p:nvPr/>
        </p:nvSpPr>
        <p:spPr>
          <a:xfrm>
            <a:off x="6498184" y="4242816"/>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4</a:t>
            </a:r>
            <a:endParaRPr lang="en-US" sz="1400"/>
          </a:p>
        </p:txBody>
      </p:sp>
      <p:sp>
        <p:nvSpPr>
          <p:cNvPr id="28" name="Text 26"/>
          <p:cNvSpPr/>
          <p:nvPr/>
        </p:nvSpPr>
        <p:spPr>
          <a:xfrm>
            <a:off x="7092544" y="4197096"/>
            <a:ext cx="4321912" cy="548640"/>
          </a:xfrm>
          <a:prstGeom prst="rect">
            <a:avLst/>
          </a:prstGeom>
          <a:noFill/>
          <a:ln/>
        </p:spPr>
        <p:txBody>
          <a:bodyPr wrap="square" lIns="0" tIns="0" rIns="0" bIns="0" rtlCol="0" anchor="ctr"/>
          <a:lstStyle/>
          <a:p>
            <a:pPr marL="0" indent="0">
              <a:buNone/>
            </a:pPr>
            <a:r>
              <a:rPr lang="en-US" sz="1800" b="1">
                <a:solidFill>
                  <a:srgbClr val="0B1F33"/>
                </a:solidFill>
                <a:latin typeface="Segoe UI Semibold" pitchFamily="34" charset="0"/>
                <a:ea typeface="Segoe UI Semibold" pitchFamily="34" charset="-122"/>
                <a:cs typeface="Segoe UI Semibold" pitchFamily="34" charset="-120"/>
              </a:rPr>
              <a:t>Govern</a:t>
            </a:r>
            <a:endParaRPr lang="en-US" sz="1800"/>
          </a:p>
        </p:txBody>
      </p:sp>
      <p:sp>
        <p:nvSpPr>
          <p:cNvPr id="29" name="Text 27"/>
          <p:cNvSpPr/>
          <p:nvPr/>
        </p:nvSpPr>
        <p:spPr>
          <a:xfrm>
            <a:off x="6498184" y="4882896"/>
            <a:ext cx="4916272" cy="1243584"/>
          </a:xfrm>
          <a:prstGeom prst="rect">
            <a:avLst/>
          </a:prstGeom>
          <a:noFill/>
          <a:ln/>
        </p:spPr>
        <p:txBody>
          <a:bodyPr wrap="square" lIns="0" tIns="0" rIns="0" bIns="0" rtlCol="0" anchor="t"/>
          <a:lstStyle/>
          <a:p>
            <a:pPr marL="0" indent="0">
              <a:buNone/>
            </a:pPr>
            <a:r>
              <a:rPr lang="en-US" sz="1800">
                <a:solidFill>
                  <a:srgbClr val="1B2A3A"/>
                </a:solidFill>
                <a:latin typeface="Segoe UI" pitchFamily="34" charset="0"/>
                <a:ea typeface="Segoe UI" pitchFamily="34" charset="-122"/>
                <a:cs typeface="Segoe UI" pitchFamily="34" charset="-120"/>
              </a:rPr>
              <a:t>Guardrails, versionado y gobierno aplicados de forma centralizada a todas las tools.</a:t>
            </a:r>
            <a:endParaRPr lang="en-US" sz="180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100" b="1">
                <a:solidFill>
                  <a:srgbClr val="0B1F33"/>
                </a:solidFill>
                <a:latin typeface="Segoe UI Semibold" pitchFamily="34" charset="0"/>
                <a:ea typeface="Segoe UI Semibold" pitchFamily="34" charset="-122"/>
                <a:cs typeface="Segoe UI Semibold" pitchFamily="34" charset="-120"/>
              </a:rPr>
              <a:t>RAG: de documentos a respuestas fundamentadas</a:t>
            </a:r>
            <a:endParaRPr lang="en-US" sz="31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12A5A0"/>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1</a:t>
            </a:r>
            <a:endParaRPr lang="en-US" sz="220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Ingerir</a:t>
            </a:r>
            <a:endParaRPr lang="en-US" sz="200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12A5A0"/>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600">
                <a:solidFill>
                  <a:srgbClr val="1B2A3A"/>
                </a:solidFill>
                <a:latin typeface="Segoe UI" pitchFamily="34" charset="0"/>
                <a:ea typeface="Segoe UI" pitchFamily="34" charset="-122"/>
                <a:cs typeface="Segoe UI" pitchFamily="34" charset="-120"/>
              </a:rPr>
              <a:t>Cargar documentos propios (p. ej. políticas internas ficticias) desde su origen.</a:t>
            </a:r>
            <a:endParaRPr lang="en-US" sz="160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2</a:t>
            </a:r>
            <a:endParaRPr lang="en-US" sz="220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Chunking</a:t>
            </a:r>
            <a:endParaRPr lang="en-US" sz="200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600">
                <a:solidFill>
                  <a:srgbClr val="1B2A3A"/>
                </a:solidFill>
                <a:latin typeface="Segoe UI" pitchFamily="34" charset="0"/>
                <a:ea typeface="Segoe UI" pitchFamily="34" charset="-122"/>
                <a:cs typeface="Segoe UI" pitchFamily="34" charset="-120"/>
              </a:rPr>
              <a:t>Dividir el contenido en fragmentos manejables para indexarlos.</a:t>
            </a:r>
            <a:endParaRPr lang="en-US" sz="1600"/>
          </a:p>
        </p:txBody>
      </p:sp>
      <p:sp>
        <p:nvSpPr>
          <p:cNvPr id="19" name="Shape 17"/>
          <p:cNvSpPr/>
          <p:nvPr/>
        </p:nvSpPr>
        <p:spPr>
          <a:xfrm>
            <a:off x="4986406" y="1965960"/>
            <a:ext cx="731520" cy="731520"/>
          </a:xfrm>
          <a:prstGeom prst="ellipse">
            <a:avLst/>
          </a:prstGeom>
          <a:solidFill>
            <a:srgbClr val="12A5A0"/>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3</a:t>
            </a:r>
            <a:endParaRPr lang="en-US" sz="220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Embeddings</a:t>
            </a:r>
            <a:endParaRPr lang="en-US" sz="200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12A5A0"/>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600">
                <a:solidFill>
                  <a:srgbClr val="1B2A3A"/>
                </a:solidFill>
                <a:latin typeface="Segoe UI" pitchFamily="34" charset="0"/>
                <a:ea typeface="Segoe UI" pitchFamily="34" charset="-122"/>
                <a:cs typeface="Segoe UI" pitchFamily="34" charset="-120"/>
              </a:rPr>
              <a:t>Generar vectores que representan el significado de cada fragmento.</a:t>
            </a:r>
            <a:endParaRPr lang="en-US" sz="160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4</a:t>
            </a:r>
            <a:endParaRPr lang="en-US" sz="220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Indexar</a:t>
            </a:r>
            <a:endParaRPr lang="en-US" sz="200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600">
                <a:solidFill>
                  <a:srgbClr val="1B2A3A"/>
                </a:solidFill>
                <a:latin typeface="Segoe UI" pitchFamily="34" charset="0"/>
                <a:ea typeface="Segoe UI" pitchFamily="34" charset="-122"/>
                <a:cs typeface="Segoe UI" pitchFamily="34" charset="-120"/>
              </a:rPr>
              <a:t>Guardar los fragmentos y vectores en Azure AI Search para búsqueda híbrida.</a:t>
            </a:r>
            <a:endParaRPr lang="en-US" sz="1600"/>
          </a:p>
        </p:txBody>
      </p:sp>
      <p:sp>
        <p:nvSpPr>
          <p:cNvPr id="31" name="Shape 29"/>
          <p:cNvSpPr/>
          <p:nvPr/>
        </p:nvSpPr>
        <p:spPr>
          <a:xfrm>
            <a:off x="9424172" y="1965960"/>
            <a:ext cx="731520" cy="731520"/>
          </a:xfrm>
          <a:prstGeom prst="ellipse">
            <a:avLst/>
          </a:prstGeom>
          <a:solidFill>
            <a:srgbClr val="12A5A0"/>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a:solidFill>
                  <a:srgbClr val="FFFFFF"/>
                </a:solidFill>
                <a:latin typeface="Segoe UI Semibold" pitchFamily="34" charset="0"/>
                <a:ea typeface="Segoe UI Semibold" pitchFamily="34" charset="-122"/>
                <a:cs typeface="Segoe UI Semibold" pitchFamily="34" charset="-120"/>
              </a:rPr>
              <a:t>5</a:t>
            </a:r>
            <a:endParaRPr lang="en-US" sz="220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Recuperar y fundamentar</a:t>
            </a:r>
            <a:endParaRPr lang="en-US" sz="200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12A5A0"/>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600">
                <a:solidFill>
                  <a:srgbClr val="1B2A3A"/>
                </a:solidFill>
                <a:latin typeface="Segoe UI" pitchFamily="34" charset="0"/>
                <a:ea typeface="Segoe UI" pitchFamily="34" charset="-122"/>
                <a:cs typeface="Segoe UI" pitchFamily="34" charset="-120"/>
              </a:rPr>
              <a:t>El agente busca los fragmentos relevantes y los usa para responder con contexto propio.</a:t>
            </a:r>
            <a:endParaRPr lang="en-US" sz="160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Foundry IQ: conocimiento como servicio</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12A5A0"/>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1900">
                <a:solidFill>
                  <a:srgbClr val="1B2A3A"/>
                </a:solidFill>
                <a:latin typeface="Segoe UI" pitchFamily="34" charset="0"/>
                <a:ea typeface="Segoe UI" pitchFamily="34" charset="-122"/>
                <a:cs typeface="Segoe UI" pitchFamily="34" charset="-120"/>
              </a:rPr>
              <a:t>Una knowledge base agrupa varias fuentes (Blob Storage, SharePoint, OneLake, web) para un mismo agente.</a:t>
            </a:r>
            <a:endParaRPr lang="en-US" sz="1900"/>
          </a:p>
          <a:p>
            <a:pPr marL="228600" indent="-228600">
              <a:spcAft>
                <a:spcPts val="1000"/>
              </a:spcAft>
              <a:buSzPct val="100000"/>
              <a:buChar char="•"/>
            </a:pPr>
            <a:r>
              <a:rPr lang="en-US" sz="1900">
                <a:solidFill>
                  <a:srgbClr val="1B2A3A"/>
                </a:solidFill>
                <a:latin typeface="Segoe UI" pitchFamily="34" charset="0"/>
                <a:ea typeface="Segoe UI" pitchFamily="34" charset="-122"/>
                <a:cs typeface="Segoe UI" pitchFamily="34" charset="-120"/>
              </a:rPr>
              <a:t>La recuperación agentic planifica subconsultas, busca en paralelo y reordena resultados semánticamente.</a:t>
            </a:r>
            <a:endParaRPr lang="en-US" sz="1900"/>
          </a:p>
          <a:p>
            <a:pPr marL="228600" indent="-228600">
              <a:spcAft>
                <a:spcPts val="1000"/>
              </a:spcAft>
              <a:buSzPct val="100000"/>
              <a:buChar char="•"/>
            </a:pPr>
            <a:r>
              <a:rPr lang="en-US" sz="1900">
                <a:solidFill>
                  <a:srgbClr val="1B2A3A"/>
                </a:solidFill>
                <a:latin typeface="Segoe UI" pitchFamily="34" charset="0"/>
                <a:ea typeface="Segoe UI" pitchFamily="34" charset="-122"/>
                <a:cs typeface="Segoe UI" pitchFamily="34" charset="-120"/>
              </a:rPr>
              <a:t>Respeta permisos: sincroniza listas de control de acceso y responde solo con contenido autorizado.</a:t>
            </a:r>
            <a:endParaRPr lang="en-US" sz="1900"/>
          </a:p>
          <a:p>
            <a:pPr marL="228600" indent="-228600">
              <a:spcAft>
                <a:spcPts val="1000"/>
              </a:spcAft>
              <a:buSzPct val="100000"/>
              <a:buChar char="•"/>
            </a:pPr>
            <a:r>
              <a:rPr lang="en-US" sz="1900">
                <a:solidFill>
                  <a:srgbClr val="1B2A3A"/>
                </a:solidFill>
                <a:latin typeface="Segoe UI" pitchFamily="34" charset="0"/>
                <a:ea typeface="Segoe UI" pitchFamily="34" charset="-122"/>
                <a:cs typeface="Segoe UI" pitchFamily="34" charset="-120"/>
              </a:rPr>
              <a:t>Varios agentes pueden compartir la misma knowledge base, incluyendo agentes de Copilot Studio.</a:t>
            </a:r>
            <a:endParaRPr lang="en-US" sz="190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a:solidFill>
                  <a:srgbClr val="F5B83D"/>
                </a:solidFill>
                <a:latin typeface="Segoe UI Semibold" pitchFamily="34" charset="0"/>
                <a:ea typeface="Segoe UI Semibold" pitchFamily="34" charset="-122"/>
                <a:cs typeface="Segoe UI Semibold" pitchFamily="34" charset="-120"/>
              </a:rPr>
              <a:t>CLAVE</a:t>
            </a:r>
            <a:endParaRPr lang="en-US" sz="130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a:solidFill>
                  <a:srgbClr val="FFFFFF"/>
                </a:solidFill>
                <a:latin typeface="Segoe UI" pitchFamily="34" charset="0"/>
                <a:ea typeface="Segoe UI" pitchFamily="34" charset="-122"/>
                <a:cs typeface="Segoe UI" pitchFamily="34" charset="-120"/>
              </a:rPr>
              <a:t>Azure AI Search es la infraestructura de indexado y recuperación detrás de Foundry IQ.</a:t>
            </a:r>
            <a:endParaRPr lang="en-US" sz="22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MCP: un estándar para conectar tools</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12A5A0"/>
          </a:solidFill>
          <a:ln/>
        </p:spPr>
        <p:txBody>
          <a:bodyPr/>
          <a:lstStyle/>
          <a:p>
            <a:endParaRPr lang="en-US"/>
          </a:p>
        </p:txBody>
      </p:sp>
      <p:sp>
        <p:nvSpPr>
          <p:cNvPr id="8" name="Shape 6"/>
          <p:cNvSpPr/>
          <p:nvPr/>
        </p:nvSpPr>
        <p:spPr>
          <a:xfrm>
            <a:off x="822960" y="1783080"/>
            <a:ext cx="548640" cy="548640"/>
          </a:xfrm>
          <a:prstGeom prst="ellipse">
            <a:avLst/>
          </a:prstGeom>
          <a:solidFill>
            <a:srgbClr val="12A5A0"/>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1</a:t>
            </a:r>
            <a:endParaRPr lang="en-US" sz="180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¿Qué es?</a:t>
            </a:r>
            <a:endParaRPr lang="en-US" sz="200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Model Context Protocol es un estándar abierto para que las apps ofrezcan tools y datos a modelos de lenguaje.</a:t>
            </a:r>
            <a:endParaRPr lang="en-US" sz="200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12A5A0"/>
          </a:solidFill>
          <a:ln/>
        </p:spPr>
        <p:txBody>
          <a:bodyPr/>
          <a:lstStyle/>
          <a:p>
            <a:endParaRPr lang="en-US"/>
          </a:p>
        </p:txBody>
      </p:sp>
      <p:sp>
        <p:nvSpPr>
          <p:cNvPr id="14" name="Shape 12"/>
          <p:cNvSpPr/>
          <p:nvPr/>
        </p:nvSpPr>
        <p:spPr>
          <a:xfrm>
            <a:off x="4612538" y="1783080"/>
            <a:ext cx="548640" cy="548640"/>
          </a:xfrm>
          <a:prstGeom prst="ellipse">
            <a:avLst/>
          </a:prstGeom>
          <a:solidFill>
            <a:srgbClr val="12A5A0"/>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2</a:t>
            </a:r>
            <a:endParaRPr lang="en-US" sz="180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Cómo se usa en Foundry</a:t>
            </a:r>
            <a:endParaRPr lang="en-US" sz="200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Un agente se conecta a un servidor MCP remoto (propio o de terceros) como una tool más.</a:t>
            </a:r>
            <a:endParaRPr lang="en-US" sz="200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12A5A0"/>
          </a:solidFill>
          <a:ln/>
        </p:spPr>
        <p:txBody>
          <a:bodyPr/>
          <a:lstStyle/>
          <a:p>
            <a:endParaRPr lang="en-US"/>
          </a:p>
        </p:txBody>
      </p:sp>
      <p:sp>
        <p:nvSpPr>
          <p:cNvPr id="20" name="Shape 18"/>
          <p:cNvSpPr/>
          <p:nvPr/>
        </p:nvSpPr>
        <p:spPr>
          <a:xfrm>
            <a:off x="8402117" y="1783080"/>
            <a:ext cx="548640" cy="548640"/>
          </a:xfrm>
          <a:prstGeom prst="ellipse">
            <a:avLst/>
          </a:prstGeom>
          <a:solidFill>
            <a:srgbClr val="12A5A0"/>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3</a:t>
            </a:r>
            <a:endParaRPr lang="en-US" sz="180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Por qué importa</a:t>
            </a:r>
            <a:endParaRPr lang="en-US" sz="200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Permite reusar las mismas tools entre agentes, frameworks y organizaciones sin reescribir integraciones.</a:t>
            </a:r>
            <a:endParaRPr lang="en-US" sz="200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a:solidFill>
                  <a:srgbClr val="5B6B7B"/>
                </a:solidFill>
                <a:latin typeface="Segoe UI" pitchFamily="34" charset="0"/>
                <a:ea typeface="Segoe UI" pitchFamily="34" charset="-122"/>
                <a:cs typeface="Segoe UI" pitchFamily="34" charset="-120"/>
              </a:rPr>
              <a:t>El Toolbox de Foundry expone sus tools detrás de un único endpoint compatible con MCP.</a:t>
            </a:r>
            <a:endParaRPr lang="en-US" sz="15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Qué servicio o patrón uso cuándo</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547208">
                  <a:extLst>
                    <a:ext uri="{9D8B030D-6E8A-4147-A177-3AD203B41FA5}">
                      <a16:colId xmlns:a16="http://schemas.microsoft.com/office/drawing/2014/main" val="20000"/>
                    </a:ext>
                  </a:extLst>
                </a:gridCol>
                <a:gridCol w="5547208">
                  <a:extLst>
                    <a:ext uri="{9D8B030D-6E8A-4147-A177-3AD203B41FA5}">
                      <a16:colId xmlns:a16="http://schemas.microsoft.com/office/drawing/2014/main" val="20001"/>
                    </a:ext>
                  </a:extLst>
                </a:gridCol>
              </a:tblGrid>
              <a:tr h="600891">
                <a:tc>
                  <a:txBody>
                    <a:bodyPr/>
                    <a:lstStyle/>
                    <a:p>
                      <a:pPr marL="0" indent="0">
                        <a:buNone/>
                      </a:pPr>
                      <a:r>
                        <a:rPr lang="en-US" sz="1450" b="1">
                          <a:solidFill>
                            <a:srgbClr val="FFFFFF"/>
                          </a:solidFill>
                          <a:latin typeface="Segoe UI Semibold" pitchFamily="34" charset="0"/>
                          <a:ea typeface="Segoe UI Semibold" pitchFamily="34" charset="-122"/>
                          <a:cs typeface="Segoe UI Semibold" pitchFamily="34" charset="-120"/>
                        </a:rPr>
                        <a:t>Necesidad</a:t>
                      </a:r>
                      <a:endParaRPr lang="en-US" sz="14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50" b="1">
                          <a:solidFill>
                            <a:srgbClr val="FFFFFF"/>
                          </a:solidFill>
                          <a:latin typeface="Segoe UI Semibold" pitchFamily="34" charset="0"/>
                          <a:ea typeface="Segoe UI Semibold" pitchFamily="34" charset="-122"/>
                          <a:cs typeface="Segoe UI Semibold" pitchFamily="34" charset="-120"/>
                        </a:rPr>
                        <a:t>Patrón o servicio recomendado</a:t>
                      </a:r>
                      <a:endParaRPr lang="en-US" sz="14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600891">
                <a:tc>
                  <a:txBody>
                    <a:bodyPr/>
                    <a:lstStyle/>
                    <a:p>
                      <a:pPr marL="0" indent="0">
                        <a:buNone/>
                      </a:pPr>
                      <a:r>
                        <a:rPr lang="en-US" sz="1450" b="1">
                          <a:solidFill>
                            <a:srgbClr val="1B2A3A"/>
                          </a:solidFill>
                          <a:latin typeface="Segoe UI Semibold" pitchFamily="34" charset="0"/>
                          <a:ea typeface="Segoe UI Semibold" pitchFamily="34" charset="-122"/>
                          <a:cs typeface="Segoe UI Semibold" pitchFamily="34" charset="-120"/>
                        </a:rPr>
                        <a:t>Responder con el tono y formato correctos</a:t>
                      </a:r>
                      <a:endParaRPr lang="en-US" sz="14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50">
                          <a:solidFill>
                            <a:srgbClr val="1B2A3A"/>
                          </a:solidFill>
                          <a:latin typeface="Segoe UI" pitchFamily="34" charset="0"/>
                          <a:ea typeface="Segoe UI" pitchFamily="34" charset="-122"/>
                          <a:cs typeface="Segoe UI" pitchFamily="34" charset="-120"/>
                        </a:rPr>
                        <a:t>Prompt engineering</a:t>
                      </a:r>
                      <a:endParaRPr lang="en-US" sz="14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0891">
                <a:tc>
                  <a:txBody>
                    <a:bodyPr/>
                    <a:lstStyle/>
                    <a:p>
                      <a:pPr marL="0" indent="0">
                        <a:buNone/>
                      </a:pPr>
                      <a:r>
                        <a:rPr lang="en-US" sz="1450" b="1">
                          <a:solidFill>
                            <a:srgbClr val="1B2A3A"/>
                          </a:solidFill>
                          <a:latin typeface="Segoe UI Semibold" pitchFamily="34" charset="0"/>
                          <a:ea typeface="Segoe UI Semibold" pitchFamily="34" charset="-122"/>
                          <a:cs typeface="Segoe UI Semibold" pitchFamily="34" charset="-120"/>
                        </a:rPr>
                        <a:t>Responder con datos internos actualizados</a:t>
                      </a:r>
                      <a:endParaRPr lang="en-US" sz="14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50">
                          <a:solidFill>
                            <a:srgbClr val="1B2A3A"/>
                          </a:solidFill>
                          <a:latin typeface="Segoe UI" pitchFamily="34" charset="0"/>
                          <a:ea typeface="Segoe UI" pitchFamily="34" charset="-122"/>
                          <a:cs typeface="Segoe UI" pitchFamily="34" charset="-120"/>
                        </a:rPr>
                        <a:t>RAG + Foundry IQ / Azure AI Search</a:t>
                      </a:r>
                      <a:endParaRPr lang="en-US" sz="14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600891">
                <a:tc>
                  <a:txBody>
                    <a:bodyPr/>
                    <a:lstStyle/>
                    <a:p>
                      <a:pPr marL="0" indent="0">
                        <a:buNone/>
                      </a:pPr>
                      <a:r>
                        <a:rPr lang="en-US" sz="1450" b="1">
                          <a:solidFill>
                            <a:srgbClr val="1B2A3A"/>
                          </a:solidFill>
                          <a:latin typeface="Segoe UI Semibold" pitchFamily="34" charset="0"/>
                          <a:ea typeface="Segoe UI Semibold" pitchFamily="34" charset="-122"/>
                          <a:cs typeface="Segoe UI Semibold" pitchFamily="34" charset="-120"/>
                        </a:rPr>
                        <a:t>El modelo debe aprender un estilo o dominio muy específico</a:t>
                      </a:r>
                      <a:endParaRPr lang="en-US" sz="14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50">
                          <a:solidFill>
                            <a:srgbClr val="1B2A3A"/>
                          </a:solidFill>
                          <a:latin typeface="Segoe UI" pitchFamily="34" charset="0"/>
                          <a:ea typeface="Segoe UI" pitchFamily="34" charset="-122"/>
                          <a:cs typeface="Segoe UI" pitchFamily="34" charset="-120"/>
                        </a:rPr>
                        <a:t>Fine-tuning</a:t>
                      </a:r>
                      <a:endParaRPr lang="en-US" sz="14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0891">
                <a:tc>
                  <a:txBody>
                    <a:bodyPr/>
                    <a:lstStyle/>
                    <a:p>
                      <a:pPr marL="0" indent="0">
                        <a:buNone/>
                      </a:pPr>
                      <a:r>
                        <a:rPr lang="en-US" sz="1450" b="1">
                          <a:solidFill>
                            <a:srgbClr val="1B2A3A"/>
                          </a:solidFill>
                          <a:latin typeface="Segoe UI Semibold" pitchFamily="34" charset="0"/>
                          <a:ea typeface="Segoe UI Semibold" pitchFamily="34" charset="-122"/>
                          <a:cs typeface="Segoe UI Semibold" pitchFamily="34" charset="-120"/>
                        </a:rPr>
                        <a:t>El agente debe ejecutar acciones o llamar sistemas externos</a:t>
                      </a:r>
                      <a:endParaRPr lang="en-US" sz="14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50">
                          <a:solidFill>
                            <a:srgbClr val="1B2A3A"/>
                          </a:solidFill>
                          <a:latin typeface="Segoe UI" pitchFamily="34" charset="0"/>
                          <a:ea typeface="Segoe UI" pitchFamily="34" charset="-122"/>
                          <a:cs typeface="Segoe UI" pitchFamily="34" charset="-120"/>
                        </a:rPr>
                        <a:t>Tools, Toolbox y MCP</a:t>
                      </a:r>
                      <a:endParaRPr lang="en-US" sz="14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600891">
                <a:tc>
                  <a:txBody>
                    <a:bodyPr/>
                    <a:lstStyle/>
                    <a:p>
                      <a:pPr marL="0" indent="0">
                        <a:buNone/>
                      </a:pPr>
                      <a:r>
                        <a:rPr lang="en-US" sz="1450" b="1">
                          <a:solidFill>
                            <a:srgbClr val="1B2A3A"/>
                          </a:solidFill>
                          <a:latin typeface="Segoe UI Semibold" pitchFamily="34" charset="0"/>
                          <a:ea typeface="Segoe UI Semibold" pitchFamily="34" charset="-122"/>
                          <a:cs typeface="Segoe UI Semibold" pitchFamily="34" charset="-120"/>
                        </a:rPr>
                        <a:t>Extraer campos de documentos o formularios</a:t>
                      </a:r>
                      <a:endParaRPr lang="en-US" sz="14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50">
                          <a:solidFill>
                            <a:srgbClr val="1B2A3A"/>
                          </a:solidFill>
                          <a:latin typeface="Segoe UI" pitchFamily="34" charset="0"/>
                          <a:ea typeface="Segoe UI" pitchFamily="34" charset="-122"/>
                          <a:cs typeface="Segoe UI" pitchFamily="34" charset="-120"/>
                        </a:rPr>
                        <a:t>Document Intelligence o Content Understanding</a:t>
                      </a:r>
                      <a:endParaRPr lang="en-US" sz="14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0891">
                <a:tc>
                  <a:txBody>
                    <a:bodyPr/>
                    <a:lstStyle/>
                    <a:p>
                      <a:pPr marL="0" indent="0">
                        <a:buNone/>
                      </a:pPr>
                      <a:r>
                        <a:rPr lang="en-US" sz="1450" b="1">
                          <a:solidFill>
                            <a:srgbClr val="1B2A3A"/>
                          </a:solidFill>
                          <a:latin typeface="Segoe UI Semibold" pitchFamily="34" charset="0"/>
                          <a:ea typeface="Segoe UI Semibold" pitchFamily="34" charset="-122"/>
                          <a:cs typeface="Segoe UI Semibold" pitchFamily="34" charset="-120"/>
                        </a:rPr>
                        <a:t>Conversación hablada en tiempo real</a:t>
                      </a:r>
                      <a:endParaRPr lang="en-US" sz="145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50">
                          <a:solidFill>
                            <a:srgbClr val="1B2A3A"/>
                          </a:solidFill>
                          <a:latin typeface="Segoe UI" pitchFamily="34" charset="0"/>
                          <a:ea typeface="Segoe UI" pitchFamily="34" charset="-122"/>
                          <a:cs typeface="Segoe UI" pitchFamily="34" charset="-120"/>
                        </a:rPr>
                        <a:t>Voice-based prompt agent + Speech</a:t>
                      </a:r>
                      <a:endParaRPr lang="en-US" sz="145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6"/>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a:solidFill>
                  <a:srgbClr val="5B6B7B"/>
                </a:solidFill>
                <a:latin typeface="Segoe UI" pitchFamily="34" charset="0"/>
                <a:ea typeface="Segoe UI" pitchFamily="34" charset="-122"/>
                <a:cs typeface="Segoe UI" pitchFamily="34" charset="-120"/>
              </a:rPr>
              <a:t>Esta tabla es un punto de partida; muchos casos combinan más de un patrón.</a:t>
            </a:r>
            <a:endParaRPr lang="en-US" sz="12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2A5A0">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12A5A0">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a:solidFill>
                  <a:srgbClr val="12A5A0"/>
                </a:solidFill>
                <a:latin typeface="Segoe UI Semibold" pitchFamily="34" charset="0"/>
                <a:ea typeface="Segoe UI Semibold" pitchFamily="34" charset="-122"/>
                <a:cs typeface="Segoe UI Semibold" pitchFamily="34" charset="-120"/>
              </a:rPr>
              <a:t>Lab</a:t>
            </a:r>
            <a:endParaRPr lang="en-US" sz="1200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a:solidFill>
                  <a:srgbClr val="FFFFFF"/>
                </a:solidFill>
                <a:latin typeface="Segoe UI Semibold" pitchFamily="34" charset="0"/>
                <a:ea typeface="Segoe UI Semibold" pitchFamily="34" charset="-122"/>
                <a:cs typeface="Segoe UI Semibold" pitchFamily="34" charset="-120"/>
              </a:rPr>
              <a:t>Laboratorio guiado</a:t>
            </a:r>
            <a:endParaRPr lang="en-US" sz="440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a:solidFill>
                  <a:srgbClr val="C9D7E4"/>
                </a:solidFill>
                <a:latin typeface="Segoe UI" pitchFamily="34" charset="0"/>
                <a:ea typeface="Segoe UI" pitchFamily="34" charset="-122"/>
                <a:cs typeface="Segoe UI" pitchFamily="34" charset="-120"/>
              </a:rPr>
              <a:t>Del catálogo de modelos a una experiencia de agente</a:t>
            </a:r>
            <a:endParaRPr lang="en-US" sz="20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Laboratorio: visión general</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11094415" cy="868680"/>
          </a:xfrm>
          <a:prstGeom prst="rect">
            <a:avLst/>
          </a:prstGeom>
          <a:solidFill>
            <a:srgbClr val="12A5A0"/>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LAB  </a:t>
            </a:r>
            <a:r>
              <a:rPr lang="en-US" sz="2000" b="1">
                <a:solidFill>
                  <a:srgbClr val="FFFFFF"/>
                </a:solidFill>
                <a:latin typeface="Segoe UI Semibold" pitchFamily="34" charset="0"/>
                <a:ea typeface="Segoe UI Semibold" pitchFamily="34" charset="-122"/>
                <a:cs typeface="Segoe UI Semibold" pitchFamily="34" charset="-120"/>
              </a:rPr>
              <a:t>Preparar el entorno, configurar un primer agente en Microsoft Foundry y probar OCR con Document Intelligence.</a:t>
            </a:r>
            <a:endParaRPr lang="en-US" sz="200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12A5A0"/>
          </a:solidFill>
          <a:ln/>
        </p:spPr>
        <p:txBody>
          <a:bodyPr/>
          <a:lstStyle/>
          <a:p>
            <a:endParaRPr lang="en-US"/>
          </a:p>
        </p:txBody>
      </p:sp>
      <p:sp>
        <p:nvSpPr>
          <p:cNvPr id="10" name="Shape 8"/>
          <p:cNvSpPr/>
          <p:nvPr/>
        </p:nvSpPr>
        <p:spPr>
          <a:xfrm>
            <a:off x="822960" y="2955798"/>
            <a:ext cx="420624" cy="420624"/>
          </a:xfrm>
          <a:prstGeom prst="ellipse">
            <a:avLst/>
          </a:prstGeom>
          <a:solidFill>
            <a:srgbClr val="12A5A0"/>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a:t>
            </a:r>
            <a:endParaRPr lang="en-US" sz="140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Bloque A (≈15 min): preparar el entorno y verificar prerrequisitos (az CLI, VS Code, Python, Git).</a:t>
            </a:r>
            <a:endParaRPr lang="en-US" sz="170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2</a:t>
            </a:r>
            <a:endParaRPr lang="en-US" sz="140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Bloque B (≈25 min): crear y configurar un agente en Microsoft Foundry.</a:t>
            </a:r>
            <a:endParaRPr lang="en-US" sz="1700"/>
          </a:p>
        </p:txBody>
      </p:sp>
      <p:sp>
        <p:nvSpPr>
          <p:cNvPr id="16" name="Shape 14"/>
          <p:cNvSpPr/>
          <p:nvPr/>
        </p:nvSpPr>
        <p:spPr>
          <a:xfrm>
            <a:off x="822960" y="4647438"/>
            <a:ext cx="420624" cy="420624"/>
          </a:xfrm>
          <a:prstGeom prst="ellipse">
            <a:avLst/>
          </a:prstGeom>
          <a:solidFill>
            <a:srgbClr val="12A5A0"/>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3</a:t>
            </a:r>
            <a:endParaRPr lang="en-US" sz="140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Bloque C (≈25 min): extraer datos de un documento con Document Intelligence.</a:t>
            </a:r>
            <a:endParaRPr lang="en-US" sz="170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4</a:t>
            </a:r>
            <a:endParaRPr lang="en-US" sz="140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Trabajar en parejas o tríos; cada persona deja su proyecto guardado al final.</a:t>
            </a:r>
            <a:endParaRPr lang="en-US" sz="170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a:solidFill>
                  <a:srgbClr val="5B6B7B"/>
                </a:solidFill>
                <a:latin typeface="Segoe UI Semibold" pitchFamily="34" charset="0"/>
                <a:ea typeface="Segoe UI Semibold" pitchFamily="34" charset="-122"/>
                <a:cs typeface="Segoe UI Semibold" pitchFamily="34" charset="-120"/>
              </a:rPr>
              <a:t>Tiempo  </a:t>
            </a:r>
            <a:r>
              <a:rPr lang="en-US" sz="1500" b="1">
                <a:solidFill>
                  <a:srgbClr val="0B1F33"/>
                </a:solidFill>
                <a:latin typeface="Segoe UI Semibold" pitchFamily="34" charset="0"/>
                <a:ea typeface="Segoe UI Semibold" pitchFamily="34" charset="-122"/>
                <a:cs typeface="Segoe UI Semibold" pitchFamily="34" charset="-120"/>
              </a:rPr>
              <a:t>65 min</a:t>
            </a:r>
            <a:endParaRPr lang="en-US" sz="150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a:solidFill>
                  <a:srgbClr val="12A5A0"/>
                </a:solidFill>
                <a:latin typeface="Segoe UI Semibold" pitchFamily="34" charset="0"/>
                <a:ea typeface="Segoe UI Semibold" pitchFamily="34" charset="-122"/>
                <a:cs typeface="Segoe UI Semibold" pitchFamily="34" charset="-120"/>
              </a:rPr>
              <a:t>Entregables</a:t>
            </a:r>
            <a:endParaRPr lang="en-US" sz="1300"/>
          </a:p>
        </p:txBody>
      </p:sp>
      <p:sp>
        <p:nvSpPr>
          <p:cNvPr id="26" name="Text 24"/>
          <p:cNvSpPr/>
          <p:nvPr/>
        </p:nvSpPr>
        <p:spPr>
          <a:xfrm>
            <a:off x="8321040" y="3703320"/>
            <a:ext cx="3139135" cy="1645920"/>
          </a:xfrm>
          <a:prstGeom prst="rect">
            <a:avLst/>
          </a:prstGeom>
          <a:noFill/>
          <a:ln/>
        </p:spPr>
        <p:txBody>
          <a:bodyPr wrap="square" lIns="0" tIns="0" rIns="0" bIns="0" rtlCol="0" anchor="t"/>
          <a:lstStyle/>
          <a:p>
            <a:pPr marL="177800" indent="-177800">
              <a:spcAft>
                <a:spcPts val="600"/>
              </a:spcAft>
              <a:buSzPct val="100000"/>
              <a:buChar char="•"/>
            </a:pPr>
            <a:r>
              <a:rPr lang="en-US" sz="1400">
                <a:solidFill>
                  <a:srgbClr val="1B2A3A"/>
                </a:solidFill>
                <a:latin typeface="Segoe UI" pitchFamily="34" charset="0"/>
                <a:ea typeface="Segoe UI" pitchFamily="34" charset="-122"/>
                <a:cs typeface="Segoe UI" pitchFamily="34" charset="-120"/>
              </a:rPr>
              <a:t>Entorno verificado: az login y proyecto Foundry accesibles</a:t>
            </a:r>
            <a:endParaRPr lang="en-US" sz="1400"/>
          </a:p>
          <a:p>
            <a:pPr marL="177800" indent="-177800">
              <a:spcAft>
                <a:spcPts val="600"/>
              </a:spcAft>
              <a:buSzPct val="100000"/>
              <a:buChar char="•"/>
            </a:pPr>
            <a:r>
              <a:rPr lang="en-US" sz="1400">
                <a:solidFill>
                  <a:srgbClr val="1B2A3A"/>
                </a:solidFill>
                <a:latin typeface="Segoe UI" pitchFamily="34" charset="0"/>
                <a:ea typeface="Segoe UI" pitchFamily="34" charset="-122"/>
                <a:cs typeface="Segoe UI" pitchFamily="34" charset="-120"/>
              </a:rPr>
              <a:t>Un agente configurado y probado en el playground</a:t>
            </a:r>
            <a:endParaRPr lang="en-US" sz="1400"/>
          </a:p>
          <a:p>
            <a:pPr marL="177800" indent="-177800">
              <a:spcAft>
                <a:spcPts val="600"/>
              </a:spcAft>
              <a:buSzPct val="100000"/>
              <a:buChar char="•"/>
            </a:pPr>
            <a:r>
              <a:rPr lang="en-US" sz="1400">
                <a:solidFill>
                  <a:srgbClr val="1B2A3A"/>
                </a:solidFill>
                <a:latin typeface="Segoe UI" pitchFamily="34" charset="0"/>
                <a:ea typeface="Segoe UI" pitchFamily="34" charset="-122"/>
                <a:cs typeface="Segoe UI" pitchFamily="34" charset="-120"/>
              </a:rPr>
              <a:t>Un documento ficticio con campos extraídos</a:t>
            </a:r>
            <a:endParaRPr lang="en-US" sz="1400"/>
          </a:p>
        </p:txBody>
      </p:sp>
      <p:sp>
        <p:nvSpPr>
          <p:cNvPr id="27" name="Text 25"/>
          <p:cNvSpPr/>
          <p:nvPr/>
        </p:nvSpPr>
        <p:spPr>
          <a:xfrm>
            <a:off x="8321040" y="5394960"/>
            <a:ext cx="3139135" cy="274320"/>
          </a:xfrm>
          <a:prstGeom prst="rect">
            <a:avLst/>
          </a:prstGeom>
          <a:noFill/>
          <a:ln/>
        </p:spPr>
        <p:txBody>
          <a:bodyPr wrap="square" lIns="0" tIns="0" rIns="0" bIns="0" rtlCol="0" anchor="ctr"/>
          <a:lstStyle/>
          <a:p>
            <a:pPr marL="0" indent="0">
              <a:buNone/>
            </a:pPr>
            <a:r>
              <a:rPr lang="en-US" sz="1200" b="1">
                <a:solidFill>
                  <a:srgbClr val="12A5A0"/>
                </a:solidFill>
                <a:latin typeface="Segoe UI Semibold" pitchFamily="34" charset="0"/>
                <a:ea typeface="Segoe UI Semibold" pitchFamily="34" charset="-122"/>
                <a:cs typeface="Segoe UI Semibold" pitchFamily="34" charset="-120"/>
              </a:rPr>
              <a:t>Repositorio</a:t>
            </a:r>
            <a:endParaRPr lang="en-US" sz="1200"/>
          </a:p>
        </p:txBody>
      </p:sp>
      <p:sp>
        <p:nvSpPr>
          <p:cNvPr id="28" name="Text 26"/>
          <p:cNvSpPr/>
          <p:nvPr/>
        </p:nvSpPr>
        <p:spPr>
          <a:xfrm>
            <a:off x="8321040" y="5669280"/>
            <a:ext cx="3139135" cy="457200"/>
          </a:xfrm>
          <a:prstGeom prst="rect">
            <a:avLst/>
          </a:prstGeom>
          <a:noFill/>
          <a:ln/>
        </p:spPr>
        <p:txBody>
          <a:bodyPr wrap="square" lIns="0" tIns="0" rIns="0" bIns="0" rtlCol="0" anchor="t"/>
          <a:lstStyle/>
          <a:p>
            <a:pPr marL="0" indent="0">
              <a:buNone/>
            </a:pPr>
            <a:r>
              <a:rPr lang="en-US" sz="1100" u="sng">
                <a:solidFill>
                  <a:srgbClr val="12A5A0"/>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github.com/MicrosoftLearning/mslearn-agent-quickstart</a:t>
            </a:r>
            <a:endParaRPr lang="en-US" sz="1100"/>
          </a:p>
        </p:txBody>
      </p:sp>
      <p:sp>
        <p:nvSpPr>
          <p:cNvPr id="29"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Bloque A: preparación del entorno</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11094415" cy="868680"/>
          </a:xfrm>
          <a:prstGeom prst="rect">
            <a:avLst/>
          </a:prstGeom>
          <a:solidFill>
            <a:srgbClr val="12A5A0"/>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LAB  </a:t>
            </a:r>
            <a:r>
              <a:rPr lang="en-US" sz="2000" b="1">
                <a:solidFill>
                  <a:srgbClr val="FFFFFF"/>
                </a:solidFill>
                <a:latin typeface="Segoe UI Semibold" pitchFamily="34" charset="0"/>
                <a:ea typeface="Segoe UI Semibold" pitchFamily="34" charset="-122"/>
                <a:cs typeface="Segoe UI Semibold" pitchFamily="34" charset="-120"/>
              </a:rPr>
              <a:t>Dejar tu entorno listo: herramientas verificadas, sesión iniciada con tu cuenta del taller y acceso a tu proyecto Foundry.</a:t>
            </a:r>
            <a:endParaRPr lang="en-US" sz="200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12A5A0"/>
          </a:solidFill>
          <a:ln/>
        </p:spPr>
        <p:txBody>
          <a:bodyPr/>
          <a:lstStyle/>
          <a:p>
            <a:endParaRPr lang="en-US"/>
          </a:p>
        </p:txBody>
      </p:sp>
      <p:sp>
        <p:nvSpPr>
          <p:cNvPr id="10" name="Shape 8"/>
          <p:cNvSpPr/>
          <p:nvPr/>
        </p:nvSpPr>
        <p:spPr>
          <a:xfrm>
            <a:off x="822960" y="2871216"/>
            <a:ext cx="420624" cy="420624"/>
          </a:xfrm>
          <a:prstGeom prst="ellipse">
            <a:avLst/>
          </a:prstGeom>
          <a:solidFill>
            <a:srgbClr val="12A5A0"/>
          </a:solidFill>
          <a:ln/>
        </p:spPr>
        <p:txBody>
          <a:bodyPr/>
          <a:lstStyle/>
          <a:p>
            <a:endParaRPr lang="en-US"/>
          </a:p>
        </p:txBody>
      </p:sp>
      <p:sp>
        <p:nvSpPr>
          <p:cNvPr id="11" name="Text 9"/>
          <p:cNvSpPr/>
          <p:nvPr/>
        </p:nvSpPr>
        <p:spPr>
          <a:xfrm>
            <a:off x="822960" y="2871216"/>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a:t>
            </a:r>
            <a:endParaRPr lang="en-US" sz="1400"/>
          </a:p>
        </p:txBody>
      </p:sp>
      <p:sp>
        <p:nvSpPr>
          <p:cNvPr id="12" name="Text 10"/>
          <p:cNvSpPr/>
          <p:nvPr/>
        </p:nvSpPr>
        <p:spPr>
          <a:xfrm>
            <a:off x="1417320" y="2743200"/>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Verificar VS Code, Python 3.13, Git y Azure CLI (az --version).</a:t>
            </a:r>
            <a:endParaRPr lang="en-US" sz="1700"/>
          </a:p>
        </p:txBody>
      </p:sp>
      <p:sp>
        <p:nvSpPr>
          <p:cNvPr id="13" name="Shape 11"/>
          <p:cNvSpPr/>
          <p:nvPr/>
        </p:nvSpPr>
        <p:spPr>
          <a:xfrm>
            <a:off x="822960" y="3547872"/>
            <a:ext cx="420624" cy="420624"/>
          </a:xfrm>
          <a:prstGeom prst="ellipse">
            <a:avLst/>
          </a:prstGeom>
          <a:solidFill>
            <a:srgbClr val="0B1F33"/>
          </a:solidFill>
          <a:ln/>
        </p:spPr>
        <p:txBody>
          <a:bodyPr/>
          <a:lstStyle/>
          <a:p>
            <a:endParaRPr lang="en-US"/>
          </a:p>
        </p:txBody>
      </p:sp>
      <p:sp>
        <p:nvSpPr>
          <p:cNvPr id="14" name="Text 12"/>
          <p:cNvSpPr/>
          <p:nvPr/>
        </p:nvSpPr>
        <p:spPr>
          <a:xfrm>
            <a:off x="822960" y="3547872"/>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2</a:t>
            </a:r>
            <a:endParaRPr lang="en-US" sz="1400"/>
          </a:p>
        </p:txBody>
      </p:sp>
      <p:sp>
        <p:nvSpPr>
          <p:cNvPr id="15" name="Text 13"/>
          <p:cNvSpPr/>
          <p:nvPr/>
        </p:nvSpPr>
        <p:spPr>
          <a:xfrm>
            <a:off x="1417320" y="3419856"/>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Iniciar sesión con tu cuenta del taller y tu Temporary Access Pass (az login).</a:t>
            </a:r>
            <a:endParaRPr lang="en-US" sz="1700"/>
          </a:p>
        </p:txBody>
      </p:sp>
      <p:sp>
        <p:nvSpPr>
          <p:cNvPr id="16" name="Shape 14"/>
          <p:cNvSpPr/>
          <p:nvPr/>
        </p:nvSpPr>
        <p:spPr>
          <a:xfrm>
            <a:off x="822960" y="4224528"/>
            <a:ext cx="420624" cy="420624"/>
          </a:xfrm>
          <a:prstGeom prst="ellipse">
            <a:avLst/>
          </a:prstGeom>
          <a:solidFill>
            <a:srgbClr val="12A5A0"/>
          </a:solidFill>
          <a:ln/>
        </p:spPr>
        <p:txBody>
          <a:bodyPr/>
          <a:lstStyle/>
          <a:p>
            <a:endParaRPr lang="en-US"/>
          </a:p>
        </p:txBody>
      </p:sp>
      <p:sp>
        <p:nvSpPr>
          <p:cNvPr id="17" name="Text 15"/>
          <p:cNvSpPr/>
          <p:nvPr/>
        </p:nvSpPr>
        <p:spPr>
          <a:xfrm>
            <a:off x="822960" y="422452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3</a:t>
            </a:r>
            <a:endParaRPr lang="en-US" sz="1400"/>
          </a:p>
        </p:txBody>
      </p:sp>
      <p:sp>
        <p:nvSpPr>
          <p:cNvPr id="18" name="Text 16"/>
          <p:cNvSpPr/>
          <p:nvPr/>
        </p:nvSpPr>
        <p:spPr>
          <a:xfrm>
            <a:off x="1417320" y="4096512"/>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Confirmar tu grupo de recursos, tu proyecto Foundry y el modelo gpt-5.6-luna.</a:t>
            </a:r>
            <a:endParaRPr lang="en-US" sz="1700"/>
          </a:p>
        </p:txBody>
      </p:sp>
      <p:sp>
        <p:nvSpPr>
          <p:cNvPr id="19" name="Shape 17"/>
          <p:cNvSpPr/>
          <p:nvPr/>
        </p:nvSpPr>
        <p:spPr>
          <a:xfrm>
            <a:off x="822960" y="4901184"/>
            <a:ext cx="420624" cy="420624"/>
          </a:xfrm>
          <a:prstGeom prst="ellipse">
            <a:avLst/>
          </a:prstGeom>
          <a:solidFill>
            <a:srgbClr val="0B1F33"/>
          </a:solidFill>
          <a:ln/>
        </p:spPr>
        <p:txBody>
          <a:bodyPr/>
          <a:lstStyle/>
          <a:p>
            <a:endParaRPr lang="en-US"/>
          </a:p>
        </p:txBody>
      </p:sp>
      <p:sp>
        <p:nvSpPr>
          <p:cNvPr id="20" name="Text 18"/>
          <p:cNvSpPr/>
          <p:nvPr/>
        </p:nvSpPr>
        <p:spPr>
          <a:xfrm>
            <a:off x="822960" y="4901184"/>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4</a:t>
            </a:r>
            <a:endParaRPr lang="en-US" sz="1400"/>
          </a:p>
        </p:txBody>
      </p:sp>
      <p:sp>
        <p:nvSpPr>
          <p:cNvPr id="21" name="Text 19"/>
          <p:cNvSpPr/>
          <p:nvPr/>
        </p:nvSpPr>
        <p:spPr>
          <a:xfrm>
            <a:off x="1417320" y="4773168"/>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Instalar la extensión Foundry Toolkit for VS Code e iniciar sesión.</a:t>
            </a:r>
            <a:endParaRPr lang="en-US" sz="1700"/>
          </a:p>
        </p:txBody>
      </p:sp>
      <p:sp>
        <p:nvSpPr>
          <p:cNvPr id="22" name="Shape 20"/>
          <p:cNvSpPr/>
          <p:nvPr/>
        </p:nvSpPr>
        <p:spPr>
          <a:xfrm>
            <a:off x="822960" y="5577840"/>
            <a:ext cx="420624" cy="420624"/>
          </a:xfrm>
          <a:prstGeom prst="ellipse">
            <a:avLst/>
          </a:prstGeom>
          <a:solidFill>
            <a:srgbClr val="12A5A0"/>
          </a:solidFill>
          <a:ln/>
        </p:spPr>
        <p:txBody>
          <a:bodyPr/>
          <a:lstStyle/>
          <a:p>
            <a:endParaRPr lang="en-US"/>
          </a:p>
        </p:txBody>
      </p:sp>
      <p:sp>
        <p:nvSpPr>
          <p:cNvPr id="23" name="Text 21"/>
          <p:cNvSpPr/>
          <p:nvPr/>
        </p:nvSpPr>
        <p:spPr>
          <a:xfrm>
            <a:off x="822960" y="5577840"/>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5</a:t>
            </a:r>
            <a:endParaRPr lang="en-US" sz="1400"/>
          </a:p>
        </p:txBody>
      </p:sp>
      <p:sp>
        <p:nvSpPr>
          <p:cNvPr id="24" name="Text 22"/>
          <p:cNvSpPr/>
          <p:nvPr/>
        </p:nvSpPr>
        <p:spPr>
          <a:xfrm>
            <a:off x="1417320" y="5449824"/>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Descargar la carpeta de datos y acordar los roles de la pareja o trío.</a:t>
            </a:r>
            <a:endParaRPr lang="en-US" sz="1700"/>
          </a:p>
        </p:txBody>
      </p:sp>
      <p:sp>
        <p:nvSpPr>
          <p:cNvPr id="25" name="Shape 23"/>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6" name="Shape 24"/>
          <p:cNvSpPr/>
          <p:nvPr/>
        </p:nvSpPr>
        <p:spPr>
          <a:xfrm>
            <a:off x="8046720" y="2606040"/>
            <a:ext cx="82296" cy="3657600"/>
          </a:xfrm>
          <a:prstGeom prst="rect">
            <a:avLst/>
          </a:prstGeom>
          <a:solidFill>
            <a:srgbClr val="0B1F33"/>
          </a:solidFill>
          <a:ln/>
        </p:spPr>
        <p:txBody>
          <a:bodyPr/>
          <a:lstStyle/>
          <a:p>
            <a:endParaRPr lang="en-US"/>
          </a:p>
        </p:txBody>
      </p:sp>
      <p:sp>
        <p:nvSpPr>
          <p:cNvPr id="27" name="Text 25"/>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a:solidFill>
                  <a:srgbClr val="5B6B7B"/>
                </a:solidFill>
                <a:latin typeface="Segoe UI Semibold" pitchFamily="34" charset="0"/>
                <a:ea typeface="Segoe UI Semibold" pitchFamily="34" charset="-122"/>
                <a:cs typeface="Segoe UI Semibold" pitchFamily="34" charset="-120"/>
              </a:rPr>
              <a:t>Tiempo  </a:t>
            </a:r>
            <a:r>
              <a:rPr lang="en-US" sz="1500" b="1">
                <a:solidFill>
                  <a:srgbClr val="0B1F33"/>
                </a:solidFill>
                <a:latin typeface="Segoe UI Semibold" pitchFamily="34" charset="0"/>
                <a:ea typeface="Segoe UI Semibold" pitchFamily="34" charset="-122"/>
                <a:cs typeface="Segoe UI Semibold" pitchFamily="34" charset="-120"/>
              </a:rPr>
              <a:t>15 min</a:t>
            </a:r>
            <a:endParaRPr lang="en-US" sz="1500"/>
          </a:p>
        </p:txBody>
      </p:sp>
      <p:sp>
        <p:nvSpPr>
          <p:cNvPr id="28" name="Text 26"/>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a:solidFill>
                  <a:srgbClr val="12A5A0"/>
                </a:solidFill>
                <a:latin typeface="Segoe UI Semibold" pitchFamily="34" charset="0"/>
                <a:ea typeface="Segoe UI Semibold" pitchFamily="34" charset="-122"/>
                <a:cs typeface="Segoe UI Semibold" pitchFamily="34" charset="-120"/>
              </a:rPr>
              <a:t>Entregables</a:t>
            </a:r>
            <a:endParaRPr lang="en-US" sz="1300"/>
          </a:p>
        </p:txBody>
      </p:sp>
      <p:sp>
        <p:nvSpPr>
          <p:cNvPr id="29" name="Text 27"/>
          <p:cNvSpPr/>
          <p:nvPr/>
        </p:nvSpPr>
        <p:spPr>
          <a:xfrm>
            <a:off x="8321040" y="3703320"/>
            <a:ext cx="3139135" cy="1645920"/>
          </a:xfrm>
          <a:prstGeom prst="rect">
            <a:avLst/>
          </a:prstGeom>
          <a:noFill/>
          <a:ln/>
        </p:spPr>
        <p:txBody>
          <a:bodyPr wrap="square" lIns="0" tIns="0" rIns="0" bIns="0" rtlCol="0" anchor="t"/>
          <a:lstStyle/>
          <a:p>
            <a:pPr marL="177800" indent="-177800">
              <a:spcAft>
                <a:spcPts val="600"/>
              </a:spcAft>
              <a:buSzPct val="100000"/>
              <a:buChar char="•"/>
            </a:pPr>
            <a:r>
              <a:rPr lang="en-US" sz="1500">
                <a:solidFill>
                  <a:srgbClr val="1B2A3A"/>
                </a:solidFill>
                <a:latin typeface="Segoe UI" pitchFamily="34" charset="0"/>
                <a:ea typeface="Segoe UI" pitchFamily="34" charset="-122"/>
                <a:cs typeface="Segoe UI" pitchFamily="34" charset="-120"/>
              </a:rPr>
              <a:t>az login funcionando con tu cuenta del taller</a:t>
            </a:r>
            <a:endParaRPr lang="en-US" sz="1500"/>
          </a:p>
          <a:p>
            <a:pPr marL="177800" indent="-177800">
              <a:spcAft>
                <a:spcPts val="600"/>
              </a:spcAft>
              <a:buSzPct val="100000"/>
              <a:buChar char="•"/>
            </a:pPr>
            <a:r>
              <a:rPr lang="en-US" sz="1500">
                <a:solidFill>
                  <a:srgbClr val="1B2A3A"/>
                </a:solidFill>
                <a:latin typeface="Segoe UI" pitchFamily="34" charset="0"/>
                <a:ea typeface="Segoe UI" pitchFamily="34" charset="-122"/>
                <a:cs typeface="Segoe UI" pitchFamily="34" charset="-120"/>
              </a:rPr>
              <a:t>Proyecto Foundry accesible en ai.azure.com</a:t>
            </a:r>
            <a:endParaRPr lang="en-US" sz="1500"/>
          </a:p>
        </p:txBody>
      </p:sp>
      <p:sp>
        <p:nvSpPr>
          <p:cNvPr id="30" name="Text 28"/>
          <p:cNvSpPr/>
          <p:nvPr/>
        </p:nvSpPr>
        <p:spPr>
          <a:xfrm>
            <a:off x="8321040" y="5394960"/>
            <a:ext cx="3139135" cy="274320"/>
          </a:xfrm>
          <a:prstGeom prst="rect">
            <a:avLst/>
          </a:prstGeom>
          <a:noFill/>
          <a:ln/>
        </p:spPr>
        <p:txBody>
          <a:bodyPr wrap="square" lIns="0" tIns="0" rIns="0" bIns="0" rtlCol="0" anchor="ctr"/>
          <a:lstStyle/>
          <a:p>
            <a:pPr marL="0" indent="0">
              <a:buNone/>
            </a:pPr>
            <a:r>
              <a:rPr lang="en-US" sz="1200" b="1">
                <a:solidFill>
                  <a:srgbClr val="12A5A0"/>
                </a:solidFill>
                <a:latin typeface="Segoe UI Semibold" pitchFamily="34" charset="0"/>
                <a:ea typeface="Segoe UI Semibold" pitchFamily="34" charset="-122"/>
                <a:cs typeface="Segoe UI Semibold" pitchFamily="34" charset="-120"/>
              </a:rPr>
              <a:t>Prerrequisitos (Microsoft Learn)</a:t>
            </a:r>
            <a:endParaRPr lang="en-US" sz="1200"/>
          </a:p>
        </p:txBody>
      </p:sp>
      <p:sp>
        <p:nvSpPr>
          <p:cNvPr id="31" name="Text 29"/>
          <p:cNvSpPr/>
          <p:nvPr/>
        </p:nvSpPr>
        <p:spPr>
          <a:xfrm>
            <a:off x="8321040" y="5669280"/>
            <a:ext cx="3139135" cy="457200"/>
          </a:xfrm>
          <a:prstGeom prst="rect">
            <a:avLst/>
          </a:prstGeom>
          <a:noFill/>
          <a:ln/>
        </p:spPr>
        <p:txBody>
          <a:bodyPr wrap="square" lIns="0" tIns="0" rIns="0" bIns="0" rtlCol="0" anchor="t"/>
          <a:lstStyle/>
          <a:p>
            <a:pPr marL="0" indent="0">
              <a:buNone/>
            </a:pPr>
            <a:r>
              <a:rPr lang="en-US" sz="1100" u="sng">
                <a:solidFill>
                  <a:srgbClr val="12A5A0"/>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microsoftlearning.github.io/mslearn-ai-agents/Instructions/Exercises/02-agent-custom-tools.html</a:t>
            </a:r>
            <a:endParaRPr lang="en-US" sz="1100"/>
          </a:p>
        </p:txBody>
      </p:sp>
      <p:sp>
        <p:nvSpPr>
          <p:cNvPr id="3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Bloque B: tu primer agente</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11094415" cy="868680"/>
          </a:xfrm>
          <a:prstGeom prst="rect">
            <a:avLst/>
          </a:prstGeom>
          <a:solidFill>
            <a:srgbClr val="12A5A0"/>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LAB  </a:t>
            </a:r>
            <a:r>
              <a:rPr lang="en-US" sz="2000" b="1">
                <a:solidFill>
                  <a:srgbClr val="FFFFFF"/>
                </a:solidFill>
                <a:latin typeface="Segoe UI Semibold" pitchFamily="34" charset="0"/>
                <a:ea typeface="Segoe UI Semibold" pitchFamily="34" charset="-122"/>
                <a:cs typeface="Segoe UI Semibold" pitchFamily="34" charset="-120"/>
              </a:rPr>
              <a:t>Crear un prompt agent en Foundry con instrucciones propias y una tool, y validarlo en el playground.</a:t>
            </a:r>
            <a:endParaRPr lang="en-US" sz="200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12A5A0"/>
          </a:solidFill>
          <a:ln/>
        </p:spPr>
        <p:txBody>
          <a:bodyPr/>
          <a:lstStyle/>
          <a:p>
            <a:endParaRPr lang="en-US"/>
          </a:p>
        </p:txBody>
      </p:sp>
      <p:sp>
        <p:nvSpPr>
          <p:cNvPr id="10" name="Shape 8"/>
          <p:cNvSpPr/>
          <p:nvPr/>
        </p:nvSpPr>
        <p:spPr>
          <a:xfrm>
            <a:off x="822960" y="2871216"/>
            <a:ext cx="420624" cy="420624"/>
          </a:xfrm>
          <a:prstGeom prst="ellipse">
            <a:avLst/>
          </a:prstGeom>
          <a:solidFill>
            <a:srgbClr val="12A5A0"/>
          </a:solidFill>
          <a:ln/>
        </p:spPr>
        <p:txBody>
          <a:bodyPr/>
          <a:lstStyle/>
          <a:p>
            <a:endParaRPr lang="en-US"/>
          </a:p>
        </p:txBody>
      </p:sp>
      <p:sp>
        <p:nvSpPr>
          <p:cNvPr id="11" name="Text 9"/>
          <p:cNvSpPr/>
          <p:nvPr/>
        </p:nvSpPr>
        <p:spPr>
          <a:xfrm>
            <a:off x="822960" y="2871216"/>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a:t>
            </a:r>
            <a:endParaRPr lang="en-US" sz="1400"/>
          </a:p>
        </p:txBody>
      </p:sp>
      <p:sp>
        <p:nvSpPr>
          <p:cNvPr id="12" name="Text 10"/>
          <p:cNvSpPr/>
          <p:nvPr/>
        </p:nvSpPr>
        <p:spPr>
          <a:xfrm>
            <a:off x="1417320" y="2743200"/>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Abrir el proyecto provisto por el equipo en ai.azure.com.</a:t>
            </a:r>
            <a:endParaRPr lang="en-US" sz="1700"/>
          </a:p>
        </p:txBody>
      </p:sp>
      <p:sp>
        <p:nvSpPr>
          <p:cNvPr id="13" name="Shape 11"/>
          <p:cNvSpPr/>
          <p:nvPr/>
        </p:nvSpPr>
        <p:spPr>
          <a:xfrm>
            <a:off x="822960" y="3547872"/>
            <a:ext cx="420624" cy="420624"/>
          </a:xfrm>
          <a:prstGeom prst="ellipse">
            <a:avLst/>
          </a:prstGeom>
          <a:solidFill>
            <a:srgbClr val="0B1F33"/>
          </a:solidFill>
          <a:ln/>
        </p:spPr>
        <p:txBody>
          <a:bodyPr/>
          <a:lstStyle/>
          <a:p>
            <a:endParaRPr lang="en-US"/>
          </a:p>
        </p:txBody>
      </p:sp>
      <p:sp>
        <p:nvSpPr>
          <p:cNvPr id="14" name="Text 12"/>
          <p:cNvSpPr/>
          <p:nvPr/>
        </p:nvSpPr>
        <p:spPr>
          <a:xfrm>
            <a:off x="822960" y="3547872"/>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2</a:t>
            </a:r>
            <a:endParaRPr lang="en-US" sz="1400"/>
          </a:p>
        </p:txBody>
      </p:sp>
      <p:sp>
        <p:nvSpPr>
          <p:cNvPr id="15" name="Text 13"/>
          <p:cNvSpPr/>
          <p:nvPr/>
        </p:nvSpPr>
        <p:spPr>
          <a:xfrm>
            <a:off x="1417320" y="3419856"/>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Definir instrucciones para un asistente de políticas internas ficticio.</a:t>
            </a:r>
            <a:endParaRPr lang="en-US" sz="1700"/>
          </a:p>
        </p:txBody>
      </p:sp>
      <p:sp>
        <p:nvSpPr>
          <p:cNvPr id="16" name="Shape 14"/>
          <p:cNvSpPr/>
          <p:nvPr/>
        </p:nvSpPr>
        <p:spPr>
          <a:xfrm>
            <a:off x="822960" y="4224528"/>
            <a:ext cx="420624" cy="420624"/>
          </a:xfrm>
          <a:prstGeom prst="ellipse">
            <a:avLst/>
          </a:prstGeom>
          <a:solidFill>
            <a:srgbClr val="12A5A0"/>
          </a:solidFill>
          <a:ln/>
        </p:spPr>
        <p:txBody>
          <a:bodyPr/>
          <a:lstStyle/>
          <a:p>
            <a:endParaRPr lang="en-US"/>
          </a:p>
        </p:txBody>
      </p:sp>
      <p:sp>
        <p:nvSpPr>
          <p:cNvPr id="17" name="Text 15"/>
          <p:cNvSpPr/>
          <p:nvPr/>
        </p:nvSpPr>
        <p:spPr>
          <a:xfrm>
            <a:off x="822960" y="422452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3</a:t>
            </a:r>
            <a:endParaRPr lang="en-US" sz="1400"/>
          </a:p>
        </p:txBody>
      </p:sp>
      <p:sp>
        <p:nvSpPr>
          <p:cNvPr id="18" name="Text 16"/>
          <p:cNvSpPr/>
          <p:nvPr/>
        </p:nvSpPr>
        <p:spPr>
          <a:xfrm>
            <a:off x="1417320" y="4096512"/>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Usar el modelo gpt-5.6-luna ya desplegado y agregar una tool (file search).</a:t>
            </a:r>
            <a:endParaRPr lang="en-US" sz="1700"/>
          </a:p>
        </p:txBody>
      </p:sp>
      <p:sp>
        <p:nvSpPr>
          <p:cNvPr id="19" name="Shape 17"/>
          <p:cNvSpPr/>
          <p:nvPr/>
        </p:nvSpPr>
        <p:spPr>
          <a:xfrm>
            <a:off x="822960" y="4901184"/>
            <a:ext cx="420624" cy="420624"/>
          </a:xfrm>
          <a:prstGeom prst="ellipse">
            <a:avLst/>
          </a:prstGeom>
          <a:solidFill>
            <a:srgbClr val="0B1F33"/>
          </a:solidFill>
          <a:ln/>
        </p:spPr>
        <p:txBody>
          <a:bodyPr/>
          <a:lstStyle/>
          <a:p>
            <a:endParaRPr lang="en-US"/>
          </a:p>
        </p:txBody>
      </p:sp>
      <p:sp>
        <p:nvSpPr>
          <p:cNvPr id="20" name="Text 18"/>
          <p:cNvSpPr/>
          <p:nvPr/>
        </p:nvSpPr>
        <p:spPr>
          <a:xfrm>
            <a:off x="822960" y="4901184"/>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4</a:t>
            </a:r>
            <a:endParaRPr lang="en-US" sz="1400"/>
          </a:p>
        </p:txBody>
      </p:sp>
      <p:sp>
        <p:nvSpPr>
          <p:cNvPr id="21" name="Text 19"/>
          <p:cNvSpPr/>
          <p:nvPr/>
        </p:nvSpPr>
        <p:spPr>
          <a:xfrm>
            <a:off x="1417320" y="4773168"/>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Probar el agente en el playground con 2–3 preguntas de ejemplo.</a:t>
            </a:r>
            <a:endParaRPr lang="en-US" sz="1700"/>
          </a:p>
        </p:txBody>
      </p:sp>
      <p:sp>
        <p:nvSpPr>
          <p:cNvPr id="22" name="Shape 20"/>
          <p:cNvSpPr/>
          <p:nvPr/>
        </p:nvSpPr>
        <p:spPr>
          <a:xfrm>
            <a:off x="822960" y="5577840"/>
            <a:ext cx="420624" cy="420624"/>
          </a:xfrm>
          <a:prstGeom prst="ellipse">
            <a:avLst/>
          </a:prstGeom>
          <a:solidFill>
            <a:srgbClr val="12A5A0"/>
          </a:solidFill>
          <a:ln/>
        </p:spPr>
        <p:txBody>
          <a:bodyPr/>
          <a:lstStyle/>
          <a:p>
            <a:endParaRPr lang="en-US"/>
          </a:p>
        </p:txBody>
      </p:sp>
      <p:sp>
        <p:nvSpPr>
          <p:cNvPr id="23" name="Text 21"/>
          <p:cNvSpPr/>
          <p:nvPr/>
        </p:nvSpPr>
        <p:spPr>
          <a:xfrm>
            <a:off x="822960" y="5577840"/>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5</a:t>
            </a:r>
            <a:endParaRPr lang="en-US" sz="1400"/>
          </a:p>
        </p:txBody>
      </p:sp>
      <p:sp>
        <p:nvSpPr>
          <p:cNvPr id="24" name="Text 22"/>
          <p:cNvSpPr/>
          <p:nvPr/>
        </p:nvSpPr>
        <p:spPr>
          <a:xfrm>
            <a:off x="1417320" y="5449824"/>
            <a:ext cx="6126480" cy="676656"/>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Guardar el agente como punto de partida para el Día 2.</a:t>
            </a:r>
            <a:endParaRPr lang="en-US" sz="1700"/>
          </a:p>
        </p:txBody>
      </p:sp>
      <p:sp>
        <p:nvSpPr>
          <p:cNvPr id="25" name="Shape 23"/>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6" name="Shape 24"/>
          <p:cNvSpPr/>
          <p:nvPr/>
        </p:nvSpPr>
        <p:spPr>
          <a:xfrm>
            <a:off x="8046720" y="2606040"/>
            <a:ext cx="82296" cy="3657600"/>
          </a:xfrm>
          <a:prstGeom prst="rect">
            <a:avLst/>
          </a:prstGeom>
          <a:solidFill>
            <a:srgbClr val="0B1F33"/>
          </a:solidFill>
          <a:ln/>
        </p:spPr>
        <p:txBody>
          <a:bodyPr/>
          <a:lstStyle/>
          <a:p>
            <a:endParaRPr lang="en-US"/>
          </a:p>
        </p:txBody>
      </p:sp>
      <p:sp>
        <p:nvSpPr>
          <p:cNvPr id="27" name="Text 25"/>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a:solidFill>
                  <a:srgbClr val="5B6B7B"/>
                </a:solidFill>
                <a:latin typeface="Segoe UI Semibold" pitchFamily="34" charset="0"/>
                <a:ea typeface="Segoe UI Semibold" pitchFamily="34" charset="-122"/>
                <a:cs typeface="Segoe UI Semibold" pitchFamily="34" charset="-120"/>
              </a:rPr>
              <a:t>Tiempo  </a:t>
            </a:r>
            <a:r>
              <a:rPr lang="en-US" sz="1500" b="1">
                <a:solidFill>
                  <a:srgbClr val="0B1F33"/>
                </a:solidFill>
                <a:latin typeface="Segoe UI Semibold" pitchFamily="34" charset="0"/>
                <a:ea typeface="Segoe UI Semibold" pitchFamily="34" charset="-122"/>
                <a:cs typeface="Segoe UI Semibold" pitchFamily="34" charset="-120"/>
              </a:rPr>
              <a:t>25 min</a:t>
            </a:r>
            <a:endParaRPr lang="en-US" sz="1500"/>
          </a:p>
        </p:txBody>
      </p:sp>
      <p:sp>
        <p:nvSpPr>
          <p:cNvPr id="28" name="Text 26"/>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a:solidFill>
                  <a:srgbClr val="12A5A0"/>
                </a:solidFill>
                <a:latin typeface="Segoe UI Semibold" pitchFamily="34" charset="0"/>
                <a:ea typeface="Segoe UI Semibold" pitchFamily="34" charset="-122"/>
                <a:cs typeface="Segoe UI Semibold" pitchFamily="34" charset="-120"/>
              </a:rPr>
              <a:t>Entregables</a:t>
            </a:r>
            <a:endParaRPr lang="en-US" sz="1300"/>
          </a:p>
        </p:txBody>
      </p:sp>
      <p:sp>
        <p:nvSpPr>
          <p:cNvPr id="29" name="Text 27"/>
          <p:cNvSpPr/>
          <p:nvPr/>
        </p:nvSpPr>
        <p:spPr>
          <a:xfrm>
            <a:off x="8321040" y="3703320"/>
            <a:ext cx="3139135" cy="1645920"/>
          </a:xfrm>
          <a:prstGeom prst="rect">
            <a:avLst/>
          </a:prstGeom>
          <a:noFill/>
          <a:ln/>
        </p:spPr>
        <p:txBody>
          <a:bodyPr wrap="square" lIns="0" tIns="0" rIns="0" bIns="0" rtlCol="0" anchor="t"/>
          <a:lstStyle/>
          <a:p>
            <a:pPr marL="177800" indent="-177800">
              <a:spcAft>
                <a:spcPts val="600"/>
              </a:spcAft>
              <a:buSzPct val="100000"/>
              <a:buChar char="•"/>
            </a:pPr>
            <a:r>
              <a:rPr lang="en-US" sz="1500">
                <a:solidFill>
                  <a:srgbClr val="1B2A3A"/>
                </a:solidFill>
                <a:latin typeface="Segoe UI" pitchFamily="34" charset="0"/>
                <a:ea typeface="Segoe UI" pitchFamily="34" charset="-122"/>
                <a:cs typeface="Segoe UI" pitchFamily="34" charset="-120"/>
              </a:rPr>
              <a:t>Agente configurado y versionado en el proyecto</a:t>
            </a:r>
            <a:endParaRPr lang="en-US" sz="1500"/>
          </a:p>
        </p:txBody>
      </p:sp>
      <p:sp>
        <p:nvSpPr>
          <p:cNvPr id="30" name="Text 28"/>
          <p:cNvSpPr/>
          <p:nvPr/>
        </p:nvSpPr>
        <p:spPr>
          <a:xfrm>
            <a:off x="8321040" y="5394960"/>
            <a:ext cx="3139135" cy="274320"/>
          </a:xfrm>
          <a:prstGeom prst="rect">
            <a:avLst/>
          </a:prstGeom>
          <a:noFill/>
          <a:ln/>
        </p:spPr>
        <p:txBody>
          <a:bodyPr wrap="square" lIns="0" tIns="0" rIns="0" bIns="0" rtlCol="0" anchor="ctr"/>
          <a:lstStyle/>
          <a:p>
            <a:pPr marL="0" indent="0">
              <a:buNone/>
            </a:pPr>
            <a:r>
              <a:rPr lang="en-US" sz="1200" b="1">
                <a:solidFill>
                  <a:srgbClr val="12A5A0"/>
                </a:solidFill>
                <a:latin typeface="Segoe UI Semibold" pitchFamily="34" charset="0"/>
                <a:ea typeface="Segoe UI Semibold" pitchFamily="34" charset="-122"/>
                <a:cs typeface="Segoe UI Semibold" pitchFamily="34" charset="-120"/>
              </a:rPr>
              <a:t>Repositorio</a:t>
            </a:r>
            <a:endParaRPr lang="en-US" sz="1200"/>
          </a:p>
        </p:txBody>
      </p:sp>
      <p:sp>
        <p:nvSpPr>
          <p:cNvPr id="31" name="Text 29"/>
          <p:cNvSpPr/>
          <p:nvPr/>
        </p:nvSpPr>
        <p:spPr>
          <a:xfrm>
            <a:off x="8321040" y="5669280"/>
            <a:ext cx="3139135" cy="457200"/>
          </a:xfrm>
          <a:prstGeom prst="rect">
            <a:avLst/>
          </a:prstGeom>
          <a:noFill/>
          <a:ln/>
        </p:spPr>
        <p:txBody>
          <a:bodyPr wrap="square" lIns="0" tIns="0" rIns="0" bIns="0" rtlCol="0" anchor="t"/>
          <a:lstStyle/>
          <a:p>
            <a:pPr marL="0" indent="0">
              <a:buNone/>
            </a:pPr>
            <a:r>
              <a:rPr lang="en-US" sz="1100" u="sng">
                <a:solidFill>
                  <a:srgbClr val="12A5A0"/>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github.com/MicrosoftLearning/mslearn-agent-quickstart</a:t>
            </a:r>
            <a:endParaRPr lang="en-US" sz="1100"/>
          </a:p>
        </p:txBody>
      </p:sp>
      <p:sp>
        <p:nvSpPr>
          <p:cNvPr id="3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Bloque C: OCR con Document Intelligence</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11094415" cy="868680"/>
          </a:xfrm>
          <a:prstGeom prst="rect">
            <a:avLst/>
          </a:prstGeom>
          <a:solidFill>
            <a:srgbClr val="12A5A0"/>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LAB  </a:t>
            </a:r>
            <a:r>
              <a:rPr lang="en-US" sz="2000" b="1">
                <a:solidFill>
                  <a:srgbClr val="FFFFFF"/>
                </a:solidFill>
                <a:latin typeface="Segoe UI Semibold" pitchFamily="34" charset="0"/>
                <a:ea typeface="Segoe UI Semibold" pitchFamily="34" charset="-122"/>
                <a:cs typeface="Segoe UI Semibold" pitchFamily="34" charset="-120"/>
              </a:rPr>
              <a:t>Extraer campos clave de un documento bancario ficticio usando un modelo prebuilt de Document Intelligence.</a:t>
            </a:r>
            <a:endParaRPr lang="en-US" sz="200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12A5A0"/>
          </a:solidFill>
          <a:ln/>
        </p:spPr>
        <p:txBody>
          <a:bodyPr/>
          <a:lstStyle/>
          <a:p>
            <a:endParaRPr lang="en-US"/>
          </a:p>
        </p:txBody>
      </p:sp>
      <p:sp>
        <p:nvSpPr>
          <p:cNvPr id="10" name="Shape 8"/>
          <p:cNvSpPr/>
          <p:nvPr/>
        </p:nvSpPr>
        <p:spPr>
          <a:xfrm>
            <a:off x="822960" y="2955798"/>
            <a:ext cx="420624" cy="420624"/>
          </a:xfrm>
          <a:prstGeom prst="ellipse">
            <a:avLst/>
          </a:prstGeom>
          <a:solidFill>
            <a:srgbClr val="12A5A0"/>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1</a:t>
            </a:r>
            <a:endParaRPr lang="en-US" sz="140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Abrir Document Intelligence Studio o el notebook del laboratorio.</a:t>
            </a:r>
            <a:endParaRPr lang="en-US" sz="170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2</a:t>
            </a:r>
            <a:endParaRPr lang="en-US" sz="140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Cargar la factura ficticia (modelo Invoice) y después la solicitud de crédito (Layout).</a:t>
            </a:r>
            <a:endParaRPr lang="en-US" sz="1700"/>
          </a:p>
        </p:txBody>
      </p:sp>
      <p:sp>
        <p:nvSpPr>
          <p:cNvPr id="16" name="Shape 14"/>
          <p:cNvSpPr/>
          <p:nvPr/>
        </p:nvSpPr>
        <p:spPr>
          <a:xfrm>
            <a:off x="822960" y="4647438"/>
            <a:ext cx="420624" cy="420624"/>
          </a:xfrm>
          <a:prstGeom prst="ellipse">
            <a:avLst/>
          </a:prstGeom>
          <a:solidFill>
            <a:srgbClr val="12A5A0"/>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3</a:t>
            </a:r>
            <a:endParaRPr lang="en-US" sz="140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Ejecutar un modelo prebuilt y revisar los campos extraídos.</a:t>
            </a:r>
            <a:endParaRPr lang="en-US" sz="1700"/>
          </a:p>
        </p:txBody>
      </p:sp>
      <p:sp>
        <p:nvSpPr>
          <p:cNvPr id="19" name="Shape 17"/>
          <p:cNvSpPr/>
          <p:nvPr/>
        </p:nvSpPr>
        <p:spPr>
          <a:xfrm>
            <a:off x="822960" y="5493258"/>
            <a:ext cx="420624" cy="420624"/>
          </a:xfrm>
          <a:prstGeom prst="ellipse">
            <a:avLst/>
          </a:prstGeom>
          <a:solidFill>
            <a:srgbClr val="0B1F33"/>
          </a:solidFill>
          <a:ln/>
        </p:spPr>
        <p:txBody>
          <a:bodyPr/>
          <a:lstStyle/>
          <a:p>
            <a:endParaRPr lang="en-US"/>
          </a:p>
        </p:txBody>
      </p:sp>
      <p:sp>
        <p:nvSpPr>
          <p:cNvPr id="20" name="Text 18"/>
          <p:cNvSpPr/>
          <p:nvPr/>
        </p:nvSpPr>
        <p:spPr>
          <a:xfrm>
            <a:off x="822960" y="5493258"/>
            <a:ext cx="420624" cy="420624"/>
          </a:xfrm>
          <a:prstGeom prst="rect">
            <a:avLst/>
          </a:prstGeom>
          <a:noFill/>
          <a:ln/>
        </p:spPr>
        <p:txBody>
          <a:bodyPr wrap="square" lIns="0" tIns="0" rIns="0" bIns="0" rtlCol="0" anchor="ctr"/>
          <a:lstStyle/>
          <a:p>
            <a:pPr marL="0" indent="0" algn="ctr">
              <a:buNone/>
            </a:pPr>
            <a:r>
              <a:rPr lang="en-US" sz="1400" b="1">
                <a:solidFill>
                  <a:srgbClr val="FFFFFF"/>
                </a:solidFill>
                <a:latin typeface="Segoe UI Semibold" pitchFamily="34" charset="0"/>
                <a:ea typeface="Segoe UI Semibold" pitchFamily="34" charset="-122"/>
                <a:cs typeface="Segoe UI Semibold" pitchFamily="34" charset="-120"/>
              </a:rPr>
              <a:t>4</a:t>
            </a:r>
            <a:endParaRPr lang="en-US" sz="140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marL="0" indent="0">
              <a:buNone/>
            </a:pPr>
            <a:r>
              <a:rPr lang="en-US" sz="1700">
                <a:solidFill>
                  <a:srgbClr val="1B2A3A"/>
                </a:solidFill>
                <a:latin typeface="Segoe UI" pitchFamily="34" charset="0"/>
                <a:ea typeface="Segoe UI" pitchFamily="34" charset="-122"/>
                <a:cs typeface="Segoe UI" pitchFamily="34" charset="-120"/>
              </a:rPr>
              <a:t>Comparar el resultado con lo que un agente podría hacer con esos datos.</a:t>
            </a:r>
            <a:endParaRPr lang="en-US" sz="170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a:solidFill>
                  <a:srgbClr val="5B6B7B"/>
                </a:solidFill>
                <a:latin typeface="Segoe UI Semibold" pitchFamily="34" charset="0"/>
                <a:ea typeface="Segoe UI Semibold" pitchFamily="34" charset="-122"/>
                <a:cs typeface="Segoe UI Semibold" pitchFamily="34" charset="-120"/>
              </a:rPr>
              <a:t>Tiempo  </a:t>
            </a:r>
            <a:r>
              <a:rPr lang="en-US" sz="1500" b="1">
                <a:solidFill>
                  <a:srgbClr val="0B1F33"/>
                </a:solidFill>
                <a:latin typeface="Segoe UI Semibold" pitchFamily="34" charset="0"/>
                <a:ea typeface="Segoe UI Semibold" pitchFamily="34" charset="-122"/>
                <a:cs typeface="Segoe UI Semibold" pitchFamily="34" charset="-120"/>
              </a:rPr>
              <a:t>25 min</a:t>
            </a:r>
            <a:endParaRPr lang="en-US" sz="150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a:solidFill>
                  <a:srgbClr val="12A5A0"/>
                </a:solidFill>
                <a:latin typeface="Segoe UI Semibold" pitchFamily="34" charset="0"/>
                <a:ea typeface="Segoe UI Semibold" pitchFamily="34" charset="-122"/>
                <a:cs typeface="Segoe UI Semibold" pitchFamily="34" charset="-120"/>
              </a:rPr>
              <a:t>Entregables</a:t>
            </a:r>
            <a:endParaRPr lang="en-US" sz="1300"/>
          </a:p>
        </p:txBody>
      </p:sp>
      <p:sp>
        <p:nvSpPr>
          <p:cNvPr id="26" name="Text 24"/>
          <p:cNvSpPr/>
          <p:nvPr/>
        </p:nvSpPr>
        <p:spPr>
          <a:xfrm>
            <a:off x="8321040" y="3703320"/>
            <a:ext cx="3139135" cy="1645920"/>
          </a:xfrm>
          <a:prstGeom prst="rect">
            <a:avLst/>
          </a:prstGeom>
          <a:noFill/>
          <a:ln/>
        </p:spPr>
        <p:txBody>
          <a:bodyPr wrap="square" lIns="0" tIns="0" rIns="0" bIns="0" rtlCol="0" anchor="t"/>
          <a:lstStyle/>
          <a:p>
            <a:pPr marL="177800" indent="-177800">
              <a:spcAft>
                <a:spcPts val="600"/>
              </a:spcAft>
              <a:buSzPct val="100000"/>
              <a:buChar char="•"/>
            </a:pPr>
            <a:r>
              <a:rPr lang="en-US" sz="1500">
                <a:solidFill>
                  <a:srgbClr val="1B2A3A"/>
                </a:solidFill>
                <a:latin typeface="Segoe UI" pitchFamily="34" charset="0"/>
                <a:ea typeface="Segoe UI" pitchFamily="34" charset="-122"/>
                <a:cs typeface="Segoe UI" pitchFamily="34" charset="-120"/>
              </a:rPr>
              <a:t>Documento ficticio con campos extraídos y validados</a:t>
            </a:r>
            <a:endParaRPr lang="en-US" sz="1500"/>
          </a:p>
        </p:txBody>
      </p:sp>
      <p:sp>
        <p:nvSpPr>
          <p:cNvPr id="27" name="Text 25"/>
          <p:cNvSpPr/>
          <p:nvPr/>
        </p:nvSpPr>
        <p:spPr>
          <a:xfrm>
            <a:off x="8321040" y="5394960"/>
            <a:ext cx="3139135" cy="274320"/>
          </a:xfrm>
          <a:prstGeom prst="rect">
            <a:avLst/>
          </a:prstGeom>
          <a:noFill/>
          <a:ln/>
        </p:spPr>
        <p:txBody>
          <a:bodyPr wrap="square" lIns="0" tIns="0" rIns="0" bIns="0" rtlCol="0" anchor="ctr"/>
          <a:lstStyle/>
          <a:p>
            <a:pPr marL="0" indent="0">
              <a:buNone/>
            </a:pPr>
            <a:r>
              <a:rPr lang="en-US" sz="1200" b="1">
                <a:solidFill>
                  <a:srgbClr val="12A5A0"/>
                </a:solidFill>
                <a:latin typeface="Segoe UI Semibold" pitchFamily="34" charset="0"/>
                <a:ea typeface="Segoe UI Semibold" pitchFamily="34" charset="-122"/>
                <a:cs typeface="Segoe UI Semibold" pitchFamily="34" charset="-120"/>
              </a:rPr>
              <a:t>Repositorio</a:t>
            </a:r>
            <a:endParaRPr lang="en-US" sz="1200"/>
          </a:p>
        </p:txBody>
      </p:sp>
      <p:sp>
        <p:nvSpPr>
          <p:cNvPr id="28" name="Text 26"/>
          <p:cNvSpPr/>
          <p:nvPr/>
        </p:nvSpPr>
        <p:spPr>
          <a:xfrm>
            <a:off x="8321040" y="5669280"/>
            <a:ext cx="3139135" cy="457200"/>
          </a:xfrm>
          <a:prstGeom prst="rect">
            <a:avLst/>
          </a:prstGeom>
          <a:noFill/>
          <a:ln/>
        </p:spPr>
        <p:txBody>
          <a:bodyPr wrap="square" lIns="0" tIns="0" rIns="0" bIns="0" rtlCol="0" anchor="t"/>
          <a:lstStyle/>
          <a:p>
            <a:pPr marL="0" indent="0">
              <a:buNone/>
            </a:pPr>
            <a:r>
              <a:rPr lang="en-US" sz="1100" u="sng">
                <a:solidFill>
                  <a:srgbClr val="12A5A0"/>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github.com/MicrosoftLearning/mslearn-ai-information-extraction</a:t>
            </a:r>
            <a:endParaRPr lang="en-US" sz="1100"/>
          </a:p>
        </p:txBody>
      </p:sp>
      <p:sp>
        <p:nvSpPr>
          <p:cNvPr id="29"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2A5A0">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12A5A0">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a:solidFill>
                  <a:srgbClr val="FFFFFF"/>
                </a:solidFill>
                <a:latin typeface="Segoe UI Semibold" pitchFamily="34" charset="0"/>
                <a:ea typeface="Segoe UI Semibold" pitchFamily="34" charset="-122"/>
                <a:cs typeface="Segoe UI Semibold" pitchFamily="34" charset="-120"/>
              </a:rPr>
              <a:t>Qué nos llevamos del Día 1</a:t>
            </a:r>
            <a:endParaRPr lang="en-US" sz="340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a:solidFill>
                  <a:srgbClr val="12A5A0"/>
                </a:solidFill>
                <a:latin typeface="Segoe UI Semibold" pitchFamily="34" charset="0"/>
                <a:ea typeface="Segoe UI Semibold" pitchFamily="34" charset="-122"/>
                <a:cs typeface="Segoe UI Semibold" pitchFamily="34" charset="-120"/>
              </a:rPr>
              <a:t>1</a:t>
            </a:r>
            <a:endParaRPr lang="en-US" sz="540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a:solidFill>
                  <a:srgbClr val="FFFFFF"/>
                </a:solidFill>
                <a:latin typeface="Segoe UI" pitchFamily="34" charset="0"/>
                <a:ea typeface="Segoe UI" pitchFamily="34" charset="-122"/>
                <a:cs typeface="Segoe UI" pitchFamily="34" charset="-120"/>
              </a:rPr>
              <a:t>Microsoft Foundry unifica modelos, agentes y tools en una sola plataforma con gobierno integrado.</a:t>
            </a:r>
            <a:endParaRPr lang="en-US" sz="240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a:solidFill>
                  <a:srgbClr val="12A5A0"/>
                </a:solidFill>
                <a:latin typeface="Segoe UI Semibold" pitchFamily="34" charset="0"/>
                <a:ea typeface="Segoe UI Semibold" pitchFamily="34" charset="-122"/>
                <a:cs typeface="Segoe UI Semibold" pitchFamily="34" charset="-120"/>
              </a:rPr>
              <a:t>2</a:t>
            </a:r>
            <a:endParaRPr lang="en-US" sz="540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300">
                <a:solidFill>
                  <a:srgbClr val="FFFFFF"/>
                </a:solidFill>
                <a:latin typeface="Segoe UI" pitchFamily="34" charset="0"/>
                <a:ea typeface="Segoe UI" pitchFamily="34" charset="-122"/>
                <a:cs typeface="Segoe UI" pitchFamily="34" charset="-120"/>
              </a:rPr>
              <a:t>Elegir bien un modelo y un deployment type es tan importante como elegir el patrón (prompting, RAG, fine-tuning).</a:t>
            </a:r>
            <a:endParaRPr lang="en-US" sz="230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a:solidFill>
                  <a:srgbClr val="12A5A0"/>
                </a:solidFill>
                <a:latin typeface="Segoe UI Semibold" pitchFamily="34" charset="0"/>
                <a:ea typeface="Segoe UI Semibold" pitchFamily="34" charset="-122"/>
                <a:cs typeface="Segoe UI Semibold" pitchFamily="34" charset="-120"/>
              </a:rPr>
              <a:t>3</a:t>
            </a:r>
            <a:endParaRPr lang="en-US" sz="540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a:solidFill>
                  <a:srgbClr val="FFFFFF"/>
                </a:solidFill>
                <a:latin typeface="Segoe UI" pitchFamily="34" charset="0"/>
                <a:ea typeface="Segoe UI" pitchFamily="34" charset="-122"/>
                <a:cs typeface="Segoe UI" pitchFamily="34" charset="-120"/>
              </a:rPr>
              <a:t>Un agente es modelo + instrucciones + tools + conocimiento, y hoy configuramos el primero.</a:t>
            </a:r>
            <a:endParaRPr lang="en-US" sz="240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a:solidFill>
                  <a:srgbClr val="12A5A0"/>
                </a:solidFill>
                <a:latin typeface="Segoe UI Semibold" pitchFamily="34" charset="0"/>
                <a:ea typeface="Segoe UI Semibold" pitchFamily="34" charset="-122"/>
                <a:cs typeface="Segoe UI Semibold" pitchFamily="34" charset="-120"/>
              </a:rPr>
              <a:t>4</a:t>
            </a:r>
            <a:endParaRPr lang="en-US" sz="540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a:solidFill>
                  <a:srgbClr val="FFFFFF"/>
                </a:solidFill>
                <a:latin typeface="Segoe UI" pitchFamily="34" charset="0"/>
                <a:ea typeface="Segoe UI" pitchFamily="34" charset="-122"/>
                <a:cs typeface="Segoe UI" pitchFamily="34" charset="-120"/>
              </a:rPr>
              <a:t>RAG, Foundry IQ y MCP son las piezas que conectan agentes con datos y sistemas propios.</a:t>
            </a:r>
            <a:endParaRPr lang="en-US" sz="24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Mañana: Día 2 – Agentes y RAG</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12A5A0"/>
          </a:solidFill>
          <a:ln/>
        </p:spPr>
        <p:txBody>
          <a:bodyPr/>
          <a:lstStyle/>
          <a:p>
            <a:endParaRPr lang="en-US"/>
          </a:p>
        </p:txBody>
      </p:sp>
      <p:sp>
        <p:nvSpPr>
          <p:cNvPr id="8" name="Shape 6"/>
          <p:cNvSpPr/>
          <p:nvPr/>
        </p:nvSpPr>
        <p:spPr>
          <a:xfrm>
            <a:off x="822960" y="1783080"/>
            <a:ext cx="548640" cy="548640"/>
          </a:xfrm>
          <a:prstGeom prst="ellipse">
            <a:avLst/>
          </a:prstGeom>
          <a:solidFill>
            <a:srgbClr val="12A5A0"/>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1</a:t>
            </a:r>
            <a:endParaRPr lang="en-US" sz="180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Arquitectura y runtime</a:t>
            </a:r>
            <a:endParaRPr lang="en-US" sz="200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Microsoft Agent Framework y hosted agents: cuándo pasar de prompt agent a código propio.</a:t>
            </a:r>
            <a:endParaRPr lang="en-US" sz="200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12A5A0"/>
          </a:solidFill>
          <a:ln/>
        </p:spPr>
        <p:txBody>
          <a:bodyPr/>
          <a:lstStyle/>
          <a:p>
            <a:endParaRPr lang="en-US"/>
          </a:p>
        </p:txBody>
      </p:sp>
      <p:sp>
        <p:nvSpPr>
          <p:cNvPr id="14" name="Shape 12"/>
          <p:cNvSpPr/>
          <p:nvPr/>
        </p:nvSpPr>
        <p:spPr>
          <a:xfrm>
            <a:off x="4612538" y="1783080"/>
            <a:ext cx="548640" cy="548640"/>
          </a:xfrm>
          <a:prstGeom prst="ellipse">
            <a:avLst/>
          </a:prstGeom>
          <a:solidFill>
            <a:srgbClr val="12A5A0"/>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2</a:t>
            </a:r>
            <a:endParaRPr lang="en-US" sz="180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Tools e integración</a:t>
            </a:r>
            <a:endParaRPr lang="en-US" sz="200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Tools personalizadas y MCP en profundidad, incluyendo cómo construir un servidor propio.</a:t>
            </a:r>
            <a:endParaRPr lang="en-US" sz="200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12A5A0"/>
          </a:solidFill>
          <a:ln/>
        </p:spPr>
        <p:txBody>
          <a:bodyPr/>
          <a:lstStyle/>
          <a:p>
            <a:endParaRPr lang="en-US"/>
          </a:p>
        </p:txBody>
      </p:sp>
      <p:sp>
        <p:nvSpPr>
          <p:cNvPr id="20" name="Shape 18"/>
          <p:cNvSpPr/>
          <p:nvPr/>
        </p:nvSpPr>
        <p:spPr>
          <a:xfrm>
            <a:off x="8402117" y="1783080"/>
            <a:ext cx="548640" cy="548640"/>
          </a:xfrm>
          <a:prstGeom prst="ellipse">
            <a:avLst/>
          </a:prstGeom>
          <a:solidFill>
            <a:srgbClr val="12A5A0"/>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a:solidFill>
                  <a:srgbClr val="FFFFFF"/>
                </a:solidFill>
                <a:latin typeface="Segoe UI Semibold" pitchFamily="34" charset="0"/>
                <a:ea typeface="Segoe UI Semibold" pitchFamily="34" charset="-122"/>
                <a:cs typeface="Segoe UI Semibold" pitchFamily="34" charset="-120"/>
              </a:rPr>
              <a:t>3</a:t>
            </a:r>
            <a:endParaRPr lang="en-US" sz="180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a:solidFill>
                  <a:srgbClr val="0B1F33"/>
                </a:solidFill>
                <a:latin typeface="Segoe UI Semibold" pitchFamily="34" charset="0"/>
                <a:ea typeface="Segoe UI Semibold" pitchFamily="34" charset="-122"/>
                <a:cs typeface="Segoe UI Semibold" pitchFamily="34" charset="-120"/>
              </a:rPr>
              <a:t>RAG con Azure AI Search</a:t>
            </a:r>
            <a:endParaRPr lang="en-US" sz="200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a:solidFill>
                  <a:srgbClr val="1B2A3A"/>
                </a:solidFill>
                <a:latin typeface="Segoe UI" pitchFamily="34" charset="0"/>
                <a:ea typeface="Segoe UI" pitchFamily="34" charset="-122"/>
                <a:cs typeface="Segoe UI" pitchFamily="34" charset="-120"/>
              </a:rPr>
              <a:t>Retrieval híbrido, agentic retrieval y cómo diseñar una knowledge base para un caso bancario.</a:t>
            </a:r>
            <a:endParaRPr lang="en-US" sz="200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a:solidFill>
                  <a:srgbClr val="5B6B7B"/>
                </a:solidFill>
                <a:latin typeface="Segoe UI" pitchFamily="34" charset="0"/>
                <a:ea typeface="Segoe UI" pitchFamily="34" charset="-122"/>
                <a:cs typeface="Segoe UI" pitchFamily="34" charset="-120"/>
              </a:rPr>
              <a:t>Mismo horario: 09:00–13:00 hora Chile, modalidad híbrida.</a:t>
            </a:r>
            <a:endParaRPr lang="en-US" sz="150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a:solidFill>
                  <a:srgbClr val="0B1F33"/>
                </a:solidFill>
                <a:latin typeface="Segoe UI Semibold" pitchFamily="34" charset="0"/>
                <a:ea typeface="Segoe UI Semibold" pitchFamily="34" charset="-122"/>
                <a:cs typeface="Segoe UI Semibold" pitchFamily="34" charset="-120"/>
              </a:rPr>
              <a:t>Para seguir explorando</a:t>
            </a:r>
            <a:endParaRPr lang="en-US" sz="3200"/>
          </a:p>
        </p:txBody>
      </p:sp>
      <p:sp>
        <p:nvSpPr>
          <p:cNvPr id="3" name="Shape 1"/>
          <p:cNvSpPr/>
          <p:nvPr/>
        </p:nvSpPr>
        <p:spPr>
          <a:xfrm>
            <a:off x="10241280" y="502920"/>
            <a:ext cx="1417320" cy="329184"/>
          </a:xfrm>
          <a:prstGeom prst="roundRect">
            <a:avLst>
              <a:gd name="adj" fmla="val 22222"/>
            </a:avLst>
          </a:prstGeom>
          <a:solidFill>
            <a:srgbClr val="12A5A0"/>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a:solidFill>
                  <a:srgbClr val="FFFFFF"/>
                </a:solidFill>
                <a:latin typeface="Segoe UI Semibold" pitchFamily="34" charset="0"/>
                <a:ea typeface="Segoe UI Semibold" pitchFamily="34" charset="-122"/>
                <a:cs typeface="Segoe UI Semibold" pitchFamily="34" charset="-120"/>
              </a:rPr>
              <a:t>DÍA 1 · L100</a:t>
            </a:r>
            <a:endParaRPr lang="en-US" sz="105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a:solidFill>
                  <a:srgbClr val="5B6B7B"/>
                </a:solidFill>
                <a:latin typeface="Segoe UI" pitchFamily="34" charset="0"/>
                <a:ea typeface="Segoe UI" pitchFamily="34" charset="-122"/>
                <a:cs typeface="Segoe UI" pitchFamily="34" charset="-120"/>
              </a:rPr>
              <a:t>Microsoft Foundry · BCI Training Day</a:t>
            </a:r>
            <a:endParaRPr lang="en-US" sz="1000"/>
          </a:p>
        </p:txBody>
      </p:sp>
      <p:sp>
        <p:nvSpPr>
          <p:cNvPr id="6" name="Shape 4"/>
          <p:cNvSpPr/>
          <p:nvPr/>
        </p:nvSpPr>
        <p:spPr>
          <a:xfrm>
            <a:off x="548640" y="1623060"/>
            <a:ext cx="365760" cy="365760"/>
          </a:xfrm>
          <a:prstGeom prst="ellipse">
            <a:avLst/>
          </a:prstGeom>
          <a:solidFill>
            <a:srgbClr val="12A5A0"/>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Segoe UI Semibold" pitchFamily="34" charset="0"/>
                <a:ea typeface="Segoe UI Semibold" pitchFamily="34" charset="-122"/>
                <a:cs typeface="Segoe UI Semibold" pitchFamily="34" charset="-120"/>
              </a:rPr>
              <a:t>1</a:t>
            </a:r>
            <a:endParaRPr lang="en-US" sz="120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a:solidFill>
                  <a:srgbClr val="0B1F33"/>
                </a:solidFill>
                <a:latin typeface="Segoe UI Semibold" pitchFamily="34" charset="0"/>
                <a:ea typeface="Segoe UI Semibold" pitchFamily="34" charset="-122"/>
                <a:cs typeface="Segoe UI Semibold" pitchFamily="34" charset="-120"/>
              </a:rPr>
              <a:t>¿Qué es Microsoft Foundry?</a:t>
            </a:r>
            <a:endParaRPr lang="en-US" sz="160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300" u="sng">
                <a:solidFill>
                  <a:srgbClr val="12A5A0"/>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learn.microsoft.com/azure/foundry/what-is-foundry</a:t>
            </a:r>
            <a:endParaRPr lang="en-US" sz="130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Segoe UI Semibold" pitchFamily="34" charset="0"/>
                <a:ea typeface="Segoe UI Semibold" pitchFamily="34" charset="-122"/>
                <a:cs typeface="Segoe UI Semibold" pitchFamily="34" charset="-120"/>
              </a:rPr>
              <a:t>2</a:t>
            </a:r>
            <a:endParaRPr lang="en-US" sz="120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a:solidFill>
                  <a:srgbClr val="0B1F33"/>
                </a:solidFill>
                <a:latin typeface="Segoe UI Semibold" pitchFamily="34" charset="0"/>
                <a:ea typeface="Segoe UI Semibold" pitchFamily="34" charset="-122"/>
                <a:cs typeface="Segoe UI Semibold" pitchFamily="34" charset="-120"/>
              </a:rPr>
              <a:t>Mapa de capacidades de Foundry</a:t>
            </a:r>
            <a:endParaRPr lang="en-US" sz="160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300" u="sng">
                <a:solidFill>
                  <a:srgbClr val="12A5A0"/>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learn.microsoft.com/azure/foundry/concepts/capabilities</a:t>
            </a:r>
            <a:endParaRPr lang="en-US" sz="1300"/>
          </a:p>
        </p:txBody>
      </p:sp>
      <p:sp>
        <p:nvSpPr>
          <p:cNvPr id="14" name="Shape 12"/>
          <p:cNvSpPr/>
          <p:nvPr/>
        </p:nvSpPr>
        <p:spPr>
          <a:xfrm>
            <a:off x="548640" y="2811780"/>
            <a:ext cx="365760" cy="365760"/>
          </a:xfrm>
          <a:prstGeom prst="ellipse">
            <a:avLst/>
          </a:prstGeom>
          <a:solidFill>
            <a:srgbClr val="12A5A0"/>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Segoe UI Semibold" pitchFamily="34" charset="0"/>
                <a:ea typeface="Segoe UI Semibold" pitchFamily="34" charset="-122"/>
                <a:cs typeface="Segoe UI Semibold" pitchFamily="34" charset="-120"/>
              </a:rPr>
              <a:t>3</a:t>
            </a:r>
            <a:endParaRPr lang="en-US" sz="120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a:solidFill>
                  <a:srgbClr val="0B1F33"/>
                </a:solidFill>
                <a:latin typeface="Segoe UI Semibold" pitchFamily="34" charset="0"/>
                <a:ea typeface="Segoe UI Semibold" pitchFamily="34" charset="-122"/>
                <a:cs typeface="Segoe UI Semibold" pitchFamily="34" charset="-120"/>
              </a:rPr>
              <a:t>Foundry Agent Service</a:t>
            </a:r>
            <a:endParaRPr lang="en-US" sz="160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300" u="sng">
                <a:solidFill>
                  <a:srgbClr val="12A5A0"/>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learn.microsoft.com/azure/foundry/agents/overview</a:t>
            </a:r>
            <a:endParaRPr lang="en-US" sz="130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Segoe UI Semibold" pitchFamily="34" charset="0"/>
                <a:ea typeface="Segoe UI Semibold" pitchFamily="34" charset="-122"/>
                <a:cs typeface="Segoe UI Semibold" pitchFamily="34" charset="-120"/>
              </a:rPr>
              <a:t>4</a:t>
            </a:r>
            <a:endParaRPr lang="en-US" sz="120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a:solidFill>
                  <a:srgbClr val="0B1F33"/>
                </a:solidFill>
                <a:latin typeface="Segoe UI Semibold" pitchFamily="34" charset="0"/>
                <a:ea typeface="Segoe UI Semibold" pitchFamily="34" charset="-122"/>
                <a:cs typeface="Segoe UI Semibold" pitchFamily="34" charset="-120"/>
              </a:rPr>
              <a:t>Qué es Foundry IQ</a:t>
            </a:r>
            <a:endParaRPr lang="en-US" sz="160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100" u="sng">
                <a:solidFill>
                  <a:srgbClr val="12A5A0"/>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learn.microsoft.com/azure/foundry/agents/concepts/what-is-foundry-iq</a:t>
            </a:r>
            <a:endParaRPr lang="en-US" sz="1100"/>
          </a:p>
        </p:txBody>
      </p:sp>
      <p:sp>
        <p:nvSpPr>
          <p:cNvPr id="22" name="Shape 20"/>
          <p:cNvSpPr/>
          <p:nvPr/>
        </p:nvSpPr>
        <p:spPr>
          <a:xfrm>
            <a:off x="548640" y="4000500"/>
            <a:ext cx="365760" cy="365760"/>
          </a:xfrm>
          <a:prstGeom prst="ellipse">
            <a:avLst/>
          </a:prstGeom>
          <a:solidFill>
            <a:srgbClr val="12A5A0"/>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Segoe UI Semibold" pitchFamily="34" charset="0"/>
                <a:ea typeface="Segoe UI Semibold" pitchFamily="34" charset="-122"/>
                <a:cs typeface="Segoe UI Semibold" pitchFamily="34" charset="-120"/>
              </a:rPr>
              <a:t>5</a:t>
            </a:r>
            <a:endParaRPr lang="en-US" sz="120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a:solidFill>
                  <a:srgbClr val="0B1F33"/>
                </a:solidFill>
                <a:latin typeface="Segoe UI Semibold" pitchFamily="34" charset="0"/>
                <a:ea typeface="Segoe UI Semibold" pitchFamily="34" charset="-122"/>
                <a:cs typeface="Segoe UI Semibold" pitchFamily="34" charset="-120"/>
              </a:rPr>
              <a:t>Qué es Azure AI Search</a:t>
            </a:r>
            <a:endParaRPr lang="en-US" sz="160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200" u="sng">
                <a:solidFill>
                  <a:srgbClr val="12A5A0"/>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learn.microsoft.com/azure/search/search-what-is-azure-search</a:t>
            </a:r>
            <a:endParaRPr lang="en-US" sz="120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Segoe UI Semibold" pitchFamily="34" charset="0"/>
                <a:ea typeface="Segoe UI Semibold" pitchFamily="34" charset="-122"/>
                <a:cs typeface="Segoe UI Semibold" pitchFamily="34" charset="-120"/>
              </a:rPr>
              <a:t>6</a:t>
            </a:r>
            <a:endParaRPr lang="en-US" sz="120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a:solidFill>
                  <a:srgbClr val="0B1F33"/>
                </a:solidFill>
                <a:latin typeface="Segoe UI Semibold" pitchFamily="34" charset="0"/>
                <a:ea typeface="Segoe UI Semibold" pitchFamily="34" charset="-122"/>
                <a:cs typeface="Segoe UI Semibold" pitchFamily="34" charset="-120"/>
              </a:rPr>
              <a:t>Introducción a MCP</a:t>
            </a:r>
            <a:endParaRPr lang="en-US" sz="160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300" u="sng">
                <a:solidFill>
                  <a:srgbClr val="12A5A0"/>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modelcontextprotocol.io/introduction</a:t>
            </a:r>
            <a:endParaRPr lang="en-US" sz="1300"/>
          </a:p>
        </p:txBody>
      </p:sp>
      <p:sp>
        <p:nvSpPr>
          <p:cNvPr id="30" name="Shape 28"/>
          <p:cNvSpPr/>
          <p:nvPr/>
        </p:nvSpPr>
        <p:spPr>
          <a:xfrm>
            <a:off x="548640" y="5189220"/>
            <a:ext cx="365760" cy="365760"/>
          </a:xfrm>
          <a:prstGeom prst="ellipse">
            <a:avLst/>
          </a:prstGeom>
          <a:solidFill>
            <a:srgbClr val="12A5A0"/>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Segoe UI Semibold" pitchFamily="34" charset="0"/>
                <a:ea typeface="Segoe UI Semibold" pitchFamily="34" charset="-122"/>
                <a:cs typeface="Segoe UI Semibold" pitchFamily="34" charset="-120"/>
              </a:rPr>
              <a:t>7</a:t>
            </a:r>
            <a:endParaRPr lang="en-US" sz="120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a:solidFill>
                  <a:srgbClr val="0B1F33"/>
                </a:solidFill>
                <a:latin typeface="Segoe UI Semibold" pitchFamily="34" charset="0"/>
                <a:ea typeface="Segoe UI Semibold" pitchFamily="34" charset="-122"/>
                <a:cs typeface="Segoe UI Semibold" pitchFamily="34" charset="-120"/>
              </a:rPr>
              <a:t>Lab: tu primer agente</a:t>
            </a:r>
            <a:endParaRPr lang="en-US" sz="160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300" u="sng">
                <a:solidFill>
                  <a:srgbClr val="12A5A0"/>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github.com/MicrosoftLearning/mslearn-agent-quickstart</a:t>
            </a:r>
            <a:endParaRPr lang="en-US" sz="130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a:solidFill>
                  <a:srgbClr val="FFFFFF"/>
                </a:solidFill>
                <a:latin typeface="Segoe UI Semibold" pitchFamily="34" charset="0"/>
                <a:ea typeface="Segoe UI Semibold" pitchFamily="34" charset="-122"/>
                <a:cs typeface="Segoe UI Semibold" pitchFamily="34" charset="-120"/>
              </a:rPr>
              <a:t>8</a:t>
            </a:r>
            <a:endParaRPr lang="en-US" sz="120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a:solidFill>
                  <a:srgbClr val="0B1F33"/>
                </a:solidFill>
                <a:latin typeface="Segoe UI Semibold" pitchFamily="34" charset="0"/>
                <a:ea typeface="Segoe UI Semibold" pitchFamily="34" charset="-122"/>
                <a:cs typeface="Segoe UI Semibold" pitchFamily="34" charset="-120"/>
              </a:rPr>
              <a:t>Instalar Azure CLI</a:t>
            </a:r>
            <a:endParaRPr lang="en-US" sz="160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a:solidFill>
                  <a:srgbClr val="12A5A0"/>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learn.microsoft.com/cli/azure/install-azure-cli</a:t>
            </a:r>
            <a:endParaRPr lang="en-US" sz="130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2A5A0">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12A5A0">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400" b="1">
                <a:solidFill>
                  <a:srgbClr val="FFFFFF"/>
                </a:solidFill>
                <a:latin typeface="Segoe UI Semibold" pitchFamily="34" charset="0"/>
                <a:ea typeface="Segoe UI Semibold" pitchFamily="34" charset="-122"/>
                <a:cs typeface="Segoe UI Semibold" pitchFamily="34" charset="-120"/>
              </a:rPr>
              <a:t>¡Gracias! Nos vemos en el Día 2</a:t>
            </a:r>
            <a:endParaRPr lang="en-US" sz="540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200">
                <a:solidFill>
                  <a:srgbClr val="C9D7E4"/>
                </a:solidFill>
                <a:latin typeface="Segoe UI" pitchFamily="34" charset="0"/>
                <a:ea typeface="Segoe UI" pitchFamily="34" charset="-122"/>
                <a:cs typeface="Segoe UI" pitchFamily="34" charset="-120"/>
              </a:rPr>
              <a:t>Cualquier duda sobre lo de hoy, escríbannos por Teams. Mañana seguimos con agentes de código y RAG.</a:t>
            </a:r>
            <a:endParaRPr lang="en-US" sz="2200"/>
          </a:p>
        </p:txBody>
      </p:sp>
      <p:sp>
        <p:nvSpPr>
          <p:cNvPr id="6" name="Text 4"/>
          <p:cNvSpPr/>
          <p:nvPr/>
        </p:nvSpPr>
        <p:spPr>
          <a:xfrm>
            <a:off x="548640" y="5760720"/>
            <a:ext cx="8229600" cy="365760"/>
          </a:xfrm>
          <a:prstGeom prst="rect">
            <a:avLst/>
          </a:prstGeom>
          <a:noFill/>
          <a:ln/>
        </p:spPr>
        <p:txBody>
          <a:bodyPr wrap="square" lIns="0" tIns="0" rIns="0" bIns="0" rtlCol="0" anchor="ctr"/>
          <a:lstStyle/>
          <a:p>
            <a:r>
              <a:rPr lang="en-US" sz="1400">
                <a:solidFill>
                  <a:srgbClr val="F5B83D"/>
                </a:solidFill>
                <a:latin typeface="Segoe UI" pitchFamily="34" charset="0"/>
                <a:ea typeface="Segoe UI" pitchFamily="34" charset="-122"/>
                <a:cs typeface="Segoe UI" pitchFamily="34" charset="-120"/>
              </a:rPr>
              <a:t>Valentina Grajales · Pablo Braconi · Microsoft</a:t>
            </a:r>
            <a:endParaRPr lang="en-US" sz="14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11997</Words>
  <Application>Microsoft Office PowerPoint</Application>
  <PresentationFormat>Widescreen</PresentationFormat>
  <Paragraphs>769</Paragraphs>
  <Slides>44</Slides>
  <Notes>44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Aptos</vt: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Foundry: fundamentos y servicios de IA (L100)</dc:title>
  <dc:subject>Microsoft AI Foundry BCI Training Day</dc:subject>
  <dc:creator>Microsoft</dc:creator>
  <cp:lastModifiedBy>Pablo Braconi</cp:lastModifiedBy>
  <cp:revision>2</cp:revision>
  <dcterms:created xsi:type="dcterms:W3CDTF">2026-10-20T21:04:35Z</dcterms:created>
  <dcterms:modified xsi:type="dcterms:W3CDTF">2026-10-23T15:19:26Z</dcterms:modified>
</cp:coreProperties>
</file>