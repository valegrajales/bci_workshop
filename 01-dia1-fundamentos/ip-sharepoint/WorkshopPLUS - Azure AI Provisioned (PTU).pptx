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6"/>
    <p:sldMasterId id="2147483692" r:id="rId7"/>
    <p:sldMasterId id="2147483725" r:id="rId8"/>
  </p:sldMasterIdLst>
  <p:notesMasterIdLst>
    <p:notesMasterId r:id="rId26"/>
  </p:notesMasterIdLst>
  <p:sldIdLst>
    <p:sldId id="257" r:id="rId9"/>
    <p:sldId id="274" r:id="rId10"/>
    <p:sldId id="2147483619" r:id="rId11"/>
    <p:sldId id="2147483622" r:id="rId12"/>
    <p:sldId id="2147483623" r:id="rId13"/>
    <p:sldId id="2147483625" r:id="rId14"/>
    <p:sldId id="2147483624" r:id="rId15"/>
    <p:sldId id="2147483626" r:id="rId16"/>
    <p:sldId id="2147483627" r:id="rId17"/>
    <p:sldId id="2147483628" r:id="rId18"/>
    <p:sldId id="2147483629" r:id="rId19"/>
    <p:sldId id="2147483630" r:id="rId20"/>
    <p:sldId id="2147483631" r:id="rId21"/>
    <p:sldId id="294" r:id="rId22"/>
    <p:sldId id="2147483632" r:id="rId23"/>
    <p:sldId id="2147483633" r:id="rId24"/>
    <p:sldId id="214748235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64228" autoAdjust="0"/>
  </p:normalViewPr>
  <p:slideViewPr>
    <p:cSldViewPr snapToGrid="0">
      <p:cViewPr varScale="1">
        <p:scale>
          <a:sx n="54" d="100"/>
          <a:sy n="54" d="100"/>
        </p:scale>
        <p:origin x="572" y="264"/>
      </p:cViewPr>
      <p:guideLst/>
    </p:cSldViewPr>
  </p:slideViewPr>
  <p:notesTextViewPr>
    <p:cViewPr>
      <p:scale>
        <a:sx n="1" d="1"/>
        <a:sy n="1" d="1"/>
      </p:scale>
      <p:origin x="0" y="-216"/>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Master" Target="slideMasters/slideMaster3.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2.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 Madhavan" userId="2520495f-a9b6-4cce-a199-3cc56b4cfb6a" providerId="ADAL" clId="{4D7A40D7-9DEA-4A9F-BFB9-5F6A51CC782C}"/>
    <pc:docChg chg="modSld">
      <pc:chgData name="Raj Madhavan" userId="2520495f-a9b6-4cce-a199-3cc56b4cfb6a" providerId="ADAL" clId="{4D7A40D7-9DEA-4A9F-BFB9-5F6A51CC782C}" dt="2025-07-29T16:46:19.379" v="27" actId="115"/>
      <pc:docMkLst>
        <pc:docMk/>
      </pc:docMkLst>
      <pc:sldChg chg="modNotesTx">
        <pc:chgData name="Raj Madhavan" userId="2520495f-a9b6-4cce-a199-3cc56b4cfb6a" providerId="ADAL" clId="{4D7A40D7-9DEA-4A9F-BFB9-5F6A51CC782C}" dt="2025-07-29T16:46:19.379" v="27" actId="115"/>
        <pc:sldMkLst>
          <pc:docMk/>
          <pc:sldMk cId="49201806" sldId="294"/>
        </pc:sldMkLst>
      </pc:sldChg>
    </pc:docChg>
  </pc:docChgLst>
  <pc:docChgLst>
    <pc:chgData name="Raj Madhavan" userId="S::rajmadhavan@microsoft.com::2520495f-a9b6-4cce-a199-3cc56b4cfb6a" providerId="AD" clId="Web-{0C21259D-CC72-ECF5-0CD7-F4607165882F}"/>
    <pc:docChg chg="modSld">
      <pc:chgData name="Raj Madhavan" userId="S::rajmadhavan@microsoft.com::2520495f-a9b6-4cce-a199-3cc56b4cfb6a" providerId="AD" clId="Web-{0C21259D-CC72-ECF5-0CD7-F4607165882F}" dt="2025-07-29T16:28:42.869" v="1"/>
      <pc:docMkLst>
        <pc:docMk/>
      </pc:docMkLst>
      <pc:sldChg chg="modNotes">
        <pc:chgData name="Raj Madhavan" userId="S::rajmadhavan@microsoft.com::2520495f-a9b6-4cce-a199-3cc56b4cfb6a" providerId="AD" clId="Web-{0C21259D-CC72-ECF5-0CD7-F4607165882F}" dt="2025-07-29T16:28:42.869" v="1"/>
        <pc:sldMkLst>
          <pc:docMk/>
          <pc:sldMk cId="49201806" sldId="294"/>
        </pc:sldMkLst>
      </pc:sldChg>
    </pc:docChg>
  </pc:docChgLst>
  <pc:docChgLst>
    <pc:chgData name="Mahi Sundararajan" userId="1319c946-a83f-4def-8c00-c7c406a5fa35" providerId="ADAL" clId="{8997000E-4B04-4B16-97CA-49507C74D6C1}"/>
    <pc:docChg chg="addSld delSld modSld">
      <pc:chgData name="Mahi Sundararajan" userId="1319c946-a83f-4def-8c00-c7c406a5fa35" providerId="ADAL" clId="{8997000E-4B04-4B16-97CA-49507C74D6C1}" dt="2025-07-25T03:12:58.525" v="73" actId="47"/>
      <pc:docMkLst>
        <pc:docMk/>
      </pc:docMkLst>
      <pc:sldChg chg="modSp mod">
        <pc:chgData name="Mahi Sundararajan" userId="1319c946-a83f-4def-8c00-c7c406a5fa35" providerId="ADAL" clId="{8997000E-4B04-4B16-97CA-49507C74D6C1}" dt="2025-07-23T22:37:59.756" v="34" actId="20577"/>
        <pc:sldMkLst>
          <pc:docMk/>
          <pc:sldMk cId="2181956486" sldId="257"/>
        </pc:sldMkLst>
      </pc:sldChg>
      <pc:sldChg chg="modSp add mod">
        <pc:chgData name="Mahi Sundararajan" userId="1319c946-a83f-4def-8c00-c7c406a5fa35" providerId="ADAL" clId="{8997000E-4B04-4B16-97CA-49507C74D6C1}" dt="2025-07-25T03:12:31.187" v="72"/>
        <pc:sldMkLst>
          <pc:docMk/>
          <pc:sldMk cId="2901160637" sldId="274"/>
        </pc:sldMkLst>
        <pc:spChg chg="mod">
          <ac:chgData name="Mahi Sundararajan" userId="1319c946-a83f-4def-8c00-c7c406a5fa35" providerId="ADAL" clId="{8997000E-4B04-4B16-97CA-49507C74D6C1}" dt="2025-07-25T03:10:49.597" v="39"/>
          <ac:spMkLst>
            <pc:docMk/>
            <pc:sldMk cId="2901160637" sldId="274"/>
            <ac:spMk id="75" creationId="{D521F3AE-02DA-4716-8E81-BCE211F1FA3F}"/>
          </ac:spMkLst>
        </pc:spChg>
        <pc:spChg chg="mod">
          <ac:chgData name="Mahi Sundararajan" userId="1319c946-a83f-4def-8c00-c7c406a5fa35" providerId="ADAL" clId="{8997000E-4B04-4B16-97CA-49507C74D6C1}" dt="2025-07-25T03:10:49.590" v="38"/>
          <ac:spMkLst>
            <pc:docMk/>
            <pc:sldMk cId="2901160637" sldId="274"/>
            <ac:spMk id="123" creationId="{94644C06-1E5A-4880-AF33-FC37A83D58CD}"/>
          </ac:spMkLst>
        </pc:spChg>
        <pc:spChg chg="mod">
          <ac:chgData name="Mahi Sundararajan" userId="1319c946-a83f-4def-8c00-c7c406a5fa35" providerId="ADAL" clId="{8997000E-4B04-4B16-97CA-49507C74D6C1}" dt="2025-07-25T03:10:49.590" v="38"/>
          <ac:spMkLst>
            <pc:docMk/>
            <pc:sldMk cId="2901160637" sldId="274"/>
            <ac:spMk id="124" creationId="{42BF7F76-EE8F-4FD6-AFAB-B3C918F2B584}"/>
          </ac:spMkLst>
        </pc:spChg>
        <pc:spChg chg="mod">
          <ac:chgData name="Mahi Sundararajan" userId="1319c946-a83f-4def-8c00-c7c406a5fa35" providerId="ADAL" clId="{8997000E-4B04-4B16-97CA-49507C74D6C1}" dt="2025-07-25T03:12:31.187" v="72"/>
          <ac:spMkLst>
            <pc:docMk/>
            <pc:sldMk cId="2901160637" sldId="274"/>
            <ac:spMk id="155" creationId="{157E8BE0-257A-45ED-AB34-50EDBFCF2AD9}"/>
          </ac:spMkLst>
        </pc:spChg>
        <pc:spChg chg="mod">
          <ac:chgData name="Mahi Sundararajan" userId="1319c946-a83f-4def-8c00-c7c406a5fa35" providerId="ADAL" clId="{8997000E-4B04-4B16-97CA-49507C74D6C1}" dt="2025-07-25T03:12:31.187" v="72"/>
          <ac:spMkLst>
            <pc:docMk/>
            <pc:sldMk cId="2901160637" sldId="274"/>
            <ac:spMk id="174" creationId="{412DC491-22AC-4A6D-B3A8-64A23F8112D2}"/>
          </ac:spMkLst>
        </pc:spChg>
        <pc:spChg chg="mod">
          <ac:chgData name="Mahi Sundararajan" userId="1319c946-a83f-4def-8c00-c7c406a5fa35" providerId="ADAL" clId="{8997000E-4B04-4B16-97CA-49507C74D6C1}" dt="2025-07-25T03:12:31.187" v="72"/>
          <ac:spMkLst>
            <pc:docMk/>
            <pc:sldMk cId="2901160637" sldId="274"/>
            <ac:spMk id="175" creationId="{7C2E0D0C-F69B-4C27-9BB2-A7FC9E4CBFF3}"/>
          </ac:spMkLst>
        </pc:spChg>
        <pc:spChg chg="mod">
          <ac:chgData name="Mahi Sundararajan" userId="1319c946-a83f-4def-8c00-c7c406a5fa35" providerId="ADAL" clId="{8997000E-4B04-4B16-97CA-49507C74D6C1}" dt="2025-07-25T03:12:28.064" v="69" actId="21"/>
          <ac:spMkLst>
            <pc:docMk/>
            <pc:sldMk cId="2901160637" sldId="274"/>
            <ac:spMk id="198" creationId="{89DA1F94-0267-4937-B0EB-354553751953}"/>
          </ac:spMkLst>
        </pc:spChg>
        <pc:spChg chg="mod">
          <ac:chgData name="Mahi Sundararajan" userId="1319c946-a83f-4def-8c00-c7c406a5fa35" providerId="ADAL" clId="{8997000E-4B04-4B16-97CA-49507C74D6C1}" dt="2025-07-25T03:11:49.766" v="54"/>
          <ac:spMkLst>
            <pc:docMk/>
            <pc:sldMk cId="2901160637" sldId="274"/>
            <ac:spMk id="210" creationId="{5DE676EE-3A8D-48EB-9CAC-F9A2EC4D2617}"/>
          </ac:spMkLst>
        </pc:spChg>
        <pc:spChg chg="mod">
          <ac:chgData name="Mahi Sundararajan" userId="1319c946-a83f-4def-8c00-c7c406a5fa35" providerId="ADAL" clId="{8997000E-4B04-4B16-97CA-49507C74D6C1}" dt="2025-07-25T03:11:49.766" v="54"/>
          <ac:spMkLst>
            <pc:docMk/>
            <pc:sldMk cId="2901160637" sldId="274"/>
            <ac:spMk id="211" creationId="{E6DBAC5C-6B90-414F-8BD0-7D63B25582E8}"/>
          </ac:spMkLst>
        </pc:spChg>
        <pc:spChg chg="mod">
          <ac:chgData name="Mahi Sundararajan" userId="1319c946-a83f-4def-8c00-c7c406a5fa35" providerId="ADAL" clId="{8997000E-4B04-4B16-97CA-49507C74D6C1}" dt="2025-07-25T03:12:16.902" v="68"/>
          <ac:spMkLst>
            <pc:docMk/>
            <pc:sldMk cId="2901160637" sldId="274"/>
            <ac:spMk id="226" creationId="{7576A04A-DB64-4AE2-A020-A9363E3180A2}"/>
          </ac:spMkLst>
        </pc:spChg>
        <pc:spChg chg="mod">
          <ac:chgData name="Mahi Sundararajan" userId="1319c946-a83f-4def-8c00-c7c406a5fa35" providerId="ADAL" clId="{8997000E-4B04-4B16-97CA-49507C74D6C1}" dt="2025-07-25T03:12:16.897" v="67"/>
          <ac:spMkLst>
            <pc:docMk/>
            <pc:sldMk cId="2901160637" sldId="274"/>
            <ac:spMk id="233" creationId="{224AADF5-0B86-45A3-AC2B-70FE0D390DC8}"/>
          </ac:spMkLst>
        </pc:spChg>
        <pc:spChg chg="mod">
          <ac:chgData name="Mahi Sundararajan" userId="1319c946-a83f-4def-8c00-c7c406a5fa35" providerId="ADAL" clId="{8997000E-4B04-4B16-97CA-49507C74D6C1}" dt="2025-07-25T03:12:16.897" v="67"/>
          <ac:spMkLst>
            <pc:docMk/>
            <pc:sldMk cId="2901160637" sldId="274"/>
            <ac:spMk id="234" creationId="{83FA8140-00D5-4B54-AE34-9770E1C4208F}"/>
          </ac:spMkLst>
        </pc:spChg>
        <pc:grpChg chg="mod">
          <ac:chgData name="Mahi Sundararajan" userId="1319c946-a83f-4def-8c00-c7c406a5fa35" providerId="ADAL" clId="{8997000E-4B04-4B16-97CA-49507C74D6C1}" dt="2025-07-25T03:12:16.897" v="67"/>
          <ac:grpSpMkLst>
            <pc:docMk/>
            <pc:sldMk cId="2901160637" sldId="274"/>
            <ac:grpSpMk id="2" creationId="{8B696FA0-67CE-4A24-9D09-45AE8A5DF18E}"/>
          </ac:grpSpMkLst>
        </pc:grpChg>
        <pc:grpChg chg="mod">
          <ac:chgData name="Mahi Sundararajan" userId="1319c946-a83f-4def-8c00-c7c406a5fa35" providerId="ADAL" clId="{8997000E-4B04-4B16-97CA-49507C74D6C1}" dt="2025-07-25T03:11:49.766" v="54"/>
          <ac:grpSpMkLst>
            <pc:docMk/>
            <pc:sldMk cId="2901160637" sldId="274"/>
            <ac:grpSpMk id="3" creationId="{940D0125-9918-41B5-A494-E8DF6585BF4C}"/>
          </ac:grpSpMkLst>
        </pc:grpChg>
        <pc:grpChg chg="mod">
          <ac:chgData name="Mahi Sundararajan" userId="1319c946-a83f-4def-8c00-c7c406a5fa35" providerId="ADAL" clId="{8997000E-4B04-4B16-97CA-49507C74D6C1}" dt="2025-07-25T03:12:31.187" v="72"/>
          <ac:grpSpMkLst>
            <pc:docMk/>
            <pc:sldMk cId="2901160637" sldId="274"/>
            <ac:grpSpMk id="5" creationId="{8FCF99D1-8603-4229-A10D-C9FCC2123D75}"/>
          </ac:grpSpMkLst>
        </pc:grpChg>
        <pc:grpChg chg="mod">
          <ac:chgData name="Mahi Sundararajan" userId="1319c946-a83f-4def-8c00-c7c406a5fa35" providerId="ADAL" clId="{8997000E-4B04-4B16-97CA-49507C74D6C1}" dt="2025-07-25T03:10:49.590" v="38"/>
          <ac:grpSpMkLst>
            <pc:docMk/>
            <pc:sldMk cId="2901160637" sldId="274"/>
            <ac:grpSpMk id="6" creationId="{712EAA30-0D82-4470-B816-03E60E1EF15F}"/>
          </ac:grpSpMkLst>
        </pc:grpChg>
        <pc:grpChg chg="mod">
          <ac:chgData name="Mahi Sundararajan" userId="1319c946-a83f-4def-8c00-c7c406a5fa35" providerId="ADAL" clId="{8997000E-4B04-4B16-97CA-49507C74D6C1}" dt="2025-07-25T03:10:49.590" v="38"/>
          <ac:grpSpMkLst>
            <pc:docMk/>
            <pc:sldMk cId="2901160637" sldId="274"/>
            <ac:grpSpMk id="122" creationId="{702961B0-EEBA-47B9-8957-73784E6E72CF}"/>
          </ac:grpSpMkLst>
        </pc:grpChg>
        <pc:grpChg chg="mod">
          <ac:chgData name="Mahi Sundararajan" userId="1319c946-a83f-4def-8c00-c7c406a5fa35" providerId="ADAL" clId="{8997000E-4B04-4B16-97CA-49507C74D6C1}" dt="2025-07-25T03:12:31.187" v="72"/>
          <ac:grpSpMkLst>
            <pc:docMk/>
            <pc:sldMk cId="2901160637" sldId="274"/>
            <ac:grpSpMk id="173" creationId="{A2A27087-1681-4B2D-87E1-116A3365C347}"/>
          </ac:grpSpMkLst>
        </pc:grpChg>
        <pc:grpChg chg="mod">
          <ac:chgData name="Mahi Sundararajan" userId="1319c946-a83f-4def-8c00-c7c406a5fa35" providerId="ADAL" clId="{8997000E-4B04-4B16-97CA-49507C74D6C1}" dt="2025-07-25T03:11:49.766" v="54"/>
          <ac:grpSpMkLst>
            <pc:docMk/>
            <pc:sldMk cId="2901160637" sldId="274"/>
            <ac:grpSpMk id="209" creationId="{8B1DCB89-7AA3-4C66-995D-D1902E3F06C5}"/>
          </ac:grpSpMkLst>
        </pc:grpChg>
        <pc:grpChg chg="mod">
          <ac:chgData name="Mahi Sundararajan" userId="1319c946-a83f-4def-8c00-c7c406a5fa35" providerId="ADAL" clId="{8997000E-4B04-4B16-97CA-49507C74D6C1}" dt="2025-07-25T03:12:16.897" v="67"/>
          <ac:grpSpMkLst>
            <pc:docMk/>
            <pc:sldMk cId="2901160637" sldId="274"/>
            <ac:grpSpMk id="232" creationId="{BB3035A0-BC21-4B40-AED1-A6A82C189967}"/>
          </ac:grpSpMkLst>
        </pc:grpChg>
        <pc:cxnChg chg="mod">
          <ac:chgData name="Mahi Sundararajan" userId="1319c946-a83f-4def-8c00-c7c406a5fa35" providerId="ADAL" clId="{8997000E-4B04-4B16-97CA-49507C74D6C1}" dt="2025-07-25T03:12:31.187" v="72"/>
          <ac:cxnSpMkLst>
            <pc:docMk/>
            <pc:sldMk cId="2901160637" sldId="274"/>
            <ac:cxnSpMk id="140" creationId="{594D34D9-A54F-4124-BA8E-155CD0796BBC}"/>
          </ac:cxnSpMkLst>
        </pc:cxnChg>
        <pc:cxnChg chg="mod">
          <ac:chgData name="Mahi Sundararajan" userId="1319c946-a83f-4def-8c00-c7c406a5fa35" providerId="ADAL" clId="{8997000E-4B04-4B16-97CA-49507C74D6C1}" dt="2025-07-25T03:11:49.766" v="54"/>
          <ac:cxnSpMkLst>
            <pc:docMk/>
            <pc:sldMk cId="2901160637" sldId="274"/>
            <ac:cxnSpMk id="187" creationId="{96DA2106-45CC-42DE-AE3C-C5187C2EC187}"/>
          </ac:cxnSpMkLst>
        </pc:cxnChg>
        <pc:cxnChg chg="mod">
          <ac:chgData name="Mahi Sundararajan" userId="1319c946-a83f-4def-8c00-c7c406a5fa35" providerId="ADAL" clId="{8997000E-4B04-4B16-97CA-49507C74D6C1}" dt="2025-07-25T03:12:16.897" v="67"/>
          <ac:cxnSpMkLst>
            <pc:docMk/>
            <pc:sldMk cId="2901160637" sldId="274"/>
            <ac:cxnSpMk id="220" creationId="{958418FD-4AD9-4AF0-AD84-999BED91B804}"/>
          </ac:cxnSpMkLst>
        </pc:cxnChg>
      </pc:sldChg>
      <pc:sldChg chg="add del">
        <pc:chgData name="Mahi Sundararajan" userId="1319c946-a83f-4def-8c00-c7c406a5fa35" providerId="ADAL" clId="{8997000E-4B04-4B16-97CA-49507C74D6C1}" dt="2025-07-25T03:12:58.525" v="73" actId="47"/>
        <pc:sldMkLst>
          <pc:docMk/>
          <pc:sldMk cId="3291269963" sldId="2147469889"/>
        </pc:sldMkLst>
      </pc:sldChg>
    </pc:docChg>
  </pc:docChgLst>
</pc:chgInfo>
</file>

<file path=ppt/notesMasters/_rels/notesMaster1.xml.rels><?xml version="1.0" encoding="UTF-8"?><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167250-3B6E-4D6E-9AC5-ED1633477DC8}" type="datetimeFigureOut">
              <a:rPr lang="en-US" smtClean="0"/>
              <a:t>8/22/2025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B7024-EF45-4C6D-AFC1-88F111D9257D}" type="slidenum">
              <a:rPr lang="en-US" smtClean="0"/>
              <a:t>‹#›</a:t>
            </a:fld>
            <a:endParaRPr lang="en-US"/>
          </a:p>
        </p:txBody>
      </p:sp>
    </p:spTree>
    <p:extLst>
      <p:ext uri="{BB962C8B-B14F-4D97-AF65-F5344CB8AC3E}">
        <p14:creationId xmlns:p14="http://schemas.microsoft.com/office/powerpoint/2010/main" val="1999608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3" Type="http://schemas.openxmlformats.org/officeDocument/2006/relationships/hyperlink" Target="https://learn.microsoft.com/en-us/azure/ai-foundry/concepts/foundry-models-overview#models-sold-directly-by-azur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3" Type="http://schemas.openxmlformats.org/officeDocument/2006/relationships/hyperlink" Target="https://learn.microsoft.com/en-us/azure/ai-foundry/openai/how-to/deployment-types#global-provisioned"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learn.microsoft.com/en-us/azure/ai-foundry/openai/how-to/deployment-types#regional-provisioned" TargetMode="External"/><Relationship Id="rId4" Type="http://schemas.openxmlformats.org/officeDocument/2006/relationships/hyperlink" Target="https://learn.microsoft.com/en-us/azure/ai-foundry/openai/how-to/deployment-types#data-zone-provisioned" TargetMode="Externa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3" Type="http://schemas.openxmlformats.org/officeDocument/2006/relationships/hyperlink" Target="https://learn.microsoft.com/en-us/azure/ai-services/openai/concepts/model-retirements"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75C4C8-7DEA-455A-9336-A4C7DB3AE516}"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F0BA74-B6B0-4726-B93D-848B68F9209C}" type="datetime1">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8/22/2025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smtClean="0"/>
              <a:pPr lvl="0"/>
              <a:t>2</a:t>
            </a:fld>
            <a:endParaRPr lang="en-US" noProof="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smtClean="0"/>
              <a:t>8/22/2025</a:t>
            </a:fld>
            <a:endParaRPr lang="en-US"/>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664352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0D0D0D"/>
                </a:solidFill>
                <a:effectLst/>
                <a:highlight>
                  <a:srgbClr val="FFFFFF"/>
                </a:highlight>
                <a:latin typeface="Söhne"/>
              </a:rPr>
              <a:t xml:space="preserve">Opening Thought: </a:t>
            </a:r>
            <a:r>
              <a:rPr lang="en-US" b="0" i="0" dirty="0">
                <a:solidFill>
                  <a:srgbClr val="0D0D0D"/>
                </a:solidFill>
                <a:effectLst/>
                <a:highlight>
                  <a:srgbClr val="FFFFFF"/>
                </a:highlight>
                <a:latin typeface="Söhne"/>
              </a:rPr>
              <a:t>While Standard Deployments (Pay-as-you-Go) are an important option for of AI deployments – the model comes with some inherent challenges</a:t>
            </a:r>
          </a:p>
          <a:p>
            <a:pPr algn="l">
              <a:buFont typeface="Arial" panose="020B0604020202020204" pitchFamily="34" charset="0"/>
              <a:buChar char="•"/>
            </a:pPr>
            <a:endParaRPr lang="en-US" b="1" i="0" dirty="0">
              <a:solidFill>
                <a:srgbClr val="0D0D0D"/>
              </a:solidFill>
              <a:effectLst/>
              <a:highlight>
                <a:srgbClr val="FFFFFF"/>
              </a:highlight>
              <a:latin typeface="Söhne"/>
            </a:endParaRPr>
          </a:p>
          <a:p>
            <a:pPr algn="l">
              <a:buFont typeface="Arial" panose="020B0604020202020204" pitchFamily="34" charset="0"/>
              <a:buChar char="•"/>
            </a:pPr>
            <a:r>
              <a:rPr lang="en-US" b="1" i="0" dirty="0">
                <a:solidFill>
                  <a:srgbClr val="0D0D0D"/>
                </a:solidFill>
                <a:effectLst/>
                <a:highlight>
                  <a:srgbClr val="FFFFFF"/>
                </a:highlight>
                <a:latin typeface="Söhne"/>
              </a:rPr>
              <a:t>Defining Latency and Throughput</a:t>
            </a:r>
            <a:r>
              <a:rPr lang="en-US" b="0" i="0" dirty="0">
                <a:solidFill>
                  <a:srgbClr val="0D0D0D"/>
                </a:solidFill>
                <a:effectLst/>
                <a:highlight>
                  <a:srgbClr val="FFFFFF"/>
                </a:highlight>
                <a:latin typeface="Söhne"/>
              </a:rPr>
              <a:t>: Start by defining the terms for clarity. Latency is the time delay before a transfer of data begins following an instruction, which in Gen AI could affect real-time decision-making. Throughput is the amount of data processed successfully within a given time frame; essential for the efficiency of Gen AI applications.</a:t>
            </a:r>
          </a:p>
          <a:p>
            <a:pPr algn="l">
              <a:buFont typeface="Arial" panose="020B0604020202020204" pitchFamily="34" charset="0"/>
              <a:buChar char="•"/>
            </a:pPr>
            <a:r>
              <a:rPr lang="en-US" b="1" i="0" dirty="0">
                <a:solidFill>
                  <a:srgbClr val="0D0D0D"/>
                </a:solidFill>
                <a:effectLst/>
                <a:highlight>
                  <a:srgbClr val="FFFFFF"/>
                </a:highlight>
                <a:latin typeface="Söhne"/>
              </a:rPr>
              <a:t>Impact on Gen AI</a:t>
            </a:r>
            <a:r>
              <a:rPr lang="en-US" b="0" i="0" dirty="0">
                <a:solidFill>
                  <a:srgbClr val="0D0D0D"/>
                </a:solidFill>
                <a:effectLst/>
                <a:highlight>
                  <a:srgbClr val="FFFFFF"/>
                </a:highlight>
                <a:latin typeface="Söhne"/>
              </a:rPr>
              <a:t>: Quickly explain that high latency can delay responses in AI interactions, while variable throughput can mean inconsistent AI performance.</a:t>
            </a:r>
          </a:p>
          <a:p>
            <a:pPr algn="l">
              <a:buFont typeface="Arial" panose="020B0604020202020204" pitchFamily="34" charset="0"/>
              <a:buChar char="•"/>
            </a:pPr>
            <a:r>
              <a:rPr lang="en-US" b="1" i="0" dirty="0">
                <a:solidFill>
                  <a:srgbClr val="0D0D0D"/>
                </a:solidFill>
                <a:effectLst/>
                <a:highlight>
                  <a:srgbClr val="FFFFFF"/>
                </a:highlight>
                <a:latin typeface="Söhne"/>
              </a:rPr>
              <a:t>Scaling and Costs</a:t>
            </a:r>
            <a:r>
              <a:rPr lang="en-US" b="0" i="0" dirty="0">
                <a:solidFill>
                  <a:srgbClr val="0D0D0D"/>
                </a:solidFill>
                <a:effectLst/>
                <a:highlight>
                  <a:srgbClr val="FFFFFF"/>
                </a:highlight>
                <a:latin typeface="Söhne"/>
              </a:rPr>
              <a:t xml:space="preserve">: Highlight that </a:t>
            </a:r>
            <a:r>
              <a:rPr lang="en-US" b="0" i="0" dirty="0" err="1">
                <a:solidFill>
                  <a:srgbClr val="0D0D0D"/>
                </a:solidFill>
                <a:effectLst/>
                <a:highlight>
                  <a:srgbClr val="FFFFFF"/>
                </a:highlight>
                <a:latin typeface="Söhne"/>
              </a:rPr>
              <a:t>PayGo's</a:t>
            </a:r>
            <a:r>
              <a:rPr lang="en-US" b="0" i="0" dirty="0">
                <a:solidFill>
                  <a:srgbClr val="0D0D0D"/>
                </a:solidFill>
                <a:effectLst/>
                <a:highlight>
                  <a:srgbClr val="FFFFFF"/>
                </a:highlight>
                <a:latin typeface="Söhne"/>
              </a:rPr>
              <a:t xml:space="preserve"> token limits can restrict scaling Gen AI services and fluctuating costs make financial planning for AI projects challenging.</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9326B1-B063-40F6-AC68-20C1A678E6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43374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000000"/>
                </a:solidFill>
                <a:effectLst/>
                <a:highlight>
                  <a:srgbClr val="FFFFFF"/>
                </a:highlight>
                <a:latin typeface="Söhne"/>
              </a:rPr>
              <a:t>Defining PTUs</a:t>
            </a:r>
            <a:r>
              <a:rPr lang="en-US" b="0" i="0" dirty="0">
                <a:solidFill>
                  <a:srgbClr val="000000"/>
                </a:solidFill>
                <a:effectLst/>
                <a:highlight>
                  <a:srgbClr val="FFFFFF"/>
                </a:highlight>
                <a:latin typeface="Söhne"/>
              </a:rPr>
              <a:t>: Start by defining Provisioned Throughput Units (PTUs) as reserved blocks of processing capacity that customers can purchase. They allow for processing prompts and generating AI model completions without delay.</a:t>
            </a:r>
          </a:p>
          <a:p>
            <a:pPr algn="l">
              <a:buFont typeface="Arial" panose="020B0604020202020204" pitchFamily="34" charset="0"/>
              <a:buChar char="•"/>
            </a:pPr>
            <a:r>
              <a:rPr lang="en-US" b="1" i="0" dirty="0">
                <a:solidFill>
                  <a:srgbClr val="000000"/>
                </a:solidFill>
                <a:effectLst/>
                <a:highlight>
                  <a:srgbClr val="FFFFFF"/>
                </a:highlight>
                <a:latin typeface="Söhne"/>
              </a:rPr>
              <a:t>Advantages of PTUs</a:t>
            </a:r>
            <a:r>
              <a:rPr lang="en-US" b="0" i="0" dirty="0">
                <a:solidFill>
                  <a:srgbClr val="000000"/>
                </a:solidFill>
                <a:effectLst/>
                <a:highlight>
                  <a:srgbClr val="FFFFFF"/>
                </a:highlight>
                <a:latin typeface="Söhne"/>
              </a:rPr>
              <a:t>: Highlight the key benefits of PTUs, including:</a:t>
            </a:r>
          </a:p>
          <a:p>
            <a:pPr marL="742950" lvl="1" indent="-285750" algn="l">
              <a:buFont typeface="Arial" panose="020B0604020202020204" pitchFamily="34" charset="0"/>
              <a:buChar char="•"/>
            </a:pPr>
            <a:r>
              <a:rPr lang="en-US" b="1" i="0" dirty="0">
                <a:solidFill>
                  <a:srgbClr val="000000"/>
                </a:solidFill>
                <a:effectLst/>
                <a:highlight>
                  <a:srgbClr val="FFFFFF"/>
                </a:highlight>
                <a:latin typeface="Söhne"/>
              </a:rPr>
              <a:t>Assigned Latency</a:t>
            </a:r>
            <a:r>
              <a:rPr lang="en-US" b="0" i="0" dirty="0">
                <a:solidFill>
                  <a:srgbClr val="000000"/>
                </a:solidFill>
                <a:effectLst/>
                <a:highlight>
                  <a:srgbClr val="FFFFFF"/>
                </a:highlight>
                <a:latin typeface="Söhne"/>
              </a:rPr>
              <a:t>: Each token has a designated response time, which means predictable performance for the end-users.</a:t>
            </a:r>
          </a:p>
          <a:p>
            <a:pPr marL="742950" lvl="1" indent="-285750" algn="l">
              <a:buFont typeface="Arial" panose="020B0604020202020204" pitchFamily="34" charset="0"/>
              <a:buChar char="•"/>
            </a:pPr>
            <a:r>
              <a:rPr lang="en-US" b="1" i="0" dirty="0">
                <a:solidFill>
                  <a:srgbClr val="000000"/>
                </a:solidFill>
                <a:effectLst/>
                <a:highlight>
                  <a:srgbClr val="FFFFFF"/>
                </a:highlight>
                <a:latin typeface="Söhne"/>
              </a:rPr>
              <a:t>Predictable Throughput</a:t>
            </a:r>
            <a:r>
              <a:rPr lang="en-US" b="0" i="0" dirty="0">
                <a:solidFill>
                  <a:srgbClr val="000000"/>
                </a:solidFill>
                <a:effectLst/>
                <a:highlight>
                  <a:srgbClr val="FFFFFF"/>
                </a:highlight>
                <a:latin typeface="Söhne"/>
              </a:rPr>
              <a:t>: With PTUs, you get a stable tokens per minute (TPM) rate, ensuring a consistent processing speed.</a:t>
            </a:r>
          </a:p>
          <a:p>
            <a:pPr marL="742950" lvl="1" indent="-285750" algn="l">
              <a:buFont typeface="Arial" panose="020B0604020202020204" pitchFamily="34" charset="0"/>
              <a:buChar char="•"/>
            </a:pPr>
            <a:r>
              <a:rPr lang="en-US" b="1" i="0" dirty="0">
                <a:solidFill>
                  <a:srgbClr val="000000"/>
                </a:solidFill>
                <a:effectLst/>
                <a:highlight>
                  <a:srgbClr val="FFFFFF"/>
                </a:highlight>
                <a:latin typeface="Söhne"/>
              </a:rPr>
              <a:t>Traffic Management</a:t>
            </a:r>
            <a:r>
              <a:rPr lang="en-US" b="0" i="0" dirty="0">
                <a:solidFill>
                  <a:srgbClr val="000000"/>
                </a:solidFill>
                <a:effectLst/>
                <a:highlight>
                  <a:srgbClr val="FFFFFF"/>
                </a:highlight>
                <a:latin typeface="Söhne"/>
              </a:rPr>
              <a:t>: PTUs give customers the flexibility to manage traffic, allowing them to handle workloads more effectively.</a:t>
            </a:r>
          </a:p>
          <a:p>
            <a:pPr marL="742950" lvl="1" indent="-285750" algn="l">
              <a:buFont typeface="Arial" panose="020B0604020202020204" pitchFamily="34" charset="0"/>
              <a:buChar char="•"/>
            </a:pPr>
            <a:r>
              <a:rPr lang="en-US" b="1" i="0" dirty="0">
                <a:solidFill>
                  <a:srgbClr val="000000"/>
                </a:solidFill>
                <a:effectLst/>
                <a:highlight>
                  <a:srgbClr val="FFFFFF"/>
                </a:highlight>
                <a:latin typeface="Söhne"/>
              </a:rPr>
              <a:t>Reserved Capacity</a:t>
            </a:r>
            <a:r>
              <a:rPr lang="en-US" b="0" i="0" dirty="0">
                <a:solidFill>
                  <a:srgbClr val="000000"/>
                </a:solidFill>
                <a:effectLst/>
                <a:highlight>
                  <a:srgbClr val="FFFFFF"/>
                </a:highlight>
                <a:latin typeface="Söhne"/>
              </a:rPr>
              <a:t>: Discuss the concept of reserved capacity, which ensures resources are dedicated to the customer’s workload, eliminating the need to compete for computing power.</a:t>
            </a:r>
          </a:p>
          <a:p>
            <a:pPr algn="l">
              <a:buFont typeface="Arial" panose="020B0604020202020204" pitchFamily="34" charset="0"/>
              <a:buChar char="•"/>
            </a:pPr>
            <a:r>
              <a:rPr lang="en-US" b="1" i="0" dirty="0">
                <a:solidFill>
                  <a:srgbClr val="000000"/>
                </a:solidFill>
                <a:effectLst/>
                <a:highlight>
                  <a:srgbClr val="FFFFFF"/>
                </a:highlight>
                <a:latin typeface="Söhne"/>
              </a:rPr>
              <a:t>Use-Case Scenarios</a:t>
            </a:r>
            <a:r>
              <a:rPr lang="en-US" b="0" i="0" dirty="0">
                <a:solidFill>
                  <a:srgbClr val="000000"/>
                </a:solidFill>
                <a:effectLst/>
                <a:highlight>
                  <a:srgbClr val="FFFFFF"/>
                </a:highlight>
                <a:latin typeface="Söhne"/>
              </a:rPr>
              <a:t>: Conclude with potential use-case scenarios where PTUs would be especially beneficial, such as high-traffic applications, real-time processing requirements, or critical business operations that rely on AI.</a:t>
            </a:r>
          </a:p>
          <a:p>
            <a:pPr algn="l"/>
            <a:r>
              <a:rPr lang="en-US" b="0" i="0" dirty="0">
                <a:solidFill>
                  <a:srgbClr val="000000"/>
                </a:solidFill>
                <a:effectLst/>
                <a:highlight>
                  <a:srgbClr val="FFFFFF"/>
                </a:highlight>
                <a:latin typeface="Söhne"/>
              </a:rPr>
              <a:t>Remind the audience that PTUs are an investment in reliability and performance consistency, especially crucial for enterprise-level AI implementations.</a:t>
            </a:r>
          </a:p>
          <a:p>
            <a:pPr algn="l"/>
            <a:endParaRPr lang="en-US" b="0" i="0" dirty="0">
              <a:solidFill>
                <a:srgbClr val="000000"/>
              </a:solidFill>
              <a:effectLst/>
              <a:highlight>
                <a:srgbClr val="FFFFFF"/>
              </a:highlight>
              <a:latin typeface="Söhne"/>
            </a:endParaRPr>
          </a:p>
          <a:p>
            <a:pPr algn="l"/>
            <a:r>
              <a:rPr lang="en-US" b="0" i="0" dirty="0">
                <a:solidFill>
                  <a:srgbClr val="000000"/>
                </a:solidFill>
                <a:effectLst/>
                <a:highlight>
                  <a:srgbClr val="FFFFFF"/>
                </a:highlight>
                <a:latin typeface="Söhne"/>
              </a:rPr>
              <a:t>#################</a:t>
            </a:r>
          </a:p>
          <a:p>
            <a:pPr algn="l"/>
            <a:r>
              <a:rPr lang="en-US" sz="1200" b="0" i="0" kern="1200" dirty="0">
                <a:solidFill>
                  <a:schemeClr val="tx1"/>
                </a:solidFill>
                <a:effectLst/>
                <a:latin typeface="+mn-lt"/>
                <a:ea typeface="+mn-ea"/>
                <a:cs typeface="+mn-cs"/>
              </a:rPr>
              <a:t>You can use the provisioned throughput you requested across a diverse portfolio of </a:t>
            </a:r>
            <a:r>
              <a:rPr lang="en-US" sz="1200" b="0" i="0" u="none" strike="noStrike" kern="1200" dirty="0">
                <a:solidFill>
                  <a:schemeClr val="tx1"/>
                </a:solidFill>
                <a:effectLst/>
                <a:latin typeface="+mn-lt"/>
                <a:ea typeface="+mn-ea"/>
                <a:cs typeface="+mn-cs"/>
                <a:hlinkClick r:id="rId3"/>
              </a:rPr>
              <a:t>models that are sold directly by Azure</a:t>
            </a:r>
            <a:r>
              <a:rPr lang="en-US" sz="1200" b="0" i="0" kern="1200" dirty="0">
                <a:solidFill>
                  <a:schemeClr val="tx1"/>
                </a:solidFill>
                <a:effectLst/>
                <a:latin typeface="+mn-lt"/>
                <a:ea typeface="+mn-ea"/>
                <a:cs typeface="+mn-cs"/>
              </a:rPr>
              <a:t>. These models include Azure OpenAI models and newly introduced flagship model families like Azure DeepSeek, Azure Grok, Azure Llama, and more within Microsoft Foundry Models.</a:t>
            </a:r>
          </a:p>
          <a:p>
            <a:r>
              <a:rPr lang="en-US" sz="1200" b="0" i="0" kern="1200" dirty="0">
                <a:solidFill>
                  <a:schemeClr val="tx1"/>
                </a:solidFill>
                <a:effectLst/>
                <a:latin typeface="+mn-lt"/>
                <a:ea typeface="+mn-ea"/>
                <a:cs typeface="+mn-cs"/>
              </a:rPr>
              <a:t>Provisioned throughput provides:</a:t>
            </a:r>
          </a:p>
          <a:p>
            <a:r>
              <a:rPr lang="en-US" sz="1200" b="1" i="0" kern="1200" dirty="0">
                <a:solidFill>
                  <a:schemeClr val="tx1"/>
                </a:solidFill>
                <a:effectLst/>
                <a:latin typeface="+mn-lt"/>
                <a:ea typeface="+mn-ea"/>
                <a:cs typeface="+mn-cs"/>
              </a:rPr>
              <a:t>A boarder model choice</a:t>
            </a:r>
            <a:r>
              <a:rPr lang="en-US" sz="1200" b="0" i="0" kern="1200" dirty="0">
                <a:solidFill>
                  <a:schemeClr val="tx1"/>
                </a:solidFill>
                <a:effectLst/>
                <a:latin typeface="+mn-lt"/>
                <a:ea typeface="+mn-ea"/>
                <a:cs typeface="+mn-cs"/>
              </a:rPr>
              <a:t> on the latest flagship models</a:t>
            </a:r>
          </a:p>
          <a:p>
            <a:r>
              <a:rPr lang="en-US" sz="1200" b="1" i="0" kern="1200" dirty="0">
                <a:solidFill>
                  <a:schemeClr val="tx1"/>
                </a:solidFill>
                <a:effectLst/>
                <a:latin typeface="+mn-lt"/>
                <a:ea typeface="+mn-ea"/>
                <a:cs typeface="+mn-cs"/>
              </a:rPr>
              <a:t>Flexibility</a:t>
            </a:r>
            <a:r>
              <a:rPr lang="en-US" sz="1200" b="0" i="0" kern="1200" dirty="0">
                <a:solidFill>
                  <a:schemeClr val="tx1"/>
                </a:solidFill>
                <a:effectLst/>
                <a:latin typeface="+mn-lt"/>
                <a:ea typeface="+mn-ea"/>
                <a:cs typeface="+mn-cs"/>
              </a:rPr>
              <a:t> to switch models and deployments with given provisioned throughput quota</a:t>
            </a:r>
          </a:p>
          <a:p>
            <a:r>
              <a:rPr lang="en-US" sz="1200" b="1" i="0" kern="1200" dirty="0">
                <a:solidFill>
                  <a:schemeClr val="tx1"/>
                </a:solidFill>
                <a:effectLst/>
                <a:latin typeface="+mn-lt"/>
                <a:ea typeface="+mn-ea"/>
                <a:cs typeface="+mn-cs"/>
              </a:rPr>
              <a:t>Significant discounts</a:t>
            </a:r>
            <a:r>
              <a:rPr lang="en-US" sz="1200" b="0" i="0" kern="1200" dirty="0">
                <a:solidFill>
                  <a:schemeClr val="tx1"/>
                </a:solidFill>
                <a:effectLst/>
                <a:latin typeface="+mn-lt"/>
                <a:ea typeface="+mn-ea"/>
                <a:cs typeface="+mn-cs"/>
              </a:rPr>
              <a:t> and the ability to boost your reservation utilization with a more flexible reservation choice</a:t>
            </a:r>
          </a:p>
          <a:p>
            <a:r>
              <a:rPr lang="en-US" sz="1200" b="1" i="0" kern="1200" dirty="0">
                <a:solidFill>
                  <a:schemeClr val="tx1"/>
                </a:solidFill>
                <a:effectLst/>
                <a:latin typeface="+mn-lt"/>
                <a:ea typeface="+mn-ea"/>
                <a:cs typeface="+mn-cs"/>
              </a:rPr>
              <a:t>Predictable performance</a:t>
            </a:r>
            <a:r>
              <a:rPr lang="en-US" sz="1200" b="0" i="0" kern="1200" dirty="0">
                <a:solidFill>
                  <a:schemeClr val="tx1"/>
                </a:solidFill>
                <a:effectLst/>
                <a:latin typeface="+mn-lt"/>
                <a:ea typeface="+mn-ea"/>
                <a:cs typeface="+mn-cs"/>
              </a:rPr>
              <a:t>, by providing stable max latency and throughput for uniform workloads.</a:t>
            </a:r>
          </a:p>
          <a:p>
            <a:r>
              <a:rPr lang="en-US" sz="1200" b="1" i="0" kern="1200" dirty="0">
                <a:solidFill>
                  <a:schemeClr val="tx1"/>
                </a:solidFill>
                <a:effectLst/>
                <a:latin typeface="+mn-lt"/>
                <a:ea typeface="+mn-ea"/>
                <a:cs typeface="+mn-cs"/>
              </a:rPr>
              <a:t>Allocated processing capacity:</a:t>
            </a:r>
            <a:r>
              <a:rPr lang="en-US" sz="1200" b="0" i="0" kern="1200" dirty="0">
                <a:solidFill>
                  <a:schemeClr val="tx1"/>
                </a:solidFill>
                <a:effectLst/>
                <a:latin typeface="+mn-lt"/>
                <a:ea typeface="+mn-ea"/>
                <a:cs typeface="+mn-cs"/>
              </a:rPr>
              <a:t> A deployment configures the amount of throughput. Once deployed, the throughput is available whether used or not.</a:t>
            </a:r>
          </a:p>
          <a:p>
            <a:r>
              <a:rPr lang="en-US" sz="1200" b="1" i="0" kern="1200" dirty="0">
                <a:solidFill>
                  <a:schemeClr val="tx1"/>
                </a:solidFill>
                <a:effectLst/>
                <a:latin typeface="+mn-lt"/>
                <a:ea typeface="+mn-ea"/>
                <a:cs typeface="+mn-cs"/>
              </a:rPr>
              <a:t>Cost savings:</a:t>
            </a:r>
            <a:r>
              <a:rPr lang="en-US" sz="1200" b="0" i="0" kern="1200" dirty="0">
                <a:solidFill>
                  <a:schemeClr val="tx1"/>
                </a:solidFill>
                <a:effectLst/>
                <a:latin typeface="+mn-lt"/>
                <a:ea typeface="+mn-ea"/>
                <a:cs typeface="+mn-cs"/>
              </a:rPr>
              <a:t> High throughput workloads might provide cost savings vs token-based consumption.</a:t>
            </a:r>
          </a:p>
          <a:p>
            <a:pPr algn="l"/>
            <a:endParaRPr lang="en-US" sz="1200" b="0" i="0" kern="1200" dirty="0">
              <a:solidFill>
                <a:schemeClr val="tx1"/>
              </a:solidFill>
              <a:effectLst/>
              <a:latin typeface="+mn-lt"/>
              <a:ea typeface="+mn-ea"/>
              <a:cs typeface="+mn-cs"/>
            </a:endParaRPr>
          </a:p>
          <a:p>
            <a:pPr algn="l"/>
            <a:endParaRPr lang="en-US" sz="1200" b="0" i="0" kern="1200" dirty="0">
              <a:solidFill>
                <a:schemeClr val="tx1"/>
              </a:solidFill>
              <a:effectLst/>
              <a:highlight>
                <a:srgbClr val="FFFFFF"/>
              </a:highlight>
              <a:latin typeface="+mn-lt"/>
              <a:ea typeface="+mn-ea"/>
              <a:cs typeface="+mn-cs"/>
            </a:endParaRPr>
          </a:p>
          <a:p>
            <a:pPr algn="l"/>
            <a:endParaRPr lang="en-US" b="0" i="0" dirty="0">
              <a:solidFill>
                <a:srgbClr val="000000"/>
              </a:solidFill>
              <a:effectLst/>
              <a:highlight>
                <a:srgbClr val="FFFFFF"/>
              </a:highlight>
              <a:latin typeface="Söhne"/>
            </a:endParaRPr>
          </a:p>
          <a:p>
            <a:endParaRPr lang="en-US" dirty="0"/>
          </a:p>
        </p:txBody>
      </p:sp>
      <p:sp>
        <p:nvSpPr>
          <p:cNvPr id="4" name="Slide Number Placeholder 3"/>
          <p:cNvSpPr>
            <a:spLocks noGrp="1"/>
          </p:cNvSpPr>
          <p:nvPr>
            <p:ph type="sldNum" sz="quarter" idx="5"/>
          </p:nvPr>
        </p:nvSpPr>
        <p:spPr/>
        <p:txBody>
          <a:bodyPr/>
          <a:lstStyle/>
          <a:p>
            <a:fld id="{161B7024-EF45-4C6D-AFC1-88F111D9257D}" type="slidenum">
              <a:rPr lang="en-US" smtClean="0"/>
              <a:t>4</a:t>
            </a:fld>
            <a:endParaRPr lang="en-US"/>
          </a:p>
        </p:txBody>
      </p:sp>
    </p:spTree>
    <p:extLst>
      <p:ext uri="{BB962C8B-B14F-4D97-AF65-F5344CB8AC3E}">
        <p14:creationId xmlns:p14="http://schemas.microsoft.com/office/powerpoint/2010/main" val="3365915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unique benefits PTUs bring to the table:</a:t>
            </a:r>
          </a:p>
          <a:p>
            <a:pPr>
              <a:buFont typeface="Arial"/>
              <a:buChar char="•"/>
            </a:pPr>
            <a:r>
              <a:rPr lang="en-US" b="1" dirty="0"/>
              <a:t>Infinite Scalability</a:t>
            </a:r>
            <a:r>
              <a:rPr lang="en-US" dirty="0"/>
              <a:t>: Regardless of your operation's size or demand, PTUs adapt seamlessly, ensuring your AI services are always up and running without a hitch.</a:t>
            </a:r>
          </a:p>
          <a:p>
            <a:pPr>
              <a:buFont typeface="Arial"/>
              <a:buChar char="•"/>
            </a:pPr>
            <a:r>
              <a:rPr lang="en-US" b="1" dirty="0"/>
              <a:t>Reliable Performance</a:t>
            </a:r>
            <a:r>
              <a:rPr lang="en-US" dirty="0"/>
              <a:t>: Guarantee throughput and maximum latencies with PTUs, ensuring smooth and efficient application performance at all times.</a:t>
            </a:r>
          </a:p>
          <a:p>
            <a:pPr>
              <a:buFont typeface="Arial"/>
              <a:buChar char="•"/>
            </a:pPr>
            <a:r>
              <a:rPr lang="en-US" b="1" dirty="0"/>
              <a:t>Predictable Costs</a:t>
            </a:r>
            <a:r>
              <a:rPr lang="en-US" dirty="0"/>
              <a:t>: Move away from the unpredictability of Pay-As-You-Go models. PTUs allow for precise budgeting and financial planning, thanks to their upfront cost structure.</a:t>
            </a:r>
          </a:p>
          <a:p>
            <a:endParaRPr lang="en-US" dirty="0"/>
          </a:p>
          <a:p>
            <a:r>
              <a:rPr lang="en-US" dirty="0"/>
              <a:t>Our customers' experiences speak volumes. Switching to PTUs has led to significant performance boosts and reduced latency, marking a drastic improvement in business operations and success.</a:t>
            </a:r>
          </a:p>
          <a:p>
            <a:pPr>
              <a:buFont typeface="Arial"/>
              <a:buChar char="•"/>
            </a:pPr>
            <a:endParaRPr lang="en-US" dirty="0"/>
          </a:p>
          <a:p>
            <a:r>
              <a:rPr lang="en-US" dirty="0"/>
              <a:t>In conclusion, PTUs are not just a feature; they are a cornerstone of reliable, high-performance AI service delivery. They provide the support your projects need to scale effectively, ensuring your applications perform optimally around the clock. Thank you for exploring the potential of PTUs to elevate your AI initiatives."</a:t>
            </a:r>
          </a:p>
          <a:p>
            <a:endParaRPr lang="en-US" dirty="0"/>
          </a:p>
        </p:txBody>
      </p:sp>
      <p:sp>
        <p:nvSpPr>
          <p:cNvPr id="4" name="Slide Number Placeholder 3"/>
          <p:cNvSpPr>
            <a:spLocks noGrp="1"/>
          </p:cNvSpPr>
          <p:nvPr>
            <p:ph type="sldNum" sz="quarter" idx="5"/>
          </p:nvPr>
        </p:nvSpPr>
        <p:spPr/>
        <p:txBody>
          <a:bodyPr/>
          <a:lstStyle/>
          <a:p>
            <a:fld id="{161B7024-EF45-4C6D-AFC1-88F111D9257D}" type="slidenum">
              <a:rPr lang="en-US" smtClean="0"/>
              <a:t>5</a:t>
            </a:fld>
            <a:endParaRPr lang="en-US"/>
          </a:p>
        </p:txBody>
      </p:sp>
    </p:spTree>
    <p:extLst>
      <p:ext uri="{BB962C8B-B14F-4D97-AF65-F5344CB8AC3E}">
        <p14:creationId xmlns:p14="http://schemas.microsoft.com/office/powerpoint/2010/main" val="2199920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1B7024-EF45-4C6D-AFC1-88F111D9257D}" type="slidenum">
              <a:rPr lang="en-US" smtClean="0"/>
              <a:t>6</a:t>
            </a:fld>
            <a:endParaRPr lang="en-US"/>
          </a:p>
        </p:txBody>
      </p:sp>
    </p:spTree>
    <p:extLst>
      <p:ext uri="{BB962C8B-B14F-4D97-AF65-F5344CB8AC3E}">
        <p14:creationId xmlns:p14="http://schemas.microsoft.com/office/powerpoint/2010/main" val="9843781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US" b="1" i="0" dirty="0">
                <a:solidFill>
                  <a:srgbClr val="000000"/>
                </a:solidFill>
                <a:effectLst/>
                <a:highlight>
                  <a:srgbClr val="FFFFFF"/>
                </a:highlight>
              </a:rPr>
              <a:t>Users have the option to choose three offerings when deploying Azure direct models*:  standard, provisioned, or batch.</a:t>
            </a:r>
          </a:p>
          <a:p>
            <a:pPr marL="628650" lvl="1" indent="-171450" algn="l">
              <a:buFont typeface="Arial" panose="020B0604020202020204" pitchFamily="34" charset="0"/>
              <a:buChar char="•"/>
            </a:pPr>
            <a:r>
              <a:rPr lang="en-US" b="0" i="0" dirty="0">
                <a:effectLst/>
                <a:highlight>
                  <a:srgbClr val="FFFFFF"/>
                </a:highlight>
                <a:latin typeface="SegoeUIVariable"/>
              </a:rPr>
              <a:t>The Standard offering is optimized for low to medium volume workloads and offers flexibility with Pay-per-call pricing. This flexible, usage-based model with variable costs and capped throughput, is ideal for development, testing, and lower-volume workloads</a:t>
            </a:r>
          </a:p>
          <a:p>
            <a:pPr marL="628650" lvl="1" indent="-171450" algn="l">
              <a:buFont typeface="Arial" panose="020B0604020202020204" pitchFamily="34" charset="0"/>
              <a:buChar char="•"/>
            </a:pPr>
            <a:r>
              <a:rPr lang="en-US" b="0" i="0" dirty="0">
                <a:effectLst/>
                <a:highlight>
                  <a:srgbClr val="FFFFFF"/>
                </a:highlight>
                <a:latin typeface="SegoeUIVariable"/>
              </a:rPr>
              <a:t>The Provisioned offering is designed for high volume workloads and throughput-heavy applications</a:t>
            </a:r>
            <a:endParaRPr lang="en-US" b="1" i="0" dirty="0">
              <a:solidFill>
                <a:srgbClr val="000000"/>
              </a:solidFill>
              <a:effectLst/>
              <a:highlight>
                <a:srgbClr val="FFFFFF"/>
              </a:highlight>
            </a:endParaRPr>
          </a:p>
          <a:p>
            <a:pPr marL="171450" indent="-171450" algn="l">
              <a:buFont typeface="Arial" panose="020B0604020202020204" pitchFamily="34" charset="0"/>
              <a:buChar char="•"/>
            </a:pPr>
            <a:endParaRPr lang="en-US" b="1" i="0" dirty="0">
              <a:solidFill>
                <a:srgbClr val="000000"/>
              </a:solidFill>
              <a:effectLst/>
              <a:highlight>
                <a:srgbClr val="FFFFFF"/>
              </a:highlight>
            </a:endParaRPr>
          </a:p>
          <a:p>
            <a:pPr marL="171450" indent="-171450" algn="l">
              <a:buFont typeface="Arial" panose="020B0604020202020204" pitchFamily="34" charset="0"/>
              <a:buChar char="•"/>
            </a:pPr>
            <a:r>
              <a:rPr lang="en-US" b="1" i="0" dirty="0">
                <a:solidFill>
                  <a:srgbClr val="000000"/>
                </a:solidFill>
                <a:effectLst/>
                <a:highlight>
                  <a:srgbClr val="FFFFFF"/>
                </a:highlight>
              </a:rPr>
              <a:t>Users also have the option to choose where their data and workloads are processed: globally, data zones, or regionally.</a:t>
            </a:r>
          </a:p>
          <a:p>
            <a:pPr marL="628650" lvl="1" indent="-171450" algn="l">
              <a:buFont typeface="Arial" panose="020B0604020202020204" pitchFamily="34" charset="0"/>
              <a:buChar char="•"/>
            </a:pPr>
            <a:r>
              <a:rPr lang="en-US" sz="1200" b="0" i="0" kern="1200" dirty="0">
                <a:solidFill>
                  <a:schemeClr val="tx1"/>
                </a:solidFill>
                <a:effectLst/>
                <a:latin typeface="+mn-lt"/>
                <a:ea typeface="+mn-ea"/>
                <a:cs typeface="+mn-cs"/>
              </a:rPr>
              <a:t>Global deployments leverage Azure's global infrastructure to dynamically route customer traffic to the data center with the best availability for the customer’s inference request</a:t>
            </a:r>
          </a:p>
          <a:p>
            <a:pPr marL="628650" lvl="1" indent="-171450" algn="l">
              <a:buFont typeface="Arial" panose="020B0604020202020204" pitchFamily="34" charset="0"/>
              <a:buChar char="•"/>
            </a:pPr>
            <a:r>
              <a:rPr lang="en-US" sz="1200" b="0" i="0" kern="1200" dirty="0">
                <a:solidFill>
                  <a:schemeClr val="tx1"/>
                </a:solidFill>
                <a:effectLst/>
                <a:latin typeface="+mn-lt"/>
                <a:ea typeface="+mn-ea"/>
                <a:cs typeface="+mn-cs"/>
              </a:rPr>
              <a:t>Data zone deployments leverage Azure's global infrastructure to dynamically route customer traffic to the data center with the best availability for the customer's inference requests within the data zone defined by Microsoft.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highlight>
                  <a:srgbClr val="FFFFFF"/>
                </a:highlight>
                <a:latin typeface="+mn-lt"/>
                <a:ea typeface="+mn-ea"/>
                <a:cs typeface="+mn-cs"/>
              </a:rPr>
              <a:t>Regional deployments leverage Azure's global infrastructure to dynamically route customer traffic to a specific region</a:t>
            </a:r>
            <a:endParaRPr lang="en-US" b="1" i="0" dirty="0">
              <a:solidFill>
                <a:srgbClr val="000000"/>
              </a:solidFill>
              <a:effectLst/>
              <a:highlight>
                <a:srgbClr val="FFFFFF"/>
              </a:highlight>
            </a:endParaRPr>
          </a:p>
          <a:p>
            <a:pPr marL="171450" indent="-171450" algn="l">
              <a:buFont typeface="Arial" panose="020B0604020202020204" pitchFamily="34" charset="0"/>
              <a:buChar char="•"/>
            </a:pPr>
            <a:endParaRPr lang="en-US" b="1" i="0" dirty="0">
              <a:solidFill>
                <a:srgbClr val="000000"/>
              </a:solidFill>
              <a:effectLst/>
              <a:highlight>
                <a:srgbClr val="FFFFFF"/>
              </a:highlight>
            </a:endParaRPr>
          </a:p>
          <a:p>
            <a:pPr marL="171450" indent="-171450" algn="l">
              <a:buFont typeface="Arial" panose="020B0604020202020204" pitchFamily="34" charset="0"/>
              <a:buChar char="•"/>
            </a:pPr>
            <a:r>
              <a:rPr lang="en-US" b="1" i="0" dirty="0">
                <a:solidFill>
                  <a:srgbClr val="000000"/>
                </a:solidFill>
                <a:effectLst/>
                <a:highlight>
                  <a:srgbClr val="FFFFFF"/>
                </a:highlight>
              </a:rPr>
              <a:t>When a customer decides to use provisioned and one of these deployments, they also have the choice on how to pay for these PTUs: hourly or commit with an Azure reservation</a:t>
            </a:r>
          </a:p>
          <a:p>
            <a:endParaRPr lang="en-US" dirty="0"/>
          </a:p>
        </p:txBody>
      </p:sp>
      <p:sp>
        <p:nvSpPr>
          <p:cNvPr id="4" name="Slide Number Placeholder 3"/>
          <p:cNvSpPr>
            <a:spLocks noGrp="1"/>
          </p:cNvSpPr>
          <p:nvPr>
            <p:ph type="sldNum" sz="quarter" idx="5"/>
          </p:nvPr>
        </p:nvSpPr>
        <p:spPr/>
        <p:txBody>
          <a:bodyPr/>
          <a:lstStyle/>
          <a:p>
            <a:fld id="{161B7024-EF45-4C6D-AFC1-88F111D9257D}" type="slidenum">
              <a:rPr lang="en-US" smtClean="0"/>
              <a:t>7</a:t>
            </a:fld>
            <a:endParaRPr lang="en-US"/>
          </a:p>
        </p:txBody>
      </p:sp>
    </p:spTree>
    <p:extLst>
      <p:ext uri="{BB962C8B-B14F-4D97-AF65-F5344CB8AC3E}">
        <p14:creationId xmlns:p14="http://schemas.microsoft.com/office/powerpoint/2010/main" val="3717195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1B7024-EF45-4C6D-AFC1-88F111D9257D}" type="slidenum">
              <a:rPr lang="en-US" smtClean="0"/>
              <a:t>8</a:t>
            </a:fld>
            <a:endParaRPr lang="en-US"/>
          </a:p>
        </p:txBody>
      </p:sp>
    </p:spTree>
    <p:extLst>
      <p:ext uri="{BB962C8B-B14F-4D97-AF65-F5344CB8AC3E}">
        <p14:creationId xmlns:p14="http://schemas.microsoft.com/office/powerpoint/2010/main" val="4223513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15000"/>
              </a:lnSpc>
              <a:spcAft>
                <a:spcPts val="800"/>
              </a:spcAft>
              <a:buNone/>
            </a:pPr>
            <a:r>
              <a:rPr lang="en-US" sz="1200" b="1" kern="100" dirty="0">
                <a:latin typeface="Proxima Nova"/>
                <a:ea typeface="Malgun Gothic"/>
                <a:cs typeface="Arial" panose="020B0604020202020204" pitchFamily="34" charset="0"/>
              </a:rPr>
              <a:t>Benefits of Azure reservations:</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Cost savings</a:t>
            </a:r>
            <a:r>
              <a:rPr lang="en-US" sz="1200" b="0" i="0" kern="1200" dirty="0">
                <a:solidFill>
                  <a:schemeClr val="tx1"/>
                </a:solidFill>
                <a:effectLst/>
                <a:latin typeface="+mn-lt"/>
                <a:ea typeface="+mn-ea"/>
                <a:cs typeface="+mn-cs"/>
              </a:rPr>
              <a:t>: Significantly save on PTUs as compared to hourly pricing.</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Commit on your terms</a:t>
            </a:r>
            <a:r>
              <a:rPr lang="en-US" sz="1200" b="0" i="0" kern="1200" dirty="0">
                <a:solidFill>
                  <a:schemeClr val="tx1"/>
                </a:solidFill>
                <a:effectLst/>
                <a:latin typeface="+mn-lt"/>
                <a:ea typeface="+mn-ea"/>
                <a:cs typeface="+mn-cs"/>
              </a:rPr>
              <a:t>: Utilize one-month or one-year terms to support budget goals.</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Agile and simple</a:t>
            </a:r>
            <a:r>
              <a:rPr lang="en-US" sz="1200" b="0" i="0" kern="1200" dirty="0">
                <a:solidFill>
                  <a:schemeClr val="tx1"/>
                </a:solidFill>
                <a:effectLst/>
                <a:latin typeface="+mn-lt"/>
                <a:ea typeface="+mn-ea"/>
                <a:cs typeface="+mn-cs"/>
              </a:rPr>
              <a:t>: Savings are applied automatically to provisioned units that match the deployment type and region in the reservation scope. Reservations are not model specific.</a:t>
            </a:r>
          </a:p>
          <a:p>
            <a:pPr marL="171450" indent="-171450">
              <a:buFont typeface="Arial" panose="020B0604020202020204" pitchFamily="34" charset="0"/>
              <a:buChar char="•"/>
            </a:pPr>
            <a:endParaRPr lang="en-US" sz="1200" kern="100" dirty="0">
              <a:latin typeface="Proxima Nova"/>
              <a:ea typeface="Malgun Gothic"/>
              <a:cs typeface="Arial" panose="020B0604020202020204" pitchFamily="34" charset="0"/>
            </a:endParaRPr>
          </a:p>
          <a:p>
            <a:pPr marL="0" indent="0">
              <a:lnSpc>
                <a:spcPct val="115000"/>
              </a:lnSpc>
              <a:spcAft>
                <a:spcPts val="800"/>
              </a:spcAft>
              <a:buNone/>
            </a:pPr>
            <a:r>
              <a:rPr lang="en-US" sz="1200" b="1" kern="100" dirty="0">
                <a:latin typeface="Proxima Nova"/>
                <a:ea typeface="Malgun Gothic"/>
                <a:cs typeface="Arial" panose="020B0604020202020204" pitchFamily="34" charset="0"/>
              </a:rPr>
              <a:t>How it works:</a:t>
            </a:r>
          </a:p>
          <a:p>
            <a:pPr marL="171450" marR="0" lvl="0" indent="-171450" algn="l" defTabSz="914400" rtl="0" eaLnBrk="1" fontAlgn="auto" latinLnBrk="0" hangingPunct="1">
              <a:lnSpc>
                <a:spcPct val="114999"/>
              </a:lnSpc>
              <a:spcBef>
                <a:spcPts val="0"/>
              </a:spcBef>
              <a:spcAft>
                <a:spcPts val="800"/>
              </a:spcAft>
              <a:buClrTx/>
              <a:buSzTx/>
              <a:buFont typeface="Arial" panose="020B0604020202020204" pitchFamily="34" charset="0"/>
              <a:buChar char="•"/>
              <a:tabLst/>
              <a:defRPr/>
            </a:pPr>
            <a:r>
              <a:rPr lang="en-US" kern="100" dirty="0">
                <a:ea typeface="Malgun Gothic"/>
              </a:rPr>
              <a:t xml:space="preserve">Like other Azure reservations, the provisioned reservations are a billing mechanism in which </a:t>
            </a:r>
            <a:r>
              <a:rPr lang="en-US" sz="1200" kern="100" dirty="0">
                <a:latin typeface="Proxima Nova"/>
                <a:ea typeface="Malgun Gothic"/>
                <a:cs typeface="Arial" panose="020B0604020202020204" pitchFamily="34" charset="0"/>
              </a:rPr>
              <a:t xml:space="preserve">users </a:t>
            </a:r>
            <a:r>
              <a:rPr lang="en-US" sz="1200" kern="100" dirty="0">
                <a:effectLst/>
                <a:latin typeface="Proxima Nova"/>
                <a:ea typeface="Malgun Gothic"/>
                <a:cs typeface="Arial" panose="020B0604020202020204" pitchFamily="34" charset="0"/>
              </a:rPr>
              <a:t xml:space="preserve">get a </a:t>
            </a:r>
            <a:r>
              <a:rPr lang="en-US" sz="1200" kern="100" dirty="0">
                <a:latin typeface="Proxima Nova"/>
                <a:ea typeface="Malgun Gothic"/>
                <a:cs typeface="Arial" panose="020B0604020202020204" pitchFamily="34" charset="0"/>
              </a:rPr>
              <a:t>discounted price on their PTUs</a:t>
            </a:r>
            <a:r>
              <a:rPr lang="en-US" kern="100" dirty="0">
                <a:ea typeface="Malgun Gothic"/>
              </a:rPr>
              <a:t xml:space="preserve"> by </a:t>
            </a:r>
            <a:r>
              <a:rPr lang="en-US" sz="1200" kern="100" dirty="0">
                <a:effectLst/>
                <a:latin typeface="Proxima Nova"/>
                <a:ea typeface="Malgun Gothic"/>
                <a:cs typeface="Arial" panose="020B0604020202020204" pitchFamily="34" charset="0"/>
              </a:rPr>
              <a:t xml:space="preserve">committing to use a specific number of PTUs (ex: 50), deployment type (global, data zone, or regional), region (ex: US West) </a:t>
            </a:r>
            <a:r>
              <a:rPr lang="en-US" sz="1200" kern="100" dirty="0">
                <a:latin typeface="Proxima Nova"/>
                <a:ea typeface="Malgun Gothic"/>
                <a:cs typeface="Arial" panose="020B0604020202020204" pitchFamily="34" charset="0"/>
              </a:rPr>
              <a:t>and timeframe (1-year)</a:t>
            </a:r>
            <a:endParaRPr lang="en-US" sz="1200" kern="100" dirty="0">
              <a:effectLst/>
              <a:latin typeface="Proxima Nova"/>
              <a:ea typeface="Malgun Gothic"/>
              <a:cs typeface="Arial" panose="020B0604020202020204" pitchFamily="34" charset="0"/>
            </a:endParaRPr>
          </a:p>
          <a:p>
            <a:pPr marL="171450" indent="-171450">
              <a:lnSpc>
                <a:spcPct val="114999"/>
              </a:lnSpc>
              <a:spcAft>
                <a:spcPts val="800"/>
              </a:spcAft>
              <a:buFont typeface="Arial" panose="020B0604020202020204" pitchFamily="34" charset="0"/>
              <a:buChar char="•"/>
            </a:pPr>
            <a:r>
              <a:rPr lang="en-US" sz="1200" kern="100" dirty="0">
                <a:latin typeface="Proxima Nova"/>
                <a:ea typeface="Malgun Gothic"/>
                <a:cs typeface="Arial" panose="020B0604020202020204" pitchFamily="34" charset="0"/>
              </a:rPr>
              <a:t>Your Azure reservation will scan your environment based on your scope to identify the PTUs it can apply its savings to.</a:t>
            </a:r>
          </a:p>
          <a:p>
            <a:pPr marL="171450" indent="-171450">
              <a:lnSpc>
                <a:spcPct val="114999"/>
              </a:lnSpc>
              <a:spcAft>
                <a:spcPts val="800"/>
              </a:spcAft>
              <a:buFont typeface="Arial" panose="020B0604020202020204" pitchFamily="34" charset="0"/>
              <a:buChar char="•"/>
            </a:pPr>
            <a:r>
              <a:rPr lang="en-US" sz="1200" kern="100" dirty="0">
                <a:latin typeface="Proxima Nova"/>
                <a:ea typeface="Malgun Gothic"/>
                <a:cs typeface="Arial" panose="020B0604020202020204" pitchFamily="34" charset="0"/>
              </a:rPr>
              <a:t xml:space="preserve">Your PTU deployment must match your Azure reservation commitment to get the discount. For example, if you deploy 50 Global PTUs in US West, your Azure reservation must also be Global and in US West. </a:t>
            </a:r>
            <a:endParaRPr lang="en-US" sz="1200" dirty="0">
              <a:latin typeface="Segoe UI"/>
              <a:ea typeface="Calibri" panose="020F0502020204030204" pitchFamily="34" charset="0"/>
              <a:cs typeface="Segoe UI"/>
            </a:endParaRPr>
          </a:p>
          <a:p>
            <a:pPr marL="0" indent="0">
              <a:lnSpc>
                <a:spcPct val="114999"/>
              </a:lnSpc>
              <a:spcAft>
                <a:spcPts val="800"/>
              </a:spcAft>
              <a:buNone/>
            </a:pPr>
            <a:endParaRPr lang="en-US" sz="1200" dirty="0">
              <a:latin typeface="Segoe UI"/>
              <a:cs typeface="Segoe UI"/>
            </a:endParaRPr>
          </a:p>
          <a:p>
            <a:pPr marL="0" indent="0">
              <a:lnSpc>
                <a:spcPct val="114999"/>
              </a:lnSpc>
              <a:spcAft>
                <a:spcPts val="800"/>
              </a:spcAft>
              <a:buNone/>
            </a:pPr>
            <a:r>
              <a:rPr lang="en-US" sz="1200" dirty="0">
                <a:latin typeface="Segoe UI"/>
                <a:cs typeface="Segoe UI"/>
              </a:rPr>
              <a:t>With provisioned reservations you are able to significantly save on their PTU costs, support your budget goals by choosing a term that aligns to their financial plans, and see savings apply automatically to their PTU deployments</a:t>
            </a:r>
          </a:p>
          <a:p>
            <a:endParaRPr lang="en-US" dirty="0"/>
          </a:p>
        </p:txBody>
      </p:sp>
      <p:sp>
        <p:nvSpPr>
          <p:cNvPr id="4" name="Slide Number Placeholder 3"/>
          <p:cNvSpPr>
            <a:spLocks noGrp="1"/>
          </p:cNvSpPr>
          <p:nvPr>
            <p:ph type="sldNum" sz="quarter" idx="5"/>
          </p:nvPr>
        </p:nvSpPr>
        <p:spPr/>
        <p:txBody>
          <a:bodyPr/>
          <a:lstStyle/>
          <a:p>
            <a:fld id="{161B7024-EF45-4C6D-AFC1-88F111D9257D}" type="slidenum">
              <a:rPr lang="en-US" smtClean="0"/>
              <a:t>9</a:t>
            </a:fld>
            <a:endParaRPr lang="en-US"/>
          </a:p>
        </p:txBody>
      </p:sp>
    </p:spTree>
    <p:extLst>
      <p:ext uri="{BB962C8B-B14F-4D97-AF65-F5344CB8AC3E}">
        <p14:creationId xmlns:p14="http://schemas.microsoft.com/office/powerpoint/2010/main" val="2268224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B0FA4-72C1-EEFC-13BC-41F23F500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07106-B215-DF96-778C-777691F3A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5C3BB1-88DF-69EB-A0AB-7535D5188DE9}"/>
              </a:ext>
            </a:extLst>
          </p:cNvPr>
          <p:cNvSpPr>
            <a:spLocks noGrp="1"/>
          </p:cNvSpPr>
          <p:nvPr>
            <p:ph type="body" idx="1"/>
          </p:nvPr>
        </p:nvSpPr>
        <p:spPr/>
        <p:txBody>
          <a:bodyPr/>
          <a:lstStyle/>
          <a:p>
            <a:r>
              <a:rPr lang="en-US" dirty="0"/>
              <a:t>https://learn.microsoft.com/en-us/azure/ai-foundry/openai/how-to/provisioned-throughput-onboarding#model-independent-quota</a:t>
            </a:r>
          </a:p>
          <a:p>
            <a:endParaRPr lang="en-US" dirty="0"/>
          </a:p>
          <a:p>
            <a:r>
              <a:rPr lang="en-US" sz="1200" b="0" i="0" kern="1200" dirty="0">
                <a:solidFill>
                  <a:schemeClr val="tx1"/>
                </a:solidFill>
                <a:effectLst/>
                <a:latin typeface="+mn-lt"/>
                <a:ea typeface="+mn-ea"/>
                <a:cs typeface="+mn-cs"/>
              </a:rPr>
              <a:t>Quota for provisioned deployments shows up in Microsoft Foundry as the following deployment types: </a:t>
            </a:r>
            <a:r>
              <a:rPr lang="en-US" sz="1200" b="0" i="0" u="none" strike="noStrike" kern="1200" dirty="0">
                <a:solidFill>
                  <a:schemeClr val="tx1"/>
                </a:solidFill>
                <a:effectLst/>
                <a:latin typeface="+mn-lt"/>
                <a:ea typeface="+mn-ea"/>
                <a:cs typeface="+mn-cs"/>
                <a:hlinkClick r:id="rId3"/>
              </a:rPr>
              <a:t>global provisioned</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data zone provisioned</a:t>
            </a:r>
            <a:r>
              <a:rPr lang="en-US" sz="1200" b="0" i="0" kern="1200" dirty="0">
                <a:solidFill>
                  <a:schemeClr val="tx1"/>
                </a:solidFill>
                <a:effectLst/>
                <a:latin typeface="+mn-lt"/>
                <a:ea typeface="+mn-ea"/>
                <a:cs typeface="+mn-cs"/>
              </a:rPr>
              <a:t> and </a:t>
            </a:r>
            <a:r>
              <a:rPr lang="en-US" sz="1200" b="0" i="0" u="none" strike="noStrike" kern="1200" dirty="0">
                <a:solidFill>
                  <a:schemeClr val="tx1"/>
                </a:solidFill>
                <a:effectLst/>
                <a:latin typeface="+mn-lt"/>
                <a:ea typeface="+mn-ea"/>
                <a:cs typeface="+mn-cs"/>
                <a:hlinkClick r:id="rId5"/>
              </a:rPr>
              <a:t>regional provisioned</a:t>
            </a:r>
            <a:r>
              <a:rPr lang="en-US" sz="1200" b="0" i="0" kern="1200" dirty="0">
                <a:solidFill>
                  <a:schemeClr val="tx1"/>
                </a:solidFill>
                <a:effectLst/>
                <a:latin typeface="+mn-lt"/>
                <a:ea typeface="+mn-ea"/>
                <a:cs typeface="+mn-cs"/>
              </a:rPr>
              <a:t>.</a:t>
            </a:r>
          </a:p>
          <a:p>
            <a:endParaRPr lang="en-US" dirty="0"/>
          </a:p>
          <a:p>
            <a:r>
              <a:rPr lang="en-US" b="1" dirty="0"/>
              <a:t xml:space="preserve">Models sold directly by Azure: </a:t>
            </a:r>
            <a:br>
              <a:rPr lang="en-US" dirty="0"/>
            </a:br>
            <a:r>
              <a:rPr lang="en-US" dirty="0"/>
              <a:t>https://learn.microsoft.com/en-us/azure/ai-foundry/openai/concepts/provisioned-throughput?context=%2Fazure%2Fai-foundry%2Fcontext%2Fcontext&amp;tabs=global-ptum#provisioned-throughput-capability-for-models-sold-directly-by-azure</a:t>
            </a:r>
          </a:p>
        </p:txBody>
      </p:sp>
      <p:sp>
        <p:nvSpPr>
          <p:cNvPr id="4" name="Slide Number Placeholder 3">
            <a:extLst>
              <a:ext uri="{FF2B5EF4-FFF2-40B4-BE49-F238E27FC236}">
                <a16:creationId xmlns:a16="http://schemas.microsoft.com/office/drawing/2014/main" id="{61128E1D-E6FC-A59B-5750-39821E18DFBC}"/>
              </a:ext>
            </a:extLst>
          </p:cNvPr>
          <p:cNvSpPr>
            <a:spLocks noGrp="1"/>
          </p:cNvSpPr>
          <p:nvPr>
            <p:ph type="sldNum" sz="quarter" idx="5"/>
          </p:nvPr>
        </p:nvSpPr>
        <p:spPr/>
        <p:txBody>
          <a:bodyPr/>
          <a:lstStyle/>
          <a:p>
            <a:fld id="{161B7024-EF45-4C6D-AFC1-88F111D9257D}" type="slidenum">
              <a:rPr lang="en-US" smtClean="0"/>
              <a:t>10</a:t>
            </a:fld>
            <a:endParaRPr lang="en-US"/>
          </a:p>
        </p:txBody>
      </p:sp>
    </p:spTree>
    <p:extLst>
      <p:ext uri="{BB962C8B-B14F-4D97-AF65-F5344CB8AC3E}">
        <p14:creationId xmlns:p14="http://schemas.microsoft.com/office/powerpoint/2010/main" val="3947704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0CF7C-BAF1-B260-33D9-6EDACEDC2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5354C-43D2-FB50-6CA9-2281C3FF71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58A96-2456-CD80-D715-61A65DF3E76C}"/>
              </a:ext>
            </a:extLst>
          </p:cNvPr>
          <p:cNvSpPr>
            <a:spLocks noGrp="1"/>
          </p:cNvSpPr>
          <p:nvPr>
            <p:ph type="body" idx="1"/>
          </p:nvPr>
        </p:nvSpPr>
        <p:spPr/>
        <p:txBody>
          <a:bodyPr/>
          <a:lstStyle/>
          <a:p>
            <a:r>
              <a:rPr lang="en-US" dirty="0"/>
              <a:t>https://learn.microsoft.com/en-us/azure/ai-foundry/openai/how-to/provisioned-throughput-onboarding#model-independent-quota</a:t>
            </a:r>
          </a:p>
        </p:txBody>
      </p:sp>
      <p:sp>
        <p:nvSpPr>
          <p:cNvPr id="4" name="Slide Number Placeholder 3">
            <a:extLst>
              <a:ext uri="{FF2B5EF4-FFF2-40B4-BE49-F238E27FC236}">
                <a16:creationId xmlns:a16="http://schemas.microsoft.com/office/drawing/2014/main" id="{678C68AD-315D-A22B-1D25-F73DB8008ADA}"/>
              </a:ext>
            </a:extLst>
          </p:cNvPr>
          <p:cNvSpPr>
            <a:spLocks noGrp="1"/>
          </p:cNvSpPr>
          <p:nvPr>
            <p:ph type="sldNum" sz="quarter" idx="5"/>
          </p:nvPr>
        </p:nvSpPr>
        <p:spPr/>
        <p:txBody>
          <a:bodyPr/>
          <a:lstStyle/>
          <a:p>
            <a:fld id="{161B7024-EF45-4C6D-AFC1-88F111D9257D}" type="slidenum">
              <a:rPr lang="en-US" smtClean="0"/>
              <a:t>11</a:t>
            </a:fld>
            <a:endParaRPr lang="en-US"/>
          </a:p>
        </p:txBody>
      </p:sp>
    </p:spTree>
    <p:extLst>
      <p:ext uri="{BB962C8B-B14F-4D97-AF65-F5344CB8AC3E}">
        <p14:creationId xmlns:p14="http://schemas.microsoft.com/office/powerpoint/2010/main" val="537449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6B97A-B587-7F4B-7BA3-312FB1E1B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BA06F-5A6D-A889-F4E7-96B9F03780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84C9C6-58A3-EB07-EED9-9B92538B1CC4}"/>
              </a:ext>
            </a:extLst>
          </p:cNvPr>
          <p:cNvSpPr>
            <a:spLocks noGrp="1"/>
          </p:cNvSpPr>
          <p:nvPr>
            <p:ph type="body" idx="1"/>
          </p:nvPr>
        </p:nvSpPr>
        <p:spPr/>
        <p:txBody>
          <a:bodyPr/>
          <a:lstStyle/>
          <a:p>
            <a:r>
              <a:rPr lang="en-US" dirty="0"/>
              <a:t>https://learn.microsoft.com/en-us/azure/ai-foundry/openai/how-to/provisioned-throughput-onboarding#model-independent-quota</a:t>
            </a:r>
          </a:p>
          <a:p>
            <a:endParaRPr lang="en-US" dirty="0"/>
          </a:p>
          <a:p>
            <a:pPr lvl="0" algn="l">
              <a:defRPr/>
            </a:pPr>
            <a:r>
              <a:rPr lang="en-US" dirty="0">
                <a:solidFill>
                  <a:srgbClr val="111111"/>
                </a:solidFill>
                <a:ea typeface="+mn-lt"/>
                <a:cs typeface="+mn-lt"/>
              </a:rPr>
              <a:t xml:space="preserve">* </a:t>
            </a:r>
            <a:r>
              <a:rPr lang="en-US" b="1" dirty="0">
                <a:solidFill>
                  <a:srgbClr val="111111"/>
                </a:solidFill>
                <a:ea typeface="+mn-lt"/>
                <a:cs typeface="+mn-lt"/>
              </a:rPr>
              <a:t>For example, a 300 PTU deployment will be charged the hourly rate times 300</a:t>
            </a:r>
            <a:r>
              <a:rPr lang="en-US" dirty="0">
                <a:solidFill>
                  <a:srgbClr val="111111"/>
                </a:solidFill>
                <a:ea typeface="+mn-lt"/>
                <a:cs typeface="+mn-lt"/>
              </a:rPr>
              <a:t>.  All Microsoft Foundry model pricing is available in the Azure Pricing Calculator.</a:t>
            </a:r>
          </a:p>
          <a:p>
            <a:pPr lvl="0" algn="l">
              <a:defRPr/>
            </a:pPr>
            <a:endParaRPr lang="en-US" dirty="0">
              <a:solidFill>
                <a:srgbClr val="111111"/>
              </a:solidFill>
              <a:ea typeface="+mn-lt"/>
              <a:cs typeface="+mn-lt"/>
            </a:endParaRPr>
          </a:p>
          <a:p>
            <a:pPr lvl="0" algn="l">
              <a:defRPr/>
            </a:pPr>
            <a:r>
              <a:rPr lang="en-US" dirty="0">
                <a:solidFill>
                  <a:srgbClr val="111111"/>
                </a:solidFill>
                <a:ea typeface="+mn-lt"/>
                <a:cs typeface="+mn-lt"/>
              </a:rPr>
              <a:t xml:space="preserve">* </a:t>
            </a:r>
            <a:r>
              <a:rPr lang="en-US" b="1" dirty="0">
                <a:solidFill>
                  <a:srgbClr val="111111"/>
                </a:solidFill>
                <a:ea typeface="+mn-lt"/>
                <a:cs typeface="+mn-lt"/>
              </a:rPr>
              <a:t>If a deployment exists for a partial hour</a:t>
            </a:r>
            <a:r>
              <a:rPr lang="en-US" dirty="0">
                <a:solidFill>
                  <a:srgbClr val="111111"/>
                </a:solidFill>
                <a:ea typeface="+mn-lt"/>
                <a:cs typeface="+mn-lt"/>
              </a:rPr>
              <a:t>, it will receive a prorated charge based on the number of minutes it was deployed during the hour.  For example, a deployment that exists for 15 minutes during an hour will receive 1/4th the hourly charge. </a:t>
            </a:r>
          </a:p>
          <a:p>
            <a:pPr lvl="0" algn="l">
              <a:defRPr/>
            </a:pPr>
            <a:endParaRPr lang="en-US" dirty="0">
              <a:solidFill>
                <a:srgbClr val="111111"/>
              </a:solidFill>
              <a:ea typeface="+mn-lt"/>
              <a:cs typeface="+mn-lt"/>
            </a:endParaRPr>
          </a:p>
          <a:p>
            <a:pPr lvl="0" algn="l">
              <a:defRPr/>
            </a:pPr>
            <a:r>
              <a:rPr lang="en-US" dirty="0">
                <a:solidFill>
                  <a:srgbClr val="111111"/>
                </a:solidFill>
                <a:ea typeface="+mn-lt"/>
                <a:cs typeface="+mn-lt"/>
              </a:rPr>
              <a:t>* If the deployment size is changed, the costs of the deployment will adjust to match the new number of PTUs.</a:t>
            </a:r>
            <a:endParaRPr kumimoji="0" lang="en-US" sz="1200" b="0" i="0" u="none" strike="noStrike" kern="1200" cap="none" spc="0" normalizeH="0" baseline="0" noProof="0" dirty="0">
              <a:ln>
                <a:noFill/>
              </a:ln>
              <a:solidFill>
                <a:srgbClr val="111111"/>
              </a:solidFill>
              <a:effectLst/>
              <a:uLnTx/>
              <a:uFillTx/>
              <a:ea typeface="+mn-lt"/>
              <a:cs typeface="+mn-lt"/>
            </a:endParaRPr>
          </a:p>
          <a:p>
            <a:endParaRPr lang="en-US" dirty="0"/>
          </a:p>
        </p:txBody>
      </p:sp>
      <p:sp>
        <p:nvSpPr>
          <p:cNvPr id="4" name="Slide Number Placeholder 3">
            <a:extLst>
              <a:ext uri="{FF2B5EF4-FFF2-40B4-BE49-F238E27FC236}">
                <a16:creationId xmlns:a16="http://schemas.microsoft.com/office/drawing/2014/main" id="{36982004-95B5-8DF6-FF26-21AC332B96E7}"/>
              </a:ext>
            </a:extLst>
          </p:cNvPr>
          <p:cNvSpPr>
            <a:spLocks noGrp="1"/>
          </p:cNvSpPr>
          <p:nvPr>
            <p:ph type="sldNum" sz="quarter" idx="5"/>
          </p:nvPr>
        </p:nvSpPr>
        <p:spPr/>
        <p:txBody>
          <a:bodyPr/>
          <a:lstStyle/>
          <a:p>
            <a:fld id="{161B7024-EF45-4C6D-AFC1-88F111D9257D}" type="slidenum">
              <a:rPr lang="en-US" smtClean="0"/>
              <a:t>12</a:t>
            </a:fld>
            <a:endParaRPr lang="en-US"/>
          </a:p>
        </p:txBody>
      </p:sp>
    </p:spTree>
    <p:extLst>
      <p:ext uri="{BB962C8B-B14F-4D97-AF65-F5344CB8AC3E}">
        <p14:creationId xmlns:p14="http://schemas.microsoft.com/office/powerpoint/2010/main" val="3379239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C1308-CC74-F6F3-4E20-000A5F067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432D0-6CD1-E5F0-EDEE-889249BB32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FED84-3CD4-1277-7348-FE051AA43117}"/>
              </a:ext>
            </a:extLst>
          </p:cNvPr>
          <p:cNvSpPr>
            <a:spLocks noGrp="1"/>
          </p:cNvSpPr>
          <p:nvPr>
            <p:ph type="body" idx="1"/>
          </p:nvPr>
        </p:nvSpPr>
        <p:spPr/>
        <p:txBody>
          <a:bodyPr/>
          <a:lstStyle/>
          <a:p>
            <a:r>
              <a:rPr lang="en-US" dirty="0"/>
              <a:t>https://learn.microsoft.com/en-us/azure/ai-foundry/openai/how-to/provisioned-throughput-onboarding?context=%2Fazure%2Fai-foundry%2Fcontext%2Fcontext#how-much-throughput-per-ptu-you-get-for-each-model</a:t>
            </a:r>
          </a:p>
          <a:p>
            <a:endParaRPr lang="en-US" dirty="0"/>
          </a:p>
          <a:p>
            <a:endParaRPr lang="en-US" dirty="0"/>
          </a:p>
          <a:p>
            <a:r>
              <a:rPr kumimoji="0" lang="en-US" sz="1200" b="0" i="0" u="none" strike="noStrike" kern="1200" cap="none" spc="0" normalizeH="0" baseline="0" noProof="0" dirty="0">
                <a:ln>
                  <a:noFill/>
                </a:ln>
                <a:effectLst/>
                <a:uLnTx/>
                <a:uFillTx/>
                <a:latin typeface="Segoe Sans Text" pitchFamily="2" charset="0"/>
                <a:ea typeface="+mn-ea"/>
                <a:cs typeface="+mn-cs"/>
              </a:rPr>
              <a:t xml:space="preserve">Note retirement dates for Legacy models: </a:t>
            </a:r>
            <a:r>
              <a:rPr kumimoji="0" lang="en-US" sz="1200" b="0" i="0" u="none" strike="noStrike" kern="1200" cap="none" spc="0" normalizeH="0" baseline="0" noProof="0" dirty="0">
                <a:ln>
                  <a:noFill/>
                </a:ln>
                <a:effectLst/>
                <a:uLnTx/>
                <a:uFillTx/>
                <a:latin typeface="Segoe Sans Text" pitchFamily="2" charset="0"/>
                <a:ea typeface="+mn-ea"/>
                <a:cs typeface="+mn-cs"/>
                <a:hlinkClick r:id="rId3">
                  <a:extLst>
                    <a:ext uri="{A12FA001-AC4F-418D-AE19-62706E023703}">
                      <ahyp:hlinkClr xmlns:ahyp="http://schemas.microsoft.com/office/drawing/2018/hyperlinkcolor" val="tx"/>
                    </a:ext>
                  </a:extLst>
                </a:hlinkClick>
              </a:rPr>
              <a:t>Azure OpenAI Service model retirements - Azure OpenAI | Microsoft Learn</a:t>
            </a:r>
            <a:endParaRPr lang="en-US" dirty="0"/>
          </a:p>
        </p:txBody>
      </p:sp>
      <p:sp>
        <p:nvSpPr>
          <p:cNvPr id="4" name="Slide Number Placeholder 3">
            <a:extLst>
              <a:ext uri="{FF2B5EF4-FFF2-40B4-BE49-F238E27FC236}">
                <a16:creationId xmlns:a16="http://schemas.microsoft.com/office/drawing/2014/main" id="{F01910B2-666F-A0A0-D1B8-C217535878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1B7024-EF45-4C6D-AFC1-88F111D925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5301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44247-8E9F-D1C5-1435-157DD1DD2F1B}"/>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17173CD5-F93E-AAE5-1E83-BA4D3511A4C8}"/>
              </a:ext>
            </a:extLst>
          </p:cNvPr>
          <p:cNvSpPr>
            <a:spLocks noGrp="1"/>
          </p:cNvSpPr>
          <p:nvPr>
            <p:ph type="body" idx="1"/>
          </p:nvPr>
        </p:nvSpPr>
        <p:spPr/>
        <p:txBody>
          <a:bodyPr/>
          <a:lstStyle/>
          <a:p>
            <a:endParaRPr lang="en-US" dirty="0"/>
          </a:p>
          <a:p>
            <a:r>
              <a:rPr lang="en-US" dirty="0"/>
              <a:t>##########</a:t>
            </a:r>
          </a:p>
          <a:p>
            <a:r>
              <a:rPr lang="en-US" dirty="0"/>
              <a:t>https://learn.microsoft.com/en-us/azure/ai-foundry/openai/how-to/provisioned-throughput-onboarding?context=%2Fazure%2Fai-foundry%2Fcontext%2Fcontext</a:t>
            </a:r>
          </a:p>
          <a:p>
            <a:endParaRPr lang="en-US" dirty="0"/>
          </a:p>
          <a:p>
            <a:endParaRPr lang="en-US" dirty="0"/>
          </a:p>
          <a:p>
            <a:r>
              <a:rPr lang="en-US" sz="1200" b="0" i="0" kern="1200" dirty="0">
                <a:solidFill>
                  <a:schemeClr val="tx1"/>
                </a:solidFill>
                <a:effectLst/>
                <a:latin typeface="+mn-lt"/>
                <a:ea typeface="+mn-ea"/>
                <a:cs typeface="+mn-cs"/>
              </a:rPr>
              <a:t>The capacity calculators provide an estimate based on simple input criteria. The most accurate way to determine your capacity is to benchmark a deployment with a representational workload for your use case.</a:t>
            </a:r>
          </a:p>
          <a:p>
            <a:endParaRPr lang="en-US" sz="1200" b="0" i="0" kern="1200" dirty="0">
              <a:solidFill>
                <a:schemeClr val="tx1"/>
              </a:solidFill>
              <a:effectLst/>
              <a:latin typeface="+mn-lt"/>
              <a:ea typeface="+mn-ea"/>
              <a:cs typeface="+mn-cs"/>
            </a:endParaRPr>
          </a:p>
          <a:p>
            <a:r>
              <a:rPr lang="en-US" sz="1200" b="1" i="0" u="sng" kern="1200" dirty="0">
                <a:solidFill>
                  <a:schemeClr val="tx1"/>
                </a:solidFill>
                <a:effectLst/>
                <a:latin typeface="+mn-lt"/>
                <a:ea typeface="+mn-ea"/>
                <a:cs typeface="+mn-cs"/>
              </a:rPr>
              <a:t xml:space="preserve">Example scenario </a:t>
            </a:r>
            <a:r>
              <a:rPr lang="en-US" sz="1200" b="0" i="0" kern="1200" dirty="0">
                <a:solidFill>
                  <a:schemeClr val="tx1"/>
                </a:solidFill>
                <a:effectLst/>
                <a:latin typeface="+mn-lt"/>
                <a:ea typeface="+mn-ea"/>
                <a:cs typeface="+mn-cs"/>
              </a:rPr>
              <a:t>- In Microsoft Foundry, heading to the management center to check the quota. On the quota page, I'll select the capacity calculator and focus on the GPT-4o model for my agent. I'll clear existing workloads and add a new one for a foreign agent I'm building. I'm expecting about 20 peak calls per minute, with 2,000 average tokens in the prompt and 1,000 in the completion. Running the calculator, I find I need 50 PTUs for the required throughput. With this information, I'll go to the GPT-4o model in the catalog and deploy it. I'll choose global provision throughput and select 50 PTUs for deployment, ensuring the guaranteed throughput for our agent</a:t>
            </a:r>
          </a:p>
          <a:p>
            <a:endParaRPr lang="en-US" dirty="0"/>
          </a:p>
          <a:p>
            <a:endParaRPr lang="en-US" dirty="0"/>
          </a:p>
        </p:txBody>
      </p:sp>
      <p:sp>
        <p:nvSpPr>
          <p:cNvPr id="4" name="Slide Number Placeholder 3">
            <a:extLst>
              <a:ext uri="{FF2B5EF4-FFF2-40B4-BE49-F238E27FC236}">
                <a16:creationId xmlns:a16="http://schemas.microsoft.com/office/drawing/2014/main" id="{2CEA79CF-89AB-0EA4-16EA-BF72A1BB24E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707E651-CDAF-C05D-3EDB-4056B95B251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lide Image Placeholder 12">
            <a:extLst>
              <a:ext uri="{FF2B5EF4-FFF2-40B4-BE49-F238E27FC236}">
                <a16:creationId xmlns:a16="http://schemas.microsoft.com/office/drawing/2014/main" id="{3BCBBD68-47C1-9A95-990C-2974141C6466}"/>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37070397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406EE-9C65-A459-A17A-03AE87691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63E93-9A08-EFD8-63A8-B2F030C7A3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41B45-2582-B929-1764-12AB52E6A8D2}"/>
              </a:ext>
            </a:extLst>
          </p:cNvPr>
          <p:cNvSpPr>
            <a:spLocks noGrp="1"/>
          </p:cNvSpPr>
          <p:nvPr>
            <p:ph type="body" idx="1"/>
          </p:nvPr>
        </p:nvSpPr>
        <p:spPr/>
        <p:txBody>
          <a:bodyPr/>
          <a:lstStyle/>
          <a:p>
            <a:r>
              <a:rPr kumimoji="0" lang="en-US" sz="12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 xml:space="preserve">IMPORTANT: Financial criteria must be met to exchange reservations. </a:t>
            </a:r>
            <a:endParaRPr lang="en-US" dirty="0"/>
          </a:p>
        </p:txBody>
      </p:sp>
      <p:sp>
        <p:nvSpPr>
          <p:cNvPr id="4" name="Slide Number Placeholder 3">
            <a:extLst>
              <a:ext uri="{FF2B5EF4-FFF2-40B4-BE49-F238E27FC236}">
                <a16:creationId xmlns:a16="http://schemas.microsoft.com/office/drawing/2014/main" id="{2FC5820A-7423-0147-6EC6-1434F45809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1B7024-EF45-4C6D-AFC1-88F111D925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4894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1B7024-EF45-4C6D-AFC1-88F111D9257D}" type="slidenum">
              <a:rPr lang="en-US" smtClean="0"/>
              <a:t>16</a:t>
            </a:fld>
            <a:endParaRPr lang="en-US"/>
          </a:p>
        </p:txBody>
      </p:sp>
    </p:spTree>
    <p:extLst>
      <p:ext uri="{BB962C8B-B14F-4D97-AF65-F5344CB8AC3E}">
        <p14:creationId xmlns:p14="http://schemas.microsoft.com/office/powerpoint/2010/main" val="1985245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50" dirty="0">
              <a:latin typeface="Segoe UI"/>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29D5F6-0A01-4CB4-8EFF-808AC8FA18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71838432"/>
      </p:ext>
    </p:extLst>
  </p:cSld>
  <p:clrMapOvr>
    <a:masterClrMapping/>
  </p:clrMapOvr>
</p:notes>
</file>

<file path=ppt/slideLayouts/_rels/slideLayout1.xml.rels><?xml version="1.0" encoding="UTF-8"?><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1.xml.rels><?xml version="1.0" encoding="UTF-8"?><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6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4.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94.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96.xml.rels><?xml version="1.0" encoding="UTF-8"?><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97.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00.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 xml:space="preserve">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58230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3116707665"/>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3010085403"/>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2694328348"/>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 xml:space="preserve">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42457047"/>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810782447"/>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2336040834"/>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3244233513"/>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2382863440"/>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2484935197"/>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4005417726"/>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1592520046"/>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270778490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913270487"/>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endParaRPr lang="en-US"/>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3372119895"/>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94581086"/>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97588385"/>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791703875"/>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90573164"/>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76300437"/>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332736479"/>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3342411034"/>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endParaRPr lang="en-US"/>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428427822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endParaRPr lang="en-US"/>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743742518"/>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endParaRPr lang="en-US"/>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2337066004"/>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940479358"/>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2646348175"/>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3666944138"/>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2830458108"/>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1088118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 xml:space="preserve">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90273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2179897504"/>
      </p:ext>
    </p:extLst>
  </p:cSld>
  <p:clrMapOvr>
    <a:masterClrMapping/>
  </p:clrMapOvr>
  <p:transition>
    <p:fade/>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083759477"/>
      </p:ext>
    </p:extLst>
  </p:cSld>
  <p:clrMapOvr>
    <a:masterClrMapping/>
  </p:clrMapOvr>
  <p:transition>
    <p:fade/>
  </p:transition>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717238244"/>
      </p:ext>
    </p:extLst>
  </p:cSld>
  <p:clrMapOvr>
    <a:masterClrMapping/>
  </p:clrMapOvr>
  <p:transition>
    <p:fade/>
  </p:transition>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 xml:space="preserve">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11534013"/>
      </p:ext>
    </p:extLst>
  </p:cSld>
  <p:clrMapOvr>
    <a:masterClrMapping/>
  </p:clrMapOvr>
  <p:transition>
    <p:fade/>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25203353"/>
      </p:ext>
    </p:extLst>
  </p:cSld>
  <p:clrMapOvr>
    <a:masterClrMapping/>
  </p:clrMapOvr>
  <p:transition>
    <p:fade/>
  </p:transition>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11320402"/>
      </p:ext>
    </p:extLst>
  </p:cSld>
  <p:clrMapOvr>
    <a:masterClrMapping/>
  </p:clrMapOvr>
  <p:transition>
    <p:fade/>
  </p:transition>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741659509"/>
      </p:ext>
    </p:extLst>
  </p:cSld>
  <p:clrMapOvr>
    <a:masterClrMapping/>
  </p:clrMapOvr>
  <p:transition>
    <p:fade/>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736733676"/>
      </p:ext>
    </p:extLst>
  </p:cSld>
  <p:clrMapOvr>
    <a:masterClrMapping/>
  </p:clrMapOvr>
  <p:transition>
    <p:fade/>
  </p:transition>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1240961813"/>
      </p:ext>
    </p:extLst>
  </p:cSld>
  <p:clrMapOvr>
    <a:masterClrMapping/>
  </p:clrMapOvr>
  <p:transition>
    <p:fade/>
  </p:transition>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74252379"/>
      </p:ext>
    </p:extLst>
  </p:cSld>
  <p:clrMapOvr>
    <a:masterClrMapping/>
  </p:clrMapOvr>
  <p:transition>
    <p:fade/>
  </p:transition>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926046918"/>
      </p:ext>
    </p:extLst>
  </p:cSld>
  <p:clrMapOvr>
    <a:masterClrMapping/>
  </p:clrMapOvr>
  <p:transition>
    <p:fade/>
  </p:transition>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222018634"/>
      </p:ext>
    </p:extLst>
  </p:cSld>
  <p:clrMapOvr>
    <a:masterClrMapping/>
  </p:clrMapOvr>
  <p:transition>
    <p:fade/>
  </p:transition>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448145101"/>
      </p:ext>
    </p:extLst>
  </p:cSld>
  <p:clrMapOvr>
    <a:masterClrMapping/>
  </p:clrMapOvr>
  <p:transition>
    <p:fade/>
  </p:transition>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735459821"/>
      </p:ext>
    </p:extLst>
  </p:cSld>
  <p:clrMapOvr>
    <a:masterClrMapping/>
  </p:clrMapOvr>
  <p:transition>
    <p:fade/>
  </p:transition>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285441268"/>
      </p:ext>
    </p:extLst>
  </p:cSld>
  <p:clrMapOvr>
    <a:masterClrMapping/>
  </p:clrMapOvr>
  <p:transition>
    <p:fade/>
  </p:transition>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04747030"/>
      </p:ext>
    </p:extLst>
  </p:cSld>
  <p:clrMapOvr>
    <a:masterClrMapping/>
  </p:clrMapOvr>
  <p:transition>
    <p:fade/>
  </p:transition>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73180445"/>
      </p:ext>
    </p:extLst>
  </p:cSld>
  <p:clrMapOvr>
    <a:masterClrMapping/>
  </p:clrMapOvr>
  <p:transition>
    <p:fade/>
  </p:transition>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22645788"/>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216227384"/>
      </p:ext>
    </p:extLst>
  </p:cSld>
  <p:clrMapOvr>
    <a:masterClrMapping/>
  </p:clrMapOvr>
  <p:transition>
    <p:fade/>
  </p:transition>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 xml:space="preserve">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710164504"/>
      </p:ext>
    </p:extLst>
  </p:cSld>
  <p:clrMapOvr>
    <a:masterClrMapping/>
  </p:clrMapOvr>
  <p:transition>
    <p:fade/>
  </p:transition>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55747412"/>
      </p:ext>
    </p:extLst>
  </p:cSld>
  <p:clrMapOvr>
    <a:masterClrMapping/>
  </p:clrMapOvr>
  <p:transition>
    <p:fade/>
  </p:transition>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42274152"/>
      </p:ext>
    </p:extLst>
  </p:cSld>
  <p:clrMapOvr>
    <a:masterClrMapping/>
  </p:clrMapOvr>
  <p:transition>
    <p:fade/>
  </p:transition>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280912902"/>
      </p:ext>
    </p:extLst>
  </p:cSld>
  <p:clrMapOvr>
    <a:masterClrMapping/>
  </p:clrMapOvr>
  <p:transition>
    <p:fade/>
  </p:transition>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079764297"/>
      </p:ext>
    </p:extLst>
  </p:cSld>
  <p:clrMapOvr>
    <a:masterClrMapping/>
  </p:clrMapOvr>
  <p:transition>
    <p:fade/>
  </p:transition>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0668516"/>
      </p:ext>
    </p:extLst>
  </p:cSld>
  <p:clrMapOvr>
    <a:masterClrMapping/>
  </p:clrMapOvr>
  <p:transition>
    <p:fade/>
  </p:transition>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5230071"/>
      </p:ext>
    </p:extLst>
  </p:cSld>
  <p:clrMapOvr>
    <a:masterClrMapping/>
  </p:clrMapOvr>
  <p:transition>
    <p:fade/>
  </p:transition>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00204172"/>
      </p:ext>
    </p:extLst>
  </p:cSld>
  <p:clrMapOvr>
    <a:masterClrMapping/>
  </p:clrMapOvr>
  <p:transition>
    <p:fade/>
  </p:transition>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187182746"/>
      </p:ext>
    </p:extLst>
  </p:cSld>
  <p:clrMapOvr>
    <a:masterClrMapping/>
  </p:clrMapOvr>
  <p:transition>
    <p:fade/>
  </p:transition>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141702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err="1">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2555978495"/>
      </p:ext>
    </p:extLst>
  </p:cSld>
  <p:clrMapOvr>
    <a:masterClrMapping/>
  </p:clrMapOvr>
  <p:transition>
    <p:fade/>
  </p:transition>
  <p:extLst>
    <p:ext uri="{DCECCB84-F9BA-43D5-87BE-67443E8EF086}">
      <p15:sldGuideLst xmlns:p15="http://schemas.microsoft.com/office/powerpoint/2012/main">
        <p15:guide id="6" pos="740">
          <p15:clr>
            <a:srgbClr val="A4A3A4"/>
          </p15:clr>
        </p15:guide>
        <p15:guide id="7" pos="878">
          <p15:clr>
            <a:srgbClr val="A4A3A4"/>
          </p15:clr>
        </p15:guide>
        <p15:guide id="8" pos="1348">
          <p15:clr>
            <a:srgbClr val="A4A3A4"/>
          </p15:clr>
        </p15:guide>
        <p15:guide id="9" pos="1486">
          <p15:clr>
            <a:srgbClr val="A4A3A4"/>
          </p15:clr>
        </p15:guide>
        <p15:guide id="10" pos="1952">
          <p15:clr>
            <a:srgbClr val="A4A3A4"/>
          </p15:clr>
        </p15:guide>
        <p15:guide id="11" pos="2091">
          <p15:clr>
            <a:srgbClr val="A4A3A4"/>
          </p15:clr>
        </p15:guide>
        <p15:guide id="12" pos="2560">
          <p15:clr>
            <a:srgbClr val="A4A3A4"/>
          </p15:clr>
        </p15:guide>
        <p15:guide id="13" pos="2695">
          <p15:clr>
            <a:srgbClr val="A4A3A4"/>
          </p15:clr>
        </p15:guide>
        <p15:guide id="14" pos="3164">
          <p15:clr>
            <a:srgbClr val="A4A3A4"/>
          </p15:clr>
        </p15:guide>
        <p15:guide id="15" pos="3300">
          <p15:clr>
            <a:srgbClr val="A4A3A4"/>
          </p15:clr>
        </p15:guide>
        <p15:guide id="16" pos="3772">
          <p15:clr>
            <a:srgbClr val="A4A3A4"/>
          </p15:clr>
        </p15:guide>
        <p15:guide id="17" pos="3908">
          <p15:clr>
            <a:srgbClr val="A4A3A4"/>
          </p15:clr>
        </p15:guide>
        <p15:guide id="18" pos="4380">
          <p15:clr>
            <a:srgbClr val="A4A3A4"/>
          </p15:clr>
        </p15:guide>
        <p15:guide id="19" pos="4516">
          <p15:clr>
            <a:srgbClr val="A4A3A4"/>
          </p15:clr>
        </p15:guide>
        <p15:guide id="20" pos="4985">
          <p15:clr>
            <a:srgbClr val="A4A3A4"/>
          </p15:clr>
        </p15:guide>
        <p15:guide id="21" pos="5120">
          <p15:clr>
            <a:srgbClr val="A4A3A4"/>
          </p15:clr>
        </p15:guide>
        <p15:guide id="22" pos="5589">
          <p15:clr>
            <a:srgbClr val="A4A3A4"/>
          </p15:clr>
        </p15:guide>
        <p15:guide id="23" pos="5728">
          <p15:clr>
            <a:srgbClr val="A4A3A4"/>
          </p15:clr>
        </p15:guide>
        <p15:guide id="24" pos="6194">
          <p15:clr>
            <a:srgbClr val="A4A3A4"/>
          </p15:clr>
        </p15:guide>
        <p15:guide id="25" pos="6332">
          <p15:clr>
            <a:srgbClr val="A4A3A4"/>
          </p15:clr>
        </p15:guide>
        <p15:guide id="26" pos="6802">
          <p15:clr>
            <a:srgbClr val="A4A3A4"/>
          </p15:clr>
        </p15:guide>
        <p15:guide id="27" pos="6940">
          <p15:clr>
            <a:srgbClr val="A4A3A4"/>
          </p15:clr>
        </p15:guide>
        <p15:guide id="28" orient="horz" pos="905">
          <p15:clr>
            <a:srgbClr val="5ACBF0"/>
          </p15:clr>
        </p15:guide>
        <p15:guide id="29" orient="horz" pos="127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45219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 xml:space="preserve">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653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223061365"/>
      </p:ext>
    </p:extLst>
  </p:cSld>
  <p:clrMapOvr>
    <a:masterClrMapping/>
  </p:clrMapOvr>
  <p:transition>
    <p:fade/>
  </p:transition>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3147072248"/>
      </p:ext>
    </p:extLst>
  </p:cSld>
  <p:clrMapOvr>
    <a:masterClrMapping/>
  </p:clrMapOvr>
  <p:transition>
    <p:fade/>
  </p:transition>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3364259416"/>
      </p:ext>
    </p:extLst>
  </p:cSld>
  <p:clrMapOvr>
    <a:masterClrMapping/>
  </p:clrMapOvr>
  <p:transition>
    <p:fade/>
  </p:transition>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 xml:space="preserve">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46201507"/>
      </p:ext>
    </p:extLst>
  </p:cSld>
  <p:clrMapOvr>
    <a:masterClrMapping/>
  </p:clrMapOvr>
  <p:transition>
    <p:fade/>
  </p:transition>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905776293"/>
      </p:ext>
    </p:extLst>
  </p:cSld>
  <p:clrMapOvr>
    <a:masterClrMapping/>
  </p:clrMapOvr>
  <p:transition>
    <p:fade/>
  </p:transition>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2328484343"/>
      </p:ext>
    </p:extLst>
  </p:cSld>
  <p:clrMapOvr>
    <a:masterClrMapping/>
  </p:clrMapOvr>
  <p:transition>
    <p:fade/>
  </p:transition>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121056516"/>
      </p:ext>
    </p:extLst>
  </p:cSld>
  <p:clrMapOvr>
    <a:masterClrMapping/>
  </p:clrMapOvr>
  <p:transition>
    <p:fade/>
  </p:transition>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2989245328"/>
      </p:ext>
    </p:extLst>
  </p:cSld>
  <p:clrMapOvr>
    <a:masterClrMapping/>
  </p:clrMapOvr>
  <p:transition>
    <p:fade/>
  </p:transition>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181545985"/>
      </p:ext>
    </p:extLst>
  </p:cSld>
  <p:clrMapOvr>
    <a:masterClrMapping/>
  </p:clrMapOvr>
  <p:transition>
    <p:fade/>
  </p:transition>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3351632689"/>
      </p:ext>
    </p:extLst>
  </p:cSld>
  <p:clrMapOvr>
    <a:masterClrMapping/>
  </p:clrMapOvr>
  <p:transition>
    <p:fade/>
  </p:transition>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dirty="0"/>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628866252"/>
      </p:ext>
    </p:extLst>
  </p:cSld>
  <p:clrMapOvr>
    <a:masterClrMapping/>
  </p:clrMapOvr>
  <p:transition>
    <p:fade/>
  </p:transition>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dirty="0"/>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799312268"/>
      </p:ext>
    </p:extLst>
  </p:cSld>
  <p:clrMapOvr>
    <a:masterClrMapping/>
  </p:clrMapOvr>
  <p:transition>
    <p:fade/>
  </p:transition>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userDrawn="1"/>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4019380153"/>
      </p:ext>
    </p:extLst>
  </p:cSld>
  <p:clrMapOvr>
    <a:masterClrMapping/>
  </p:clrMapOvr>
  <p:transition>
    <p:fade/>
  </p:transition>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3087842"/>
      </p:ext>
    </p:extLst>
  </p:cSld>
  <p:clrMapOvr>
    <a:masterClrMapping/>
  </p:clrMapOvr>
  <p:transition>
    <p:fade/>
  </p:transition>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9566631"/>
      </p:ext>
    </p:extLst>
  </p:cSld>
  <p:clrMapOvr>
    <a:masterClrMapping/>
  </p:clrMapOvr>
  <p:transition>
    <p:fade/>
  </p:transition>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106057"/>
      </p:ext>
    </p:extLst>
  </p:cSld>
  <p:clrMapOvr>
    <a:masterClrMapping/>
  </p:clrMapOvr>
  <p:transition>
    <p:fade/>
  </p:transition>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1879090"/>
      </p:ext>
    </p:extLst>
  </p:cSld>
  <p:clrMapOvr>
    <a:masterClrMapping/>
  </p:clrMapOvr>
  <p:transition>
    <p:fade/>
  </p:transition>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157334"/>
      </p:ext>
    </p:extLst>
  </p:cSld>
  <p:clrMapOvr>
    <a:masterClrMapping/>
  </p:clrMapOvr>
  <p:transition>
    <p:fade/>
  </p:transition>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389134"/>
      </p:ext>
    </p:extLst>
  </p:cSld>
  <p:clrMapOvr>
    <a:masterClrMapping/>
  </p:clrMapOvr>
  <p:transition>
    <p:fade/>
  </p:transition>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6603332"/>
      </p:ext>
    </p:extLst>
  </p:cSld>
  <p:clrMapOvr>
    <a:masterClrMapping/>
  </p:clrMapOvr>
  <p:transition>
    <p:fade/>
  </p:transition>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Divider_7">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dirty="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07</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881169"/>
      </p:ext>
    </p:extLst>
  </p:cSld>
  <p:clrMapOvr>
    <a:masterClrMapping/>
  </p:clrMapOvr>
  <p:transition>
    <p:fade/>
  </p:transition>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3132437"/>
      </p:ext>
    </p:extLst>
  </p:cSld>
  <p:clrMapOvr>
    <a:masterClrMapping/>
  </p:clrMapOvr>
  <p:transition>
    <p:fade/>
  </p:transition>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871336"/>
      </p:ext>
    </p:extLst>
  </p:cSld>
  <p:clrMapOvr>
    <a:masterClrMapping/>
  </p:clrMapOvr>
  <p:transition>
    <p:fade/>
  </p:transition>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380494"/>
      </p:ext>
    </p:extLst>
  </p:cSld>
  <p:clrMapOvr>
    <a:masterClrMapping/>
  </p:clrMapOvr>
  <p:transition>
    <p:fade/>
  </p:transition>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438161"/>
      </p:ext>
    </p:extLst>
  </p:cSld>
  <p:clrMapOvr>
    <a:masterClrMapping/>
  </p:clrMapOvr>
  <p:transition>
    <p:fade/>
  </p:transition>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3611931932"/>
      </p:ext>
    </p:extLst>
  </p:cSld>
  <p:clrMapOvr>
    <a:masterClrMapping/>
  </p:clrMapOvr>
  <p:transition>
    <p:fade/>
  </p:transition>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2775188777"/>
      </p:ext>
    </p:extLst>
  </p:cSld>
  <p:clrMapOvr>
    <a:masterClrMapping/>
  </p:clrMapOvr>
  <p:transition>
    <p:fade/>
  </p:transition>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610165340"/>
      </p:ext>
    </p:extLst>
  </p:cSld>
  <p:clrMapOvr>
    <a:masterClrMapping/>
  </p:clrMapOvr>
  <p:transition>
    <p:fade/>
  </p:transition>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2427489037"/>
      </p:ext>
    </p:extLst>
  </p:cSld>
  <p:clrMapOvr>
    <a:masterClrMapping/>
  </p:clrMapOvr>
  <p:transition>
    <p:fade/>
  </p:transition>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73699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a:xfrm>
            <a:off x="588262" y="416560"/>
            <a:ext cx="10973817" cy="492443"/>
          </a:xfrm>
        </p:spPr>
        <p:txBody>
          <a:bodyPr lIns="0" tIns="0" rIns="0" bIns="0">
            <a:noAutofit/>
          </a:bodyPr>
          <a:lstStyle>
            <a:lvl1pPr>
              <a:defRPr sz="3200"/>
            </a:lvl1pPr>
          </a:lstStyle>
          <a:p>
            <a:r>
              <a:rPr lang="en-US"/>
              <a:t>Click to edit Master title style</a:t>
            </a:r>
          </a:p>
        </p:txBody>
      </p:sp>
    </p:spTree>
    <p:extLst>
      <p:ext uri="{BB962C8B-B14F-4D97-AF65-F5344CB8AC3E}">
        <p14:creationId xmlns:p14="http://schemas.microsoft.com/office/powerpoint/2010/main" val="2309145624"/>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dirty="0"/>
              <a:t xml:space="preserve">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2141698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Closing logo slide">
    <p:bg>
      <p:bgPr>
        <a:solidFill>
          <a:schemeClr val="tx2"/>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xml:space="preserve">© Copyright Microsoft Corporation. All rights reserved. </a:t>
            </a:r>
          </a:p>
        </p:txBody>
      </p:sp>
      <p:pic>
        <p:nvPicPr>
          <p:cNvPr id="10" name="Picture 9" descr="Microsoft Logo">
            <a:extLst>
              <a:ext uri="{FF2B5EF4-FFF2-40B4-BE49-F238E27FC236}">
                <a16:creationId xmlns:a16="http://schemas.microsoft.com/office/drawing/2014/main" id="{636C95FD-6A74-4A60-A70A-46D16BA519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2585964549"/>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F638-4CAF-4A32-AC31-E0C050F18A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2DD10D-FFBE-4CE0-A11A-72881D79C4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EA573D-927B-4AB6-8BA1-3D159858AE54}"/>
              </a:ext>
            </a:extLst>
          </p:cNvPr>
          <p:cNvSpPr>
            <a:spLocks noGrp="1"/>
          </p:cNvSpPr>
          <p:nvPr>
            <p:ph type="dt" sz="half" idx="10"/>
          </p:nvPr>
        </p:nvSpPr>
        <p:spPr/>
        <p:txBody>
          <a:bodyPr/>
          <a:lstStyle/>
          <a:p>
            <a:fld id="{3E542E78-51E7-4258-9C43-23B79F60EAB6}" type="datetimeFigureOut">
              <a:rPr lang="en-US" smtClean="0"/>
              <a:t>8/22/2025</a:t>
            </a:fld>
            <a:endParaRPr lang="en-US"/>
          </a:p>
        </p:txBody>
      </p:sp>
    </p:spTree>
    <p:extLst>
      <p:ext uri="{BB962C8B-B14F-4D97-AF65-F5344CB8AC3E}">
        <p14:creationId xmlns:p14="http://schemas.microsoft.com/office/powerpoint/2010/main" val="401751223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2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92443"/>
          </a:xfrm>
        </p:spPr>
        <p:txBody>
          <a:bodyPr wrap="square" lIns="0" tIns="0" rIns="0" bIns="0">
            <a:spAutoFit/>
          </a:bodyPr>
          <a:lstStyle>
            <a:lvl1pPr>
              <a:lnSpc>
                <a:spcPct val="100000"/>
              </a:lnSpc>
              <a:defRPr sz="3200" strike="noStrike">
                <a:gradFill>
                  <a:gsLst>
                    <a:gs pos="83000">
                      <a:schemeClr val="tx1"/>
                    </a:gs>
                    <a:gs pos="99000">
                      <a:schemeClr val="tx1"/>
                    </a:gs>
                  </a:gsLst>
                  <a:lin ang="5400000" scaled="1"/>
                </a:gradFill>
              </a:defRPr>
            </a:lvl1pPr>
          </a:lstStyle>
          <a:p>
            <a:r>
              <a:rPr lang="en-US"/>
              <a:t>Title</a:t>
            </a:r>
          </a:p>
        </p:txBody>
      </p:sp>
    </p:spTree>
    <p:extLst>
      <p:ext uri="{BB962C8B-B14F-4D97-AF65-F5344CB8AC3E}">
        <p14:creationId xmlns:p14="http://schemas.microsoft.com/office/powerpoint/2010/main" val="1145449934"/>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Title Slide 2">
    <p:bg>
      <p:bgRef idx="1001">
        <a:schemeClr val="bg1"/>
      </p:bgRef>
    </p:bg>
    <p:spTree>
      <p:nvGrpSpPr>
        <p:cNvPr id="1" name=""/>
        <p:cNvGrpSpPr/>
        <p:nvPr/>
      </p:nvGrpSpPr>
      <p:grpSpPr>
        <a:xfrm>
          <a:off x="0" y="0"/>
          <a:ext cx="0" cy="0"/>
          <a:chOff x="0" y="0"/>
          <a:chExt cx="0" cy="0"/>
        </a:xfrm>
      </p:grpSpPr>
      <p:pic>
        <p:nvPicPr>
          <p:cNvPr id="6" name="MS logo gray - EMF">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283297" y="281709"/>
            <a:ext cx="2440148" cy="902855"/>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 xml:space="preserve">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rgbClr val="000000"/>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7816791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1_Key Differentiator">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7B97B85-2CF1-B115-30C1-F5BD40079A36}"/>
              </a:ext>
            </a:extLst>
          </p:cNvPr>
          <p:cNvSpPr/>
          <p:nvPr userDrawn="1"/>
        </p:nvSpPr>
        <p:spPr bwMode="auto">
          <a:xfrm>
            <a:off x="0" y="0"/>
            <a:ext cx="12192000" cy="1884716"/>
          </a:xfrm>
          <a:custGeom>
            <a:avLst/>
            <a:gdLst>
              <a:gd name="connsiteX0" fmla="*/ 0 w 12192000"/>
              <a:gd name="connsiteY0" fmla="*/ 0 h 1949841"/>
              <a:gd name="connsiteX1" fmla="*/ 12192000 w 12192000"/>
              <a:gd name="connsiteY1" fmla="*/ 0 h 1949841"/>
              <a:gd name="connsiteX2" fmla="*/ 12192000 w 12192000"/>
              <a:gd name="connsiteY2" fmla="*/ 1611984 h 1949841"/>
              <a:gd name="connsiteX3" fmla="*/ 4619672 w 12192000"/>
              <a:gd name="connsiteY3" fmla="*/ 1611984 h 1949841"/>
              <a:gd name="connsiteX4" fmla="*/ 4307841 w 12192000"/>
              <a:gd name="connsiteY4" fmla="*/ 1923815 h 1949841"/>
              <a:gd name="connsiteX5" fmla="*/ 4307841 w 12192000"/>
              <a:gd name="connsiteY5" fmla="*/ 1949841 h 1949841"/>
              <a:gd name="connsiteX6" fmla="*/ 0 w 12192000"/>
              <a:gd name="connsiteY6" fmla="*/ 1949841 h 1949841"/>
              <a:gd name="connsiteX7" fmla="*/ 0 w 12192000"/>
              <a:gd name="connsiteY7" fmla="*/ 0 h 1949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49841">
                <a:moveTo>
                  <a:pt x="0" y="0"/>
                </a:moveTo>
                <a:lnTo>
                  <a:pt x="12192000" y="0"/>
                </a:lnTo>
                <a:lnTo>
                  <a:pt x="12192000" y="1611984"/>
                </a:lnTo>
                <a:lnTo>
                  <a:pt x="4619672" y="1611984"/>
                </a:lnTo>
                <a:cubicBezTo>
                  <a:pt x="4447452" y="1611984"/>
                  <a:pt x="4307841" y="1751595"/>
                  <a:pt x="4307841" y="1923815"/>
                </a:cubicBezTo>
                <a:lnTo>
                  <a:pt x="4307841" y="1949841"/>
                </a:lnTo>
                <a:lnTo>
                  <a:pt x="0" y="1949841"/>
                </a:lnTo>
                <a:lnTo>
                  <a:pt x="0" y="0"/>
                </a:lnTo>
                <a:close/>
              </a:path>
            </a:pathLst>
          </a:custGeom>
          <a:solidFill>
            <a:schemeClr val="bg1">
              <a:lumMod val="95000"/>
            </a:schemeClr>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1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Calibri" panose="020F0502020204030204"/>
              <a:ea typeface="+mn-ea"/>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0049257" cy="553998"/>
          </a:xfrm>
        </p:spPr>
        <p:txBody>
          <a:bodyPr/>
          <a:lstStyle/>
          <a:p>
            <a:r>
              <a:rPr lang="en-US"/>
              <a:t>Click to edit Master title style</a:t>
            </a:r>
          </a:p>
        </p:txBody>
      </p:sp>
      <p:sp>
        <p:nvSpPr>
          <p:cNvPr id="5" name="Rectangle: Top Corners Rounded 4">
            <a:extLst>
              <a:ext uri="{FF2B5EF4-FFF2-40B4-BE49-F238E27FC236}">
                <a16:creationId xmlns:a16="http://schemas.microsoft.com/office/drawing/2014/main" id="{EB6C96E3-B02C-43AF-E658-428651FA4007}"/>
              </a:ext>
              <a:ext uri="{C183D7F6-B498-43B3-948B-1728B52AA6E4}">
                <adec:decorative xmlns:adec="http://schemas.microsoft.com/office/drawing/2017/decorative" val="1"/>
              </a:ext>
            </a:extLst>
          </p:cNvPr>
          <p:cNvSpPr/>
          <p:nvPr/>
        </p:nvSpPr>
        <p:spPr bwMode="auto">
          <a:xfrm rot="16200000">
            <a:off x="5944590" y="167901"/>
            <a:ext cx="4747826" cy="7746998"/>
          </a:xfrm>
          <a:prstGeom prst="round2SameRect">
            <a:avLst>
              <a:gd name="adj1" fmla="val 4036"/>
              <a:gd name="adj2" fmla="val 0"/>
            </a:avLst>
          </a:prstGeom>
          <a:solidFill>
            <a:schemeClr val="tx1">
              <a:lumMod val="50000"/>
            </a:schemeClr>
          </a:solidFill>
          <a:ln>
            <a:no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Picture Placeholder 56">
            <a:extLst>
              <a:ext uri="{FF2B5EF4-FFF2-40B4-BE49-F238E27FC236}">
                <a16:creationId xmlns:a16="http://schemas.microsoft.com/office/drawing/2014/main" id="{CCCF1159-71BD-D20F-FE78-8963CB64A557}"/>
              </a:ext>
            </a:extLst>
          </p:cNvPr>
          <p:cNvSpPr>
            <a:spLocks noGrp="1"/>
          </p:cNvSpPr>
          <p:nvPr>
            <p:ph type="pic" sz="quarter" idx="18" hasCustomPrompt="1"/>
          </p:nvPr>
        </p:nvSpPr>
        <p:spPr>
          <a:xfrm>
            <a:off x="4622801" y="1843340"/>
            <a:ext cx="7569200" cy="4396118"/>
          </a:xfrm>
          <a:prstGeom prst="rect">
            <a:avLst/>
          </a:prstGeom>
          <a:solidFill>
            <a:schemeClr val="bg1"/>
          </a:solidFill>
        </p:spPr>
        <p:txBody>
          <a:bodyPr bIns="914400" anchor="ct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2800" kern="1200" spc="0" baseline="0" dirty="0">
                <a:solidFill>
                  <a:schemeClr val="tx1"/>
                </a:solidFill>
                <a:latin typeface="+mn-lt"/>
                <a:ea typeface="+mn-ea"/>
                <a:cs typeface="Segoe UI" panose="020B0502040204020203" pitchFamily="34" charset="0"/>
              </a:defRPr>
            </a:lvl1pPr>
          </a:lstStyle>
          <a:p>
            <a:r>
              <a:rPr lang="en-US"/>
              <a:t>Click on the icon to add Image</a:t>
            </a:r>
          </a:p>
        </p:txBody>
      </p:sp>
      <p:sp>
        <p:nvSpPr>
          <p:cNvPr id="15" name="Text Placeholder 11">
            <a:extLst>
              <a:ext uri="{FF2B5EF4-FFF2-40B4-BE49-F238E27FC236}">
                <a16:creationId xmlns:a16="http://schemas.microsoft.com/office/drawing/2014/main" id="{03477E80-CAE1-DD42-1452-AC0602594CD6}"/>
              </a:ext>
            </a:extLst>
          </p:cNvPr>
          <p:cNvSpPr>
            <a:spLocks noGrp="1"/>
          </p:cNvSpPr>
          <p:nvPr>
            <p:ph type="body" sz="quarter" idx="26" hasCustomPrompt="1"/>
          </p:nvPr>
        </p:nvSpPr>
        <p:spPr>
          <a:xfrm>
            <a:off x="588263" y="2087040"/>
            <a:ext cx="3621024" cy="786384"/>
          </a:xfrm>
          <a:no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23" name="Text Placeholder 11">
            <a:extLst>
              <a:ext uri="{FF2B5EF4-FFF2-40B4-BE49-F238E27FC236}">
                <a16:creationId xmlns:a16="http://schemas.microsoft.com/office/drawing/2014/main" id="{921799A4-6F69-314E-AB6C-21AF43931173}"/>
              </a:ext>
            </a:extLst>
          </p:cNvPr>
          <p:cNvSpPr>
            <a:spLocks noGrp="1"/>
          </p:cNvSpPr>
          <p:nvPr>
            <p:ph type="body" sz="quarter" idx="27" hasCustomPrompt="1"/>
          </p:nvPr>
        </p:nvSpPr>
        <p:spPr>
          <a:xfrm>
            <a:off x="588263" y="3209052"/>
            <a:ext cx="3621024" cy="786384"/>
          </a:xfrm>
          <a:no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24" name="Text Placeholder 11">
            <a:extLst>
              <a:ext uri="{FF2B5EF4-FFF2-40B4-BE49-F238E27FC236}">
                <a16:creationId xmlns:a16="http://schemas.microsoft.com/office/drawing/2014/main" id="{9937B16B-15DB-F73E-EE36-B1B53A27B635}"/>
              </a:ext>
            </a:extLst>
          </p:cNvPr>
          <p:cNvSpPr>
            <a:spLocks noGrp="1"/>
          </p:cNvSpPr>
          <p:nvPr>
            <p:ph type="body" sz="quarter" idx="28" hasCustomPrompt="1"/>
          </p:nvPr>
        </p:nvSpPr>
        <p:spPr>
          <a:xfrm>
            <a:off x="588263" y="4331064"/>
            <a:ext cx="3621024" cy="786384"/>
          </a:xfrm>
          <a:no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25" name="Text Placeholder 11">
            <a:extLst>
              <a:ext uri="{FF2B5EF4-FFF2-40B4-BE49-F238E27FC236}">
                <a16:creationId xmlns:a16="http://schemas.microsoft.com/office/drawing/2014/main" id="{16DC85F3-18EB-D068-EC58-7955B00F0855}"/>
              </a:ext>
            </a:extLst>
          </p:cNvPr>
          <p:cNvSpPr>
            <a:spLocks noGrp="1"/>
          </p:cNvSpPr>
          <p:nvPr>
            <p:ph type="body" sz="quarter" idx="29" hasCustomPrompt="1"/>
          </p:nvPr>
        </p:nvSpPr>
        <p:spPr>
          <a:xfrm>
            <a:off x="588263" y="5453074"/>
            <a:ext cx="3621024" cy="786384"/>
          </a:xfrm>
          <a:noFill/>
          <a:ln w="15875">
            <a:noFill/>
            <a:headEnd type="none" w="med" len="med"/>
            <a:tailEnd type="none" w="med" len="med"/>
          </a:ln>
          <a:effectLst>
            <a:outerShdw blurRad="279400" algn="ctr"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lvl1pPr marL="0" indent="0">
              <a:buFont typeface="Arial" panose="020B0604020202020204" pitchFamily="34" charset="0"/>
              <a:buNone/>
              <a:defRPr lang="en-US" sz="16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a:t>Click to edit text styles</a:t>
            </a:r>
          </a:p>
        </p:txBody>
      </p:sp>
      <p:sp>
        <p:nvSpPr>
          <p:cNvPr id="27" name="Picture Placeholder 56">
            <a:extLst>
              <a:ext uri="{FF2B5EF4-FFF2-40B4-BE49-F238E27FC236}">
                <a16:creationId xmlns:a16="http://schemas.microsoft.com/office/drawing/2014/main" id="{E260874D-C856-B7DE-F08E-FC4D3EF7BCE2}"/>
              </a:ext>
            </a:extLst>
          </p:cNvPr>
          <p:cNvSpPr>
            <a:spLocks noGrp="1"/>
          </p:cNvSpPr>
          <p:nvPr>
            <p:ph type="pic" sz="quarter" idx="30" hasCustomPrompt="1"/>
          </p:nvPr>
        </p:nvSpPr>
        <p:spPr>
          <a:xfrm>
            <a:off x="10916944" y="270503"/>
            <a:ext cx="927394" cy="927392"/>
          </a:xfrm>
          <a:prstGeom prst="rect">
            <a:avLst/>
          </a:prstGeom>
        </p:spPr>
        <p:txBody>
          <a:bodyPr wrap="none" anchor="ctr">
            <a:noAutofit/>
          </a:bodyPr>
          <a:lstStyle>
            <a:lvl1pPr marL="0" indent="0" algn="ctr">
              <a:buNone/>
              <a:defRPr sz="1600">
                <a:latin typeface="+mj-lt"/>
              </a:defRPr>
            </a:lvl1pPr>
          </a:lstStyle>
          <a:p>
            <a:r>
              <a:rPr lang="en-US"/>
              <a:t>Add icon/</a:t>
            </a:r>
            <a:br>
              <a:rPr lang="en-US"/>
            </a:br>
            <a:r>
              <a:rPr lang="en-US"/>
              <a:t>logo here</a:t>
            </a:r>
          </a:p>
        </p:txBody>
      </p:sp>
    </p:spTree>
    <p:extLst>
      <p:ext uri="{BB962C8B-B14F-4D97-AF65-F5344CB8AC3E}">
        <p14:creationId xmlns:p14="http://schemas.microsoft.com/office/powerpoint/2010/main" val="35223260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1000" fill="hold"/>
                                        <p:tgtEl>
                                          <p:spTgt spid="7"/>
                                        </p:tgtEl>
                                        <p:attrNameLst>
                                          <p:attrName>ppt_x</p:attrName>
                                        </p:attrNameLst>
                                      </p:cBhvr>
                                      <p:tavLst>
                                        <p:tav tm="0">
                                          <p:val>
                                            <p:strVal val="1+#ppt_w/2"/>
                                          </p:val>
                                        </p:tav>
                                        <p:tav tm="100000">
                                          <p:val>
                                            <p:strVal val="#ppt_x"/>
                                          </p:val>
                                        </p:tav>
                                      </p:tavLst>
                                    </p:anim>
                                    <p:anim calcmode="lin" valueType="num">
                                      <p:cBhvr additive="base">
                                        <p:cTn id="12" dur="1000" fill="hold"/>
                                        <p:tgtEl>
                                          <p:spTgt spid="7"/>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35" presetClass="path" presetSubtype="0" accel="50000" decel="50000" fill="hold" grpId="1" nodeType="withEffect">
                                  <p:stCondLst>
                                    <p:cond delay="500"/>
                                  </p:stCondLst>
                                  <p:childTnLst>
                                    <p:animMotion origin="layout" path="M 0.01966 2.59259E-6 L -1.04167E-6 2.59259E-6 " pathEditMode="relative" rAng="0" ptsTypes="AA">
                                      <p:cBhvr>
                                        <p:cTn id="17" dur="1000" fill="hold"/>
                                        <p:tgtEl>
                                          <p:spTgt spid="15"/>
                                        </p:tgtEl>
                                        <p:attrNameLst>
                                          <p:attrName>ppt_x</p:attrName>
                                          <p:attrName>ppt_y</p:attrName>
                                        </p:attrNameLst>
                                      </p:cBhvr>
                                      <p:rCtr x="-977" y="0"/>
                                    </p:animMotion>
                                  </p:childTnLst>
                                </p:cTn>
                              </p:par>
                              <p:par>
                                <p:cTn id="18" presetID="10" presetClass="entr" presetSubtype="0" fill="hold" grpId="0" nodeType="withEffect">
                                  <p:stCondLst>
                                    <p:cond delay="75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35" presetClass="path" presetSubtype="0" accel="50000" decel="50000" fill="hold" grpId="1" nodeType="withEffect">
                                  <p:stCondLst>
                                    <p:cond delay="750"/>
                                  </p:stCondLst>
                                  <p:childTnLst>
                                    <p:animMotion origin="layout" path="M 0.01966 -2.59259E-6 L -1.04167E-6 -2.59259E-6 " pathEditMode="relative" rAng="0" ptsTypes="AA">
                                      <p:cBhvr>
                                        <p:cTn id="22" dur="1000" fill="hold"/>
                                        <p:tgtEl>
                                          <p:spTgt spid="23"/>
                                        </p:tgtEl>
                                        <p:attrNameLst>
                                          <p:attrName>ppt_x</p:attrName>
                                          <p:attrName>ppt_y</p:attrName>
                                        </p:attrNameLst>
                                      </p:cBhvr>
                                      <p:rCtr x="-977" y="0"/>
                                    </p:animMotion>
                                  </p:childTnLst>
                                </p:cTn>
                              </p:par>
                              <p:par>
                                <p:cTn id="23" presetID="10" presetClass="entr" presetSubtype="0" fill="hold" grpId="0" nodeType="withEffect">
                                  <p:stCondLst>
                                    <p:cond delay="100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35" presetClass="path" presetSubtype="0" accel="50000" decel="50000" fill="hold" grpId="1" nodeType="withEffect">
                                  <p:stCondLst>
                                    <p:cond delay="1000"/>
                                  </p:stCondLst>
                                  <p:childTnLst>
                                    <p:animMotion origin="layout" path="M 0.01966 3.7037E-6 L -1.04167E-6 3.7037E-6 " pathEditMode="relative" rAng="0" ptsTypes="AA">
                                      <p:cBhvr>
                                        <p:cTn id="27" dur="1000" fill="hold"/>
                                        <p:tgtEl>
                                          <p:spTgt spid="24"/>
                                        </p:tgtEl>
                                        <p:attrNameLst>
                                          <p:attrName>ppt_x</p:attrName>
                                          <p:attrName>ppt_y</p:attrName>
                                        </p:attrNameLst>
                                      </p:cBhvr>
                                      <p:rCtr x="-977" y="0"/>
                                    </p:animMotion>
                                  </p:childTnLst>
                                </p:cTn>
                              </p:par>
                              <p:par>
                                <p:cTn id="28" presetID="10" presetClass="entr" presetSubtype="0" fill="hold" grpId="0" nodeType="withEffect">
                                  <p:stCondLst>
                                    <p:cond delay="125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par>
                                <p:cTn id="31" presetID="35" presetClass="path" presetSubtype="0" accel="50000" decel="50000" fill="hold" grpId="1" nodeType="withEffect">
                                  <p:stCondLst>
                                    <p:cond delay="1250"/>
                                  </p:stCondLst>
                                  <p:childTnLst>
                                    <p:animMotion origin="layout" path="M 0.01966 4.07407E-6 L -1.04167E-6 4.07407E-6 " pathEditMode="relative" rAng="0" ptsTypes="AA">
                                      <p:cBhvr>
                                        <p:cTn id="32" dur="1000" fill="hold"/>
                                        <p:tgtEl>
                                          <p:spTgt spid="25"/>
                                        </p:tgtEl>
                                        <p:attrNameLst>
                                          <p:attrName>ppt_x</p:attrName>
                                          <p:attrName>ppt_y</p:attrName>
                                        </p:attrNameLst>
                                      </p:cBhvr>
                                      <p:rCtr x="-9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5" grpId="0">
        <p:tmplLst>
          <p:tmpl>
            <p:tnLst>
              <p:par>
                <p:cTn presetID="10" presetClass="entr" presetSubtype="0" fill="hold" nodeType="withEffect">
                  <p:stCondLst>
                    <p:cond delay="50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5" grpId="1"/>
      <p:bldP spid="23" grpId="0">
        <p:tmplLst>
          <p:tmpl>
            <p:tnLst>
              <p:par>
                <p:cTn presetID="10" presetClass="entr" presetSubtype="0" fill="hold" nodeType="withEffect">
                  <p:stCondLst>
                    <p:cond delay="75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3" grpId="1"/>
      <p:bldP spid="24" grpId="0">
        <p:tmplLst>
          <p:tmpl>
            <p:tnLst>
              <p:par>
                <p:cTn presetID="10" presetClass="entr" presetSubtype="0" fill="hold" nodeType="withEffect">
                  <p:stCondLst>
                    <p:cond delay="100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4" grpId="1"/>
      <p:bldP spid="25" grpId="0">
        <p:tmplLst>
          <p:tmpl>
            <p:tnLst>
              <p:par>
                <p:cTn presetID="10" presetClass="entr" presetSubtype="0" fill="hold" nodeType="withEffect">
                  <p:stCondLst>
                    <p:cond delay="125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25" grpId="1"/>
    </p:bldLst>
  </p:timing>
  <p:extLst>
    <p:ext uri="{DCECCB84-F9BA-43D5-87BE-67443E8EF086}">
      <p15:sldGuideLst xmlns:p15="http://schemas.microsoft.com/office/powerpoint/2012/main">
        <p15:guide id="28" orient="horz" pos="864">
          <p15:clr>
            <a:srgbClr val="5ACBF0"/>
          </p15:clr>
        </p15:guide>
        <p15:guide id="29" orient="horz" pos="1272">
          <p15:clr>
            <a:srgbClr val="5ACBF0"/>
          </p15:clr>
        </p15:guide>
        <p15:guide id="30" orient="horz" pos="288">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6248148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cSld name="Blank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8627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5932439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9184820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8871143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69240" y="1189178"/>
            <a:ext cx="11653523" cy="1605504"/>
          </a:xfrm>
        </p:spPr>
        <p:txBody>
          <a:bodyPr/>
          <a:lstStyle>
            <a:lvl1pPr marL="0" indent="0">
              <a:buNone/>
              <a:defRPr>
                <a:gradFill>
                  <a:gsLst>
                    <a:gs pos="1250">
                      <a:schemeClr val="tx2"/>
                    </a:gs>
                    <a:gs pos="99000">
                      <a:schemeClr val="tx2"/>
                    </a:gs>
                  </a:gsLst>
                  <a:lin ang="5400000" scaled="0"/>
                </a:gradFill>
              </a:defRPr>
            </a:lvl1pPr>
            <a:lvl2pPr marL="0" indent="0">
              <a:buFontTx/>
              <a:buNone/>
              <a:defRPr sz="1961"/>
            </a:lvl2pPr>
            <a:lvl3pPr marL="224057" indent="0">
              <a:buNone/>
              <a:defRPr/>
            </a:lvl3pPr>
            <a:lvl4pPr marL="448112" indent="0">
              <a:buNone/>
              <a:defRPr/>
            </a:lvl4pPr>
            <a:lvl5pPr marL="6721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5839028"/>
      </p:ext>
    </p:extLst>
  </p:cSld>
  <p:clrMapOvr>
    <a:masterClrMapping/>
  </p:clrMapOvr>
  <p:transition>
    <p:fade/>
  </p:transition>
  <p:hf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pic>
        <p:nvPicPr>
          <p:cNvPr id="2" name="Picture 1" descr="Background pattern  Description automatically generated">
            <a:extLst>
              <a:ext uri="{FF2B5EF4-FFF2-40B4-BE49-F238E27FC236}">
                <a16:creationId xmlns:a16="http://schemas.microsoft.com/office/drawing/2014/main" id="{4DB660C8-FCFE-8CB6-A08E-975F87F66C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57C656-3E5F-8959-00F8-286B44FD1D70}"/>
              </a:ext>
            </a:extLst>
          </p:cNvPr>
          <p:cNvSpPr/>
          <p:nvPr/>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Title 6">
            <a:extLst>
              <a:ext uri="{FF2B5EF4-FFF2-40B4-BE49-F238E27FC236}">
                <a16:creationId xmlns:a16="http://schemas.microsoft.com/office/drawing/2014/main" id="{51C9B6F3-E735-840E-3BE2-D2B3CC818C47}"/>
              </a:ext>
            </a:extLst>
          </p:cNvPr>
          <p:cNvSpPr>
            <a:spLocks noGrp="1"/>
          </p:cNvSpPr>
          <p:nvPr>
            <p:ph type="title"/>
          </p:nvPr>
        </p:nvSpPr>
        <p:spPr>
          <a:xfrm>
            <a:off x="588263" y="580311"/>
            <a:ext cx="11018520" cy="430887"/>
          </a:xfrm>
        </p:spPr>
        <p:txBody>
          <a:bodyPr anchor="t" anchorCtr="0"/>
          <a:lstStyle/>
          <a:p>
            <a:r>
              <a:rPr lang="en-US"/>
              <a:t>Click to edit Master title style</a:t>
            </a:r>
          </a:p>
        </p:txBody>
      </p:sp>
      <p:sp>
        <p:nvSpPr>
          <p:cNvPr id="6" name="Text Placeholder 2">
            <a:extLst>
              <a:ext uri="{FF2B5EF4-FFF2-40B4-BE49-F238E27FC236}">
                <a16:creationId xmlns:a16="http://schemas.microsoft.com/office/drawing/2014/main" id="{DC5275CD-9BC7-D5C8-CFA6-C95A6628B7BE}"/>
              </a:ext>
            </a:extLst>
          </p:cNvPr>
          <p:cNvSpPr>
            <a:spLocks noGrp="1"/>
          </p:cNvSpPr>
          <p:nvPr>
            <p:ph type="body" sz="quarter" idx="11"/>
          </p:nvPr>
        </p:nvSpPr>
        <p:spPr>
          <a:xfrm>
            <a:off x="584518" y="1039270"/>
            <a:ext cx="11018520" cy="276999"/>
          </a:xfrm>
        </p:spPr>
        <p:txBody>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1464083782"/>
      </p:ext>
    </p:extLst>
  </p:cSld>
  <p:clrMapOvr>
    <a:masterClrMapping/>
  </p:clrMapOvr>
  <p:transition>
    <p:fade/>
  </p:transition>
  <p:hf hdr="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Relationships xmlns="http://schemas.openxmlformats.org/package/2006/relationships"><Relationship Id="rId13" Type="http://schemas.openxmlformats.org/officeDocument/2006/relationships/slideLayout" Target="../slideLayouts/slideLayout43.xml"/><Relationship Id="rId18" Type="http://schemas.openxmlformats.org/officeDocument/2006/relationships/slideLayout" Target="../slideLayouts/slideLayout48.xml"/><Relationship Id="rId26" Type="http://schemas.openxmlformats.org/officeDocument/2006/relationships/slideLayout" Target="../slideLayouts/slideLayout56.xml"/><Relationship Id="rId3" Type="http://schemas.openxmlformats.org/officeDocument/2006/relationships/slideLayout" Target="../slideLayouts/slideLayout33.xml"/><Relationship Id="rId21" Type="http://schemas.openxmlformats.org/officeDocument/2006/relationships/slideLayout" Target="../slideLayouts/slideLayout51.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theme" Target="../theme/theme2.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29" Type="http://schemas.openxmlformats.org/officeDocument/2006/relationships/slideLayout" Target="../slideLayouts/slideLayout59.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slideLayout" Target="../slideLayouts/slideLayout62.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31" Type="http://schemas.openxmlformats.org/officeDocument/2006/relationships/slideLayout" Target="../slideLayouts/slideLayout61.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8" Type="http://schemas.openxmlformats.org/officeDocument/2006/relationships/slideLayout" Target="../slideLayouts/slideLayout38.xml"/></Relationships>
</file>

<file path=ppt/slideMasters/_rels/slideMaster3.xml.rels><?xml version="1.0" encoding="UTF-8"?><Relationships xmlns="http://schemas.openxmlformats.org/package/2006/relationships"><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slideLayout" Target="../slideLayouts/slideLayout88.xml"/><Relationship Id="rId39" Type="http://schemas.openxmlformats.org/officeDocument/2006/relationships/slideLayout" Target="../slideLayouts/slideLayout101.xml"/><Relationship Id="rId21" Type="http://schemas.openxmlformats.org/officeDocument/2006/relationships/slideLayout" Target="../slideLayouts/slideLayout83.xml"/><Relationship Id="rId34" Type="http://schemas.openxmlformats.org/officeDocument/2006/relationships/slideLayout" Target="../slideLayouts/slideLayout96.xml"/><Relationship Id="rId42" Type="http://schemas.openxmlformats.org/officeDocument/2006/relationships/slideLayout" Target="../slideLayouts/slideLayout104.xml"/><Relationship Id="rId7" Type="http://schemas.openxmlformats.org/officeDocument/2006/relationships/slideLayout" Target="../slideLayouts/slideLayout6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9" Type="http://schemas.openxmlformats.org/officeDocument/2006/relationships/slideLayout" Target="../slideLayouts/slideLayout91.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32" Type="http://schemas.openxmlformats.org/officeDocument/2006/relationships/slideLayout" Target="../slideLayouts/slideLayout94.xml"/><Relationship Id="rId37" Type="http://schemas.openxmlformats.org/officeDocument/2006/relationships/slideLayout" Target="../slideLayouts/slideLayout99.xml"/><Relationship Id="rId40" Type="http://schemas.openxmlformats.org/officeDocument/2006/relationships/slideLayout" Target="../slideLayouts/slideLayout102.xml"/><Relationship Id="rId45" Type="http://schemas.openxmlformats.org/officeDocument/2006/relationships/slideLayout" Target="../slideLayouts/slideLayout107.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28" Type="http://schemas.openxmlformats.org/officeDocument/2006/relationships/slideLayout" Target="../slideLayouts/slideLayout90.xml"/><Relationship Id="rId36" Type="http://schemas.openxmlformats.org/officeDocument/2006/relationships/slideLayout" Target="../slideLayouts/slideLayout98.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31" Type="http://schemas.openxmlformats.org/officeDocument/2006/relationships/slideLayout" Target="../slideLayouts/slideLayout93.xml"/><Relationship Id="rId44" Type="http://schemas.openxmlformats.org/officeDocument/2006/relationships/slideLayout" Target="../slideLayouts/slideLayout106.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slideLayout" Target="../slideLayouts/slideLayout89.xml"/><Relationship Id="rId30" Type="http://schemas.openxmlformats.org/officeDocument/2006/relationships/slideLayout" Target="../slideLayouts/slideLayout92.xml"/><Relationship Id="rId35" Type="http://schemas.openxmlformats.org/officeDocument/2006/relationships/slideLayout" Target="../slideLayouts/slideLayout97.xml"/><Relationship Id="rId43" Type="http://schemas.openxmlformats.org/officeDocument/2006/relationships/slideLayout" Target="../slideLayouts/slideLayout105.xml"/><Relationship Id="rId8" Type="http://schemas.openxmlformats.org/officeDocument/2006/relationships/slideLayout" Target="../slideLayouts/slideLayout70.xml"/><Relationship Id="rId3" Type="http://schemas.openxmlformats.org/officeDocument/2006/relationships/slideLayout" Target="../slideLayouts/slideLayout65.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33" Type="http://schemas.openxmlformats.org/officeDocument/2006/relationships/slideLayout" Target="../slideLayouts/slideLayout95.xml"/><Relationship Id="rId38" Type="http://schemas.openxmlformats.org/officeDocument/2006/relationships/slideLayout" Target="../slideLayouts/slideLayout100.xml"/><Relationship Id="rId46" Type="http://schemas.openxmlformats.org/officeDocument/2006/relationships/theme" Target="../theme/theme3.xml"/><Relationship Id="rId20" Type="http://schemas.openxmlformats.org/officeDocument/2006/relationships/slideLayout" Target="../slideLayouts/slideLayout82.xml"/><Relationship Id="rId41"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fld id="{D46E8EC4-2A51-44A1-907E-D7AE4CC7400E}" type="slidenum">
              <a:rPr lang="en-US" smtClean="0"/>
              <a:t>‹#›</a:t>
            </a:fld>
            <a:endParaRPr lang="en-US"/>
          </a:p>
        </p:txBody>
      </p:sp>
    </p:spTree>
    <p:extLst>
      <p:ext uri="{BB962C8B-B14F-4D97-AF65-F5344CB8AC3E}">
        <p14:creationId xmlns:p14="http://schemas.microsoft.com/office/powerpoint/2010/main" val="836337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ransition>
    <p:fade/>
  </p:transition>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033223903"/>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330916716"/>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 id="2147483755" r:id="rId30"/>
    <p:sldLayoutId id="2147483756" r:id="rId31"/>
    <p:sldLayoutId id="2147483757" r:id="rId32"/>
    <p:sldLayoutId id="2147483758" r:id="rId33"/>
    <p:sldLayoutId id="2147483759" r:id="rId34"/>
    <p:sldLayoutId id="2147483760" r:id="rId35"/>
    <p:sldLayoutId id="2147483761" r:id="rId36"/>
    <p:sldLayoutId id="2147483762" r:id="rId37"/>
    <p:sldLayoutId id="2147483763" r:id="rId38"/>
    <p:sldLayoutId id="2147483764" r:id="rId39"/>
    <p:sldLayoutId id="2147483765" r:id="rId40"/>
    <p:sldLayoutId id="2147483766" r:id="rId41"/>
    <p:sldLayoutId id="2147483767" r:id="rId42"/>
    <p:sldLayoutId id="2147483768" r:id="rId43"/>
    <p:sldLayoutId id="2147483769" r:id="rId44"/>
    <p:sldLayoutId id="2147483770" r:id="rId45"/>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customXml" Target="../../customXml/item5.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customXml" Target="../../customXml/item4.xml"/><Relationship Id="rId1" Type="http://schemas.openxmlformats.org/officeDocument/2006/relationships/tags" Target="../tags/tag2.xml"/><Relationship Id="rId4" Type="http://schemas.openxmlformats.org/officeDocument/2006/relationships/notesSlide" Target="../notesSlides/notesSlide2.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5.xml"/><Relationship Id="rId1" Type="http://schemas.openxmlformats.org/officeDocument/2006/relationships/tags" Target="../tags/tag3.xml"/></Relationships>
</file>

<file path=ppt/slides/_rels/slide15.xml.rels><?xml version="1.0" encoding="UTF-8"?><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video" Target="https://www.youtube.com/embed/o5hCnWfqAzc?list=PLlrxD0HtieHjd-zn7u09YoGJY18ZrN1Hq" TargetMode="External"/><Relationship Id="rId4" Type="http://schemas.openxmlformats.org/officeDocument/2006/relationships/image" Target="../media/image13.jpeg"/></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Relationships xmlns="http://schemas.openxmlformats.org/package/2006/relationships"><Relationship Id="rId8" Type="http://schemas.openxmlformats.org/officeDocument/2006/relationships/hyperlink" Target="https://learn.microsoft.com/en-us/azure/cost-management-billing/reservations/" TargetMode="External"/><Relationship Id="rId3" Type="http://schemas.openxmlformats.org/officeDocument/2006/relationships/hyperlink" Target="https://aka.ms/azure-pricing-foundry-PTU-reservation-blog" TargetMode="External"/><Relationship Id="rId7" Type="http://schemas.openxmlformats.org/officeDocument/2006/relationships/hyperlink" Target="https://aka.ms/PTU-Reservation-Doc" TargetMode="External"/><Relationship Id="rId2" Type="http://schemas.openxmlformats.org/officeDocument/2006/relationships/notesSlide" Target="../notesSlides/notesSlide17.xml"/><Relationship Id="rId1" Type="http://schemas.openxmlformats.org/officeDocument/2006/relationships/slideLayout" Target="../slideLayouts/slideLayout65.xml"/><Relationship Id="rId6" Type="http://schemas.openxmlformats.org/officeDocument/2006/relationships/image" Target="../media/image14.png"/><Relationship Id="rId11" Type="http://schemas.openxmlformats.org/officeDocument/2006/relationships/hyperlink" Target="https://azure.microsoft.com/en-us/products/ai-model-catalog" TargetMode="External"/><Relationship Id="rId5" Type="http://schemas.openxmlformats.org/officeDocument/2006/relationships/hyperlink" Target="https://go.microsoft.com/fwlink/?linkid=2244744&amp;clcid=0x409" TargetMode="External"/><Relationship Id="rId10" Type="http://schemas.openxmlformats.org/officeDocument/2006/relationships/hyperlink" Target="https://www.youtube.com/playlist?list=PLlrxD0HtieHjd-zn7u09YoGJY18ZrN1Hq" TargetMode="External"/><Relationship Id="rId4" Type="http://schemas.openxmlformats.org/officeDocument/2006/relationships/hyperlink" Target="https://aka.ms/advisor_cost_recommendation" TargetMode="External"/><Relationship Id="rId9" Type="http://schemas.openxmlformats.org/officeDocument/2006/relationships/hyperlink" Target="https://aka.ms/PTU-Reservation-Lear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2303312"/>
            <a:ext cx="7298437" cy="3046988"/>
          </a:xfrm>
        </p:spPr>
        <p:txBody>
          <a:bodyPr/>
          <a:lstStyle/>
          <a:p>
            <a:r>
              <a:rPr lang="en-US" dirty="0" err="1">
                <a:latin typeface="Segoe UI Semibold"/>
                <a:cs typeface="Segoe UI Semibold"/>
              </a:rPr>
              <a:t>WorkshopPlus</a:t>
            </a:r>
            <a:r>
              <a:rPr lang="en-US">
                <a:latin typeface="Segoe UI Semibold"/>
                <a:cs typeface="Segoe UI Semibold"/>
              </a:rPr>
              <a:t xml:space="preserve">: </a:t>
            </a:r>
            <a:r>
              <a:rPr lang="en-US" dirty="0">
                <a:latin typeface="Segoe UI Semibold"/>
                <a:cs typeface="Segoe UI Semibold"/>
              </a:rPr>
              <a:t>Azure AI Platform and Services</a:t>
            </a:r>
            <a:endParaRPr lang="en-US" dirty="0"/>
          </a:p>
        </p:txBody>
      </p:sp>
      <p:sp>
        <p:nvSpPr>
          <p:cNvPr id="6" name="Subtitle 5">
            <a:extLst>
              <a:ext uri="{FF2B5EF4-FFF2-40B4-BE49-F238E27FC236}">
                <a16:creationId xmlns:a16="http://schemas.microsoft.com/office/drawing/2014/main" id="{12808BD5-6BEE-4164-9264-E55A823F2E3D}"/>
              </a:ext>
            </a:extLst>
          </p:cNvPr>
          <p:cNvSpPr>
            <a:spLocks noGrp="1"/>
          </p:cNvSpPr>
          <p:nvPr>
            <p:ph type="body" sz="quarter" idx="12"/>
          </p:nvPr>
        </p:nvSpPr>
        <p:spPr>
          <a:xfrm>
            <a:off x="582042" y="5634619"/>
            <a:ext cx="5379371" cy="362419"/>
          </a:xfrm>
        </p:spPr>
        <p:txBody>
          <a:bodyPr>
            <a:noAutofit/>
          </a:bodyPr>
          <a:lstStyle/>
          <a:p>
            <a:r>
              <a:rPr lang="en-US" sz="2400" dirty="0"/>
              <a:t>Provisioned Throughput Reservations</a:t>
            </a:r>
          </a:p>
        </p:txBody>
      </p:sp>
    </p:spTree>
    <p:custDataLst>
      <p:tags r:id="rId1"/>
    </p:custDataLst>
    <p:extLst>
      <p:ext uri="{BB962C8B-B14F-4D97-AF65-F5344CB8AC3E}">
        <p14:creationId xmlns:p14="http://schemas.microsoft.com/office/powerpoint/2010/main" val="218195648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a:t xml:space="preserve">Objectives </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body" sz="quarter" idx="12"/>
            <p:custDataLst>
              <p:custData r:id="rId2"/>
            </p:custDataLst>
          </p:nvPr>
        </p:nvSpPr>
        <p:spPr/>
        <p:txBody>
          <a:bodyPr vert="horz" lIns="0" tIns="0" rIns="0" bIns="0" rtlCol="0" anchor="t">
            <a:normAutofit/>
          </a:bodyPr>
          <a:lstStyle/>
          <a:p>
            <a:r>
              <a:rPr lang="en-US"/>
              <a:t>After completing this Learning, you will be able to:</a:t>
            </a:r>
          </a:p>
        </p:txBody>
      </p:sp>
      <p:sp>
        <p:nvSpPr>
          <p:cNvPr id="29" name="Rectangle 28">
            <a:extLst>
              <a:ext uri="{FF2B5EF4-FFF2-40B4-BE49-F238E27FC236}">
                <a16:creationId xmlns:a16="http://schemas.microsoft.com/office/drawing/2014/main" id="{135AE57B-006B-45B8-B573-5C98485B4112}"/>
              </a:ext>
            </a:extLst>
          </p:cNvPr>
          <p:cNvSpPr/>
          <p:nvPr/>
        </p:nvSpPr>
        <p:spPr>
          <a:xfrm>
            <a:off x="-17461" y="1955801"/>
            <a:ext cx="12209460" cy="584775"/>
          </a:xfrm>
          <a:prstGeom prst="rect">
            <a:avLst/>
          </a:prstGeom>
          <a:solidFill>
            <a:schemeClr val="tx2"/>
          </a:solidFill>
        </p:spPr>
        <p:txBody>
          <a:bodyPr wrap="square" lIns="91440" tIns="137160" rIns="91440" bIns="137160" anchor="t">
            <a:spAutoFit/>
          </a:bodyPr>
          <a:lstStyle/>
          <a:p>
            <a:pPr algn="ctr" defTabSz="932563">
              <a:spcBef>
                <a:spcPts val="204"/>
              </a:spcBef>
              <a:spcAft>
                <a:spcPts val="408"/>
              </a:spcAft>
            </a:pPr>
            <a:r>
              <a:rPr lang="en-US" sz="2000">
                <a:solidFill>
                  <a:schemeClr val="bg1"/>
                </a:solidFill>
                <a:latin typeface="+mj-lt"/>
                <a:cs typeface="Segoe UI Semibold" panose="020B0702040204020203" pitchFamily="34" charset="0"/>
              </a:rPr>
              <a:t>Understand….</a:t>
            </a:r>
          </a:p>
        </p:txBody>
      </p:sp>
      <p:cxnSp>
        <p:nvCxnSpPr>
          <p:cNvPr id="101" name="Straight Connector 100">
            <a:extLst>
              <a:ext uri="{FF2B5EF4-FFF2-40B4-BE49-F238E27FC236}">
                <a16:creationId xmlns:a16="http://schemas.microsoft.com/office/drawing/2014/main" id="{376E7A99-B502-4054-9C2C-BAF18E5E5171}"/>
              </a:ext>
              <a:ext uri="{C183D7F6-B498-43B3-948B-1728B52AA6E4}">
                <adec:decorative xmlns:adec="http://schemas.microsoft.com/office/drawing/2017/decorative" val="1"/>
              </a:ext>
            </a:extLst>
          </p:cNvPr>
          <p:cNvCxnSpPr>
            <a:cxnSpLocks/>
          </p:cNvCxnSpPr>
          <p:nvPr/>
        </p:nvCxnSpPr>
        <p:spPr>
          <a:xfrm>
            <a:off x="571500" y="5214303"/>
            <a:ext cx="11031538" cy="0"/>
          </a:xfrm>
          <a:prstGeom prst="line">
            <a:avLst/>
          </a:prstGeom>
          <a:noFill/>
          <a:ln w="12700" cap="flat" cmpd="sng" algn="ctr">
            <a:solidFill>
              <a:schemeClr val="accent2"/>
            </a:solidFill>
            <a:prstDash val="solid"/>
            <a:headEnd type="none" w="lg" len="med"/>
            <a:tailEnd type="none" w="lg" len="med"/>
          </a:ln>
          <a:effectLst/>
        </p:spPr>
      </p:cxnSp>
      <p:grpSp>
        <p:nvGrpSpPr>
          <p:cNvPr id="6" name="Group 5">
            <a:extLst>
              <a:ext uri="{FF2B5EF4-FFF2-40B4-BE49-F238E27FC236}">
                <a16:creationId xmlns:a16="http://schemas.microsoft.com/office/drawing/2014/main" id="{712EAA30-0D82-4470-B816-03E60E1EF15F}"/>
              </a:ext>
            </a:extLst>
          </p:cNvPr>
          <p:cNvGrpSpPr/>
          <p:nvPr/>
        </p:nvGrpSpPr>
        <p:grpSpPr>
          <a:xfrm>
            <a:off x="571500" y="2740193"/>
            <a:ext cx="2316603" cy="2806533"/>
            <a:chOff x="571500" y="2740193"/>
            <a:chExt cx="2316603" cy="2806533"/>
          </a:xfrm>
        </p:grpSpPr>
        <p:sp>
          <p:nvSpPr>
            <p:cNvPr id="75" name="Rectangle 74">
              <a:extLst>
                <a:ext uri="{FF2B5EF4-FFF2-40B4-BE49-F238E27FC236}">
                  <a16:creationId xmlns:a16="http://schemas.microsoft.com/office/drawing/2014/main" id="{D521F3AE-02DA-4716-8E81-BCE211F1FA3F}"/>
                </a:ext>
              </a:extLst>
            </p:cNvPr>
            <p:cNvSpPr/>
            <p:nvPr/>
          </p:nvSpPr>
          <p:spPr>
            <a:xfrm>
              <a:off x="571500" y="2740193"/>
              <a:ext cx="2316603" cy="1107996"/>
            </a:xfrm>
            <a:prstGeom prst="rect">
              <a:avLst/>
            </a:prstGeom>
            <a:noFill/>
          </p:spPr>
          <p:txBody>
            <a:bodyPr wrap="square" lIns="0" tIns="0" rIns="0" bIns="0">
              <a:spAutoFit/>
            </a:bodyPr>
            <a:lstStyle/>
            <a:p>
              <a:pPr marL="114300" defTabSz="914192">
                <a:spcBef>
                  <a:spcPts val="100"/>
                </a:spcBef>
                <a:spcAft>
                  <a:spcPts val="200"/>
                </a:spcAft>
              </a:pPr>
              <a:r>
                <a:rPr lang="en-US" dirty="0">
                  <a:cs typeface="Segoe UI Semibold"/>
                </a:rPr>
                <a:t>Understand the challenges of Pay-As-You-Go (</a:t>
              </a:r>
              <a:r>
                <a:rPr lang="en-US" dirty="0" err="1">
                  <a:cs typeface="Segoe UI Semibold"/>
                </a:rPr>
                <a:t>PayGo</a:t>
              </a:r>
              <a:r>
                <a:rPr lang="en-US" dirty="0">
                  <a:cs typeface="Segoe UI Semibold"/>
                </a:rPr>
                <a:t>) AI deployments</a:t>
              </a:r>
              <a:endParaRPr lang="en-GB" dirty="0">
                <a:cs typeface="Segoe UI Semibold"/>
              </a:endParaRPr>
            </a:p>
          </p:txBody>
        </p:sp>
        <p:grpSp>
          <p:nvGrpSpPr>
            <p:cNvPr id="122" name="Group 121" descr="Icon of a person with a box around them">
              <a:extLst>
                <a:ext uri="{FF2B5EF4-FFF2-40B4-BE49-F238E27FC236}">
                  <a16:creationId xmlns:a16="http://schemas.microsoft.com/office/drawing/2014/main" id="{702961B0-EEBA-47B9-8957-73784E6E72CF}"/>
                </a:ext>
              </a:extLst>
            </p:cNvPr>
            <p:cNvGrpSpPr>
              <a:grpSpLocks/>
            </p:cNvGrpSpPr>
            <p:nvPr/>
          </p:nvGrpSpPr>
          <p:grpSpPr>
            <a:xfrm>
              <a:off x="2231789" y="4890415"/>
              <a:ext cx="656314" cy="656311"/>
              <a:chOff x="4850654" y="510655"/>
              <a:chExt cx="751672" cy="751672"/>
            </a:xfrm>
          </p:grpSpPr>
          <p:sp>
            <p:nvSpPr>
              <p:cNvPr id="123" name="Oval 122">
                <a:extLst>
                  <a:ext uri="{FF2B5EF4-FFF2-40B4-BE49-F238E27FC236}">
                    <a16:creationId xmlns:a16="http://schemas.microsoft.com/office/drawing/2014/main" id="{94644C06-1E5A-4880-AF33-FC37A83D58CD}"/>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24" name="people_5">
                <a:extLst>
                  <a:ext uri="{FF2B5EF4-FFF2-40B4-BE49-F238E27FC236}">
                    <a16:creationId xmlns:a16="http://schemas.microsoft.com/office/drawing/2014/main" id="{42BF7F76-EE8F-4FD6-AFAB-B3C918F2B584}"/>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grpSp>
        <p:nvGrpSpPr>
          <p:cNvPr id="5" name="Group 4">
            <a:extLst>
              <a:ext uri="{FF2B5EF4-FFF2-40B4-BE49-F238E27FC236}">
                <a16:creationId xmlns:a16="http://schemas.microsoft.com/office/drawing/2014/main" id="{8FCF99D1-8603-4229-A10D-C9FCC2123D75}"/>
              </a:ext>
            </a:extLst>
          </p:cNvPr>
          <p:cNvGrpSpPr/>
          <p:nvPr/>
        </p:nvGrpSpPr>
        <p:grpSpPr>
          <a:xfrm>
            <a:off x="3185201" y="2740193"/>
            <a:ext cx="2613701" cy="2806533"/>
            <a:chOff x="3185201" y="2740193"/>
            <a:chExt cx="2613701" cy="2806533"/>
          </a:xfrm>
        </p:grpSpPr>
        <p:cxnSp>
          <p:nvCxnSpPr>
            <p:cNvPr id="140" name="Straight Connector 139">
              <a:extLst>
                <a:ext uri="{FF2B5EF4-FFF2-40B4-BE49-F238E27FC236}">
                  <a16:creationId xmlns:a16="http://schemas.microsoft.com/office/drawing/2014/main" id="{594D34D9-A54F-4124-BA8E-155CD0796BBC}"/>
                </a:ext>
                <a:ext uri="{C183D7F6-B498-43B3-948B-1728B52AA6E4}">
                  <adec:decorative xmlns:adec="http://schemas.microsoft.com/office/drawing/2017/decorative" val="1"/>
                </a:ext>
              </a:extLst>
            </p:cNvPr>
            <p:cNvCxnSpPr>
              <a:cxnSpLocks/>
            </p:cNvCxnSpPr>
            <p:nvPr/>
          </p:nvCxnSpPr>
          <p:spPr>
            <a:xfrm>
              <a:off x="3185201"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57E8BE0-257A-45ED-AB34-50EDBFCF2AD9}"/>
                </a:ext>
              </a:extLst>
            </p:cNvPr>
            <p:cNvSpPr/>
            <p:nvPr/>
          </p:nvSpPr>
          <p:spPr>
            <a:xfrm>
              <a:off x="3482299" y="2740193"/>
              <a:ext cx="2316603" cy="1661993"/>
            </a:xfrm>
            <a:prstGeom prst="rect">
              <a:avLst/>
            </a:prstGeom>
            <a:noFill/>
          </p:spPr>
          <p:txBody>
            <a:bodyPr wrap="square" lIns="0" tIns="0" rIns="0" bIns="0">
              <a:spAutoFit/>
            </a:bodyPr>
            <a:lstStyle/>
            <a:p>
              <a:pPr marL="114300" defTabSz="914192">
                <a:spcBef>
                  <a:spcPts val="100"/>
                </a:spcBef>
                <a:spcAft>
                  <a:spcPts val="200"/>
                </a:spcAft>
              </a:pPr>
              <a:r>
                <a:rPr lang="en-US" dirty="0">
                  <a:cs typeface="Segoe UI Semibold"/>
                </a:rPr>
                <a:t xml:space="preserve">Define and explain Provisioned Throughput Units (PTUs). </a:t>
              </a:r>
              <a:r>
                <a:rPr lang="en-US" dirty="0">
                  <a:solidFill>
                    <a:srgbClr val="000000"/>
                  </a:solidFill>
                  <a:cs typeface="Segoe UI Semibold"/>
                </a:rPr>
                <a:t xml:space="preserve">Compare </a:t>
              </a:r>
              <a:r>
                <a:rPr lang="en-US" dirty="0" err="1">
                  <a:solidFill>
                    <a:srgbClr val="000000"/>
                  </a:solidFill>
                  <a:cs typeface="Segoe UI Semibold"/>
                </a:rPr>
                <a:t>PayGo</a:t>
              </a:r>
              <a:r>
                <a:rPr lang="en-US" dirty="0">
                  <a:solidFill>
                    <a:srgbClr val="000000"/>
                  </a:solidFill>
                  <a:cs typeface="Segoe UI Semibold"/>
                </a:rPr>
                <a:t xml:space="preserve"> and PTU models. </a:t>
              </a:r>
              <a:endParaRPr lang="en-GB" dirty="0">
                <a:cs typeface="Segoe UI Semibold"/>
              </a:endParaRPr>
            </a:p>
          </p:txBody>
        </p:sp>
        <p:grpSp>
          <p:nvGrpSpPr>
            <p:cNvPr id="173" name="Group 172" descr="Icon of a person wearing a headset">
              <a:extLst>
                <a:ext uri="{FF2B5EF4-FFF2-40B4-BE49-F238E27FC236}">
                  <a16:creationId xmlns:a16="http://schemas.microsoft.com/office/drawing/2014/main" id="{A2A27087-1681-4B2D-87E1-116A3365C347}"/>
                </a:ext>
              </a:extLst>
            </p:cNvPr>
            <p:cNvGrpSpPr>
              <a:grpSpLocks/>
            </p:cNvGrpSpPr>
            <p:nvPr/>
          </p:nvGrpSpPr>
          <p:grpSpPr>
            <a:xfrm>
              <a:off x="5142588" y="4890415"/>
              <a:ext cx="656314" cy="656311"/>
              <a:chOff x="4850654" y="1468393"/>
              <a:chExt cx="751672" cy="751672"/>
            </a:xfrm>
          </p:grpSpPr>
          <p:sp>
            <p:nvSpPr>
              <p:cNvPr id="174" name="Oval 173">
                <a:extLst>
                  <a:ext uri="{FF2B5EF4-FFF2-40B4-BE49-F238E27FC236}">
                    <a16:creationId xmlns:a16="http://schemas.microsoft.com/office/drawing/2014/main" id="{412DC491-22AC-4A6D-B3A8-64A23F8112D2}"/>
                  </a:ext>
                  <a:ext uri="{C183D7F6-B498-43B3-948B-1728B52AA6E4}">
                    <adec:decorative xmlns:adec="http://schemas.microsoft.com/office/drawing/2017/decorative" val="1"/>
                  </a:ext>
                </a:extLst>
              </p:cNvPr>
              <p:cNvSpPr>
                <a:spLocks/>
              </p:cNvSpPr>
              <p:nvPr/>
            </p:nvSpPr>
            <p:spPr bwMode="auto">
              <a:xfrm>
                <a:off x="485065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5" name="Telemarketer_E7B9">
                <a:extLst>
                  <a:ext uri="{FF2B5EF4-FFF2-40B4-BE49-F238E27FC236}">
                    <a16:creationId xmlns:a16="http://schemas.microsoft.com/office/drawing/2014/main" id="{7C2E0D0C-F69B-4C27-9BB2-A7FC9E4CBFF3}"/>
                  </a:ext>
                  <a:ext uri="{C183D7F6-B498-43B3-948B-1728B52AA6E4}">
                    <adec:decorative xmlns:adec="http://schemas.microsoft.com/office/drawing/2017/decorative" val="1"/>
                  </a:ext>
                </a:extLst>
              </p:cNvPr>
              <p:cNvSpPr>
                <a:spLocks noChangeAspect="1" noEditPoints="1"/>
              </p:cNvSpPr>
              <p:nvPr/>
            </p:nvSpPr>
            <p:spPr bwMode="auto">
              <a:xfrm>
                <a:off x="5076466" y="1665306"/>
                <a:ext cx="300048" cy="357846"/>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3" name="Group 2">
            <a:extLst>
              <a:ext uri="{FF2B5EF4-FFF2-40B4-BE49-F238E27FC236}">
                <a16:creationId xmlns:a16="http://schemas.microsoft.com/office/drawing/2014/main" id="{940D0125-9918-41B5-A494-E8DF6585BF4C}"/>
              </a:ext>
            </a:extLst>
          </p:cNvPr>
          <p:cNvGrpSpPr/>
          <p:nvPr/>
        </p:nvGrpSpPr>
        <p:grpSpPr>
          <a:xfrm>
            <a:off x="6096000" y="2740193"/>
            <a:ext cx="3061730" cy="2806533"/>
            <a:chOff x="6096000" y="2740193"/>
            <a:chExt cx="3061730" cy="2806533"/>
          </a:xfrm>
        </p:grpSpPr>
        <p:cxnSp>
          <p:nvCxnSpPr>
            <p:cNvPr id="187" name="Straight Connector 186">
              <a:extLst>
                <a:ext uri="{FF2B5EF4-FFF2-40B4-BE49-F238E27FC236}">
                  <a16:creationId xmlns:a16="http://schemas.microsoft.com/office/drawing/2014/main" id="{96DA2106-45CC-42DE-AE3C-C5187C2EC187}"/>
                </a:ext>
                <a:ext uri="{C183D7F6-B498-43B3-948B-1728B52AA6E4}">
                  <adec:decorative xmlns:adec="http://schemas.microsoft.com/office/drawing/2017/decorative" val="1"/>
                </a:ext>
              </a:extLst>
            </p:cNvPr>
            <p:cNvCxnSpPr>
              <a:cxnSpLocks/>
            </p:cNvCxnSpPr>
            <p:nvPr/>
          </p:nvCxnSpPr>
          <p:spPr>
            <a:xfrm>
              <a:off x="6096000"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8" name="Rectangle 197">
              <a:extLst>
                <a:ext uri="{FF2B5EF4-FFF2-40B4-BE49-F238E27FC236}">
                  <a16:creationId xmlns:a16="http://schemas.microsoft.com/office/drawing/2014/main" id="{89DA1F94-0267-4937-B0EB-354553751953}"/>
                </a:ext>
              </a:extLst>
            </p:cNvPr>
            <p:cNvSpPr/>
            <p:nvPr/>
          </p:nvSpPr>
          <p:spPr>
            <a:xfrm>
              <a:off x="6393098" y="2740193"/>
              <a:ext cx="2764632" cy="1938992"/>
            </a:xfrm>
            <a:prstGeom prst="rect">
              <a:avLst/>
            </a:prstGeom>
            <a:noFill/>
          </p:spPr>
          <p:txBody>
            <a:bodyPr wrap="square" lIns="0" tIns="0" rIns="0" bIns="0">
              <a:spAutoFit/>
            </a:bodyPr>
            <a:lstStyle/>
            <a:p>
              <a:pPr marL="114300" lvl="0" defTabSz="914192">
                <a:spcBef>
                  <a:spcPts val="100"/>
                </a:spcBef>
                <a:spcAft>
                  <a:spcPts val="200"/>
                </a:spcAft>
                <a:defRPr/>
              </a:pPr>
              <a:r>
                <a:rPr lang="en-US" dirty="0">
                  <a:solidFill>
                    <a:srgbClr val="000000"/>
                  </a:solidFill>
                  <a:cs typeface="Segoe UI Semibold"/>
                </a:rPr>
                <a:t>Discover the different deployment and pricing options (hourly, reservation), and how to choose between global, data zone, and regional deployments.</a:t>
              </a:r>
              <a:endParaRPr lang="en-GB" dirty="0">
                <a:solidFill>
                  <a:srgbClr val="000000"/>
                </a:solidFill>
                <a:cs typeface="Segoe UI Semibold"/>
              </a:endParaRPr>
            </a:p>
          </p:txBody>
        </p:sp>
        <p:grpSp>
          <p:nvGrpSpPr>
            <p:cNvPr id="209" name="Group 208" descr="Icon of three people with an arrow above them pointing down">
              <a:extLst>
                <a:ext uri="{FF2B5EF4-FFF2-40B4-BE49-F238E27FC236}">
                  <a16:creationId xmlns:a16="http://schemas.microsoft.com/office/drawing/2014/main" id="{8B1DCB89-7AA3-4C66-995D-D1902E3F06C5}"/>
                </a:ext>
              </a:extLst>
            </p:cNvPr>
            <p:cNvGrpSpPr>
              <a:grpSpLocks/>
            </p:cNvGrpSpPr>
            <p:nvPr/>
          </p:nvGrpSpPr>
          <p:grpSpPr>
            <a:xfrm>
              <a:off x="8053387" y="4890415"/>
              <a:ext cx="656314" cy="656311"/>
              <a:chOff x="4850654" y="2426131"/>
              <a:chExt cx="751672" cy="751672"/>
            </a:xfrm>
          </p:grpSpPr>
          <p:sp>
            <p:nvSpPr>
              <p:cNvPr id="210" name="Oval 209">
                <a:extLst>
                  <a:ext uri="{FF2B5EF4-FFF2-40B4-BE49-F238E27FC236}">
                    <a16:creationId xmlns:a16="http://schemas.microsoft.com/office/drawing/2014/main" id="{5DE676EE-3A8D-48EB-9CAC-F9A2EC4D2617}"/>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1" name="people_2">
                <a:extLst>
                  <a:ext uri="{FF2B5EF4-FFF2-40B4-BE49-F238E27FC236}">
                    <a16:creationId xmlns:a16="http://schemas.microsoft.com/office/drawing/2014/main" id="{E6DBAC5C-6B90-414F-8BD0-7D63B25582E8}"/>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2" name="Group 1">
            <a:extLst>
              <a:ext uri="{FF2B5EF4-FFF2-40B4-BE49-F238E27FC236}">
                <a16:creationId xmlns:a16="http://schemas.microsoft.com/office/drawing/2014/main" id="{8B696FA0-67CE-4A24-9D09-45AE8A5DF18E}"/>
              </a:ext>
            </a:extLst>
          </p:cNvPr>
          <p:cNvGrpSpPr/>
          <p:nvPr/>
        </p:nvGrpSpPr>
        <p:grpSpPr>
          <a:xfrm>
            <a:off x="9006799" y="2740193"/>
            <a:ext cx="2613701" cy="2806533"/>
            <a:chOff x="9006799" y="2740193"/>
            <a:chExt cx="2613701" cy="2806533"/>
          </a:xfrm>
        </p:grpSpPr>
        <p:cxnSp>
          <p:nvCxnSpPr>
            <p:cNvPr id="220" name="Straight Connector 219">
              <a:extLst>
                <a:ext uri="{FF2B5EF4-FFF2-40B4-BE49-F238E27FC236}">
                  <a16:creationId xmlns:a16="http://schemas.microsoft.com/office/drawing/2014/main" id="{958418FD-4AD9-4AF0-AD84-999BED91B804}"/>
                </a:ext>
                <a:ext uri="{C183D7F6-B498-43B3-948B-1728B52AA6E4}">
                  <adec:decorative xmlns:adec="http://schemas.microsoft.com/office/drawing/2017/decorative" val="1"/>
                </a:ext>
              </a:extLst>
            </p:cNvPr>
            <p:cNvCxnSpPr>
              <a:cxnSpLocks/>
            </p:cNvCxnSpPr>
            <p:nvPr/>
          </p:nvCxnSpPr>
          <p:spPr>
            <a:xfrm>
              <a:off x="9006799"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6" name="Rectangle 225">
              <a:extLst>
                <a:ext uri="{FF2B5EF4-FFF2-40B4-BE49-F238E27FC236}">
                  <a16:creationId xmlns:a16="http://schemas.microsoft.com/office/drawing/2014/main" id="{7576A04A-DB64-4AE2-A020-A9363E3180A2}"/>
                </a:ext>
              </a:extLst>
            </p:cNvPr>
            <p:cNvSpPr/>
            <p:nvPr/>
          </p:nvSpPr>
          <p:spPr>
            <a:xfrm>
              <a:off x="9303897" y="2740193"/>
              <a:ext cx="2316603" cy="1938992"/>
            </a:xfrm>
            <a:prstGeom prst="rect">
              <a:avLst/>
            </a:prstGeom>
            <a:noFill/>
          </p:spPr>
          <p:txBody>
            <a:bodyPr wrap="square" lIns="0" tIns="0" rIns="0" bIns="0">
              <a:spAutoFit/>
            </a:bodyPr>
            <a:lstStyle/>
            <a:p>
              <a:pPr marL="114300" lvl="0" defTabSz="914192">
                <a:spcBef>
                  <a:spcPts val="100"/>
                </a:spcBef>
                <a:spcAft>
                  <a:spcPts val="200"/>
                </a:spcAft>
                <a:defRPr/>
              </a:pPr>
              <a:r>
                <a:rPr lang="en-US" dirty="0">
                  <a:solidFill>
                    <a:srgbClr val="000000"/>
                  </a:solidFill>
                  <a:cs typeface="Segoe UI Semibold"/>
                </a:rPr>
                <a:t>Explore the value and benefits of PTUs, Understand quota management and monitoring. Apply best practices for PTU reservation</a:t>
              </a:r>
            </a:p>
          </p:txBody>
        </p:sp>
        <p:grpSp>
          <p:nvGrpSpPr>
            <p:cNvPr id="232" name="Group 231" descr="Icon of a dotted line circle made of a curved arrow pointing clockwise">
              <a:extLst>
                <a:ext uri="{FF2B5EF4-FFF2-40B4-BE49-F238E27FC236}">
                  <a16:creationId xmlns:a16="http://schemas.microsoft.com/office/drawing/2014/main" id="{BB3035A0-BC21-4B40-AED1-A6A82C189967}"/>
                </a:ext>
              </a:extLst>
            </p:cNvPr>
            <p:cNvGrpSpPr>
              <a:grpSpLocks/>
            </p:cNvGrpSpPr>
            <p:nvPr/>
          </p:nvGrpSpPr>
          <p:grpSpPr>
            <a:xfrm>
              <a:off x="10964186" y="4890415"/>
              <a:ext cx="656314" cy="656311"/>
              <a:chOff x="5945218" y="3383869"/>
              <a:chExt cx="751672" cy="751672"/>
            </a:xfrm>
          </p:grpSpPr>
          <p:sp>
            <p:nvSpPr>
              <p:cNvPr id="233" name="Oval 232">
                <a:extLst>
                  <a:ext uri="{FF2B5EF4-FFF2-40B4-BE49-F238E27FC236}">
                    <a16:creationId xmlns:a16="http://schemas.microsoft.com/office/drawing/2014/main" id="{224AADF5-0B86-45A3-AC2B-70FE0D390DC8}"/>
                  </a:ext>
                  <a:ext uri="{C183D7F6-B498-43B3-948B-1728B52AA6E4}">
                    <adec:decorative xmlns:adec="http://schemas.microsoft.com/office/drawing/2017/decorative" val="1"/>
                  </a:ext>
                </a:extLst>
              </p:cNvPr>
              <p:cNvSpPr>
                <a:spLocks/>
              </p:cNvSpPr>
              <p:nvPr/>
            </p:nvSpPr>
            <p:spPr bwMode="auto">
              <a:xfrm>
                <a:off x="5945218" y="3383869"/>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34" name="arrow_26">
                <a:extLst>
                  <a:ext uri="{FF2B5EF4-FFF2-40B4-BE49-F238E27FC236}">
                    <a16:creationId xmlns:a16="http://schemas.microsoft.com/office/drawing/2014/main" id="{83FA8140-00D5-4B54-AE34-9770E1C4208F}"/>
                  </a:ext>
                  <a:ext uri="{C183D7F6-B498-43B3-948B-1728B52AA6E4}">
                    <adec:decorative xmlns:adec="http://schemas.microsoft.com/office/drawing/2017/decorative" val="1"/>
                  </a:ext>
                </a:extLst>
              </p:cNvPr>
              <p:cNvSpPr>
                <a:spLocks noChangeAspect="1" noEditPoints="1"/>
              </p:cNvSpPr>
              <p:nvPr/>
            </p:nvSpPr>
            <p:spPr bwMode="auto">
              <a:xfrm>
                <a:off x="6132619" y="3577120"/>
                <a:ext cx="376872" cy="365172"/>
              </a:xfrm>
              <a:custGeom>
                <a:avLst/>
                <a:gdLst>
                  <a:gd name="T0" fmla="*/ 18 w 328"/>
                  <a:gd name="T1" fmla="*/ 80 h 319"/>
                  <a:gd name="T2" fmla="*/ 110 w 328"/>
                  <a:gd name="T3" fmla="*/ 0 h 319"/>
                  <a:gd name="T4" fmla="*/ 8 w 328"/>
                  <a:gd name="T5" fmla="*/ 206 h 319"/>
                  <a:gd name="T6" fmla="*/ 0 w 328"/>
                  <a:gd name="T7" fmla="*/ 155 h 319"/>
                  <a:gd name="T8" fmla="*/ 7 w 328"/>
                  <a:gd name="T9" fmla="*/ 105 h 319"/>
                  <a:gd name="T10" fmla="*/ 88 w 328"/>
                  <a:gd name="T11" fmla="*/ 301 h 319"/>
                  <a:gd name="T12" fmla="*/ 19 w 328"/>
                  <a:gd name="T13" fmla="*/ 232 h 319"/>
                  <a:gd name="T14" fmla="*/ 18 w 328"/>
                  <a:gd name="T15" fmla="*/ 230 h 319"/>
                  <a:gd name="T16" fmla="*/ 213 w 328"/>
                  <a:gd name="T17" fmla="*/ 311 h 319"/>
                  <a:gd name="T18" fmla="*/ 164 w 328"/>
                  <a:gd name="T19" fmla="*/ 319 h 319"/>
                  <a:gd name="T20" fmla="*/ 114 w 328"/>
                  <a:gd name="T21" fmla="*/ 311 h 319"/>
                  <a:gd name="T22" fmla="*/ 309 w 328"/>
                  <a:gd name="T23" fmla="*/ 231 h 319"/>
                  <a:gd name="T24" fmla="*/ 239 w 328"/>
                  <a:gd name="T25" fmla="*/ 301 h 319"/>
                  <a:gd name="T26" fmla="*/ 320 w 328"/>
                  <a:gd name="T27" fmla="*/ 105 h 319"/>
                  <a:gd name="T28" fmla="*/ 328 w 328"/>
                  <a:gd name="T29" fmla="*/ 155 h 319"/>
                  <a:gd name="T30" fmla="*/ 320 w 328"/>
                  <a:gd name="T31" fmla="*/ 204 h 319"/>
                  <a:gd name="T32" fmla="*/ 239 w 328"/>
                  <a:gd name="T33" fmla="*/ 9 h 319"/>
                  <a:gd name="T34" fmla="*/ 310 w 328"/>
                  <a:gd name="T35" fmla="*/ 80 h 319"/>
                  <a:gd name="T36" fmla="*/ 110 w 328"/>
                  <a:gd name="T37" fmla="*/ 75 h 319"/>
                  <a:gd name="T38" fmla="*/ 110 w 328"/>
                  <a:gd name="T39" fmla="*/ 0 h 319"/>
                  <a:gd name="T40" fmla="*/ 36 w 328"/>
                  <a:gd name="T41" fmla="*/ 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8" h="319">
                    <a:moveTo>
                      <a:pt x="18" y="80"/>
                    </a:moveTo>
                    <a:cubicBezTo>
                      <a:pt x="37" y="43"/>
                      <a:pt x="70" y="14"/>
                      <a:pt x="110" y="0"/>
                    </a:cubicBezTo>
                    <a:moveTo>
                      <a:pt x="8" y="206"/>
                    </a:moveTo>
                    <a:cubicBezTo>
                      <a:pt x="2" y="190"/>
                      <a:pt x="0" y="173"/>
                      <a:pt x="0" y="155"/>
                    </a:cubicBezTo>
                    <a:cubicBezTo>
                      <a:pt x="0" y="138"/>
                      <a:pt x="2" y="121"/>
                      <a:pt x="7" y="105"/>
                    </a:cubicBezTo>
                    <a:moveTo>
                      <a:pt x="88" y="301"/>
                    </a:moveTo>
                    <a:cubicBezTo>
                      <a:pt x="59" y="285"/>
                      <a:pt x="34" y="261"/>
                      <a:pt x="19" y="232"/>
                    </a:cubicBezTo>
                    <a:cubicBezTo>
                      <a:pt x="19" y="231"/>
                      <a:pt x="18" y="231"/>
                      <a:pt x="18" y="230"/>
                    </a:cubicBezTo>
                    <a:moveTo>
                      <a:pt x="213" y="311"/>
                    </a:moveTo>
                    <a:cubicBezTo>
                      <a:pt x="197" y="316"/>
                      <a:pt x="181" y="319"/>
                      <a:pt x="164" y="319"/>
                    </a:cubicBezTo>
                    <a:cubicBezTo>
                      <a:pt x="147" y="319"/>
                      <a:pt x="130" y="316"/>
                      <a:pt x="114" y="311"/>
                    </a:cubicBezTo>
                    <a:moveTo>
                      <a:pt x="309" y="231"/>
                    </a:moveTo>
                    <a:cubicBezTo>
                      <a:pt x="294" y="260"/>
                      <a:pt x="269" y="285"/>
                      <a:pt x="239" y="301"/>
                    </a:cubicBezTo>
                    <a:moveTo>
                      <a:pt x="320" y="105"/>
                    </a:moveTo>
                    <a:cubicBezTo>
                      <a:pt x="325" y="120"/>
                      <a:pt x="328" y="138"/>
                      <a:pt x="328" y="155"/>
                    </a:cubicBezTo>
                    <a:cubicBezTo>
                      <a:pt x="328" y="172"/>
                      <a:pt x="325" y="189"/>
                      <a:pt x="320" y="204"/>
                    </a:cubicBezTo>
                    <a:moveTo>
                      <a:pt x="239" y="9"/>
                    </a:moveTo>
                    <a:cubicBezTo>
                      <a:pt x="269" y="25"/>
                      <a:pt x="294" y="50"/>
                      <a:pt x="310" y="80"/>
                    </a:cubicBezTo>
                    <a:moveTo>
                      <a:pt x="110" y="75"/>
                    </a:moveTo>
                    <a:cubicBezTo>
                      <a:pt x="110" y="0"/>
                      <a:pt x="110" y="0"/>
                      <a:pt x="110" y="0"/>
                    </a:cubicBezTo>
                    <a:cubicBezTo>
                      <a:pt x="36" y="0"/>
                      <a:pt x="36" y="0"/>
                      <a:pt x="36" y="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sp>
        <p:nvSpPr>
          <p:cNvPr id="110" name="Footer Placeholder 7">
            <a:extLst>
              <a:ext uri="{FF2B5EF4-FFF2-40B4-BE49-F238E27FC236}">
                <a16:creationId xmlns:a16="http://schemas.microsoft.com/office/drawing/2014/main" id="{9CAB8FC4-BA4D-40F2-A5E4-7325D132B66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1" name="Slide Number Placeholder 5">
            <a:extLst>
              <a:ext uri="{FF2B5EF4-FFF2-40B4-BE49-F238E27FC236}">
                <a16:creationId xmlns:a16="http://schemas.microsoft.com/office/drawing/2014/main" id="{6B90DC93-3B04-424D-9759-558344B062B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901160637"/>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C4047634-C620-7EC1-E4CE-EE97C55D4430}"/>
              </a:ext>
            </a:extLst>
          </p:cNvPr>
          <p:cNvSpPr txBox="1">
            <a:spLocks noGrp="1"/>
          </p:cNvSpPr>
          <p:nvPr>
            <p:ph type="title"/>
          </p:nvPr>
        </p:nvSpPr>
        <p:spPr>
          <a:xfrm>
            <a:off x="575481" y="599436"/>
            <a:ext cx="4610668" cy="1661993"/>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a:ln w="3175">
                  <a:noFill/>
                </a:ln>
                <a:solidFill>
                  <a:schemeClr val="tx2"/>
                </a:solidFill>
                <a:effectLst/>
                <a:latin typeface="+mj-lt"/>
                <a:ea typeface="+mn-ea"/>
                <a:cs typeface="Segoe UI" pitchFamily="34"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50" normalizeH="0" baseline="0" noProof="0" dirty="0">
                <a:ln w="3175">
                  <a:noFill/>
                </a:ln>
                <a:solidFill>
                  <a:schemeClr val="tx1"/>
                </a:solidFill>
                <a:effectLst/>
                <a:uLnTx/>
                <a:uFillTx/>
                <a:latin typeface="Segoe Sans Text Semibold"/>
                <a:ea typeface="+mn-ea"/>
                <a:cs typeface="Segoe UI"/>
              </a:rPr>
              <a:t xml:space="preserve">Obstacles to launching Gen AI use cases with </a:t>
            </a:r>
            <a:r>
              <a:rPr kumimoji="0" lang="en-US" sz="3600" b="0" i="0" u="none" strike="noStrike" kern="1200" cap="none" spc="-50" normalizeH="0" baseline="0" noProof="0" dirty="0" err="1">
                <a:ln w="3175">
                  <a:noFill/>
                </a:ln>
                <a:solidFill>
                  <a:schemeClr val="tx1"/>
                </a:solidFill>
                <a:effectLst/>
                <a:uLnTx/>
                <a:uFillTx/>
                <a:latin typeface="Segoe Sans Text Semibold"/>
                <a:ea typeface="+mn-ea"/>
                <a:cs typeface="Segoe UI"/>
              </a:rPr>
              <a:t>PayGo</a:t>
            </a:r>
            <a:r>
              <a:rPr kumimoji="0" lang="en-US" sz="3600" b="0" i="0" u="none" strike="noStrike" kern="1200" cap="none" spc="-50" normalizeH="0" baseline="0" noProof="0" dirty="0">
                <a:ln w="3175">
                  <a:noFill/>
                </a:ln>
                <a:solidFill>
                  <a:schemeClr val="tx1"/>
                </a:solidFill>
                <a:effectLst/>
                <a:uLnTx/>
                <a:uFillTx/>
                <a:latin typeface="Segoe Sans Text Semibold"/>
                <a:ea typeface="+mn-ea"/>
                <a:cs typeface="Segoe UI"/>
              </a:rPr>
              <a:t xml:space="preserve"> deployment</a:t>
            </a:r>
            <a:endParaRPr kumimoji="0" lang="en-US" sz="3600" b="0" i="0" u="none" strike="noStrike" kern="1200" cap="none" spc="-50" normalizeH="0" baseline="0" noProof="0" dirty="0">
              <a:ln w="3175">
                <a:noFill/>
              </a:ln>
              <a:solidFill>
                <a:schemeClr val="tx1"/>
              </a:solidFill>
              <a:effectLst/>
              <a:uLnTx/>
              <a:uFillTx/>
              <a:latin typeface="Segoe Sans Text Semibold"/>
              <a:ea typeface="+mn-ea"/>
              <a:cs typeface="Segoe UI" pitchFamily="34" charset="0"/>
            </a:endParaRPr>
          </a:p>
        </p:txBody>
      </p:sp>
      <p:sp>
        <p:nvSpPr>
          <p:cNvPr id="52" name="Text Placeholder 51">
            <a:extLst>
              <a:ext uri="{FF2B5EF4-FFF2-40B4-BE49-F238E27FC236}">
                <a16:creationId xmlns:a16="http://schemas.microsoft.com/office/drawing/2014/main" id="{F65F9643-A482-8B87-3B65-36E467C3FEC0}"/>
              </a:ext>
            </a:extLst>
          </p:cNvPr>
          <p:cNvSpPr>
            <a:spLocks noGrp="1"/>
          </p:cNvSpPr>
          <p:nvPr>
            <p:ph type="body" sz="quarter" idx="13"/>
          </p:nvPr>
        </p:nvSpPr>
        <p:spPr/>
        <p:txBody>
          <a:bodyPr/>
          <a:lstStyle/>
          <a:p>
            <a:pPr lvl="0">
              <a:spcAft>
                <a:spcPts val="300"/>
              </a:spcAft>
              <a:defRPr/>
            </a:pPr>
            <a:r>
              <a:rPr lang="en-US" sz="1800" b="1" dirty="0">
                <a:solidFill>
                  <a:schemeClr val="tx1"/>
                </a:solidFill>
                <a:latin typeface="Segoe UI" panose="020B0502040204020203" pitchFamily="34" charset="0"/>
              </a:rPr>
              <a:t>Variable throughput</a:t>
            </a:r>
          </a:p>
          <a:p>
            <a:pPr lvl="0">
              <a:spcAft>
                <a:spcPts val="600"/>
              </a:spcAft>
              <a:defRPr/>
            </a:pPr>
            <a:r>
              <a:rPr lang="en-US" dirty="0">
                <a:solidFill>
                  <a:schemeClr val="tx1"/>
                </a:solidFill>
                <a:latin typeface="Segoe UI" panose="020B0502040204020203" pitchFamily="34" charset="0"/>
              </a:rPr>
              <a:t xml:space="preserve">Depending on how busy the service is, throughput can vary on </a:t>
            </a:r>
            <a:r>
              <a:rPr lang="en-US" dirty="0" err="1">
                <a:solidFill>
                  <a:schemeClr val="tx1"/>
                </a:solidFill>
                <a:latin typeface="Segoe UI" panose="020B0502040204020203" pitchFamily="34" charset="0"/>
              </a:rPr>
              <a:t>PayGo</a:t>
            </a:r>
            <a:r>
              <a:rPr lang="en-US" dirty="0">
                <a:solidFill>
                  <a:schemeClr val="tx1"/>
                </a:solidFill>
                <a:latin typeface="Segoe UI" panose="020B0502040204020203" pitchFamily="34" charset="0"/>
              </a:rPr>
              <a:t xml:space="preserve"> deployment as shared processing capacity is utilized.</a:t>
            </a:r>
            <a:endParaRPr lang="en-US" sz="1800" dirty="0">
              <a:solidFill>
                <a:schemeClr val="tx1"/>
              </a:solidFill>
              <a:latin typeface="Segoe UI" panose="020B0502040204020203" pitchFamily="34" charset="0"/>
            </a:endParaRPr>
          </a:p>
          <a:p>
            <a:endParaRPr lang="en-US" dirty="0"/>
          </a:p>
        </p:txBody>
      </p:sp>
      <p:sp>
        <p:nvSpPr>
          <p:cNvPr id="53" name="Text Placeholder 52">
            <a:extLst>
              <a:ext uri="{FF2B5EF4-FFF2-40B4-BE49-F238E27FC236}">
                <a16:creationId xmlns:a16="http://schemas.microsoft.com/office/drawing/2014/main" id="{523B6AA9-90F1-4244-A78D-662C7A7D5F70}"/>
              </a:ext>
            </a:extLst>
          </p:cNvPr>
          <p:cNvSpPr>
            <a:spLocks noGrp="1"/>
          </p:cNvSpPr>
          <p:nvPr>
            <p:ph type="body" sz="quarter" idx="15"/>
          </p:nvPr>
        </p:nvSpPr>
        <p:spPr/>
        <p:txBody>
          <a:bodyPr/>
          <a:lstStyle/>
          <a:p>
            <a:pPr lvl="0">
              <a:spcAft>
                <a:spcPts val="300"/>
              </a:spcAft>
              <a:defRPr/>
            </a:pPr>
            <a:r>
              <a:rPr lang="en-US" sz="1800" b="1" dirty="0">
                <a:solidFill>
                  <a:schemeClr val="tx1"/>
                </a:solidFill>
                <a:latin typeface="Segoe UI" panose="020B0502040204020203" pitchFamily="34" charset="0"/>
              </a:rPr>
              <a:t>Latency</a:t>
            </a:r>
          </a:p>
          <a:p>
            <a:pPr lvl="0">
              <a:spcAft>
                <a:spcPts val="600"/>
              </a:spcAft>
              <a:defRPr/>
            </a:pPr>
            <a:r>
              <a:rPr lang="en-US" dirty="0" err="1">
                <a:solidFill>
                  <a:schemeClr val="tx1"/>
                </a:solidFill>
                <a:latin typeface="Segoe UI" panose="020B0502040204020203" pitchFamily="34" charset="0"/>
              </a:rPr>
              <a:t>PayGo</a:t>
            </a:r>
            <a:r>
              <a:rPr lang="en-US" dirty="0">
                <a:solidFill>
                  <a:schemeClr val="tx1"/>
                </a:solidFill>
                <a:latin typeface="Segoe UI" panose="020B0502040204020203" pitchFamily="34" charset="0"/>
              </a:rPr>
              <a:t xml:space="preserve"> is ideal for use cases resilient to throughput variability or slowness when service is busy</a:t>
            </a:r>
            <a:endParaRPr lang="en-US" sz="1800" dirty="0">
              <a:solidFill>
                <a:schemeClr val="tx1"/>
              </a:solidFill>
              <a:latin typeface="Segoe UI" panose="020B0502040204020203" pitchFamily="34" charset="0"/>
            </a:endParaRPr>
          </a:p>
          <a:p>
            <a:endParaRPr lang="en-US" dirty="0"/>
          </a:p>
        </p:txBody>
      </p:sp>
      <p:sp>
        <p:nvSpPr>
          <p:cNvPr id="54" name="Text Placeholder 53">
            <a:extLst>
              <a:ext uri="{FF2B5EF4-FFF2-40B4-BE49-F238E27FC236}">
                <a16:creationId xmlns:a16="http://schemas.microsoft.com/office/drawing/2014/main" id="{139ECF3C-714C-092D-29FE-965E0863EBBE}"/>
              </a:ext>
            </a:extLst>
          </p:cNvPr>
          <p:cNvSpPr>
            <a:spLocks noGrp="1"/>
          </p:cNvSpPr>
          <p:nvPr>
            <p:ph type="body" sz="quarter" idx="17"/>
          </p:nvPr>
        </p:nvSpPr>
        <p:spPr/>
        <p:txBody>
          <a:bodyPr/>
          <a:lstStyle/>
          <a:p>
            <a:pPr lvl="0">
              <a:spcAft>
                <a:spcPts val="300"/>
              </a:spcAft>
              <a:defRPr/>
            </a:pPr>
            <a:r>
              <a:rPr lang="en-US" sz="1800" b="1" dirty="0">
                <a:solidFill>
                  <a:schemeClr val="tx1"/>
                </a:solidFill>
                <a:latin typeface="Segoe UI" panose="020B0502040204020203" pitchFamily="34" charset="0"/>
              </a:rPr>
              <a:t>Limited scale</a:t>
            </a:r>
          </a:p>
          <a:p>
            <a:pPr lvl="0">
              <a:spcAft>
                <a:spcPts val="600"/>
              </a:spcAft>
              <a:defRPr/>
            </a:pPr>
            <a:r>
              <a:rPr lang="en-US" dirty="0" err="1">
                <a:solidFill>
                  <a:schemeClr val="tx1"/>
                </a:solidFill>
                <a:latin typeface="Segoe UI" panose="020B0502040204020203" pitchFamily="34" charset="0"/>
              </a:rPr>
              <a:t>PayGo</a:t>
            </a:r>
            <a:r>
              <a:rPr lang="en-US" dirty="0">
                <a:solidFill>
                  <a:schemeClr val="tx1"/>
                </a:solidFill>
                <a:latin typeface="Segoe UI" panose="020B0502040204020203" pitchFamily="34" charset="0"/>
              </a:rPr>
              <a:t xml:space="preserve"> is designed with Tokens-per-minute bounds to ensure all users have a good experience. However, those thresholds may not suffice as you scale.</a:t>
            </a:r>
            <a:endParaRPr lang="en-US" sz="1800" dirty="0">
              <a:solidFill>
                <a:schemeClr val="tx1"/>
              </a:solidFill>
              <a:latin typeface="Segoe UI" panose="020B0502040204020203" pitchFamily="34" charset="0"/>
            </a:endParaRPr>
          </a:p>
          <a:p>
            <a:endParaRPr lang="en-US" dirty="0"/>
          </a:p>
        </p:txBody>
      </p:sp>
      <p:sp>
        <p:nvSpPr>
          <p:cNvPr id="55" name="Text Placeholder 54">
            <a:extLst>
              <a:ext uri="{FF2B5EF4-FFF2-40B4-BE49-F238E27FC236}">
                <a16:creationId xmlns:a16="http://schemas.microsoft.com/office/drawing/2014/main" id="{6E170189-5AB8-4078-A929-0C18183FAE34}"/>
              </a:ext>
            </a:extLst>
          </p:cNvPr>
          <p:cNvSpPr>
            <a:spLocks noGrp="1"/>
          </p:cNvSpPr>
          <p:nvPr>
            <p:ph type="body" sz="quarter" idx="19"/>
          </p:nvPr>
        </p:nvSpPr>
        <p:spPr/>
        <p:txBody>
          <a:bodyPr/>
          <a:lstStyle/>
          <a:p>
            <a:pPr lvl="0">
              <a:spcAft>
                <a:spcPts val="300"/>
              </a:spcAft>
              <a:defRPr/>
            </a:pPr>
            <a:r>
              <a:rPr lang="en-US" sz="1800" b="1" dirty="0">
                <a:solidFill>
                  <a:schemeClr val="tx1"/>
                </a:solidFill>
                <a:latin typeface="Segoe UI" panose="020B0502040204020203" pitchFamily="34" charset="0"/>
              </a:rPr>
              <a:t>Managing cost</a:t>
            </a:r>
          </a:p>
          <a:p>
            <a:pPr lvl="0">
              <a:spcAft>
                <a:spcPts val="600"/>
              </a:spcAft>
              <a:defRPr/>
            </a:pPr>
            <a:r>
              <a:rPr lang="en-US" dirty="0">
                <a:solidFill>
                  <a:schemeClr val="tx1"/>
                </a:solidFill>
                <a:latin typeface="Segoe UI" panose="020B0502040204020203" pitchFamily="34" charset="0"/>
              </a:rPr>
              <a:t xml:space="preserve">Using a </a:t>
            </a:r>
            <a:r>
              <a:rPr lang="en-US" dirty="0" err="1">
                <a:solidFill>
                  <a:schemeClr val="tx1"/>
                </a:solidFill>
                <a:latin typeface="Segoe UI" panose="020B0502040204020203" pitchFamily="34" charset="0"/>
              </a:rPr>
              <a:t>PayGo</a:t>
            </a:r>
            <a:r>
              <a:rPr lang="en-US" dirty="0">
                <a:solidFill>
                  <a:schemeClr val="tx1"/>
                </a:solidFill>
                <a:latin typeface="Segoe UI" panose="020B0502040204020203" pitchFamily="34" charset="0"/>
              </a:rPr>
              <a:t xml:space="preserve"> API means costs accrue until the end of the month, making it difficult to forecast costs or price of GenAI features.</a:t>
            </a:r>
            <a:endParaRPr lang="en-US" sz="1800" dirty="0">
              <a:solidFill>
                <a:schemeClr val="tx1"/>
              </a:solidFill>
              <a:latin typeface="Segoe UI" panose="020B0502040204020203" pitchFamily="34" charset="0"/>
            </a:endParaRPr>
          </a:p>
          <a:p>
            <a:endParaRPr lang="en-US" dirty="0"/>
          </a:p>
        </p:txBody>
      </p:sp>
    </p:spTree>
    <p:extLst>
      <p:ext uri="{BB962C8B-B14F-4D97-AF65-F5344CB8AC3E}">
        <p14:creationId xmlns:p14="http://schemas.microsoft.com/office/powerpoint/2010/main" val="272010504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E717D-F955-5585-FAAA-FC5A662F0A55}"/>
              </a:ext>
            </a:extLst>
          </p:cNvPr>
          <p:cNvSpPr>
            <a:spLocks noGrp="1"/>
          </p:cNvSpPr>
          <p:nvPr>
            <p:ph type="title"/>
          </p:nvPr>
        </p:nvSpPr>
        <p:spPr/>
        <p:txBody>
          <a:bodyPr/>
          <a:lstStyle/>
          <a:p>
            <a:r>
              <a:rPr lang="en-US" dirty="0">
                <a:ln>
                  <a:noFill/>
                </a:ln>
                <a:cs typeface="Segoe UI Semibold"/>
              </a:rPr>
              <a:t>What are Provisioned Throughput Units (PTUs)?</a:t>
            </a:r>
            <a:endParaRPr lang="en-US" dirty="0"/>
          </a:p>
        </p:txBody>
      </p:sp>
      <p:sp>
        <p:nvSpPr>
          <p:cNvPr id="3" name="Rectangle: Rounded Corners 2">
            <a:extLst>
              <a:ext uri="{FF2B5EF4-FFF2-40B4-BE49-F238E27FC236}">
                <a16:creationId xmlns:a16="http://schemas.microsoft.com/office/drawing/2014/main" id="{38A6AB41-08DF-A0D7-7381-FA99BD8B75A8}"/>
              </a:ext>
              <a:ext uri="{C183D7F6-B498-43B3-948B-1728B52AA6E4}">
                <adec:decorative xmlns:adec="http://schemas.microsoft.com/office/drawing/2017/decorative" val="1"/>
              </a:ext>
            </a:extLst>
          </p:cNvPr>
          <p:cNvSpPr/>
          <p:nvPr/>
        </p:nvSpPr>
        <p:spPr>
          <a:xfrm>
            <a:off x="1103186" y="2510942"/>
            <a:ext cx="4114800" cy="2208794"/>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10B823BF-800D-44E2-31BD-F00EEDFD1EC0}"/>
              </a:ext>
            </a:extLst>
          </p:cNvPr>
          <p:cNvSpPr txBox="1"/>
          <p:nvPr/>
        </p:nvSpPr>
        <p:spPr>
          <a:xfrm>
            <a:off x="1176707" y="2669770"/>
            <a:ext cx="3795662" cy="1940957"/>
          </a:xfrm>
          <a:prstGeom prst="roundRect">
            <a:avLst/>
          </a:prstGeom>
          <a:ln>
            <a:noFill/>
          </a:ln>
        </p:spPr>
        <p:style>
          <a:lnRef idx="2">
            <a:schemeClr val="accent5"/>
          </a:lnRef>
          <a:fillRef idx="1">
            <a:schemeClr val="lt1"/>
          </a:fillRef>
          <a:effectRef idx="0">
            <a:schemeClr val="accent5"/>
          </a:effectRef>
          <a:fontRef idx="minor">
            <a:schemeClr val="dk1"/>
          </a:fontRef>
        </p:style>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11111"/>
                </a:solidFill>
                <a:effectLst/>
                <a:uLnTx/>
                <a:uFillTx/>
                <a:ea typeface="+mn-lt"/>
                <a:cs typeface="+mn-lt"/>
              </a:rPr>
              <a:t>Provisioned throughput units (</a:t>
            </a:r>
            <a:r>
              <a:rPr kumimoji="0" lang="en-US" sz="1800" b="1" i="0" u="none" strike="noStrike" kern="1200" cap="none" spc="0" normalizeH="0" baseline="0" noProof="0" dirty="0">
                <a:ln>
                  <a:noFill/>
                </a:ln>
                <a:solidFill>
                  <a:srgbClr val="111111"/>
                </a:solidFill>
                <a:effectLst/>
                <a:uLnTx/>
                <a:uFillTx/>
                <a:ea typeface="+mn-lt"/>
                <a:cs typeface="+mn-lt"/>
              </a:rPr>
              <a:t>PTU</a:t>
            </a:r>
            <a:r>
              <a:rPr kumimoji="0" lang="en-US" sz="1800" b="0" i="0" u="none" strike="noStrike" kern="1200" cap="none" spc="0" normalizeH="0" baseline="0" noProof="0" dirty="0">
                <a:ln>
                  <a:noFill/>
                </a:ln>
                <a:solidFill>
                  <a:srgbClr val="111111"/>
                </a:solidFill>
                <a:effectLst/>
                <a:uLnTx/>
                <a:uFillTx/>
                <a:ea typeface="+mn-lt"/>
                <a:cs typeface="+mn-lt"/>
              </a:rPr>
              <a:t>) are units of model processing capacity that customers can reserve and deploy for processing prompts and generating completions.</a:t>
            </a:r>
          </a:p>
        </p:txBody>
      </p:sp>
      <p:grpSp>
        <p:nvGrpSpPr>
          <p:cNvPr id="5" name="Group 4" descr="PTU elements including Latency, Predictable throughput, choice in traffic management and reserved capacity">
            <a:extLst>
              <a:ext uri="{FF2B5EF4-FFF2-40B4-BE49-F238E27FC236}">
                <a16:creationId xmlns:a16="http://schemas.microsoft.com/office/drawing/2014/main" id="{9422EBDA-60FB-842F-1158-6B5341D4BB49}"/>
              </a:ext>
            </a:extLst>
          </p:cNvPr>
          <p:cNvGrpSpPr/>
          <p:nvPr/>
        </p:nvGrpSpPr>
        <p:grpSpPr>
          <a:xfrm>
            <a:off x="6044094" y="1966288"/>
            <a:ext cx="4759469" cy="3286106"/>
            <a:chOff x="4512167" y="3995616"/>
            <a:chExt cx="5045666" cy="3483708"/>
          </a:xfrm>
        </p:grpSpPr>
        <p:grpSp>
          <p:nvGrpSpPr>
            <p:cNvPr id="6" name="Group 5">
              <a:extLst>
                <a:ext uri="{FF2B5EF4-FFF2-40B4-BE49-F238E27FC236}">
                  <a16:creationId xmlns:a16="http://schemas.microsoft.com/office/drawing/2014/main" id="{1FA7EE5B-D9B7-5E81-126C-EB457D7F5211}"/>
                </a:ext>
              </a:extLst>
            </p:cNvPr>
            <p:cNvGrpSpPr/>
            <p:nvPr/>
          </p:nvGrpSpPr>
          <p:grpSpPr>
            <a:xfrm>
              <a:off x="4512167" y="3995616"/>
              <a:ext cx="5045666" cy="3483708"/>
              <a:chOff x="4512167" y="3995616"/>
              <a:chExt cx="5045666" cy="3483708"/>
            </a:xfrm>
          </p:grpSpPr>
          <p:sp>
            <p:nvSpPr>
              <p:cNvPr id="8" name="Round Single Corner Rectangle 2">
                <a:extLst>
                  <a:ext uri="{FF2B5EF4-FFF2-40B4-BE49-F238E27FC236}">
                    <a16:creationId xmlns:a16="http://schemas.microsoft.com/office/drawing/2014/main" id="{0FBCCF15-52C2-DC90-4412-094026DB84C7}"/>
                  </a:ext>
                </a:extLst>
              </p:cNvPr>
              <p:cNvSpPr/>
              <p:nvPr/>
            </p:nvSpPr>
            <p:spPr>
              <a:xfrm>
                <a:off x="7035000" y="4001974"/>
                <a:ext cx="2522833" cy="1741854"/>
              </a:xfrm>
              <a:prstGeom prst="round1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9" name="Round Single Corner Rectangle 6">
                <a:extLst>
                  <a:ext uri="{FF2B5EF4-FFF2-40B4-BE49-F238E27FC236}">
                    <a16:creationId xmlns:a16="http://schemas.microsoft.com/office/drawing/2014/main" id="{F8F32CCA-DAD1-5E1F-D6AB-6A1E245E6552}"/>
                  </a:ext>
                </a:extLst>
              </p:cNvPr>
              <p:cNvSpPr/>
              <p:nvPr/>
            </p:nvSpPr>
            <p:spPr>
              <a:xfrm flipV="1">
                <a:off x="7035000" y="5737470"/>
                <a:ext cx="2522833" cy="1741854"/>
              </a:xfrm>
              <a:prstGeom prst="round1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10" name="Round Single Corner Rectangle 7">
                <a:extLst>
                  <a:ext uri="{FF2B5EF4-FFF2-40B4-BE49-F238E27FC236}">
                    <a16:creationId xmlns:a16="http://schemas.microsoft.com/office/drawing/2014/main" id="{7DC82E8E-28AC-750F-B4AD-95AD0867D0A6}"/>
                  </a:ext>
                </a:extLst>
              </p:cNvPr>
              <p:cNvSpPr/>
              <p:nvPr/>
            </p:nvSpPr>
            <p:spPr>
              <a:xfrm flipH="1">
                <a:off x="4512167" y="3995616"/>
                <a:ext cx="2522834" cy="1741854"/>
              </a:xfrm>
              <a:prstGeom prst="round1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ound Single Corner Rectangle 8">
                <a:extLst>
                  <a:ext uri="{FF2B5EF4-FFF2-40B4-BE49-F238E27FC236}">
                    <a16:creationId xmlns:a16="http://schemas.microsoft.com/office/drawing/2014/main" id="{9F1AF1D8-8030-D509-6450-13FFCD2E03B4}"/>
                  </a:ext>
                </a:extLst>
              </p:cNvPr>
              <p:cNvSpPr/>
              <p:nvPr/>
            </p:nvSpPr>
            <p:spPr>
              <a:xfrm flipH="1" flipV="1">
                <a:off x="4512167" y="5737470"/>
                <a:ext cx="2522833" cy="1741854"/>
              </a:xfrm>
              <a:prstGeom prst="round1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ptos" panose="02110004020202020204"/>
                </a:endParaRPr>
              </a:p>
            </p:txBody>
          </p:sp>
          <p:sp>
            <p:nvSpPr>
              <p:cNvPr id="12" name="TextBox 3">
                <a:extLst>
                  <a:ext uri="{FF2B5EF4-FFF2-40B4-BE49-F238E27FC236}">
                    <a16:creationId xmlns:a16="http://schemas.microsoft.com/office/drawing/2014/main" id="{AFE1FEF4-AAF5-A47E-AAF5-36611E50E3F1}"/>
                  </a:ext>
                </a:extLst>
              </p:cNvPr>
              <p:cNvSpPr txBox="1"/>
              <p:nvPr/>
            </p:nvSpPr>
            <p:spPr>
              <a:xfrm>
                <a:off x="4886615" y="4432018"/>
                <a:ext cx="1773936" cy="553998"/>
              </a:xfrm>
              <a:prstGeom prst="rect">
                <a:avLst/>
              </a:prstGeom>
              <a:noFill/>
              <a:ln>
                <a:noFill/>
              </a:ln>
            </p:spPr>
            <p:style>
              <a:lnRef idx="0">
                <a:scrgbClr r="0" g="0" b="0"/>
              </a:lnRef>
              <a:fillRef idx="0">
                <a:scrgbClr r="0" g="0" b="0"/>
              </a:fillRef>
              <a:effectRef idx="0">
                <a:scrgbClr r="0" g="0" b="0"/>
              </a:effectRef>
              <a:fontRef idx="major"/>
            </p:style>
            <p:txBody>
              <a:bodyPr wrap="square" lIns="0" tIns="0" rIns="0" bIns="0" rtlCol="0" anchor="t">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j-ea"/>
                    <a:cs typeface="+mj-cs"/>
                  </a:rPr>
                  <a:t>Assigned latency per token</a:t>
                </a:r>
                <a:endParaRPr kumimoji="0" lang="en-US" sz="1800" b="0" i="0" u="none" strike="noStrike" kern="1200" cap="none" spc="0" normalizeH="0" baseline="0" noProof="0" dirty="0">
                  <a:ln>
                    <a:noFill/>
                  </a:ln>
                  <a:solidFill>
                    <a:prstClr val="white"/>
                  </a:solidFill>
                  <a:effectLst/>
                  <a:uLnTx/>
                  <a:uFillTx/>
                  <a:latin typeface="Segoe UI"/>
                  <a:ea typeface="+mj-ea"/>
                  <a:cs typeface="Segoe UI"/>
                </a:endParaRPr>
              </a:p>
            </p:txBody>
          </p:sp>
          <p:sp>
            <p:nvSpPr>
              <p:cNvPr id="13" name="TextBox 3">
                <a:extLst>
                  <a:ext uri="{FF2B5EF4-FFF2-40B4-BE49-F238E27FC236}">
                    <a16:creationId xmlns:a16="http://schemas.microsoft.com/office/drawing/2014/main" id="{2EA18063-12C5-8721-392E-E02673BA1581}"/>
                  </a:ext>
                </a:extLst>
              </p:cNvPr>
              <p:cNvSpPr txBox="1"/>
              <p:nvPr/>
            </p:nvSpPr>
            <p:spPr>
              <a:xfrm>
                <a:off x="7409448" y="4432018"/>
                <a:ext cx="1773936" cy="553998"/>
              </a:xfrm>
              <a:prstGeom prst="rect">
                <a:avLst/>
              </a:prstGeom>
              <a:noFill/>
              <a:ln>
                <a:noFill/>
              </a:ln>
            </p:spPr>
            <p:style>
              <a:lnRef idx="0">
                <a:scrgbClr r="0" g="0" b="0"/>
              </a:lnRef>
              <a:fillRef idx="0">
                <a:scrgbClr r="0" g="0" b="0"/>
              </a:fillRef>
              <a:effectRef idx="0">
                <a:scrgbClr r="0" g="0" b="0"/>
              </a:effectRef>
              <a:fontRef idx="major"/>
            </p:style>
            <p:txBody>
              <a:bodyPr wrap="square" lIns="0" tIns="0" rIns="0" bIns="0" rtlCol="0" anchor="t">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j-ea"/>
                    <a:cs typeface="+mj-cs"/>
                  </a:rPr>
                  <a:t>Predictable TPM* throughput</a:t>
                </a:r>
                <a:endParaRPr kumimoji="0" lang="en-US" sz="1800" b="0" i="0" u="none" strike="noStrike" kern="1200" cap="none" spc="0" normalizeH="0" baseline="0" noProof="0" dirty="0">
                  <a:ln>
                    <a:noFill/>
                  </a:ln>
                  <a:solidFill>
                    <a:prstClr val="white"/>
                  </a:solidFill>
                  <a:effectLst/>
                  <a:uLnTx/>
                  <a:uFillTx/>
                  <a:latin typeface="Segoe UI"/>
                  <a:ea typeface="+mj-ea"/>
                  <a:cs typeface="Segoe UI"/>
                </a:endParaRPr>
              </a:p>
            </p:txBody>
          </p:sp>
          <p:sp>
            <p:nvSpPr>
              <p:cNvPr id="14" name="TextBox 3">
                <a:extLst>
                  <a:ext uri="{FF2B5EF4-FFF2-40B4-BE49-F238E27FC236}">
                    <a16:creationId xmlns:a16="http://schemas.microsoft.com/office/drawing/2014/main" id="{E78FE797-B373-3ED5-0412-857CFEDFFD06}"/>
                  </a:ext>
                </a:extLst>
              </p:cNvPr>
              <p:cNvSpPr txBox="1"/>
              <p:nvPr/>
            </p:nvSpPr>
            <p:spPr>
              <a:xfrm>
                <a:off x="4886615" y="6384083"/>
                <a:ext cx="1773936" cy="553998"/>
              </a:xfrm>
              <a:prstGeom prst="rect">
                <a:avLst/>
              </a:prstGeom>
              <a:noFill/>
              <a:ln>
                <a:noFill/>
              </a:ln>
            </p:spPr>
            <p:style>
              <a:lnRef idx="0">
                <a:scrgbClr r="0" g="0" b="0"/>
              </a:lnRef>
              <a:fillRef idx="0">
                <a:scrgbClr r="0" g="0" b="0"/>
              </a:fillRef>
              <a:effectRef idx="0">
                <a:scrgbClr r="0" g="0" b="0"/>
              </a:effectRef>
              <a:fontRef idx="major"/>
            </p:style>
            <p:txBody>
              <a:bodyPr wrap="square" lIns="0" tIns="0" rIns="0" bIns="0" rtlCol="0" anchor="t">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Segoe UI"/>
                    <a:ea typeface="+mj-ea"/>
                    <a:cs typeface="+mj-cs"/>
                  </a:rPr>
                  <a:t>Choice in handling traffic</a:t>
                </a:r>
                <a:endParaRPr kumimoji="0" lang="en-US" sz="1800" b="0" i="0" u="none" strike="noStrike" kern="1200" cap="none" spc="0" normalizeH="0" baseline="0" noProof="0">
                  <a:ln>
                    <a:noFill/>
                  </a:ln>
                  <a:solidFill>
                    <a:prstClr val="white"/>
                  </a:solidFill>
                  <a:effectLst/>
                  <a:uLnTx/>
                  <a:uFillTx/>
                  <a:latin typeface="Segoe UI"/>
                  <a:ea typeface="+mj-ea"/>
                  <a:cs typeface="Segoe UI"/>
                </a:endParaRPr>
              </a:p>
            </p:txBody>
          </p:sp>
          <p:sp>
            <p:nvSpPr>
              <p:cNvPr id="15" name="TextBox 3">
                <a:extLst>
                  <a:ext uri="{FF2B5EF4-FFF2-40B4-BE49-F238E27FC236}">
                    <a16:creationId xmlns:a16="http://schemas.microsoft.com/office/drawing/2014/main" id="{62628574-1AAE-7FA1-E504-D21E175DCE86}"/>
                  </a:ext>
                </a:extLst>
              </p:cNvPr>
              <p:cNvSpPr txBox="1"/>
              <p:nvPr/>
            </p:nvSpPr>
            <p:spPr>
              <a:xfrm>
                <a:off x="7409448" y="6384083"/>
                <a:ext cx="1773936" cy="553998"/>
              </a:xfrm>
              <a:prstGeom prst="rect">
                <a:avLst/>
              </a:prstGeom>
              <a:noFill/>
              <a:ln>
                <a:noFill/>
              </a:ln>
            </p:spPr>
            <p:style>
              <a:lnRef idx="0">
                <a:scrgbClr r="0" g="0" b="0"/>
              </a:lnRef>
              <a:fillRef idx="0">
                <a:scrgbClr r="0" g="0" b="0"/>
              </a:fillRef>
              <a:effectRef idx="0">
                <a:scrgbClr r="0" g="0" b="0"/>
              </a:effectRef>
              <a:fontRef idx="major"/>
            </p:style>
            <p:txBody>
              <a:bodyPr wrap="square" lIns="0" tIns="0" rIns="0" bIns="0" rtlCol="0" anchor="t">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j-ea"/>
                    <a:cs typeface="+mj-cs"/>
                  </a:rPr>
                  <a:t>Reserved capacity</a:t>
                </a:r>
                <a:endParaRPr kumimoji="0" lang="en-US" sz="1800" b="0" i="0" u="none" strike="noStrike" kern="1200" cap="none" spc="0" normalizeH="0" baseline="0" noProof="0" dirty="0">
                  <a:ln>
                    <a:noFill/>
                  </a:ln>
                  <a:solidFill>
                    <a:prstClr val="white"/>
                  </a:solidFill>
                  <a:effectLst/>
                  <a:uLnTx/>
                  <a:uFillTx/>
                  <a:latin typeface="Segoe UI"/>
                  <a:ea typeface="+mj-ea"/>
                  <a:cs typeface="Segoe UI"/>
                </a:endParaRPr>
              </a:p>
            </p:txBody>
          </p:sp>
        </p:grpSp>
        <p:sp>
          <p:nvSpPr>
            <p:cNvPr id="7" name="Rounded Rectangle 14">
              <a:extLst>
                <a:ext uri="{FF2B5EF4-FFF2-40B4-BE49-F238E27FC236}">
                  <a16:creationId xmlns:a16="http://schemas.microsoft.com/office/drawing/2014/main" id="{48979D61-9035-20BA-9F92-DC743E1FF9F7}"/>
                </a:ext>
              </a:extLst>
            </p:cNvPr>
            <p:cNvSpPr/>
            <p:nvPr/>
          </p:nvSpPr>
          <p:spPr>
            <a:xfrm>
              <a:off x="6263733" y="5309241"/>
              <a:ext cx="1542534" cy="85060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PTU</a:t>
              </a:r>
            </a:p>
          </p:txBody>
        </p:sp>
      </p:grpSp>
    </p:spTree>
    <p:extLst>
      <p:ext uri="{BB962C8B-B14F-4D97-AF65-F5344CB8AC3E}">
        <p14:creationId xmlns:p14="http://schemas.microsoft.com/office/powerpoint/2010/main" val="41906218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19DF5-6733-1DC5-82DF-EFDA90962A7B}"/>
              </a:ext>
            </a:extLst>
          </p:cNvPr>
          <p:cNvSpPr>
            <a:spLocks noGrp="1"/>
          </p:cNvSpPr>
          <p:nvPr>
            <p:ph type="title"/>
          </p:nvPr>
        </p:nvSpPr>
        <p:spPr/>
        <p:txBody>
          <a:bodyPr/>
          <a:lstStyle/>
          <a:p>
            <a:r>
              <a:rPr lang="en-US" dirty="0"/>
              <a:t>Value of Provisioned Throughput Units(PTU)</a:t>
            </a:r>
          </a:p>
        </p:txBody>
      </p:sp>
      <p:sp>
        <p:nvSpPr>
          <p:cNvPr id="3" name="Footer Placeholder 2">
            <a:extLst>
              <a:ext uri="{FF2B5EF4-FFF2-40B4-BE49-F238E27FC236}">
                <a16:creationId xmlns:a16="http://schemas.microsoft.com/office/drawing/2014/main" id="{675368C9-4743-214B-4168-17C5E5F9DF7A}"/>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B4F594D4-DC97-4983-5FCD-0CF159232E65}"/>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Rectangle: Rounded Corners 4">
            <a:extLst>
              <a:ext uri="{FF2B5EF4-FFF2-40B4-BE49-F238E27FC236}">
                <a16:creationId xmlns:a16="http://schemas.microsoft.com/office/drawing/2014/main" id="{C6C0D92E-3281-8803-AC5D-EB43E0D87FB7}"/>
              </a:ext>
              <a:ext uri="{C183D7F6-B498-43B3-948B-1728B52AA6E4}">
                <adec:decorative xmlns:adec="http://schemas.microsoft.com/office/drawing/2017/decorative" val="1"/>
              </a:ext>
            </a:extLst>
          </p:cNvPr>
          <p:cNvSpPr/>
          <p:nvPr/>
        </p:nvSpPr>
        <p:spPr bwMode="auto">
          <a:xfrm>
            <a:off x="568136" y="1992204"/>
            <a:ext cx="3494088" cy="1741487"/>
          </a:xfrm>
          <a:prstGeom prst="roundRect">
            <a:avLst>
              <a:gd name="adj" fmla="val 8313"/>
            </a:avLst>
          </a:prstGeom>
          <a:solidFill>
            <a:schemeClr val="tx2"/>
          </a:solidFill>
          <a:ln w="10795" cap="flat" cmpd="sng" algn="ctr">
            <a:noFill/>
            <a:prstDash val="solid"/>
          </a:ln>
          <a:effectLst>
            <a:outerShdw blurRad="127000" dist="63500" dir="3600000" algn="ctr" rotWithShape="0">
              <a:srgbClr val="000000">
                <a:alpha val="25000"/>
              </a:srgbClr>
            </a:outerShdw>
          </a:effectLst>
        </p:spPr>
        <p:txBody>
          <a:bodyPr lIns="1097280" rtlCol="0" anchor="ct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000000">
                  <a:lumMod val="75000"/>
                  <a:lumOff val="25000"/>
                </a:srgbClr>
              </a:solidFill>
              <a:effectLst/>
              <a:uLnTx/>
              <a:uFillTx/>
              <a:latin typeface="Segoe UI"/>
              <a:ea typeface="+mn-ea"/>
              <a:cs typeface="Segoe UI" panose="020B0502040204020203" pitchFamily="34" charset="0"/>
            </a:endParaRPr>
          </a:p>
        </p:txBody>
      </p:sp>
      <p:sp>
        <p:nvSpPr>
          <p:cNvPr id="6" name="Rectangle: Rounded Corners 5">
            <a:extLst>
              <a:ext uri="{FF2B5EF4-FFF2-40B4-BE49-F238E27FC236}">
                <a16:creationId xmlns:a16="http://schemas.microsoft.com/office/drawing/2014/main" id="{E39D921A-FB19-B72A-3BC6-A6E7268509BB}"/>
              </a:ext>
              <a:ext uri="{C183D7F6-B498-43B3-948B-1728B52AA6E4}">
                <adec:decorative xmlns:adec="http://schemas.microsoft.com/office/drawing/2017/decorative" val="1"/>
              </a:ext>
            </a:extLst>
          </p:cNvPr>
          <p:cNvSpPr/>
          <p:nvPr/>
        </p:nvSpPr>
        <p:spPr bwMode="auto">
          <a:xfrm>
            <a:off x="4348957" y="1992204"/>
            <a:ext cx="3494088" cy="1741487"/>
          </a:xfrm>
          <a:prstGeom prst="roundRect">
            <a:avLst>
              <a:gd name="adj" fmla="val 8313"/>
            </a:avLst>
          </a:prstGeom>
          <a:solidFill>
            <a:schemeClr val="tx2"/>
          </a:solidFill>
          <a:ln w="10795" cap="flat" cmpd="sng" algn="ctr">
            <a:noFill/>
            <a:prstDash val="solid"/>
          </a:ln>
          <a:effectLst>
            <a:outerShdw blurRad="127000" dist="63500" dir="3600000" algn="ctr" rotWithShape="0">
              <a:srgbClr val="000000">
                <a:alpha val="25000"/>
              </a:srgbClr>
            </a:outerShdw>
          </a:effectLst>
        </p:spPr>
        <p:txBody>
          <a:bodyPr lIns="1097280" rtlCol="0" anchor="ct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000000">
                  <a:lumMod val="75000"/>
                  <a:lumOff val="25000"/>
                </a:srgbClr>
              </a:solidFill>
              <a:effectLst/>
              <a:uLnTx/>
              <a:uFillTx/>
              <a:latin typeface="Segoe UI"/>
              <a:ea typeface="+mn-ea"/>
              <a:cs typeface="Segoe UI" panose="020B0502040204020203" pitchFamily="34" charset="0"/>
            </a:endParaRPr>
          </a:p>
        </p:txBody>
      </p:sp>
      <p:sp>
        <p:nvSpPr>
          <p:cNvPr id="7" name="Rectangle: Rounded Corners 6">
            <a:extLst>
              <a:ext uri="{FF2B5EF4-FFF2-40B4-BE49-F238E27FC236}">
                <a16:creationId xmlns:a16="http://schemas.microsoft.com/office/drawing/2014/main" id="{D14D8650-FE3E-F49B-60A8-4C633D476753}"/>
              </a:ext>
              <a:ext uri="{C183D7F6-B498-43B3-948B-1728B52AA6E4}">
                <adec:decorative xmlns:adec="http://schemas.microsoft.com/office/drawing/2017/decorative" val="1"/>
              </a:ext>
            </a:extLst>
          </p:cNvPr>
          <p:cNvSpPr/>
          <p:nvPr/>
        </p:nvSpPr>
        <p:spPr bwMode="auto">
          <a:xfrm>
            <a:off x="8129777" y="1992204"/>
            <a:ext cx="3494088" cy="1741487"/>
          </a:xfrm>
          <a:prstGeom prst="roundRect">
            <a:avLst>
              <a:gd name="adj" fmla="val 8313"/>
            </a:avLst>
          </a:prstGeom>
          <a:solidFill>
            <a:schemeClr val="tx2"/>
          </a:solidFill>
          <a:ln w="10795" cap="flat" cmpd="sng" algn="ctr">
            <a:noFill/>
            <a:prstDash val="solid"/>
          </a:ln>
          <a:effectLst>
            <a:outerShdw blurRad="127000" dist="63500" dir="3600000" algn="ctr" rotWithShape="0">
              <a:srgbClr val="000000">
                <a:alpha val="25000"/>
              </a:srgbClr>
            </a:outerShdw>
          </a:effectLst>
        </p:spPr>
        <p:txBody>
          <a:bodyPr lIns="1097280" rtlCol="0" anchor="ct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000000">
                  <a:lumMod val="75000"/>
                  <a:lumOff val="25000"/>
                </a:srgbClr>
              </a:solidFill>
              <a:effectLst/>
              <a:uLnTx/>
              <a:uFillTx/>
              <a:latin typeface="Segoe UI"/>
              <a:ea typeface="+mn-ea"/>
              <a:cs typeface="Segoe UI" panose="020B0502040204020203" pitchFamily="34" charset="0"/>
            </a:endParaRPr>
          </a:p>
        </p:txBody>
      </p:sp>
      <p:sp>
        <p:nvSpPr>
          <p:cNvPr id="8" name="Rectangle: Rounded Corners 7">
            <a:extLst>
              <a:ext uri="{FF2B5EF4-FFF2-40B4-BE49-F238E27FC236}">
                <a16:creationId xmlns:a16="http://schemas.microsoft.com/office/drawing/2014/main" id="{D948FCF8-ECF3-046D-6D94-1BC908F6C939}"/>
              </a:ext>
              <a:ext uri="{C183D7F6-B498-43B3-948B-1728B52AA6E4}">
                <adec:decorative xmlns:adec="http://schemas.microsoft.com/office/drawing/2017/decorative" val="1"/>
              </a:ext>
            </a:extLst>
          </p:cNvPr>
          <p:cNvSpPr/>
          <p:nvPr/>
        </p:nvSpPr>
        <p:spPr bwMode="auto">
          <a:xfrm>
            <a:off x="568136" y="3994097"/>
            <a:ext cx="3494088" cy="1741487"/>
          </a:xfrm>
          <a:prstGeom prst="roundRect">
            <a:avLst>
              <a:gd name="adj" fmla="val 8313"/>
            </a:avLst>
          </a:prstGeom>
          <a:solidFill>
            <a:schemeClr val="tx2"/>
          </a:solidFill>
          <a:ln w="10795" cap="flat" cmpd="sng" algn="ctr">
            <a:noFill/>
            <a:prstDash val="solid"/>
          </a:ln>
          <a:effectLst>
            <a:outerShdw blurRad="127000" dist="63500" dir="3600000" algn="ctr" rotWithShape="0">
              <a:srgbClr val="000000">
                <a:alpha val="25000"/>
              </a:srgbClr>
            </a:outerShdw>
          </a:effectLst>
        </p:spPr>
        <p:txBody>
          <a:bodyPr lIns="1097280" rtlCol="0" anchor="ct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000000">
                  <a:lumMod val="75000"/>
                  <a:lumOff val="25000"/>
                </a:srgbClr>
              </a:solidFill>
              <a:effectLst/>
              <a:uLnTx/>
              <a:uFillTx/>
              <a:latin typeface="Segoe UI"/>
              <a:ea typeface="+mn-ea"/>
              <a:cs typeface="Segoe UI" panose="020B0502040204020203" pitchFamily="34" charset="0"/>
            </a:endParaRPr>
          </a:p>
        </p:txBody>
      </p:sp>
      <p:sp>
        <p:nvSpPr>
          <p:cNvPr id="9" name="Rectangle: Rounded Corners 8">
            <a:extLst>
              <a:ext uri="{FF2B5EF4-FFF2-40B4-BE49-F238E27FC236}">
                <a16:creationId xmlns:a16="http://schemas.microsoft.com/office/drawing/2014/main" id="{03D63F7D-1EC6-2035-0E3D-DEEC97F19E54}"/>
              </a:ext>
              <a:ext uri="{C183D7F6-B498-43B3-948B-1728B52AA6E4}">
                <adec:decorative xmlns:adec="http://schemas.microsoft.com/office/drawing/2017/decorative" val="1"/>
              </a:ext>
            </a:extLst>
          </p:cNvPr>
          <p:cNvSpPr/>
          <p:nvPr/>
        </p:nvSpPr>
        <p:spPr bwMode="auto">
          <a:xfrm>
            <a:off x="4348957" y="3994097"/>
            <a:ext cx="3494088" cy="1741487"/>
          </a:xfrm>
          <a:prstGeom prst="roundRect">
            <a:avLst>
              <a:gd name="adj" fmla="val 8313"/>
            </a:avLst>
          </a:prstGeom>
          <a:solidFill>
            <a:schemeClr val="tx2"/>
          </a:solidFill>
          <a:ln w="10795" cap="flat" cmpd="sng" algn="ctr">
            <a:noFill/>
            <a:prstDash val="solid"/>
          </a:ln>
          <a:effectLst>
            <a:outerShdw blurRad="127000" dist="63500" dir="3600000" algn="ctr" rotWithShape="0">
              <a:srgbClr val="000000">
                <a:alpha val="25000"/>
              </a:srgbClr>
            </a:outerShdw>
          </a:effectLst>
        </p:spPr>
        <p:txBody>
          <a:bodyPr lIns="1097280" rtlCol="0" anchor="ct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000000">
                  <a:lumMod val="75000"/>
                  <a:lumOff val="25000"/>
                </a:srgbClr>
              </a:solidFill>
              <a:effectLst/>
              <a:uLnTx/>
              <a:uFillTx/>
              <a:latin typeface="Segoe UI"/>
              <a:ea typeface="+mn-ea"/>
              <a:cs typeface="Segoe UI" panose="020B0502040204020203" pitchFamily="34" charset="0"/>
            </a:endParaRPr>
          </a:p>
        </p:txBody>
      </p:sp>
      <p:sp>
        <p:nvSpPr>
          <p:cNvPr id="10" name="Rectangle: Rounded Corners 9">
            <a:extLst>
              <a:ext uri="{FF2B5EF4-FFF2-40B4-BE49-F238E27FC236}">
                <a16:creationId xmlns:a16="http://schemas.microsoft.com/office/drawing/2014/main" id="{85718E44-237E-6E50-A4F6-7F63037D78F7}"/>
              </a:ext>
              <a:ext uri="{C183D7F6-B498-43B3-948B-1728B52AA6E4}">
                <adec:decorative xmlns:adec="http://schemas.microsoft.com/office/drawing/2017/decorative" val="1"/>
              </a:ext>
            </a:extLst>
          </p:cNvPr>
          <p:cNvSpPr/>
          <p:nvPr/>
        </p:nvSpPr>
        <p:spPr bwMode="auto">
          <a:xfrm>
            <a:off x="8142048" y="3943864"/>
            <a:ext cx="3494088" cy="1741487"/>
          </a:xfrm>
          <a:prstGeom prst="roundRect">
            <a:avLst>
              <a:gd name="adj" fmla="val 8313"/>
            </a:avLst>
          </a:prstGeom>
          <a:solidFill>
            <a:schemeClr val="tx2"/>
          </a:solidFill>
          <a:ln w="10795" cap="flat" cmpd="sng" algn="ctr">
            <a:noFill/>
            <a:prstDash val="solid"/>
          </a:ln>
          <a:effectLst>
            <a:outerShdw blurRad="127000" dist="63500" dir="3600000" algn="ctr" rotWithShape="0">
              <a:srgbClr val="000000">
                <a:alpha val="25000"/>
              </a:srgbClr>
            </a:outerShdw>
          </a:effectLst>
        </p:spPr>
        <p:txBody>
          <a:bodyPr lIns="1097280" rtlCol="0" anchor="ct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lumMod val="75000"/>
                  <a:lumOff val="25000"/>
                </a:srgbClr>
              </a:solidFill>
              <a:effectLst/>
              <a:uLnTx/>
              <a:uFillTx/>
              <a:latin typeface="Segoe UI"/>
              <a:ea typeface="+mn-ea"/>
              <a:cs typeface="Segoe UI" panose="020B0502040204020203" pitchFamily="34" charset="0"/>
            </a:endParaRPr>
          </a:p>
        </p:txBody>
      </p:sp>
      <p:sp>
        <p:nvSpPr>
          <p:cNvPr id="11" name="Graphic 23">
            <a:extLst>
              <a:ext uri="{FF2B5EF4-FFF2-40B4-BE49-F238E27FC236}">
                <a16:creationId xmlns:a16="http://schemas.microsoft.com/office/drawing/2014/main" id="{586E896F-5D58-6CB5-C2FF-684C26D85114}"/>
              </a:ext>
              <a:ext uri="{C183D7F6-B498-43B3-948B-1728B52AA6E4}">
                <adec:decorative xmlns:adec="http://schemas.microsoft.com/office/drawing/2017/decorative" val="1"/>
              </a:ext>
            </a:extLst>
          </p:cNvPr>
          <p:cNvSpPr/>
          <p:nvPr/>
        </p:nvSpPr>
        <p:spPr>
          <a:xfrm>
            <a:off x="5829207" y="2385409"/>
            <a:ext cx="533589" cy="364497"/>
          </a:xfrm>
          <a:custGeom>
            <a:avLst/>
            <a:gdLst>
              <a:gd name="connsiteX0" fmla="*/ 214780 w 533589"/>
              <a:gd name="connsiteY0" fmla="*/ 276752 h 364497"/>
              <a:gd name="connsiteX1" fmla="*/ 381627 w 533589"/>
              <a:gd name="connsiteY1" fmla="*/ 50724 h 364497"/>
              <a:gd name="connsiteX2" fmla="*/ 407500 w 533589"/>
              <a:gd name="connsiteY2" fmla="*/ 46748 h 364497"/>
              <a:gd name="connsiteX3" fmla="*/ 414565 w 533589"/>
              <a:gd name="connsiteY3" fmla="*/ 65925 h 364497"/>
              <a:gd name="connsiteX4" fmla="*/ 413764 w 533589"/>
              <a:gd name="connsiteY4" fmla="*/ 68539 h 364497"/>
              <a:gd name="connsiteX5" fmla="*/ 310552 w 533589"/>
              <a:gd name="connsiteY5" fmla="*/ 329878 h 364497"/>
              <a:gd name="connsiteX6" fmla="*/ 238732 w 533589"/>
              <a:gd name="connsiteY6" fmla="*/ 360496 h 364497"/>
              <a:gd name="connsiteX7" fmla="*/ 208114 w 533589"/>
              <a:gd name="connsiteY7" fmla="*/ 288673 h 364497"/>
              <a:gd name="connsiteX8" fmla="*/ 210886 w 533589"/>
              <a:gd name="connsiteY8" fmla="*/ 282806 h 364497"/>
              <a:gd name="connsiteX9" fmla="*/ 212726 w 533589"/>
              <a:gd name="connsiteY9" fmla="*/ 279712 h 364497"/>
              <a:gd name="connsiteX10" fmla="*/ 214753 w 533589"/>
              <a:gd name="connsiteY10" fmla="*/ 276778 h 364497"/>
              <a:gd name="connsiteX11" fmla="*/ 381627 w 533589"/>
              <a:gd name="connsiteY11" fmla="*/ 50724 h 364497"/>
              <a:gd name="connsiteX12" fmla="*/ 214753 w 533589"/>
              <a:gd name="connsiteY12" fmla="*/ 276778 h 364497"/>
              <a:gd name="connsiteX13" fmla="*/ 443075 w 533589"/>
              <a:gd name="connsiteY13" fmla="*/ 63232 h 364497"/>
              <a:gd name="connsiteX14" fmla="*/ 497002 w 533589"/>
              <a:gd name="connsiteY14" fmla="*/ 121159 h 364497"/>
              <a:gd name="connsiteX15" fmla="*/ 532206 w 533589"/>
              <a:gd name="connsiteY15" fmla="*/ 185114 h 364497"/>
              <a:gd name="connsiteX16" fmla="*/ 520871 w 533589"/>
              <a:gd name="connsiteY16" fmla="*/ 211037 h 364497"/>
              <a:gd name="connsiteX17" fmla="*/ 494948 w 533589"/>
              <a:gd name="connsiteY17" fmla="*/ 199702 h 364497"/>
              <a:gd name="connsiteX18" fmla="*/ 484867 w 533589"/>
              <a:gd name="connsiteY18" fmla="*/ 178046 h 364497"/>
              <a:gd name="connsiteX19" fmla="*/ 430193 w 533589"/>
              <a:gd name="connsiteY19" fmla="*/ 209597 h 364497"/>
              <a:gd name="connsiteX20" fmla="*/ 402907 w 533589"/>
              <a:gd name="connsiteY20" fmla="*/ 202140 h 364497"/>
              <a:gd name="connsiteX21" fmla="*/ 407950 w 533589"/>
              <a:gd name="connsiteY21" fmla="*/ 176473 h 364497"/>
              <a:gd name="connsiteX22" fmla="*/ 410217 w 533589"/>
              <a:gd name="connsiteY22" fmla="*/ 174952 h 364497"/>
              <a:gd name="connsiteX23" fmla="*/ 464037 w 533589"/>
              <a:gd name="connsiteY23" fmla="*/ 143855 h 364497"/>
              <a:gd name="connsiteX24" fmla="*/ 457903 w 533589"/>
              <a:gd name="connsiteY24" fmla="*/ 135481 h 364497"/>
              <a:gd name="connsiteX25" fmla="*/ 429686 w 533589"/>
              <a:gd name="connsiteY25" fmla="*/ 104544 h 364497"/>
              <a:gd name="connsiteX26" fmla="*/ 439821 w 533589"/>
              <a:gd name="connsiteY26" fmla="*/ 78834 h 364497"/>
              <a:gd name="connsiteX27" fmla="*/ 442141 w 533589"/>
              <a:gd name="connsiteY27" fmla="*/ 71046 h 364497"/>
              <a:gd name="connsiteX28" fmla="*/ 442781 w 533589"/>
              <a:gd name="connsiteY28" fmla="*/ 67126 h 364497"/>
              <a:gd name="connsiteX29" fmla="*/ 443048 w 533589"/>
              <a:gd name="connsiteY29" fmla="*/ 63232 h 364497"/>
              <a:gd name="connsiteX30" fmla="*/ 372933 w 533589"/>
              <a:gd name="connsiteY30" fmla="*/ 21600 h 364497"/>
              <a:gd name="connsiteX31" fmla="*/ 362105 w 533589"/>
              <a:gd name="connsiteY31" fmla="*/ 30348 h 364497"/>
              <a:gd name="connsiteX32" fmla="*/ 359064 w 533589"/>
              <a:gd name="connsiteY32" fmla="*/ 34081 h 364497"/>
              <a:gd name="connsiteX33" fmla="*/ 344662 w 533589"/>
              <a:gd name="connsiteY33" fmla="*/ 53631 h 364497"/>
              <a:gd name="connsiteX34" fmla="*/ 286789 w 533589"/>
              <a:gd name="connsiteY34" fmla="*/ 41096 h 364497"/>
              <a:gd name="connsiteX35" fmla="*/ 286789 w 533589"/>
              <a:gd name="connsiteY35" fmla="*/ 112358 h 364497"/>
              <a:gd name="connsiteX36" fmla="*/ 266781 w 533589"/>
              <a:gd name="connsiteY36" fmla="*/ 132355 h 364497"/>
              <a:gd name="connsiteX37" fmla="*/ 246970 w 533589"/>
              <a:gd name="connsiteY37" fmla="*/ 115078 h 364497"/>
              <a:gd name="connsiteX38" fmla="*/ 246784 w 533589"/>
              <a:gd name="connsiteY38" fmla="*/ 112358 h 364497"/>
              <a:gd name="connsiteX39" fmla="*/ 246784 w 533589"/>
              <a:gd name="connsiteY39" fmla="*/ 40616 h 364497"/>
              <a:gd name="connsiteX40" fmla="*/ 124315 w 533589"/>
              <a:gd name="connsiteY40" fmla="*/ 84194 h 364497"/>
              <a:gd name="connsiteX41" fmla="*/ 67801 w 533589"/>
              <a:gd name="connsiteY41" fmla="*/ 143002 h 364497"/>
              <a:gd name="connsiteX42" fmla="*/ 123328 w 533589"/>
              <a:gd name="connsiteY42" fmla="*/ 175059 h 364497"/>
              <a:gd name="connsiteX43" fmla="*/ 130631 w 533589"/>
              <a:gd name="connsiteY43" fmla="*/ 202388 h 364497"/>
              <a:gd name="connsiteX44" fmla="*/ 105779 w 533589"/>
              <a:gd name="connsiteY44" fmla="*/ 210904 h 364497"/>
              <a:gd name="connsiteX45" fmla="*/ 103326 w 533589"/>
              <a:gd name="connsiteY45" fmla="*/ 209703 h 364497"/>
              <a:gd name="connsiteX46" fmla="*/ 48012 w 533589"/>
              <a:gd name="connsiteY46" fmla="*/ 177779 h 364497"/>
              <a:gd name="connsiteX47" fmla="*/ 38518 w 533589"/>
              <a:gd name="connsiteY47" fmla="*/ 199676 h 364497"/>
              <a:gd name="connsiteX48" fmla="*/ 12427 w 533589"/>
              <a:gd name="connsiteY48" fmla="*/ 210605 h 364497"/>
              <a:gd name="connsiteX49" fmla="*/ 1233 w 533589"/>
              <a:gd name="connsiteY49" fmla="*/ 185194 h 364497"/>
              <a:gd name="connsiteX50" fmla="*/ 101352 w 533589"/>
              <a:gd name="connsiteY50" fmla="*/ 51417 h 364497"/>
              <a:gd name="connsiteX51" fmla="*/ 372933 w 533589"/>
              <a:gd name="connsiteY51" fmla="*/ 21627 h 36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33589" h="364497">
                <a:moveTo>
                  <a:pt x="214780" y="276752"/>
                </a:moveTo>
                <a:lnTo>
                  <a:pt x="381627" y="50724"/>
                </a:lnTo>
                <a:cubicBezTo>
                  <a:pt x="387673" y="42481"/>
                  <a:pt x="399256" y="40701"/>
                  <a:pt x="407500" y="46748"/>
                </a:cubicBezTo>
                <a:cubicBezTo>
                  <a:pt x="413490" y="51143"/>
                  <a:pt x="416271" y="58694"/>
                  <a:pt x="414565" y="65925"/>
                </a:cubicBezTo>
                <a:lnTo>
                  <a:pt x="413764" y="68539"/>
                </a:lnTo>
                <a:lnTo>
                  <a:pt x="310552" y="329878"/>
                </a:lnTo>
                <a:cubicBezTo>
                  <a:pt x="299174" y="358165"/>
                  <a:pt x="267018" y="371873"/>
                  <a:pt x="238732" y="360496"/>
                </a:cubicBezTo>
                <a:cubicBezTo>
                  <a:pt x="210443" y="349116"/>
                  <a:pt x="196736" y="316962"/>
                  <a:pt x="208114" y="288673"/>
                </a:cubicBezTo>
                <a:cubicBezTo>
                  <a:pt x="208922" y="286665"/>
                  <a:pt x="209848" y="284705"/>
                  <a:pt x="210886" y="282806"/>
                </a:cubicBezTo>
                <a:lnTo>
                  <a:pt x="212726" y="279712"/>
                </a:lnTo>
                <a:lnTo>
                  <a:pt x="214753" y="276778"/>
                </a:lnTo>
                <a:lnTo>
                  <a:pt x="381627" y="50724"/>
                </a:lnTo>
                <a:lnTo>
                  <a:pt x="214753" y="276778"/>
                </a:lnTo>
                <a:close/>
                <a:moveTo>
                  <a:pt x="443075" y="63232"/>
                </a:moveTo>
                <a:cubicBezTo>
                  <a:pt x="463664" y="79932"/>
                  <a:pt x="481816" y="99430"/>
                  <a:pt x="497002" y="121159"/>
                </a:cubicBezTo>
                <a:cubicBezTo>
                  <a:pt x="510977" y="141135"/>
                  <a:pt x="524472" y="165325"/>
                  <a:pt x="532206" y="185114"/>
                </a:cubicBezTo>
                <a:cubicBezTo>
                  <a:pt x="536236" y="195403"/>
                  <a:pt x="531160" y="207010"/>
                  <a:pt x="520871" y="211037"/>
                </a:cubicBezTo>
                <a:cubicBezTo>
                  <a:pt x="510582" y="215064"/>
                  <a:pt x="498978" y="209991"/>
                  <a:pt x="494948" y="199702"/>
                </a:cubicBezTo>
                <a:cubicBezTo>
                  <a:pt x="491982" y="192307"/>
                  <a:pt x="488616" y="185076"/>
                  <a:pt x="484867" y="178046"/>
                </a:cubicBezTo>
                <a:lnTo>
                  <a:pt x="430193" y="209597"/>
                </a:lnTo>
                <a:cubicBezTo>
                  <a:pt x="420600" y="215072"/>
                  <a:pt x="408382" y="211733"/>
                  <a:pt x="402907" y="202140"/>
                </a:cubicBezTo>
                <a:cubicBezTo>
                  <a:pt x="397986" y="193517"/>
                  <a:pt x="400133" y="182591"/>
                  <a:pt x="407950" y="176473"/>
                </a:cubicBezTo>
                <a:lnTo>
                  <a:pt x="410217" y="174952"/>
                </a:lnTo>
                <a:lnTo>
                  <a:pt x="464037" y="143855"/>
                </a:lnTo>
                <a:lnTo>
                  <a:pt x="457903" y="135481"/>
                </a:lnTo>
                <a:cubicBezTo>
                  <a:pt x="449401" y="124379"/>
                  <a:pt x="439960" y="114029"/>
                  <a:pt x="429686" y="104544"/>
                </a:cubicBezTo>
                <a:lnTo>
                  <a:pt x="439821" y="78834"/>
                </a:lnTo>
                <a:cubicBezTo>
                  <a:pt x="440834" y="76273"/>
                  <a:pt x="441608" y="73660"/>
                  <a:pt x="442141" y="71046"/>
                </a:cubicBezTo>
                <a:lnTo>
                  <a:pt x="442781" y="67126"/>
                </a:lnTo>
                <a:lnTo>
                  <a:pt x="443048" y="63232"/>
                </a:lnTo>
                <a:close/>
                <a:moveTo>
                  <a:pt x="372933" y="21600"/>
                </a:moveTo>
                <a:cubicBezTo>
                  <a:pt x="368898" y="23946"/>
                  <a:pt x="365246" y="26896"/>
                  <a:pt x="362105" y="30348"/>
                </a:cubicBezTo>
                <a:lnTo>
                  <a:pt x="359064" y="34081"/>
                </a:lnTo>
                <a:lnTo>
                  <a:pt x="344662" y="53631"/>
                </a:lnTo>
                <a:cubicBezTo>
                  <a:pt x="325948" y="47132"/>
                  <a:pt x="306514" y="42924"/>
                  <a:pt x="286789" y="41096"/>
                </a:cubicBezTo>
                <a:lnTo>
                  <a:pt x="286789" y="112358"/>
                </a:lnTo>
                <a:cubicBezTo>
                  <a:pt x="286786" y="123405"/>
                  <a:pt x="277827" y="132358"/>
                  <a:pt x="266781" y="132355"/>
                </a:cubicBezTo>
                <a:cubicBezTo>
                  <a:pt x="256788" y="132352"/>
                  <a:pt x="248333" y="124976"/>
                  <a:pt x="246970" y="115078"/>
                </a:cubicBezTo>
                <a:lnTo>
                  <a:pt x="246784" y="112358"/>
                </a:lnTo>
                <a:lnTo>
                  <a:pt x="246784" y="40616"/>
                </a:lnTo>
                <a:cubicBezTo>
                  <a:pt x="202760" y="43746"/>
                  <a:pt x="160421" y="58812"/>
                  <a:pt x="124315" y="84194"/>
                </a:cubicBezTo>
                <a:cubicBezTo>
                  <a:pt x="102552" y="99450"/>
                  <a:pt x="83563" y="119452"/>
                  <a:pt x="67801" y="143002"/>
                </a:cubicBezTo>
                <a:lnTo>
                  <a:pt x="123328" y="175059"/>
                </a:lnTo>
                <a:cubicBezTo>
                  <a:pt x="132891" y="180590"/>
                  <a:pt x="136161" y="192824"/>
                  <a:pt x="130631" y="202388"/>
                </a:cubicBezTo>
                <a:cubicBezTo>
                  <a:pt x="125633" y="211032"/>
                  <a:pt x="115027" y="214664"/>
                  <a:pt x="105779" y="210904"/>
                </a:cubicBezTo>
                <a:lnTo>
                  <a:pt x="103326" y="209703"/>
                </a:lnTo>
                <a:lnTo>
                  <a:pt x="48012" y="177779"/>
                </a:lnTo>
                <a:cubicBezTo>
                  <a:pt x="44598" y="184874"/>
                  <a:pt x="41451" y="192181"/>
                  <a:pt x="38518" y="199676"/>
                </a:cubicBezTo>
                <a:cubicBezTo>
                  <a:pt x="34331" y="209898"/>
                  <a:pt x="22649" y="214792"/>
                  <a:pt x="12427" y="210605"/>
                </a:cubicBezTo>
                <a:cubicBezTo>
                  <a:pt x="2466" y="206527"/>
                  <a:pt x="-2481" y="195296"/>
                  <a:pt x="1233" y="185194"/>
                </a:cubicBezTo>
                <a:cubicBezTo>
                  <a:pt x="22756" y="129853"/>
                  <a:pt x="56706" y="82701"/>
                  <a:pt x="101352" y="51417"/>
                </a:cubicBezTo>
                <a:cubicBezTo>
                  <a:pt x="180830" y="-4297"/>
                  <a:pt x="283268" y="-15534"/>
                  <a:pt x="372933" y="21627"/>
                </a:cubicBezTo>
                <a:close/>
              </a:path>
            </a:pathLst>
          </a:custGeom>
          <a:solidFill>
            <a:schemeClr val="bg1"/>
          </a:solidFill>
          <a:ln w="12700">
            <a:noFill/>
            <a:miter lim="400000"/>
          </a:ln>
          <a:effectLst/>
        </p:spPr>
        <p:txBody>
          <a:bodyPr lIns="44819" tIns="44819" rIns="44819" bIns="44819"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3847" rtl="0" eaLnBrk="1" fontAlgn="auto" latinLnBrk="0" hangingPunct="0">
              <a:lnSpc>
                <a:spcPct val="100000"/>
              </a:lnSpc>
              <a:spcBef>
                <a:spcPts val="0"/>
              </a:spcBef>
              <a:spcAft>
                <a:spcPts val="0"/>
              </a:spcAft>
              <a:buClrTx/>
              <a:buSzTx/>
              <a:buFontTx/>
              <a:buNone/>
              <a:tabLst/>
              <a:defRPr/>
            </a:pPr>
            <a:endParaRPr kumimoji="0" lang="en-US" sz="1961" b="0" i="0" u="none" strike="noStrike" kern="0" cap="none" spc="0" normalizeH="0" baseline="0" noProof="0">
              <a:ln>
                <a:noFill/>
              </a:ln>
              <a:gradFill flip="none" rotWithShape="1">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2" name="Graphic 27">
            <a:extLst>
              <a:ext uri="{FF2B5EF4-FFF2-40B4-BE49-F238E27FC236}">
                <a16:creationId xmlns:a16="http://schemas.microsoft.com/office/drawing/2014/main" id="{227DE635-03EA-B409-F92B-37AF8D75595E}"/>
              </a:ext>
              <a:ext uri="{C183D7F6-B498-43B3-948B-1728B52AA6E4}">
                <adec:decorative xmlns:adec="http://schemas.microsoft.com/office/drawing/2017/decorative" val="1"/>
              </a:ext>
            </a:extLst>
          </p:cNvPr>
          <p:cNvSpPr/>
          <p:nvPr/>
        </p:nvSpPr>
        <p:spPr>
          <a:xfrm>
            <a:off x="9596786" y="2314292"/>
            <a:ext cx="560070" cy="506730"/>
          </a:xfrm>
          <a:custGeom>
            <a:avLst/>
            <a:gdLst>
              <a:gd name="connsiteX0" fmla="*/ 0 w 560070"/>
              <a:gd name="connsiteY0" fmla="*/ 46673 h 506730"/>
              <a:gd name="connsiteX1" fmla="*/ 46673 w 560070"/>
              <a:gd name="connsiteY1" fmla="*/ 0 h 506730"/>
              <a:gd name="connsiteX2" fmla="*/ 406718 w 560070"/>
              <a:gd name="connsiteY2" fmla="*/ 0 h 506730"/>
              <a:gd name="connsiteX3" fmla="*/ 453390 w 560070"/>
              <a:gd name="connsiteY3" fmla="*/ 46673 h 506730"/>
              <a:gd name="connsiteX4" fmla="*/ 453390 w 560070"/>
              <a:gd name="connsiteY4" fmla="*/ 186690 h 506730"/>
              <a:gd name="connsiteX5" fmla="*/ 373380 w 560070"/>
              <a:gd name="connsiteY5" fmla="*/ 186690 h 506730"/>
              <a:gd name="connsiteX6" fmla="*/ 320040 w 560070"/>
              <a:gd name="connsiteY6" fmla="*/ 240030 h 506730"/>
              <a:gd name="connsiteX7" fmla="*/ 320040 w 560070"/>
              <a:gd name="connsiteY7" fmla="*/ 320040 h 506730"/>
              <a:gd name="connsiteX8" fmla="*/ 46673 w 560070"/>
              <a:gd name="connsiteY8" fmla="*/ 320040 h 506730"/>
              <a:gd name="connsiteX9" fmla="*/ 0 w 560070"/>
              <a:gd name="connsiteY9" fmla="*/ 273368 h 506730"/>
              <a:gd name="connsiteX10" fmla="*/ 0 w 560070"/>
              <a:gd name="connsiteY10" fmla="*/ 46673 h 506730"/>
              <a:gd name="connsiteX11" fmla="*/ 80010 w 560070"/>
              <a:gd name="connsiteY11" fmla="*/ 60008 h 506730"/>
              <a:gd name="connsiteX12" fmla="*/ 60008 w 560070"/>
              <a:gd name="connsiteY12" fmla="*/ 80010 h 506730"/>
              <a:gd name="connsiteX13" fmla="*/ 33338 w 560070"/>
              <a:gd name="connsiteY13" fmla="*/ 80010 h 506730"/>
              <a:gd name="connsiteX14" fmla="*/ 33338 w 560070"/>
              <a:gd name="connsiteY14" fmla="*/ 120015 h 506730"/>
              <a:gd name="connsiteX15" fmla="*/ 60008 w 560070"/>
              <a:gd name="connsiteY15" fmla="*/ 120015 h 506730"/>
              <a:gd name="connsiteX16" fmla="*/ 120015 w 560070"/>
              <a:gd name="connsiteY16" fmla="*/ 60008 h 506730"/>
              <a:gd name="connsiteX17" fmla="*/ 120015 w 560070"/>
              <a:gd name="connsiteY17" fmla="*/ 33338 h 506730"/>
              <a:gd name="connsiteX18" fmla="*/ 80010 w 560070"/>
              <a:gd name="connsiteY18" fmla="*/ 33338 h 506730"/>
              <a:gd name="connsiteX19" fmla="*/ 80010 w 560070"/>
              <a:gd name="connsiteY19" fmla="*/ 60008 h 506730"/>
              <a:gd name="connsiteX20" fmla="*/ 226695 w 560070"/>
              <a:gd name="connsiteY20" fmla="*/ 226695 h 506730"/>
              <a:gd name="connsiteX21" fmla="*/ 286703 w 560070"/>
              <a:gd name="connsiteY21" fmla="*/ 166688 h 506730"/>
              <a:gd name="connsiteX22" fmla="*/ 226695 w 560070"/>
              <a:gd name="connsiteY22" fmla="*/ 106680 h 506730"/>
              <a:gd name="connsiteX23" fmla="*/ 166688 w 560070"/>
              <a:gd name="connsiteY23" fmla="*/ 166688 h 506730"/>
              <a:gd name="connsiteX24" fmla="*/ 226695 w 560070"/>
              <a:gd name="connsiteY24" fmla="*/ 226695 h 506730"/>
              <a:gd name="connsiteX25" fmla="*/ 60008 w 560070"/>
              <a:gd name="connsiteY25" fmla="*/ 240030 h 506730"/>
              <a:gd name="connsiteX26" fmla="*/ 80010 w 560070"/>
              <a:gd name="connsiteY26" fmla="*/ 260033 h 506730"/>
              <a:gd name="connsiteX27" fmla="*/ 80010 w 560070"/>
              <a:gd name="connsiteY27" fmla="*/ 286703 h 506730"/>
              <a:gd name="connsiteX28" fmla="*/ 120015 w 560070"/>
              <a:gd name="connsiteY28" fmla="*/ 286703 h 506730"/>
              <a:gd name="connsiteX29" fmla="*/ 120015 w 560070"/>
              <a:gd name="connsiteY29" fmla="*/ 260033 h 506730"/>
              <a:gd name="connsiteX30" fmla="*/ 60008 w 560070"/>
              <a:gd name="connsiteY30" fmla="*/ 200025 h 506730"/>
              <a:gd name="connsiteX31" fmla="*/ 33338 w 560070"/>
              <a:gd name="connsiteY31" fmla="*/ 200025 h 506730"/>
              <a:gd name="connsiteX32" fmla="*/ 33338 w 560070"/>
              <a:gd name="connsiteY32" fmla="*/ 240030 h 506730"/>
              <a:gd name="connsiteX33" fmla="*/ 60008 w 560070"/>
              <a:gd name="connsiteY33" fmla="*/ 240030 h 506730"/>
              <a:gd name="connsiteX34" fmla="*/ 393383 w 560070"/>
              <a:gd name="connsiteY34" fmla="*/ 80010 h 506730"/>
              <a:gd name="connsiteX35" fmla="*/ 373380 w 560070"/>
              <a:gd name="connsiteY35" fmla="*/ 60008 h 506730"/>
              <a:gd name="connsiteX36" fmla="*/ 373380 w 560070"/>
              <a:gd name="connsiteY36" fmla="*/ 33338 h 506730"/>
              <a:gd name="connsiteX37" fmla="*/ 333375 w 560070"/>
              <a:gd name="connsiteY37" fmla="*/ 33338 h 506730"/>
              <a:gd name="connsiteX38" fmla="*/ 333375 w 560070"/>
              <a:gd name="connsiteY38" fmla="*/ 60008 h 506730"/>
              <a:gd name="connsiteX39" fmla="*/ 393383 w 560070"/>
              <a:gd name="connsiteY39" fmla="*/ 120015 h 506730"/>
              <a:gd name="connsiteX40" fmla="*/ 420053 w 560070"/>
              <a:gd name="connsiteY40" fmla="*/ 120015 h 506730"/>
              <a:gd name="connsiteX41" fmla="*/ 420053 w 560070"/>
              <a:gd name="connsiteY41" fmla="*/ 80010 h 506730"/>
              <a:gd name="connsiteX42" fmla="*/ 393383 w 560070"/>
              <a:gd name="connsiteY42" fmla="*/ 80010 h 506730"/>
              <a:gd name="connsiteX43" fmla="*/ 64035 w 560070"/>
              <a:gd name="connsiteY43" fmla="*/ 360045 h 506730"/>
              <a:gd name="connsiteX44" fmla="*/ 320040 w 560070"/>
              <a:gd name="connsiteY44" fmla="*/ 360045 h 506730"/>
              <a:gd name="connsiteX45" fmla="*/ 320040 w 560070"/>
              <a:gd name="connsiteY45" fmla="*/ 400050 h 506730"/>
              <a:gd name="connsiteX46" fmla="*/ 133350 w 560070"/>
              <a:gd name="connsiteY46" fmla="*/ 400050 h 506730"/>
              <a:gd name="connsiteX47" fmla="*/ 64035 w 560070"/>
              <a:gd name="connsiteY47" fmla="*/ 360045 h 506730"/>
              <a:gd name="connsiteX48" fmla="*/ 533400 w 560070"/>
              <a:gd name="connsiteY48" fmla="*/ 133350 h 506730"/>
              <a:gd name="connsiteX49" fmla="*/ 533400 w 560070"/>
              <a:gd name="connsiteY49" fmla="*/ 186690 h 506730"/>
              <a:gd name="connsiteX50" fmla="*/ 493395 w 560070"/>
              <a:gd name="connsiteY50" fmla="*/ 186690 h 506730"/>
              <a:gd name="connsiteX51" fmla="*/ 493395 w 560070"/>
              <a:gd name="connsiteY51" fmla="*/ 64035 h 506730"/>
              <a:gd name="connsiteX52" fmla="*/ 533400 w 560070"/>
              <a:gd name="connsiteY52" fmla="*/ 133350 h 506730"/>
              <a:gd name="connsiteX53" fmla="*/ 386715 w 560070"/>
              <a:gd name="connsiteY53" fmla="*/ 213360 h 506730"/>
              <a:gd name="connsiteX54" fmla="*/ 346710 w 560070"/>
              <a:gd name="connsiteY54" fmla="*/ 253365 h 506730"/>
              <a:gd name="connsiteX55" fmla="*/ 346710 w 560070"/>
              <a:gd name="connsiteY55" fmla="*/ 466725 h 506730"/>
              <a:gd name="connsiteX56" fmla="*/ 386715 w 560070"/>
              <a:gd name="connsiteY56" fmla="*/ 506730 h 506730"/>
              <a:gd name="connsiteX57" fmla="*/ 520065 w 560070"/>
              <a:gd name="connsiteY57" fmla="*/ 506730 h 506730"/>
              <a:gd name="connsiteX58" fmla="*/ 560070 w 560070"/>
              <a:gd name="connsiteY58" fmla="*/ 466725 h 506730"/>
              <a:gd name="connsiteX59" fmla="*/ 560070 w 560070"/>
              <a:gd name="connsiteY59" fmla="*/ 253365 h 506730"/>
              <a:gd name="connsiteX60" fmla="*/ 520065 w 560070"/>
              <a:gd name="connsiteY60" fmla="*/ 213360 h 506730"/>
              <a:gd name="connsiteX61" fmla="*/ 386715 w 560070"/>
              <a:gd name="connsiteY61" fmla="*/ 213360 h 506730"/>
              <a:gd name="connsiteX62" fmla="*/ 400050 w 560070"/>
              <a:gd name="connsiteY62" fmla="*/ 333375 h 506730"/>
              <a:gd name="connsiteX63" fmla="*/ 426720 w 560070"/>
              <a:gd name="connsiteY63" fmla="*/ 333375 h 506730"/>
              <a:gd name="connsiteX64" fmla="*/ 440055 w 560070"/>
              <a:gd name="connsiteY64" fmla="*/ 346710 h 506730"/>
              <a:gd name="connsiteX65" fmla="*/ 426720 w 560070"/>
              <a:gd name="connsiteY65" fmla="*/ 360045 h 506730"/>
              <a:gd name="connsiteX66" fmla="*/ 400050 w 560070"/>
              <a:gd name="connsiteY66" fmla="*/ 360045 h 506730"/>
              <a:gd name="connsiteX67" fmla="*/ 386715 w 560070"/>
              <a:gd name="connsiteY67" fmla="*/ 346710 h 506730"/>
              <a:gd name="connsiteX68" fmla="*/ 400050 w 560070"/>
              <a:gd name="connsiteY68" fmla="*/ 333375 h 506730"/>
              <a:gd name="connsiteX69" fmla="*/ 480060 w 560070"/>
              <a:gd name="connsiteY69" fmla="*/ 333375 h 506730"/>
              <a:gd name="connsiteX70" fmla="*/ 506730 w 560070"/>
              <a:gd name="connsiteY70" fmla="*/ 333375 h 506730"/>
              <a:gd name="connsiteX71" fmla="*/ 520065 w 560070"/>
              <a:gd name="connsiteY71" fmla="*/ 346710 h 506730"/>
              <a:gd name="connsiteX72" fmla="*/ 506730 w 560070"/>
              <a:gd name="connsiteY72" fmla="*/ 360045 h 506730"/>
              <a:gd name="connsiteX73" fmla="*/ 480060 w 560070"/>
              <a:gd name="connsiteY73" fmla="*/ 360045 h 506730"/>
              <a:gd name="connsiteX74" fmla="*/ 466725 w 560070"/>
              <a:gd name="connsiteY74" fmla="*/ 346710 h 506730"/>
              <a:gd name="connsiteX75" fmla="*/ 480060 w 560070"/>
              <a:gd name="connsiteY75" fmla="*/ 333375 h 506730"/>
              <a:gd name="connsiteX76" fmla="*/ 400050 w 560070"/>
              <a:gd name="connsiteY76" fmla="*/ 386715 h 506730"/>
              <a:gd name="connsiteX77" fmla="*/ 426720 w 560070"/>
              <a:gd name="connsiteY77" fmla="*/ 386715 h 506730"/>
              <a:gd name="connsiteX78" fmla="*/ 440055 w 560070"/>
              <a:gd name="connsiteY78" fmla="*/ 400050 h 506730"/>
              <a:gd name="connsiteX79" fmla="*/ 426720 w 560070"/>
              <a:gd name="connsiteY79" fmla="*/ 413385 h 506730"/>
              <a:gd name="connsiteX80" fmla="*/ 400050 w 560070"/>
              <a:gd name="connsiteY80" fmla="*/ 413385 h 506730"/>
              <a:gd name="connsiteX81" fmla="*/ 386715 w 560070"/>
              <a:gd name="connsiteY81" fmla="*/ 400050 h 506730"/>
              <a:gd name="connsiteX82" fmla="*/ 400050 w 560070"/>
              <a:gd name="connsiteY82" fmla="*/ 386715 h 506730"/>
              <a:gd name="connsiteX83" fmla="*/ 480060 w 560070"/>
              <a:gd name="connsiteY83" fmla="*/ 386715 h 506730"/>
              <a:gd name="connsiteX84" fmla="*/ 506730 w 560070"/>
              <a:gd name="connsiteY84" fmla="*/ 386715 h 506730"/>
              <a:gd name="connsiteX85" fmla="*/ 520065 w 560070"/>
              <a:gd name="connsiteY85" fmla="*/ 400050 h 506730"/>
              <a:gd name="connsiteX86" fmla="*/ 506730 w 560070"/>
              <a:gd name="connsiteY86" fmla="*/ 413385 h 506730"/>
              <a:gd name="connsiteX87" fmla="*/ 480060 w 560070"/>
              <a:gd name="connsiteY87" fmla="*/ 413385 h 506730"/>
              <a:gd name="connsiteX88" fmla="*/ 466725 w 560070"/>
              <a:gd name="connsiteY88" fmla="*/ 400050 h 506730"/>
              <a:gd name="connsiteX89" fmla="*/ 480060 w 560070"/>
              <a:gd name="connsiteY89" fmla="*/ 386715 h 506730"/>
              <a:gd name="connsiteX90" fmla="*/ 400050 w 560070"/>
              <a:gd name="connsiteY90" fmla="*/ 440055 h 506730"/>
              <a:gd name="connsiteX91" fmla="*/ 426720 w 560070"/>
              <a:gd name="connsiteY91" fmla="*/ 440055 h 506730"/>
              <a:gd name="connsiteX92" fmla="*/ 440055 w 560070"/>
              <a:gd name="connsiteY92" fmla="*/ 453390 h 506730"/>
              <a:gd name="connsiteX93" fmla="*/ 426720 w 560070"/>
              <a:gd name="connsiteY93" fmla="*/ 466725 h 506730"/>
              <a:gd name="connsiteX94" fmla="*/ 400050 w 560070"/>
              <a:gd name="connsiteY94" fmla="*/ 466725 h 506730"/>
              <a:gd name="connsiteX95" fmla="*/ 386715 w 560070"/>
              <a:gd name="connsiteY95" fmla="*/ 453390 h 506730"/>
              <a:gd name="connsiteX96" fmla="*/ 400050 w 560070"/>
              <a:gd name="connsiteY96" fmla="*/ 440055 h 506730"/>
              <a:gd name="connsiteX97" fmla="*/ 480060 w 560070"/>
              <a:gd name="connsiteY97" fmla="*/ 440055 h 506730"/>
              <a:gd name="connsiteX98" fmla="*/ 506730 w 560070"/>
              <a:gd name="connsiteY98" fmla="*/ 440055 h 506730"/>
              <a:gd name="connsiteX99" fmla="*/ 520065 w 560070"/>
              <a:gd name="connsiteY99" fmla="*/ 453390 h 506730"/>
              <a:gd name="connsiteX100" fmla="*/ 506730 w 560070"/>
              <a:gd name="connsiteY100" fmla="*/ 466725 h 506730"/>
              <a:gd name="connsiteX101" fmla="*/ 480060 w 560070"/>
              <a:gd name="connsiteY101" fmla="*/ 466725 h 506730"/>
              <a:gd name="connsiteX102" fmla="*/ 466725 w 560070"/>
              <a:gd name="connsiteY102" fmla="*/ 453390 h 506730"/>
              <a:gd name="connsiteX103" fmla="*/ 480060 w 560070"/>
              <a:gd name="connsiteY103" fmla="*/ 440055 h 506730"/>
              <a:gd name="connsiteX104" fmla="*/ 386715 w 560070"/>
              <a:gd name="connsiteY104" fmla="*/ 266700 h 506730"/>
              <a:gd name="connsiteX105" fmla="*/ 400050 w 560070"/>
              <a:gd name="connsiteY105" fmla="*/ 253365 h 506730"/>
              <a:gd name="connsiteX106" fmla="*/ 506730 w 560070"/>
              <a:gd name="connsiteY106" fmla="*/ 253365 h 506730"/>
              <a:gd name="connsiteX107" fmla="*/ 520065 w 560070"/>
              <a:gd name="connsiteY107" fmla="*/ 266700 h 506730"/>
              <a:gd name="connsiteX108" fmla="*/ 520065 w 560070"/>
              <a:gd name="connsiteY108" fmla="*/ 293370 h 506730"/>
              <a:gd name="connsiteX109" fmla="*/ 506730 w 560070"/>
              <a:gd name="connsiteY109" fmla="*/ 306705 h 506730"/>
              <a:gd name="connsiteX110" fmla="*/ 400050 w 560070"/>
              <a:gd name="connsiteY110" fmla="*/ 306705 h 506730"/>
              <a:gd name="connsiteX111" fmla="*/ 386715 w 560070"/>
              <a:gd name="connsiteY111" fmla="*/ 293370 h 506730"/>
              <a:gd name="connsiteX112" fmla="*/ 386715 w 560070"/>
              <a:gd name="connsiteY112" fmla="*/ 266700 h 50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560070" h="506730">
                <a:moveTo>
                  <a:pt x="0" y="46673"/>
                </a:moveTo>
                <a:cubicBezTo>
                  <a:pt x="0" y="20909"/>
                  <a:pt x="20909" y="0"/>
                  <a:pt x="46673" y="0"/>
                </a:cubicBezTo>
                <a:lnTo>
                  <a:pt x="406718" y="0"/>
                </a:lnTo>
                <a:cubicBezTo>
                  <a:pt x="432481" y="0"/>
                  <a:pt x="453390" y="20909"/>
                  <a:pt x="453390" y="46673"/>
                </a:cubicBezTo>
                <a:lnTo>
                  <a:pt x="453390" y="186690"/>
                </a:lnTo>
                <a:lnTo>
                  <a:pt x="373380" y="186690"/>
                </a:lnTo>
                <a:cubicBezTo>
                  <a:pt x="343920" y="186690"/>
                  <a:pt x="320040" y="210570"/>
                  <a:pt x="320040" y="240030"/>
                </a:cubicBezTo>
                <a:lnTo>
                  <a:pt x="320040" y="320040"/>
                </a:lnTo>
                <a:lnTo>
                  <a:pt x="46673" y="320040"/>
                </a:lnTo>
                <a:cubicBezTo>
                  <a:pt x="20896" y="320040"/>
                  <a:pt x="0" y="299144"/>
                  <a:pt x="0" y="273368"/>
                </a:cubicBezTo>
                <a:lnTo>
                  <a:pt x="0" y="46673"/>
                </a:lnTo>
                <a:close/>
                <a:moveTo>
                  <a:pt x="80010" y="60008"/>
                </a:moveTo>
                <a:cubicBezTo>
                  <a:pt x="80010" y="71054"/>
                  <a:pt x="71054" y="80010"/>
                  <a:pt x="60008" y="80010"/>
                </a:cubicBezTo>
                <a:lnTo>
                  <a:pt x="33338" y="80010"/>
                </a:lnTo>
                <a:lnTo>
                  <a:pt x="33338" y="120015"/>
                </a:lnTo>
                <a:lnTo>
                  <a:pt x="60008" y="120015"/>
                </a:lnTo>
                <a:cubicBezTo>
                  <a:pt x="93149" y="120015"/>
                  <a:pt x="120015" y="93149"/>
                  <a:pt x="120015" y="60008"/>
                </a:cubicBezTo>
                <a:lnTo>
                  <a:pt x="120015" y="33338"/>
                </a:lnTo>
                <a:lnTo>
                  <a:pt x="80010" y="33338"/>
                </a:lnTo>
                <a:lnTo>
                  <a:pt x="80010" y="60008"/>
                </a:lnTo>
                <a:close/>
                <a:moveTo>
                  <a:pt x="226695" y="226695"/>
                </a:moveTo>
                <a:cubicBezTo>
                  <a:pt x="259835" y="226695"/>
                  <a:pt x="286703" y="199828"/>
                  <a:pt x="286703" y="166688"/>
                </a:cubicBezTo>
                <a:cubicBezTo>
                  <a:pt x="286703" y="133546"/>
                  <a:pt x="259835" y="106680"/>
                  <a:pt x="226695" y="106680"/>
                </a:cubicBezTo>
                <a:cubicBezTo>
                  <a:pt x="193554" y="106680"/>
                  <a:pt x="166688" y="133546"/>
                  <a:pt x="166688" y="166688"/>
                </a:cubicBezTo>
                <a:cubicBezTo>
                  <a:pt x="166688" y="199828"/>
                  <a:pt x="193554" y="226695"/>
                  <a:pt x="226695" y="226695"/>
                </a:cubicBezTo>
                <a:close/>
                <a:moveTo>
                  <a:pt x="60008" y="240030"/>
                </a:moveTo>
                <a:cubicBezTo>
                  <a:pt x="71054" y="240030"/>
                  <a:pt x="80010" y="248986"/>
                  <a:pt x="80010" y="260033"/>
                </a:cubicBezTo>
                <a:lnTo>
                  <a:pt x="80010" y="286703"/>
                </a:lnTo>
                <a:lnTo>
                  <a:pt x="120015" y="286703"/>
                </a:lnTo>
                <a:lnTo>
                  <a:pt x="120015" y="260033"/>
                </a:lnTo>
                <a:cubicBezTo>
                  <a:pt x="120015" y="226892"/>
                  <a:pt x="93149" y="200025"/>
                  <a:pt x="60008" y="200025"/>
                </a:cubicBezTo>
                <a:lnTo>
                  <a:pt x="33338" y="200025"/>
                </a:lnTo>
                <a:lnTo>
                  <a:pt x="33338" y="240030"/>
                </a:lnTo>
                <a:lnTo>
                  <a:pt x="60008" y="240030"/>
                </a:lnTo>
                <a:close/>
                <a:moveTo>
                  <a:pt x="393383" y="80010"/>
                </a:moveTo>
                <a:cubicBezTo>
                  <a:pt x="382336" y="80010"/>
                  <a:pt x="373380" y="71054"/>
                  <a:pt x="373380" y="60008"/>
                </a:cubicBezTo>
                <a:lnTo>
                  <a:pt x="373380" y="33338"/>
                </a:lnTo>
                <a:lnTo>
                  <a:pt x="333375" y="33338"/>
                </a:lnTo>
                <a:lnTo>
                  <a:pt x="333375" y="60008"/>
                </a:lnTo>
                <a:cubicBezTo>
                  <a:pt x="333375" y="93149"/>
                  <a:pt x="360242" y="120015"/>
                  <a:pt x="393383" y="120015"/>
                </a:cubicBezTo>
                <a:lnTo>
                  <a:pt x="420053" y="120015"/>
                </a:lnTo>
                <a:lnTo>
                  <a:pt x="420053" y="80010"/>
                </a:lnTo>
                <a:lnTo>
                  <a:pt x="393383" y="80010"/>
                </a:lnTo>
                <a:close/>
                <a:moveTo>
                  <a:pt x="64035" y="360045"/>
                </a:moveTo>
                <a:lnTo>
                  <a:pt x="320040" y="360045"/>
                </a:lnTo>
                <a:lnTo>
                  <a:pt x="320040" y="400050"/>
                </a:lnTo>
                <a:lnTo>
                  <a:pt x="133350" y="400050"/>
                </a:lnTo>
                <a:cubicBezTo>
                  <a:pt x="103746" y="400050"/>
                  <a:pt x="77876" y="383968"/>
                  <a:pt x="64035" y="360045"/>
                </a:cubicBezTo>
                <a:close/>
                <a:moveTo>
                  <a:pt x="533400" y="133350"/>
                </a:moveTo>
                <a:lnTo>
                  <a:pt x="533400" y="186690"/>
                </a:lnTo>
                <a:lnTo>
                  <a:pt x="493395" y="186690"/>
                </a:lnTo>
                <a:lnTo>
                  <a:pt x="493395" y="64035"/>
                </a:lnTo>
                <a:cubicBezTo>
                  <a:pt x="518161" y="78327"/>
                  <a:pt x="533413" y="104755"/>
                  <a:pt x="533400" y="133350"/>
                </a:cubicBezTo>
                <a:close/>
                <a:moveTo>
                  <a:pt x="386715" y="213360"/>
                </a:moveTo>
                <a:cubicBezTo>
                  <a:pt x="364622" y="213360"/>
                  <a:pt x="346710" y="231272"/>
                  <a:pt x="346710" y="253365"/>
                </a:cubicBezTo>
                <a:lnTo>
                  <a:pt x="346710" y="466725"/>
                </a:lnTo>
                <a:cubicBezTo>
                  <a:pt x="346710" y="488818"/>
                  <a:pt x="364622" y="506730"/>
                  <a:pt x="386715" y="506730"/>
                </a:cubicBezTo>
                <a:lnTo>
                  <a:pt x="520065" y="506730"/>
                </a:lnTo>
                <a:cubicBezTo>
                  <a:pt x="542158" y="506730"/>
                  <a:pt x="560070" y="488818"/>
                  <a:pt x="560070" y="466725"/>
                </a:cubicBezTo>
                <a:lnTo>
                  <a:pt x="560070" y="253365"/>
                </a:lnTo>
                <a:cubicBezTo>
                  <a:pt x="560070" y="231272"/>
                  <a:pt x="542158" y="213360"/>
                  <a:pt x="520065" y="213360"/>
                </a:cubicBezTo>
                <a:lnTo>
                  <a:pt x="386715" y="213360"/>
                </a:lnTo>
                <a:close/>
                <a:moveTo>
                  <a:pt x="400050" y="333375"/>
                </a:moveTo>
                <a:lnTo>
                  <a:pt x="426720" y="333375"/>
                </a:lnTo>
                <a:cubicBezTo>
                  <a:pt x="434084" y="333375"/>
                  <a:pt x="440055" y="339346"/>
                  <a:pt x="440055" y="346710"/>
                </a:cubicBezTo>
                <a:cubicBezTo>
                  <a:pt x="440055" y="354074"/>
                  <a:pt x="434084" y="360045"/>
                  <a:pt x="426720" y="360045"/>
                </a:cubicBezTo>
                <a:lnTo>
                  <a:pt x="400050" y="360045"/>
                </a:lnTo>
                <a:cubicBezTo>
                  <a:pt x="392686" y="360045"/>
                  <a:pt x="386715" y="354074"/>
                  <a:pt x="386715" y="346710"/>
                </a:cubicBezTo>
                <a:cubicBezTo>
                  <a:pt x="386715" y="339346"/>
                  <a:pt x="392686" y="333375"/>
                  <a:pt x="400050" y="333375"/>
                </a:cubicBezTo>
                <a:close/>
                <a:moveTo>
                  <a:pt x="480060" y="333375"/>
                </a:moveTo>
                <a:lnTo>
                  <a:pt x="506730" y="333375"/>
                </a:lnTo>
                <a:cubicBezTo>
                  <a:pt x="514094" y="333375"/>
                  <a:pt x="520065" y="339346"/>
                  <a:pt x="520065" y="346710"/>
                </a:cubicBezTo>
                <a:cubicBezTo>
                  <a:pt x="520065" y="354074"/>
                  <a:pt x="514094" y="360045"/>
                  <a:pt x="506730" y="360045"/>
                </a:cubicBezTo>
                <a:lnTo>
                  <a:pt x="480060" y="360045"/>
                </a:lnTo>
                <a:cubicBezTo>
                  <a:pt x="472696" y="360045"/>
                  <a:pt x="466725" y="354074"/>
                  <a:pt x="466725" y="346710"/>
                </a:cubicBezTo>
                <a:cubicBezTo>
                  <a:pt x="466725" y="339346"/>
                  <a:pt x="472696" y="333375"/>
                  <a:pt x="480060" y="333375"/>
                </a:cubicBezTo>
                <a:close/>
                <a:moveTo>
                  <a:pt x="400050" y="386715"/>
                </a:moveTo>
                <a:lnTo>
                  <a:pt x="426720" y="386715"/>
                </a:lnTo>
                <a:cubicBezTo>
                  <a:pt x="434084" y="386715"/>
                  <a:pt x="440055" y="392686"/>
                  <a:pt x="440055" y="400050"/>
                </a:cubicBezTo>
                <a:cubicBezTo>
                  <a:pt x="440055" y="407414"/>
                  <a:pt x="434084" y="413385"/>
                  <a:pt x="426720" y="413385"/>
                </a:cubicBezTo>
                <a:lnTo>
                  <a:pt x="400050" y="413385"/>
                </a:lnTo>
                <a:cubicBezTo>
                  <a:pt x="392686" y="413385"/>
                  <a:pt x="386715" y="407414"/>
                  <a:pt x="386715" y="400050"/>
                </a:cubicBezTo>
                <a:cubicBezTo>
                  <a:pt x="386715" y="392686"/>
                  <a:pt x="392686" y="386715"/>
                  <a:pt x="400050" y="386715"/>
                </a:cubicBezTo>
                <a:close/>
                <a:moveTo>
                  <a:pt x="480060" y="386715"/>
                </a:moveTo>
                <a:lnTo>
                  <a:pt x="506730" y="386715"/>
                </a:lnTo>
                <a:cubicBezTo>
                  <a:pt x="514094" y="386715"/>
                  <a:pt x="520065" y="392686"/>
                  <a:pt x="520065" y="400050"/>
                </a:cubicBezTo>
                <a:cubicBezTo>
                  <a:pt x="520065" y="407414"/>
                  <a:pt x="514094" y="413385"/>
                  <a:pt x="506730" y="413385"/>
                </a:cubicBezTo>
                <a:lnTo>
                  <a:pt x="480060" y="413385"/>
                </a:lnTo>
                <a:cubicBezTo>
                  <a:pt x="472696" y="413385"/>
                  <a:pt x="466725" y="407414"/>
                  <a:pt x="466725" y="400050"/>
                </a:cubicBezTo>
                <a:cubicBezTo>
                  <a:pt x="466725" y="392686"/>
                  <a:pt x="472696" y="386715"/>
                  <a:pt x="480060" y="386715"/>
                </a:cubicBezTo>
                <a:close/>
                <a:moveTo>
                  <a:pt x="400050" y="440055"/>
                </a:moveTo>
                <a:lnTo>
                  <a:pt x="426720" y="440055"/>
                </a:lnTo>
                <a:cubicBezTo>
                  <a:pt x="434084" y="440055"/>
                  <a:pt x="440055" y="446026"/>
                  <a:pt x="440055" y="453390"/>
                </a:cubicBezTo>
                <a:cubicBezTo>
                  <a:pt x="440055" y="460754"/>
                  <a:pt x="434084" y="466725"/>
                  <a:pt x="426720" y="466725"/>
                </a:cubicBezTo>
                <a:lnTo>
                  <a:pt x="400050" y="466725"/>
                </a:lnTo>
                <a:cubicBezTo>
                  <a:pt x="392686" y="466725"/>
                  <a:pt x="386715" y="460754"/>
                  <a:pt x="386715" y="453390"/>
                </a:cubicBezTo>
                <a:cubicBezTo>
                  <a:pt x="386715" y="446026"/>
                  <a:pt x="392686" y="440055"/>
                  <a:pt x="400050" y="440055"/>
                </a:cubicBezTo>
                <a:close/>
                <a:moveTo>
                  <a:pt x="480060" y="440055"/>
                </a:moveTo>
                <a:lnTo>
                  <a:pt x="506730" y="440055"/>
                </a:lnTo>
                <a:cubicBezTo>
                  <a:pt x="514094" y="440055"/>
                  <a:pt x="520065" y="446026"/>
                  <a:pt x="520065" y="453390"/>
                </a:cubicBezTo>
                <a:cubicBezTo>
                  <a:pt x="520065" y="460754"/>
                  <a:pt x="514094" y="466725"/>
                  <a:pt x="506730" y="466725"/>
                </a:cubicBezTo>
                <a:lnTo>
                  <a:pt x="480060" y="466725"/>
                </a:lnTo>
                <a:cubicBezTo>
                  <a:pt x="472696" y="466725"/>
                  <a:pt x="466725" y="460754"/>
                  <a:pt x="466725" y="453390"/>
                </a:cubicBezTo>
                <a:cubicBezTo>
                  <a:pt x="466725" y="446026"/>
                  <a:pt x="472696" y="440055"/>
                  <a:pt x="480060" y="440055"/>
                </a:cubicBezTo>
                <a:close/>
                <a:moveTo>
                  <a:pt x="386715" y="266700"/>
                </a:moveTo>
                <a:cubicBezTo>
                  <a:pt x="386715" y="259336"/>
                  <a:pt x="392686" y="253365"/>
                  <a:pt x="400050" y="253365"/>
                </a:cubicBezTo>
                <a:lnTo>
                  <a:pt x="506730" y="253365"/>
                </a:lnTo>
                <a:cubicBezTo>
                  <a:pt x="514094" y="253365"/>
                  <a:pt x="520065" y="259336"/>
                  <a:pt x="520065" y="266700"/>
                </a:cubicBezTo>
                <a:lnTo>
                  <a:pt x="520065" y="293370"/>
                </a:lnTo>
                <a:cubicBezTo>
                  <a:pt x="520065" y="300734"/>
                  <a:pt x="514094" y="306705"/>
                  <a:pt x="506730" y="306705"/>
                </a:cubicBezTo>
                <a:lnTo>
                  <a:pt x="400050" y="306705"/>
                </a:lnTo>
                <a:cubicBezTo>
                  <a:pt x="392686" y="306705"/>
                  <a:pt x="386715" y="300734"/>
                  <a:pt x="386715" y="293370"/>
                </a:cubicBezTo>
                <a:lnTo>
                  <a:pt x="386715" y="266700"/>
                </a:lnTo>
                <a:close/>
              </a:path>
            </a:pathLst>
          </a:custGeom>
          <a:solidFill>
            <a:schemeClr val="bg1"/>
          </a:solidFill>
          <a:ln w="12700">
            <a:noFill/>
            <a:miter lim="400000"/>
          </a:ln>
          <a:effectLst/>
        </p:spPr>
        <p:txBody>
          <a:bodyPr lIns="44819" tIns="44819" rIns="44819" bIns="44819"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3847" rtl="0" eaLnBrk="1" fontAlgn="auto" latinLnBrk="0" hangingPunct="0">
              <a:lnSpc>
                <a:spcPct val="100000"/>
              </a:lnSpc>
              <a:spcBef>
                <a:spcPts val="0"/>
              </a:spcBef>
              <a:spcAft>
                <a:spcPts val="0"/>
              </a:spcAft>
              <a:buClrTx/>
              <a:buSzTx/>
              <a:buFontTx/>
              <a:buNone/>
              <a:tabLst/>
              <a:defRPr/>
            </a:pPr>
            <a:endParaRPr kumimoji="0" lang="en-US" sz="1961" b="0" i="0" u="none" strike="noStrike" kern="0" cap="none" spc="0" normalizeH="0" baseline="0" noProof="0">
              <a:ln>
                <a:noFill/>
              </a:ln>
              <a:gradFill flip="none" rotWithShape="1">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3" name="Graphic 28">
            <a:extLst>
              <a:ext uri="{FF2B5EF4-FFF2-40B4-BE49-F238E27FC236}">
                <a16:creationId xmlns:a16="http://schemas.microsoft.com/office/drawing/2014/main" id="{4AF660DC-9D8F-C8BB-36BF-F0208FAB69A5}"/>
              </a:ext>
              <a:ext uri="{C183D7F6-B498-43B3-948B-1728B52AA6E4}">
                <adec:decorative xmlns:adec="http://schemas.microsoft.com/office/drawing/2017/decorative" val="1"/>
              </a:ext>
            </a:extLst>
          </p:cNvPr>
          <p:cNvSpPr/>
          <p:nvPr/>
        </p:nvSpPr>
        <p:spPr>
          <a:xfrm>
            <a:off x="9648184" y="4340937"/>
            <a:ext cx="457274" cy="457227"/>
          </a:xfrm>
          <a:custGeom>
            <a:avLst/>
            <a:gdLst>
              <a:gd name="connsiteX0" fmla="*/ 381991 w 457274"/>
              <a:gd name="connsiteY0" fmla="*/ 6691 h 457227"/>
              <a:gd name="connsiteX1" fmla="*/ 349655 w 457274"/>
              <a:gd name="connsiteY1" fmla="*/ 6703 h 457227"/>
              <a:gd name="connsiteX2" fmla="*/ 349667 w 457274"/>
              <a:gd name="connsiteY2" fmla="*/ 39038 h 457227"/>
              <a:gd name="connsiteX3" fmla="*/ 379202 w 457274"/>
              <a:gd name="connsiteY3" fmla="*/ 68528 h 457227"/>
              <a:gd name="connsiteX4" fmla="*/ 251369 w 457274"/>
              <a:gd name="connsiteY4" fmla="*/ 68528 h 457227"/>
              <a:gd name="connsiteX5" fmla="*/ 182789 w 457274"/>
              <a:gd name="connsiteY5" fmla="*/ 137108 h 457227"/>
              <a:gd name="connsiteX6" fmla="*/ 182789 w 457274"/>
              <a:gd name="connsiteY6" fmla="*/ 342825 h 457227"/>
              <a:gd name="connsiteX7" fmla="*/ 159929 w 457274"/>
              <a:gd name="connsiteY7" fmla="*/ 365685 h 457227"/>
              <a:gd name="connsiteX8" fmla="*/ 133228 w 457274"/>
              <a:gd name="connsiteY8" fmla="*/ 365685 h 457227"/>
              <a:gd name="connsiteX9" fmla="*/ 45583 w 457274"/>
              <a:gd name="connsiteY9" fmla="*/ 324079 h 457227"/>
              <a:gd name="connsiteX10" fmla="*/ 0 w 457274"/>
              <a:gd name="connsiteY10" fmla="*/ 388636 h 457227"/>
              <a:gd name="connsiteX11" fmla="*/ 68569 w 457274"/>
              <a:gd name="connsiteY11" fmla="*/ 457228 h 457227"/>
              <a:gd name="connsiteX12" fmla="*/ 133274 w 457274"/>
              <a:gd name="connsiteY12" fmla="*/ 411405 h 457227"/>
              <a:gd name="connsiteX13" fmla="*/ 159929 w 457274"/>
              <a:gd name="connsiteY13" fmla="*/ 411405 h 457227"/>
              <a:gd name="connsiteX14" fmla="*/ 228509 w 457274"/>
              <a:gd name="connsiteY14" fmla="*/ 342825 h 457227"/>
              <a:gd name="connsiteX15" fmla="*/ 228509 w 457274"/>
              <a:gd name="connsiteY15" fmla="*/ 137085 h 457227"/>
              <a:gd name="connsiteX16" fmla="*/ 251369 w 457274"/>
              <a:gd name="connsiteY16" fmla="*/ 114225 h 457227"/>
              <a:gd name="connsiteX17" fmla="*/ 379133 w 457274"/>
              <a:gd name="connsiteY17" fmla="*/ 114225 h 457227"/>
              <a:gd name="connsiteX18" fmla="*/ 349529 w 457274"/>
              <a:gd name="connsiteY18" fmla="*/ 143737 h 457227"/>
              <a:gd name="connsiteX19" fmla="*/ 348425 w 457274"/>
              <a:gd name="connsiteY19" fmla="*/ 176047 h 457227"/>
              <a:gd name="connsiteX20" fmla="*/ 380736 w 457274"/>
              <a:gd name="connsiteY20" fmla="*/ 177151 h 457227"/>
              <a:gd name="connsiteX21" fmla="*/ 381762 w 457274"/>
              <a:gd name="connsiteY21" fmla="*/ 176130 h 457227"/>
              <a:gd name="connsiteX22" fmla="*/ 450571 w 457274"/>
              <a:gd name="connsiteY22" fmla="*/ 107550 h 457227"/>
              <a:gd name="connsiteX23" fmla="*/ 450589 w 457274"/>
              <a:gd name="connsiteY23" fmla="*/ 75221 h 457227"/>
              <a:gd name="connsiteX24" fmla="*/ 450571 w 457274"/>
              <a:gd name="connsiteY24" fmla="*/ 75203 h 457227"/>
              <a:gd name="connsiteX25" fmla="*/ 381991 w 457274"/>
              <a:gd name="connsiteY25" fmla="*/ 6691 h 457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57274" h="457227">
                <a:moveTo>
                  <a:pt x="381991" y="6691"/>
                </a:moveTo>
                <a:cubicBezTo>
                  <a:pt x="373059" y="-2235"/>
                  <a:pt x="358582" y="-2230"/>
                  <a:pt x="349655" y="6703"/>
                </a:cubicBezTo>
                <a:cubicBezTo>
                  <a:pt x="340728" y="15635"/>
                  <a:pt x="340735" y="30112"/>
                  <a:pt x="349667" y="39038"/>
                </a:cubicBezTo>
                <a:lnTo>
                  <a:pt x="379202" y="68528"/>
                </a:lnTo>
                <a:lnTo>
                  <a:pt x="251369" y="68528"/>
                </a:lnTo>
                <a:cubicBezTo>
                  <a:pt x="213492" y="68528"/>
                  <a:pt x="182789" y="99232"/>
                  <a:pt x="182789" y="137108"/>
                </a:cubicBezTo>
                <a:lnTo>
                  <a:pt x="182789" y="342825"/>
                </a:lnTo>
                <a:cubicBezTo>
                  <a:pt x="182789" y="355450"/>
                  <a:pt x="172554" y="365685"/>
                  <a:pt x="159929" y="365685"/>
                </a:cubicBezTo>
                <a:lnTo>
                  <a:pt x="133228" y="365685"/>
                </a:lnTo>
                <a:cubicBezTo>
                  <a:pt x="120514" y="329993"/>
                  <a:pt x="81274" y="311367"/>
                  <a:pt x="45583" y="324079"/>
                </a:cubicBezTo>
                <a:cubicBezTo>
                  <a:pt x="18275" y="333806"/>
                  <a:pt x="29" y="359647"/>
                  <a:pt x="0" y="388636"/>
                </a:cubicBezTo>
                <a:cubicBezTo>
                  <a:pt x="-6" y="426513"/>
                  <a:pt x="30694" y="457221"/>
                  <a:pt x="68569" y="457228"/>
                </a:cubicBezTo>
                <a:cubicBezTo>
                  <a:pt x="97676" y="457232"/>
                  <a:pt x="123615" y="438862"/>
                  <a:pt x="133274" y="411405"/>
                </a:cubicBezTo>
                <a:lnTo>
                  <a:pt x="159929" y="411405"/>
                </a:lnTo>
                <a:cubicBezTo>
                  <a:pt x="197805" y="411405"/>
                  <a:pt x="228509" y="380701"/>
                  <a:pt x="228509" y="342825"/>
                </a:cubicBezTo>
                <a:lnTo>
                  <a:pt x="228509" y="137085"/>
                </a:lnTo>
                <a:cubicBezTo>
                  <a:pt x="228509" y="124460"/>
                  <a:pt x="238743" y="114225"/>
                  <a:pt x="251369" y="114225"/>
                </a:cubicBezTo>
                <a:lnTo>
                  <a:pt x="379133" y="114225"/>
                </a:lnTo>
                <a:lnTo>
                  <a:pt x="349529" y="143737"/>
                </a:lnTo>
                <a:cubicBezTo>
                  <a:pt x="340303" y="152354"/>
                  <a:pt x="339809" y="166820"/>
                  <a:pt x="348425" y="176047"/>
                </a:cubicBezTo>
                <a:cubicBezTo>
                  <a:pt x="357043" y="185274"/>
                  <a:pt x="371509" y="185767"/>
                  <a:pt x="380736" y="177151"/>
                </a:cubicBezTo>
                <a:cubicBezTo>
                  <a:pt x="381088" y="176821"/>
                  <a:pt x="381431" y="176481"/>
                  <a:pt x="381762" y="176130"/>
                </a:cubicBezTo>
                <a:lnTo>
                  <a:pt x="450571" y="107550"/>
                </a:lnTo>
                <a:cubicBezTo>
                  <a:pt x="459502" y="98627"/>
                  <a:pt x="459511" y="84153"/>
                  <a:pt x="450589" y="75221"/>
                </a:cubicBezTo>
                <a:cubicBezTo>
                  <a:pt x="450582" y="75215"/>
                  <a:pt x="450577" y="75209"/>
                  <a:pt x="450571" y="75203"/>
                </a:cubicBezTo>
                <a:lnTo>
                  <a:pt x="381991" y="6691"/>
                </a:lnTo>
                <a:close/>
              </a:path>
            </a:pathLst>
          </a:custGeom>
          <a:solidFill>
            <a:schemeClr val="bg1"/>
          </a:solidFill>
          <a:ln w="12700">
            <a:noFill/>
            <a:miter lim="400000"/>
          </a:ln>
          <a:effectLst/>
        </p:spPr>
        <p:txBody>
          <a:bodyPr lIns="44819" tIns="44819" rIns="44819" bIns="44819"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3847" rtl="0" eaLnBrk="1" fontAlgn="auto" latinLnBrk="0" hangingPunct="0">
              <a:lnSpc>
                <a:spcPct val="100000"/>
              </a:lnSpc>
              <a:spcBef>
                <a:spcPts val="0"/>
              </a:spcBef>
              <a:spcAft>
                <a:spcPts val="0"/>
              </a:spcAft>
              <a:buClrTx/>
              <a:buSzTx/>
              <a:buFontTx/>
              <a:buNone/>
              <a:tabLst/>
              <a:defRPr/>
            </a:pPr>
            <a:endParaRPr kumimoji="0" lang="en-US" sz="1961" b="0" i="0" u="none" strike="noStrike" kern="0" cap="none" spc="0" normalizeH="0" baseline="0" noProof="0">
              <a:ln>
                <a:noFill/>
              </a:ln>
              <a:gradFill flip="none" rotWithShape="1">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4" name="Graphic 30">
            <a:extLst>
              <a:ext uri="{FF2B5EF4-FFF2-40B4-BE49-F238E27FC236}">
                <a16:creationId xmlns:a16="http://schemas.microsoft.com/office/drawing/2014/main" id="{F728261B-31A5-FB49-D236-3A629317F172}"/>
              </a:ext>
              <a:ext uri="{C183D7F6-B498-43B3-948B-1728B52AA6E4}">
                <adec:decorative xmlns:adec="http://schemas.microsoft.com/office/drawing/2017/decorative" val="1"/>
              </a:ext>
            </a:extLst>
          </p:cNvPr>
          <p:cNvSpPr/>
          <p:nvPr/>
        </p:nvSpPr>
        <p:spPr>
          <a:xfrm>
            <a:off x="5913121" y="4340950"/>
            <a:ext cx="365760" cy="457200"/>
          </a:xfrm>
          <a:custGeom>
            <a:avLst/>
            <a:gdLst>
              <a:gd name="connsiteX0" fmla="*/ 182880 w 365760"/>
              <a:gd name="connsiteY0" fmla="*/ 182880 h 457200"/>
              <a:gd name="connsiteX1" fmla="*/ 365760 w 365760"/>
              <a:gd name="connsiteY1" fmla="*/ 91440 h 457200"/>
              <a:gd name="connsiteX2" fmla="*/ 182880 w 365760"/>
              <a:gd name="connsiteY2" fmla="*/ 0 h 457200"/>
              <a:gd name="connsiteX3" fmla="*/ 0 w 365760"/>
              <a:gd name="connsiteY3" fmla="*/ 91440 h 457200"/>
              <a:gd name="connsiteX4" fmla="*/ 182880 w 365760"/>
              <a:gd name="connsiteY4" fmla="*/ 182880 h 457200"/>
              <a:gd name="connsiteX5" fmla="*/ 327538 w 365760"/>
              <a:gd name="connsiteY5" fmla="*/ 186766 h 457200"/>
              <a:gd name="connsiteX6" fmla="*/ 365760 w 365760"/>
              <a:gd name="connsiteY6" fmla="*/ 161232 h 457200"/>
              <a:gd name="connsiteX7" fmla="*/ 365760 w 365760"/>
              <a:gd name="connsiteY7" fmla="*/ 365760 h 457200"/>
              <a:gd name="connsiteX8" fmla="*/ 182880 w 365760"/>
              <a:gd name="connsiteY8" fmla="*/ 457200 h 457200"/>
              <a:gd name="connsiteX9" fmla="*/ 0 w 365760"/>
              <a:gd name="connsiteY9" fmla="*/ 365760 h 457200"/>
              <a:gd name="connsiteX10" fmla="*/ 0 w 365760"/>
              <a:gd name="connsiteY10" fmla="*/ 161232 h 457200"/>
              <a:gd name="connsiteX11" fmla="*/ 38222 w 365760"/>
              <a:gd name="connsiteY11" fmla="*/ 186766 h 457200"/>
              <a:gd name="connsiteX12" fmla="*/ 182880 w 365760"/>
              <a:gd name="connsiteY12" fmla="*/ 217170 h 457200"/>
              <a:gd name="connsiteX13" fmla="*/ 327538 w 365760"/>
              <a:gd name="connsiteY13" fmla="*/ 186766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5760" h="457200">
                <a:moveTo>
                  <a:pt x="182880" y="182880"/>
                </a:moveTo>
                <a:cubicBezTo>
                  <a:pt x="283875" y="182880"/>
                  <a:pt x="365760" y="141961"/>
                  <a:pt x="365760" y="91440"/>
                </a:cubicBezTo>
                <a:cubicBezTo>
                  <a:pt x="365760" y="40919"/>
                  <a:pt x="283875" y="0"/>
                  <a:pt x="182880" y="0"/>
                </a:cubicBezTo>
                <a:cubicBezTo>
                  <a:pt x="81885" y="0"/>
                  <a:pt x="0" y="40919"/>
                  <a:pt x="0" y="91440"/>
                </a:cubicBezTo>
                <a:cubicBezTo>
                  <a:pt x="0" y="141961"/>
                  <a:pt x="81885" y="182880"/>
                  <a:pt x="182880" y="182880"/>
                </a:cubicBezTo>
                <a:close/>
                <a:moveTo>
                  <a:pt x="327538" y="186766"/>
                </a:moveTo>
                <a:cubicBezTo>
                  <a:pt x="341352" y="179983"/>
                  <a:pt x="354204" y="171396"/>
                  <a:pt x="365760" y="161232"/>
                </a:cubicBezTo>
                <a:lnTo>
                  <a:pt x="365760" y="365760"/>
                </a:lnTo>
                <a:cubicBezTo>
                  <a:pt x="365760" y="416281"/>
                  <a:pt x="283875" y="457200"/>
                  <a:pt x="182880" y="457200"/>
                </a:cubicBezTo>
                <a:cubicBezTo>
                  <a:pt x="81885" y="457200"/>
                  <a:pt x="0" y="416281"/>
                  <a:pt x="0" y="365760"/>
                </a:cubicBezTo>
                <a:lnTo>
                  <a:pt x="0" y="161232"/>
                </a:lnTo>
                <a:cubicBezTo>
                  <a:pt x="11555" y="171396"/>
                  <a:pt x="24408" y="179983"/>
                  <a:pt x="38222" y="186766"/>
                </a:cubicBezTo>
                <a:cubicBezTo>
                  <a:pt x="77038" y="206151"/>
                  <a:pt x="128199" y="217170"/>
                  <a:pt x="182880" y="217170"/>
                </a:cubicBezTo>
                <a:cubicBezTo>
                  <a:pt x="237561" y="217170"/>
                  <a:pt x="288722" y="206151"/>
                  <a:pt x="327538" y="186766"/>
                </a:cubicBezTo>
                <a:close/>
              </a:path>
            </a:pathLst>
          </a:custGeom>
          <a:solidFill>
            <a:schemeClr val="bg1"/>
          </a:solidFill>
          <a:ln w="12700">
            <a:noFill/>
            <a:miter lim="400000"/>
          </a:ln>
          <a:effectLst/>
        </p:spPr>
        <p:txBody>
          <a:bodyPr lIns="44819" tIns="44819" rIns="44819" bIns="44819"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3847" rtl="0" eaLnBrk="1" fontAlgn="auto" latinLnBrk="0" hangingPunct="0">
              <a:lnSpc>
                <a:spcPct val="100000"/>
              </a:lnSpc>
              <a:spcBef>
                <a:spcPts val="0"/>
              </a:spcBef>
              <a:spcAft>
                <a:spcPts val="0"/>
              </a:spcAft>
              <a:buClrTx/>
              <a:buSzTx/>
              <a:buFontTx/>
              <a:buNone/>
              <a:tabLst/>
              <a:defRPr/>
            </a:pPr>
            <a:endParaRPr kumimoji="0" lang="en-US" sz="1961" b="0" i="0" u="none" strike="noStrike" kern="0" cap="none" spc="0" normalizeH="0" baseline="0" noProof="0">
              <a:ln>
                <a:noFill/>
              </a:ln>
              <a:gradFill flip="none" rotWithShape="1">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5" name="Graphic 26">
            <a:extLst>
              <a:ext uri="{FF2B5EF4-FFF2-40B4-BE49-F238E27FC236}">
                <a16:creationId xmlns:a16="http://schemas.microsoft.com/office/drawing/2014/main" id="{140FEB0D-0852-9B98-FDCD-5F3FB2339DAB}"/>
              </a:ext>
              <a:ext uri="{C183D7F6-B498-43B3-948B-1728B52AA6E4}">
                <adec:decorative xmlns:adec="http://schemas.microsoft.com/office/drawing/2017/decorative" val="1"/>
              </a:ext>
            </a:extLst>
          </p:cNvPr>
          <p:cNvSpPr/>
          <p:nvPr/>
        </p:nvSpPr>
        <p:spPr>
          <a:xfrm>
            <a:off x="2109440" y="4340948"/>
            <a:ext cx="411480" cy="457204"/>
          </a:xfrm>
          <a:custGeom>
            <a:avLst/>
            <a:gdLst>
              <a:gd name="connsiteX0" fmla="*/ 394335 w 411480"/>
              <a:gd name="connsiteY0" fmla="*/ 68580 h 457204"/>
              <a:gd name="connsiteX1" fmla="*/ 216027 w 411480"/>
              <a:gd name="connsiteY1" fmla="*/ 3429 h 457204"/>
              <a:gd name="connsiteX2" fmla="*/ 195453 w 411480"/>
              <a:gd name="connsiteY2" fmla="*/ 3429 h 457204"/>
              <a:gd name="connsiteX3" fmla="*/ 17145 w 411480"/>
              <a:gd name="connsiteY3" fmla="*/ 68580 h 457204"/>
              <a:gd name="connsiteX4" fmla="*/ 0 w 411480"/>
              <a:gd name="connsiteY4" fmla="*/ 85725 h 457204"/>
              <a:gd name="connsiteX5" fmla="*/ 0 w 411480"/>
              <a:gd name="connsiteY5" fmla="*/ 205740 h 457204"/>
              <a:gd name="connsiteX6" fmla="*/ 199454 w 411480"/>
              <a:gd name="connsiteY6" fmla="*/ 456011 h 457204"/>
              <a:gd name="connsiteX7" fmla="*/ 212026 w 411480"/>
              <a:gd name="connsiteY7" fmla="*/ 456011 h 457204"/>
              <a:gd name="connsiteX8" fmla="*/ 411480 w 411480"/>
              <a:gd name="connsiteY8" fmla="*/ 205740 h 457204"/>
              <a:gd name="connsiteX9" fmla="*/ 411480 w 411480"/>
              <a:gd name="connsiteY9" fmla="*/ 85725 h 457204"/>
              <a:gd name="connsiteX10" fmla="*/ 394335 w 411480"/>
              <a:gd name="connsiteY10" fmla="*/ 68580 h 457204"/>
              <a:gd name="connsiteX11" fmla="*/ 314485 w 411480"/>
              <a:gd name="connsiteY11" fmla="*/ 166947 h 457204"/>
              <a:gd name="connsiteX12" fmla="*/ 177325 w 411480"/>
              <a:gd name="connsiteY12" fmla="*/ 292677 h 457204"/>
              <a:gd name="connsiteX13" fmla="*/ 153619 w 411480"/>
              <a:gd name="connsiteY13" fmla="*/ 292151 h 457204"/>
              <a:gd name="connsiteX14" fmla="*/ 96469 w 411480"/>
              <a:gd name="connsiteY14" fmla="*/ 235001 h 457204"/>
              <a:gd name="connsiteX15" fmla="*/ 95614 w 411480"/>
              <a:gd name="connsiteY15" fmla="*/ 210769 h 457204"/>
              <a:gd name="connsiteX16" fmla="*/ 119845 w 411480"/>
              <a:gd name="connsiteY16" fmla="*/ 209914 h 457204"/>
              <a:gd name="connsiteX17" fmla="*/ 120701 w 411480"/>
              <a:gd name="connsiteY17" fmla="*/ 210769 h 457204"/>
              <a:gd name="connsiteX18" fmla="*/ 166261 w 411480"/>
              <a:gd name="connsiteY18" fmla="*/ 256306 h 457204"/>
              <a:gd name="connsiteX19" fmla="*/ 291305 w 411480"/>
              <a:gd name="connsiteY19" fmla="*/ 141663 h 457204"/>
              <a:gd name="connsiteX20" fmla="*/ 315537 w 411480"/>
              <a:gd name="connsiteY20" fmla="*/ 142715 h 457204"/>
              <a:gd name="connsiteX21" fmla="*/ 314485 w 411480"/>
              <a:gd name="connsiteY21" fmla="*/ 166947 h 457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1480" h="457204">
                <a:moveTo>
                  <a:pt x="394335" y="68580"/>
                </a:moveTo>
                <a:cubicBezTo>
                  <a:pt x="333459" y="68580"/>
                  <a:pt x="274137" y="47023"/>
                  <a:pt x="216027" y="3429"/>
                </a:cubicBezTo>
                <a:cubicBezTo>
                  <a:pt x="209930" y="-1143"/>
                  <a:pt x="201550" y="-1143"/>
                  <a:pt x="195453" y="3429"/>
                </a:cubicBezTo>
                <a:cubicBezTo>
                  <a:pt x="137343" y="47023"/>
                  <a:pt x="78021" y="68580"/>
                  <a:pt x="17145" y="68580"/>
                </a:cubicBezTo>
                <a:cubicBezTo>
                  <a:pt x="7676" y="68580"/>
                  <a:pt x="0" y="76256"/>
                  <a:pt x="0" y="85725"/>
                </a:cubicBezTo>
                <a:lnTo>
                  <a:pt x="0" y="205740"/>
                </a:lnTo>
                <a:cubicBezTo>
                  <a:pt x="0" y="320063"/>
                  <a:pt x="67620" y="404073"/>
                  <a:pt x="199454" y="456011"/>
                </a:cubicBezTo>
                <a:cubicBezTo>
                  <a:pt x="203493" y="457602"/>
                  <a:pt x="207987" y="457602"/>
                  <a:pt x="212026" y="456011"/>
                </a:cubicBezTo>
                <a:cubicBezTo>
                  <a:pt x="343860" y="404073"/>
                  <a:pt x="411480" y="320040"/>
                  <a:pt x="411480" y="205740"/>
                </a:cubicBezTo>
                <a:lnTo>
                  <a:pt x="411480" y="85725"/>
                </a:lnTo>
                <a:cubicBezTo>
                  <a:pt x="411480" y="76256"/>
                  <a:pt x="403804" y="68580"/>
                  <a:pt x="394335" y="68580"/>
                </a:cubicBezTo>
                <a:close/>
                <a:moveTo>
                  <a:pt x="314485" y="166947"/>
                </a:moveTo>
                <a:lnTo>
                  <a:pt x="177325" y="292677"/>
                </a:lnTo>
                <a:cubicBezTo>
                  <a:pt x="170556" y="298874"/>
                  <a:pt x="160107" y="298643"/>
                  <a:pt x="153619" y="292151"/>
                </a:cubicBezTo>
                <a:lnTo>
                  <a:pt x="96469" y="235001"/>
                </a:lnTo>
                <a:cubicBezTo>
                  <a:pt x="89542" y="228545"/>
                  <a:pt x="89159" y="217696"/>
                  <a:pt x="95614" y="210769"/>
                </a:cubicBezTo>
                <a:cubicBezTo>
                  <a:pt x="102069" y="203843"/>
                  <a:pt x="112918" y="203459"/>
                  <a:pt x="119845" y="209914"/>
                </a:cubicBezTo>
                <a:cubicBezTo>
                  <a:pt x="120141" y="210189"/>
                  <a:pt x="120426" y="210474"/>
                  <a:pt x="120701" y="210769"/>
                </a:cubicBezTo>
                <a:lnTo>
                  <a:pt x="166261" y="256306"/>
                </a:lnTo>
                <a:lnTo>
                  <a:pt x="291305" y="141663"/>
                </a:lnTo>
                <a:cubicBezTo>
                  <a:pt x="298286" y="135262"/>
                  <a:pt x="309136" y="135733"/>
                  <a:pt x="315537" y="142715"/>
                </a:cubicBezTo>
                <a:cubicBezTo>
                  <a:pt x="321937" y="149697"/>
                  <a:pt x="321466" y="160546"/>
                  <a:pt x="314485" y="166947"/>
                </a:cubicBezTo>
                <a:close/>
              </a:path>
            </a:pathLst>
          </a:custGeom>
          <a:solidFill>
            <a:schemeClr val="bg1"/>
          </a:solidFill>
          <a:ln w="12700">
            <a:noFill/>
            <a:miter lim="400000"/>
          </a:ln>
          <a:effectLst/>
        </p:spPr>
        <p:txBody>
          <a:bodyPr lIns="44819" tIns="44819" rIns="44819" bIns="44819"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3847" rtl="0" eaLnBrk="1" fontAlgn="auto" latinLnBrk="0" hangingPunct="0">
              <a:lnSpc>
                <a:spcPct val="100000"/>
              </a:lnSpc>
              <a:spcBef>
                <a:spcPts val="0"/>
              </a:spcBef>
              <a:spcAft>
                <a:spcPts val="0"/>
              </a:spcAft>
              <a:buClrTx/>
              <a:buSzTx/>
              <a:buFontTx/>
              <a:buNone/>
              <a:tabLst/>
              <a:defRPr/>
            </a:pPr>
            <a:endParaRPr kumimoji="0" lang="en-US" sz="1961" b="0" i="0" u="none" strike="noStrike" kern="0" cap="none" spc="0" normalizeH="0" baseline="0" noProof="0">
              <a:ln>
                <a:noFill/>
              </a:ln>
              <a:gradFill flip="none" rotWithShape="1">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6" name="Graphic 30">
            <a:extLst>
              <a:ext uri="{FF2B5EF4-FFF2-40B4-BE49-F238E27FC236}">
                <a16:creationId xmlns:a16="http://schemas.microsoft.com/office/drawing/2014/main" id="{AE5B1BE8-D28B-5D1F-F244-A64F3D93B006}"/>
              </a:ext>
              <a:ext uri="{C183D7F6-B498-43B3-948B-1728B52AA6E4}">
                <adec:decorative xmlns:adec="http://schemas.microsoft.com/office/drawing/2017/decorative" val="1"/>
              </a:ext>
            </a:extLst>
          </p:cNvPr>
          <p:cNvSpPr/>
          <p:nvPr/>
        </p:nvSpPr>
        <p:spPr>
          <a:xfrm>
            <a:off x="2086580" y="2339172"/>
            <a:ext cx="457200" cy="456971"/>
          </a:xfrm>
          <a:custGeom>
            <a:avLst/>
            <a:gdLst>
              <a:gd name="connsiteX0" fmla="*/ 186080 w 457200"/>
              <a:gd name="connsiteY0" fmla="*/ 0 h 456971"/>
              <a:gd name="connsiteX1" fmla="*/ 211455 w 457200"/>
              <a:gd name="connsiteY1" fmla="*/ 32255 h 456971"/>
              <a:gd name="connsiteX2" fmla="*/ 211455 w 457200"/>
              <a:gd name="connsiteY2" fmla="*/ 131308 h 456971"/>
              <a:gd name="connsiteX3" fmla="*/ 190995 w 457200"/>
              <a:gd name="connsiteY3" fmla="*/ 131308 h 456971"/>
              <a:gd name="connsiteX4" fmla="*/ 131467 w 457200"/>
              <a:gd name="connsiteY4" fmla="*/ 106069 h 456971"/>
              <a:gd name="connsiteX5" fmla="*/ 106228 w 457200"/>
              <a:gd name="connsiteY5" fmla="*/ 165598 h 456971"/>
              <a:gd name="connsiteX6" fmla="*/ 165757 w 457200"/>
              <a:gd name="connsiteY6" fmla="*/ 190835 h 456971"/>
              <a:gd name="connsiteX7" fmla="*/ 190995 w 457200"/>
              <a:gd name="connsiteY7" fmla="*/ 165598 h 456971"/>
              <a:gd name="connsiteX8" fmla="*/ 211455 w 457200"/>
              <a:gd name="connsiteY8" fmla="*/ 165598 h 456971"/>
              <a:gd name="connsiteX9" fmla="*/ 211455 w 457200"/>
              <a:gd name="connsiteY9" fmla="*/ 414726 h 456971"/>
              <a:gd name="connsiteX10" fmla="*/ 193556 w 457200"/>
              <a:gd name="connsiteY10" fmla="*/ 448102 h 456971"/>
              <a:gd name="connsiteX11" fmla="*/ 157894 w 457200"/>
              <a:gd name="connsiteY11" fmla="*/ 456971 h 456971"/>
              <a:gd name="connsiteX12" fmla="*/ 81176 w 457200"/>
              <a:gd name="connsiteY12" fmla="*/ 418841 h 456971"/>
              <a:gd name="connsiteX13" fmla="*/ 57859 w 457200"/>
              <a:gd name="connsiteY13" fmla="*/ 369989 h 456971"/>
              <a:gd name="connsiteX14" fmla="*/ 28849 w 457200"/>
              <a:gd name="connsiteY14" fmla="*/ 354216 h 456971"/>
              <a:gd name="connsiteX15" fmla="*/ 0 w 457200"/>
              <a:gd name="connsiteY15" fmla="*/ 284836 h 456971"/>
              <a:gd name="connsiteX16" fmla="*/ 4343 w 457200"/>
              <a:gd name="connsiteY16" fmla="*/ 239893 h 456971"/>
              <a:gd name="connsiteX17" fmla="*/ 100584 w 457200"/>
              <a:gd name="connsiteY17" fmla="*/ 239893 h 456971"/>
              <a:gd name="connsiteX18" fmla="*/ 131102 w 457200"/>
              <a:gd name="connsiteY18" fmla="*/ 266205 h 456971"/>
              <a:gd name="connsiteX19" fmla="*/ 106333 w 457200"/>
              <a:gd name="connsiteY19" fmla="*/ 325931 h 456971"/>
              <a:gd name="connsiteX20" fmla="*/ 166058 w 457200"/>
              <a:gd name="connsiteY20" fmla="*/ 350700 h 456971"/>
              <a:gd name="connsiteX21" fmla="*/ 190828 w 457200"/>
              <a:gd name="connsiteY21" fmla="*/ 290974 h 456971"/>
              <a:gd name="connsiteX22" fmla="*/ 165552 w 457200"/>
              <a:gd name="connsiteY22" fmla="*/ 265999 h 456971"/>
              <a:gd name="connsiteX23" fmla="*/ 100584 w 457200"/>
              <a:gd name="connsiteY23" fmla="*/ 205603 h 456971"/>
              <a:gd name="connsiteX24" fmla="*/ 23774 w 457200"/>
              <a:gd name="connsiteY24" fmla="*/ 205603 h 456971"/>
              <a:gd name="connsiteX25" fmla="*/ 35090 w 457200"/>
              <a:gd name="connsiteY25" fmla="*/ 198699 h 456971"/>
              <a:gd name="connsiteX26" fmla="*/ 31021 w 457200"/>
              <a:gd name="connsiteY26" fmla="*/ 172936 h 456971"/>
              <a:gd name="connsiteX27" fmla="*/ 37765 w 457200"/>
              <a:gd name="connsiteY27" fmla="*/ 123078 h 456971"/>
              <a:gd name="connsiteX28" fmla="*/ 61493 w 457200"/>
              <a:gd name="connsiteY28" fmla="*/ 82525 h 456971"/>
              <a:gd name="connsiteX29" fmla="*/ 86548 w 457200"/>
              <a:gd name="connsiteY29" fmla="*/ 69563 h 456971"/>
              <a:gd name="connsiteX30" fmla="*/ 117478 w 457200"/>
              <a:gd name="connsiteY30" fmla="*/ 22997 h 456971"/>
              <a:gd name="connsiteX31" fmla="*/ 186058 w 457200"/>
              <a:gd name="connsiteY31" fmla="*/ 0 h 456971"/>
              <a:gd name="connsiteX32" fmla="*/ 245745 w 457200"/>
              <a:gd name="connsiteY32" fmla="*/ 342763 h 456971"/>
              <a:gd name="connsiteX33" fmla="*/ 283464 w 457200"/>
              <a:gd name="connsiteY33" fmla="*/ 342763 h 456971"/>
              <a:gd name="connsiteX34" fmla="*/ 348615 w 457200"/>
              <a:gd name="connsiteY34" fmla="*/ 277612 h 456971"/>
              <a:gd name="connsiteX35" fmla="*/ 348615 w 457200"/>
              <a:gd name="connsiteY35" fmla="*/ 236578 h 456971"/>
              <a:gd name="connsiteX36" fmla="*/ 373852 w 457200"/>
              <a:gd name="connsiteY36" fmla="*/ 177050 h 456971"/>
              <a:gd name="connsiteX37" fmla="*/ 314325 w 457200"/>
              <a:gd name="connsiteY37" fmla="*/ 151811 h 456971"/>
              <a:gd name="connsiteX38" fmla="*/ 289088 w 457200"/>
              <a:gd name="connsiteY38" fmla="*/ 211338 h 456971"/>
              <a:gd name="connsiteX39" fmla="*/ 314325 w 457200"/>
              <a:gd name="connsiteY39" fmla="*/ 236578 h 456971"/>
              <a:gd name="connsiteX40" fmla="*/ 314325 w 457200"/>
              <a:gd name="connsiteY40" fmla="*/ 277612 h 456971"/>
              <a:gd name="connsiteX41" fmla="*/ 283464 w 457200"/>
              <a:gd name="connsiteY41" fmla="*/ 308473 h 456971"/>
              <a:gd name="connsiteX42" fmla="*/ 245745 w 457200"/>
              <a:gd name="connsiteY42" fmla="*/ 308473 h 456971"/>
              <a:gd name="connsiteX43" fmla="*/ 245745 w 457200"/>
              <a:gd name="connsiteY43" fmla="*/ 32255 h 456971"/>
              <a:gd name="connsiteX44" fmla="*/ 271120 w 457200"/>
              <a:gd name="connsiteY44" fmla="*/ 0 h 456971"/>
              <a:gd name="connsiteX45" fmla="*/ 339722 w 457200"/>
              <a:gd name="connsiteY45" fmla="*/ 22997 h 456971"/>
              <a:gd name="connsiteX46" fmla="*/ 370652 w 457200"/>
              <a:gd name="connsiteY46" fmla="*/ 69563 h 456971"/>
              <a:gd name="connsiteX47" fmla="*/ 395707 w 457200"/>
              <a:gd name="connsiteY47" fmla="*/ 82525 h 456971"/>
              <a:gd name="connsiteX48" fmla="*/ 419435 w 457200"/>
              <a:gd name="connsiteY48" fmla="*/ 123078 h 456971"/>
              <a:gd name="connsiteX49" fmla="*/ 426179 w 457200"/>
              <a:gd name="connsiteY49" fmla="*/ 172936 h 456971"/>
              <a:gd name="connsiteX50" fmla="*/ 422110 w 457200"/>
              <a:gd name="connsiteY50" fmla="*/ 198699 h 456971"/>
              <a:gd name="connsiteX51" fmla="*/ 423619 w 457200"/>
              <a:gd name="connsiteY51" fmla="*/ 199385 h 456971"/>
              <a:gd name="connsiteX52" fmla="*/ 444055 w 457200"/>
              <a:gd name="connsiteY52" fmla="*/ 217902 h 456971"/>
              <a:gd name="connsiteX53" fmla="*/ 457200 w 457200"/>
              <a:gd name="connsiteY53" fmla="*/ 284836 h 456971"/>
              <a:gd name="connsiteX54" fmla="*/ 428351 w 457200"/>
              <a:gd name="connsiteY54" fmla="*/ 354216 h 456971"/>
              <a:gd name="connsiteX55" fmla="*/ 399319 w 457200"/>
              <a:gd name="connsiteY55" fmla="*/ 369989 h 456971"/>
              <a:gd name="connsiteX56" fmla="*/ 376024 w 457200"/>
              <a:gd name="connsiteY56" fmla="*/ 418841 h 456971"/>
              <a:gd name="connsiteX57" fmla="*/ 299283 w 457200"/>
              <a:gd name="connsiteY57" fmla="*/ 456971 h 456971"/>
              <a:gd name="connsiteX58" fmla="*/ 263622 w 457200"/>
              <a:gd name="connsiteY58" fmla="*/ 448125 h 456971"/>
              <a:gd name="connsiteX59" fmla="*/ 245745 w 457200"/>
              <a:gd name="connsiteY59" fmla="*/ 414726 h 456971"/>
              <a:gd name="connsiteX60" fmla="*/ 245745 w 457200"/>
              <a:gd name="connsiteY60" fmla="*/ 342763 h 456971"/>
              <a:gd name="connsiteX61" fmla="*/ 137160 w 457200"/>
              <a:gd name="connsiteY61" fmla="*/ 148453 h 456971"/>
              <a:gd name="connsiteX62" fmla="*/ 148590 w 457200"/>
              <a:gd name="connsiteY62" fmla="*/ 137023 h 456971"/>
              <a:gd name="connsiteX63" fmla="*/ 160020 w 457200"/>
              <a:gd name="connsiteY63" fmla="*/ 148453 h 456971"/>
              <a:gd name="connsiteX64" fmla="*/ 148590 w 457200"/>
              <a:gd name="connsiteY64" fmla="*/ 159883 h 456971"/>
              <a:gd name="connsiteX65" fmla="*/ 137160 w 457200"/>
              <a:gd name="connsiteY65" fmla="*/ 148453 h 456971"/>
              <a:gd name="connsiteX66" fmla="*/ 148590 w 457200"/>
              <a:gd name="connsiteY66" fmla="*/ 297043 h 456971"/>
              <a:gd name="connsiteX67" fmla="*/ 137160 w 457200"/>
              <a:gd name="connsiteY67" fmla="*/ 308473 h 456971"/>
              <a:gd name="connsiteX68" fmla="*/ 148590 w 457200"/>
              <a:gd name="connsiteY68" fmla="*/ 319903 h 456971"/>
              <a:gd name="connsiteX69" fmla="*/ 160020 w 457200"/>
              <a:gd name="connsiteY69" fmla="*/ 308473 h 456971"/>
              <a:gd name="connsiteX70" fmla="*/ 148590 w 457200"/>
              <a:gd name="connsiteY70" fmla="*/ 297043 h 456971"/>
              <a:gd name="connsiteX71" fmla="*/ 320040 w 457200"/>
              <a:gd name="connsiteY71" fmla="*/ 194173 h 456971"/>
              <a:gd name="connsiteX72" fmla="*/ 331470 w 457200"/>
              <a:gd name="connsiteY72" fmla="*/ 205603 h 456971"/>
              <a:gd name="connsiteX73" fmla="*/ 342900 w 457200"/>
              <a:gd name="connsiteY73" fmla="*/ 194173 h 456971"/>
              <a:gd name="connsiteX74" fmla="*/ 331470 w 457200"/>
              <a:gd name="connsiteY74" fmla="*/ 182743 h 456971"/>
              <a:gd name="connsiteX75" fmla="*/ 320040 w 457200"/>
              <a:gd name="connsiteY75" fmla="*/ 194173 h 456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57200" h="456971">
                <a:moveTo>
                  <a:pt x="186080" y="0"/>
                </a:moveTo>
                <a:cubicBezTo>
                  <a:pt x="202242" y="0"/>
                  <a:pt x="211455" y="16093"/>
                  <a:pt x="211455" y="32255"/>
                </a:cubicBezTo>
                <a:lnTo>
                  <a:pt x="211455" y="131308"/>
                </a:lnTo>
                <a:lnTo>
                  <a:pt x="190995" y="131308"/>
                </a:lnTo>
                <a:cubicBezTo>
                  <a:pt x="181526" y="107900"/>
                  <a:pt x="154874" y="96600"/>
                  <a:pt x="131467" y="106069"/>
                </a:cubicBezTo>
                <a:cubicBezTo>
                  <a:pt x="108059" y="115538"/>
                  <a:pt x="96759" y="142190"/>
                  <a:pt x="106228" y="165598"/>
                </a:cubicBezTo>
                <a:cubicBezTo>
                  <a:pt x="115697" y="189006"/>
                  <a:pt x="142349" y="200306"/>
                  <a:pt x="165757" y="190835"/>
                </a:cubicBezTo>
                <a:cubicBezTo>
                  <a:pt x="177242" y="186190"/>
                  <a:pt x="186350" y="177083"/>
                  <a:pt x="190995" y="165598"/>
                </a:cubicBezTo>
                <a:lnTo>
                  <a:pt x="211455" y="165598"/>
                </a:lnTo>
                <a:lnTo>
                  <a:pt x="211455" y="414726"/>
                </a:lnTo>
                <a:cubicBezTo>
                  <a:pt x="211455" y="428351"/>
                  <a:pt x="205694" y="441907"/>
                  <a:pt x="193556" y="448102"/>
                </a:cubicBezTo>
                <a:cubicBezTo>
                  <a:pt x="182549" y="453867"/>
                  <a:pt x="170319" y="456910"/>
                  <a:pt x="157894" y="456971"/>
                </a:cubicBezTo>
                <a:cubicBezTo>
                  <a:pt x="123375" y="456971"/>
                  <a:pt x="97704" y="439506"/>
                  <a:pt x="81176" y="418841"/>
                </a:cubicBezTo>
                <a:cubicBezTo>
                  <a:pt x="69729" y="404581"/>
                  <a:pt x="61748" y="387857"/>
                  <a:pt x="57859" y="369989"/>
                </a:cubicBezTo>
                <a:cubicBezTo>
                  <a:pt x="47184" y="366839"/>
                  <a:pt x="37297" y="361462"/>
                  <a:pt x="28849" y="354216"/>
                </a:cubicBezTo>
                <a:cubicBezTo>
                  <a:pt x="12619" y="340248"/>
                  <a:pt x="0" y="317845"/>
                  <a:pt x="0" y="284836"/>
                </a:cubicBezTo>
                <a:cubicBezTo>
                  <a:pt x="0" y="267576"/>
                  <a:pt x="1234" y="252534"/>
                  <a:pt x="4343" y="239893"/>
                </a:cubicBezTo>
                <a:lnTo>
                  <a:pt x="100584" y="239893"/>
                </a:lnTo>
                <a:cubicBezTo>
                  <a:pt x="116083" y="239893"/>
                  <a:pt x="128930" y="251323"/>
                  <a:pt x="131102" y="266205"/>
                </a:cubicBezTo>
                <a:cubicBezTo>
                  <a:pt x="107770" y="275859"/>
                  <a:pt x="96680" y="302598"/>
                  <a:pt x="106333" y="325931"/>
                </a:cubicBezTo>
                <a:cubicBezTo>
                  <a:pt x="115985" y="349262"/>
                  <a:pt x="142725" y="360351"/>
                  <a:pt x="166058" y="350700"/>
                </a:cubicBezTo>
                <a:cubicBezTo>
                  <a:pt x="189391" y="341046"/>
                  <a:pt x="200480" y="314307"/>
                  <a:pt x="190828" y="290974"/>
                </a:cubicBezTo>
                <a:cubicBezTo>
                  <a:pt x="186115" y="279582"/>
                  <a:pt x="177000" y="270576"/>
                  <a:pt x="165552" y="265999"/>
                </a:cubicBezTo>
                <a:cubicBezTo>
                  <a:pt x="163061" y="231956"/>
                  <a:pt x="134718" y="205607"/>
                  <a:pt x="100584" y="205603"/>
                </a:cubicBezTo>
                <a:lnTo>
                  <a:pt x="23774" y="205603"/>
                </a:lnTo>
                <a:cubicBezTo>
                  <a:pt x="27198" y="202773"/>
                  <a:pt x="31008" y="200448"/>
                  <a:pt x="35090" y="198699"/>
                </a:cubicBezTo>
                <a:cubicBezTo>
                  <a:pt x="32734" y="190300"/>
                  <a:pt x="31368" y="181653"/>
                  <a:pt x="31021" y="172936"/>
                </a:cubicBezTo>
                <a:cubicBezTo>
                  <a:pt x="30267" y="156134"/>
                  <a:pt x="32781" y="138646"/>
                  <a:pt x="37765" y="123078"/>
                </a:cubicBezTo>
                <a:cubicBezTo>
                  <a:pt x="42702" y="107762"/>
                  <a:pt x="50521" y="92834"/>
                  <a:pt x="61493" y="82525"/>
                </a:cubicBezTo>
                <a:cubicBezTo>
                  <a:pt x="68377" y="75817"/>
                  <a:pt x="77097" y="71306"/>
                  <a:pt x="86548" y="69563"/>
                </a:cubicBezTo>
                <a:cubicBezTo>
                  <a:pt x="91097" y="50361"/>
                  <a:pt x="102687" y="34496"/>
                  <a:pt x="117478" y="22997"/>
                </a:cubicBezTo>
                <a:cubicBezTo>
                  <a:pt x="136474" y="8184"/>
                  <a:pt x="161369" y="0"/>
                  <a:pt x="186058" y="0"/>
                </a:cubicBezTo>
                <a:close/>
                <a:moveTo>
                  <a:pt x="245745" y="342763"/>
                </a:moveTo>
                <a:lnTo>
                  <a:pt x="283464" y="342763"/>
                </a:lnTo>
                <a:cubicBezTo>
                  <a:pt x="319446" y="342763"/>
                  <a:pt x="348615" y="313593"/>
                  <a:pt x="348615" y="277612"/>
                </a:cubicBezTo>
                <a:lnTo>
                  <a:pt x="348615" y="236578"/>
                </a:lnTo>
                <a:cubicBezTo>
                  <a:pt x="372024" y="227110"/>
                  <a:pt x="383323" y="200457"/>
                  <a:pt x="373852" y="177050"/>
                </a:cubicBezTo>
                <a:cubicBezTo>
                  <a:pt x="364384" y="153642"/>
                  <a:pt x="337734" y="142342"/>
                  <a:pt x="314325" y="151811"/>
                </a:cubicBezTo>
                <a:cubicBezTo>
                  <a:pt x="290916" y="161280"/>
                  <a:pt x="279617" y="187932"/>
                  <a:pt x="289088" y="211338"/>
                </a:cubicBezTo>
                <a:cubicBezTo>
                  <a:pt x="293733" y="222826"/>
                  <a:pt x="302840" y="231933"/>
                  <a:pt x="314325" y="236578"/>
                </a:cubicBezTo>
                <a:lnTo>
                  <a:pt x="314325" y="277612"/>
                </a:lnTo>
                <a:cubicBezTo>
                  <a:pt x="314325" y="294656"/>
                  <a:pt x="300508" y="308473"/>
                  <a:pt x="283464" y="308473"/>
                </a:cubicBezTo>
                <a:lnTo>
                  <a:pt x="245745" y="308473"/>
                </a:lnTo>
                <a:lnTo>
                  <a:pt x="245745" y="32255"/>
                </a:lnTo>
                <a:cubicBezTo>
                  <a:pt x="245745" y="16093"/>
                  <a:pt x="254958" y="0"/>
                  <a:pt x="271120" y="0"/>
                </a:cubicBezTo>
                <a:cubicBezTo>
                  <a:pt x="295854" y="0"/>
                  <a:pt x="320726" y="8184"/>
                  <a:pt x="339722" y="22997"/>
                </a:cubicBezTo>
                <a:cubicBezTo>
                  <a:pt x="354513" y="34496"/>
                  <a:pt x="366103" y="50383"/>
                  <a:pt x="370652" y="69563"/>
                </a:cubicBezTo>
                <a:cubicBezTo>
                  <a:pt x="380253" y="71163"/>
                  <a:pt x="388803" y="76055"/>
                  <a:pt x="395707" y="82525"/>
                </a:cubicBezTo>
                <a:cubicBezTo>
                  <a:pt x="406679" y="92834"/>
                  <a:pt x="414498" y="107739"/>
                  <a:pt x="419435" y="123078"/>
                </a:cubicBezTo>
                <a:cubicBezTo>
                  <a:pt x="424419" y="138646"/>
                  <a:pt x="426933" y="156134"/>
                  <a:pt x="426179" y="172936"/>
                </a:cubicBezTo>
                <a:cubicBezTo>
                  <a:pt x="425790" y="181531"/>
                  <a:pt x="424533" y="190310"/>
                  <a:pt x="422110" y="198699"/>
                </a:cubicBezTo>
                <a:lnTo>
                  <a:pt x="423619" y="199385"/>
                </a:lnTo>
                <a:cubicBezTo>
                  <a:pt x="432077" y="203363"/>
                  <a:pt x="438935" y="209603"/>
                  <a:pt x="444055" y="217902"/>
                </a:cubicBezTo>
                <a:cubicBezTo>
                  <a:pt x="453771" y="233561"/>
                  <a:pt x="457200" y="256101"/>
                  <a:pt x="457200" y="284836"/>
                </a:cubicBezTo>
                <a:cubicBezTo>
                  <a:pt x="457200" y="317868"/>
                  <a:pt x="444581" y="340294"/>
                  <a:pt x="428351" y="354216"/>
                </a:cubicBezTo>
                <a:cubicBezTo>
                  <a:pt x="419897" y="361467"/>
                  <a:pt x="410001" y="366841"/>
                  <a:pt x="399319" y="369989"/>
                </a:cubicBezTo>
                <a:cubicBezTo>
                  <a:pt x="395435" y="387854"/>
                  <a:pt x="387461" y="404576"/>
                  <a:pt x="376024" y="418841"/>
                </a:cubicBezTo>
                <a:cubicBezTo>
                  <a:pt x="359496" y="439506"/>
                  <a:pt x="333825" y="456971"/>
                  <a:pt x="299283" y="456971"/>
                </a:cubicBezTo>
                <a:cubicBezTo>
                  <a:pt x="286859" y="456917"/>
                  <a:pt x="274631" y="453883"/>
                  <a:pt x="263622" y="448125"/>
                </a:cubicBezTo>
                <a:cubicBezTo>
                  <a:pt x="251506" y="441907"/>
                  <a:pt x="245745" y="428351"/>
                  <a:pt x="245745" y="414726"/>
                </a:cubicBezTo>
                <a:lnTo>
                  <a:pt x="245745" y="342763"/>
                </a:lnTo>
                <a:close/>
                <a:moveTo>
                  <a:pt x="137160" y="148453"/>
                </a:moveTo>
                <a:cubicBezTo>
                  <a:pt x="137160" y="142140"/>
                  <a:pt x="142277" y="137023"/>
                  <a:pt x="148590" y="137023"/>
                </a:cubicBezTo>
                <a:cubicBezTo>
                  <a:pt x="154903" y="137023"/>
                  <a:pt x="160020" y="142140"/>
                  <a:pt x="160020" y="148453"/>
                </a:cubicBezTo>
                <a:cubicBezTo>
                  <a:pt x="160020" y="154765"/>
                  <a:pt x="154903" y="159883"/>
                  <a:pt x="148590" y="159883"/>
                </a:cubicBezTo>
                <a:cubicBezTo>
                  <a:pt x="142277" y="159883"/>
                  <a:pt x="137160" y="154765"/>
                  <a:pt x="137160" y="148453"/>
                </a:cubicBezTo>
                <a:close/>
                <a:moveTo>
                  <a:pt x="148590" y="297043"/>
                </a:moveTo>
                <a:cubicBezTo>
                  <a:pt x="142277" y="297043"/>
                  <a:pt x="137160" y="302161"/>
                  <a:pt x="137160" y="308473"/>
                </a:cubicBezTo>
                <a:cubicBezTo>
                  <a:pt x="137160" y="314785"/>
                  <a:pt x="142277" y="319903"/>
                  <a:pt x="148590" y="319903"/>
                </a:cubicBezTo>
                <a:cubicBezTo>
                  <a:pt x="154903" y="319903"/>
                  <a:pt x="160020" y="314785"/>
                  <a:pt x="160020" y="308473"/>
                </a:cubicBezTo>
                <a:cubicBezTo>
                  <a:pt x="160020" y="302161"/>
                  <a:pt x="154903" y="297043"/>
                  <a:pt x="148590" y="297043"/>
                </a:cubicBezTo>
                <a:close/>
                <a:moveTo>
                  <a:pt x="320040" y="194173"/>
                </a:moveTo>
                <a:cubicBezTo>
                  <a:pt x="320040" y="200484"/>
                  <a:pt x="325158" y="205603"/>
                  <a:pt x="331470" y="205603"/>
                </a:cubicBezTo>
                <a:cubicBezTo>
                  <a:pt x="337782" y="205603"/>
                  <a:pt x="342900" y="200484"/>
                  <a:pt x="342900" y="194173"/>
                </a:cubicBezTo>
                <a:cubicBezTo>
                  <a:pt x="342900" y="187861"/>
                  <a:pt x="337782" y="182743"/>
                  <a:pt x="331470" y="182743"/>
                </a:cubicBezTo>
                <a:cubicBezTo>
                  <a:pt x="325158" y="182743"/>
                  <a:pt x="320040" y="187861"/>
                  <a:pt x="320040" y="194173"/>
                </a:cubicBezTo>
                <a:close/>
              </a:path>
            </a:pathLst>
          </a:custGeom>
          <a:solidFill>
            <a:schemeClr val="bg1"/>
          </a:solidFill>
          <a:ln w="12700">
            <a:noFill/>
            <a:miter lim="400000"/>
          </a:ln>
          <a:effectLst/>
        </p:spPr>
        <p:txBody>
          <a:bodyPr lIns="44819" tIns="44819" rIns="44819" bIns="44819"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3847" rtl="0" eaLnBrk="1" fontAlgn="auto" latinLnBrk="0" hangingPunct="0">
              <a:lnSpc>
                <a:spcPct val="100000"/>
              </a:lnSpc>
              <a:spcBef>
                <a:spcPts val="0"/>
              </a:spcBef>
              <a:spcAft>
                <a:spcPts val="0"/>
              </a:spcAft>
              <a:buClrTx/>
              <a:buSzTx/>
              <a:buFontTx/>
              <a:buNone/>
              <a:tabLst/>
              <a:defRPr/>
            </a:pPr>
            <a:endParaRPr kumimoji="0" lang="en-US" sz="1961" b="0" i="0" u="none" strike="noStrike" kern="0" cap="none" spc="0" normalizeH="0" baseline="0" noProof="0">
              <a:ln>
                <a:noFill/>
              </a:ln>
              <a:gradFill flip="none" rotWithShape="1">
                <a:gsLst>
                  <a:gs pos="0">
                    <a:srgbClr val="FFFFFF"/>
                  </a:gs>
                  <a:gs pos="100000">
                    <a:srgbClr val="FFFFFF"/>
                  </a:gs>
                </a:gsLst>
                <a:lin ang="5400000" scaled="0"/>
              </a:gradFill>
              <a:effectLst/>
              <a:uLnTx/>
              <a:uFillTx/>
              <a:latin typeface="Segoe Sans Text" pitchFamily="2" charset="0"/>
              <a:ea typeface="+mn-ea"/>
              <a:cs typeface="Segoe Sans Text" pitchFamily="2" charset="0"/>
            </a:endParaRPr>
          </a:p>
        </p:txBody>
      </p:sp>
      <p:sp>
        <p:nvSpPr>
          <p:cNvPr id="17" name="TextBox 22">
            <a:extLst>
              <a:ext uri="{FF2B5EF4-FFF2-40B4-BE49-F238E27FC236}">
                <a16:creationId xmlns:a16="http://schemas.microsoft.com/office/drawing/2014/main" id="{238C604A-D36B-3A97-32FE-C6170A70A624}"/>
              </a:ext>
            </a:extLst>
          </p:cNvPr>
          <p:cNvSpPr txBox="1"/>
          <p:nvPr/>
        </p:nvSpPr>
        <p:spPr>
          <a:xfrm>
            <a:off x="760700" y="3031269"/>
            <a:ext cx="3108960" cy="307777"/>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State-of-the-art models</a:t>
            </a:r>
          </a:p>
        </p:txBody>
      </p:sp>
      <p:sp>
        <p:nvSpPr>
          <p:cNvPr id="18" name="TextBox 24">
            <a:extLst>
              <a:ext uri="{FF2B5EF4-FFF2-40B4-BE49-F238E27FC236}">
                <a16:creationId xmlns:a16="http://schemas.microsoft.com/office/drawing/2014/main" id="{A57A8D31-CDEE-9725-0FE2-F4A2BE1AAD3B}"/>
              </a:ext>
            </a:extLst>
          </p:cNvPr>
          <p:cNvSpPr txBox="1"/>
          <p:nvPr/>
        </p:nvSpPr>
        <p:spPr>
          <a:xfrm>
            <a:off x="4541521" y="3031269"/>
            <a:ext cx="3108960" cy="307777"/>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Top performance</a:t>
            </a:r>
          </a:p>
        </p:txBody>
      </p:sp>
      <p:sp>
        <p:nvSpPr>
          <p:cNvPr id="19" name="TextBox 26">
            <a:extLst>
              <a:ext uri="{FF2B5EF4-FFF2-40B4-BE49-F238E27FC236}">
                <a16:creationId xmlns:a16="http://schemas.microsoft.com/office/drawing/2014/main" id="{8FCD29CA-524E-8039-D087-661B85E7A962}"/>
              </a:ext>
            </a:extLst>
          </p:cNvPr>
          <p:cNvSpPr txBox="1"/>
          <p:nvPr/>
        </p:nvSpPr>
        <p:spPr>
          <a:xfrm>
            <a:off x="8322341" y="3031269"/>
            <a:ext cx="3108960" cy="307777"/>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Cost efficiency</a:t>
            </a:r>
          </a:p>
        </p:txBody>
      </p:sp>
      <p:sp>
        <p:nvSpPr>
          <p:cNvPr id="20" name="TextBox 23">
            <a:extLst>
              <a:ext uri="{FF2B5EF4-FFF2-40B4-BE49-F238E27FC236}">
                <a16:creationId xmlns:a16="http://schemas.microsoft.com/office/drawing/2014/main" id="{87106C38-9A94-8915-196A-9AACC6D01F24}"/>
              </a:ext>
            </a:extLst>
          </p:cNvPr>
          <p:cNvSpPr txBox="1"/>
          <p:nvPr/>
        </p:nvSpPr>
        <p:spPr>
          <a:xfrm>
            <a:off x="760700" y="5024635"/>
            <a:ext cx="3108960" cy="307777"/>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Secure enterprise-ready AI</a:t>
            </a:r>
          </a:p>
        </p:txBody>
      </p:sp>
      <p:sp>
        <p:nvSpPr>
          <p:cNvPr id="21" name="TextBox 25">
            <a:extLst>
              <a:ext uri="{FF2B5EF4-FFF2-40B4-BE49-F238E27FC236}">
                <a16:creationId xmlns:a16="http://schemas.microsoft.com/office/drawing/2014/main" id="{50A49AC7-05C5-3209-5BEB-CAACCC799950}"/>
              </a:ext>
            </a:extLst>
          </p:cNvPr>
          <p:cNvSpPr txBox="1"/>
          <p:nvPr/>
        </p:nvSpPr>
        <p:spPr>
          <a:xfrm>
            <a:off x="4541521" y="5024635"/>
            <a:ext cx="3108960" cy="307777"/>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High Capacity</a:t>
            </a:r>
          </a:p>
        </p:txBody>
      </p:sp>
      <p:sp>
        <p:nvSpPr>
          <p:cNvPr id="22" name="TextBox 27">
            <a:extLst>
              <a:ext uri="{FF2B5EF4-FFF2-40B4-BE49-F238E27FC236}">
                <a16:creationId xmlns:a16="http://schemas.microsoft.com/office/drawing/2014/main" id="{5EC998FE-5708-DAD9-B48B-4F53536795E6}"/>
              </a:ext>
            </a:extLst>
          </p:cNvPr>
          <p:cNvSpPr txBox="1"/>
          <p:nvPr/>
        </p:nvSpPr>
        <p:spPr>
          <a:xfrm>
            <a:off x="8322341" y="5024635"/>
            <a:ext cx="3108960" cy="307777"/>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Segoe UI"/>
                <a:ea typeface="+mn-ea"/>
                <a:cs typeface="+mn-cs"/>
              </a:rPr>
              <a:t>Flexibility</a:t>
            </a:r>
          </a:p>
        </p:txBody>
      </p:sp>
    </p:spTree>
    <p:extLst>
      <p:ext uri="{BB962C8B-B14F-4D97-AF65-F5344CB8AC3E}">
        <p14:creationId xmlns:p14="http://schemas.microsoft.com/office/powerpoint/2010/main" val="412187936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0FBD97E0-D9D8-3F7E-D9A6-B467DF228FCC}"/>
              </a:ext>
            </a:extLst>
          </p:cNvPr>
          <p:cNvSpPr>
            <a:spLocks noGrp="1"/>
          </p:cNvSpPr>
          <p:nvPr>
            <p:ph type="body" sz="quarter" idx="15"/>
          </p:nvPr>
        </p:nvSpPr>
        <p:spPr/>
        <p:txBody>
          <a:bodyPr/>
          <a:lstStyle/>
          <a:p>
            <a:pPr marL="285750" indent="-285750">
              <a:buFont typeface="Arial" panose="020B0604020202020204" pitchFamily="34" charset="0"/>
              <a:buChar char="•"/>
            </a:pPr>
            <a:r>
              <a:rPr lang="en-US" dirty="0"/>
              <a:t>Variable cost, Usage based</a:t>
            </a:r>
          </a:p>
          <a:p>
            <a:pPr marL="285750" indent="-285750">
              <a:buFont typeface="Arial" panose="020B0604020202020204" pitchFamily="34" charset="0"/>
              <a:buChar char="•"/>
            </a:pPr>
            <a:r>
              <a:rPr lang="en-US" dirty="0"/>
              <a:t>Capped Throughput</a:t>
            </a:r>
          </a:p>
          <a:p>
            <a:pPr marL="285750" indent="-285750">
              <a:buFont typeface="Arial" panose="020B0604020202020204" pitchFamily="34" charset="0"/>
              <a:buChar char="•"/>
            </a:pPr>
            <a:r>
              <a:rPr lang="en-US" dirty="0"/>
              <a:t>No assigned latency</a:t>
            </a:r>
          </a:p>
          <a:p>
            <a:endParaRPr lang="en-US" dirty="0"/>
          </a:p>
          <a:p>
            <a:r>
              <a:rPr lang="en-US" b="1" dirty="0"/>
              <a:t>Good for:</a:t>
            </a:r>
            <a:endParaRPr lang="en-US" dirty="0"/>
          </a:p>
          <a:p>
            <a:pPr marL="285750" indent="-285750">
              <a:buFont typeface="Arial" panose="020B0604020202020204" pitchFamily="34" charset="0"/>
              <a:buChar char="•"/>
            </a:pPr>
            <a:r>
              <a:rPr lang="en-US" dirty="0"/>
              <a:t>Sandbox/test environment</a:t>
            </a:r>
          </a:p>
          <a:p>
            <a:pPr marL="285750" indent="-285750">
              <a:buFont typeface="Arial" panose="020B0604020202020204" pitchFamily="34" charset="0"/>
              <a:buChar char="•"/>
            </a:pPr>
            <a:r>
              <a:rPr lang="en-US" dirty="0"/>
              <a:t>Lower volume workloads</a:t>
            </a:r>
          </a:p>
          <a:p>
            <a:pPr marL="285750" indent="-285750">
              <a:buFont typeface="Arial" panose="020B0604020202020204" pitchFamily="34" charset="0"/>
              <a:buChar char="•"/>
            </a:pPr>
            <a:r>
              <a:rPr lang="en-US" dirty="0"/>
              <a:t>Intermittent usage scenarios</a:t>
            </a:r>
          </a:p>
          <a:p>
            <a:pPr marL="285750" indent="-285750">
              <a:buFont typeface="Arial" panose="020B0604020202020204" pitchFamily="34" charset="0"/>
              <a:buChar char="•"/>
            </a:pPr>
            <a:r>
              <a:rPr lang="en-US" dirty="0"/>
              <a:t>Use cases resilient to throughput variability or slowness when service is busy</a:t>
            </a:r>
          </a:p>
          <a:p>
            <a:endParaRPr lang="en-US" dirty="0"/>
          </a:p>
        </p:txBody>
      </p:sp>
      <p:sp>
        <p:nvSpPr>
          <p:cNvPr id="14" name="Text Placeholder 13">
            <a:extLst>
              <a:ext uri="{FF2B5EF4-FFF2-40B4-BE49-F238E27FC236}">
                <a16:creationId xmlns:a16="http://schemas.microsoft.com/office/drawing/2014/main" id="{003AC3E8-DE76-5BA9-2D47-0EFFEFE34246}"/>
              </a:ext>
            </a:extLst>
          </p:cNvPr>
          <p:cNvSpPr>
            <a:spLocks noGrp="1"/>
          </p:cNvSpPr>
          <p:nvPr>
            <p:ph type="body" sz="quarter" idx="16"/>
          </p:nvPr>
        </p:nvSpPr>
        <p:spPr/>
        <p:txBody>
          <a:bodyPr/>
          <a:lstStyle/>
          <a:p>
            <a:r>
              <a:rPr lang="en-US" dirty="0" err="1"/>
              <a:t>PayGo</a:t>
            </a:r>
            <a:endParaRPr lang="en-US" dirty="0"/>
          </a:p>
        </p:txBody>
      </p:sp>
      <p:sp>
        <p:nvSpPr>
          <p:cNvPr id="15" name="Text Placeholder 14">
            <a:extLst>
              <a:ext uri="{FF2B5EF4-FFF2-40B4-BE49-F238E27FC236}">
                <a16:creationId xmlns:a16="http://schemas.microsoft.com/office/drawing/2014/main" id="{4DF3C4DA-B5C1-CFD0-1C91-7733923E9CA9}"/>
              </a:ext>
            </a:extLst>
          </p:cNvPr>
          <p:cNvSpPr>
            <a:spLocks noGrp="1"/>
          </p:cNvSpPr>
          <p:nvPr>
            <p:ph type="body" sz="quarter" idx="17"/>
          </p:nvPr>
        </p:nvSpPr>
        <p:spPr/>
        <p:txBody>
          <a:bodyPr/>
          <a:lstStyle/>
          <a:p>
            <a:pPr marL="285750" indent="-285750">
              <a:buFont typeface="Arial" panose="020B0604020202020204" pitchFamily="34" charset="0"/>
              <a:buChar char="•"/>
            </a:pPr>
            <a:r>
              <a:rPr lang="en-US" dirty="0"/>
              <a:t>Consistent cost</a:t>
            </a:r>
          </a:p>
          <a:p>
            <a:pPr marL="285750" indent="-285750">
              <a:buFont typeface="Arial" panose="020B0604020202020204" pitchFamily="34" charset="0"/>
              <a:buChar char="•"/>
            </a:pPr>
            <a:r>
              <a:rPr lang="en-US" dirty="0"/>
              <a:t>Scalable throughput</a:t>
            </a:r>
          </a:p>
          <a:p>
            <a:pPr marL="285750" indent="-285750">
              <a:buFont typeface="Arial" panose="020B0604020202020204" pitchFamily="34" charset="0"/>
              <a:buChar char="•"/>
            </a:pPr>
            <a:r>
              <a:rPr lang="en-US" dirty="0"/>
              <a:t>Assigned latency</a:t>
            </a:r>
          </a:p>
          <a:p>
            <a:endParaRPr lang="en-US" dirty="0"/>
          </a:p>
          <a:p>
            <a:r>
              <a:rPr lang="en-US" b="1" dirty="0"/>
              <a:t>Recommended for:</a:t>
            </a:r>
            <a:endParaRPr lang="en-US" dirty="0"/>
          </a:p>
          <a:p>
            <a:pPr marL="285750" indent="-285750">
              <a:buFont typeface="Arial" panose="020B0604020202020204" pitchFamily="34" charset="0"/>
              <a:buChar char="•"/>
            </a:pPr>
            <a:r>
              <a:rPr lang="en-US" dirty="0"/>
              <a:t>Production workloads</a:t>
            </a:r>
          </a:p>
          <a:p>
            <a:pPr marL="285750" indent="-285750">
              <a:buFont typeface="Arial" panose="020B0604020202020204" pitchFamily="34" charset="0"/>
              <a:buChar char="•"/>
            </a:pPr>
            <a:r>
              <a:rPr lang="en-US" dirty="0"/>
              <a:t>High volume workloads</a:t>
            </a:r>
          </a:p>
          <a:p>
            <a:pPr marL="285750" indent="-285750">
              <a:buFont typeface="Arial" panose="020B0604020202020204" pitchFamily="34" charset="0"/>
              <a:buChar char="•"/>
            </a:pPr>
            <a:r>
              <a:rPr lang="en-US" dirty="0"/>
              <a:t>Throughput heavy workloads</a:t>
            </a:r>
          </a:p>
          <a:p>
            <a:pPr marL="285750" indent="-285750">
              <a:buFont typeface="Arial" panose="020B0604020202020204" pitchFamily="34" charset="0"/>
              <a:buChar char="•"/>
            </a:pPr>
            <a:r>
              <a:rPr lang="en-US" dirty="0"/>
              <a:t>Latency sensitive scenarios</a:t>
            </a:r>
          </a:p>
          <a:p>
            <a:endParaRPr lang="en-US" dirty="0"/>
          </a:p>
        </p:txBody>
      </p:sp>
      <p:sp>
        <p:nvSpPr>
          <p:cNvPr id="16" name="Text Placeholder 15">
            <a:extLst>
              <a:ext uri="{FF2B5EF4-FFF2-40B4-BE49-F238E27FC236}">
                <a16:creationId xmlns:a16="http://schemas.microsoft.com/office/drawing/2014/main" id="{9B8920D0-0502-ACEB-6B67-A7F08C833FC2}"/>
              </a:ext>
            </a:extLst>
          </p:cNvPr>
          <p:cNvSpPr>
            <a:spLocks noGrp="1"/>
          </p:cNvSpPr>
          <p:nvPr>
            <p:ph type="body" sz="quarter" idx="18"/>
          </p:nvPr>
        </p:nvSpPr>
        <p:spPr/>
        <p:txBody>
          <a:bodyPr/>
          <a:lstStyle/>
          <a:p>
            <a:r>
              <a:rPr lang="en-US" dirty="0"/>
              <a:t>PTU</a:t>
            </a:r>
          </a:p>
        </p:txBody>
      </p:sp>
      <p:sp>
        <p:nvSpPr>
          <p:cNvPr id="3" name="Footer Placeholder 2">
            <a:extLst>
              <a:ext uri="{FF2B5EF4-FFF2-40B4-BE49-F238E27FC236}">
                <a16:creationId xmlns:a16="http://schemas.microsoft.com/office/drawing/2014/main" id="{D306B497-E5AB-ACD8-3CC6-B9EE5D66729F}"/>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3BABC433-1E02-E8D0-5746-508644FE343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5A2450B8-B39E-1690-6190-1ACEDF211683}"/>
              </a:ext>
            </a:extLst>
          </p:cNvPr>
          <p:cNvSpPr>
            <a:spLocks noGrp="1"/>
          </p:cNvSpPr>
          <p:nvPr>
            <p:ph type="title"/>
          </p:nvPr>
        </p:nvSpPr>
        <p:spPr/>
        <p:txBody>
          <a:bodyPr/>
          <a:lstStyle/>
          <a:p>
            <a:r>
              <a:rPr lang="en-US" dirty="0"/>
              <a:t>Choosing the best Consumption Model</a:t>
            </a:r>
          </a:p>
        </p:txBody>
      </p:sp>
    </p:spTree>
    <p:extLst>
      <p:ext uri="{BB962C8B-B14F-4D97-AF65-F5344CB8AC3E}">
        <p14:creationId xmlns:p14="http://schemas.microsoft.com/office/powerpoint/2010/main" val="362315903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EBD18-71AC-D164-5737-269D498451FD}"/>
              </a:ext>
            </a:extLst>
          </p:cNvPr>
          <p:cNvSpPr>
            <a:spLocks noGrp="1"/>
          </p:cNvSpPr>
          <p:nvPr>
            <p:ph type="title"/>
          </p:nvPr>
        </p:nvSpPr>
        <p:spPr/>
        <p:txBody>
          <a:bodyPr/>
          <a:lstStyle/>
          <a:p>
            <a:r>
              <a:rPr lang="en-US" dirty="0"/>
              <a:t>Microsoft Foundry PTU Offerings</a:t>
            </a:r>
          </a:p>
        </p:txBody>
      </p:sp>
      <p:sp>
        <p:nvSpPr>
          <p:cNvPr id="3" name="Footer Placeholder 2">
            <a:extLst>
              <a:ext uri="{FF2B5EF4-FFF2-40B4-BE49-F238E27FC236}">
                <a16:creationId xmlns:a16="http://schemas.microsoft.com/office/drawing/2014/main" id="{1261059B-4E7D-2048-9293-FAF1C5243A56}"/>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2972E7B9-05B4-79D1-14B9-BC165A5D698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Rectangle: Rounded Corners 4" descr="Standard deployment types Chart">
            <a:extLst>
              <a:ext uri="{FF2B5EF4-FFF2-40B4-BE49-F238E27FC236}">
                <a16:creationId xmlns:a16="http://schemas.microsoft.com/office/drawing/2014/main" id="{778D599C-8321-E8B1-DC17-253A4F36C54C}"/>
              </a:ext>
            </a:extLst>
          </p:cNvPr>
          <p:cNvSpPr/>
          <p:nvPr/>
        </p:nvSpPr>
        <p:spPr bwMode="auto">
          <a:xfrm>
            <a:off x="800456" y="1817649"/>
            <a:ext cx="10591087" cy="4721869"/>
          </a:xfrm>
          <a:prstGeom prst="roundRect">
            <a:avLst>
              <a:gd name="adj" fmla="val 7533"/>
            </a:avLst>
          </a:prstGeom>
          <a:noFill/>
          <a:ln w="19050" cap="rnd">
            <a:solidFill>
              <a:schemeClr val="tx2"/>
            </a:solidFill>
            <a:headEnd type="none" w="med" len="med"/>
            <a:tailEnd type="none" w="med" len="med"/>
          </a:ln>
          <a:effectLst>
            <a:outerShdw blurRad="63500" dist="63500" dir="2700000" algn="tl" rotWithShape="0">
              <a:srgbClr val="000000">
                <a:alpha val="5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42634"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811674" rtl="0" eaLnBrk="1" fontAlgn="auto" latinLnBrk="0" hangingPunct="1">
              <a:lnSpc>
                <a:spcPct val="100000"/>
              </a:lnSpc>
              <a:spcBef>
                <a:spcPts val="174"/>
              </a:spcBef>
              <a:spcAft>
                <a:spcPts val="0"/>
              </a:spcAft>
              <a:buClrTx/>
              <a:buSzTx/>
              <a:buFontTx/>
              <a:buNone/>
              <a:tabLst/>
              <a:defRPr/>
            </a:pPr>
            <a:endParaRPr kumimoji="0" lang="en-US" sz="2400" b="0" i="0" u="none" strike="noStrike" kern="1200" cap="none" spc="0" normalizeH="0" baseline="0" noProof="0">
              <a:ln>
                <a:noFill/>
              </a:ln>
              <a:gradFill>
                <a:gsLst>
                  <a:gs pos="41958">
                    <a:srgbClr val="FFFFFF"/>
                  </a:gs>
                  <a:gs pos="63000">
                    <a:srgbClr val="FFFFFF"/>
                  </a:gs>
                </a:gsLst>
                <a:lin ang="0" scaled="0"/>
              </a:gradFill>
              <a:effectLst/>
              <a:uLnTx/>
              <a:uFillTx/>
              <a:latin typeface="Segoe UI Variable Display Semib" pitchFamily="2" charset="0"/>
              <a:ea typeface="+mn-ea"/>
              <a:cs typeface="+mn-cs"/>
            </a:endParaRPr>
          </a:p>
        </p:txBody>
      </p:sp>
      <p:sp>
        <p:nvSpPr>
          <p:cNvPr id="6" name="Rounded Rectangle 6">
            <a:extLst>
              <a:ext uri="{FF2B5EF4-FFF2-40B4-BE49-F238E27FC236}">
                <a16:creationId xmlns:a16="http://schemas.microsoft.com/office/drawing/2014/main" id="{FD6450AC-9A33-45E5-B803-3D33EAE05DAA}"/>
              </a:ext>
              <a:ext uri="{C183D7F6-B498-43B3-948B-1728B52AA6E4}">
                <adec:decorative xmlns:adec="http://schemas.microsoft.com/office/drawing/2017/decorative" val="1"/>
              </a:ext>
            </a:extLst>
          </p:cNvPr>
          <p:cNvSpPr/>
          <p:nvPr/>
        </p:nvSpPr>
        <p:spPr>
          <a:xfrm>
            <a:off x="4997451" y="1622803"/>
            <a:ext cx="3590803" cy="434363"/>
          </a:xfrm>
          <a:prstGeom prst="roundRect">
            <a:avLst>
              <a:gd name="adj" fmla="val 50000"/>
            </a:avLst>
          </a:prstGeom>
          <a:solidFill>
            <a:schemeClr val="bg1"/>
          </a:solidFill>
          <a:ln>
            <a:solidFill>
              <a:schemeClr val="tx2"/>
            </a:solidFill>
          </a:ln>
        </p:spPr>
        <p:txBody>
          <a:bodyPr wrap="square" lIns="137160" tIns="0" rIns="0" bIns="18288" anchor="ctr">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666598" rtl="0" eaLnBrk="1" fontAlgn="auto" latinLnBrk="0" hangingPunct="1">
              <a:lnSpc>
                <a:spcPct val="100000"/>
              </a:lnSpc>
              <a:spcBef>
                <a:spcPts val="0"/>
              </a:spcBef>
              <a:spcAft>
                <a:spcPts val="400"/>
              </a:spcAft>
              <a:buClrTx/>
              <a:buSzTx/>
              <a:buFontTx/>
              <a:buNone/>
              <a:tabLst/>
              <a:defRPr/>
            </a:pPr>
            <a:r>
              <a:rPr kumimoji="0" lang="en-US" sz="1800" b="1" i="0" u="none" strike="noStrike" kern="0" cap="none" spc="0" normalizeH="0" baseline="0" noProof="0" dirty="0">
                <a:ln>
                  <a:noFill/>
                </a:ln>
                <a:solidFill>
                  <a:schemeClr val="tx2"/>
                </a:solidFill>
                <a:effectLst/>
                <a:uLnTx/>
                <a:uFillTx/>
                <a:latin typeface="Segoe UI Semibold" panose="020B0702040204020203" pitchFamily="34" charset="0"/>
                <a:ea typeface="+mn-ea"/>
                <a:cs typeface="Segoe UI Semibold" panose="020B0502040204020203" pitchFamily="34" charset="0"/>
              </a:rPr>
              <a:t xml:space="preserve">Provisioned pricing options </a:t>
            </a:r>
          </a:p>
        </p:txBody>
      </p:sp>
      <p:grpSp>
        <p:nvGrpSpPr>
          <p:cNvPr id="7" name="Group 6">
            <a:extLst>
              <a:ext uri="{FF2B5EF4-FFF2-40B4-BE49-F238E27FC236}">
                <a16:creationId xmlns:a16="http://schemas.microsoft.com/office/drawing/2014/main" id="{8C7F54F5-C958-2E41-6F4A-8A882B45E37F}"/>
              </a:ext>
              <a:ext uri="{C183D7F6-B498-43B3-948B-1728B52AA6E4}">
                <adec:decorative xmlns:adec="http://schemas.microsoft.com/office/drawing/2017/decorative" val="1"/>
              </a:ext>
            </a:extLst>
          </p:cNvPr>
          <p:cNvGrpSpPr/>
          <p:nvPr/>
        </p:nvGrpSpPr>
        <p:grpSpPr>
          <a:xfrm>
            <a:off x="4394823" y="3601859"/>
            <a:ext cx="5048017" cy="434025"/>
            <a:chOff x="7540763" y="4406858"/>
            <a:chExt cx="5048017" cy="434025"/>
          </a:xfrm>
        </p:grpSpPr>
        <p:cxnSp>
          <p:nvCxnSpPr>
            <p:cNvPr id="29" name="Connector: Elbow 28">
              <a:extLst>
                <a:ext uri="{FF2B5EF4-FFF2-40B4-BE49-F238E27FC236}">
                  <a16:creationId xmlns:a16="http://schemas.microsoft.com/office/drawing/2014/main" id="{67371F47-7D55-0753-08B2-2A548A565E3B}"/>
                </a:ext>
              </a:extLst>
            </p:cNvPr>
            <p:cNvCxnSpPr>
              <a:cxnSpLocks/>
              <a:stCxn id="9" idx="0"/>
              <a:endCxn id="11" idx="0"/>
            </p:cNvCxnSpPr>
            <p:nvPr/>
          </p:nvCxnSpPr>
          <p:spPr>
            <a:xfrm rot="5400000" flipH="1" flipV="1">
              <a:off x="10058422" y="2302623"/>
              <a:ext cx="12700" cy="5048017"/>
            </a:xfrm>
            <a:prstGeom prst="bentConnector3">
              <a:avLst>
                <a:gd name="adj1" fmla="val 1800000"/>
              </a:avLst>
            </a:prstGeom>
            <a:ln w="158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441D05E-92B1-40FB-C1B4-E81DD75BA8F9}"/>
                </a:ext>
              </a:extLst>
            </p:cNvPr>
            <p:cNvCxnSpPr>
              <a:cxnSpLocks/>
            </p:cNvCxnSpPr>
            <p:nvPr/>
          </p:nvCxnSpPr>
          <p:spPr>
            <a:xfrm flipV="1">
              <a:off x="10058423" y="4406858"/>
              <a:ext cx="3739" cy="434025"/>
            </a:xfrm>
            <a:prstGeom prst="line">
              <a:avLst/>
            </a:prstGeom>
            <a:ln w="15875">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 name="Rectangle: Rounded Corners 7">
            <a:extLst>
              <a:ext uri="{FF2B5EF4-FFF2-40B4-BE49-F238E27FC236}">
                <a16:creationId xmlns:a16="http://schemas.microsoft.com/office/drawing/2014/main" id="{91950998-CCAD-01AC-EBCD-56D979434D63}"/>
              </a:ext>
            </a:extLst>
          </p:cNvPr>
          <p:cNvSpPr/>
          <p:nvPr/>
        </p:nvSpPr>
        <p:spPr bwMode="auto">
          <a:xfrm>
            <a:off x="5900432" y="2193543"/>
            <a:ext cx="2122608" cy="1298350"/>
          </a:xfrm>
          <a:prstGeom prst="roundRect">
            <a:avLst>
              <a:gd name="adj" fmla="val 3954"/>
            </a:avLst>
          </a:prstGeom>
          <a:solidFill>
            <a:schemeClr val="tx2"/>
          </a:solidFill>
          <a:ln w="19050" cap="rnd">
            <a:solidFill>
              <a:schemeClr val="tx2"/>
            </a:solidFill>
            <a:headEnd type="none" w="med" len="med"/>
            <a:tailEnd type="none" w="med" len="med"/>
          </a:ln>
          <a:effectLst>
            <a:outerShdw blurRad="63500" dist="63500" dir="2700000" algn="tl" rotWithShape="0">
              <a:srgbClr val="000000">
                <a:alpha val="5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42634"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811674" rtl="0" eaLnBrk="1" fontAlgn="auto" latinLnBrk="0" hangingPunct="1">
              <a:lnSpc>
                <a:spcPct val="100000"/>
              </a:lnSpc>
              <a:spcBef>
                <a:spcPts val="174"/>
              </a:spcBef>
              <a:spcAft>
                <a:spcPts val="0"/>
              </a:spcAft>
              <a:buClrTx/>
              <a:buSzTx/>
              <a:buFontTx/>
              <a:buNone/>
              <a:tabLst/>
              <a:defRPr/>
            </a:pPr>
            <a:r>
              <a:rPr kumimoji="0" lang="en-US" sz="2400" b="0" i="0" u="none" strike="noStrike" kern="1200" cap="none" spc="0" normalizeH="0" baseline="0" noProof="0" dirty="0">
                <a:ln>
                  <a:noFill/>
                </a:ln>
                <a:gradFill>
                  <a:gsLst>
                    <a:gs pos="41958">
                      <a:srgbClr val="FFFFFF"/>
                    </a:gs>
                    <a:gs pos="63000">
                      <a:srgbClr val="FFFFFF"/>
                    </a:gs>
                  </a:gsLst>
                  <a:lin ang="0" scaled="0"/>
                </a:gradFill>
                <a:effectLst/>
                <a:uLnTx/>
                <a:uFillTx/>
                <a:latin typeface="Segoe UI Variable Display Semib" pitchFamily="2" charset="0"/>
                <a:ea typeface="+mn-ea"/>
                <a:cs typeface="+mn-cs"/>
              </a:rPr>
              <a:t>Provisioned</a:t>
            </a:r>
          </a:p>
        </p:txBody>
      </p:sp>
      <p:sp>
        <p:nvSpPr>
          <p:cNvPr id="9" name="Rectangle: Rounded Corners 8">
            <a:extLst>
              <a:ext uri="{FF2B5EF4-FFF2-40B4-BE49-F238E27FC236}">
                <a16:creationId xmlns:a16="http://schemas.microsoft.com/office/drawing/2014/main" id="{58412771-2A05-8CC4-5FB8-2AA0F7B9B707}"/>
              </a:ext>
            </a:extLst>
          </p:cNvPr>
          <p:cNvSpPr/>
          <p:nvPr/>
        </p:nvSpPr>
        <p:spPr bwMode="auto">
          <a:xfrm>
            <a:off x="3902151" y="4021632"/>
            <a:ext cx="972646" cy="1003360"/>
          </a:xfrm>
          <a:prstGeom prst="roundRect">
            <a:avLst>
              <a:gd name="adj" fmla="val 17011"/>
            </a:avLst>
          </a:prstGeom>
          <a:solidFill>
            <a:schemeClr val="tx2"/>
          </a:solidFill>
          <a:ln w="19050" cap="rnd">
            <a:solidFill>
              <a:schemeClr val="tx2"/>
            </a:solidFill>
            <a:headEnd type="none" w="med" len="med"/>
            <a:tailEnd type="none" w="med" len="med"/>
          </a:ln>
          <a:effectLst>
            <a:outerShdw blurRad="63500" dist="63500" dir="2700000" algn="tl" rotWithShape="0">
              <a:srgbClr val="000000">
                <a:alpha val="5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42634"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811674" rtl="0" eaLnBrk="1" fontAlgn="auto" latinLnBrk="0" hangingPunct="1">
              <a:lnSpc>
                <a:spcPct val="100000"/>
              </a:lnSpc>
              <a:spcBef>
                <a:spcPts val="174"/>
              </a:spcBef>
              <a:spcAft>
                <a:spcPts val="0"/>
              </a:spcAft>
              <a:buClrTx/>
              <a:buSzTx/>
              <a:buFontTx/>
              <a:buNone/>
              <a:tabLst/>
              <a:defRPr/>
            </a:pPr>
            <a:r>
              <a:rPr kumimoji="0" lang="en-US" sz="1400" b="0" i="0" u="none" strike="noStrike" kern="1200" cap="none" spc="0" normalizeH="0" baseline="0" noProof="0">
                <a:ln>
                  <a:noFill/>
                </a:ln>
                <a:gradFill>
                  <a:gsLst>
                    <a:gs pos="41958">
                      <a:srgbClr val="FFFFFF"/>
                    </a:gs>
                    <a:gs pos="63000">
                      <a:srgbClr val="FFFFFF"/>
                    </a:gs>
                  </a:gsLst>
                  <a:lin ang="0" scaled="0"/>
                </a:gradFill>
                <a:effectLst/>
                <a:uLnTx/>
                <a:uFillTx/>
                <a:latin typeface="Segoe UI Variable Display Semib" pitchFamily="2" charset="0"/>
                <a:ea typeface="+mn-ea"/>
                <a:cs typeface="+mn-cs"/>
              </a:rPr>
              <a:t>Global</a:t>
            </a:r>
          </a:p>
        </p:txBody>
      </p:sp>
      <p:sp>
        <p:nvSpPr>
          <p:cNvPr id="10" name="Rectangle: Rounded Corners 9">
            <a:extLst>
              <a:ext uri="{FF2B5EF4-FFF2-40B4-BE49-F238E27FC236}">
                <a16:creationId xmlns:a16="http://schemas.microsoft.com/office/drawing/2014/main" id="{A110B3BC-4BF6-DBB4-01CD-71BB68960945}"/>
              </a:ext>
            </a:extLst>
          </p:cNvPr>
          <p:cNvSpPr/>
          <p:nvPr/>
        </p:nvSpPr>
        <p:spPr bwMode="auto">
          <a:xfrm>
            <a:off x="6426160" y="4021632"/>
            <a:ext cx="972646" cy="1003360"/>
          </a:xfrm>
          <a:prstGeom prst="roundRect">
            <a:avLst>
              <a:gd name="adj" fmla="val 17011"/>
            </a:avLst>
          </a:prstGeom>
          <a:solidFill>
            <a:schemeClr val="tx2"/>
          </a:solidFill>
          <a:ln w="19050" cap="rnd">
            <a:solidFill>
              <a:schemeClr val="tx2"/>
            </a:solidFill>
            <a:headEnd type="none" w="med" len="med"/>
            <a:tailEnd type="none" w="med" len="med"/>
          </a:ln>
          <a:effectLst>
            <a:outerShdw blurRad="63500" dist="63500" dir="2700000" algn="tl" rotWithShape="0">
              <a:srgbClr val="000000">
                <a:alpha val="5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42634"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811674" rtl="0" eaLnBrk="1" fontAlgn="auto" latinLnBrk="0" hangingPunct="1">
              <a:lnSpc>
                <a:spcPct val="100000"/>
              </a:lnSpc>
              <a:spcBef>
                <a:spcPts val="174"/>
              </a:spcBef>
              <a:spcAft>
                <a:spcPts val="0"/>
              </a:spcAft>
              <a:buClrTx/>
              <a:buSzTx/>
              <a:buFontTx/>
              <a:buNone/>
              <a:tabLst/>
              <a:defRPr/>
            </a:pPr>
            <a:r>
              <a:rPr kumimoji="0" lang="en-US" sz="1400" b="0" i="0" u="none" strike="noStrike" kern="1200" cap="none" spc="0" normalizeH="0" baseline="0" noProof="0">
                <a:ln>
                  <a:noFill/>
                </a:ln>
                <a:gradFill>
                  <a:gsLst>
                    <a:gs pos="41958">
                      <a:srgbClr val="FFFFFF"/>
                    </a:gs>
                    <a:gs pos="63000">
                      <a:srgbClr val="FFFFFF"/>
                    </a:gs>
                  </a:gsLst>
                  <a:lin ang="0" scaled="0"/>
                </a:gradFill>
                <a:effectLst/>
                <a:uLnTx/>
                <a:uFillTx/>
                <a:latin typeface="Segoe UI Variable Display Semib" pitchFamily="2" charset="0"/>
                <a:ea typeface="+mn-ea"/>
                <a:cs typeface="+mn-cs"/>
              </a:rPr>
              <a:t>Data</a:t>
            </a:r>
            <a:br>
              <a:rPr kumimoji="0" lang="en-US" sz="1400" b="0" i="0" u="none" strike="noStrike" kern="1200" cap="none" spc="0" normalizeH="0" baseline="0" noProof="0">
                <a:ln>
                  <a:noFill/>
                </a:ln>
                <a:gradFill>
                  <a:gsLst>
                    <a:gs pos="41958">
                      <a:srgbClr val="FFFFFF"/>
                    </a:gs>
                    <a:gs pos="63000">
                      <a:srgbClr val="FFFFFF"/>
                    </a:gs>
                  </a:gsLst>
                  <a:lin ang="0" scaled="0"/>
                </a:gradFill>
                <a:effectLst/>
                <a:uLnTx/>
                <a:uFillTx/>
                <a:latin typeface="Segoe UI Variable Display Semib" pitchFamily="2" charset="0"/>
                <a:ea typeface="+mn-ea"/>
                <a:cs typeface="+mn-cs"/>
              </a:rPr>
            </a:br>
            <a:r>
              <a:rPr kumimoji="0" lang="en-US" sz="1400" b="0" i="0" u="none" strike="noStrike" kern="1200" cap="none" spc="0" normalizeH="0" baseline="0" noProof="0">
                <a:ln>
                  <a:noFill/>
                </a:ln>
                <a:gradFill>
                  <a:gsLst>
                    <a:gs pos="41958">
                      <a:srgbClr val="FFFFFF"/>
                    </a:gs>
                    <a:gs pos="63000">
                      <a:srgbClr val="FFFFFF"/>
                    </a:gs>
                  </a:gsLst>
                  <a:lin ang="0" scaled="0"/>
                </a:gradFill>
                <a:effectLst/>
                <a:uLnTx/>
                <a:uFillTx/>
                <a:latin typeface="Segoe UI Variable Display Semib" pitchFamily="2" charset="0"/>
                <a:ea typeface="+mn-ea"/>
                <a:cs typeface="+mn-cs"/>
              </a:rPr>
              <a:t>Zones</a:t>
            </a:r>
          </a:p>
        </p:txBody>
      </p:sp>
      <p:sp>
        <p:nvSpPr>
          <p:cNvPr id="11" name="Rectangle: Rounded Corners 10">
            <a:extLst>
              <a:ext uri="{FF2B5EF4-FFF2-40B4-BE49-F238E27FC236}">
                <a16:creationId xmlns:a16="http://schemas.microsoft.com/office/drawing/2014/main" id="{78B43950-92B9-EA5C-19EC-31FC768C8D60}"/>
              </a:ext>
            </a:extLst>
          </p:cNvPr>
          <p:cNvSpPr/>
          <p:nvPr/>
        </p:nvSpPr>
        <p:spPr bwMode="auto">
          <a:xfrm>
            <a:off x="8950168" y="4021632"/>
            <a:ext cx="972646" cy="1003360"/>
          </a:xfrm>
          <a:prstGeom prst="roundRect">
            <a:avLst>
              <a:gd name="adj" fmla="val 17011"/>
            </a:avLst>
          </a:prstGeom>
          <a:solidFill>
            <a:schemeClr val="tx2"/>
          </a:solidFill>
          <a:ln w="19050" cap="rnd">
            <a:solidFill>
              <a:schemeClr val="tx2"/>
            </a:solidFill>
            <a:headEnd type="none" w="med" len="med"/>
            <a:tailEnd type="none" w="med" len="med"/>
          </a:ln>
          <a:effectLst>
            <a:outerShdw blurRad="63500" dist="63500" dir="2700000" algn="tl" rotWithShape="0">
              <a:srgbClr val="000000">
                <a:alpha val="50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42634"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811674" rtl="0" eaLnBrk="1" fontAlgn="auto" latinLnBrk="0" hangingPunct="1">
              <a:lnSpc>
                <a:spcPct val="100000"/>
              </a:lnSpc>
              <a:spcBef>
                <a:spcPts val="174"/>
              </a:spcBef>
              <a:spcAft>
                <a:spcPts val="0"/>
              </a:spcAft>
              <a:buClrTx/>
              <a:buSzTx/>
              <a:buFontTx/>
              <a:buNone/>
              <a:tabLst/>
              <a:defRPr/>
            </a:pPr>
            <a:r>
              <a:rPr kumimoji="0" lang="en-US" sz="1400" b="0" i="0" u="none" strike="noStrike" kern="1200" cap="none" spc="0" normalizeH="0" baseline="0" noProof="0" dirty="0">
                <a:ln>
                  <a:noFill/>
                </a:ln>
                <a:gradFill>
                  <a:gsLst>
                    <a:gs pos="41958">
                      <a:srgbClr val="FFFFFF"/>
                    </a:gs>
                    <a:gs pos="63000">
                      <a:srgbClr val="FFFFFF"/>
                    </a:gs>
                  </a:gsLst>
                  <a:lin ang="0" scaled="0"/>
                </a:gradFill>
                <a:effectLst/>
                <a:uLnTx/>
                <a:uFillTx/>
                <a:latin typeface="Segoe UI Variable Display Semib" pitchFamily="2" charset="0"/>
                <a:ea typeface="+mn-ea"/>
                <a:cs typeface="+mn-cs"/>
              </a:rPr>
              <a:t>Regional</a:t>
            </a:r>
          </a:p>
        </p:txBody>
      </p:sp>
      <p:cxnSp>
        <p:nvCxnSpPr>
          <p:cNvPr id="12" name="Connector: Elbow 11">
            <a:extLst>
              <a:ext uri="{FF2B5EF4-FFF2-40B4-BE49-F238E27FC236}">
                <a16:creationId xmlns:a16="http://schemas.microsoft.com/office/drawing/2014/main" id="{6C81F65D-B8E4-44F5-D713-6459F61C1256}"/>
              </a:ext>
              <a:ext uri="{C183D7F6-B498-43B3-948B-1728B52AA6E4}">
                <adec:decorative xmlns:adec="http://schemas.microsoft.com/office/drawing/2017/decorative" val="1"/>
              </a:ext>
            </a:extLst>
          </p:cNvPr>
          <p:cNvCxnSpPr>
            <a:cxnSpLocks/>
            <a:stCxn id="14" idx="0"/>
            <a:endCxn id="9" idx="2"/>
          </p:cNvCxnSpPr>
          <p:nvPr/>
        </p:nvCxnSpPr>
        <p:spPr>
          <a:xfrm rot="5400000" flipH="1" flipV="1">
            <a:off x="3718535" y="5089823"/>
            <a:ext cx="734770" cy="605108"/>
          </a:xfrm>
          <a:prstGeom prst="bentConnector3">
            <a:avLst>
              <a:gd name="adj1" fmla="val 73579"/>
            </a:avLst>
          </a:prstGeom>
          <a:solidFill>
            <a:schemeClr val="bg1"/>
          </a:solidFill>
          <a:ln w="19050" cap="rnd">
            <a:solidFill>
              <a:schemeClr val="tx2"/>
            </a:solidFill>
            <a:headEnd type="none" w="lg" len="sm"/>
            <a:tailEnd type="none" w="lg" len="sm"/>
          </a:ln>
          <a:effectLst>
            <a:outerShdw blurRad="63500" dist="635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C8CAAE63-FE96-37D4-D946-851D478ABD68}"/>
              </a:ext>
              <a:ext uri="{C183D7F6-B498-43B3-948B-1728B52AA6E4}">
                <adec:decorative xmlns:adec="http://schemas.microsoft.com/office/drawing/2017/decorative" val="1"/>
              </a:ext>
            </a:extLst>
          </p:cNvPr>
          <p:cNvCxnSpPr>
            <a:cxnSpLocks/>
          </p:cNvCxnSpPr>
          <p:nvPr/>
        </p:nvCxnSpPr>
        <p:spPr>
          <a:xfrm rot="16200000" flipV="1">
            <a:off x="4346800" y="5096411"/>
            <a:ext cx="691974" cy="609328"/>
          </a:xfrm>
          <a:prstGeom prst="bentConnector3">
            <a:avLst>
              <a:gd name="adj1" fmla="val 76429"/>
            </a:avLst>
          </a:prstGeom>
          <a:solidFill>
            <a:schemeClr val="bg1"/>
          </a:solidFill>
          <a:ln w="19050" cap="rnd">
            <a:solidFill>
              <a:schemeClr val="tx2"/>
            </a:solidFill>
            <a:headEnd type="none" w="lg" len="sm"/>
            <a:tailEnd type="none" w="lg" len="sm"/>
          </a:ln>
          <a:effectLst>
            <a:outerShdw blurRad="63500" dist="635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0236AF89-1D09-357E-F895-2E3978400B8D}"/>
              </a:ext>
            </a:extLst>
          </p:cNvPr>
          <p:cNvSpPr>
            <a:spLocks/>
          </p:cNvSpPr>
          <p:nvPr/>
        </p:nvSpPr>
        <p:spPr>
          <a:xfrm>
            <a:off x="3393788" y="5759762"/>
            <a:ext cx="779155" cy="530410"/>
          </a:xfrm>
          <a:prstGeom prst="roundRect">
            <a:avLst/>
          </a:prstGeom>
          <a:solidFill>
            <a:srgbClr val="008575"/>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78" tIns="57078" rIns="57078" bIns="57078" numCol="1" spcCol="1270" anchor="ctr" anchorCtr="0">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Semibold"/>
                <a:ea typeface="+mn-ea"/>
                <a:cs typeface="+mn-cs"/>
              </a:rPr>
              <a:t>Hourly</a:t>
            </a:r>
          </a:p>
        </p:txBody>
      </p:sp>
      <p:sp>
        <p:nvSpPr>
          <p:cNvPr id="15" name="Rectangle: Rounded Corners 14">
            <a:extLst>
              <a:ext uri="{FF2B5EF4-FFF2-40B4-BE49-F238E27FC236}">
                <a16:creationId xmlns:a16="http://schemas.microsoft.com/office/drawing/2014/main" id="{CA340A51-0663-1874-1C31-CCF39375094D}"/>
              </a:ext>
            </a:extLst>
          </p:cNvPr>
          <p:cNvSpPr>
            <a:spLocks/>
          </p:cNvSpPr>
          <p:nvPr/>
        </p:nvSpPr>
        <p:spPr>
          <a:xfrm>
            <a:off x="4349450" y="5747062"/>
            <a:ext cx="1050693" cy="530410"/>
          </a:xfrm>
          <a:prstGeom prst="roundRect">
            <a:avLst/>
          </a:prstGeom>
          <a:solidFill>
            <a:srgbClr val="008575"/>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78" tIns="57078" rIns="57078" bIns="57078" numCol="1" spcCol="1270" anchor="ctr" anchorCtr="0">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533400">
              <a:lnSpc>
                <a:spcPct val="90000"/>
              </a:lnSpc>
              <a:spcBef>
                <a:spcPct val="0"/>
              </a:spcBef>
              <a:spcAft>
                <a:spcPct val="35000"/>
              </a:spcAft>
            </a:pPr>
            <a:r>
              <a:rPr lang="en-US" sz="1200" dirty="0">
                <a:solidFill>
                  <a:srgbClr val="FFFFFF"/>
                </a:solidFill>
                <a:latin typeface="Segoe UI Semibold"/>
              </a:rPr>
              <a:t>Azure</a:t>
            </a:r>
          </a:p>
          <a:p>
            <a:pPr algn="ctr" defTabSz="533400">
              <a:lnSpc>
                <a:spcPct val="90000"/>
              </a:lnSpc>
              <a:spcBef>
                <a:spcPct val="0"/>
              </a:spcBef>
              <a:spcAft>
                <a:spcPct val="35000"/>
              </a:spcAft>
            </a:pPr>
            <a:r>
              <a:rPr lang="en-US" sz="1200" dirty="0">
                <a:solidFill>
                  <a:srgbClr val="FFFFFF"/>
                </a:solidFill>
                <a:latin typeface="Segoe UI Semibold"/>
              </a:rPr>
              <a:t>Reservations</a:t>
            </a:r>
          </a:p>
        </p:txBody>
      </p:sp>
      <p:grpSp>
        <p:nvGrpSpPr>
          <p:cNvPr id="16" name="Group 15">
            <a:extLst>
              <a:ext uri="{FF2B5EF4-FFF2-40B4-BE49-F238E27FC236}">
                <a16:creationId xmlns:a16="http://schemas.microsoft.com/office/drawing/2014/main" id="{930A5B4E-91D9-2D96-51F5-BD9833DADED7}"/>
              </a:ext>
              <a:ext uri="{C183D7F6-B498-43B3-948B-1728B52AA6E4}">
                <adec:decorative xmlns:adec="http://schemas.microsoft.com/office/drawing/2017/decorative" val="1"/>
              </a:ext>
            </a:extLst>
          </p:cNvPr>
          <p:cNvGrpSpPr/>
          <p:nvPr/>
        </p:nvGrpSpPr>
        <p:grpSpPr>
          <a:xfrm>
            <a:off x="5900432" y="5042387"/>
            <a:ext cx="2006355" cy="1265180"/>
            <a:chOff x="4700499" y="4806003"/>
            <a:chExt cx="2006355" cy="1265180"/>
          </a:xfrm>
        </p:grpSpPr>
        <p:cxnSp>
          <p:nvCxnSpPr>
            <p:cNvPr id="25" name="Connector: Elbow 24">
              <a:extLst>
                <a:ext uri="{FF2B5EF4-FFF2-40B4-BE49-F238E27FC236}">
                  <a16:creationId xmlns:a16="http://schemas.microsoft.com/office/drawing/2014/main" id="{DBDD8136-5BEE-033C-A267-948722D1EF9E}"/>
                </a:ext>
                <a:ext uri="{C183D7F6-B498-43B3-948B-1728B52AA6E4}">
                  <adec:decorative xmlns:adec="http://schemas.microsoft.com/office/drawing/2017/decorative" val="1"/>
                </a:ext>
              </a:extLst>
            </p:cNvPr>
            <p:cNvCxnSpPr>
              <a:cxnSpLocks/>
              <a:stCxn id="27" idx="0"/>
            </p:cNvCxnSpPr>
            <p:nvPr/>
          </p:nvCxnSpPr>
          <p:spPr>
            <a:xfrm rot="5400000" flipH="1" flipV="1">
              <a:off x="5025246" y="4870834"/>
              <a:ext cx="734770" cy="605108"/>
            </a:xfrm>
            <a:prstGeom prst="bentConnector3">
              <a:avLst>
                <a:gd name="adj1" fmla="val 73579"/>
              </a:avLst>
            </a:prstGeom>
            <a:solidFill>
              <a:schemeClr val="bg1"/>
            </a:solidFill>
            <a:ln w="19050" cap="rnd">
              <a:solidFill>
                <a:schemeClr val="tx2"/>
              </a:solidFill>
              <a:headEnd type="none" w="lg" len="sm"/>
              <a:tailEnd type="none" w="lg" len="sm"/>
            </a:ln>
            <a:effectLst>
              <a:outerShdw blurRad="63500" dist="635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62242B53-997D-4ECD-CAA4-664A30C2ACC6}"/>
                </a:ext>
                <a:ext uri="{C183D7F6-B498-43B3-948B-1728B52AA6E4}">
                  <adec:decorative xmlns:adec="http://schemas.microsoft.com/office/drawing/2017/decorative" val="1"/>
                </a:ext>
              </a:extLst>
            </p:cNvPr>
            <p:cNvCxnSpPr>
              <a:cxnSpLocks/>
            </p:cNvCxnSpPr>
            <p:nvPr/>
          </p:nvCxnSpPr>
          <p:spPr>
            <a:xfrm rot="16200000" flipV="1">
              <a:off x="5653511" y="4877422"/>
              <a:ext cx="691974" cy="609328"/>
            </a:xfrm>
            <a:prstGeom prst="bentConnector3">
              <a:avLst>
                <a:gd name="adj1" fmla="val 76429"/>
              </a:avLst>
            </a:prstGeom>
            <a:solidFill>
              <a:schemeClr val="bg1"/>
            </a:solidFill>
            <a:ln w="19050" cap="rnd">
              <a:solidFill>
                <a:schemeClr val="tx2"/>
              </a:solidFill>
              <a:headEnd type="none" w="lg" len="sm"/>
              <a:tailEnd type="none" w="lg" len="sm"/>
            </a:ln>
            <a:effectLst>
              <a:outerShdw blurRad="63500" dist="635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41DF64FA-BF44-BC07-01EA-9032661FF0D1}"/>
                </a:ext>
              </a:extLst>
            </p:cNvPr>
            <p:cNvSpPr>
              <a:spLocks/>
            </p:cNvSpPr>
            <p:nvPr/>
          </p:nvSpPr>
          <p:spPr>
            <a:xfrm>
              <a:off x="4700499" y="5540773"/>
              <a:ext cx="779155" cy="530410"/>
            </a:xfrm>
            <a:prstGeom prst="roundRect">
              <a:avLst/>
            </a:prstGeom>
            <a:solidFill>
              <a:srgbClr val="008575"/>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78" tIns="57078" rIns="57078" bIns="57078" numCol="1" spcCol="1270" anchor="ctr" anchorCtr="0">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533400">
                <a:lnSpc>
                  <a:spcPct val="90000"/>
                </a:lnSpc>
                <a:spcBef>
                  <a:spcPct val="0"/>
                </a:spcBef>
                <a:spcAft>
                  <a:spcPct val="35000"/>
                </a:spcAft>
              </a:pPr>
              <a:r>
                <a:rPr lang="en-US" sz="1200" dirty="0">
                  <a:solidFill>
                    <a:srgbClr val="FFFFFF"/>
                  </a:solidFill>
                  <a:latin typeface="Segoe UI Semibold"/>
                </a:rPr>
                <a:t>Hourly</a:t>
              </a:r>
            </a:p>
          </p:txBody>
        </p:sp>
        <p:sp>
          <p:nvSpPr>
            <p:cNvPr id="28" name="Rectangle: Rounded Corners 27">
              <a:extLst>
                <a:ext uri="{FF2B5EF4-FFF2-40B4-BE49-F238E27FC236}">
                  <a16:creationId xmlns:a16="http://schemas.microsoft.com/office/drawing/2014/main" id="{3F213AD7-BE8A-B0CC-7BF1-C4B59195B812}"/>
                </a:ext>
              </a:extLst>
            </p:cNvPr>
            <p:cNvSpPr>
              <a:spLocks/>
            </p:cNvSpPr>
            <p:nvPr/>
          </p:nvSpPr>
          <p:spPr>
            <a:xfrm>
              <a:off x="5656161" y="5528073"/>
              <a:ext cx="1050693" cy="530410"/>
            </a:xfrm>
            <a:prstGeom prst="roundRect">
              <a:avLst/>
            </a:prstGeom>
            <a:solidFill>
              <a:srgbClr val="008575"/>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78" tIns="57078" rIns="57078" bIns="57078" numCol="1" spcCol="1270" anchor="ctr" anchorCtr="0">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algn="ctr" defTabSz="533400">
                <a:lnSpc>
                  <a:spcPct val="90000"/>
                </a:lnSpc>
                <a:spcBef>
                  <a:spcPct val="0"/>
                </a:spcBef>
                <a:spcAft>
                  <a:spcPct val="35000"/>
                </a:spcAft>
              </a:pPr>
              <a:r>
                <a:rPr lang="en-US" sz="1200" dirty="0">
                  <a:solidFill>
                    <a:srgbClr val="FFFFFF"/>
                  </a:solidFill>
                  <a:latin typeface="Segoe UI Semibold"/>
                </a:rPr>
                <a:t>Azure</a:t>
              </a:r>
            </a:p>
            <a:p>
              <a:pPr algn="ctr" defTabSz="533400">
                <a:lnSpc>
                  <a:spcPct val="90000"/>
                </a:lnSpc>
                <a:spcBef>
                  <a:spcPct val="0"/>
                </a:spcBef>
                <a:spcAft>
                  <a:spcPct val="35000"/>
                </a:spcAft>
              </a:pPr>
              <a:r>
                <a:rPr lang="en-US" sz="1200" dirty="0">
                  <a:solidFill>
                    <a:srgbClr val="FFFFFF"/>
                  </a:solidFill>
                  <a:latin typeface="Segoe UI Semibold"/>
                </a:rPr>
                <a:t>Reservations</a:t>
              </a:r>
            </a:p>
          </p:txBody>
        </p:sp>
      </p:grpSp>
      <p:grpSp>
        <p:nvGrpSpPr>
          <p:cNvPr id="17" name="Group 16">
            <a:extLst>
              <a:ext uri="{FF2B5EF4-FFF2-40B4-BE49-F238E27FC236}">
                <a16:creationId xmlns:a16="http://schemas.microsoft.com/office/drawing/2014/main" id="{98B5E4DE-07F5-D0CD-3663-8494D682CFDD}"/>
              </a:ext>
              <a:ext uri="{C183D7F6-B498-43B3-948B-1728B52AA6E4}">
                <adec:decorative xmlns:adec="http://schemas.microsoft.com/office/drawing/2017/decorative" val="1"/>
              </a:ext>
            </a:extLst>
          </p:cNvPr>
          <p:cNvGrpSpPr/>
          <p:nvPr/>
        </p:nvGrpSpPr>
        <p:grpSpPr>
          <a:xfrm>
            <a:off x="8469428" y="5055087"/>
            <a:ext cx="2006355" cy="1265180"/>
            <a:chOff x="6669841" y="4829496"/>
            <a:chExt cx="2006355" cy="1265180"/>
          </a:xfrm>
        </p:grpSpPr>
        <p:cxnSp>
          <p:nvCxnSpPr>
            <p:cNvPr id="21" name="Connector: Elbow 20">
              <a:extLst>
                <a:ext uri="{FF2B5EF4-FFF2-40B4-BE49-F238E27FC236}">
                  <a16:creationId xmlns:a16="http://schemas.microsoft.com/office/drawing/2014/main" id="{CB8400E3-5C40-86D9-FC5D-BFE408B96F03}"/>
                </a:ext>
                <a:ext uri="{C183D7F6-B498-43B3-948B-1728B52AA6E4}">
                  <adec:decorative xmlns:adec="http://schemas.microsoft.com/office/drawing/2017/decorative" val="1"/>
                </a:ext>
              </a:extLst>
            </p:cNvPr>
            <p:cNvCxnSpPr>
              <a:cxnSpLocks/>
              <a:stCxn id="23" idx="0"/>
            </p:cNvCxnSpPr>
            <p:nvPr/>
          </p:nvCxnSpPr>
          <p:spPr>
            <a:xfrm rot="5400000" flipH="1" flipV="1">
              <a:off x="6994588" y="4894327"/>
              <a:ext cx="734770" cy="605108"/>
            </a:xfrm>
            <a:prstGeom prst="bentConnector3">
              <a:avLst>
                <a:gd name="adj1" fmla="val 73579"/>
              </a:avLst>
            </a:prstGeom>
            <a:solidFill>
              <a:schemeClr val="bg1"/>
            </a:solidFill>
            <a:ln w="19050" cap="rnd">
              <a:solidFill>
                <a:schemeClr val="tx2"/>
              </a:solidFill>
              <a:headEnd type="none" w="lg" len="sm"/>
              <a:tailEnd type="none" w="lg" len="sm"/>
            </a:ln>
            <a:effectLst>
              <a:outerShdw blurRad="63500" dist="635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9D68F4E-D5C8-C795-C6C1-5449E27A219F}"/>
                </a:ext>
                <a:ext uri="{C183D7F6-B498-43B3-948B-1728B52AA6E4}">
                  <adec:decorative xmlns:adec="http://schemas.microsoft.com/office/drawing/2017/decorative" val="1"/>
                </a:ext>
              </a:extLst>
            </p:cNvPr>
            <p:cNvCxnSpPr>
              <a:cxnSpLocks/>
            </p:cNvCxnSpPr>
            <p:nvPr/>
          </p:nvCxnSpPr>
          <p:spPr>
            <a:xfrm rot="16200000" flipV="1">
              <a:off x="7622853" y="4900915"/>
              <a:ext cx="691974" cy="609328"/>
            </a:xfrm>
            <a:prstGeom prst="bentConnector3">
              <a:avLst>
                <a:gd name="adj1" fmla="val 76429"/>
              </a:avLst>
            </a:prstGeom>
            <a:solidFill>
              <a:schemeClr val="bg1"/>
            </a:solidFill>
            <a:ln w="19050" cap="rnd">
              <a:solidFill>
                <a:schemeClr val="tx2"/>
              </a:solidFill>
              <a:headEnd type="none" w="lg" len="sm"/>
              <a:tailEnd type="none" w="lg" len="sm"/>
            </a:ln>
            <a:effectLst>
              <a:outerShdw blurRad="63500" dist="63500" dir="2700000" algn="tl" rotWithShape="0">
                <a:srgbClr val="000000">
                  <a:alpha val="50000"/>
                </a:srgbClr>
              </a:outerShdw>
            </a:effectLst>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FE5212F7-A5C8-444E-07D4-8C4E09B05CE2}"/>
                </a:ext>
              </a:extLst>
            </p:cNvPr>
            <p:cNvSpPr>
              <a:spLocks/>
            </p:cNvSpPr>
            <p:nvPr/>
          </p:nvSpPr>
          <p:spPr>
            <a:xfrm>
              <a:off x="6669841" y="5564266"/>
              <a:ext cx="779155" cy="530410"/>
            </a:xfrm>
            <a:prstGeom prst="roundRect">
              <a:avLst/>
            </a:prstGeom>
            <a:solidFill>
              <a:srgbClr val="008575"/>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78" tIns="57078" rIns="57078" bIns="57078" numCol="1" spcCol="1270" anchor="ctr" anchorCtr="0">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Semibold"/>
                  <a:ea typeface="+mn-ea"/>
                  <a:cs typeface="+mn-cs"/>
                </a:rPr>
                <a:t>Hourly</a:t>
              </a:r>
            </a:p>
          </p:txBody>
        </p:sp>
        <p:sp>
          <p:nvSpPr>
            <p:cNvPr id="24" name="Rectangle: Rounded Corners 23">
              <a:extLst>
                <a:ext uri="{FF2B5EF4-FFF2-40B4-BE49-F238E27FC236}">
                  <a16:creationId xmlns:a16="http://schemas.microsoft.com/office/drawing/2014/main" id="{9C167E1D-35D3-793A-7E92-10C18CC51D5D}"/>
                </a:ext>
              </a:extLst>
            </p:cNvPr>
            <p:cNvSpPr>
              <a:spLocks/>
            </p:cNvSpPr>
            <p:nvPr/>
          </p:nvSpPr>
          <p:spPr>
            <a:xfrm>
              <a:off x="7625503" y="5551566"/>
              <a:ext cx="1050693" cy="530410"/>
            </a:xfrm>
            <a:prstGeom prst="roundRect">
              <a:avLst/>
            </a:prstGeom>
            <a:solidFill>
              <a:srgbClr val="008575"/>
            </a:solid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78" tIns="57078" rIns="57078" bIns="57078" numCol="1" spcCol="1270" anchor="ctr" anchorCtr="0">
              <a:noAutofit/>
            </a:bodyPr>
            <a:lstStyle>
              <a:defPPr>
                <a:defRPr lang="en-US"/>
              </a:defPPr>
              <a:lvl1pPr marL="0" algn="l" defTabSz="914367" rtl="0" eaLnBrk="1" latinLnBrk="0" hangingPunct="1">
                <a:defRPr sz="1765" kern="1200">
                  <a:solidFill>
                    <a:schemeClr val="lt1"/>
                  </a:solidFill>
                  <a:latin typeface="+mn-lt"/>
                  <a:ea typeface="+mn-ea"/>
                  <a:cs typeface="+mn-cs"/>
                </a:defRPr>
              </a:lvl1pPr>
              <a:lvl2pPr marL="457183" algn="l" defTabSz="914367" rtl="0" eaLnBrk="1" latinLnBrk="0" hangingPunct="1">
                <a:defRPr sz="1765" kern="1200">
                  <a:solidFill>
                    <a:schemeClr val="lt1"/>
                  </a:solidFill>
                  <a:latin typeface="+mn-lt"/>
                  <a:ea typeface="+mn-ea"/>
                  <a:cs typeface="+mn-cs"/>
                </a:defRPr>
              </a:lvl2pPr>
              <a:lvl3pPr marL="914367" algn="l" defTabSz="914367" rtl="0" eaLnBrk="1" latinLnBrk="0" hangingPunct="1">
                <a:defRPr sz="1765" kern="1200">
                  <a:solidFill>
                    <a:schemeClr val="lt1"/>
                  </a:solidFill>
                  <a:latin typeface="+mn-lt"/>
                  <a:ea typeface="+mn-ea"/>
                  <a:cs typeface="+mn-cs"/>
                </a:defRPr>
              </a:lvl3pPr>
              <a:lvl4pPr marL="1371550" algn="l" defTabSz="914367" rtl="0" eaLnBrk="1" latinLnBrk="0" hangingPunct="1">
                <a:defRPr sz="1765" kern="1200">
                  <a:solidFill>
                    <a:schemeClr val="lt1"/>
                  </a:solidFill>
                  <a:latin typeface="+mn-lt"/>
                  <a:ea typeface="+mn-ea"/>
                  <a:cs typeface="+mn-cs"/>
                </a:defRPr>
              </a:lvl4pPr>
              <a:lvl5pPr marL="1828734" algn="l" defTabSz="914367" rtl="0" eaLnBrk="1" latinLnBrk="0" hangingPunct="1">
                <a:defRPr sz="1765" kern="1200">
                  <a:solidFill>
                    <a:schemeClr val="lt1"/>
                  </a:solidFill>
                  <a:latin typeface="+mn-lt"/>
                  <a:ea typeface="+mn-ea"/>
                  <a:cs typeface="+mn-cs"/>
                </a:defRPr>
              </a:lvl5pPr>
              <a:lvl6pPr marL="2285918" algn="l" defTabSz="914367" rtl="0" eaLnBrk="1" latinLnBrk="0" hangingPunct="1">
                <a:defRPr sz="1765" kern="1200">
                  <a:solidFill>
                    <a:schemeClr val="lt1"/>
                  </a:solidFill>
                  <a:latin typeface="+mn-lt"/>
                  <a:ea typeface="+mn-ea"/>
                  <a:cs typeface="+mn-cs"/>
                </a:defRPr>
              </a:lvl6pPr>
              <a:lvl7pPr marL="2743101" algn="l" defTabSz="914367" rtl="0" eaLnBrk="1" latinLnBrk="0" hangingPunct="1">
                <a:defRPr sz="1765" kern="1200">
                  <a:solidFill>
                    <a:schemeClr val="lt1"/>
                  </a:solidFill>
                  <a:latin typeface="+mn-lt"/>
                  <a:ea typeface="+mn-ea"/>
                  <a:cs typeface="+mn-cs"/>
                </a:defRPr>
              </a:lvl7pPr>
              <a:lvl8pPr marL="3200284" algn="l" defTabSz="914367" rtl="0" eaLnBrk="1" latinLnBrk="0" hangingPunct="1">
                <a:defRPr sz="1765" kern="1200">
                  <a:solidFill>
                    <a:schemeClr val="lt1"/>
                  </a:solidFill>
                  <a:latin typeface="+mn-lt"/>
                  <a:ea typeface="+mn-ea"/>
                  <a:cs typeface="+mn-cs"/>
                </a:defRPr>
              </a:lvl8pPr>
              <a:lvl9pPr marL="3657469" algn="l" defTabSz="914367" rtl="0" eaLnBrk="1" latinLnBrk="0" hangingPunct="1">
                <a:defRPr sz="1765" kern="1200">
                  <a:solidFill>
                    <a:schemeClr val="lt1"/>
                  </a:solidFill>
                  <a:latin typeface="+mn-lt"/>
                  <a:ea typeface="+mn-ea"/>
                  <a:cs typeface="+mn-cs"/>
                </a:defRPr>
              </a:lvl9p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Semibold"/>
                  <a:ea typeface="+mn-ea"/>
                  <a:cs typeface="+mn-cs"/>
                </a:rPr>
                <a:t>Azure</a:t>
              </a:r>
            </a:p>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Segoe UI Semibold"/>
                  <a:ea typeface="+mn-ea"/>
                  <a:cs typeface="+mn-cs"/>
                </a:rPr>
                <a:t>Reservations</a:t>
              </a:r>
            </a:p>
          </p:txBody>
        </p:sp>
      </p:grpSp>
      <p:sp>
        <p:nvSpPr>
          <p:cNvPr id="18" name="TextBox 49">
            <a:extLst>
              <a:ext uri="{FF2B5EF4-FFF2-40B4-BE49-F238E27FC236}">
                <a16:creationId xmlns:a16="http://schemas.microsoft.com/office/drawing/2014/main" id="{AA8892D6-0838-2633-A2AC-650B491FD698}"/>
              </a:ext>
              <a:ext uri="{C183D7F6-B498-43B3-948B-1728B52AA6E4}">
                <adec:decorative xmlns:adec="http://schemas.microsoft.com/office/drawing/2017/decorative" val="0"/>
              </a:ext>
            </a:extLst>
          </p:cNvPr>
          <p:cNvSpPr txBox="1">
            <a:spLocks/>
          </p:cNvSpPr>
          <p:nvPr/>
        </p:nvSpPr>
        <p:spPr>
          <a:xfrm>
            <a:off x="1173521" y="2560735"/>
            <a:ext cx="1136565" cy="452344"/>
          </a:xfrm>
          <a:prstGeom prst="roundRect">
            <a:avLst>
              <a:gd name="adj" fmla="val 50000"/>
            </a:avLst>
          </a:prstGeom>
          <a:solidFill>
            <a:schemeClr val="tx2"/>
          </a:solidFill>
        </p:spPr>
        <p:txBody>
          <a:bodyPr wrap="square" lIns="137160" tIns="0" rIns="0" bIns="18288" anchor="ctr">
            <a:noAutofit/>
          </a:bodyPr>
          <a:lstStyle>
            <a:defPPr>
              <a:defRPr lang="en-US"/>
            </a:defPPr>
            <a:lvl1pPr marL="0" lvl="0" algn="l" defTabSz="666598" rtl="0" eaLnBrk="1" latinLnBrk="0" hangingPunct="1">
              <a:spcAft>
                <a:spcPts val="400"/>
              </a:spcAft>
              <a:defRPr sz="1765" b="1" kern="0">
                <a:solidFill>
                  <a:srgbClr val="FFFFFF"/>
                </a:solidFill>
                <a:latin typeface="Segoe UI Semibold" panose="020B0702040204020203" pitchFamily="34" charset="0"/>
                <a:ea typeface="Arial" charset="0"/>
                <a:cs typeface="Segoe UI Semibold" panose="020B0502040204020203" pitchFamily="34" charset="0"/>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66598" rtl="0" eaLnBrk="1" fontAlgn="auto" latinLnBrk="0" hangingPunct="1">
              <a:lnSpc>
                <a:spcPct val="100000"/>
              </a:lnSpc>
              <a:spcBef>
                <a:spcPts val="0"/>
              </a:spcBef>
              <a:spcAft>
                <a:spcPts val="400"/>
              </a:spcAft>
              <a:buClrTx/>
              <a:buSzTx/>
              <a:buFontTx/>
              <a:buNone/>
              <a:tabLst/>
              <a:defRPr/>
            </a:pPr>
            <a:r>
              <a:rPr kumimoji="0" lang="en-US" sz="1800" b="1" i="0" u="none" strike="noStrike" kern="0" cap="none" spc="0" normalizeH="0" baseline="0" noProof="0">
                <a:ln>
                  <a:noFill/>
                </a:ln>
                <a:solidFill>
                  <a:srgbClr val="FFFFFF"/>
                </a:solidFill>
                <a:effectLst/>
                <a:uLnTx/>
                <a:uFillTx/>
                <a:latin typeface="Segoe UI Semibold" panose="020B0702040204020203" pitchFamily="34" charset="0"/>
                <a:cs typeface="Segoe UI Semibold" panose="020B0502040204020203" pitchFamily="34" charset="0"/>
              </a:rPr>
              <a:t>Offer</a:t>
            </a:r>
          </a:p>
        </p:txBody>
      </p:sp>
      <p:sp>
        <p:nvSpPr>
          <p:cNvPr id="19" name="TextBox 50">
            <a:extLst>
              <a:ext uri="{FF2B5EF4-FFF2-40B4-BE49-F238E27FC236}">
                <a16:creationId xmlns:a16="http://schemas.microsoft.com/office/drawing/2014/main" id="{01CE8C3A-4E29-72F0-5B38-77FC71AE6CF6}"/>
              </a:ext>
              <a:ext uri="{C183D7F6-B498-43B3-948B-1728B52AA6E4}">
                <adec:decorative xmlns:adec="http://schemas.microsoft.com/office/drawing/2017/decorative" val="0"/>
              </a:ext>
            </a:extLst>
          </p:cNvPr>
          <p:cNvSpPr txBox="1">
            <a:spLocks/>
          </p:cNvSpPr>
          <p:nvPr/>
        </p:nvSpPr>
        <p:spPr>
          <a:xfrm>
            <a:off x="1173521" y="4195651"/>
            <a:ext cx="1681060" cy="452344"/>
          </a:xfrm>
          <a:prstGeom prst="roundRect">
            <a:avLst>
              <a:gd name="adj" fmla="val 50000"/>
            </a:avLst>
          </a:prstGeom>
          <a:solidFill>
            <a:schemeClr val="tx2"/>
          </a:solidFill>
        </p:spPr>
        <p:txBody>
          <a:bodyPr wrap="square" lIns="137160" tIns="0" rIns="0" bIns="18288" anchor="ctr">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66598" rtl="0" eaLnBrk="1" fontAlgn="auto" latinLnBrk="0" hangingPunct="1">
              <a:lnSpc>
                <a:spcPct val="100000"/>
              </a:lnSpc>
              <a:spcBef>
                <a:spcPts val="0"/>
              </a:spcBef>
              <a:spcAft>
                <a:spcPts val="400"/>
              </a:spcAft>
              <a:buClrTx/>
              <a:buSzTx/>
              <a:buFontTx/>
              <a:buNone/>
              <a:tabLst/>
              <a:defRPr/>
            </a:pPr>
            <a:r>
              <a:rPr kumimoji="0" lang="en-US" sz="1800" b="1" i="0" u="none" strike="noStrike" kern="0" cap="none" spc="0" normalizeH="0" baseline="0" noProof="0">
                <a:ln>
                  <a:noFill/>
                </a:ln>
                <a:solidFill>
                  <a:srgbClr val="FFFFFF"/>
                </a:solidFill>
                <a:effectLst/>
                <a:uLnTx/>
                <a:uFillTx/>
                <a:latin typeface="Segoe UI Semibold" panose="020B0702040204020203" pitchFamily="34" charset="0"/>
                <a:ea typeface="Arial" charset="0"/>
                <a:cs typeface="Segoe UI Semibold" panose="020B0502040204020203" pitchFamily="34" charset="0"/>
              </a:rPr>
              <a:t>Deployment</a:t>
            </a:r>
          </a:p>
        </p:txBody>
      </p:sp>
      <p:sp>
        <p:nvSpPr>
          <p:cNvPr id="20" name="TextBox 51">
            <a:extLst>
              <a:ext uri="{FF2B5EF4-FFF2-40B4-BE49-F238E27FC236}">
                <a16:creationId xmlns:a16="http://schemas.microsoft.com/office/drawing/2014/main" id="{C3ACB33F-0BC8-FA79-66EA-0E085CC51A9F}"/>
              </a:ext>
              <a:ext uri="{C183D7F6-B498-43B3-948B-1728B52AA6E4}">
                <adec:decorative xmlns:adec="http://schemas.microsoft.com/office/drawing/2017/decorative" val="0"/>
              </a:ext>
            </a:extLst>
          </p:cNvPr>
          <p:cNvSpPr txBox="1">
            <a:spLocks/>
          </p:cNvSpPr>
          <p:nvPr/>
        </p:nvSpPr>
        <p:spPr>
          <a:xfrm>
            <a:off x="1173522" y="5741046"/>
            <a:ext cx="987007" cy="452344"/>
          </a:xfrm>
          <a:prstGeom prst="roundRect">
            <a:avLst>
              <a:gd name="adj" fmla="val 50000"/>
            </a:avLst>
          </a:prstGeom>
          <a:solidFill>
            <a:schemeClr val="tx2"/>
          </a:solidFill>
        </p:spPr>
        <p:txBody>
          <a:bodyPr wrap="square" lIns="137160" tIns="0" rIns="0" bIns="18288" anchor="ctr">
            <a:noAutofit/>
          </a:bodyPr>
          <a:lstStyle>
            <a:defPPr>
              <a:defRPr lang="en-US"/>
            </a:defPPr>
            <a:lvl1pPr marL="0" lvl="0" algn="l" defTabSz="666598" rtl="0" eaLnBrk="1" latinLnBrk="0" hangingPunct="1">
              <a:spcAft>
                <a:spcPts val="400"/>
              </a:spcAft>
              <a:defRPr sz="1765" b="1" kern="0">
                <a:solidFill>
                  <a:srgbClr val="FFFFFF"/>
                </a:solidFill>
                <a:latin typeface="Segoe UI Semibold" panose="020B0702040204020203" pitchFamily="34" charset="0"/>
                <a:ea typeface="Arial" charset="0"/>
                <a:cs typeface="Segoe UI Semibold" panose="020B0502040204020203" pitchFamily="34" charset="0"/>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66598" rtl="0" eaLnBrk="1" fontAlgn="auto" latinLnBrk="0" hangingPunct="1">
              <a:lnSpc>
                <a:spcPct val="100000"/>
              </a:lnSpc>
              <a:spcBef>
                <a:spcPts val="0"/>
              </a:spcBef>
              <a:spcAft>
                <a:spcPts val="400"/>
              </a:spcAft>
              <a:buClrTx/>
              <a:buSzTx/>
              <a:buFontTx/>
              <a:buNone/>
              <a:tabLst/>
              <a:defRPr/>
            </a:pPr>
            <a:r>
              <a:rPr kumimoji="0" lang="en-US" sz="1800" b="1" i="0" u="none" strike="noStrike" kern="0" cap="none" spc="0" normalizeH="0" baseline="0" noProof="0">
                <a:ln>
                  <a:noFill/>
                </a:ln>
                <a:solidFill>
                  <a:srgbClr val="FFFFFF"/>
                </a:solidFill>
                <a:effectLst/>
                <a:uLnTx/>
                <a:uFillTx/>
                <a:latin typeface="Segoe UI Semibold" panose="020B0702040204020203" pitchFamily="34" charset="0"/>
                <a:cs typeface="Segoe UI Semibold" panose="020B0502040204020203" pitchFamily="34" charset="0"/>
              </a:rPr>
              <a:t xml:space="preserve">Price </a:t>
            </a:r>
          </a:p>
        </p:txBody>
      </p:sp>
    </p:spTree>
    <p:extLst>
      <p:ext uri="{BB962C8B-B14F-4D97-AF65-F5344CB8AC3E}">
        <p14:creationId xmlns:p14="http://schemas.microsoft.com/office/powerpoint/2010/main" val="41406632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FC4581C-377D-9E7F-5214-D38E07C17506}"/>
              </a:ext>
            </a:extLst>
          </p:cNvPr>
          <p:cNvSpPr>
            <a:spLocks noGrp="1"/>
          </p:cNvSpPr>
          <p:nvPr>
            <p:ph type="body" sz="quarter" idx="15"/>
          </p:nvPr>
        </p:nvSpPr>
        <p:spPr>
          <a:xfrm>
            <a:off x="6573838" y="842063"/>
            <a:ext cx="5130057" cy="2246194"/>
          </a:xfrm>
        </p:spPr>
        <p:txBody>
          <a:bodyPr/>
          <a:lstStyle/>
          <a:p>
            <a:r>
              <a:rPr lang="en-US" b="1" dirty="0"/>
              <a:t>Overview</a:t>
            </a:r>
          </a:p>
          <a:p>
            <a:pPr marL="285750" indent="-285750">
              <a:buFont typeface="Arial" panose="020B0604020202020204" pitchFamily="34" charset="0"/>
              <a:buChar char="•"/>
            </a:pPr>
            <a:r>
              <a:rPr lang="en-US" dirty="0"/>
              <a:t>Billed hourly per PTU</a:t>
            </a:r>
          </a:p>
          <a:p>
            <a:pPr marL="285750" indent="-285750">
              <a:buFont typeface="Arial" panose="020B0604020202020204" pitchFamily="34" charset="0"/>
              <a:buChar char="•"/>
            </a:pPr>
            <a:r>
              <a:rPr lang="en-US" dirty="0"/>
              <a:t>No long-term commitment</a:t>
            </a:r>
          </a:p>
          <a:p>
            <a:endParaRPr lang="en-US" b="1" dirty="0"/>
          </a:p>
          <a:p>
            <a:endParaRPr lang="en-US" b="1" dirty="0"/>
          </a:p>
          <a:p>
            <a:r>
              <a:rPr lang="en-US" b="1" dirty="0"/>
              <a:t>BEST FOR</a:t>
            </a:r>
          </a:p>
          <a:p>
            <a:pPr marL="285750" indent="-285750">
              <a:buFont typeface="Wingdings" panose="05000000000000000000" pitchFamily="2" charset="2"/>
              <a:buChar char="ü"/>
            </a:pPr>
            <a:r>
              <a:rPr lang="en-US" dirty="0"/>
              <a:t>Pilot projects</a:t>
            </a:r>
          </a:p>
          <a:p>
            <a:pPr marL="285750" indent="-285750">
              <a:buFont typeface="Wingdings" panose="05000000000000000000" pitchFamily="2" charset="2"/>
              <a:buChar char="ü"/>
            </a:pPr>
            <a:r>
              <a:rPr lang="en-US" dirty="0"/>
              <a:t>Development and testing workloads</a:t>
            </a:r>
          </a:p>
          <a:p>
            <a:pPr marL="285750" indent="-285750">
              <a:buFont typeface="Wingdings" panose="05000000000000000000" pitchFamily="2" charset="2"/>
              <a:buChar char="ü"/>
            </a:pPr>
            <a:r>
              <a:rPr lang="en-US" dirty="0"/>
              <a:t>Bursty or unpredictable usage</a:t>
            </a:r>
          </a:p>
        </p:txBody>
      </p:sp>
      <p:sp>
        <p:nvSpPr>
          <p:cNvPr id="8" name="Text Placeholder 7">
            <a:extLst>
              <a:ext uri="{FF2B5EF4-FFF2-40B4-BE49-F238E27FC236}">
                <a16:creationId xmlns:a16="http://schemas.microsoft.com/office/drawing/2014/main" id="{DF8FB04F-CB12-7279-1A57-6B3DD8718F33}"/>
              </a:ext>
            </a:extLst>
          </p:cNvPr>
          <p:cNvSpPr>
            <a:spLocks noGrp="1"/>
          </p:cNvSpPr>
          <p:nvPr>
            <p:ph type="body" sz="quarter" idx="16"/>
          </p:nvPr>
        </p:nvSpPr>
        <p:spPr/>
        <p:txBody>
          <a:bodyPr/>
          <a:lstStyle/>
          <a:p>
            <a:r>
              <a:rPr lang="en-US" dirty="0"/>
              <a:t xml:space="preserve">Hourly	</a:t>
            </a:r>
          </a:p>
        </p:txBody>
      </p:sp>
      <p:sp>
        <p:nvSpPr>
          <p:cNvPr id="9" name="Text Placeholder 8">
            <a:extLst>
              <a:ext uri="{FF2B5EF4-FFF2-40B4-BE49-F238E27FC236}">
                <a16:creationId xmlns:a16="http://schemas.microsoft.com/office/drawing/2014/main" id="{9AD69239-AEC8-CC37-E6C3-9287C287269D}"/>
              </a:ext>
            </a:extLst>
          </p:cNvPr>
          <p:cNvSpPr>
            <a:spLocks noGrp="1"/>
          </p:cNvSpPr>
          <p:nvPr>
            <p:ph type="body" sz="quarter" idx="17"/>
          </p:nvPr>
        </p:nvSpPr>
        <p:spPr/>
        <p:txBody>
          <a:bodyPr/>
          <a:lstStyle/>
          <a:p>
            <a:r>
              <a:rPr lang="en-US" b="1" dirty="0"/>
              <a:t>Overview</a:t>
            </a:r>
          </a:p>
          <a:p>
            <a:pPr marL="285750" indent="-285750">
              <a:buFont typeface="Arial" panose="020B0604020202020204" pitchFamily="34" charset="0"/>
              <a:buChar char="•"/>
            </a:pPr>
            <a:r>
              <a:rPr lang="en-US" dirty="0"/>
              <a:t>Discounted cost compared to hourly PTUs</a:t>
            </a:r>
          </a:p>
          <a:p>
            <a:pPr marL="285750" indent="-285750">
              <a:buFont typeface="Arial" panose="020B0604020202020204" pitchFamily="34" charset="0"/>
              <a:buChar char="•"/>
            </a:pPr>
            <a:r>
              <a:rPr lang="en-US" dirty="0"/>
              <a:t>Prepaid commitment for 1-month or 1-year term</a:t>
            </a:r>
          </a:p>
          <a:p>
            <a:pPr marL="285750" indent="-285750">
              <a:buFont typeface="Arial" panose="020B0604020202020204" pitchFamily="34" charset="0"/>
              <a:buChar char="•"/>
            </a:pPr>
            <a:endParaRPr lang="en-US" dirty="0"/>
          </a:p>
          <a:p>
            <a:endParaRPr lang="en-US" b="1" dirty="0"/>
          </a:p>
          <a:p>
            <a:r>
              <a:rPr lang="en-US" b="1" dirty="0"/>
              <a:t>BEST FOR</a:t>
            </a:r>
          </a:p>
          <a:p>
            <a:pPr marL="285750" indent="-285750">
              <a:buFont typeface="Wingdings" panose="05000000000000000000" pitchFamily="2" charset="2"/>
              <a:buChar char="ü"/>
            </a:pPr>
            <a:r>
              <a:rPr lang="en-US" dirty="0"/>
              <a:t>Production workloads</a:t>
            </a:r>
          </a:p>
          <a:p>
            <a:pPr marL="285750" indent="-285750">
              <a:buFont typeface="Wingdings" panose="05000000000000000000" pitchFamily="2" charset="2"/>
              <a:buChar char="ü"/>
            </a:pPr>
            <a:r>
              <a:rPr lang="en-US" dirty="0"/>
              <a:t>Enterprise apps with steady usage</a:t>
            </a:r>
          </a:p>
          <a:p>
            <a:pPr marL="285750" indent="-285750">
              <a:buFont typeface="Wingdings" panose="05000000000000000000" pitchFamily="2" charset="2"/>
              <a:buChar char="ü"/>
            </a:pPr>
            <a:r>
              <a:rPr lang="en-US" dirty="0"/>
              <a:t>Predictable monthly costs for stable workloads</a:t>
            </a:r>
          </a:p>
        </p:txBody>
      </p:sp>
      <p:sp>
        <p:nvSpPr>
          <p:cNvPr id="10" name="Text Placeholder 9">
            <a:extLst>
              <a:ext uri="{FF2B5EF4-FFF2-40B4-BE49-F238E27FC236}">
                <a16:creationId xmlns:a16="http://schemas.microsoft.com/office/drawing/2014/main" id="{2A3C47AE-7B11-9280-2711-9EC6052F653A}"/>
              </a:ext>
            </a:extLst>
          </p:cNvPr>
          <p:cNvSpPr>
            <a:spLocks noGrp="1"/>
          </p:cNvSpPr>
          <p:nvPr>
            <p:ph type="body" sz="quarter" idx="18"/>
          </p:nvPr>
        </p:nvSpPr>
        <p:spPr/>
        <p:txBody>
          <a:bodyPr/>
          <a:lstStyle/>
          <a:p>
            <a:r>
              <a:rPr lang="en-US" dirty="0"/>
              <a:t>Azure Reservation</a:t>
            </a:r>
          </a:p>
        </p:txBody>
      </p:sp>
      <p:sp>
        <p:nvSpPr>
          <p:cNvPr id="3" name="Footer Placeholder 2">
            <a:extLst>
              <a:ext uri="{FF2B5EF4-FFF2-40B4-BE49-F238E27FC236}">
                <a16:creationId xmlns:a16="http://schemas.microsoft.com/office/drawing/2014/main" id="{4590CFBD-B0C1-ABD3-C9B8-38DFBC60FEAC}"/>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6069AFEC-D155-D963-9798-D0401E84E351}"/>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Title 4">
            <a:extLst>
              <a:ext uri="{FF2B5EF4-FFF2-40B4-BE49-F238E27FC236}">
                <a16:creationId xmlns:a16="http://schemas.microsoft.com/office/drawing/2014/main" id="{3E6AB99A-5076-9D53-1937-B66AE923B466}"/>
              </a:ext>
            </a:extLst>
          </p:cNvPr>
          <p:cNvSpPr>
            <a:spLocks noGrp="1"/>
          </p:cNvSpPr>
          <p:nvPr>
            <p:ph type="title"/>
          </p:nvPr>
        </p:nvSpPr>
        <p:spPr>
          <a:xfrm>
            <a:off x="575481" y="2141575"/>
            <a:ext cx="3463119" cy="1846659"/>
          </a:xfrm>
        </p:spPr>
        <p:txBody>
          <a:bodyPr/>
          <a:lstStyle/>
          <a:p>
            <a:r>
              <a:rPr lang="en-US" dirty="0"/>
              <a:t>Saving with Microsoft Foundry</a:t>
            </a:r>
          </a:p>
        </p:txBody>
      </p:sp>
      <p:sp>
        <p:nvSpPr>
          <p:cNvPr id="6" name="Text Placeholder 5">
            <a:extLst>
              <a:ext uri="{FF2B5EF4-FFF2-40B4-BE49-F238E27FC236}">
                <a16:creationId xmlns:a16="http://schemas.microsoft.com/office/drawing/2014/main" id="{3E2F3239-2973-8222-A5F1-FD1CD147053C}"/>
              </a:ext>
            </a:extLst>
          </p:cNvPr>
          <p:cNvSpPr>
            <a:spLocks noGrp="1"/>
          </p:cNvSpPr>
          <p:nvPr>
            <p:ph type="body" sz="quarter" idx="12"/>
          </p:nvPr>
        </p:nvSpPr>
        <p:spPr/>
        <p:txBody>
          <a:bodyPr/>
          <a:lstStyle/>
          <a:p>
            <a:r>
              <a:rPr lang="en-US" dirty="0"/>
              <a:t>PTU</a:t>
            </a:r>
          </a:p>
        </p:txBody>
      </p:sp>
    </p:spTree>
    <p:extLst>
      <p:ext uri="{BB962C8B-B14F-4D97-AF65-F5344CB8AC3E}">
        <p14:creationId xmlns:p14="http://schemas.microsoft.com/office/powerpoint/2010/main" val="227731741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19A8D-2E1D-7B5C-48A9-903697677162}"/>
              </a:ext>
            </a:extLst>
          </p:cNvPr>
          <p:cNvSpPr>
            <a:spLocks noGrp="1"/>
          </p:cNvSpPr>
          <p:nvPr>
            <p:ph type="title"/>
          </p:nvPr>
        </p:nvSpPr>
        <p:spPr/>
        <p:txBody>
          <a:bodyPr/>
          <a:lstStyle/>
          <a:p>
            <a:r>
              <a:rPr lang="en-US" dirty="0"/>
              <a:t>Saving Cost with Azure Reservations*</a:t>
            </a:r>
          </a:p>
        </p:txBody>
      </p:sp>
      <p:sp>
        <p:nvSpPr>
          <p:cNvPr id="3" name="Footer Placeholder 2">
            <a:extLst>
              <a:ext uri="{FF2B5EF4-FFF2-40B4-BE49-F238E27FC236}">
                <a16:creationId xmlns:a16="http://schemas.microsoft.com/office/drawing/2014/main" id="{B5A91BE4-A075-BBDB-A9E6-CC96CF6DA1D1}"/>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F561A264-1CC9-F883-ABC0-8E4CC7A6A30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TextBox 20">
            <a:extLst>
              <a:ext uri="{FF2B5EF4-FFF2-40B4-BE49-F238E27FC236}">
                <a16:creationId xmlns:a16="http://schemas.microsoft.com/office/drawing/2014/main" id="{CBA7251A-F47D-EDEA-044E-3860288E8E2E}"/>
              </a:ext>
            </a:extLst>
          </p:cNvPr>
          <p:cNvSpPr txBox="1"/>
          <p:nvPr/>
        </p:nvSpPr>
        <p:spPr>
          <a:xfrm>
            <a:off x="584306" y="5390327"/>
            <a:ext cx="10478993" cy="492443"/>
          </a:xfrm>
          <a:prstGeom prst="rect">
            <a:avLst/>
          </a:prstGeom>
          <a:noFill/>
        </p:spPr>
        <p:txBody>
          <a:bodyPr wrap="square" lIns="0" tIns="0" rIns="0" bIns="0" anchor="t">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400" fontAlgn="ctr">
              <a:defRPr/>
            </a:pPr>
            <a:r>
              <a:rPr kumimoji="0" lang="en-US" sz="1600" b="0" i="0" u="none" strike="noStrike" kern="1200" cap="none" spc="0" normalizeH="0" baseline="0" noProof="0" dirty="0">
                <a:ln>
                  <a:noFill/>
                </a:ln>
                <a:effectLst/>
                <a:uLnTx/>
                <a:uFillTx/>
                <a:latin typeface="Segoe Sans Text"/>
                <a:ea typeface="+mn-ea"/>
                <a:cs typeface="+mn-cs"/>
              </a:rPr>
              <a:t xml:space="preserve">* </a:t>
            </a:r>
            <a:r>
              <a:rPr lang="en-US" sz="1600" dirty="0">
                <a:latin typeface="Segoe Sans Text"/>
              </a:rPr>
              <a:t>Note: This pricing is only valid through 8.31.2025</a:t>
            </a:r>
          </a:p>
          <a:p>
            <a:pPr defTabSz="914400" fontAlgn="ctr">
              <a:defRPr/>
            </a:pPr>
            <a:r>
              <a:rPr lang="en-US" sz="1600" b="0" i="0" u="none" strike="noStrike" kern="1200" cap="none" spc="0" normalizeH="0" baseline="0" noProof="0" dirty="0">
                <a:ln>
                  <a:noFill/>
                </a:ln>
                <a:effectLst/>
                <a:uLnTx/>
                <a:uFillTx/>
                <a:latin typeface="Segoe Sans Text"/>
                <a:cs typeface="Segoe Sans Text"/>
              </a:rPr>
              <a:t>** US</a:t>
            </a:r>
            <a:r>
              <a:rPr lang="en-US" sz="1600" dirty="0">
                <a:latin typeface="Segoe Sans Text"/>
                <a:cs typeface="Segoe Sans Text"/>
              </a:rPr>
              <a:t>A and EU data zones</a:t>
            </a:r>
            <a:endParaRPr lang="en-US" sz="1600" b="0" i="0" u="none" strike="noStrike" kern="1200" cap="none" spc="0" normalizeH="0" baseline="0" noProof="0" dirty="0">
              <a:ln>
                <a:noFill/>
              </a:ln>
              <a:effectLst/>
              <a:uLnTx/>
              <a:uFillTx/>
              <a:latin typeface="Segoe Sans Text"/>
              <a:cs typeface="Segoe Sans Text"/>
            </a:endParaRPr>
          </a:p>
        </p:txBody>
      </p:sp>
      <p:graphicFrame>
        <p:nvGraphicFramePr>
          <p:cNvPr id="9" name="Table 8">
            <a:extLst>
              <a:ext uri="{FF2B5EF4-FFF2-40B4-BE49-F238E27FC236}">
                <a16:creationId xmlns:a16="http://schemas.microsoft.com/office/drawing/2014/main" id="{3642AB15-0CF5-AC10-945B-2191273B42DA}"/>
              </a:ext>
            </a:extLst>
          </p:cNvPr>
          <p:cNvGraphicFramePr>
            <a:graphicFrameLocks noGrp="1"/>
          </p:cNvGraphicFramePr>
          <p:nvPr>
            <p:extLst>
              <p:ext uri="{D42A27DB-BD31-4B8C-83A1-F6EECF244321}">
                <p14:modId xmlns:p14="http://schemas.microsoft.com/office/powerpoint/2010/main" val="536242176"/>
              </p:ext>
            </p:extLst>
          </p:nvPr>
        </p:nvGraphicFramePr>
        <p:xfrm>
          <a:off x="731002" y="2099122"/>
          <a:ext cx="10743603" cy="2839720"/>
        </p:xfrm>
        <a:graphic>
          <a:graphicData uri="http://schemas.openxmlformats.org/drawingml/2006/table">
            <a:tbl>
              <a:tblPr firstRow="1" bandRow="1">
                <a:tableStyleId>{5C22544A-7EE6-4342-B048-85BDC9FD1C3A}</a:tableStyleId>
              </a:tblPr>
              <a:tblGrid>
                <a:gridCol w="3062662">
                  <a:extLst>
                    <a:ext uri="{9D8B030D-6E8A-4147-A177-3AD203B41FA5}">
                      <a16:colId xmlns:a16="http://schemas.microsoft.com/office/drawing/2014/main" val="2544942841"/>
                    </a:ext>
                  </a:extLst>
                </a:gridCol>
                <a:gridCol w="2225540">
                  <a:extLst>
                    <a:ext uri="{9D8B030D-6E8A-4147-A177-3AD203B41FA5}">
                      <a16:colId xmlns:a16="http://schemas.microsoft.com/office/drawing/2014/main" val="1995457432"/>
                    </a:ext>
                  </a:extLst>
                </a:gridCol>
                <a:gridCol w="2874646">
                  <a:extLst>
                    <a:ext uri="{9D8B030D-6E8A-4147-A177-3AD203B41FA5}">
                      <a16:colId xmlns:a16="http://schemas.microsoft.com/office/drawing/2014/main" val="1025831443"/>
                    </a:ext>
                  </a:extLst>
                </a:gridCol>
                <a:gridCol w="2580755">
                  <a:extLst>
                    <a:ext uri="{9D8B030D-6E8A-4147-A177-3AD203B41FA5}">
                      <a16:colId xmlns:a16="http://schemas.microsoft.com/office/drawing/2014/main" val="3609668062"/>
                    </a:ext>
                  </a:extLst>
                </a:gridCol>
              </a:tblGrid>
              <a:tr h="370840">
                <a:tc>
                  <a:txBody>
                    <a:bodyPr/>
                    <a:lstStyle/>
                    <a:p>
                      <a:r>
                        <a:rPr lang="en-US" sz="2000" dirty="0">
                          <a:latin typeface="+mj-lt"/>
                        </a:rPr>
                        <a:t>Zone</a:t>
                      </a:r>
                    </a:p>
                  </a:txBody>
                  <a:tcPr>
                    <a:solidFill>
                      <a:schemeClr val="tx2"/>
                    </a:solidFill>
                  </a:tcPr>
                </a:tc>
                <a:tc>
                  <a:txBody>
                    <a:bodyPr/>
                    <a:lstStyle/>
                    <a:p>
                      <a:r>
                        <a:rPr lang="en-US" sz="2000" dirty="0">
                          <a:latin typeface="+mj-lt"/>
                        </a:rPr>
                        <a:t>Hourly PTU</a:t>
                      </a:r>
                    </a:p>
                  </a:txBody>
                  <a:tcPr>
                    <a:solidFill>
                      <a:schemeClr val="tx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000" dirty="0">
                          <a:effectLst/>
                          <a:latin typeface="+mj-lt"/>
                        </a:rPr>
                        <a:t>One Month Reservation Per Month</a:t>
                      </a:r>
                      <a:endParaRPr lang="en-US" sz="2000" dirty="0">
                        <a:latin typeface="+mj-lt"/>
                      </a:endParaRPr>
                    </a:p>
                  </a:txBody>
                  <a:tcPr>
                    <a:solidFill>
                      <a:schemeClr val="tx2"/>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2000" dirty="0">
                          <a:effectLst/>
                          <a:latin typeface="+mj-lt"/>
                        </a:rPr>
                        <a:t>One Year Reservation Per Month</a:t>
                      </a:r>
                    </a:p>
                    <a:p>
                      <a:endParaRPr lang="en-US" sz="2000" dirty="0">
                        <a:latin typeface="+mj-lt"/>
                      </a:endParaRPr>
                    </a:p>
                  </a:txBody>
                  <a:tcPr>
                    <a:solidFill>
                      <a:schemeClr val="tx2"/>
                    </a:solidFill>
                  </a:tcPr>
                </a:tc>
                <a:extLst>
                  <a:ext uri="{0D108BD9-81ED-4DB2-BD59-A6C34878D82A}">
                    <a16:rowId xmlns:a16="http://schemas.microsoft.com/office/drawing/2014/main" val="427166034"/>
                  </a:ext>
                </a:extLst>
              </a:tr>
              <a:tr h="370840">
                <a:tc>
                  <a:txBody>
                    <a:bodyPr/>
                    <a:lstStyle/>
                    <a:p>
                      <a:r>
                        <a:rPr lang="en-US" sz="1600" dirty="0">
                          <a:latin typeface="+mj-lt"/>
                        </a:rPr>
                        <a:t>Global</a:t>
                      </a: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dirty="0">
                          <a:effectLst/>
                          <a:latin typeface="+mj-lt"/>
                        </a:rPr>
                        <a:t>$1.00</a:t>
                      </a:r>
                    </a:p>
                    <a:p>
                      <a:endParaRPr lang="en-US" sz="1600" dirty="0">
                        <a:latin typeface="+mj-lt"/>
                      </a:endParaRPr>
                    </a:p>
                  </a:txBody>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dirty="0">
                          <a:effectLst/>
                          <a:latin typeface="+mj-lt"/>
                        </a:rPr>
                        <a:t>$260</a:t>
                      </a:r>
                    </a:p>
                    <a:p>
                      <a:endParaRPr lang="en-US" sz="1600" dirty="0">
                        <a:latin typeface="+mj-lt"/>
                      </a:endParaRPr>
                    </a:p>
                  </a:txBody>
                  <a:tcPr/>
                </a:tc>
                <a:tc>
                  <a:txBody>
                    <a:bodyPr/>
                    <a:lstStyle/>
                    <a:p>
                      <a:r>
                        <a:rPr lang="en-US" sz="1600" dirty="0">
                          <a:effectLst/>
                          <a:latin typeface="+mj-lt"/>
                        </a:rPr>
                        <a:t>$221</a:t>
                      </a:r>
                      <a:endParaRPr lang="en-US" sz="1600" dirty="0">
                        <a:latin typeface="+mj-lt"/>
                      </a:endParaRPr>
                    </a:p>
                  </a:txBody>
                  <a:tcPr/>
                </a:tc>
                <a:extLst>
                  <a:ext uri="{0D108BD9-81ED-4DB2-BD59-A6C34878D82A}">
                    <a16:rowId xmlns:a16="http://schemas.microsoft.com/office/drawing/2014/main" val="1563916535"/>
                  </a:ext>
                </a:extLst>
              </a:tr>
              <a:tr h="37084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600" dirty="0">
                          <a:effectLst/>
                          <a:latin typeface="+mj-lt"/>
                        </a:rPr>
                        <a:t>Data Zone**</a:t>
                      </a:r>
                    </a:p>
                    <a:p>
                      <a:endParaRPr lang="en-US" sz="1600" dirty="0">
                        <a:latin typeface="+mj-lt"/>
                      </a:endParaRPr>
                    </a:p>
                  </a:txBody>
                  <a:tcPr/>
                </a:tc>
                <a:tc>
                  <a:txBody>
                    <a:bodyPr/>
                    <a:lstStyle/>
                    <a:p>
                      <a:r>
                        <a:rPr lang="en-US" sz="1600" dirty="0">
                          <a:latin typeface="+mj-lt"/>
                        </a:rPr>
                        <a:t>$1.10</a:t>
                      </a:r>
                    </a:p>
                  </a:txBody>
                  <a:tcPr/>
                </a:tc>
                <a:tc>
                  <a:txBody>
                    <a:bodyPr/>
                    <a:lstStyle/>
                    <a:p>
                      <a:r>
                        <a:rPr lang="en-US" sz="1600" dirty="0">
                          <a:latin typeface="+mj-lt"/>
                        </a:rPr>
                        <a:t>$260</a:t>
                      </a:r>
                    </a:p>
                  </a:txBody>
                  <a:tcPr/>
                </a:tc>
                <a:tc>
                  <a:txBody>
                    <a:bodyPr/>
                    <a:lstStyle/>
                    <a:p>
                      <a:r>
                        <a:rPr lang="en-US" sz="1600" dirty="0">
                          <a:latin typeface="+mj-lt"/>
                        </a:rPr>
                        <a:t>$221</a:t>
                      </a:r>
                    </a:p>
                  </a:txBody>
                  <a:tcPr/>
                </a:tc>
                <a:extLst>
                  <a:ext uri="{0D108BD9-81ED-4DB2-BD59-A6C34878D82A}">
                    <a16:rowId xmlns:a16="http://schemas.microsoft.com/office/drawing/2014/main" val="3588365914"/>
                  </a:ext>
                </a:extLst>
              </a:tr>
              <a:tr h="370840">
                <a:tc>
                  <a:txBody>
                    <a:bodyPr/>
                    <a:lstStyle/>
                    <a:p>
                      <a:r>
                        <a:rPr lang="en-US" sz="1600" dirty="0">
                          <a:latin typeface="+mj-lt"/>
                        </a:rPr>
                        <a:t>Regional</a:t>
                      </a:r>
                    </a:p>
                  </a:txBody>
                  <a:tcPr/>
                </a:tc>
                <a:tc>
                  <a:txBody>
                    <a:bodyPr/>
                    <a:lstStyle/>
                    <a:p>
                      <a:r>
                        <a:rPr lang="en-US" sz="1600" dirty="0">
                          <a:latin typeface="+mj-lt"/>
                        </a:rPr>
                        <a:t>$2.00</a:t>
                      </a:r>
                    </a:p>
                  </a:txBody>
                  <a:tcPr/>
                </a:tc>
                <a:tc>
                  <a:txBody>
                    <a:bodyPr/>
                    <a:lstStyle/>
                    <a:p>
                      <a:r>
                        <a:rPr lang="en-US" sz="1600" dirty="0">
                          <a:latin typeface="+mj-lt"/>
                        </a:rPr>
                        <a:t>$260</a:t>
                      </a:r>
                    </a:p>
                  </a:txBody>
                  <a:tcPr/>
                </a:tc>
                <a:tc>
                  <a:txBody>
                    <a:bodyPr/>
                    <a:lstStyle/>
                    <a:p>
                      <a:r>
                        <a:rPr lang="en-US" sz="1600" dirty="0">
                          <a:latin typeface="+mj-lt"/>
                        </a:rPr>
                        <a:t>$221</a:t>
                      </a:r>
                    </a:p>
                  </a:txBody>
                  <a:tcPr/>
                </a:tc>
                <a:extLst>
                  <a:ext uri="{0D108BD9-81ED-4DB2-BD59-A6C34878D82A}">
                    <a16:rowId xmlns:a16="http://schemas.microsoft.com/office/drawing/2014/main" val="601101722"/>
                  </a:ext>
                </a:extLst>
              </a:tr>
            </a:tbl>
          </a:graphicData>
        </a:graphic>
      </p:graphicFrame>
    </p:spTree>
    <p:extLst>
      <p:ext uri="{BB962C8B-B14F-4D97-AF65-F5344CB8AC3E}">
        <p14:creationId xmlns:p14="http://schemas.microsoft.com/office/powerpoint/2010/main" val="256334352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22E1-4459-ACB9-F3B8-711FAF244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211E1-A438-7CC9-192A-C8EA730C484F}"/>
              </a:ext>
            </a:extLst>
          </p:cNvPr>
          <p:cNvSpPr>
            <a:spLocks noGrp="1"/>
          </p:cNvSpPr>
          <p:nvPr>
            <p:ph type="title"/>
          </p:nvPr>
        </p:nvSpPr>
        <p:spPr/>
        <p:txBody>
          <a:bodyPr/>
          <a:lstStyle/>
          <a:p>
            <a:r>
              <a:rPr lang="en-US" dirty="0">
                <a:ln>
                  <a:noFill/>
                </a:ln>
                <a:cs typeface="Segoe UI Semibold"/>
              </a:rPr>
              <a:t>Model Independent Quota</a:t>
            </a:r>
            <a:endParaRPr lang="en-US" dirty="0"/>
          </a:p>
        </p:txBody>
      </p:sp>
      <p:sp>
        <p:nvSpPr>
          <p:cNvPr id="3" name="Rectangle: Rounded Corners 2">
            <a:extLst>
              <a:ext uri="{FF2B5EF4-FFF2-40B4-BE49-F238E27FC236}">
                <a16:creationId xmlns:a16="http://schemas.microsoft.com/office/drawing/2014/main" id="{70A3C6ED-8B8D-A9B6-6A48-A9498AFE9743}"/>
              </a:ext>
              <a:ext uri="{C183D7F6-B498-43B3-948B-1728B52AA6E4}">
                <adec:decorative xmlns:adec="http://schemas.microsoft.com/office/drawing/2017/decorative" val="1"/>
              </a:ext>
            </a:extLst>
          </p:cNvPr>
          <p:cNvSpPr/>
          <p:nvPr/>
        </p:nvSpPr>
        <p:spPr>
          <a:xfrm>
            <a:off x="1103186" y="2510941"/>
            <a:ext cx="4114800" cy="271271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638D9550-08FB-4B55-AF64-58DABBA1418F}"/>
              </a:ext>
            </a:extLst>
          </p:cNvPr>
          <p:cNvSpPr txBox="1"/>
          <p:nvPr/>
        </p:nvSpPr>
        <p:spPr>
          <a:xfrm>
            <a:off x="1176707" y="2669770"/>
            <a:ext cx="3795662" cy="2553891"/>
          </a:xfrm>
          <a:prstGeom prst="roundRect">
            <a:avLst/>
          </a:prstGeom>
          <a:ln>
            <a:noFill/>
          </a:ln>
        </p:spPr>
        <p:style>
          <a:lnRef idx="2">
            <a:schemeClr val="accent5"/>
          </a:lnRef>
          <a:fillRef idx="1">
            <a:schemeClr val="lt1"/>
          </a:fillRef>
          <a:effectRef idx="0">
            <a:schemeClr val="accent5"/>
          </a:effectRef>
          <a:fontRef idx="minor">
            <a:schemeClr val="dk1"/>
          </a:fontRef>
        </p:style>
        <p:txBody>
          <a:bodyPr wrap="square" lIns="91440" tIns="45720" rIns="91440" bIns="45720" anchor="t">
            <a:spAutoFit/>
          </a:bodyPr>
          <a:lstStyle/>
          <a:p>
            <a:pPr lvl="0" algn="ctr">
              <a:defRPr/>
            </a:pPr>
            <a:r>
              <a:rPr lang="en-US" dirty="0"/>
              <a:t xml:space="preserve">Unlike the Tokens Per Minute (TPM) quota used by other Microsoft Foundry offerings, PTUs are model-independent. </a:t>
            </a:r>
          </a:p>
          <a:p>
            <a:pPr lvl="0" algn="ctr">
              <a:defRPr/>
            </a:pPr>
            <a:r>
              <a:rPr lang="en-US" dirty="0"/>
              <a:t>The PTUs might be used to deploy any supported models hosted and sold directly by Microsoft in the region.</a:t>
            </a:r>
            <a:endParaRPr kumimoji="0" lang="en-US" sz="1800" b="0" i="0" u="none" strike="noStrike" kern="1200" cap="none" spc="0" normalizeH="0" baseline="0" noProof="0" dirty="0">
              <a:ln>
                <a:noFill/>
              </a:ln>
              <a:solidFill>
                <a:srgbClr val="111111"/>
              </a:solidFill>
              <a:effectLst/>
              <a:uLnTx/>
              <a:uFillTx/>
              <a:latin typeface="Aptos" panose="02110004020202020204"/>
              <a:ea typeface="+mn-lt"/>
              <a:cs typeface="+mn-lt"/>
            </a:endParaRPr>
          </a:p>
        </p:txBody>
      </p:sp>
      <p:pic>
        <p:nvPicPr>
          <p:cNvPr id="2050" name="Picture 2" descr="Diagram of model independent quota with one pool of PTUs available to multiple Azure OpenAI models.">
            <a:extLst>
              <a:ext uri="{FF2B5EF4-FFF2-40B4-BE49-F238E27FC236}">
                <a16:creationId xmlns:a16="http://schemas.microsoft.com/office/drawing/2014/main" id="{CD8B1E80-DDA9-294D-4DC5-6332E796E5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2642" y="2396791"/>
            <a:ext cx="6474844" cy="2941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09522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36CD4-82CB-9231-E32D-930E65249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554D5-AED6-77B7-9DA1-A129609EDA86}"/>
              </a:ext>
            </a:extLst>
          </p:cNvPr>
          <p:cNvSpPr>
            <a:spLocks noGrp="1"/>
          </p:cNvSpPr>
          <p:nvPr>
            <p:ph type="title"/>
          </p:nvPr>
        </p:nvSpPr>
        <p:spPr/>
        <p:txBody>
          <a:bodyPr/>
          <a:lstStyle/>
          <a:p>
            <a:r>
              <a:rPr lang="en-US" dirty="0">
                <a:ln>
                  <a:noFill/>
                </a:ln>
                <a:cs typeface="Segoe UI Semibold"/>
              </a:rPr>
              <a:t>Monitor and track your Quota usage</a:t>
            </a:r>
            <a:endParaRPr lang="en-US" dirty="0"/>
          </a:p>
        </p:txBody>
      </p:sp>
      <p:sp>
        <p:nvSpPr>
          <p:cNvPr id="3" name="Rectangle: Rounded Corners 2">
            <a:extLst>
              <a:ext uri="{FF2B5EF4-FFF2-40B4-BE49-F238E27FC236}">
                <a16:creationId xmlns:a16="http://schemas.microsoft.com/office/drawing/2014/main" id="{455FA032-F65C-C0AF-7026-650349D18D9D}"/>
              </a:ext>
              <a:ext uri="{C183D7F6-B498-43B3-948B-1728B52AA6E4}">
                <adec:decorative xmlns:adec="http://schemas.microsoft.com/office/drawing/2017/decorative" val="1"/>
              </a:ext>
            </a:extLst>
          </p:cNvPr>
          <p:cNvSpPr/>
          <p:nvPr/>
        </p:nvSpPr>
        <p:spPr>
          <a:xfrm>
            <a:off x="1103186" y="2510941"/>
            <a:ext cx="4114800" cy="271271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EA08233F-D3BB-A5D9-5A4D-DFE0614880CF}"/>
              </a:ext>
            </a:extLst>
          </p:cNvPr>
          <p:cNvSpPr txBox="1"/>
          <p:nvPr/>
        </p:nvSpPr>
        <p:spPr>
          <a:xfrm>
            <a:off x="1176707" y="2669770"/>
            <a:ext cx="3795662" cy="2247424"/>
          </a:xfrm>
          <a:prstGeom prst="roundRect">
            <a:avLst/>
          </a:prstGeom>
          <a:ln>
            <a:noFill/>
          </a:ln>
        </p:spPr>
        <p:style>
          <a:lnRef idx="2">
            <a:schemeClr val="accent5"/>
          </a:lnRef>
          <a:fillRef idx="1">
            <a:schemeClr val="lt1"/>
          </a:fillRef>
          <a:effectRef idx="0">
            <a:schemeClr val="accent5"/>
          </a:effectRef>
          <a:fontRef idx="minor">
            <a:schemeClr val="dk1"/>
          </a:fontRef>
        </p:style>
        <p:txBody>
          <a:bodyPr wrap="square" lIns="91440" tIns="45720" rIns="91440" bIns="45720" anchor="t">
            <a:spAutoFit/>
          </a:bodyPr>
          <a:lstStyle/>
          <a:p>
            <a:pPr lvl="0" algn="ctr">
              <a:defRPr/>
            </a:pPr>
            <a:r>
              <a:rPr lang="en-US" dirty="0"/>
              <a:t xml:space="preserve">Quota for provisioned deployments shows up in Microsoft Foundry as the following deployment types: </a:t>
            </a:r>
          </a:p>
          <a:p>
            <a:pPr lvl="0" algn="ctr">
              <a:defRPr/>
            </a:pPr>
            <a:r>
              <a:rPr lang="en-US" dirty="0"/>
              <a:t xml:space="preserve">1) Global Provisioned, </a:t>
            </a:r>
          </a:p>
          <a:p>
            <a:pPr lvl="0" algn="ctr">
              <a:defRPr/>
            </a:pPr>
            <a:r>
              <a:rPr lang="en-US" dirty="0"/>
              <a:t xml:space="preserve">2) Data Zone Provisioned and </a:t>
            </a:r>
          </a:p>
          <a:p>
            <a:pPr lvl="0" algn="ctr">
              <a:defRPr/>
            </a:pPr>
            <a:r>
              <a:rPr lang="en-US" dirty="0"/>
              <a:t>3) Regional Provisioned.</a:t>
            </a:r>
            <a:endParaRPr kumimoji="0" lang="en-US" sz="1800" b="0" i="0" u="none" strike="noStrike" kern="1200" cap="none" spc="0" normalizeH="0" baseline="0" noProof="0" dirty="0">
              <a:ln>
                <a:noFill/>
              </a:ln>
              <a:solidFill>
                <a:srgbClr val="111111"/>
              </a:solidFill>
              <a:effectLst/>
              <a:uLnTx/>
              <a:uFillTx/>
              <a:latin typeface="Aptos" panose="02110004020202020204"/>
              <a:ea typeface="+mn-lt"/>
              <a:cs typeface="+mn-lt"/>
            </a:endParaRPr>
          </a:p>
        </p:txBody>
      </p:sp>
      <p:pic>
        <p:nvPicPr>
          <p:cNvPr id="3074" name="Picture 2" descr="Screenshot of quota UI for Azure AI Foundry provisioned.">
            <a:extLst>
              <a:ext uri="{FF2B5EF4-FFF2-40B4-BE49-F238E27FC236}">
                <a16:creationId xmlns:a16="http://schemas.microsoft.com/office/drawing/2014/main" id="{7675C5E8-C1DF-C773-1360-CBC8EB381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0734" y="2510941"/>
            <a:ext cx="6641266" cy="358957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3C966A19-1FF6-4880-05C6-39E383C60A86}"/>
              </a:ext>
            </a:extLst>
          </p:cNvPr>
          <p:cNvSpPr/>
          <p:nvPr/>
        </p:nvSpPr>
        <p:spPr bwMode="auto">
          <a:xfrm>
            <a:off x="6797971" y="4472994"/>
            <a:ext cx="1632352" cy="199367"/>
          </a:xfrm>
          <a:prstGeom prst="rect">
            <a:avLst/>
          </a:prstGeom>
          <a:noFill/>
          <a:ln w="19050" cap="flat" cmpd="sng" algn="ctr">
            <a:solidFill>
              <a:srgbClr val="D83B0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6" name="Rectangle 5">
            <a:extLst>
              <a:ext uri="{FF2B5EF4-FFF2-40B4-BE49-F238E27FC236}">
                <a16:creationId xmlns:a16="http://schemas.microsoft.com/office/drawing/2014/main" id="{50C62368-4376-BC63-30E3-160525C5D07E}"/>
              </a:ext>
            </a:extLst>
          </p:cNvPr>
          <p:cNvSpPr/>
          <p:nvPr/>
        </p:nvSpPr>
        <p:spPr bwMode="auto">
          <a:xfrm>
            <a:off x="10199117" y="4472994"/>
            <a:ext cx="1632352" cy="199367"/>
          </a:xfrm>
          <a:prstGeom prst="rect">
            <a:avLst/>
          </a:prstGeom>
          <a:noFill/>
          <a:ln w="19050" cap="flat" cmpd="sng" algn="ctr">
            <a:solidFill>
              <a:srgbClr val="D83B0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7" name="Rectangle 6">
            <a:extLst>
              <a:ext uri="{FF2B5EF4-FFF2-40B4-BE49-F238E27FC236}">
                <a16:creationId xmlns:a16="http://schemas.microsoft.com/office/drawing/2014/main" id="{A251826A-CC3D-E9AF-0C62-104D85EAEA9F}"/>
              </a:ext>
            </a:extLst>
          </p:cNvPr>
          <p:cNvSpPr/>
          <p:nvPr/>
        </p:nvSpPr>
        <p:spPr bwMode="auto">
          <a:xfrm>
            <a:off x="8498544" y="4472994"/>
            <a:ext cx="1632352" cy="199367"/>
          </a:xfrm>
          <a:prstGeom prst="rect">
            <a:avLst/>
          </a:prstGeom>
          <a:noFill/>
          <a:ln w="19050" cap="flat" cmpd="sng" algn="ctr">
            <a:solidFill>
              <a:srgbClr val="D83B0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19104820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A0CEB-6980-86FE-8FDF-A9680463B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5A9B2-7136-5BC1-1A57-548567B69E50}"/>
              </a:ext>
            </a:extLst>
          </p:cNvPr>
          <p:cNvSpPr>
            <a:spLocks noGrp="1"/>
          </p:cNvSpPr>
          <p:nvPr>
            <p:ph type="title"/>
          </p:nvPr>
        </p:nvSpPr>
        <p:spPr/>
        <p:txBody>
          <a:bodyPr/>
          <a:lstStyle/>
          <a:p>
            <a:r>
              <a:rPr lang="en-US" dirty="0">
                <a:ln>
                  <a:noFill/>
                </a:ln>
                <a:cs typeface="Segoe UI Semibold"/>
              </a:rPr>
              <a:t>Hourly usage</a:t>
            </a:r>
            <a:endParaRPr lang="en-US" dirty="0"/>
          </a:p>
        </p:txBody>
      </p:sp>
      <p:sp>
        <p:nvSpPr>
          <p:cNvPr id="3" name="Rectangle: Rounded Corners 2">
            <a:extLst>
              <a:ext uri="{FF2B5EF4-FFF2-40B4-BE49-F238E27FC236}">
                <a16:creationId xmlns:a16="http://schemas.microsoft.com/office/drawing/2014/main" id="{2DB46F6F-8131-C286-C67B-5838D192284A}"/>
              </a:ext>
              <a:ext uri="{C183D7F6-B498-43B3-948B-1728B52AA6E4}">
                <adec:decorative xmlns:adec="http://schemas.microsoft.com/office/drawing/2017/decorative" val="1"/>
              </a:ext>
            </a:extLst>
          </p:cNvPr>
          <p:cNvSpPr/>
          <p:nvPr/>
        </p:nvSpPr>
        <p:spPr>
          <a:xfrm>
            <a:off x="390293" y="2510941"/>
            <a:ext cx="4827693" cy="271271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7734F757-9D96-B918-E6F3-E0B81D2BFBB5}"/>
              </a:ext>
            </a:extLst>
          </p:cNvPr>
          <p:cNvSpPr txBox="1"/>
          <p:nvPr/>
        </p:nvSpPr>
        <p:spPr>
          <a:xfrm>
            <a:off x="575481" y="2669770"/>
            <a:ext cx="4396888" cy="1634490"/>
          </a:xfrm>
          <a:prstGeom prst="roundRect">
            <a:avLst/>
          </a:prstGeom>
          <a:ln>
            <a:noFill/>
          </a:ln>
        </p:spPr>
        <p:style>
          <a:lnRef idx="2">
            <a:schemeClr val="accent5"/>
          </a:lnRef>
          <a:fillRef idx="1">
            <a:schemeClr val="lt1"/>
          </a:fillRef>
          <a:effectRef idx="0">
            <a:schemeClr val="accent5"/>
          </a:effectRef>
          <a:fontRef idx="minor">
            <a:schemeClr val="dk1"/>
          </a:fontRef>
        </p:style>
        <p:txBody>
          <a:bodyPr wrap="square" lIns="91440" tIns="45720" rIns="91440" bIns="45720" anchor="t">
            <a:spAutoFit/>
          </a:bodyPr>
          <a:lstStyle/>
          <a:p>
            <a:pPr lvl="0" algn="ctr">
              <a:defRPr/>
            </a:pPr>
            <a:r>
              <a:rPr lang="en-US" dirty="0">
                <a:solidFill>
                  <a:srgbClr val="111111"/>
                </a:solidFill>
                <a:ea typeface="+mn-lt"/>
                <a:cs typeface="+mn-lt"/>
              </a:rPr>
              <a:t>Regional Provisioned, Data Zone Provisioned, and Global Provisioned deployments are charged an hourly rate ($/PTU/</a:t>
            </a:r>
            <a:r>
              <a:rPr lang="en-US" dirty="0" err="1">
                <a:solidFill>
                  <a:srgbClr val="111111"/>
                </a:solidFill>
                <a:ea typeface="+mn-lt"/>
                <a:cs typeface="+mn-lt"/>
              </a:rPr>
              <a:t>hr</a:t>
            </a:r>
            <a:r>
              <a:rPr lang="en-US" dirty="0">
                <a:solidFill>
                  <a:srgbClr val="111111"/>
                </a:solidFill>
                <a:ea typeface="+mn-lt"/>
                <a:cs typeface="+mn-lt"/>
              </a:rPr>
              <a:t>) on the number of PTUs that have been deployed. </a:t>
            </a:r>
            <a:endParaRPr kumimoji="0" lang="en-US" sz="1800" b="0" i="0" u="none" strike="noStrike" kern="1200" cap="none" spc="0" normalizeH="0" baseline="0" noProof="0" dirty="0">
              <a:ln>
                <a:noFill/>
              </a:ln>
              <a:solidFill>
                <a:srgbClr val="111111"/>
              </a:solidFill>
              <a:effectLst/>
              <a:uLnTx/>
              <a:uFillTx/>
              <a:ea typeface="+mn-lt"/>
              <a:cs typeface="+mn-lt"/>
            </a:endParaRPr>
          </a:p>
        </p:txBody>
      </p:sp>
      <p:pic>
        <p:nvPicPr>
          <p:cNvPr id="4098" name="Picture 2" descr="A diagram showing hourly billing.">
            <a:extLst>
              <a:ext uri="{FF2B5EF4-FFF2-40B4-BE49-F238E27FC236}">
                <a16:creationId xmlns:a16="http://schemas.microsoft.com/office/drawing/2014/main" id="{2572638B-7584-94CB-A04D-F99B0DEA5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6243" y="2394691"/>
            <a:ext cx="4876614" cy="2945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25077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54805-F2D3-48EF-D261-B2DDD2E6F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0C8FD-F7EC-BA8D-9711-6F72492DBF88}"/>
              </a:ext>
            </a:extLst>
          </p:cNvPr>
          <p:cNvSpPr>
            <a:spLocks noGrp="1"/>
          </p:cNvSpPr>
          <p:nvPr>
            <p:ph type="title"/>
          </p:nvPr>
        </p:nvSpPr>
        <p:spPr>
          <a:xfrm>
            <a:off x="575481" y="599436"/>
            <a:ext cx="11018520" cy="492443"/>
          </a:xfrm>
        </p:spPr>
        <p:txBody>
          <a:bodyPr/>
          <a:lstStyle/>
          <a:p>
            <a:r>
              <a:rPr lang="en-US" sz="3200" dirty="0"/>
              <a:t>PTU Minimum/Increments per model and Deployment type</a:t>
            </a:r>
          </a:p>
        </p:txBody>
      </p:sp>
      <p:sp>
        <p:nvSpPr>
          <p:cNvPr id="3" name="Footer Placeholder 2">
            <a:extLst>
              <a:ext uri="{FF2B5EF4-FFF2-40B4-BE49-F238E27FC236}">
                <a16:creationId xmlns:a16="http://schemas.microsoft.com/office/drawing/2014/main" id="{9700E16B-2BC1-4477-E8E7-820726D9F1E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77A773C3-BDB3-3E3D-2D27-BA7DB348AD2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pic>
        <p:nvPicPr>
          <p:cNvPr id="5" name="table">
            <a:extLst>
              <a:ext uri="{FF2B5EF4-FFF2-40B4-BE49-F238E27FC236}">
                <a16:creationId xmlns:a16="http://schemas.microsoft.com/office/drawing/2014/main" id="{80036AF0-8FA8-5B9D-52C4-1247F883253A}"/>
              </a:ext>
            </a:extLst>
          </p:cNvPr>
          <p:cNvPicPr>
            <a:picLocks noChangeAspect="1"/>
          </p:cNvPicPr>
          <p:nvPr/>
        </p:nvPicPr>
        <p:blipFill>
          <a:blip r:embed="rId3"/>
          <a:stretch>
            <a:fillRect/>
          </a:stretch>
        </p:blipFill>
        <p:spPr>
          <a:xfrm>
            <a:off x="578955" y="1840503"/>
            <a:ext cx="11034090" cy="3176994"/>
          </a:xfrm>
          <a:prstGeom prst="rect">
            <a:avLst/>
          </a:prstGeom>
        </p:spPr>
      </p:pic>
    </p:spTree>
    <p:extLst>
      <p:ext uri="{BB962C8B-B14F-4D97-AF65-F5344CB8AC3E}">
        <p14:creationId xmlns:p14="http://schemas.microsoft.com/office/powerpoint/2010/main" val="116743427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33CF0-15C1-543A-D2D9-09D49EAF7E9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E1C51C1-93FE-ACD4-A0B8-436E67D41993}"/>
              </a:ext>
              <a:ext uri="{C183D7F6-B498-43B3-948B-1728B52AA6E4}">
                <adec:decorative xmlns:adec="http://schemas.microsoft.com/office/drawing/2017/decorative" val="1"/>
              </a:ext>
            </a:extLst>
          </p:cNvPr>
          <p:cNvSpPr>
            <a:spLocks/>
          </p:cNvSpPr>
          <p:nvPr/>
        </p:nvSpPr>
        <p:spPr>
          <a:xfrm>
            <a:off x="572284" y="1751879"/>
            <a:ext cx="11047433" cy="4516757"/>
          </a:xfrm>
          <a:prstGeom prst="rect">
            <a:avLst/>
          </a:prstGeom>
          <a:noFill/>
          <a:ln w="3175">
            <a:solidFill>
              <a:schemeClr val="bg1">
                <a:lumMod val="85000"/>
              </a:schemeClr>
            </a:solidFill>
          </a:ln>
        </p:spPr>
        <p:txBody>
          <a:bodyPr wrap="square" lIns="137141" tIns="767987" rIns="137141" bIns="91427" anchor="t">
            <a:noAutofit/>
          </a:bodyPr>
          <a:lstStyle/>
          <a:p>
            <a:pPr marL="230144" marR="0" lvl="0" indent="-230144" algn="l" defTabSz="914016" rtl="0" eaLnBrk="1" fontAlgn="auto" latinLnBrk="0" hangingPunct="1">
              <a:lnSpc>
                <a:spcPct val="100000"/>
              </a:lnSpc>
              <a:spcBef>
                <a:spcPts val="300"/>
              </a:spcBef>
              <a:spcAft>
                <a:spcPts val="30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endParaRPr>
          </a:p>
        </p:txBody>
      </p:sp>
      <p:sp>
        <p:nvSpPr>
          <p:cNvPr id="2" name="Title 1">
            <a:extLst>
              <a:ext uri="{FF2B5EF4-FFF2-40B4-BE49-F238E27FC236}">
                <a16:creationId xmlns:a16="http://schemas.microsoft.com/office/drawing/2014/main" id="{303FF003-694A-DAF8-01A2-C1C03AA4328C}"/>
              </a:ext>
            </a:extLst>
          </p:cNvPr>
          <p:cNvSpPr>
            <a:spLocks noGrp="1"/>
          </p:cNvSpPr>
          <p:nvPr>
            <p:ph type="title"/>
          </p:nvPr>
        </p:nvSpPr>
        <p:spPr>
          <a:xfrm>
            <a:off x="587521" y="438496"/>
            <a:ext cx="11016957" cy="1157368"/>
          </a:xfrm>
        </p:spPr>
        <p:txBody>
          <a:bodyPr/>
          <a:lstStyle/>
          <a:p>
            <a:r>
              <a:rPr lang="en-US" b="1" dirty="0">
                <a:solidFill>
                  <a:schemeClr val="tx1">
                    <a:lumMod val="85000"/>
                    <a:lumOff val="15000"/>
                  </a:schemeClr>
                </a:solidFill>
              </a:rPr>
              <a:t>Demo:</a:t>
            </a:r>
            <a:br>
              <a:rPr lang="en-US" dirty="0"/>
            </a:br>
            <a:r>
              <a:rPr lang="en-US" sz="3921" dirty="0">
                <a:latin typeface="Segoe UI Semibold" panose="020B0702040204020203" pitchFamily="34" charset="0"/>
                <a:cs typeface="Segoe UI Semibold" panose="020B0702040204020203" pitchFamily="34" charset="0"/>
              </a:rPr>
              <a:t>Estimate PTU using Capacity planner</a:t>
            </a:r>
            <a:endParaRPr lang="en-US" dirty="0"/>
          </a:p>
        </p:txBody>
      </p:sp>
      <p:sp>
        <p:nvSpPr>
          <p:cNvPr id="8" name="Rectangle 7">
            <a:extLst>
              <a:ext uri="{FF2B5EF4-FFF2-40B4-BE49-F238E27FC236}">
                <a16:creationId xmlns:a16="http://schemas.microsoft.com/office/drawing/2014/main" id="{BED8CAD1-73FC-EF9A-22F0-60085BD595FF}"/>
              </a:ext>
            </a:extLst>
          </p:cNvPr>
          <p:cNvSpPr>
            <a:spLocks/>
          </p:cNvSpPr>
          <p:nvPr/>
        </p:nvSpPr>
        <p:spPr>
          <a:xfrm>
            <a:off x="572283" y="1751879"/>
            <a:ext cx="11047433" cy="465055"/>
          </a:xfrm>
          <a:prstGeom prst="rect">
            <a:avLst/>
          </a:prstGeom>
          <a:solidFill>
            <a:schemeClr val="accent2"/>
          </a:solidFill>
        </p:spPr>
        <p:txBody>
          <a:bodyPr wrap="square" lIns="91427" tIns="45713" rIns="91427" bIns="45713" anchor="ctr">
            <a:noAutofit/>
          </a:bodyPr>
          <a:lstStyle/>
          <a:p>
            <a:pPr marL="0" marR="0" lvl="0" indent="0" algn="ctr" defTabSz="914016" rtl="0" eaLnBrk="1" fontAlgn="auto" latinLnBrk="0" hangingPunct="1">
              <a:lnSpc>
                <a:spcPct val="100000"/>
              </a:lnSpc>
              <a:spcBef>
                <a:spcPts val="0"/>
              </a:spcBef>
              <a:spcAft>
                <a:spcPts val="30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Semibold"/>
                <a:ea typeface="+mn-ea"/>
                <a:cs typeface="Segoe UI Semibold"/>
              </a:rPr>
              <a:t>Objectives</a:t>
            </a:r>
          </a:p>
        </p:txBody>
      </p:sp>
      <p:grpSp>
        <p:nvGrpSpPr>
          <p:cNvPr id="9" name="Group 8">
            <a:extLst>
              <a:ext uri="{FF2B5EF4-FFF2-40B4-BE49-F238E27FC236}">
                <a16:creationId xmlns:a16="http://schemas.microsoft.com/office/drawing/2014/main" id="{0E59187E-18F6-2B47-DBEB-F9BEBAFE5C27}"/>
              </a:ext>
              <a:ext uri="{C183D7F6-B498-43B3-948B-1728B52AA6E4}">
                <adec:decorative xmlns:adec="http://schemas.microsoft.com/office/drawing/2017/decorative" val="1"/>
              </a:ext>
            </a:extLst>
          </p:cNvPr>
          <p:cNvGrpSpPr>
            <a:grpSpLocks/>
          </p:cNvGrpSpPr>
          <p:nvPr/>
        </p:nvGrpSpPr>
        <p:grpSpPr>
          <a:xfrm>
            <a:off x="575457" y="1751879"/>
            <a:ext cx="11044260" cy="465055"/>
            <a:chOff x="574675" y="1519848"/>
            <a:chExt cx="7312025" cy="465121"/>
          </a:xfrm>
        </p:grpSpPr>
        <p:cxnSp>
          <p:nvCxnSpPr>
            <p:cNvPr id="12" name="Straight Connector 11">
              <a:extLst>
                <a:ext uri="{FF2B5EF4-FFF2-40B4-BE49-F238E27FC236}">
                  <a16:creationId xmlns:a16="http://schemas.microsoft.com/office/drawing/2014/main" id="{E8ABC3EF-B42E-484B-6600-9311F8AE317D}"/>
                </a:ext>
                <a:ext uri="{C183D7F6-B498-43B3-948B-1728B52AA6E4}">
                  <adec:decorative xmlns:adec="http://schemas.microsoft.com/office/drawing/2017/decorative" val="1"/>
                </a:ext>
              </a:extLst>
            </p:cNvPr>
            <p:cNvCxnSpPr>
              <a:cxnSpLocks/>
            </p:cNvCxnSpPr>
            <p:nvPr/>
          </p:nvCxnSpPr>
          <p:spPr>
            <a:xfrm>
              <a:off x="574675"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8B7AE6-1428-63E8-6C48-9FA9FD9ACE98}"/>
                </a:ext>
                <a:ext uri="{C183D7F6-B498-43B3-948B-1728B52AA6E4}">
                  <adec:decorative xmlns:adec="http://schemas.microsoft.com/office/drawing/2017/decorative" val="1"/>
                </a:ext>
              </a:extLst>
            </p:cNvPr>
            <p:cNvCxnSpPr>
              <a:cxnSpLocks/>
            </p:cNvCxnSpPr>
            <p:nvPr/>
          </p:nvCxnSpPr>
          <p:spPr>
            <a:xfrm>
              <a:off x="7886700" y="1519848"/>
              <a:ext cx="0" cy="465121"/>
            </a:xfrm>
            <a:prstGeom prst="line">
              <a:avLst/>
            </a:prstGeom>
            <a:ln w="28575" cap="rnd">
              <a:solidFill>
                <a:schemeClr val="accent2">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3159C68B-14EF-F7EF-A7EA-B83F4F5F1E71}"/>
              </a:ext>
            </a:extLst>
          </p:cNvPr>
          <p:cNvSpPr txBox="1">
            <a:spLocks/>
          </p:cNvSpPr>
          <p:nvPr/>
        </p:nvSpPr>
        <p:spPr>
          <a:xfrm>
            <a:off x="572284" y="2340028"/>
            <a:ext cx="11047432" cy="3668521"/>
          </a:xfrm>
          <a:prstGeom prst="rect">
            <a:avLst/>
          </a:prstGeom>
        </p:spPr>
        <p:txBody>
          <a:bodyPr wrap="square" lIns="91427" tIns="45713" rIns="91427" bIns="45713">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a:p>
            <a:pPr marL="457112" marR="0" lvl="0" indent="-457112" algn="l" defTabSz="914400" rtl="0" eaLnBrk="1" fontAlgn="auto" latinLnBrk="0" hangingPunct="1">
              <a:lnSpc>
                <a:spcPct val="150000"/>
              </a:lnSpc>
              <a:spcBef>
                <a:spcPts val="0"/>
              </a:spcBef>
              <a:spcAft>
                <a:spcPts val="0"/>
              </a:spcAft>
              <a:buClrTx/>
              <a:buSzTx/>
              <a:buFontTx/>
              <a:buAutoNum type="arabicPeriod"/>
              <a:tabLst/>
              <a:defRPr/>
            </a:pPr>
            <a:r>
              <a:rPr kumimoji="0" lang="en-GB" sz="1600" b="0" i="0" u="none" strike="noStrike" kern="1200" cap="none" spc="0" normalizeH="0" baseline="0" noProof="0" dirty="0">
                <a:ln>
                  <a:noFill/>
                </a:ln>
                <a:solidFill>
                  <a:srgbClr val="000000">
                    <a:lumMod val="85000"/>
                    <a:lumOff val="15000"/>
                  </a:srgbClr>
                </a:solidFill>
                <a:effectLst/>
                <a:uLnTx/>
                <a:uFillTx/>
                <a:latin typeface="Segoe UI"/>
                <a:ea typeface="+mn-ea"/>
                <a:cs typeface="+mn-cs"/>
              </a:rPr>
              <a:t>Select the deployments type</a:t>
            </a:r>
          </a:p>
          <a:p>
            <a:pPr marL="457112" marR="0" lvl="0" indent="-457112" algn="l" defTabSz="914400" rtl="0" eaLnBrk="1" fontAlgn="auto" latinLnBrk="0" hangingPunct="1">
              <a:lnSpc>
                <a:spcPct val="150000"/>
              </a:lnSpc>
              <a:spcBef>
                <a:spcPts val="0"/>
              </a:spcBef>
              <a:spcAft>
                <a:spcPts val="0"/>
              </a:spcAft>
              <a:buClrTx/>
              <a:buSzTx/>
              <a:buFontTx/>
              <a:buAutoNum type="arabicPeriod"/>
              <a:tabLst/>
              <a:defRPr/>
            </a:pPr>
            <a:r>
              <a:rPr lang="en-GB" sz="1600" dirty="0">
                <a:solidFill>
                  <a:srgbClr val="000000">
                    <a:lumMod val="85000"/>
                    <a:lumOff val="15000"/>
                  </a:srgbClr>
                </a:solidFill>
                <a:latin typeface="Segoe UI"/>
              </a:rPr>
              <a:t>Choose the model and version</a:t>
            </a:r>
            <a:endParaRPr kumimoji="0" lang="en-GB" sz="16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a:p>
            <a:pPr marL="457112" lvl="0" indent="-457112">
              <a:lnSpc>
                <a:spcPct val="150000"/>
              </a:lnSpc>
              <a:buFontTx/>
              <a:buAutoNum type="arabicPeriod"/>
            </a:pPr>
            <a:r>
              <a:rPr lang="en-GB" sz="1600" dirty="0">
                <a:solidFill>
                  <a:srgbClr val="000000">
                    <a:lumMod val="85000"/>
                    <a:lumOff val="15000"/>
                  </a:srgbClr>
                </a:solidFill>
              </a:rPr>
              <a:t>Estimate using input and output Tokens Per Minute(TPM)</a:t>
            </a:r>
          </a:p>
          <a:p>
            <a:pPr marL="457112" lvl="0" indent="-457112">
              <a:lnSpc>
                <a:spcPct val="150000"/>
              </a:lnSpc>
              <a:buFontTx/>
              <a:buAutoNum type="arabicPeriod"/>
            </a:pPr>
            <a:r>
              <a:rPr kumimoji="0" lang="en-GB" sz="1600" b="0" i="0" u="none" strike="noStrike" kern="1200" cap="none" spc="0" normalizeH="0" baseline="0" noProof="0" dirty="0">
                <a:ln>
                  <a:noFill/>
                </a:ln>
                <a:solidFill>
                  <a:srgbClr val="000000">
                    <a:lumMod val="85000"/>
                    <a:lumOff val="15000"/>
                  </a:srgbClr>
                </a:solidFill>
                <a:effectLst/>
                <a:uLnTx/>
                <a:uFillTx/>
                <a:latin typeface="Segoe UI"/>
                <a:ea typeface="+mn-ea"/>
                <a:cs typeface="+mn-cs"/>
              </a:rPr>
              <a:t>Estimate using request data</a:t>
            </a:r>
          </a:p>
        </p:txBody>
      </p:sp>
    </p:spTree>
    <p:custDataLst>
      <p:tags r:id="rId1"/>
    </p:custDataLst>
    <p:extLst>
      <p:ext uri="{BB962C8B-B14F-4D97-AF65-F5344CB8AC3E}">
        <p14:creationId xmlns:p14="http://schemas.microsoft.com/office/powerpoint/2010/main" val="49201806"/>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FBFAB-4923-0020-17BF-706B45A7E0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FF273-E2E9-8993-37D1-B4A78E2FE980}"/>
              </a:ext>
            </a:extLst>
          </p:cNvPr>
          <p:cNvSpPr>
            <a:spLocks noGrp="1"/>
          </p:cNvSpPr>
          <p:nvPr>
            <p:ph type="title"/>
          </p:nvPr>
        </p:nvSpPr>
        <p:spPr/>
        <p:txBody>
          <a:bodyPr/>
          <a:lstStyle/>
          <a:p>
            <a:r>
              <a:rPr lang="en-US" dirty="0">
                <a:ln>
                  <a:noFill/>
                </a:ln>
                <a:cs typeface="Segoe UI Semibold"/>
              </a:rPr>
              <a:t>Exchange Reservations - example</a:t>
            </a:r>
            <a:endParaRPr lang="en-US" dirty="0"/>
          </a:p>
        </p:txBody>
      </p:sp>
      <p:sp>
        <p:nvSpPr>
          <p:cNvPr id="3" name="Rectangle: Rounded Corners 2">
            <a:extLst>
              <a:ext uri="{FF2B5EF4-FFF2-40B4-BE49-F238E27FC236}">
                <a16:creationId xmlns:a16="http://schemas.microsoft.com/office/drawing/2014/main" id="{FAFD35E9-00E1-4B79-B3BB-2D4270269E37}"/>
              </a:ext>
              <a:ext uri="{C183D7F6-B498-43B3-948B-1728B52AA6E4}">
                <adec:decorative xmlns:adec="http://schemas.microsoft.com/office/drawing/2017/decorative" val="1"/>
              </a:ext>
            </a:extLst>
          </p:cNvPr>
          <p:cNvSpPr/>
          <p:nvPr/>
        </p:nvSpPr>
        <p:spPr>
          <a:xfrm>
            <a:off x="390292" y="2031445"/>
            <a:ext cx="6278137" cy="4074795"/>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78A34F16-AA9D-F70A-8314-A365939BE347}"/>
              </a:ext>
            </a:extLst>
          </p:cNvPr>
          <p:cNvSpPr txBox="1"/>
          <p:nvPr/>
        </p:nvSpPr>
        <p:spPr>
          <a:xfrm>
            <a:off x="575480" y="2190274"/>
            <a:ext cx="5847622" cy="3915966"/>
          </a:xfrm>
          <a:prstGeom prst="roundRect">
            <a:avLst/>
          </a:prstGeom>
          <a:ln>
            <a:noFill/>
          </a:ln>
        </p:spPr>
        <p:style>
          <a:lnRef idx="2">
            <a:schemeClr val="accent5"/>
          </a:lnRef>
          <a:fillRef idx="1">
            <a:schemeClr val="lt1"/>
          </a:fillRef>
          <a:effectRef idx="0">
            <a:schemeClr val="accent5"/>
          </a:effectRef>
          <a:fontRef idx="minor">
            <a:schemeClr val="dk1"/>
          </a:fontRef>
        </p:style>
        <p:txBody>
          <a:bodyPr wrap="square" lIns="91440" tIns="45720" rIns="91440" bIns="45720" anchor="t">
            <a:spAutoFit/>
          </a:bodyPr>
          <a:lstStyle/>
          <a:p>
            <a:pPr lvl="0">
              <a:defRPr/>
            </a:pPr>
            <a:r>
              <a:rPr lang="en-US" sz="1600" dirty="0">
                <a:solidFill>
                  <a:srgbClr val="111111"/>
                </a:solidFill>
                <a:ea typeface="+mn-lt"/>
                <a:cs typeface="Segoe UI"/>
              </a:rPr>
              <a:t>Example - Exchange 50 Regional provisioned reservations:</a:t>
            </a:r>
          </a:p>
          <a:p>
            <a:pPr lvl="0">
              <a:defRPr/>
            </a:pPr>
            <a:endParaRPr lang="en-US" sz="1600" dirty="0">
              <a:solidFill>
                <a:srgbClr val="111111"/>
              </a:solidFill>
              <a:ea typeface="+mn-lt"/>
              <a:cs typeface="Segoe UI"/>
            </a:endParaRPr>
          </a:p>
          <a:p>
            <a:pPr lvl="0">
              <a:defRPr/>
            </a:pPr>
            <a:r>
              <a:rPr lang="en-US" sz="1600" b="1" dirty="0">
                <a:solidFill>
                  <a:srgbClr val="111111"/>
                </a:solidFill>
                <a:ea typeface="+mn-lt"/>
                <a:cs typeface="Segoe UI"/>
              </a:rPr>
              <a:t xml:space="preserve">Deployment type </a:t>
            </a:r>
          </a:p>
          <a:p>
            <a:pPr lvl="0">
              <a:defRPr/>
            </a:pPr>
            <a:r>
              <a:rPr lang="en-US" sz="1600" dirty="0">
                <a:solidFill>
                  <a:srgbClr val="111111"/>
                </a:solidFill>
                <a:ea typeface="+mn-lt"/>
                <a:cs typeface="Segoe UI"/>
              </a:rPr>
              <a:t>from Regional deployments to Data Zone or Global deployments</a:t>
            </a:r>
          </a:p>
          <a:p>
            <a:pPr lvl="0">
              <a:defRPr/>
            </a:pPr>
            <a:endParaRPr lang="en-US" sz="1600" dirty="0">
              <a:solidFill>
                <a:srgbClr val="111111"/>
              </a:solidFill>
              <a:ea typeface="+mn-lt"/>
              <a:cs typeface="Segoe UI"/>
            </a:endParaRPr>
          </a:p>
          <a:p>
            <a:pPr lvl="0">
              <a:defRPr/>
            </a:pPr>
            <a:r>
              <a:rPr lang="en-US" sz="1600" b="1" dirty="0">
                <a:solidFill>
                  <a:srgbClr val="111111"/>
                </a:solidFill>
                <a:ea typeface="+mn-lt"/>
                <a:cs typeface="Segoe UI"/>
              </a:rPr>
              <a:t>Region</a:t>
            </a:r>
            <a:r>
              <a:rPr lang="en-US" sz="1600" dirty="0">
                <a:solidFill>
                  <a:srgbClr val="111111"/>
                </a:solidFill>
                <a:ea typeface="+mn-lt"/>
                <a:cs typeface="Segoe UI"/>
              </a:rPr>
              <a:t xml:space="preserve"> </a:t>
            </a:r>
          </a:p>
          <a:p>
            <a:pPr lvl="0">
              <a:defRPr/>
            </a:pPr>
            <a:r>
              <a:rPr lang="en-US" sz="1600" dirty="0">
                <a:solidFill>
                  <a:srgbClr val="111111"/>
                </a:solidFill>
                <a:ea typeface="+mn-lt"/>
                <a:cs typeface="Segoe UI"/>
              </a:rPr>
              <a:t>from US West to Sweden Central</a:t>
            </a:r>
          </a:p>
          <a:p>
            <a:pPr lvl="0">
              <a:defRPr/>
            </a:pPr>
            <a:endParaRPr lang="en-US" sz="1600" dirty="0">
              <a:solidFill>
                <a:srgbClr val="111111"/>
              </a:solidFill>
              <a:ea typeface="+mn-lt"/>
              <a:cs typeface="Segoe UI"/>
            </a:endParaRPr>
          </a:p>
          <a:p>
            <a:pPr lvl="0">
              <a:defRPr/>
            </a:pPr>
            <a:r>
              <a:rPr lang="en-US" sz="1600" b="1" dirty="0">
                <a:solidFill>
                  <a:srgbClr val="111111"/>
                </a:solidFill>
                <a:ea typeface="+mn-lt"/>
                <a:cs typeface="Segoe UI"/>
              </a:rPr>
              <a:t>Term commitment</a:t>
            </a:r>
          </a:p>
          <a:p>
            <a:pPr lvl="0">
              <a:defRPr/>
            </a:pPr>
            <a:r>
              <a:rPr lang="en-US" sz="1600" dirty="0">
                <a:solidFill>
                  <a:srgbClr val="111111"/>
                </a:solidFill>
                <a:ea typeface="+mn-lt"/>
                <a:cs typeface="Segoe UI"/>
              </a:rPr>
              <a:t>from 1-month to 1-year commitment</a:t>
            </a:r>
          </a:p>
          <a:p>
            <a:pPr lvl="0">
              <a:defRPr/>
            </a:pPr>
            <a:endParaRPr lang="en-US" sz="1600" dirty="0">
              <a:solidFill>
                <a:srgbClr val="111111"/>
              </a:solidFill>
              <a:ea typeface="+mn-lt"/>
              <a:cs typeface="Segoe UI"/>
            </a:endParaRPr>
          </a:p>
          <a:p>
            <a:pPr lvl="0">
              <a:defRPr/>
            </a:pPr>
            <a:r>
              <a:rPr lang="en-US" sz="1600" b="1" dirty="0">
                <a:solidFill>
                  <a:srgbClr val="111111"/>
                </a:solidFill>
                <a:ea typeface="+mn-lt"/>
                <a:cs typeface="Segoe UI"/>
              </a:rPr>
              <a:t>Payment Option</a:t>
            </a:r>
          </a:p>
          <a:p>
            <a:pPr lvl="0">
              <a:defRPr/>
            </a:pPr>
            <a:r>
              <a:rPr lang="en-US" sz="1600" dirty="0">
                <a:solidFill>
                  <a:srgbClr val="111111"/>
                </a:solidFill>
                <a:ea typeface="+mn-lt"/>
                <a:cs typeface="Segoe UI"/>
              </a:rPr>
              <a:t>from All Upfront to monthly payment</a:t>
            </a:r>
            <a:endParaRPr kumimoji="0" lang="en-US" sz="1600" b="0" i="0" u="none" strike="noStrike" kern="1200" cap="none" spc="0" normalizeH="0" baseline="0" noProof="0" dirty="0">
              <a:ln>
                <a:noFill/>
              </a:ln>
              <a:solidFill>
                <a:srgbClr val="111111"/>
              </a:solidFill>
              <a:effectLst/>
              <a:uLnTx/>
              <a:uFillTx/>
              <a:latin typeface="Segoe UI"/>
              <a:ea typeface="+mn-lt"/>
              <a:cs typeface="Segoe UI"/>
            </a:endParaRPr>
          </a:p>
        </p:txBody>
      </p:sp>
      <p:pic>
        <p:nvPicPr>
          <p:cNvPr id="5" name="Online Media 4" title="Manage Azure AI Foundry Provisioned Throughput Reservations">
            <a:hlinkClick r:id="" action="ppaction://media"/>
            <a:extLst>
              <a:ext uri="{FF2B5EF4-FFF2-40B4-BE49-F238E27FC236}">
                <a16:creationId xmlns:a16="http://schemas.microsoft.com/office/drawing/2014/main" id="{D9FB3504-08E5-A35D-5AF0-5355AE42E22B}"/>
              </a:ext>
            </a:extLst>
          </p:cNvPr>
          <p:cNvPicPr>
            <a:picLocks noRot="1" noChangeAspect="1"/>
          </p:cNvPicPr>
          <p:nvPr>
            <a:videoFile r:link="rId1"/>
          </p:nvPr>
        </p:nvPicPr>
        <p:blipFill>
          <a:blip r:embed="rId4"/>
          <a:stretch>
            <a:fillRect/>
          </a:stretch>
        </p:blipFill>
        <p:spPr>
          <a:xfrm>
            <a:off x="7002505" y="2598235"/>
            <a:ext cx="4418821" cy="2496634"/>
          </a:xfrm>
          <a:prstGeom prst="rect">
            <a:avLst/>
          </a:prstGeom>
        </p:spPr>
      </p:pic>
    </p:spTree>
    <p:extLst>
      <p:ext uri="{BB962C8B-B14F-4D97-AF65-F5344CB8AC3E}">
        <p14:creationId xmlns:p14="http://schemas.microsoft.com/office/powerpoint/2010/main" val="13651299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FECED5-32A7-021A-2A2F-ADE2ACF4BDB4}"/>
              </a:ext>
            </a:extLst>
          </p:cNvPr>
          <p:cNvSpPr>
            <a:spLocks noGrp="1"/>
          </p:cNvSpPr>
          <p:nvPr>
            <p:ph type="title"/>
          </p:nvPr>
        </p:nvSpPr>
        <p:spPr>
          <a:xfrm>
            <a:off x="575481" y="599436"/>
            <a:ext cx="4610668" cy="615553"/>
          </a:xfrm>
        </p:spPr>
        <p:txBody>
          <a:bodyPr/>
          <a:lstStyle/>
          <a:p>
            <a:r>
              <a:rPr lang="en-US" dirty="0"/>
              <a:t>Best practices</a:t>
            </a:r>
          </a:p>
        </p:txBody>
      </p:sp>
      <p:sp>
        <p:nvSpPr>
          <p:cNvPr id="5" name="Text Placeholder 4">
            <a:extLst>
              <a:ext uri="{FF2B5EF4-FFF2-40B4-BE49-F238E27FC236}">
                <a16:creationId xmlns:a16="http://schemas.microsoft.com/office/drawing/2014/main" id="{927AE771-892A-84E0-E1F8-8286AFEB8D1C}"/>
              </a:ext>
            </a:extLst>
          </p:cNvPr>
          <p:cNvSpPr>
            <a:spLocks noGrp="1"/>
          </p:cNvSpPr>
          <p:nvPr>
            <p:ph type="body" sz="quarter" idx="13"/>
          </p:nvPr>
        </p:nvSpPr>
        <p:spPr/>
        <p:txBody>
          <a:bodyPr/>
          <a:lstStyle/>
          <a:p>
            <a:r>
              <a:rPr lang="en-US" dirty="0"/>
              <a:t>Review the auto-renewal setup and dates </a:t>
            </a:r>
          </a:p>
        </p:txBody>
      </p:sp>
      <p:sp>
        <p:nvSpPr>
          <p:cNvPr id="6" name="Text Placeholder 5">
            <a:extLst>
              <a:ext uri="{FF2B5EF4-FFF2-40B4-BE49-F238E27FC236}">
                <a16:creationId xmlns:a16="http://schemas.microsoft.com/office/drawing/2014/main" id="{AE0EF8CE-7A7E-B145-217C-AB8EF05FBE49}"/>
              </a:ext>
            </a:extLst>
          </p:cNvPr>
          <p:cNvSpPr>
            <a:spLocks noGrp="1"/>
          </p:cNvSpPr>
          <p:nvPr>
            <p:ph type="body" sz="quarter" idx="15"/>
          </p:nvPr>
        </p:nvSpPr>
        <p:spPr/>
        <p:txBody>
          <a:bodyPr/>
          <a:lstStyle/>
          <a:p>
            <a:r>
              <a:rPr lang="en-US" dirty="0"/>
              <a:t>Purchase reservations after deployments have</a:t>
            </a:r>
          </a:p>
        </p:txBody>
      </p:sp>
      <p:sp>
        <p:nvSpPr>
          <p:cNvPr id="7" name="Text Placeholder 6">
            <a:extLst>
              <a:ext uri="{FF2B5EF4-FFF2-40B4-BE49-F238E27FC236}">
                <a16:creationId xmlns:a16="http://schemas.microsoft.com/office/drawing/2014/main" id="{34A73665-C170-F42B-9891-8BB6518514BE}"/>
              </a:ext>
            </a:extLst>
          </p:cNvPr>
          <p:cNvSpPr>
            <a:spLocks noGrp="1"/>
          </p:cNvSpPr>
          <p:nvPr>
            <p:ph type="body" sz="quarter" idx="17"/>
          </p:nvPr>
        </p:nvSpPr>
        <p:spPr/>
        <p:txBody>
          <a:bodyPr/>
          <a:lstStyle/>
          <a:p>
            <a:r>
              <a:rPr lang="en-US" dirty="0"/>
              <a:t>Remember reservations for Global, Data Zone, and Regional deployments aren't interchangeable. You need to purchase a separate reservation for each deployment type</a:t>
            </a:r>
          </a:p>
          <a:p>
            <a:endParaRPr lang="en-US" dirty="0"/>
          </a:p>
        </p:txBody>
      </p:sp>
      <p:sp>
        <p:nvSpPr>
          <p:cNvPr id="8" name="Text Placeholder 7">
            <a:extLst>
              <a:ext uri="{FF2B5EF4-FFF2-40B4-BE49-F238E27FC236}">
                <a16:creationId xmlns:a16="http://schemas.microsoft.com/office/drawing/2014/main" id="{AFBF5CAD-875C-4D24-AE92-BD91D14E5C7B}"/>
              </a:ext>
            </a:extLst>
          </p:cNvPr>
          <p:cNvSpPr>
            <a:spLocks noGrp="1"/>
          </p:cNvSpPr>
          <p:nvPr>
            <p:ph type="body" sz="quarter" idx="19"/>
          </p:nvPr>
        </p:nvSpPr>
        <p:spPr>
          <a:xfrm>
            <a:off x="7378275" y="5157441"/>
            <a:ext cx="4242225" cy="742369"/>
          </a:xfrm>
        </p:spPr>
        <p:txBody>
          <a:bodyPr/>
          <a:lstStyle/>
          <a:p>
            <a:r>
              <a:rPr lang="en-US" dirty="0"/>
              <a:t>Monitor your reservation utilization via the Azure Portal to ensure it is receiving the usage you are expecting. Set up and use utilization alerts on conditions like unused commitments or billing overages in Microsoft Cost Management</a:t>
            </a:r>
          </a:p>
          <a:p>
            <a:endParaRPr lang="en-US" dirty="0"/>
          </a:p>
        </p:txBody>
      </p:sp>
      <p:sp>
        <p:nvSpPr>
          <p:cNvPr id="4" name="Text Placeholder 3">
            <a:extLst>
              <a:ext uri="{FF2B5EF4-FFF2-40B4-BE49-F238E27FC236}">
                <a16:creationId xmlns:a16="http://schemas.microsoft.com/office/drawing/2014/main" id="{1A26B9AF-D111-6212-11A6-EAA91C8797F3}"/>
              </a:ext>
            </a:extLst>
          </p:cNvPr>
          <p:cNvSpPr>
            <a:spLocks noGrp="1"/>
          </p:cNvSpPr>
          <p:nvPr>
            <p:ph type="body" sz="quarter" idx="12"/>
          </p:nvPr>
        </p:nvSpPr>
        <p:spPr/>
        <p:txBody>
          <a:bodyPr/>
          <a:lstStyle/>
          <a:p>
            <a:r>
              <a:rPr lang="en-US" b="1" dirty="0"/>
              <a:t>Provisioned Reservations</a:t>
            </a:r>
          </a:p>
        </p:txBody>
      </p:sp>
    </p:spTree>
    <p:extLst>
      <p:ext uri="{BB962C8B-B14F-4D97-AF65-F5344CB8AC3E}">
        <p14:creationId xmlns:p14="http://schemas.microsoft.com/office/powerpoint/2010/main" val="37463243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F12F82BB-FF0E-79F6-6B4E-2FDBA39F4CBA}"/>
              </a:ext>
            </a:extLst>
          </p:cNvPr>
          <p:cNvSpPr/>
          <p:nvPr/>
        </p:nvSpPr>
        <p:spPr bwMode="auto">
          <a:xfrm rot="5400000">
            <a:off x="-770828" y="1061113"/>
            <a:ext cx="6277428" cy="4735773"/>
          </a:xfrm>
          <a:prstGeom prst="round2SameRect">
            <a:avLst>
              <a:gd name="adj1" fmla="val 6302"/>
              <a:gd name="adj2" fmla="val 0"/>
            </a:avLst>
          </a:prstGeom>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0" tIns="146304" rIns="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nvGrpSpPr>
          <p:cNvPr id="37" name="Group 36">
            <a:extLst>
              <a:ext uri="{FF2B5EF4-FFF2-40B4-BE49-F238E27FC236}">
                <a16:creationId xmlns:a16="http://schemas.microsoft.com/office/drawing/2014/main" id="{6350243F-07AE-B6FD-FABF-63D47D783A97}"/>
              </a:ext>
            </a:extLst>
          </p:cNvPr>
          <p:cNvGrpSpPr/>
          <p:nvPr/>
        </p:nvGrpSpPr>
        <p:grpSpPr>
          <a:xfrm>
            <a:off x="588263" y="3257774"/>
            <a:ext cx="3355940" cy="560315"/>
            <a:chOff x="588263" y="3790724"/>
            <a:chExt cx="4094226" cy="683581"/>
          </a:xfrm>
        </p:grpSpPr>
        <p:sp>
          <p:nvSpPr>
            <p:cNvPr id="51" name="Rectangle: Rounded Corners 50">
              <a:extLst>
                <a:ext uri="{FF2B5EF4-FFF2-40B4-BE49-F238E27FC236}">
                  <a16:creationId xmlns:a16="http://schemas.microsoft.com/office/drawing/2014/main" id="{48EDEB61-4368-4497-8526-ACA2EF45E076}"/>
                </a:ext>
              </a:extLst>
            </p:cNvPr>
            <p:cNvSpPr/>
            <p:nvPr/>
          </p:nvSpPr>
          <p:spPr bwMode="auto">
            <a:xfrm>
              <a:off x="588263" y="3790724"/>
              <a:ext cx="4094226" cy="683581"/>
            </a:xfrm>
            <a:prstGeom prst="roundRect">
              <a:avLst/>
            </a:prstGeom>
            <a:ln>
              <a:headEnd type="none" w="med" len="med"/>
              <a:tailEnd type="none" w="med" len="med"/>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52" name="magnify" title="Icon of a magnifying glass">
              <a:extLst>
                <a:ext uri="{FF2B5EF4-FFF2-40B4-BE49-F238E27FC236}">
                  <a16:creationId xmlns:a16="http://schemas.microsoft.com/office/drawing/2014/main" id="{193FFF3E-17CB-442C-AF09-6708CFCE8807}"/>
                </a:ext>
              </a:extLst>
            </p:cNvPr>
            <p:cNvSpPr>
              <a:spLocks noChangeAspect="1" noEditPoints="1"/>
            </p:cNvSpPr>
            <p:nvPr/>
          </p:nvSpPr>
          <p:spPr bwMode="auto">
            <a:xfrm flipH="1">
              <a:off x="777877" y="3934956"/>
              <a:ext cx="372886" cy="365760"/>
            </a:xfrm>
            <a:custGeom>
              <a:avLst/>
              <a:gdLst>
                <a:gd name="T0" fmla="*/ 112 w 343"/>
                <a:gd name="T1" fmla="*/ 223 h 338"/>
                <a:gd name="T2" fmla="*/ 0 w 343"/>
                <a:gd name="T3" fmla="*/ 111 h 338"/>
                <a:gd name="T4" fmla="*/ 112 w 343"/>
                <a:gd name="T5" fmla="*/ 0 h 338"/>
                <a:gd name="T6" fmla="*/ 223 w 343"/>
                <a:gd name="T7" fmla="*/ 111 h 338"/>
                <a:gd name="T8" fmla="*/ 112 w 343"/>
                <a:gd name="T9" fmla="*/ 223 h 338"/>
                <a:gd name="T10" fmla="*/ 343 w 343"/>
                <a:gd name="T11" fmla="*/ 338 h 338"/>
                <a:gd name="T12" fmla="*/ 191 w 343"/>
                <a:gd name="T13" fmla="*/ 189 h 338"/>
              </a:gdLst>
              <a:ahLst/>
              <a:cxnLst>
                <a:cxn ang="0">
                  <a:pos x="T0" y="T1"/>
                </a:cxn>
                <a:cxn ang="0">
                  <a:pos x="T2" y="T3"/>
                </a:cxn>
                <a:cxn ang="0">
                  <a:pos x="T4" y="T5"/>
                </a:cxn>
                <a:cxn ang="0">
                  <a:pos x="T6" y="T7"/>
                </a:cxn>
                <a:cxn ang="0">
                  <a:pos x="T8" y="T9"/>
                </a:cxn>
                <a:cxn ang="0">
                  <a:pos x="T10" y="T11"/>
                </a:cxn>
                <a:cxn ang="0">
                  <a:pos x="T12" y="T13"/>
                </a:cxn>
              </a:cxnLst>
              <a:rect l="0" t="0" r="r" b="b"/>
              <a:pathLst>
                <a:path w="343" h="338">
                  <a:moveTo>
                    <a:pt x="112" y="223"/>
                  </a:moveTo>
                  <a:cubicBezTo>
                    <a:pt x="50" y="223"/>
                    <a:pt x="0" y="173"/>
                    <a:pt x="0" y="111"/>
                  </a:cubicBezTo>
                  <a:cubicBezTo>
                    <a:pt x="0" y="50"/>
                    <a:pt x="50" y="0"/>
                    <a:pt x="112" y="0"/>
                  </a:cubicBezTo>
                  <a:cubicBezTo>
                    <a:pt x="173" y="0"/>
                    <a:pt x="223" y="50"/>
                    <a:pt x="223" y="111"/>
                  </a:cubicBezTo>
                  <a:cubicBezTo>
                    <a:pt x="223" y="173"/>
                    <a:pt x="173" y="223"/>
                    <a:pt x="112" y="223"/>
                  </a:cubicBezTo>
                  <a:close/>
                  <a:moveTo>
                    <a:pt x="343" y="338"/>
                  </a:moveTo>
                  <a:cubicBezTo>
                    <a:pt x="191" y="189"/>
                    <a:pt x="191" y="189"/>
                    <a:pt x="191" y="189"/>
                  </a:cubicBezTo>
                </a:path>
              </a:pathLst>
            </a:custGeom>
            <a:ln>
              <a:headEnd/>
              <a:tailEnd/>
            </a:ln>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Segoe UI"/>
                <a:ea typeface="+mn-ea"/>
                <a:cs typeface="+mn-cs"/>
              </a:endParaRPr>
            </a:p>
          </p:txBody>
        </p:sp>
        <p:sp>
          <p:nvSpPr>
            <p:cNvPr id="53" name="TextBox 52">
              <a:extLst>
                <a:ext uri="{FF2B5EF4-FFF2-40B4-BE49-F238E27FC236}">
                  <a16:creationId xmlns:a16="http://schemas.microsoft.com/office/drawing/2014/main" id="{AE96ED31-B498-42E9-A636-CF22FF00091C}"/>
                </a:ext>
              </a:extLst>
            </p:cNvPr>
            <p:cNvSpPr txBox="1"/>
            <p:nvPr/>
          </p:nvSpPr>
          <p:spPr>
            <a:xfrm>
              <a:off x="1443514" y="3981150"/>
              <a:ext cx="1499438" cy="337937"/>
            </a:xfrm>
            <a:prstGeom prst="rect">
              <a:avLst/>
            </a:prstGeom>
            <a:ln>
              <a:noFill/>
            </a:ln>
          </p:spPr>
          <p:style>
            <a:lnRef idx="3">
              <a:schemeClr val="lt1"/>
            </a:lnRef>
            <a:fillRef idx="1">
              <a:schemeClr val="accent1"/>
            </a:fillRef>
            <a:effectRef idx="1">
              <a:schemeClr val="accent1"/>
            </a:effectRef>
            <a:fontRef idx="minor">
              <a:schemeClr val="lt1"/>
            </a:fontRef>
          </p:style>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dirty="0">
                  <a:solidFill>
                    <a:srgbClr val="FFFFFF"/>
                  </a:solidFill>
                  <a:latin typeface="Segoe UI Semibold"/>
                </a:rPr>
                <a:t>Provisioned</a:t>
              </a:r>
              <a:endParaRPr kumimoji="0" lang="en-US" sz="1800" b="0" i="0" u="none" strike="noStrike" kern="1200" cap="none" spc="0" normalizeH="0" baseline="0" noProof="0" dirty="0">
                <a:ln>
                  <a:noFill/>
                </a:ln>
                <a:solidFill>
                  <a:srgbClr val="FFFFFF"/>
                </a:solidFill>
                <a:effectLst/>
                <a:uLnTx/>
                <a:uFillTx/>
                <a:latin typeface="Segoe UI Semibold"/>
                <a:ea typeface="+mn-ea"/>
                <a:cs typeface="+mn-cs"/>
              </a:endParaRPr>
            </a:p>
          </p:txBody>
        </p:sp>
      </p:grpSp>
      <p:sp>
        <p:nvSpPr>
          <p:cNvPr id="3" name="Title 2">
            <a:extLst>
              <a:ext uri="{FF2B5EF4-FFF2-40B4-BE49-F238E27FC236}">
                <a16:creationId xmlns:a16="http://schemas.microsoft.com/office/drawing/2014/main" id="{6C4BE004-380E-EB65-66C1-13FDDD2A0480}"/>
              </a:ext>
            </a:extLst>
          </p:cNvPr>
          <p:cNvSpPr>
            <a:spLocks noGrp="1"/>
          </p:cNvSpPr>
          <p:nvPr>
            <p:ph type="title"/>
          </p:nvPr>
        </p:nvSpPr>
        <p:spPr>
          <a:xfrm>
            <a:off x="588263" y="1818395"/>
            <a:ext cx="2904724" cy="1107996"/>
          </a:xfrm>
        </p:spPr>
        <p:txBody>
          <a:bodyPr wrap="square">
            <a:spAutoFit/>
          </a:bodyPr>
          <a:lstStyle/>
          <a:p>
            <a:pPr lvl="0"/>
            <a:r>
              <a:rPr lang="en-US" noProof="0" dirty="0">
                <a:solidFill>
                  <a:schemeClr val="bg1"/>
                </a:solidFill>
              </a:rPr>
              <a:t>Start saving today</a:t>
            </a:r>
          </a:p>
        </p:txBody>
      </p:sp>
      <p:sp>
        <p:nvSpPr>
          <p:cNvPr id="18" name="TextBox 17">
            <a:extLst>
              <a:ext uri="{FF2B5EF4-FFF2-40B4-BE49-F238E27FC236}">
                <a16:creationId xmlns:a16="http://schemas.microsoft.com/office/drawing/2014/main" id="{29F40BCE-3004-4CB3-88E5-6DCA98D3EF6A}"/>
              </a:ext>
            </a:extLst>
          </p:cNvPr>
          <p:cNvSpPr txBox="1"/>
          <p:nvPr/>
        </p:nvSpPr>
        <p:spPr>
          <a:xfrm>
            <a:off x="5842527" y="547653"/>
            <a:ext cx="2439063"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0078D4"/>
                </a:solidFill>
                <a:effectLst/>
                <a:uLnTx/>
                <a:uFillTx/>
                <a:latin typeface="Segoe UI Semibold"/>
                <a:ea typeface="+mn-ea"/>
                <a:cs typeface="+mn-cs"/>
              </a:rPr>
              <a:t>Learn more</a:t>
            </a:r>
          </a:p>
        </p:txBody>
      </p:sp>
      <p:grpSp>
        <p:nvGrpSpPr>
          <p:cNvPr id="8" name="Graphic 3">
            <a:extLst>
              <a:ext uri="{FF2B5EF4-FFF2-40B4-BE49-F238E27FC236}">
                <a16:creationId xmlns:a16="http://schemas.microsoft.com/office/drawing/2014/main" id="{B0E062CF-7ED9-499B-C1C7-5A5AA8E51ED3}"/>
              </a:ext>
            </a:extLst>
          </p:cNvPr>
          <p:cNvGrpSpPr/>
          <p:nvPr/>
        </p:nvGrpSpPr>
        <p:grpSpPr>
          <a:xfrm>
            <a:off x="5122500" y="470227"/>
            <a:ext cx="529734" cy="647197"/>
            <a:chOff x="-3362584" y="1149499"/>
            <a:chExt cx="2568500" cy="3138040"/>
          </a:xfrm>
          <a:solidFill>
            <a:schemeClr val="bg2"/>
          </a:solidFill>
        </p:grpSpPr>
        <p:sp>
          <p:nvSpPr>
            <p:cNvPr id="9" name="Freeform: Shape 8">
              <a:extLst>
                <a:ext uri="{FF2B5EF4-FFF2-40B4-BE49-F238E27FC236}">
                  <a16:creationId xmlns:a16="http://schemas.microsoft.com/office/drawing/2014/main" id="{0330104A-5FB2-6201-4332-3626AB6B2222}"/>
                </a:ext>
              </a:extLst>
            </p:cNvPr>
            <p:cNvSpPr/>
            <p:nvPr/>
          </p:nvSpPr>
          <p:spPr>
            <a:xfrm>
              <a:off x="-2999494" y="1504724"/>
              <a:ext cx="2205409" cy="2782815"/>
            </a:xfrm>
            <a:custGeom>
              <a:avLst/>
              <a:gdLst>
                <a:gd name="connsiteX0" fmla="*/ 2032388 w 2205409"/>
                <a:gd name="connsiteY0" fmla="*/ 0 h 2782815"/>
                <a:gd name="connsiteX1" fmla="*/ 1940633 w 2205409"/>
                <a:gd name="connsiteY1" fmla="*/ 0 h 2782815"/>
                <a:gd name="connsiteX2" fmla="*/ 1940633 w 2205409"/>
                <a:gd name="connsiteY2" fmla="*/ 2254244 h 2782815"/>
                <a:gd name="connsiteX3" fmla="*/ 1668974 w 2205409"/>
                <a:gd name="connsiteY3" fmla="*/ 2525900 h 2782815"/>
                <a:gd name="connsiteX4" fmla="*/ 739289 w 2205409"/>
                <a:gd name="connsiteY4" fmla="*/ 2525900 h 2782815"/>
                <a:gd name="connsiteX5" fmla="*/ 0 w 2205409"/>
                <a:gd name="connsiteY5" fmla="*/ 2525900 h 2782815"/>
                <a:gd name="connsiteX6" fmla="*/ 0 w 2205409"/>
                <a:gd name="connsiteY6" fmla="*/ 2609463 h 2782815"/>
                <a:gd name="connsiteX7" fmla="*/ 173353 w 2205409"/>
                <a:gd name="connsiteY7" fmla="*/ 2782815 h 2782815"/>
                <a:gd name="connsiteX8" fmla="*/ 1102707 w 2205409"/>
                <a:gd name="connsiteY8" fmla="*/ 2782815 h 2782815"/>
                <a:gd name="connsiteX9" fmla="*/ 2032061 w 2205409"/>
                <a:gd name="connsiteY9" fmla="*/ 2782815 h 2782815"/>
                <a:gd name="connsiteX10" fmla="*/ 2205410 w 2205409"/>
                <a:gd name="connsiteY10" fmla="*/ 2609463 h 2782815"/>
                <a:gd name="connsiteX11" fmla="*/ 2205410 w 2205409"/>
                <a:gd name="connsiteY11" fmla="*/ 173353 h 2782815"/>
                <a:gd name="connsiteX12" fmla="*/ 2032388 w 2205409"/>
                <a:gd name="connsiteY12" fmla="*/ 0 h 2782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05409" h="2782815">
                  <a:moveTo>
                    <a:pt x="2032388" y="0"/>
                  </a:moveTo>
                  <a:lnTo>
                    <a:pt x="1940633" y="0"/>
                  </a:lnTo>
                  <a:lnTo>
                    <a:pt x="1940633" y="2254244"/>
                  </a:lnTo>
                  <a:cubicBezTo>
                    <a:pt x="1940633" y="2403999"/>
                    <a:pt x="1818729" y="2525900"/>
                    <a:pt x="1668974" y="2525900"/>
                  </a:cubicBezTo>
                  <a:lnTo>
                    <a:pt x="739289" y="2525900"/>
                  </a:lnTo>
                  <a:lnTo>
                    <a:pt x="0" y="2525900"/>
                  </a:lnTo>
                  <a:lnTo>
                    <a:pt x="0" y="2609463"/>
                  </a:lnTo>
                  <a:cubicBezTo>
                    <a:pt x="0" y="2705154"/>
                    <a:pt x="77665" y="2782815"/>
                    <a:pt x="173353" y="2782815"/>
                  </a:cubicBezTo>
                  <a:lnTo>
                    <a:pt x="1102707" y="2782815"/>
                  </a:lnTo>
                  <a:lnTo>
                    <a:pt x="2032061" y="2782815"/>
                  </a:lnTo>
                  <a:cubicBezTo>
                    <a:pt x="2127749" y="2782815"/>
                    <a:pt x="2205410" y="2705154"/>
                    <a:pt x="2205410" y="2609463"/>
                  </a:cubicBezTo>
                  <a:lnTo>
                    <a:pt x="2205410" y="173353"/>
                  </a:lnTo>
                  <a:cubicBezTo>
                    <a:pt x="2205413" y="77665"/>
                    <a:pt x="2128076" y="0"/>
                    <a:pt x="2032388" y="0"/>
                  </a:cubicBezTo>
                  <a:close/>
                </a:path>
              </a:pathLst>
            </a:cu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Freeform: Shape 9">
              <a:extLst>
                <a:ext uri="{FF2B5EF4-FFF2-40B4-BE49-F238E27FC236}">
                  <a16:creationId xmlns:a16="http://schemas.microsoft.com/office/drawing/2014/main" id="{E0D421DD-8B0A-C3D7-77B3-8020F2F9B9FA}"/>
                </a:ext>
              </a:extLst>
            </p:cNvPr>
            <p:cNvSpPr/>
            <p:nvPr/>
          </p:nvSpPr>
          <p:spPr>
            <a:xfrm>
              <a:off x="-3362584" y="1149499"/>
              <a:ext cx="2205085" cy="2782815"/>
            </a:xfrm>
            <a:custGeom>
              <a:avLst/>
              <a:gdLst>
                <a:gd name="connsiteX0" fmla="*/ 1102379 w 2205085"/>
                <a:gd name="connsiteY0" fmla="*/ 2782815 h 2782815"/>
                <a:gd name="connsiteX1" fmla="*/ 2031733 w 2205085"/>
                <a:gd name="connsiteY1" fmla="*/ 2782815 h 2782815"/>
                <a:gd name="connsiteX2" fmla="*/ 2205086 w 2205085"/>
                <a:gd name="connsiteY2" fmla="*/ 2609469 h 2782815"/>
                <a:gd name="connsiteX3" fmla="*/ 2205086 w 2205085"/>
                <a:gd name="connsiteY3" fmla="*/ 355226 h 2782815"/>
                <a:gd name="connsiteX4" fmla="*/ 2205086 w 2205085"/>
                <a:gd name="connsiteY4" fmla="*/ 173353 h 2782815"/>
                <a:gd name="connsiteX5" fmla="*/ 2031733 w 2205085"/>
                <a:gd name="connsiteY5" fmla="*/ 0 h 2782815"/>
                <a:gd name="connsiteX6" fmla="*/ 1102379 w 2205085"/>
                <a:gd name="connsiteY6" fmla="*/ 0 h 2782815"/>
                <a:gd name="connsiteX7" fmla="*/ 793359 w 2205085"/>
                <a:gd name="connsiteY7" fmla="*/ 0 h 2782815"/>
                <a:gd name="connsiteX8" fmla="*/ 793359 w 2205085"/>
                <a:gd name="connsiteY8" fmla="*/ 57347 h 2782815"/>
                <a:gd name="connsiteX9" fmla="*/ 794342 w 2205085"/>
                <a:gd name="connsiteY9" fmla="*/ 75698 h 2782815"/>
                <a:gd name="connsiteX10" fmla="*/ 794342 w 2205085"/>
                <a:gd name="connsiteY10" fmla="*/ 453535 h 2782815"/>
                <a:gd name="connsiteX11" fmla="*/ 794342 w 2205085"/>
                <a:gd name="connsiteY11" fmla="*/ 550534 h 2782815"/>
                <a:gd name="connsiteX12" fmla="*/ 550206 w 2205085"/>
                <a:gd name="connsiteY12" fmla="*/ 794670 h 2782815"/>
                <a:gd name="connsiteX13" fmla="*/ 453208 w 2205085"/>
                <a:gd name="connsiteY13" fmla="*/ 794670 h 2782815"/>
                <a:gd name="connsiteX14" fmla="*/ 75371 w 2205085"/>
                <a:gd name="connsiteY14" fmla="*/ 794670 h 2782815"/>
                <a:gd name="connsiteX15" fmla="*/ 60297 w 2205085"/>
                <a:gd name="connsiteY15" fmla="*/ 794014 h 2782815"/>
                <a:gd name="connsiteX16" fmla="*/ 0 w 2205085"/>
                <a:gd name="connsiteY16" fmla="*/ 794014 h 2782815"/>
                <a:gd name="connsiteX17" fmla="*/ 0 w 2205085"/>
                <a:gd name="connsiteY17" fmla="*/ 2609469 h 2782815"/>
                <a:gd name="connsiteX18" fmla="*/ 173353 w 2205085"/>
                <a:gd name="connsiteY18" fmla="*/ 2782815 h 2782815"/>
                <a:gd name="connsiteX19" fmla="*/ 363418 w 2205085"/>
                <a:gd name="connsiteY19" fmla="*/ 2782815 h 2782815"/>
                <a:gd name="connsiteX20" fmla="*/ 1102379 w 2205085"/>
                <a:gd name="connsiteY20" fmla="*/ 2782815 h 2782815"/>
                <a:gd name="connsiteX21" fmla="*/ 1102379 w 2205085"/>
                <a:gd name="connsiteY21" fmla="*/ 2782815 h 2782815"/>
                <a:gd name="connsiteX22" fmla="*/ 1137443 w 2205085"/>
                <a:gd name="connsiteY22" fmla="*/ 2193616 h 2782815"/>
                <a:gd name="connsiteX23" fmla="*/ 531528 w 2205085"/>
                <a:gd name="connsiteY23" fmla="*/ 2193616 h 2782815"/>
                <a:gd name="connsiteX24" fmla="*/ 449603 w 2205085"/>
                <a:gd name="connsiteY24" fmla="*/ 2111692 h 2782815"/>
                <a:gd name="connsiteX25" fmla="*/ 531528 w 2205085"/>
                <a:gd name="connsiteY25" fmla="*/ 2029767 h 2782815"/>
                <a:gd name="connsiteX26" fmla="*/ 1137770 w 2205085"/>
                <a:gd name="connsiteY26" fmla="*/ 2029767 h 2782815"/>
                <a:gd name="connsiteX27" fmla="*/ 1219695 w 2205085"/>
                <a:gd name="connsiteY27" fmla="*/ 2111692 h 2782815"/>
                <a:gd name="connsiteX28" fmla="*/ 1137443 w 2205085"/>
                <a:gd name="connsiteY28" fmla="*/ 2193616 h 2782815"/>
                <a:gd name="connsiteX29" fmla="*/ 1743686 w 2205085"/>
                <a:gd name="connsiteY29" fmla="*/ 1775476 h 2782815"/>
                <a:gd name="connsiteX30" fmla="*/ 531528 w 2205085"/>
                <a:gd name="connsiteY30" fmla="*/ 1775476 h 2782815"/>
                <a:gd name="connsiteX31" fmla="*/ 449603 w 2205085"/>
                <a:gd name="connsiteY31" fmla="*/ 1693551 h 2782815"/>
                <a:gd name="connsiteX32" fmla="*/ 531528 w 2205085"/>
                <a:gd name="connsiteY32" fmla="*/ 1611626 h 2782815"/>
                <a:gd name="connsiteX33" fmla="*/ 1743686 w 2205085"/>
                <a:gd name="connsiteY33" fmla="*/ 1611626 h 2782815"/>
                <a:gd name="connsiteX34" fmla="*/ 1825610 w 2205085"/>
                <a:gd name="connsiteY34" fmla="*/ 1693551 h 2782815"/>
                <a:gd name="connsiteX35" fmla="*/ 1743686 w 2205085"/>
                <a:gd name="connsiteY35" fmla="*/ 1775476 h 2782815"/>
                <a:gd name="connsiteX36" fmla="*/ 531528 w 2205085"/>
                <a:gd name="connsiteY36" fmla="*/ 1167591 h 2782815"/>
                <a:gd name="connsiteX37" fmla="*/ 1743686 w 2205085"/>
                <a:gd name="connsiteY37" fmla="*/ 1167591 h 2782815"/>
                <a:gd name="connsiteX38" fmla="*/ 1825610 w 2205085"/>
                <a:gd name="connsiteY38" fmla="*/ 1249516 h 2782815"/>
                <a:gd name="connsiteX39" fmla="*/ 1743686 w 2205085"/>
                <a:gd name="connsiteY39" fmla="*/ 1331440 h 2782815"/>
                <a:gd name="connsiteX40" fmla="*/ 531528 w 2205085"/>
                <a:gd name="connsiteY40" fmla="*/ 1331440 h 2782815"/>
                <a:gd name="connsiteX41" fmla="*/ 449603 w 2205085"/>
                <a:gd name="connsiteY41" fmla="*/ 1249516 h 2782815"/>
                <a:gd name="connsiteX42" fmla="*/ 531528 w 2205085"/>
                <a:gd name="connsiteY42" fmla="*/ 1167591 h 2782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205085" h="2782815">
                  <a:moveTo>
                    <a:pt x="1102379" y="2782815"/>
                  </a:moveTo>
                  <a:lnTo>
                    <a:pt x="2031733" y="2782815"/>
                  </a:lnTo>
                  <a:cubicBezTo>
                    <a:pt x="2127421" y="2782815"/>
                    <a:pt x="2205086" y="2705154"/>
                    <a:pt x="2205086" y="2609469"/>
                  </a:cubicBezTo>
                  <a:lnTo>
                    <a:pt x="2205086" y="355226"/>
                  </a:lnTo>
                  <a:lnTo>
                    <a:pt x="2205086" y="173353"/>
                  </a:lnTo>
                  <a:cubicBezTo>
                    <a:pt x="2205086" y="77665"/>
                    <a:pt x="2127421" y="0"/>
                    <a:pt x="2031733" y="0"/>
                  </a:cubicBezTo>
                  <a:lnTo>
                    <a:pt x="1102379" y="0"/>
                  </a:lnTo>
                  <a:lnTo>
                    <a:pt x="793359" y="0"/>
                  </a:lnTo>
                  <a:lnTo>
                    <a:pt x="793359" y="57347"/>
                  </a:lnTo>
                  <a:cubicBezTo>
                    <a:pt x="794011" y="63246"/>
                    <a:pt x="794342" y="69472"/>
                    <a:pt x="794342" y="75698"/>
                  </a:cubicBezTo>
                  <a:lnTo>
                    <a:pt x="794342" y="453535"/>
                  </a:lnTo>
                  <a:lnTo>
                    <a:pt x="794342" y="550534"/>
                  </a:lnTo>
                  <a:cubicBezTo>
                    <a:pt x="794342" y="685218"/>
                    <a:pt x="684891" y="794670"/>
                    <a:pt x="550206" y="794670"/>
                  </a:cubicBezTo>
                  <a:lnTo>
                    <a:pt x="453208" y="794670"/>
                  </a:lnTo>
                  <a:lnTo>
                    <a:pt x="75371" y="794670"/>
                  </a:lnTo>
                  <a:cubicBezTo>
                    <a:pt x="70455" y="794670"/>
                    <a:pt x="65212" y="794342"/>
                    <a:pt x="60297" y="794014"/>
                  </a:cubicBezTo>
                  <a:lnTo>
                    <a:pt x="0" y="794014"/>
                  </a:lnTo>
                  <a:lnTo>
                    <a:pt x="0" y="2609469"/>
                  </a:lnTo>
                  <a:cubicBezTo>
                    <a:pt x="0" y="2705154"/>
                    <a:pt x="77665" y="2782815"/>
                    <a:pt x="173353" y="2782815"/>
                  </a:cubicBezTo>
                  <a:lnTo>
                    <a:pt x="363418" y="2782815"/>
                  </a:lnTo>
                  <a:lnTo>
                    <a:pt x="1102379" y="2782815"/>
                  </a:lnTo>
                  <a:lnTo>
                    <a:pt x="1102379" y="2782815"/>
                  </a:lnTo>
                  <a:close/>
                  <a:moveTo>
                    <a:pt x="1137443" y="2193616"/>
                  </a:moveTo>
                  <a:lnTo>
                    <a:pt x="531528" y="2193616"/>
                  </a:lnTo>
                  <a:cubicBezTo>
                    <a:pt x="486305" y="2193616"/>
                    <a:pt x="449603" y="2156911"/>
                    <a:pt x="449603" y="2111692"/>
                  </a:cubicBezTo>
                  <a:cubicBezTo>
                    <a:pt x="449603" y="2066466"/>
                    <a:pt x="486305" y="2029767"/>
                    <a:pt x="531528" y="2029767"/>
                  </a:cubicBezTo>
                  <a:lnTo>
                    <a:pt x="1137770" y="2029767"/>
                  </a:lnTo>
                  <a:cubicBezTo>
                    <a:pt x="1182993" y="2029767"/>
                    <a:pt x="1219695" y="2066466"/>
                    <a:pt x="1219695" y="2111692"/>
                  </a:cubicBezTo>
                  <a:cubicBezTo>
                    <a:pt x="1219695" y="2156911"/>
                    <a:pt x="1182665" y="2193616"/>
                    <a:pt x="1137443" y="2193616"/>
                  </a:cubicBezTo>
                  <a:close/>
                  <a:moveTo>
                    <a:pt x="1743686" y="1775476"/>
                  </a:moveTo>
                  <a:lnTo>
                    <a:pt x="531528" y="1775476"/>
                  </a:lnTo>
                  <a:cubicBezTo>
                    <a:pt x="486305" y="1775476"/>
                    <a:pt x="449603" y="1738770"/>
                    <a:pt x="449603" y="1693551"/>
                  </a:cubicBezTo>
                  <a:cubicBezTo>
                    <a:pt x="449603" y="1648325"/>
                    <a:pt x="486305" y="1611626"/>
                    <a:pt x="531528" y="1611626"/>
                  </a:cubicBezTo>
                  <a:lnTo>
                    <a:pt x="1743686" y="1611626"/>
                  </a:lnTo>
                  <a:cubicBezTo>
                    <a:pt x="1788908" y="1611626"/>
                    <a:pt x="1825610" y="1648325"/>
                    <a:pt x="1825610" y="1693551"/>
                  </a:cubicBezTo>
                  <a:cubicBezTo>
                    <a:pt x="1825610" y="1738770"/>
                    <a:pt x="1788908" y="1775476"/>
                    <a:pt x="1743686" y="1775476"/>
                  </a:cubicBezTo>
                  <a:close/>
                  <a:moveTo>
                    <a:pt x="531528" y="1167591"/>
                  </a:moveTo>
                  <a:lnTo>
                    <a:pt x="1743686" y="1167591"/>
                  </a:lnTo>
                  <a:cubicBezTo>
                    <a:pt x="1788908" y="1167591"/>
                    <a:pt x="1825610" y="1204293"/>
                    <a:pt x="1825610" y="1249516"/>
                  </a:cubicBezTo>
                  <a:cubicBezTo>
                    <a:pt x="1825610" y="1294738"/>
                    <a:pt x="1788908" y="1331440"/>
                    <a:pt x="1743686" y="1331440"/>
                  </a:cubicBezTo>
                  <a:lnTo>
                    <a:pt x="531528" y="1331440"/>
                  </a:lnTo>
                  <a:cubicBezTo>
                    <a:pt x="486305" y="1331440"/>
                    <a:pt x="449603" y="1294738"/>
                    <a:pt x="449603" y="1249516"/>
                  </a:cubicBezTo>
                  <a:cubicBezTo>
                    <a:pt x="449603" y="1204293"/>
                    <a:pt x="486305" y="1167591"/>
                    <a:pt x="531528" y="1167591"/>
                  </a:cubicBezTo>
                  <a:close/>
                </a:path>
              </a:pathLst>
            </a:cu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CA84FC87-1134-BC71-54BB-ABE064C7DA9D}"/>
                </a:ext>
              </a:extLst>
            </p:cNvPr>
            <p:cNvSpPr/>
            <p:nvPr/>
          </p:nvSpPr>
          <p:spPr>
            <a:xfrm>
              <a:off x="-3360467" y="1152120"/>
              <a:ext cx="693587" cy="693738"/>
            </a:xfrm>
            <a:custGeom>
              <a:avLst/>
              <a:gdLst>
                <a:gd name="connsiteX0" fmla="*/ 73254 w 693587"/>
                <a:gd name="connsiteY0" fmla="*/ 693739 h 693738"/>
                <a:gd name="connsiteX1" fmla="*/ 548090 w 693587"/>
                <a:gd name="connsiteY1" fmla="*/ 693739 h 693738"/>
                <a:gd name="connsiteX2" fmla="*/ 549400 w 693587"/>
                <a:gd name="connsiteY2" fmla="*/ 693739 h 693738"/>
                <a:gd name="connsiteX3" fmla="*/ 693588 w 693587"/>
                <a:gd name="connsiteY3" fmla="*/ 549551 h 693738"/>
                <a:gd name="connsiteX4" fmla="*/ 693588 w 693587"/>
                <a:gd name="connsiteY4" fmla="*/ 548240 h 693738"/>
                <a:gd name="connsiteX5" fmla="*/ 693588 w 693587"/>
                <a:gd name="connsiteY5" fmla="*/ 73077 h 693738"/>
                <a:gd name="connsiteX6" fmla="*/ 620187 w 693587"/>
                <a:gd name="connsiteY6" fmla="*/ 0 h 693738"/>
                <a:gd name="connsiteX7" fmla="*/ 569066 w 693587"/>
                <a:gd name="connsiteY7" fmla="*/ 21628 h 693738"/>
                <a:gd name="connsiteX8" fmla="*/ 21477 w 693587"/>
                <a:gd name="connsiteY8" fmla="*/ 569213 h 693738"/>
                <a:gd name="connsiteX9" fmla="*/ 73254 w 693587"/>
                <a:gd name="connsiteY9" fmla="*/ 693739 h 69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3587" h="693738">
                  <a:moveTo>
                    <a:pt x="73254" y="693739"/>
                  </a:moveTo>
                  <a:lnTo>
                    <a:pt x="548090" y="693739"/>
                  </a:lnTo>
                  <a:cubicBezTo>
                    <a:pt x="548417" y="693739"/>
                    <a:pt x="549073" y="693739"/>
                    <a:pt x="549400" y="693739"/>
                  </a:cubicBezTo>
                  <a:cubicBezTo>
                    <a:pt x="628703" y="693083"/>
                    <a:pt x="692932" y="628854"/>
                    <a:pt x="693588" y="549551"/>
                  </a:cubicBezTo>
                  <a:cubicBezTo>
                    <a:pt x="693588" y="549223"/>
                    <a:pt x="693588" y="548568"/>
                    <a:pt x="693588" y="548240"/>
                  </a:cubicBezTo>
                  <a:lnTo>
                    <a:pt x="693588" y="73077"/>
                  </a:lnTo>
                  <a:cubicBezTo>
                    <a:pt x="693588" y="29165"/>
                    <a:pt x="657541" y="0"/>
                    <a:pt x="620187" y="0"/>
                  </a:cubicBezTo>
                  <a:cubicBezTo>
                    <a:pt x="602163" y="0"/>
                    <a:pt x="584140" y="6554"/>
                    <a:pt x="569066" y="21628"/>
                  </a:cubicBezTo>
                  <a:lnTo>
                    <a:pt x="21477" y="569213"/>
                  </a:lnTo>
                  <a:cubicBezTo>
                    <a:pt x="-24400" y="615091"/>
                    <a:pt x="8042" y="693739"/>
                    <a:pt x="73254" y="693739"/>
                  </a:cubicBezTo>
                  <a:close/>
                </a:path>
              </a:pathLst>
            </a:cu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grpSp>
      <p:graphicFrame>
        <p:nvGraphicFramePr>
          <p:cNvPr id="2" name="Table 1">
            <a:extLst>
              <a:ext uri="{FF2B5EF4-FFF2-40B4-BE49-F238E27FC236}">
                <a16:creationId xmlns:a16="http://schemas.microsoft.com/office/drawing/2014/main" id="{2E50C29C-B562-7A65-EC65-44CB0F3103ED}"/>
              </a:ext>
            </a:extLst>
          </p:cNvPr>
          <p:cNvGraphicFramePr>
            <a:graphicFrameLocks noGrp="1"/>
          </p:cNvGraphicFramePr>
          <p:nvPr>
            <p:extLst>
              <p:ext uri="{D42A27DB-BD31-4B8C-83A1-F6EECF244321}">
                <p14:modId xmlns:p14="http://schemas.microsoft.com/office/powerpoint/2010/main" val="1379067351"/>
              </p:ext>
            </p:extLst>
          </p:nvPr>
        </p:nvGraphicFramePr>
        <p:xfrm>
          <a:off x="5005953" y="1393311"/>
          <a:ext cx="6884404" cy="4488148"/>
        </p:xfrm>
        <a:graphic>
          <a:graphicData uri="http://schemas.openxmlformats.org/drawingml/2006/table">
            <a:tbl>
              <a:tblPr bandRow="1">
                <a:tableStyleId>{69012ECD-51FC-41F1-AA8D-1B2483CD663E}</a:tableStyleId>
              </a:tblPr>
              <a:tblGrid>
                <a:gridCol w="2685033">
                  <a:extLst>
                    <a:ext uri="{9D8B030D-6E8A-4147-A177-3AD203B41FA5}">
                      <a16:colId xmlns:a16="http://schemas.microsoft.com/office/drawing/2014/main" val="3351332866"/>
                    </a:ext>
                  </a:extLst>
                </a:gridCol>
                <a:gridCol w="4199371">
                  <a:extLst>
                    <a:ext uri="{9D8B030D-6E8A-4147-A177-3AD203B41FA5}">
                      <a16:colId xmlns:a16="http://schemas.microsoft.com/office/drawing/2014/main" val="63126876"/>
                    </a:ext>
                  </a:extLst>
                </a:gridCol>
              </a:tblGrid>
              <a:tr h="488764">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r>
                        <a:rPr lang="en-US" sz="1400" b="0" kern="1200" cap="none" spc="0" baseline="0" dirty="0">
                          <a:ln w="3175">
                            <a:noFill/>
                          </a:ln>
                          <a:solidFill>
                            <a:schemeClr val="tx1"/>
                          </a:solidFill>
                          <a:effectLst/>
                          <a:latin typeface="+mj-lt"/>
                        </a:rPr>
                        <a:t>Reservation blog</a:t>
                      </a:r>
                      <a:endParaRPr lang="en-US" sz="1400" b="0" kern="1200" cap="none" spc="0" baseline="0" dirty="0">
                        <a:ln w="3175">
                          <a:noFill/>
                        </a:ln>
                        <a:solidFill>
                          <a:schemeClr val="tx1"/>
                        </a:solidFill>
                        <a:effectLst/>
                        <a:latin typeface="+mj-lt"/>
                        <a:ea typeface="+mn-ea"/>
                        <a:cs typeface="Segoe UI" pitchFamily="34" charset="0"/>
                      </a:endParaRPr>
                    </a:p>
                  </a:txBody>
                  <a:tcPr anchor="ctr">
                    <a:solidFill>
                      <a:schemeClr val="accent1">
                        <a:lumMod val="20000"/>
                        <a:lumOff val="80000"/>
                      </a:schemeClr>
                    </a:solidFill>
                  </a:tcPr>
                </a:tc>
                <a:tc>
                  <a:txBody>
                    <a:bodyPr/>
                    <a:lstStyle>
                      <a:lvl1pPr marL="0" algn="l" defTabSz="914400" rtl="0" eaLnBrk="1" latinLnBrk="0" hangingPunct="1">
                        <a:defRPr sz="1800" b="1" kern="1200">
                          <a:solidFill>
                            <a:schemeClr val="lt1"/>
                          </a:solidFill>
                          <a:latin typeface="Segoe UI"/>
                        </a:defRPr>
                      </a:lvl1pPr>
                      <a:lvl2pPr marL="457200" algn="l" defTabSz="914400" rtl="0" eaLnBrk="1" latinLnBrk="0" hangingPunct="1">
                        <a:defRPr sz="1800" b="1" kern="1200">
                          <a:solidFill>
                            <a:schemeClr val="lt1"/>
                          </a:solidFill>
                          <a:latin typeface="Segoe UI"/>
                        </a:defRPr>
                      </a:lvl2pPr>
                      <a:lvl3pPr marL="914400" algn="l" defTabSz="914400" rtl="0" eaLnBrk="1" latinLnBrk="0" hangingPunct="1">
                        <a:defRPr sz="1800" b="1" kern="1200">
                          <a:solidFill>
                            <a:schemeClr val="lt1"/>
                          </a:solidFill>
                          <a:latin typeface="Segoe UI"/>
                        </a:defRPr>
                      </a:lvl3pPr>
                      <a:lvl4pPr marL="1371600" algn="l" defTabSz="914400" rtl="0" eaLnBrk="1" latinLnBrk="0" hangingPunct="1">
                        <a:defRPr sz="1800" b="1" kern="1200">
                          <a:solidFill>
                            <a:schemeClr val="lt1"/>
                          </a:solidFill>
                          <a:latin typeface="Segoe UI"/>
                        </a:defRPr>
                      </a:lvl4pPr>
                      <a:lvl5pPr marL="1828800" algn="l" defTabSz="914400" rtl="0" eaLnBrk="1" latinLnBrk="0" hangingPunct="1">
                        <a:defRPr sz="1800" b="1" kern="1200">
                          <a:solidFill>
                            <a:schemeClr val="lt1"/>
                          </a:solidFill>
                          <a:latin typeface="Segoe UI"/>
                        </a:defRPr>
                      </a:lvl5pPr>
                      <a:lvl6pPr marL="2286000" algn="l" defTabSz="914400" rtl="0" eaLnBrk="1" latinLnBrk="0" hangingPunct="1">
                        <a:defRPr sz="1800" b="1" kern="1200">
                          <a:solidFill>
                            <a:schemeClr val="lt1"/>
                          </a:solidFill>
                          <a:latin typeface="Segoe UI"/>
                        </a:defRPr>
                      </a:lvl6pPr>
                      <a:lvl7pPr marL="2743200" algn="l" defTabSz="914400" rtl="0" eaLnBrk="1" latinLnBrk="0" hangingPunct="1">
                        <a:defRPr sz="1800" b="1" kern="1200">
                          <a:solidFill>
                            <a:schemeClr val="lt1"/>
                          </a:solidFill>
                          <a:latin typeface="Segoe UI"/>
                        </a:defRPr>
                      </a:lvl7pPr>
                      <a:lvl8pPr marL="3200400" algn="l" defTabSz="914400" rtl="0" eaLnBrk="1" latinLnBrk="0" hangingPunct="1">
                        <a:defRPr sz="1800" b="1" kern="1200">
                          <a:solidFill>
                            <a:schemeClr val="lt1"/>
                          </a:solidFill>
                          <a:latin typeface="Segoe UI"/>
                        </a:defRPr>
                      </a:lvl8pPr>
                      <a:lvl9pPr marL="3657600" algn="l" defTabSz="914400" rtl="0" eaLnBrk="1" latinLnBrk="0" hangingPunct="1">
                        <a:defRPr sz="1800" b="1" kern="1200">
                          <a:solidFill>
                            <a:schemeClr val="lt1"/>
                          </a:solidFill>
                          <a:latin typeface="Segoe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78D4"/>
                          </a:solidFill>
                          <a:latin typeface="Segoe UI Semibold"/>
                          <a:hlinkClick r:id="rId3"/>
                        </a:rPr>
                        <a:t>Reservation blog</a:t>
                      </a:r>
                      <a:endParaRPr lang="en-US" sz="1400" b="0" dirty="0">
                        <a:solidFill>
                          <a:schemeClr val="accent1">
                            <a:lumMod val="50000"/>
                          </a:schemeClr>
                        </a:solidFill>
                        <a:latin typeface="+mj-lt"/>
                      </a:endParaRPr>
                    </a:p>
                  </a:txBody>
                  <a:tcPr anchor="ctr"/>
                </a:tc>
                <a:extLst>
                  <a:ext uri="{0D108BD9-81ED-4DB2-BD59-A6C34878D82A}">
                    <a16:rowId xmlns:a16="http://schemas.microsoft.com/office/drawing/2014/main" val="3907650000"/>
                  </a:ext>
                </a:extLst>
              </a:tr>
              <a:tr h="488764">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r>
                        <a:rPr lang="en-US" sz="1400" b="0" kern="1200" cap="none" spc="0" baseline="0" dirty="0">
                          <a:ln w="3175">
                            <a:noFill/>
                          </a:ln>
                          <a:solidFill>
                            <a:schemeClr val="tx1"/>
                          </a:solidFill>
                          <a:effectLst/>
                          <a:latin typeface="+mj-lt"/>
                        </a:rPr>
                        <a:t>View your recommendation</a:t>
                      </a:r>
                      <a:endParaRPr lang="en-US" sz="1400" b="0" kern="1200" cap="none" spc="0" baseline="0" dirty="0">
                        <a:ln w="3175">
                          <a:noFill/>
                        </a:ln>
                        <a:solidFill>
                          <a:schemeClr val="tx1"/>
                        </a:solidFill>
                        <a:effectLst/>
                        <a:latin typeface="+mj-lt"/>
                        <a:ea typeface="+mn-ea"/>
                        <a:cs typeface="Segoe UI" pitchFamily="34" charset="0"/>
                      </a:endParaRPr>
                    </a:p>
                  </a:txBody>
                  <a:tcPr anchor="c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r>
                        <a:rPr lang="en-US" sz="1400" dirty="0">
                          <a:solidFill>
                            <a:srgbClr val="0078D4"/>
                          </a:solidFill>
                          <a:latin typeface="Segoe UI Semibold"/>
                          <a:hlinkClick r:id="rId4">
                            <a:extLst>
                              <a:ext uri="{A12FA001-AC4F-418D-AE19-62706E023703}">
                                <ahyp:hlinkClr xmlns:ahyp="http://schemas.microsoft.com/office/drawing/2018/hyperlinkcolor" val="tx"/>
                              </a:ext>
                            </a:extLst>
                          </a:hlinkClick>
                        </a:rPr>
                        <a:t xml:space="preserve">Azure Advisor </a:t>
                      </a:r>
                      <a:endParaRPr lang="en-US" sz="1400" b="0" kern="1200" dirty="0">
                        <a:solidFill>
                          <a:schemeClr val="accent1">
                            <a:lumMod val="50000"/>
                          </a:schemeClr>
                        </a:solidFill>
                        <a:latin typeface="+mj-lt"/>
                        <a:ea typeface="+mn-ea"/>
                        <a:cs typeface="+mn-cs"/>
                      </a:endParaRPr>
                    </a:p>
                  </a:txBody>
                  <a:tcPr anchor="ctr"/>
                </a:tc>
                <a:extLst>
                  <a:ext uri="{0D108BD9-81ED-4DB2-BD59-A6C34878D82A}">
                    <a16:rowId xmlns:a16="http://schemas.microsoft.com/office/drawing/2014/main" val="2930950937"/>
                  </a:ext>
                </a:extLst>
              </a:tr>
              <a:tr h="488764">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r>
                        <a:rPr lang="en-US" sz="1400" b="0" kern="1200" cap="none" spc="0" baseline="0" dirty="0">
                          <a:ln w="3175">
                            <a:noFill/>
                          </a:ln>
                          <a:solidFill>
                            <a:schemeClr val="tx1"/>
                          </a:solidFill>
                          <a:effectLst/>
                          <a:latin typeface="+mj-lt"/>
                        </a:rPr>
                        <a:t>Purchase a plan</a:t>
                      </a:r>
                      <a:endParaRPr lang="en-US" sz="1400" b="0" kern="1200" cap="none" spc="0" baseline="0" dirty="0">
                        <a:ln w="3175">
                          <a:noFill/>
                        </a:ln>
                        <a:solidFill>
                          <a:schemeClr val="tx1"/>
                        </a:solidFill>
                        <a:effectLst/>
                        <a:latin typeface="+mj-lt"/>
                        <a:ea typeface="+mn-ea"/>
                        <a:cs typeface="Segoe UI" pitchFamily="34" charset="0"/>
                      </a:endParaRPr>
                    </a:p>
                  </a:txBody>
                  <a:tcPr anchor="c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0078D4"/>
                          </a:solidFill>
                          <a:latin typeface="Segoe UI Semibold"/>
                          <a:hlinkClick r:id="rId5">
                            <a:extLst>
                              <a:ext uri="{A12FA001-AC4F-418D-AE19-62706E023703}">
                                <ahyp:hlinkClr xmlns:ahyp="http://schemas.microsoft.com/office/drawing/2018/hyperlinkcolor" val="tx"/>
                              </a:ext>
                            </a:extLst>
                          </a:hlinkClick>
                        </a:rPr>
                        <a:t>Azure portal</a:t>
                      </a:r>
                      <a:endParaRPr lang="en-US" sz="1400" b="0" kern="1200" dirty="0">
                        <a:solidFill>
                          <a:schemeClr val="accent1">
                            <a:lumMod val="50000"/>
                          </a:schemeClr>
                        </a:solidFill>
                        <a:latin typeface="+mj-lt"/>
                        <a:ea typeface="+mn-ea"/>
                        <a:cs typeface="+mn-cs"/>
                      </a:endParaRPr>
                    </a:p>
                  </a:txBody>
                  <a:tcPr anchor="ctr"/>
                </a:tc>
                <a:extLst>
                  <a:ext uri="{0D108BD9-81ED-4DB2-BD59-A6C34878D82A}">
                    <a16:rowId xmlns:a16="http://schemas.microsoft.com/office/drawing/2014/main" val="2677956343"/>
                  </a:ext>
                </a:extLst>
              </a:tr>
              <a:tr h="488764">
                <a:tc>
                  <a:txBody>
                    <a:bodyPr/>
                    <a:lstStyle/>
                    <a:p>
                      <a:r>
                        <a:rPr lang="en-US" sz="1400" b="0" kern="1200" cap="none" spc="0" baseline="0" dirty="0">
                          <a:ln w="3175">
                            <a:noFill/>
                          </a:ln>
                          <a:solidFill>
                            <a:schemeClr val="tx1"/>
                          </a:solidFill>
                          <a:effectLst/>
                          <a:latin typeface="+mj-lt"/>
                          <a:ea typeface="+mn-ea"/>
                          <a:cs typeface="Segoe UI" pitchFamily="34" charset="0"/>
                        </a:rPr>
                        <a:t>Documentation</a:t>
                      </a:r>
                    </a:p>
                  </a:txBody>
                  <a:tcPr anchor="ctr">
                    <a:solidFill>
                      <a:schemeClr val="accent1">
                        <a:lumMod val="20000"/>
                        <a:lumOff val="80000"/>
                      </a:schemeClr>
                    </a:solidFill>
                  </a:tcPr>
                </a:tc>
                <a:tc>
                  <a:txBody>
                    <a:bodyPr/>
                    <a:lstStyle/>
                    <a:p>
                      <a:pPr marL="742933" lvl="1" indent="-285750" defTabSz="932742">
                        <a:spcAft>
                          <a:spcPts val="1200"/>
                        </a:spcAft>
                        <a:buClr>
                          <a:srgbClr val="000000"/>
                        </a:buClr>
                        <a:buSzPct val="90000"/>
                        <a:buFontTx/>
                        <a:buBlip>
                          <a:blip r:embed="rId6"/>
                        </a:buBlip>
                        <a:defRPr/>
                      </a:pPr>
                      <a:r>
                        <a:rPr lang="en-US" sz="1800" dirty="0">
                          <a:latin typeface="Segoe UI Semibold"/>
                          <a:hlinkClick r:id="rId7"/>
                        </a:rPr>
                        <a:t xml:space="preserve">Provisioned Throughput reservations </a:t>
                      </a:r>
                      <a:endParaRPr lang="en-US" sz="1800" dirty="0">
                        <a:latin typeface="Segoe UI Semibold"/>
                      </a:endParaRPr>
                    </a:p>
                    <a:p>
                      <a:pPr marL="742933" lvl="1" indent="-285750" defTabSz="932742">
                        <a:spcAft>
                          <a:spcPts val="1200"/>
                        </a:spcAft>
                        <a:buClr>
                          <a:srgbClr val="000000"/>
                        </a:buClr>
                        <a:buSzPct val="90000"/>
                        <a:buFontTx/>
                        <a:buBlip>
                          <a:blip r:embed="rId6"/>
                        </a:buBlip>
                        <a:defRPr/>
                      </a:pPr>
                      <a:r>
                        <a:rPr lang="en-US" sz="1800" dirty="0">
                          <a:latin typeface="Segoe UI Semibold"/>
                          <a:hlinkClick r:id="rId8"/>
                        </a:rPr>
                        <a:t>Azure reservations</a:t>
                      </a:r>
                      <a:endParaRPr lang="en-US" sz="1400" b="0" kern="1200" dirty="0">
                        <a:solidFill>
                          <a:schemeClr val="accent1">
                            <a:lumMod val="50000"/>
                          </a:schemeClr>
                        </a:solidFill>
                        <a:latin typeface="+mj-lt"/>
                        <a:ea typeface="+mn-ea"/>
                        <a:cs typeface="+mn-cs"/>
                      </a:endParaRPr>
                    </a:p>
                  </a:txBody>
                  <a:tcPr anchor="ctr"/>
                </a:tc>
                <a:extLst>
                  <a:ext uri="{0D108BD9-81ED-4DB2-BD59-A6C34878D82A}">
                    <a16:rowId xmlns:a16="http://schemas.microsoft.com/office/drawing/2014/main" val="1638898850"/>
                  </a:ext>
                </a:extLst>
              </a:tr>
              <a:tr h="488764">
                <a:tc>
                  <a:txBody>
                    <a:bodyPr/>
                    <a:lstStyle/>
                    <a:p>
                      <a:r>
                        <a:rPr lang="en-US" sz="1400" b="0" kern="1200" cap="none" spc="0" baseline="0" dirty="0">
                          <a:ln w="3175">
                            <a:noFill/>
                          </a:ln>
                          <a:solidFill>
                            <a:schemeClr val="tx1"/>
                          </a:solidFill>
                          <a:effectLst/>
                          <a:latin typeface="+mj-lt"/>
                          <a:ea typeface="+mn-ea"/>
                          <a:cs typeface="Segoe UI" pitchFamily="34" charset="0"/>
                        </a:rPr>
                        <a:t>Training and Skilling</a:t>
                      </a:r>
                    </a:p>
                  </a:txBody>
                  <a:tcPr anchor="ctr">
                    <a:solidFill>
                      <a:schemeClr val="accent1">
                        <a:lumMod val="20000"/>
                        <a:lumOff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dirty="0">
                          <a:solidFill>
                            <a:srgbClr val="0078D4"/>
                          </a:solidFill>
                          <a:latin typeface="Segoe UI Semibold"/>
                          <a:hlinkClick r:id="rId9">
                            <a:extLst>
                              <a:ext uri="{A12FA001-AC4F-418D-AE19-62706E023703}">
                                <ahyp:hlinkClr xmlns:ahyp="http://schemas.microsoft.com/office/drawing/2018/hyperlinkcolor" val="tx"/>
                              </a:ext>
                            </a:extLst>
                          </a:hlinkClick>
                        </a:rPr>
                        <a:t>Learning Module</a:t>
                      </a:r>
                      <a:endParaRPr lang="en-US" sz="1400" b="0" kern="1200" dirty="0">
                        <a:solidFill>
                          <a:schemeClr val="accent1">
                            <a:lumMod val="50000"/>
                          </a:schemeClr>
                        </a:solidFill>
                        <a:latin typeface="+mj-lt"/>
                        <a:ea typeface="+mn-ea"/>
                        <a:cs typeface="+mn-cs"/>
                      </a:endParaRPr>
                    </a:p>
                  </a:txBody>
                  <a:tcPr anchor="ctr"/>
                </a:tc>
                <a:extLst>
                  <a:ext uri="{0D108BD9-81ED-4DB2-BD59-A6C34878D82A}">
                    <a16:rowId xmlns:a16="http://schemas.microsoft.com/office/drawing/2014/main" val="1523314571"/>
                  </a:ext>
                </a:extLst>
              </a:tr>
              <a:tr h="488764">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r>
                        <a:rPr lang="en-US" sz="1400" b="0" kern="1200" cap="none" spc="0" baseline="0" dirty="0">
                          <a:ln w="3175">
                            <a:noFill/>
                          </a:ln>
                          <a:solidFill>
                            <a:schemeClr val="tx1"/>
                          </a:solidFill>
                          <a:effectLst/>
                          <a:latin typeface="+mj-lt"/>
                          <a:ea typeface="+mn-ea"/>
                          <a:cs typeface="Segoe UI" pitchFamily="34" charset="0"/>
                        </a:rPr>
                        <a:t>Watch demos</a:t>
                      </a:r>
                    </a:p>
                  </a:txBody>
                  <a:tcPr anchor="c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Segoe UI"/>
                        </a:defRPr>
                      </a:lvl1pPr>
                      <a:lvl2pPr marL="457200" algn="l" defTabSz="914400" rtl="0" eaLnBrk="1" latinLnBrk="0" hangingPunct="1">
                        <a:defRPr sz="1800" kern="1200">
                          <a:solidFill>
                            <a:schemeClr val="dk1"/>
                          </a:solidFill>
                          <a:latin typeface="Segoe UI"/>
                        </a:defRPr>
                      </a:lvl2pPr>
                      <a:lvl3pPr marL="914400" algn="l" defTabSz="914400" rtl="0" eaLnBrk="1" latinLnBrk="0" hangingPunct="1">
                        <a:defRPr sz="1800" kern="1200">
                          <a:solidFill>
                            <a:schemeClr val="dk1"/>
                          </a:solidFill>
                          <a:latin typeface="Segoe UI"/>
                        </a:defRPr>
                      </a:lvl3pPr>
                      <a:lvl4pPr marL="1371600" algn="l" defTabSz="914400" rtl="0" eaLnBrk="1" latinLnBrk="0" hangingPunct="1">
                        <a:defRPr sz="1800" kern="1200">
                          <a:solidFill>
                            <a:schemeClr val="dk1"/>
                          </a:solidFill>
                          <a:latin typeface="Segoe UI"/>
                        </a:defRPr>
                      </a:lvl4pPr>
                      <a:lvl5pPr marL="1828800" algn="l" defTabSz="914400" rtl="0" eaLnBrk="1" latinLnBrk="0" hangingPunct="1">
                        <a:defRPr sz="1800" kern="1200">
                          <a:solidFill>
                            <a:schemeClr val="dk1"/>
                          </a:solidFill>
                          <a:latin typeface="Segoe UI"/>
                        </a:defRPr>
                      </a:lvl5pPr>
                      <a:lvl6pPr marL="2286000" algn="l" defTabSz="914400" rtl="0" eaLnBrk="1" latinLnBrk="0" hangingPunct="1">
                        <a:defRPr sz="1800" kern="1200">
                          <a:solidFill>
                            <a:schemeClr val="dk1"/>
                          </a:solidFill>
                          <a:latin typeface="Segoe UI"/>
                        </a:defRPr>
                      </a:lvl6pPr>
                      <a:lvl7pPr marL="2743200" algn="l" defTabSz="914400" rtl="0" eaLnBrk="1" latinLnBrk="0" hangingPunct="1">
                        <a:defRPr sz="1800" kern="1200">
                          <a:solidFill>
                            <a:schemeClr val="dk1"/>
                          </a:solidFill>
                          <a:latin typeface="Segoe UI"/>
                        </a:defRPr>
                      </a:lvl7pPr>
                      <a:lvl8pPr marL="3200400" algn="l" defTabSz="914400" rtl="0" eaLnBrk="1" latinLnBrk="0" hangingPunct="1">
                        <a:defRPr sz="1800" kern="1200">
                          <a:solidFill>
                            <a:schemeClr val="dk1"/>
                          </a:solidFill>
                          <a:latin typeface="Segoe UI"/>
                        </a:defRPr>
                      </a:lvl8pPr>
                      <a:lvl9pPr marL="3657600" algn="l" defTabSz="914400" rtl="0" eaLnBrk="1" latinLnBrk="0" hangingPunct="1">
                        <a:defRPr sz="1800" kern="1200">
                          <a:solidFill>
                            <a:schemeClr val="dk1"/>
                          </a:solidFill>
                          <a:latin typeface="Segoe UI"/>
                        </a:defRPr>
                      </a:lvl9pPr>
                    </a:lstStyle>
                    <a:p>
                      <a:r>
                        <a:rPr lang="en-US" sz="1400" dirty="0">
                          <a:solidFill>
                            <a:srgbClr val="0078D4"/>
                          </a:solidFill>
                          <a:latin typeface="Segoe UI Semibold"/>
                          <a:hlinkClick r:id="rId10">
                            <a:extLst>
                              <a:ext uri="{A12FA001-AC4F-418D-AE19-62706E023703}">
                                <ahyp:hlinkClr xmlns:ahyp="http://schemas.microsoft.com/office/drawing/2018/hyperlinkcolor" val="tx"/>
                              </a:ext>
                            </a:extLst>
                          </a:hlinkClick>
                        </a:rPr>
                        <a:t>Azure Essentials Show</a:t>
                      </a:r>
                      <a:endParaRPr lang="en-US" sz="1400" b="0" kern="1200" dirty="0">
                        <a:solidFill>
                          <a:schemeClr val="accent1">
                            <a:lumMod val="50000"/>
                          </a:schemeClr>
                        </a:solidFill>
                        <a:latin typeface="+mj-lt"/>
                        <a:ea typeface="+mn-ea"/>
                        <a:cs typeface="+mn-cs"/>
                      </a:endParaRPr>
                    </a:p>
                  </a:txBody>
                  <a:tcPr anchor="ctr"/>
                </a:tc>
                <a:extLst>
                  <a:ext uri="{0D108BD9-81ED-4DB2-BD59-A6C34878D82A}">
                    <a16:rowId xmlns:a16="http://schemas.microsoft.com/office/drawing/2014/main" val="1437798562"/>
                  </a:ext>
                </a:extLst>
              </a:tr>
              <a:tr h="488764">
                <a:tc>
                  <a:txBody>
                    <a:bodyPr/>
                    <a:lstStyle/>
                    <a:p>
                      <a:r>
                        <a:rPr lang="en-US" sz="1400" b="0" kern="1200" cap="none" spc="0" baseline="0" dirty="0">
                          <a:ln w="3175">
                            <a:noFill/>
                          </a:ln>
                          <a:solidFill>
                            <a:schemeClr val="tx1"/>
                          </a:solidFill>
                          <a:effectLst/>
                          <a:latin typeface="+mj-lt"/>
                          <a:ea typeface="+mn-ea"/>
                          <a:cs typeface="+mn-cs"/>
                        </a:rPr>
                        <a:t>Additional resources</a:t>
                      </a:r>
                    </a:p>
                  </a:txBody>
                  <a:tcPr anchor="ctr">
                    <a:solidFill>
                      <a:schemeClr val="tx2">
                        <a:lumMod val="20000"/>
                        <a:lumOff val="8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400" kern="0" dirty="0">
                          <a:solidFill>
                            <a:srgbClr val="0078D4"/>
                          </a:solidFill>
                          <a:latin typeface="Segoe UI Semibold"/>
                          <a:hlinkClick r:id="rId11"/>
                        </a:rPr>
                        <a:t>Microsoft Foundry Models</a:t>
                      </a:r>
                      <a:endParaRPr lang="en-US" sz="1400" b="0" kern="1200" dirty="0">
                        <a:solidFill>
                          <a:schemeClr val="tx1"/>
                        </a:solidFill>
                        <a:latin typeface="+mj-lt"/>
                        <a:ea typeface="+mn-ea"/>
                        <a:cs typeface="+mn-cs"/>
                      </a:endParaRPr>
                    </a:p>
                  </a:txBody>
                  <a:tcPr anchor="ctr">
                    <a:solidFill>
                      <a:schemeClr val="tx2">
                        <a:lumMod val="20000"/>
                        <a:lumOff val="80000"/>
                      </a:schemeClr>
                    </a:solidFill>
                  </a:tcPr>
                </a:tc>
                <a:extLst>
                  <a:ext uri="{0D108BD9-81ED-4DB2-BD59-A6C34878D82A}">
                    <a16:rowId xmlns:a16="http://schemas.microsoft.com/office/drawing/2014/main" val="4152659893"/>
                  </a:ext>
                </a:extLst>
              </a:tr>
              <a:tr h="488764">
                <a:tc>
                  <a:txBody>
                    <a:bodyPr/>
                    <a:lstStyle/>
                    <a:p>
                      <a:endParaRPr lang="en-US" sz="1400" b="0" kern="1200" cap="none" spc="0" baseline="0" dirty="0">
                        <a:ln w="3175">
                          <a:noFill/>
                        </a:ln>
                        <a:solidFill>
                          <a:schemeClr val="tx1"/>
                        </a:solidFill>
                        <a:effectLst/>
                        <a:latin typeface="+mj-lt"/>
                        <a:ea typeface="+mn-ea"/>
                        <a:cs typeface="+mn-cs"/>
                      </a:endParaRPr>
                    </a:p>
                  </a:txBody>
                  <a:tcPr anchor="ctr">
                    <a:solidFill>
                      <a:schemeClr val="accent1">
                        <a:lumMod val="20000"/>
                        <a:lumOff val="80000"/>
                      </a:schemeClr>
                    </a:solidFill>
                  </a:tcPr>
                </a:tc>
                <a:tc>
                  <a:txBody>
                    <a:bodyPr/>
                    <a:lstStyle/>
                    <a:p>
                      <a:pPr marL="0" algn="l" defTabSz="932742" rtl="0" eaLnBrk="1" latinLnBrk="0" hangingPunct="1"/>
                      <a:endParaRPr lang="en-US" sz="1400" b="0" kern="1200" dirty="0">
                        <a:solidFill>
                          <a:schemeClr val="accent1">
                            <a:lumMod val="50000"/>
                          </a:schemeClr>
                        </a:solidFill>
                        <a:latin typeface="+mj-lt"/>
                        <a:ea typeface="+mn-ea"/>
                        <a:cs typeface="+mn-cs"/>
                      </a:endParaRPr>
                    </a:p>
                  </a:txBody>
                  <a:tcPr anchor="ctr"/>
                </a:tc>
                <a:extLst>
                  <a:ext uri="{0D108BD9-81ED-4DB2-BD59-A6C34878D82A}">
                    <a16:rowId xmlns:a16="http://schemas.microsoft.com/office/drawing/2014/main" val="2736377871"/>
                  </a:ext>
                </a:extLst>
              </a:tr>
            </a:tbl>
          </a:graphicData>
        </a:graphic>
      </p:graphicFrame>
    </p:spTree>
    <p:extLst>
      <p:ext uri="{BB962C8B-B14F-4D97-AF65-F5344CB8AC3E}">
        <p14:creationId xmlns:p14="http://schemas.microsoft.com/office/powerpoint/2010/main" val="2405674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49620678-51bf-43f9-9090-c87048a425b9"/>
  <p:tag name="MIO_UPDATE" val="True"/>
  <p:tag name="MIO_VERSION" val="30.03.2020 15:44:06"/>
  <p:tag name="MIO_DBID" val="12b0c59e-2253-4124-a5e9-470adf4cb168"/>
  <p:tag name="MIO_LASTDOWNLOADED" val="30.03.2020 15:44:52"/>
  <p:tag name="MIO_OBJECTNAME" val="Lab Name"/>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1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3.xml><?xml version="1.0" encoding="utf-8"?>
<a:theme xmlns:a="http://schemas.openxmlformats.org/drawingml/2006/main" name="2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_rels/item4.xml.rels><?xml version="1.0" encoding="UTF-8"?><Relationships xmlns="http://schemas.openxmlformats.org/package/2006/relationships"><Relationship Id="rId1" Type="http://schemas.openxmlformats.org/officeDocument/2006/relationships/customXmlProps" Target="itemProps4.xml"/></Relationships>
</file>

<file path=customXml/_rels/item5.xml.rels><?xml version="1.0" encoding="UTF-8"?><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LengthInSeconds xmlns="a29421e1-74d8-4915-bb0d-c72892872ba0" xsi:nil="true"/>
    <lcf76f155ced4ddcb4097134ff3c332f xmlns="a29421e1-74d8-4915-bb0d-c72892872ba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F09BE4E6-9E2C-41F5-80DF-B47AD657F493}">
  <ds:schemaRefs>
    <ds:schemaRef ds:uri="http://purl.org/dc/terms/"/>
    <ds:schemaRef ds:uri="http://schemas.microsoft.com/office/2006/documentManagement/types"/>
    <ds:schemaRef ds:uri="http://purl.org/dc/elements/1.1/"/>
    <ds:schemaRef ds:uri="fcb28fc0-2e3b-4764-9e63-46b62073c0cd"/>
    <ds:schemaRef ds:uri="http://schemas.microsoft.com/office/infopath/2007/PartnerControls"/>
    <ds:schemaRef ds:uri="http://www.w3.org/XML/1998/namespace"/>
    <ds:schemaRef ds:uri="19614695-0c98-4ea4-9244-f5047452aafb"/>
    <ds:schemaRef ds:uri="http://schemas.openxmlformats.org/package/2006/metadata/core-properties"/>
    <ds:schemaRef ds:uri="http://schemas.microsoft.com/office/2006/metadata/properties"/>
    <ds:schemaRef ds:uri="http://schemas.microsoft.com/sharepoint/v3"/>
    <ds:schemaRef ds:uri="http://purl.org/dc/dcmitype/"/>
  </ds:schemaRefs>
</ds:datastoreItem>
</file>

<file path=customXml/itemProps2.xml><?xml version="1.0" encoding="utf-8"?>
<ds:datastoreItem xmlns:ds="http://schemas.openxmlformats.org/officeDocument/2006/customXml" ds:itemID="{791BC0FC-91FC-4E20-B9B4-ABAFC911C2DE}">
  <ds:schemaRefs>
    <ds:schemaRef ds:uri="http://schemas.microsoft.com/sharepoint/v3/contenttype/forms"/>
  </ds:schemaRefs>
</ds:datastoreItem>
</file>

<file path=customXml/itemProps3.xml><?xml version="1.0" encoding="utf-8"?>
<ds:datastoreItem xmlns:ds="http://schemas.openxmlformats.org/officeDocument/2006/customXml" ds:itemID="{E8B6BAB9-7E77-40EE-8792-B3160299A234}"/>
</file>

<file path=customXml/itemProps4.xml><?xml version="1.0" encoding="utf-8"?>
<ds:datastoreItem xmlns:ds="http://schemas.openxmlformats.org/officeDocument/2006/customXml" ds:itemID="{A0EED17B-F609-411E-840C-8A361DF5E053}">
  <ds:schemaRefs>
    <ds:schemaRef ds:uri="Strauss.PersonalizationDefinition"/>
  </ds:schemaRefs>
</ds:datastoreItem>
</file>

<file path=customXml/itemProps5.xml><?xml version="1.0" encoding="utf-8"?>
<ds:datastoreItem xmlns:ds="http://schemas.openxmlformats.org/officeDocument/2006/customXml" ds:itemID="{11767EAE-0FC6-472D-9D35-EB3533243F22}">
  <ds:schemaRefs>
    <ds:schemaRef ds:uri="Strauss.PersonalizationDefinition"/>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WorkshopPLUS Module Template_Final</Template>
  <TotalTime>459</TotalTime>
  <Words>2400</Words>
  <Application>Microsoft Office PowerPoint</Application>
  <PresentationFormat>Widescreen</PresentationFormat>
  <Paragraphs>283</Paragraphs>
  <Slides>17</Slides>
  <Notes>17</Notes>
  <HiddenSlides>0</HiddenSlides>
  <MMClips>1</MMClips>
  <ScaleCrop>false</ScaleCrop>
  <HeadingPairs>
    <vt:vector size="4" baseType="variant">
      <vt:variant>
        <vt:lpstr>Theme</vt:lpstr>
      </vt:variant>
      <vt:variant>
        <vt:i4>3</vt:i4>
      </vt:variant>
      <vt:variant>
        <vt:lpstr>Slide Titles</vt:lpstr>
      </vt:variant>
      <vt:variant>
        <vt:i4>17</vt:i4>
      </vt:variant>
    </vt:vector>
  </HeadingPairs>
  <TitlesOfParts>
    <vt:vector size="20" baseType="lpstr">
      <vt:lpstr>White Template</vt:lpstr>
      <vt:lpstr>1_White Template</vt:lpstr>
      <vt:lpstr>2_White Template</vt:lpstr>
      <vt:lpstr>WorkshopPlus: Azure AI Platform and Services</vt:lpstr>
      <vt:lpstr>Objectives </vt:lpstr>
      <vt:lpstr>Obstacles to launching Gen AI use cases with PayGo deployment</vt:lpstr>
      <vt:lpstr>What are Provisioned Throughput Units (PTUs)?</vt:lpstr>
      <vt:lpstr>Value of Provisioned Throughput Units(PTU)</vt:lpstr>
      <vt:lpstr>Choosing the best Consumption Model</vt:lpstr>
      <vt:lpstr>Azure AI Foundry PTU Offerings</vt:lpstr>
      <vt:lpstr>Saving with Azure AI Foundry</vt:lpstr>
      <vt:lpstr>Saving Cost with Azure Reservations*</vt:lpstr>
      <vt:lpstr>Model Independent Quota</vt:lpstr>
      <vt:lpstr>Monitor and track your Quota usage</vt:lpstr>
      <vt:lpstr>Hourly usage</vt:lpstr>
      <vt:lpstr>PTU Minimum/Increments per model and Deployment type</vt:lpstr>
      <vt:lpstr>Demo: Estimate PTU using Capacity planner</vt:lpstr>
      <vt:lpstr>Exchange Reservations - example</vt:lpstr>
      <vt:lpstr>Best practices</vt:lpstr>
      <vt:lpstr>Start saving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 Madhavan</dc:creator>
  <cp:lastModifiedBy>Raj Madhavan</cp:lastModifiedBy>
  <cp:revision>29</cp:revision>
  <dcterms:created xsi:type="dcterms:W3CDTF">2025-07-14T12:55:48Z</dcterms:created>
  <dcterms:modified xsi:type="dcterms:W3CDTF">2025-08-23T00:14:42Z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0x0101001BD4B4487B57D443AED9979943B92646</vt:lpwstr>
  </property>
  <property fmtid="{D5CDD505-2E9C-101B-9397-08002B2CF9AE}" pid="3" name="MediaServiceImageTags">
    <vt:lpwstr/>
  </property>
  <property fmtid="{D5CDD505-2E9C-101B-9397-08002B2CF9AE}" pid="4" name="Order">
    <vt:r8>89300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ail Sent">
    <vt:bool>false</vt:bool>
  </property>
  <property fmtid="{D5CDD505-2E9C-101B-9397-08002B2CF9AE}" pid="14" name="Lead Signoff">
    <vt:bool>false</vt:bool>
  </property>
  <property fmtid="{D5CDD505-2E9C-101B-9397-08002B2CF9AE}" pid="15" name="Title URL">
    <vt:lpwstr>, </vt:lpwstr>
  </property>
  <property fmtid="{D5CDD505-2E9C-101B-9397-08002B2CF9AE}" pid="16" name="State">
    <vt:lpwstr>Open</vt:lpwstr>
  </property>
</Properties>
</file>