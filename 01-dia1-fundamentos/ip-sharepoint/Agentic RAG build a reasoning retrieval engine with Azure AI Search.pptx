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2.xml" ContentType="application/vnd.openxmlformats-officedocument.theme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3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theme/theme4.xml" ContentType="application/vnd.openxmlformats-officedocument.theme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447" r:id="rId4"/>
    <p:sldMasterId id="2147485608" r:id="rId5"/>
    <p:sldMasterId id="2147485890" r:id="rId6"/>
    <p:sldMasterId id="2147485840" r:id="rId7"/>
    <p:sldMasterId id="2147486084" r:id="rId8"/>
  </p:sldMasterIdLst>
  <p:notesMasterIdLst>
    <p:notesMasterId r:id="rId70"/>
  </p:notesMasterIdLst>
  <p:handoutMasterIdLst>
    <p:handoutMasterId r:id="rId71"/>
  </p:handoutMasterIdLst>
  <p:sldIdLst>
    <p:sldId id="311" r:id="rId9"/>
    <p:sldId id="2147483647" r:id="rId10"/>
    <p:sldId id="2147483639" r:id="rId11"/>
    <p:sldId id="360" r:id="rId12"/>
    <p:sldId id="265" r:id="rId13"/>
    <p:sldId id="259" r:id="rId14"/>
    <p:sldId id="2147483603" r:id="rId15"/>
    <p:sldId id="257" r:id="rId16"/>
    <p:sldId id="270" r:id="rId17"/>
    <p:sldId id="258" r:id="rId18"/>
    <p:sldId id="282" r:id="rId19"/>
    <p:sldId id="263" r:id="rId20"/>
    <p:sldId id="269" r:id="rId21"/>
    <p:sldId id="272" r:id="rId22"/>
    <p:sldId id="2147482835" r:id="rId23"/>
    <p:sldId id="273" r:id="rId24"/>
    <p:sldId id="276" r:id="rId25"/>
    <p:sldId id="274" r:id="rId26"/>
    <p:sldId id="2147482849" r:id="rId27"/>
    <p:sldId id="289" r:id="rId28"/>
    <p:sldId id="288" r:id="rId29"/>
    <p:sldId id="267" r:id="rId30"/>
    <p:sldId id="271" r:id="rId31"/>
    <p:sldId id="283" r:id="rId32"/>
    <p:sldId id="284" r:id="rId33"/>
    <p:sldId id="280" r:id="rId34"/>
    <p:sldId id="285" r:id="rId35"/>
    <p:sldId id="290" r:id="rId36"/>
    <p:sldId id="2147482914" r:id="rId37"/>
    <p:sldId id="256" r:id="rId38"/>
    <p:sldId id="2147482915" r:id="rId39"/>
    <p:sldId id="268" r:id="rId40"/>
    <p:sldId id="286" r:id="rId41"/>
    <p:sldId id="264" r:id="rId42"/>
    <p:sldId id="287" r:id="rId43"/>
    <p:sldId id="294" r:id="rId44"/>
    <p:sldId id="293" r:id="rId45"/>
    <p:sldId id="266" r:id="rId46"/>
    <p:sldId id="277" r:id="rId47"/>
    <p:sldId id="279" r:id="rId48"/>
    <p:sldId id="278" r:id="rId49"/>
    <p:sldId id="295" r:id="rId50"/>
    <p:sldId id="298" r:id="rId51"/>
    <p:sldId id="299" r:id="rId52"/>
    <p:sldId id="300" r:id="rId53"/>
    <p:sldId id="301" r:id="rId54"/>
    <p:sldId id="303" r:id="rId55"/>
    <p:sldId id="304" r:id="rId56"/>
    <p:sldId id="313" r:id="rId57"/>
    <p:sldId id="261" r:id="rId58"/>
    <p:sldId id="296" r:id="rId59"/>
    <p:sldId id="262" r:id="rId60"/>
    <p:sldId id="281" r:id="rId61"/>
    <p:sldId id="291" r:id="rId62"/>
    <p:sldId id="292" r:id="rId63"/>
    <p:sldId id="305" r:id="rId64"/>
    <p:sldId id="312" r:id="rId65"/>
    <p:sldId id="2147481156" r:id="rId66"/>
    <p:sldId id="2147483645" r:id="rId67"/>
    <p:sldId id="275" r:id="rId68"/>
    <p:sldId id="260" r:id="rId69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RK142" id="{A62E48F6-02F2-4707-8C6C-747BD3F1E007}">
          <p14:sldIdLst>
            <p14:sldId id="311"/>
            <p14:sldId id="2147483647"/>
            <p14:sldId id="2147483639"/>
            <p14:sldId id="360"/>
            <p14:sldId id="265"/>
            <p14:sldId id="259"/>
            <p14:sldId id="2147483603"/>
            <p14:sldId id="257"/>
            <p14:sldId id="270"/>
            <p14:sldId id="258"/>
            <p14:sldId id="282"/>
            <p14:sldId id="263"/>
            <p14:sldId id="269"/>
            <p14:sldId id="272"/>
            <p14:sldId id="2147482835"/>
            <p14:sldId id="273"/>
            <p14:sldId id="276"/>
            <p14:sldId id="274"/>
            <p14:sldId id="2147482849"/>
            <p14:sldId id="289"/>
            <p14:sldId id="288"/>
            <p14:sldId id="267"/>
            <p14:sldId id="271"/>
            <p14:sldId id="283"/>
            <p14:sldId id="284"/>
            <p14:sldId id="280"/>
            <p14:sldId id="285"/>
            <p14:sldId id="290"/>
            <p14:sldId id="2147482914"/>
            <p14:sldId id="256"/>
            <p14:sldId id="2147482915"/>
            <p14:sldId id="268"/>
            <p14:sldId id="286"/>
            <p14:sldId id="264"/>
            <p14:sldId id="287"/>
            <p14:sldId id="294"/>
            <p14:sldId id="293"/>
            <p14:sldId id="266"/>
            <p14:sldId id="277"/>
            <p14:sldId id="279"/>
            <p14:sldId id="278"/>
            <p14:sldId id="295"/>
            <p14:sldId id="298"/>
            <p14:sldId id="299"/>
            <p14:sldId id="300"/>
            <p14:sldId id="301"/>
            <p14:sldId id="303"/>
            <p14:sldId id="304"/>
            <p14:sldId id="313"/>
            <p14:sldId id="261"/>
            <p14:sldId id="296"/>
            <p14:sldId id="262"/>
            <p14:sldId id="281"/>
            <p14:sldId id="291"/>
            <p14:sldId id="292"/>
            <p14:sldId id="305"/>
            <p14:sldId id="312"/>
          </p14:sldIdLst>
        </p14:section>
        <p14:section name="Appendix" id="{66123605-8FEE-4B95-9086-120EE5405E10}">
          <p14:sldIdLst>
            <p14:sldId id="2147481156"/>
            <p14:sldId id="2147483645"/>
            <p14:sldId id="275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03280C-6AAF-B0FE-47DF-3425564CE7DE}" name="Allison Sparrow" initials="AS" userId="S::alsparrow@microsoft.com::c67eeae2-bc25-40f7-a31a-74e931390c1e" providerId="AD"/>
  <p188:author id="{68D5532C-8410-1CEE-0131-FAE9FF16C1EC}" name="Ben Ufuk Tezcan" initials="BT" userId="S::ufukt@microsoft.com::6e991d20-f6eb-4461-91d2-01cf7b5331ec" providerId="AD"/>
  <p188:author id="{35B73632-6CE1-F5AC-1EEB-9FB25C076E5B}" name="Matt Gotteiner" initials="MG" userId="S::magottei@microsoft.com::44e5f686-35a1-4e2c-9ff3-7b6adafcd3c3" providerId="AD"/>
  <p188:author id="{48C35571-BB83-9359-6CE5-DDA0D41620CB}" name="Mohini Verma" initials="MV" userId="S::mohverma@microsoft.com::59ea359f-e0bb-46eb-a743-499056007a3a" providerId="AD"/>
  <p188:author id="{99DB6089-8D52-55F7-FE00-7699C16B0BD1}" name="Jennifer He (Stinson Communications Inc)" initials="JH" userId="S::v-jenniferhe@microsoft.com::32c4919b-bdac-4f95-84ae-b96e800b97d0" providerId="AD"/>
  <p188:author id="{E68CE6A4-2FD1-FC24-08F9-C2D0EC0312C8}" name="Takuto Higuchi" initials="TH" userId="S::tahiguch@microsoft.com::62b346dc-9dcf-4f5e-bcb3-018506f29807" providerId="AD"/>
  <p188:author id="{D94EBEAC-6DB7-FFDC-1735-E160E05A4F8B}" name="Laurel Geisbush (MURPHY AND ASSOCIATES INC)" initials="LG" userId="S::v-lgeisbush@microsoft.com::58ee82d4-3398-485b-911a-8ebb9a041c9c" providerId="AD"/>
  <p188:author id="{6AFA61D8-796F-555E-A395-B33F90AAF99E}" name="Monica Lueder" initials="ML" userId="S::monical@microsoft.com::75969e72-ba9c-4e32-a4ac-c8f3aeff9ba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8E8"/>
    <a:srgbClr val="8661C5"/>
    <a:srgbClr val="FFA38B"/>
    <a:srgbClr val="79CEF2"/>
    <a:srgbClr val="66C1EA"/>
    <a:srgbClr val="2361DB"/>
    <a:srgbClr val="4C6139"/>
    <a:srgbClr val="E8E6DF"/>
    <a:srgbClr val="E1D3C7"/>
    <a:srgbClr val="FFF8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69E60E-13DC-4212-B323-8373FDA4BF99}" v="2006" dt="2025-05-21T19:15:05.086"/>
    <p1510:client id="{67869E27-446E-9343-B1E7-E0F984275598}" v="2693" dt="2025-05-21T18:56:37.886"/>
    <p1510:client id="{F8405AD7-BA95-4778-8832-1857C3B51613}" v="54" dt="2025-05-20T19:25:02.6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346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66" Type="http://schemas.openxmlformats.org/officeDocument/2006/relationships/slide" Target="slides/slide58.xml"/><Relationship Id="rId7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3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microsoft.com/office/2015/10/relationships/revisionInfo" Target="revisionInfo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72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notesMaster" Target="notesMasters/notesMaster1.xml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presProps" Target="presProps.xml"/><Relationship Id="rId78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71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microsoft-my.sharepoint.com/personal/magottei_microsoft_com/Documents/char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microsoft-my.sharepoint.com/personal/magottei_microsoft_com/Documents/char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pPr>
            <a:r>
              <a:rPr lang="en-US" sz="1600">
                <a:latin typeface="Segoe UI Semibold" panose="020B0702040204020203" pitchFamily="34" charset="0"/>
                <a:cs typeface="Segoe UI Semibold" panose="020B0702040204020203" pitchFamily="34" charset="0"/>
              </a:rPr>
              <a:t>Traditional Search vs Agentic Retrieval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/>
              </a:solidFill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2"/>
          <c:order val="0"/>
          <c:tx>
            <c:strRef>
              <c:f>Sheet1!$A$4:$B$4</c:f>
              <c:strCache>
                <c:ptCount val="2"/>
                <c:pt idx="0">
                  <c:v>Complex</c:v>
                </c:pt>
                <c:pt idx="1">
                  <c:v>Search</c:v>
                </c:pt>
              </c:strCache>
            </c:strRef>
          </c:tx>
          <c:spPr>
            <a:solidFill>
              <a:srgbClr val="FFC6CC"/>
            </a:solidFill>
            <a:ln>
              <a:noFill/>
            </a:ln>
            <a:effectLst/>
          </c:spPr>
          <c:invertIfNegative val="0"/>
          <c:cat>
            <c:strRef>
              <c:f>Sheet1!$C$1:$D$1</c:f>
              <c:strCache>
                <c:ptCount val="2"/>
                <c:pt idx="0">
                  <c:v>Answer score</c:v>
                </c:pt>
                <c:pt idx="1">
                  <c:v>Content score</c:v>
                </c:pt>
              </c:strCache>
            </c:strRef>
          </c:cat>
          <c:val>
            <c:numRef>
              <c:f>Sheet1!$C$4:$D$4</c:f>
              <c:numCache>
                <c:formatCode>General</c:formatCode>
                <c:ptCount val="2"/>
                <c:pt idx="0">
                  <c:v>41.55</c:v>
                </c:pt>
                <c:pt idx="1">
                  <c:v>31.03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E7-014B-9164-A75896147D9C}"/>
            </c:ext>
          </c:extLst>
        </c:ser>
        <c:ser>
          <c:idx val="3"/>
          <c:order val="1"/>
          <c:tx>
            <c:strRef>
              <c:f>Sheet1!$A$5:$B$5</c:f>
              <c:strCache>
                <c:ptCount val="2"/>
                <c:pt idx="0">
                  <c:v>Complex</c:v>
                </c:pt>
                <c:pt idx="1">
                  <c:v>Agentric Retrieval</c:v>
                </c:pt>
              </c:strCache>
            </c:strRef>
          </c:tx>
          <c:spPr>
            <a:solidFill>
              <a:srgbClr val="A9D5ED"/>
            </a:solidFill>
            <a:ln>
              <a:noFill/>
            </a:ln>
            <a:effectLst/>
          </c:spPr>
          <c:invertIfNegative val="0"/>
          <c:cat>
            <c:strRef>
              <c:f>Sheet1!$C$1:$D$1</c:f>
              <c:strCache>
                <c:ptCount val="2"/>
                <c:pt idx="0">
                  <c:v>Answer score</c:v>
                </c:pt>
                <c:pt idx="1">
                  <c:v>Content score</c:v>
                </c:pt>
              </c:strCache>
            </c:strRef>
          </c:cat>
          <c:val>
            <c:numRef>
              <c:f>Sheet1!$C$5:$D$5</c:f>
              <c:numCache>
                <c:formatCode>General</c:formatCode>
                <c:ptCount val="2"/>
                <c:pt idx="0">
                  <c:v>57.63</c:v>
                </c:pt>
                <c:pt idx="1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E7-014B-9164-A75896147D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5"/>
        <c:axId val="1904596159"/>
        <c:axId val="1904600479"/>
      </c:barChart>
      <c:catAx>
        <c:axId val="19045961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4600479"/>
        <c:crosses val="autoZero"/>
        <c:auto val="1"/>
        <c:lblAlgn val="ctr"/>
        <c:lblOffset val="100"/>
        <c:noMultiLvlLbl val="0"/>
      </c:catAx>
      <c:valAx>
        <c:axId val="1904600479"/>
        <c:scaling>
          <c:orientation val="minMax"/>
          <c:max val="6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45961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r>
              <a:rPr lang="en-US" sz="1600">
                <a:latin typeface="+mj-lt"/>
              </a:rPr>
              <a:t>Percentage of multiple subquery </a:t>
            </a:r>
            <a:br>
              <a:rPr lang="en-US" sz="1600">
                <a:latin typeface="+mj-lt"/>
              </a:rPr>
            </a:br>
            <a:r>
              <a:rPr lang="en-US" sz="1600">
                <a:latin typeface="+mj-lt"/>
              </a:rPr>
              <a:t>plans by model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/>
              </a:solidFill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Sheet1!$A$15</c:f>
              <c:strCache>
                <c:ptCount val="1"/>
                <c:pt idx="0">
                  <c:v>Classic Query</c:v>
                </c:pt>
              </c:strCache>
            </c:strRef>
          </c:tx>
          <c:spPr>
            <a:solidFill>
              <a:srgbClr val="8661C5"/>
            </a:solidFill>
            <a:ln>
              <a:noFill/>
            </a:ln>
            <a:effectLst/>
          </c:spPr>
          <c:invertIfNegative val="0"/>
          <c:cat>
            <c:strRef>
              <c:f>Sheet1!$B$14:$F$14</c:f>
              <c:strCache>
                <c:ptCount val="5"/>
                <c:pt idx="0">
                  <c:v>gpt-4o</c:v>
                </c:pt>
                <c:pt idx="1">
                  <c:v>gpt-4o-mini</c:v>
                </c:pt>
                <c:pt idx="2">
                  <c:v>gpt-4.1</c:v>
                </c:pt>
                <c:pt idx="3">
                  <c:v>gpt-4.1-mini</c:v>
                </c:pt>
                <c:pt idx="4">
                  <c:v>gpt-4.1-nano</c:v>
                </c:pt>
              </c:strCache>
            </c:strRef>
          </c:cat>
          <c:val>
            <c:numRef>
              <c:f>Sheet1!$B$15:$F$15</c:f>
              <c:numCache>
                <c:formatCode>General</c:formatCode>
                <c:ptCount val="5"/>
                <c:pt idx="0">
                  <c:v>16.739999999999998</c:v>
                </c:pt>
                <c:pt idx="1">
                  <c:v>51.3</c:v>
                </c:pt>
                <c:pt idx="2">
                  <c:v>14.48</c:v>
                </c:pt>
                <c:pt idx="3">
                  <c:v>7.63</c:v>
                </c:pt>
                <c:pt idx="4">
                  <c:v>11.51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FE-48B1-8DDE-CFFEAC794AB4}"/>
            </c:ext>
          </c:extLst>
        </c:ser>
        <c:ser>
          <c:idx val="1"/>
          <c:order val="1"/>
          <c:tx>
            <c:strRef>
              <c:f>Sheet1!$A$16</c:f>
              <c:strCache>
                <c:ptCount val="1"/>
                <c:pt idx="0">
                  <c:v>Complex Query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Sheet1!$B$14:$F$14</c:f>
              <c:strCache>
                <c:ptCount val="5"/>
                <c:pt idx="0">
                  <c:v>gpt-4o</c:v>
                </c:pt>
                <c:pt idx="1">
                  <c:v>gpt-4o-mini</c:v>
                </c:pt>
                <c:pt idx="2">
                  <c:v>gpt-4.1</c:v>
                </c:pt>
                <c:pt idx="3">
                  <c:v>gpt-4.1-mini</c:v>
                </c:pt>
                <c:pt idx="4">
                  <c:v>gpt-4.1-nano</c:v>
                </c:pt>
              </c:strCache>
            </c:strRef>
          </c:cat>
          <c:val>
            <c:numRef>
              <c:f>Sheet1!$B$16:$F$16</c:f>
              <c:numCache>
                <c:formatCode>General</c:formatCode>
                <c:ptCount val="5"/>
                <c:pt idx="0">
                  <c:v>61.09</c:v>
                </c:pt>
                <c:pt idx="1">
                  <c:v>78.91</c:v>
                </c:pt>
                <c:pt idx="2">
                  <c:v>69.92</c:v>
                </c:pt>
                <c:pt idx="3">
                  <c:v>54.72</c:v>
                </c:pt>
                <c:pt idx="4">
                  <c:v>46.33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FE-48B1-8DDE-CFFEAC794AB4}"/>
            </c:ext>
          </c:extLst>
        </c:ser>
        <c:ser>
          <c:idx val="2"/>
          <c:order val="2"/>
          <c:tx>
            <c:strRef>
              <c:f>Sheet1!$A$17</c:f>
              <c:strCache>
                <c:ptCount val="1"/>
                <c:pt idx="0">
                  <c:v>Conversational Query</c:v>
                </c:pt>
              </c:strCache>
            </c:strRef>
          </c:tx>
          <c:spPr>
            <a:solidFill>
              <a:srgbClr val="C03BC4"/>
            </a:solidFill>
            <a:ln>
              <a:noFill/>
            </a:ln>
            <a:effectLst/>
          </c:spPr>
          <c:invertIfNegative val="0"/>
          <c:cat>
            <c:strRef>
              <c:f>Sheet1!$B$14:$F$14</c:f>
              <c:strCache>
                <c:ptCount val="5"/>
                <c:pt idx="0">
                  <c:v>gpt-4o</c:v>
                </c:pt>
                <c:pt idx="1">
                  <c:v>gpt-4o-mini</c:v>
                </c:pt>
                <c:pt idx="2">
                  <c:v>gpt-4.1</c:v>
                </c:pt>
                <c:pt idx="3">
                  <c:v>gpt-4.1-mini</c:v>
                </c:pt>
                <c:pt idx="4">
                  <c:v>gpt-4.1-nano</c:v>
                </c:pt>
              </c:strCache>
            </c:strRef>
          </c:cat>
          <c:val>
            <c:numRef>
              <c:f>Sheet1!$B$17:$F$17</c:f>
              <c:numCache>
                <c:formatCode>General</c:formatCode>
                <c:ptCount val="5"/>
                <c:pt idx="0">
                  <c:v>25.82</c:v>
                </c:pt>
                <c:pt idx="1">
                  <c:v>55.68</c:v>
                </c:pt>
                <c:pt idx="2">
                  <c:v>23.21</c:v>
                </c:pt>
                <c:pt idx="3">
                  <c:v>12.96</c:v>
                </c:pt>
                <c:pt idx="4">
                  <c:v>14.51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6FE-48B1-8DDE-CFFEAC794AB4}"/>
            </c:ext>
          </c:extLst>
        </c:ser>
        <c:ser>
          <c:idx val="3"/>
          <c:order val="3"/>
          <c:tx>
            <c:strRef>
              <c:f>Sheet1!$A$18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Sheet1!$B$14:$F$14</c:f>
              <c:strCache>
                <c:ptCount val="5"/>
                <c:pt idx="0">
                  <c:v>gpt-4o</c:v>
                </c:pt>
                <c:pt idx="1">
                  <c:v>gpt-4o-mini</c:v>
                </c:pt>
                <c:pt idx="2">
                  <c:v>gpt-4.1</c:v>
                </c:pt>
                <c:pt idx="3">
                  <c:v>gpt-4.1-mini</c:v>
                </c:pt>
                <c:pt idx="4">
                  <c:v>gpt-4.1-nano</c:v>
                </c:pt>
              </c:strCache>
            </c:strRef>
          </c:cat>
          <c:val>
            <c:numRef>
              <c:f>Sheet1!$B$18:$F$18</c:f>
              <c:numCache>
                <c:formatCode>General</c:formatCode>
                <c:ptCount val="5"/>
                <c:pt idx="0">
                  <c:v>37.9</c:v>
                </c:pt>
                <c:pt idx="1">
                  <c:v>64.38</c:v>
                </c:pt>
                <c:pt idx="2">
                  <c:v>40.74</c:v>
                </c:pt>
                <c:pt idx="3">
                  <c:v>29.77</c:v>
                </c:pt>
                <c:pt idx="4">
                  <c:v>27.81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6FE-48B1-8DDE-CFFEAC794A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61608816"/>
        <c:axId val="1161609296"/>
      </c:barChart>
      <c:catAx>
        <c:axId val="1161608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1609296"/>
        <c:crosses val="autoZero"/>
        <c:auto val="1"/>
        <c:lblAlgn val="ctr"/>
        <c:lblOffset val="100"/>
        <c:noMultiLvlLbl val="0"/>
      </c:catAx>
      <c:valAx>
        <c:axId val="11616092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160881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r>
              <a:rPr lang="en-US" sz="1600">
                <a:latin typeface="+mj-lt"/>
              </a:rPr>
              <a:t>Average number </a:t>
            </a:r>
            <a:br>
              <a:rPr lang="en-US" sz="1600">
                <a:latin typeface="+mj-lt"/>
              </a:rPr>
            </a:br>
            <a:r>
              <a:rPr lang="en-US" sz="1600">
                <a:latin typeface="+mj-lt"/>
              </a:rPr>
              <a:t>of subqueries by model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/>
              </a:solidFill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Sheet1!$A$22</c:f>
              <c:strCache>
                <c:ptCount val="1"/>
                <c:pt idx="0">
                  <c:v>Classic Query</c:v>
                </c:pt>
              </c:strCache>
            </c:strRef>
          </c:tx>
          <c:spPr>
            <a:solidFill>
              <a:srgbClr val="8661C5"/>
            </a:solidFill>
            <a:ln>
              <a:noFill/>
            </a:ln>
            <a:effectLst/>
          </c:spPr>
          <c:invertIfNegative val="0"/>
          <c:cat>
            <c:strRef>
              <c:f>Sheet1!$B$21:$F$21</c:f>
              <c:strCache>
                <c:ptCount val="5"/>
                <c:pt idx="0">
                  <c:v>gpt-4o</c:v>
                </c:pt>
                <c:pt idx="1">
                  <c:v>gpt-4o-mini</c:v>
                </c:pt>
                <c:pt idx="2">
                  <c:v>gpt-4.1</c:v>
                </c:pt>
                <c:pt idx="3">
                  <c:v>gpt-4.1-mini</c:v>
                </c:pt>
                <c:pt idx="4">
                  <c:v>gpt-4.1-nano</c:v>
                </c:pt>
              </c:strCache>
            </c:strRef>
          </c:cat>
          <c:val>
            <c:numRef>
              <c:f>Sheet1!$B$22:$F$22</c:f>
              <c:numCache>
                <c:formatCode>General</c:formatCode>
                <c:ptCount val="5"/>
                <c:pt idx="0">
                  <c:v>1.23</c:v>
                </c:pt>
                <c:pt idx="1">
                  <c:v>1.83</c:v>
                </c:pt>
                <c:pt idx="2">
                  <c:v>1.32</c:v>
                </c:pt>
                <c:pt idx="3">
                  <c:v>1.17</c:v>
                </c:pt>
                <c:pt idx="4">
                  <c:v>1.32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E1-4BC2-81CC-4FBFC8475C3D}"/>
            </c:ext>
          </c:extLst>
        </c:ser>
        <c:ser>
          <c:idx val="1"/>
          <c:order val="1"/>
          <c:tx>
            <c:strRef>
              <c:f>Sheet1!$A$23</c:f>
              <c:strCache>
                <c:ptCount val="1"/>
                <c:pt idx="0">
                  <c:v>Complex Query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Sheet1!$B$21:$F$21</c:f>
              <c:strCache>
                <c:ptCount val="5"/>
                <c:pt idx="0">
                  <c:v>gpt-4o</c:v>
                </c:pt>
                <c:pt idx="1">
                  <c:v>gpt-4o-mini</c:v>
                </c:pt>
                <c:pt idx="2">
                  <c:v>gpt-4.1</c:v>
                </c:pt>
                <c:pt idx="3">
                  <c:v>gpt-4.1-mini</c:v>
                </c:pt>
                <c:pt idx="4">
                  <c:v>gpt-4.1-nano</c:v>
                </c:pt>
              </c:strCache>
            </c:strRef>
          </c:cat>
          <c:val>
            <c:numRef>
              <c:f>Sheet1!$B$23:$F$23</c:f>
              <c:numCache>
                <c:formatCode>General</c:formatCode>
                <c:ptCount val="5"/>
                <c:pt idx="0">
                  <c:v>1.79</c:v>
                </c:pt>
                <c:pt idx="1">
                  <c:v>2.19</c:v>
                </c:pt>
                <c:pt idx="2">
                  <c:v>2.11</c:v>
                </c:pt>
                <c:pt idx="3">
                  <c:v>1.72</c:v>
                </c:pt>
                <c:pt idx="4">
                  <c:v>1.71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E1-4BC2-81CC-4FBFC8475C3D}"/>
            </c:ext>
          </c:extLst>
        </c:ser>
        <c:ser>
          <c:idx val="2"/>
          <c:order val="2"/>
          <c:tx>
            <c:strRef>
              <c:f>Sheet1!$A$24</c:f>
              <c:strCache>
                <c:ptCount val="1"/>
                <c:pt idx="0">
                  <c:v>Conversational Query</c:v>
                </c:pt>
              </c:strCache>
            </c:strRef>
          </c:tx>
          <c:spPr>
            <a:solidFill>
              <a:srgbClr val="C03BC4"/>
            </a:solidFill>
            <a:ln>
              <a:noFill/>
            </a:ln>
            <a:effectLst/>
          </c:spPr>
          <c:invertIfNegative val="0"/>
          <c:cat>
            <c:strRef>
              <c:f>Sheet1!$B$21:$F$21</c:f>
              <c:strCache>
                <c:ptCount val="5"/>
                <c:pt idx="0">
                  <c:v>gpt-4o</c:v>
                </c:pt>
                <c:pt idx="1">
                  <c:v>gpt-4o-mini</c:v>
                </c:pt>
                <c:pt idx="2">
                  <c:v>gpt-4.1</c:v>
                </c:pt>
                <c:pt idx="3">
                  <c:v>gpt-4.1-mini</c:v>
                </c:pt>
                <c:pt idx="4">
                  <c:v>gpt-4.1-nano</c:v>
                </c:pt>
              </c:strCache>
            </c:strRef>
          </c:cat>
          <c:val>
            <c:numRef>
              <c:f>Sheet1!$B$24:$F$24</c:f>
              <c:numCache>
                <c:formatCode>General</c:formatCode>
                <c:ptCount val="5"/>
                <c:pt idx="0">
                  <c:v>1.26</c:v>
                </c:pt>
                <c:pt idx="1">
                  <c:v>1.79</c:v>
                </c:pt>
                <c:pt idx="2">
                  <c:v>1.3</c:v>
                </c:pt>
                <c:pt idx="3">
                  <c:v>1.1499999999999999</c:v>
                </c:pt>
                <c:pt idx="4">
                  <c:v>1.21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3E1-4BC2-81CC-4FBFC8475C3D}"/>
            </c:ext>
          </c:extLst>
        </c:ser>
        <c:ser>
          <c:idx val="3"/>
          <c:order val="3"/>
          <c:tx>
            <c:strRef>
              <c:f>Sheet1!$A$25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Sheet1!$B$21:$F$21</c:f>
              <c:strCache>
                <c:ptCount val="5"/>
                <c:pt idx="0">
                  <c:v>gpt-4o</c:v>
                </c:pt>
                <c:pt idx="1">
                  <c:v>gpt-4o-mini</c:v>
                </c:pt>
                <c:pt idx="2">
                  <c:v>gpt-4.1</c:v>
                </c:pt>
                <c:pt idx="3">
                  <c:v>gpt-4.1-mini</c:v>
                </c:pt>
                <c:pt idx="4">
                  <c:v>gpt-4.1-nano</c:v>
                </c:pt>
              </c:strCache>
            </c:strRef>
          </c:cat>
          <c:val>
            <c:numRef>
              <c:f>Sheet1!$B$25:$F$25</c:f>
              <c:numCache>
                <c:formatCode>General</c:formatCode>
                <c:ptCount val="5"/>
                <c:pt idx="0">
                  <c:v>1.49</c:v>
                </c:pt>
                <c:pt idx="1">
                  <c:v>1.99</c:v>
                </c:pt>
                <c:pt idx="2">
                  <c:v>1.68</c:v>
                </c:pt>
                <c:pt idx="3">
                  <c:v>1.42</c:v>
                </c:pt>
                <c:pt idx="4">
                  <c:v>1.49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3E1-4BC2-81CC-4FBFC8475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40217968"/>
        <c:axId val="1740213648"/>
      </c:barChart>
      <c:catAx>
        <c:axId val="1740217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0213648"/>
        <c:crosses val="autoZero"/>
        <c:auto val="1"/>
        <c:lblAlgn val="ctr"/>
        <c:lblOffset val="100"/>
        <c:noMultiLvlLbl val="0"/>
      </c:catAx>
      <c:valAx>
        <c:axId val="17402136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0217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5/21/2025 2:07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6CE63F-9E7F-4C04-9D0D-FCA25A8E9E86}" type="datetime8">
              <a:rPr lang="en-US" smtClean="0"/>
              <a:t>5/21/2025 2:07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AC9C0-5B55-18DC-8E90-756557FA3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B3F335-15B1-6BC4-77CC-82BE1C928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7889CA-3F3D-508B-126A-CE1DA511F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73DF7DD-7937-B2E7-FBA9-63BD408CA151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3E4CA-45E2-C366-0153-0050ADC3D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7924CA3-9937-3378-D779-C4F893495E44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62C61DAB-D93E-49CA-B245-379601CFE8D0}" type="datetime8">
              <a:rPr lang="en-US" smtClean="0"/>
              <a:t>5/21/2025 2:07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AF3E72-A27B-98BC-F504-A6F039DC121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727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84B1C-BE36-0BDD-B0A7-FE01E5A86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76E13-EBBE-005D-542F-15BFE16C1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7A9CE-36E4-EB2E-4F03-7ADA7734F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9B504F4-05D2-6018-1812-A3935B14830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0D25B-4494-E540-8F40-30D8F84790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7599AF1-0C12-CFE3-6819-A8890653F91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5/21/2025 2:07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2CB53-F2DA-2388-856A-9C6535F15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50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A9FAE-3428-A3A3-5F11-313A0F75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D5A8A9-5D7A-E772-27F3-B942BB9AE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845404-1BCF-D9B5-FF6C-2CE55FADE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ED8F6-4EFC-29AA-3045-DAA2D973C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4A4EC1-C524-ED45-A185-10510AA0C8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603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251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5/21/2025 2:07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0608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5/21/2025 2:07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71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810"/>
              </a:spcAft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65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7E7C3F-570D-674B-A591-D32D552AFC0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665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7796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D2F00-133D-3C2C-63D4-0DD169212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79E228-4101-1154-FDCC-6A567B62F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4CE18-BBFD-E3F8-879D-EC7808ABE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1FDE035-FD51-3C2C-0C4D-966C19A860E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73226-826E-0E3F-E74F-0A0DEBDF4E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FF7BE5B-1659-5761-BC48-E049C6C29D7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5/21/2025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3C001-663A-039B-C805-FE8F47FF2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1895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82800-D02A-30B3-7085-288BFC264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C56CF-A4A1-5CD6-612E-250ACF707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9DB87-613B-CF5F-3F8D-0C1271B8D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DE97D4C-93D0-8816-29A0-FFD34716986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9D0A8-30E0-B0D0-FC25-C8D19234CD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F0899CF-D8B9-0CC8-47C9-E7E6C3048C2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5/21/2025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4A20B-AF39-B8D0-932A-6E2BBB663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67286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5/21/2025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734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5/21/2025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2794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A5CAF-3257-C7EC-DD1E-6FF84200C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23B771-1D37-AD6C-2999-C6445FDC3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DD3248-0C42-E2BC-F543-4F9FCFEA3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05C30-AAB6-4CD5-193A-DD491F0C8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F14D4-BA41-4370-B9A4-5B34AB299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93534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3D84-64BF-D92B-40BE-4A43B568D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FD4B9B-D044-8191-F4BC-F0972D608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E5845-919F-D5C7-89DC-4F5905FAA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584940D-7104-D4D7-17C1-7D85636C33E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818F1-6728-E136-1E4A-C79B88000B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746F17-597F-0E1A-8E3F-3847E3056E0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5/21/2025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4C23F-7D78-F775-1562-4A133DD12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02678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A5CAF-3257-C7EC-DD1E-6FF84200C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23B771-1D37-AD6C-2999-C6445FDC3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DD3248-0C42-E2BC-F543-4F9FCFEA3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05C30-AAB6-4CD5-193A-DD491F0C8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F14D4-BA41-4370-B9A4-5B34AB299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39970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3D6C6-165B-867A-2BFB-7BF724BFE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9AF50-F300-DC6B-EEF6-D80DD885A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78C960-0884-4407-BE6F-9F9E74AF7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8884-8C23-27EE-3DF0-96FCC5EEB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F14D4-BA41-4370-B9A4-5B34AB299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4552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5/21/2025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678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5A63A-FC5A-96DA-84D7-1FDF3A55C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1B9D44-2EFB-239B-55C1-1B12F4015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DBC66B-32E8-8656-9D6A-2A6827AF6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55A0CDE-703E-C779-53AA-03060E8ADA7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D1981-66D6-9956-EA70-FA615EA22D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AE1E7D8-9197-305D-5B9F-31FCACD2E20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5/21/2025 2:13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F6090-5358-8CE0-29C2-A398BC0F9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538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5/21/2025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9552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5/21/2025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750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5/21/2025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12820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5/21/2025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168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1FA62E-593F-4EDB-8615-7E4064E778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8295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C552E-2766-0946-EE95-80BF89BD6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AC80D-12AE-692E-F47E-99F1A8851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7B20A-DE74-FBFB-EA5C-E31A49494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E6381D5-1141-4AB0-7318-B95B2A0162C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AEC6B-3F25-BC97-30DA-3D476AE321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76E6D-D677-B091-12CA-6F90CBED75F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5/21/2025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03D19-C1BA-B655-43E0-BC8176744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33557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50905-D7D6-38D8-4D8D-A17739DC7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1310A-5DA8-3B97-D251-27857AE6F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A3790-252C-FE83-DDC6-88976D2DA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ctr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A575921-8E3B-7F52-5B74-4117665F635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7A714-5BCB-D4D5-90A3-C55157D5D0C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Sans Text" pitchFamily="2" charset="0"/>
                <a:ea typeface="Segoe UI" pitchFamily="34" charset="0"/>
                <a:cs typeface="Segoe Sans Text" pitchFamily="2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7E45900-A461-B532-7EC4-F61B5C97CDF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5/21/2025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CEC6A-0F9B-34FA-5ADD-3092D2203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47327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10F55-8F3E-EB95-C1C5-7C1CF855A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495B0F-0CB3-3C3F-3CE7-9E182BA8D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9C2A7-0EBB-0ED3-7150-69D3C9450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810"/>
              </a:spcAft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DF2D3-BE3F-6EC1-0D54-B27A09CF08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65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7E7C3F-570D-674B-A591-D32D552AFC0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665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27221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5/21/2025 2:07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320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5/21/2025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7370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48384-68CD-46E0-932A-83402D0765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99634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48384-68CD-46E0-932A-83402D0765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56027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5/21/2025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10779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D8178-FFED-0D62-1A77-19FA35EB7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D16625-3B15-3B42-8753-591B4D7D3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8E9741-5988-EFA4-F666-CB8C5E2E3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8204361-DE6B-9023-657F-030C597C5BF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FDCD5-D33B-4EAF-A1A1-A4FFF09357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22622B6-65A1-4E27-757A-C089C2CC6C8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5/21/2025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2AB4D-3FD3-75F4-6C06-EE7141321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60227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2E50C-A288-42A2-B731-AA2D674CC45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94608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6CC9AB-C7F4-4106-BD7F-6816938D19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2484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48384-68CD-46E0-932A-83402D0765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29461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D29EF-417C-4DAD-704D-E3D8CAA03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1FF8C-AEC3-5FA9-DA01-ADE8FAB03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9F4DC-9483-31C9-C88E-FBDA57735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1FD8967-8561-3920-2B4B-7D468B171B0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B2124-D67F-665A-68EF-0E27C3E1505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9ED9C1-5E47-DBB4-C854-72CBE6DD73C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5/21/2025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2EA9F-ABA5-523A-6D4B-8D8E64CFC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2616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5.png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5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40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5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5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5.pn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5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5.pn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1.jpe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1.jpe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1.jpe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1.jpeg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3.xml"/><Relationship Id="rId5" Type="http://schemas.microsoft.com/office/2007/relationships/hdphoto" Target="../media/hdphoto3.wdp"/><Relationship Id="rId4" Type="http://schemas.openxmlformats.org/officeDocument/2006/relationships/image" Target="../media/image60.pn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35.pn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35.png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" Type="http://schemas.openxmlformats.org/officeDocument/2006/relationships/slideMaster" Target="../slideMasters/slideMaster3.xml"/><Relationship Id="rId5" Type="http://schemas.microsoft.com/office/2007/relationships/hdphoto" Target="../media/hdphoto3.wdp"/><Relationship Id="rId4" Type="http://schemas.openxmlformats.org/officeDocument/2006/relationships/image" Target="../media/image60.png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Master" Target="../slideMasters/slideMaster3.xml"/><Relationship Id="rId5" Type="http://schemas.microsoft.com/office/2007/relationships/hdphoto" Target="../media/hdphoto3.wdp"/><Relationship Id="rId4" Type="http://schemas.openxmlformats.org/officeDocument/2006/relationships/image" Target="../media/image60.png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71.png"/><Relationship Id="rId1" Type="http://schemas.openxmlformats.org/officeDocument/2006/relationships/slideMaster" Target="../slideMasters/slideMaster3.xml"/><Relationship Id="rId5" Type="http://schemas.microsoft.com/office/2007/relationships/hdphoto" Target="../media/hdphoto3.wdp"/><Relationship Id="rId4" Type="http://schemas.openxmlformats.org/officeDocument/2006/relationships/image" Target="../media/image60.png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1.jpeg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7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1.jpeg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svg"/><Relationship Id="rId2" Type="http://schemas.openxmlformats.org/officeDocument/2006/relationships/image" Target="../media/image7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1.jpeg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svg"/><Relationship Id="rId2" Type="http://schemas.openxmlformats.org/officeDocument/2006/relationships/image" Target="../media/image79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1.jpeg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svg"/><Relationship Id="rId2" Type="http://schemas.openxmlformats.org/officeDocument/2006/relationships/image" Target="../media/image8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1.jpeg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svg"/><Relationship Id="rId2" Type="http://schemas.openxmlformats.org/officeDocument/2006/relationships/image" Target="../media/image8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1.jpeg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svg"/><Relationship Id="rId2" Type="http://schemas.openxmlformats.org/officeDocument/2006/relationships/image" Target="../media/image8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1.jpeg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35.png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emf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3.jpeg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9.jpeg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4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3.jpeg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5.emf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3.jpeg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9.jpeg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4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3.jpeg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B78E58A-F050-2D4C-8CDE-EE12DA3AD3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3008" y="0"/>
            <a:ext cx="12188991" cy="6858000"/>
          </a:xfrm>
          <a:prstGeom prst="rect">
            <a:avLst/>
          </a:prstGeom>
        </p:spPr>
      </p:pic>
      <p:pic>
        <p:nvPicPr>
          <p:cNvPr id="5" name="Picture 4" descr="A close up of a sign&#10;&#10;AI-generated content may be incorrect.">
            <a:extLst>
              <a:ext uri="{FF2B5EF4-FFF2-40B4-BE49-F238E27FC236}">
                <a16:creationId xmlns:a16="http://schemas.microsoft.com/office/drawing/2014/main" id="{8DBF2036-0A95-6172-2982-A3932BB20C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465" y="2703056"/>
            <a:ext cx="3376457" cy="1514143"/>
          </a:xfrm>
          <a:prstGeom prst="rect">
            <a:avLst/>
          </a:prstGeom>
        </p:spPr>
      </p:pic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0F892706-E514-9308-1054-E66D5F1305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2912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454093-2407-868E-D935-592C706F24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C92DC79C-790E-8B3B-3A8A-E29B953EF5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6331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0914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461739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06056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84805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17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54422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colorful hexagons&#10;&#10;AI-generated content may be incorrect.">
            <a:extLst>
              <a:ext uri="{FF2B5EF4-FFF2-40B4-BE49-F238E27FC236}">
                <a16:creationId xmlns:a16="http://schemas.microsoft.com/office/drawing/2014/main" id="{C459F199-2A2D-6CE7-FD4F-C67A96274D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5603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4023B5-FCD6-2A9F-A834-F37F444390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8" b="102"/>
          <a:stretch/>
        </p:blipFill>
        <p:spPr>
          <a:xfrm>
            <a:off x="3008" y="1693"/>
            <a:ext cx="12188991" cy="68546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75556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56137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1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Theme 1 16x9 background live shapes">
            <a:extLst>
              <a:ext uri="{FF2B5EF4-FFF2-40B4-BE49-F238E27FC236}">
                <a16:creationId xmlns:a16="http://schemas.microsoft.com/office/drawing/2014/main" id="{C0E15311-C9BE-C867-A356-3D78F9853C7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2"/>
            <a:chOff x="7823983" y="0"/>
            <a:chExt cx="22756845" cy="12801600"/>
          </a:xfrm>
        </p:grpSpPr>
        <p:sp>
          <p:nvSpPr>
            <p:cNvPr id="3" name="Rectangle 2">
              <a:hlinkClick r:id="" action="ppaction://noaction"/>
              <a:extLst>
                <a:ext uri="{FF2B5EF4-FFF2-40B4-BE49-F238E27FC236}">
                  <a16:creationId xmlns:a16="http://schemas.microsoft.com/office/drawing/2014/main" id="{EFC71651-07AF-DD6D-8D6B-20B26425B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0"/>
              <a:ext cx="22756845" cy="1280160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ACC43FF-8C74-FA5C-69B4-85A567733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72" t="12009" r="20372" b="40594"/>
            <a:stretch/>
          </p:blipFill>
          <p:spPr>
            <a:xfrm>
              <a:off x="7823983" y="0"/>
              <a:ext cx="22756845" cy="128016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EF4850A3-8A2F-8B93-468C-0100C31EBD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12"/>
              <a:ext cx="22756845" cy="12801588"/>
            </a:xfrm>
            <a:prstGeom prst="rect">
              <a:avLst/>
            </a:prstGeom>
            <a:gradFill flip="none" rotWithShape="1">
              <a:gsLst>
                <a:gs pos="0">
                  <a:srgbClr val="FFBAA8">
                    <a:lumMod val="75000"/>
                    <a:lumOff val="25000"/>
                    <a:alpha val="45000"/>
                  </a:srgbClr>
                </a:gs>
                <a:gs pos="44000">
                  <a:srgbClr val="CBCCCA">
                    <a:alpha val="45000"/>
                  </a:srgbClr>
                </a:gs>
              </a:gsLst>
              <a:lin ang="1500000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3479" tIns="58783" rIns="73479" bIns="5878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07631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Dark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452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454093-2407-868E-D935-592C706F24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3008" y="0"/>
            <a:ext cx="12188991" cy="6858000"/>
          </a:xfrm>
          <a:prstGeom prst="rect">
            <a:avLst/>
          </a:prstGeom>
        </p:spPr>
      </p:pic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C92DC79C-790E-8B3B-3A8A-E29B953EF5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6331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B78E58A-F050-2D4C-8CDE-EE12DA3AD3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5" name="Picture 4" descr="A close up of a sign&#10;&#10;AI-generated content may be incorrect.">
            <a:extLst>
              <a:ext uri="{FF2B5EF4-FFF2-40B4-BE49-F238E27FC236}">
                <a16:creationId xmlns:a16="http://schemas.microsoft.com/office/drawing/2014/main" id="{8DBF2036-0A95-6172-2982-A3932BB20C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465" y="2703056"/>
            <a:ext cx="3376457" cy="1514143"/>
          </a:xfrm>
          <a:prstGeom prst="rect">
            <a:avLst/>
          </a:prstGeom>
        </p:spPr>
      </p:pic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0F892706-E514-9308-1054-E66D5F1305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020213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454093-2407-868E-D935-592C706F24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C92DC79C-790E-8B3B-3A8A-E29B953EF5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868068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b="1" i="0" spc="-50" baseline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45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43918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 - left side 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5232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 b="0" i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5906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de Bottom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 b="0" i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103675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de Top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 b="0" i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813699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de Right si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114742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de Left s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404051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Title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34B5B5-9563-3C0D-49CE-08EEB1B219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83" t="583" r="-13" b="10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4822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lan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15871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heme 1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Theme 1 16x9 background live shapes">
            <a:extLst>
              <a:ext uri="{FF2B5EF4-FFF2-40B4-BE49-F238E27FC236}">
                <a16:creationId xmlns:a16="http://schemas.microsoft.com/office/drawing/2014/main" id="{C0E15311-C9BE-C867-A356-3D78F9853C7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2"/>
            <a:chOff x="7823983" y="0"/>
            <a:chExt cx="22756845" cy="12801600"/>
          </a:xfrm>
        </p:grpSpPr>
        <p:sp>
          <p:nvSpPr>
            <p:cNvPr id="3" name="Rectangle 2">
              <a:hlinkClick r:id="" action="ppaction://noaction"/>
              <a:extLst>
                <a:ext uri="{FF2B5EF4-FFF2-40B4-BE49-F238E27FC236}">
                  <a16:creationId xmlns:a16="http://schemas.microsoft.com/office/drawing/2014/main" id="{EFC71651-07AF-DD6D-8D6B-20B26425B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0"/>
              <a:ext cx="22756845" cy="1280160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 i="0">
                <a:solidFill>
                  <a:srgbClr val="091F2C"/>
                </a:solidFill>
                <a:latin typeface="Segoe UI Semibold" panose="020B0502040204020203" pitchFamily="34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ACC43FF-8C74-FA5C-69B4-85A567733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72" t="12009" r="20372" b="40594"/>
            <a:stretch/>
          </p:blipFill>
          <p:spPr>
            <a:xfrm>
              <a:off x="7823983" y="0"/>
              <a:ext cx="22756845" cy="128016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EF4850A3-8A2F-8B93-468C-0100C31EBD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12"/>
              <a:ext cx="22756845" cy="12801588"/>
            </a:xfrm>
            <a:prstGeom prst="rect">
              <a:avLst/>
            </a:prstGeom>
            <a:gradFill flip="none" rotWithShape="1">
              <a:gsLst>
                <a:gs pos="0">
                  <a:srgbClr val="FFBAA8">
                    <a:lumMod val="75000"/>
                    <a:lumOff val="25000"/>
                    <a:alpha val="45000"/>
                  </a:srgbClr>
                </a:gs>
                <a:gs pos="44000">
                  <a:srgbClr val="CBCCCA">
                    <a:alpha val="45000"/>
                  </a:srgbClr>
                </a:gs>
              </a:gsLst>
              <a:lin ang="1500000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3479" tIns="58783" rIns="73479" bIns="5878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 b="1" i="0">
                <a:solidFill>
                  <a:srgbClr val="091F2C"/>
                </a:solidFill>
                <a:latin typeface="Segoe UI Semibold" panose="020B0502040204020203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22062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7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 descr="Theme 7 16x9 background live shapes">
            <a:extLst>
              <a:ext uri="{FF2B5EF4-FFF2-40B4-BE49-F238E27FC236}">
                <a16:creationId xmlns:a16="http://schemas.microsoft.com/office/drawing/2014/main" id="{1D5E2B0A-A131-90A3-4F11-AEABD73BD52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3"/>
            <a:chOff x="0" y="-1402736"/>
            <a:chExt cx="1918074" cy="1078992"/>
          </a:xfrm>
        </p:grpSpPr>
        <p:sp>
          <p:nvSpPr>
            <p:cNvPr id="27" name="Rectangle 26">
              <a:hlinkClick r:id="" action="ppaction://noaction"/>
              <a:extLst>
                <a:ext uri="{FF2B5EF4-FFF2-40B4-BE49-F238E27FC236}">
                  <a16:creationId xmlns:a16="http://schemas.microsoft.com/office/drawing/2014/main" id="{A4930299-6198-1641-57F1-13DF5C95B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6"/>
              <a:ext cx="1918074" cy="1078992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 i="0">
                <a:solidFill>
                  <a:srgbClr val="091F2C"/>
                </a:solidFill>
                <a:latin typeface="Segoe UI Semibold" panose="020B0502040204020203" pitchFamily="34" charset="0"/>
                <a:cs typeface="Segoe UI" pitchFamily="34" charset="0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505751D-42F3-B0A8-8024-1FC682FB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-1402736"/>
              <a:ext cx="1918074" cy="1078992"/>
            </a:xfrm>
            <a:prstGeom prst="rect">
              <a:avLst/>
            </a:prstGeom>
          </p:spPr>
        </p:pic>
        <p:sp>
          <p:nvSpPr>
            <p:cNvPr id="29" name="Rectangle 28">
              <a:hlinkClick r:id="" action="ppaction://noaction"/>
              <a:extLst>
                <a:ext uri="{FF2B5EF4-FFF2-40B4-BE49-F238E27FC236}">
                  <a16:creationId xmlns:a16="http://schemas.microsoft.com/office/drawing/2014/main" id="{68724290-E668-3407-D417-8E84F4D1B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5"/>
              <a:ext cx="1918074" cy="1078991"/>
            </a:xfrm>
            <a:prstGeom prst="rect">
              <a:avLst/>
            </a:prstGeom>
            <a:gradFill flip="none" rotWithShape="1">
              <a:gsLst>
                <a:gs pos="0">
                  <a:srgbClr val="FFF8E5">
                    <a:alpha val="60000"/>
                  </a:srgbClr>
                </a:gs>
                <a:gs pos="6000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37466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500" b="0" i="0" u="none" strike="noStrike" cap="none" spc="0" normalizeH="0" baseline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8204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6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 descr="Theme 6 16x9 background live shapes">
            <a:extLst>
              <a:ext uri="{FF2B5EF4-FFF2-40B4-BE49-F238E27FC236}">
                <a16:creationId xmlns:a16="http://schemas.microsoft.com/office/drawing/2014/main" id="{015E8758-8AD5-33E3-7075-9EBD7214B07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3"/>
            <a:chOff x="0" y="-1402736"/>
            <a:chExt cx="1918074" cy="1078992"/>
          </a:xfrm>
        </p:grpSpPr>
        <p:sp>
          <p:nvSpPr>
            <p:cNvPr id="23" name="Rectangle 22">
              <a:hlinkClick r:id="" action="ppaction://noaction"/>
              <a:extLst>
                <a:ext uri="{FF2B5EF4-FFF2-40B4-BE49-F238E27FC236}">
                  <a16:creationId xmlns:a16="http://schemas.microsoft.com/office/drawing/2014/main" id="{D750F67A-569C-CBA2-940A-441C138FA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6"/>
              <a:ext cx="1918074" cy="1078992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 i="0">
                <a:solidFill>
                  <a:srgbClr val="091F2C"/>
                </a:solidFill>
                <a:latin typeface="Segoe UI Semibold" panose="020B0502040204020203" pitchFamily="34" charset="0"/>
                <a:cs typeface="Segoe UI" pitchFamily="34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42E5D0F-EA15-A97B-1246-F92FD64DC2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72" t="12009" r="20372" b="40594"/>
            <a:stretch/>
          </p:blipFill>
          <p:spPr>
            <a:xfrm>
              <a:off x="0" y="-1402736"/>
              <a:ext cx="1918074" cy="1078992"/>
            </a:xfrm>
            <a:prstGeom prst="rect">
              <a:avLst/>
            </a:prstGeom>
          </p:spPr>
        </p:pic>
        <p:sp>
          <p:nvSpPr>
            <p:cNvPr id="25" name="Rectangle 24">
              <a:hlinkClick r:id="" action="ppaction://noaction"/>
              <a:extLst>
                <a:ext uri="{FF2B5EF4-FFF2-40B4-BE49-F238E27FC236}">
                  <a16:creationId xmlns:a16="http://schemas.microsoft.com/office/drawing/2014/main" id="{86D236A9-3859-42A3-96A9-00BF164F3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5"/>
              <a:ext cx="1918074" cy="1078991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37466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500" b="0" i="0" u="none" strike="noStrike" cap="none" spc="0" normalizeH="0" baseline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80857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B78E58A-F050-2D4C-8CDE-EE12DA3AD3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3008" y="0"/>
            <a:ext cx="12188991" cy="6858000"/>
          </a:xfrm>
          <a:prstGeom prst="rect">
            <a:avLst/>
          </a:prstGeom>
        </p:spPr>
      </p:pic>
      <p:pic>
        <p:nvPicPr>
          <p:cNvPr id="5" name="Picture 4" descr="A close up of a sign&#10;&#10;AI-generated content may be incorrect.">
            <a:extLst>
              <a:ext uri="{FF2B5EF4-FFF2-40B4-BE49-F238E27FC236}">
                <a16:creationId xmlns:a16="http://schemas.microsoft.com/office/drawing/2014/main" id="{8DBF2036-0A95-6172-2982-A3932BB20C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465" y="2703056"/>
            <a:ext cx="3376457" cy="1514143"/>
          </a:xfrm>
          <a:prstGeom prst="rect">
            <a:avLst/>
          </a:prstGeom>
        </p:spPr>
      </p:pic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0F892706-E514-9308-1054-E66D5F1305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77625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454093-2407-868E-D935-592C706F24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3008" y="0"/>
            <a:ext cx="12188991" cy="6858000"/>
          </a:xfrm>
          <a:prstGeom prst="rect">
            <a:avLst/>
          </a:prstGeom>
        </p:spPr>
      </p:pic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C92DC79C-790E-8B3B-3A8A-E29B953EF5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7556055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588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930848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61825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161718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40352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01761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26440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30270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08522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83502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911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54183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02965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1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Theme 1 16x9 background live shapes">
            <a:extLst>
              <a:ext uri="{FF2B5EF4-FFF2-40B4-BE49-F238E27FC236}">
                <a16:creationId xmlns:a16="http://schemas.microsoft.com/office/drawing/2014/main" id="{C0E15311-C9BE-C867-A356-3D78F9853C7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2"/>
            <a:chOff x="7823983" y="0"/>
            <a:chExt cx="22756845" cy="12801600"/>
          </a:xfrm>
        </p:grpSpPr>
        <p:sp>
          <p:nvSpPr>
            <p:cNvPr id="3" name="Rectangle 2">
              <a:hlinkClick r:id="" action="ppaction://noaction"/>
              <a:extLst>
                <a:ext uri="{FF2B5EF4-FFF2-40B4-BE49-F238E27FC236}">
                  <a16:creationId xmlns:a16="http://schemas.microsoft.com/office/drawing/2014/main" id="{EFC71651-07AF-DD6D-8D6B-20B26425B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0"/>
              <a:ext cx="22756845" cy="1280160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ACC43FF-8C74-FA5C-69B4-85A567733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72" t="12009" r="20372" b="40594"/>
            <a:stretch/>
          </p:blipFill>
          <p:spPr>
            <a:xfrm>
              <a:off x="7823983" y="0"/>
              <a:ext cx="22756845" cy="128016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EF4850A3-8A2F-8B93-468C-0100C31EBD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12"/>
              <a:ext cx="22756845" cy="12801588"/>
            </a:xfrm>
            <a:prstGeom prst="rect">
              <a:avLst/>
            </a:prstGeom>
            <a:gradFill flip="none" rotWithShape="1">
              <a:gsLst>
                <a:gs pos="0">
                  <a:srgbClr val="FFBAA8">
                    <a:lumMod val="75000"/>
                    <a:lumOff val="25000"/>
                    <a:alpha val="45000"/>
                  </a:srgbClr>
                </a:gs>
                <a:gs pos="44000">
                  <a:srgbClr val="CBCCCA">
                    <a:alpha val="45000"/>
                  </a:srgbClr>
                </a:gs>
              </a:gsLst>
              <a:lin ang="1500000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3479" tIns="58783" rIns="73479" bIns="5878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56680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2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Theme 2 16x9 background live shapes">
            <a:extLst>
              <a:ext uri="{FF2B5EF4-FFF2-40B4-BE49-F238E27FC236}">
                <a16:creationId xmlns:a16="http://schemas.microsoft.com/office/drawing/2014/main" id="{2C9F669A-A2E3-13A8-CF6F-878DBA275EA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3"/>
            <a:chOff x="7823983" y="0"/>
            <a:chExt cx="22756845" cy="12801600"/>
          </a:xfrm>
        </p:grpSpPr>
        <p:sp>
          <p:nvSpPr>
            <p:cNvPr id="7" name="Rectangle 6">
              <a:hlinkClick r:id="" action="ppaction://noaction"/>
              <a:extLst>
                <a:ext uri="{FF2B5EF4-FFF2-40B4-BE49-F238E27FC236}">
                  <a16:creationId xmlns:a16="http://schemas.microsoft.com/office/drawing/2014/main" id="{0B41CE57-799E-5170-BE26-9C2C5EC57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0"/>
              <a:ext cx="22756845" cy="1280160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DEC80F5-20C7-6914-1D71-23CBD1BEF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72" t="12009" r="20372" b="40594"/>
            <a:stretch/>
          </p:blipFill>
          <p:spPr>
            <a:xfrm>
              <a:off x="7823983" y="0"/>
              <a:ext cx="22756845" cy="12801600"/>
            </a:xfrm>
            <a:prstGeom prst="rect">
              <a:avLst/>
            </a:prstGeom>
          </p:spPr>
        </p:pic>
        <p:sp>
          <p:nvSpPr>
            <p:cNvPr id="9" name="Rectangle 8">
              <a:hlinkClick r:id="" action="ppaction://noaction"/>
              <a:extLst>
                <a:ext uri="{FF2B5EF4-FFF2-40B4-BE49-F238E27FC236}">
                  <a16:creationId xmlns:a16="http://schemas.microsoft.com/office/drawing/2014/main" id="{6FAD1995-E9C3-6803-E792-A4B29ABB0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12"/>
              <a:ext cx="22756845" cy="12801588"/>
            </a:xfrm>
            <a:prstGeom prst="rect">
              <a:avLst/>
            </a:prstGeom>
            <a:gradFill flip="none" rotWithShape="1">
              <a:gsLst>
                <a:gs pos="0">
                  <a:srgbClr val="FFCE4C">
                    <a:alpha val="35000"/>
                  </a:srgbClr>
                </a:gs>
                <a:gs pos="45000">
                  <a:srgbClr val="41AFA1">
                    <a:alpha val="3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54039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3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 descr="Theme 3 16x9 background live shapes">
            <a:extLst>
              <a:ext uri="{FF2B5EF4-FFF2-40B4-BE49-F238E27FC236}">
                <a16:creationId xmlns:a16="http://schemas.microsoft.com/office/drawing/2014/main" id="{701B9F81-D668-8FC3-113F-F8E72862127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3"/>
            <a:chOff x="7823983" y="0"/>
            <a:chExt cx="22756845" cy="12801600"/>
          </a:xfrm>
        </p:grpSpPr>
        <p:sp>
          <p:nvSpPr>
            <p:cNvPr id="11" name="Rectangle 10">
              <a:hlinkClick r:id="" action="ppaction://noaction"/>
              <a:extLst>
                <a:ext uri="{FF2B5EF4-FFF2-40B4-BE49-F238E27FC236}">
                  <a16:creationId xmlns:a16="http://schemas.microsoft.com/office/drawing/2014/main" id="{69B2D4A8-DEF8-AC9C-C93D-613F4D10C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0"/>
              <a:ext cx="22756845" cy="1280160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7E170B6-641B-0C89-09A4-5A8372632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72" t="12009" r="20372" b="40594"/>
            <a:stretch/>
          </p:blipFill>
          <p:spPr>
            <a:xfrm>
              <a:off x="7823983" y="0"/>
              <a:ext cx="22756845" cy="12801600"/>
            </a:xfrm>
            <a:prstGeom prst="rect">
              <a:avLst/>
            </a:prstGeom>
          </p:spPr>
        </p:pic>
        <p:sp>
          <p:nvSpPr>
            <p:cNvPr id="13" name="Rectangle 12">
              <a:hlinkClick r:id="" action="ppaction://noaction"/>
              <a:extLst>
                <a:ext uri="{FF2B5EF4-FFF2-40B4-BE49-F238E27FC236}">
                  <a16:creationId xmlns:a16="http://schemas.microsoft.com/office/drawing/2014/main" id="{43352A4B-C89E-A9B3-F717-BDDC685ABF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12"/>
              <a:ext cx="22756845" cy="12801588"/>
            </a:xfrm>
            <a:prstGeom prst="rect">
              <a:avLst/>
            </a:prstGeom>
            <a:gradFill flip="none" rotWithShape="1">
              <a:gsLst>
                <a:gs pos="0">
                  <a:srgbClr val="F65567">
                    <a:alpha val="33000"/>
                  </a:srgbClr>
                </a:gs>
                <a:gs pos="58000">
                  <a:srgbClr val="238CD9">
                    <a:alpha val="33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3479" tIns="58783" rIns="73479" bIns="5878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35069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4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 descr="Theme 4 16x9 background live shapes">
            <a:extLst>
              <a:ext uri="{FF2B5EF4-FFF2-40B4-BE49-F238E27FC236}">
                <a16:creationId xmlns:a16="http://schemas.microsoft.com/office/drawing/2014/main" id="{A5D90BAF-4418-AE99-EDEB-EA7D5C9210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3"/>
            <a:chOff x="7823983" y="0"/>
            <a:chExt cx="22756845" cy="12801612"/>
          </a:xfrm>
        </p:grpSpPr>
        <p:sp>
          <p:nvSpPr>
            <p:cNvPr id="15" name="Rectangle 14">
              <a:hlinkClick r:id="" action="ppaction://noaction"/>
              <a:extLst>
                <a:ext uri="{FF2B5EF4-FFF2-40B4-BE49-F238E27FC236}">
                  <a16:creationId xmlns:a16="http://schemas.microsoft.com/office/drawing/2014/main" id="{6DCBF5A5-3B47-2DE4-FE52-7FC6C9B4C1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0"/>
              <a:ext cx="22756845" cy="1280160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2C6E3DB-3082-7071-2E58-009660DC1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72" t="12009" r="20372" b="40594"/>
            <a:stretch/>
          </p:blipFill>
          <p:spPr>
            <a:xfrm>
              <a:off x="7823983" y="0"/>
              <a:ext cx="22756845" cy="12801600"/>
            </a:xfrm>
            <a:prstGeom prst="rect">
              <a:avLst/>
            </a:prstGeom>
          </p:spPr>
        </p:pic>
        <p:sp>
          <p:nvSpPr>
            <p:cNvPr id="17" name="Rectangle 16">
              <a:hlinkClick r:id="" action="ppaction://noaction"/>
              <a:extLst>
                <a:ext uri="{FF2B5EF4-FFF2-40B4-BE49-F238E27FC236}">
                  <a16:creationId xmlns:a16="http://schemas.microsoft.com/office/drawing/2014/main" id="{E4A822BB-508E-BB29-85CA-BCAD53D70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12"/>
              <a:ext cx="22756845" cy="12801600"/>
            </a:xfrm>
            <a:prstGeom prst="rect">
              <a:avLst/>
            </a:prstGeom>
            <a:gradFill flip="none" rotWithShape="1">
              <a:gsLst>
                <a:gs pos="58000">
                  <a:srgbClr val="CA6CCD">
                    <a:alpha val="33000"/>
                  </a:srgbClr>
                </a:gs>
                <a:gs pos="0">
                  <a:srgbClr val="FF7F62">
                    <a:alpha val="33000"/>
                    <a:lumMod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3479" tIns="58783" rIns="73479" bIns="5878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40917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1 - Dar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Theme 1 dark 16x9 background live shapes">
            <a:extLst>
              <a:ext uri="{FF2B5EF4-FFF2-40B4-BE49-F238E27FC236}">
                <a16:creationId xmlns:a16="http://schemas.microsoft.com/office/drawing/2014/main" id="{D6DDA62B-58BD-05FE-12D1-C1AC0D002AB1}"/>
              </a:ext>
            </a:extLst>
          </p:cNvPr>
          <p:cNvGrpSpPr/>
          <p:nvPr userDrawn="1"/>
        </p:nvGrpSpPr>
        <p:grpSpPr>
          <a:xfrm>
            <a:off x="0" y="-1008856"/>
            <a:ext cx="1536237" cy="865414"/>
            <a:chOff x="411480" y="4576565"/>
            <a:chExt cx="2743200" cy="1545336"/>
          </a:xfrm>
        </p:grpSpPr>
        <p:sp>
          <p:nvSpPr>
            <p:cNvPr id="3" name="Rectangle 2">
              <a:hlinkClick r:id="" action="ppaction://noaction"/>
              <a:extLst>
                <a:ext uri="{FF2B5EF4-FFF2-40B4-BE49-F238E27FC236}">
                  <a16:creationId xmlns:a16="http://schemas.microsoft.com/office/drawing/2014/main" id="{D0557860-6A8F-8E52-A580-098D8C0E2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411480" y="4576565"/>
              <a:ext cx="2743200" cy="1545336"/>
            </a:xfrm>
            <a:prstGeom prst="rect">
              <a:avLst/>
            </a:prstGeom>
            <a:gradFill>
              <a:gsLst>
                <a:gs pos="0">
                  <a:srgbClr val="391C0E"/>
                </a:gs>
                <a:gs pos="44000">
                  <a:srgbClr val="000000"/>
                </a:gs>
              </a:gsLst>
              <a:lin ang="135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FFFFFF"/>
                </a:solidFill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47E1C8F-4FB3-EACE-501C-D6337A818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13" t="4260" r="20414" b="45739"/>
            <a:stretch/>
          </p:blipFill>
          <p:spPr>
            <a:xfrm>
              <a:off x="411480" y="4576565"/>
              <a:ext cx="2743200" cy="1545336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22E67220-0F09-59F1-152B-DC326AC26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480" y="4576565"/>
              <a:ext cx="2743200" cy="1545336"/>
            </a:xfrm>
            <a:prstGeom prst="rect">
              <a:avLst/>
            </a:prstGeom>
            <a:gradFill flip="none" rotWithShape="1">
              <a:gsLst>
                <a:gs pos="0">
                  <a:srgbClr val="391C0E">
                    <a:alpha val="65000"/>
                  </a:srgbClr>
                </a:gs>
                <a:gs pos="44000">
                  <a:srgbClr val="000000">
                    <a:alpha val="65000"/>
                  </a:srgbClr>
                </a:gs>
              </a:gsLst>
              <a:lin ang="1350000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>
                <a:solidFill>
                  <a:srgbClr val="091F2C"/>
                </a:solidFill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37191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5 - Dar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 descr="Theme 5 dark 16x9 background live shapes">
            <a:extLst>
              <a:ext uri="{FF2B5EF4-FFF2-40B4-BE49-F238E27FC236}">
                <a16:creationId xmlns:a16="http://schemas.microsoft.com/office/drawing/2014/main" id="{63511831-2637-2FFE-2068-D93FDC6EC595}"/>
              </a:ext>
            </a:extLst>
          </p:cNvPr>
          <p:cNvGrpSpPr/>
          <p:nvPr userDrawn="1"/>
        </p:nvGrpSpPr>
        <p:grpSpPr>
          <a:xfrm>
            <a:off x="0" y="-1008856"/>
            <a:ext cx="1536237" cy="865414"/>
            <a:chOff x="11750040" y="4576565"/>
            <a:chExt cx="2743200" cy="1545336"/>
          </a:xfrm>
        </p:grpSpPr>
        <p:sp>
          <p:nvSpPr>
            <p:cNvPr id="19" name="Rectangle 18">
              <a:hlinkClick r:id="" action="ppaction://noaction"/>
              <a:extLst>
                <a:ext uri="{FF2B5EF4-FFF2-40B4-BE49-F238E27FC236}">
                  <a16:creationId xmlns:a16="http://schemas.microsoft.com/office/drawing/2014/main" id="{556471A8-1A82-0134-D11B-CFF29F6CE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750040" y="4576565"/>
              <a:ext cx="2743200" cy="1545336"/>
            </a:xfrm>
            <a:prstGeom prst="rect">
              <a:avLst/>
            </a:prstGeom>
            <a:gradFill>
              <a:gsLst>
                <a:gs pos="60000">
                  <a:srgbClr val="112D31"/>
                </a:gs>
                <a:gs pos="0">
                  <a:srgbClr val="3F2D0D"/>
                </a:gs>
              </a:gsLst>
              <a:lin ang="135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FFFFFF"/>
                </a:solidFill>
                <a:cs typeface="Segoe UI" pitchFamily="34" charset="0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716BA33-B837-9E45-BEB2-1EAA90A0C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13" t="4260" r="20414" b="45739"/>
            <a:stretch/>
          </p:blipFill>
          <p:spPr>
            <a:xfrm>
              <a:off x="11750040" y="4576565"/>
              <a:ext cx="2743200" cy="1545336"/>
            </a:xfrm>
            <a:prstGeom prst="rect">
              <a:avLst/>
            </a:prstGeom>
          </p:spPr>
        </p:pic>
        <p:sp>
          <p:nvSpPr>
            <p:cNvPr id="21" name="Rectangle 20">
              <a:hlinkClick r:id="" action="ppaction://noaction"/>
              <a:extLst>
                <a:ext uri="{FF2B5EF4-FFF2-40B4-BE49-F238E27FC236}">
                  <a16:creationId xmlns:a16="http://schemas.microsoft.com/office/drawing/2014/main" id="{25C503EC-1321-007C-F7A6-504699B7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750040" y="4576565"/>
              <a:ext cx="2743200" cy="1545336"/>
            </a:xfrm>
            <a:prstGeom prst="rect">
              <a:avLst/>
            </a:prstGeom>
            <a:gradFill flip="none" rotWithShape="1">
              <a:gsLst>
                <a:gs pos="60000">
                  <a:srgbClr val="112D31">
                    <a:alpha val="75000"/>
                  </a:srgbClr>
                </a:gs>
                <a:gs pos="0">
                  <a:srgbClr val="3F2D0D">
                    <a:alpha val="75000"/>
                  </a:srgbClr>
                </a:gs>
              </a:gsLst>
              <a:lin ang="1350000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>
                <a:solidFill>
                  <a:srgbClr val="091F2C"/>
                </a:solidFill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903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6 - Dar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 descr="Theme 6 dark 16x9 background live shapes">
            <a:extLst>
              <a:ext uri="{FF2B5EF4-FFF2-40B4-BE49-F238E27FC236}">
                <a16:creationId xmlns:a16="http://schemas.microsoft.com/office/drawing/2014/main" id="{5BC17DD9-E7D8-9FE0-2E0C-B69480790AF0}"/>
              </a:ext>
            </a:extLst>
          </p:cNvPr>
          <p:cNvGrpSpPr/>
          <p:nvPr userDrawn="1"/>
        </p:nvGrpSpPr>
        <p:grpSpPr>
          <a:xfrm>
            <a:off x="0" y="-1008856"/>
            <a:ext cx="1536237" cy="865414"/>
            <a:chOff x="14584680" y="4576565"/>
            <a:chExt cx="2743200" cy="1545336"/>
          </a:xfrm>
        </p:grpSpPr>
        <p:sp>
          <p:nvSpPr>
            <p:cNvPr id="23" name="Rectangle 22">
              <a:hlinkClick r:id="" action="ppaction://noaction"/>
              <a:extLst>
                <a:ext uri="{FF2B5EF4-FFF2-40B4-BE49-F238E27FC236}">
                  <a16:creationId xmlns:a16="http://schemas.microsoft.com/office/drawing/2014/main" id="{A73C26E8-907A-8482-98E4-6C2C3E813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84680" y="4576565"/>
              <a:ext cx="2743200" cy="1545336"/>
            </a:xfrm>
            <a:prstGeom prst="rect">
              <a:avLst/>
            </a:prstGeom>
            <a:gradFill>
              <a:gsLst>
                <a:gs pos="60000">
                  <a:srgbClr val="152237"/>
                </a:gs>
                <a:gs pos="0">
                  <a:srgbClr val="391317"/>
                </a:gs>
              </a:gsLst>
              <a:lin ang="135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FFFFFF"/>
                </a:solidFill>
                <a:cs typeface="Segoe UI" pitchFamily="34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5D3C924-FABE-BFAC-ED39-F1D3ECC415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13" t="4260" r="20414" b="45739"/>
            <a:stretch/>
          </p:blipFill>
          <p:spPr>
            <a:xfrm>
              <a:off x="14584680" y="4576565"/>
              <a:ext cx="2743200" cy="1545336"/>
            </a:xfrm>
            <a:prstGeom prst="rect">
              <a:avLst/>
            </a:prstGeom>
          </p:spPr>
        </p:pic>
        <p:sp>
          <p:nvSpPr>
            <p:cNvPr id="25" name="Rectangle 24">
              <a:hlinkClick r:id="" action="ppaction://noaction"/>
              <a:extLst>
                <a:ext uri="{FF2B5EF4-FFF2-40B4-BE49-F238E27FC236}">
                  <a16:creationId xmlns:a16="http://schemas.microsoft.com/office/drawing/2014/main" id="{C66BEE61-A440-1E3E-D1CB-10F6682B2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84680" y="4576565"/>
              <a:ext cx="2743200" cy="1545336"/>
            </a:xfrm>
            <a:prstGeom prst="rect">
              <a:avLst/>
            </a:prstGeom>
            <a:gradFill flip="none" rotWithShape="1">
              <a:gsLst>
                <a:gs pos="60000">
                  <a:srgbClr val="152237">
                    <a:alpha val="75000"/>
                  </a:srgbClr>
                </a:gs>
                <a:gs pos="0">
                  <a:srgbClr val="391317">
                    <a:alpha val="75000"/>
                  </a:srgbClr>
                </a:gs>
              </a:gsLst>
              <a:lin ang="1350000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>
                <a:solidFill>
                  <a:srgbClr val="091F2C"/>
                </a:solidFill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3123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7 - Dar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 descr="Theme 7 dark 16x9 background live shapes">
            <a:extLst>
              <a:ext uri="{FF2B5EF4-FFF2-40B4-BE49-F238E27FC236}">
                <a16:creationId xmlns:a16="http://schemas.microsoft.com/office/drawing/2014/main" id="{0FE7BC74-1531-B3F6-C81C-592426F03E10}"/>
              </a:ext>
            </a:extLst>
          </p:cNvPr>
          <p:cNvGrpSpPr/>
          <p:nvPr userDrawn="1"/>
        </p:nvGrpSpPr>
        <p:grpSpPr>
          <a:xfrm>
            <a:off x="0" y="-1008856"/>
            <a:ext cx="1536237" cy="865414"/>
            <a:chOff x="17419320" y="4576565"/>
            <a:chExt cx="2743200" cy="1545336"/>
          </a:xfrm>
        </p:grpSpPr>
        <p:sp>
          <p:nvSpPr>
            <p:cNvPr id="27" name="Rectangle 26">
              <a:hlinkClick r:id="" action="ppaction://noaction"/>
              <a:extLst>
                <a:ext uri="{FF2B5EF4-FFF2-40B4-BE49-F238E27FC236}">
                  <a16:creationId xmlns:a16="http://schemas.microsoft.com/office/drawing/2014/main" id="{754F9A5F-EE53-79DF-4625-43321E06B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19320" y="4576565"/>
              <a:ext cx="2743200" cy="1545336"/>
            </a:xfrm>
            <a:prstGeom prst="rect">
              <a:avLst/>
            </a:prstGeom>
            <a:gradFill>
              <a:gsLst>
                <a:gs pos="60000">
                  <a:srgbClr val="391317"/>
                </a:gs>
                <a:gs pos="0">
                  <a:srgbClr val="3F2D0D"/>
                </a:gs>
              </a:gsLst>
              <a:lin ang="135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FFFFFF"/>
                </a:solidFill>
                <a:cs typeface="Segoe UI" pitchFamily="34" charset="0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7996735-F58D-E02B-8A95-6FD606B708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13" t="4260" r="20414" b="45739"/>
            <a:stretch/>
          </p:blipFill>
          <p:spPr>
            <a:xfrm>
              <a:off x="17419320" y="4576565"/>
              <a:ext cx="2743200" cy="1545336"/>
            </a:xfrm>
            <a:prstGeom prst="rect">
              <a:avLst/>
            </a:prstGeom>
          </p:spPr>
        </p:pic>
        <p:sp>
          <p:nvSpPr>
            <p:cNvPr id="29" name="Rectangle 28">
              <a:hlinkClick r:id="" action="ppaction://noaction"/>
              <a:extLst>
                <a:ext uri="{FF2B5EF4-FFF2-40B4-BE49-F238E27FC236}">
                  <a16:creationId xmlns:a16="http://schemas.microsoft.com/office/drawing/2014/main" id="{7BBFA962-E065-1748-364E-137D67491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19320" y="4576565"/>
              <a:ext cx="2743200" cy="1545336"/>
            </a:xfrm>
            <a:prstGeom prst="rect">
              <a:avLst/>
            </a:prstGeom>
            <a:gradFill flip="none" rotWithShape="1">
              <a:gsLst>
                <a:gs pos="60000">
                  <a:srgbClr val="391317">
                    <a:alpha val="75000"/>
                  </a:srgbClr>
                </a:gs>
                <a:gs pos="0">
                  <a:srgbClr val="3F2D0D">
                    <a:alpha val="75000"/>
                  </a:srgbClr>
                </a:gs>
              </a:gsLst>
              <a:lin ang="1350000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>
                <a:solidFill>
                  <a:srgbClr val="091F2C"/>
                </a:solidFill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3199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452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00669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1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11D2CF9-0AFC-3E03-6799-95BE07C43F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104106"/>
            <a:ext cx="1625600" cy="914401"/>
            <a:chOff x="-41249599" y="-11582401"/>
            <a:chExt cx="139628880" cy="4654296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C400AB9-8786-5755-E847-9AC3FB0CBB94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-41249599" y="-11582401"/>
              <a:ext cx="139628880" cy="46542967"/>
            </a:xfrm>
            <a:prstGeom prst="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222028" fontAlgn="base">
                <a:spcBef>
                  <a:spcPct val="0"/>
                </a:spcBef>
                <a:spcAft>
                  <a:spcPct val="0"/>
                </a:spcAft>
              </a:pPr>
              <a:endParaRPr lang="en-US" sz="476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D261360-8A6B-AB9F-8AD1-8BC8FE316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007" b="40595"/>
            <a:stretch/>
          </p:blipFill>
          <p:spPr>
            <a:xfrm>
              <a:off x="-41249599" y="-11582401"/>
              <a:ext cx="139628880" cy="46542967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F2CFAADE-F175-5A20-0C7B-7CC34561FDA6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-41249599" y="-11582401"/>
              <a:ext cx="139628880" cy="46542967"/>
            </a:xfrm>
            <a:prstGeom prst="rect">
              <a:avLst/>
            </a:prstGeom>
            <a:gradFill flip="none" rotWithShape="1">
              <a:gsLst>
                <a:gs pos="0">
                  <a:srgbClr val="FFBAA8">
                    <a:lumMod val="75000"/>
                    <a:lumOff val="25000"/>
                    <a:alpha val="45000"/>
                  </a:srgbClr>
                </a:gs>
                <a:gs pos="44000">
                  <a:srgbClr val="CBCCCA">
                    <a:alpha val="45000"/>
                  </a:srgbClr>
                </a:gs>
              </a:gsLst>
              <a:lin ang="1500000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22202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76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30759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6" pos="6802">
          <p15:clr>
            <a:srgbClr val="A4A3A4"/>
          </p15:clr>
        </p15:guide>
        <p15:guide id="27" pos="6940">
          <p15:clr>
            <a:srgbClr val="A4A3A4"/>
          </p15:clr>
        </p15:guide>
        <p15:guide id="28" pos="740">
          <p15:clr>
            <a:srgbClr val="A4A3A4"/>
          </p15:clr>
        </p15:guide>
        <p15:guide id="29" pos="6332">
          <p15:clr>
            <a:srgbClr val="A4A3A4"/>
          </p15:clr>
        </p15:guide>
        <p15:guide id="31" pos="5728">
          <p15:clr>
            <a:srgbClr val="A4A3A4"/>
          </p15:clr>
        </p15:guide>
        <p15:guide id="32" pos="5589">
          <p15:clr>
            <a:srgbClr val="A4A3A4"/>
          </p15:clr>
        </p15:guide>
        <p15:guide id="33" pos="5120">
          <p15:clr>
            <a:srgbClr val="A4A3A4"/>
          </p15:clr>
        </p15:guide>
        <p15:guide id="34" pos="4985">
          <p15:clr>
            <a:srgbClr val="A4A3A4"/>
          </p15:clr>
        </p15:guide>
        <p15:guide id="35" pos="4516">
          <p15:clr>
            <a:srgbClr val="A4A3A4"/>
          </p15:clr>
        </p15:guide>
        <p15:guide id="36" pos="4380">
          <p15:clr>
            <a:srgbClr val="A4A3A4"/>
          </p15:clr>
        </p15:guide>
        <p15:guide id="37" pos="3908">
          <p15:clr>
            <a:srgbClr val="A4A3A4"/>
          </p15:clr>
        </p15:guide>
        <p15:guide id="38" pos="3772">
          <p15:clr>
            <a:srgbClr val="A4A3A4"/>
          </p15:clr>
        </p15:guide>
        <p15:guide id="39" pos="3300">
          <p15:clr>
            <a:srgbClr val="A4A3A4"/>
          </p15:clr>
        </p15:guide>
        <p15:guide id="40" pos="3164">
          <p15:clr>
            <a:srgbClr val="A4A3A4"/>
          </p15:clr>
        </p15:guide>
        <p15:guide id="41" pos="2695">
          <p15:clr>
            <a:srgbClr val="A4A3A4"/>
          </p15:clr>
        </p15:guide>
        <p15:guide id="42" pos="2560">
          <p15:clr>
            <a:srgbClr val="A4A3A4"/>
          </p15:clr>
        </p15:guide>
        <p15:guide id="43" pos="2091">
          <p15:clr>
            <a:srgbClr val="A4A3A4"/>
          </p15:clr>
        </p15:guide>
        <p15:guide id="44" pos="1952">
          <p15:clr>
            <a:srgbClr val="A4A3A4"/>
          </p15:clr>
        </p15:guide>
        <p15:guide id="46" pos="1348">
          <p15:clr>
            <a:srgbClr val="A4A3A4"/>
          </p15:clr>
        </p15:guide>
        <p15:guide id="48" orient="horz" pos="1272">
          <p15:clr>
            <a:srgbClr val="5ACBF0"/>
          </p15:clr>
        </p15:guide>
        <p15:guide id="49" orient="horz" pos="906">
          <p15:clr>
            <a:srgbClr val="5ACBF0"/>
          </p15:clr>
        </p15:guide>
        <p15:guide id="51" pos="1486">
          <p15:clr>
            <a:srgbClr val="A4A3A4"/>
          </p15:clr>
        </p15:guide>
        <p15:guide id="52" pos="6194">
          <p15:clr>
            <a:srgbClr val="A4A3A4"/>
          </p15:clr>
        </p15:guide>
        <p15:guide id="55" pos="878">
          <p15:clr>
            <a:srgbClr val="A4A3A4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2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4895DBD-540F-7FFD-F014-0A0D187413B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104105"/>
            <a:ext cx="1625600" cy="914400"/>
            <a:chOff x="0" y="0"/>
            <a:chExt cx="38404800" cy="12801600"/>
          </a:xfrm>
        </p:grpSpPr>
        <p:sp>
          <p:nvSpPr>
            <p:cNvPr id="9" name="Rectangle 8">
              <a:hlinkClick r:id="" action="ppaction://noaction"/>
              <a:extLst>
                <a:ext uri="{FF2B5EF4-FFF2-40B4-BE49-F238E27FC236}">
                  <a16:creationId xmlns:a16="http://schemas.microsoft.com/office/drawing/2014/main" id="{E27E4C81-16D5-9CF8-0028-00AF25DC32F6}"/>
                </a:ext>
              </a:extLst>
            </p:cNvPr>
            <p:cNvSpPr/>
            <p:nvPr userDrawn="1"/>
          </p:nvSpPr>
          <p:spPr bwMode="auto">
            <a:xfrm>
              <a:off x="0" y="0"/>
              <a:ext cx="38404800" cy="12801596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22202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76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pic>
          <p:nvPicPr>
            <p:cNvPr id="12" name="Picture 11" descr="A white background with light&#10;&#10;Description automatically generated">
              <a:extLst>
                <a:ext uri="{FF2B5EF4-FFF2-40B4-BE49-F238E27FC236}">
                  <a16:creationId xmlns:a16="http://schemas.microsoft.com/office/drawing/2014/main" id="{953FBA53-3418-41BF-92D9-4CED13DDA0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009" b="40594"/>
            <a:stretch/>
          </p:blipFill>
          <p:spPr>
            <a:xfrm>
              <a:off x="0" y="0"/>
              <a:ext cx="38404800" cy="12801596"/>
            </a:xfrm>
            <a:prstGeom prst="rect">
              <a:avLst/>
            </a:prstGeom>
          </p:spPr>
        </p:pic>
        <p:sp>
          <p:nvSpPr>
            <p:cNvPr id="13" name="Rectangle 12">
              <a:hlinkClick r:id="" action="ppaction://noaction"/>
              <a:extLst>
                <a:ext uri="{FF2B5EF4-FFF2-40B4-BE49-F238E27FC236}">
                  <a16:creationId xmlns:a16="http://schemas.microsoft.com/office/drawing/2014/main" id="{97731F3C-FF24-4844-5B99-57A2869B7D88}"/>
                </a:ext>
              </a:extLst>
            </p:cNvPr>
            <p:cNvSpPr/>
            <p:nvPr userDrawn="1"/>
          </p:nvSpPr>
          <p:spPr bwMode="auto">
            <a:xfrm>
              <a:off x="0" y="8"/>
              <a:ext cx="38404800" cy="12801592"/>
            </a:xfrm>
            <a:prstGeom prst="rect">
              <a:avLst/>
            </a:prstGeom>
            <a:gradFill flip="none" rotWithShape="1">
              <a:gsLst>
                <a:gs pos="0">
                  <a:srgbClr val="FFCE4C">
                    <a:alpha val="35000"/>
                  </a:srgbClr>
                </a:gs>
                <a:gs pos="45000">
                  <a:srgbClr val="41AFA1">
                    <a:alpha val="3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22202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76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26135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740">
          <p15:clr>
            <a:srgbClr val="A4A3A4"/>
          </p15:clr>
        </p15:guide>
        <p15:guide id="26" pos="6802">
          <p15:clr>
            <a:srgbClr val="A4A3A4"/>
          </p15:clr>
        </p15:guide>
        <p15:guide id="27" pos="6940">
          <p15:clr>
            <a:srgbClr val="A4A3A4"/>
          </p15:clr>
        </p15:guide>
        <p15:guide id="28" pos="878">
          <p15:clr>
            <a:srgbClr val="A4A3A4"/>
          </p15:clr>
        </p15:guide>
        <p15:guide id="29" pos="6332">
          <p15:clr>
            <a:srgbClr val="A4A3A4"/>
          </p15:clr>
        </p15:guide>
        <p15:guide id="31" pos="5728">
          <p15:clr>
            <a:srgbClr val="A4A3A4"/>
          </p15:clr>
        </p15:guide>
        <p15:guide id="32" pos="5589">
          <p15:clr>
            <a:srgbClr val="A4A3A4"/>
          </p15:clr>
        </p15:guide>
        <p15:guide id="33" pos="5120">
          <p15:clr>
            <a:srgbClr val="A4A3A4"/>
          </p15:clr>
        </p15:guide>
        <p15:guide id="34" pos="4985">
          <p15:clr>
            <a:srgbClr val="A4A3A4"/>
          </p15:clr>
        </p15:guide>
        <p15:guide id="35" pos="4516">
          <p15:clr>
            <a:srgbClr val="A4A3A4"/>
          </p15:clr>
        </p15:guide>
        <p15:guide id="36" pos="4380">
          <p15:clr>
            <a:srgbClr val="A4A3A4"/>
          </p15:clr>
        </p15:guide>
        <p15:guide id="37" pos="3908">
          <p15:clr>
            <a:srgbClr val="A4A3A4"/>
          </p15:clr>
        </p15:guide>
        <p15:guide id="38" pos="3772">
          <p15:clr>
            <a:srgbClr val="A4A3A4"/>
          </p15:clr>
        </p15:guide>
        <p15:guide id="39" pos="3300">
          <p15:clr>
            <a:srgbClr val="A4A3A4"/>
          </p15:clr>
        </p15:guide>
        <p15:guide id="40" pos="3164">
          <p15:clr>
            <a:srgbClr val="A4A3A4"/>
          </p15:clr>
        </p15:guide>
        <p15:guide id="41" pos="2695">
          <p15:clr>
            <a:srgbClr val="A4A3A4"/>
          </p15:clr>
        </p15:guide>
        <p15:guide id="42" pos="2560">
          <p15:clr>
            <a:srgbClr val="A4A3A4"/>
          </p15:clr>
        </p15:guide>
        <p15:guide id="43" pos="2091">
          <p15:clr>
            <a:srgbClr val="A4A3A4"/>
          </p15:clr>
        </p15:guide>
        <p15:guide id="44" pos="1952">
          <p15:clr>
            <a:srgbClr val="A4A3A4"/>
          </p15:clr>
        </p15:guide>
        <p15:guide id="46" pos="1348">
          <p15:clr>
            <a:srgbClr val="A4A3A4"/>
          </p15:clr>
        </p15:guide>
        <p15:guide id="47" orient="horz" pos="1272">
          <p15:clr>
            <a:srgbClr val="5ACBF0"/>
          </p15:clr>
        </p15:guide>
        <p15:guide id="48" orient="horz" pos="906">
          <p15:clr>
            <a:srgbClr val="5ACBF0"/>
          </p15:clr>
        </p15:guide>
        <p15:guide id="49" pos="6194">
          <p15:clr>
            <a:srgbClr val="A4A3A4"/>
          </p15:clr>
        </p15:guide>
        <p15:guide id="50" pos="1486">
          <p15:clr>
            <a:srgbClr val="A4A3A4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3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164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740">
          <p15:clr>
            <a:srgbClr val="A4A3A4"/>
          </p15:clr>
        </p15:guide>
        <p15:guide id="26" pos="6802">
          <p15:clr>
            <a:srgbClr val="A4A3A4"/>
          </p15:clr>
        </p15:guide>
        <p15:guide id="27" pos="6940">
          <p15:clr>
            <a:srgbClr val="A4A3A4"/>
          </p15:clr>
        </p15:guide>
        <p15:guide id="28" pos="878">
          <p15:clr>
            <a:srgbClr val="A4A3A4"/>
          </p15:clr>
        </p15:guide>
        <p15:guide id="29" pos="6332">
          <p15:clr>
            <a:srgbClr val="A4A3A4"/>
          </p15:clr>
        </p15:guide>
        <p15:guide id="31" pos="5728">
          <p15:clr>
            <a:srgbClr val="A4A3A4"/>
          </p15:clr>
        </p15:guide>
        <p15:guide id="32" pos="5589">
          <p15:clr>
            <a:srgbClr val="A4A3A4"/>
          </p15:clr>
        </p15:guide>
        <p15:guide id="33" pos="5120">
          <p15:clr>
            <a:srgbClr val="A4A3A4"/>
          </p15:clr>
        </p15:guide>
        <p15:guide id="34" pos="4985">
          <p15:clr>
            <a:srgbClr val="A4A3A4"/>
          </p15:clr>
        </p15:guide>
        <p15:guide id="35" pos="4516">
          <p15:clr>
            <a:srgbClr val="A4A3A4"/>
          </p15:clr>
        </p15:guide>
        <p15:guide id="36" pos="4380">
          <p15:clr>
            <a:srgbClr val="A4A3A4"/>
          </p15:clr>
        </p15:guide>
        <p15:guide id="37" pos="3908">
          <p15:clr>
            <a:srgbClr val="A4A3A4"/>
          </p15:clr>
        </p15:guide>
        <p15:guide id="38" pos="3772">
          <p15:clr>
            <a:srgbClr val="A4A3A4"/>
          </p15:clr>
        </p15:guide>
        <p15:guide id="39" pos="3300">
          <p15:clr>
            <a:srgbClr val="A4A3A4"/>
          </p15:clr>
        </p15:guide>
        <p15:guide id="40" pos="3164">
          <p15:clr>
            <a:srgbClr val="A4A3A4"/>
          </p15:clr>
        </p15:guide>
        <p15:guide id="41" pos="2695">
          <p15:clr>
            <a:srgbClr val="A4A3A4"/>
          </p15:clr>
        </p15:guide>
        <p15:guide id="42" pos="2560">
          <p15:clr>
            <a:srgbClr val="A4A3A4"/>
          </p15:clr>
        </p15:guide>
        <p15:guide id="43" pos="2091">
          <p15:clr>
            <a:srgbClr val="A4A3A4"/>
          </p15:clr>
        </p15:guide>
        <p15:guide id="44" pos="1952">
          <p15:clr>
            <a:srgbClr val="A4A3A4"/>
          </p15:clr>
        </p15:guide>
        <p15:guide id="46" pos="1348">
          <p15:clr>
            <a:srgbClr val="A4A3A4"/>
          </p15:clr>
        </p15:guide>
        <p15:guide id="47" orient="horz" pos="1272">
          <p15:clr>
            <a:srgbClr val="5ACBF0"/>
          </p15:clr>
        </p15:guide>
        <p15:guide id="48" orient="horz" pos="906">
          <p15:clr>
            <a:srgbClr val="5ACBF0"/>
          </p15:clr>
        </p15:guide>
        <p15:guide id="49" pos="6194">
          <p15:clr>
            <a:srgbClr val="A4A3A4"/>
          </p15:clr>
        </p15:guide>
        <p15:guide id="50" pos="1486">
          <p15:clr>
            <a:srgbClr val="A4A3A4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4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5A8D32B-3EA7-2D58-C20E-8BCAEEC0CF2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104105"/>
            <a:ext cx="1625600" cy="914400"/>
            <a:chOff x="-1" y="0"/>
            <a:chExt cx="51206401" cy="170688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0EA16C6-BE6F-F157-7D8D-56335EE07CF3}"/>
                </a:ext>
              </a:extLst>
            </p:cNvPr>
            <p:cNvSpPr/>
            <p:nvPr userDrawn="1"/>
          </p:nvSpPr>
          <p:spPr bwMode="auto">
            <a:xfrm>
              <a:off x="-1" y="0"/>
              <a:ext cx="51206401" cy="1706880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222028" fontAlgn="base">
                <a:spcBef>
                  <a:spcPct val="0"/>
                </a:spcBef>
                <a:spcAft>
                  <a:spcPct val="0"/>
                </a:spcAft>
              </a:pPr>
              <a:endParaRPr lang="en-US" sz="476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6" name="Picture 15" descr="A white background with light&#10;&#10;Description automatically generated">
              <a:extLst>
                <a:ext uri="{FF2B5EF4-FFF2-40B4-BE49-F238E27FC236}">
                  <a16:creationId xmlns:a16="http://schemas.microsoft.com/office/drawing/2014/main" id="{2A606493-9EA2-B596-9793-0C369D34D9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009" b="40594"/>
            <a:stretch/>
          </p:blipFill>
          <p:spPr>
            <a:xfrm>
              <a:off x="-1" y="0"/>
              <a:ext cx="51206401" cy="17068800"/>
            </a:xfrm>
            <a:prstGeom prst="rect">
              <a:avLst/>
            </a:prstGeom>
          </p:spPr>
        </p:pic>
        <p:sp>
          <p:nvSpPr>
            <p:cNvPr id="17" name="Rectangle 16">
              <a:hlinkClick r:id="" action="ppaction://noaction"/>
              <a:extLst>
                <a:ext uri="{FF2B5EF4-FFF2-40B4-BE49-F238E27FC236}">
                  <a16:creationId xmlns:a16="http://schemas.microsoft.com/office/drawing/2014/main" id="{ADF35356-F622-988E-30CB-E67692ADFAAB}"/>
                </a:ext>
              </a:extLst>
            </p:cNvPr>
            <p:cNvSpPr/>
            <p:nvPr userDrawn="1"/>
          </p:nvSpPr>
          <p:spPr bwMode="auto">
            <a:xfrm>
              <a:off x="-1" y="0"/>
              <a:ext cx="51206401" cy="17068800"/>
            </a:xfrm>
            <a:prstGeom prst="rect">
              <a:avLst/>
            </a:prstGeom>
            <a:gradFill flip="none" rotWithShape="1">
              <a:gsLst>
                <a:gs pos="58000">
                  <a:srgbClr val="CA6CCD">
                    <a:alpha val="33000"/>
                  </a:srgbClr>
                </a:gs>
                <a:gs pos="0">
                  <a:srgbClr val="FF7F62">
                    <a:alpha val="33000"/>
                    <a:lumMod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22202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76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37226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740">
          <p15:clr>
            <a:srgbClr val="A4A3A4"/>
          </p15:clr>
        </p15:guide>
        <p15:guide id="26" pos="6802">
          <p15:clr>
            <a:srgbClr val="A4A3A4"/>
          </p15:clr>
        </p15:guide>
        <p15:guide id="27" pos="6940">
          <p15:clr>
            <a:srgbClr val="A4A3A4"/>
          </p15:clr>
        </p15:guide>
        <p15:guide id="28" pos="878">
          <p15:clr>
            <a:srgbClr val="A4A3A4"/>
          </p15:clr>
        </p15:guide>
        <p15:guide id="29" pos="6332">
          <p15:clr>
            <a:srgbClr val="A4A3A4"/>
          </p15:clr>
        </p15:guide>
        <p15:guide id="31" pos="5728">
          <p15:clr>
            <a:srgbClr val="A4A3A4"/>
          </p15:clr>
        </p15:guide>
        <p15:guide id="32" pos="5589">
          <p15:clr>
            <a:srgbClr val="A4A3A4"/>
          </p15:clr>
        </p15:guide>
        <p15:guide id="33" pos="5120">
          <p15:clr>
            <a:srgbClr val="A4A3A4"/>
          </p15:clr>
        </p15:guide>
        <p15:guide id="34" pos="4985">
          <p15:clr>
            <a:srgbClr val="A4A3A4"/>
          </p15:clr>
        </p15:guide>
        <p15:guide id="35" pos="4516">
          <p15:clr>
            <a:srgbClr val="A4A3A4"/>
          </p15:clr>
        </p15:guide>
        <p15:guide id="36" pos="4380">
          <p15:clr>
            <a:srgbClr val="A4A3A4"/>
          </p15:clr>
        </p15:guide>
        <p15:guide id="37" pos="3908">
          <p15:clr>
            <a:srgbClr val="A4A3A4"/>
          </p15:clr>
        </p15:guide>
        <p15:guide id="38" pos="3772">
          <p15:clr>
            <a:srgbClr val="A4A3A4"/>
          </p15:clr>
        </p15:guide>
        <p15:guide id="39" pos="3300">
          <p15:clr>
            <a:srgbClr val="A4A3A4"/>
          </p15:clr>
        </p15:guide>
        <p15:guide id="40" pos="3164">
          <p15:clr>
            <a:srgbClr val="A4A3A4"/>
          </p15:clr>
        </p15:guide>
        <p15:guide id="41" pos="2695">
          <p15:clr>
            <a:srgbClr val="A4A3A4"/>
          </p15:clr>
        </p15:guide>
        <p15:guide id="42" pos="2560">
          <p15:clr>
            <a:srgbClr val="A4A3A4"/>
          </p15:clr>
        </p15:guide>
        <p15:guide id="43" pos="2091">
          <p15:clr>
            <a:srgbClr val="A4A3A4"/>
          </p15:clr>
        </p15:guide>
        <p15:guide id="44" pos="1952">
          <p15:clr>
            <a:srgbClr val="A4A3A4"/>
          </p15:clr>
        </p15:guide>
        <p15:guide id="46" pos="1486">
          <p15:clr>
            <a:srgbClr val="A4A3A4"/>
          </p15:clr>
        </p15:guide>
        <p15:guide id="47" orient="horz" pos="1272">
          <p15:clr>
            <a:srgbClr val="5ACBF0"/>
          </p15:clr>
        </p15:guide>
        <p15:guide id="48" orient="horz" pos="906">
          <p15:clr>
            <a:srgbClr val="5ACBF0"/>
          </p15:clr>
        </p15:guide>
        <p15:guide id="49" pos="6194">
          <p15:clr>
            <a:srgbClr val="A4A3A4"/>
          </p15:clr>
        </p15:guide>
        <p15:guide id="50" pos="1348">
          <p15:clr>
            <a:srgbClr val="A4A3A4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5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150D06A-BF8F-D26E-BF8D-A8C841556B3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104105"/>
            <a:ext cx="1625600" cy="914400"/>
            <a:chOff x="0" y="0"/>
            <a:chExt cx="20574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417764-E64C-0FD3-4B50-B3AC779683DB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222028" fontAlgn="base">
                <a:spcBef>
                  <a:spcPct val="0"/>
                </a:spcBef>
                <a:spcAft>
                  <a:spcPct val="0"/>
                </a:spcAft>
              </a:pPr>
              <a:endParaRPr lang="en-US" sz="476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557B51-36CF-AE06-6DE8-82ACAB946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007" b="40595"/>
            <a:stretch/>
          </p:blipFill>
          <p:spPr>
            <a:xfrm>
              <a:off x="0" y="0"/>
              <a:ext cx="20574000" cy="68580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F5EA9A8B-89D0-947D-C76B-555C20C9BC95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gradFill flip="none" rotWithShape="1">
              <a:gsLst>
                <a:gs pos="60000">
                  <a:srgbClr val="DCEDE8">
                    <a:alpha val="60000"/>
                  </a:srgbClr>
                </a:gs>
                <a:gs pos="0">
                  <a:srgbClr val="FFF1CC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22202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76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31024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40">
          <p15:clr>
            <a:srgbClr val="A4A3A4"/>
          </p15:clr>
        </p15:guide>
        <p15:guide id="7" pos="878">
          <p15:clr>
            <a:srgbClr val="A4A3A4"/>
          </p15:clr>
        </p15:guide>
        <p15:guide id="8" pos="1486">
          <p15:clr>
            <a:srgbClr val="A4A3A4"/>
          </p15:clr>
        </p15:guide>
        <p15:guide id="10" pos="1952">
          <p15:clr>
            <a:srgbClr val="A4A3A4"/>
          </p15:clr>
        </p15:guide>
        <p15:guide id="11" pos="2091">
          <p15:clr>
            <a:srgbClr val="A4A3A4"/>
          </p15:clr>
        </p15:guide>
        <p15:guide id="12" pos="2560">
          <p15:clr>
            <a:srgbClr val="A4A3A4"/>
          </p15:clr>
        </p15:guide>
        <p15:guide id="13" pos="2695">
          <p15:clr>
            <a:srgbClr val="A4A3A4"/>
          </p15:clr>
        </p15:guide>
        <p15:guide id="14" pos="3164">
          <p15:clr>
            <a:srgbClr val="A4A3A4"/>
          </p15:clr>
        </p15:guide>
        <p15:guide id="15" pos="3300">
          <p15:clr>
            <a:srgbClr val="A4A3A4"/>
          </p15:clr>
        </p15:guide>
        <p15:guide id="16" pos="3772">
          <p15:clr>
            <a:srgbClr val="A4A3A4"/>
          </p15:clr>
        </p15:guide>
        <p15:guide id="17" pos="3908">
          <p15:clr>
            <a:srgbClr val="A4A3A4"/>
          </p15:clr>
        </p15:guide>
        <p15:guide id="18" pos="4380">
          <p15:clr>
            <a:srgbClr val="A4A3A4"/>
          </p15:clr>
        </p15:guide>
        <p15:guide id="19" pos="4516">
          <p15:clr>
            <a:srgbClr val="A4A3A4"/>
          </p15:clr>
        </p15:guide>
        <p15:guide id="20" pos="4985">
          <p15:clr>
            <a:srgbClr val="A4A3A4"/>
          </p15:clr>
        </p15:guide>
        <p15:guide id="21" pos="5120">
          <p15:clr>
            <a:srgbClr val="A4A3A4"/>
          </p15:clr>
        </p15:guide>
        <p15:guide id="22" pos="5589">
          <p15:clr>
            <a:srgbClr val="A4A3A4"/>
          </p15:clr>
        </p15:guide>
        <p15:guide id="23" pos="5728">
          <p15:clr>
            <a:srgbClr val="A4A3A4"/>
          </p15:clr>
        </p15:guide>
        <p15:guide id="25" pos="6332">
          <p15:clr>
            <a:srgbClr val="A4A3A4"/>
          </p15:clr>
        </p15:guide>
        <p15:guide id="26" pos="6802">
          <p15:clr>
            <a:srgbClr val="A4A3A4"/>
          </p15:clr>
        </p15:guide>
        <p15:guide id="27" pos="694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pos="6194">
          <p15:clr>
            <a:srgbClr val="A4A3A4"/>
          </p15:clr>
        </p15:guide>
        <p15:guide id="31" pos="1348">
          <p15:clr>
            <a:srgbClr val="A4A3A4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6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AE8FFB8-AD83-E95E-37C6-3D334A0B290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104105"/>
            <a:ext cx="1625600" cy="914400"/>
            <a:chOff x="0" y="0"/>
            <a:chExt cx="20574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417764-E64C-0FD3-4B50-B3AC779683DB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222028" fontAlgn="base">
                <a:spcBef>
                  <a:spcPct val="0"/>
                </a:spcBef>
                <a:spcAft>
                  <a:spcPct val="0"/>
                </a:spcAft>
              </a:pPr>
              <a:endParaRPr lang="en-US" sz="476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557B51-36CF-AE06-6DE8-82ACAB946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007" b="40595"/>
            <a:stretch/>
          </p:blipFill>
          <p:spPr>
            <a:xfrm>
              <a:off x="0" y="0"/>
              <a:ext cx="20574000" cy="68580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F5EA9A8B-89D0-947D-C76B-555C20C9BC95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22202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76" b="0" i="0" u="none" strike="noStrike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23060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40">
          <p15:clr>
            <a:srgbClr val="A4A3A4"/>
          </p15:clr>
        </p15:guide>
        <p15:guide id="7" pos="878">
          <p15:clr>
            <a:srgbClr val="A4A3A4"/>
          </p15:clr>
        </p15:guide>
        <p15:guide id="8" pos="1348">
          <p15:clr>
            <a:srgbClr val="A4A3A4"/>
          </p15:clr>
        </p15:guide>
        <p15:guide id="9" pos="1486">
          <p15:clr>
            <a:srgbClr val="A4A3A4"/>
          </p15:clr>
        </p15:guide>
        <p15:guide id="10" pos="1952">
          <p15:clr>
            <a:srgbClr val="A4A3A4"/>
          </p15:clr>
        </p15:guide>
        <p15:guide id="11" pos="2091">
          <p15:clr>
            <a:srgbClr val="A4A3A4"/>
          </p15:clr>
        </p15:guide>
        <p15:guide id="12" pos="2560">
          <p15:clr>
            <a:srgbClr val="A4A3A4"/>
          </p15:clr>
        </p15:guide>
        <p15:guide id="13" pos="2695">
          <p15:clr>
            <a:srgbClr val="A4A3A4"/>
          </p15:clr>
        </p15:guide>
        <p15:guide id="14" pos="3164">
          <p15:clr>
            <a:srgbClr val="A4A3A4"/>
          </p15:clr>
        </p15:guide>
        <p15:guide id="15" pos="3300">
          <p15:clr>
            <a:srgbClr val="A4A3A4"/>
          </p15:clr>
        </p15:guide>
        <p15:guide id="16" pos="3772">
          <p15:clr>
            <a:srgbClr val="A4A3A4"/>
          </p15:clr>
        </p15:guide>
        <p15:guide id="17" pos="3908">
          <p15:clr>
            <a:srgbClr val="A4A3A4"/>
          </p15:clr>
        </p15:guide>
        <p15:guide id="18" pos="4380">
          <p15:clr>
            <a:srgbClr val="A4A3A4"/>
          </p15:clr>
        </p15:guide>
        <p15:guide id="19" pos="4516">
          <p15:clr>
            <a:srgbClr val="A4A3A4"/>
          </p15:clr>
        </p15:guide>
        <p15:guide id="20" pos="4985">
          <p15:clr>
            <a:srgbClr val="A4A3A4"/>
          </p15:clr>
        </p15:guide>
        <p15:guide id="21" pos="5120">
          <p15:clr>
            <a:srgbClr val="A4A3A4"/>
          </p15:clr>
        </p15:guide>
        <p15:guide id="22" pos="5589">
          <p15:clr>
            <a:srgbClr val="A4A3A4"/>
          </p15:clr>
        </p15:guide>
        <p15:guide id="23" pos="5728">
          <p15:clr>
            <a:srgbClr val="A4A3A4"/>
          </p15:clr>
        </p15:guide>
        <p15:guide id="24" pos="6194">
          <p15:clr>
            <a:srgbClr val="A4A3A4"/>
          </p15:clr>
        </p15:guide>
        <p15:guide id="25" pos="6332">
          <p15:clr>
            <a:srgbClr val="A4A3A4"/>
          </p15:clr>
        </p15:guide>
        <p15:guide id="26" pos="6802">
          <p15:clr>
            <a:srgbClr val="A4A3A4"/>
          </p15:clr>
        </p15:guide>
        <p15:guide id="27" pos="694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7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BED3351-8622-0F47-3A63-758510D7E46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104105"/>
            <a:ext cx="1625600" cy="914400"/>
            <a:chOff x="0" y="0"/>
            <a:chExt cx="20574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417764-E64C-0FD3-4B50-B3AC779683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222028" fontAlgn="base">
                <a:spcBef>
                  <a:spcPct val="0"/>
                </a:spcBef>
                <a:spcAft>
                  <a:spcPct val="0"/>
                </a:spcAft>
              </a:pPr>
              <a:endParaRPr lang="en-US" sz="476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557B51-36CF-AE06-6DE8-82ACAB946553}"/>
                </a:ext>
              </a:extLst>
            </p:cNvPr>
            <p:cNvPicPr>
              <a:picLocks/>
            </p:cNvPicPr>
            <p:nvPr/>
          </p:nvPicPr>
          <p:blipFill>
            <a:blip r:embed="rId4">
              <a:alphaModFix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007" b="40595"/>
            <a:stretch/>
          </p:blipFill>
          <p:spPr>
            <a:xfrm>
              <a:off x="0" y="0"/>
              <a:ext cx="20574000" cy="68580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F5EA9A8B-89D0-947D-C76B-555C20C9BC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gradFill flip="none" rotWithShape="1">
              <a:gsLst>
                <a:gs pos="0">
                  <a:srgbClr val="FFF8E5">
                    <a:alpha val="60000"/>
                  </a:srgbClr>
                </a:gs>
                <a:gs pos="6000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22202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76" b="0" i="0" u="none" strike="noStrike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34111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40">
          <p15:clr>
            <a:srgbClr val="A4A3A4"/>
          </p15:clr>
        </p15:guide>
        <p15:guide id="7" pos="878">
          <p15:clr>
            <a:srgbClr val="A4A3A4"/>
          </p15:clr>
        </p15:guide>
        <p15:guide id="8" pos="1348">
          <p15:clr>
            <a:srgbClr val="A4A3A4"/>
          </p15:clr>
        </p15:guide>
        <p15:guide id="9" pos="1486">
          <p15:clr>
            <a:srgbClr val="A4A3A4"/>
          </p15:clr>
        </p15:guide>
        <p15:guide id="10" pos="1952">
          <p15:clr>
            <a:srgbClr val="A4A3A4"/>
          </p15:clr>
        </p15:guide>
        <p15:guide id="11" pos="2091">
          <p15:clr>
            <a:srgbClr val="A4A3A4"/>
          </p15:clr>
        </p15:guide>
        <p15:guide id="12" pos="2560">
          <p15:clr>
            <a:srgbClr val="A4A3A4"/>
          </p15:clr>
        </p15:guide>
        <p15:guide id="13" pos="2695">
          <p15:clr>
            <a:srgbClr val="A4A3A4"/>
          </p15:clr>
        </p15:guide>
        <p15:guide id="14" pos="3164">
          <p15:clr>
            <a:srgbClr val="A4A3A4"/>
          </p15:clr>
        </p15:guide>
        <p15:guide id="15" pos="3300">
          <p15:clr>
            <a:srgbClr val="A4A3A4"/>
          </p15:clr>
        </p15:guide>
        <p15:guide id="16" pos="3772">
          <p15:clr>
            <a:srgbClr val="A4A3A4"/>
          </p15:clr>
        </p15:guide>
        <p15:guide id="17" pos="3908">
          <p15:clr>
            <a:srgbClr val="A4A3A4"/>
          </p15:clr>
        </p15:guide>
        <p15:guide id="18" pos="4380">
          <p15:clr>
            <a:srgbClr val="A4A3A4"/>
          </p15:clr>
        </p15:guide>
        <p15:guide id="19" pos="4516">
          <p15:clr>
            <a:srgbClr val="A4A3A4"/>
          </p15:clr>
        </p15:guide>
        <p15:guide id="20" pos="4985">
          <p15:clr>
            <a:srgbClr val="A4A3A4"/>
          </p15:clr>
        </p15:guide>
        <p15:guide id="21" pos="5120">
          <p15:clr>
            <a:srgbClr val="A4A3A4"/>
          </p15:clr>
        </p15:guide>
        <p15:guide id="22" pos="5589">
          <p15:clr>
            <a:srgbClr val="A4A3A4"/>
          </p15:clr>
        </p15:guide>
        <p15:guide id="23" pos="5728">
          <p15:clr>
            <a:srgbClr val="A4A3A4"/>
          </p15:clr>
        </p15:guide>
        <p15:guide id="24" pos="6194">
          <p15:clr>
            <a:srgbClr val="A4A3A4"/>
          </p15:clr>
        </p15:guide>
        <p15:guide id="25" pos="6332">
          <p15:clr>
            <a:srgbClr val="A4A3A4"/>
          </p15:clr>
        </p15:guide>
        <p15:guide id="26" pos="6802">
          <p15:clr>
            <a:srgbClr val="A4A3A4"/>
          </p15:clr>
        </p15:guide>
        <p15:guide id="27" pos="694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1 - Dar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FB566E8-F25B-6D26-AD0A-7EF43048876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104105"/>
            <a:ext cx="1625600" cy="914400"/>
            <a:chOff x="2066923" y="-1447801"/>
            <a:chExt cx="20574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446F7D5-160B-E7D6-C86A-ACB331A05DB2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66923" y="-1447801"/>
              <a:ext cx="20574000" cy="6858000"/>
            </a:xfrm>
            <a:prstGeom prst="rect">
              <a:avLst/>
            </a:prstGeom>
            <a:gradFill>
              <a:gsLst>
                <a:gs pos="0">
                  <a:srgbClr val="391C0E"/>
                </a:gs>
                <a:gs pos="44000">
                  <a:srgbClr val="000000"/>
                </a:gs>
              </a:gsLst>
              <a:lin ang="135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552583" fontAlgn="base">
                <a:spcBef>
                  <a:spcPct val="0"/>
                </a:spcBef>
                <a:spcAft>
                  <a:spcPct val="0"/>
                </a:spcAft>
              </a:pPr>
              <a:endParaRPr lang="en-US" sz="237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6" name="Picture 5" descr="A black and white background&#10;&#10;AI-generated content may be incorrect.">
              <a:extLst>
                <a:ext uri="{FF2B5EF4-FFF2-40B4-BE49-F238E27FC236}">
                  <a16:creationId xmlns:a16="http://schemas.microsoft.com/office/drawing/2014/main" id="{CBC8D309-BF06-4463-1805-15F41FAE9C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60" b="45739"/>
            <a:stretch/>
          </p:blipFill>
          <p:spPr>
            <a:xfrm>
              <a:off x="2066923" y="-1447801"/>
              <a:ext cx="20574000" cy="6858000"/>
            </a:xfrm>
            <a:prstGeom prst="rect">
              <a:avLst/>
            </a:prstGeom>
          </p:spPr>
        </p:pic>
        <p:sp>
          <p:nvSpPr>
            <p:cNvPr id="7" name="Rectangle 6">
              <a:hlinkClick r:id="" action="ppaction://noaction"/>
              <a:extLst>
                <a:ext uri="{FF2B5EF4-FFF2-40B4-BE49-F238E27FC236}">
                  <a16:creationId xmlns:a16="http://schemas.microsoft.com/office/drawing/2014/main" id="{00CAA406-1060-1F5F-6819-1CC049B35264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66923" y="-1447801"/>
              <a:ext cx="20574000" cy="6858000"/>
            </a:xfrm>
            <a:prstGeom prst="rect">
              <a:avLst/>
            </a:prstGeom>
            <a:gradFill flip="none" rotWithShape="1">
              <a:gsLst>
                <a:gs pos="0">
                  <a:srgbClr val="391C0E">
                    <a:alpha val="65000"/>
                  </a:srgbClr>
                </a:gs>
                <a:gs pos="44000">
                  <a:srgbClr val="000000">
                    <a:alpha val="65000"/>
                  </a:srgbClr>
                </a:gs>
              </a:gsLst>
              <a:lin ang="1350000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22202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76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16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7" pos="740">
          <p15:clr>
            <a:srgbClr val="A4A3A4"/>
          </p15:clr>
        </p15:guide>
        <p15:guide id="26" pos="6804">
          <p15:clr>
            <a:srgbClr val="A4A3A4"/>
          </p15:clr>
        </p15:guide>
        <p15:guide id="27" pos="6940">
          <p15:clr>
            <a:srgbClr val="A4A3A4"/>
          </p15:clr>
        </p15:guide>
        <p15:guide id="28" pos="879">
          <p15:clr>
            <a:srgbClr val="A4A3A4"/>
          </p15:clr>
        </p15:guide>
        <p15:guide id="29" pos="6332">
          <p15:clr>
            <a:srgbClr val="A4A3A4"/>
          </p15:clr>
        </p15:guide>
        <p15:guide id="31" pos="5726">
          <p15:clr>
            <a:srgbClr val="A4A3A4"/>
          </p15:clr>
        </p15:guide>
        <p15:guide id="32" pos="5592">
          <p15:clr>
            <a:srgbClr val="A4A3A4"/>
          </p15:clr>
        </p15:guide>
        <p15:guide id="33" pos="5120">
          <p15:clr>
            <a:srgbClr val="A4A3A4"/>
          </p15:clr>
        </p15:guide>
        <p15:guide id="34" pos="4984">
          <p15:clr>
            <a:srgbClr val="A4A3A4"/>
          </p15:clr>
        </p15:guide>
        <p15:guide id="35" pos="4516">
          <p15:clr>
            <a:srgbClr val="A4A3A4"/>
          </p15:clr>
        </p15:guide>
        <p15:guide id="36" pos="4380">
          <p15:clr>
            <a:srgbClr val="A4A3A4"/>
          </p15:clr>
        </p15:guide>
        <p15:guide id="37" pos="3909">
          <p15:clr>
            <a:srgbClr val="A4A3A4"/>
          </p15:clr>
        </p15:guide>
        <p15:guide id="38" pos="3772">
          <p15:clr>
            <a:srgbClr val="A4A3A4"/>
          </p15:clr>
        </p15:guide>
        <p15:guide id="39" pos="3300">
          <p15:clr>
            <a:srgbClr val="A4A3A4"/>
          </p15:clr>
        </p15:guide>
        <p15:guide id="40" pos="3165">
          <p15:clr>
            <a:srgbClr val="A4A3A4"/>
          </p15:clr>
        </p15:guide>
        <p15:guide id="41" pos="2696">
          <p15:clr>
            <a:srgbClr val="A4A3A4"/>
          </p15:clr>
        </p15:guide>
        <p15:guide id="42" pos="2560">
          <p15:clr>
            <a:srgbClr val="A4A3A4"/>
          </p15:clr>
        </p15:guide>
        <p15:guide id="43" pos="2089">
          <p15:clr>
            <a:srgbClr val="A4A3A4"/>
          </p15:clr>
        </p15:guide>
        <p15:guide id="44" pos="1953">
          <p15:clr>
            <a:srgbClr val="A4A3A4"/>
          </p15:clr>
        </p15:guide>
        <p15:guide id="46" pos="1348">
          <p15:clr>
            <a:srgbClr val="A4A3A4"/>
          </p15:clr>
        </p15:guide>
        <p15:guide id="47" pos="1485">
          <p15:clr>
            <a:srgbClr val="A4A3A4"/>
          </p15:clr>
        </p15:guide>
        <p15:guide id="48" pos="6194">
          <p15:clr>
            <a:srgbClr val="A4A3A4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2 - Dar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8F6DAD2-377D-4EC9-A6C5-12FFF5EBFB0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104105"/>
            <a:ext cx="1625600" cy="914400"/>
            <a:chOff x="-1309688" y="1524000"/>
            <a:chExt cx="20574000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7F20E93-498D-2931-2D35-83D8EA102A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09688" y="1524000"/>
              <a:ext cx="20574000" cy="6858000"/>
            </a:xfrm>
            <a:prstGeom prst="rect">
              <a:avLst/>
            </a:prstGeom>
            <a:gradFill>
              <a:gsLst>
                <a:gs pos="50000">
                  <a:srgbClr val="112D31"/>
                </a:gs>
                <a:gs pos="0">
                  <a:srgbClr val="152237"/>
                </a:gs>
              </a:gsLst>
              <a:lin ang="13500000" scaled="1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552583" fontAlgn="base">
                <a:spcBef>
                  <a:spcPct val="0"/>
                </a:spcBef>
                <a:spcAft>
                  <a:spcPct val="0"/>
                </a:spcAft>
              </a:pPr>
              <a:endParaRPr lang="en-US" sz="237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8" name="Picture 7" descr="A black and white background&#10;&#10;AI-generated content may be incorrect.">
              <a:extLst>
                <a:ext uri="{FF2B5EF4-FFF2-40B4-BE49-F238E27FC236}">
                  <a16:creationId xmlns:a16="http://schemas.microsoft.com/office/drawing/2014/main" id="{E56C5E29-2C61-7BD6-E170-E5B51D6C9FC3}"/>
                </a:ext>
              </a:extLst>
            </p:cNvPr>
            <p:cNvPicPr>
              <a:picLocks/>
            </p:cNvPicPr>
            <p:nvPr userDrawn="1"/>
          </p:nvPicPr>
          <p:blipFill>
            <a:blip r:embed="rId4">
              <a:alphaModFix amt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60" b="45739"/>
            <a:stretch/>
          </p:blipFill>
          <p:spPr>
            <a:xfrm>
              <a:off x="-1309688" y="1524000"/>
              <a:ext cx="20574000" cy="6858000"/>
            </a:xfrm>
            <a:prstGeom prst="rect">
              <a:avLst/>
            </a:prstGeom>
          </p:spPr>
        </p:pic>
        <p:sp>
          <p:nvSpPr>
            <p:cNvPr id="9" name="Rectangle 8">
              <a:hlinkClick r:id="" action="ppaction://noaction"/>
              <a:extLst>
                <a:ext uri="{FF2B5EF4-FFF2-40B4-BE49-F238E27FC236}">
                  <a16:creationId xmlns:a16="http://schemas.microsoft.com/office/drawing/2014/main" id="{329F7E2E-AFCD-183C-09DA-DB305B5A4E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09688" y="1524000"/>
              <a:ext cx="20574000" cy="6858000"/>
            </a:xfrm>
            <a:prstGeom prst="rect">
              <a:avLst/>
            </a:prstGeom>
            <a:gradFill>
              <a:gsLst>
                <a:gs pos="50000">
                  <a:srgbClr val="112D31">
                    <a:alpha val="75000"/>
                  </a:srgbClr>
                </a:gs>
                <a:gs pos="0">
                  <a:srgbClr val="152237">
                    <a:alpha val="75000"/>
                  </a:srgbClr>
                </a:gs>
              </a:gsLst>
              <a:lin ang="13500000" scaled="1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22202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76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2405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7" pos="740">
          <p15:clr>
            <a:srgbClr val="A4A3A4"/>
          </p15:clr>
        </p15:guide>
        <p15:guide id="26" pos="6804">
          <p15:clr>
            <a:srgbClr val="A4A3A4"/>
          </p15:clr>
        </p15:guide>
        <p15:guide id="27" pos="6940">
          <p15:clr>
            <a:srgbClr val="A4A3A4"/>
          </p15:clr>
        </p15:guide>
        <p15:guide id="28" pos="879">
          <p15:clr>
            <a:srgbClr val="A4A3A4"/>
          </p15:clr>
        </p15:guide>
        <p15:guide id="29" pos="6332">
          <p15:clr>
            <a:srgbClr val="A4A3A4"/>
          </p15:clr>
        </p15:guide>
        <p15:guide id="31" pos="5726">
          <p15:clr>
            <a:srgbClr val="A4A3A4"/>
          </p15:clr>
        </p15:guide>
        <p15:guide id="32" pos="5592">
          <p15:clr>
            <a:srgbClr val="A4A3A4"/>
          </p15:clr>
        </p15:guide>
        <p15:guide id="33" pos="5120">
          <p15:clr>
            <a:srgbClr val="A4A3A4"/>
          </p15:clr>
        </p15:guide>
        <p15:guide id="34" pos="4984">
          <p15:clr>
            <a:srgbClr val="A4A3A4"/>
          </p15:clr>
        </p15:guide>
        <p15:guide id="35" pos="4516">
          <p15:clr>
            <a:srgbClr val="A4A3A4"/>
          </p15:clr>
        </p15:guide>
        <p15:guide id="36" pos="4380">
          <p15:clr>
            <a:srgbClr val="A4A3A4"/>
          </p15:clr>
        </p15:guide>
        <p15:guide id="37" pos="3909">
          <p15:clr>
            <a:srgbClr val="A4A3A4"/>
          </p15:clr>
        </p15:guide>
        <p15:guide id="38" pos="3772">
          <p15:clr>
            <a:srgbClr val="A4A3A4"/>
          </p15:clr>
        </p15:guide>
        <p15:guide id="39" pos="3300">
          <p15:clr>
            <a:srgbClr val="A4A3A4"/>
          </p15:clr>
        </p15:guide>
        <p15:guide id="40" pos="3165">
          <p15:clr>
            <a:srgbClr val="A4A3A4"/>
          </p15:clr>
        </p15:guide>
        <p15:guide id="41" pos="2696">
          <p15:clr>
            <a:srgbClr val="A4A3A4"/>
          </p15:clr>
        </p15:guide>
        <p15:guide id="42" pos="2560">
          <p15:clr>
            <a:srgbClr val="A4A3A4"/>
          </p15:clr>
        </p15:guide>
        <p15:guide id="43" pos="2089">
          <p15:clr>
            <a:srgbClr val="A4A3A4"/>
          </p15:clr>
        </p15:guide>
        <p15:guide id="44" pos="1953">
          <p15:clr>
            <a:srgbClr val="A4A3A4"/>
          </p15:clr>
        </p15:guide>
        <p15:guide id="46" pos="1348">
          <p15:clr>
            <a:srgbClr val="A4A3A4"/>
          </p15:clr>
        </p15:guide>
        <p15:guide id="47" pos="1485">
          <p15:clr>
            <a:srgbClr val="A4A3A4"/>
          </p15:clr>
        </p15:guide>
        <p15:guide id="48" pos="6194">
          <p15:clr>
            <a:srgbClr val="A4A3A4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3 - Dar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8711770-B15A-1596-7C25-881A18B7A24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104105"/>
            <a:ext cx="1625600" cy="914400"/>
            <a:chOff x="2400299" y="3495675"/>
            <a:chExt cx="20574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79184D-02CC-9707-FDAD-6E995B25CA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00299" y="3495675"/>
              <a:ext cx="20574000" cy="6858000"/>
            </a:xfrm>
            <a:prstGeom prst="rect">
              <a:avLst/>
            </a:prstGeom>
            <a:gradFill>
              <a:gsLst>
                <a:gs pos="0">
                  <a:srgbClr val="381239"/>
                </a:gs>
                <a:gs pos="50000">
                  <a:srgbClr val="152237"/>
                </a:gs>
              </a:gsLst>
              <a:lin ang="13500000" scaled="1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552583" fontAlgn="base">
                <a:spcBef>
                  <a:spcPct val="0"/>
                </a:spcBef>
                <a:spcAft>
                  <a:spcPct val="0"/>
                </a:spcAft>
              </a:pPr>
              <a:endParaRPr lang="en-US" sz="237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6" name="Picture 5" descr="A black and white background&#10;&#10;AI-generated content may be incorrect.">
              <a:extLst>
                <a:ext uri="{FF2B5EF4-FFF2-40B4-BE49-F238E27FC236}">
                  <a16:creationId xmlns:a16="http://schemas.microsoft.com/office/drawing/2014/main" id="{D0EBEF25-78A9-040D-2BF0-C9FBDA16F132}"/>
                </a:ext>
              </a:extLst>
            </p:cNvPr>
            <p:cNvPicPr>
              <a:picLocks/>
            </p:cNvPicPr>
            <p:nvPr userDrawn="1"/>
          </p:nvPicPr>
          <p:blipFill>
            <a:blip r:embed="rId4">
              <a:alphaModFix amt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60" b="45739"/>
            <a:stretch/>
          </p:blipFill>
          <p:spPr>
            <a:xfrm>
              <a:off x="2400299" y="3495675"/>
              <a:ext cx="20574000" cy="6858000"/>
            </a:xfrm>
            <a:prstGeom prst="rect">
              <a:avLst/>
            </a:prstGeom>
          </p:spPr>
        </p:pic>
        <p:sp>
          <p:nvSpPr>
            <p:cNvPr id="7" name="Rectangle 6">
              <a:hlinkClick r:id="" action="ppaction://noaction"/>
              <a:extLst>
                <a:ext uri="{FF2B5EF4-FFF2-40B4-BE49-F238E27FC236}">
                  <a16:creationId xmlns:a16="http://schemas.microsoft.com/office/drawing/2014/main" id="{F5070DEB-7390-AC4A-7453-87B26C894A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00299" y="3495675"/>
              <a:ext cx="20574000" cy="6858000"/>
            </a:xfrm>
            <a:prstGeom prst="rect">
              <a:avLst/>
            </a:prstGeom>
            <a:gradFill>
              <a:gsLst>
                <a:gs pos="0">
                  <a:srgbClr val="381239">
                    <a:alpha val="75000"/>
                  </a:srgbClr>
                </a:gs>
                <a:gs pos="50000">
                  <a:srgbClr val="152237">
                    <a:alpha val="75000"/>
                  </a:srgbClr>
                </a:gs>
              </a:gsLst>
              <a:lin ang="13500000" scaled="1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22202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76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22715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7" pos="740">
          <p15:clr>
            <a:srgbClr val="A4A3A4"/>
          </p15:clr>
        </p15:guide>
        <p15:guide id="26" pos="6804">
          <p15:clr>
            <a:srgbClr val="A4A3A4"/>
          </p15:clr>
        </p15:guide>
        <p15:guide id="27" pos="6940">
          <p15:clr>
            <a:srgbClr val="A4A3A4"/>
          </p15:clr>
        </p15:guide>
        <p15:guide id="28" pos="879">
          <p15:clr>
            <a:srgbClr val="A4A3A4"/>
          </p15:clr>
        </p15:guide>
        <p15:guide id="29" pos="6332">
          <p15:clr>
            <a:srgbClr val="A4A3A4"/>
          </p15:clr>
        </p15:guide>
        <p15:guide id="31" pos="5726">
          <p15:clr>
            <a:srgbClr val="A4A3A4"/>
          </p15:clr>
        </p15:guide>
        <p15:guide id="32" pos="5592">
          <p15:clr>
            <a:srgbClr val="A4A3A4"/>
          </p15:clr>
        </p15:guide>
        <p15:guide id="33" pos="5120">
          <p15:clr>
            <a:srgbClr val="A4A3A4"/>
          </p15:clr>
        </p15:guide>
        <p15:guide id="34" pos="4984">
          <p15:clr>
            <a:srgbClr val="A4A3A4"/>
          </p15:clr>
        </p15:guide>
        <p15:guide id="35" pos="4516">
          <p15:clr>
            <a:srgbClr val="A4A3A4"/>
          </p15:clr>
        </p15:guide>
        <p15:guide id="36" pos="4380">
          <p15:clr>
            <a:srgbClr val="A4A3A4"/>
          </p15:clr>
        </p15:guide>
        <p15:guide id="37" pos="3909">
          <p15:clr>
            <a:srgbClr val="A4A3A4"/>
          </p15:clr>
        </p15:guide>
        <p15:guide id="38" pos="3772">
          <p15:clr>
            <a:srgbClr val="A4A3A4"/>
          </p15:clr>
        </p15:guide>
        <p15:guide id="39" pos="3300">
          <p15:clr>
            <a:srgbClr val="A4A3A4"/>
          </p15:clr>
        </p15:guide>
        <p15:guide id="40" pos="3165">
          <p15:clr>
            <a:srgbClr val="A4A3A4"/>
          </p15:clr>
        </p15:guide>
        <p15:guide id="41" pos="2696">
          <p15:clr>
            <a:srgbClr val="A4A3A4"/>
          </p15:clr>
        </p15:guide>
        <p15:guide id="42" pos="2560">
          <p15:clr>
            <a:srgbClr val="A4A3A4"/>
          </p15:clr>
        </p15:guide>
        <p15:guide id="43" pos="2089">
          <p15:clr>
            <a:srgbClr val="A4A3A4"/>
          </p15:clr>
        </p15:guide>
        <p15:guide id="44" pos="1953">
          <p15:clr>
            <a:srgbClr val="A4A3A4"/>
          </p15:clr>
        </p15:guide>
        <p15:guide id="46" pos="1348">
          <p15:clr>
            <a:srgbClr val="A4A3A4"/>
          </p15:clr>
        </p15:guide>
        <p15:guide id="47" pos="1485">
          <p15:clr>
            <a:srgbClr val="A4A3A4"/>
          </p15:clr>
        </p15:guide>
        <p15:guide id="48" pos="6194">
          <p15:clr>
            <a:srgbClr val="A4A3A4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4 - Dar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F5681EF-363F-494E-9B6F-7A6F43C7FDB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104105"/>
            <a:ext cx="1625600" cy="914400"/>
            <a:chOff x="-552451" y="2652712"/>
            <a:chExt cx="20574000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3C8179-B7CF-DE4C-AC77-3EA2BDABCB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552451" y="2652712"/>
              <a:ext cx="20574000" cy="6858000"/>
            </a:xfrm>
            <a:prstGeom prst="rect">
              <a:avLst/>
            </a:prstGeom>
            <a:gradFill>
              <a:gsLst>
                <a:gs pos="50000">
                  <a:srgbClr val="381239"/>
                </a:gs>
                <a:gs pos="0">
                  <a:srgbClr val="391317"/>
                </a:gs>
              </a:gsLst>
              <a:lin ang="13500000" scaled="1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552583" fontAlgn="base">
                <a:spcBef>
                  <a:spcPct val="0"/>
                </a:spcBef>
                <a:spcAft>
                  <a:spcPct val="0"/>
                </a:spcAft>
              </a:pPr>
              <a:endParaRPr lang="en-US" sz="237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8" name="Picture 7" descr="A black and white background&#10;&#10;AI-generated content may be incorrect.">
              <a:extLst>
                <a:ext uri="{FF2B5EF4-FFF2-40B4-BE49-F238E27FC236}">
                  <a16:creationId xmlns:a16="http://schemas.microsoft.com/office/drawing/2014/main" id="{DD61AD40-4C42-6D1C-0E96-2158E947528A}"/>
                </a:ext>
              </a:extLst>
            </p:cNvPr>
            <p:cNvPicPr>
              <a:picLocks/>
            </p:cNvPicPr>
            <p:nvPr userDrawn="1"/>
          </p:nvPicPr>
          <p:blipFill>
            <a:blip r:embed="rId4">
              <a:alphaModFix amt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60" b="45739"/>
            <a:stretch/>
          </p:blipFill>
          <p:spPr>
            <a:xfrm>
              <a:off x="-552451" y="2652712"/>
              <a:ext cx="20574000" cy="6858000"/>
            </a:xfrm>
            <a:prstGeom prst="rect">
              <a:avLst/>
            </a:prstGeom>
          </p:spPr>
        </p:pic>
        <p:sp>
          <p:nvSpPr>
            <p:cNvPr id="9" name="Rectangle 8">
              <a:hlinkClick r:id="" action="ppaction://noaction"/>
              <a:extLst>
                <a:ext uri="{FF2B5EF4-FFF2-40B4-BE49-F238E27FC236}">
                  <a16:creationId xmlns:a16="http://schemas.microsoft.com/office/drawing/2014/main" id="{8F2CB072-21A9-CD5E-B343-D63E8A79B7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552451" y="2652712"/>
              <a:ext cx="20574000" cy="6858000"/>
            </a:xfrm>
            <a:prstGeom prst="rect">
              <a:avLst/>
            </a:prstGeom>
            <a:gradFill>
              <a:gsLst>
                <a:gs pos="50000">
                  <a:srgbClr val="381239">
                    <a:alpha val="75000"/>
                  </a:srgbClr>
                </a:gs>
                <a:gs pos="0">
                  <a:srgbClr val="391317">
                    <a:alpha val="74902"/>
                  </a:srgbClr>
                </a:gs>
              </a:gsLst>
              <a:lin ang="13500000" scaled="1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22202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76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28" name="Group 27" hidden="1">
            <a:extLst>
              <a:ext uri="{FF2B5EF4-FFF2-40B4-BE49-F238E27FC236}">
                <a16:creationId xmlns:a16="http://schemas.microsoft.com/office/drawing/2014/main" id="{CD65768F-0DA6-8527-4892-5F532829E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72444" y="7327900"/>
            <a:ext cx="10081330" cy="215444"/>
            <a:chOff x="1809750" y="3124200"/>
            <a:chExt cx="17012244" cy="2154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F14200D-79CB-354C-872E-7F5749993ABB}"/>
                </a:ext>
              </a:extLst>
            </p:cNvPr>
            <p:cNvSpPr txBox="1"/>
            <p:nvPr userDrawn="1"/>
          </p:nvSpPr>
          <p:spPr>
            <a:xfrm>
              <a:off x="1809750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9.08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EA7D9F4-4BA2-0439-F293-0D9314CBAC9E}"/>
                </a:ext>
              </a:extLst>
            </p:cNvPr>
            <p:cNvSpPr txBox="1"/>
            <p:nvPr userDrawn="1"/>
          </p:nvSpPr>
          <p:spPr>
            <a:xfrm>
              <a:off x="2171700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8.68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F8D508-A488-3AFF-C464-886E666D4AD5}"/>
                </a:ext>
              </a:extLst>
            </p:cNvPr>
            <p:cNvSpPr txBox="1"/>
            <p:nvPr userDrawn="1"/>
          </p:nvSpPr>
          <p:spPr>
            <a:xfrm>
              <a:off x="3486150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7.3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65DA73-567F-26DA-9399-A0F692149353}"/>
                </a:ext>
              </a:extLst>
            </p:cNvPr>
            <p:cNvSpPr txBox="1"/>
            <p:nvPr userDrawn="1"/>
          </p:nvSpPr>
          <p:spPr>
            <a:xfrm>
              <a:off x="3876675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6.9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92316C-600F-E673-2D0D-7433FBAF3DB9}"/>
                </a:ext>
              </a:extLst>
            </p:cNvPr>
            <p:cNvSpPr txBox="1"/>
            <p:nvPr userDrawn="1"/>
          </p:nvSpPr>
          <p:spPr>
            <a:xfrm>
              <a:off x="5067300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5.53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6EF7729-1D80-F869-2CE7-8D7B1957954B}"/>
                </a:ext>
              </a:extLst>
            </p:cNvPr>
            <p:cNvSpPr txBox="1"/>
            <p:nvPr userDrawn="1"/>
          </p:nvSpPr>
          <p:spPr>
            <a:xfrm>
              <a:off x="5448299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5.13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3248E31-E788-57BA-8826-884C29FE7F0C}"/>
                </a:ext>
              </a:extLst>
            </p:cNvPr>
            <p:cNvSpPr txBox="1"/>
            <p:nvPr userDrawn="1"/>
          </p:nvSpPr>
          <p:spPr>
            <a:xfrm>
              <a:off x="6696074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3.75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D6DF1F-3BBF-A7A2-C058-7ABF834ECC6C}"/>
                </a:ext>
              </a:extLst>
            </p:cNvPr>
            <p:cNvSpPr txBox="1"/>
            <p:nvPr userDrawn="1"/>
          </p:nvSpPr>
          <p:spPr>
            <a:xfrm>
              <a:off x="7048499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3.35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D1D8AD9-9CD4-3684-2C3A-FDA960B91424}"/>
                </a:ext>
              </a:extLst>
            </p:cNvPr>
            <p:cNvSpPr txBox="1"/>
            <p:nvPr userDrawn="1"/>
          </p:nvSpPr>
          <p:spPr>
            <a:xfrm>
              <a:off x="8324849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1.98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C632FB7-795D-806D-04A2-9D1BAD4C1A9B}"/>
                </a:ext>
              </a:extLst>
            </p:cNvPr>
            <p:cNvSpPr txBox="1"/>
            <p:nvPr userDrawn="1"/>
          </p:nvSpPr>
          <p:spPr>
            <a:xfrm>
              <a:off x="8715374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1.58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37BA21-98AD-B5C6-5CE5-4FAFB6B80FA9}"/>
                </a:ext>
              </a:extLst>
            </p:cNvPr>
            <p:cNvSpPr txBox="1"/>
            <p:nvPr userDrawn="1"/>
          </p:nvSpPr>
          <p:spPr>
            <a:xfrm>
              <a:off x="9982665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0.2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65C29CF-EB0D-8628-3C67-77097D061809}"/>
                </a:ext>
              </a:extLst>
            </p:cNvPr>
            <p:cNvSpPr txBox="1"/>
            <p:nvPr userDrawn="1"/>
          </p:nvSpPr>
          <p:spPr>
            <a:xfrm>
              <a:off x="18494981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9.08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C4F8464-99CC-FC53-5768-B25A5FB03BC7}"/>
                </a:ext>
              </a:extLst>
            </p:cNvPr>
            <p:cNvSpPr txBox="1"/>
            <p:nvPr userDrawn="1"/>
          </p:nvSpPr>
          <p:spPr>
            <a:xfrm>
              <a:off x="17973354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8.68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BD6650-BB81-CA48-ADD1-24C6003EC5ED}"/>
                </a:ext>
              </a:extLst>
            </p:cNvPr>
            <p:cNvSpPr txBox="1"/>
            <p:nvPr userDrawn="1"/>
          </p:nvSpPr>
          <p:spPr>
            <a:xfrm>
              <a:off x="16466493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6.9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9C7F56A-BF05-583F-BFC6-F7CE5709D4E3}"/>
                </a:ext>
              </a:extLst>
            </p:cNvPr>
            <p:cNvSpPr txBox="1"/>
            <p:nvPr userDrawn="1"/>
          </p:nvSpPr>
          <p:spPr>
            <a:xfrm>
              <a:off x="16845434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7.3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987F511-955D-9F51-50FC-5A044DC37312}"/>
                </a:ext>
              </a:extLst>
            </p:cNvPr>
            <p:cNvSpPr txBox="1"/>
            <p:nvPr userDrawn="1"/>
          </p:nvSpPr>
          <p:spPr>
            <a:xfrm>
              <a:off x="10425427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0.2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77D0773-5A15-567A-078A-0E754F82EF2C}"/>
                </a:ext>
              </a:extLst>
            </p:cNvPr>
            <p:cNvSpPr txBox="1"/>
            <p:nvPr userDrawn="1"/>
          </p:nvSpPr>
          <p:spPr>
            <a:xfrm>
              <a:off x="11554827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1.58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50571C6-1EC4-25F4-FC59-1F4A255CF1E5}"/>
                </a:ext>
              </a:extLst>
            </p:cNvPr>
            <p:cNvSpPr txBox="1"/>
            <p:nvPr userDrawn="1"/>
          </p:nvSpPr>
          <p:spPr>
            <a:xfrm>
              <a:off x="12001699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1.98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AEC6A19-9466-6712-7801-65E381EA7B12}"/>
                </a:ext>
              </a:extLst>
            </p:cNvPr>
            <p:cNvSpPr txBox="1"/>
            <p:nvPr userDrawn="1"/>
          </p:nvSpPr>
          <p:spPr>
            <a:xfrm>
              <a:off x="13237543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3.35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25A0322-1C7E-8A76-0F61-188D5804305C}"/>
                </a:ext>
              </a:extLst>
            </p:cNvPr>
            <p:cNvSpPr txBox="1"/>
            <p:nvPr userDrawn="1"/>
          </p:nvSpPr>
          <p:spPr>
            <a:xfrm>
              <a:off x="13626264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3.75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7F9F56F-EEEA-F2D1-236A-6B14404BA1F8}"/>
                </a:ext>
              </a:extLst>
            </p:cNvPr>
            <p:cNvSpPr txBox="1"/>
            <p:nvPr userDrawn="1"/>
          </p:nvSpPr>
          <p:spPr>
            <a:xfrm>
              <a:off x="14813680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5.13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B899E6C-6BBA-31FA-C5F2-D38E7BD48B4D}"/>
                </a:ext>
              </a:extLst>
            </p:cNvPr>
            <p:cNvSpPr txBox="1"/>
            <p:nvPr userDrawn="1"/>
          </p:nvSpPr>
          <p:spPr>
            <a:xfrm>
              <a:off x="15221953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5.53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2182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7" pos="740">
          <p15:clr>
            <a:srgbClr val="A4A3A4"/>
          </p15:clr>
        </p15:guide>
        <p15:guide id="26" pos="6804">
          <p15:clr>
            <a:srgbClr val="A4A3A4"/>
          </p15:clr>
        </p15:guide>
        <p15:guide id="27" pos="6940">
          <p15:clr>
            <a:srgbClr val="A4A3A4"/>
          </p15:clr>
        </p15:guide>
        <p15:guide id="28" pos="879">
          <p15:clr>
            <a:srgbClr val="A4A3A4"/>
          </p15:clr>
        </p15:guide>
        <p15:guide id="29" pos="6332">
          <p15:clr>
            <a:srgbClr val="A4A3A4"/>
          </p15:clr>
        </p15:guide>
        <p15:guide id="31" pos="5726">
          <p15:clr>
            <a:srgbClr val="A4A3A4"/>
          </p15:clr>
        </p15:guide>
        <p15:guide id="32" pos="5592">
          <p15:clr>
            <a:srgbClr val="A4A3A4"/>
          </p15:clr>
        </p15:guide>
        <p15:guide id="33" pos="5120">
          <p15:clr>
            <a:srgbClr val="A4A3A4"/>
          </p15:clr>
        </p15:guide>
        <p15:guide id="34" pos="4984">
          <p15:clr>
            <a:srgbClr val="A4A3A4"/>
          </p15:clr>
        </p15:guide>
        <p15:guide id="35" pos="4516">
          <p15:clr>
            <a:srgbClr val="A4A3A4"/>
          </p15:clr>
        </p15:guide>
        <p15:guide id="36" pos="4380">
          <p15:clr>
            <a:srgbClr val="A4A3A4"/>
          </p15:clr>
        </p15:guide>
        <p15:guide id="37" pos="3909">
          <p15:clr>
            <a:srgbClr val="A4A3A4"/>
          </p15:clr>
        </p15:guide>
        <p15:guide id="38" pos="3772">
          <p15:clr>
            <a:srgbClr val="A4A3A4"/>
          </p15:clr>
        </p15:guide>
        <p15:guide id="39" pos="3300">
          <p15:clr>
            <a:srgbClr val="A4A3A4"/>
          </p15:clr>
        </p15:guide>
        <p15:guide id="40" pos="3165">
          <p15:clr>
            <a:srgbClr val="A4A3A4"/>
          </p15:clr>
        </p15:guide>
        <p15:guide id="41" pos="2696">
          <p15:clr>
            <a:srgbClr val="A4A3A4"/>
          </p15:clr>
        </p15:guide>
        <p15:guide id="42" pos="2560">
          <p15:clr>
            <a:srgbClr val="A4A3A4"/>
          </p15:clr>
        </p15:guide>
        <p15:guide id="43" pos="2089">
          <p15:clr>
            <a:srgbClr val="A4A3A4"/>
          </p15:clr>
        </p15:guide>
        <p15:guide id="44" pos="1953">
          <p15:clr>
            <a:srgbClr val="A4A3A4"/>
          </p15:clr>
        </p15:guide>
        <p15:guide id="46" pos="1348">
          <p15:clr>
            <a:srgbClr val="A4A3A4"/>
          </p15:clr>
        </p15:guide>
        <p15:guide id="47" pos="1485">
          <p15:clr>
            <a:srgbClr val="A4A3A4"/>
          </p15:clr>
        </p15:guide>
        <p15:guide id="48" pos="6194">
          <p15:clr>
            <a:srgbClr val="A4A3A4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5 - Dar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 hidden="1">
            <a:extLst>
              <a:ext uri="{FF2B5EF4-FFF2-40B4-BE49-F238E27FC236}">
                <a16:creationId xmlns:a16="http://schemas.microsoft.com/office/drawing/2014/main" id="{CD65768F-0DA6-8527-4892-5F532829E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72444" y="7327900"/>
            <a:ext cx="10081330" cy="215444"/>
            <a:chOff x="1809750" y="3124200"/>
            <a:chExt cx="17012244" cy="2154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F14200D-79CB-354C-872E-7F5749993ABB}"/>
                </a:ext>
              </a:extLst>
            </p:cNvPr>
            <p:cNvSpPr txBox="1"/>
            <p:nvPr userDrawn="1"/>
          </p:nvSpPr>
          <p:spPr>
            <a:xfrm>
              <a:off x="1809750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9.08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EA7D9F4-4BA2-0439-F293-0D9314CBAC9E}"/>
                </a:ext>
              </a:extLst>
            </p:cNvPr>
            <p:cNvSpPr txBox="1"/>
            <p:nvPr userDrawn="1"/>
          </p:nvSpPr>
          <p:spPr>
            <a:xfrm>
              <a:off x="2171700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8.68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F8D508-A488-3AFF-C464-886E666D4AD5}"/>
                </a:ext>
              </a:extLst>
            </p:cNvPr>
            <p:cNvSpPr txBox="1"/>
            <p:nvPr userDrawn="1"/>
          </p:nvSpPr>
          <p:spPr>
            <a:xfrm>
              <a:off x="3486150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7.3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65DA73-567F-26DA-9399-A0F692149353}"/>
                </a:ext>
              </a:extLst>
            </p:cNvPr>
            <p:cNvSpPr txBox="1"/>
            <p:nvPr userDrawn="1"/>
          </p:nvSpPr>
          <p:spPr>
            <a:xfrm>
              <a:off x="3876675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6.9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92316C-600F-E673-2D0D-7433FBAF3DB9}"/>
                </a:ext>
              </a:extLst>
            </p:cNvPr>
            <p:cNvSpPr txBox="1"/>
            <p:nvPr userDrawn="1"/>
          </p:nvSpPr>
          <p:spPr>
            <a:xfrm>
              <a:off x="5067300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5.53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6EF7729-1D80-F869-2CE7-8D7B1957954B}"/>
                </a:ext>
              </a:extLst>
            </p:cNvPr>
            <p:cNvSpPr txBox="1"/>
            <p:nvPr userDrawn="1"/>
          </p:nvSpPr>
          <p:spPr>
            <a:xfrm>
              <a:off x="5448299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5.13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3248E31-E788-57BA-8826-884C29FE7F0C}"/>
                </a:ext>
              </a:extLst>
            </p:cNvPr>
            <p:cNvSpPr txBox="1"/>
            <p:nvPr userDrawn="1"/>
          </p:nvSpPr>
          <p:spPr>
            <a:xfrm>
              <a:off x="6696074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3.75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D6DF1F-3BBF-A7A2-C058-7ABF834ECC6C}"/>
                </a:ext>
              </a:extLst>
            </p:cNvPr>
            <p:cNvSpPr txBox="1"/>
            <p:nvPr userDrawn="1"/>
          </p:nvSpPr>
          <p:spPr>
            <a:xfrm>
              <a:off x="7048499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3.35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D1D8AD9-9CD4-3684-2C3A-FDA960B91424}"/>
                </a:ext>
              </a:extLst>
            </p:cNvPr>
            <p:cNvSpPr txBox="1"/>
            <p:nvPr userDrawn="1"/>
          </p:nvSpPr>
          <p:spPr>
            <a:xfrm>
              <a:off x="8324849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1.98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C632FB7-795D-806D-04A2-9D1BAD4C1A9B}"/>
                </a:ext>
              </a:extLst>
            </p:cNvPr>
            <p:cNvSpPr txBox="1"/>
            <p:nvPr userDrawn="1"/>
          </p:nvSpPr>
          <p:spPr>
            <a:xfrm>
              <a:off x="8715374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1.58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37BA21-98AD-B5C6-5CE5-4FAFB6B80FA9}"/>
                </a:ext>
              </a:extLst>
            </p:cNvPr>
            <p:cNvSpPr txBox="1"/>
            <p:nvPr userDrawn="1"/>
          </p:nvSpPr>
          <p:spPr>
            <a:xfrm>
              <a:off x="9982665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0.2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65C29CF-EB0D-8628-3C67-77097D061809}"/>
                </a:ext>
              </a:extLst>
            </p:cNvPr>
            <p:cNvSpPr txBox="1"/>
            <p:nvPr userDrawn="1"/>
          </p:nvSpPr>
          <p:spPr>
            <a:xfrm>
              <a:off x="18494981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9.08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C4F8464-99CC-FC53-5768-B25A5FB03BC7}"/>
                </a:ext>
              </a:extLst>
            </p:cNvPr>
            <p:cNvSpPr txBox="1"/>
            <p:nvPr userDrawn="1"/>
          </p:nvSpPr>
          <p:spPr>
            <a:xfrm>
              <a:off x="17973354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8.68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BD6650-BB81-CA48-ADD1-24C6003EC5ED}"/>
                </a:ext>
              </a:extLst>
            </p:cNvPr>
            <p:cNvSpPr txBox="1"/>
            <p:nvPr userDrawn="1"/>
          </p:nvSpPr>
          <p:spPr>
            <a:xfrm>
              <a:off x="16466493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6.9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9C7F56A-BF05-583F-BFC6-F7CE5709D4E3}"/>
                </a:ext>
              </a:extLst>
            </p:cNvPr>
            <p:cNvSpPr txBox="1"/>
            <p:nvPr userDrawn="1"/>
          </p:nvSpPr>
          <p:spPr>
            <a:xfrm>
              <a:off x="16845434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7.3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987F511-955D-9F51-50FC-5A044DC37312}"/>
                </a:ext>
              </a:extLst>
            </p:cNvPr>
            <p:cNvSpPr txBox="1"/>
            <p:nvPr userDrawn="1"/>
          </p:nvSpPr>
          <p:spPr>
            <a:xfrm>
              <a:off x="10425427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0.2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77D0773-5A15-567A-078A-0E754F82EF2C}"/>
                </a:ext>
              </a:extLst>
            </p:cNvPr>
            <p:cNvSpPr txBox="1"/>
            <p:nvPr userDrawn="1"/>
          </p:nvSpPr>
          <p:spPr>
            <a:xfrm>
              <a:off x="11554827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1.58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50571C6-1EC4-25F4-FC59-1F4A255CF1E5}"/>
                </a:ext>
              </a:extLst>
            </p:cNvPr>
            <p:cNvSpPr txBox="1"/>
            <p:nvPr userDrawn="1"/>
          </p:nvSpPr>
          <p:spPr>
            <a:xfrm>
              <a:off x="12001699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1.98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AEC6A19-9466-6712-7801-65E381EA7B12}"/>
                </a:ext>
              </a:extLst>
            </p:cNvPr>
            <p:cNvSpPr txBox="1"/>
            <p:nvPr userDrawn="1"/>
          </p:nvSpPr>
          <p:spPr>
            <a:xfrm>
              <a:off x="13237543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3.35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25A0322-1C7E-8A76-0F61-188D5804305C}"/>
                </a:ext>
              </a:extLst>
            </p:cNvPr>
            <p:cNvSpPr txBox="1"/>
            <p:nvPr userDrawn="1"/>
          </p:nvSpPr>
          <p:spPr>
            <a:xfrm>
              <a:off x="13626264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3.75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7F9F56F-EEEA-F2D1-236A-6B14404BA1F8}"/>
                </a:ext>
              </a:extLst>
            </p:cNvPr>
            <p:cNvSpPr txBox="1"/>
            <p:nvPr userDrawn="1"/>
          </p:nvSpPr>
          <p:spPr>
            <a:xfrm>
              <a:off x="14813680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5.13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B899E6C-6BBA-31FA-C5F2-D38E7BD48B4D}"/>
                </a:ext>
              </a:extLst>
            </p:cNvPr>
            <p:cNvSpPr txBox="1"/>
            <p:nvPr userDrawn="1"/>
          </p:nvSpPr>
          <p:spPr>
            <a:xfrm>
              <a:off x="15221953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5.53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257D99F-785A-745D-A662-7C169B70251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104105"/>
            <a:ext cx="1625600" cy="914400"/>
            <a:chOff x="1547812" y="2019299"/>
            <a:chExt cx="20574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39FDDF7-96F1-B56C-F4BA-323ECE8D52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7812" y="2019299"/>
              <a:ext cx="20574000" cy="6858000"/>
            </a:xfrm>
            <a:prstGeom prst="rect">
              <a:avLst/>
            </a:prstGeom>
            <a:gradFill>
              <a:gsLst>
                <a:gs pos="60000">
                  <a:srgbClr val="112D31"/>
                </a:gs>
                <a:gs pos="0">
                  <a:srgbClr val="3F2D0D"/>
                </a:gs>
              </a:gsLst>
              <a:lin ang="135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552583" fontAlgn="base">
                <a:spcBef>
                  <a:spcPct val="0"/>
                </a:spcBef>
                <a:spcAft>
                  <a:spcPct val="0"/>
                </a:spcAft>
              </a:pPr>
              <a:endParaRPr lang="en-US" sz="237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6" name="Picture 5" descr="A black and white background&#10;&#10;AI-generated content may be incorrect.">
              <a:extLst>
                <a:ext uri="{FF2B5EF4-FFF2-40B4-BE49-F238E27FC236}">
                  <a16:creationId xmlns:a16="http://schemas.microsoft.com/office/drawing/2014/main" id="{ED817908-CBEE-214D-BD1C-42305956BE9B}"/>
                </a:ext>
              </a:extLst>
            </p:cNvPr>
            <p:cNvPicPr>
              <a:picLocks/>
            </p:cNvPicPr>
            <p:nvPr userDrawn="1"/>
          </p:nvPicPr>
          <p:blipFill>
            <a:blip r:embed="rId4">
              <a:alphaModFix amt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60" b="45739"/>
            <a:stretch/>
          </p:blipFill>
          <p:spPr>
            <a:xfrm>
              <a:off x="1547812" y="2019299"/>
              <a:ext cx="20574000" cy="6858000"/>
            </a:xfrm>
            <a:prstGeom prst="rect">
              <a:avLst/>
            </a:prstGeom>
          </p:spPr>
        </p:pic>
        <p:sp>
          <p:nvSpPr>
            <p:cNvPr id="7" name="Rectangle 6">
              <a:hlinkClick r:id="" action="ppaction://noaction"/>
              <a:extLst>
                <a:ext uri="{FF2B5EF4-FFF2-40B4-BE49-F238E27FC236}">
                  <a16:creationId xmlns:a16="http://schemas.microsoft.com/office/drawing/2014/main" id="{10BB984C-4D13-B6B2-A3FD-48AE1DF54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7812" y="2019299"/>
              <a:ext cx="20574000" cy="6858000"/>
            </a:xfrm>
            <a:prstGeom prst="rect">
              <a:avLst/>
            </a:prstGeom>
            <a:gradFill flip="none" rotWithShape="1">
              <a:gsLst>
                <a:gs pos="60000">
                  <a:srgbClr val="112D31">
                    <a:alpha val="75000"/>
                  </a:srgbClr>
                </a:gs>
                <a:gs pos="0">
                  <a:srgbClr val="3F2D0D">
                    <a:alpha val="75000"/>
                  </a:srgbClr>
                </a:gs>
              </a:gsLst>
              <a:lin ang="1350000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22202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76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8192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7" pos="740">
          <p15:clr>
            <a:srgbClr val="A4A3A4"/>
          </p15:clr>
        </p15:guide>
        <p15:guide id="26" pos="6804">
          <p15:clr>
            <a:srgbClr val="A4A3A4"/>
          </p15:clr>
        </p15:guide>
        <p15:guide id="27" pos="6940">
          <p15:clr>
            <a:srgbClr val="A4A3A4"/>
          </p15:clr>
        </p15:guide>
        <p15:guide id="28" pos="879">
          <p15:clr>
            <a:srgbClr val="A4A3A4"/>
          </p15:clr>
        </p15:guide>
        <p15:guide id="29" pos="6332">
          <p15:clr>
            <a:srgbClr val="A4A3A4"/>
          </p15:clr>
        </p15:guide>
        <p15:guide id="31" pos="5726">
          <p15:clr>
            <a:srgbClr val="A4A3A4"/>
          </p15:clr>
        </p15:guide>
        <p15:guide id="32" pos="5592">
          <p15:clr>
            <a:srgbClr val="A4A3A4"/>
          </p15:clr>
        </p15:guide>
        <p15:guide id="33" pos="5120">
          <p15:clr>
            <a:srgbClr val="A4A3A4"/>
          </p15:clr>
        </p15:guide>
        <p15:guide id="34" pos="4984">
          <p15:clr>
            <a:srgbClr val="A4A3A4"/>
          </p15:clr>
        </p15:guide>
        <p15:guide id="35" pos="4516">
          <p15:clr>
            <a:srgbClr val="A4A3A4"/>
          </p15:clr>
        </p15:guide>
        <p15:guide id="36" pos="4380">
          <p15:clr>
            <a:srgbClr val="A4A3A4"/>
          </p15:clr>
        </p15:guide>
        <p15:guide id="37" pos="3909">
          <p15:clr>
            <a:srgbClr val="A4A3A4"/>
          </p15:clr>
        </p15:guide>
        <p15:guide id="38" pos="3772">
          <p15:clr>
            <a:srgbClr val="A4A3A4"/>
          </p15:clr>
        </p15:guide>
        <p15:guide id="39" pos="3300">
          <p15:clr>
            <a:srgbClr val="A4A3A4"/>
          </p15:clr>
        </p15:guide>
        <p15:guide id="40" pos="3165">
          <p15:clr>
            <a:srgbClr val="A4A3A4"/>
          </p15:clr>
        </p15:guide>
        <p15:guide id="41" pos="2696">
          <p15:clr>
            <a:srgbClr val="A4A3A4"/>
          </p15:clr>
        </p15:guide>
        <p15:guide id="42" pos="2560">
          <p15:clr>
            <a:srgbClr val="A4A3A4"/>
          </p15:clr>
        </p15:guide>
        <p15:guide id="43" pos="2089">
          <p15:clr>
            <a:srgbClr val="A4A3A4"/>
          </p15:clr>
        </p15:guide>
        <p15:guide id="44" pos="1953">
          <p15:clr>
            <a:srgbClr val="A4A3A4"/>
          </p15:clr>
        </p15:guide>
        <p15:guide id="46" pos="1348">
          <p15:clr>
            <a:srgbClr val="A4A3A4"/>
          </p15:clr>
        </p15:guide>
        <p15:guide id="47" pos="1485">
          <p15:clr>
            <a:srgbClr val="A4A3A4"/>
          </p15:clr>
        </p15:guide>
        <p15:guide id="48" pos="6194">
          <p15:clr>
            <a:srgbClr val="A4A3A4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6 - Dar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 hidden="1">
            <a:extLst>
              <a:ext uri="{FF2B5EF4-FFF2-40B4-BE49-F238E27FC236}">
                <a16:creationId xmlns:a16="http://schemas.microsoft.com/office/drawing/2014/main" id="{CD65768F-0DA6-8527-4892-5F532829E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72444" y="7327900"/>
            <a:ext cx="10081330" cy="215444"/>
            <a:chOff x="1809750" y="3124200"/>
            <a:chExt cx="17012244" cy="2154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F14200D-79CB-354C-872E-7F5749993ABB}"/>
                </a:ext>
              </a:extLst>
            </p:cNvPr>
            <p:cNvSpPr txBox="1"/>
            <p:nvPr userDrawn="1"/>
          </p:nvSpPr>
          <p:spPr>
            <a:xfrm>
              <a:off x="1809750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9.08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EA7D9F4-4BA2-0439-F293-0D9314CBAC9E}"/>
                </a:ext>
              </a:extLst>
            </p:cNvPr>
            <p:cNvSpPr txBox="1"/>
            <p:nvPr userDrawn="1"/>
          </p:nvSpPr>
          <p:spPr>
            <a:xfrm>
              <a:off x="2171700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8.68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F8D508-A488-3AFF-C464-886E666D4AD5}"/>
                </a:ext>
              </a:extLst>
            </p:cNvPr>
            <p:cNvSpPr txBox="1"/>
            <p:nvPr userDrawn="1"/>
          </p:nvSpPr>
          <p:spPr>
            <a:xfrm>
              <a:off x="3486150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7.3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65DA73-567F-26DA-9399-A0F692149353}"/>
                </a:ext>
              </a:extLst>
            </p:cNvPr>
            <p:cNvSpPr txBox="1"/>
            <p:nvPr userDrawn="1"/>
          </p:nvSpPr>
          <p:spPr>
            <a:xfrm>
              <a:off x="3876675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6.9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92316C-600F-E673-2D0D-7433FBAF3DB9}"/>
                </a:ext>
              </a:extLst>
            </p:cNvPr>
            <p:cNvSpPr txBox="1"/>
            <p:nvPr userDrawn="1"/>
          </p:nvSpPr>
          <p:spPr>
            <a:xfrm>
              <a:off x="5067300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5.53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6EF7729-1D80-F869-2CE7-8D7B1957954B}"/>
                </a:ext>
              </a:extLst>
            </p:cNvPr>
            <p:cNvSpPr txBox="1"/>
            <p:nvPr userDrawn="1"/>
          </p:nvSpPr>
          <p:spPr>
            <a:xfrm>
              <a:off x="5448299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5.13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3248E31-E788-57BA-8826-884C29FE7F0C}"/>
                </a:ext>
              </a:extLst>
            </p:cNvPr>
            <p:cNvSpPr txBox="1"/>
            <p:nvPr userDrawn="1"/>
          </p:nvSpPr>
          <p:spPr>
            <a:xfrm>
              <a:off x="6696074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3.75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D6DF1F-3BBF-A7A2-C058-7ABF834ECC6C}"/>
                </a:ext>
              </a:extLst>
            </p:cNvPr>
            <p:cNvSpPr txBox="1"/>
            <p:nvPr userDrawn="1"/>
          </p:nvSpPr>
          <p:spPr>
            <a:xfrm>
              <a:off x="7048499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3.35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D1D8AD9-9CD4-3684-2C3A-FDA960B91424}"/>
                </a:ext>
              </a:extLst>
            </p:cNvPr>
            <p:cNvSpPr txBox="1"/>
            <p:nvPr userDrawn="1"/>
          </p:nvSpPr>
          <p:spPr>
            <a:xfrm>
              <a:off x="8324849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1.98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C632FB7-795D-806D-04A2-9D1BAD4C1A9B}"/>
                </a:ext>
              </a:extLst>
            </p:cNvPr>
            <p:cNvSpPr txBox="1"/>
            <p:nvPr userDrawn="1"/>
          </p:nvSpPr>
          <p:spPr>
            <a:xfrm>
              <a:off x="8715374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1.58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37BA21-98AD-B5C6-5CE5-4FAFB6B80FA9}"/>
                </a:ext>
              </a:extLst>
            </p:cNvPr>
            <p:cNvSpPr txBox="1"/>
            <p:nvPr userDrawn="1"/>
          </p:nvSpPr>
          <p:spPr>
            <a:xfrm>
              <a:off x="9982665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0.2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65C29CF-EB0D-8628-3C67-77097D061809}"/>
                </a:ext>
              </a:extLst>
            </p:cNvPr>
            <p:cNvSpPr txBox="1"/>
            <p:nvPr userDrawn="1"/>
          </p:nvSpPr>
          <p:spPr>
            <a:xfrm>
              <a:off x="18494981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9.08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C4F8464-99CC-FC53-5768-B25A5FB03BC7}"/>
                </a:ext>
              </a:extLst>
            </p:cNvPr>
            <p:cNvSpPr txBox="1"/>
            <p:nvPr userDrawn="1"/>
          </p:nvSpPr>
          <p:spPr>
            <a:xfrm>
              <a:off x="17973354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8.68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BD6650-BB81-CA48-ADD1-24C6003EC5ED}"/>
                </a:ext>
              </a:extLst>
            </p:cNvPr>
            <p:cNvSpPr txBox="1"/>
            <p:nvPr userDrawn="1"/>
          </p:nvSpPr>
          <p:spPr>
            <a:xfrm>
              <a:off x="16466493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6.9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9C7F56A-BF05-583F-BFC6-F7CE5709D4E3}"/>
                </a:ext>
              </a:extLst>
            </p:cNvPr>
            <p:cNvSpPr txBox="1"/>
            <p:nvPr userDrawn="1"/>
          </p:nvSpPr>
          <p:spPr>
            <a:xfrm>
              <a:off x="16845434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7.3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987F511-955D-9F51-50FC-5A044DC37312}"/>
                </a:ext>
              </a:extLst>
            </p:cNvPr>
            <p:cNvSpPr txBox="1"/>
            <p:nvPr userDrawn="1"/>
          </p:nvSpPr>
          <p:spPr>
            <a:xfrm>
              <a:off x="10425427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0.2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77D0773-5A15-567A-078A-0E754F82EF2C}"/>
                </a:ext>
              </a:extLst>
            </p:cNvPr>
            <p:cNvSpPr txBox="1"/>
            <p:nvPr userDrawn="1"/>
          </p:nvSpPr>
          <p:spPr>
            <a:xfrm>
              <a:off x="11554827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1.58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50571C6-1EC4-25F4-FC59-1F4A255CF1E5}"/>
                </a:ext>
              </a:extLst>
            </p:cNvPr>
            <p:cNvSpPr txBox="1"/>
            <p:nvPr userDrawn="1"/>
          </p:nvSpPr>
          <p:spPr>
            <a:xfrm>
              <a:off x="12001699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1.98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AEC6A19-9466-6712-7801-65E381EA7B12}"/>
                </a:ext>
              </a:extLst>
            </p:cNvPr>
            <p:cNvSpPr txBox="1"/>
            <p:nvPr userDrawn="1"/>
          </p:nvSpPr>
          <p:spPr>
            <a:xfrm>
              <a:off x="13237543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3.35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25A0322-1C7E-8A76-0F61-188D5804305C}"/>
                </a:ext>
              </a:extLst>
            </p:cNvPr>
            <p:cNvSpPr txBox="1"/>
            <p:nvPr userDrawn="1"/>
          </p:nvSpPr>
          <p:spPr>
            <a:xfrm>
              <a:off x="13626264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3.75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7F9F56F-EEEA-F2D1-236A-6B14404BA1F8}"/>
                </a:ext>
              </a:extLst>
            </p:cNvPr>
            <p:cNvSpPr txBox="1"/>
            <p:nvPr userDrawn="1"/>
          </p:nvSpPr>
          <p:spPr>
            <a:xfrm>
              <a:off x="14813680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5.13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B899E6C-6BBA-31FA-C5F2-D38E7BD48B4D}"/>
                </a:ext>
              </a:extLst>
            </p:cNvPr>
            <p:cNvSpPr txBox="1"/>
            <p:nvPr userDrawn="1"/>
          </p:nvSpPr>
          <p:spPr>
            <a:xfrm>
              <a:off x="15221953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5.53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811E204-8C3F-4770-3D11-B8119370893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104105"/>
            <a:ext cx="1625600" cy="914400"/>
            <a:chOff x="1014412" y="2733675"/>
            <a:chExt cx="20574000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E76B830-2B3B-6156-868F-1BFD7F2C7F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4412" y="2733675"/>
              <a:ext cx="20574000" cy="6858000"/>
            </a:xfrm>
            <a:prstGeom prst="rect">
              <a:avLst/>
            </a:prstGeom>
            <a:gradFill>
              <a:gsLst>
                <a:gs pos="60000">
                  <a:srgbClr val="152237"/>
                </a:gs>
                <a:gs pos="0">
                  <a:srgbClr val="391317"/>
                </a:gs>
              </a:gsLst>
              <a:lin ang="135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552583" fontAlgn="base">
                <a:spcBef>
                  <a:spcPct val="0"/>
                </a:spcBef>
                <a:spcAft>
                  <a:spcPct val="0"/>
                </a:spcAft>
              </a:pPr>
              <a:endParaRPr lang="en-US" sz="237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8" name="Picture 7" descr="A black and white background&#10;&#10;AI-generated content may be incorrect.">
              <a:extLst>
                <a:ext uri="{FF2B5EF4-FFF2-40B4-BE49-F238E27FC236}">
                  <a16:creationId xmlns:a16="http://schemas.microsoft.com/office/drawing/2014/main" id="{8AE8648E-F1F4-42E3-E83B-33CE9DBCEC1C}"/>
                </a:ext>
              </a:extLst>
            </p:cNvPr>
            <p:cNvPicPr>
              <a:picLocks/>
            </p:cNvPicPr>
            <p:nvPr userDrawn="1"/>
          </p:nvPicPr>
          <p:blipFill>
            <a:blip r:embed="rId4">
              <a:alphaModFix amt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60" b="45739"/>
            <a:stretch/>
          </p:blipFill>
          <p:spPr>
            <a:xfrm>
              <a:off x="1014412" y="2733675"/>
              <a:ext cx="20574000" cy="6858000"/>
            </a:xfrm>
            <a:prstGeom prst="rect">
              <a:avLst/>
            </a:prstGeom>
          </p:spPr>
        </p:pic>
        <p:sp>
          <p:nvSpPr>
            <p:cNvPr id="9" name="Rectangle 8">
              <a:hlinkClick r:id="" action="ppaction://noaction"/>
              <a:extLst>
                <a:ext uri="{FF2B5EF4-FFF2-40B4-BE49-F238E27FC236}">
                  <a16:creationId xmlns:a16="http://schemas.microsoft.com/office/drawing/2014/main" id="{362C934C-E87F-8379-E170-4AC6056442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4412" y="2733675"/>
              <a:ext cx="20574000" cy="6858000"/>
            </a:xfrm>
            <a:prstGeom prst="rect">
              <a:avLst/>
            </a:prstGeom>
            <a:gradFill flip="none" rotWithShape="1">
              <a:gsLst>
                <a:gs pos="60000">
                  <a:srgbClr val="152237">
                    <a:alpha val="75000"/>
                  </a:srgbClr>
                </a:gs>
                <a:gs pos="0">
                  <a:srgbClr val="391317">
                    <a:alpha val="75000"/>
                  </a:srgbClr>
                </a:gs>
              </a:gsLst>
              <a:lin ang="1350000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22202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76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7874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7" pos="740">
          <p15:clr>
            <a:srgbClr val="A4A3A4"/>
          </p15:clr>
        </p15:guide>
        <p15:guide id="26" pos="6804">
          <p15:clr>
            <a:srgbClr val="A4A3A4"/>
          </p15:clr>
        </p15:guide>
        <p15:guide id="27" pos="6940">
          <p15:clr>
            <a:srgbClr val="A4A3A4"/>
          </p15:clr>
        </p15:guide>
        <p15:guide id="28" pos="879">
          <p15:clr>
            <a:srgbClr val="A4A3A4"/>
          </p15:clr>
        </p15:guide>
        <p15:guide id="29" pos="6332">
          <p15:clr>
            <a:srgbClr val="A4A3A4"/>
          </p15:clr>
        </p15:guide>
        <p15:guide id="31" pos="5726">
          <p15:clr>
            <a:srgbClr val="A4A3A4"/>
          </p15:clr>
        </p15:guide>
        <p15:guide id="32" pos="5592">
          <p15:clr>
            <a:srgbClr val="A4A3A4"/>
          </p15:clr>
        </p15:guide>
        <p15:guide id="33" pos="5120">
          <p15:clr>
            <a:srgbClr val="A4A3A4"/>
          </p15:clr>
        </p15:guide>
        <p15:guide id="34" pos="4984">
          <p15:clr>
            <a:srgbClr val="A4A3A4"/>
          </p15:clr>
        </p15:guide>
        <p15:guide id="35" pos="4516">
          <p15:clr>
            <a:srgbClr val="A4A3A4"/>
          </p15:clr>
        </p15:guide>
        <p15:guide id="36" pos="4380">
          <p15:clr>
            <a:srgbClr val="A4A3A4"/>
          </p15:clr>
        </p15:guide>
        <p15:guide id="37" pos="3909">
          <p15:clr>
            <a:srgbClr val="A4A3A4"/>
          </p15:clr>
        </p15:guide>
        <p15:guide id="38" pos="3772">
          <p15:clr>
            <a:srgbClr val="A4A3A4"/>
          </p15:clr>
        </p15:guide>
        <p15:guide id="39" pos="3300">
          <p15:clr>
            <a:srgbClr val="A4A3A4"/>
          </p15:clr>
        </p15:guide>
        <p15:guide id="40" pos="3165">
          <p15:clr>
            <a:srgbClr val="A4A3A4"/>
          </p15:clr>
        </p15:guide>
        <p15:guide id="41" pos="2696">
          <p15:clr>
            <a:srgbClr val="A4A3A4"/>
          </p15:clr>
        </p15:guide>
        <p15:guide id="42" pos="2560">
          <p15:clr>
            <a:srgbClr val="A4A3A4"/>
          </p15:clr>
        </p15:guide>
        <p15:guide id="43" pos="2089">
          <p15:clr>
            <a:srgbClr val="A4A3A4"/>
          </p15:clr>
        </p15:guide>
        <p15:guide id="44" pos="1953">
          <p15:clr>
            <a:srgbClr val="A4A3A4"/>
          </p15:clr>
        </p15:guide>
        <p15:guide id="46" pos="1348">
          <p15:clr>
            <a:srgbClr val="A4A3A4"/>
          </p15:clr>
        </p15:guide>
        <p15:guide id="47" pos="1485">
          <p15:clr>
            <a:srgbClr val="A4A3A4"/>
          </p15:clr>
        </p15:guide>
        <p15:guide id="48" pos="6194">
          <p15:clr>
            <a:srgbClr val="A4A3A4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7 - Dar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 hidden="1">
            <a:extLst>
              <a:ext uri="{FF2B5EF4-FFF2-40B4-BE49-F238E27FC236}">
                <a16:creationId xmlns:a16="http://schemas.microsoft.com/office/drawing/2014/main" id="{CD65768F-0DA6-8527-4892-5F532829E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72444" y="7327900"/>
            <a:ext cx="10081330" cy="215444"/>
            <a:chOff x="1809750" y="3124200"/>
            <a:chExt cx="17012244" cy="2154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F14200D-79CB-354C-872E-7F5749993ABB}"/>
                </a:ext>
              </a:extLst>
            </p:cNvPr>
            <p:cNvSpPr txBox="1"/>
            <p:nvPr userDrawn="1"/>
          </p:nvSpPr>
          <p:spPr>
            <a:xfrm>
              <a:off x="1809750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9.08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EA7D9F4-4BA2-0439-F293-0D9314CBAC9E}"/>
                </a:ext>
              </a:extLst>
            </p:cNvPr>
            <p:cNvSpPr txBox="1"/>
            <p:nvPr userDrawn="1"/>
          </p:nvSpPr>
          <p:spPr>
            <a:xfrm>
              <a:off x="2171700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8.68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F8D508-A488-3AFF-C464-886E666D4AD5}"/>
                </a:ext>
              </a:extLst>
            </p:cNvPr>
            <p:cNvSpPr txBox="1"/>
            <p:nvPr userDrawn="1"/>
          </p:nvSpPr>
          <p:spPr>
            <a:xfrm>
              <a:off x="3486150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7.3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65DA73-567F-26DA-9399-A0F692149353}"/>
                </a:ext>
              </a:extLst>
            </p:cNvPr>
            <p:cNvSpPr txBox="1"/>
            <p:nvPr userDrawn="1"/>
          </p:nvSpPr>
          <p:spPr>
            <a:xfrm>
              <a:off x="3876675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6.9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92316C-600F-E673-2D0D-7433FBAF3DB9}"/>
                </a:ext>
              </a:extLst>
            </p:cNvPr>
            <p:cNvSpPr txBox="1"/>
            <p:nvPr userDrawn="1"/>
          </p:nvSpPr>
          <p:spPr>
            <a:xfrm>
              <a:off x="5067300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5.53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6EF7729-1D80-F869-2CE7-8D7B1957954B}"/>
                </a:ext>
              </a:extLst>
            </p:cNvPr>
            <p:cNvSpPr txBox="1"/>
            <p:nvPr userDrawn="1"/>
          </p:nvSpPr>
          <p:spPr>
            <a:xfrm>
              <a:off x="5448299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5.13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3248E31-E788-57BA-8826-884C29FE7F0C}"/>
                </a:ext>
              </a:extLst>
            </p:cNvPr>
            <p:cNvSpPr txBox="1"/>
            <p:nvPr userDrawn="1"/>
          </p:nvSpPr>
          <p:spPr>
            <a:xfrm>
              <a:off x="6696074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3.75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D6DF1F-3BBF-A7A2-C058-7ABF834ECC6C}"/>
                </a:ext>
              </a:extLst>
            </p:cNvPr>
            <p:cNvSpPr txBox="1"/>
            <p:nvPr userDrawn="1"/>
          </p:nvSpPr>
          <p:spPr>
            <a:xfrm>
              <a:off x="7048499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3.35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D1D8AD9-9CD4-3684-2C3A-FDA960B91424}"/>
                </a:ext>
              </a:extLst>
            </p:cNvPr>
            <p:cNvSpPr txBox="1"/>
            <p:nvPr userDrawn="1"/>
          </p:nvSpPr>
          <p:spPr>
            <a:xfrm>
              <a:off x="8324849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1.98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C632FB7-795D-806D-04A2-9D1BAD4C1A9B}"/>
                </a:ext>
              </a:extLst>
            </p:cNvPr>
            <p:cNvSpPr txBox="1"/>
            <p:nvPr userDrawn="1"/>
          </p:nvSpPr>
          <p:spPr>
            <a:xfrm>
              <a:off x="8715374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1.58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37BA21-98AD-B5C6-5CE5-4FAFB6B80FA9}"/>
                </a:ext>
              </a:extLst>
            </p:cNvPr>
            <p:cNvSpPr txBox="1"/>
            <p:nvPr userDrawn="1"/>
          </p:nvSpPr>
          <p:spPr>
            <a:xfrm>
              <a:off x="9982665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0.2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65C29CF-EB0D-8628-3C67-77097D061809}"/>
                </a:ext>
              </a:extLst>
            </p:cNvPr>
            <p:cNvSpPr txBox="1"/>
            <p:nvPr userDrawn="1"/>
          </p:nvSpPr>
          <p:spPr>
            <a:xfrm>
              <a:off x="18494981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9.08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C4F8464-99CC-FC53-5768-B25A5FB03BC7}"/>
                </a:ext>
              </a:extLst>
            </p:cNvPr>
            <p:cNvSpPr txBox="1"/>
            <p:nvPr userDrawn="1"/>
          </p:nvSpPr>
          <p:spPr>
            <a:xfrm>
              <a:off x="17973354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8.68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BD6650-BB81-CA48-ADD1-24C6003EC5ED}"/>
                </a:ext>
              </a:extLst>
            </p:cNvPr>
            <p:cNvSpPr txBox="1"/>
            <p:nvPr userDrawn="1"/>
          </p:nvSpPr>
          <p:spPr>
            <a:xfrm>
              <a:off x="16466493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6.9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9C7F56A-BF05-583F-BFC6-F7CE5709D4E3}"/>
                </a:ext>
              </a:extLst>
            </p:cNvPr>
            <p:cNvSpPr txBox="1"/>
            <p:nvPr userDrawn="1"/>
          </p:nvSpPr>
          <p:spPr>
            <a:xfrm>
              <a:off x="16845434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7.3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987F511-955D-9F51-50FC-5A044DC37312}"/>
                </a:ext>
              </a:extLst>
            </p:cNvPr>
            <p:cNvSpPr txBox="1"/>
            <p:nvPr userDrawn="1"/>
          </p:nvSpPr>
          <p:spPr>
            <a:xfrm>
              <a:off x="10425427" y="3124200"/>
              <a:ext cx="230832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0.2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77D0773-5A15-567A-078A-0E754F82EF2C}"/>
                </a:ext>
              </a:extLst>
            </p:cNvPr>
            <p:cNvSpPr txBox="1"/>
            <p:nvPr userDrawn="1"/>
          </p:nvSpPr>
          <p:spPr>
            <a:xfrm>
              <a:off x="11554827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1.58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50571C6-1EC4-25F4-FC59-1F4A255CF1E5}"/>
                </a:ext>
              </a:extLst>
            </p:cNvPr>
            <p:cNvSpPr txBox="1"/>
            <p:nvPr userDrawn="1"/>
          </p:nvSpPr>
          <p:spPr>
            <a:xfrm>
              <a:off x="12001699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1.98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AEC6A19-9466-6712-7801-65E381EA7B12}"/>
                </a:ext>
              </a:extLst>
            </p:cNvPr>
            <p:cNvSpPr txBox="1"/>
            <p:nvPr userDrawn="1"/>
          </p:nvSpPr>
          <p:spPr>
            <a:xfrm>
              <a:off x="13237543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3.35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25A0322-1C7E-8A76-0F61-188D5804305C}"/>
                </a:ext>
              </a:extLst>
            </p:cNvPr>
            <p:cNvSpPr txBox="1"/>
            <p:nvPr userDrawn="1"/>
          </p:nvSpPr>
          <p:spPr>
            <a:xfrm>
              <a:off x="13626264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3.75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7F9F56F-EEEA-F2D1-236A-6B14404BA1F8}"/>
                </a:ext>
              </a:extLst>
            </p:cNvPr>
            <p:cNvSpPr txBox="1"/>
            <p:nvPr userDrawn="1"/>
          </p:nvSpPr>
          <p:spPr>
            <a:xfrm>
              <a:off x="14813680" y="3124200"/>
              <a:ext cx="327014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5.13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B899E6C-6BBA-31FA-C5F2-D38E7BD48B4D}"/>
                </a:ext>
              </a:extLst>
            </p:cNvPr>
            <p:cNvSpPr txBox="1"/>
            <p:nvPr userDrawn="1"/>
          </p:nvSpPr>
          <p:spPr>
            <a:xfrm>
              <a:off x="15221953" y="3124200"/>
              <a:ext cx="327013" cy="215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30"/>
                <a:t>5.53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C34B960-BC61-20CC-00E0-5C18C05BACA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104105"/>
            <a:ext cx="1625600" cy="914400"/>
            <a:chOff x="23811" y="1297780"/>
            <a:chExt cx="20574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AC0263E-D944-A1EF-B614-A40BB95D4A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811" y="1297780"/>
              <a:ext cx="20574000" cy="6858000"/>
            </a:xfrm>
            <a:prstGeom prst="rect">
              <a:avLst/>
            </a:prstGeom>
            <a:gradFill>
              <a:gsLst>
                <a:gs pos="60000">
                  <a:srgbClr val="391317"/>
                </a:gs>
                <a:gs pos="0">
                  <a:srgbClr val="3F2D0D"/>
                </a:gs>
              </a:gsLst>
              <a:lin ang="135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552583" fontAlgn="base">
                <a:spcBef>
                  <a:spcPct val="0"/>
                </a:spcBef>
                <a:spcAft>
                  <a:spcPct val="0"/>
                </a:spcAft>
              </a:pPr>
              <a:endParaRPr lang="en-US" sz="237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6" name="Picture 5" descr="A black and white background&#10;&#10;AI-generated content may be incorrect.">
              <a:extLst>
                <a:ext uri="{FF2B5EF4-FFF2-40B4-BE49-F238E27FC236}">
                  <a16:creationId xmlns:a16="http://schemas.microsoft.com/office/drawing/2014/main" id="{226AF65B-F71E-2FF7-CB06-12C5624D381C}"/>
                </a:ext>
              </a:extLst>
            </p:cNvPr>
            <p:cNvPicPr>
              <a:picLocks/>
            </p:cNvPicPr>
            <p:nvPr userDrawn="1"/>
          </p:nvPicPr>
          <p:blipFill>
            <a:blip r:embed="rId4">
              <a:alphaModFix amt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60" b="45739"/>
            <a:stretch/>
          </p:blipFill>
          <p:spPr>
            <a:xfrm>
              <a:off x="23811" y="1297780"/>
              <a:ext cx="20574000" cy="6858000"/>
            </a:xfrm>
            <a:prstGeom prst="rect">
              <a:avLst/>
            </a:prstGeom>
          </p:spPr>
        </p:pic>
        <p:sp>
          <p:nvSpPr>
            <p:cNvPr id="7" name="Rectangle 6">
              <a:hlinkClick r:id="" action="ppaction://noaction"/>
              <a:extLst>
                <a:ext uri="{FF2B5EF4-FFF2-40B4-BE49-F238E27FC236}">
                  <a16:creationId xmlns:a16="http://schemas.microsoft.com/office/drawing/2014/main" id="{D0931C2D-949F-FB18-62A0-1D76A7A631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811" y="1297780"/>
              <a:ext cx="20574000" cy="6858000"/>
            </a:xfrm>
            <a:prstGeom prst="rect">
              <a:avLst/>
            </a:prstGeom>
            <a:gradFill flip="none" rotWithShape="1">
              <a:gsLst>
                <a:gs pos="60000">
                  <a:srgbClr val="391317">
                    <a:alpha val="75000"/>
                  </a:srgbClr>
                </a:gs>
                <a:gs pos="0">
                  <a:srgbClr val="3F2D0D">
                    <a:alpha val="75000"/>
                  </a:srgbClr>
                </a:gs>
              </a:gsLst>
              <a:lin ang="1350000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22202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76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7020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7" pos="740">
          <p15:clr>
            <a:srgbClr val="A4A3A4"/>
          </p15:clr>
        </p15:guide>
        <p15:guide id="26" pos="6804">
          <p15:clr>
            <a:srgbClr val="A4A3A4"/>
          </p15:clr>
        </p15:guide>
        <p15:guide id="27" pos="6940">
          <p15:clr>
            <a:srgbClr val="A4A3A4"/>
          </p15:clr>
        </p15:guide>
        <p15:guide id="28" pos="879">
          <p15:clr>
            <a:srgbClr val="A4A3A4"/>
          </p15:clr>
        </p15:guide>
        <p15:guide id="29" pos="6332">
          <p15:clr>
            <a:srgbClr val="A4A3A4"/>
          </p15:clr>
        </p15:guide>
        <p15:guide id="31" pos="5726">
          <p15:clr>
            <a:srgbClr val="A4A3A4"/>
          </p15:clr>
        </p15:guide>
        <p15:guide id="32" pos="5592">
          <p15:clr>
            <a:srgbClr val="A4A3A4"/>
          </p15:clr>
        </p15:guide>
        <p15:guide id="33" pos="5120">
          <p15:clr>
            <a:srgbClr val="A4A3A4"/>
          </p15:clr>
        </p15:guide>
        <p15:guide id="34" pos="4984">
          <p15:clr>
            <a:srgbClr val="A4A3A4"/>
          </p15:clr>
        </p15:guide>
        <p15:guide id="35" pos="4516">
          <p15:clr>
            <a:srgbClr val="A4A3A4"/>
          </p15:clr>
        </p15:guide>
        <p15:guide id="36" pos="4380">
          <p15:clr>
            <a:srgbClr val="A4A3A4"/>
          </p15:clr>
        </p15:guide>
        <p15:guide id="37" pos="3909">
          <p15:clr>
            <a:srgbClr val="A4A3A4"/>
          </p15:clr>
        </p15:guide>
        <p15:guide id="38" pos="3772">
          <p15:clr>
            <a:srgbClr val="A4A3A4"/>
          </p15:clr>
        </p15:guide>
        <p15:guide id="39" pos="3300">
          <p15:clr>
            <a:srgbClr val="A4A3A4"/>
          </p15:clr>
        </p15:guide>
        <p15:guide id="40" pos="3165">
          <p15:clr>
            <a:srgbClr val="A4A3A4"/>
          </p15:clr>
        </p15:guide>
        <p15:guide id="41" pos="2696">
          <p15:clr>
            <a:srgbClr val="A4A3A4"/>
          </p15:clr>
        </p15:guide>
        <p15:guide id="42" pos="2560">
          <p15:clr>
            <a:srgbClr val="A4A3A4"/>
          </p15:clr>
        </p15:guide>
        <p15:guide id="43" pos="2089">
          <p15:clr>
            <a:srgbClr val="A4A3A4"/>
          </p15:clr>
        </p15:guide>
        <p15:guide id="44" pos="1953">
          <p15:clr>
            <a:srgbClr val="A4A3A4"/>
          </p15:clr>
        </p15:guide>
        <p15:guide id="46" pos="1348">
          <p15:clr>
            <a:srgbClr val="A4A3A4"/>
          </p15:clr>
        </p15:guide>
        <p15:guide id="47" pos="1485">
          <p15:clr>
            <a:srgbClr val="A4A3A4"/>
          </p15:clr>
        </p15:guide>
        <p15:guide id="48" pos="6194">
          <p15:clr>
            <a:srgbClr val="A4A3A4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435563" y="6056891"/>
            <a:ext cx="2538951" cy="6585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552462" eaLnBrk="0" hangingPunct="0"/>
            <a:r>
              <a:rPr lang="en-US" sz="428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A17A9C01-BA22-E286-84E9-96890156D1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35563" y="738614"/>
            <a:ext cx="1020166" cy="36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0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Slide">
    <p:bg>
      <p:bgPr>
        <a:gradFill>
          <a:gsLst>
            <a:gs pos="0">
              <a:srgbClr val="954AD3"/>
            </a:gs>
            <a:gs pos="99000">
              <a:srgbClr val="2D92CC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26BE8EC-DDBA-C3BD-26DC-C7992A6E9F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1000">
                <a:schemeClr val="tx1">
                  <a:lumMod val="0"/>
                  <a:lumOff val="100000"/>
                  <a:alpha val="0"/>
                </a:schemeClr>
              </a:gs>
              <a:gs pos="98000">
                <a:schemeClr val="tx1">
                  <a:alpha val="36817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E149A7E-0310-38E2-4292-AE64244D84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09800" y="2000250"/>
            <a:ext cx="857250" cy="800100"/>
          </a:xfrm>
          <a:blipFill dpi="0" rotWithShape="1">
            <a:blip r:embed="rId2"/>
            <a:srcRect/>
            <a:tile tx="0" ty="609600" sx="100000" sy="100000" flip="none" algn="ctr"/>
          </a:blipFill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pPr lvl="0"/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98647E8-BBFB-0F07-D7DB-A65E141CDD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42038" y="514350"/>
            <a:ext cx="6743700" cy="5829300"/>
          </a:xfrm>
        </p:spPr>
        <p:txBody>
          <a:bodyPr anchor="ctr">
            <a:normAutofit/>
          </a:bodyPr>
          <a:lstStyle>
            <a:lvl1pPr marL="0" indent="0">
              <a:buNone/>
              <a:defRPr sz="2000"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/>
              <a:t>Morbi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, porta ac </a:t>
            </a:r>
            <a:r>
              <a:rPr lang="en-US" err="1"/>
              <a:t>consectetur</a:t>
            </a:r>
            <a:r>
              <a:rPr lang="en-US"/>
              <a:t> ac, vestibulum at eros. </a:t>
            </a:r>
            <a:r>
              <a:rPr lang="en-US" err="1"/>
              <a:t>Nullam</a:t>
            </a:r>
            <a:r>
              <a:rPr lang="en-US"/>
              <a:t> id dolor id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id </a:t>
            </a:r>
            <a:r>
              <a:rPr lang="en-US" err="1"/>
              <a:t>elit</a:t>
            </a:r>
            <a:r>
              <a:rPr lang="en-US"/>
              <a:t>. Integer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a ante </a:t>
            </a:r>
            <a:r>
              <a:rPr lang="en-US" err="1"/>
              <a:t>venenatis</a:t>
            </a:r>
            <a:r>
              <a:rPr lang="en-US"/>
              <a:t> </a:t>
            </a:r>
            <a:r>
              <a:rPr lang="en-US" err="1"/>
              <a:t>dapibus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. Donec sed </a:t>
            </a:r>
            <a:r>
              <a:rPr lang="en-US" err="1"/>
              <a:t>odio</a:t>
            </a:r>
            <a:r>
              <a:rPr lang="en-US"/>
              <a:t> dui.</a:t>
            </a:r>
          </a:p>
        </p:txBody>
      </p:sp>
    </p:spTree>
    <p:extLst>
      <p:ext uri="{BB962C8B-B14F-4D97-AF65-F5344CB8AC3E}">
        <p14:creationId xmlns:p14="http://schemas.microsoft.com/office/powerpoint/2010/main" val="19214929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heme 3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58E24D2-84FD-0797-B2A8-AA4E2A0C3BB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104105"/>
            <a:ext cx="1625600" cy="914400"/>
            <a:chOff x="0" y="0"/>
            <a:chExt cx="38404800" cy="12801600"/>
          </a:xfrm>
        </p:grpSpPr>
        <p:sp>
          <p:nvSpPr>
            <p:cNvPr id="15" name="Rectangle 14">
              <a:hlinkClick r:id="" action="ppaction://noaction"/>
              <a:extLst>
                <a:ext uri="{FF2B5EF4-FFF2-40B4-BE49-F238E27FC236}">
                  <a16:creationId xmlns:a16="http://schemas.microsoft.com/office/drawing/2014/main" id="{92779643-5AB6-8F0E-2614-26D2926F70BF}"/>
                </a:ext>
              </a:extLst>
            </p:cNvPr>
            <p:cNvSpPr/>
            <p:nvPr userDrawn="1"/>
          </p:nvSpPr>
          <p:spPr bwMode="auto">
            <a:xfrm>
              <a:off x="0" y="0"/>
              <a:ext cx="38404800" cy="1280160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22202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76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pic>
          <p:nvPicPr>
            <p:cNvPr id="16" name="Picture 15" descr="A white background with light&#10;&#10;Description automatically generated">
              <a:extLst>
                <a:ext uri="{FF2B5EF4-FFF2-40B4-BE49-F238E27FC236}">
                  <a16:creationId xmlns:a16="http://schemas.microsoft.com/office/drawing/2014/main" id="{2BA5F44E-1CD1-6C52-3624-468DC08FCD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009" b="40594"/>
            <a:stretch/>
          </p:blipFill>
          <p:spPr>
            <a:xfrm>
              <a:off x="0" y="0"/>
              <a:ext cx="38404800" cy="12801600"/>
            </a:xfrm>
            <a:prstGeom prst="rect">
              <a:avLst/>
            </a:prstGeom>
          </p:spPr>
        </p:pic>
        <p:sp>
          <p:nvSpPr>
            <p:cNvPr id="17" name="Rectangle 16">
              <a:hlinkClick r:id="" action="ppaction://noaction"/>
              <a:extLst>
                <a:ext uri="{FF2B5EF4-FFF2-40B4-BE49-F238E27FC236}">
                  <a16:creationId xmlns:a16="http://schemas.microsoft.com/office/drawing/2014/main" id="{B7B5FC0A-F698-FF1E-492D-E8CA7F6C2404}"/>
                </a:ext>
              </a:extLst>
            </p:cNvPr>
            <p:cNvSpPr/>
            <p:nvPr userDrawn="1"/>
          </p:nvSpPr>
          <p:spPr bwMode="auto">
            <a:xfrm>
              <a:off x="0" y="0"/>
              <a:ext cx="38404800" cy="12801600"/>
            </a:xfrm>
            <a:prstGeom prst="rect">
              <a:avLst/>
            </a:prstGeom>
            <a:gradFill flip="none" rotWithShape="1">
              <a:gsLst>
                <a:gs pos="0">
                  <a:srgbClr val="F65567">
                    <a:alpha val="33000"/>
                  </a:srgbClr>
                </a:gs>
                <a:gs pos="58000">
                  <a:srgbClr val="238CD9">
                    <a:alpha val="33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22202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76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6663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740">
          <p15:clr>
            <a:srgbClr val="A4A3A4"/>
          </p15:clr>
        </p15:guide>
        <p15:guide id="26" pos="6802">
          <p15:clr>
            <a:srgbClr val="A4A3A4"/>
          </p15:clr>
        </p15:guide>
        <p15:guide id="27" pos="6940">
          <p15:clr>
            <a:srgbClr val="A4A3A4"/>
          </p15:clr>
        </p15:guide>
        <p15:guide id="28" pos="878">
          <p15:clr>
            <a:srgbClr val="A4A3A4"/>
          </p15:clr>
        </p15:guide>
        <p15:guide id="29" pos="6332">
          <p15:clr>
            <a:srgbClr val="A4A3A4"/>
          </p15:clr>
        </p15:guide>
        <p15:guide id="31" pos="5728">
          <p15:clr>
            <a:srgbClr val="A4A3A4"/>
          </p15:clr>
        </p15:guide>
        <p15:guide id="32" pos="5589">
          <p15:clr>
            <a:srgbClr val="A4A3A4"/>
          </p15:clr>
        </p15:guide>
        <p15:guide id="33" pos="5120">
          <p15:clr>
            <a:srgbClr val="A4A3A4"/>
          </p15:clr>
        </p15:guide>
        <p15:guide id="34" pos="4985">
          <p15:clr>
            <a:srgbClr val="A4A3A4"/>
          </p15:clr>
        </p15:guide>
        <p15:guide id="35" pos="4516">
          <p15:clr>
            <a:srgbClr val="A4A3A4"/>
          </p15:clr>
        </p15:guide>
        <p15:guide id="36" pos="4380">
          <p15:clr>
            <a:srgbClr val="A4A3A4"/>
          </p15:clr>
        </p15:guide>
        <p15:guide id="37" pos="3908">
          <p15:clr>
            <a:srgbClr val="A4A3A4"/>
          </p15:clr>
        </p15:guide>
        <p15:guide id="38" pos="3772">
          <p15:clr>
            <a:srgbClr val="A4A3A4"/>
          </p15:clr>
        </p15:guide>
        <p15:guide id="39" pos="3300">
          <p15:clr>
            <a:srgbClr val="A4A3A4"/>
          </p15:clr>
        </p15:guide>
        <p15:guide id="40" pos="3164">
          <p15:clr>
            <a:srgbClr val="A4A3A4"/>
          </p15:clr>
        </p15:guide>
        <p15:guide id="41" pos="2695">
          <p15:clr>
            <a:srgbClr val="A4A3A4"/>
          </p15:clr>
        </p15:guide>
        <p15:guide id="42" pos="2560">
          <p15:clr>
            <a:srgbClr val="A4A3A4"/>
          </p15:clr>
        </p15:guide>
        <p15:guide id="43" pos="2091">
          <p15:clr>
            <a:srgbClr val="A4A3A4"/>
          </p15:clr>
        </p15:guide>
        <p15:guide id="44" pos="1952">
          <p15:clr>
            <a:srgbClr val="A4A3A4"/>
          </p15:clr>
        </p15:guide>
        <p15:guide id="46" pos="1348">
          <p15:clr>
            <a:srgbClr val="A4A3A4"/>
          </p15:clr>
        </p15:guide>
        <p15:guide id="47" orient="horz" pos="1272">
          <p15:clr>
            <a:srgbClr val="5ACBF0"/>
          </p15:clr>
        </p15:guide>
        <p15:guide id="48" orient="horz" pos="906">
          <p15:clr>
            <a:srgbClr val="5ACBF0"/>
          </p15:clr>
        </p15:guide>
        <p15:guide id="49" pos="6194">
          <p15:clr>
            <a:srgbClr val="A4A3A4"/>
          </p15:clr>
        </p15:guide>
        <p15:guide id="50" pos="1486">
          <p15:clr>
            <a:srgbClr val="A4A3A4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FBBE5-9B70-5044-0B9F-F008CA00D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DF7C31-69EC-9D35-F426-F4E078E3C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448F1-E3BC-EE96-10D0-D489CF55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A0AC-328D-48CA-B8DC-C1A6129E6696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F9416-2FCA-CF12-3061-A6FC63F88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5BC3C-BB4F-6794-2088-163AC2E3C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00532-A81D-4F2C-AE35-EE38DB70B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3092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B78E58A-F050-2D4C-8CDE-EE12DA3AD3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3008" y="0"/>
            <a:ext cx="12188991" cy="6858000"/>
          </a:xfrm>
          <a:prstGeom prst="rect">
            <a:avLst/>
          </a:prstGeom>
        </p:spPr>
      </p:pic>
      <p:pic>
        <p:nvPicPr>
          <p:cNvPr id="5" name="Picture 4" descr="A close up of a sign&#10;&#10;AI-generated content may be incorrect.">
            <a:extLst>
              <a:ext uri="{FF2B5EF4-FFF2-40B4-BE49-F238E27FC236}">
                <a16:creationId xmlns:a16="http://schemas.microsoft.com/office/drawing/2014/main" id="{8DBF2036-0A95-6172-2982-A3932BB20C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465" y="2703056"/>
            <a:ext cx="3376457" cy="1514143"/>
          </a:xfrm>
          <a:prstGeom prst="rect">
            <a:avLst/>
          </a:prstGeom>
        </p:spPr>
      </p:pic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0F892706-E514-9308-1054-E66D5F1305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033877"/>
      </p:ext>
    </p:extLst>
  </p:cSld>
  <p:clrMapOvr>
    <a:masterClrMapping/>
  </p:clrMapOvr>
  <p:transition>
    <p:fade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454093-2407-868E-D935-592C706F24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3008" y="0"/>
            <a:ext cx="12188991" cy="6858000"/>
          </a:xfrm>
          <a:prstGeom prst="rect">
            <a:avLst/>
          </a:prstGeom>
        </p:spPr>
      </p:pic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C92DC79C-790E-8B3B-3A8A-E29B953EF5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96886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762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715988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41147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37587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3089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86523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924750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20471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71897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78676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08344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35612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82124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80593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690764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2155647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167206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8275761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68271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894951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762982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204650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0874184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152786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281141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95626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872112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2114946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1751629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727733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0478572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5665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342605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5910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811282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036101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931033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52548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colorful hexagons&#10;&#10;AI-generated content may be incorrect.">
            <a:extLst>
              <a:ext uri="{FF2B5EF4-FFF2-40B4-BE49-F238E27FC236}">
                <a16:creationId xmlns:a16="http://schemas.microsoft.com/office/drawing/2014/main" id="{C459F199-2A2D-6CE7-FD4F-C67A96274D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2735927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50497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4023B5-FCD6-2A9F-A834-F37F444390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8" b="102"/>
          <a:stretch/>
        </p:blipFill>
        <p:spPr>
          <a:xfrm>
            <a:off x="3008" y="1693"/>
            <a:ext cx="12188991" cy="68546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32626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08221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57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6868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834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38665038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968715"/>
      </p:ext>
    </p:extLst>
  </p:cSld>
  <p:clrMapOvr>
    <a:masterClrMapping/>
  </p:clrMapOvr>
  <p:transition>
    <p:fade/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B78E58A-F050-2D4C-8CDE-EE12DA3AD3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3008" y="0"/>
            <a:ext cx="12188991" cy="6858000"/>
          </a:xfrm>
          <a:prstGeom prst="rect">
            <a:avLst/>
          </a:prstGeom>
        </p:spPr>
      </p:pic>
      <p:pic>
        <p:nvPicPr>
          <p:cNvPr id="5" name="Picture 4" descr="A close up of a sign&#10;&#10;AI-generated content may be incorrect.">
            <a:extLst>
              <a:ext uri="{FF2B5EF4-FFF2-40B4-BE49-F238E27FC236}">
                <a16:creationId xmlns:a16="http://schemas.microsoft.com/office/drawing/2014/main" id="{8DBF2036-0A95-6172-2982-A3932BB20C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465" y="2703056"/>
            <a:ext cx="3376457" cy="1514143"/>
          </a:xfrm>
          <a:prstGeom prst="rect">
            <a:avLst/>
          </a:prstGeom>
        </p:spPr>
      </p:pic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0F892706-E514-9308-1054-E66D5F1305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52633"/>
      </p:ext>
    </p:extLst>
  </p:cSld>
  <p:clrMapOvr>
    <a:masterClrMapping/>
  </p:clrMapOvr>
  <p:transition>
    <p:fade/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454093-2407-868E-D935-592C706F24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3008" y="0"/>
            <a:ext cx="12188991" cy="6858000"/>
          </a:xfrm>
          <a:prstGeom prst="rect">
            <a:avLst/>
          </a:prstGeom>
        </p:spPr>
      </p:pic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C92DC79C-790E-8B3B-3A8A-E29B953EF5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565900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470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50189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70945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996773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64682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98032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957426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74463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09674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75454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099526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04935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75887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419800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807382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472949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2909266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7542395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19368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175514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20029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689554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291750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5893904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474480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148434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4027428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883220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2680099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4055584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477213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gradFill>
              <a:gsLst>
                <a:gs pos="0">
                  <a:srgbClr val="73262F"/>
                </a:gs>
                <a:gs pos="100000">
                  <a:srgbClr val="2A446F"/>
                </a:gs>
              </a:gsLst>
              <a:lin ang="5400000" scaled="1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6017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78077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7543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907726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544896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8167177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43246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colorful hexagons&#10;&#10;AI-generated content may be incorrect.">
            <a:extLst>
              <a:ext uri="{FF2B5EF4-FFF2-40B4-BE49-F238E27FC236}">
                <a16:creationId xmlns:a16="http://schemas.microsoft.com/office/drawing/2014/main" id="{C459F199-2A2D-6CE7-FD4F-C67A96274D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280624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4987599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4023B5-FCD6-2A9F-A834-F37F444390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8" b="102"/>
          <a:stretch/>
        </p:blipFill>
        <p:spPr>
          <a:xfrm>
            <a:off x="3008" y="1693"/>
            <a:ext cx="12188991" cy="68546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13354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44912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9366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9505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647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38549801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0959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85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88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4.xml"/><Relationship Id="rId25" Type="http://schemas.openxmlformats.org/officeDocument/2006/relationships/slideLayout" Target="../slideLayouts/slideLayout92.xml"/><Relationship Id="rId2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83.xml"/><Relationship Id="rId2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24" Type="http://schemas.openxmlformats.org/officeDocument/2006/relationships/slideLayout" Target="../slideLayouts/slideLayout91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23" Type="http://schemas.openxmlformats.org/officeDocument/2006/relationships/slideLayout" Target="../slideLayouts/slideLayout90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86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Relationship Id="rId22" Type="http://schemas.openxmlformats.org/officeDocument/2006/relationships/slideLayout" Target="../slideLayouts/slideLayout89.xml"/><Relationship Id="rId27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95.xml"/><Relationship Id="rId21" Type="http://schemas.openxmlformats.org/officeDocument/2006/relationships/image" Target="../media/image2.svg"/><Relationship Id="rId7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94.xml"/><Relationship Id="rId16" Type="http://schemas.openxmlformats.org/officeDocument/2006/relationships/slideLayout" Target="../slideLayouts/slideLayout108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97.xml"/><Relationship Id="rId15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02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96.xml"/><Relationship Id="rId9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6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8.xml"/><Relationship Id="rId26" Type="http://schemas.openxmlformats.org/officeDocument/2006/relationships/slideLayout" Target="../slideLayouts/slideLayout136.xml"/><Relationship Id="rId39" Type="http://schemas.openxmlformats.org/officeDocument/2006/relationships/slideLayout" Target="../slideLayouts/slideLayout149.xml"/><Relationship Id="rId21" Type="http://schemas.openxmlformats.org/officeDocument/2006/relationships/slideLayout" Target="../slideLayouts/slideLayout131.xml"/><Relationship Id="rId34" Type="http://schemas.openxmlformats.org/officeDocument/2006/relationships/slideLayout" Target="../slideLayouts/slideLayout144.xml"/><Relationship Id="rId42" Type="http://schemas.openxmlformats.org/officeDocument/2006/relationships/slideLayout" Target="../slideLayouts/slideLayout152.xml"/><Relationship Id="rId47" Type="http://schemas.openxmlformats.org/officeDocument/2006/relationships/slideLayout" Target="../slideLayouts/slideLayout157.xml"/><Relationship Id="rId50" Type="http://schemas.openxmlformats.org/officeDocument/2006/relationships/theme" Target="../theme/theme4.xml"/><Relationship Id="rId7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12.xml"/><Relationship Id="rId16" Type="http://schemas.openxmlformats.org/officeDocument/2006/relationships/slideLayout" Target="../slideLayouts/slideLayout126.xml"/><Relationship Id="rId29" Type="http://schemas.openxmlformats.org/officeDocument/2006/relationships/slideLayout" Target="../slideLayouts/slideLayout139.xml"/><Relationship Id="rId11" Type="http://schemas.openxmlformats.org/officeDocument/2006/relationships/slideLayout" Target="../slideLayouts/slideLayout121.xml"/><Relationship Id="rId24" Type="http://schemas.openxmlformats.org/officeDocument/2006/relationships/slideLayout" Target="../slideLayouts/slideLayout134.xml"/><Relationship Id="rId32" Type="http://schemas.openxmlformats.org/officeDocument/2006/relationships/slideLayout" Target="../slideLayouts/slideLayout142.xml"/><Relationship Id="rId37" Type="http://schemas.openxmlformats.org/officeDocument/2006/relationships/slideLayout" Target="../slideLayouts/slideLayout147.xml"/><Relationship Id="rId40" Type="http://schemas.openxmlformats.org/officeDocument/2006/relationships/slideLayout" Target="../slideLayouts/slideLayout150.xml"/><Relationship Id="rId45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125.xml"/><Relationship Id="rId23" Type="http://schemas.openxmlformats.org/officeDocument/2006/relationships/slideLayout" Target="../slideLayouts/slideLayout133.xml"/><Relationship Id="rId28" Type="http://schemas.openxmlformats.org/officeDocument/2006/relationships/slideLayout" Target="../slideLayouts/slideLayout138.xml"/><Relationship Id="rId36" Type="http://schemas.openxmlformats.org/officeDocument/2006/relationships/slideLayout" Target="../slideLayouts/slideLayout146.xml"/><Relationship Id="rId49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20.xml"/><Relationship Id="rId19" Type="http://schemas.openxmlformats.org/officeDocument/2006/relationships/slideLayout" Target="../slideLayouts/slideLayout129.xml"/><Relationship Id="rId31" Type="http://schemas.openxmlformats.org/officeDocument/2006/relationships/slideLayout" Target="../slideLayouts/slideLayout141.xml"/><Relationship Id="rId44" Type="http://schemas.openxmlformats.org/officeDocument/2006/relationships/slideLayout" Target="../slideLayouts/slideLayout154.xml"/><Relationship Id="rId52" Type="http://schemas.openxmlformats.org/officeDocument/2006/relationships/image" Target="../media/image2.svg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4.xml"/><Relationship Id="rId22" Type="http://schemas.openxmlformats.org/officeDocument/2006/relationships/slideLayout" Target="../slideLayouts/slideLayout132.xml"/><Relationship Id="rId27" Type="http://schemas.openxmlformats.org/officeDocument/2006/relationships/slideLayout" Target="../slideLayouts/slideLayout137.xml"/><Relationship Id="rId30" Type="http://schemas.openxmlformats.org/officeDocument/2006/relationships/slideLayout" Target="../slideLayouts/slideLayout140.xml"/><Relationship Id="rId35" Type="http://schemas.openxmlformats.org/officeDocument/2006/relationships/slideLayout" Target="../slideLayouts/slideLayout145.xml"/><Relationship Id="rId43" Type="http://schemas.openxmlformats.org/officeDocument/2006/relationships/slideLayout" Target="../slideLayouts/slideLayout153.xml"/><Relationship Id="rId48" Type="http://schemas.openxmlformats.org/officeDocument/2006/relationships/slideLayout" Target="../slideLayouts/slideLayout158.xml"/><Relationship Id="rId8" Type="http://schemas.openxmlformats.org/officeDocument/2006/relationships/slideLayout" Target="../slideLayouts/slideLayout118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7.xml"/><Relationship Id="rId25" Type="http://schemas.openxmlformats.org/officeDocument/2006/relationships/slideLayout" Target="../slideLayouts/slideLayout135.xml"/><Relationship Id="rId33" Type="http://schemas.openxmlformats.org/officeDocument/2006/relationships/slideLayout" Target="../slideLayouts/slideLayout143.xml"/><Relationship Id="rId38" Type="http://schemas.openxmlformats.org/officeDocument/2006/relationships/slideLayout" Target="../slideLayouts/slideLayout148.xml"/><Relationship Id="rId46" Type="http://schemas.openxmlformats.org/officeDocument/2006/relationships/slideLayout" Target="../slideLayouts/slideLayout156.xml"/><Relationship Id="rId20" Type="http://schemas.openxmlformats.org/officeDocument/2006/relationships/slideLayout" Target="../slideLayouts/slideLayout130.xml"/><Relationship Id="rId41" Type="http://schemas.openxmlformats.org/officeDocument/2006/relationships/slideLayout" Target="../slideLayouts/slideLayout151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2.xml"/><Relationship Id="rId18" Type="http://schemas.openxmlformats.org/officeDocument/2006/relationships/slideLayout" Target="../slideLayouts/slideLayout177.xml"/><Relationship Id="rId26" Type="http://schemas.openxmlformats.org/officeDocument/2006/relationships/slideLayout" Target="../slideLayouts/slideLayout185.xml"/><Relationship Id="rId39" Type="http://schemas.openxmlformats.org/officeDocument/2006/relationships/slideLayout" Target="../slideLayouts/slideLayout198.xml"/><Relationship Id="rId21" Type="http://schemas.openxmlformats.org/officeDocument/2006/relationships/slideLayout" Target="../slideLayouts/slideLayout180.xml"/><Relationship Id="rId34" Type="http://schemas.openxmlformats.org/officeDocument/2006/relationships/slideLayout" Target="../slideLayouts/slideLayout193.xml"/><Relationship Id="rId42" Type="http://schemas.openxmlformats.org/officeDocument/2006/relationships/slideLayout" Target="../slideLayouts/slideLayout201.xml"/><Relationship Id="rId47" Type="http://schemas.openxmlformats.org/officeDocument/2006/relationships/slideLayout" Target="../slideLayouts/slideLayout206.xml"/><Relationship Id="rId50" Type="http://schemas.openxmlformats.org/officeDocument/2006/relationships/theme" Target="../theme/theme5.xml"/><Relationship Id="rId7" Type="http://schemas.openxmlformats.org/officeDocument/2006/relationships/slideLayout" Target="../slideLayouts/slideLayout166.xml"/><Relationship Id="rId2" Type="http://schemas.openxmlformats.org/officeDocument/2006/relationships/slideLayout" Target="../slideLayouts/slideLayout161.xml"/><Relationship Id="rId16" Type="http://schemas.openxmlformats.org/officeDocument/2006/relationships/slideLayout" Target="../slideLayouts/slideLayout175.xml"/><Relationship Id="rId29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70.xml"/><Relationship Id="rId24" Type="http://schemas.openxmlformats.org/officeDocument/2006/relationships/slideLayout" Target="../slideLayouts/slideLayout183.xml"/><Relationship Id="rId32" Type="http://schemas.openxmlformats.org/officeDocument/2006/relationships/slideLayout" Target="../slideLayouts/slideLayout191.xml"/><Relationship Id="rId37" Type="http://schemas.openxmlformats.org/officeDocument/2006/relationships/slideLayout" Target="../slideLayouts/slideLayout196.xml"/><Relationship Id="rId40" Type="http://schemas.openxmlformats.org/officeDocument/2006/relationships/slideLayout" Target="../slideLayouts/slideLayout199.xml"/><Relationship Id="rId45" Type="http://schemas.openxmlformats.org/officeDocument/2006/relationships/slideLayout" Target="../slideLayouts/slideLayout204.xml"/><Relationship Id="rId53" Type="http://schemas.openxmlformats.org/officeDocument/2006/relationships/image" Target="../media/image1.png"/><Relationship Id="rId5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9.xml"/><Relationship Id="rId19" Type="http://schemas.openxmlformats.org/officeDocument/2006/relationships/slideLayout" Target="../slideLayouts/slideLayout178.xml"/><Relationship Id="rId31" Type="http://schemas.openxmlformats.org/officeDocument/2006/relationships/slideLayout" Target="../slideLayouts/slideLayout190.xml"/><Relationship Id="rId44" Type="http://schemas.openxmlformats.org/officeDocument/2006/relationships/slideLayout" Target="../slideLayouts/slideLayout203.xml"/><Relationship Id="rId52" Type="http://schemas.openxmlformats.org/officeDocument/2006/relationships/image" Target="../media/image89.svg"/><Relationship Id="rId4" Type="http://schemas.openxmlformats.org/officeDocument/2006/relationships/slideLayout" Target="../slideLayouts/slideLayout163.xml"/><Relationship Id="rId9" Type="http://schemas.openxmlformats.org/officeDocument/2006/relationships/slideLayout" Target="../slideLayouts/slideLayout168.xml"/><Relationship Id="rId14" Type="http://schemas.openxmlformats.org/officeDocument/2006/relationships/slideLayout" Target="../slideLayouts/slideLayout173.xml"/><Relationship Id="rId22" Type="http://schemas.openxmlformats.org/officeDocument/2006/relationships/slideLayout" Target="../slideLayouts/slideLayout181.xml"/><Relationship Id="rId27" Type="http://schemas.openxmlformats.org/officeDocument/2006/relationships/slideLayout" Target="../slideLayouts/slideLayout186.xml"/><Relationship Id="rId30" Type="http://schemas.openxmlformats.org/officeDocument/2006/relationships/slideLayout" Target="../slideLayouts/slideLayout189.xml"/><Relationship Id="rId35" Type="http://schemas.openxmlformats.org/officeDocument/2006/relationships/slideLayout" Target="../slideLayouts/slideLayout194.xml"/><Relationship Id="rId43" Type="http://schemas.openxmlformats.org/officeDocument/2006/relationships/slideLayout" Target="../slideLayouts/slideLayout202.xml"/><Relationship Id="rId48" Type="http://schemas.openxmlformats.org/officeDocument/2006/relationships/slideLayout" Target="../slideLayouts/slideLayout207.xml"/><Relationship Id="rId8" Type="http://schemas.openxmlformats.org/officeDocument/2006/relationships/slideLayout" Target="../slideLayouts/slideLayout167.xml"/><Relationship Id="rId51" Type="http://schemas.openxmlformats.org/officeDocument/2006/relationships/image" Target="../media/image88.png"/><Relationship Id="rId3" Type="http://schemas.openxmlformats.org/officeDocument/2006/relationships/slideLayout" Target="../slideLayouts/slideLayout162.xml"/><Relationship Id="rId12" Type="http://schemas.openxmlformats.org/officeDocument/2006/relationships/slideLayout" Target="../slideLayouts/slideLayout171.xml"/><Relationship Id="rId17" Type="http://schemas.openxmlformats.org/officeDocument/2006/relationships/slideLayout" Target="../slideLayouts/slideLayout176.xml"/><Relationship Id="rId25" Type="http://schemas.openxmlformats.org/officeDocument/2006/relationships/slideLayout" Target="../slideLayouts/slideLayout184.xml"/><Relationship Id="rId33" Type="http://schemas.openxmlformats.org/officeDocument/2006/relationships/slideLayout" Target="../slideLayouts/slideLayout192.xml"/><Relationship Id="rId38" Type="http://schemas.openxmlformats.org/officeDocument/2006/relationships/slideLayout" Target="../slideLayouts/slideLayout197.xml"/><Relationship Id="rId46" Type="http://schemas.openxmlformats.org/officeDocument/2006/relationships/slideLayout" Target="../slideLayouts/slideLayout205.xml"/><Relationship Id="rId20" Type="http://schemas.openxmlformats.org/officeDocument/2006/relationships/slideLayout" Target="../slideLayouts/slideLayout179.xml"/><Relationship Id="rId41" Type="http://schemas.openxmlformats.org/officeDocument/2006/relationships/slideLayout" Target="../slideLayouts/slideLayout200.xml"/><Relationship Id="rId54" Type="http://schemas.openxmlformats.org/officeDocument/2006/relationships/image" Target="../media/image2.svg"/><Relationship Id="rId1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5.xml"/><Relationship Id="rId15" Type="http://schemas.openxmlformats.org/officeDocument/2006/relationships/slideLayout" Target="../slideLayouts/slideLayout174.xml"/><Relationship Id="rId23" Type="http://schemas.openxmlformats.org/officeDocument/2006/relationships/slideLayout" Target="../slideLayouts/slideLayout182.xml"/><Relationship Id="rId28" Type="http://schemas.openxmlformats.org/officeDocument/2006/relationships/slideLayout" Target="../slideLayouts/slideLayout187.xml"/><Relationship Id="rId36" Type="http://schemas.openxmlformats.org/officeDocument/2006/relationships/slideLayout" Target="../slideLayouts/slideLayout195.xml"/><Relationship Id="rId49" Type="http://schemas.openxmlformats.org/officeDocument/2006/relationships/slideLayout" Target="../slideLayouts/slideLayout20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7" r:id="rId1"/>
    <p:sldLayoutId id="2147485450" r:id="rId2"/>
    <p:sldLayoutId id="2147485451" r:id="rId3"/>
    <p:sldLayoutId id="2147485452" r:id="rId4"/>
    <p:sldLayoutId id="2147485453" r:id="rId5"/>
    <p:sldLayoutId id="2147485454" r:id="rId6"/>
    <p:sldLayoutId id="2147485455" r:id="rId7"/>
    <p:sldLayoutId id="2147485456" r:id="rId8"/>
    <p:sldLayoutId id="2147485457" r:id="rId9"/>
    <p:sldLayoutId id="2147485458" r:id="rId10"/>
    <p:sldLayoutId id="2147485459" r:id="rId11"/>
    <p:sldLayoutId id="2147485460" r:id="rId12"/>
    <p:sldLayoutId id="2147485461" r:id="rId13"/>
    <p:sldLayoutId id="2147485462" r:id="rId14"/>
    <p:sldLayoutId id="2147485463" r:id="rId15"/>
    <p:sldLayoutId id="2147485464" r:id="rId16"/>
    <p:sldLayoutId id="2147485465" r:id="rId17"/>
    <p:sldLayoutId id="2147485466" r:id="rId18"/>
    <p:sldLayoutId id="2147485467" r:id="rId19"/>
    <p:sldLayoutId id="2147485468" r:id="rId20"/>
    <p:sldLayoutId id="2147485469" r:id="rId21"/>
    <p:sldLayoutId id="2147485470" r:id="rId22"/>
    <p:sldLayoutId id="2147485471" r:id="rId23"/>
    <p:sldLayoutId id="2147485472" r:id="rId24"/>
    <p:sldLayoutId id="2147485473" r:id="rId25"/>
    <p:sldLayoutId id="2147485474" r:id="rId26"/>
    <p:sldLayoutId id="2147485475" r:id="rId27"/>
    <p:sldLayoutId id="2147485476" r:id="rId28"/>
    <p:sldLayoutId id="2147485477" r:id="rId29"/>
    <p:sldLayoutId id="2147485478" r:id="rId30"/>
    <p:sldLayoutId id="2147485479" r:id="rId31"/>
    <p:sldLayoutId id="2147485480" r:id="rId32"/>
    <p:sldLayoutId id="2147485481" r:id="rId33"/>
    <p:sldLayoutId id="2147485482" r:id="rId34"/>
    <p:sldLayoutId id="2147485483" r:id="rId35"/>
    <p:sldLayoutId id="2147485484" r:id="rId36"/>
    <p:sldLayoutId id="2147485485" r:id="rId37"/>
    <p:sldLayoutId id="2147485486" r:id="rId38"/>
    <p:sldLayoutId id="2147485487" r:id="rId39"/>
    <p:sldLayoutId id="2147485488" r:id="rId40"/>
    <p:sldLayoutId id="2147485489" r:id="rId41"/>
    <p:sldLayoutId id="2147485490" r:id="rId42"/>
    <p:sldLayoutId id="2147485491" r:id="rId43"/>
    <p:sldLayoutId id="2147485492" r:id="rId44"/>
    <p:sldLayoutId id="2147485493" r:id="rId45"/>
    <p:sldLayoutId id="2147485494" r:id="rId46"/>
    <p:sldLayoutId id="2147485495" r:id="rId47"/>
    <p:sldLayoutId id="2147485496" r:id="rId48"/>
    <p:sldLayoutId id="2147485603" r:id="rId49"/>
    <p:sldLayoutId id="2147485787" r:id="rId50"/>
    <p:sldLayoutId id="2147485839" r:id="rId51"/>
    <p:sldLayoutId id="2147485932" r:id="rId52"/>
    <p:sldLayoutId id="2147486031" r:id="rId53"/>
    <p:sldLayoutId id="2147486032" r:id="rId54"/>
    <p:sldLayoutId id="2147486033" r:id="rId55"/>
    <p:sldLayoutId id="2147486043" r:id="rId56"/>
    <p:sldLayoutId id="2147486044" r:id="rId57"/>
    <p:sldLayoutId id="2147486066" r:id="rId58"/>
    <p:sldLayoutId id="2147486067" r:id="rId59"/>
    <p:sldLayoutId id="2147486068" r:id="rId60"/>
    <p:sldLayoutId id="2147486069" r:id="rId61"/>
    <p:sldLayoutId id="2147486070" r:id="rId62"/>
    <p:sldLayoutId id="2147486073" r:id="rId63"/>
    <p:sldLayoutId id="2147486075" r:id="rId64"/>
    <p:sldLayoutId id="2147486081" r:id="rId65"/>
    <p:sldLayoutId id="2147486082" r:id="rId66"/>
    <p:sldLayoutId id="2147486083" r:id="rId67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5732E20-D956-500D-8A8F-B2C0E85A5D86}"/>
              </a:ext>
            </a:extLst>
          </p:cNvPr>
          <p:cNvGrpSpPr/>
          <p:nvPr userDrawn="1"/>
        </p:nvGrpSpPr>
        <p:grpSpPr>
          <a:xfrm>
            <a:off x="13785819" y="-19050"/>
            <a:ext cx="3785616" cy="6858000"/>
            <a:chOff x="22177344" y="0"/>
            <a:chExt cx="3785616" cy="6858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A8386A4-E82F-2BB0-BBD7-C8C373D557BA}"/>
                </a:ext>
              </a:extLst>
            </p:cNvPr>
            <p:cNvGrpSpPr/>
            <p:nvPr userDrawn="1"/>
          </p:nvGrpSpPr>
          <p:grpSpPr>
            <a:xfrm>
              <a:off x="22177344" y="0"/>
              <a:ext cx="3785616" cy="772614"/>
              <a:chOff x="15862269" y="26282"/>
              <a:chExt cx="3785616" cy="772614"/>
            </a:xfrm>
          </p:grpSpPr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25014E0E-3932-D7EC-5ED3-D155D7CC24D3}"/>
                  </a:ext>
                </a:extLst>
              </p:cNvPr>
              <p:cNvSpPr txBox="1"/>
              <p:nvPr/>
            </p:nvSpPr>
            <p:spPr>
              <a:xfrm>
                <a:off x="15862269" y="26282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1</a:t>
                </a:r>
              </a:p>
            </p:txBody>
          </p:sp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300F468A-C57F-AC86-3ED4-8097BA35E1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150880"/>
                <a:ext cx="457200" cy="241657"/>
              </a:xfrm>
              <a:prstGeom prst="rect">
                <a:avLst/>
              </a:prstGeom>
              <a:solidFill>
                <a:srgbClr val="318581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0A871ECA-7AD3-8F49-3E95-94F7A49151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150880"/>
                <a:ext cx="457200" cy="241657"/>
              </a:xfrm>
              <a:prstGeom prst="rect">
                <a:avLst/>
              </a:prstGeom>
              <a:solidFill>
                <a:srgbClr val="0A6BB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kumimoji="0" lang="en-CA" sz="500" b="1" i="0" u="none" strike="noStrike" kern="1200" cap="none" spc="0" normalizeH="0" baseline="0" noProof="0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UI" pitchFamily="34" charset="0"/>
                </a:endParaRPr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07612886-5154-CCB7-455D-BEB88D7773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150880"/>
                <a:ext cx="457200" cy="241657"/>
              </a:xfrm>
              <a:prstGeom prst="rect">
                <a:avLst/>
              </a:prstGeom>
              <a:solidFill>
                <a:srgbClr val="AC35A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2F859231-C283-29B5-E248-FA1509A47D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150880"/>
                <a:ext cx="457200" cy="241657"/>
              </a:xfrm>
              <a:prstGeom prst="rect">
                <a:avLst/>
              </a:prstGeom>
              <a:solidFill>
                <a:srgbClr val="F65567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612DF851-FBCD-D55E-E6EF-7C14DC0763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150880"/>
                <a:ext cx="457200" cy="241657"/>
              </a:xfrm>
              <a:prstGeom prst="rtTriangle">
                <a:avLst/>
              </a:prstGeom>
              <a:solidFill>
                <a:srgbClr val="41AFA1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4F15DFB8-B351-4AC5-3EA3-A596EC1A5F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150880"/>
                <a:ext cx="457200" cy="241657"/>
              </a:xfrm>
              <a:prstGeom prst="rtTriangle">
                <a:avLst/>
              </a:prstGeom>
              <a:solidFill>
                <a:srgbClr val="46A0DE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49987C8E-AC3D-BAD0-ACFB-01A894F307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13245" y="150880"/>
                <a:ext cx="457200" cy="241657"/>
              </a:xfrm>
              <a:prstGeom prst="rtTriangle">
                <a:avLst/>
              </a:prstGeom>
              <a:solidFill>
                <a:srgbClr val="CA6CC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F9F8E1AD-20F8-17CE-0B29-C5EDF32FEF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288733" y="150880"/>
                <a:ext cx="457200" cy="241657"/>
              </a:xfrm>
              <a:prstGeom prst="rtTriangle">
                <a:avLst/>
              </a:prstGeom>
              <a:solidFill>
                <a:srgbClr val="F97483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73159531-2CFC-A11C-E16B-F62949C1D100}"/>
                  </a:ext>
                </a:extLst>
              </p:cNvPr>
              <p:cNvSpPr txBox="1"/>
              <p:nvPr/>
            </p:nvSpPr>
            <p:spPr>
              <a:xfrm>
                <a:off x="17764221" y="26282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Colored header</a:t>
                </a:r>
              </a:p>
            </p:txBody>
          </p:sp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25F3D5BD-94D0-7DE7-5A3F-9721F6304A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150880"/>
                <a:ext cx="457200" cy="241657"/>
              </a:xfrm>
              <a:prstGeom prst="rect">
                <a:avLst/>
              </a:prstGeom>
              <a:solidFill>
                <a:srgbClr val="2E231C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1177CB0A-ABC6-7B5D-291F-E3534D183D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764221" y="150880"/>
                <a:ext cx="457200" cy="241657"/>
              </a:xfrm>
              <a:prstGeom prst="rtTriangle">
                <a:avLst/>
              </a:prstGeom>
              <a:solidFill>
                <a:srgbClr val="D7D2CB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4A30C2AD-A67A-676A-DD79-46DCD9B264C8}"/>
                  </a:ext>
                </a:extLst>
              </p:cNvPr>
              <p:cNvSpPr txBox="1"/>
              <p:nvPr/>
            </p:nvSpPr>
            <p:spPr>
              <a:xfrm>
                <a:off x="15862269" y="432642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Container</a:t>
                </a:r>
              </a:p>
            </p:txBody>
          </p:sp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91FFA29B-C73B-E723-18EE-89587EED73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557239"/>
                <a:ext cx="457200" cy="241657"/>
              </a:xfrm>
              <a:prstGeom prst="rect">
                <a:avLst/>
              </a:prstGeom>
              <a:solidFill>
                <a:srgbClr val="73391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64951D4B-C1B1-1ACD-836C-7452BF02CA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557239"/>
                <a:ext cx="457200" cy="241657"/>
              </a:xfrm>
              <a:prstGeom prst="rect">
                <a:avLst/>
              </a:prstGeom>
              <a:solidFill>
                <a:srgbClr val="45414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950B429D-01B8-E105-E270-2787C59FF6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557239"/>
                <a:ext cx="457200" cy="241657"/>
              </a:xfrm>
              <a:prstGeom prst="rtTriangle">
                <a:avLst/>
              </a:prstGeom>
              <a:solidFill>
                <a:srgbClr val="FFE8E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10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600"/>
              </a:p>
            </p:txBody>
          </p: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9A48568B-F8FA-229D-5DC3-CC068341C8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557239"/>
                <a:ext cx="457200" cy="241657"/>
              </a:xfrm>
              <a:prstGeom prst="rtTriangle">
                <a:avLst/>
              </a:prstGeom>
              <a:solidFill>
                <a:srgbClr val="ECECE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10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600"/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16C30039-0610-E9F5-386F-1238852265CA}"/>
                  </a:ext>
                </a:extLst>
              </p:cNvPr>
              <p:cNvSpPr txBox="1"/>
              <p:nvPr/>
            </p:nvSpPr>
            <p:spPr>
              <a:xfrm>
                <a:off x="16813245" y="432642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Light overlay</a:t>
                </a:r>
              </a:p>
            </p:txBody>
          </p:sp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0C8FE8E3-6618-09A8-93CB-9A7814D9E7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557239"/>
                <a:ext cx="457200" cy="241657"/>
              </a:xfrm>
              <a:prstGeom prst="rect">
                <a:avLst/>
              </a:prstGeom>
              <a:solidFill>
                <a:srgbClr val="FFE8E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10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600"/>
              </a:p>
            </p:txBody>
          </p: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25732DB2-483B-D709-936C-4FA13FA48D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557239"/>
                <a:ext cx="457200" cy="241657"/>
              </a:xfrm>
              <a:prstGeom prst="rect">
                <a:avLst/>
              </a:prstGeom>
              <a:solidFill>
                <a:srgbClr val="ECECE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10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600"/>
              </a:p>
            </p:txBody>
          </p:sp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61198765-55DB-A426-840D-D2137E88AF66}"/>
                  </a:ext>
                </a:extLst>
              </p:cNvPr>
              <p:cNvSpPr txBox="1"/>
              <p:nvPr/>
            </p:nvSpPr>
            <p:spPr>
              <a:xfrm>
                <a:off x="17764221" y="432642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Dark overlay</a:t>
                </a:r>
              </a:p>
            </p:txBody>
          </p:sp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A1E50AD3-B981-3EAC-B6BA-58EF0BD118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557239"/>
                <a:ext cx="457200" cy="241657"/>
              </a:xfrm>
              <a:prstGeom prst="rect">
                <a:avLst/>
              </a:prstGeom>
              <a:solidFill>
                <a:srgbClr val="225B6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353E8528-662F-9122-EE0D-0BB749DCD3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9709" y="557239"/>
                <a:ext cx="457200" cy="241657"/>
              </a:xfrm>
              <a:prstGeom prst="rect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C6882721-0AB8-0C86-4997-1E69F6E0FC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715197" y="557239"/>
                <a:ext cx="457200" cy="241657"/>
              </a:xfrm>
              <a:prstGeom prst="rect">
                <a:avLst/>
              </a:prstGeom>
              <a:solidFill>
                <a:srgbClr val="463668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897EA6A9-A6B2-2037-9C88-8E9DBEDAC5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190685" y="557239"/>
                <a:ext cx="457200" cy="241657"/>
              </a:xfrm>
              <a:prstGeom prst="rect">
                <a:avLst/>
              </a:prstGeom>
              <a:solidFill>
                <a:srgbClr val="73391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7F3184-F65A-F23E-7540-92FA0EDE5A44}"/>
                </a:ext>
              </a:extLst>
            </p:cNvPr>
            <p:cNvGrpSpPr/>
            <p:nvPr userDrawn="1"/>
          </p:nvGrpSpPr>
          <p:grpSpPr>
            <a:xfrm>
              <a:off x="22177344" y="1014231"/>
              <a:ext cx="2834640" cy="772614"/>
              <a:chOff x="15862269" y="1033109"/>
              <a:chExt cx="2834640" cy="772614"/>
            </a:xfrm>
          </p:grpSpPr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323C6163-C628-65FA-2B89-ECB4F08499E5}"/>
                  </a:ext>
                </a:extLst>
              </p:cNvPr>
              <p:cNvSpPr txBox="1"/>
              <p:nvPr/>
            </p:nvSpPr>
            <p:spPr>
              <a:xfrm>
                <a:off x="15862269" y="1033109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2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760C1B5A-9FB3-39C7-EA5B-D31473EDA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1157707"/>
                <a:ext cx="457200" cy="241657"/>
              </a:xfrm>
              <a:prstGeom prst="rect">
                <a:avLst/>
              </a:prstGeom>
              <a:solidFill>
                <a:srgbClr val="318581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CC5A462E-37DA-C5FE-951E-EF267046A1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1157707"/>
                <a:ext cx="457200" cy="241657"/>
              </a:xfrm>
              <a:prstGeom prst="rect">
                <a:avLst/>
              </a:prstGeom>
              <a:solidFill>
                <a:srgbClr val="0A6BB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kumimoji="0" lang="en-CA" sz="500" b="1" i="0" u="none" strike="noStrike" kern="1200" cap="none" spc="0" normalizeH="0" baseline="0" noProof="0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UI" pitchFamily="34" charset="0"/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C0A78035-52C1-76F1-79BA-5DE4EFCD7B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1157707"/>
                <a:ext cx="457200" cy="241657"/>
              </a:xfrm>
              <a:prstGeom prst="rtTriangle">
                <a:avLst/>
              </a:prstGeom>
              <a:solidFill>
                <a:srgbClr val="41AFA1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FC06D2C5-F141-2B2E-B485-DE6428AAFE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1157707"/>
                <a:ext cx="457200" cy="241657"/>
              </a:xfrm>
              <a:prstGeom prst="rtTriangle">
                <a:avLst/>
              </a:prstGeom>
              <a:solidFill>
                <a:srgbClr val="46A0DE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B102D2C2-4C5A-855D-3966-23E2B08A8B33}"/>
                  </a:ext>
                </a:extLst>
              </p:cNvPr>
              <p:cNvSpPr txBox="1"/>
              <p:nvPr/>
            </p:nvSpPr>
            <p:spPr>
              <a:xfrm>
                <a:off x="16813245" y="1033109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Colored header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E1A91558-7B23-716E-7E41-1E23D3275D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1157707"/>
                <a:ext cx="457200" cy="241657"/>
              </a:xfrm>
              <a:prstGeom prst="rect">
                <a:avLst/>
              </a:prstGeom>
              <a:solidFill>
                <a:srgbClr val="112D31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BE5BC7E8-0127-46CE-F8BC-D05E10711C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13245" y="1157707"/>
                <a:ext cx="457200" cy="241657"/>
              </a:xfrm>
              <a:prstGeom prst="rtTriangle">
                <a:avLst/>
              </a:prstGeom>
              <a:solidFill>
                <a:srgbClr val="B9DCD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5C438D2-76E5-D688-A36F-B78E36A071F5}"/>
                  </a:ext>
                </a:extLst>
              </p:cNvPr>
              <p:cNvSpPr txBox="1"/>
              <p:nvPr/>
            </p:nvSpPr>
            <p:spPr>
              <a:xfrm>
                <a:off x="15862269" y="1439469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Container</a:t>
                </a:r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ADC47756-B209-90AE-06BB-E769ABBB3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1564066"/>
                <a:ext cx="457200" cy="241657"/>
              </a:xfrm>
              <a:prstGeom prst="rect">
                <a:avLst/>
              </a:prstGeom>
              <a:solidFill>
                <a:srgbClr val="225B62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AA46F0FC-38D9-4CE1-C288-2E1AB89898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1564066"/>
                <a:ext cx="457200" cy="241657"/>
              </a:xfrm>
              <a:prstGeom prst="rect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B07D75B2-F832-71F5-F222-EAA68AC56F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1564066"/>
                <a:ext cx="457200" cy="241657"/>
              </a:xfrm>
              <a:prstGeom prst="rtTriangle">
                <a:avLst/>
              </a:prstGeom>
              <a:solidFill>
                <a:srgbClr val="FFF8E5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B043A783-FB06-5E23-203D-8CC3860D0E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1564066"/>
                <a:ext cx="457200" cy="241657"/>
              </a:xfrm>
              <a:prstGeom prst="rtTriangle">
                <a:avLst/>
              </a:prstGeom>
              <a:solidFill>
                <a:srgbClr val="DCEDE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7312A883-6761-B2DB-3157-A4E8B4DD409D}"/>
                  </a:ext>
                </a:extLst>
              </p:cNvPr>
              <p:cNvSpPr txBox="1"/>
              <p:nvPr/>
            </p:nvSpPr>
            <p:spPr>
              <a:xfrm>
                <a:off x="16813245" y="1439469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Light overlay</a:t>
                </a:r>
              </a:p>
            </p:txBody>
          </p: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113332A1-6118-9EC9-464D-2394EE085A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1564066"/>
                <a:ext cx="457200" cy="241657"/>
              </a:xfrm>
              <a:prstGeom prst="rect">
                <a:avLst/>
              </a:prstGeom>
              <a:solidFill>
                <a:srgbClr val="FFF8E5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9614819F-09CA-7E05-FA1A-C170EC39F1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1564066"/>
                <a:ext cx="457200" cy="241657"/>
              </a:xfrm>
              <a:prstGeom prst="rect">
                <a:avLst/>
              </a:prstGeom>
              <a:solidFill>
                <a:srgbClr val="DCEDE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6C0CB4E0-CBDC-086D-FB22-4063E0F69AA0}"/>
                  </a:ext>
                </a:extLst>
              </p:cNvPr>
              <p:cNvSpPr txBox="1"/>
              <p:nvPr/>
            </p:nvSpPr>
            <p:spPr>
              <a:xfrm>
                <a:off x="17764221" y="1439469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Dark overlay</a:t>
                </a:r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57C7E21D-F495-93A3-8022-0BC0EC4642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1564066"/>
                <a:ext cx="457200" cy="241657"/>
              </a:xfrm>
              <a:prstGeom prst="rect">
                <a:avLst/>
              </a:prstGeom>
              <a:solidFill>
                <a:srgbClr val="225B62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B505A24A-C423-CE1B-ACDA-302DC2BCBB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9709" y="1564066"/>
                <a:ext cx="457200" cy="241657"/>
              </a:xfrm>
              <a:prstGeom prst="rect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D0EEA49-A7FC-6E2C-4292-52BBC07AB7AA}"/>
                </a:ext>
              </a:extLst>
            </p:cNvPr>
            <p:cNvGrpSpPr/>
            <p:nvPr userDrawn="1"/>
          </p:nvGrpSpPr>
          <p:grpSpPr>
            <a:xfrm>
              <a:off x="22177344" y="2028462"/>
              <a:ext cx="2834640" cy="772614"/>
              <a:chOff x="15862269" y="2039936"/>
              <a:chExt cx="2834640" cy="772614"/>
            </a:xfrm>
          </p:grpSpPr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3DD5DFF2-FEA9-BE1C-CCAC-F338859EC24A}"/>
                  </a:ext>
                </a:extLst>
              </p:cNvPr>
              <p:cNvSpPr txBox="1"/>
              <p:nvPr/>
            </p:nvSpPr>
            <p:spPr>
              <a:xfrm>
                <a:off x="15862269" y="2039936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3</a:t>
                </a:r>
              </a:p>
            </p:txBody>
          </p: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0023D874-B2BD-9216-E837-13A0116DD8C4}"/>
                  </a:ext>
                </a:extLst>
              </p:cNvPr>
              <p:cNvSpPr txBox="1"/>
              <p:nvPr/>
            </p:nvSpPr>
            <p:spPr>
              <a:xfrm>
                <a:off x="16813245" y="2039936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Colored header</a:t>
                </a:r>
              </a:p>
            </p:txBody>
          </p: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D3E850F9-1BA1-B9A1-A07D-B43D29FB97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2164534"/>
                <a:ext cx="457200" cy="241657"/>
              </a:xfrm>
              <a:prstGeom prst="rect">
                <a:avLst/>
              </a:prstGeom>
              <a:solidFill>
                <a:srgbClr val="152237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7AF7CE4A-71F8-D567-8DAB-E78A86B1B0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13245" y="2164534"/>
                <a:ext cx="457200" cy="241657"/>
              </a:xfrm>
              <a:prstGeom prst="rtTriangle">
                <a:avLst/>
              </a:prstGeom>
              <a:solidFill>
                <a:srgbClr val="E2F1F9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D0078209-4715-0625-564E-9BF0D0CF476F}"/>
                  </a:ext>
                </a:extLst>
              </p:cNvPr>
              <p:cNvSpPr txBox="1"/>
              <p:nvPr/>
            </p:nvSpPr>
            <p:spPr>
              <a:xfrm>
                <a:off x="15862269" y="2446296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Container</a:t>
                </a: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AD9863A0-5805-66E6-9895-C269471E95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2570893"/>
                <a:ext cx="457200" cy="241657"/>
              </a:xfrm>
              <a:prstGeom prst="rect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D00323D0-D506-CC26-9EE6-A007C1E0B5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2570893"/>
                <a:ext cx="457200" cy="241657"/>
              </a:xfrm>
              <a:prstGeom prst="rect">
                <a:avLst/>
              </a:prstGeom>
              <a:solidFill>
                <a:srgbClr val="46366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7F700708-7E16-ADC1-B58A-987F5A8F27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2570893"/>
                <a:ext cx="457200" cy="241657"/>
              </a:xfrm>
              <a:prstGeom prst="rtTriangle">
                <a:avLst/>
              </a:prstGeom>
              <a:solidFill>
                <a:srgbClr val="EACEEB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F7C11E7A-7C7D-8408-7072-BAC4AD62CB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2570893"/>
                <a:ext cx="457200" cy="241657"/>
              </a:xfrm>
              <a:prstGeom prst="rtTriangle">
                <a:avLst/>
              </a:prstGeom>
              <a:solidFill>
                <a:srgbClr val="E2F1F9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9F1D7013-BC65-06CF-DB25-1E95BEEDC4D7}"/>
                  </a:ext>
                </a:extLst>
              </p:cNvPr>
              <p:cNvSpPr txBox="1"/>
              <p:nvPr/>
            </p:nvSpPr>
            <p:spPr>
              <a:xfrm>
                <a:off x="16813245" y="2446296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Light overlay</a:t>
                </a: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4C678748-37AE-EDFF-5A50-689A706AFF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2570893"/>
                <a:ext cx="457200" cy="241657"/>
              </a:xfrm>
              <a:prstGeom prst="rect">
                <a:avLst/>
              </a:prstGeom>
              <a:solidFill>
                <a:srgbClr val="EACEEB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69A5B638-3967-CC6D-6C76-9DE81A9CC9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2570893"/>
                <a:ext cx="457200" cy="241657"/>
              </a:xfrm>
              <a:prstGeom prst="rect">
                <a:avLst/>
              </a:prstGeom>
              <a:solidFill>
                <a:srgbClr val="E2F1F9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EB015D36-2BDA-6A9E-2ABC-D0C853C17849}"/>
                  </a:ext>
                </a:extLst>
              </p:cNvPr>
              <p:cNvSpPr txBox="1"/>
              <p:nvPr/>
            </p:nvSpPr>
            <p:spPr>
              <a:xfrm>
                <a:off x="17764221" y="2446296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Dark overlay</a:t>
                </a: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DA85F87A-63E8-BBDC-7983-6F93CB2629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2570893"/>
                <a:ext cx="457200" cy="241657"/>
              </a:xfrm>
              <a:prstGeom prst="rect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133A26D9-CA2C-0DBC-F8C6-BD63CA230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9709" y="2570893"/>
                <a:ext cx="457200" cy="241657"/>
              </a:xfrm>
              <a:prstGeom prst="rect">
                <a:avLst/>
              </a:prstGeom>
              <a:solidFill>
                <a:srgbClr val="46366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77CAD862-CFE9-8FE3-6445-710328C576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2164534"/>
                <a:ext cx="457200" cy="241657"/>
              </a:xfrm>
              <a:prstGeom prst="rect">
                <a:avLst/>
              </a:prstGeom>
              <a:solidFill>
                <a:srgbClr val="AC35A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061406ED-18CB-A78F-3FF2-7B0C57493F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2164534"/>
                <a:ext cx="457200" cy="241657"/>
              </a:xfrm>
              <a:prstGeom prst="rect">
                <a:avLst/>
              </a:prstGeom>
              <a:solidFill>
                <a:srgbClr val="0A6BB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kumimoji="0" lang="en-CA" sz="500" b="1" i="0" u="none" strike="noStrike" kern="1200" cap="none" spc="0" normalizeH="0" baseline="0" noProof="0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UI" pitchFamily="34" charset="0"/>
                </a:endParaRP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8B9FD834-D00F-A849-7375-85B8E6558C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2164534"/>
                <a:ext cx="457200" cy="241657"/>
              </a:xfrm>
              <a:prstGeom prst="rtTriangle">
                <a:avLst/>
              </a:prstGeom>
              <a:solidFill>
                <a:srgbClr val="46A0DE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EE469CD3-8967-9262-25D0-CE79718EF6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2164534"/>
                <a:ext cx="457200" cy="241657"/>
              </a:xfrm>
              <a:prstGeom prst="rtTriangle">
                <a:avLst/>
              </a:prstGeom>
              <a:solidFill>
                <a:srgbClr val="CA6CC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49A6268-3C2F-6074-C8AD-674B8386398B}"/>
                </a:ext>
              </a:extLst>
            </p:cNvPr>
            <p:cNvGrpSpPr/>
            <p:nvPr userDrawn="1"/>
          </p:nvGrpSpPr>
          <p:grpSpPr>
            <a:xfrm>
              <a:off x="22177344" y="3042693"/>
              <a:ext cx="2834640" cy="772614"/>
              <a:chOff x="15862269" y="3046763"/>
              <a:chExt cx="2834640" cy="772614"/>
            </a:xfrm>
          </p:grpSpPr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D662D1E4-3098-C7A8-66E3-9201552BA8D4}"/>
                  </a:ext>
                </a:extLst>
              </p:cNvPr>
              <p:cNvSpPr txBox="1"/>
              <p:nvPr/>
            </p:nvSpPr>
            <p:spPr>
              <a:xfrm>
                <a:off x="15862269" y="3046763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4</a:t>
                </a: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8524BC0C-D982-9054-84F2-90BA1C86D50C}"/>
                  </a:ext>
                </a:extLst>
              </p:cNvPr>
              <p:cNvSpPr txBox="1"/>
              <p:nvPr/>
            </p:nvSpPr>
            <p:spPr>
              <a:xfrm>
                <a:off x="16813245" y="3046763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Colored header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3FA2A132-EC82-8752-BC7D-1F25DF5FD4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3171361"/>
                <a:ext cx="457200" cy="241657"/>
              </a:xfrm>
              <a:prstGeom prst="rect">
                <a:avLst/>
              </a:prstGeom>
              <a:solidFill>
                <a:srgbClr val="381239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B93A1AD-428A-5870-8E44-C052C6C7A7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13245" y="3171361"/>
                <a:ext cx="457200" cy="241657"/>
              </a:xfrm>
              <a:prstGeom prst="rtTriangle">
                <a:avLst/>
              </a:prstGeom>
              <a:solidFill>
                <a:srgbClr val="EACEEB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3A5F21DF-5C70-1655-DA74-9232A4D09AD7}"/>
                  </a:ext>
                </a:extLst>
              </p:cNvPr>
              <p:cNvSpPr txBox="1"/>
              <p:nvPr/>
            </p:nvSpPr>
            <p:spPr>
              <a:xfrm>
                <a:off x="15862269" y="3453123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Container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45CA84E5-DEB2-E10C-FBAE-7780A9B652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3577720"/>
                <a:ext cx="457200" cy="241657"/>
              </a:xfrm>
              <a:prstGeom prst="rect">
                <a:avLst/>
              </a:prstGeom>
              <a:solidFill>
                <a:srgbClr val="46366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B02AFDCE-B53D-B932-95EE-77552AEBB3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3577720"/>
                <a:ext cx="457200" cy="241657"/>
              </a:xfrm>
              <a:prstGeom prst="rect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F28177BD-89DA-47A8-7914-D0954DD0AE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3577720"/>
                <a:ext cx="457200" cy="241657"/>
              </a:xfrm>
              <a:prstGeom prst="rtTriangle">
                <a:avLst/>
              </a:prstGeom>
              <a:solidFill>
                <a:srgbClr val="FFD9DD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58E7676F-29D7-921E-1B02-02CFB8A3CC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3577720"/>
                <a:ext cx="457200" cy="241657"/>
              </a:xfrm>
              <a:prstGeom prst="rtTriangle">
                <a:avLst/>
              </a:prstGeom>
              <a:solidFill>
                <a:srgbClr val="EACEEB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A7545FB8-9AE6-6DDB-EC1F-90CCCAFD3912}"/>
                  </a:ext>
                </a:extLst>
              </p:cNvPr>
              <p:cNvSpPr txBox="1"/>
              <p:nvPr/>
            </p:nvSpPr>
            <p:spPr>
              <a:xfrm>
                <a:off x="16813245" y="3453123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Light overlay</a:t>
                </a: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64BC0985-84B1-4D07-0EE4-78B3AA51DD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3577720"/>
                <a:ext cx="457200" cy="241657"/>
              </a:xfrm>
              <a:prstGeom prst="rect">
                <a:avLst/>
              </a:prstGeom>
              <a:solidFill>
                <a:srgbClr val="FFD9DD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D98BD525-F4BF-B630-411C-368D2B25BB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3577720"/>
                <a:ext cx="457200" cy="241657"/>
              </a:xfrm>
              <a:prstGeom prst="rect">
                <a:avLst/>
              </a:prstGeom>
              <a:solidFill>
                <a:srgbClr val="EACEEB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757FAF61-C015-67CD-07A9-ADC2932F1101}"/>
                  </a:ext>
                </a:extLst>
              </p:cNvPr>
              <p:cNvSpPr txBox="1"/>
              <p:nvPr/>
            </p:nvSpPr>
            <p:spPr>
              <a:xfrm>
                <a:off x="17764221" y="3453123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Dark overlay</a:t>
                </a:r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091FFC74-2F30-08C4-FD14-A5B7886A5F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3577720"/>
                <a:ext cx="457200" cy="241657"/>
              </a:xfrm>
              <a:prstGeom prst="rect">
                <a:avLst/>
              </a:prstGeom>
              <a:solidFill>
                <a:srgbClr val="46366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23BECB4D-14BD-E696-CA41-C4C34F6505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9709" y="3577720"/>
                <a:ext cx="457200" cy="241657"/>
              </a:xfrm>
              <a:prstGeom prst="rect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D7B0B47-463B-0A11-308E-DC1B2E26A2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3171361"/>
                <a:ext cx="457200" cy="241657"/>
              </a:xfrm>
              <a:prstGeom prst="rect">
                <a:avLst/>
              </a:prstGeom>
              <a:solidFill>
                <a:srgbClr val="AC35A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E8BBBBC1-194D-88A4-96DB-7EA7DB82D0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3171361"/>
                <a:ext cx="457200" cy="241657"/>
              </a:xfrm>
              <a:prstGeom prst="rect">
                <a:avLst/>
              </a:prstGeom>
              <a:solidFill>
                <a:srgbClr val="F65567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097B6304-4094-4369-DE4E-8C8FDFA839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3171361"/>
                <a:ext cx="457200" cy="241657"/>
              </a:xfrm>
              <a:prstGeom prst="rtTriangle">
                <a:avLst/>
              </a:prstGeom>
              <a:solidFill>
                <a:srgbClr val="CA6CC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71752B01-24DE-5AD7-BCF8-CA94DBAFB2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3171361"/>
                <a:ext cx="457200" cy="241657"/>
              </a:xfrm>
              <a:prstGeom prst="rtTriangle">
                <a:avLst/>
              </a:prstGeom>
              <a:solidFill>
                <a:srgbClr val="F97483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C16B741-CAEC-A65D-2623-3BF096C25A1C}"/>
                </a:ext>
              </a:extLst>
            </p:cNvPr>
            <p:cNvGrpSpPr/>
            <p:nvPr userDrawn="1"/>
          </p:nvGrpSpPr>
          <p:grpSpPr>
            <a:xfrm>
              <a:off x="22177344" y="4056924"/>
              <a:ext cx="2834640" cy="772614"/>
              <a:chOff x="15862269" y="4053590"/>
              <a:chExt cx="2834640" cy="772614"/>
            </a:xfrm>
          </p:grpSpPr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EB8F0342-F4C4-F592-2FEA-6D090F8501D7}"/>
                  </a:ext>
                </a:extLst>
              </p:cNvPr>
              <p:cNvSpPr txBox="1"/>
              <p:nvPr/>
            </p:nvSpPr>
            <p:spPr>
              <a:xfrm>
                <a:off x="15862269" y="4053590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5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29D92FA-3CD3-ED56-A388-CD17902EE6B7}"/>
                  </a:ext>
                </a:extLst>
              </p:cNvPr>
              <p:cNvSpPr txBox="1"/>
              <p:nvPr/>
            </p:nvSpPr>
            <p:spPr>
              <a:xfrm>
                <a:off x="16813245" y="4053590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Colored header</a:t>
                </a: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C383E89E-3F8E-BC6F-C6F4-4CDA7610C9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4178188"/>
                <a:ext cx="457200" cy="241657"/>
              </a:xfrm>
              <a:prstGeom prst="rect">
                <a:avLst/>
              </a:prstGeom>
              <a:solidFill>
                <a:srgbClr val="112D31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B8DB4EE5-99A3-2A07-FA77-C01E0CE0F8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13245" y="4178188"/>
                <a:ext cx="457200" cy="241657"/>
              </a:xfrm>
              <a:prstGeom prst="rtTriangle">
                <a:avLst/>
              </a:prstGeom>
              <a:solidFill>
                <a:srgbClr val="B9DCD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6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F8E98ECF-6668-A35C-3E01-1EAB5FC23272}"/>
                  </a:ext>
                </a:extLst>
              </p:cNvPr>
              <p:cNvSpPr txBox="1"/>
              <p:nvPr/>
            </p:nvSpPr>
            <p:spPr>
              <a:xfrm>
                <a:off x="15862269" y="4459950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Container</a:t>
                </a: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583DD6B9-BEB6-1A8D-21EC-A496E788E3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4584547"/>
                <a:ext cx="457200" cy="241657"/>
              </a:xfrm>
              <a:prstGeom prst="rect">
                <a:avLst/>
              </a:prstGeom>
              <a:solidFill>
                <a:srgbClr val="225B62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7EE18A98-523B-AE0C-B864-89DB5FDDC4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4584547"/>
                <a:ext cx="457200" cy="241657"/>
              </a:xfrm>
              <a:prstGeom prst="rect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B38917F8-10F8-A485-78E7-1F1B37B649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4584547"/>
                <a:ext cx="457200" cy="241657"/>
              </a:xfrm>
              <a:prstGeom prst="rtTriangle">
                <a:avLst/>
              </a:prstGeom>
              <a:solidFill>
                <a:srgbClr val="FFF8E5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5EFEF95A-96A7-167F-612D-A28EE83230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4584547"/>
                <a:ext cx="457200" cy="241657"/>
              </a:xfrm>
              <a:prstGeom prst="rtTriangle">
                <a:avLst/>
              </a:prstGeom>
              <a:solidFill>
                <a:srgbClr val="DCEDE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8D2B0F78-04D2-7265-4AFB-D397909E67CD}"/>
                  </a:ext>
                </a:extLst>
              </p:cNvPr>
              <p:cNvSpPr txBox="1"/>
              <p:nvPr/>
            </p:nvSpPr>
            <p:spPr>
              <a:xfrm>
                <a:off x="16813245" y="4459950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Light overlay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449B6931-0652-9571-CAC8-E56CBA8B73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4584547"/>
                <a:ext cx="457200" cy="241657"/>
              </a:xfrm>
              <a:prstGeom prst="rect">
                <a:avLst/>
              </a:prstGeom>
              <a:solidFill>
                <a:srgbClr val="FFF8E5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65BAD5AA-42F0-3984-8AEA-3A258C095B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4584547"/>
                <a:ext cx="457200" cy="241657"/>
              </a:xfrm>
              <a:prstGeom prst="rect">
                <a:avLst/>
              </a:prstGeom>
              <a:solidFill>
                <a:srgbClr val="DCEDE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AFC9D74-3631-E84B-A208-BDF6F61CBDE7}"/>
                  </a:ext>
                </a:extLst>
              </p:cNvPr>
              <p:cNvSpPr txBox="1"/>
              <p:nvPr/>
            </p:nvSpPr>
            <p:spPr>
              <a:xfrm>
                <a:off x="17764221" y="4459950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Dark overlay</a:t>
                </a:r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F1539921-882F-C11C-7630-83A13AFDF8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4584547"/>
                <a:ext cx="457200" cy="241657"/>
              </a:xfrm>
              <a:prstGeom prst="rect">
                <a:avLst/>
              </a:prstGeom>
              <a:solidFill>
                <a:srgbClr val="225B62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0DDF6AEE-CDFD-DE68-6789-AE16FDC33E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9709" y="4584547"/>
                <a:ext cx="457200" cy="241657"/>
              </a:xfrm>
              <a:prstGeom prst="rect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A3785F47-559D-9DB0-E7E3-8DBBFA8C9B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4178188"/>
                <a:ext cx="457200" cy="241657"/>
              </a:xfrm>
              <a:prstGeom prst="rect">
                <a:avLst/>
              </a:prstGeom>
              <a:solidFill>
                <a:srgbClr val="B9DCD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FBFDC86A-9328-3E0F-2163-DA0A0953A0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4178188"/>
                <a:ext cx="457200" cy="241657"/>
              </a:xfrm>
              <a:prstGeom prst="rect">
                <a:avLst/>
              </a:prstGeom>
              <a:solidFill>
                <a:srgbClr val="FFEAB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8EA506F9-7DCA-EE5A-1622-6152339677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4178188"/>
                <a:ext cx="457200" cy="241657"/>
              </a:xfrm>
              <a:prstGeom prst="rtTriangle">
                <a:avLst/>
              </a:prstGeom>
              <a:solidFill>
                <a:srgbClr val="225B6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82E91B42-D07C-86DF-6502-53644E0CF0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4178188"/>
                <a:ext cx="457200" cy="241657"/>
              </a:xfrm>
              <a:prstGeom prst="rtTriangle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027A459-C28F-0CF5-D36F-6C56F2C6D7A1}"/>
                </a:ext>
              </a:extLst>
            </p:cNvPr>
            <p:cNvGrpSpPr/>
            <p:nvPr userDrawn="1"/>
          </p:nvGrpSpPr>
          <p:grpSpPr>
            <a:xfrm>
              <a:off x="22177344" y="5071155"/>
              <a:ext cx="2834640" cy="772614"/>
              <a:chOff x="15862269" y="5060417"/>
              <a:chExt cx="2834640" cy="772614"/>
            </a:xfrm>
          </p:grpSpPr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DA3F3BCD-68DD-27E9-8B31-2AD4F0053EC3}"/>
                  </a:ext>
                </a:extLst>
              </p:cNvPr>
              <p:cNvSpPr txBox="1"/>
              <p:nvPr/>
            </p:nvSpPr>
            <p:spPr>
              <a:xfrm>
                <a:off x="15862269" y="5060417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6</a:t>
                </a: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786B7DE9-37AA-62AA-CEEC-0A7FCFF9F0FD}"/>
                  </a:ext>
                </a:extLst>
              </p:cNvPr>
              <p:cNvSpPr txBox="1"/>
              <p:nvPr/>
            </p:nvSpPr>
            <p:spPr>
              <a:xfrm>
                <a:off x="16813245" y="5060417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Colored header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01E5E97-7996-6489-8716-42AF8971AE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5185015"/>
                <a:ext cx="457200" cy="241657"/>
              </a:xfrm>
              <a:prstGeom prst="rect">
                <a:avLst/>
              </a:prstGeom>
              <a:solidFill>
                <a:srgbClr val="152237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F5033232-7E0B-D9A6-47DD-9001764903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13245" y="5185015"/>
                <a:ext cx="457200" cy="241657"/>
              </a:xfrm>
              <a:prstGeom prst="rtTriangle">
                <a:avLst/>
              </a:prstGeom>
              <a:solidFill>
                <a:srgbClr val="A9D5E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6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549B386A-4F20-3BF4-304B-3F7594151CF4}"/>
                  </a:ext>
                </a:extLst>
              </p:cNvPr>
              <p:cNvSpPr txBox="1"/>
              <p:nvPr/>
            </p:nvSpPr>
            <p:spPr>
              <a:xfrm>
                <a:off x="15862269" y="5466777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Container</a:t>
                </a: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76315212-5C2B-1318-BB27-FA1843EE0A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5591374"/>
                <a:ext cx="457200" cy="241657"/>
              </a:xfrm>
              <a:prstGeom prst="rect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DC92897E-278A-F635-068E-4FB4DC2F07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5591374"/>
                <a:ext cx="457200" cy="241657"/>
              </a:xfrm>
              <a:prstGeom prst="rect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82E7A792-55A9-BDB2-B08E-9FD6BA87CD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5591374"/>
                <a:ext cx="457200" cy="241657"/>
              </a:xfrm>
              <a:prstGeom prst="rtTriangle">
                <a:avLst/>
              </a:prstGeom>
              <a:solidFill>
                <a:srgbClr val="FFECEE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526D52CB-423F-DD89-EC7D-ED9279BC8F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5591374"/>
                <a:ext cx="457200" cy="241657"/>
              </a:xfrm>
              <a:prstGeom prst="rtTriangle">
                <a:avLst/>
              </a:prstGeom>
              <a:solidFill>
                <a:srgbClr val="E2F1F9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ADF897A5-72F3-67B4-FB13-1DBB0664215B}"/>
                  </a:ext>
                </a:extLst>
              </p:cNvPr>
              <p:cNvSpPr txBox="1"/>
              <p:nvPr/>
            </p:nvSpPr>
            <p:spPr>
              <a:xfrm>
                <a:off x="16813245" y="5466777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Light overlay</a:t>
                </a: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3FC8D2A1-FCAB-228F-74C2-A8CE5672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5591374"/>
                <a:ext cx="457200" cy="241657"/>
              </a:xfrm>
              <a:prstGeom prst="rect">
                <a:avLst/>
              </a:prstGeom>
              <a:solidFill>
                <a:srgbClr val="FFECEE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4968D57E-0D11-E7A7-31E0-71D77CD31B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5591374"/>
                <a:ext cx="457200" cy="241657"/>
              </a:xfrm>
              <a:prstGeom prst="rect">
                <a:avLst/>
              </a:prstGeom>
              <a:solidFill>
                <a:srgbClr val="E2F1F9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50286B46-275C-3740-D70D-767AC65157FE}"/>
                  </a:ext>
                </a:extLst>
              </p:cNvPr>
              <p:cNvSpPr txBox="1"/>
              <p:nvPr/>
            </p:nvSpPr>
            <p:spPr>
              <a:xfrm>
                <a:off x="17764221" y="5466777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Dark overlay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8F875C55-3C95-CD70-3BAB-345A3902C8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5591374"/>
                <a:ext cx="457200" cy="241657"/>
              </a:xfrm>
              <a:prstGeom prst="rect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A6C5B0E-6653-0859-F4A5-0E416E7E61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9709" y="5591374"/>
                <a:ext cx="457200" cy="241657"/>
              </a:xfrm>
              <a:prstGeom prst="rect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B3C57DC6-EE19-4BFA-1346-CB63C8167E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5185015"/>
                <a:ext cx="457200" cy="241657"/>
              </a:xfrm>
              <a:prstGeom prst="rect">
                <a:avLst/>
              </a:prstGeom>
              <a:solidFill>
                <a:srgbClr val="A9D5E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397B4C8C-9D3C-DFCB-FA86-2B06C78E9F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5185015"/>
                <a:ext cx="457200" cy="241657"/>
              </a:xfrm>
              <a:prstGeom prst="rect">
                <a:avLst/>
              </a:prstGeom>
              <a:solidFill>
                <a:srgbClr val="FFC6CC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5DBA6141-C1CE-C8C0-F023-09AE4F13E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5185015"/>
                <a:ext cx="457200" cy="241657"/>
              </a:xfrm>
              <a:prstGeom prst="rtTriangle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B56FD69B-66DF-3828-4372-A2E133D0FF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5185015"/>
                <a:ext cx="457200" cy="241657"/>
              </a:xfrm>
              <a:prstGeom prst="rtTriangle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10DB4A3-D054-373E-A4A2-0ABDF87876B5}"/>
                </a:ext>
              </a:extLst>
            </p:cNvPr>
            <p:cNvGrpSpPr/>
            <p:nvPr userDrawn="1"/>
          </p:nvGrpSpPr>
          <p:grpSpPr>
            <a:xfrm>
              <a:off x="22177344" y="6085386"/>
              <a:ext cx="2834640" cy="772614"/>
              <a:chOff x="15858760" y="6116425"/>
              <a:chExt cx="2834640" cy="772614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462DA7E-9D21-9BDD-7956-A8E691DCEA0C}"/>
                  </a:ext>
                </a:extLst>
              </p:cNvPr>
              <p:cNvSpPr txBox="1"/>
              <p:nvPr/>
            </p:nvSpPr>
            <p:spPr>
              <a:xfrm>
                <a:off x="15858760" y="6116425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7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77E9895-5940-BEC4-1463-847EA7CF52DC}"/>
                  </a:ext>
                </a:extLst>
              </p:cNvPr>
              <p:cNvSpPr txBox="1"/>
              <p:nvPr/>
            </p:nvSpPr>
            <p:spPr>
              <a:xfrm>
                <a:off x="16809736" y="6116425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Colored header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BF3C0AD-3E9A-6198-1FAE-8D7A245C7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09736" y="6241023"/>
                <a:ext cx="457200" cy="241657"/>
              </a:xfrm>
              <a:prstGeom prst="rect">
                <a:avLst/>
              </a:prstGeom>
              <a:solidFill>
                <a:srgbClr val="391317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70A8CD8-2E21-7C75-D740-93DDD8E82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09736" y="6241023"/>
                <a:ext cx="457200" cy="241657"/>
              </a:xfrm>
              <a:prstGeom prst="rtTriangle">
                <a:avLst/>
              </a:prstGeom>
              <a:solidFill>
                <a:srgbClr val="FFC6CC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6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7A78AE6-7180-C3E1-5C5B-EF6A27CB2693}"/>
                  </a:ext>
                </a:extLst>
              </p:cNvPr>
              <p:cNvSpPr txBox="1"/>
              <p:nvPr/>
            </p:nvSpPr>
            <p:spPr>
              <a:xfrm>
                <a:off x="15858760" y="6522785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Container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041214D-C1B8-D01B-C72E-5FB5F4C1F9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58760" y="6647382"/>
                <a:ext cx="457200" cy="241657"/>
              </a:xfrm>
              <a:prstGeom prst="rect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ADE66E7-8790-8A3A-CECF-86DFB59609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4248" y="6647382"/>
                <a:ext cx="457200" cy="241657"/>
              </a:xfrm>
              <a:prstGeom prst="rect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88D771A-BF6D-196E-7079-399531DC52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4248" y="6647382"/>
                <a:ext cx="457200" cy="241657"/>
              </a:xfrm>
              <a:prstGeom prst="rtTriangle">
                <a:avLst/>
              </a:prstGeom>
              <a:solidFill>
                <a:srgbClr val="FFF8E5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EC34EF3-0E1A-6670-49D2-309CB7B93E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58760" y="6647382"/>
                <a:ext cx="457200" cy="241657"/>
              </a:xfrm>
              <a:prstGeom prst="rtTriangle">
                <a:avLst/>
              </a:prstGeom>
              <a:solidFill>
                <a:srgbClr val="FFECEE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31E7E60-32D7-8917-F8F9-02A1B6844FE3}"/>
                  </a:ext>
                </a:extLst>
              </p:cNvPr>
              <p:cNvSpPr txBox="1"/>
              <p:nvPr/>
            </p:nvSpPr>
            <p:spPr>
              <a:xfrm>
                <a:off x="16809736" y="6522785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Light overlay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02138E3-7427-97AE-E5D2-7F6E20BDEB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5224" y="6647382"/>
                <a:ext cx="457200" cy="241657"/>
              </a:xfrm>
              <a:prstGeom prst="rect">
                <a:avLst/>
              </a:prstGeom>
              <a:solidFill>
                <a:srgbClr val="FFF8E5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5CA7356-42D0-5B8E-38A8-235DFB7756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09736" y="6647382"/>
                <a:ext cx="457200" cy="241657"/>
              </a:xfrm>
              <a:prstGeom prst="rect">
                <a:avLst/>
              </a:prstGeom>
              <a:solidFill>
                <a:srgbClr val="FFECEE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3D3C6D0-A8E3-FA3D-1123-9E3985EEA0AE}"/>
                  </a:ext>
                </a:extLst>
              </p:cNvPr>
              <p:cNvSpPr txBox="1"/>
              <p:nvPr/>
            </p:nvSpPr>
            <p:spPr>
              <a:xfrm>
                <a:off x="17760712" y="6522785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Dark overlay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6344107-FCE3-1760-F249-2BF8E02DD7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0712" y="6647382"/>
                <a:ext cx="457200" cy="241657"/>
              </a:xfrm>
              <a:prstGeom prst="rect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857B583-B3A3-311D-1CC4-CAB2926CC0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6200" y="6647382"/>
                <a:ext cx="457200" cy="241657"/>
              </a:xfrm>
              <a:prstGeom prst="rect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3D4C301D-9987-154B-13C5-65DB37518B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58760" y="6241023"/>
                <a:ext cx="457200" cy="241657"/>
              </a:xfrm>
              <a:prstGeom prst="rect">
                <a:avLst/>
              </a:prstGeom>
              <a:solidFill>
                <a:srgbClr val="FFC6CC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565E8CAA-775E-EB3E-D831-1DC29AA4D9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4248" y="6241023"/>
                <a:ext cx="457200" cy="241657"/>
              </a:xfrm>
              <a:prstGeom prst="rect">
                <a:avLst/>
              </a:prstGeom>
              <a:solidFill>
                <a:srgbClr val="FFEAB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0B4FBDE4-3A24-87DF-DAF8-523C0040B8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58760" y="6241023"/>
                <a:ext cx="457200" cy="241657"/>
              </a:xfrm>
              <a:prstGeom prst="rtTriangle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29450C06-7661-A938-81AE-5E7FCD41BE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4248" y="6241023"/>
                <a:ext cx="457200" cy="241657"/>
              </a:xfrm>
              <a:prstGeom prst="rtTriangle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559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9" r:id="rId1"/>
    <p:sldLayoutId id="2147485610" r:id="rId2"/>
    <p:sldLayoutId id="2147485611" r:id="rId3"/>
    <p:sldLayoutId id="2147485612" r:id="rId4"/>
    <p:sldLayoutId id="2147485613" r:id="rId5"/>
    <p:sldLayoutId id="2147485614" r:id="rId6"/>
    <p:sldLayoutId id="2147485615" r:id="rId7"/>
    <p:sldLayoutId id="2147485616" r:id="rId8"/>
    <p:sldLayoutId id="2147485617" r:id="rId9"/>
    <p:sldLayoutId id="2147485618" r:id="rId10"/>
    <p:sldLayoutId id="2147485619" r:id="rId11"/>
    <p:sldLayoutId id="2147485620" r:id="rId12"/>
    <p:sldLayoutId id="2147485621" r:id="rId13"/>
    <p:sldLayoutId id="2147485622" r:id="rId14"/>
    <p:sldLayoutId id="2147485623" r:id="rId15"/>
    <p:sldLayoutId id="2147485655" r:id="rId16"/>
    <p:sldLayoutId id="2147485656" r:id="rId17"/>
    <p:sldLayoutId id="2147485657" r:id="rId18"/>
    <p:sldLayoutId id="2147485658" r:id="rId19"/>
    <p:sldLayoutId id="2147485662" r:id="rId20"/>
    <p:sldLayoutId id="2147485666" r:id="rId21"/>
    <p:sldLayoutId id="2147485667" r:id="rId22"/>
    <p:sldLayoutId id="2147485668" r:id="rId23"/>
    <p:sldLayoutId id="2147485669" r:id="rId24"/>
    <p:sldLayoutId id="2147485929" r:id="rId25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15708" y="632079"/>
            <a:ext cx="6343575" cy="56528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915708" y="1733955"/>
            <a:ext cx="6343574" cy="1535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1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373" tIns="86699" rIns="108373" bIns="8669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5257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22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373" tIns="86699" rIns="108373" bIns="8669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5257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22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/>
        </p:blipFill>
        <p:spPr>
          <a:xfrm rot="16200000">
            <a:off x="9198499" y="3002266"/>
            <a:ext cx="6858000" cy="85347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5DB31FE-0192-CF40-E50C-E27D8D163F5D}"/>
              </a:ext>
            </a:extLst>
          </p:cNvPr>
          <p:cNvGrpSpPr/>
          <p:nvPr userDrawn="1"/>
        </p:nvGrpSpPr>
        <p:grpSpPr>
          <a:xfrm>
            <a:off x="13142130" y="-19050"/>
            <a:ext cx="2243328" cy="6858000"/>
            <a:chOff x="22177344" y="0"/>
            <a:chExt cx="3785616" cy="6858000"/>
          </a:xfrm>
        </p:grpSpPr>
        <p:grpSp>
          <p:nvGrpSpPr>
            <p:cNvPr id="621" name="Group 620">
              <a:extLst>
                <a:ext uri="{FF2B5EF4-FFF2-40B4-BE49-F238E27FC236}">
                  <a16:creationId xmlns:a16="http://schemas.microsoft.com/office/drawing/2014/main" id="{ED0A82BC-C21E-7032-0C24-F836F1A7CFE6}"/>
                </a:ext>
              </a:extLst>
            </p:cNvPr>
            <p:cNvGrpSpPr/>
            <p:nvPr userDrawn="1"/>
          </p:nvGrpSpPr>
          <p:grpSpPr>
            <a:xfrm>
              <a:off x="22177344" y="0"/>
              <a:ext cx="3785616" cy="772614"/>
              <a:chOff x="15862269" y="26282"/>
              <a:chExt cx="3785616" cy="772614"/>
            </a:xfrm>
          </p:grpSpPr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id="{1C1078EA-AEB1-8DB3-397A-18AF6AC648E8}"/>
                  </a:ext>
                </a:extLst>
              </p:cNvPr>
              <p:cNvSpPr txBox="1"/>
              <p:nvPr/>
            </p:nvSpPr>
            <p:spPr>
              <a:xfrm>
                <a:off x="15862269" y="26282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415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1</a:t>
                </a:r>
              </a:p>
            </p:txBody>
          </p:sp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CCCD3276-341F-CDA4-CC52-83268CA84F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150880"/>
                <a:ext cx="457200" cy="241657"/>
              </a:xfrm>
              <a:prstGeom prst="rect">
                <a:avLst/>
              </a:prstGeom>
              <a:solidFill>
                <a:srgbClr val="318581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03" name="TextBox 402">
                <a:extLst>
                  <a:ext uri="{FF2B5EF4-FFF2-40B4-BE49-F238E27FC236}">
                    <a16:creationId xmlns:a16="http://schemas.microsoft.com/office/drawing/2014/main" id="{C28BB2C7-3466-C3C5-BA28-67FD5B993A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150880"/>
                <a:ext cx="457200" cy="241657"/>
              </a:xfrm>
              <a:prstGeom prst="rect">
                <a:avLst/>
              </a:prstGeom>
              <a:solidFill>
                <a:srgbClr val="0A6BB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kumimoji="0" lang="en-CA" sz="296" b="1" i="0" u="none" strike="noStrike" kern="1200" cap="none" spc="0" normalizeH="0" baseline="0" noProof="0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UI" pitchFamily="34" charset="0"/>
                </a:endParaRPr>
              </a:p>
            </p:txBody>
          </p:sp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4C3A2829-3A63-41FB-65A3-C046A00DC9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150880"/>
                <a:ext cx="457200" cy="241657"/>
              </a:xfrm>
              <a:prstGeom prst="rect">
                <a:avLst/>
              </a:prstGeom>
              <a:solidFill>
                <a:srgbClr val="AC35A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AFC8EE30-3FFF-8F6B-0EFA-876A15A7D2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150880"/>
                <a:ext cx="457200" cy="241657"/>
              </a:xfrm>
              <a:prstGeom prst="rect">
                <a:avLst/>
              </a:prstGeom>
              <a:solidFill>
                <a:srgbClr val="F65567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F973D03D-5753-9B03-A5CF-8E28B9E451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150880"/>
                <a:ext cx="457200" cy="241657"/>
              </a:xfrm>
              <a:prstGeom prst="rtTriangle">
                <a:avLst/>
              </a:prstGeom>
              <a:solidFill>
                <a:srgbClr val="41AFA1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945D628D-EB93-BCA9-6588-A202F90C1C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150880"/>
                <a:ext cx="457200" cy="241657"/>
              </a:xfrm>
              <a:prstGeom prst="rtTriangle">
                <a:avLst/>
              </a:prstGeom>
              <a:solidFill>
                <a:srgbClr val="46A0DE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21" name="TextBox 420">
                <a:extLst>
                  <a:ext uri="{FF2B5EF4-FFF2-40B4-BE49-F238E27FC236}">
                    <a16:creationId xmlns:a16="http://schemas.microsoft.com/office/drawing/2014/main" id="{71B621F7-BF54-59D4-C030-5198806204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13245" y="150880"/>
                <a:ext cx="457200" cy="241657"/>
              </a:xfrm>
              <a:prstGeom prst="rtTriangle">
                <a:avLst/>
              </a:prstGeom>
              <a:solidFill>
                <a:srgbClr val="CA6CC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3FEEF08B-6DA4-EEB5-1321-3185048937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288733" y="150880"/>
                <a:ext cx="457200" cy="241657"/>
              </a:xfrm>
              <a:prstGeom prst="rtTriangle">
                <a:avLst/>
              </a:prstGeom>
              <a:solidFill>
                <a:srgbClr val="F97483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01" name="TextBox 400">
                <a:extLst>
                  <a:ext uri="{FF2B5EF4-FFF2-40B4-BE49-F238E27FC236}">
                    <a16:creationId xmlns:a16="http://schemas.microsoft.com/office/drawing/2014/main" id="{D41ABFCB-3213-84A0-5473-68A1427C0868}"/>
                  </a:ext>
                </a:extLst>
              </p:cNvPr>
              <p:cNvSpPr txBox="1"/>
              <p:nvPr/>
            </p:nvSpPr>
            <p:spPr>
              <a:xfrm>
                <a:off x="17764221" y="26282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Colored header</a:t>
                </a:r>
              </a:p>
            </p:txBody>
          </p:sp>
          <p:sp>
            <p:nvSpPr>
              <p:cNvPr id="406" name="TextBox 405">
                <a:extLst>
                  <a:ext uri="{FF2B5EF4-FFF2-40B4-BE49-F238E27FC236}">
                    <a16:creationId xmlns:a16="http://schemas.microsoft.com/office/drawing/2014/main" id="{1EEA5F37-D3C5-0721-AFAC-6C556E7590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150880"/>
                <a:ext cx="457200" cy="241657"/>
              </a:xfrm>
              <a:prstGeom prst="rect">
                <a:avLst/>
              </a:prstGeom>
              <a:solidFill>
                <a:srgbClr val="2E231C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8757CC5E-4B95-A0A2-A863-7504CD3F1A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764221" y="150880"/>
                <a:ext cx="457200" cy="241657"/>
              </a:xfrm>
              <a:prstGeom prst="rtTriangle">
                <a:avLst/>
              </a:prstGeom>
              <a:solidFill>
                <a:srgbClr val="D7D2CB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00" name="TextBox 399">
                <a:extLst>
                  <a:ext uri="{FF2B5EF4-FFF2-40B4-BE49-F238E27FC236}">
                    <a16:creationId xmlns:a16="http://schemas.microsoft.com/office/drawing/2014/main" id="{F9A45A8A-452A-41EE-EA07-8CC99DD584DC}"/>
                  </a:ext>
                </a:extLst>
              </p:cNvPr>
              <p:cNvSpPr txBox="1"/>
              <p:nvPr/>
            </p:nvSpPr>
            <p:spPr>
              <a:xfrm>
                <a:off x="15862269" y="432642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Container</a:t>
                </a:r>
              </a:p>
            </p:txBody>
          </p:sp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D3A1515B-ED83-44A5-90A8-04D2D90420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557239"/>
                <a:ext cx="457200" cy="241657"/>
              </a:xfrm>
              <a:prstGeom prst="rect">
                <a:avLst/>
              </a:prstGeom>
              <a:solidFill>
                <a:srgbClr val="73391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defTabSz="552765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08" name="TextBox 407">
                <a:extLst>
                  <a:ext uri="{FF2B5EF4-FFF2-40B4-BE49-F238E27FC236}">
                    <a16:creationId xmlns:a16="http://schemas.microsoft.com/office/drawing/2014/main" id="{6E302397-2BBF-7DCD-AD25-E7DE6B289C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557239"/>
                <a:ext cx="457200" cy="241657"/>
              </a:xfrm>
              <a:prstGeom prst="rect">
                <a:avLst/>
              </a:prstGeom>
              <a:solidFill>
                <a:srgbClr val="45414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defTabSz="552765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BE8D524D-4F45-F0CC-8C56-2626BC91E2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557239"/>
                <a:ext cx="457200" cy="241657"/>
              </a:xfrm>
              <a:prstGeom prst="rtTriangle">
                <a:avLst/>
              </a:prstGeom>
              <a:solidFill>
                <a:srgbClr val="FFE8E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10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356"/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F96E310E-0086-5F07-3EF4-386BD439C3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557239"/>
                <a:ext cx="457200" cy="241657"/>
              </a:xfrm>
              <a:prstGeom prst="rtTriangle">
                <a:avLst/>
              </a:prstGeom>
              <a:solidFill>
                <a:srgbClr val="ECECE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10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356"/>
              </a:p>
            </p:txBody>
          </p:sp>
          <p:sp>
            <p:nvSpPr>
              <p:cNvPr id="409" name="TextBox 408">
                <a:extLst>
                  <a:ext uri="{FF2B5EF4-FFF2-40B4-BE49-F238E27FC236}">
                    <a16:creationId xmlns:a16="http://schemas.microsoft.com/office/drawing/2014/main" id="{A9329B5F-6FE4-5C52-9591-1C4A49691C8D}"/>
                  </a:ext>
                </a:extLst>
              </p:cNvPr>
              <p:cNvSpPr txBox="1"/>
              <p:nvPr/>
            </p:nvSpPr>
            <p:spPr>
              <a:xfrm>
                <a:off x="16813245" y="432642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Light overlay</a:t>
                </a:r>
              </a:p>
            </p:txBody>
          </p:sp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C5E4B481-4975-40B4-A57B-419F4FC52B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557239"/>
                <a:ext cx="457200" cy="241657"/>
              </a:xfrm>
              <a:prstGeom prst="rect">
                <a:avLst/>
              </a:prstGeom>
              <a:solidFill>
                <a:srgbClr val="FFE8E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10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356"/>
              </a:p>
            </p:txBody>
          </p:sp>
          <p:sp>
            <p:nvSpPr>
              <p:cNvPr id="411" name="TextBox 410">
                <a:extLst>
                  <a:ext uri="{FF2B5EF4-FFF2-40B4-BE49-F238E27FC236}">
                    <a16:creationId xmlns:a16="http://schemas.microsoft.com/office/drawing/2014/main" id="{74617A00-1791-9330-B914-9EE1A45A9C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557239"/>
                <a:ext cx="457200" cy="241657"/>
              </a:xfrm>
              <a:prstGeom prst="rect">
                <a:avLst/>
              </a:prstGeom>
              <a:solidFill>
                <a:srgbClr val="ECECE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10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356"/>
              </a:p>
            </p:txBody>
          </p:sp>
          <p:sp>
            <p:nvSpPr>
              <p:cNvPr id="412" name="TextBox 411">
                <a:extLst>
                  <a:ext uri="{FF2B5EF4-FFF2-40B4-BE49-F238E27FC236}">
                    <a16:creationId xmlns:a16="http://schemas.microsoft.com/office/drawing/2014/main" id="{50A4A7F4-42CF-0E2D-A057-73CED69BBD9F}"/>
                  </a:ext>
                </a:extLst>
              </p:cNvPr>
              <p:cNvSpPr txBox="1"/>
              <p:nvPr/>
            </p:nvSpPr>
            <p:spPr>
              <a:xfrm>
                <a:off x="17764221" y="432642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Dark overlay</a:t>
                </a:r>
              </a:p>
            </p:txBody>
          </p:sp>
          <p:sp>
            <p:nvSpPr>
              <p:cNvPr id="413" name="TextBox 412">
                <a:extLst>
                  <a:ext uri="{FF2B5EF4-FFF2-40B4-BE49-F238E27FC236}">
                    <a16:creationId xmlns:a16="http://schemas.microsoft.com/office/drawing/2014/main" id="{D8150879-A3DE-C534-E6FB-4EF59363E9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557239"/>
                <a:ext cx="457200" cy="241657"/>
              </a:xfrm>
              <a:prstGeom prst="rect">
                <a:avLst/>
              </a:prstGeom>
              <a:solidFill>
                <a:srgbClr val="225B6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defTabSz="552765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14" name="TextBox 413">
                <a:extLst>
                  <a:ext uri="{FF2B5EF4-FFF2-40B4-BE49-F238E27FC236}">
                    <a16:creationId xmlns:a16="http://schemas.microsoft.com/office/drawing/2014/main" id="{AB6CF411-E09A-E62C-5567-9D642E69EC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9709" y="557239"/>
                <a:ext cx="457200" cy="241657"/>
              </a:xfrm>
              <a:prstGeom prst="rect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defTabSz="552765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15" name="TextBox 414">
                <a:extLst>
                  <a:ext uri="{FF2B5EF4-FFF2-40B4-BE49-F238E27FC236}">
                    <a16:creationId xmlns:a16="http://schemas.microsoft.com/office/drawing/2014/main" id="{3C7D2BB5-A098-6BCE-4826-2BD793330B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715197" y="557239"/>
                <a:ext cx="457200" cy="241657"/>
              </a:xfrm>
              <a:prstGeom prst="rect">
                <a:avLst/>
              </a:prstGeom>
              <a:solidFill>
                <a:srgbClr val="463668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defTabSz="552765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A31353A4-996A-06A2-2359-6AE17304D1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190685" y="557239"/>
                <a:ext cx="457200" cy="241657"/>
              </a:xfrm>
              <a:prstGeom prst="rect">
                <a:avLst/>
              </a:prstGeom>
              <a:solidFill>
                <a:srgbClr val="73391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defTabSz="552765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</p:grpSp>
        <p:grpSp>
          <p:nvGrpSpPr>
            <p:cNvPr id="620" name="Group 619">
              <a:extLst>
                <a:ext uri="{FF2B5EF4-FFF2-40B4-BE49-F238E27FC236}">
                  <a16:creationId xmlns:a16="http://schemas.microsoft.com/office/drawing/2014/main" id="{F3FC32BA-F8BE-00F5-6705-1FF406E41E13}"/>
                </a:ext>
              </a:extLst>
            </p:cNvPr>
            <p:cNvGrpSpPr/>
            <p:nvPr userDrawn="1"/>
          </p:nvGrpSpPr>
          <p:grpSpPr>
            <a:xfrm>
              <a:off x="22177344" y="1014231"/>
              <a:ext cx="2834640" cy="772614"/>
              <a:chOff x="15862269" y="1033109"/>
              <a:chExt cx="2834640" cy="772614"/>
            </a:xfrm>
          </p:grpSpPr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C034EFB2-8A96-89E1-C7E6-7A1FF259A271}"/>
                  </a:ext>
                </a:extLst>
              </p:cNvPr>
              <p:cNvSpPr txBox="1"/>
              <p:nvPr/>
            </p:nvSpPr>
            <p:spPr>
              <a:xfrm>
                <a:off x="15862269" y="1033109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415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2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50F7ACCB-4E2C-FDA4-F4BF-6EA6A1AEE8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1157707"/>
                <a:ext cx="457200" cy="241657"/>
              </a:xfrm>
              <a:prstGeom prst="rect">
                <a:avLst/>
              </a:prstGeom>
              <a:solidFill>
                <a:srgbClr val="318581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92A803B6-7D5B-72EB-D763-85A936E945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1157707"/>
                <a:ext cx="457200" cy="241657"/>
              </a:xfrm>
              <a:prstGeom prst="rect">
                <a:avLst/>
              </a:prstGeom>
              <a:solidFill>
                <a:srgbClr val="0A6BB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kumimoji="0" lang="en-CA" sz="296" b="1" i="0" u="none" strike="noStrike" kern="1200" cap="none" spc="0" normalizeH="0" baseline="0" noProof="0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UI" pitchFamily="34" charset="0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EB8A1883-05AB-91A9-4BC0-5EC5FF3738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1157707"/>
                <a:ext cx="457200" cy="241657"/>
              </a:xfrm>
              <a:prstGeom prst="rtTriangle">
                <a:avLst/>
              </a:prstGeom>
              <a:solidFill>
                <a:srgbClr val="41AFA1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20E3824-09A4-EF78-4B82-C419086E00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1157707"/>
                <a:ext cx="457200" cy="241657"/>
              </a:xfrm>
              <a:prstGeom prst="rtTriangle">
                <a:avLst/>
              </a:prstGeom>
              <a:solidFill>
                <a:srgbClr val="46A0DE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9E2F93E1-73C2-CC6E-B509-881942BAA365}"/>
                  </a:ext>
                </a:extLst>
              </p:cNvPr>
              <p:cNvSpPr txBox="1"/>
              <p:nvPr/>
            </p:nvSpPr>
            <p:spPr>
              <a:xfrm>
                <a:off x="16813245" y="1033109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Colored header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6739ECC9-8431-295F-7348-0CE8D9512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1157707"/>
                <a:ext cx="457200" cy="241657"/>
              </a:xfrm>
              <a:prstGeom prst="rect">
                <a:avLst/>
              </a:prstGeom>
              <a:solidFill>
                <a:srgbClr val="112D31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37" name="TextBox 436">
                <a:extLst>
                  <a:ext uri="{FF2B5EF4-FFF2-40B4-BE49-F238E27FC236}">
                    <a16:creationId xmlns:a16="http://schemas.microsoft.com/office/drawing/2014/main" id="{B7728DC5-3B92-22ED-5D22-B26AD3B51C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13245" y="1157707"/>
                <a:ext cx="457200" cy="241657"/>
              </a:xfrm>
              <a:prstGeom prst="rtTriangle">
                <a:avLst/>
              </a:prstGeom>
              <a:solidFill>
                <a:srgbClr val="B9DCD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38" name="TextBox 437">
                <a:extLst>
                  <a:ext uri="{FF2B5EF4-FFF2-40B4-BE49-F238E27FC236}">
                    <a16:creationId xmlns:a16="http://schemas.microsoft.com/office/drawing/2014/main" id="{F888CFE8-4292-7EFB-BBD9-08B97F5E380E}"/>
                  </a:ext>
                </a:extLst>
              </p:cNvPr>
              <p:cNvSpPr txBox="1"/>
              <p:nvPr/>
            </p:nvSpPr>
            <p:spPr>
              <a:xfrm>
                <a:off x="15862269" y="1439469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Container</a:t>
                </a:r>
              </a:p>
            </p:txBody>
          </p:sp>
          <p:sp>
            <p:nvSpPr>
              <p:cNvPr id="439" name="TextBox 438">
                <a:extLst>
                  <a:ext uri="{FF2B5EF4-FFF2-40B4-BE49-F238E27FC236}">
                    <a16:creationId xmlns:a16="http://schemas.microsoft.com/office/drawing/2014/main" id="{35009DD5-2607-8C7F-0865-6C7D8BBE7F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1564066"/>
                <a:ext cx="457200" cy="241657"/>
              </a:xfrm>
              <a:prstGeom prst="rect">
                <a:avLst/>
              </a:prstGeom>
              <a:solidFill>
                <a:srgbClr val="225B62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40" name="TextBox 439">
                <a:extLst>
                  <a:ext uri="{FF2B5EF4-FFF2-40B4-BE49-F238E27FC236}">
                    <a16:creationId xmlns:a16="http://schemas.microsoft.com/office/drawing/2014/main" id="{A8B5F44D-9AB7-9E54-6745-678A6CCDFA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1564066"/>
                <a:ext cx="457200" cy="241657"/>
              </a:xfrm>
              <a:prstGeom prst="rect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41" name="TextBox 440">
                <a:extLst>
                  <a:ext uri="{FF2B5EF4-FFF2-40B4-BE49-F238E27FC236}">
                    <a16:creationId xmlns:a16="http://schemas.microsoft.com/office/drawing/2014/main" id="{188BCF21-5794-9DC7-2C8E-210BB1ECB7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1564066"/>
                <a:ext cx="457200" cy="241657"/>
              </a:xfrm>
              <a:prstGeom prst="rtTriangle">
                <a:avLst/>
              </a:prstGeom>
              <a:solidFill>
                <a:srgbClr val="FFF8E5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42" name="TextBox 441">
                <a:extLst>
                  <a:ext uri="{FF2B5EF4-FFF2-40B4-BE49-F238E27FC236}">
                    <a16:creationId xmlns:a16="http://schemas.microsoft.com/office/drawing/2014/main" id="{C7B71E8C-D55E-B75E-5301-6FF8064172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1564066"/>
                <a:ext cx="457200" cy="241657"/>
              </a:xfrm>
              <a:prstGeom prst="rtTriangle">
                <a:avLst/>
              </a:prstGeom>
              <a:solidFill>
                <a:srgbClr val="DCEDE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43" name="TextBox 442">
                <a:extLst>
                  <a:ext uri="{FF2B5EF4-FFF2-40B4-BE49-F238E27FC236}">
                    <a16:creationId xmlns:a16="http://schemas.microsoft.com/office/drawing/2014/main" id="{150B469B-131D-28B8-5B2D-73408D312C99}"/>
                  </a:ext>
                </a:extLst>
              </p:cNvPr>
              <p:cNvSpPr txBox="1"/>
              <p:nvPr/>
            </p:nvSpPr>
            <p:spPr>
              <a:xfrm>
                <a:off x="16813245" y="1439469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Light overlay</a:t>
                </a:r>
              </a:p>
            </p:txBody>
          </p:sp>
          <p:sp>
            <p:nvSpPr>
              <p:cNvPr id="444" name="TextBox 443">
                <a:extLst>
                  <a:ext uri="{FF2B5EF4-FFF2-40B4-BE49-F238E27FC236}">
                    <a16:creationId xmlns:a16="http://schemas.microsoft.com/office/drawing/2014/main" id="{9B03CF1C-ADF3-64D9-2B6F-0C3FD97AD2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1564066"/>
                <a:ext cx="457200" cy="241657"/>
              </a:xfrm>
              <a:prstGeom prst="rect">
                <a:avLst/>
              </a:prstGeom>
              <a:solidFill>
                <a:srgbClr val="FFF8E5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45" name="TextBox 444">
                <a:extLst>
                  <a:ext uri="{FF2B5EF4-FFF2-40B4-BE49-F238E27FC236}">
                    <a16:creationId xmlns:a16="http://schemas.microsoft.com/office/drawing/2014/main" id="{50CFC6CF-5950-2E7D-5101-A72908C724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1564066"/>
                <a:ext cx="457200" cy="241657"/>
              </a:xfrm>
              <a:prstGeom prst="rect">
                <a:avLst/>
              </a:prstGeom>
              <a:solidFill>
                <a:srgbClr val="DCEDE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46" name="TextBox 445">
                <a:extLst>
                  <a:ext uri="{FF2B5EF4-FFF2-40B4-BE49-F238E27FC236}">
                    <a16:creationId xmlns:a16="http://schemas.microsoft.com/office/drawing/2014/main" id="{0B6CAD46-BCDD-9277-07A3-DC651B66B655}"/>
                  </a:ext>
                </a:extLst>
              </p:cNvPr>
              <p:cNvSpPr txBox="1"/>
              <p:nvPr/>
            </p:nvSpPr>
            <p:spPr>
              <a:xfrm>
                <a:off x="17764221" y="1439469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Dark overlay</a:t>
                </a:r>
              </a:p>
            </p:txBody>
          </p:sp>
          <p:sp>
            <p:nvSpPr>
              <p:cNvPr id="447" name="TextBox 446">
                <a:extLst>
                  <a:ext uri="{FF2B5EF4-FFF2-40B4-BE49-F238E27FC236}">
                    <a16:creationId xmlns:a16="http://schemas.microsoft.com/office/drawing/2014/main" id="{48EB6D9B-F700-4928-61A4-60F192784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1564066"/>
                <a:ext cx="457200" cy="241657"/>
              </a:xfrm>
              <a:prstGeom prst="rect">
                <a:avLst/>
              </a:prstGeom>
              <a:solidFill>
                <a:srgbClr val="225B62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48" name="TextBox 447">
                <a:extLst>
                  <a:ext uri="{FF2B5EF4-FFF2-40B4-BE49-F238E27FC236}">
                    <a16:creationId xmlns:a16="http://schemas.microsoft.com/office/drawing/2014/main" id="{3E0E44AE-D154-2594-EA4B-1E28D018D5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9709" y="1564066"/>
                <a:ext cx="457200" cy="241657"/>
              </a:xfrm>
              <a:prstGeom prst="rect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</p:grpSp>
        <p:grpSp>
          <p:nvGrpSpPr>
            <p:cNvPr id="619" name="Group 618">
              <a:extLst>
                <a:ext uri="{FF2B5EF4-FFF2-40B4-BE49-F238E27FC236}">
                  <a16:creationId xmlns:a16="http://schemas.microsoft.com/office/drawing/2014/main" id="{D7B71B1A-96AB-D2E2-72C5-CECE6A1FC10B}"/>
                </a:ext>
              </a:extLst>
            </p:cNvPr>
            <p:cNvGrpSpPr/>
            <p:nvPr userDrawn="1"/>
          </p:nvGrpSpPr>
          <p:grpSpPr>
            <a:xfrm>
              <a:off x="22177344" y="2028462"/>
              <a:ext cx="2834640" cy="772614"/>
              <a:chOff x="15862269" y="2039936"/>
              <a:chExt cx="2834640" cy="772614"/>
            </a:xfrm>
          </p:grpSpPr>
          <p:sp>
            <p:nvSpPr>
              <p:cNvPr id="457" name="TextBox 456">
                <a:extLst>
                  <a:ext uri="{FF2B5EF4-FFF2-40B4-BE49-F238E27FC236}">
                    <a16:creationId xmlns:a16="http://schemas.microsoft.com/office/drawing/2014/main" id="{DF7E1244-6B26-B70B-26E2-53710EE41E00}"/>
                  </a:ext>
                </a:extLst>
              </p:cNvPr>
              <p:cNvSpPr txBox="1"/>
              <p:nvPr/>
            </p:nvSpPr>
            <p:spPr>
              <a:xfrm>
                <a:off x="15862269" y="2039936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415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3</a:t>
                </a:r>
              </a:p>
            </p:txBody>
          </p:sp>
          <p:sp>
            <p:nvSpPr>
              <p:cNvPr id="462" name="TextBox 461">
                <a:extLst>
                  <a:ext uri="{FF2B5EF4-FFF2-40B4-BE49-F238E27FC236}">
                    <a16:creationId xmlns:a16="http://schemas.microsoft.com/office/drawing/2014/main" id="{AF230B4A-891D-CFC4-3255-E47D91438DBE}"/>
                  </a:ext>
                </a:extLst>
              </p:cNvPr>
              <p:cNvSpPr txBox="1"/>
              <p:nvPr/>
            </p:nvSpPr>
            <p:spPr>
              <a:xfrm>
                <a:off x="16813245" y="2039936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Colored header</a:t>
                </a:r>
              </a:p>
            </p:txBody>
          </p:sp>
          <p:sp>
            <p:nvSpPr>
              <p:cNvPr id="475" name="TextBox 474">
                <a:extLst>
                  <a:ext uri="{FF2B5EF4-FFF2-40B4-BE49-F238E27FC236}">
                    <a16:creationId xmlns:a16="http://schemas.microsoft.com/office/drawing/2014/main" id="{EA869219-2E80-0D60-2CB9-AD6C7A1F8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2164534"/>
                <a:ext cx="457200" cy="241657"/>
              </a:xfrm>
              <a:prstGeom prst="rect">
                <a:avLst/>
              </a:prstGeom>
              <a:solidFill>
                <a:srgbClr val="152237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76" name="TextBox 475">
                <a:extLst>
                  <a:ext uri="{FF2B5EF4-FFF2-40B4-BE49-F238E27FC236}">
                    <a16:creationId xmlns:a16="http://schemas.microsoft.com/office/drawing/2014/main" id="{14F70B3B-A193-6F1E-E820-D6BFBD53CE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13245" y="2164534"/>
                <a:ext cx="457200" cy="241657"/>
              </a:xfrm>
              <a:prstGeom prst="rtTriangle">
                <a:avLst/>
              </a:prstGeom>
              <a:solidFill>
                <a:srgbClr val="E2F1F9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CB06F8B2-24BC-28FE-799D-0A628C3AEAFD}"/>
                  </a:ext>
                </a:extLst>
              </p:cNvPr>
              <p:cNvSpPr txBox="1"/>
              <p:nvPr/>
            </p:nvSpPr>
            <p:spPr>
              <a:xfrm>
                <a:off x="15862269" y="2446296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Container</a:t>
                </a:r>
              </a:p>
            </p:txBody>
          </p:sp>
          <p:sp>
            <p:nvSpPr>
              <p:cNvPr id="465" name="TextBox 464">
                <a:extLst>
                  <a:ext uri="{FF2B5EF4-FFF2-40B4-BE49-F238E27FC236}">
                    <a16:creationId xmlns:a16="http://schemas.microsoft.com/office/drawing/2014/main" id="{B26151E5-D5BB-AB8E-FCDD-072A14DB57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2570893"/>
                <a:ext cx="457200" cy="241657"/>
              </a:xfrm>
              <a:prstGeom prst="rect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66" name="TextBox 465">
                <a:extLst>
                  <a:ext uri="{FF2B5EF4-FFF2-40B4-BE49-F238E27FC236}">
                    <a16:creationId xmlns:a16="http://schemas.microsoft.com/office/drawing/2014/main" id="{CE2AA5FD-246C-180C-E12A-B868DB225D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2570893"/>
                <a:ext cx="457200" cy="241657"/>
              </a:xfrm>
              <a:prstGeom prst="rect">
                <a:avLst/>
              </a:prstGeom>
              <a:solidFill>
                <a:srgbClr val="46366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17CCA940-906A-EAF0-3884-C67B5776695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2570893"/>
                <a:ext cx="457200" cy="241657"/>
              </a:xfrm>
              <a:prstGeom prst="rtTriangle">
                <a:avLst/>
              </a:prstGeom>
              <a:solidFill>
                <a:srgbClr val="EACEEB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68" name="TextBox 467">
                <a:extLst>
                  <a:ext uri="{FF2B5EF4-FFF2-40B4-BE49-F238E27FC236}">
                    <a16:creationId xmlns:a16="http://schemas.microsoft.com/office/drawing/2014/main" id="{B1F34765-4877-031C-F605-07016B7898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2570893"/>
                <a:ext cx="457200" cy="241657"/>
              </a:xfrm>
              <a:prstGeom prst="rtTriangle">
                <a:avLst/>
              </a:prstGeom>
              <a:solidFill>
                <a:srgbClr val="E2F1F9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69" name="TextBox 468">
                <a:extLst>
                  <a:ext uri="{FF2B5EF4-FFF2-40B4-BE49-F238E27FC236}">
                    <a16:creationId xmlns:a16="http://schemas.microsoft.com/office/drawing/2014/main" id="{F049D8FE-F339-B11D-0C9D-DCB52435751A}"/>
                  </a:ext>
                </a:extLst>
              </p:cNvPr>
              <p:cNvSpPr txBox="1"/>
              <p:nvPr/>
            </p:nvSpPr>
            <p:spPr>
              <a:xfrm>
                <a:off x="16813245" y="2446296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Light overlay</a:t>
                </a:r>
              </a:p>
            </p:txBody>
          </p:sp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709219A5-4025-2820-4BBB-97C2AF8CAF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2570893"/>
                <a:ext cx="457200" cy="241657"/>
              </a:xfrm>
              <a:prstGeom prst="rect">
                <a:avLst/>
              </a:prstGeom>
              <a:solidFill>
                <a:srgbClr val="EACEEB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71" name="TextBox 470">
                <a:extLst>
                  <a:ext uri="{FF2B5EF4-FFF2-40B4-BE49-F238E27FC236}">
                    <a16:creationId xmlns:a16="http://schemas.microsoft.com/office/drawing/2014/main" id="{DBBF5083-E480-BCC8-192C-A6F4024AE8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2570893"/>
                <a:ext cx="457200" cy="241657"/>
              </a:xfrm>
              <a:prstGeom prst="rect">
                <a:avLst/>
              </a:prstGeom>
              <a:solidFill>
                <a:srgbClr val="E2F1F9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72" name="TextBox 471">
                <a:extLst>
                  <a:ext uri="{FF2B5EF4-FFF2-40B4-BE49-F238E27FC236}">
                    <a16:creationId xmlns:a16="http://schemas.microsoft.com/office/drawing/2014/main" id="{F27FA343-B9B0-7665-D8DC-4732CB5A6CB5}"/>
                  </a:ext>
                </a:extLst>
              </p:cNvPr>
              <p:cNvSpPr txBox="1"/>
              <p:nvPr/>
            </p:nvSpPr>
            <p:spPr>
              <a:xfrm>
                <a:off x="17764221" y="2446296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Dark overlay</a:t>
                </a:r>
              </a:p>
            </p:txBody>
          </p:sp>
          <p:sp>
            <p:nvSpPr>
              <p:cNvPr id="473" name="TextBox 472">
                <a:extLst>
                  <a:ext uri="{FF2B5EF4-FFF2-40B4-BE49-F238E27FC236}">
                    <a16:creationId xmlns:a16="http://schemas.microsoft.com/office/drawing/2014/main" id="{DAEAA79B-F9ED-369C-1C07-302230F522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2570893"/>
                <a:ext cx="457200" cy="241657"/>
              </a:xfrm>
              <a:prstGeom prst="rect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74" name="TextBox 473">
                <a:extLst>
                  <a:ext uri="{FF2B5EF4-FFF2-40B4-BE49-F238E27FC236}">
                    <a16:creationId xmlns:a16="http://schemas.microsoft.com/office/drawing/2014/main" id="{B60D58BB-4DC2-0C7D-9873-AE0D24F6EF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9709" y="2570893"/>
                <a:ext cx="457200" cy="241657"/>
              </a:xfrm>
              <a:prstGeom prst="rect">
                <a:avLst/>
              </a:prstGeom>
              <a:solidFill>
                <a:srgbClr val="46366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83" name="TextBox 482">
                <a:extLst>
                  <a:ext uri="{FF2B5EF4-FFF2-40B4-BE49-F238E27FC236}">
                    <a16:creationId xmlns:a16="http://schemas.microsoft.com/office/drawing/2014/main" id="{6C340C09-2AB0-C1DE-C76E-ADAE542682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2164534"/>
                <a:ext cx="457200" cy="241657"/>
              </a:xfrm>
              <a:prstGeom prst="rect">
                <a:avLst/>
              </a:prstGeom>
              <a:solidFill>
                <a:srgbClr val="AC35A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82" name="TextBox 481">
                <a:extLst>
                  <a:ext uri="{FF2B5EF4-FFF2-40B4-BE49-F238E27FC236}">
                    <a16:creationId xmlns:a16="http://schemas.microsoft.com/office/drawing/2014/main" id="{B188153C-5537-23F5-521D-43073F656E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2164534"/>
                <a:ext cx="457200" cy="241657"/>
              </a:xfrm>
              <a:prstGeom prst="rect">
                <a:avLst/>
              </a:prstGeom>
              <a:solidFill>
                <a:srgbClr val="0A6BB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kumimoji="0" lang="en-CA" sz="296" b="1" i="0" u="none" strike="noStrike" kern="1200" cap="none" spc="0" normalizeH="0" baseline="0" noProof="0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UI" pitchFamily="34" charset="0"/>
                </a:endParaRPr>
              </a:p>
            </p:txBody>
          </p:sp>
          <p:sp>
            <p:nvSpPr>
              <p:cNvPr id="484" name="TextBox 483">
                <a:extLst>
                  <a:ext uri="{FF2B5EF4-FFF2-40B4-BE49-F238E27FC236}">
                    <a16:creationId xmlns:a16="http://schemas.microsoft.com/office/drawing/2014/main" id="{14016A7E-918E-2098-B94C-A6FFBD6B93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2164534"/>
                <a:ext cx="457200" cy="241657"/>
              </a:xfrm>
              <a:prstGeom prst="rtTriangle">
                <a:avLst/>
              </a:prstGeom>
              <a:solidFill>
                <a:srgbClr val="46A0DE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85" name="TextBox 484">
                <a:extLst>
                  <a:ext uri="{FF2B5EF4-FFF2-40B4-BE49-F238E27FC236}">
                    <a16:creationId xmlns:a16="http://schemas.microsoft.com/office/drawing/2014/main" id="{58025C51-262E-DBDA-2C7A-F35EF6C5AD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2164534"/>
                <a:ext cx="457200" cy="241657"/>
              </a:xfrm>
              <a:prstGeom prst="rtTriangle">
                <a:avLst/>
              </a:prstGeom>
              <a:solidFill>
                <a:srgbClr val="CA6CC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</p:grp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A9AD83B2-0995-B1FA-C471-D6D15B374937}"/>
                </a:ext>
              </a:extLst>
            </p:cNvPr>
            <p:cNvGrpSpPr/>
            <p:nvPr userDrawn="1"/>
          </p:nvGrpSpPr>
          <p:grpSpPr>
            <a:xfrm>
              <a:off x="22177344" y="3042693"/>
              <a:ext cx="2834640" cy="772614"/>
              <a:chOff x="15862269" y="3046763"/>
              <a:chExt cx="2834640" cy="772614"/>
            </a:xfrm>
          </p:grpSpPr>
          <p:sp>
            <p:nvSpPr>
              <p:cNvPr id="489" name="TextBox 488">
                <a:extLst>
                  <a:ext uri="{FF2B5EF4-FFF2-40B4-BE49-F238E27FC236}">
                    <a16:creationId xmlns:a16="http://schemas.microsoft.com/office/drawing/2014/main" id="{EFE05FD8-8197-EB80-6862-B81F07B70C58}"/>
                  </a:ext>
                </a:extLst>
              </p:cNvPr>
              <p:cNvSpPr txBox="1"/>
              <p:nvPr/>
            </p:nvSpPr>
            <p:spPr>
              <a:xfrm>
                <a:off x="15862269" y="3046763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415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4</a:t>
                </a:r>
              </a:p>
            </p:txBody>
          </p:sp>
          <p:sp>
            <p:nvSpPr>
              <p:cNvPr id="490" name="TextBox 489">
                <a:extLst>
                  <a:ext uri="{FF2B5EF4-FFF2-40B4-BE49-F238E27FC236}">
                    <a16:creationId xmlns:a16="http://schemas.microsoft.com/office/drawing/2014/main" id="{08A73339-5424-3B39-FE92-2508F95CC66C}"/>
                  </a:ext>
                </a:extLst>
              </p:cNvPr>
              <p:cNvSpPr txBox="1"/>
              <p:nvPr/>
            </p:nvSpPr>
            <p:spPr>
              <a:xfrm>
                <a:off x="16813245" y="3046763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Colored header</a:t>
                </a:r>
              </a:p>
            </p:txBody>
          </p:sp>
          <p:sp>
            <p:nvSpPr>
              <p:cNvPr id="492" name="TextBox 491">
                <a:extLst>
                  <a:ext uri="{FF2B5EF4-FFF2-40B4-BE49-F238E27FC236}">
                    <a16:creationId xmlns:a16="http://schemas.microsoft.com/office/drawing/2014/main" id="{CDEDFE6D-7C57-160B-36B2-1A99156FF8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3171361"/>
                <a:ext cx="457200" cy="241657"/>
              </a:xfrm>
              <a:prstGeom prst="rect">
                <a:avLst/>
              </a:prstGeom>
              <a:solidFill>
                <a:srgbClr val="381239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93" name="TextBox 492">
                <a:extLst>
                  <a:ext uri="{FF2B5EF4-FFF2-40B4-BE49-F238E27FC236}">
                    <a16:creationId xmlns:a16="http://schemas.microsoft.com/office/drawing/2014/main" id="{31F980B4-F204-C03B-5843-4F5711E990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13245" y="3171361"/>
                <a:ext cx="457200" cy="241657"/>
              </a:xfrm>
              <a:prstGeom prst="rtTriangle">
                <a:avLst/>
              </a:prstGeom>
              <a:solidFill>
                <a:srgbClr val="EACEEB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494" name="TextBox 493">
                <a:extLst>
                  <a:ext uri="{FF2B5EF4-FFF2-40B4-BE49-F238E27FC236}">
                    <a16:creationId xmlns:a16="http://schemas.microsoft.com/office/drawing/2014/main" id="{237C2954-70E2-9D17-3FF6-D5234D785BD2}"/>
                  </a:ext>
                </a:extLst>
              </p:cNvPr>
              <p:cNvSpPr txBox="1"/>
              <p:nvPr/>
            </p:nvSpPr>
            <p:spPr>
              <a:xfrm>
                <a:off x="15862269" y="3453123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Container</a:t>
                </a:r>
              </a:p>
            </p:txBody>
          </p:sp>
          <p:sp>
            <p:nvSpPr>
              <p:cNvPr id="495" name="TextBox 494">
                <a:extLst>
                  <a:ext uri="{FF2B5EF4-FFF2-40B4-BE49-F238E27FC236}">
                    <a16:creationId xmlns:a16="http://schemas.microsoft.com/office/drawing/2014/main" id="{5F5A7FE8-05E9-5F8E-E20C-3EA22B0E43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3577720"/>
                <a:ext cx="457200" cy="241657"/>
              </a:xfrm>
              <a:prstGeom prst="rect">
                <a:avLst/>
              </a:prstGeom>
              <a:solidFill>
                <a:srgbClr val="46366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96" name="TextBox 495">
                <a:extLst>
                  <a:ext uri="{FF2B5EF4-FFF2-40B4-BE49-F238E27FC236}">
                    <a16:creationId xmlns:a16="http://schemas.microsoft.com/office/drawing/2014/main" id="{B3461C33-E77A-F558-7E2D-970A08F90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3577720"/>
                <a:ext cx="457200" cy="241657"/>
              </a:xfrm>
              <a:prstGeom prst="rect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97" name="TextBox 496">
                <a:extLst>
                  <a:ext uri="{FF2B5EF4-FFF2-40B4-BE49-F238E27FC236}">
                    <a16:creationId xmlns:a16="http://schemas.microsoft.com/office/drawing/2014/main" id="{650417A0-50C5-6AAA-9161-7CD8185DB7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3577720"/>
                <a:ext cx="457200" cy="241657"/>
              </a:xfrm>
              <a:prstGeom prst="rtTriangle">
                <a:avLst/>
              </a:prstGeom>
              <a:solidFill>
                <a:srgbClr val="FFD9DD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98" name="TextBox 497">
                <a:extLst>
                  <a:ext uri="{FF2B5EF4-FFF2-40B4-BE49-F238E27FC236}">
                    <a16:creationId xmlns:a16="http://schemas.microsoft.com/office/drawing/2014/main" id="{43AA4F6E-953C-C372-76EF-543DDE7E43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3577720"/>
                <a:ext cx="457200" cy="241657"/>
              </a:xfrm>
              <a:prstGeom prst="rtTriangle">
                <a:avLst/>
              </a:prstGeom>
              <a:solidFill>
                <a:srgbClr val="EACEEB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499" name="TextBox 498">
                <a:extLst>
                  <a:ext uri="{FF2B5EF4-FFF2-40B4-BE49-F238E27FC236}">
                    <a16:creationId xmlns:a16="http://schemas.microsoft.com/office/drawing/2014/main" id="{3FED5E3E-3AE9-64A1-58CA-E9012AB9B677}"/>
                  </a:ext>
                </a:extLst>
              </p:cNvPr>
              <p:cNvSpPr txBox="1"/>
              <p:nvPr/>
            </p:nvSpPr>
            <p:spPr>
              <a:xfrm>
                <a:off x="16813245" y="3453123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Light overlay</a:t>
                </a:r>
              </a:p>
            </p:txBody>
          </p:sp>
          <p:sp>
            <p:nvSpPr>
              <p:cNvPr id="500" name="TextBox 499">
                <a:extLst>
                  <a:ext uri="{FF2B5EF4-FFF2-40B4-BE49-F238E27FC236}">
                    <a16:creationId xmlns:a16="http://schemas.microsoft.com/office/drawing/2014/main" id="{BB9CA803-DDC1-6231-C1B9-B0AFB55196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3577720"/>
                <a:ext cx="457200" cy="241657"/>
              </a:xfrm>
              <a:prstGeom prst="rect">
                <a:avLst/>
              </a:prstGeom>
              <a:solidFill>
                <a:srgbClr val="FFD9DD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01" name="TextBox 500">
                <a:extLst>
                  <a:ext uri="{FF2B5EF4-FFF2-40B4-BE49-F238E27FC236}">
                    <a16:creationId xmlns:a16="http://schemas.microsoft.com/office/drawing/2014/main" id="{20A7CC5F-9E2E-8436-A325-22857CE3BC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3577720"/>
                <a:ext cx="457200" cy="241657"/>
              </a:xfrm>
              <a:prstGeom prst="rect">
                <a:avLst/>
              </a:prstGeom>
              <a:solidFill>
                <a:srgbClr val="EACEEB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02" name="TextBox 501">
                <a:extLst>
                  <a:ext uri="{FF2B5EF4-FFF2-40B4-BE49-F238E27FC236}">
                    <a16:creationId xmlns:a16="http://schemas.microsoft.com/office/drawing/2014/main" id="{B867A9DF-99F3-8623-7232-CC3CD0206502}"/>
                  </a:ext>
                </a:extLst>
              </p:cNvPr>
              <p:cNvSpPr txBox="1"/>
              <p:nvPr/>
            </p:nvSpPr>
            <p:spPr>
              <a:xfrm>
                <a:off x="17764221" y="3453123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Dark overlay</a:t>
                </a:r>
              </a:p>
            </p:txBody>
          </p:sp>
          <p:sp>
            <p:nvSpPr>
              <p:cNvPr id="503" name="TextBox 502">
                <a:extLst>
                  <a:ext uri="{FF2B5EF4-FFF2-40B4-BE49-F238E27FC236}">
                    <a16:creationId xmlns:a16="http://schemas.microsoft.com/office/drawing/2014/main" id="{86557EA9-6E67-B3DE-1AF8-A171B860D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3577720"/>
                <a:ext cx="457200" cy="241657"/>
              </a:xfrm>
              <a:prstGeom prst="rect">
                <a:avLst/>
              </a:prstGeom>
              <a:solidFill>
                <a:srgbClr val="46366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04" name="TextBox 503">
                <a:extLst>
                  <a:ext uri="{FF2B5EF4-FFF2-40B4-BE49-F238E27FC236}">
                    <a16:creationId xmlns:a16="http://schemas.microsoft.com/office/drawing/2014/main" id="{E4EB86BC-8401-8C5E-F150-717540B744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9709" y="3577720"/>
                <a:ext cx="457200" cy="241657"/>
              </a:xfrm>
              <a:prstGeom prst="rect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11" name="TextBox 510">
                <a:extLst>
                  <a:ext uri="{FF2B5EF4-FFF2-40B4-BE49-F238E27FC236}">
                    <a16:creationId xmlns:a16="http://schemas.microsoft.com/office/drawing/2014/main" id="{239EF564-8C05-81F0-069A-495FFE5C49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3171361"/>
                <a:ext cx="457200" cy="241657"/>
              </a:xfrm>
              <a:prstGeom prst="rect">
                <a:avLst/>
              </a:prstGeom>
              <a:solidFill>
                <a:srgbClr val="AC35A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512" name="TextBox 511">
                <a:extLst>
                  <a:ext uri="{FF2B5EF4-FFF2-40B4-BE49-F238E27FC236}">
                    <a16:creationId xmlns:a16="http://schemas.microsoft.com/office/drawing/2014/main" id="{E59D3D30-7FC6-4ED3-E544-0F2EDA0FCD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3171361"/>
                <a:ext cx="457200" cy="241657"/>
              </a:xfrm>
              <a:prstGeom prst="rect">
                <a:avLst/>
              </a:prstGeom>
              <a:solidFill>
                <a:srgbClr val="F65567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513" name="TextBox 512">
                <a:extLst>
                  <a:ext uri="{FF2B5EF4-FFF2-40B4-BE49-F238E27FC236}">
                    <a16:creationId xmlns:a16="http://schemas.microsoft.com/office/drawing/2014/main" id="{5CD3CBD4-EF22-D248-B764-B6B81C42AF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3171361"/>
                <a:ext cx="457200" cy="241657"/>
              </a:xfrm>
              <a:prstGeom prst="rtTriangle">
                <a:avLst/>
              </a:prstGeom>
              <a:solidFill>
                <a:srgbClr val="CA6CC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514" name="TextBox 513">
                <a:extLst>
                  <a:ext uri="{FF2B5EF4-FFF2-40B4-BE49-F238E27FC236}">
                    <a16:creationId xmlns:a16="http://schemas.microsoft.com/office/drawing/2014/main" id="{7FB3C1ED-6063-2FAC-36DB-756188F5FB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3171361"/>
                <a:ext cx="457200" cy="241657"/>
              </a:xfrm>
              <a:prstGeom prst="rtTriangle">
                <a:avLst/>
              </a:prstGeom>
              <a:solidFill>
                <a:srgbClr val="F97483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</p:grpSp>
        <p:grpSp>
          <p:nvGrpSpPr>
            <p:cNvPr id="617" name="Group 616">
              <a:extLst>
                <a:ext uri="{FF2B5EF4-FFF2-40B4-BE49-F238E27FC236}">
                  <a16:creationId xmlns:a16="http://schemas.microsoft.com/office/drawing/2014/main" id="{6FD9DF8B-9621-8B7B-0716-D78A3E8DBCED}"/>
                </a:ext>
              </a:extLst>
            </p:cNvPr>
            <p:cNvGrpSpPr/>
            <p:nvPr userDrawn="1"/>
          </p:nvGrpSpPr>
          <p:grpSpPr>
            <a:xfrm>
              <a:off x="22177344" y="4056924"/>
              <a:ext cx="2834640" cy="772614"/>
              <a:chOff x="15862269" y="4053590"/>
              <a:chExt cx="2834640" cy="772614"/>
            </a:xfrm>
          </p:grpSpPr>
          <p:sp>
            <p:nvSpPr>
              <p:cNvPr id="524" name="TextBox 523">
                <a:extLst>
                  <a:ext uri="{FF2B5EF4-FFF2-40B4-BE49-F238E27FC236}">
                    <a16:creationId xmlns:a16="http://schemas.microsoft.com/office/drawing/2014/main" id="{9AB6BF31-C14E-FC55-3A1A-48CEBE17C69C}"/>
                  </a:ext>
                </a:extLst>
              </p:cNvPr>
              <p:cNvSpPr txBox="1"/>
              <p:nvPr/>
            </p:nvSpPr>
            <p:spPr>
              <a:xfrm>
                <a:off x="15862269" y="4053590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415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5</a:t>
                </a:r>
              </a:p>
            </p:txBody>
          </p:sp>
          <p:sp>
            <p:nvSpPr>
              <p:cNvPr id="525" name="TextBox 524">
                <a:extLst>
                  <a:ext uri="{FF2B5EF4-FFF2-40B4-BE49-F238E27FC236}">
                    <a16:creationId xmlns:a16="http://schemas.microsoft.com/office/drawing/2014/main" id="{1A8C864F-F191-733B-7C06-504B253FAF5E}"/>
                  </a:ext>
                </a:extLst>
              </p:cNvPr>
              <p:cNvSpPr txBox="1"/>
              <p:nvPr/>
            </p:nvSpPr>
            <p:spPr>
              <a:xfrm>
                <a:off x="16813245" y="4053590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Colored header</a:t>
                </a:r>
              </a:p>
            </p:txBody>
          </p:sp>
          <p:sp>
            <p:nvSpPr>
              <p:cNvPr id="527" name="TextBox 526">
                <a:extLst>
                  <a:ext uri="{FF2B5EF4-FFF2-40B4-BE49-F238E27FC236}">
                    <a16:creationId xmlns:a16="http://schemas.microsoft.com/office/drawing/2014/main" id="{BE957F1C-B22B-AFC6-D538-ED6FF1C445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4178188"/>
                <a:ext cx="457200" cy="241657"/>
              </a:xfrm>
              <a:prstGeom prst="rect">
                <a:avLst/>
              </a:prstGeom>
              <a:solidFill>
                <a:srgbClr val="112D31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28" name="TextBox 527">
                <a:extLst>
                  <a:ext uri="{FF2B5EF4-FFF2-40B4-BE49-F238E27FC236}">
                    <a16:creationId xmlns:a16="http://schemas.microsoft.com/office/drawing/2014/main" id="{AC63BA88-EADD-1108-E03E-AF62FB8EF0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13245" y="4178188"/>
                <a:ext cx="457200" cy="241657"/>
              </a:xfrm>
              <a:prstGeom prst="rtTriangle">
                <a:avLst/>
              </a:prstGeom>
              <a:solidFill>
                <a:srgbClr val="B9DCD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6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356"/>
              </a:p>
            </p:txBody>
          </p:sp>
          <p:sp>
            <p:nvSpPr>
              <p:cNvPr id="529" name="TextBox 528">
                <a:extLst>
                  <a:ext uri="{FF2B5EF4-FFF2-40B4-BE49-F238E27FC236}">
                    <a16:creationId xmlns:a16="http://schemas.microsoft.com/office/drawing/2014/main" id="{DC52ED55-FD53-8522-E35B-D190C14622AC}"/>
                  </a:ext>
                </a:extLst>
              </p:cNvPr>
              <p:cNvSpPr txBox="1"/>
              <p:nvPr/>
            </p:nvSpPr>
            <p:spPr>
              <a:xfrm>
                <a:off x="15862269" y="4459950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Container</a:t>
                </a:r>
              </a:p>
            </p:txBody>
          </p:sp>
          <p:sp>
            <p:nvSpPr>
              <p:cNvPr id="530" name="TextBox 529">
                <a:extLst>
                  <a:ext uri="{FF2B5EF4-FFF2-40B4-BE49-F238E27FC236}">
                    <a16:creationId xmlns:a16="http://schemas.microsoft.com/office/drawing/2014/main" id="{B239C674-EB2F-1DA6-E902-4C5F996B95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4584547"/>
                <a:ext cx="457200" cy="241657"/>
              </a:xfrm>
              <a:prstGeom prst="rect">
                <a:avLst/>
              </a:prstGeom>
              <a:solidFill>
                <a:srgbClr val="225B62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31" name="TextBox 530">
                <a:extLst>
                  <a:ext uri="{FF2B5EF4-FFF2-40B4-BE49-F238E27FC236}">
                    <a16:creationId xmlns:a16="http://schemas.microsoft.com/office/drawing/2014/main" id="{21E868CD-500E-65F8-5B31-7784794365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4584547"/>
                <a:ext cx="457200" cy="241657"/>
              </a:xfrm>
              <a:prstGeom prst="rect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32" name="TextBox 531">
                <a:extLst>
                  <a:ext uri="{FF2B5EF4-FFF2-40B4-BE49-F238E27FC236}">
                    <a16:creationId xmlns:a16="http://schemas.microsoft.com/office/drawing/2014/main" id="{F39D81AF-AE17-24BB-2768-FA7BD40A2B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4584547"/>
                <a:ext cx="457200" cy="241657"/>
              </a:xfrm>
              <a:prstGeom prst="rtTriangle">
                <a:avLst/>
              </a:prstGeom>
              <a:solidFill>
                <a:srgbClr val="FFF8E5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33" name="TextBox 532">
                <a:extLst>
                  <a:ext uri="{FF2B5EF4-FFF2-40B4-BE49-F238E27FC236}">
                    <a16:creationId xmlns:a16="http://schemas.microsoft.com/office/drawing/2014/main" id="{80E49B9E-5EC6-DEC6-73D3-0C4727A68E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4584547"/>
                <a:ext cx="457200" cy="241657"/>
              </a:xfrm>
              <a:prstGeom prst="rtTriangle">
                <a:avLst/>
              </a:prstGeom>
              <a:solidFill>
                <a:srgbClr val="DCEDE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34" name="TextBox 533">
                <a:extLst>
                  <a:ext uri="{FF2B5EF4-FFF2-40B4-BE49-F238E27FC236}">
                    <a16:creationId xmlns:a16="http://schemas.microsoft.com/office/drawing/2014/main" id="{C9CEFA7C-513B-2A7A-37E9-F44CF3418A93}"/>
                  </a:ext>
                </a:extLst>
              </p:cNvPr>
              <p:cNvSpPr txBox="1"/>
              <p:nvPr/>
            </p:nvSpPr>
            <p:spPr>
              <a:xfrm>
                <a:off x="16813245" y="4459950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Light overlay</a:t>
                </a:r>
              </a:p>
            </p:txBody>
          </p:sp>
          <p:sp>
            <p:nvSpPr>
              <p:cNvPr id="535" name="TextBox 534">
                <a:extLst>
                  <a:ext uri="{FF2B5EF4-FFF2-40B4-BE49-F238E27FC236}">
                    <a16:creationId xmlns:a16="http://schemas.microsoft.com/office/drawing/2014/main" id="{E717A96A-1AED-51CF-0335-44D0101C1C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4584547"/>
                <a:ext cx="457200" cy="241657"/>
              </a:xfrm>
              <a:prstGeom prst="rect">
                <a:avLst/>
              </a:prstGeom>
              <a:solidFill>
                <a:srgbClr val="FFF8E5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36" name="TextBox 535">
                <a:extLst>
                  <a:ext uri="{FF2B5EF4-FFF2-40B4-BE49-F238E27FC236}">
                    <a16:creationId xmlns:a16="http://schemas.microsoft.com/office/drawing/2014/main" id="{06B26C9A-54D9-AAE5-BE1B-C959967372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4584547"/>
                <a:ext cx="457200" cy="241657"/>
              </a:xfrm>
              <a:prstGeom prst="rect">
                <a:avLst/>
              </a:prstGeom>
              <a:solidFill>
                <a:srgbClr val="DCEDE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37" name="TextBox 536">
                <a:extLst>
                  <a:ext uri="{FF2B5EF4-FFF2-40B4-BE49-F238E27FC236}">
                    <a16:creationId xmlns:a16="http://schemas.microsoft.com/office/drawing/2014/main" id="{95BB9721-D041-1CAA-BC45-AC17F6E37892}"/>
                  </a:ext>
                </a:extLst>
              </p:cNvPr>
              <p:cNvSpPr txBox="1"/>
              <p:nvPr/>
            </p:nvSpPr>
            <p:spPr>
              <a:xfrm>
                <a:off x="17764221" y="4459950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Dark overlay</a:t>
                </a:r>
              </a:p>
            </p:txBody>
          </p:sp>
          <p:sp>
            <p:nvSpPr>
              <p:cNvPr id="538" name="TextBox 537">
                <a:extLst>
                  <a:ext uri="{FF2B5EF4-FFF2-40B4-BE49-F238E27FC236}">
                    <a16:creationId xmlns:a16="http://schemas.microsoft.com/office/drawing/2014/main" id="{5120531F-660B-0286-39B5-C7CED6F9AE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4584547"/>
                <a:ext cx="457200" cy="241657"/>
              </a:xfrm>
              <a:prstGeom prst="rect">
                <a:avLst/>
              </a:prstGeom>
              <a:solidFill>
                <a:srgbClr val="225B62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39" name="TextBox 538">
                <a:extLst>
                  <a:ext uri="{FF2B5EF4-FFF2-40B4-BE49-F238E27FC236}">
                    <a16:creationId xmlns:a16="http://schemas.microsoft.com/office/drawing/2014/main" id="{57789A3F-882D-8180-E221-86D422F53A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9709" y="4584547"/>
                <a:ext cx="457200" cy="241657"/>
              </a:xfrm>
              <a:prstGeom prst="rect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41" name="TextBox 540">
                <a:extLst>
                  <a:ext uri="{FF2B5EF4-FFF2-40B4-BE49-F238E27FC236}">
                    <a16:creationId xmlns:a16="http://schemas.microsoft.com/office/drawing/2014/main" id="{CCB87C5B-9D33-7AF5-7968-CE1EAA3411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4178188"/>
                <a:ext cx="457200" cy="241657"/>
              </a:xfrm>
              <a:prstGeom prst="rect">
                <a:avLst/>
              </a:prstGeom>
              <a:solidFill>
                <a:srgbClr val="B9DCD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542" name="TextBox 541">
                <a:extLst>
                  <a:ext uri="{FF2B5EF4-FFF2-40B4-BE49-F238E27FC236}">
                    <a16:creationId xmlns:a16="http://schemas.microsoft.com/office/drawing/2014/main" id="{5C8C68C5-DF71-8CF1-8188-5712C2980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4178188"/>
                <a:ext cx="457200" cy="241657"/>
              </a:xfrm>
              <a:prstGeom prst="rect">
                <a:avLst/>
              </a:prstGeom>
              <a:solidFill>
                <a:srgbClr val="FFEAB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543" name="TextBox 542">
                <a:extLst>
                  <a:ext uri="{FF2B5EF4-FFF2-40B4-BE49-F238E27FC236}">
                    <a16:creationId xmlns:a16="http://schemas.microsoft.com/office/drawing/2014/main" id="{7946DB83-AB90-DE77-6038-F34D887D19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4178188"/>
                <a:ext cx="457200" cy="241657"/>
              </a:xfrm>
              <a:prstGeom prst="rtTriangle">
                <a:avLst/>
              </a:prstGeom>
              <a:solidFill>
                <a:srgbClr val="225B6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544" name="TextBox 543">
                <a:extLst>
                  <a:ext uri="{FF2B5EF4-FFF2-40B4-BE49-F238E27FC236}">
                    <a16:creationId xmlns:a16="http://schemas.microsoft.com/office/drawing/2014/main" id="{97D4CDD1-6B14-67BC-5E27-F2E34E12E0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4178188"/>
                <a:ext cx="457200" cy="241657"/>
              </a:xfrm>
              <a:prstGeom prst="rtTriangle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</p:grpSp>
        <p:grpSp>
          <p:nvGrpSpPr>
            <p:cNvPr id="616" name="Group 615">
              <a:extLst>
                <a:ext uri="{FF2B5EF4-FFF2-40B4-BE49-F238E27FC236}">
                  <a16:creationId xmlns:a16="http://schemas.microsoft.com/office/drawing/2014/main" id="{3E188E3B-01A4-3232-8853-224C76441787}"/>
                </a:ext>
              </a:extLst>
            </p:cNvPr>
            <p:cNvGrpSpPr/>
            <p:nvPr userDrawn="1"/>
          </p:nvGrpSpPr>
          <p:grpSpPr>
            <a:xfrm>
              <a:off x="22177344" y="5071155"/>
              <a:ext cx="2834640" cy="772614"/>
              <a:chOff x="15862269" y="5060417"/>
              <a:chExt cx="2834640" cy="772614"/>
            </a:xfrm>
          </p:grpSpPr>
          <p:sp>
            <p:nvSpPr>
              <p:cNvPr id="552" name="TextBox 551">
                <a:extLst>
                  <a:ext uri="{FF2B5EF4-FFF2-40B4-BE49-F238E27FC236}">
                    <a16:creationId xmlns:a16="http://schemas.microsoft.com/office/drawing/2014/main" id="{8DC70ED1-AD75-816A-6AD0-FE38D9DCDE60}"/>
                  </a:ext>
                </a:extLst>
              </p:cNvPr>
              <p:cNvSpPr txBox="1"/>
              <p:nvPr/>
            </p:nvSpPr>
            <p:spPr>
              <a:xfrm>
                <a:off x="15862269" y="5060417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415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6</a:t>
                </a:r>
              </a:p>
            </p:txBody>
          </p:sp>
          <p:sp>
            <p:nvSpPr>
              <p:cNvPr id="553" name="TextBox 552">
                <a:extLst>
                  <a:ext uri="{FF2B5EF4-FFF2-40B4-BE49-F238E27FC236}">
                    <a16:creationId xmlns:a16="http://schemas.microsoft.com/office/drawing/2014/main" id="{D54DB4D4-2771-E577-A0F0-B050011CFE13}"/>
                  </a:ext>
                </a:extLst>
              </p:cNvPr>
              <p:cNvSpPr txBox="1"/>
              <p:nvPr/>
            </p:nvSpPr>
            <p:spPr>
              <a:xfrm>
                <a:off x="16813245" y="5060417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Colored header</a:t>
                </a:r>
              </a:p>
            </p:txBody>
          </p:sp>
          <p:sp>
            <p:nvSpPr>
              <p:cNvPr id="555" name="TextBox 554">
                <a:extLst>
                  <a:ext uri="{FF2B5EF4-FFF2-40B4-BE49-F238E27FC236}">
                    <a16:creationId xmlns:a16="http://schemas.microsoft.com/office/drawing/2014/main" id="{F1C2E2D8-A7AE-3E94-0134-BDAA02972D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5185015"/>
                <a:ext cx="457200" cy="241657"/>
              </a:xfrm>
              <a:prstGeom prst="rect">
                <a:avLst/>
              </a:prstGeom>
              <a:solidFill>
                <a:srgbClr val="152237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56" name="TextBox 555">
                <a:extLst>
                  <a:ext uri="{FF2B5EF4-FFF2-40B4-BE49-F238E27FC236}">
                    <a16:creationId xmlns:a16="http://schemas.microsoft.com/office/drawing/2014/main" id="{BCA9AB02-69B6-7F7C-10FB-7F6906B77D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13245" y="5185015"/>
                <a:ext cx="457200" cy="241657"/>
              </a:xfrm>
              <a:prstGeom prst="rtTriangle">
                <a:avLst/>
              </a:prstGeom>
              <a:solidFill>
                <a:srgbClr val="A9D5E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6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356"/>
              </a:p>
            </p:txBody>
          </p:sp>
          <p:sp>
            <p:nvSpPr>
              <p:cNvPr id="557" name="TextBox 556">
                <a:extLst>
                  <a:ext uri="{FF2B5EF4-FFF2-40B4-BE49-F238E27FC236}">
                    <a16:creationId xmlns:a16="http://schemas.microsoft.com/office/drawing/2014/main" id="{CD5A80F7-9DD0-1A36-595C-001932368F90}"/>
                  </a:ext>
                </a:extLst>
              </p:cNvPr>
              <p:cNvSpPr txBox="1"/>
              <p:nvPr/>
            </p:nvSpPr>
            <p:spPr>
              <a:xfrm>
                <a:off x="15862269" y="5466777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Container</a:t>
                </a:r>
              </a:p>
            </p:txBody>
          </p:sp>
          <p:sp>
            <p:nvSpPr>
              <p:cNvPr id="558" name="TextBox 557">
                <a:extLst>
                  <a:ext uri="{FF2B5EF4-FFF2-40B4-BE49-F238E27FC236}">
                    <a16:creationId xmlns:a16="http://schemas.microsoft.com/office/drawing/2014/main" id="{16617DC0-3B7E-6B37-B622-5F46B63B92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5591374"/>
                <a:ext cx="457200" cy="241657"/>
              </a:xfrm>
              <a:prstGeom prst="rect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356"/>
              </a:p>
            </p:txBody>
          </p:sp>
          <p:sp>
            <p:nvSpPr>
              <p:cNvPr id="559" name="TextBox 558">
                <a:extLst>
                  <a:ext uri="{FF2B5EF4-FFF2-40B4-BE49-F238E27FC236}">
                    <a16:creationId xmlns:a16="http://schemas.microsoft.com/office/drawing/2014/main" id="{67F96E2C-F048-E099-4657-BAAC9774E3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5591374"/>
                <a:ext cx="457200" cy="241657"/>
              </a:xfrm>
              <a:prstGeom prst="rect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356"/>
              </a:p>
            </p:txBody>
          </p:sp>
          <p:sp>
            <p:nvSpPr>
              <p:cNvPr id="560" name="TextBox 559">
                <a:extLst>
                  <a:ext uri="{FF2B5EF4-FFF2-40B4-BE49-F238E27FC236}">
                    <a16:creationId xmlns:a16="http://schemas.microsoft.com/office/drawing/2014/main" id="{FF27CF33-01A4-65B1-39A0-C33AAF1E32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5591374"/>
                <a:ext cx="457200" cy="241657"/>
              </a:xfrm>
              <a:prstGeom prst="rtTriangle">
                <a:avLst/>
              </a:prstGeom>
              <a:solidFill>
                <a:srgbClr val="FFECEE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61" name="TextBox 560">
                <a:extLst>
                  <a:ext uri="{FF2B5EF4-FFF2-40B4-BE49-F238E27FC236}">
                    <a16:creationId xmlns:a16="http://schemas.microsoft.com/office/drawing/2014/main" id="{A53FB037-CACF-E02E-10D6-2986177BE5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5591374"/>
                <a:ext cx="457200" cy="241657"/>
              </a:xfrm>
              <a:prstGeom prst="rtTriangle">
                <a:avLst/>
              </a:prstGeom>
              <a:solidFill>
                <a:srgbClr val="E2F1F9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62" name="TextBox 561">
                <a:extLst>
                  <a:ext uri="{FF2B5EF4-FFF2-40B4-BE49-F238E27FC236}">
                    <a16:creationId xmlns:a16="http://schemas.microsoft.com/office/drawing/2014/main" id="{07F3A309-A957-A5A5-5CB5-74ECBC8CA374}"/>
                  </a:ext>
                </a:extLst>
              </p:cNvPr>
              <p:cNvSpPr txBox="1"/>
              <p:nvPr/>
            </p:nvSpPr>
            <p:spPr>
              <a:xfrm>
                <a:off x="16813245" y="5466777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Light overlay</a:t>
                </a:r>
              </a:p>
            </p:txBody>
          </p:sp>
          <p:sp>
            <p:nvSpPr>
              <p:cNvPr id="563" name="TextBox 562">
                <a:extLst>
                  <a:ext uri="{FF2B5EF4-FFF2-40B4-BE49-F238E27FC236}">
                    <a16:creationId xmlns:a16="http://schemas.microsoft.com/office/drawing/2014/main" id="{4918A21B-61E1-7CB6-FF73-01D550B7C2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5591374"/>
                <a:ext cx="457200" cy="241657"/>
              </a:xfrm>
              <a:prstGeom prst="rect">
                <a:avLst/>
              </a:prstGeom>
              <a:solidFill>
                <a:srgbClr val="FFECEE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64" name="TextBox 563">
                <a:extLst>
                  <a:ext uri="{FF2B5EF4-FFF2-40B4-BE49-F238E27FC236}">
                    <a16:creationId xmlns:a16="http://schemas.microsoft.com/office/drawing/2014/main" id="{E6D38990-370C-556C-9F84-AAE36744AA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5591374"/>
                <a:ext cx="457200" cy="241657"/>
              </a:xfrm>
              <a:prstGeom prst="rect">
                <a:avLst/>
              </a:prstGeom>
              <a:solidFill>
                <a:srgbClr val="E2F1F9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65" name="TextBox 564">
                <a:extLst>
                  <a:ext uri="{FF2B5EF4-FFF2-40B4-BE49-F238E27FC236}">
                    <a16:creationId xmlns:a16="http://schemas.microsoft.com/office/drawing/2014/main" id="{B78AA88F-923B-555D-C9A4-D0899728C66B}"/>
                  </a:ext>
                </a:extLst>
              </p:cNvPr>
              <p:cNvSpPr txBox="1"/>
              <p:nvPr/>
            </p:nvSpPr>
            <p:spPr>
              <a:xfrm>
                <a:off x="17764221" y="5466777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Dark overlay</a:t>
                </a:r>
              </a:p>
            </p:txBody>
          </p:sp>
          <p:sp>
            <p:nvSpPr>
              <p:cNvPr id="566" name="TextBox 565">
                <a:extLst>
                  <a:ext uri="{FF2B5EF4-FFF2-40B4-BE49-F238E27FC236}">
                    <a16:creationId xmlns:a16="http://schemas.microsoft.com/office/drawing/2014/main" id="{F69164EB-737F-F9AC-C8A5-1F2A890016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5591374"/>
                <a:ext cx="457200" cy="241657"/>
              </a:xfrm>
              <a:prstGeom prst="rect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356"/>
              </a:p>
            </p:txBody>
          </p:sp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DF32EFE-D6AE-852F-18C6-39117C278C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9709" y="5591374"/>
                <a:ext cx="457200" cy="241657"/>
              </a:xfrm>
              <a:prstGeom prst="rect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356"/>
              </a:p>
            </p:txBody>
          </p:sp>
          <p:sp>
            <p:nvSpPr>
              <p:cNvPr id="569" name="TextBox 568">
                <a:extLst>
                  <a:ext uri="{FF2B5EF4-FFF2-40B4-BE49-F238E27FC236}">
                    <a16:creationId xmlns:a16="http://schemas.microsoft.com/office/drawing/2014/main" id="{A96D263B-BDDD-AD61-1E97-E8911A5770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5185015"/>
                <a:ext cx="457200" cy="241657"/>
              </a:xfrm>
              <a:prstGeom prst="rect">
                <a:avLst/>
              </a:prstGeom>
              <a:solidFill>
                <a:srgbClr val="A9D5E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570" name="TextBox 569">
                <a:extLst>
                  <a:ext uri="{FF2B5EF4-FFF2-40B4-BE49-F238E27FC236}">
                    <a16:creationId xmlns:a16="http://schemas.microsoft.com/office/drawing/2014/main" id="{FAFDC9F0-8077-89E1-C595-5574803F2B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5185015"/>
                <a:ext cx="457200" cy="241657"/>
              </a:xfrm>
              <a:prstGeom prst="rect">
                <a:avLst/>
              </a:prstGeom>
              <a:solidFill>
                <a:srgbClr val="FFC6CC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571" name="TextBox 570">
                <a:extLst>
                  <a:ext uri="{FF2B5EF4-FFF2-40B4-BE49-F238E27FC236}">
                    <a16:creationId xmlns:a16="http://schemas.microsoft.com/office/drawing/2014/main" id="{C29DB180-24E1-86C2-9D11-F55CA710A9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5185015"/>
                <a:ext cx="457200" cy="241657"/>
              </a:xfrm>
              <a:prstGeom prst="rtTriangle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572" name="TextBox 571">
                <a:extLst>
                  <a:ext uri="{FF2B5EF4-FFF2-40B4-BE49-F238E27FC236}">
                    <a16:creationId xmlns:a16="http://schemas.microsoft.com/office/drawing/2014/main" id="{D96C920F-9966-8700-8BD1-CA261CE816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5185015"/>
                <a:ext cx="457200" cy="241657"/>
              </a:xfrm>
              <a:prstGeom prst="rtTriangle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</p:grpSp>
        <p:grpSp>
          <p:nvGrpSpPr>
            <p:cNvPr id="615" name="Group 614">
              <a:extLst>
                <a:ext uri="{FF2B5EF4-FFF2-40B4-BE49-F238E27FC236}">
                  <a16:creationId xmlns:a16="http://schemas.microsoft.com/office/drawing/2014/main" id="{637AA399-69FB-495E-7C26-EB62A946B118}"/>
                </a:ext>
              </a:extLst>
            </p:cNvPr>
            <p:cNvGrpSpPr/>
            <p:nvPr userDrawn="1"/>
          </p:nvGrpSpPr>
          <p:grpSpPr>
            <a:xfrm>
              <a:off x="22177344" y="6085386"/>
              <a:ext cx="2834640" cy="772614"/>
              <a:chOff x="15858760" y="6116425"/>
              <a:chExt cx="2834640" cy="772614"/>
            </a:xfrm>
          </p:grpSpPr>
          <p:sp>
            <p:nvSpPr>
              <p:cNvPr id="581" name="TextBox 580">
                <a:extLst>
                  <a:ext uri="{FF2B5EF4-FFF2-40B4-BE49-F238E27FC236}">
                    <a16:creationId xmlns:a16="http://schemas.microsoft.com/office/drawing/2014/main" id="{0AD5B482-B907-A034-6E26-166208A7EA08}"/>
                  </a:ext>
                </a:extLst>
              </p:cNvPr>
              <p:cNvSpPr txBox="1"/>
              <p:nvPr/>
            </p:nvSpPr>
            <p:spPr>
              <a:xfrm>
                <a:off x="15858760" y="6116425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415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7</a:t>
                </a:r>
              </a:p>
            </p:txBody>
          </p:sp>
          <p:sp>
            <p:nvSpPr>
              <p:cNvPr id="582" name="TextBox 581">
                <a:extLst>
                  <a:ext uri="{FF2B5EF4-FFF2-40B4-BE49-F238E27FC236}">
                    <a16:creationId xmlns:a16="http://schemas.microsoft.com/office/drawing/2014/main" id="{FB740B7A-3B8F-EDE0-3191-5FAB16003FCA}"/>
                  </a:ext>
                </a:extLst>
              </p:cNvPr>
              <p:cNvSpPr txBox="1"/>
              <p:nvPr/>
            </p:nvSpPr>
            <p:spPr>
              <a:xfrm>
                <a:off x="16809736" y="6116425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Colored header</a:t>
                </a:r>
              </a:p>
            </p:txBody>
          </p:sp>
          <p:sp>
            <p:nvSpPr>
              <p:cNvPr id="583" name="TextBox 582">
                <a:extLst>
                  <a:ext uri="{FF2B5EF4-FFF2-40B4-BE49-F238E27FC236}">
                    <a16:creationId xmlns:a16="http://schemas.microsoft.com/office/drawing/2014/main" id="{9C9BFE6F-FF74-309D-E971-7D18900BCF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09736" y="6241023"/>
                <a:ext cx="457200" cy="241657"/>
              </a:xfrm>
              <a:prstGeom prst="rect">
                <a:avLst/>
              </a:prstGeom>
              <a:solidFill>
                <a:srgbClr val="391317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84" name="TextBox 583">
                <a:extLst>
                  <a:ext uri="{FF2B5EF4-FFF2-40B4-BE49-F238E27FC236}">
                    <a16:creationId xmlns:a16="http://schemas.microsoft.com/office/drawing/2014/main" id="{FF060136-FABF-85C5-1B3D-BDE235CC65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09736" y="6241023"/>
                <a:ext cx="457200" cy="241657"/>
              </a:xfrm>
              <a:prstGeom prst="rtTriangle">
                <a:avLst/>
              </a:prstGeom>
              <a:solidFill>
                <a:srgbClr val="FFC6CC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6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356"/>
              </a:p>
            </p:txBody>
          </p:sp>
          <p:sp>
            <p:nvSpPr>
              <p:cNvPr id="585" name="TextBox 584">
                <a:extLst>
                  <a:ext uri="{FF2B5EF4-FFF2-40B4-BE49-F238E27FC236}">
                    <a16:creationId xmlns:a16="http://schemas.microsoft.com/office/drawing/2014/main" id="{C1FE07FE-FFE3-21D1-640B-70DD44388AF0}"/>
                  </a:ext>
                </a:extLst>
              </p:cNvPr>
              <p:cNvSpPr txBox="1"/>
              <p:nvPr/>
            </p:nvSpPr>
            <p:spPr>
              <a:xfrm>
                <a:off x="15858760" y="6522785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Container</a:t>
                </a:r>
              </a:p>
            </p:txBody>
          </p:sp>
          <p:sp>
            <p:nvSpPr>
              <p:cNvPr id="586" name="TextBox 585">
                <a:extLst>
                  <a:ext uri="{FF2B5EF4-FFF2-40B4-BE49-F238E27FC236}">
                    <a16:creationId xmlns:a16="http://schemas.microsoft.com/office/drawing/2014/main" id="{5A20B2E9-138C-E638-3980-0720D10022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58760" y="6647382"/>
                <a:ext cx="457200" cy="241657"/>
              </a:xfrm>
              <a:prstGeom prst="rect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356"/>
              </a:p>
            </p:txBody>
          </p:sp>
          <p:sp>
            <p:nvSpPr>
              <p:cNvPr id="587" name="TextBox 586">
                <a:extLst>
                  <a:ext uri="{FF2B5EF4-FFF2-40B4-BE49-F238E27FC236}">
                    <a16:creationId xmlns:a16="http://schemas.microsoft.com/office/drawing/2014/main" id="{EE580008-71EF-A658-FDB3-7082F21D36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4248" y="6647382"/>
                <a:ext cx="457200" cy="241657"/>
              </a:xfrm>
              <a:prstGeom prst="rect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356"/>
              </a:p>
            </p:txBody>
          </p:sp>
          <p:sp>
            <p:nvSpPr>
              <p:cNvPr id="588" name="TextBox 587">
                <a:extLst>
                  <a:ext uri="{FF2B5EF4-FFF2-40B4-BE49-F238E27FC236}">
                    <a16:creationId xmlns:a16="http://schemas.microsoft.com/office/drawing/2014/main" id="{B28B91C3-E827-0F07-C577-F180B9F59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4248" y="6647382"/>
                <a:ext cx="457200" cy="241657"/>
              </a:xfrm>
              <a:prstGeom prst="rtTriangle">
                <a:avLst/>
              </a:prstGeom>
              <a:solidFill>
                <a:srgbClr val="FFF8E5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8C36A95B-63A9-FF88-4A35-D62CDE0AFB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58760" y="6647382"/>
                <a:ext cx="457200" cy="241657"/>
              </a:xfrm>
              <a:prstGeom prst="rtTriangle">
                <a:avLst/>
              </a:prstGeom>
              <a:solidFill>
                <a:srgbClr val="FFECEE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90" name="TextBox 589">
                <a:extLst>
                  <a:ext uri="{FF2B5EF4-FFF2-40B4-BE49-F238E27FC236}">
                    <a16:creationId xmlns:a16="http://schemas.microsoft.com/office/drawing/2014/main" id="{737B073B-08D2-8956-14DF-5125489A465D}"/>
                  </a:ext>
                </a:extLst>
              </p:cNvPr>
              <p:cNvSpPr txBox="1"/>
              <p:nvPr/>
            </p:nvSpPr>
            <p:spPr>
              <a:xfrm>
                <a:off x="16809736" y="6522785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Light overlay</a:t>
                </a:r>
              </a:p>
            </p:txBody>
          </p:sp>
          <p:sp>
            <p:nvSpPr>
              <p:cNvPr id="591" name="TextBox 590">
                <a:extLst>
                  <a:ext uri="{FF2B5EF4-FFF2-40B4-BE49-F238E27FC236}">
                    <a16:creationId xmlns:a16="http://schemas.microsoft.com/office/drawing/2014/main" id="{FAD2079D-3F1E-545D-8BA8-C37BD7A412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5224" y="6647382"/>
                <a:ext cx="457200" cy="241657"/>
              </a:xfrm>
              <a:prstGeom prst="rect">
                <a:avLst/>
              </a:prstGeom>
              <a:solidFill>
                <a:srgbClr val="FFF8E5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92" name="TextBox 591">
                <a:extLst>
                  <a:ext uri="{FF2B5EF4-FFF2-40B4-BE49-F238E27FC236}">
                    <a16:creationId xmlns:a16="http://schemas.microsoft.com/office/drawing/2014/main" id="{CD0EDBF7-FA7F-749E-B5CF-E387E63E76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09736" y="6647382"/>
                <a:ext cx="457200" cy="241657"/>
              </a:xfrm>
              <a:prstGeom prst="rect">
                <a:avLst/>
              </a:prstGeom>
              <a:solidFill>
                <a:srgbClr val="FFECEE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533"/>
              </a:p>
            </p:txBody>
          </p:sp>
          <p:sp>
            <p:nvSpPr>
              <p:cNvPr id="593" name="TextBox 592">
                <a:extLst>
                  <a:ext uri="{FF2B5EF4-FFF2-40B4-BE49-F238E27FC236}">
                    <a16:creationId xmlns:a16="http://schemas.microsoft.com/office/drawing/2014/main" id="{5AB3DF4C-B56C-7C5D-62AC-2FCA91568C76}"/>
                  </a:ext>
                </a:extLst>
              </p:cNvPr>
              <p:cNvSpPr txBox="1"/>
              <p:nvPr/>
            </p:nvSpPr>
            <p:spPr>
              <a:xfrm>
                <a:off x="17760712" y="6522785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 sz="415"/>
                  <a:t>Dark overlay</a:t>
                </a:r>
              </a:p>
            </p:txBody>
          </p:sp>
          <p:sp>
            <p:nvSpPr>
              <p:cNvPr id="594" name="TextBox 593">
                <a:extLst>
                  <a:ext uri="{FF2B5EF4-FFF2-40B4-BE49-F238E27FC236}">
                    <a16:creationId xmlns:a16="http://schemas.microsoft.com/office/drawing/2014/main" id="{B95901A0-FF0F-58AF-09A8-12170852A7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0712" y="6647382"/>
                <a:ext cx="457200" cy="241657"/>
              </a:xfrm>
              <a:prstGeom prst="rect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356"/>
              </a:p>
            </p:txBody>
          </p:sp>
          <p:sp>
            <p:nvSpPr>
              <p:cNvPr id="595" name="TextBox 594">
                <a:extLst>
                  <a:ext uri="{FF2B5EF4-FFF2-40B4-BE49-F238E27FC236}">
                    <a16:creationId xmlns:a16="http://schemas.microsoft.com/office/drawing/2014/main" id="{F805159A-AD60-C4C3-EBC2-270EB0EEE7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6200" y="6647382"/>
                <a:ext cx="457200" cy="241657"/>
              </a:xfrm>
              <a:prstGeom prst="rect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356"/>
              </a:p>
            </p:txBody>
          </p:sp>
          <p:sp>
            <p:nvSpPr>
              <p:cNvPr id="596" name="TextBox 595">
                <a:extLst>
                  <a:ext uri="{FF2B5EF4-FFF2-40B4-BE49-F238E27FC236}">
                    <a16:creationId xmlns:a16="http://schemas.microsoft.com/office/drawing/2014/main" id="{9153198C-DBE2-9A50-E474-4E6F86A447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58760" y="6241023"/>
                <a:ext cx="457200" cy="241657"/>
              </a:xfrm>
              <a:prstGeom prst="rect">
                <a:avLst/>
              </a:prstGeom>
              <a:solidFill>
                <a:srgbClr val="FFC6CC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27E31337-20E3-6368-0CA1-0A579923D3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4248" y="6241023"/>
                <a:ext cx="457200" cy="241657"/>
              </a:xfrm>
              <a:prstGeom prst="rect">
                <a:avLst/>
              </a:prstGeom>
              <a:solidFill>
                <a:srgbClr val="FFEAB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1D4B8F43-9E3C-6CF7-12B1-82844330A8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58760" y="6241023"/>
                <a:ext cx="457200" cy="241657"/>
              </a:xfrm>
              <a:prstGeom prst="rtTriangle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599" name="TextBox 598">
                <a:extLst>
                  <a:ext uri="{FF2B5EF4-FFF2-40B4-BE49-F238E27FC236}">
                    <a16:creationId xmlns:a16="http://schemas.microsoft.com/office/drawing/2014/main" id="{064ED8AC-C19E-79FB-9DDE-61E9891287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4248" y="6241023"/>
                <a:ext cx="457200" cy="241657"/>
              </a:xfrm>
              <a:prstGeom prst="rtTriangle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552765">
                  <a:spcBef>
                    <a:spcPct val="20000"/>
                  </a:spcBef>
                  <a:buSzPct val="90000"/>
                  <a:defRPr/>
                </a:pPr>
                <a:endParaRPr lang="en-CA" sz="356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173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91" r:id="rId1"/>
    <p:sldLayoutId id="2147485892" r:id="rId2"/>
    <p:sldLayoutId id="2147485893" r:id="rId3"/>
    <p:sldLayoutId id="2147485894" r:id="rId4"/>
    <p:sldLayoutId id="2147485895" r:id="rId5"/>
    <p:sldLayoutId id="2147485896" r:id="rId6"/>
    <p:sldLayoutId id="2147485897" r:id="rId7"/>
    <p:sldLayoutId id="2147485898" r:id="rId8"/>
    <p:sldLayoutId id="2147485899" r:id="rId9"/>
    <p:sldLayoutId id="2147485900" r:id="rId10"/>
    <p:sldLayoutId id="2147485901" r:id="rId11"/>
    <p:sldLayoutId id="2147485902" r:id="rId12"/>
    <p:sldLayoutId id="2147485903" r:id="rId13"/>
    <p:sldLayoutId id="2147485904" r:id="rId14"/>
    <p:sldLayoutId id="2147485905" r:id="rId15"/>
    <p:sldLayoutId id="2147485906" r:id="rId16"/>
    <p:sldLayoutId id="2147485907" r:id="rId17"/>
    <p:sldLayoutId id="2147485908" r:id="rId18"/>
  </p:sldLayoutIdLst>
  <p:transition>
    <p:fade/>
  </p:transition>
  <p:hf sldNum="0" hdr="0" ftr="0" dt="0"/>
  <p:txStyles>
    <p:titleStyle>
      <a:lvl1pPr algn="l" defTabSz="932720" rtl="0" eaLnBrk="1" latinLnBrk="0" hangingPunct="1">
        <a:lnSpc>
          <a:spcPct val="100000"/>
        </a:lnSpc>
        <a:spcBef>
          <a:spcPct val="0"/>
        </a:spcBef>
        <a:buNone/>
        <a:defRPr lang="en-US" sz="3536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594" marR="0" indent="-228594" algn="l" defTabSz="93272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652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189" marR="0" indent="-228594" algn="l" defTabSz="93272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929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09" marR="0" indent="-200020" algn="l" defTabSz="93272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7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43" marR="0" indent="-180971" algn="l" defTabSz="93272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286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14" marR="0" indent="-168271" algn="l" defTabSz="93272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286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4979" indent="-233180" algn="l" defTabSz="93272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340" indent="-233180" algn="l" defTabSz="93272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699" indent="-233180" algn="l" defTabSz="93272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060" indent="-233180" algn="l" defTabSz="93272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60" algn="l" defTabSz="9327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20" algn="l" defTabSz="9327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080" algn="l" defTabSz="9327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39" algn="l" defTabSz="9327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00" algn="l" defTabSz="9327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159" algn="l" defTabSz="9327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19" algn="l" defTabSz="9327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879" algn="l" defTabSz="9327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74">
          <p15:clr>
            <a:srgbClr val="C35EA4"/>
          </p15:clr>
        </p15:guide>
        <p15:guide id="17" pos="7406">
          <p15:clr>
            <a:srgbClr val="C35EA4"/>
          </p15:clr>
        </p15:guide>
        <p15:guide id="25" orient="horz" pos="462">
          <p15:clr>
            <a:srgbClr val="C35EA4"/>
          </p15:clr>
        </p15:guide>
        <p15:guide id="26" orient="horz" pos="3858">
          <p15:clr>
            <a:srgbClr val="C35EA4"/>
          </p15:clr>
        </p15:guide>
        <p15:guide id="27" orient="horz" pos="228">
          <p15:clr>
            <a:srgbClr val="A4A3A4"/>
          </p15:clr>
        </p15:guide>
        <p15:guide id="28" pos="135">
          <p15:clr>
            <a:srgbClr val="A4A3A4"/>
          </p15:clr>
        </p15:guide>
        <p15:guide id="29" orient="horz" pos="4092">
          <p15:clr>
            <a:srgbClr val="A4A3A4"/>
          </p15:clr>
        </p15:guide>
        <p15:guide id="30" pos="7545">
          <p15:clr>
            <a:srgbClr val="A4A3A4"/>
          </p15:clr>
        </p15:guide>
        <p15:guide id="32" pos="1563">
          <p15:clr>
            <a:srgbClr val="9FCC3B"/>
          </p15:clr>
        </p15:guide>
        <p15:guide id="33" pos="6114">
          <p15:clr>
            <a:srgbClr val="9FCC3B"/>
          </p15:clr>
        </p15:guide>
        <p15:guide id="34" orient="horz" pos="396">
          <p15:clr>
            <a:srgbClr val="5ACBF0"/>
          </p15:clr>
        </p15:guide>
        <p15:guide id="35" pos="1700">
          <p15:clr>
            <a:srgbClr val="C35EA4"/>
          </p15:clr>
        </p15:guide>
        <p15:guide id="36" pos="1838">
          <p15:clr>
            <a:srgbClr val="C35EA4"/>
          </p15:clr>
        </p15:guide>
        <p15:guide id="37" pos="5842">
          <p15:clr>
            <a:srgbClr val="C35EA4"/>
          </p15:clr>
        </p15:guide>
        <p15:guide id="39" pos="5980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681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41" r:id="rId1"/>
    <p:sldLayoutId id="2147485842" r:id="rId2"/>
    <p:sldLayoutId id="2147485843" r:id="rId3"/>
    <p:sldLayoutId id="2147485844" r:id="rId4"/>
    <p:sldLayoutId id="2147485845" r:id="rId5"/>
    <p:sldLayoutId id="2147485846" r:id="rId6"/>
    <p:sldLayoutId id="2147485847" r:id="rId7"/>
    <p:sldLayoutId id="2147485848" r:id="rId8"/>
    <p:sldLayoutId id="2147485849" r:id="rId9"/>
    <p:sldLayoutId id="2147485850" r:id="rId10"/>
    <p:sldLayoutId id="2147485851" r:id="rId11"/>
    <p:sldLayoutId id="2147485852" r:id="rId12"/>
    <p:sldLayoutId id="2147485853" r:id="rId13"/>
    <p:sldLayoutId id="2147485854" r:id="rId14"/>
    <p:sldLayoutId id="2147485855" r:id="rId15"/>
    <p:sldLayoutId id="2147485856" r:id="rId16"/>
    <p:sldLayoutId id="2147485857" r:id="rId17"/>
    <p:sldLayoutId id="2147485858" r:id="rId18"/>
    <p:sldLayoutId id="2147485859" r:id="rId19"/>
    <p:sldLayoutId id="2147485860" r:id="rId20"/>
    <p:sldLayoutId id="2147485861" r:id="rId21"/>
    <p:sldLayoutId id="2147485862" r:id="rId22"/>
    <p:sldLayoutId id="2147485863" r:id="rId23"/>
    <p:sldLayoutId id="2147485864" r:id="rId24"/>
    <p:sldLayoutId id="2147485865" r:id="rId25"/>
    <p:sldLayoutId id="2147485866" r:id="rId26"/>
    <p:sldLayoutId id="2147485867" r:id="rId27"/>
    <p:sldLayoutId id="2147485868" r:id="rId28"/>
    <p:sldLayoutId id="2147485869" r:id="rId29"/>
    <p:sldLayoutId id="2147485870" r:id="rId30"/>
    <p:sldLayoutId id="2147485871" r:id="rId31"/>
    <p:sldLayoutId id="2147485872" r:id="rId32"/>
    <p:sldLayoutId id="2147485873" r:id="rId33"/>
    <p:sldLayoutId id="2147485874" r:id="rId34"/>
    <p:sldLayoutId id="2147485875" r:id="rId35"/>
    <p:sldLayoutId id="2147485876" r:id="rId36"/>
    <p:sldLayoutId id="2147485877" r:id="rId37"/>
    <p:sldLayoutId id="2147485878" r:id="rId38"/>
    <p:sldLayoutId id="2147485879" r:id="rId39"/>
    <p:sldLayoutId id="2147485880" r:id="rId40"/>
    <p:sldLayoutId id="2147485881" r:id="rId41"/>
    <p:sldLayoutId id="2147485882" r:id="rId42"/>
    <p:sldLayoutId id="2147485883" r:id="rId43"/>
    <p:sldLayoutId id="2147485884" r:id="rId44"/>
    <p:sldLayoutId id="2147485885" r:id="rId45"/>
    <p:sldLayoutId id="2147485886" r:id="rId46"/>
    <p:sldLayoutId id="2147485887" r:id="rId47"/>
    <p:sldLayoutId id="2147485888" r:id="rId48"/>
    <p:sldLayoutId id="2147485889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blipFill dpi="0" rotWithShape="1"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  <p:grpSp>
        <p:nvGrpSpPr>
          <p:cNvPr id="253" name="Group 252">
            <a:extLst>
              <a:ext uri="{FF2B5EF4-FFF2-40B4-BE49-F238E27FC236}">
                <a16:creationId xmlns:a16="http://schemas.microsoft.com/office/drawing/2014/main" id="{1A9934A0-ED63-83B8-8A45-2955726BAE72}"/>
              </a:ext>
            </a:extLst>
          </p:cNvPr>
          <p:cNvGrpSpPr/>
          <p:nvPr userDrawn="1"/>
        </p:nvGrpSpPr>
        <p:grpSpPr>
          <a:xfrm>
            <a:off x="13785819" y="4641814"/>
            <a:ext cx="932688" cy="1999554"/>
            <a:chOff x="13785819" y="4641814"/>
            <a:chExt cx="932688" cy="1999554"/>
          </a:xfrm>
        </p:grpSpPr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99215BFE-65EE-0FED-3EA1-090FF776F7F9}"/>
                </a:ext>
              </a:extLst>
            </p:cNvPr>
            <p:cNvSpPr txBox="1"/>
            <p:nvPr/>
          </p:nvSpPr>
          <p:spPr>
            <a:xfrm>
              <a:off x="13785819" y="4641814"/>
              <a:ext cx="365760" cy="366254"/>
            </a:xfrm>
            <a:prstGeom prst="rect">
              <a:avLst/>
            </a:prstGeom>
            <a:noFill/>
          </p:spPr>
          <p:txBody>
            <a:bodyPr wrap="square" lIns="0" tIns="0" rIns="0" bIns="256032" rtlCol="0" anchor="b" anchorCtr="0">
              <a:spAutoFit/>
            </a:bodyPr>
            <a:lstStyle/>
            <a:p>
              <a:r>
                <a:rPr lang="en-US" sz="7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rPr>
                <a:t>Theme 6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6011E263-3A6D-604A-AC4E-0BC2FE23D0D5}"/>
                </a:ext>
              </a:extLst>
            </p:cNvPr>
            <p:cNvSpPr txBox="1"/>
            <p:nvPr/>
          </p:nvSpPr>
          <p:spPr>
            <a:xfrm>
              <a:off x="13785819" y="5052105"/>
              <a:ext cx="731520" cy="366254"/>
            </a:xfrm>
            <a:prstGeom prst="rect">
              <a:avLst/>
            </a:prstGeom>
            <a:noFill/>
          </p:spPr>
          <p:txBody>
            <a:bodyPr wrap="square" lIns="0" tIns="0" rIns="0" bIns="256032" rtlCol="0" anchor="b" anchorCtr="0">
              <a:spAutoFit/>
            </a:bodyPr>
            <a:lstStyle>
              <a:defPPr>
                <a:defRPr lang="en-US"/>
              </a:defPPr>
              <a:lvl1pPr>
                <a:defRPr sz="7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1pPr>
            </a:lstStyle>
            <a:p>
              <a:r>
                <a:rPr lang="en-US"/>
                <a:t>Colored header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DAFC3F51-4BF7-B4DC-486C-029A50C3FE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13785819" y="5176703"/>
              <a:ext cx="457200" cy="241657"/>
            </a:xfrm>
            <a:prstGeom prst="rect">
              <a:avLst/>
            </a:prstGeom>
            <a:solidFill>
              <a:srgbClr val="152237"/>
            </a:solidFill>
            <a:ln>
              <a:noFill/>
            </a:ln>
          </p:spPr>
          <p:txBody>
            <a:bodyPr wrap="square" lIns="91440" tIns="0" rIns="0" bIns="9144" rtlCol="0" anchor="ctr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lvl="1" defTabSz="932780">
                <a:spcBef>
                  <a:spcPct val="20000"/>
                </a:spcBef>
                <a:buSzPct val="90000"/>
                <a:defRPr sz="9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693B2FFC-63A6-574E-CDCF-C1D8BD98E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13785819" y="5176703"/>
              <a:ext cx="457200" cy="241657"/>
            </a:xfrm>
            <a:prstGeom prst="rtTriangle">
              <a:avLst/>
            </a:prstGeom>
            <a:solidFill>
              <a:srgbClr val="A9D5ED"/>
            </a:solidFill>
            <a:ln>
              <a:noFill/>
            </a:ln>
          </p:spPr>
          <p:txBody>
            <a:bodyPr wrap="square" lIns="45720" tIns="18288" rIns="0" bIns="0" rtlCol="0" anchor="t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marR="0" lvl="1" indent="0" defTabSz="93278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AE56A1A4-6835-9145-03D7-B066FE1EF121}"/>
                </a:ext>
              </a:extLst>
            </p:cNvPr>
            <p:cNvSpPr txBox="1"/>
            <p:nvPr/>
          </p:nvSpPr>
          <p:spPr>
            <a:xfrm>
              <a:off x="13785819" y="5458465"/>
              <a:ext cx="546261" cy="366254"/>
            </a:xfrm>
            <a:prstGeom prst="rect">
              <a:avLst/>
            </a:prstGeom>
            <a:noFill/>
          </p:spPr>
          <p:txBody>
            <a:bodyPr wrap="square" lIns="0" tIns="0" rIns="0" bIns="256032" rtlCol="0" anchor="b" anchorCtr="0">
              <a:spAutoFit/>
            </a:bodyPr>
            <a:lstStyle>
              <a:defPPr>
                <a:defRPr lang="en-US"/>
              </a:defPPr>
              <a:lvl1pPr>
                <a:defRPr sz="7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1pPr>
            </a:lstStyle>
            <a:p>
              <a:r>
                <a:rPr lang="en-US"/>
                <a:t>Container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9B1AC30-474B-A703-7ACE-157AF3EA9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13785819" y="5583062"/>
              <a:ext cx="457200" cy="241657"/>
            </a:xfrm>
            <a:prstGeom prst="rect">
              <a:avLst/>
            </a:prstGeom>
            <a:solidFill>
              <a:srgbClr val="2A446F"/>
            </a:solidFill>
            <a:ln>
              <a:noFill/>
            </a:ln>
          </p:spPr>
          <p:txBody>
            <a:bodyPr wrap="square" lIns="45720" tIns="18288" rIns="0" bIns="0" rtlCol="0" anchor="t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lvl="1" defTabSz="932780">
                <a:spcBef>
                  <a:spcPct val="20000"/>
                </a:spcBef>
                <a:buSzPct val="90000"/>
                <a:defRPr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0C5686F6-0E3C-296C-D0D7-33F55F829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14261307" y="5583062"/>
              <a:ext cx="457200" cy="241657"/>
            </a:xfrm>
            <a:prstGeom prst="rect">
              <a:avLst/>
            </a:prstGeom>
            <a:solidFill>
              <a:srgbClr val="73262F"/>
            </a:solidFill>
            <a:ln>
              <a:noFill/>
            </a:ln>
          </p:spPr>
          <p:txBody>
            <a:bodyPr wrap="square" lIns="45720" tIns="18288" rIns="0" bIns="0" rtlCol="0" anchor="t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lvl="1" defTabSz="932780">
                <a:spcBef>
                  <a:spcPct val="20000"/>
                </a:spcBef>
                <a:buSzPct val="90000"/>
                <a:defRPr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7FB6DDC-716F-6BEC-FA45-2AD48CA777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14261307" y="5583062"/>
              <a:ext cx="457200" cy="241657"/>
            </a:xfrm>
            <a:prstGeom prst="rtTriangle">
              <a:avLst/>
            </a:prstGeom>
            <a:solidFill>
              <a:srgbClr val="FFECEE"/>
            </a:solidFill>
            <a:ln>
              <a:noFill/>
            </a:ln>
          </p:spPr>
          <p:txBody>
            <a:bodyPr wrap="square" lIns="91440" tIns="0" rIns="0" bIns="9144" rtlCol="0" anchor="ctr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marR="0" lvl="1" indent="0" defTabSz="93278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 sz="9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EC19A743-E461-8A54-B310-4C43E01B81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13785819" y="5583062"/>
              <a:ext cx="457200" cy="241657"/>
            </a:xfrm>
            <a:prstGeom prst="rtTriangle">
              <a:avLst/>
            </a:prstGeom>
            <a:solidFill>
              <a:srgbClr val="E2F1F9"/>
            </a:solidFill>
            <a:ln>
              <a:noFill/>
            </a:ln>
          </p:spPr>
          <p:txBody>
            <a:bodyPr wrap="square" lIns="91440" tIns="0" rIns="0" bIns="9144" rtlCol="0" anchor="ctr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marR="0" lvl="1" indent="0" defTabSz="93278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 sz="9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5DCE2BB5-8E0F-E91E-ECC2-05E4AF9D9636}"/>
                </a:ext>
              </a:extLst>
            </p:cNvPr>
            <p:cNvSpPr txBox="1"/>
            <p:nvPr/>
          </p:nvSpPr>
          <p:spPr>
            <a:xfrm>
              <a:off x="13785819" y="5864824"/>
              <a:ext cx="592763" cy="366254"/>
            </a:xfrm>
            <a:prstGeom prst="rect">
              <a:avLst/>
            </a:prstGeom>
            <a:noFill/>
          </p:spPr>
          <p:txBody>
            <a:bodyPr wrap="square" lIns="0" tIns="0" rIns="0" bIns="256032" rtlCol="0" anchor="b" anchorCtr="0">
              <a:spAutoFit/>
            </a:bodyPr>
            <a:lstStyle>
              <a:defPPr>
                <a:defRPr lang="en-US"/>
              </a:defPPr>
              <a:lvl1pPr>
                <a:defRPr sz="7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1pPr>
            </a:lstStyle>
            <a:p>
              <a:r>
                <a:rPr lang="en-US"/>
                <a:t>Light overlay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2FB9645C-B53E-6332-146A-A019D5D25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14261307" y="5989421"/>
              <a:ext cx="457200" cy="241657"/>
            </a:xfrm>
            <a:prstGeom prst="rect">
              <a:avLst/>
            </a:prstGeom>
            <a:solidFill>
              <a:srgbClr val="FFECEE"/>
            </a:solidFill>
            <a:ln>
              <a:noFill/>
            </a:ln>
          </p:spPr>
          <p:txBody>
            <a:bodyPr wrap="square" lIns="91440" tIns="0" rIns="0" bIns="9144" rtlCol="0" anchor="ctr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marR="0" lvl="1" indent="0" defTabSz="93278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 sz="9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6ECE2B9A-77D2-1BA5-305E-FC2C98ABD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13785819" y="5989421"/>
              <a:ext cx="457200" cy="241657"/>
            </a:xfrm>
            <a:prstGeom prst="rect">
              <a:avLst/>
            </a:prstGeom>
            <a:solidFill>
              <a:srgbClr val="E2F1F9"/>
            </a:solidFill>
            <a:ln>
              <a:noFill/>
            </a:ln>
          </p:spPr>
          <p:txBody>
            <a:bodyPr wrap="square" lIns="91440" tIns="0" rIns="0" bIns="9144" rtlCol="0" anchor="ctr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marR="0" lvl="1" indent="0" defTabSz="93278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 sz="9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8E51973-834A-ACD7-3D0C-4EA92EFD4931}"/>
                </a:ext>
              </a:extLst>
            </p:cNvPr>
            <p:cNvSpPr txBox="1"/>
            <p:nvPr/>
          </p:nvSpPr>
          <p:spPr>
            <a:xfrm>
              <a:off x="13785819" y="6275114"/>
              <a:ext cx="546261" cy="366254"/>
            </a:xfrm>
            <a:prstGeom prst="rect">
              <a:avLst/>
            </a:prstGeom>
            <a:noFill/>
          </p:spPr>
          <p:txBody>
            <a:bodyPr wrap="square" lIns="0" tIns="0" rIns="0" bIns="256032" rtlCol="0" anchor="b" anchorCtr="0">
              <a:spAutoFit/>
            </a:bodyPr>
            <a:lstStyle>
              <a:defPPr>
                <a:defRPr lang="en-US"/>
              </a:defPPr>
              <a:lvl1pPr>
                <a:defRPr sz="7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1pPr>
            </a:lstStyle>
            <a:p>
              <a:r>
                <a:rPr lang="en-US"/>
                <a:t>Dark overlay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34FF3948-B9F0-37C6-DA24-2A48FECEFE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13785819" y="6399711"/>
              <a:ext cx="457200" cy="241657"/>
            </a:xfrm>
            <a:prstGeom prst="rect">
              <a:avLst/>
            </a:prstGeom>
            <a:solidFill>
              <a:srgbClr val="2A446F"/>
            </a:solidFill>
            <a:ln>
              <a:noFill/>
            </a:ln>
          </p:spPr>
          <p:txBody>
            <a:bodyPr wrap="square" lIns="45720" tIns="18288" rIns="0" bIns="0" rtlCol="0" anchor="t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lvl="1" defTabSz="932780">
                <a:spcBef>
                  <a:spcPct val="20000"/>
                </a:spcBef>
                <a:buSzPct val="90000"/>
                <a:defRPr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43B88DC-A86F-018F-FAC8-9743F5C922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14261307" y="6399711"/>
              <a:ext cx="457200" cy="241657"/>
            </a:xfrm>
            <a:prstGeom prst="rect">
              <a:avLst/>
            </a:prstGeom>
            <a:solidFill>
              <a:srgbClr val="73262F"/>
            </a:solidFill>
            <a:ln>
              <a:noFill/>
            </a:ln>
          </p:spPr>
          <p:txBody>
            <a:bodyPr wrap="square" lIns="45720" tIns="18288" rIns="0" bIns="0" rtlCol="0" anchor="t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lvl="1" defTabSz="932780">
                <a:spcBef>
                  <a:spcPct val="20000"/>
                </a:spcBef>
                <a:buSzPct val="90000"/>
                <a:defRPr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67AC378F-99EB-1822-4800-A2426838D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13785819" y="4766412"/>
              <a:ext cx="457200" cy="241657"/>
            </a:xfrm>
            <a:prstGeom prst="rect">
              <a:avLst/>
            </a:prstGeom>
            <a:solidFill>
              <a:srgbClr val="A9D5ED"/>
            </a:solidFill>
            <a:ln>
              <a:noFill/>
            </a:ln>
          </p:spPr>
          <p:txBody>
            <a:bodyPr wrap="square" lIns="45720" tIns="18288" rIns="0" bIns="0" rtlCol="0" anchor="t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marL="0" marR="0" lvl="1" indent="0" algn="l" defTabSz="93278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lang="en-CA" sz="600" b="1">
                <a:ln w="3175">
                  <a:noFill/>
                </a:ln>
                <a:gradFill>
                  <a:gsLst>
                    <a:gs pos="90826">
                      <a:srgbClr val="FFFFFF"/>
                    </a:gs>
                    <a:gs pos="65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old" pitchFamily="2" charset="0"/>
                <a:cs typeface="Segoe UI" pitchFamily="34" charset="0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AE8866C4-A506-56F2-37FD-DC10EFA8D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14261307" y="4766412"/>
              <a:ext cx="457200" cy="241657"/>
            </a:xfrm>
            <a:prstGeom prst="rect">
              <a:avLst/>
            </a:prstGeom>
            <a:solidFill>
              <a:srgbClr val="FFC6CC"/>
            </a:solidFill>
            <a:ln>
              <a:noFill/>
            </a:ln>
          </p:spPr>
          <p:txBody>
            <a:bodyPr wrap="square" lIns="45720" tIns="18288" rIns="0" bIns="0" rtlCol="0" anchor="t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marL="0" marR="0" lvl="1" indent="0" algn="l" defTabSz="93278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lang="en-CA" sz="600" b="1">
                <a:ln w="3175">
                  <a:noFill/>
                </a:ln>
                <a:gradFill>
                  <a:gsLst>
                    <a:gs pos="90826">
                      <a:srgbClr val="FFFFFF"/>
                    </a:gs>
                    <a:gs pos="65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old" pitchFamily="2" charset="0"/>
                <a:cs typeface="Segoe UI" pitchFamily="34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C10A508-C6B5-8EE2-2417-99D45B7453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13785819" y="4766412"/>
              <a:ext cx="457200" cy="241657"/>
            </a:xfrm>
            <a:prstGeom prst="rtTriangle">
              <a:avLst/>
            </a:prstGeom>
            <a:solidFill>
              <a:srgbClr val="2A446F"/>
            </a:solidFill>
            <a:ln>
              <a:noFill/>
            </a:ln>
          </p:spPr>
          <p:txBody>
            <a:bodyPr wrap="square" lIns="45720" tIns="18288" rIns="0" bIns="0" rtlCol="0" anchor="t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marL="0" lvl="1" defTabSz="932780">
                <a:spcBef>
                  <a:spcPct val="20000"/>
                </a:spcBef>
                <a:buSzPct val="90000"/>
                <a:defRPr/>
              </a:pPr>
              <a:endParaRPr lang="en-CA" sz="600" b="1">
                <a:ln w="3175">
                  <a:noFill/>
                </a:ln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old" pitchFamily="2" charset="0"/>
                <a:cs typeface="Segoe UI" pitchFamily="34" charset="0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6DBFBC4D-69B1-222B-376C-802D7AB46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14261307" y="4766412"/>
              <a:ext cx="457200" cy="241657"/>
            </a:xfrm>
            <a:prstGeom prst="rtTriangle">
              <a:avLst/>
            </a:prstGeom>
            <a:solidFill>
              <a:srgbClr val="73262F"/>
            </a:solidFill>
            <a:ln>
              <a:noFill/>
            </a:ln>
          </p:spPr>
          <p:txBody>
            <a:bodyPr wrap="square" lIns="45720" tIns="18288" rIns="0" bIns="0" rtlCol="0" anchor="t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marL="0" lvl="1" defTabSz="932780">
                <a:spcBef>
                  <a:spcPct val="20000"/>
                </a:spcBef>
                <a:buSzPct val="90000"/>
                <a:defRPr/>
              </a:pPr>
              <a:endParaRPr lang="en-CA" sz="600" b="1">
                <a:ln w="3175">
                  <a:noFill/>
                </a:ln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old" pitchFamily="2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2216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085" r:id="rId1"/>
    <p:sldLayoutId id="2147486086" r:id="rId2"/>
    <p:sldLayoutId id="2147486087" r:id="rId3"/>
    <p:sldLayoutId id="2147486088" r:id="rId4"/>
    <p:sldLayoutId id="2147486089" r:id="rId5"/>
    <p:sldLayoutId id="2147486090" r:id="rId6"/>
    <p:sldLayoutId id="2147486091" r:id="rId7"/>
    <p:sldLayoutId id="2147486092" r:id="rId8"/>
    <p:sldLayoutId id="2147486093" r:id="rId9"/>
    <p:sldLayoutId id="2147486094" r:id="rId10"/>
    <p:sldLayoutId id="2147486095" r:id="rId11"/>
    <p:sldLayoutId id="2147486096" r:id="rId12"/>
    <p:sldLayoutId id="2147486097" r:id="rId13"/>
    <p:sldLayoutId id="2147486098" r:id="rId14"/>
    <p:sldLayoutId id="2147486099" r:id="rId15"/>
    <p:sldLayoutId id="2147486100" r:id="rId16"/>
    <p:sldLayoutId id="2147486101" r:id="rId17"/>
    <p:sldLayoutId id="2147486102" r:id="rId18"/>
    <p:sldLayoutId id="2147486103" r:id="rId19"/>
    <p:sldLayoutId id="2147486104" r:id="rId20"/>
    <p:sldLayoutId id="2147486105" r:id="rId21"/>
    <p:sldLayoutId id="2147486106" r:id="rId22"/>
    <p:sldLayoutId id="2147486107" r:id="rId23"/>
    <p:sldLayoutId id="2147486108" r:id="rId24"/>
    <p:sldLayoutId id="2147486109" r:id="rId25"/>
    <p:sldLayoutId id="2147486110" r:id="rId26"/>
    <p:sldLayoutId id="2147486111" r:id="rId27"/>
    <p:sldLayoutId id="2147486112" r:id="rId28"/>
    <p:sldLayoutId id="2147486113" r:id="rId29"/>
    <p:sldLayoutId id="2147486114" r:id="rId30"/>
    <p:sldLayoutId id="2147486115" r:id="rId31"/>
    <p:sldLayoutId id="2147486116" r:id="rId32"/>
    <p:sldLayoutId id="2147486117" r:id="rId33"/>
    <p:sldLayoutId id="2147486118" r:id="rId34"/>
    <p:sldLayoutId id="2147486119" r:id="rId35"/>
    <p:sldLayoutId id="2147486120" r:id="rId36"/>
    <p:sldLayoutId id="2147486121" r:id="rId37"/>
    <p:sldLayoutId id="2147486122" r:id="rId38"/>
    <p:sldLayoutId id="2147486123" r:id="rId39"/>
    <p:sldLayoutId id="2147486124" r:id="rId40"/>
    <p:sldLayoutId id="2147486125" r:id="rId41"/>
    <p:sldLayoutId id="2147486126" r:id="rId42"/>
    <p:sldLayoutId id="2147486127" r:id="rId43"/>
    <p:sldLayoutId id="2147486128" r:id="rId44"/>
    <p:sldLayoutId id="2147486129" r:id="rId45"/>
    <p:sldLayoutId id="2147486130" r:id="rId46"/>
    <p:sldLayoutId id="2147486131" r:id="rId47"/>
    <p:sldLayoutId id="2147486132" r:id="rId48"/>
    <p:sldLayoutId id="2147486133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svg"/><Relationship Id="rId3" Type="http://schemas.openxmlformats.org/officeDocument/2006/relationships/image" Target="../media/image90.png"/><Relationship Id="rId7" Type="http://schemas.openxmlformats.org/officeDocument/2006/relationships/image" Target="../media/image94.svg"/><Relationship Id="rId12" Type="http://schemas.openxmlformats.org/officeDocument/2006/relationships/image" Target="../media/image99.svg"/><Relationship Id="rId17" Type="http://schemas.openxmlformats.org/officeDocument/2006/relationships/image" Target="../media/image10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03.svg"/><Relationship Id="rId20" Type="http://schemas.openxmlformats.org/officeDocument/2006/relationships/image" Target="../media/image107.svg"/><Relationship Id="rId1" Type="http://schemas.openxmlformats.org/officeDocument/2006/relationships/slideLayout" Target="../slideLayouts/slideLayout93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jpeg"/><Relationship Id="rId19" Type="http://schemas.openxmlformats.org/officeDocument/2006/relationships/image" Target="../media/image106.png"/><Relationship Id="rId4" Type="http://schemas.openxmlformats.org/officeDocument/2006/relationships/image" Target="../media/image91.png"/><Relationship Id="rId9" Type="http://schemas.openxmlformats.org/officeDocument/2006/relationships/image" Target="../media/image96.svg"/><Relationship Id="rId14" Type="http://schemas.openxmlformats.org/officeDocument/2006/relationships/image" Target="../media/image101.sv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9.png"/><Relationship Id="rId21" Type="http://schemas.microsoft.com/office/2007/relationships/hdphoto" Target="../media/hdphoto10.wdp"/><Relationship Id="rId42" Type="http://schemas.microsoft.com/office/2007/relationships/hdphoto" Target="../media/hdphoto20.wdp"/><Relationship Id="rId63" Type="http://schemas.openxmlformats.org/officeDocument/2006/relationships/image" Target="../media/image143.png"/><Relationship Id="rId84" Type="http://schemas.microsoft.com/office/2007/relationships/hdphoto" Target="../media/hdphoto38.wdp"/><Relationship Id="rId16" Type="http://schemas.microsoft.com/office/2007/relationships/hdphoto" Target="../media/hdphoto8.wdp"/><Relationship Id="rId107" Type="http://schemas.openxmlformats.org/officeDocument/2006/relationships/image" Target="../media/image172.png"/><Relationship Id="rId11" Type="http://schemas.openxmlformats.org/officeDocument/2006/relationships/image" Target="../media/image113.png"/><Relationship Id="rId32" Type="http://schemas.openxmlformats.org/officeDocument/2006/relationships/image" Target="../media/image125.png"/><Relationship Id="rId37" Type="http://schemas.microsoft.com/office/2007/relationships/hdphoto" Target="../media/hdphoto18.wdp"/><Relationship Id="rId53" Type="http://schemas.openxmlformats.org/officeDocument/2006/relationships/image" Target="../media/image137.png"/><Relationship Id="rId58" Type="http://schemas.openxmlformats.org/officeDocument/2006/relationships/image" Target="../media/image140.png"/><Relationship Id="rId74" Type="http://schemas.openxmlformats.org/officeDocument/2006/relationships/image" Target="../media/image149.svg"/><Relationship Id="rId79" Type="http://schemas.openxmlformats.org/officeDocument/2006/relationships/image" Target="../media/image152.png"/><Relationship Id="rId102" Type="http://schemas.microsoft.com/office/2007/relationships/hdphoto" Target="../media/hdphoto43.wdp"/><Relationship Id="rId123" Type="http://schemas.microsoft.com/office/2007/relationships/hdphoto" Target="../media/hdphoto49.wdp"/><Relationship Id="rId128" Type="http://schemas.openxmlformats.org/officeDocument/2006/relationships/image" Target="../media/image185.png"/><Relationship Id="rId5" Type="http://schemas.openxmlformats.org/officeDocument/2006/relationships/image" Target="../media/image109.png"/><Relationship Id="rId90" Type="http://schemas.openxmlformats.org/officeDocument/2006/relationships/image" Target="../media/image159.svg"/><Relationship Id="rId95" Type="http://schemas.openxmlformats.org/officeDocument/2006/relationships/image" Target="../media/image164.png"/><Relationship Id="rId22" Type="http://schemas.openxmlformats.org/officeDocument/2006/relationships/image" Target="../media/image120.png"/><Relationship Id="rId27" Type="http://schemas.microsoft.com/office/2007/relationships/hdphoto" Target="../media/hdphoto13.wdp"/><Relationship Id="rId43" Type="http://schemas.openxmlformats.org/officeDocument/2006/relationships/image" Target="../media/image131.png"/><Relationship Id="rId48" Type="http://schemas.openxmlformats.org/officeDocument/2006/relationships/image" Target="../media/image134.svg"/><Relationship Id="rId64" Type="http://schemas.microsoft.com/office/2007/relationships/hdphoto" Target="../media/hdphoto29.wdp"/><Relationship Id="rId69" Type="http://schemas.openxmlformats.org/officeDocument/2006/relationships/image" Target="../media/image146.png"/><Relationship Id="rId113" Type="http://schemas.openxmlformats.org/officeDocument/2006/relationships/image" Target="../media/image176.png"/><Relationship Id="rId118" Type="http://schemas.microsoft.com/office/2007/relationships/hdphoto" Target="../media/hdphoto47.wdp"/><Relationship Id="rId80" Type="http://schemas.microsoft.com/office/2007/relationships/hdphoto" Target="../media/hdphoto36.wdp"/><Relationship Id="rId85" Type="http://schemas.openxmlformats.org/officeDocument/2006/relationships/image" Target="../media/image155.png"/><Relationship Id="rId12" Type="http://schemas.microsoft.com/office/2007/relationships/hdphoto" Target="../media/hdphoto7.wdp"/><Relationship Id="rId17" Type="http://schemas.openxmlformats.org/officeDocument/2006/relationships/image" Target="../media/image117.png"/><Relationship Id="rId33" Type="http://schemas.microsoft.com/office/2007/relationships/hdphoto" Target="../media/hdphoto16.wdp"/><Relationship Id="rId38" Type="http://schemas.openxmlformats.org/officeDocument/2006/relationships/image" Target="../media/image128.png"/><Relationship Id="rId59" Type="http://schemas.microsoft.com/office/2007/relationships/hdphoto" Target="../media/hdphoto27.wdp"/><Relationship Id="rId103" Type="http://schemas.openxmlformats.org/officeDocument/2006/relationships/image" Target="../media/image168.png"/><Relationship Id="rId108" Type="http://schemas.openxmlformats.org/officeDocument/2006/relationships/image" Target="../media/image173.png"/><Relationship Id="rId124" Type="http://schemas.openxmlformats.org/officeDocument/2006/relationships/image" Target="../media/image183.png"/><Relationship Id="rId129" Type="http://schemas.microsoft.com/office/2007/relationships/hdphoto" Target="../media/hdphoto52.wdp"/><Relationship Id="rId54" Type="http://schemas.microsoft.com/office/2007/relationships/hdphoto" Target="../media/hdphoto25.wdp"/><Relationship Id="rId70" Type="http://schemas.microsoft.com/office/2007/relationships/hdphoto" Target="../media/hdphoto32.wdp"/><Relationship Id="rId75" Type="http://schemas.openxmlformats.org/officeDocument/2006/relationships/image" Target="../media/image150.png"/><Relationship Id="rId91" Type="http://schemas.openxmlformats.org/officeDocument/2006/relationships/image" Target="../media/image160.png"/><Relationship Id="rId96" Type="http://schemas.microsoft.com/office/2007/relationships/hdphoto" Target="../media/hdphoto40.wdp"/><Relationship Id="rId1" Type="http://schemas.openxmlformats.org/officeDocument/2006/relationships/slideLayout" Target="../slideLayouts/slideLayout83.xml"/><Relationship Id="rId6" Type="http://schemas.openxmlformats.org/officeDocument/2006/relationships/image" Target="../media/image110.svg"/><Relationship Id="rId23" Type="http://schemas.microsoft.com/office/2007/relationships/hdphoto" Target="../media/hdphoto11.wdp"/><Relationship Id="rId28" Type="http://schemas.openxmlformats.org/officeDocument/2006/relationships/image" Target="../media/image123.png"/><Relationship Id="rId49" Type="http://schemas.openxmlformats.org/officeDocument/2006/relationships/image" Target="../media/image135.png"/><Relationship Id="rId114" Type="http://schemas.microsoft.com/office/2007/relationships/hdphoto" Target="../media/hdphoto46.wdp"/><Relationship Id="rId119" Type="http://schemas.openxmlformats.org/officeDocument/2006/relationships/image" Target="../media/image180.png"/><Relationship Id="rId44" Type="http://schemas.microsoft.com/office/2007/relationships/hdphoto" Target="../media/hdphoto21.wdp"/><Relationship Id="rId60" Type="http://schemas.openxmlformats.org/officeDocument/2006/relationships/image" Target="../media/image141.png"/><Relationship Id="rId65" Type="http://schemas.openxmlformats.org/officeDocument/2006/relationships/image" Target="../media/image144.png"/><Relationship Id="rId81" Type="http://schemas.openxmlformats.org/officeDocument/2006/relationships/image" Target="../media/image153.png"/><Relationship Id="rId86" Type="http://schemas.openxmlformats.org/officeDocument/2006/relationships/image" Target="../media/image156.svg"/><Relationship Id="rId130" Type="http://schemas.openxmlformats.org/officeDocument/2006/relationships/image" Target="../media/image186.png"/><Relationship Id="rId13" Type="http://schemas.openxmlformats.org/officeDocument/2006/relationships/image" Target="../media/image114.png"/><Relationship Id="rId18" Type="http://schemas.microsoft.com/office/2007/relationships/hdphoto" Target="../media/hdphoto9.wdp"/><Relationship Id="rId39" Type="http://schemas.microsoft.com/office/2007/relationships/hdphoto" Target="../media/hdphoto19.wdp"/><Relationship Id="rId109" Type="http://schemas.openxmlformats.org/officeDocument/2006/relationships/image" Target="../media/image174.png"/><Relationship Id="rId34" Type="http://schemas.openxmlformats.org/officeDocument/2006/relationships/image" Target="../media/image126.png"/><Relationship Id="rId50" Type="http://schemas.microsoft.com/office/2007/relationships/hdphoto" Target="../media/hdphoto23.wdp"/><Relationship Id="rId55" Type="http://schemas.openxmlformats.org/officeDocument/2006/relationships/image" Target="../media/image138.png"/><Relationship Id="rId76" Type="http://schemas.microsoft.com/office/2007/relationships/hdphoto" Target="../media/hdphoto34.wdp"/><Relationship Id="rId97" Type="http://schemas.openxmlformats.org/officeDocument/2006/relationships/image" Target="../media/image165.png"/><Relationship Id="rId104" Type="http://schemas.openxmlformats.org/officeDocument/2006/relationships/image" Target="../media/image169.svg"/><Relationship Id="rId120" Type="http://schemas.microsoft.com/office/2007/relationships/hdphoto" Target="../media/hdphoto48.wdp"/><Relationship Id="rId125" Type="http://schemas.microsoft.com/office/2007/relationships/hdphoto" Target="../media/hdphoto50.wdp"/><Relationship Id="rId7" Type="http://schemas.openxmlformats.org/officeDocument/2006/relationships/image" Target="../media/image111.png"/><Relationship Id="rId71" Type="http://schemas.openxmlformats.org/officeDocument/2006/relationships/image" Target="../media/image147.png"/><Relationship Id="rId92" Type="http://schemas.openxmlformats.org/officeDocument/2006/relationships/image" Target="../media/image161.png"/><Relationship Id="rId2" Type="http://schemas.openxmlformats.org/officeDocument/2006/relationships/notesSlide" Target="../notesSlides/notesSlide4.xml"/><Relationship Id="rId29" Type="http://schemas.microsoft.com/office/2007/relationships/hdphoto" Target="../media/hdphoto14.wdp"/><Relationship Id="rId24" Type="http://schemas.openxmlformats.org/officeDocument/2006/relationships/image" Target="../media/image121.png"/><Relationship Id="rId40" Type="http://schemas.openxmlformats.org/officeDocument/2006/relationships/image" Target="../media/image129.png"/><Relationship Id="rId45" Type="http://schemas.openxmlformats.org/officeDocument/2006/relationships/image" Target="../media/image132.png"/><Relationship Id="rId66" Type="http://schemas.microsoft.com/office/2007/relationships/hdphoto" Target="../media/hdphoto30.wdp"/><Relationship Id="rId87" Type="http://schemas.openxmlformats.org/officeDocument/2006/relationships/image" Target="../media/image157.png"/><Relationship Id="rId110" Type="http://schemas.microsoft.com/office/2007/relationships/hdphoto" Target="../media/hdphoto44.wdp"/><Relationship Id="rId115" Type="http://schemas.openxmlformats.org/officeDocument/2006/relationships/image" Target="../media/image177.png"/><Relationship Id="rId131" Type="http://schemas.microsoft.com/office/2007/relationships/hdphoto" Target="../media/hdphoto53.wdp"/><Relationship Id="rId61" Type="http://schemas.openxmlformats.org/officeDocument/2006/relationships/image" Target="../media/image142.png"/><Relationship Id="rId82" Type="http://schemas.microsoft.com/office/2007/relationships/hdphoto" Target="../media/hdphoto37.wdp"/><Relationship Id="rId19" Type="http://schemas.openxmlformats.org/officeDocument/2006/relationships/image" Target="../media/image118.png"/><Relationship Id="rId14" Type="http://schemas.openxmlformats.org/officeDocument/2006/relationships/image" Target="../media/image115.svg"/><Relationship Id="rId30" Type="http://schemas.openxmlformats.org/officeDocument/2006/relationships/image" Target="../media/image124.png"/><Relationship Id="rId35" Type="http://schemas.microsoft.com/office/2007/relationships/hdphoto" Target="../media/hdphoto17.wdp"/><Relationship Id="rId56" Type="http://schemas.openxmlformats.org/officeDocument/2006/relationships/image" Target="../media/image139.png"/><Relationship Id="rId77" Type="http://schemas.openxmlformats.org/officeDocument/2006/relationships/image" Target="../media/image151.png"/><Relationship Id="rId100" Type="http://schemas.microsoft.com/office/2007/relationships/hdphoto" Target="../media/hdphoto42.wdp"/><Relationship Id="rId105" Type="http://schemas.openxmlformats.org/officeDocument/2006/relationships/image" Target="../media/image170.png"/><Relationship Id="rId126" Type="http://schemas.openxmlformats.org/officeDocument/2006/relationships/image" Target="../media/image184.png"/><Relationship Id="rId8" Type="http://schemas.microsoft.com/office/2007/relationships/hdphoto" Target="../media/hdphoto5.wdp"/><Relationship Id="rId51" Type="http://schemas.openxmlformats.org/officeDocument/2006/relationships/image" Target="../media/image136.png"/><Relationship Id="rId72" Type="http://schemas.microsoft.com/office/2007/relationships/hdphoto" Target="../media/hdphoto33.wdp"/><Relationship Id="rId93" Type="http://schemas.openxmlformats.org/officeDocument/2006/relationships/image" Target="../media/image162.png"/><Relationship Id="rId98" Type="http://schemas.microsoft.com/office/2007/relationships/hdphoto" Target="../media/hdphoto41.wdp"/><Relationship Id="rId121" Type="http://schemas.openxmlformats.org/officeDocument/2006/relationships/image" Target="../media/image181.png"/><Relationship Id="rId3" Type="http://schemas.openxmlformats.org/officeDocument/2006/relationships/image" Target="../media/image108.png"/><Relationship Id="rId25" Type="http://schemas.microsoft.com/office/2007/relationships/hdphoto" Target="../media/hdphoto12.wdp"/><Relationship Id="rId46" Type="http://schemas.microsoft.com/office/2007/relationships/hdphoto" Target="../media/hdphoto22.wdp"/><Relationship Id="rId67" Type="http://schemas.openxmlformats.org/officeDocument/2006/relationships/image" Target="../media/image145.png"/><Relationship Id="rId116" Type="http://schemas.openxmlformats.org/officeDocument/2006/relationships/image" Target="../media/image178.svg"/><Relationship Id="rId20" Type="http://schemas.openxmlformats.org/officeDocument/2006/relationships/image" Target="../media/image119.png"/><Relationship Id="rId41" Type="http://schemas.openxmlformats.org/officeDocument/2006/relationships/image" Target="../media/image130.png"/><Relationship Id="rId62" Type="http://schemas.microsoft.com/office/2007/relationships/hdphoto" Target="../media/hdphoto28.wdp"/><Relationship Id="rId83" Type="http://schemas.openxmlformats.org/officeDocument/2006/relationships/image" Target="../media/image154.png"/><Relationship Id="rId88" Type="http://schemas.microsoft.com/office/2007/relationships/hdphoto" Target="../media/hdphoto39.wdp"/><Relationship Id="rId111" Type="http://schemas.openxmlformats.org/officeDocument/2006/relationships/image" Target="../media/image175.png"/><Relationship Id="rId132" Type="http://schemas.openxmlformats.org/officeDocument/2006/relationships/image" Target="../media/image187.png"/><Relationship Id="rId15" Type="http://schemas.openxmlformats.org/officeDocument/2006/relationships/image" Target="../media/image116.png"/><Relationship Id="rId36" Type="http://schemas.openxmlformats.org/officeDocument/2006/relationships/image" Target="../media/image127.png"/><Relationship Id="rId57" Type="http://schemas.microsoft.com/office/2007/relationships/hdphoto" Target="../media/hdphoto26.wdp"/><Relationship Id="rId106" Type="http://schemas.openxmlformats.org/officeDocument/2006/relationships/image" Target="../media/image171.svg"/><Relationship Id="rId127" Type="http://schemas.microsoft.com/office/2007/relationships/hdphoto" Target="../media/hdphoto51.wdp"/><Relationship Id="rId10" Type="http://schemas.microsoft.com/office/2007/relationships/hdphoto" Target="../media/hdphoto6.wdp"/><Relationship Id="rId31" Type="http://schemas.microsoft.com/office/2007/relationships/hdphoto" Target="../media/hdphoto15.wdp"/><Relationship Id="rId52" Type="http://schemas.microsoft.com/office/2007/relationships/hdphoto" Target="../media/hdphoto24.wdp"/><Relationship Id="rId73" Type="http://schemas.openxmlformats.org/officeDocument/2006/relationships/image" Target="../media/image148.png"/><Relationship Id="rId78" Type="http://schemas.microsoft.com/office/2007/relationships/hdphoto" Target="../media/hdphoto35.wdp"/><Relationship Id="rId94" Type="http://schemas.openxmlformats.org/officeDocument/2006/relationships/image" Target="../media/image163.svg"/><Relationship Id="rId99" Type="http://schemas.openxmlformats.org/officeDocument/2006/relationships/image" Target="../media/image166.png"/><Relationship Id="rId101" Type="http://schemas.openxmlformats.org/officeDocument/2006/relationships/image" Target="../media/image167.png"/><Relationship Id="rId122" Type="http://schemas.openxmlformats.org/officeDocument/2006/relationships/image" Target="../media/image182.png"/><Relationship Id="rId4" Type="http://schemas.microsoft.com/office/2007/relationships/hdphoto" Target="../media/hdphoto4.wdp"/><Relationship Id="rId9" Type="http://schemas.openxmlformats.org/officeDocument/2006/relationships/image" Target="../media/image112.png"/><Relationship Id="rId26" Type="http://schemas.openxmlformats.org/officeDocument/2006/relationships/image" Target="../media/image122.png"/><Relationship Id="rId47" Type="http://schemas.openxmlformats.org/officeDocument/2006/relationships/image" Target="../media/image133.png"/><Relationship Id="rId68" Type="http://schemas.microsoft.com/office/2007/relationships/hdphoto" Target="../media/hdphoto31.wdp"/><Relationship Id="rId89" Type="http://schemas.openxmlformats.org/officeDocument/2006/relationships/image" Target="../media/image158.png"/><Relationship Id="rId112" Type="http://schemas.microsoft.com/office/2007/relationships/hdphoto" Target="../media/hdphoto45.wdp"/><Relationship Id="rId133" Type="http://schemas.microsoft.com/office/2007/relationships/hdphoto" Target="../media/hdphoto54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1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3.xml"/><Relationship Id="rId6" Type="http://schemas.openxmlformats.org/officeDocument/2006/relationships/hyperlink" Target="https://aka.ms/ragchat/demo" TargetMode="External"/><Relationship Id="rId5" Type="http://schemas.openxmlformats.org/officeDocument/2006/relationships/hyperlink" Target="https://aka.ms/ragchat" TargetMode="External"/><Relationship Id="rId4" Type="http://schemas.openxmlformats.org/officeDocument/2006/relationships/image" Target="../media/image19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4.xml"/><Relationship Id="rId4" Type="http://schemas.openxmlformats.org/officeDocument/2006/relationships/image" Target="../media/image194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../aka.ms/agentRAG" TargetMode="External"/><Relationship Id="rId1" Type="http://schemas.openxmlformats.org/officeDocument/2006/relationships/slideLayout" Target="../slideLayouts/slideLayout1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3.xml"/><Relationship Id="rId4" Type="http://schemas.openxmlformats.org/officeDocument/2006/relationships/image" Target="../media/image194.sv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3.xml"/><Relationship Id="rId6" Type="http://schemas.openxmlformats.org/officeDocument/2006/relationships/hyperlink" Target="https://aka.ms/ragchat/agentic" TargetMode="External"/><Relationship Id="rId5" Type="http://schemas.openxmlformats.org/officeDocument/2006/relationships/hyperlink" Target="https://aka.ms/ragchat" TargetMode="External"/><Relationship Id="rId4" Type="http://schemas.openxmlformats.org/officeDocument/2006/relationships/image" Target="../media/image19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3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png"/><Relationship Id="rId13" Type="http://schemas.openxmlformats.org/officeDocument/2006/relationships/image" Target="../media/image206.png"/><Relationship Id="rId3" Type="http://schemas.openxmlformats.org/officeDocument/2006/relationships/image" Target="../media/image196.png"/><Relationship Id="rId7" Type="http://schemas.openxmlformats.org/officeDocument/2006/relationships/image" Target="../media/image200.png"/><Relationship Id="rId12" Type="http://schemas.openxmlformats.org/officeDocument/2006/relationships/image" Target="../media/image205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209.png"/><Relationship Id="rId1" Type="http://schemas.openxmlformats.org/officeDocument/2006/relationships/slideLayout" Target="../slideLayouts/slideLayout123.xml"/><Relationship Id="rId6" Type="http://schemas.openxmlformats.org/officeDocument/2006/relationships/image" Target="../media/image199.png"/><Relationship Id="rId11" Type="http://schemas.openxmlformats.org/officeDocument/2006/relationships/image" Target="../media/image204.png"/><Relationship Id="rId5" Type="http://schemas.openxmlformats.org/officeDocument/2006/relationships/image" Target="../media/image198.png"/><Relationship Id="rId15" Type="http://schemas.openxmlformats.org/officeDocument/2006/relationships/image" Target="../media/image208.png"/><Relationship Id="rId10" Type="http://schemas.openxmlformats.org/officeDocument/2006/relationships/image" Target="../media/image203.jpeg"/><Relationship Id="rId4" Type="http://schemas.openxmlformats.org/officeDocument/2006/relationships/image" Target="../media/image197.png"/><Relationship Id="rId9" Type="http://schemas.openxmlformats.org/officeDocument/2006/relationships/image" Target="../media/image202.png"/><Relationship Id="rId14" Type="http://schemas.openxmlformats.org/officeDocument/2006/relationships/image" Target="../media/image207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7" Type="http://schemas.openxmlformats.org/officeDocument/2006/relationships/image" Target="../media/image2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3.xml"/><Relationship Id="rId6" Type="http://schemas.openxmlformats.org/officeDocument/2006/relationships/image" Target="../media/image212.png"/><Relationship Id="rId5" Type="http://schemas.openxmlformats.org/officeDocument/2006/relationships/image" Target="../media/image211.png"/><Relationship Id="rId4" Type="http://schemas.openxmlformats.org/officeDocument/2006/relationships/image" Target="../media/image21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2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AISearch-new" TargetMode="External"/><Relationship Id="rId7" Type="http://schemas.openxmlformats.org/officeDocument/2006/relationships/hyperlink" Target="https://aka.ms/CreateAgenticAISolutions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4.xml"/><Relationship Id="rId6" Type="http://schemas.openxmlformats.org/officeDocument/2006/relationships/hyperlink" Target="https://aka.ms/AISearch-ar-agent" TargetMode="External"/><Relationship Id="rId5" Type="http://schemas.openxmlformats.org/officeDocument/2006/relationships/hyperlink" Target="https://aka.ms/AISearch-ar-pyn" TargetMode="External"/><Relationship Id="rId4" Type="http://schemas.openxmlformats.org/officeDocument/2006/relationships/hyperlink" Target="https://aka.ms/AgentRAG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MicrosoftBuildEvals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build.microsoft.com/en-US/sessions/BRK142?source=sessions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215.svg"/><Relationship Id="rId4" Type="http://schemas.openxmlformats.org/officeDocument/2006/relationships/image" Target="../media/image214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216.png"/><Relationship Id="rId7" Type="http://schemas.openxmlformats.org/officeDocument/2006/relationships/hyperlink" Target="https://build.microsoft.com/en-US/sessions/BRK142?source=sessions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219.svg"/><Relationship Id="rId5" Type="http://schemas.openxmlformats.org/officeDocument/2006/relationships/image" Target="../media/image218.png"/><Relationship Id="rId4" Type="http://schemas.openxmlformats.org/officeDocument/2006/relationships/image" Target="../media/image217.sv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AISearch-new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4.xml"/><Relationship Id="rId5" Type="http://schemas.openxmlformats.org/officeDocument/2006/relationships/hyperlink" Target="https://aka.ms/CreateAgenticAISolutions" TargetMode="External"/><Relationship Id="rId4" Type="http://schemas.openxmlformats.org/officeDocument/2006/relationships/hyperlink" Target="https://aka.ms/AgentRAG" TargetMode="Externa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3" Type="http://schemas.openxmlformats.org/officeDocument/2006/relationships/image" Target="../media/image188.png"/><Relationship Id="rId7" Type="http://schemas.openxmlformats.org/officeDocument/2006/relationships/image" Target="../media/image224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3.png"/><Relationship Id="rId5" Type="http://schemas.openxmlformats.org/officeDocument/2006/relationships/image" Target="../media/image222.svg"/><Relationship Id="rId4" Type="http://schemas.openxmlformats.org/officeDocument/2006/relationships/image" Target="../media/image221.png"/><Relationship Id="rId9" Type="http://schemas.openxmlformats.org/officeDocument/2006/relationships/image" Target="../media/image2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CE0119-F82F-75EF-0AAE-422A9B4634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74750" y="457200"/>
            <a:ext cx="11017250" cy="554038"/>
          </a:xfrm>
        </p:spPr>
        <p:txBody>
          <a:bodyPr/>
          <a:lstStyle/>
          <a:p>
            <a:r>
              <a:rPr lang="en-US">
                <a:noFill/>
              </a:rPr>
              <a:t>Microsoft Build</a:t>
            </a:r>
          </a:p>
        </p:txBody>
      </p:sp>
    </p:spTree>
    <p:extLst>
      <p:ext uri="{BB962C8B-B14F-4D97-AF65-F5344CB8AC3E}">
        <p14:creationId xmlns:p14="http://schemas.microsoft.com/office/powerpoint/2010/main" val="30597864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72176-2FA8-C24F-2482-1BA30F14B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E4F011-E5DC-E467-0FF1-351CB2516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425780"/>
            <a:ext cx="6350000" cy="1107996"/>
          </a:xfrm>
        </p:spPr>
        <p:txBody>
          <a:bodyPr/>
          <a:lstStyle/>
          <a:p>
            <a:r>
              <a:rPr lang="en-US" dirty="0"/>
              <a:t>Agentic RAG: build a reasoning retrieval engine with Azure AI Search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947278-36D0-AD7D-F6B1-07310D2942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200" y="3962400"/>
            <a:ext cx="5577840" cy="553998"/>
          </a:xfrm>
        </p:spPr>
        <p:txBody>
          <a:bodyPr/>
          <a:lstStyle/>
          <a:p>
            <a:r>
              <a:rPr lang="en-US" dirty="0"/>
              <a:t>Matt </a:t>
            </a:r>
            <a:r>
              <a:rPr lang="en-US" dirty="0" err="1"/>
              <a:t>Gotteiner</a:t>
            </a:r>
            <a:r>
              <a:rPr lang="en-US" dirty="0"/>
              <a:t>, Senior Program Manager – Azure AI</a:t>
            </a:r>
          </a:p>
          <a:p>
            <a:r>
              <a:rPr lang="en-US" dirty="0"/>
              <a:t>Pamela Fox, Principal Cloud Advocate – Python</a:t>
            </a:r>
          </a:p>
        </p:txBody>
      </p:sp>
    </p:spTree>
    <p:extLst>
      <p:ext uri="{BB962C8B-B14F-4D97-AF65-F5344CB8AC3E}">
        <p14:creationId xmlns:p14="http://schemas.microsoft.com/office/powerpoint/2010/main" val="2461601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30BB6-5902-2874-B469-599F09C61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CCF206F-0E8B-9ABA-9C95-53C139F8D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B8C9BF2-01C7-90BC-660B-C35B05D17E8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373185" y="691135"/>
            <a:ext cx="583700" cy="583700"/>
          </a:xfrm>
          <a:prstGeom prst="ellipse">
            <a:avLst/>
          </a:prstGeom>
          <a:gradFill flip="none" rotWithShape="1">
            <a:gsLst>
              <a:gs pos="80000">
                <a:srgbClr val="1C77A0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6161EE-83A5-DA98-2C1B-412A7899186D}"/>
              </a:ext>
            </a:extLst>
          </p:cNvPr>
          <p:cNvSpPr txBox="1"/>
          <p:nvPr/>
        </p:nvSpPr>
        <p:spPr>
          <a:xfrm>
            <a:off x="6242050" y="798319"/>
            <a:ext cx="5360987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What is RAG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CF97BD-E225-30FD-53DC-5C228C4DD0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373185" y="1669541"/>
            <a:ext cx="583700" cy="583700"/>
          </a:xfrm>
          <a:prstGeom prst="ellipse">
            <a:avLst/>
          </a:prstGeom>
          <a:gradFill flip="none" rotWithShape="1">
            <a:gsLst>
              <a:gs pos="80000">
                <a:srgbClr val="1169BA"/>
              </a:gs>
              <a:gs pos="0">
                <a:srgbClr val="1C77A0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138BF9-00F3-4D1A-CB49-FD15AAC71B93}"/>
              </a:ext>
            </a:extLst>
          </p:cNvPr>
          <p:cNvSpPr txBox="1"/>
          <p:nvPr/>
        </p:nvSpPr>
        <p:spPr>
          <a:xfrm>
            <a:off x="6242050" y="1776725"/>
            <a:ext cx="5360987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Introducing agentic retrieval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B3C46F-5EC5-02B3-CA3A-22F55E3CC8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373185" y="2647947"/>
            <a:ext cx="583700" cy="583700"/>
          </a:xfrm>
          <a:prstGeom prst="ellipse">
            <a:avLst/>
          </a:prstGeom>
          <a:gradFill flip="none" rotWithShape="1">
            <a:gsLst>
              <a:gs pos="80000">
                <a:srgbClr val="604EB4"/>
              </a:gs>
              <a:gs pos="0">
                <a:srgbClr val="1169BA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4541AC-1E1F-E987-273F-822AF03A0989}"/>
              </a:ext>
            </a:extLst>
          </p:cNvPr>
          <p:cNvSpPr txBox="1"/>
          <p:nvPr/>
        </p:nvSpPr>
        <p:spPr>
          <a:xfrm>
            <a:off x="6242050" y="2755131"/>
            <a:ext cx="5360987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Agentic retrieval in Agent Service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149AAE2-7C8C-2AB3-41BC-E086102D74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373185" y="3626353"/>
            <a:ext cx="583700" cy="583700"/>
          </a:xfrm>
          <a:prstGeom prst="ellipse">
            <a:avLst/>
          </a:prstGeom>
          <a:gradFill flip="none" rotWithShape="1">
            <a:gsLst>
              <a:gs pos="80000">
                <a:srgbClr val="AE36AD"/>
              </a:gs>
              <a:gs pos="0">
                <a:srgbClr val="604EB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47B55C-73D9-8F84-37BC-5FBF1106CAD2}"/>
              </a:ext>
            </a:extLst>
          </p:cNvPr>
          <p:cNvSpPr txBox="1"/>
          <p:nvPr/>
        </p:nvSpPr>
        <p:spPr>
          <a:xfrm>
            <a:off x="6242050" y="3733537"/>
            <a:ext cx="5360987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Building agentic RAG end-to-end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A8D98E7-D85E-B810-E479-F10CA79D0C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373185" y="4604759"/>
            <a:ext cx="583700" cy="583700"/>
          </a:xfrm>
          <a:prstGeom prst="ellipse">
            <a:avLst/>
          </a:prstGeom>
          <a:gradFill flip="none" rotWithShape="1">
            <a:gsLst>
              <a:gs pos="80000">
                <a:srgbClr val="D74885"/>
              </a:gs>
              <a:gs pos="0">
                <a:srgbClr val="AE36AD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B967C3-0A84-2525-F8C9-BE74FF931C6E}"/>
              </a:ext>
            </a:extLst>
          </p:cNvPr>
          <p:cNvSpPr txBox="1"/>
          <p:nvPr/>
        </p:nvSpPr>
        <p:spPr>
          <a:xfrm>
            <a:off x="6242050" y="4711943"/>
            <a:ext cx="5360987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539561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AD05-90B9-F372-9821-EB1658CFD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S box - replacement">
            <a:extLst>
              <a:ext uri="{FF2B5EF4-FFF2-40B4-BE49-F238E27FC236}">
                <a16:creationId xmlns:a16="http://schemas.microsoft.com/office/drawing/2014/main" id="{1FAE4EAE-9A49-D4F1-422F-917B0BA6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898987" y="1621273"/>
            <a:ext cx="6394027" cy="2858754"/>
          </a:xfrm>
          <a:prstGeom prst="roundRect">
            <a:avLst>
              <a:gd name="adj" fmla="val 7594"/>
            </a:avLst>
          </a:prstGeom>
          <a:noFill/>
          <a:ln w="15875" cap="rnd">
            <a:gradFill flip="none" rotWithShape="1">
              <a:gsLst>
                <a:gs pos="80000">
                  <a:srgbClr val="0A6BBA"/>
                </a:gs>
                <a:gs pos="0">
                  <a:srgbClr val="AC35AF"/>
                </a:gs>
              </a:gsLst>
              <a:path path="circle">
                <a:fillToRect l="100000" t="100000"/>
              </a:path>
              <a:tileRect r="-100000" b="-100000"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54819" tIns="123855" rIns="154819" bIns="12385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894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93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Segoe UI Variable Display Semib" pitchFamily="2" charset="0"/>
              <a:ea typeface="+mn-ea"/>
              <a:cs typeface="Segoe UI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1A79C6E-BB73-27CB-7AA7-04A7749A3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112" y="759969"/>
            <a:ext cx="591951" cy="591951"/>
          </a:xfrm>
          <a:prstGeom prst="rect">
            <a:avLst/>
          </a:prstGeom>
        </p:spPr>
      </p:pic>
      <p:sp useBgFill="1">
        <p:nvSpPr>
          <p:cNvPr id="37" name="Title 1">
            <a:extLst>
              <a:ext uri="{FF2B5EF4-FFF2-40B4-BE49-F238E27FC236}">
                <a16:creationId xmlns:a16="http://schemas.microsoft.com/office/drawing/2014/main" id="{786A573F-5043-69E5-324B-C2C3D8200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942199" y="1557049"/>
            <a:ext cx="2232491" cy="196545"/>
          </a:xfrm>
          <a:prstGeom prst="rect">
            <a:avLst/>
          </a:prstGeom>
          <a:ln>
            <a:noFill/>
            <a:prstDash/>
          </a:ln>
          <a:effectLst/>
        </p:spPr>
        <p:txBody>
          <a:bodyPr rot="0" spcFirstLastPara="0" vertOverflow="overflow" horzOverflow="overflow" vert="horz" wrap="none" lIns="54187" tIns="0" rIns="54187" bIns="5418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241368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455604" algn="l"/>
              </a:tabLst>
              <a:defRPr lang="en-US" sz="11500" b="0" cap="none" spc="-50" baseline="0" dirty="0" smtClean="0">
                <a:ln w="3175">
                  <a:noFill/>
                </a:ln>
                <a:gradFill>
                  <a:gsLst>
                    <a:gs pos="94406">
                      <a:srgbClr val="FFFFFF">
                        <a:lumMod val="75000"/>
                        <a:lumOff val="25000"/>
                      </a:srgbClr>
                    </a:gs>
                    <a:gs pos="80000">
                      <a:srgbClr val="FFFFFF">
                        <a:lumMod val="75000"/>
                        <a:lumOff val="25000"/>
                      </a:srgbClr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Segoe UI Variable Display Semib" pitchFamily="2" charset="0"/>
              </a:defRPr>
            </a:lvl1pPr>
          </a:lstStyle>
          <a:p>
            <a:pPr marL="0" marR="0" lvl="0" indent="0" algn="ctr" defTabSz="5362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45566" algn="l"/>
              </a:tabLst>
              <a:defRPr/>
            </a:pPr>
            <a:endParaRPr kumimoji="0" lang="en-CA" sz="2133" b="0" i="0" u="none" strike="noStrike" kern="1200" cap="none" spc="0" normalizeH="0" baseline="0" noProof="0">
              <a:ln w="3175">
                <a:noFill/>
              </a:ln>
              <a:noFill/>
              <a:effectLst/>
              <a:uLnTx/>
              <a:uFillTx/>
              <a:latin typeface="Segoe UI Variable Display Semib" pitchFamily="2" charset="0"/>
              <a:ea typeface="+mn-ea"/>
              <a:cs typeface="Segoe Sans Display Semibold" pitchFamily="2" charset="0"/>
            </a:endParaRPr>
          </a:p>
        </p:txBody>
      </p:sp>
      <p:cxnSp>
        <p:nvCxnSpPr>
          <p:cNvPr id="106" name="!!Straight Arrow Connector 119">
            <a:extLst>
              <a:ext uri="{FF2B5EF4-FFF2-40B4-BE49-F238E27FC236}">
                <a16:creationId xmlns:a16="http://schemas.microsoft.com/office/drawing/2014/main" id="{85B6C4FC-F7F2-D53A-A27F-95502DE07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453107" y="3070640"/>
            <a:ext cx="162420" cy="0"/>
          </a:xfrm>
          <a:prstGeom prst="straightConnector1">
            <a:avLst/>
          </a:prstGeom>
          <a:ln w="15875" cap="rnd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!!Straight Arrow Connector 120">
            <a:extLst>
              <a:ext uri="{FF2B5EF4-FFF2-40B4-BE49-F238E27FC236}">
                <a16:creationId xmlns:a16="http://schemas.microsoft.com/office/drawing/2014/main" id="{22AE8C3E-B7C4-8C7E-B9BB-94FD92F8D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396660" y="2967732"/>
            <a:ext cx="162420" cy="0"/>
          </a:xfrm>
          <a:prstGeom prst="straightConnector1">
            <a:avLst/>
          </a:prstGeom>
          <a:ln w="15875" cap="rnd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!!Straight Arrow Connector 53">
            <a:extLst>
              <a:ext uri="{FF2B5EF4-FFF2-40B4-BE49-F238E27FC236}">
                <a16:creationId xmlns:a16="http://schemas.microsoft.com/office/drawing/2014/main" id="{542C9628-F7D6-5FB0-CB8D-5E8A0A48B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600503" y="3096575"/>
            <a:ext cx="162420" cy="0"/>
          </a:xfrm>
          <a:prstGeom prst="straightConnector1">
            <a:avLst/>
          </a:prstGeom>
          <a:ln w="15875" cap="rnd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!!Straight Arrow Connector 54">
            <a:extLst>
              <a:ext uri="{FF2B5EF4-FFF2-40B4-BE49-F238E27FC236}">
                <a16:creationId xmlns:a16="http://schemas.microsoft.com/office/drawing/2014/main" id="{D82EBE80-E6CC-9D1A-79D8-3D09A71B6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44059" y="2993667"/>
            <a:ext cx="162420" cy="0"/>
          </a:xfrm>
          <a:prstGeom prst="straightConnector1">
            <a:avLst/>
          </a:prstGeom>
          <a:ln w="15875" cap="rnd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itle 1">
            <a:extLst>
              <a:ext uri="{FF2B5EF4-FFF2-40B4-BE49-F238E27FC236}">
                <a16:creationId xmlns:a16="http://schemas.microsoft.com/office/drawing/2014/main" id="{376D6E34-3D8E-F091-438D-006A2ADB464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851520" y="1416144"/>
            <a:ext cx="2436289" cy="38294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54187" tIns="0" rIns="54187" bIns="54187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41368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455604" algn="l"/>
              </a:tabLst>
              <a:defRPr lang="en-US" sz="11500" b="0" cap="none" spc="-50" baseline="0" dirty="0" smtClean="0">
                <a:ln w="3175">
                  <a:noFill/>
                </a:ln>
                <a:gradFill>
                  <a:gsLst>
                    <a:gs pos="94406">
                      <a:srgbClr val="FFFFFF">
                        <a:lumMod val="75000"/>
                        <a:lumOff val="25000"/>
                      </a:srgbClr>
                    </a:gs>
                    <a:gs pos="80000">
                      <a:srgbClr val="FFFFFF">
                        <a:lumMod val="75000"/>
                        <a:lumOff val="25000"/>
                      </a:srgbClr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Segoe UI Variable Display Semib" pitchFamily="2" charset="0"/>
              </a:defRPr>
            </a:lvl1pPr>
          </a:lstStyle>
          <a:p>
            <a:pPr marL="0" marR="0" lvl="0" indent="0" algn="ctr" defTabSz="5362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45566" algn="l"/>
              </a:tabLst>
              <a:defRPr/>
            </a:pPr>
            <a:r>
              <a:rPr kumimoji="0" lang="en-US" sz="2133" b="0" i="0" u="none" strike="noStrike" kern="1200" cap="none" spc="0" normalizeH="0" baseline="0" noProof="0" dirty="0">
                <a:ln w="3175">
                  <a:noFill/>
                </a:ln>
                <a:gradFill>
                  <a:gsLst>
                    <a:gs pos="10092">
                      <a:srgbClr val="000000"/>
                    </a:gs>
                    <a:gs pos="33028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 pitchFamily="2" charset="0"/>
              </a:rPr>
              <a:t>Azure AI Foundry </a:t>
            </a:r>
            <a:endParaRPr kumimoji="0" lang="en-CA" sz="2133" b="0" i="0" u="none" strike="noStrike" kern="1200" cap="none" spc="0" normalizeH="0" baseline="0" noProof="0" dirty="0">
              <a:ln w="3175">
                <a:noFill/>
              </a:ln>
              <a:gradFill>
                <a:gsLst>
                  <a:gs pos="10092">
                    <a:srgbClr val="000000"/>
                  </a:gs>
                  <a:gs pos="33028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" pitchFamily="2" charset="0"/>
              <a:ea typeface="+mn-ea"/>
              <a:cs typeface="Segoe Sans Display Semibold" pitchFamily="2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6E357C0-8A07-D408-1A8A-10053E6079A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076442" y="1904063"/>
            <a:ext cx="6065864" cy="594360"/>
          </a:xfrm>
          <a:prstGeom prst="roundRect">
            <a:avLst>
              <a:gd name="adj" fmla="val 35775"/>
            </a:avLst>
          </a:prstGeom>
          <a:gradFill flip="none" rotWithShape="1">
            <a:gsLst>
              <a:gs pos="14000">
                <a:srgbClr val="2263B8"/>
              </a:gs>
              <a:gs pos="91000">
                <a:srgbClr val="8642B1"/>
              </a:gs>
            </a:gsLst>
            <a:lin ang="2400000" scaled="0"/>
            <a:tileRect/>
          </a:gradFill>
        </p:spPr>
        <p:txBody>
          <a:bodyPr wrap="square" lIns="0" tIns="0" rIns="0" bIns="16256" rtlCol="0" anchor="ctr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18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1290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UI" pitchFamily="34" charset="0"/>
              </a:rPr>
              <a:t>Foundry Models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9D58E6B-48D8-CE9A-B9AF-5600BB589F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076442" y="2568793"/>
            <a:ext cx="6063090" cy="594360"/>
          </a:xfrm>
          <a:prstGeom prst="roundRect">
            <a:avLst>
              <a:gd name="adj" fmla="val 34867"/>
            </a:avLst>
          </a:prstGeom>
          <a:gradFill flip="none" rotWithShape="1">
            <a:gsLst>
              <a:gs pos="10000">
                <a:srgbClr val="2263B8"/>
              </a:gs>
              <a:gs pos="70000">
                <a:srgbClr val="8642B1"/>
              </a:gs>
            </a:gsLst>
            <a:lin ang="2400000" scaled="0"/>
            <a:tileRect/>
          </a:gradFill>
        </p:spPr>
        <p:txBody>
          <a:bodyPr wrap="square" lIns="0" tIns="0" rIns="0" bIns="16256" rtlCol="0" anchor="ctr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18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1290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UI" pitchFamily="34" charset="0"/>
              </a:rPr>
              <a:t>Foundry Agent Service</a:t>
            </a:r>
          </a:p>
        </p:txBody>
      </p:sp>
      <p:sp>
        <p:nvSpPr>
          <p:cNvPr id="54" name="Rounded Rectangle 6">
            <a:extLst>
              <a:ext uri="{FF2B5EF4-FFF2-40B4-BE49-F238E27FC236}">
                <a16:creationId xmlns:a16="http://schemas.microsoft.com/office/drawing/2014/main" id="{15EBA890-DB9D-E032-E525-C4ACEA53C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078057" y="3235710"/>
            <a:ext cx="1463040" cy="438912"/>
          </a:xfrm>
          <a:prstGeom prst="roundRect">
            <a:avLst>
              <a:gd name="adj" fmla="val 35749"/>
            </a:avLst>
          </a:prstGeom>
          <a:gradFill flip="none" rotWithShape="1">
            <a:gsLst>
              <a:gs pos="13000">
                <a:srgbClr val="2263B8"/>
              </a:gs>
              <a:gs pos="88073">
                <a:srgbClr val="2662B8"/>
              </a:gs>
            </a:gsLst>
            <a:lin ang="2400000" scaled="0"/>
            <a:tileRect/>
          </a:gradFill>
          <a:ln w="9525" cap="rnd">
            <a:noFill/>
          </a:ln>
        </p:spPr>
        <p:txBody>
          <a:bodyPr wrap="square" lIns="0" tIns="0" rIns="0" bIns="10837" rtlCol="0" anchor="ctr" anchorCtr="0">
            <a:noAutofit/>
          </a:bodyPr>
          <a:lstStyle/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Azure AI </a:t>
            </a:r>
          </a:p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Search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gradFill>
                <a:gsLst>
                  <a:gs pos="27523">
                    <a:srgbClr val="FFFFFF"/>
                  </a:gs>
                  <a:gs pos="73000">
                    <a:srgbClr val="FFFFFF"/>
                  </a:gs>
                </a:gsLst>
                <a:path path="circle">
                  <a:fillToRect r="100000" b="100000"/>
                </a:path>
              </a:gradFill>
              <a:effectLst/>
              <a:uLnTx/>
              <a:uFillTx/>
              <a:latin typeface="Segoe UI Variable Display Semib" pitchFamily="2" charset="0"/>
              <a:ea typeface="+mn-ea"/>
              <a:cs typeface="Segoe Sans Display Semibold"/>
            </a:endParaRPr>
          </a:p>
        </p:txBody>
      </p:sp>
      <p:sp>
        <p:nvSpPr>
          <p:cNvPr id="69" name="Rounded Rectangle 6">
            <a:extLst>
              <a:ext uri="{FF2B5EF4-FFF2-40B4-BE49-F238E27FC236}">
                <a16:creationId xmlns:a16="http://schemas.microsoft.com/office/drawing/2014/main" id="{BAAA2FAB-1843-D4B0-31BD-1455B89AF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606625" y="3237980"/>
            <a:ext cx="1463040" cy="438912"/>
          </a:xfrm>
          <a:prstGeom prst="roundRect">
            <a:avLst>
              <a:gd name="adj" fmla="val 35749"/>
            </a:avLst>
          </a:prstGeom>
          <a:gradFill flip="none" rotWithShape="1">
            <a:gsLst>
              <a:gs pos="0">
                <a:srgbClr val="325EB7"/>
              </a:gs>
              <a:gs pos="39000">
                <a:srgbClr val="5353B5"/>
              </a:gs>
            </a:gsLst>
            <a:lin ang="2400000" scaled="0"/>
            <a:tileRect/>
          </a:gradFill>
          <a:ln w="9525" cap="rnd">
            <a:noFill/>
          </a:ln>
        </p:spPr>
        <p:txBody>
          <a:bodyPr wrap="square" lIns="0" tIns="0" rIns="0" bIns="10837" rtlCol="0" anchor="ctr" anchorCtr="0">
            <a:noAutofit/>
          </a:bodyPr>
          <a:lstStyle/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Azure AI </a:t>
            </a:r>
          </a:p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Services</a:t>
            </a:r>
          </a:p>
        </p:txBody>
      </p:sp>
      <p:sp>
        <p:nvSpPr>
          <p:cNvPr id="71" name="Rounded Rectangle 6">
            <a:extLst>
              <a:ext uri="{FF2B5EF4-FFF2-40B4-BE49-F238E27FC236}">
                <a16:creationId xmlns:a16="http://schemas.microsoft.com/office/drawing/2014/main" id="{8972046B-F91B-DC5F-76A9-138E88C36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135193" y="3235710"/>
            <a:ext cx="1463040" cy="438912"/>
          </a:xfrm>
          <a:prstGeom prst="roundRect">
            <a:avLst>
              <a:gd name="adj" fmla="val 35749"/>
            </a:avLst>
          </a:prstGeom>
          <a:gradFill flip="none" rotWithShape="1">
            <a:gsLst>
              <a:gs pos="57000">
                <a:srgbClr val="8642B1"/>
              </a:gs>
              <a:gs pos="0">
                <a:srgbClr val="5951B4"/>
              </a:gs>
            </a:gsLst>
            <a:lin ang="2400000" scaled="0"/>
            <a:tileRect/>
          </a:gradFill>
          <a:ln w="9525" cap="rnd">
            <a:noFill/>
          </a:ln>
        </p:spPr>
        <p:txBody>
          <a:bodyPr wrap="square" lIns="0" tIns="0" rIns="0" bIns="10837" rtlCol="0" anchor="ctr" anchorCtr="0">
            <a:noAutofit/>
          </a:bodyPr>
          <a:lstStyle/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Azure </a:t>
            </a:r>
          </a:p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Machine Learning</a:t>
            </a:r>
          </a:p>
        </p:txBody>
      </p:sp>
      <p:sp>
        <p:nvSpPr>
          <p:cNvPr id="74" name="Rounded Rectangle 6">
            <a:extLst>
              <a:ext uri="{FF2B5EF4-FFF2-40B4-BE49-F238E27FC236}">
                <a16:creationId xmlns:a16="http://schemas.microsoft.com/office/drawing/2014/main" id="{A35A8832-48AB-A393-C3C7-0FFE1FFCF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663761" y="3237980"/>
            <a:ext cx="1463040" cy="438912"/>
          </a:xfrm>
          <a:prstGeom prst="roundRect">
            <a:avLst>
              <a:gd name="adj" fmla="val 35749"/>
            </a:avLst>
          </a:prstGeom>
          <a:gradFill flip="none" rotWithShape="1">
            <a:gsLst>
              <a:gs pos="80000">
                <a:srgbClr val="AC35AF"/>
              </a:gs>
              <a:gs pos="1000">
                <a:srgbClr val="8642B1"/>
              </a:gs>
            </a:gsLst>
            <a:lin ang="2400000" scaled="0"/>
            <a:tileRect/>
          </a:gradFill>
          <a:ln w="9525" cap="rnd">
            <a:noFill/>
          </a:ln>
        </p:spPr>
        <p:txBody>
          <a:bodyPr wrap="square" lIns="0" tIns="0" rIns="0" bIns="10837" rtlCol="0" anchor="ctr" anchorCtr="0">
            <a:noAutofit/>
          </a:bodyPr>
          <a:lstStyle/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Azure AI</a:t>
            </a:r>
          </a:p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Content Safety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B885A02-C076-606C-F78A-D5986D5E683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083891" y="3741116"/>
            <a:ext cx="6048192" cy="438912"/>
          </a:xfrm>
          <a:prstGeom prst="roundRect">
            <a:avLst>
              <a:gd name="adj" fmla="val 35536"/>
            </a:avLst>
          </a:prstGeom>
          <a:gradFill flip="none" rotWithShape="1">
            <a:gsLst>
              <a:gs pos="7000">
                <a:srgbClr val="2263B8"/>
              </a:gs>
              <a:gs pos="85000">
                <a:srgbClr val="A438B0"/>
              </a:gs>
            </a:gsLst>
            <a:lin ang="3600000" scaled="0"/>
            <a:tileRect/>
          </a:gradFill>
        </p:spPr>
        <p:txBody>
          <a:bodyPr wrap="square" lIns="0" tIns="0" rIns="0" bIns="10837" rtlCol="0" anchor="ctr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18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1290" algn="l"/>
              </a:tabLst>
              <a:defRPr/>
            </a:pPr>
            <a:r>
              <a:rPr kumimoji="0" lang="en-US" sz="1100" b="1" i="0" u="none" strike="noStrike" kern="1200" cap="none" spc="0" normalizeH="0" baseline="0" noProof="0" dirty="0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UI" pitchFamily="34" charset="0"/>
              </a:rPr>
              <a:t>Foundry Observability</a:t>
            </a:r>
          </a:p>
        </p:txBody>
      </p:sp>
      <p:sp useBgFill="1">
        <p:nvSpPr>
          <p:cNvPr id="46" name="TextBox 45">
            <a:extLst>
              <a:ext uri="{FF2B5EF4-FFF2-40B4-BE49-F238E27FC236}">
                <a16:creationId xmlns:a16="http://schemas.microsoft.com/office/drawing/2014/main" id="{E19B01A1-BC88-3ACA-32A2-6C6E40770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712852" y="4354532"/>
            <a:ext cx="2760472" cy="250972"/>
          </a:xfrm>
          <a:prstGeom prst="roundRect">
            <a:avLst>
              <a:gd name="adj" fmla="val 34392"/>
            </a:avLst>
          </a:prstGeom>
        </p:spPr>
        <p:txBody>
          <a:bodyPr wrap="square" lIns="54187" tIns="10837" rIns="54187" bIns="21675" rtlCol="0" anchor="ctr" anchorCtr="0">
            <a:spAutoFit/>
          </a:bodyPr>
          <a:lstStyle/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0000"/>
                    </a:gs>
                    <a:gs pos="99000">
                      <a:srgbClr val="000000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Segoe Sans Display Semibold"/>
              </a:rPr>
              <a:t>Security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7982">
                      <a:srgbClr val="000000">
                        <a:alpha val="50000"/>
                      </a:srgbClr>
                    </a:gs>
                    <a:gs pos="58716">
                      <a:srgbClr val="000000">
                        <a:alpha val="50000"/>
                      </a:srgbClr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+mn-cs"/>
              </a:rPr>
              <a:t>•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0000"/>
                    </a:gs>
                    <a:gs pos="99000">
                      <a:srgbClr val="000000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Segoe Sans Display Semibold"/>
              </a:rPr>
              <a:t>  Identity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7982">
                      <a:srgbClr val="000000">
                        <a:alpha val="50000"/>
                      </a:srgbClr>
                    </a:gs>
                    <a:gs pos="58716">
                      <a:srgbClr val="000000">
                        <a:alpha val="50000"/>
                      </a:srgbClr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+mn-cs"/>
              </a:rPr>
              <a:t>•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0000"/>
                    </a:gs>
                    <a:gs pos="99000">
                      <a:srgbClr val="000000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Segoe Sans Display Semibold"/>
              </a:rPr>
              <a:t>Management</a:t>
            </a:r>
          </a:p>
        </p:txBody>
      </p:sp>
      <p:grpSp>
        <p:nvGrpSpPr>
          <p:cNvPr id="85" name="Group 84" descr="copilot studio&#10;visual studio&#10;github&#10;foundry SDK">
            <a:extLst>
              <a:ext uri="{FF2B5EF4-FFF2-40B4-BE49-F238E27FC236}">
                <a16:creationId xmlns:a16="http://schemas.microsoft.com/office/drawing/2014/main" id="{41FB576E-ACCA-E159-3444-8C9808D8F55D}"/>
              </a:ext>
            </a:extLst>
          </p:cNvPr>
          <p:cNvGrpSpPr/>
          <p:nvPr/>
        </p:nvGrpSpPr>
        <p:grpSpPr>
          <a:xfrm>
            <a:off x="613050" y="1621264"/>
            <a:ext cx="1828800" cy="2858754"/>
            <a:chOff x="2232308" y="1724297"/>
            <a:chExt cx="1993574" cy="3383280"/>
          </a:xfrm>
        </p:grpSpPr>
        <p:sp>
          <p:nvSpPr>
            <p:cNvPr id="76" name="Rounded Rectangle 6">
              <a:extLst>
                <a:ext uri="{FF2B5EF4-FFF2-40B4-BE49-F238E27FC236}">
                  <a16:creationId xmlns:a16="http://schemas.microsoft.com/office/drawing/2014/main" id="{ADE3A328-8039-192A-2499-2767E7110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2232308" y="1724297"/>
              <a:ext cx="1993574" cy="3383280"/>
            </a:xfrm>
            <a:prstGeom prst="roundRect">
              <a:avLst>
                <a:gd name="adj" fmla="val 9110"/>
              </a:avLst>
            </a:prstGeom>
            <a:ln w="15875" cap="rnd">
              <a:solidFill>
                <a:srgbClr val="0A6BBA"/>
              </a:solidFill>
              <a:headEnd type="none" w="lg" len="sm"/>
              <a:tailEnd type="none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08345" tIns="86676" rIns="108345" bIns="8667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55246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67" b="1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000000"/>
                    </a:gs>
                    <a:gs pos="99000">
                      <a:srgbClr val="000000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Segoe UI" pitchFamily="34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E321A2C3-A512-98A5-391E-6BFD49730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01668" y="2171312"/>
              <a:ext cx="336279" cy="336278"/>
            </a:xfrm>
            <a:prstGeom prst="rect">
              <a:avLst/>
            </a:prstGeom>
            <a:effectLst/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7D7230E-A791-C77A-1052-7C246602A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976147" y="2053796"/>
              <a:ext cx="1097280" cy="57131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Copilot </a:t>
              </a:r>
              <a:b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</a:b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Studio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98C23CD1-3467-B4DC-8536-7D4E6B0CD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81" r="20481"/>
            <a:stretch/>
          </p:blipFill>
          <p:spPr>
            <a:xfrm>
              <a:off x="2498875" y="2872321"/>
              <a:ext cx="345117" cy="365348"/>
            </a:xfrm>
            <a:prstGeom prst="rect">
              <a:avLst/>
            </a:prstGeom>
            <a:ln w="6657" cap="flat">
              <a:noFill/>
              <a:prstDash val="solid"/>
              <a:miter/>
            </a:ln>
            <a:effectLst/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F37AE73-38A9-E474-D885-EF17C0D44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976147" y="2769340"/>
              <a:ext cx="1097280" cy="57131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Visual </a:t>
              </a:r>
              <a:b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</a:b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Studio</a:t>
              </a:r>
            </a:p>
          </p:txBody>
        </p:sp>
        <p:pic>
          <p:nvPicPr>
            <p:cNvPr id="81" name="Graphic 80">
              <a:extLst>
                <a:ext uri="{FF2B5EF4-FFF2-40B4-BE49-F238E27FC236}">
                  <a16:creationId xmlns:a16="http://schemas.microsoft.com/office/drawing/2014/main" id="{D43BEC3D-19DB-20EE-F46D-208C69BFE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-10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99640" y="3602703"/>
              <a:ext cx="340334" cy="335670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59C0DEC-9EB1-C905-E718-747A639BE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976147" y="3627713"/>
              <a:ext cx="1097280" cy="28565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GitHub</a:t>
              </a:r>
            </a:p>
          </p:txBody>
        </p:sp>
        <p:pic>
          <p:nvPicPr>
            <p:cNvPr id="83" name="Picture 82" descr="A blue and pink ribbon&#10;&#10;Description automatically generated">
              <a:extLst>
                <a:ext uri="{FF2B5EF4-FFF2-40B4-BE49-F238E27FC236}">
                  <a16:creationId xmlns:a16="http://schemas.microsoft.com/office/drawing/2014/main" id="{67BBF9AA-3DA2-FF9A-137B-E41AF8F6B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2842" y="4300070"/>
              <a:ext cx="363396" cy="363396"/>
            </a:xfrm>
            <a:prstGeom prst="rect">
              <a:avLst/>
            </a:prstGeom>
          </p:spPr>
        </p:pic>
        <p:sp>
          <p:nvSpPr>
            <p:cNvPr id="84" name="Rounded Rectangle 6">
              <a:extLst>
                <a:ext uri="{FF2B5EF4-FFF2-40B4-BE49-F238E27FC236}">
                  <a16:creationId xmlns:a16="http://schemas.microsoft.com/office/drawing/2014/main" id="{1FF4BFCD-6C41-8E4C-B742-50C86A9F5C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2976147" y="4200427"/>
              <a:ext cx="1097280" cy="57131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Foundry </a:t>
              </a:r>
              <a:b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</a:b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SDK</a:t>
              </a:r>
            </a:p>
          </p:txBody>
        </p:sp>
      </p:grpSp>
      <p:grpSp>
        <p:nvGrpSpPr>
          <p:cNvPr id="127" name="Group 126" descr="cloud&#10;azure&#10;azure arc&#10;foundry local&#10;edge">
            <a:extLst>
              <a:ext uri="{FF2B5EF4-FFF2-40B4-BE49-F238E27FC236}">
                <a16:creationId xmlns:a16="http://schemas.microsoft.com/office/drawing/2014/main" id="{64DC5487-F157-37A7-6C94-3D0BF89B8427}"/>
              </a:ext>
            </a:extLst>
          </p:cNvPr>
          <p:cNvGrpSpPr/>
          <p:nvPr/>
        </p:nvGrpSpPr>
        <p:grpSpPr>
          <a:xfrm>
            <a:off x="9750150" y="1621271"/>
            <a:ext cx="1828800" cy="2858747"/>
            <a:chOff x="16436156" y="1724296"/>
            <a:chExt cx="2249750" cy="3383280"/>
          </a:xfrm>
        </p:grpSpPr>
        <p:sp>
          <p:nvSpPr>
            <p:cNvPr id="114" name="Rounded Rectangle 6">
              <a:extLst>
                <a:ext uri="{FF2B5EF4-FFF2-40B4-BE49-F238E27FC236}">
                  <a16:creationId xmlns:a16="http://schemas.microsoft.com/office/drawing/2014/main" id="{01A28219-EE4E-A56D-52A3-289DAF9EA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6436156" y="1724296"/>
              <a:ext cx="2249750" cy="3383280"/>
            </a:xfrm>
            <a:prstGeom prst="roundRect">
              <a:avLst>
                <a:gd name="adj" fmla="val 9110"/>
              </a:avLst>
            </a:prstGeom>
            <a:noFill/>
            <a:ln w="15875" cap="rnd">
              <a:solidFill>
                <a:srgbClr val="AC35AF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54819" tIns="123855" rIns="154819" bIns="12385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78942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93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Segoe UI Variable Display Semib" pitchFamily="2" charset="0"/>
                <a:ea typeface="+mn-ea"/>
                <a:cs typeface="Segoe UI" pitchFamily="34" charset="0"/>
              </a:endParaRPr>
            </a:p>
          </p:txBody>
        </p:sp>
        <p:sp>
          <p:nvSpPr>
            <p:cNvPr id="115" name="Rounded Rectangle 6">
              <a:extLst>
                <a:ext uri="{FF2B5EF4-FFF2-40B4-BE49-F238E27FC236}">
                  <a16:creationId xmlns:a16="http://schemas.microsoft.com/office/drawing/2014/main" id="{244B68C8-0526-F16E-BF6B-6316BE07C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6577852" y="1911855"/>
              <a:ext cx="648567" cy="292389"/>
            </a:xfrm>
            <a:prstGeom prst="roundRect">
              <a:avLst>
                <a:gd name="adj" fmla="val 37156"/>
              </a:avLst>
            </a:prstGeom>
            <a:gradFill flip="none" rotWithShape="1">
              <a:gsLst>
                <a:gs pos="0">
                  <a:srgbClr val="702573"/>
                </a:gs>
                <a:gs pos="80000">
                  <a:srgbClr val="2A446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rnd">
              <a:noFill/>
              <a:headEnd type="none" w="lg" len="sm"/>
              <a:tailEnd type="none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none" lIns="54187" tIns="10837" rIns="54187" bIns="21675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22018">
                        <a:srgbClr val="FFFFFF"/>
                      </a:gs>
                      <a:gs pos="44000">
                        <a:srgbClr val="FFFFFF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" pitchFamily="2" charset="0"/>
                  <a:ea typeface="+mn-ea"/>
                  <a:cs typeface="Segoe Sans Display Semibold"/>
                </a:rPr>
                <a:t>Cloud</a:t>
              </a:r>
            </a:p>
          </p:txBody>
        </p:sp>
        <p:cxnSp>
          <p:nvCxnSpPr>
            <p:cNvPr id="116" name="!!Straight Arrow Connector 18">
              <a:extLst>
                <a:ext uri="{FF2B5EF4-FFF2-40B4-BE49-F238E27FC236}">
                  <a16:creationId xmlns:a16="http://schemas.microsoft.com/office/drawing/2014/main" id="{677E3353-BB6B-6837-97A2-A7768D40A2B4}"/>
                </a:ext>
              </a:extLst>
            </p:cNvPr>
            <p:cNvCxnSpPr>
              <a:cxnSpLocks/>
            </p:cNvCxnSpPr>
            <p:nvPr/>
          </p:nvCxnSpPr>
          <p:spPr>
            <a:xfrm>
              <a:off x="16902133" y="2290320"/>
              <a:ext cx="0" cy="228600"/>
            </a:xfrm>
            <a:prstGeom prst="straightConnector1">
              <a:avLst/>
            </a:prstGeom>
            <a:ln w="12700" cap="rnd">
              <a:solidFill>
                <a:schemeClr val="tx1">
                  <a:alpha val="50000"/>
                </a:schemeClr>
              </a:solidFill>
              <a:headEnd type="arrow" w="lg" len="sm"/>
              <a:tailEnd type="non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 useBgFill="1">
          <p:nvSpPr>
            <p:cNvPr id="117" name="TextBox 116">
              <a:extLst>
                <a:ext uri="{FF2B5EF4-FFF2-40B4-BE49-F238E27FC236}">
                  <a16:creationId xmlns:a16="http://schemas.microsoft.com/office/drawing/2014/main" id="{65A5AF71-3B2B-8293-3507-F6F1C46AD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17313105" y="2617479"/>
              <a:ext cx="1238313" cy="272671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Azure</a:t>
              </a:r>
            </a:p>
          </p:txBody>
        </p:sp>
        <p:cxnSp>
          <p:nvCxnSpPr>
            <p:cNvPr id="118" name="!!Straight Arrow Connector 46">
              <a:extLst>
                <a:ext uri="{FF2B5EF4-FFF2-40B4-BE49-F238E27FC236}">
                  <a16:creationId xmlns:a16="http://schemas.microsoft.com/office/drawing/2014/main" id="{925FF5EF-0A7C-10C1-2696-D0B6D204E6FA}"/>
                </a:ext>
              </a:extLst>
            </p:cNvPr>
            <p:cNvCxnSpPr>
              <a:cxnSpLocks/>
            </p:cNvCxnSpPr>
            <p:nvPr/>
          </p:nvCxnSpPr>
          <p:spPr>
            <a:xfrm>
              <a:off x="16902134" y="2999820"/>
              <a:ext cx="0" cy="204311"/>
            </a:xfrm>
            <a:prstGeom prst="straightConnector1">
              <a:avLst/>
            </a:prstGeom>
            <a:ln w="12700" cap="rnd">
              <a:solidFill>
                <a:schemeClr val="tx1">
                  <a:alpha val="50000"/>
                </a:schemeClr>
              </a:solidFill>
              <a:headEnd type="none" w="lg" len="sm"/>
              <a:tailEnd type="non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9" name="Graphic 118">
              <a:extLst>
                <a:ext uri="{FF2B5EF4-FFF2-40B4-BE49-F238E27FC236}">
                  <a16:creationId xmlns:a16="http://schemas.microsoft.com/office/drawing/2014/main" id="{3A2C4FF3-0DF3-A9BC-2A7D-360A3418C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6721237" y="3280721"/>
              <a:ext cx="361793" cy="261293"/>
            </a:xfrm>
            <a:prstGeom prst="rect">
              <a:avLst/>
            </a:prstGeom>
          </p:spPr>
        </p:pic>
        <p:sp useBgFill="1">
          <p:nvSpPr>
            <p:cNvPr id="120" name="TextBox 119">
              <a:extLst>
                <a:ext uri="{FF2B5EF4-FFF2-40B4-BE49-F238E27FC236}">
                  <a16:creationId xmlns:a16="http://schemas.microsoft.com/office/drawing/2014/main" id="{B7B4DF40-2112-CF4A-9C05-C635723C8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17313105" y="3131824"/>
              <a:ext cx="822960" cy="545341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Azure Arc</a:t>
              </a:r>
            </a:p>
          </p:txBody>
        </p:sp>
        <p:cxnSp>
          <p:nvCxnSpPr>
            <p:cNvPr id="121" name="!!Straight Arrow Connector 50">
              <a:extLst>
                <a:ext uri="{FF2B5EF4-FFF2-40B4-BE49-F238E27FC236}">
                  <a16:creationId xmlns:a16="http://schemas.microsoft.com/office/drawing/2014/main" id="{D7BE044A-5D3D-512B-5EF1-9BB14D2D9EAE}"/>
                </a:ext>
              </a:extLst>
            </p:cNvPr>
            <p:cNvCxnSpPr>
              <a:cxnSpLocks/>
            </p:cNvCxnSpPr>
            <p:nvPr/>
          </p:nvCxnSpPr>
          <p:spPr>
            <a:xfrm>
              <a:off x="16902134" y="3629443"/>
              <a:ext cx="0" cy="215065"/>
            </a:xfrm>
            <a:prstGeom prst="straightConnector1">
              <a:avLst/>
            </a:prstGeom>
            <a:ln w="12700" cap="rnd">
              <a:solidFill>
                <a:schemeClr val="tx1">
                  <a:alpha val="50000"/>
                </a:schemeClr>
              </a:solidFill>
              <a:headEnd type="none" w="lg" len="sm"/>
              <a:tailEnd type="non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EB823AF3-A127-A5BE-D2AD-FBBC745549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6739119" y="2609601"/>
              <a:ext cx="326029" cy="327916"/>
            </a:xfrm>
            <a:prstGeom prst="rect">
              <a:avLst/>
            </a:prstGeom>
          </p:spPr>
        </p:pic>
        <p:sp useBgFill="1">
          <p:nvSpPr>
            <p:cNvPr id="123" name="TextBox 122">
              <a:extLst>
                <a:ext uri="{FF2B5EF4-FFF2-40B4-BE49-F238E27FC236}">
                  <a16:creationId xmlns:a16="http://schemas.microsoft.com/office/drawing/2014/main" id="{727550A0-0AE6-F19A-8EFE-EB68C7E96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17313105" y="3782512"/>
              <a:ext cx="1075059" cy="545341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Foundry Local</a:t>
              </a:r>
            </a:p>
          </p:txBody>
        </p:sp>
        <p:cxnSp>
          <p:nvCxnSpPr>
            <p:cNvPr id="124" name="!!Straight Arrow Connector 45">
              <a:extLst>
                <a:ext uri="{FF2B5EF4-FFF2-40B4-BE49-F238E27FC236}">
                  <a16:creationId xmlns:a16="http://schemas.microsoft.com/office/drawing/2014/main" id="{59CB6473-4E5A-6355-D9E0-99CEDBED4E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02133" y="4316667"/>
              <a:ext cx="0" cy="228600"/>
            </a:xfrm>
            <a:prstGeom prst="straightConnector1">
              <a:avLst/>
            </a:prstGeom>
            <a:ln w="12700" cap="rnd">
              <a:solidFill>
                <a:schemeClr val="tx1">
                  <a:alpha val="50000"/>
                </a:schemeClr>
              </a:solidFill>
              <a:headEnd type="arrow" w="lg" len="sm"/>
              <a:tailEnd type="non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Rounded Rectangle 6">
              <a:extLst>
                <a:ext uri="{FF2B5EF4-FFF2-40B4-BE49-F238E27FC236}">
                  <a16:creationId xmlns:a16="http://schemas.microsoft.com/office/drawing/2014/main" id="{CAC4DF5D-4283-21E4-16EC-E6B2509F3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6627676" y="4637121"/>
              <a:ext cx="598736" cy="292388"/>
            </a:xfrm>
            <a:prstGeom prst="roundRect">
              <a:avLst>
                <a:gd name="adj" fmla="val 37156"/>
              </a:avLst>
            </a:prstGeom>
            <a:gradFill flip="none" rotWithShape="1">
              <a:gsLst>
                <a:gs pos="0">
                  <a:srgbClr val="702573"/>
                </a:gs>
                <a:gs pos="80000">
                  <a:srgbClr val="2A446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rnd">
              <a:noFill/>
              <a:headEnd type="none" w="lg" len="sm"/>
              <a:tailEnd type="none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54187" tIns="10837" rIns="54187" bIns="21675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22018">
                        <a:srgbClr val="FFFFFF"/>
                      </a:gs>
                      <a:gs pos="44000">
                        <a:srgbClr val="FFFFFF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" pitchFamily="2" charset="0"/>
                  <a:ea typeface="+mn-ea"/>
                  <a:cs typeface="Segoe Sans Display Semibold"/>
                </a:rPr>
                <a:t>Edge</a:t>
              </a:r>
            </a:p>
          </p:txBody>
        </p:sp>
        <p:pic>
          <p:nvPicPr>
            <p:cNvPr id="126" name="Graphic 125">
              <a:extLst>
                <a:ext uri="{FF2B5EF4-FFF2-40B4-BE49-F238E27FC236}">
                  <a16:creationId xmlns:a16="http://schemas.microsoft.com/office/drawing/2014/main" id="{BBADE819-DE8D-2FDB-FCBB-40582F3C3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6706009" y="3869178"/>
              <a:ext cx="398598" cy="398598"/>
            </a:xfrm>
            <a:prstGeom prst="rect">
              <a:avLst/>
            </a:prstGeom>
          </p:spPr>
        </p:pic>
      </p:grpSp>
      <p:grpSp>
        <p:nvGrpSpPr>
          <p:cNvPr id="104" name="Group 103" descr="Control&#10;Azure Kubernetes Service&#10;Azure App Service&#10;Azure Container Apps&#10;Azure Functions&#10;Serverless">
            <a:extLst>
              <a:ext uri="{FF2B5EF4-FFF2-40B4-BE49-F238E27FC236}">
                <a16:creationId xmlns:a16="http://schemas.microsoft.com/office/drawing/2014/main" id="{BD97EA36-A846-02B4-3163-B061AE7A9E07}"/>
              </a:ext>
            </a:extLst>
          </p:cNvPr>
          <p:cNvGrpSpPr/>
          <p:nvPr/>
        </p:nvGrpSpPr>
        <p:grpSpPr>
          <a:xfrm>
            <a:off x="2896075" y="4883686"/>
            <a:ext cx="6394027" cy="345175"/>
            <a:chOff x="4708657" y="5147999"/>
            <a:chExt cx="11146536" cy="298985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1689C9B2-1F9D-27CB-FDEF-17DDB9FA8F54}"/>
                </a:ext>
              </a:extLst>
            </p:cNvPr>
            <p:cNvSpPr/>
            <p:nvPr/>
          </p:nvSpPr>
          <p:spPr bwMode="auto">
            <a:xfrm>
              <a:off x="4708657" y="5147999"/>
              <a:ext cx="11146536" cy="298985"/>
            </a:xfrm>
            <a:prstGeom prst="roundRect">
              <a:avLst>
                <a:gd name="adj" fmla="val 31390"/>
              </a:avLst>
            </a:prstGeom>
            <a:gradFill flip="none" rotWithShape="1">
              <a:gsLst>
                <a:gs pos="0">
                  <a:srgbClr val="702573">
                    <a:alpha val="10000"/>
                  </a:srgbClr>
                </a:gs>
                <a:gs pos="80000">
                  <a:srgbClr val="2A446F">
                    <a:alpha val="1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86699" rIns="108373" bIns="86699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55258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37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cxnSp>
          <p:nvCxnSpPr>
            <p:cNvPr id="88" name="!!Straight Arrow Connector 50">
              <a:extLst>
                <a:ext uri="{FF2B5EF4-FFF2-40B4-BE49-F238E27FC236}">
                  <a16:creationId xmlns:a16="http://schemas.microsoft.com/office/drawing/2014/main" id="{2475A81F-6963-79CC-9BB1-BB85ED0865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49206" y="5300357"/>
              <a:ext cx="228601" cy="0"/>
            </a:xfrm>
            <a:prstGeom prst="straightConnector1">
              <a:avLst/>
            </a:prstGeom>
            <a:ln w="12700" cap="rnd">
              <a:solidFill>
                <a:schemeClr val="tx1">
                  <a:alpha val="50000"/>
                </a:schemeClr>
              </a:solidFill>
              <a:headEnd type="arrow" w="lg" len="sm"/>
              <a:tailEnd type="non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ounded Rectangle 6">
              <a:extLst>
                <a:ext uri="{FF2B5EF4-FFF2-40B4-BE49-F238E27FC236}">
                  <a16:creationId xmlns:a16="http://schemas.microsoft.com/office/drawing/2014/main" id="{433413E8-5C6E-D733-C344-92AB43ABF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4705471" y="5214533"/>
              <a:ext cx="1052076" cy="171650"/>
            </a:xfrm>
            <a:prstGeom prst="roundRect">
              <a:avLst>
                <a:gd name="adj" fmla="val 37156"/>
              </a:avLst>
            </a:prstGeom>
            <a:gradFill flip="none" rotWithShape="1">
              <a:gsLst>
                <a:gs pos="0">
                  <a:srgbClr val="702573"/>
                </a:gs>
                <a:gs pos="80000">
                  <a:srgbClr val="2A446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rnd">
              <a:noFill/>
              <a:headEnd type="none" w="lg" len="sm"/>
              <a:tailEnd type="none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none" lIns="54187" tIns="10837" rIns="54187" bIns="21675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18">
                        <a:srgbClr val="FFFFFF"/>
                      </a:gs>
                      <a:gs pos="44000">
                        <a:srgbClr val="FFFFFF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" pitchFamily="2" charset="0"/>
                  <a:ea typeface="+mn-ea"/>
                  <a:cs typeface="Segoe Sans Display Semibold"/>
                </a:rPr>
                <a:t>Serverless</a:t>
              </a:r>
            </a:p>
          </p:txBody>
        </p:sp>
        <p:sp>
          <p:nvSpPr>
            <p:cNvPr id="90" name="Rounded Rectangle 6">
              <a:extLst>
                <a:ext uri="{FF2B5EF4-FFF2-40B4-BE49-F238E27FC236}">
                  <a16:creationId xmlns:a16="http://schemas.microsoft.com/office/drawing/2014/main" id="{083B576B-3BFD-25E7-2577-E4F382FCC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4798938" y="5214533"/>
              <a:ext cx="856475" cy="171650"/>
            </a:xfrm>
            <a:prstGeom prst="roundRect">
              <a:avLst>
                <a:gd name="adj" fmla="val 37156"/>
              </a:avLst>
            </a:prstGeom>
            <a:gradFill flip="none" rotWithShape="1">
              <a:gsLst>
                <a:gs pos="0">
                  <a:srgbClr val="702573"/>
                </a:gs>
                <a:gs pos="80000">
                  <a:srgbClr val="2A446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rnd">
              <a:noFill/>
              <a:headEnd type="none" w="lg" len="sm"/>
              <a:tailEnd type="none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none" lIns="54187" tIns="10837" rIns="54187" bIns="21675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r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18">
                        <a:srgbClr val="FFFFFF"/>
                      </a:gs>
                      <a:gs pos="44000">
                        <a:srgbClr val="FFFFFF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" pitchFamily="2" charset="0"/>
                  <a:ea typeface="+mn-ea"/>
                  <a:cs typeface="Segoe Sans Display Semibold"/>
                </a:rPr>
                <a:t>Control</a:t>
              </a:r>
            </a:p>
          </p:txBody>
        </p:sp>
        <p:cxnSp>
          <p:nvCxnSpPr>
            <p:cNvPr id="91" name="!!Straight Arrow Connector 55">
              <a:extLst>
                <a:ext uri="{FF2B5EF4-FFF2-40B4-BE49-F238E27FC236}">
                  <a16:creationId xmlns:a16="http://schemas.microsoft.com/office/drawing/2014/main" id="{69C1A453-3D3C-7C82-1D6E-C389C30BDF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83081" y="5300357"/>
              <a:ext cx="228601" cy="0"/>
            </a:xfrm>
            <a:prstGeom prst="straightConnector1">
              <a:avLst/>
            </a:prstGeom>
            <a:ln w="12700" cap="rnd">
              <a:solidFill>
                <a:schemeClr val="tx1">
                  <a:alpha val="50000"/>
                </a:schemeClr>
              </a:solidFill>
              <a:headEnd type="arrow" w="lg" len="sm"/>
              <a:tailEnd type="non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7592594A-9B54-BA45-071A-ACCE057C0E4E}"/>
                </a:ext>
              </a:extLst>
            </p:cNvPr>
            <p:cNvGrpSpPr/>
            <p:nvPr/>
          </p:nvGrpSpPr>
          <p:grpSpPr>
            <a:xfrm>
              <a:off x="6071599" y="5204313"/>
              <a:ext cx="2312716" cy="192084"/>
              <a:chOff x="5813453" y="5319110"/>
              <a:chExt cx="2312716" cy="192084"/>
            </a:xfrm>
          </p:grpSpPr>
          <p:sp useBgFill="1">
            <p:nvSpPr>
              <p:cNvPr id="102" name="Rounded Rectangle 6">
                <a:extLst>
                  <a:ext uri="{FF2B5EF4-FFF2-40B4-BE49-F238E27FC236}">
                    <a16:creationId xmlns:a16="http://schemas.microsoft.com/office/drawing/2014/main" id="{59FE60D4-E804-AF8E-BF76-DD8DC2B932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5813453" y="5319110"/>
                <a:ext cx="2312716" cy="192084"/>
              </a:xfrm>
              <a:prstGeom prst="roundRect">
                <a:avLst>
                  <a:gd name="adj" fmla="val 29733"/>
                </a:avLst>
              </a:prstGeom>
              <a:ln w="19050" cap="rnd">
                <a:noFill/>
                <a:headEnd type="none" w="lg" len="sm"/>
                <a:tailEnd type="none" w="lg" len="sm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none" lIns="243840" tIns="32512" rIns="54187" bIns="43349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000000"/>
                        </a:gs>
                        <a:gs pos="99000">
                          <a:srgbClr val="000000"/>
                        </a:gs>
                      </a:gsLst>
                      <a:path path="circle">
                        <a:fillToRect r="100000" b="100000"/>
                      </a:path>
                    </a:gradFill>
                    <a:effectLst/>
                    <a:uLnTx/>
                    <a:uFillTx/>
                    <a:latin typeface="Segoe UI Variable Display Semib" pitchFamily="2" charset="0"/>
                    <a:ea typeface="+mn-ea"/>
                    <a:cs typeface="Segoe Sans Display Semibold"/>
                  </a:rPr>
                  <a:t>Azure Kubernetes Service</a:t>
                </a:r>
              </a:p>
            </p:txBody>
          </p:sp>
          <p:pic>
            <p:nvPicPr>
              <p:cNvPr id="103" name="Graphic 102">
                <a:extLst>
                  <a:ext uri="{FF2B5EF4-FFF2-40B4-BE49-F238E27FC236}">
                    <a16:creationId xmlns:a16="http://schemas.microsoft.com/office/drawing/2014/main" id="{26016EE8-E652-D474-2FB9-CB2382B77E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>
                <a:off x="5902215" y="5336669"/>
                <a:ext cx="342778" cy="151241"/>
              </a:xfrm>
              <a:prstGeom prst="rect">
                <a:avLst/>
              </a:prstGeom>
              <a:effectLst/>
            </p:spPr>
          </p:pic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6573F332-91F9-863C-F465-CC760F2EE8CA}"/>
                </a:ext>
              </a:extLst>
            </p:cNvPr>
            <p:cNvGrpSpPr/>
            <p:nvPr/>
          </p:nvGrpSpPr>
          <p:grpSpPr>
            <a:xfrm>
              <a:off x="10419568" y="5204314"/>
              <a:ext cx="2070221" cy="192084"/>
              <a:chOff x="10439045" y="5319112"/>
              <a:chExt cx="2070221" cy="192084"/>
            </a:xfrm>
          </p:grpSpPr>
          <p:sp useBgFill="1">
            <p:nvSpPr>
              <p:cNvPr id="100" name="Rounded Rectangle 6">
                <a:extLst>
                  <a:ext uri="{FF2B5EF4-FFF2-40B4-BE49-F238E27FC236}">
                    <a16:creationId xmlns:a16="http://schemas.microsoft.com/office/drawing/2014/main" id="{FA611AF0-45BC-C88B-D0FB-00A20705C5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10439045" y="5319112"/>
                <a:ext cx="2070221" cy="192084"/>
              </a:xfrm>
              <a:prstGeom prst="roundRect">
                <a:avLst>
                  <a:gd name="adj" fmla="val 29733"/>
                </a:avLst>
              </a:prstGeom>
              <a:ln w="19050" cap="rnd">
                <a:noFill/>
                <a:headEnd type="none" w="lg" len="sm"/>
                <a:tailEnd type="none" w="lg" len="sm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none" lIns="243840" tIns="32512" rIns="54187" bIns="43349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000000"/>
                        </a:gs>
                        <a:gs pos="99000">
                          <a:srgbClr val="000000"/>
                        </a:gs>
                      </a:gsLst>
                      <a:path path="circle">
                        <a:fillToRect r="100000" b="100000"/>
                      </a:path>
                    </a:gradFill>
                    <a:effectLst/>
                    <a:uLnTx/>
                    <a:uFillTx/>
                    <a:latin typeface="Segoe UI Variable Display Semib" pitchFamily="2" charset="0"/>
                    <a:ea typeface="+mn-ea"/>
                    <a:cs typeface="Segoe Sans Display Semibold"/>
                  </a:rPr>
                  <a:t>Azure Container Apps</a:t>
                </a:r>
              </a:p>
            </p:txBody>
          </p:sp>
          <p:pic>
            <p:nvPicPr>
              <p:cNvPr id="101" name="Graphic 100">
                <a:extLst>
                  <a:ext uri="{FF2B5EF4-FFF2-40B4-BE49-F238E27FC236}">
                    <a16:creationId xmlns:a16="http://schemas.microsoft.com/office/drawing/2014/main" id="{B3B06695-E65D-7536-FC03-32E99E713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lum bright="-8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/>
              <a:stretch/>
            </p:blipFill>
            <p:spPr>
              <a:xfrm>
                <a:off x="10538261" y="5323391"/>
                <a:ext cx="328502" cy="187803"/>
              </a:xfrm>
              <a:prstGeom prst="rect">
                <a:avLst/>
              </a:prstGeom>
              <a:effectLst/>
            </p:spPr>
          </p:pic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7A437BFB-7BA4-6BA6-DFF6-B9C0EA883AE5}"/>
                </a:ext>
              </a:extLst>
            </p:cNvPr>
            <p:cNvGrpSpPr/>
            <p:nvPr/>
          </p:nvGrpSpPr>
          <p:grpSpPr>
            <a:xfrm>
              <a:off x="8496796" y="5204314"/>
              <a:ext cx="1814134" cy="192084"/>
              <a:chOff x="8323727" y="5319111"/>
              <a:chExt cx="1814134" cy="192084"/>
            </a:xfrm>
          </p:grpSpPr>
          <p:sp useBgFill="1">
            <p:nvSpPr>
              <p:cNvPr id="98" name="Rounded Rectangle 6">
                <a:extLst>
                  <a:ext uri="{FF2B5EF4-FFF2-40B4-BE49-F238E27FC236}">
                    <a16:creationId xmlns:a16="http://schemas.microsoft.com/office/drawing/2014/main" id="{AD174FAD-E8A0-3DD9-C846-B07932A3C1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8323727" y="5319111"/>
                <a:ext cx="1814134" cy="192084"/>
              </a:xfrm>
              <a:prstGeom prst="roundRect">
                <a:avLst>
                  <a:gd name="adj" fmla="val 29733"/>
                </a:avLst>
              </a:prstGeom>
              <a:ln w="19050" cap="rnd">
                <a:noFill/>
                <a:headEnd type="none" w="lg" len="sm"/>
                <a:tailEnd type="none" w="lg" len="sm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none" lIns="243840" tIns="32512" rIns="54187" bIns="43349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000000"/>
                        </a:gs>
                        <a:gs pos="99000">
                          <a:srgbClr val="000000"/>
                        </a:gs>
                      </a:gsLst>
                      <a:path path="circle">
                        <a:fillToRect r="100000" b="100000"/>
                      </a:path>
                    </a:gradFill>
                    <a:effectLst/>
                    <a:uLnTx/>
                    <a:uFillTx/>
                    <a:latin typeface="Segoe UI Variable Display Semib" pitchFamily="2" charset="0"/>
                    <a:ea typeface="+mn-ea"/>
                    <a:cs typeface="Segoe Sans Display Semibold"/>
                  </a:rPr>
                  <a:t>Azure App Service</a:t>
                </a:r>
              </a:p>
            </p:txBody>
          </p:sp>
          <p:pic>
            <p:nvPicPr>
              <p:cNvPr id="99" name="Graphic 98">
                <a:extLst>
                  <a:ext uri="{FF2B5EF4-FFF2-40B4-BE49-F238E27FC236}">
                    <a16:creationId xmlns:a16="http://schemas.microsoft.com/office/drawing/2014/main" id="{732EBF77-CFB8-8CE2-893B-8E09ADF5FE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439060" y="5336671"/>
                <a:ext cx="322394" cy="151238"/>
              </a:xfrm>
              <a:prstGeom prst="rect">
                <a:avLst/>
              </a:prstGeom>
            </p:spPr>
          </p:pic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1CB5DF5-6A5E-D35E-2AB8-1CEBEEF36370}"/>
                </a:ext>
              </a:extLst>
            </p:cNvPr>
            <p:cNvGrpSpPr/>
            <p:nvPr/>
          </p:nvGrpSpPr>
          <p:grpSpPr>
            <a:xfrm>
              <a:off x="12602962" y="5204313"/>
              <a:ext cx="1671031" cy="192084"/>
              <a:chOff x="12850678" y="5319111"/>
              <a:chExt cx="1671031" cy="192084"/>
            </a:xfrm>
          </p:grpSpPr>
          <p:sp useBgFill="1">
            <p:nvSpPr>
              <p:cNvPr id="96" name="Rounded Rectangle 6">
                <a:extLst>
                  <a:ext uri="{FF2B5EF4-FFF2-40B4-BE49-F238E27FC236}">
                    <a16:creationId xmlns:a16="http://schemas.microsoft.com/office/drawing/2014/main" id="{29C0B081-4E02-056F-9BC1-E1CC595E9E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12850678" y="5319111"/>
                <a:ext cx="1671031" cy="192084"/>
              </a:xfrm>
              <a:prstGeom prst="roundRect">
                <a:avLst>
                  <a:gd name="adj" fmla="val 29733"/>
                </a:avLst>
              </a:prstGeom>
              <a:ln w="19050" cap="rnd">
                <a:noFill/>
                <a:headEnd type="none" w="lg" len="sm"/>
                <a:tailEnd type="none" w="lg" len="sm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none" lIns="243840" tIns="32512" rIns="54187" bIns="43349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000000"/>
                        </a:gs>
                        <a:gs pos="99000">
                          <a:srgbClr val="000000"/>
                        </a:gs>
                      </a:gsLst>
                      <a:path path="circle">
                        <a:fillToRect r="100000" b="100000"/>
                      </a:path>
                    </a:gradFill>
                    <a:effectLst/>
                    <a:uLnTx/>
                    <a:uFillTx/>
                    <a:latin typeface="Segoe UI Variable Display Semib" pitchFamily="2" charset="0"/>
                    <a:ea typeface="+mn-ea"/>
                    <a:cs typeface="Segoe Sans Display Semibold"/>
                  </a:rPr>
                  <a:t>Azure Functions</a:t>
                </a:r>
              </a:p>
            </p:txBody>
          </p:sp>
          <p:pic>
            <p:nvPicPr>
              <p:cNvPr id="97" name="Picture Placeholder 6">
                <a:extLst>
                  <a:ext uri="{FF2B5EF4-FFF2-40B4-BE49-F238E27FC236}">
                    <a16:creationId xmlns:a16="http://schemas.microsoft.com/office/drawing/2014/main" id="{907D3A31-E56C-3096-E81D-F1C6EF2DE2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 l="6" r="6"/>
              <a:stretch/>
            </p:blipFill>
            <p:spPr>
              <a:xfrm>
                <a:off x="12945360" y="5337071"/>
                <a:ext cx="322392" cy="150840"/>
              </a:xfrm>
              <a:prstGeom prst="rect">
                <a:avLst/>
              </a:prstGeom>
              <a:effectLst/>
            </p:spPr>
          </p:pic>
        </p:grpSp>
      </p:grpSp>
    </p:spTree>
    <p:extLst>
      <p:ext uri="{BB962C8B-B14F-4D97-AF65-F5344CB8AC3E}">
        <p14:creationId xmlns:p14="http://schemas.microsoft.com/office/powerpoint/2010/main" val="21821041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 0.03541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85185E-6 L 0 0.03541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6" presetClass="entr" presetSubtype="37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27" dur="7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32" dur="700" spd="-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path" presetSubtype="0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42" dur="700" spd="-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52" dur="700" spd="-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57" dur="70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4.44444E-6 4.07407E-6 L -0.01797 4.07407E-6 " pathEditMode="relative" rAng="0" ptsTypes="AA">
                                      <p:cBhvr>
                                        <p:cTn id="62" dur="700" spd="-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3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path" presetSubtype="0" decel="10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67" dur="700" spd="-100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1.60494E-6 1.85185E-6 L -0.00702 1.85185E-6 " pathEditMode="relative" rAng="0" ptsTypes="AA">
                                      <p:cBhvr>
                                        <p:cTn id="72" dur="700" spd="-100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5" y="0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1.97531E-6 3.33333E-6 L 0.00756 3.33333E-6 " pathEditMode="relative" rAng="0" ptsTypes="AA">
                                      <p:cBhvr>
                                        <p:cTn id="77" dur="700" spd="-100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8" y="0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1.97531E-6 1.85185E-6 L -0.00702 1.85185E-6 " pathEditMode="relative" rAng="0" ptsTypes="AA">
                                      <p:cBhvr>
                                        <p:cTn id="82" dur="700" spd="-100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5" y="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1.60494E-6 3.33333E-6 L 0.00733 3.33333E-6 " pathEditMode="relative" rAng="0" ptsTypes="AA">
                                      <p:cBhvr>
                                        <p:cTn id="87" dur="700" spd="-100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3" y="0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4.44444E-6 4.07407E-6 L 0.02199 4.07407E-6 " pathEditMode="relative" rAng="0" ptsTypes="AA">
                                      <p:cBhvr>
                                        <p:cTn id="92" dur="700" spd="-100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43" grpId="0" animBg="1"/>
      <p:bldP spid="43" grpId="1" animBg="1"/>
      <p:bldP spid="48" grpId="0" animBg="1"/>
      <p:bldP spid="48" grpId="1" animBg="1"/>
      <p:bldP spid="50" grpId="0" animBg="1"/>
      <p:bldP spid="50" grpId="1" animBg="1"/>
      <p:bldP spid="54" grpId="0" animBg="1"/>
      <p:bldP spid="54" grpId="1" animBg="1"/>
      <p:bldP spid="69" grpId="0" animBg="1"/>
      <p:bldP spid="69" grpId="1" animBg="1"/>
      <p:bldP spid="71" grpId="0" animBg="1"/>
      <p:bldP spid="71" grpId="1" animBg="1"/>
      <p:bldP spid="74" grpId="0" animBg="1"/>
      <p:bldP spid="74" grpId="1" animBg="1"/>
      <p:bldP spid="58" grpId="0" animBg="1"/>
      <p:bldP spid="58" grpId="1" animBg="1"/>
      <p:bldP spid="4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9BEB4-91B4-39D3-E4CF-40077B042A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74750" y="457200"/>
            <a:ext cx="11017250" cy="1108075"/>
          </a:xfrm>
        </p:spPr>
        <p:txBody>
          <a:bodyPr>
            <a:spAutoFit/>
          </a:bodyPr>
          <a:lstStyle/>
          <a:p>
            <a:pPr algn="ctr"/>
            <a:r>
              <a:rPr lang="en-US" b="1" spc="0">
                <a:gradFill flip="none" rotWithShape="1">
                  <a:gsLst>
                    <a:gs pos="0">
                      <a:srgbClr val="73262F"/>
                    </a:gs>
                    <a:gs pos="80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70,000+ organizations</a:t>
            </a:r>
            <a:br>
              <a:rPr lang="en-US">
                <a:gradFill>
                  <a:gsLst>
                    <a:gs pos="0">
                      <a:schemeClr val="tx1"/>
                    </a:gs>
                    <a:gs pos="79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cs typeface="Segoe UI"/>
              </a:rPr>
            </a:br>
            <a:r>
              <a:rPr lang="en-US">
                <a:gradFill>
                  <a:gsLst>
                    <a:gs pos="0">
                      <a:schemeClr val="tx1"/>
                    </a:gs>
                    <a:gs pos="79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cs typeface="Segoe UI"/>
              </a:rPr>
              <a:t>using Azure AI Foundry today</a:t>
            </a:r>
          </a:p>
        </p:txBody>
      </p:sp>
      <p:sp>
        <p:nvSpPr>
          <p:cNvPr id="37" name="Rounded Rectangle 64">
            <a:extLst>
              <a:ext uri="{FF2B5EF4-FFF2-40B4-BE49-F238E27FC236}">
                <a16:creationId xmlns:a16="http://schemas.microsoft.com/office/drawing/2014/main" id="{614AC165-3B09-CBDB-4B97-262E4B1DE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56542" y="1856391"/>
            <a:ext cx="11233808" cy="4412647"/>
          </a:xfrm>
          <a:prstGeom prst="roundRect">
            <a:avLst>
              <a:gd name="adj" fmla="val 3991"/>
            </a:avLst>
          </a:prstGeom>
          <a:solidFill>
            <a:srgbClr val="2A446F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Variable Display Semib" pitchFamily="2" charset="0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7116E9B-76BC-8D24-834B-DD66181CC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46985" y="2581899"/>
            <a:ext cx="9812559" cy="548640"/>
            <a:chOff x="1146985" y="2626536"/>
            <a:chExt cx="9812559" cy="548640"/>
          </a:xfrm>
        </p:grpSpPr>
        <p:pic>
          <p:nvPicPr>
            <p:cNvPr id="39" name="Picture 38" descr="Contraforce logo&#10;">
              <a:extLst>
                <a:ext uri="{FF2B5EF4-FFF2-40B4-BE49-F238E27FC236}">
                  <a16:creationId xmlns:a16="http://schemas.microsoft.com/office/drawing/2014/main" id="{7A163008-732C-A732-AC9B-9DB4FE01E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046" y="2786310"/>
              <a:ext cx="1188720" cy="229092"/>
            </a:xfrm>
            <a:prstGeom prst="rect">
              <a:avLst/>
            </a:prstGeom>
          </p:spPr>
        </p:pic>
        <p:pic>
          <p:nvPicPr>
            <p:cNvPr id="40" name="Graphic 39" descr="Corti logo">
              <a:extLst>
                <a:ext uri="{FF2B5EF4-FFF2-40B4-BE49-F238E27FC236}">
                  <a16:creationId xmlns:a16="http://schemas.microsoft.com/office/drawing/2014/main" id="{943DAC62-1800-9D22-AA27-D2616BF67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08056" y="2763696"/>
              <a:ext cx="642938" cy="274320"/>
            </a:xfrm>
            <a:prstGeom prst="rect">
              <a:avLst/>
            </a:prstGeom>
          </p:spPr>
        </p:pic>
        <p:pic>
          <p:nvPicPr>
            <p:cNvPr id="41" name="Picture 40" descr="Crowdbotics logo">
              <a:extLst>
                <a:ext uri="{FF2B5EF4-FFF2-40B4-BE49-F238E27FC236}">
                  <a16:creationId xmlns:a16="http://schemas.microsoft.com/office/drawing/2014/main" id="{798FE885-0109-2C9B-B78B-F1D38747B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8284" y="2819803"/>
              <a:ext cx="785591" cy="162106"/>
            </a:xfrm>
            <a:prstGeom prst="rect">
              <a:avLst/>
            </a:prstGeom>
          </p:spPr>
        </p:pic>
        <p:pic>
          <p:nvPicPr>
            <p:cNvPr id="42" name="Picture 41" descr="DataDog logo">
              <a:extLst>
                <a:ext uri="{FF2B5EF4-FFF2-40B4-BE49-F238E27FC236}">
                  <a16:creationId xmlns:a16="http://schemas.microsoft.com/office/drawing/2014/main" id="{B8245474-F597-22DA-CD17-E1EB1D874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1165" y="2626536"/>
              <a:ext cx="553082" cy="548640"/>
            </a:xfrm>
            <a:prstGeom prst="rect">
              <a:avLst/>
            </a:prstGeom>
          </p:spPr>
        </p:pic>
        <p:pic>
          <p:nvPicPr>
            <p:cNvPr id="43" name="Picture 42" descr="Dentsu logo">
              <a:extLst>
                <a:ext uri="{FF2B5EF4-FFF2-40B4-BE49-F238E27FC236}">
                  <a16:creationId xmlns:a16="http://schemas.microsoft.com/office/drawing/2014/main" id="{CDAA0256-8D45-EE4C-127F-77690E8E1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01937" y="2848899"/>
              <a:ext cx="498788" cy="103914"/>
            </a:xfrm>
            <a:prstGeom prst="rect">
              <a:avLst/>
            </a:prstGeom>
          </p:spPr>
        </p:pic>
        <p:pic>
          <p:nvPicPr>
            <p:cNvPr id="44" name="Graphic 43" descr="Docusign logo">
              <a:extLst>
                <a:ext uri="{FF2B5EF4-FFF2-40B4-BE49-F238E27FC236}">
                  <a16:creationId xmlns:a16="http://schemas.microsoft.com/office/drawing/2014/main" id="{242DCF47-7D11-B063-A592-00043CBF4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508015" y="2824645"/>
              <a:ext cx="758952" cy="152423"/>
            </a:xfrm>
            <a:prstGeom prst="rect">
              <a:avLst/>
            </a:prstGeom>
          </p:spPr>
        </p:pic>
        <p:pic>
          <p:nvPicPr>
            <p:cNvPr id="45" name="Picture 44" descr="Elastic&#10;">
              <a:extLst>
                <a:ext uri="{FF2B5EF4-FFF2-40B4-BE49-F238E27FC236}">
                  <a16:creationId xmlns:a16="http://schemas.microsoft.com/office/drawing/2014/main" id="{B96855A0-C89F-E7FC-4890-0793557C6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4257" y="2767846"/>
              <a:ext cx="785591" cy="266020"/>
            </a:xfrm>
            <a:prstGeom prst="rect">
              <a:avLst/>
            </a:prstGeom>
          </p:spPr>
        </p:pic>
        <p:pic>
          <p:nvPicPr>
            <p:cNvPr id="46" name="Picture 45" descr="C.H. Robinson logo">
              <a:extLst>
                <a:ext uri="{FF2B5EF4-FFF2-40B4-BE49-F238E27FC236}">
                  <a16:creationId xmlns:a16="http://schemas.microsoft.com/office/drawing/2014/main" id="{FCEE9871-18C1-BED3-5C85-93585F82E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985" y="2631045"/>
              <a:ext cx="768964" cy="365778"/>
            </a:xfrm>
            <a:prstGeom prst="rect">
              <a:avLst/>
            </a:prstGeom>
          </p:spPr>
        </p:pic>
        <p:pic>
          <p:nvPicPr>
            <p:cNvPr id="47" name="Picture 46" descr="A white text on a black background&#10;&#10;AI-generated content may be incorrect.">
              <a:extLst>
                <a:ext uri="{FF2B5EF4-FFF2-40B4-BE49-F238E27FC236}">
                  <a16:creationId xmlns:a16="http://schemas.microsoft.com/office/drawing/2014/main" id="{3CE2FD6B-D941-1269-47B7-EAEEC1A97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123239" y="2809416"/>
              <a:ext cx="581517" cy="182880"/>
            </a:xfrm>
            <a:prstGeom prst="rect">
              <a:avLst/>
            </a:prstGeom>
          </p:spPr>
        </p:pic>
        <p:pic>
          <p:nvPicPr>
            <p:cNvPr id="48" name="ERM" descr="A green circle with black background&#10;&#10;Description automatically generated">
              <a:extLst>
                <a:ext uri="{FF2B5EF4-FFF2-40B4-BE49-F238E27FC236}">
                  <a16:creationId xmlns:a16="http://schemas.microsoft.com/office/drawing/2014/main" id="{AEB96872-D832-6DDC-3E26-06031DF27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67136" y="2654653"/>
              <a:ext cx="492408" cy="492408"/>
            </a:xfrm>
            <a:prstGeom prst="rect">
              <a:avLst/>
            </a:prstGeom>
          </p:spPr>
        </p:pic>
        <p:pic>
          <p:nvPicPr>
            <p:cNvPr id="50" name="Picture 49" descr="A black background with a white spot&#10;&#10;AI-generated content may be incorrect.">
              <a:extLst>
                <a:ext uri="{FF2B5EF4-FFF2-40B4-BE49-F238E27FC236}">
                  <a16:creationId xmlns:a16="http://schemas.microsoft.com/office/drawing/2014/main" id="{F2EF41A1-C594-CED3-E23C-7941B83B5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1537" y="2809416"/>
              <a:ext cx="683110" cy="18288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CC6973F-EAAC-8D94-E4DD-3BF4F16CD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13980" y="5623932"/>
            <a:ext cx="9718932" cy="457200"/>
            <a:chOff x="1213980" y="5629724"/>
            <a:chExt cx="9718932" cy="457200"/>
          </a:xfrm>
        </p:grpSpPr>
        <p:pic>
          <p:nvPicPr>
            <p:cNvPr id="53" name="Picture 52" descr="Toyota logo&#10;">
              <a:extLst>
                <a:ext uri="{FF2B5EF4-FFF2-40B4-BE49-F238E27FC236}">
                  <a16:creationId xmlns:a16="http://schemas.microsoft.com/office/drawing/2014/main" id="{37C15E58-2B45-F5DF-FCB1-20458A5F6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BEBA8EAE-BF5A-486C-A8C5-ECC9F3942E4B}">
                  <a14:imgProps xmlns:a14="http://schemas.microsoft.com/office/drawing/2010/main">
                    <a14:imgLayer r:embed="rId2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3980" y="5629724"/>
              <a:ext cx="634181" cy="457200"/>
            </a:xfrm>
            <a:prstGeom prst="rect">
              <a:avLst/>
            </a:prstGeom>
          </p:spPr>
        </p:pic>
        <p:pic>
          <p:nvPicPr>
            <p:cNvPr id="54" name="Picture 53" descr="Unity logo">
              <a:extLst>
                <a:ext uri="{FF2B5EF4-FFF2-40B4-BE49-F238E27FC236}">
                  <a16:creationId xmlns:a16="http://schemas.microsoft.com/office/drawing/2014/main" id="{00F917F1-0DBE-2D85-FB6E-FFA267562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BEBA8EAE-BF5A-486C-A8C5-ECC9F3942E4B}">
                  <a14:imgProps xmlns:a14="http://schemas.microsoft.com/office/drawing/2010/main">
                    <a14:imgLayer r:embed="rId2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335" y="5759401"/>
              <a:ext cx="725086" cy="252438"/>
            </a:xfrm>
            <a:prstGeom prst="rect">
              <a:avLst/>
            </a:prstGeom>
          </p:spPr>
        </p:pic>
        <p:pic>
          <p:nvPicPr>
            <p:cNvPr id="55" name="Picture 54" descr="Universitas Terbuka logo">
              <a:extLst>
                <a:ext uri="{FF2B5EF4-FFF2-40B4-BE49-F238E27FC236}">
                  <a16:creationId xmlns:a16="http://schemas.microsoft.com/office/drawing/2014/main" id="{8984972B-5802-1F6A-89A1-EB62E8F4C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 cstate="print">
              <a:extLst>
                <a:ext uri="{BEBA8EAE-BF5A-486C-A8C5-ECC9F3942E4B}">
                  <a14:imgProps xmlns:a14="http://schemas.microsoft.com/office/drawing/2010/main">
                    <a14:imgLayer r:embed="rId29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4194" y="5629747"/>
              <a:ext cx="395216" cy="457154"/>
            </a:xfrm>
            <a:prstGeom prst="rect">
              <a:avLst/>
            </a:prstGeom>
          </p:spPr>
        </p:pic>
        <p:pic>
          <p:nvPicPr>
            <p:cNvPr id="56" name="Picture 55" descr="WPP logo&#10;">
              <a:extLst>
                <a:ext uri="{FF2B5EF4-FFF2-40B4-BE49-F238E27FC236}">
                  <a16:creationId xmlns:a16="http://schemas.microsoft.com/office/drawing/2014/main" id="{CDD14942-B335-E144-BD7F-DC3BF3767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 cstate="print">
              <a:extLst>
                <a:ext uri="{BEBA8EAE-BF5A-486C-A8C5-ECC9F3942E4B}">
                  <a14:imgProps xmlns:a14="http://schemas.microsoft.com/office/drawing/2010/main">
                    <a14:imgLayer r:embed="rId3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4122" y="5769417"/>
              <a:ext cx="591577" cy="177815"/>
            </a:xfrm>
            <a:prstGeom prst="rect">
              <a:avLst/>
            </a:prstGeom>
          </p:spPr>
        </p:pic>
        <p:pic>
          <p:nvPicPr>
            <p:cNvPr id="57" name="Picture 56" descr="Writesonic logo&#10;">
              <a:extLst>
                <a:ext uri="{FF2B5EF4-FFF2-40B4-BE49-F238E27FC236}">
                  <a16:creationId xmlns:a16="http://schemas.microsoft.com/office/drawing/2014/main" id="{5F5BB544-D559-D9DB-4880-7E2E23E8A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 cstate="print">
              <a:extLst>
                <a:ext uri="{BEBA8EAE-BF5A-486C-A8C5-ECC9F3942E4B}">
                  <a14:imgProps xmlns:a14="http://schemas.microsoft.com/office/drawing/2010/main">
                    <a14:imgLayer r:embed="rId3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21472" y="5709531"/>
              <a:ext cx="1153219" cy="297586"/>
            </a:xfrm>
            <a:prstGeom prst="rect">
              <a:avLst/>
            </a:prstGeom>
          </p:spPr>
        </p:pic>
        <p:pic>
          <p:nvPicPr>
            <p:cNvPr id="59" name="Picture 58" descr="WSO2 logo&#10;">
              <a:extLst>
                <a:ext uri="{FF2B5EF4-FFF2-40B4-BE49-F238E27FC236}">
                  <a16:creationId xmlns:a16="http://schemas.microsoft.com/office/drawing/2014/main" id="{0CBC3E8D-4D4F-ABBE-12F4-0A7F18455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 cstate="print">
              <a:extLst>
                <a:ext uri="{BEBA8EAE-BF5A-486C-A8C5-ECC9F3942E4B}">
                  <a14:imgProps xmlns:a14="http://schemas.microsoft.com/office/drawing/2010/main">
                    <a14:imgLayer r:embed="rId3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00464" y="5744019"/>
              <a:ext cx="571528" cy="228611"/>
            </a:xfrm>
            <a:prstGeom prst="rect">
              <a:avLst/>
            </a:prstGeom>
          </p:spPr>
        </p:pic>
        <p:pic>
          <p:nvPicPr>
            <p:cNvPr id="60" name="Picture 59" descr="Young Williams logo">
              <a:extLst>
                <a:ext uri="{FF2B5EF4-FFF2-40B4-BE49-F238E27FC236}">
                  <a16:creationId xmlns:a16="http://schemas.microsoft.com/office/drawing/2014/main" id="{0E77D692-1B9F-A26B-0A30-188FAF87B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 cstate="print">
              <a:extLst>
                <a:ext uri="{BEBA8EAE-BF5A-486C-A8C5-ECC9F3942E4B}">
                  <a14:imgProps xmlns:a14="http://schemas.microsoft.com/office/drawing/2010/main">
                    <a14:imgLayer r:embed="rId3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7764" y="5728486"/>
              <a:ext cx="1335148" cy="259677"/>
            </a:xfrm>
            <a:prstGeom prst="rect">
              <a:avLst/>
            </a:prstGeom>
            <a:noFill/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83F3FE56-9076-2780-8A41-B46130277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BEBA8EAE-BF5A-486C-A8C5-ECC9F3942E4B}">
                  <a14:imgProps xmlns:a14="http://schemas.microsoft.com/office/drawing/2010/main">
                    <a14:imgLayer r:embed="rId3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934" y="5766884"/>
              <a:ext cx="583628" cy="182880"/>
            </a:xfrm>
            <a:prstGeom prst="rect">
              <a:avLst/>
            </a:prstGeom>
          </p:spPr>
        </p:pic>
        <p:pic>
          <p:nvPicPr>
            <p:cNvPr id="62" name="Picture 61" descr="A white text on a black background&#10;&#10;AI-generated content may be incorrect.">
              <a:extLst>
                <a:ext uri="{FF2B5EF4-FFF2-40B4-BE49-F238E27FC236}">
                  <a16:creationId xmlns:a16="http://schemas.microsoft.com/office/drawing/2014/main" id="{979BD9C3-46C0-F426-FEB7-18C2C52E9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5183" y="5772678"/>
              <a:ext cx="1123166" cy="171293"/>
            </a:xfrm>
            <a:prstGeom prst="rect">
              <a:avLst/>
            </a:prstGeom>
          </p:spPr>
        </p:pic>
      </p:grpSp>
      <p:grpSp>
        <p:nvGrpSpPr>
          <p:cNvPr id="4096" name="Group 4095">
            <a:extLst>
              <a:ext uri="{FF2B5EF4-FFF2-40B4-BE49-F238E27FC236}">
                <a16:creationId xmlns:a16="http://schemas.microsoft.com/office/drawing/2014/main" id="{D317BFA5-3586-84F5-19C5-07D19AD41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64453" y="3846883"/>
            <a:ext cx="10417986" cy="548640"/>
            <a:chOff x="864453" y="3899506"/>
            <a:chExt cx="10417986" cy="548640"/>
          </a:xfrm>
        </p:grpSpPr>
        <p:pic>
          <p:nvPicPr>
            <p:cNvPr id="4098" name="Picture 4097" descr="JM Family Enterprises">
              <a:extLst>
                <a:ext uri="{FF2B5EF4-FFF2-40B4-BE49-F238E27FC236}">
                  <a16:creationId xmlns:a16="http://schemas.microsoft.com/office/drawing/2014/main" id="{2C01FFCD-E72C-1D8E-2E5C-BF2FBFB65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 cstate="print">
              <a:extLst>
                <a:ext uri="{BEBA8EAE-BF5A-486C-A8C5-ECC9F3942E4B}">
                  <a14:imgProps xmlns:a14="http://schemas.microsoft.com/office/drawing/2010/main">
                    <a14:imgLayer r:embed="rId42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453" y="4053466"/>
              <a:ext cx="967337" cy="240720"/>
            </a:xfrm>
            <a:prstGeom prst="rect">
              <a:avLst/>
            </a:prstGeom>
          </p:spPr>
        </p:pic>
        <p:pic>
          <p:nvPicPr>
            <p:cNvPr id="4100" name="Picture 4099" descr="KPMG logo">
              <a:extLst>
                <a:ext uri="{FF2B5EF4-FFF2-40B4-BE49-F238E27FC236}">
                  <a16:creationId xmlns:a16="http://schemas.microsoft.com/office/drawing/2014/main" id="{8D3A31D8-18CF-C1E1-B0DD-AEAA5BE60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BEBA8EAE-BF5A-486C-A8C5-ECC9F3942E4B}">
                  <a14:imgProps xmlns:a14="http://schemas.microsoft.com/office/drawing/2010/main">
                    <a14:imgLayer r:embed="rId4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1102" y="4059521"/>
              <a:ext cx="565293" cy="228611"/>
            </a:xfrm>
            <a:prstGeom prst="rect">
              <a:avLst/>
            </a:prstGeom>
          </p:spPr>
        </p:pic>
        <p:pic>
          <p:nvPicPr>
            <p:cNvPr id="4101" name="Picture 4100" descr="Legrand logo">
              <a:extLst>
                <a:ext uri="{FF2B5EF4-FFF2-40B4-BE49-F238E27FC236}">
                  <a16:creationId xmlns:a16="http://schemas.microsoft.com/office/drawing/2014/main" id="{3F463595-A1F6-B109-B0E7-EAB7A3C8D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BEBA8EAE-BF5A-486C-A8C5-ECC9F3942E4B}">
                  <a14:imgProps xmlns:a14="http://schemas.microsoft.com/office/drawing/2010/main">
                    <a14:imgLayer r:embed="rId46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4077" y="4061010"/>
              <a:ext cx="914400" cy="225632"/>
            </a:xfrm>
            <a:prstGeom prst="rect">
              <a:avLst/>
            </a:prstGeom>
          </p:spPr>
        </p:pic>
        <p:pic>
          <p:nvPicPr>
            <p:cNvPr id="4103" name="Graphic 4102" descr="Lexmark logo&#10;">
              <a:extLst>
                <a:ext uri="{FF2B5EF4-FFF2-40B4-BE49-F238E27FC236}">
                  <a16:creationId xmlns:a16="http://schemas.microsoft.com/office/drawing/2014/main" id="{B0E04252-D68E-AF8F-D022-D1982007D0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6797035" y="4087009"/>
              <a:ext cx="841248" cy="173634"/>
            </a:xfrm>
            <a:prstGeom prst="rect">
              <a:avLst/>
            </a:prstGeom>
          </p:spPr>
        </p:pic>
        <p:pic>
          <p:nvPicPr>
            <p:cNvPr id="4104" name="Picture 4103" descr="McKesson logo">
              <a:extLst>
                <a:ext uri="{FF2B5EF4-FFF2-40B4-BE49-F238E27FC236}">
                  <a16:creationId xmlns:a16="http://schemas.microsoft.com/office/drawing/2014/main" id="{29656716-96E6-D17C-D6A2-43A14B512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>
              <a:extLst>
                <a:ext uri="{BEBA8EAE-BF5A-486C-A8C5-ECC9F3942E4B}">
                  <a14:imgProps xmlns:a14="http://schemas.microsoft.com/office/drawing/2010/main">
                    <a14:imgLayer r:embed="rId5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6841" y="4119326"/>
              <a:ext cx="822960" cy="109001"/>
            </a:xfrm>
            <a:prstGeom prst="rect">
              <a:avLst/>
            </a:prstGeom>
          </p:spPr>
        </p:pic>
        <p:pic>
          <p:nvPicPr>
            <p:cNvPr id="4105" name="Picture 4104" descr="Miltton logo&#10;">
              <a:extLst>
                <a:ext uri="{FF2B5EF4-FFF2-40B4-BE49-F238E27FC236}">
                  <a16:creationId xmlns:a16="http://schemas.microsoft.com/office/drawing/2014/main" id="{980C0CA0-6877-878F-5998-79DF4D4C7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 cstate="print">
              <a:extLst>
                <a:ext uri="{BEBA8EAE-BF5A-486C-A8C5-ECC9F3942E4B}">
                  <a14:imgProps xmlns:a14="http://schemas.microsoft.com/office/drawing/2010/main">
                    <a14:imgLayer r:embed="rId52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8359" y="4087981"/>
              <a:ext cx="731520" cy="171690"/>
            </a:xfrm>
            <a:prstGeom prst="rect">
              <a:avLst/>
            </a:prstGeom>
          </p:spPr>
        </p:pic>
        <p:pic>
          <p:nvPicPr>
            <p:cNvPr id="4106" name="Picture 4105" descr="NBA logo">
              <a:extLst>
                <a:ext uri="{FF2B5EF4-FFF2-40B4-BE49-F238E27FC236}">
                  <a16:creationId xmlns:a16="http://schemas.microsoft.com/office/drawing/2014/main" id="{15AA62B4-5DF3-1052-C650-3BB28FD87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 cstate="print">
              <a:extLst>
                <a:ext uri="{BEBA8EAE-BF5A-486C-A8C5-ECC9F3942E4B}">
                  <a14:imgProps xmlns:a14="http://schemas.microsoft.com/office/drawing/2010/main">
                    <a14:imgLayer r:embed="rId5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7466" y="3899506"/>
              <a:ext cx="244973" cy="548640"/>
            </a:xfrm>
            <a:prstGeom prst="rect">
              <a:avLst/>
            </a:prstGeom>
          </p:spPr>
        </p:pic>
        <p:pic>
          <p:nvPicPr>
            <p:cNvPr id="4107" name="Laerdal" descr="Niteco Services | E-Commerce Solutions | Niteco">
              <a:extLst>
                <a:ext uri="{FF2B5EF4-FFF2-40B4-BE49-F238E27FC236}">
                  <a16:creationId xmlns:a16="http://schemas.microsoft.com/office/drawing/2014/main" id="{358A2F3A-2A10-832D-282B-C3C6EB08E1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1483" y="3995756"/>
              <a:ext cx="814036" cy="356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movieworks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35583D21-8E38-4049-CB94-75EE9536F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 cstate="print">
              <a:extLst>
                <a:ext uri="{BEBA8EAE-BF5A-486C-A8C5-ECC9F3942E4B}">
                  <a14:imgProps xmlns:a14="http://schemas.microsoft.com/office/drawing/2010/main">
                    <a14:imgLayer r:embed="rId5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58" t="18913" r="7558" b="18913"/>
            <a:stretch/>
          </p:blipFill>
          <p:spPr>
            <a:xfrm>
              <a:off x="9818437" y="4028064"/>
              <a:ext cx="1010476" cy="291524"/>
            </a:xfrm>
            <a:prstGeom prst="rect">
              <a:avLst/>
            </a:prstGeom>
          </p:spPr>
        </p:pic>
        <p:pic>
          <p:nvPicPr>
            <p:cNvPr id="4110" name="Picture 4109" descr="A black background with blue letters&#10;&#10;AI-generated content may be incorrect.">
              <a:extLst>
                <a:ext uri="{FF2B5EF4-FFF2-40B4-BE49-F238E27FC236}">
                  <a16:creationId xmlns:a16="http://schemas.microsoft.com/office/drawing/2014/main" id="{B25E05AD-A01C-5B69-B3DF-A0A2E43AA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 cstate="print">
              <a:extLst>
                <a:ext uri="{BEBA8EAE-BF5A-486C-A8C5-ECC9F3942E4B}">
                  <a14:imgProps xmlns:a14="http://schemas.microsoft.com/office/drawing/2010/main">
                    <a14:imgLayer r:embed="rId59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4953" y="4064090"/>
              <a:ext cx="707972" cy="219472"/>
            </a:xfrm>
            <a:prstGeom prst="rect">
              <a:avLst/>
            </a:prstGeom>
          </p:spPr>
        </p:pic>
        <p:pic>
          <p:nvPicPr>
            <p:cNvPr id="4111" name="Picture 4110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ED6416E7-4283-E7DA-3B32-3EDADA3D1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0348" y="4087082"/>
              <a:ext cx="712196" cy="173489"/>
            </a:xfrm>
            <a:prstGeom prst="rect">
              <a:avLst/>
            </a:prstGeom>
          </p:spPr>
        </p:pic>
      </p:grpSp>
      <p:grpSp>
        <p:nvGrpSpPr>
          <p:cNvPr id="4112" name="Group 4111">
            <a:extLst>
              <a:ext uri="{FF2B5EF4-FFF2-40B4-BE49-F238E27FC236}">
                <a16:creationId xmlns:a16="http://schemas.microsoft.com/office/drawing/2014/main" id="{977E77E7-C4FD-5D3A-DD19-C2F047862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29101" y="2044296"/>
            <a:ext cx="9629715" cy="434032"/>
            <a:chOff x="1229101" y="2050088"/>
            <a:chExt cx="9629715" cy="434032"/>
          </a:xfrm>
        </p:grpSpPr>
        <p:pic>
          <p:nvPicPr>
            <p:cNvPr id="4113" name="Picture 4112" descr="ABB logo">
              <a:extLst>
                <a:ext uri="{FF2B5EF4-FFF2-40B4-BE49-F238E27FC236}">
                  <a16:creationId xmlns:a16="http://schemas.microsoft.com/office/drawing/2014/main" id="{F34AC367-0506-990F-6788-52C40E776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>
              <a:extLst>
                <a:ext uri="{BEBA8EAE-BF5A-486C-A8C5-ECC9F3942E4B}">
                  <a14:imgProps xmlns:a14="http://schemas.microsoft.com/office/drawing/2010/main">
                    <a14:imgLayer r:embed="rId62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9101" y="2183973"/>
              <a:ext cx="415656" cy="166263"/>
            </a:xfrm>
            <a:prstGeom prst="rect">
              <a:avLst/>
            </a:prstGeom>
          </p:spPr>
        </p:pic>
        <p:pic>
          <p:nvPicPr>
            <p:cNvPr id="4115" name="Picture 4114" descr="Air India logo">
              <a:extLst>
                <a:ext uri="{FF2B5EF4-FFF2-40B4-BE49-F238E27FC236}">
                  <a16:creationId xmlns:a16="http://schemas.microsoft.com/office/drawing/2014/main" id="{7AA22F85-B431-B1DE-89F7-FB63B9591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>
              <a:extLst>
                <a:ext uri="{BEBA8EAE-BF5A-486C-A8C5-ECC9F3942E4B}">
                  <a14:imgProps xmlns:a14="http://schemas.microsoft.com/office/drawing/2010/main">
                    <a14:imgLayer r:embed="rId6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5344" y="2177738"/>
              <a:ext cx="756495" cy="178732"/>
            </a:xfrm>
            <a:prstGeom prst="rect">
              <a:avLst/>
            </a:prstGeom>
          </p:spPr>
        </p:pic>
        <p:pic>
          <p:nvPicPr>
            <p:cNvPr id="4116" name="Picture 4115" descr="ASC logo">
              <a:extLst>
                <a:ext uri="{FF2B5EF4-FFF2-40B4-BE49-F238E27FC236}">
                  <a16:creationId xmlns:a16="http://schemas.microsoft.com/office/drawing/2014/main" id="{86D098A5-ED45-1921-961D-B2D2A9779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>
              <a:extLst>
                <a:ext uri="{BEBA8EAE-BF5A-486C-A8C5-ECC9F3942E4B}">
                  <a14:imgProps xmlns:a14="http://schemas.microsoft.com/office/drawing/2010/main">
                    <a14:imgLayer r:embed="rId66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2426" y="2142407"/>
              <a:ext cx="457222" cy="249394"/>
            </a:xfrm>
            <a:prstGeom prst="rect">
              <a:avLst/>
            </a:prstGeom>
          </p:spPr>
        </p:pic>
        <p:pic>
          <p:nvPicPr>
            <p:cNvPr id="4118" name="Picture 4117" descr="AT&amp;T logo">
              <a:extLst>
                <a:ext uri="{FF2B5EF4-FFF2-40B4-BE49-F238E27FC236}">
                  <a16:creationId xmlns:a16="http://schemas.microsoft.com/office/drawing/2014/main" id="{5D8A5428-7E32-8570-D550-6910A9866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BEBA8EAE-BF5A-486C-A8C5-ECC9F3942E4B}">
                  <a14:imgProps xmlns:a14="http://schemas.microsoft.com/office/drawing/2010/main">
                    <a14:imgLayer r:embed="rId68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0235" y="2144486"/>
              <a:ext cx="727399" cy="245237"/>
            </a:xfrm>
            <a:prstGeom prst="rect">
              <a:avLst/>
            </a:prstGeom>
          </p:spPr>
        </p:pic>
        <p:pic>
          <p:nvPicPr>
            <p:cNvPr id="4119" name="Picture 4118" descr="Atomicwork logo">
              <a:extLst>
                <a:ext uri="{FF2B5EF4-FFF2-40B4-BE49-F238E27FC236}">
                  <a16:creationId xmlns:a16="http://schemas.microsoft.com/office/drawing/2014/main" id="{701FD874-83C9-D8B8-B24E-62928DCB0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 cstate="print">
              <a:extLst>
                <a:ext uri="{BEBA8EAE-BF5A-486C-A8C5-ECC9F3942E4B}">
                  <a14:imgProps xmlns:a14="http://schemas.microsoft.com/office/drawing/2010/main">
                    <a14:imgLayer r:embed="rId7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8221" y="2165631"/>
              <a:ext cx="1143000" cy="202947"/>
            </a:xfrm>
            <a:prstGeom prst="rect">
              <a:avLst/>
            </a:prstGeom>
          </p:spPr>
        </p:pic>
        <p:pic>
          <p:nvPicPr>
            <p:cNvPr id="4121" name="Picture 4120" descr="BMW group logo">
              <a:extLst>
                <a:ext uri="{FF2B5EF4-FFF2-40B4-BE49-F238E27FC236}">
                  <a16:creationId xmlns:a16="http://schemas.microsoft.com/office/drawing/2014/main" id="{66E079DF-95FE-8B9D-1E72-2F9DA110D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 cstate="print">
              <a:extLst>
                <a:ext uri="{BEBA8EAE-BF5A-486C-A8C5-ECC9F3942E4B}">
                  <a14:imgProps xmlns:a14="http://schemas.microsoft.com/office/drawing/2010/main">
                    <a14:imgLayer r:embed="rId72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26885" y="2089006"/>
              <a:ext cx="735786" cy="356197"/>
            </a:xfrm>
            <a:prstGeom prst="rect">
              <a:avLst/>
            </a:prstGeom>
          </p:spPr>
        </p:pic>
        <p:pic>
          <p:nvPicPr>
            <p:cNvPr id="4123" name="Graphic 4122" descr="CallMiner logo">
              <a:extLst>
                <a:ext uri="{FF2B5EF4-FFF2-40B4-BE49-F238E27FC236}">
                  <a16:creationId xmlns:a16="http://schemas.microsoft.com/office/drawing/2014/main" id="{78D23998-CA54-B4F6-1787-9433A4213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tretch>
              <a:fillRect/>
            </a:stretch>
          </p:blipFill>
          <p:spPr>
            <a:xfrm>
              <a:off x="8163258" y="2175664"/>
              <a:ext cx="814388" cy="182880"/>
            </a:xfrm>
            <a:prstGeom prst="rect">
              <a:avLst/>
            </a:prstGeom>
          </p:spPr>
        </p:pic>
        <p:pic>
          <p:nvPicPr>
            <p:cNvPr id="4125" name="Picture 4124" descr="Carvana logo&#10;">
              <a:extLst>
                <a:ext uri="{FF2B5EF4-FFF2-40B4-BE49-F238E27FC236}">
                  <a16:creationId xmlns:a16="http://schemas.microsoft.com/office/drawing/2014/main" id="{892872E1-E7FA-EFCA-801C-01F5B7C4B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 cstate="print">
              <a:extLst>
                <a:ext uri="{BEBA8EAE-BF5A-486C-A8C5-ECC9F3942E4B}">
                  <a14:imgProps xmlns:a14="http://schemas.microsoft.com/office/drawing/2010/main">
                    <a14:imgLayer r:embed="rId76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2110" y="2050088"/>
              <a:ext cx="446706" cy="434032"/>
            </a:xfrm>
            <a:prstGeom prst="rect">
              <a:avLst/>
            </a:prstGeom>
          </p:spPr>
        </p:pic>
        <p:pic>
          <p:nvPicPr>
            <p:cNvPr id="4127" name="Picture 4126" descr="A black text with a black background&#10;&#10;AI-generated content may be incorrect.">
              <a:extLst>
                <a:ext uri="{FF2B5EF4-FFF2-40B4-BE49-F238E27FC236}">
                  <a16:creationId xmlns:a16="http://schemas.microsoft.com/office/drawing/2014/main" id="{74DA5B40-051B-4A7D-EF52-E4283CB6D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>
              <a:extLst>
                <a:ext uri="{BEBA8EAE-BF5A-486C-A8C5-ECC9F3942E4B}">
                  <a14:imgProps xmlns:a14="http://schemas.microsoft.com/office/drawing/2010/main">
                    <a14:imgLayer r:embed="rId78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l="10376" t="22328" r="10376" b="25631"/>
            <a:stretch/>
          </p:blipFill>
          <p:spPr>
            <a:xfrm>
              <a:off x="9178233" y="2128992"/>
              <a:ext cx="1033290" cy="276225"/>
            </a:xfrm>
            <a:prstGeom prst="rect">
              <a:avLst/>
            </a:prstGeom>
          </p:spPr>
        </p:pic>
        <p:pic>
          <p:nvPicPr>
            <p:cNvPr id="4128" name="Picture 2">
              <a:extLst>
                <a:ext uri="{FF2B5EF4-FFF2-40B4-BE49-F238E27FC236}">
                  <a16:creationId xmlns:a16="http://schemas.microsoft.com/office/drawing/2014/main" id="{DB32D09A-A7CE-6C12-1A78-210522D729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9" cstate="print">
              <a:extLst>
                <a:ext uri="{BEBA8EAE-BF5A-486C-A8C5-ECC9F3942E4B}">
                  <a14:imgProps xmlns:a14="http://schemas.microsoft.com/office/drawing/2010/main">
                    <a14:imgLayer r:embed="rId8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1808" y="2175664"/>
              <a:ext cx="1294490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29" name="Group 4128">
            <a:extLst>
              <a:ext uri="{FF2B5EF4-FFF2-40B4-BE49-F238E27FC236}">
                <a16:creationId xmlns:a16="http://schemas.microsoft.com/office/drawing/2014/main" id="{22937450-52B2-8446-848B-F94A50524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28582" y="3215060"/>
            <a:ext cx="9689728" cy="566352"/>
            <a:chOff x="1239537" y="3217493"/>
            <a:chExt cx="9689728" cy="566352"/>
          </a:xfrm>
        </p:grpSpPr>
        <p:pic>
          <p:nvPicPr>
            <p:cNvPr id="4131" name="Picture 4130" descr="EY logo&#10;">
              <a:extLst>
                <a:ext uri="{FF2B5EF4-FFF2-40B4-BE49-F238E27FC236}">
                  <a16:creationId xmlns:a16="http://schemas.microsoft.com/office/drawing/2014/main" id="{24B8E592-1BA7-05BA-7FBF-C885827FC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>
              <a:extLst>
                <a:ext uri="{BEBA8EAE-BF5A-486C-A8C5-ECC9F3942E4B}">
                  <a14:imgProps xmlns:a14="http://schemas.microsoft.com/office/drawing/2010/main">
                    <a14:imgLayer r:embed="rId82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9537" y="3361886"/>
              <a:ext cx="579483" cy="277567"/>
            </a:xfrm>
            <a:prstGeom prst="rect">
              <a:avLst/>
            </a:prstGeom>
          </p:spPr>
        </p:pic>
        <p:pic>
          <p:nvPicPr>
            <p:cNvPr id="4133" name="Picture 4132" descr="Gainsight logo">
              <a:extLst>
                <a:ext uri="{FF2B5EF4-FFF2-40B4-BE49-F238E27FC236}">
                  <a16:creationId xmlns:a16="http://schemas.microsoft.com/office/drawing/2014/main" id="{70FD46AF-65E5-A192-AA74-B629C9AA4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 cstate="print">
              <a:extLst>
                <a:ext uri="{BEBA8EAE-BF5A-486C-A8C5-ECC9F3942E4B}">
                  <a14:imgProps xmlns:a14="http://schemas.microsoft.com/office/drawing/2010/main">
                    <a14:imgLayer r:embed="rId8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2638" y="3407400"/>
              <a:ext cx="822960" cy="186538"/>
            </a:xfrm>
            <a:prstGeom prst="rect">
              <a:avLst/>
            </a:prstGeom>
          </p:spPr>
        </p:pic>
        <p:pic>
          <p:nvPicPr>
            <p:cNvPr id="4135" name="Graphic 4134" descr="Harvey logo&#10;">
              <a:extLst>
                <a:ext uri="{FF2B5EF4-FFF2-40B4-BE49-F238E27FC236}">
                  <a16:creationId xmlns:a16="http://schemas.microsoft.com/office/drawing/2014/main" id="{503A3B89-854F-4E64-4FF8-68180858E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>
              <a:extLst>
                <a:ext uri="{96DAC541-7B7A-43D3-8B79-37D633B846F1}">
                  <asvg:svgBlip xmlns:asvg="http://schemas.microsoft.com/office/drawing/2016/SVG/main" r:embed="rId86"/>
                </a:ext>
              </a:extLst>
            </a:blip>
            <a:stretch>
              <a:fillRect/>
            </a:stretch>
          </p:blipFill>
          <p:spPr>
            <a:xfrm>
              <a:off x="5801820" y="3415499"/>
              <a:ext cx="566928" cy="170341"/>
            </a:xfrm>
            <a:prstGeom prst="rect">
              <a:avLst/>
            </a:prstGeom>
          </p:spPr>
        </p:pic>
        <p:pic>
          <p:nvPicPr>
            <p:cNvPr id="4137" name="Picture 4136" descr="Heineken logo">
              <a:extLst>
                <a:ext uri="{FF2B5EF4-FFF2-40B4-BE49-F238E27FC236}">
                  <a16:creationId xmlns:a16="http://schemas.microsoft.com/office/drawing/2014/main" id="{C4AFBB8B-A66D-4EAC-E99A-FB8D58A96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>
              <a:extLst>
                <a:ext uri="{BEBA8EAE-BF5A-486C-A8C5-ECC9F3942E4B}">
                  <a14:imgProps xmlns:a14="http://schemas.microsoft.com/office/drawing/2010/main">
                    <a14:imgLayer r:embed="rId88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1779" y="3400912"/>
              <a:ext cx="839626" cy="199515"/>
            </a:xfrm>
            <a:prstGeom prst="rect">
              <a:avLst/>
            </a:prstGeom>
          </p:spPr>
        </p:pic>
        <p:pic>
          <p:nvPicPr>
            <p:cNvPr id="4139" name="Graphic 4138" descr="Hypercinema logo">
              <a:extLst>
                <a:ext uri="{FF2B5EF4-FFF2-40B4-BE49-F238E27FC236}">
                  <a16:creationId xmlns:a16="http://schemas.microsoft.com/office/drawing/2014/main" id="{17DFEF80-D816-9D75-58BA-7D09CBE8E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>
              <a:extLst>
                <a:ext uri="{96DAC541-7B7A-43D3-8B79-37D633B846F1}">
                  <asvg:svgBlip xmlns:asvg="http://schemas.microsoft.com/office/drawing/2016/SVG/main" r:embed="rId90"/>
                </a:ext>
              </a:extLst>
            </a:blip>
            <a:stretch>
              <a:fillRect/>
            </a:stretch>
          </p:blipFill>
          <p:spPr>
            <a:xfrm>
              <a:off x="7674436" y="3441272"/>
              <a:ext cx="1463040" cy="118794"/>
            </a:xfrm>
            <a:prstGeom prst="rect">
              <a:avLst/>
            </a:prstGeom>
          </p:spPr>
        </p:pic>
        <p:pic>
          <p:nvPicPr>
            <p:cNvPr id="4141" name="Picture 4140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76AA4A4B-74FB-A2A3-DB92-DA1041F35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8629" y="3358394"/>
              <a:ext cx="1280160" cy="284550"/>
            </a:xfrm>
            <a:prstGeom prst="rect">
              <a:avLst/>
            </a:prstGeom>
          </p:spPr>
        </p:pic>
        <p:pic>
          <p:nvPicPr>
            <p:cNvPr id="4143" name="Picture 4142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AC1193C2-A5AE-71B2-9417-6A29954E9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79738" y="3217493"/>
              <a:ext cx="849527" cy="566352"/>
            </a:xfrm>
            <a:prstGeom prst="rect">
              <a:avLst/>
            </a:prstGeom>
          </p:spPr>
        </p:pic>
        <p:pic>
          <p:nvPicPr>
            <p:cNvPr id="4145" name="freshworks">
              <a:extLst>
                <a:ext uri="{FF2B5EF4-FFF2-40B4-BE49-F238E27FC236}">
                  <a16:creationId xmlns:a16="http://schemas.microsoft.com/office/drawing/2014/main" id="{55B29FB5-4F52-11DB-3A72-75597FBD4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>
              <a:lum bright="100000"/>
              <a:extLst>
                <a:ext uri="{96DAC541-7B7A-43D3-8B79-37D633B846F1}">
                  <asvg:svgBlip xmlns:asvg="http://schemas.microsoft.com/office/drawing/2016/SVG/main" r:embed="rId94"/>
                </a:ext>
              </a:extLst>
            </a:blip>
            <a:stretch>
              <a:fillRect/>
            </a:stretch>
          </p:blipFill>
          <p:spPr>
            <a:xfrm>
              <a:off x="2052051" y="3405913"/>
              <a:ext cx="947556" cy="189512"/>
            </a:xfrm>
            <a:prstGeom prst="rect">
              <a:avLst/>
            </a:prstGeom>
          </p:spPr>
        </p:pic>
        <p:pic>
          <p:nvPicPr>
            <p:cNvPr id="4147" name="Picture 4" descr="IBM Logo, symbol, meaning, history, PNG, brand">
              <a:extLst>
                <a:ext uri="{FF2B5EF4-FFF2-40B4-BE49-F238E27FC236}">
                  <a16:creationId xmlns:a16="http://schemas.microsoft.com/office/drawing/2014/main" id="{93A4B070-35AF-E534-37C1-B8F9B3D650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5" cstate="print">
              <a:extLst>
                <a:ext uri="{BEBA8EAE-BF5A-486C-A8C5-ECC9F3942E4B}">
                  <a14:imgProps xmlns:a14="http://schemas.microsoft.com/office/drawing/2010/main">
                    <a14:imgLayer r:embed="rId96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70507" y="3366737"/>
              <a:ext cx="476202" cy="267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49" name="Group 4148">
            <a:extLst>
              <a:ext uri="{FF2B5EF4-FFF2-40B4-BE49-F238E27FC236}">
                <a16:creationId xmlns:a16="http://schemas.microsoft.com/office/drawing/2014/main" id="{C7F12034-F17A-E424-AABC-7A9804E9D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96129" y="5070533"/>
            <a:ext cx="9754634" cy="430778"/>
            <a:chOff x="1196129" y="5080361"/>
            <a:chExt cx="9754634" cy="430778"/>
          </a:xfrm>
        </p:grpSpPr>
        <p:pic>
          <p:nvPicPr>
            <p:cNvPr id="4151" name="Picture 4150" descr="Shopify logo">
              <a:extLst>
                <a:ext uri="{FF2B5EF4-FFF2-40B4-BE49-F238E27FC236}">
                  <a16:creationId xmlns:a16="http://schemas.microsoft.com/office/drawing/2014/main" id="{B5ECA528-425F-032B-4D35-F7688DF7C7DB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>
              <a:extLst>
                <a:ext uri="{BEBA8EAE-BF5A-486C-A8C5-ECC9F3942E4B}">
                  <a14:imgProps xmlns:a14="http://schemas.microsoft.com/office/drawing/2010/main">
                    <a14:imgLayer r:embed="rId98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6129" y="5181445"/>
              <a:ext cx="793904" cy="228611"/>
            </a:xfrm>
            <a:prstGeom prst="rect">
              <a:avLst/>
            </a:prstGeom>
          </p:spPr>
        </p:pic>
        <p:pic>
          <p:nvPicPr>
            <p:cNvPr id="4152" name="Picture 4151" descr="Sierra logo">
              <a:extLst>
                <a:ext uri="{FF2B5EF4-FFF2-40B4-BE49-F238E27FC236}">
                  <a16:creationId xmlns:a16="http://schemas.microsoft.com/office/drawing/2014/main" id="{54CF48FA-FC2D-ACDB-3D6F-618D80914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 cstate="print">
              <a:extLst>
                <a:ext uri="{BEBA8EAE-BF5A-486C-A8C5-ECC9F3942E4B}">
                  <a14:imgProps xmlns:a14="http://schemas.microsoft.com/office/drawing/2010/main">
                    <a14:imgLayer r:embed="rId10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3828" y="5080361"/>
              <a:ext cx="570238" cy="430778"/>
            </a:xfrm>
            <a:prstGeom prst="rect">
              <a:avLst/>
            </a:prstGeom>
          </p:spPr>
        </p:pic>
        <p:pic>
          <p:nvPicPr>
            <p:cNvPr id="4153" name="Picture 4152" descr="Soul Machines logo&#10;">
              <a:extLst>
                <a:ext uri="{FF2B5EF4-FFF2-40B4-BE49-F238E27FC236}">
                  <a16:creationId xmlns:a16="http://schemas.microsoft.com/office/drawing/2014/main" id="{C235C572-3C4D-28C3-9BA9-FB210340C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 cstate="print">
              <a:extLst>
                <a:ext uri="{BEBA8EAE-BF5A-486C-A8C5-ECC9F3942E4B}">
                  <a14:imgProps xmlns:a14="http://schemas.microsoft.com/office/drawing/2010/main">
                    <a14:imgLayer r:embed="rId102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29547" y="5222057"/>
              <a:ext cx="1554480" cy="147386"/>
            </a:xfrm>
            <a:prstGeom prst="rect">
              <a:avLst/>
            </a:prstGeom>
          </p:spPr>
        </p:pic>
        <p:pic>
          <p:nvPicPr>
            <p:cNvPr id="4154" name="Graphic 4153" descr="Strabag logo&#10;">
              <a:extLst>
                <a:ext uri="{FF2B5EF4-FFF2-40B4-BE49-F238E27FC236}">
                  <a16:creationId xmlns:a16="http://schemas.microsoft.com/office/drawing/2014/main" id="{D814A233-7A57-B283-5F7E-930D9BDA2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>
              <a:extLst>
                <a:ext uri="{96DAC541-7B7A-43D3-8B79-37D633B846F1}">
                  <asvg:svgBlip xmlns:asvg="http://schemas.microsoft.com/office/drawing/2016/SVG/main" r:embed="rId104"/>
                </a:ext>
              </a:extLst>
            </a:blip>
            <a:stretch>
              <a:fillRect/>
            </a:stretch>
          </p:blipFill>
          <p:spPr>
            <a:xfrm>
              <a:off x="7273689" y="5184735"/>
              <a:ext cx="640080" cy="222031"/>
            </a:xfrm>
            <a:prstGeom prst="rect">
              <a:avLst/>
            </a:prstGeom>
          </p:spPr>
        </p:pic>
        <p:pic>
          <p:nvPicPr>
            <p:cNvPr id="4155" name="Graphic 4154" descr="Telus Health logo&#10;">
              <a:extLst>
                <a:ext uri="{FF2B5EF4-FFF2-40B4-BE49-F238E27FC236}">
                  <a16:creationId xmlns:a16="http://schemas.microsoft.com/office/drawing/2014/main" id="{775E5E73-DA84-A7B1-24BD-86324658B3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>
              <a:extLst>
                <a:ext uri="{96DAC541-7B7A-43D3-8B79-37D633B846F1}">
                  <asvg:svgBlip xmlns:asvg="http://schemas.microsoft.com/office/drawing/2016/SVG/main" r:embed="rId106"/>
                </a:ext>
              </a:extLst>
            </a:blip>
            <a:stretch>
              <a:fillRect/>
            </a:stretch>
          </p:blipFill>
          <p:spPr>
            <a:xfrm>
              <a:off x="9579163" y="5205597"/>
              <a:ext cx="1371600" cy="180306"/>
            </a:xfrm>
            <a:prstGeom prst="rect">
              <a:avLst/>
            </a:prstGeom>
          </p:spPr>
        </p:pic>
        <p:pic>
          <p:nvPicPr>
            <p:cNvPr id="4156" name="Picture 4155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2DB699EE-0AE5-5871-60DF-9428B302D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014" b="31846"/>
            <a:stretch/>
          </p:blipFill>
          <p:spPr>
            <a:xfrm>
              <a:off x="8199250" y="5114402"/>
              <a:ext cx="1094432" cy="362696"/>
            </a:xfrm>
            <a:prstGeom prst="rect">
              <a:avLst/>
            </a:prstGeom>
          </p:spPr>
        </p:pic>
        <p:pic>
          <p:nvPicPr>
            <p:cNvPr id="4157" name="Siemens" descr="A white letter on a black background&#10;&#10;Description automatically generated">
              <a:extLst>
                <a:ext uri="{FF2B5EF4-FFF2-40B4-BE49-F238E27FC236}">
                  <a16:creationId xmlns:a16="http://schemas.microsoft.com/office/drawing/2014/main" id="{DA5A3F31-7DD7-427B-4E27-FFA526914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5514" y="5259552"/>
              <a:ext cx="712833" cy="113341"/>
            </a:xfrm>
            <a:prstGeom prst="rect">
              <a:avLst/>
            </a:prstGeom>
          </p:spPr>
        </p:pic>
        <p:pic>
          <p:nvPicPr>
            <p:cNvPr id="4158" name="Picture 8" descr="Spotfire Customer Reviews 2025 | SoftwareReviews">
              <a:extLst>
                <a:ext uri="{FF2B5EF4-FFF2-40B4-BE49-F238E27FC236}">
                  <a16:creationId xmlns:a16="http://schemas.microsoft.com/office/drawing/2014/main" id="{9106CB0E-302D-7105-0AFB-023BAAE6B1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9" cstate="print">
              <a:extLst>
                <a:ext uri="{BEBA8EAE-BF5A-486C-A8C5-ECC9F3942E4B}">
                  <a14:imgProps xmlns:a14="http://schemas.microsoft.com/office/drawing/2010/main">
                    <a14:imgLayer r:embed="rId1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07" t="33527" r="22807" b="33527"/>
            <a:stretch/>
          </p:blipFill>
          <p:spPr bwMode="auto">
            <a:xfrm>
              <a:off x="5969508" y="5134072"/>
              <a:ext cx="1018700" cy="323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59" name="Group 4158">
            <a:extLst>
              <a:ext uri="{FF2B5EF4-FFF2-40B4-BE49-F238E27FC236}">
                <a16:creationId xmlns:a16="http://schemas.microsoft.com/office/drawing/2014/main" id="{5F229498-1B24-AB3C-D2E6-A7887E0C1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9467" y="4527669"/>
            <a:ext cx="10487958" cy="429768"/>
            <a:chOff x="829467" y="4549369"/>
            <a:chExt cx="10487958" cy="429768"/>
          </a:xfrm>
        </p:grpSpPr>
        <p:pic>
          <p:nvPicPr>
            <p:cNvPr id="1024" name="Picture 1023" descr="NFL logo">
              <a:extLst>
                <a:ext uri="{FF2B5EF4-FFF2-40B4-BE49-F238E27FC236}">
                  <a16:creationId xmlns:a16="http://schemas.microsoft.com/office/drawing/2014/main" id="{FE8B7131-E7DE-81D1-0E68-376F522E1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 cstate="print">
              <a:extLst>
                <a:ext uri="{BEBA8EAE-BF5A-486C-A8C5-ECC9F3942E4B}">
                  <a14:imgProps xmlns:a14="http://schemas.microsoft.com/office/drawing/2010/main">
                    <a14:imgLayer r:embed="rId112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9467" y="4552194"/>
              <a:ext cx="318870" cy="424120"/>
            </a:xfrm>
            <a:prstGeom prst="rect">
              <a:avLst/>
            </a:prstGeom>
          </p:spPr>
        </p:pic>
        <p:pic>
          <p:nvPicPr>
            <p:cNvPr id="1025" name="Picture 1024" descr="Ontada logo&#10;">
              <a:extLst>
                <a:ext uri="{FF2B5EF4-FFF2-40B4-BE49-F238E27FC236}">
                  <a16:creationId xmlns:a16="http://schemas.microsoft.com/office/drawing/2014/main" id="{3742446A-7BCC-2E1C-4E24-B5905D7E2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 cstate="print">
              <a:extLst>
                <a:ext uri="{BEBA8EAE-BF5A-486C-A8C5-ECC9F3942E4B}">
                  <a14:imgProps xmlns:a14="http://schemas.microsoft.com/office/drawing/2010/main">
                    <a14:imgLayer r:embed="rId11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6649" y="4683756"/>
              <a:ext cx="731450" cy="160994"/>
            </a:xfrm>
            <a:prstGeom prst="rect">
              <a:avLst/>
            </a:prstGeom>
          </p:spPr>
        </p:pic>
        <p:pic>
          <p:nvPicPr>
            <p:cNvPr id="1029" name="Graphic 1028" descr="Parloa logo&#10;">
              <a:extLst>
                <a:ext uri="{FF2B5EF4-FFF2-40B4-BE49-F238E27FC236}">
                  <a16:creationId xmlns:a16="http://schemas.microsoft.com/office/drawing/2014/main" id="{6819EACB-C1C3-FB7C-E8E6-CE826E345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>
              <a:extLst>
                <a:ext uri="{96DAC541-7B7A-43D3-8B79-37D633B846F1}">
                  <asvg:svgBlip xmlns:asvg="http://schemas.microsoft.com/office/drawing/2016/SVG/main" r:embed="rId116"/>
                </a:ext>
              </a:extLst>
            </a:blip>
            <a:stretch>
              <a:fillRect/>
            </a:stretch>
          </p:blipFill>
          <p:spPr>
            <a:xfrm>
              <a:off x="8014197" y="4644724"/>
              <a:ext cx="914400" cy="239058"/>
            </a:xfrm>
            <a:prstGeom prst="rect">
              <a:avLst/>
            </a:prstGeom>
          </p:spPr>
        </p:pic>
        <p:pic>
          <p:nvPicPr>
            <p:cNvPr id="1033" name="Picture 1032" descr="PriceWaterhouseCooper logo">
              <a:extLst>
                <a:ext uri="{FF2B5EF4-FFF2-40B4-BE49-F238E27FC236}">
                  <a16:creationId xmlns:a16="http://schemas.microsoft.com/office/drawing/2014/main" id="{ECF481A4-FE84-202A-EFBA-80AAFCBEC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 cstate="print">
              <a:extLst>
                <a:ext uri="{BEBA8EAE-BF5A-486C-A8C5-ECC9F3942E4B}">
                  <a14:imgProps xmlns:a14="http://schemas.microsoft.com/office/drawing/2010/main">
                    <a14:imgLayer r:embed="rId118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97332" y="4549369"/>
              <a:ext cx="566392" cy="429768"/>
            </a:xfrm>
            <a:prstGeom prst="rect">
              <a:avLst/>
            </a:prstGeom>
          </p:spPr>
        </p:pic>
        <p:pic>
          <p:nvPicPr>
            <p:cNvPr id="1036" name="Picture 1035" descr="Saidot logo&#10;">
              <a:extLst>
                <a:ext uri="{FF2B5EF4-FFF2-40B4-BE49-F238E27FC236}">
                  <a16:creationId xmlns:a16="http://schemas.microsoft.com/office/drawing/2014/main" id="{F195CF00-A39F-A9E0-AC3C-F93DD2F52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 cstate="print">
              <a:extLst>
                <a:ext uri="{BEBA8EAE-BF5A-486C-A8C5-ECC9F3942E4B}">
                  <a14:imgProps xmlns:a14="http://schemas.microsoft.com/office/drawing/2010/main">
                    <a14:imgLayer r:embed="rId12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32459" y="4683702"/>
              <a:ext cx="602014" cy="161102"/>
            </a:xfrm>
            <a:prstGeom prst="rect">
              <a:avLst/>
            </a:prstGeom>
          </p:spPr>
        </p:pic>
        <p:pic>
          <p:nvPicPr>
            <p:cNvPr id="1038" name="Picture 1037" descr="A black and white sign with white text&#10;&#10;AI-generated content may be incorrect.">
              <a:extLst>
                <a:ext uri="{FF2B5EF4-FFF2-40B4-BE49-F238E27FC236}">
                  <a16:creationId xmlns:a16="http://schemas.microsoft.com/office/drawing/2014/main" id="{DB74AC74-BF5E-0D6C-69B3-F28A83572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7072" y="4627093"/>
              <a:ext cx="997925" cy="274320"/>
            </a:xfrm>
            <a:prstGeom prst="rect">
              <a:avLst/>
            </a:prstGeom>
          </p:spPr>
        </p:pic>
        <p:pic>
          <p:nvPicPr>
            <p:cNvPr id="1040" name="Operation Smile" descr="A blue and red logo&#10;&#10;Description automatically generated">
              <a:extLst>
                <a:ext uri="{FF2B5EF4-FFF2-40B4-BE49-F238E27FC236}">
                  <a16:creationId xmlns:a16="http://schemas.microsoft.com/office/drawing/2014/main" id="{32FB70DE-7F0D-70F1-A9F7-E86AF9310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 cstate="print">
              <a:extLst>
                <a:ext uri="{BEBA8EAE-BF5A-486C-A8C5-ECC9F3942E4B}">
                  <a14:imgProps xmlns:a14="http://schemas.microsoft.com/office/drawing/2010/main">
                    <a14:imgLayer r:embed="rId12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16834" y="4688917"/>
              <a:ext cx="1158262" cy="218911"/>
            </a:xfrm>
            <a:prstGeom prst="rect">
              <a:avLst/>
            </a:prstGeom>
          </p:spPr>
        </p:pic>
        <p:pic>
          <p:nvPicPr>
            <p:cNvPr id="1042" name="OPG" descr="opg logo">
              <a:extLst>
                <a:ext uri="{FF2B5EF4-FFF2-40B4-BE49-F238E27FC236}">
                  <a16:creationId xmlns:a16="http://schemas.microsoft.com/office/drawing/2014/main" id="{9052C927-FEAE-B798-A5A5-E671759FF7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4" cstate="print">
              <a:extLst>
                <a:ext uri="{BEBA8EAE-BF5A-486C-A8C5-ECC9F3942E4B}">
                  <a14:imgProps xmlns:a14="http://schemas.microsoft.com/office/drawing/2010/main">
                    <a14:imgLayer r:embed="rId12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3831" y="4637942"/>
              <a:ext cx="405277" cy="2526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" name="otto group" descr="Logo Otto Group – Logos PNG">
              <a:extLst>
                <a:ext uri="{FF2B5EF4-FFF2-40B4-BE49-F238E27FC236}">
                  <a16:creationId xmlns:a16="http://schemas.microsoft.com/office/drawing/2014/main" id="{ADF15514-51A3-A692-69AC-C1E38B1B675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6" cstate="print">
              <a:extLst>
                <a:ext uri="{BEBA8EAE-BF5A-486C-A8C5-ECC9F3942E4B}">
                  <a14:imgProps xmlns:a14="http://schemas.microsoft.com/office/drawing/2010/main">
                    <a14:imgLayer r:embed="rId12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428" b="40131"/>
            <a:stretch/>
          </p:blipFill>
          <p:spPr bwMode="auto">
            <a:xfrm>
              <a:off x="6317843" y="4701723"/>
              <a:ext cx="994294" cy="193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6" name="Picture 1045" descr="A black and red text&#10;&#10;AI-generated content may be incorrect.">
              <a:extLst>
                <a:ext uri="{FF2B5EF4-FFF2-40B4-BE49-F238E27FC236}">
                  <a16:creationId xmlns:a16="http://schemas.microsoft.com/office/drawing/2014/main" id="{BF051BF0-D746-D331-D1B4-8512D9658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 cstate="print">
              <a:extLst>
                <a:ext uri="{BEBA8EAE-BF5A-486C-A8C5-ECC9F3942E4B}">
                  <a14:imgProps xmlns:a14="http://schemas.microsoft.com/office/drawing/2010/main">
                    <a14:imgLayer r:embed="rId129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3732" y="4642816"/>
              <a:ext cx="864182" cy="242875"/>
            </a:xfrm>
            <a:prstGeom prst="rect">
              <a:avLst/>
            </a:prstGeom>
          </p:spPr>
        </p:pic>
        <p:pic>
          <p:nvPicPr>
            <p:cNvPr id="1047" name="Picture 1046" descr="A logo of a basketball team&#10;&#10;AI-generated content may be incorrect.">
              <a:extLst>
                <a:ext uri="{FF2B5EF4-FFF2-40B4-BE49-F238E27FC236}">
                  <a16:creationId xmlns:a16="http://schemas.microsoft.com/office/drawing/2014/main" id="{CF743348-933E-70AE-226A-9F13B8C4A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 cstate="print">
              <a:extLst>
                <a:ext uri="{BEBA8EAE-BF5A-486C-A8C5-ECC9F3942E4B}">
                  <a14:imgProps xmlns:a14="http://schemas.microsoft.com/office/drawing/2010/main">
                    <a14:imgLayer r:embed="rId13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80872" y="4594841"/>
              <a:ext cx="364590" cy="338826"/>
            </a:xfrm>
            <a:prstGeom prst="rect">
              <a:avLst/>
            </a:prstGeom>
          </p:spPr>
        </p:pic>
        <p:pic>
          <p:nvPicPr>
            <p:cNvPr id="1048" name="Picture 10" descr="Compliance &amp; Risk Management | Saifr">
              <a:extLst>
                <a:ext uri="{FF2B5EF4-FFF2-40B4-BE49-F238E27FC236}">
                  <a16:creationId xmlns:a16="http://schemas.microsoft.com/office/drawing/2014/main" id="{0FA52770-7302-EF3F-4D9C-18C3EBD5AF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2" cstate="print">
              <a:extLst>
                <a:ext uri="{BEBA8EAE-BF5A-486C-A8C5-ECC9F3942E4B}">
                  <a14:imgProps xmlns:a14="http://schemas.microsoft.com/office/drawing/2010/main">
                    <a14:imgLayer r:embed="rId13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03205" y="4672813"/>
              <a:ext cx="714220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9818633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55B59A-1055-ACA9-CD6D-73427E698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980408"/>
            <a:ext cx="6675120" cy="553998"/>
          </a:xfrm>
        </p:spPr>
        <p:txBody>
          <a:bodyPr/>
          <a:lstStyle/>
          <a:p>
            <a:r>
              <a:rPr lang="en-US"/>
              <a:t>Introduction to RAG</a:t>
            </a:r>
          </a:p>
        </p:txBody>
      </p:sp>
    </p:spTree>
    <p:extLst>
      <p:ext uri="{BB962C8B-B14F-4D97-AF65-F5344CB8AC3E}">
        <p14:creationId xmlns:p14="http://schemas.microsoft.com/office/powerpoint/2010/main" val="24027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5" descr="Background rotating color animation">
            <a:extLst>
              <a:ext uri="{FF2B5EF4-FFF2-40B4-BE49-F238E27FC236}">
                <a16:creationId xmlns:a16="http://schemas.microsoft.com/office/drawing/2014/main" id="{0B0B43CD-6AFF-3CBD-EC51-658373973DA3}"/>
              </a:ext>
            </a:extLst>
          </p:cNvPr>
          <p:cNvSpPr/>
          <p:nvPr/>
        </p:nvSpPr>
        <p:spPr bwMode="auto">
          <a:xfrm rot="1429251">
            <a:off x="-2870496" y="-889031"/>
            <a:ext cx="6475603" cy="3841080"/>
          </a:xfrm>
          <a:prstGeom prst="ellipse">
            <a:avLst/>
          </a:prstGeom>
          <a:gradFill flip="none" rotWithShape="1">
            <a:gsLst>
              <a:gs pos="90000">
                <a:srgbClr val="399A91"/>
              </a:gs>
              <a:gs pos="65000">
                <a:srgbClr val="0078D4">
                  <a:lumMod val="100000"/>
                </a:srgbClr>
              </a:gs>
              <a:gs pos="10000">
                <a:srgbClr val="F4364C">
                  <a:lumMod val="100000"/>
                </a:srgbClr>
              </a:gs>
              <a:gs pos="35000">
                <a:srgbClr val="C03BC4">
                  <a:lumMod val="100000"/>
                </a:srgbClr>
              </a:gs>
            </a:gsLst>
            <a:lin ang="10800000" scaled="1"/>
            <a:tileRect/>
          </a:gradFill>
          <a:ln>
            <a:noFill/>
            <a:headEnd type="none" w="med" len="med"/>
            <a:tailEnd type="none" w="med" len="med"/>
          </a:ln>
          <a:effectLst>
            <a:softEdge rad="53340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27432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u="none" strike="noStrike" kern="1200" cap="none" spc="0" normalizeH="0" baseline="0" noProof="0">
              <a:ln>
                <a:noFill/>
              </a:ln>
              <a:gradFill>
                <a:gsLst>
                  <a:gs pos="76923">
                    <a:srgbClr val="FFFFFF"/>
                  </a:gs>
                  <a:gs pos="74000">
                    <a:srgbClr val="FFFFFF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Text Semibold" pitchFamily="2" charset="0"/>
              <a:ea typeface="+mn-ea"/>
              <a:cs typeface="Segoe UI" pitchFamily="34" charset="0"/>
            </a:endParaRPr>
          </a:p>
        </p:txBody>
      </p:sp>
      <p:sp>
        <p:nvSpPr>
          <p:cNvPr id="13" name="Rectangle: Rounded Corners 19">
            <a:extLst>
              <a:ext uri="{FF2B5EF4-FFF2-40B4-BE49-F238E27FC236}">
                <a16:creationId xmlns:a16="http://schemas.microsoft.com/office/drawing/2014/main" id="{1CC8F663-C754-F599-1BEE-ED7689612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38684" y="137160"/>
            <a:ext cx="11914632" cy="6583680"/>
          </a:xfrm>
          <a:prstGeom prst="roundRect">
            <a:avLst>
              <a:gd name="adj" fmla="val 2697"/>
            </a:avLst>
          </a:prstGeom>
          <a:solidFill>
            <a:srgbClr val="FFF8F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 Variable Text" pitchFamily="2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0727661-41D7-190F-085D-26D15F4645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74750" y="457200"/>
            <a:ext cx="11017250" cy="1108075"/>
          </a:xfrm>
        </p:spPr>
        <p:txBody>
          <a:bodyPr/>
          <a:lstStyle/>
          <a:p>
            <a:r>
              <a:rPr lang="en-US"/>
              <a:t>Announcement slide with secondary</a:t>
            </a:r>
            <a:r>
              <a:rPr lang="en-US" baseline="0"/>
              <a:t> announcements (dark)</a:t>
            </a:r>
            <a:endParaRPr lang="en-US"/>
          </a:p>
        </p:txBody>
      </p:sp>
      <p:cxnSp>
        <p:nvCxnSpPr>
          <p:cNvPr id="15" name="!!Straight Connector 49">
            <a:extLst>
              <a:ext uri="{FF2B5EF4-FFF2-40B4-BE49-F238E27FC236}">
                <a16:creationId xmlns:a16="http://schemas.microsoft.com/office/drawing/2014/main" id="{89B36AE7-718E-B931-16D2-D7EDEDA1A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37752" y="4393045"/>
            <a:ext cx="0" cy="676656"/>
          </a:xfrm>
          <a:prstGeom prst="line">
            <a:avLst/>
          </a:prstGeom>
          <a:ln w="1270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!!Straight Connector 49">
            <a:extLst>
              <a:ext uri="{FF2B5EF4-FFF2-40B4-BE49-F238E27FC236}">
                <a16:creationId xmlns:a16="http://schemas.microsoft.com/office/drawing/2014/main" id="{A121646A-9BE6-0E45-202D-3CB2A8737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5999" y="4393045"/>
            <a:ext cx="0" cy="676656"/>
          </a:xfrm>
          <a:prstGeom prst="line">
            <a:avLst/>
          </a:prstGeom>
          <a:ln w="1270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!!Straight Connector 49">
            <a:extLst>
              <a:ext uri="{FF2B5EF4-FFF2-40B4-BE49-F238E27FC236}">
                <a16:creationId xmlns:a16="http://schemas.microsoft.com/office/drawing/2014/main" id="{DED251AB-D2CD-4FEC-D458-B233A54C9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4246" y="4393045"/>
            <a:ext cx="0" cy="676656"/>
          </a:xfrm>
          <a:prstGeom prst="line">
            <a:avLst/>
          </a:prstGeom>
          <a:ln w="1270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7E0941FE-569A-82EA-EA94-461A09B77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t="7091" b="7091"/>
          <a:stretch/>
        </p:blipFill>
        <p:spPr bwMode="auto">
          <a:xfrm>
            <a:off x="5391062" y="1010795"/>
            <a:ext cx="1409876" cy="1209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4FA119E8-0222-6FEF-88AF-4715EB11429A}"/>
              </a:ext>
            </a:extLst>
          </p:cNvPr>
          <p:cNvSpPr txBox="1">
            <a:spLocks/>
          </p:cNvSpPr>
          <p:nvPr/>
        </p:nvSpPr>
        <p:spPr>
          <a:xfrm>
            <a:off x="802640" y="2415932"/>
            <a:ext cx="10586720" cy="738664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8800" b="0" kern="1200" cap="none" spc="-50" baseline="0">
                <a:ln w="3175">
                  <a:noFill/>
                </a:ln>
                <a:gradFill>
                  <a:gsLst>
                    <a:gs pos="4321">
                      <a:srgbClr val="000000"/>
                    </a:gs>
                    <a:gs pos="21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4800" spc="0" dirty="0">
                <a:ln>
                  <a:noFill/>
                </a:ln>
                <a:solidFill>
                  <a:schemeClr val="tx1"/>
                </a:solidFill>
              </a:rPr>
              <a:t>Azure AI Search</a:t>
            </a:r>
            <a:endParaRPr kumimoji="0" lang="en-US" sz="48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4FFDC57-8939-A8B6-F9A8-3B8BAA762DE3}"/>
              </a:ext>
            </a:extLst>
          </p:cNvPr>
          <p:cNvSpPr txBox="1">
            <a:spLocks/>
          </p:cNvSpPr>
          <p:nvPr/>
        </p:nvSpPr>
        <p:spPr>
          <a:xfrm>
            <a:off x="3520479" y="3189745"/>
            <a:ext cx="5161846" cy="7239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i="0" kern="1200" cap="none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Segoe Sans Display" pitchFamily="2" charset="0"/>
              </a:defRPr>
            </a:lvl1pPr>
          </a:lstStyle>
          <a:p>
            <a:pPr marL="0" lvl="1" algn="ctr" fontAlgn="base">
              <a:spcBef>
                <a:spcPct val="0"/>
              </a:spcBef>
              <a:spcAft>
                <a:spcPts val="1200"/>
              </a:spcAft>
              <a:defRPr sz="1862" b="0" i="0" u="none" strike="noStrike" kern="1200" spc="0" baseline="0">
                <a:solidFill>
                  <a:srgbClr val="FFFFFF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sz="3200" b="1" dirty="0">
                <a:ln w="3175">
                  <a:noFill/>
                </a:ln>
                <a:gradFill flip="none" rotWithShape="1">
                  <a:gsLst>
                    <a:gs pos="0">
                      <a:srgbClr val="F65567"/>
                    </a:gs>
                    <a:gs pos="100000">
                      <a:srgbClr val="318581"/>
                    </a:gs>
                    <a:gs pos="68000">
                      <a:srgbClr val="0A6BBA"/>
                    </a:gs>
                    <a:gs pos="31000">
                      <a:srgbClr val="AC35A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+mj-lt"/>
                <a:cs typeface="Segoe UI" pitchFamily="34" charset="0"/>
              </a:rPr>
              <a:t>State-of-the-art RAG</a:t>
            </a:r>
          </a:p>
          <a:p>
            <a:pPr marL="0" lvl="1" algn="ctr" fontAlgn="base">
              <a:spcBef>
                <a:spcPct val="0"/>
              </a:spcBef>
              <a:spcAft>
                <a:spcPts val="1200"/>
              </a:spcAft>
              <a:defRPr sz="1862" b="0" i="0" u="none" strike="noStrike" kern="1200" spc="0" baseline="0">
                <a:solidFill>
                  <a:srgbClr val="FFFFFF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endParaRPr lang="en-CA" sz="3200" dirty="0">
              <a:ln w="3175">
                <a:noFill/>
              </a:ln>
              <a:gradFill flip="none" rotWithShape="1">
                <a:gsLst>
                  <a:gs pos="100000">
                    <a:srgbClr val="49C5B1"/>
                  </a:gs>
                  <a:gs pos="0">
                    <a:srgbClr val="FFA38B"/>
                  </a:gs>
                  <a:gs pos="32000">
                    <a:srgbClr val="D59ED7"/>
                  </a:gs>
                  <a:gs pos="68000">
                    <a:srgbClr val="8DC8E8"/>
                  </a:gs>
                </a:gsLst>
                <a:path path="circle">
                  <a:fillToRect l="100000" t="100000"/>
                </a:path>
                <a:tileRect r="-100000" b="-100000"/>
              </a:gradFill>
              <a:latin typeface="+mj-lt"/>
              <a:cs typeface="Segoe U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608411-E992-36AB-CA7C-349B2D640144}"/>
              </a:ext>
            </a:extLst>
          </p:cNvPr>
          <p:cNvSpPr txBox="1"/>
          <p:nvPr/>
        </p:nvSpPr>
        <p:spPr>
          <a:xfrm>
            <a:off x="951263" y="4392819"/>
            <a:ext cx="2314736" cy="67710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US" sz="2200" b="1" dirty="0">
                <a:latin typeface="+mj-lt"/>
              </a:rPr>
              <a:t>Rigorously tested </a:t>
            </a:r>
          </a:p>
          <a:p>
            <a:pPr algn="ctr">
              <a:defRPr/>
            </a:pPr>
            <a:r>
              <a:rPr lang="en-US" sz="2200" b="1" dirty="0">
                <a:latin typeface="+mj-lt"/>
              </a:rPr>
              <a:t>retrieval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DA1D8F-DA42-BDA2-310E-FE729BE87D7B}"/>
              </a:ext>
            </a:extLst>
          </p:cNvPr>
          <p:cNvSpPr txBox="1"/>
          <p:nvPr/>
        </p:nvSpPr>
        <p:spPr>
          <a:xfrm>
            <a:off x="3852476" y="4392819"/>
            <a:ext cx="1828800" cy="6771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US" sz="2200" b="1" dirty="0">
                <a:latin typeface="+mj-lt"/>
              </a:rPr>
              <a:t>Streamlined data pipeline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8A6972-6BBE-5F6B-8DCF-298E2E602D21}"/>
              </a:ext>
            </a:extLst>
          </p:cNvPr>
          <p:cNvSpPr txBox="1"/>
          <p:nvPr/>
        </p:nvSpPr>
        <p:spPr>
          <a:xfrm>
            <a:off x="6653310" y="4392819"/>
            <a:ext cx="1543628" cy="67710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US" sz="2200" b="1" dirty="0">
                <a:latin typeface="+mj-lt"/>
              </a:rPr>
              <a:t>Developer </a:t>
            </a:r>
          </a:p>
          <a:p>
            <a:pPr algn="ctr">
              <a:defRPr/>
            </a:pPr>
            <a:r>
              <a:rPr lang="en-US" sz="2200" b="1" dirty="0">
                <a:latin typeface="+mj-lt"/>
              </a:rPr>
              <a:t>integrations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F8737D-E55F-628C-8B43-F1E84F1B4DDB}"/>
              </a:ext>
            </a:extLst>
          </p:cNvPr>
          <p:cNvSpPr txBox="1"/>
          <p:nvPr/>
        </p:nvSpPr>
        <p:spPr>
          <a:xfrm>
            <a:off x="8988199" y="4392819"/>
            <a:ext cx="2190343" cy="67710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US" sz="2200" b="1" dirty="0">
                <a:latin typeface="+mj-lt"/>
              </a:rPr>
              <a:t>Enterprise-ready </a:t>
            </a:r>
          </a:p>
          <a:p>
            <a:pPr algn="ctr">
              <a:defRPr/>
            </a:pPr>
            <a:r>
              <a:rPr lang="en-US" sz="2200" b="1" dirty="0">
                <a:latin typeface="+mj-lt"/>
              </a:rPr>
              <a:t>foundation</a:t>
            </a:r>
          </a:p>
        </p:txBody>
      </p:sp>
    </p:spTree>
    <p:extLst>
      <p:ext uri="{BB962C8B-B14F-4D97-AF65-F5344CB8AC3E}">
        <p14:creationId xmlns:p14="http://schemas.microsoft.com/office/powerpoint/2010/main" val="18768978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5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9" dur="2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1" presetClass="path" presetSubtype="0" repeatCount="23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2.96296E-6 C 0.06406 -0.20833 0.76497 -0.22315 0.92291 -0.08819 C 1.08112 0.04676 1.00846 0.74537 0.94791 0.80996 C 0.8875 0.87454 0.075 0.86505 0.02018 0.81667 C -0.03268 0.76736 -0.0418 0.17246 0.00013 -2.96296E-6 Z " pathEditMode="relative" rAng="0" ptsTypes="AAAAA">
                                      <p:cBhvr>
                                        <p:cTn id="11" dur="1774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596" y="3398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-4.07407E-6 L 0 0.03542 " pathEditMode="relative" rAng="0" ptsTypes="AA">
                                      <p:cBhvr>
                                        <p:cTn id="16" dur="7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1.25E-6 3.33333E-6 L -1.25E-6 0.01967 " pathEditMode="relative" rAng="0" ptsTypes="AA">
                                      <p:cBhvr>
                                        <p:cTn id="21" dur="5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6" presetClass="entr" presetSubtype="4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pat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3.33333E-6 L 0 0.01967 " pathEditMode="relative" rAng="0" ptsTypes="AA">
                                      <p:cBhvr>
                                        <p:cTn id="26" dur="5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6" presetClass="entr" presetSubtype="42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path" presetSubtype="0" decel="10000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1.25E-6 3.33333E-6 L 1.25E-6 0.01967 " pathEditMode="relative" rAng="0" ptsTypes="AA">
                                      <p:cBhvr>
                                        <p:cTn id="31" dur="5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3.33333E-6 3.33333E-6 L 3.33333E-6 0.01967 " pathEditMode="relative" rAng="0" ptsTypes="AA">
                                      <p:cBhvr>
                                        <p:cTn id="36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4.375E-6 3.33333E-6 L 4.375E-6 0.01967 " pathEditMode="relative" rAng="0" ptsTypes="AA">
                                      <p:cBhvr>
                                        <p:cTn id="41" dur="5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4.375E-6 3.33333E-6 L -4.375E-6 0.01967 " pathEditMode="relative" rAng="0" ptsTypes="AA">
                                      <p:cBhvr>
                                        <p:cTn id="46" dur="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path" presetSubtype="0" decel="100000" fill="hold" grpId="1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-3.33333E-6 3.33333E-6 L -3.33333E-6 0.01967 " pathEditMode="relative" rAng="0" ptsTypes="AA">
                                      <p:cBhvr>
                                        <p:cTn id="51" dur="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7037E-7 L 0 0.03542 " pathEditMode="relative" rAng="0" ptsTypes="AA">
                                      <p:cBhvr>
                                        <p:cTn id="56" dur="7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3.33333E-6 3.33333E-6 L 3.33333E-6 0.01967 " pathEditMode="relative" rAng="0" ptsTypes="AA">
                                      <p:cBhvr>
                                        <p:cTn id="61" dur="5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  <p:bldP spid="3" grpId="0"/>
      <p:bldP spid="3" grpId="1"/>
      <p:bldP spid="21" grpId="0"/>
      <p:bldP spid="21" grpId="1"/>
      <p:bldP spid="4" grpId="0"/>
      <p:bldP spid="4" grpId="1"/>
      <p:bldP spid="11" grpId="0"/>
      <p:bldP spid="11" grpId="1"/>
      <p:bldP spid="12" grpId="0"/>
      <p:bldP spid="12" grpId="1"/>
      <p:bldP spid="14" grpId="0"/>
      <p:bldP spid="1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C8628-643F-4991-E02A-57F9E7131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The limitations of LLMS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ACC20A-0079-20AB-E709-5EDA002BC2BB}"/>
              </a:ext>
            </a:extLst>
          </p:cNvPr>
          <p:cNvSpPr txBox="1">
            <a:spLocks/>
          </p:cNvSpPr>
          <p:nvPr/>
        </p:nvSpPr>
        <p:spPr>
          <a:xfrm>
            <a:off x="588263" y="1450868"/>
            <a:ext cx="2940011" cy="375298"/>
          </a:xfrm>
          <a:prstGeom prst="roundRect">
            <a:avLst>
              <a:gd name="adj" fmla="val 35587"/>
            </a:avLst>
          </a:prstGeom>
          <a:gradFill flip="none" rotWithShape="1">
            <a:gsLst>
              <a:gs pos="80000">
                <a:srgbClr val="0A6BBA"/>
              </a:gs>
              <a:gs pos="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none" lIns="146957" tIns="25718" rIns="146957" bIns="27432" rtlCol="0">
            <a:spAutoFit/>
          </a:bodyPr>
          <a:lstStyle>
            <a:defPPr>
              <a:defRPr lang="en-US"/>
            </a:defPPr>
            <a:lvl1pPr algn="ctr" defTabSz="2275850" fontAlgn="base">
              <a:spcBef>
                <a:spcPct val="0"/>
              </a:spcBef>
              <a:spcAft>
                <a:spcPct val="0"/>
              </a:spcAft>
              <a:tabLst>
                <a:tab pos="3701239" algn="l"/>
              </a:tabLst>
              <a:defRPr sz="6000" b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" pitchFamily="2" charset="0"/>
                <a:cs typeface="Segoe UI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r>
              <a:rPr kumimoji="0" lang="en-US" sz="16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Outdated public knowledge</a:t>
            </a:r>
          </a:p>
        </p:txBody>
      </p:sp>
      <p:pic>
        <p:nvPicPr>
          <p:cNvPr id="12" name="Picture 11" descr="Screenshot of a conversation with an LLM demonstrating outdated public knowledge.">
            <a:extLst>
              <a:ext uri="{FF2B5EF4-FFF2-40B4-BE49-F238E27FC236}">
                <a16:creationId xmlns:a16="http://schemas.microsoft.com/office/drawing/2014/main" id="{B89918DA-3A9A-4AC4-594E-3E6727D491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8263" y="1948296"/>
            <a:ext cx="5597594" cy="2951922"/>
          </a:xfrm>
          <a:prstGeom prst="roundRect">
            <a:avLst>
              <a:gd name="adj" fmla="val 5061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029C97-4E0A-D162-E4D5-0489FCBE7760}"/>
              </a:ext>
            </a:extLst>
          </p:cNvPr>
          <p:cNvSpPr txBox="1">
            <a:spLocks/>
          </p:cNvSpPr>
          <p:nvPr/>
        </p:nvSpPr>
        <p:spPr>
          <a:xfrm>
            <a:off x="9112343" y="2634268"/>
            <a:ext cx="2491394" cy="375298"/>
          </a:xfrm>
          <a:prstGeom prst="roundRect">
            <a:avLst>
              <a:gd name="adj" fmla="val 35587"/>
            </a:avLst>
          </a:prstGeom>
          <a:gradFill flip="none" rotWithShape="1">
            <a:gsLst>
              <a:gs pos="80000">
                <a:srgbClr val="AC35AF"/>
              </a:gs>
              <a:gs pos="0">
                <a:srgbClr val="F65567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none" lIns="146957" tIns="25718" rIns="146957" bIns="27432" rtlCol="0">
            <a:spAutoFit/>
          </a:bodyPr>
          <a:lstStyle>
            <a:defPPr>
              <a:defRPr lang="en-US"/>
            </a:defPPr>
            <a:lvl1pPr algn="ctr" defTabSz="2275850" fontAlgn="base">
              <a:spcBef>
                <a:spcPct val="0"/>
              </a:spcBef>
              <a:spcAft>
                <a:spcPct val="0"/>
              </a:spcAft>
              <a:tabLst>
                <a:tab pos="3701239" algn="l"/>
              </a:tabLst>
              <a:defRPr sz="6000" b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" pitchFamily="2" charset="0"/>
                <a:cs typeface="Segoe UI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r>
              <a:rPr kumimoji="0" lang="en-US" sz="16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No internal knowledge</a:t>
            </a:r>
          </a:p>
        </p:txBody>
      </p:sp>
      <p:pic>
        <p:nvPicPr>
          <p:cNvPr id="13" name="Picture 12" descr="Screenshot of a conversation with an LLM demonstrating no internal knowledge.">
            <a:extLst>
              <a:ext uri="{FF2B5EF4-FFF2-40B4-BE49-F238E27FC236}">
                <a16:creationId xmlns:a16="http://schemas.microsoft.com/office/drawing/2014/main" id="{A6888F71-F359-D059-5A25-6F50E1EB7C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4"/>
          <a:stretch/>
        </p:blipFill>
        <p:spPr>
          <a:xfrm>
            <a:off x="4908699" y="3131696"/>
            <a:ext cx="6695038" cy="3137342"/>
          </a:xfrm>
          <a:prstGeom prst="roundRect">
            <a:avLst>
              <a:gd name="adj" fmla="val 5061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</p:pic>
    </p:spTree>
    <p:extLst>
      <p:ext uri="{BB962C8B-B14F-4D97-AF65-F5344CB8AC3E}">
        <p14:creationId xmlns:p14="http://schemas.microsoft.com/office/powerpoint/2010/main" val="30914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005370-4D25-17CC-2698-E48D98DF6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14">
            <a:extLst>
              <a:ext uri="{FF2B5EF4-FFF2-40B4-BE49-F238E27FC236}">
                <a16:creationId xmlns:a16="http://schemas.microsoft.com/office/drawing/2014/main" id="{B0CF340C-28CF-B2D2-67C7-C4E25DE290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31935" y="2668155"/>
            <a:ext cx="3483864" cy="3142514"/>
          </a:xfrm>
          <a:prstGeom prst="roundRect">
            <a:avLst>
              <a:gd name="adj" fmla="val 4918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320040" rIns="0" bIns="0" rtlCol="0" anchor="t" anchorCtr="0">
            <a:noAutofit/>
          </a:bodyPr>
          <a:lstStyle/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 err="1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+mn-c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8D676FB-B96B-C507-287F-8D4A6D224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092815" y="2183977"/>
            <a:ext cx="962105" cy="962105"/>
          </a:xfrm>
          <a:prstGeom prst="ellipse">
            <a:avLst/>
          </a:prstGeom>
          <a:gradFill flip="none" rotWithShape="1">
            <a:gsLst>
              <a:gs pos="80000">
                <a:srgbClr val="0A6BBA"/>
              </a:gs>
              <a:gs pos="0">
                <a:srgbClr val="AC35AF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2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50" name="Graphic 46">
            <a:extLst>
              <a:ext uri="{FF2B5EF4-FFF2-40B4-BE49-F238E27FC236}">
                <a16:creationId xmlns:a16="http://schemas.microsoft.com/office/drawing/2014/main" id="{61F0423D-11FB-A5A9-5B73-790FF8CC5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63802" y="2455069"/>
            <a:ext cx="420130" cy="419920"/>
          </a:xfrm>
          <a:custGeom>
            <a:avLst/>
            <a:gdLst>
              <a:gd name="connsiteX0" fmla="*/ 170993 w 420130"/>
              <a:gd name="connsiteY0" fmla="*/ 0 h 419920"/>
              <a:gd name="connsiteX1" fmla="*/ 194311 w 420130"/>
              <a:gd name="connsiteY1" fmla="*/ 29640 h 419920"/>
              <a:gd name="connsiteX2" fmla="*/ 194311 w 420130"/>
              <a:gd name="connsiteY2" fmla="*/ 120662 h 419920"/>
              <a:gd name="connsiteX3" fmla="*/ 175510 w 420130"/>
              <a:gd name="connsiteY3" fmla="*/ 120662 h 419920"/>
              <a:gd name="connsiteX4" fmla="*/ 120808 w 420130"/>
              <a:gd name="connsiteY4" fmla="*/ 97469 h 419920"/>
              <a:gd name="connsiteX5" fmla="*/ 97615 w 420130"/>
              <a:gd name="connsiteY5" fmla="*/ 152171 h 419920"/>
              <a:gd name="connsiteX6" fmla="*/ 152317 w 420130"/>
              <a:gd name="connsiteY6" fmla="*/ 175363 h 419920"/>
              <a:gd name="connsiteX7" fmla="*/ 175510 w 420130"/>
              <a:gd name="connsiteY7" fmla="*/ 152171 h 419920"/>
              <a:gd name="connsiteX8" fmla="*/ 194311 w 420130"/>
              <a:gd name="connsiteY8" fmla="*/ 152171 h 419920"/>
              <a:gd name="connsiteX9" fmla="*/ 194311 w 420130"/>
              <a:gd name="connsiteY9" fmla="*/ 381101 h 419920"/>
              <a:gd name="connsiteX10" fmla="*/ 177862 w 420130"/>
              <a:gd name="connsiteY10" fmla="*/ 411770 h 419920"/>
              <a:gd name="connsiteX11" fmla="*/ 145092 w 420130"/>
              <a:gd name="connsiteY11" fmla="*/ 419921 h 419920"/>
              <a:gd name="connsiteX12" fmla="*/ 74594 w 420130"/>
              <a:gd name="connsiteY12" fmla="*/ 384882 h 419920"/>
              <a:gd name="connsiteX13" fmla="*/ 53168 w 420130"/>
              <a:gd name="connsiteY13" fmla="*/ 339991 h 419920"/>
              <a:gd name="connsiteX14" fmla="*/ 26510 w 420130"/>
              <a:gd name="connsiteY14" fmla="*/ 325496 h 419920"/>
              <a:gd name="connsiteX15" fmla="*/ 0 w 420130"/>
              <a:gd name="connsiteY15" fmla="*/ 261742 h 419920"/>
              <a:gd name="connsiteX16" fmla="*/ 3991 w 420130"/>
              <a:gd name="connsiteY16" fmla="*/ 220443 h 419920"/>
              <a:gd name="connsiteX17" fmla="*/ 92429 w 420130"/>
              <a:gd name="connsiteY17" fmla="*/ 220443 h 419920"/>
              <a:gd name="connsiteX18" fmla="*/ 120473 w 420130"/>
              <a:gd name="connsiteY18" fmla="*/ 244621 h 419920"/>
              <a:gd name="connsiteX19" fmla="*/ 97711 w 420130"/>
              <a:gd name="connsiteY19" fmla="*/ 299505 h 419920"/>
              <a:gd name="connsiteX20" fmla="*/ 152594 w 420130"/>
              <a:gd name="connsiteY20" fmla="*/ 322266 h 419920"/>
              <a:gd name="connsiteX21" fmla="*/ 175356 w 420130"/>
              <a:gd name="connsiteY21" fmla="*/ 267382 h 419920"/>
              <a:gd name="connsiteX22" fmla="*/ 152129 w 420130"/>
              <a:gd name="connsiteY22" fmla="*/ 244432 h 419920"/>
              <a:gd name="connsiteX23" fmla="*/ 92429 w 420130"/>
              <a:gd name="connsiteY23" fmla="*/ 188933 h 419920"/>
              <a:gd name="connsiteX24" fmla="*/ 21847 w 420130"/>
              <a:gd name="connsiteY24" fmla="*/ 188933 h 419920"/>
              <a:gd name="connsiteX25" fmla="*/ 32245 w 420130"/>
              <a:gd name="connsiteY25" fmla="*/ 182589 h 419920"/>
              <a:gd name="connsiteX26" fmla="*/ 28506 w 420130"/>
              <a:gd name="connsiteY26" fmla="*/ 158914 h 419920"/>
              <a:gd name="connsiteX27" fmla="*/ 34703 w 420130"/>
              <a:gd name="connsiteY27" fmla="*/ 113099 h 419920"/>
              <a:gd name="connsiteX28" fmla="*/ 56508 w 420130"/>
              <a:gd name="connsiteY28" fmla="*/ 75834 h 419920"/>
              <a:gd name="connsiteX29" fmla="*/ 79531 w 420130"/>
              <a:gd name="connsiteY29" fmla="*/ 63923 h 419920"/>
              <a:gd name="connsiteX30" fmla="*/ 107953 w 420130"/>
              <a:gd name="connsiteY30" fmla="*/ 21133 h 419920"/>
              <a:gd name="connsiteX31" fmla="*/ 170972 w 420130"/>
              <a:gd name="connsiteY31" fmla="*/ 0 h 419920"/>
              <a:gd name="connsiteX32" fmla="*/ 225820 w 420130"/>
              <a:gd name="connsiteY32" fmla="*/ 314972 h 419920"/>
              <a:gd name="connsiteX33" fmla="*/ 260481 w 420130"/>
              <a:gd name="connsiteY33" fmla="*/ 314972 h 419920"/>
              <a:gd name="connsiteX34" fmla="*/ 320350 w 420130"/>
              <a:gd name="connsiteY34" fmla="*/ 255103 h 419920"/>
              <a:gd name="connsiteX35" fmla="*/ 320350 w 420130"/>
              <a:gd name="connsiteY35" fmla="*/ 217397 h 419920"/>
              <a:gd name="connsiteX36" fmla="*/ 343541 w 420130"/>
              <a:gd name="connsiteY36" fmla="*/ 162695 h 419920"/>
              <a:gd name="connsiteX37" fmla="*/ 288840 w 420130"/>
              <a:gd name="connsiteY37" fmla="*/ 139502 h 419920"/>
              <a:gd name="connsiteX38" fmla="*/ 265649 w 420130"/>
              <a:gd name="connsiteY38" fmla="*/ 194203 h 419920"/>
              <a:gd name="connsiteX39" fmla="*/ 288840 w 420130"/>
              <a:gd name="connsiteY39" fmla="*/ 217397 h 419920"/>
              <a:gd name="connsiteX40" fmla="*/ 288840 w 420130"/>
              <a:gd name="connsiteY40" fmla="*/ 255103 h 419920"/>
              <a:gd name="connsiteX41" fmla="*/ 260481 w 420130"/>
              <a:gd name="connsiteY41" fmla="*/ 283462 h 419920"/>
              <a:gd name="connsiteX42" fmla="*/ 225820 w 420130"/>
              <a:gd name="connsiteY42" fmla="*/ 283462 h 419920"/>
              <a:gd name="connsiteX43" fmla="*/ 225820 w 420130"/>
              <a:gd name="connsiteY43" fmla="*/ 29640 h 419920"/>
              <a:gd name="connsiteX44" fmla="*/ 249138 w 420130"/>
              <a:gd name="connsiteY44" fmla="*/ 0 h 419920"/>
              <a:gd name="connsiteX45" fmla="*/ 312178 w 420130"/>
              <a:gd name="connsiteY45" fmla="*/ 21133 h 419920"/>
              <a:gd name="connsiteX46" fmla="*/ 340600 w 420130"/>
              <a:gd name="connsiteY46" fmla="*/ 63923 h 419920"/>
              <a:gd name="connsiteX47" fmla="*/ 363623 w 420130"/>
              <a:gd name="connsiteY47" fmla="*/ 75834 h 419920"/>
              <a:gd name="connsiteX48" fmla="*/ 385428 w 420130"/>
              <a:gd name="connsiteY48" fmla="*/ 113099 h 419920"/>
              <a:gd name="connsiteX49" fmla="*/ 391625 w 420130"/>
              <a:gd name="connsiteY49" fmla="*/ 158914 h 419920"/>
              <a:gd name="connsiteX50" fmla="*/ 387886 w 420130"/>
              <a:gd name="connsiteY50" fmla="*/ 182589 h 419920"/>
              <a:gd name="connsiteX51" fmla="*/ 389272 w 420130"/>
              <a:gd name="connsiteY51" fmla="*/ 183219 h 419920"/>
              <a:gd name="connsiteX52" fmla="*/ 408052 w 420130"/>
              <a:gd name="connsiteY52" fmla="*/ 200234 h 419920"/>
              <a:gd name="connsiteX53" fmla="*/ 420131 w 420130"/>
              <a:gd name="connsiteY53" fmla="*/ 261742 h 419920"/>
              <a:gd name="connsiteX54" fmla="*/ 393621 w 420130"/>
              <a:gd name="connsiteY54" fmla="*/ 325496 h 419920"/>
              <a:gd name="connsiteX55" fmla="*/ 366942 w 420130"/>
              <a:gd name="connsiteY55" fmla="*/ 339991 h 419920"/>
              <a:gd name="connsiteX56" fmla="*/ 345537 w 420130"/>
              <a:gd name="connsiteY56" fmla="*/ 384882 h 419920"/>
              <a:gd name="connsiteX57" fmla="*/ 275018 w 420130"/>
              <a:gd name="connsiteY57" fmla="*/ 419921 h 419920"/>
              <a:gd name="connsiteX58" fmla="*/ 242247 w 420130"/>
              <a:gd name="connsiteY58" fmla="*/ 411791 h 419920"/>
              <a:gd name="connsiteX59" fmla="*/ 225820 w 420130"/>
              <a:gd name="connsiteY59" fmla="*/ 381101 h 419920"/>
              <a:gd name="connsiteX60" fmla="*/ 225820 w 420130"/>
              <a:gd name="connsiteY60" fmla="*/ 314972 h 419920"/>
              <a:gd name="connsiteX61" fmla="*/ 126039 w 420130"/>
              <a:gd name="connsiteY61" fmla="*/ 136416 h 419920"/>
              <a:gd name="connsiteX62" fmla="*/ 136543 w 420130"/>
              <a:gd name="connsiteY62" fmla="*/ 125913 h 419920"/>
              <a:gd name="connsiteX63" fmla="*/ 147046 w 420130"/>
              <a:gd name="connsiteY63" fmla="*/ 136416 h 419920"/>
              <a:gd name="connsiteX64" fmla="*/ 136543 w 420130"/>
              <a:gd name="connsiteY64" fmla="*/ 146920 h 419920"/>
              <a:gd name="connsiteX65" fmla="*/ 126039 w 420130"/>
              <a:gd name="connsiteY65" fmla="*/ 136416 h 419920"/>
              <a:gd name="connsiteX66" fmla="*/ 136543 w 420130"/>
              <a:gd name="connsiteY66" fmla="*/ 272959 h 419920"/>
              <a:gd name="connsiteX67" fmla="*/ 126039 w 420130"/>
              <a:gd name="connsiteY67" fmla="*/ 283462 h 419920"/>
              <a:gd name="connsiteX68" fmla="*/ 136543 w 420130"/>
              <a:gd name="connsiteY68" fmla="*/ 293966 h 419920"/>
              <a:gd name="connsiteX69" fmla="*/ 147046 w 420130"/>
              <a:gd name="connsiteY69" fmla="*/ 283462 h 419920"/>
              <a:gd name="connsiteX70" fmla="*/ 136543 w 420130"/>
              <a:gd name="connsiteY70" fmla="*/ 272959 h 419920"/>
              <a:gd name="connsiteX71" fmla="*/ 294092 w 420130"/>
              <a:gd name="connsiteY71" fmla="*/ 178430 h 419920"/>
              <a:gd name="connsiteX72" fmla="*/ 304595 w 420130"/>
              <a:gd name="connsiteY72" fmla="*/ 188933 h 419920"/>
              <a:gd name="connsiteX73" fmla="*/ 315098 w 420130"/>
              <a:gd name="connsiteY73" fmla="*/ 178430 h 419920"/>
              <a:gd name="connsiteX74" fmla="*/ 304595 w 420130"/>
              <a:gd name="connsiteY74" fmla="*/ 167926 h 419920"/>
              <a:gd name="connsiteX75" fmla="*/ 294092 w 420130"/>
              <a:gd name="connsiteY75" fmla="*/ 178430 h 419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420130" h="419920">
                <a:moveTo>
                  <a:pt x="170993" y="0"/>
                </a:moveTo>
                <a:cubicBezTo>
                  <a:pt x="185845" y="0"/>
                  <a:pt x="194311" y="14789"/>
                  <a:pt x="194311" y="29640"/>
                </a:cubicBezTo>
                <a:lnTo>
                  <a:pt x="194311" y="120662"/>
                </a:lnTo>
                <a:lnTo>
                  <a:pt x="175510" y="120662"/>
                </a:lnTo>
                <a:cubicBezTo>
                  <a:pt x="166809" y="99152"/>
                  <a:pt x="142317" y="88768"/>
                  <a:pt x="120808" y="97469"/>
                </a:cubicBezTo>
                <a:cubicBezTo>
                  <a:pt x="99298" y="106170"/>
                  <a:pt x="88914" y="130662"/>
                  <a:pt x="97615" y="152171"/>
                </a:cubicBezTo>
                <a:cubicBezTo>
                  <a:pt x="106316" y="173682"/>
                  <a:pt x="130808" y="184066"/>
                  <a:pt x="152317" y="175363"/>
                </a:cubicBezTo>
                <a:cubicBezTo>
                  <a:pt x="162871" y="171094"/>
                  <a:pt x="171241" y="162725"/>
                  <a:pt x="175510" y="152171"/>
                </a:cubicBezTo>
                <a:lnTo>
                  <a:pt x="194311" y="152171"/>
                </a:lnTo>
                <a:lnTo>
                  <a:pt x="194311" y="381101"/>
                </a:lnTo>
                <a:cubicBezTo>
                  <a:pt x="194311" y="393621"/>
                  <a:pt x="189017" y="406077"/>
                  <a:pt x="177862" y="411770"/>
                </a:cubicBezTo>
                <a:cubicBezTo>
                  <a:pt x="167748" y="417068"/>
                  <a:pt x="156510" y="419864"/>
                  <a:pt x="145092" y="419921"/>
                </a:cubicBezTo>
                <a:cubicBezTo>
                  <a:pt x="113372" y="419921"/>
                  <a:pt x="89782" y="403872"/>
                  <a:pt x="74594" y="384882"/>
                </a:cubicBezTo>
                <a:cubicBezTo>
                  <a:pt x="64076" y="371778"/>
                  <a:pt x="56741" y="356410"/>
                  <a:pt x="53168" y="339991"/>
                </a:cubicBezTo>
                <a:cubicBezTo>
                  <a:pt x="43358" y="337096"/>
                  <a:pt x="34273" y="332155"/>
                  <a:pt x="26510" y="325496"/>
                </a:cubicBezTo>
                <a:cubicBezTo>
                  <a:pt x="11596" y="312661"/>
                  <a:pt x="0" y="292075"/>
                  <a:pt x="0" y="261742"/>
                </a:cubicBezTo>
                <a:cubicBezTo>
                  <a:pt x="0" y="245882"/>
                  <a:pt x="1134" y="232059"/>
                  <a:pt x="3991" y="220443"/>
                </a:cubicBezTo>
                <a:lnTo>
                  <a:pt x="92429" y="220443"/>
                </a:lnTo>
                <a:cubicBezTo>
                  <a:pt x="106671" y="220443"/>
                  <a:pt x="118477" y="230946"/>
                  <a:pt x="120473" y="244621"/>
                </a:cubicBezTo>
                <a:cubicBezTo>
                  <a:pt x="99032" y="253492"/>
                  <a:pt x="88841" y="278064"/>
                  <a:pt x="97711" y="299505"/>
                </a:cubicBezTo>
                <a:cubicBezTo>
                  <a:pt x="106582" y="320944"/>
                  <a:pt x="131153" y="331135"/>
                  <a:pt x="152594" y="322266"/>
                </a:cubicBezTo>
                <a:cubicBezTo>
                  <a:pt x="174035" y="313395"/>
                  <a:pt x="184225" y="288823"/>
                  <a:pt x="175356" y="267382"/>
                </a:cubicBezTo>
                <a:cubicBezTo>
                  <a:pt x="171025" y="256914"/>
                  <a:pt x="162649" y="248638"/>
                  <a:pt x="152129" y="244432"/>
                </a:cubicBezTo>
                <a:cubicBezTo>
                  <a:pt x="149840" y="213149"/>
                  <a:pt x="123795" y="188937"/>
                  <a:pt x="92429" y="188933"/>
                </a:cubicBezTo>
                <a:lnTo>
                  <a:pt x="21847" y="188933"/>
                </a:lnTo>
                <a:cubicBezTo>
                  <a:pt x="24993" y="186332"/>
                  <a:pt x="28494" y="184196"/>
                  <a:pt x="32245" y="182589"/>
                </a:cubicBezTo>
                <a:cubicBezTo>
                  <a:pt x="30080" y="174871"/>
                  <a:pt x="28825" y="166925"/>
                  <a:pt x="28506" y="158914"/>
                </a:cubicBezTo>
                <a:cubicBezTo>
                  <a:pt x="27813" y="143475"/>
                  <a:pt x="30123" y="127405"/>
                  <a:pt x="34703" y="113099"/>
                </a:cubicBezTo>
                <a:cubicBezTo>
                  <a:pt x="39240" y="99025"/>
                  <a:pt x="46424" y="85308"/>
                  <a:pt x="56508" y="75834"/>
                </a:cubicBezTo>
                <a:cubicBezTo>
                  <a:pt x="62833" y="69670"/>
                  <a:pt x="70846" y="65525"/>
                  <a:pt x="79531" y="63923"/>
                </a:cubicBezTo>
                <a:cubicBezTo>
                  <a:pt x="83711" y="46277"/>
                  <a:pt x="94361" y="31699"/>
                  <a:pt x="107953" y="21133"/>
                </a:cubicBezTo>
                <a:cubicBezTo>
                  <a:pt x="125409" y="7520"/>
                  <a:pt x="148285" y="0"/>
                  <a:pt x="170972" y="0"/>
                </a:cubicBezTo>
                <a:close/>
                <a:moveTo>
                  <a:pt x="225820" y="314972"/>
                </a:moveTo>
                <a:lnTo>
                  <a:pt x="260481" y="314972"/>
                </a:lnTo>
                <a:cubicBezTo>
                  <a:pt x="293545" y="314972"/>
                  <a:pt x="320350" y="288168"/>
                  <a:pt x="320350" y="255103"/>
                </a:cubicBezTo>
                <a:lnTo>
                  <a:pt x="320350" y="217397"/>
                </a:lnTo>
                <a:cubicBezTo>
                  <a:pt x="341860" y="208696"/>
                  <a:pt x="352244" y="184204"/>
                  <a:pt x="343541" y="162695"/>
                </a:cubicBezTo>
                <a:cubicBezTo>
                  <a:pt x="334840" y="141185"/>
                  <a:pt x="310351" y="130801"/>
                  <a:pt x="288840" y="139502"/>
                </a:cubicBezTo>
                <a:cubicBezTo>
                  <a:pt x="267329" y="148203"/>
                  <a:pt x="256946" y="172695"/>
                  <a:pt x="265649" y="194203"/>
                </a:cubicBezTo>
                <a:cubicBezTo>
                  <a:pt x="269917" y="204759"/>
                  <a:pt x="278286" y="213128"/>
                  <a:pt x="288840" y="217397"/>
                </a:cubicBezTo>
                <a:lnTo>
                  <a:pt x="288840" y="255103"/>
                </a:lnTo>
                <a:cubicBezTo>
                  <a:pt x="288840" y="270766"/>
                  <a:pt x="276144" y="283462"/>
                  <a:pt x="260481" y="283462"/>
                </a:cubicBezTo>
                <a:lnTo>
                  <a:pt x="225820" y="283462"/>
                </a:lnTo>
                <a:lnTo>
                  <a:pt x="225820" y="29640"/>
                </a:lnTo>
                <a:cubicBezTo>
                  <a:pt x="225820" y="14789"/>
                  <a:pt x="234286" y="0"/>
                  <a:pt x="249138" y="0"/>
                </a:cubicBezTo>
                <a:cubicBezTo>
                  <a:pt x="271867" y="0"/>
                  <a:pt x="294722" y="7520"/>
                  <a:pt x="312178" y="21133"/>
                </a:cubicBezTo>
                <a:cubicBezTo>
                  <a:pt x="325769" y="31699"/>
                  <a:pt x="336420" y="46298"/>
                  <a:pt x="340600" y="63923"/>
                </a:cubicBezTo>
                <a:cubicBezTo>
                  <a:pt x="349423" y="65393"/>
                  <a:pt x="357279" y="69889"/>
                  <a:pt x="363623" y="75834"/>
                </a:cubicBezTo>
                <a:cubicBezTo>
                  <a:pt x="373706" y="85308"/>
                  <a:pt x="380891" y="99004"/>
                  <a:pt x="385428" y="113099"/>
                </a:cubicBezTo>
                <a:cubicBezTo>
                  <a:pt x="390007" y="127405"/>
                  <a:pt x="392318" y="143475"/>
                  <a:pt x="391625" y="158914"/>
                </a:cubicBezTo>
                <a:cubicBezTo>
                  <a:pt x="391268" y="166813"/>
                  <a:pt x="390112" y="174879"/>
                  <a:pt x="387886" y="182589"/>
                </a:cubicBezTo>
                <a:lnTo>
                  <a:pt x="389272" y="183219"/>
                </a:lnTo>
                <a:cubicBezTo>
                  <a:pt x="397045" y="186874"/>
                  <a:pt x="403347" y="192609"/>
                  <a:pt x="408052" y="200234"/>
                </a:cubicBezTo>
                <a:cubicBezTo>
                  <a:pt x="416980" y="214624"/>
                  <a:pt x="420131" y="235336"/>
                  <a:pt x="420131" y="261742"/>
                </a:cubicBezTo>
                <a:cubicBezTo>
                  <a:pt x="420131" y="292096"/>
                  <a:pt x="408535" y="312703"/>
                  <a:pt x="393621" y="325496"/>
                </a:cubicBezTo>
                <a:cubicBezTo>
                  <a:pt x="385852" y="332160"/>
                  <a:pt x="376759" y="337098"/>
                  <a:pt x="366942" y="339991"/>
                </a:cubicBezTo>
                <a:cubicBezTo>
                  <a:pt x="363373" y="356408"/>
                  <a:pt x="356046" y="371774"/>
                  <a:pt x="345537" y="384882"/>
                </a:cubicBezTo>
                <a:cubicBezTo>
                  <a:pt x="330349" y="403872"/>
                  <a:pt x="306759" y="419921"/>
                  <a:pt x="275018" y="419921"/>
                </a:cubicBezTo>
                <a:cubicBezTo>
                  <a:pt x="263601" y="419870"/>
                  <a:pt x="252364" y="417083"/>
                  <a:pt x="242247" y="411791"/>
                </a:cubicBezTo>
                <a:cubicBezTo>
                  <a:pt x="231114" y="406077"/>
                  <a:pt x="225820" y="393621"/>
                  <a:pt x="225820" y="381101"/>
                </a:cubicBezTo>
                <a:lnTo>
                  <a:pt x="225820" y="314972"/>
                </a:lnTo>
                <a:close/>
                <a:moveTo>
                  <a:pt x="126039" y="136416"/>
                </a:moveTo>
                <a:cubicBezTo>
                  <a:pt x="126039" y="130616"/>
                  <a:pt x="130742" y="125913"/>
                  <a:pt x="136543" y="125913"/>
                </a:cubicBezTo>
                <a:cubicBezTo>
                  <a:pt x="142343" y="125913"/>
                  <a:pt x="147046" y="130616"/>
                  <a:pt x="147046" y="136416"/>
                </a:cubicBezTo>
                <a:cubicBezTo>
                  <a:pt x="147046" y="142217"/>
                  <a:pt x="142343" y="146920"/>
                  <a:pt x="136543" y="146920"/>
                </a:cubicBezTo>
                <a:cubicBezTo>
                  <a:pt x="130742" y="146920"/>
                  <a:pt x="126039" y="142217"/>
                  <a:pt x="126039" y="136416"/>
                </a:cubicBezTo>
                <a:close/>
                <a:moveTo>
                  <a:pt x="136543" y="272959"/>
                </a:moveTo>
                <a:cubicBezTo>
                  <a:pt x="130742" y="272959"/>
                  <a:pt x="126039" y="277662"/>
                  <a:pt x="126039" y="283462"/>
                </a:cubicBezTo>
                <a:cubicBezTo>
                  <a:pt x="126039" y="289262"/>
                  <a:pt x="130742" y="293966"/>
                  <a:pt x="136543" y="293966"/>
                </a:cubicBezTo>
                <a:cubicBezTo>
                  <a:pt x="142343" y="293966"/>
                  <a:pt x="147046" y="289262"/>
                  <a:pt x="147046" y="283462"/>
                </a:cubicBezTo>
                <a:cubicBezTo>
                  <a:pt x="147046" y="277662"/>
                  <a:pt x="142343" y="272959"/>
                  <a:pt x="136543" y="272959"/>
                </a:cubicBezTo>
                <a:close/>
                <a:moveTo>
                  <a:pt x="294092" y="178430"/>
                </a:moveTo>
                <a:cubicBezTo>
                  <a:pt x="294092" y="184229"/>
                  <a:pt x="298795" y="188933"/>
                  <a:pt x="304595" y="188933"/>
                </a:cubicBezTo>
                <a:cubicBezTo>
                  <a:pt x="310395" y="188933"/>
                  <a:pt x="315098" y="184229"/>
                  <a:pt x="315098" y="178430"/>
                </a:cubicBezTo>
                <a:cubicBezTo>
                  <a:pt x="315098" y="172630"/>
                  <a:pt x="310395" y="167926"/>
                  <a:pt x="304595" y="167926"/>
                </a:cubicBezTo>
                <a:cubicBezTo>
                  <a:pt x="298795" y="167926"/>
                  <a:pt x="294092" y="172630"/>
                  <a:pt x="294092" y="178430"/>
                </a:cubicBezTo>
                <a:close/>
              </a:path>
            </a:pathLst>
          </a:custGeom>
          <a:solidFill>
            <a:schemeClr val="bg1"/>
          </a:solidFill>
          <a:ln w="2063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1" name="Rounded Rectangle 14">
            <a:extLst>
              <a:ext uri="{FF2B5EF4-FFF2-40B4-BE49-F238E27FC236}">
                <a16:creationId xmlns:a16="http://schemas.microsoft.com/office/drawing/2014/main" id="{9BEAE595-CDB8-D3F5-A732-9A08AFB81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123646" y="2668155"/>
            <a:ext cx="3483864" cy="3142506"/>
          </a:xfrm>
          <a:prstGeom prst="roundRect">
            <a:avLst>
              <a:gd name="adj" fmla="val 4918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320040" rIns="0" bIns="0" rtlCol="0" anchor="t" anchorCtr="0">
            <a:noAutofit/>
          </a:bodyPr>
          <a:lstStyle/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 err="1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7867338-9025-B563-8809-48FFB7538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384526" y="2183977"/>
            <a:ext cx="962105" cy="962105"/>
          </a:xfrm>
          <a:prstGeom prst="ellipse">
            <a:avLst/>
          </a:prstGeom>
          <a:gradFill flip="none" rotWithShape="1">
            <a:gsLst>
              <a:gs pos="80000">
                <a:srgbClr val="AC35AF"/>
              </a:gs>
              <a:gs pos="0">
                <a:srgbClr val="F65567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2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CD105B1-0389-E024-1596-9144C90F2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655513" y="2444461"/>
            <a:ext cx="420130" cy="441136"/>
            <a:chOff x="9384783" y="1413027"/>
            <a:chExt cx="420130" cy="441136"/>
          </a:xfrm>
          <a:solidFill>
            <a:schemeClr val="bg1"/>
          </a:solidFill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53CFE35-62AD-47DF-FF73-467B812AB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84783" y="1413027"/>
              <a:ext cx="346607" cy="420130"/>
            </a:xfrm>
            <a:custGeom>
              <a:avLst/>
              <a:gdLst>
                <a:gd name="connsiteX0" fmla="*/ 52516 w 346607"/>
                <a:gd name="connsiteY0" fmla="*/ 0 h 420130"/>
                <a:gd name="connsiteX1" fmla="*/ 294092 w 346607"/>
                <a:gd name="connsiteY1" fmla="*/ 0 h 420130"/>
                <a:gd name="connsiteX2" fmla="*/ 346608 w 346607"/>
                <a:gd name="connsiteY2" fmla="*/ 52516 h 420130"/>
                <a:gd name="connsiteX3" fmla="*/ 346608 w 346607"/>
                <a:gd name="connsiteY3" fmla="*/ 195634 h 420130"/>
                <a:gd name="connsiteX4" fmla="*/ 174627 w 346607"/>
                <a:gd name="connsiteY4" fmla="*/ 283443 h 420130"/>
                <a:gd name="connsiteX5" fmla="*/ 174627 w 346607"/>
                <a:gd name="connsiteY5" fmla="*/ 367614 h 420130"/>
                <a:gd name="connsiteX6" fmla="*/ 31510 w 346607"/>
                <a:gd name="connsiteY6" fmla="*/ 367614 h 420130"/>
                <a:gd name="connsiteX7" fmla="*/ 52516 w 346607"/>
                <a:gd name="connsiteY7" fmla="*/ 388621 h 420130"/>
                <a:gd name="connsiteX8" fmla="*/ 183429 w 346607"/>
                <a:gd name="connsiteY8" fmla="*/ 388621 h 420130"/>
                <a:gd name="connsiteX9" fmla="*/ 206074 w 346607"/>
                <a:gd name="connsiteY9" fmla="*/ 420131 h 420130"/>
                <a:gd name="connsiteX10" fmla="*/ 52516 w 346607"/>
                <a:gd name="connsiteY10" fmla="*/ 420131 h 420130"/>
                <a:gd name="connsiteX11" fmla="*/ 0 w 346607"/>
                <a:gd name="connsiteY11" fmla="*/ 367614 h 420130"/>
                <a:gd name="connsiteX12" fmla="*/ 0 w 346607"/>
                <a:gd name="connsiteY12" fmla="*/ 52516 h 420130"/>
                <a:gd name="connsiteX13" fmla="*/ 52516 w 346607"/>
                <a:gd name="connsiteY13" fmla="*/ 0 h 420130"/>
                <a:gd name="connsiteX14" fmla="*/ 84026 w 346607"/>
                <a:gd name="connsiteY14" fmla="*/ 63020 h 420130"/>
                <a:gd name="connsiteX15" fmla="*/ 63020 w 346607"/>
                <a:gd name="connsiteY15" fmla="*/ 84026 h 420130"/>
                <a:gd name="connsiteX16" fmla="*/ 63020 w 346607"/>
                <a:gd name="connsiteY16" fmla="*/ 105033 h 420130"/>
                <a:gd name="connsiteX17" fmla="*/ 84026 w 346607"/>
                <a:gd name="connsiteY17" fmla="*/ 126039 h 420130"/>
                <a:gd name="connsiteX18" fmla="*/ 252079 w 346607"/>
                <a:gd name="connsiteY18" fmla="*/ 126039 h 420130"/>
                <a:gd name="connsiteX19" fmla="*/ 273085 w 346607"/>
                <a:gd name="connsiteY19" fmla="*/ 105033 h 420130"/>
                <a:gd name="connsiteX20" fmla="*/ 273085 w 346607"/>
                <a:gd name="connsiteY20" fmla="*/ 84026 h 420130"/>
                <a:gd name="connsiteX21" fmla="*/ 252079 w 346607"/>
                <a:gd name="connsiteY21" fmla="*/ 63020 h 420130"/>
                <a:gd name="connsiteX22" fmla="*/ 84026 w 346607"/>
                <a:gd name="connsiteY22" fmla="*/ 63020 h 4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6607" h="420130">
                  <a:moveTo>
                    <a:pt x="52516" y="0"/>
                  </a:moveTo>
                  <a:lnTo>
                    <a:pt x="294092" y="0"/>
                  </a:lnTo>
                  <a:cubicBezTo>
                    <a:pt x="323095" y="0"/>
                    <a:pt x="346608" y="23512"/>
                    <a:pt x="346608" y="52516"/>
                  </a:cubicBezTo>
                  <a:lnTo>
                    <a:pt x="346608" y="195634"/>
                  </a:lnTo>
                  <a:cubicBezTo>
                    <a:pt x="274869" y="172390"/>
                    <a:pt x="197871" y="211704"/>
                    <a:pt x="174627" y="283443"/>
                  </a:cubicBezTo>
                  <a:cubicBezTo>
                    <a:pt x="165765" y="310800"/>
                    <a:pt x="165765" y="340258"/>
                    <a:pt x="174627" y="367614"/>
                  </a:cubicBezTo>
                  <a:lnTo>
                    <a:pt x="31510" y="367614"/>
                  </a:lnTo>
                  <a:cubicBezTo>
                    <a:pt x="31510" y="379216"/>
                    <a:pt x="40915" y="388621"/>
                    <a:pt x="52516" y="388621"/>
                  </a:cubicBezTo>
                  <a:lnTo>
                    <a:pt x="183429" y="388621"/>
                  </a:lnTo>
                  <a:cubicBezTo>
                    <a:pt x="189443" y="400145"/>
                    <a:pt x="197069" y="410756"/>
                    <a:pt x="206074" y="420131"/>
                  </a:cubicBezTo>
                  <a:lnTo>
                    <a:pt x="52516" y="420131"/>
                  </a:lnTo>
                  <a:cubicBezTo>
                    <a:pt x="23512" y="420131"/>
                    <a:pt x="0" y="396618"/>
                    <a:pt x="0" y="367614"/>
                  </a:cubicBezTo>
                  <a:lnTo>
                    <a:pt x="0" y="52516"/>
                  </a:lnTo>
                  <a:cubicBezTo>
                    <a:pt x="0" y="23512"/>
                    <a:pt x="23512" y="0"/>
                    <a:pt x="52516" y="0"/>
                  </a:cubicBezTo>
                  <a:close/>
                  <a:moveTo>
                    <a:pt x="84026" y="63020"/>
                  </a:moveTo>
                  <a:cubicBezTo>
                    <a:pt x="72425" y="63020"/>
                    <a:pt x="63020" y="72425"/>
                    <a:pt x="63020" y="84026"/>
                  </a:cubicBezTo>
                  <a:lnTo>
                    <a:pt x="63020" y="105033"/>
                  </a:lnTo>
                  <a:cubicBezTo>
                    <a:pt x="63020" y="116634"/>
                    <a:pt x="72425" y="126039"/>
                    <a:pt x="84026" y="126039"/>
                  </a:cubicBezTo>
                  <a:lnTo>
                    <a:pt x="252079" y="126039"/>
                  </a:lnTo>
                  <a:cubicBezTo>
                    <a:pt x="263680" y="126039"/>
                    <a:pt x="273085" y="116634"/>
                    <a:pt x="273085" y="105033"/>
                  </a:cubicBezTo>
                  <a:lnTo>
                    <a:pt x="273085" y="84026"/>
                  </a:lnTo>
                  <a:cubicBezTo>
                    <a:pt x="273085" y="72425"/>
                    <a:pt x="263680" y="63020"/>
                    <a:pt x="252079" y="63020"/>
                  </a:cubicBezTo>
                  <a:lnTo>
                    <a:pt x="84026" y="63020"/>
                  </a:lnTo>
                  <a:close/>
                </a:path>
              </a:pathLst>
            </a:custGeom>
            <a:grpFill/>
            <a:ln w="2063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D19B534-F4CD-F094-8826-EF5B3086A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573842" y="1623092"/>
              <a:ext cx="231071" cy="231071"/>
            </a:xfrm>
            <a:custGeom>
              <a:avLst/>
              <a:gdLst>
                <a:gd name="connsiteX0" fmla="*/ 231072 w 231071"/>
                <a:gd name="connsiteY0" fmla="*/ 115536 h 231071"/>
                <a:gd name="connsiteX1" fmla="*/ 115536 w 231071"/>
                <a:gd name="connsiteY1" fmla="*/ 0 h 231071"/>
                <a:gd name="connsiteX2" fmla="*/ 0 w 231071"/>
                <a:gd name="connsiteY2" fmla="*/ 115536 h 231071"/>
                <a:gd name="connsiteX3" fmla="*/ 115536 w 231071"/>
                <a:gd name="connsiteY3" fmla="*/ 231072 h 231071"/>
                <a:gd name="connsiteX4" fmla="*/ 231072 w 231071"/>
                <a:gd name="connsiteY4" fmla="*/ 115536 h 231071"/>
                <a:gd name="connsiteX5" fmla="*/ 103226 w 231071"/>
                <a:gd name="connsiteY5" fmla="*/ 65057 h 231071"/>
                <a:gd name="connsiteX6" fmla="*/ 162170 w 231071"/>
                <a:gd name="connsiteY6" fmla="*/ 103709 h 231071"/>
                <a:gd name="connsiteX7" fmla="*/ 168052 w 231071"/>
                <a:gd name="connsiteY7" fmla="*/ 114633 h 231071"/>
                <a:gd name="connsiteX8" fmla="*/ 166540 w 231071"/>
                <a:gd name="connsiteY8" fmla="*/ 120914 h 231071"/>
                <a:gd name="connsiteX9" fmla="*/ 162381 w 231071"/>
                <a:gd name="connsiteY9" fmla="*/ 125661 h 231071"/>
                <a:gd name="connsiteX10" fmla="*/ 103415 w 231071"/>
                <a:gd name="connsiteY10" fmla="*/ 165889 h 231071"/>
                <a:gd name="connsiteX11" fmla="*/ 100096 w 231071"/>
                <a:gd name="connsiteY11" fmla="*/ 167506 h 231071"/>
                <a:gd name="connsiteX12" fmla="*/ 91799 w 231071"/>
                <a:gd name="connsiteY12" fmla="*/ 167023 h 231071"/>
                <a:gd name="connsiteX13" fmla="*/ 87744 w 231071"/>
                <a:gd name="connsiteY13" fmla="*/ 164187 h 231071"/>
                <a:gd name="connsiteX14" fmla="*/ 85013 w 231071"/>
                <a:gd name="connsiteY14" fmla="*/ 159986 h 231071"/>
                <a:gd name="connsiteX15" fmla="*/ 84026 w 231071"/>
                <a:gd name="connsiteY15" fmla="*/ 155007 h 231071"/>
                <a:gd name="connsiteX16" fmla="*/ 84026 w 231071"/>
                <a:gd name="connsiteY16" fmla="*/ 76065 h 231071"/>
                <a:gd name="connsiteX17" fmla="*/ 91736 w 231071"/>
                <a:gd name="connsiteY17" fmla="*/ 64091 h 231071"/>
                <a:gd name="connsiteX18" fmla="*/ 103226 w 231071"/>
                <a:gd name="connsiteY18" fmla="*/ 65036 h 231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1071" h="231071">
                  <a:moveTo>
                    <a:pt x="231072" y="115536"/>
                  </a:moveTo>
                  <a:cubicBezTo>
                    <a:pt x="231072" y="51727"/>
                    <a:pt x="179345" y="0"/>
                    <a:pt x="115536" y="0"/>
                  </a:cubicBezTo>
                  <a:cubicBezTo>
                    <a:pt x="51727" y="0"/>
                    <a:pt x="0" y="51727"/>
                    <a:pt x="0" y="115536"/>
                  </a:cubicBezTo>
                  <a:cubicBezTo>
                    <a:pt x="0" y="179345"/>
                    <a:pt x="51727" y="231072"/>
                    <a:pt x="115536" y="231072"/>
                  </a:cubicBezTo>
                  <a:cubicBezTo>
                    <a:pt x="179345" y="231072"/>
                    <a:pt x="231072" y="179345"/>
                    <a:pt x="231072" y="115536"/>
                  </a:cubicBezTo>
                  <a:close/>
                  <a:moveTo>
                    <a:pt x="103226" y="65057"/>
                  </a:moveTo>
                  <a:lnTo>
                    <a:pt x="162170" y="103709"/>
                  </a:lnTo>
                  <a:cubicBezTo>
                    <a:pt x="165884" y="106094"/>
                    <a:pt x="168107" y="110221"/>
                    <a:pt x="168052" y="114633"/>
                  </a:cubicBezTo>
                  <a:cubicBezTo>
                    <a:pt x="168054" y="116817"/>
                    <a:pt x="167536" y="118971"/>
                    <a:pt x="166540" y="120914"/>
                  </a:cubicBezTo>
                  <a:cubicBezTo>
                    <a:pt x="165599" y="122838"/>
                    <a:pt x="164164" y="124476"/>
                    <a:pt x="162381" y="125661"/>
                  </a:cubicBezTo>
                  <a:lnTo>
                    <a:pt x="103415" y="165889"/>
                  </a:lnTo>
                  <a:cubicBezTo>
                    <a:pt x="102390" y="166580"/>
                    <a:pt x="101273" y="167124"/>
                    <a:pt x="100096" y="167506"/>
                  </a:cubicBezTo>
                  <a:cubicBezTo>
                    <a:pt x="97365" y="168378"/>
                    <a:pt x="94410" y="168206"/>
                    <a:pt x="91799" y="167023"/>
                  </a:cubicBezTo>
                  <a:cubicBezTo>
                    <a:pt x="90295" y="166319"/>
                    <a:pt x="88923" y="165359"/>
                    <a:pt x="87744" y="164187"/>
                  </a:cubicBezTo>
                  <a:cubicBezTo>
                    <a:pt x="86606" y="162948"/>
                    <a:pt x="85684" y="161528"/>
                    <a:pt x="85013" y="159986"/>
                  </a:cubicBezTo>
                  <a:cubicBezTo>
                    <a:pt x="84358" y="158408"/>
                    <a:pt x="84022" y="156715"/>
                    <a:pt x="84026" y="155007"/>
                  </a:cubicBezTo>
                  <a:lnTo>
                    <a:pt x="84026" y="76065"/>
                  </a:lnTo>
                  <a:cubicBezTo>
                    <a:pt x="84003" y="70901"/>
                    <a:pt x="87026" y="66208"/>
                    <a:pt x="91736" y="64091"/>
                  </a:cubicBezTo>
                  <a:cubicBezTo>
                    <a:pt x="95462" y="62345"/>
                    <a:pt x="99836" y="62705"/>
                    <a:pt x="103226" y="65036"/>
                  </a:cubicBezTo>
                  <a:close/>
                </a:path>
              </a:pathLst>
            </a:custGeom>
            <a:grpFill/>
            <a:ln w="2063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F7E4FC-ADC7-9CAC-9A5E-F416D245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15799" y="4044903"/>
            <a:ext cx="3807847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BFBC5E7-DB46-E0E8-98B2-30CD65B01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1047331"/>
            <a:ext cx="11017250" cy="554038"/>
          </a:xfrm>
        </p:spPr>
        <p:txBody>
          <a:bodyPr wrap="square" anchor="t">
            <a:normAutofit/>
          </a:bodyPr>
          <a:lstStyle/>
          <a:p>
            <a:pPr algn="ctr"/>
            <a:r>
              <a:rPr lang="en-US" dirty="0"/>
              <a:t>Incorporating domain knowledge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0A51AD-7DE7-2A31-7B5B-4A1A2F830E4C}"/>
              </a:ext>
            </a:extLst>
          </p:cNvPr>
          <p:cNvSpPr txBox="1"/>
          <p:nvPr/>
        </p:nvSpPr>
        <p:spPr>
          <a:xfrm>
            <a:off x="831935" y="3556000"/>
            <a:ext cx="3483864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32304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 w="3175">
                  <a:noFill/>
                </a:ln>
                <a:gradFill flip="none" rotWithShape="1">
                  <a:gsLst>
                    <a:gs pos="80000">
                      <a:srgbClr val="0A6BBA"/>
                    </a:gs>
                    <a:gs pos="0">
                      <a:srgbClr val="AC35A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Fine</a:t>
            </a:r>
            <a:br>
              <a:rPr kumimoji="0" lang="en-US" sz="2800" b="1" i="0" u="none" strike="noStrike" kern="1200" cap="none" spc="0" normalizeH="0" baseline="0" noProof="0" dirty="0">
                <a:ln w="3175">
                  <a:noFill/>
                </a:ln>
                <a:gradFill flip="none" rotWithShape="1">
                  <a:gsLst>
                    <a:gs pos="80000">
                      <a:srgbClr val="0A6BBA"/>
                    </a:gs>
                    <a:gs pos="0">
                      <a:srgbClr val="AC35A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</a:br>
            <a:r>
              <a:rPr kumimoji="0" lang="en-US" sz="2800" b="1" i="0" u="none" strike="noStrike" kern="1200" cap="none" spc="0" normalizeH="0" baseline="0" noProof="0" dirty="0">
                <a:ln w="3175">
                  <a:noFill/>
                </a:ln>
                <a:gradFill flip="none" rotWithShape="1">
                  <a:gsLst>
                    <a:gs pos="80000">
                      <a:srgbClr val="0A6BBA"/>
                    </a:gs>
                    <a:gs pos="0">
                      <a:srgbClr val="AC35A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tuning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CC444C-33DD-E6C0-5216-322B5D176959}"/>
              </a:ext>
            </a:extLst>
          </p:cNvPr>
          <p:cNvSpPr txBox="1"/>
          <p:nvPr/>
        </p:nvSpPr>
        <p:spPr>
          <a:xfrm>
            <a:off x="831935" y="4591232"/>
            <a:ext cx="3483864" cy="11085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32304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Learn new skills</a:t>
            </a:r>
          </a:p>
          <a:p>
            <a:pPr marL="0" marR="0" lvl="0" indent="0" algn="ctr" defTabSz="932304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(permanently)</a:t>
            </a:r>
          </a:p>
          <a:p>
            <a:pPr marL="0" marR="0" lvl="0" indent="0" algn="ctr" defTabSz="932304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2000" dirty="0">
              <a:solidFill>
                <a:srgbClr val="000000"/>
              </a:solidFill>
              <a:latin typeface="Segoe UI"/>
            </a:endParaRPr>
          </a:p>
          <a:p>
            <a:pPr algn="ctr" defTabSz="93230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/>
              <a:t>💵 High cost, time 🕰️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0F829A-AEC1-C978-E08B-B4BB0A8A5EDC}"/>
              </a:ext>
            </a:extLst>
          </p:cNvPr>
          <p:cNvSpPr txBox="1"/>
          <p:nvPr/>
        </p:nvSpPr>
        <p:spPr>
          <a:xfrm>
            <a:off x="8123646" y="3556000"/>
            <a:ext cx="3483864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32304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 w="3175">
                  <a:noFill/>
                </a:ln>
                <a:gradFill flip="none" rotWithShape="1">
                  <a:gsLst>
                    <a:gs pos="79000">
                      <a:srgbClr val="AC35AF"/>
                    </a:gs>
                    <a:gs pos="0">
                      <a:srgbClr val="F65567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Retrieval</a:t>
            </a:r>
            <a:br>
              <a:rPr kumimoji="0" lang="en-US" sz="2800" b="1" i="0" u="none" strike="noStrike" kern="1200" cap="none" spc="0" normalizeH="0" baseline="0" noProof="0" dirty="0">
                <a:ln w="3175">
                  <a:noFill/>
                </a:ln>
                <a:gradFill flip="none" rotWithShape="1">
                  <a:gsLst>
                    <a:gs pos="79000">
                      <a:srgbClr val="AC35AF"/>
                    </a:gs>
                    <a:gs pos="0">
                      <a:srgbClr val="F65567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</a:br>
            <a:r>
              <a:rPr kumimoji="0" lang="en-US" sz="2800" b="1" i="0" u="none" strike="noStrike" kern="1200" cap="none" spc="0" normalizeH="0" baseline="0" noProof="0" dirty="0">
                <a:ln w="3175">
                  <a:noFill/>
                </a:ln>
                <a:gradFill flip="none" rotWithShape="1">
                  <a:gsLst>
                    <a:gs pos="79000">
                      <a:srgbClr val="AC35AF"/>
                    </a:gs>
                    <a:gs pos="0">
                      <a:srgbClr val="F65567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augmentation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4B3058-3F56-C91D-C212-7131172B1B8D}"/>
              </a:ext>
            </a:extLst>
          </p:cNvPr>
          <p:cNvSpPr txBox="1"/>
          <p:nvPr/>
        </p:nvSpPr>
        <p:spPr>
          <a:xfrm>
            <a:off x="8123646" y="4591232"/>
            <a:ext cx="348386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32304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Learn new facts</a:t>
            </a:r>
          </a:p>
          <a:p>
            <a:pPr marL="0" marR="0" lvl="0" indent="0" algn="ctr" defTabSz="932304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(temporarily)</a:t>
            </a:r>
          </a:p>
        </p:txBody>
      </p:sp>
    </p:spTree>
    <p:extLst>
      <p:ext uri="{BB962C8B-B14F-4D97-AF65-F5344CB8AC3E}">
        <p14:creationId xmlns:p14="http://schemas.microsoft.com/office/powerpoint/2010/main" val="203900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AAA8-F971-C538-5BD5-7F9F643DE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RAG: Retrieval Augmented Generation</a:t>
            </a: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2F751A36-ABA5-26EC-5689-41596C9D3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99815" y="3838655"/>
            <a:ext cx="2058614" cy="2354183"/>
          </a:xfrm>
          <a:prstGeom prst="roundRect">
            <a:avLst>
              <a:gd name="adj" fmla="val 7437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320040" rIns="0" bIns="0" rtlCol="0" anchor="t" anchorCtr="0">
            <a:noAutofit/>
          </a:bodyPr>
          <a:lstStyle/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05AF5EF-F079-C706-6E03-02C999CFF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173314" y="4205799"/>
            <a:ext cx="911617" cy="911617"/>
          </a:xfrm>
          <a:prstGeom prst="ellipse">
            <a:avLst/>
          </a:prstGeom>
          <a:gradFill flip="none" rotWithShape="1">
            <a:gsLst>
              <a:gs pos="80000">
                <a:srgbClr val="1774A7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err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26" name="Graphic 20">
            <a:extLst>
              <a:ext uri="{FF2B5EF4-FFF2-40B4-BE49-F238E27FC236}">
                <a16:creationId xmlns:a16="http://schemas.microsoft.com/office/drawing/2014/main" id="{426A08A2-778A-3C20-9B02-EEA4FAEBE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36001" y="4449236"/>
            <a:ext cx="424743" cy="424743"/>
          </a:xfrm>
          <a:custGeom>
            <a:avLst/>
            <a:gdLst>
              <a:gd name="connsiteX0" fmla="*/ 454356 w 952251"/>
              <a:gd name="connsiteY0" fmla="*/ 544066 h 952251"/>
              <a:gd name="connsiteX1" fmla="*/ 408004 w 952251"/>
              <a:gd name="connsiteY1" fmla="*/ 702805 h 952251"/>
              <a:gd name="connsiteX2" fmla="*/ 480208 w 952251"/>
              <a:gd name="connsiteY2" fmla="*/ 896058 h 952251"/>
              <a:gd name="connsiteX3" fmla="*/ 362650 w 952251"/>
              <a:gd name="connsiteY3" fmla="*/ 906943 h 952251"/>
              <a:gd name="connsiteX4" fmla="*/ 23131 w 952251"/>
              <a:gd name="connsiteY4" fmla="*/ 760132 h 952251"/>
              <a:gd name="connsiteX5" fmla="*/ 0 w 952251"/>
              <a:gd name="connsiteY5" fmla="*/ 687793 h 952251"/>
              <a:gd name="connsiteX6" fmla="*/ 0 w 952251"/>
              <a:gd name="connsiteY6" fmla="*/ 646067 h 952251"/>
              <a:gd name="connsiteX7" fmla="*/ 101956 w 952251"/>
              <a:gd name="connsiteY7" fmla="*/ 544021 h 952251"/>
              <a:gd name="connsiteX8" fmla="*/ 102001 w 952251"/>
              <a:gd name="connsiteY8" fmla="*/ 544021 h 952251"/>
              <a:gd name="connsiteX9" fmla="*/ 454401 w 952251"/>
              <a:gd name="connsiteY9" fmla="*/ 544021 h 952251"/>
              <a:gd name="connsiteX10" fmla="*/ 702805 w 952251"/>
              <a:gd name="connsiteY10" fmla="*/ 453358 h 952251"/>
              <a:gd name="connsiteX11" fmla="*/ 952252 w 952251"/>
              <a:gd name="connsiteY11" fmla="*/ 702805 h 952251"/>
              <a:gd name="connsiteX12" fmla="*/ 702805 w 952251"/>
              <a:gd name="connsiteY12" fmla="*/ 952252 h 952251"/>
              <a:gd name="connsiteX13" fmla="*/ 453358 w 952251"/>
              <a:gd name="connsiteY13" fmla="*/ 702805 h 952251"/>
              <a:gd name="connsiteX14" fmla="*/ 702805 w 952251"/>
              <a:gd name="connsiteY14" fmla="*/ 453358 h 952251"/>
              <a:gd name="connsiteX15" fmla="*/ 702805 w 952251"/>
              <a:gd name="connsiteY15" fmla="*/ 804851 h 952251"/>
              <a:gd name="connsiteX16" fmla="*/ 674459 w 952251"/>
              <a:gd name="connsiteY16" fmla="*/ 833198 h 952251"/>
              <a:gd name="connsiteX17" fmla="*/ 702805 w 952251"/>
              <a:gd name="connsiteY17" fmla="*/ 861544 h 952251"/>
              <a:gd name="connsiteX18" fmla="*/ 731151 w 952251"/>
              <a:gd name="connsiteY18" fmla="*/ 833198 h 952251"/>
              <a:gd name="connsiteX19" fmla="*/ 702805 w 952251"/>
              <a:gd name="connsiteY19" fmla="*/ 804851 h 952251"/>
              <a:gd name="connsiteX20" fmla="*/ 702805 w 952251"/>
              <a:gd name="connsiteY20" fmla="*/ 538352 h 952251"/>
              <a:gd name="connsiteX21" fmla="*/ 618764 w 952251"/>
              <a:gd name="connsiteY21" fmla="*/ 626973 h 952251"/>
              <a:gd name="connsiteX22" fmla="*/ 641668 w 952251"/>
              <a:gd name="connsiteY22" fmla="*/ 649423 h 952251"/>
              <a:gd name="connsiteX23" fmla="*/ 664118 w 952251"/>
              <a:gd name="connsiteY23" fmla="*/ 626520 h 952251"/>
              <a:gd name="connsiteX24" fmla="*/ 702805 w 952251"/>
              <a:gd name="connsiteY24" fmla="*/ 583705 h 952251"/>
              <a:gd name="connsiteX25" fmla="*/ 741537 w 952251"/>
              <a:gd name="connsiteY25" fmla="*/ 626792 h 952251"/>
              <a:gd name="connsiteX26" fmla="*/ 731378 w 952251"/>
              <a:gd name="connsiteY26" fmla="*/ 652190 h 952251"/>
              <a:gd name="connsiteX27" fmla="*/ 727115 w 952251"/>
              <a:gd name="connsiteY27" fmla="*/ 657496 h 952251"/>
              <a:gd name="connsiteX28" fmla="*/ 722579 w 952251"/>
              <a:gd name="connsiteY28" fmla="*/ 662621 h 952251"/>
              <a:gd name="connsiteX29" fmla="*/ 710560 w 952251"/>
              <a:gd name="connsiteY29" fmla="*/ 675774 h 952251"/>
              <a:gd name="connsiteX30" fmla="*/ 704392 w 952251"/>
              <a:gd name="connsiteY30" fmla="*/ 682895 h 952251"/>
              <a:gd name="connsiteX31" fmla="*/ 680128 w 952251"/>
              <a:gd name="connsiteY31" fmla="*/ 742308 h 952251"/>
              <a:gd name="connsiteX32" fmla="*/ 702805 w 952251"/>
              <a:gd name="connsiteY32" fmla="*/ 764985 h 952251"/>
              <a:gd name="connsiteX33" fmla="*/ 725482 w 952251"/>
              <a:gd name="connsiteY33" fmla="*/ 742308 h 952251"/>
              <a:gd name="connsiteX34" fmla="*/ 736322 w 952251"/>
              <a:gd name="connsiteY34" fmla="*/ 715549 h 952251"/>
              <a:gd name="connsiteX35" fmla="*/ 740177 w 952251"/>
              <a:gd name="connsiteY35" fmla="*/ 710833 h 952251"/>
              <a:gd name="connsiteX36" fmla="*/ 744712 w 952251"/>
              <a:gd name="connsiteY36" fmla="*/ 705572 h 952251"/>
              <a:gd name="connsiteX37" fmla="*/ 756822 w 952251"/>
              <a:gd name="connsiteY37" fmla="*/ 692419 h 952251"/>
              <a:gd name="connsiteX38" fmla="*/ 762899 w 952251"/>
              <a:gd name="connsiteY38" fmla="*/ 685389 h 952251"/>
              <a:gd name="connsiteX39" fmla="*/ 786891 w 952251"/>
              <a:gd name="connsiteY39" fmla="*/ 626746 h 952251"/>
              <a:gd name="connsiteX40" fmla="*/ 702805 w 952251"/>
              <a:gd name="connsiteY40" fmla="*/ 538306 h 952251"/>
              <a:gd name="connsiteX41" fmla="*/ 362650 w 952251"/>
              <a:gd name="connsiteY41" fmla="*/ 0 h 952251"/>
              <a:gd name="connsiteX42" fmla="*/ 589420 w 952251"/>
              <a:gd name="connsiteY42" fmla="*/ 226770 h 952251"/>
              <a:gd name="connsiteX43" fmla="*/ 362650 w 952251"/>
              <a:gd name="connsiteY43" fmla="*/ 453540 h 952251"/>
              <a:gd name="connsiteX44" fmla="*/ 135880 w 952251"/>
              <a:gd name="connsiteY44" fmla="*/ 226770 h 952251"/>
              <a:gd name="connsiteX45" fmla="*/ 362650 w 952251"/>
              <a:gd name="connsiteY45" fmla="*/ 0 h 952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952251" h="952251">
                <a:moveTo>
                  <a:pt x="454356" y="544066"/>
                </a:moveTo>
                <a:cubicBezTo>
                  <a:pt x="424005" y="591443"/>
                  <a:pt x="407918" y="646543"/>
                  <a:pt x="408004" y="702805"/>
                </a:cubicBezTo>
                <a:cubicBezTo>
                  <a:pt x="408004" y="776732"/>
                  <a:pt x="435217" y="844309"/>
                  <a:pt x="480208" y="896058"/>
                </a:cubicBezTo>
                <a:cubicBezTo>
                  <a:pt x="444106" y="903315"/>
                  <a:pt x="404920" y="906943"/>
                  <a:pt x="362650" y="906943"/>
                </a:cubicBezTo>
                <a:cubicBezTo>
                  <a:pt x="207540" y="906943"/>
                  <a:pt x="93066" y="858324"/>
                  <a:pt x="23131" y="760132"/>
                </a:cubicBezTo>
                <a:cubicBezTo>
                  <a:pt x="8088" y="739011"/>
                  <a:pt x="3" y="713726"/>
                  <a:pt x="0" y="687793"/>
                </a:cubicBezTo>
                <a:lnTo>
                  <a:pt x="0" y="646067"/>
                </a:lnTo>
                <a:cubicBezTo>
                  <a:pt x="-25" y="589733"/>
                  <a:pt x="45622" y="544048"/>
                  <a:pt x="101956" y="544021"/>
                </a:cubicBezTo>
                <a:cubicBezTo>
                  <a:pt x="101971" y="544021"/>
                  <a:pt x="101986" y="544021"/>
                  <a:pt x="102001" y="544021"/>
                </a:cubicBezTo>
                <a:lnTo>
                  <a:pt x="454401" y="544021"/>
                </a:lnTo>
                <a:close/>
                <a:moveTo>
                  <a:pt x="702805" y="453358"/>
                </a:moveTo>
                <a:cubicBezTo>
                  <a:pt x="840572" y="453358"/>
                  <a:pt x="952252" y="565038"/>
                  <a:pt x="952252" y="702805"/>
                </a:cubicBezTo>
                <a:cubicBezTo>
                  <a:pt x="952252" y="840572"/>
                  <a:pt x="840572" y="952252"/>
                  <a:pt x="702805" y="952252"/>
                </a:cubicBezTo>
                <a:cubicBezTo>
                  <a:pt x="565038" y="952252"/>
                  <a:pt x="453358" y="840572"/>
                  <a:pt x="453358" y="702805"/>
                </a:cubicBezTo>
                <a:cubicBezTo>
                  <a:pt x="453358" y="565038"/>
                  <a:pt x="565038" y="453358"/>
                  <a:pt x="702805" y="453358"/>
                </a:cubicBezTo>
                <a:close/>
                <a:moveTo>
                  <a:pt x="702805" y="804851"/>
                </a:moveTo>
                <a:cubicBezTo>
                  <a:pt x="687149" y="804851"/>
                  <a:pt x="674459" y="817541"/>
                  <a:pt x="674459" y="833198"/>
                </a:cubicBezTo>
                <a:cubicBezTo>
                  <a:pt x="674459" y="848854"/>
                  <a:pt x="687149" y="861544"/>
                  <a:pt x="702805" y="861544"/>
                </a:cubicBezTo>
                <a:cubicBezTo>
                  <a:pt x="718461" y="861544"/>
                  <a:pt x="731151" y="848854"/>
                  <a:pt x="731151" y="833198"/>
                </a:cubicBezTo>
                <a:cubicBezTo>
                  <a:pt x="731151" y="817541"/>
                  <a:pt x="718461" y="804851"/>
                  <a:pt x="702805" y="804851"/>
                </a:cubicBezTo>
                <a:close/>
                <a:moveTo>
                  <a:pt x="702805" y="538352"/>
                </a:moveTo>
                <a:cubicBezTo>
                  <a:pt x="655274" y="538352"/>
                  <a:pt x="618265" y="575406"/>
                  <a:pt x="618764" y="626973"/>
                </a:cubicBezTo>
                <a:cubicBezTo>
                  <a:pt x="618891" y="639495"/>
                  <a:pt x="629146" y="649550"/>
                  <a:pt x="641668" y="649423"/>
                </a:cubicBezTo>
                <a:cubicBezTo>
                  <a:pt x="654190" y="649296"/>
                  <a:pt x="664245" y="639042"/>
                  <a:pt x="664118" y="626520"/>
                </a:cubicBezTo>
                <a:cubicBezTo>
                  <a:pt x="663846" y="600260"/>
                  <a:pt x="680445" y="583705"/>
                  <a:pt x="702805" y="583705"/>
                </a:cubicBezTo>
                <a:cubicBezTo>
                  <a:pt x="724257" y="583705"/>
                  <a:pt x="741537" y="601484"/>
                  <a:pt x="741537" y="626792"/>
                </a:cubicBezTo>
                <a:cubicBezTo>
                  <a:pt x="741537" y="635500"/>
                  <a:pt x="738997" y="642303"/>
                  <a:pt x="731378" y="652190"/>
                </a:cubicBezTo>
                <a:lnTo>
                  <a:pt x="727115" y="657496"/>
                </a:lnTo>
                <a:lnTo>
                  <a:pt x="722579" y="662621"/>
                </a:lnTo>
                <a:lnTo>
                  <a:pt x="710560" y="675774"/>
                </a:lnTo>
                <a:lnTo>
                  <a:pt x="704392" y="682895"/>
                </a:lnTo>
                <a:cubicBezTo>
                  <a:pt x="686976" y="703621"/>
                  <a:pt x="680128" y="718860"/>
                  <a:pt x="680128" y="742308"/>
                </a:cubicBezTo>
                <a:cubicBezTo>
                  <a:pt x="680128" y="754831"/>
                  <a:pt x="690283" y="764985"/>
                  <a:pt x="702805" y="764985"/>
                </a:cubicBezTo>
                <a:cubicBezTo>
                  <a:pt x="715327" y="764985"/>
                  <a:pt x="725482" y="754831"/>
                  <a:pt x="725482" y="742308"/>
                </a:cubicBezTo>
                <a:cubicBezTo>
                  <a:pt x="725482" y="733101"/>
                  <a:pt x="728158" y="726026"/>
                  <a:pt x="736322" y="715549"/>
                </a:cubicBezTo>
                <a:lnTo>
                  <a:pt x="740177" y="710833"/>
                </a:lnTo>
                <a:lnTo>
                  <a:pt x="744712" y="705572"/>
                </a:lnTo>
                <a:lnTo>
                  <a:pt x="756822" y="692419"/>
                </a:lnTo>
                <a:lnTo>
                  <a:pt x="762899" y="685389"/>
                </a:lnTo>
                <a:cubicBezTo>
                  <a:pt x="780043" y="664980"/>
                  <a:pt x="786891" y="649877"/>
                  <a:pt x="786891" y="626746"/>
                </a:cubicBezTo>
                <a:cubicBezTo>
                  <a:pt x="786891" y="576721"/>
                  <a:pt x="749565" y="538306"/>
                  <a:pt x="702805" y="538306"/>
                </a:cubicBezTo>
                <a:close/>
                <a:moveTo>
                  <a:pt x="362650" y="0"/>
                </a:moveTo>
                <a:cubicBezTo>
                  <a:pt x="487891" y="0"/>
                  <a:pt x="589420" y="101528"/>
                  <a:pt x="589420" y="226770"/>
                </a:cubicBezTo>
                <a:cubicBezTo>
                  <a:pt x="589420" y="352011"/>
                  <a:pt x="487891" y="453540"/>
                  <a:pt x="362650" y="453540"/>
                </a:cubicBezTo>
                <a:cubicBezTo>
                  <a:pt x="237409" y="453540"/>
                  <a:pt x="135880" y="352011"/>
                  <a:pt x="135880" y="226770"/>
                </a:cubicBezTo>
                <a:cubicBezTo>
                  <a:pt x="135880" y="101528"/>
                  <a:pt x="237409" y="0"/>
                  <a:pt x="362650" y="0"/>
                </a:cubicBezTo>
                <a:close/>
              </a:path>
            </a:pathLst>
          </a:custGeom>
          <a:solidFill>
            <a:schemeClr val="bg1"/>
          </a:solidFill>
          <a:ln w="4524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D78F0E4-FDB0-2E8B-F832-D12082B2DA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935971" y="5271695"/>
            <a:ext cx="1386303" cy="55399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654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User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  <a:p>
            <a:pPr marL="0" marR="0" lvl="0" indent="0" algn="ctr" defTabSz="18654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Question</a:t>
            </a:r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2E6684CB-1DEE-2701-6ECE-64921A924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10800000">
            <a:off x="848022" y="3157888"/>
            <a:ext cx="87949" cy="678649"/>
          </a:xfrm>
          <a:prstGeom prst="triangle">
            <a:avLst>
              <a:gd name="adj" fmla="val 0"/>
            </a:avLst>
          </a:prstGeom>
          <a:solidFill>
            <a:schemeClr val="accent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6" name="Rounded Rectangle 5">
            <a:extLst>
              <a:ext uri="{FF2B5EF4-FFF2-40B4-BE49-F238E27FC236}">
                <a16:creationId xmlns:a16="http://schemas.microsoft.com/office/drawing/2014/main" id="{2CF2061B-B802-3CC9-4543-938673798F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99815" y="1784190"/>
            <a:ext cx="2058614" cy="1374756"/>
          </a:xfrm>
          <a:prstGeom prst="roundRect">
            <a:avLst>
              <a:gd name="adj" fmla="val 11363"/>
            </a:avLst>
          </a:prstGeom>
          <a:solidFill>
            <a:schemeClr val="accent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18288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What is included in my Northwind Health Plus plan that is not in standard?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EE96D27B-64E4-FEC9-9CD7-90DFE1BCAB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867089" y="4192444"/>
            <a:ext cx="2146546" cy="14773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65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lt"/>
                <a:cs typeface="Segoe UI"/>
              </a:rPr>
              <a:t>[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lt"/>
                <a:cs typeface="Segoe UI"/>
              </a:rPr>
              <a:t>Benefit_Options.pdf#page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lt"/>
                <a:cs typeface="Segoe UI"/>
              </a:rPr>
              <a:t>=3] Both plans offer coverage for medical services. Northwind Health Plus offers coverage for hospital stays, doctor visits, lab tests, and X-rays. Northwind Standard only offers coverage for doctor visits and lab tests. …</a:t>
            </a:r>
          </a:p>
        </p:txBody>
      </p:sp>
      <p:grpSp>
        <p:nvGrpSpPr>
          <p:cNvPr id="16" name="Group 15" descr="large language model">
            <a:extLst>
              <a:ext uri="{FF2B5EF4-FFF2-40B4-BE49-F238E27FC236}">
                <a16:creationId xmlns:a16="http://schemas.microsoft.com/office/drawing/2014/main" id="{884C179A-2718-B0F8-FA92-2686A6265D02}"/>
              </a:ext>
            </a:extLst>
          </p:cNvPr>
          <p:cNvGrpSpPr/>
          <p:nvPr/>
        </p:nvGrpSpPr>
        <p:grpSpPr>
          <a:xfrm>
            <a:off x="1629122" y="3157888"/>
            <a:ext cx="9987943" cy="3034950"/>
            <a:chOff x="1629122" y="3157888"/>
            <a:chExt cx="9987943" cy="30349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3A4D026-7C7D-3C55-D70F-0E91BF9EF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0131948" y="3570480"/>
              <a:ext cx="911617" cy="911617"/>
            </a:xfrm>
            <a:prstGeom prst="ellipse">
              <a:avLst/>
            </a:prstGeom>
            <a:gradFill flip="none" rotWithShape="1">
              <a:gsLst>
                <a:gs pos="80000">
                  <a:srgbClr val="AC35AF"/>
                </a:gs>
                <a:gs pos="0">
                  <a:srgbClr val="F65567"/>
                </a:gs>
              </a:gsLst>
              <a:path path="circle">
                <a:fillToRect l="100000" t="100000"/>
              </a:path>
              <a:tileRect r="-100000" b="-100000"/>
            </a:gradFill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22758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701239" algn="l"/>
                </a:tabLst>
                <a:defRPr/>
              </a:pPr>
              <a:endParaRPr kumimoji="0" lang="en-US" sz="1400" b="1" i="0" u="none" strike="noStrike" kern="1200" cap="none" spc="0" normalizeH="0" baseline="0" noProof="0" err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endParaRPr>
            </a:p>
          </p:txBody>
        </p:sp>
        <p:cxnSp>
          <p:nvCxnSpPr>
            <p:cNvPr id="50" name="Straight Connector 49" descr="Line connecting from one section to the next.">
              <a:extLst>
                <a:ext uri="{FF2B5EF4-FFF2-40B4-BE49-F238E27FC236}">
                  <a16:creationId xmlns:a16="http://schemas.microsoft.com/office/drawing/2014/main" id="{66E81AD3-B3CC-9AA2-74D3-770E7F75541A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7349791" y="5015747"/>
              <a:ext cx="2208660" cy="0"/>
            </a:xfrm>
            <a:prstGeom prst="line">
              <a:avLst/>
            </a:prstGeom>
            <a:ln w="12700" cap="rnd">
              <a:solidFill>
                <a:srgbClr val="000000"/>
              </a:solidFill>
              <a:headEnd type="oval" w="med" len="med"/>
              <a:tailEnd type="oval" w="lg" len="lg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5">
              <a:extLst>
                <a:ext uri="{FF2B5EF4-FFF2-40B4-BE49-F238E27FC236}">
                  <a16:creationId xmlns:a16="http://schemas.microsoft.com/office/drawing/2014/main" id="{FE5EFB36-126C-142F-525E-0C6F0E6DF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9558451" y="3157888"/>
              <a:ext cx="2058614" cy="3034950"/>
            </a:xfrm>
            <a:prstGeom prst="roundRect">
              <a:avLst>
                <a:gd name="adj" fmla="val 7360"/>
              </a:avLst>
            </a:prstGeom>
            <a:ln w="12700" cap="rnd">
              <a:solidFill>
                <a:schemeClr val="tx1">
                  <a:alpha val="50000"/>
                </a:schemeClr>
              </a:solidFill>
              <a:headEnd type="none" w="lg" len="sm"/>
              <a:tailEnd type="none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320040" rIns="0" bIns="0" rtlCol="0" anchor="t" anchorCtr="0">
              <a:noAutofit/>
            </a:bodyPr>
            <a:lstStyle/>
            <a:p>
              <a:pPr marL="0" marR="0" lvl="0" indent="0" algn="ctr" defTabSz="142722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0" i="0" u="none" strike="noStrike" kern="1200" cap="none" spc="-50" normalizeH="0" baseline="0" noProof="0">
                <a:ln>
                  <a:noFill/>
                </a:ln>
                <a:gradFill>
                  <a:gsLst>
                    <a:gs pos="80460">
                      <a:srgbClr val="000000"/>
                    </a:gs>
                    <a:gs pos="59551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+mn-cs"/>
              </a:endParaRPr>
            </a:p>
          </p:txBody>
        </p:sp>
        <p:sp>
          <p:nvSpPr>
            <p:cNvPr id="18" name="Text Placeholder 5">
              <a:extLst>
                <a:ext uri="{FF2B5EF4-FFF2-40B4-BE49-F238E27FC236}">
                  <a16:creationId xmlns:a16="http://schemas.microsoft.com/office/drawing/2014/main" id="{24952AED-0DF2-A4F9-CF2E-4A7CE1205C35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 txBox="1">
              <a:spLocks/>
            </p:cNvSpPr>
            <p:nvPr/>
          </p:nvSpPr>
          <p:spPr>
            <a:xfrm>
              <a:off x="9894607" y="4701917"/>
              <a:ext cx="1386303" cy="830997"/>
            </a:xfrm>
            <a:prstGeom prst="rect">
              <a:avLst/>
            </a:prstGeom>
          </p:spPr>
          <p:txBody>
            <a:bodyPr lIns="0" tIns="0" rIns="0" bIns="0" anchor="ctr">
              <a:spAutoFit/>
            </a:bodyPr>
            <a:lstStyle>
              <a:defPPr>
                <a:defRPr lang="en-US"/>
              </a:defPPr>
              <a:lvl1pPr marL="0" algn="l" defTabSz="3657965" rtl="0" eaLnBrk="1" latinLnBrk="0" hangingPunct="1">
                <a:defRPr sz="7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28983" algn="l" defTabSz="3657965" rtl="0" eaLnBrk="1" latinLnBrk="0" hangingPunct="1">
                <a:defRPr sz="7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57965" algn="l" defTabSz="3657965" rtl="0" eaLnBrk="1" latinLnBrk="0" hangingPunct="1">
                <a:defRPr sz="7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86948" algn="l" defTabSz="3657965" rtl="0" eaLnBrk="1" latinLnBrk="0" hangingPunct="1">
                <a:defRPr sz="7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315932" algn="l" defTabSz="3657965" rtl="0" eaLnBrk="1" latinLnBrk="0" hangingPunct="1">
                <a:defRPr sz="7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9144915" algn="l" defTabSz="3657965" rtl="0" eaLnBrk="1" latinLnBrk="0" hangingPunct="1">
                <a:defRPr sz="7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0973897" algn="l" defTabSz="3657965" rtl="0" eaLnBrk="1" latinLnBrk="0" hangingPunct="1">
                <a:defRPr sz="7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802880" algn="l" defTabSz="3657965" rtl="0" eaLnBrk="1" latinLnBrk="0" hangingPunct="1">
                <a:defRPr sz="7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4631864" algn="l" defTabSz="3657965" rtl="0" eaLnBrk="1" latinLnBrk="0" hangingPunct="1">
                <a:defRPr sz="7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8654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Segoe UI Semilight"/>
                </a:rPr>
                <a:t>Large Language Model</a:t>
              </a:r>
            </a:p>
          </p:txBody>
        </p:sp>
        <p:cxnSp>
          <p:nvCxnSpPr>
            <p:cNvPr id="45" name="Connector: Elbow 44">
              <a:extLst>
                <a:ext uri="{FF2B5EF4-FFF2-40B4-BE49-F238E27FC236}">
                  <a16:creationId xmlns:a16="http://schemas.microsoft.com/office/drawing/2014/main" id="{A99A30D4-92FC-6C3D-9F56-02E90CAB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 rot="5400000" flipH="1" flipV="1">
              <a:off x="5434425" y="-285370"/>
              <a:ext cx="318722" cy="7929328"/>
            </a:xfrm>
            <a:prstGeom prst="bentConnector2">
              <a:avLst/>
            </a:prstGeom>
            <a:ln w="12700" cap="rnd">
              <a:solidFill>
                <a:srgbClr val="000000"/>
              </a:solidFill>
              <a:headEnd type="oval" w="med" len="med"/>
              <a:tailEnd type="oval" w="lg" len="lg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 descr="Both plans offer coverage for medical services, such as doctor visits and lab tests, but the &#10;Health Plus plan also covers hospital stays and X-rays.1">
            <a:extLst>
              <a:ext uri="{FF2B5EF4-FFF2-40B4-BE49-F238E27FC236}">
                <a16:creationId xmlns:a16="http://schemas.microsoft.com/office/drawing/2014/main" id="{5452E7A0-24CB-63CB-9E0E-C7D556374D84}"/>
              </a:ext>
            </a:extLst>
          </p:cNvPr>
          <p:cNvGrpSpPr/>
          <p:nvPr/>
        </p:nvGrpSpPr>
        <p:grpSpPr>
          <a:xfrm>
            <a:off x="8364354" y="1383860"/>
            <a:ext cx="3252711" cy="1774028"/>
            <a:chOff x="8364354" y="1383860"/>
            <a:chExt cx="3252711" cy="1774028"/>
          </a:xfrm>
        </p:grpSpPr>
        <p:sp>
          <p:nvSpPr>
            <p:cNvPr id="72" name="Rounded Rectangle 5">
              <a:extLst>
                <a:ext uri="{FF2B5EF4-FFF2-40B4-BE49-F238E27FC236}">
                  <a16:creationId xmlns:a16="http://schemas.microsoft.com/office/drawing/2014/main" id="{BA5EF8E9-A059-2336-AE6F-B37094B5108B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 bwMode="auto">
            <a:xfrm>
              <a:off x="8364354" y="1383860"/>
              <a:ext cx="3252711" cy="1374756"/>
            </a:xfrm>
            <a:prstGeom prst="roundRect">
              <a:avLst>
                <a:gd name="adj" fmla="val 11363"/>
              </a:avLst>
            </a:prstGeom>
            <a:solidFill>
              <a:schemeClr val="accent6"/>
            </a:solidFill>
            <a:effectLst/>
          </p:spPr>
          <p:txBody>
            <a:bodyPr wrap="square" lIns="182880" tIns="0" rIns="182880" bIns="0" rtlCol="0" anchor="ctr">
              <a:noAutofit/>
            </a:bodyPr>
            <a:lstStyle/>
            <a:p>
              <a:pPr marL="0" marR="0" lvl="0" indent="0" algn="ctr" defTabSz="22758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701239" algn="l"/>
                </a:tabLst>
                <a:defRPr/>
              </a:pPr>
              <a:r>
                <a:rPr kumimoji="0" lang="en-US" sz="1400" b="1" i="0" u="none" strike="noStrike" kern="1200" cap="none" spc="0" normalizeH="0" baseline="0" noProof="0" dirty="0">
                  <a:ln w="3175"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Segoe UI" pitchFamily="34" charset="0"/>
                </a:rPr>
                <a:t>Both plans offer coverage for medical services, such as doctor visits and lab tests, but the </a:t>
              </a:r>
              <a:br>
                <a:rPr kumimoji="0" lang="en-US" sz="1400" b="1" i="0" u="none" strike="noStrike" kern="1200" cap="none" spc="0" normalizeH="0" baseline="0" noProof="0" dirty="0">
                  <a:ln w="3175"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Segoe UI" pitchFamily="34" charset="0"/>
                </a:rPr>
              </a:br>
              <a:r>
                <a:rPr kumimoji="0" lang="en-US" sz="1400" b="1" i="0" u="none" strike="noStrike" kern="1200" cap="none" spc="0" normalizeH="0" baseline="0" noProof="0" dirty="0">
                  <a:ln w="3175"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Segoe UI" pitchFamily="34" charset="0"/>
                </a:rPr>
                <a:t>Health Plus plan also covers hospital stays and X-rays.</a:t>
              </a:r>
              <a:r>
                <a:rPr kumimoji="0" lang="en-US" sz="1400" b="1" i="0" u="none" strike="noStrike" kern="1200" cap="none" spc="0" normalizeH="0" baseline="30000" noProof="0" dirty="0">
                  <a:ln w="3175"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Segoe UI" pitchFamily="34" charset="0"/>
                </a:rPr>
                <a:t>1</a:t>
              </a:r>
            </a:p>
          </p:txBody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6CA107A6-B034-7DC5-46AC-536E8BB0F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rot="10800000">
              <a:off x="11198391" y="2758616"/>
              <a:ext cx="87949" cy="399272"/>
            </a:xfrm>
            <a:prstGeom prst="triangle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15" name="Group 14" descr="search">
            <a:extLst>
              <a:ext uri="{FF2B5EF4-FFF2-40B4-BE49-F238E27FC236}">
                <a16:creationId xmlns:a16="http://schemas.microsoft.com/office/drawing/2014/main" id="{04C14CF4-F2DF-D797-BB4B-416199B9CC2A}"/>
              </a:ext>
            </a:extLst>
          </p:cNvPr>
          <p:cNvGrpSpPr/>
          <p:nvPr/>
        </p:nvGrpSpPr>
        <p:grpSpPr>
          <a:xfrm>
            <a:off x="2658429" y="3838655"/>
            <a:ext cx="4691362" cy="2354183"/>
            <a:chOff x="2658429" y="3838655"/>
            <a:chExt cx="4691362" cy="2354183"/>
          </a:xfrm>
        </p:grpSpPr>
        <p:cxnSp>
          <p:nvCxnSpPr>
            <p:cNvPr id="48" name="Straight Connector 47" descr="Line connecting from one section to the next.">
              <a:extLst>
                <a:ext uri="{FF2B5EF4-FFF2-40B4-BE49-F238E27FC236}">
                  <a16:creationId xmlns:a16="http://schemas.microsoft.com/office/drawing/2014/main" id="{F7316497-8C4D-FD07-503E-E402CFD4EB0F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CxnSpPr>
              <a:cxnSpLocks/>
              <a:stCxn id="3" idx="3"/>
              <a:endCxn id="4" idx="1"/>
            </p:cNvCxnSpPr>
            <p:nvPr/>
          </p:nvCxnSpPr>
          <p:spPr>
            <a:xfrm>
              <a:off x="2658429" y="5015747"/>
              <a:ext cx="618558" cy="0"/>
            </a:xfrm>
            <a:prstGeom prst="line">
              <a:avLst/>
            </a:prstGeom>
            <a:ln w="12700" cap="rnd">
              <a:solidFill>
                <a:srgbClr val="000000"/>
              </a:solidFill>
              <a:headEnd type="oval" w="med" len="med"/>
              <a:tailEnd type="oval" w="lg" len="lg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ounded Rectangle 5">
              <a:extLst>
                <a:ext uri="{FF2B5EF4-FFF2-40B4-BE49-F238E27FC236}">
                  <a16:creationId xmlns:a16="http://schemas.microsoft.com/office/drawing/2014/main" id="{119AF36D-45C8-B113-04C0-C277B1B924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3276987" y="3838655"/>
              <a:ext cx="4072804" cy="2354183"/>
            </a:xfrm>
            <a:prstGeom prst="roundRect">
              <a:avLst>
                <a:gd name="adj" fmla="val 6772"/>
              </a:avLst>
            </a:prstGeom>
            <a:ln w="12700" cap="rnd">
              <a:solidFill>
                <a:schemeClr val="tx1">
                  <a:alpha val="50000"/>
                </a:schemeClr>
              </a:solidFill>
              <a:headEnd type="none" w="lg" len="sm"/>
              <a:tailEnd type="none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320040" rIns="0" bIns="0" rtlCol="0" anchor="t" anchorCtr="0">
              <a:noAutofit/>
            </a:bodyPr>
            <a:lstStyle/>
            <a:p>
              <a:pPr marL="0" marR="0" lvl="0" indent="0" algn="ctr" defTabSz="142722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0" i="0" u="none" strike="noStrike" kern="1200" cap="none" spc="-50" normalizeH="0" baseline="0" noProof="0">
                <a:ln>
                  <a:noFill/>
                </a:ln>
                <a:gradFill>
                  <a:gsLst>
                    <a:gs pos="80460">
                      <a:srgbClr val="000000"/>
                    </a:gs>
                    <a:gs pos="59551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A888F5F-2870-A072-9ACC-17F595F21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3646193" y="4238890"/>
              <a:ext cx="911617" cy="911617"/>
            </a:xfrm>
            <a:prstGeom prst="ellipse">
              <a:avLst/>
            </a:prstGeom>
            <a:gradFill flip="none" rotWithShape="1">
              <a:gsLst>
                <a:gs pos="80000">
                  <a:srgbClr val="0A6BBA"/>
                </a:gs>
                <a:gs pos="0">
                  <a:srgbClr val="AC35AF"/>
                </a:gs>
              </a:gsLst>
              <a:path path="circle">
                <a:fillToRect l="100000" t="100000"/>
              </a:path>
              <a:tileRect r="-100000" b="-100000"/>
            </a:gradFill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22758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701239" algn="l"/>
                </a:tabLst>
                <a:defRPr/>
              </a:pPr>
              <a:endParaRPr kumimoji="0" lang="en-US" sz="1400" b="1" i="0" u="none" strike="noStrike" kern="1200" cap="none" spc="0" normalizeH="0" baseline="0" noProof="0" err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endParaRPr>
            </a:p>
          </p:txBody>
        </p:sp>
        <p:sp>
          <p:nvSpPr>
            <p:cNvPr id="27" name="Graphic 22">
              <a:extLst>
                <a:ext uri="{FF2B5EF4-FFF2-40B4-BE49-F238E27FC236}">
                  <a16:creationId xmlns:a16="http://schemas.microsoft.com/office/drawing/2014/main" id="{6C14DF5E-E281-29C6-09BD-9DF5AEFF5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09630" y="4482097"/>
              <a:ext cx="384742" cy="425201"/>
            </a:xfrm>
            <a:custGeom>
              <a:avLst/>
              <a:gdLst>
                <a:gd name="connsiteX0" fmla="*/ 362832 w 862573"/>
                <a:gd name="connsiteY0" fmla="*/ 362832 h 953281"/>
                <a:gd name="connsiteX1" fmla="*/ 725663 w 862573"/>
                <a:gd name="connsiteY1" fmla="*/ 181416 h 953281"/>
                <a:gd name="connsiteX2" fmla="*/ 362832 w 862573"/>
                <a:gd name="connsiteY2" fmla="*/ 0 h 953281"/>
                <a:gd name="connsiteX3" fmla="*/ 0 w 862573"/>
                <a:gd name="connsiteY3" fmla="*/ 181416 h 953281"/>
                <a:gd name="connsiteX4" fmla="*/ 362832 w 862573"/>
                <a:gd name="connsiteY4" fmla="*/ 362832 h 953281"/>
                <a:gd name="connsiteX5" fmla="*/ 649832 w 862573"/>
                <a:gd name="connsiteY5" fmla="*/ 370542 h 953281"/>
                <a:gd name="connsiteX6" fmla="*/ 725663 w 862573"/>
                <a:gd name="connsiteY6" fmla="*/ 319882 h 953281"/>
                <a:gd name="connsiteX7" fmla="*/ 725663 w 862573"/>
                <a:gd name="connsiteY7" fmla="*/ 465196 h 953281"/>
                <a:gd name="connsiteX8" fmla="*/ 543340 w 862573"/>
                <a:gd name="connsiteY8" fmla="*/ 409274 h 953281"/>
                <a:gd name="connsiteX9" fmla="*/ 649832 w 862573"/>
                <a:gd name="connsiteY9" fmla="*/ 370542 h 953281"/>
                <a:gd name="connsiteX10" fmla="*/ 317478 w 862573"/>
                <a:gd name="connsiteY10" fmla="*/ 657632 h 953281"/>
                <a:gd name="connsiteX11" fmla="*/ 491229 w 862573"/>
                <a:gd name="connsiteY11" fmla="*/ 895378 h 953281"/>
                <a:gd name="connsiteX12" fmla="*/ 362832 w 862573"/>
                <a:gd name="connsiteY12" fmla="*/ 907079 h 953281"/>
                <a:gd name="connsiteX13" fmla="*/ 0 w 862573"/>
                <a:gd name="connsiteY13" fmla="*/ 725663 h 953281"/>
                <a:gd name="connsiteX14" fmla="*/ 0 w 862573"/>
                <a:gd name="connsiteY14" fmla="*/ 319882 h 953281"/>
                <a:gd name="connsiteX15" fmla="*/ 75832 w 862573"/>
                <a:gd name="connsiteY15" fmla="*/ 370542 h 953281"/>
                <a:gd name="connsiteX16" fmla="*/ 362832 w 862573"/>
                <a:gd name="connsiteY16" fmla="*/ 430863 h 953281"/>
                <a:gd name="connsiteX17" fmla="*/ 488780 w 862573"/>
                <a:gd name="connsiteY17" fmla="*/ 420658 h 953281"/>
                <a:gd name="connsiteX18" fmla="*/ 317478 w 862573"/>
                <a:gd name="connsiteY18" fmla="*/ 657632 h 953281"/>
                <a:gd name="connsiteX19" fmla="*/ 566925 w 862573"/>
                <a:gd name="connsiteY19" fmla="*/ 861725 h 953281"/>
                <a:gd name="connsiteX20" fmla="*/ 685162 w 862573"/>
                <a:gd name="connsiteY20" fmla="*/ 823991 h 953281"/>
                <a:gd name="connsiteX21" fmla="*/ 803672 w 862573"/>
                <a:gd name="connsiteY21" fmla="*/ 942455 h 953281"/>
                <a:gd name="connsiteX22" fmla="*/ 851747 w 862573"/>
                <a:gd name="connsiteY22" fmla="*/ 944152 h 953281"/>
                <a:gd name="connsiteX23" fmla="*/ 853444 w 862573"/>
                <a:gd name="connsiteY23" fmla="*/ 896076 h 953281"/>
                <a:gd name="connsiteX24" fmla="*/ 851747 w 862573"/>
                <a:gd name="connsiteY24" fmla="*/ 894380 h 953281"/>
                <a:gd name="connsiteX25" fmla="*/ 733283 w 862573"/>
                <a:gd name="connsiteY25" fmla="*/ 775870 h 953281"/>
                <a:gd name="connsiteX26" fmla="*/ 685167 w 862573"/>
                <a:gd name="connsiteY26" fmla="*/ 491279 h 953281"/>
                <a:gd name="connsiteX27" fmla="*/ 400575 w 862573"/>
                <a:gd name="connsiteY27" fmla="*/ 539395 h 953281"/>
                <a:gd name="connsiteX28" fmla="*/ 448691 w 862573"/>
                <a:gd name="connsiteY28" fmla="*/ 823986 h 953281"/>
                <a:gd name="connsiteX29" fmla="*/ 566925 w 862573"/>
                <a:gd name="connsiteY29" fmla="*/ 861725 h 953281"/>
                <a:gd name="connsiteX30" fmla="*/ 566925 w 862573"/>
                <a:gd name="connsiteY30" fmla="*/ 793694 h 953281"/>
                <a:gd name="connsiteX31" fmla="*/ 430863 w 862573"/>
                <a:gd name="connsiteY31" fmla="*/ 657632 h 953281"/>
                <a:gd name="connsiteX32" fmla="*/ 566925 w 862573"/>
                <a:gd name="connsiteY32" fmla="*/ 521571 h 953281"/>
                <a:gd name="connsiteX33" fmla="*/ 702986 w 862573"/>
                <a:gd name="connsiteY33" fmla="*/ 657632 h 953281"/>
                <a:gd name="connsiteX34" fmla="*/ 566925 w 862573"/>
                <a:gd name="connsiteY34" fmla="*/ 793694 h 953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862573" h="953281">
                  <a:moveTo>
                    <a:pt x="362832" y="362832"/>
                  </a:moveTo>
                  <a:cubicBezTo>
                    <a:pt x="563205" y="362832"/>
                    <a:pt x="725663" y="281648"/>
                    <a:pt x="725663" y="181416"/>
                  </a:cubicBezTo>
                  <a:cubicBezTo>
                    <a:pt x="725663" y="81184"/>
                    <a:pt x="563205" y="0"/>
                    <a:pt x="362832" y="0"/>
                  </a:cubicBezTo>
                  <a:cubicBezTo>
                    <a:pt x="162458" y="0"/>
                    <a:pt x="0" y="81184"/>
                    <a:pt x="0" y="181416"/>
                  </a:cubicBezTo>
                  <a:cubicBezTo>
                    <a:pt x="0" y="281648"/>
                    <a:pt x="162458" y="362832"/>
                    <a:pt x="362832" y="362832"/>
                  </a:cubicBezTo>
                  <a:close/>
                  <a:moveTo>
                    <a:pt x="649832" y="370542"/>
                  </a:moveTo>
                  <a:cubicBezTo>
                    <a:pt x="677239" y="357084"/>
                    <a:pt x="702737" y="340048"/>
                    <a:pt x="725663" y="319882"/>
                  </a:cubicBezTo>
                  <a:lnTo>
                    <a:pt x="725663" y="465196"/>
                  </a:lnTo>
                  <a:cubicBezTo>
                    <a:pt x="674749" y="423039"/>
                    <a:pt x="609135" y="402915"/>
                    <a:pt x="543340" y="409274"/>
                  </a:cubicBezTo>
                  <a:cubicBezTo>
                    <a:pt x="580118" y="400208"/>
                    <a:pt x="615821" y="387223"/>
                    <a:pt x="649832" y="370542"/>
                  </a:cubicBezTo>
                  <a:close/>
                  <a:moveTo>
                    <a:pt x="317478" y="657632"/>
                  </a:moveTo>
                  <a:cubicBezTo>
                    <a:pt x="317478" y="766251"/>
                    <a:pt x="387740" y="862392"/>
                    <a:pt x="491229" y="895378"/>
                  </a:cubicBezTo>
                  <a:cubicBezTo>
                    <a:pt x="451317" y="902952"/>
                    <a:pt x="408050" y="907079"/>
                    <a:pt x="362832" y="907079"/>
                  </a:cubicBezTo>
                  <a:cubicBezTo>
                    <a:pt x="162458" y="907079"/>
                    <a:pt x="0" y="825896"/>
                    <a:pt x="0" y="725663"/>
                  </a:cubicBezTo>
                  <a:lnTo>
                    <a:pt x="0" y="319882"/>
                  </a:lnTo>
                  <a:cubicBezTo>
                    <a:pt x="22925" y="340048"/>
                    <a:pt x="48425" y="357084"/>
                    <a:pt x="75832" y="370542"/>
                  </a:cubicBezTo>
                  <a:cubicBezTo>
                    <a:pt x="152843" y="409002"/>
                    <a:pt x="254345" y="430863"/>
                    <a:pt x="362832" y="430863"/>
                  </a:cubicBezTo>
                  <a:cubicBezTo>
                    <a:pt x="406281" y="430863"/>
                    <a:pt x="448641" y="427370"/>
                    <a:pt x="488780" y="420658"/>
                  </a:cubicBezTo>
                  <a:cubicBezTo>
                    <a:pt x="386534" y="454415"/>
                    <a:pt x="317469" y="549953"/>
                    <a:pt x="317478" y="657632"/>
                  </a:cubicBezTo>
                  <a:close/>
                  <a:moveTo>
                    <a:pt x="566925" y="861725"/>
                  </a:moveTo>
                  <a:cubicBezTo>
                    <a:pt x="609308" y="861789"/>
                    <a:pt x="650648" y="848591"/>
                    <a:pt x="685162" y="823991"/>
                  </a:cubicBezTo>
                  <a:lnTo>
                    <a:pt x="803672" y="942455"/>
                  </a:lnTo>
                  <a:cubicBezTo>
                    <a:pt x="816480" y="956198"/>
                    <a:pt x="838005" y="956959"/>
                    <a:pt x="851747" y="944152"/>
                  </a:cubicBezTo>
                  <a:cubicBezTo>
                    <a:pt x="865490" y="931344"/>
                    <a:pt x="866252" y="909823"/>
                    <a:pt x="853444" y="896076"/>
                  </a:cubicBezTo>
                  <a:cubicBezTo>
                    <a:pt x="852899" y="895491"/>
                    <a:pt x="852332" y="894924"/>
                    <a:pt x="851747" y="894380"/>
                  </a:cubicBezTo>
                  <a:lnTo>
                    <a:pt x="733283" y="775870"/>
                  </a:lnTo>
                  <a:cubicBezTo>
                    <a:pt x="798583" y="683997"/>
                    <a:pt x="777040" y="556579"/>
                    <a:pt x="685167" y="491279"/>
                  </a:cubicBezTo>
                  <a:cubicBezTo>
                    <a:pt x="593293" y="425978"/>
                    <a:pt x="465876" y="447521"/>
                    <a:pt x="400575" y="539395"/>
                  </a:cubicBezTo>
                  <a:cubicBezTo>
                    <a:pt x="335275" y="631268"/>
                    <a:pt x="356818" y="758686"/>
                    <a:pt x="448691" y="823986"/>
                  </a:cubicBezTo>
                  <a:cubicBezTo>
                    <a:pt x="483228" y="848536"/>
                    <a:pt x="524550" y="861725"/>
                    <a:pt x="566925" y="861725"/>
                  </a:cubicBezTo>
                  <a:close/>
                  <a:moveTo>
                    <a:pt x="566925" y="793694"/>
                  </a:moveTo>
                  <a:cubicBezTo>
                    <a:pt x="491778" y="793694"/>
                    <a:pt x="430863" y="732779"/>
                    <a:pt x="430863" y="657632"/>
                  </a:cubicBezTo>
                  <a:cubicBezTo>
                    <a:pt x="430863" y="582485"/>
                    <a:pt x="491778" y="521571"/>
                    <a:pt x="566925" y="521571"/>
                  </a:cubicBezTo>
                  <a:cubicBezTo>
                    <a:pt x="642072" y="521571"/>
                    <a:pt x="702986" y="582485"/>
                    <a:pt x="702986" y="657632"/>
                  </a:cubicBezTo>
                  <a:cubicBezTo>
                    <a:pt x="702986" y="732779"/>
                    <a:pt x="642072" y="793694"/>
                    <a:pt x="566925" y="793694"/>
                  </a:cubicBezTo>
                  <a:close/>
                </a:path>
              </a:pathLst>
            </a:custGeom>
            <a:solidFill>
              <a:schemeClr val="bg1"/>
            </a:solidFill>
            <a:ln w="452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6267D8-DF13-03EC-9EE1-121526403772}"/>
                </a:ext>
              </a:extLst>
            </p:cNvPr>
            <p:cNvSpPr txBox="1"/>
            <p:nvPr/>
          </p:nvSpPr>
          <p:spPr>
            <a:xfrm>
              <a:off x="3669860" y="5362262"/>
              <a:ext cx="8879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36579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Segoe UI Semilight"/>
                </a:rPr>
                <a:t>Search</a:t>
              </a:r>
            </a:p>
          </p:txBody>
        </p:sp>
      </p:grpSp>
      <p:sp>
        <p:nvSpPr>
          <p:cNvPr id="29" name="Graphic 24">
            <a:extLst>
              <a:ext uri="{FF2B5EF4-FFF2-40B4-BE49-F238E27FC236}">
                <a16:creationId xmlns:a16="http://schemas.microsoft.com/office/drawing/2014/main" id="{8ABCFB5B-07DF-6D42-A51F-42CB17080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65234" y="3793593"/>
            <a:ext cx="445046" cy="445297"/>
          </a:xfrm>
          <a:custGeom>
            <a:avLst/>
            <a:gdLst>
              <a:gd name="connsiteX0" fmla="*/ 770994 w 907063"/>
              <a:gd name="connsiteY0" fmla="*/ 113334 h 907573"/>
              <a:gd name="connsiteX1" fmla="*/ 657654 w 907063"/>
              <a:gd name="connsiteY1" fmla="*/ 226764 h 907573"/>
              <a:gd name="connsiteX2" fmla="*/ 634387 w 907063"/>
              <a:gd name="connsiteY2" fmla="*/ 224361 h 907573"/>
              <a:gd name="connsiteX3" fmla="*/ 576334 w 907063"/>
              <a:gd name="connsiteY3" fmla="*/ 320421 h 907573"/>
              <a:gd name="connsiteX4" fmla="*/ 634932 w 907063"/>
              <a:gd name="connsiteY4" fmla="*/ 453897 h 907573"/>
              <a:gd name="connsiteX5" fmla="*/ 634932 w 907063"/>
              <a:gd name="connsiteY5" fmla="*/ 456528 h 907573"/>
              <a:gd name="connsiteX6" fmla="*/ 693710 w 907063"/>
              <a:gd name="connsiteY6" fmla="*/ 468365 h 907573"/>
              <a:gd name="connsiteX7" fmla="*/ 847197 w 907063"/>
              <a:gd name="connsiteY7" fmla="*/ 421959 h 907573"/>
              <a:gd name="connsiteX8" fmla="*/ 893603 w 907063"/>
              <a:gd name="connsiteY8" fmla="*/ 575451 h 907573"/>
              <a:gd name="connsiteX9" fmla="*/ 740117 w 907063"/>
              <a:gd name="connsiteY9" fmla="*/ 621852 h 907573"/>
              <a:gd name="connsiteX10" fmla="*/ 681057 w 907063"/>
              <a:gd name="connsiteY10" fmla="*/ 535217 h 907573"/>
              <a:gd name="connsiteX11" fmla="*/ 621189 w 907063"/>
              <a:gd name="connsiteY11" fmla="*/ 523198 h 907573"/>
              <a:gd name="connsiteX12" fmla="*/ 542183 w 907063"/>
              <a:gd name="connsiteY12" fmla="*/ 612228 h 907573"/>
              <a:gd name="connsiteX13" fmla="*/ 564633 w 907063"/>
              <a:gd name="connsiteY13" fmla="*/ 680803 h 907573"/>
              <a:gd name="connsiteX14" fmla="*/ 566901 w 907063"/>
              <a:gd name="connsiteY14" fmla="*/ 680803 h 907573"/>
              <a:gd name="connsiteX15" fmla="*/ 680204 w 907063"/>
              <a:gd name="connsiteY15" fmla="*/ 794270 h 907573"/>
              <a:gd name="connsiteX16" fmla="*/ 566737 w 907063"/>
              <a:gd name="connsiteY16" fmla="*/ 907573 h 907573"/>
              <a:gd name="connsiteX17" fmla="*/ 453434 w 907063"/>
              <a:gd name="connsiteY17" fmla="*/ 794106 h 907573"/>
              <a:gd name="connsiteX18" fmla="*/ 500140 w 907063"/>
              <a:gd name="connsiteY18" fmla="*/ 702482 h 907573"/>
              <a:gd name="connsiteX19" fmla="*/ 477644 w 907063"/>
              <a:gd name="connsiteY19" fmla="*/ 633726 h 907573"/>
              <a:gd name="connsiteX20" fmla="*/ 307476 w 907063"/>
              <a:gd name="connsiteY20" fmla="*/ 561477 h 907573"/>
              <a:gd name="connsiteX21" fmla="*/ 226066 w 907063"/>
              <a:gd name="connsiteY21" fmla="*/ 599937 h 907573"/>
              <a:gd name="connsiteX22" fmla="*/ 126102 w 907063"/>
              <a:gd name="connsiteY22" fmla="*/ 725314 h 907573"/>
              <a:gd name="connsiteX23" fmla="*/ 725 w 907063"/>
              <a:gd name="connsiteY23" fmla="*/ 625353 h 907573"/>
              <a:gd name="connsiteX24" fmla="*/ 100688 w 907063"/>
              <a:gd name="connsiteY24" fmla="*/ 499972 h 907573"/>
              <a:gd name="connsiteX25" fmla="*/ 198490 w 907063"/>
              <a:gd name="connsiteY25" fmla="*/ 537711 h 907573"/>
              <a:gd name="connsiteX26" fmla="*/ 278041 w 907063"/>
              <a:gd name="connsiteY26" fmla="*/ 500158 h 907573"/>
              <a:gd name="connsiteX27" fmla="*/ 313599 w 907063"/>
              <a:gd name="connsiteY27" fmla="*/ 338381 h 907573"/>
              <a:gd name="connsiteX28" fmla="*/ 268653 w 907063"/>
              <a:gd name="connsiteY28" fmla="*/ 287131 h 907573"/>
              <a:gd name="connsiteX29" fmla="*/ 121392 w 907063"/>
              <a:gd name="connsiteY29" fmla="*/ 223675 h 907573"/>
              <a:gd name="connsiteX30" fmla="*/ 184848 w 907063"/>
              <a:gd name="connsiteY30" fmla="*/ 76415 h 907573"/>
              <a:gd name="connsiteX31" fmla="*/ 332109 w 907063"/>
              <a:gd name="connsiteY31" fmla="*/ 139870 h 907573"/>
              <a:gd name="connsiteX32" fmla="*/ 321445 w 907063"/>
              <a:gd name="connsiteY32" fmla="*/ 244135 h 907573"/>
              <a:gd name="connsiteX33" fmla="*/ 366028 w 907063"/>
              <a:gd name="connsiteY33" fmla="*/ 294932 h 907573"/>
              <a:gd name="connsiteX34" fmla="*/ 453516 w 907063"/>
              <a:gd name="connsiteY34" fmla="*/ 272482 h 907573"/>
              <a:gd name="connsiteX35" fmla="*/ 518553 w 907063"/>
              <a:gd name="connsiteY35" fmla="*/ 284500 h 907573"/>
              <a:gd name="connsiteX36" fmla="*/ 575019 w 907063"/>
              <a:gd name="connsiteY36" fmla="*/ 191071 h 907573"/>
              <a:gd name="connsiteX37" fmla="*/ 579922 w 907063"/>
              <a:gd name="connsiteY37" fmla="*/ 30796 h 907573"/>
              <a:gd name="connsiteX38" fmla="*/ 740198 w 907063"/>
              <a:gd name="connsiteY38" fmla="*/ 35699 h 907573"/>
              <a:gd name="connsiteX39" fmla="*/ 770994 w 907063"/>
              <a:gd name="connsiteY39" fmla="*/ 113380 h 907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907063" h="907573">
                <a:moveTo>
                  <a:pt x="770994" y="113334"/>
                </a:moveTo>
                <a:cubicBezTo>
                  <a:pt x="771016" y="175955"/>
                  <a:pt x="720274" y="226739"/>
                  <a:pt x="657654" y="226764"/>
                </a:cubicBezTo>
                <a:cubicBezTo>
                  <a:pt x="649835" y="226767"/>
                  <a:pt x="642039" y="225962"/>
                  <a:pt x="634387" y="224361"/>
                </a:cubicBezTo>
                <a:lnTo>
                  <a:pt x="576334" y="320421"/>
                </a:lnTo>
                <a:cubicBezTo>
                  <a:pt x="613715" y="354730"/>
                  <a:pt x="634977" y="403160"/>
                  <a:pt x="634932" y="453897"/>
                </a:cubicBezTo>
                <a:lnTo>
                  <a:pt x="634932" y="456528"/>
                </a:lnTo>
                <a:lnTo>
                  <a:pt x="693710" y="468365"/>
                </a:lnTo>
                <a:cubicBezTo>
                  <a:pt x="723281" y="413165"/>
                  <a:pt x="792001" y="392388"/>
                  <a:pt x="847197" y="421959"/>
                </a:cubicBezTo>
                <a:cubicBezTo>
                  <a:pt x="902398" y="451530"/>
                  <a:pt x="923174" y="520250"/>
                  <a:pt x="893603" y="575451"/>
                </a:cubicBezTo>
                <a:cubicBezTo>
                  <a:pt x="864033" y="630646"/>
                  <a:pt x="795317" y="651423"/>
                  <a:pt x="740117" y="621852"/>
                </a:cubicBezTo>
                <a:cubicBezTo>
                  <a:pt x="707457" y="604359"/>
                  <a:pt x="685406" y="572013"/>
                  <a:pt x="681057" y="535217"/>
                </a:cubicBezTo>
                <a:lnTo>
                  <a:pt x="621189" y="523198"/>
                </a:lnTo>
                <a:cubicBezTo>
                  <a:pt x="605570" y="560887"/>
                  <a:pt x="577749" y="592241"/>
                  <a:pt x="542183" y="612228"/>
                </a:cubicBezTo>
                <a:lnTo>
                  <a:pt x="564633" y="680803"/>
                </a:lnTo>
                <a:lnTo>
                  <a:pt x="566901" y="680803"/>
                </a:lnTo>
                <a:cubicBezTo>
                  <a:pt x="629521" y="680849"/>
                  <a:pt x="680249" y="731650"/>
                  <a:pt x="680204" y="794270"/>
                </a:cubicBezTo>
                <a:cubicBezTo>
                  <a:pt x="680159" y="856890"/>
                  <a:pt x="629358" y="907618"/>
                  <a:pt x="566737" y="907573"/>
                </a:cubicBezTo>
                <a:cubicBezTo>
                  <a:pt x="504117" y="907528"/>
                  <a:pt x="453389" y="856727"/>
                  <a:pt x="453434" y="794106"/>
                </a:cubicBezTo>
                <a:cubicBezTo>
                  <a:pt x="453461" y="757855"/>
                  <a:pt x="470818" y="723803"/>
                  <a:pt x="500140" y="702482"/>
                </a:cubicBezTo>
                <a:lnTo>
                  <a:pt x="477644" y="633726"/>
                </a:lnTo>
                <a:cubicBezTo>
                  <a:pt x="411976" y="642579"/>
                  <a:pt x="346715" y="614872"/>
                  <a:pt x="307476" y="561477"/>
                </a:cubicBezTo>
                <a:lnTo>
                  <a:pt x="226066" y="599937"/>
                </a:lnTo>
                <a:cubicBezTo>
                  <a:pt x="233084" y="662163"/>
                  <a:pt x="188328" y="718297"/>
                  <a:pt x="126102" y="725314"/>
                </a:cubicBezTo>
                <a:cubicBezTo>
                  <a:pt x="63876" y="732334"/>
                  <a:pt x="7743" y="687579"/>
                  <a:pt x="725" y="625353"/>
                </a:cubicBezTo>
                <a:cubicBezTo>
                  <a:pt x="-6294" y="563123"/>
                  <a:pt x="38462" y="506993"/>
                  <a:pt x="100688" y="499972"/>
                </a:cubicBezTo>
                <a:cubicBezTo>
                  <a:pt x="137496" y="495823"/>
                  <a:pt x="174011" y="509914"/>
                  <a:pt x="198490" y="537711"/>
                </a:cubicBezTo>
                <a:lnTo>
                  <a:pt x="278041" y="500158"/>
                </a:lnTo>
                <a:cubicBezTo>
                  <a:pt x="263193" y="443652"/>
                  <a:pt x="276425" y="383454"/>
                  <a:pt x="313599" y="338381"/>
                </a:cubicBezTo>
                <a:lnTo>
                  <a:pt x="268653" y="287131"/>
                </a:lnTo>
                <a:cubicBezTo>
                  <a:pt x="210465" y="310273"/>
                  <a:pt x="144535" y="281863"/>
                  <a:pt x="121392" y="223675"/>
                </a:cubicBezTo>
                <a:cubicBezTo>
                  <a:pt x="98251" y="165488"/>
                  <a:pt x="126660" y="99557"/>
                  <a:pt x="184848" y="76415"/>
                </a:cubicBezTo>
                <a:cubicBezTo>
                  <a:pt x="243036" y="53273"/>
                  <a:pt x="308966" y="81683"/>
                  <a:pt x="332109" y="139870"/>
                </a:cubicBezTo>
                <a:cubicBezTo>
                  <a:pt x="345794" y="174281"/>
                  <a:pt x="341813" y="213207"/>
                  <a:pt x="321445" y="244135"/>
                </a:cubicBezTo>
                <a:lnTo>
                  <a:pt x="366028" y="294932"/>
                </a:lnTo>
                <a:cubicBezTo>
                  <a:pt x="392819" y="280159"/>
                  <a:pt x="422925" y="272434"/>
                  <a:pt x="453516" y="272482"/>
                </a:cubicBezTo>
                <a:cubicBezTo>
                  <a:pt x="476420" y="272482"/>
                  <a:pt x="498416" y="276745"/>
                  <a:pt x="518553" y="284500"/>
                </a:cubicBezTo>
                <a:lnTo>
                  <a:pt x="575019" y="191071"/>
                </a:lnTo>
                <a:cubicBezTo>
                  <a:pt x="532114" y="145458"/>
                  <a:pt x="534309" y="73701"/>
                  <a:pt x="579922" y="30796"/>
                </a:cubicBezTo>
                <a:cubicBezTo>
                  <a:pt x="625534" y="-12109"/>
                  <a:pt x="697293" y="-9914"/>
                  <a:pt x="740198" y="35699"/>
                </a:cubicBezTo>
                <a:cubicBezTo>
                  <a:pt x="759977" y="56728"/>
                  <a:pt x="770994" y="84510"/>
                  <a:pt x="770994" y="113380"/>
                </a:cubicBezTo>
                <a:close/>
              </a:path>
            </a:pathLst>
          </a:custGeom>
          <a:solidFill>
            <a:schemeClr val="bg1"/>
          </a:solidFill>
          <a:ln w="4524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561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51D8C-EBC4-E1B3-F8BD-E5C048ED7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0ECEE08-FE12-DBB4-72B3-F50D26AF420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40663" y="609600"/>
            <a:ext cx="11018520" cy="55399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0" normalizeH="0" baseline="0" noProof="0" dirty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rPr>
              <a:t>Demo: Open source RAG solution</a:t>
            </a:r>
          </a:p>
        </p:txBody>
      </p:sp>
      <p:pic>
        <p:nvPicPr>
          <p:cNvPr id="5" name="Picture 4" descr="Chat screen">
            <a:extLst>
              <a:ext uri="{FF2B5EF4-FFF2-40B4-BE49-F238E27FC236}">
                <a16:creationId xmlns:a16="http://schemas.microsoft.com/office/drawing/2014/main" id="{C4DEDC42-9828-AB06-D490-3FA250FC04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" b="25381"/>
          <a:stretch/>
        </p:blipFill>
        <p:spPr bwMode="auto">
          <a:xfrm>
            <a:off x="740663" y="1594833"/>
            <a:ext cx="5895700" cy="465356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can me!">
            <a:extLst>
              <a:ext uri="{FF2B5EF4-FFF2-40B4-BE49-F238E27FC236}">
                <a16:creationId xmlns:a16="http://schemas.microsoft.com/office/drawing/2014/main" id="{0E4E6BB0-020A-1E71-4B22-DC67FAE29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9910" y="1594833"/>
            <a:ext cx="2493384" cy="2493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EF8B47-843C-585A-644C-F236F850B7E0}"/>
              </a:ext>
            </a:extLst>
          </p:cNvPr>
          <p:cNvSpPr txBox="1"/>
          <p:nvPr/>
        </p:nvSpPr>
        <p:spPr>
          <a:xfrm>
            <a:off x="6948310" y="4309408"/>
            <a:ext cx="413467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/>
              <a:t>Code:</a:t>
            </a:r>
          </a:p>
          <a:p>
            <a:pPr algn="l"/>
            <a:r>
              <a:rPr lang="en-US" sz="2400" dirty="0">
                <a:hlinkClick r:id="rId5"/>
              </a:rPr>
              <a:t>aka.ms/</a:t>
            </a:r>
            <a:r>
              <a:rPr lang="en-US" sz="2400" dirty="0" err="1">
                <a:hlinkClick r:id="rId5"/>
              </a:rPr>
              <a:t>ragchat</a:t>
            </a:r>
            <a:endParaRPr lang="en-US" sz="2400" dirty="0"/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Demo:</a:t>
            </a:r>
          </a:p>
          <a:p>
            <a:pPr algn="l"/>
            <a:r>
              <a:rPr lang="en-US" sz="2400" dirty="0">
                <a:hlinkClick r:id="rId6"/>
              </a:rPr>
              <a:t>aka.ms/</a:t>
            </a:r>
            <a:r>
              <a:rPr lang="en-US" sz="2400" dirty="0" err="1">
                <a:hlinkClick r:id="rId6"/>
              </a:rPr>
              <a:t>ragchat</a:t>
            </a:r>
            <a:r>
              <a:rPr lang="en-US" sz="2400" dirty="0">
                <a:hlinkClick r:id="rId6"/>
              </a:rPr>
              <a:t>/demo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3330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F0922-A432-2F3E-F3FB-FBAC65C3F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533400"/>
            <a:ext cx="11017250" cy="554038"/>
          </a:xfrm>
        </p:spPr>
        <p:txBody>
          <a:bodyPr/>
          <a:lstStyle/>
          <a:p>
            <a:pPr algn="ctr"/>
            <a:r>
              <a:rPr lang="en-US"/>
              <a:t>Components of a high-quality RAG</a:t>
            </a:r>
          </a:p>
        </p:txBody>
      </p:sp>
      <p:sp>
        <p:nvSpPr>
          <p:cNvPr id="26" name="Rounded Rectangle 14">
            <a:extLst>
              <a:ext uri="{FF2B5EF4-FFF2-40B4-BE49-F238E27FC236}">
                <a16:creationId xmlns:a16="http://schemas.microsoft.com/office/drawing/2014/main" id="{48CFE32B-8951-FA91-DBA0-C53AE80A9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4201" y="1652155"/>
            <a:ext cx="3481388" cy="4578783"/>
          </a:xfrm>
          <a:prstGeom prst="roundRect">
            <a:avLst>
              <a:gd name="adj" fmla="val 4547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320040" rIns="0" bIns="0" rtlCol="0" anchor="t" anchorCtr="0">
            <a:noAutofit/>
          </a:bodyPr>
          <a:lstStyle/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 err="1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8A7935C-D835-F1E0-E71E-5284CDFC94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1928858" y="1910664"/>
            <a:ext cx="795128" cy="795128"/>
          </a:xfrm>
          <a:prstGeom prst="ellipse">
            <a:avLst/>
          </a:prstGeom>
          <a:gradFill flip="none" rotWithShape="1">
            <a:gsLst>
              <a:gs pos="80000">
                <a:srgbClr val="1C77A0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03CB56-0704-BBB2-AFF3-40A310F3317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890654" y="2935522"/>
            <a:ext cx="2873245" cy="738664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80000">
                      <a:srgbClr val="318581"/>
                    </a:gs>
                    <a:gs pos="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Sophisticated </a:t>
            </a:r>
            <a:br>
              <a:rPr kumimoji="0" lang="en-US" sz="24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80000">
                      <a:srgbClr val="318581"/>
                    </a:gs>
                    <a:gs pos="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</a:br>
            <a:r>
              <a:rPr kumimoji="0" lang="en-US" sz="24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80000">
                      <a:srgbClr val="318581"/>
                    </a:gs>
                    <a:gs pos="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LLM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D49CD68-EB71-22BD-C441-36A8AD0BC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0654" y="3872808"/>
            <a:ext cx="2871216" cy="0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806F94B-DA9A-4895-B7D0-5FB1EEE59F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890654" y="4145303"/>
            <a:ext cx="2873245" cy="820738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32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Adheres to instructions</a:t>
            </a:r>
          </a:p>
          <a:p>
            <a:pPr marL="0" marR="0" lvl="0" indent="0" algn="ctr" defTabSz="932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Supports function calling</a:t>
            </a:r>
          </a:p>
        </p:txBody>
      </p:sp>
      <p:sp>
        <p:nvSpPr>
          <p:cNvPr id="28" name="Rounded Rectangle 14">
            <a:extLst>
              <a:ext uri="{FF2B5EF4-FFF2-40B4-BE49-F238E27FC236}">
                <a16:creationId xmlns:a16="http://schemas.microsoft.com/office/drawing/2014/main" id="{4FEE4605-A68C-B969-CB98-1F3139169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356101" y="1652155"/>
            <a:ext cx="3481388" cy="4578783"/>
          </a:xfrm>
          <a:prstGeom prst="roundRect">
            <a:avLst>
              <a:gd name="adj" fmla="val 4547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320040" rIns="0" bIns="0" rtlCol="0" anchor="t" anchorCtr="0">
            <a:noAutofit/>
          </a:bodyPr>
          <a:lstStyle/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 err="1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CA3F19B-2513-C3EC-DE37-E7C35443A6C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698435" y="1910664"/>
            <a:ext cx="795128" cy="795128"/>
          </a:xfrm>
          <a:prstGeom prst="ellipse">
            <a:avLst/>
          </a:prstGeom>
          <a:gradFill flip="none" rotWithShape="1">
            <a:gsLst>
              <a:gs pos="80000">
                <a:srgbClr val="0A6BBA"/>
              </a:gs>
              <a:gs pos="0">
                <a:srgbClr val="AC35AF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r>
              <a:rPr kumimoji="0" lang="en-US" sz="28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1B9139-06C1-3346-4416-205218FA61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662554" y="2935522"/>
            <a:ext cx="2873245" cy="738664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80000">
                      <a:srgbClr val="0A6BBA"/>
                    </a:gs>
                    <a:gs pos="0">
                      <a:srgbClr val="AC35A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Well prepared </a:t>
            </a:r>
            <a:br>
              <a:rPr kumimoji="0" lang="en-US" sz="24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80000">
                      <a:srgbClr val="0A6BBA"/>
                    </a:gs>
                    <a:gs pos="0">
                      <a:srgbClr val="AC35A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</a:br>
            <a:r>
              <a:rPr kumimoji="0" lang="en-US" sz="24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80000">
                      <a:srgbClr val="0A6BBA"/>
                    </a:gs>
                    <a:gs pos="0">
                      <a:srgbClr val="AC35A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data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30E0CCF-2A74-D480-D817-F5681FDA1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62554" y="3872808"/>
            <a:ext cx="2871216" cy="0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1CB67EA-2F66-7F03-0F68-AE530BB8B2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662554" y="4145303"/>
            <a:ext cx="2873245" cy="820738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32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Reasonably sized text</a:t>
            </a:r>
          </a:p>
          <a:p>
            <a:pPr marL="0" marR="0" lvl="0" indent="0" algn="ctr" defTabSz="932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Meaningful vectors</a:t>
            </a:r>
          </a:p>
        </p:txBody>
      </p:sp>
      <p:sp>
        <p:nvSpPr>
          <p:cNvPr id="27" name="Rounded Rectangle 14">
            <a:extLst>
              <a:ext uri="{FF2B5EF4-FFF2-40B4-BE49-F238E27FC236}">
                <a16:creationId xmlns:a16="http://schemas.microsoft.com/office/drawing/2014/main" id="{3C8CEC12-46FF-1C8C-F526-6D21020D5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128000" y="1652155"/>
            <a:ext cx="3481388" cy="4578783"/>
          </a:xfrm>
          <a:prstGeom prst="roundRect">
            <a:avLst>
              <a:gd name="adj" fmla="val 4547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320040" rIns="0" bIns="0" rtlCol="0" anchor="t" anchorCtr="0">
            <a:noAutofit/>
          </a:bodyPr>
          <a:lstStyle/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 err="1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A43CF9A-CFC5-222B-4726-48096350C8F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9468014" y="1910664"/>
            <a:ext cx="795128" cy="795128"/>
          </a:xfrm>
          <a:prstGeom prst="ellipse">
            <a:avLst/>
          </a:prstGeom>
          <a:gradFill flip="none" rotWithShape="1">
            <a:gsLst>
              <a:gs pos="80000">
                <a:srgbClr val="AC35AF"/>
              </a:gs>
              <a:gs pos="0">
                <a:srgbClr val="F65567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r>
              <a:rPr kumimoji="0" lang="en-US" sz="28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C9B57C-9B94-9E4D-E880-DF92FC97F0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8428102" y="2935522"/>
            <a:ext cx="2873245" cy="738664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79000">
                      <a:srgbClr val="AC35AF"/>
                    </a:gs>
                    <a:gs pos="0">
                      <a:srgbClr val="F65567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Powerful search functionality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1083135-04B4-9140-85A2-F54DFDCAE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428102" y="3872808"/>
            <a:ext cx="2871216" cy="0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242981D-16C5-6743-656F-FF3CF094EE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8428102" y="4145303"/>
            <a:ext cx="2873245" cy="1846659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32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Vector search</a:t>
            </a:r>
          </a:p>
          <a:p>
            <a:pPr marL="0" marR="0" lvl="0" indent="0" algn="ctr" defTabSz="932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Hybrid search</a:t>
            </a:r>
          </a:p>
          <a:p>
            <a:pPr marL="0" marR="0" lvl="0" indent="0" algn="ctr" defTabSz="932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Semantic re-ranking</a:t>
            </a:r>
          </a:p>
          <a:p>
            <a:pPr marL="0" marR="0" lvl="0" indent="0" algn="ctr" defTabSz="932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Filtering</a:t>
            </a:r>
          </a:p>
        </p:txBody>
      </p:sp>
    </p:spTree>
    <p:extLst>
      <p:ext uri="{BB962C8B-B14F-4D97-AF65-F5344CB8AC3E}">
        <p14:creationId xmlns:p14="http://schemas.microsoft.com/office/powerpoint/2010/main" val="2243732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E71BE-1E52-AD4F-FE24-5D648893E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3116263"/>
            <a:ext cx="4127500" cy="1108075"/>
          </a:xfrm>
        </p:spPr>
        <p:txBody>
          <a:bodyPr/>
          <a:lstStyle/>
          <a:p>
            <a:r>
              <a:rPr lang="en-US" noProof="0"/>
              <a:t>Azure AI Search</a:t>
            </a:r>
            <a:endParaRPr lang="en-US"/>
          </a:p>
        </p:txBody>
      </p:sp>
      <p:pic>
        <p:nvPicPr>
          <p:cNvPr id="3" name="Graphic 437806336" descr="Azure Cognitive Search logo">
            <a:extLst>
              <a:ext uri="{FF2B5EF4-FFF2-40B4-BE49-F238E27FC236}">
                <a16:creationId xmlns:a16="http://schemas.microsoft.com/office/drawing/2014/main" id="{4E6DE014-7A44-A49A-88A2-3F4380EFEC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9978" y="2316915"/>
            <a:ext cx="1062735" cy="1063790"/>
          </a:xfrm>
          <a:prstGeom prst="rect">
            <a:avLst/>
          </a:prstGeom>
        </p:spPr>
      </p:pic>
      <p:sp>
        <p:nvSpPr>
          <p:cNvPr id="7" name="Rounded Rectangle 14">
            <a:extLst>
              <a:ext uri="{FF2B5EF4-FFF2-40B4-BE49-F238E27FC236}">
                <a16:creationId xmlns:a16="http://schemas.microsoft.com/office/drawing/2014/main" id="{DA920EA5-3012-1614-156B-ACF79219B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539563" y="872331"/>
            <a:ext cx="6069825" cy="5113338"/>
          </a:xfrm>
          <a:prstGeom prst="roundRect">
            <a:avLst>
              <a:gd name="adj" fmla="val 2964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320040" rIns="0" bIns="0" rtlCol="0" anchor="t" anchorCtr="0">
            <a:noAutofit/>
          </a:bodyPr>
          <a:lstStyle/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 err="1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47FE7C4-EE83-A868-628A-7BC76F1A3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965974" y="1341964"/>
            <a:ext cx="642071" cy="642071"/>
          </a:xfrm>
          <a:prstGeom prst="ellipse">
            <a:avLst/>
          </a:prstGeom>
          <a:gradFill flip="none" rotWithShape="1">
            <a:gsLst>
              <a:gs pos="80000">
                <a:srgbClr val="1C77A0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34" name="Graphic 27">
            <a:extLst>
              <a:ext uri="{FF2B5EF4-FFF2-40B4-BE49-F238E27FC236}">
                <a16:creationId xmlns:a16="http://schemas.microsoft.com/office/drawing/2014/main" id="{F40654FD-D5DE-601D-4487-08F513BF2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412" y="1524093"/>
            <a:ext cx="229195" cy="277812"/>
          </a:xfrm>
          <a:custGeom>
            <a:avLst/>
            <a:gdLst>
              <a:gd name="connsiteX0" fmla="*/ 107291 w 229195"/>
              <a:gd name="connsiteY0" fmla="*/ 75662 h 277812"/>
              <a:gd name="connsiteX1" fmla="*/ 75669 w 229195"/>
              <a:gd name="connsiteY1" fmla="*/ 107284 h 277812"/>
              <a:gd name="connsiteX2" fmla="*/ 107291 w 229195"/>
              <a:gd name="connsiteY2" fmla="*/ 138906 h 277812"/>
              <a:gd name="connsiteX3" fmla="*/ 138913 w 229195"/>
              <a:gd name="connsiteY3" fmla="*/ 107284 h 277812"/>
              <a:gd name="connsiteX4" fmla="*/ 107291 w 229195"/>
              <a:gd name="connsiteY4" fmla="*/ 75662 h 277812"/>
              <a:gd name="connsiteX5" fmla="*/ 0 w 229195"/>
              <a:gd name="connsiteY5" fmla="*/ 34727 h 277812"/>
              <a:gd name="connsiteX6" fmla="*/ 34727 w 229195"/>
              <a:gd name="connsiteY6" fmla="*/ 0 h 277812"/>
              <a:gd name="connsiteX7" fmla="*/ 194469 w 229195"/>
              <a:gd name="connsiteY7" fmla="*/ 0 h 277812"/>
              <a:gd name="connsiteX8" fmla="*/ 229195 w 229195"/>
              <a:gd name="connsiteY8" fmla="*/ 34727 h 277812"/>
              <a:gd name="connsiteX9" fmla="*/ 229195 w 229195"/>
              <a:gd name="connsiteY9" fmla="*/ 232668 h 277812"/>
              <a:gd name="connsiteX10" fmla="*/ 218777 w 229195"/>
              <a:gd name="connsiteY10" fmla="*/ 243086 h 277812"/>
              <a:gd name="connsiteX11" fmla="*/ 20836 w 229195"/>
              <a:gd name="connsiteY11" fmla="*/ 243086 h 277812"/>
              <a:gd name="connsiteX12" fmla="*/ 34727 w 229195"/>
              <a:gd name="connsiteY12" fmla="*/ 256977 h 277812"/>
              <a:gd name="connsiteX13" fmla="*/ 218777 w 229195"/>
              <a:gd name="connsiteY13" fmla="*/ 256977 h 277812"/>
              <a:gd name="connsiteX14" fmla="*/ 229195 w 229195"/>
              <a:gd name="connsiteY14" fmla="*/ 267395 h 277812"/>
              <a:gd name="connsiteX15" fmla="*/ 218777 w 229195"/>
              <a:gd name="connsiteY15" fmla="*/ 277813 h 277812"/>
              <a:gd name="connsiteX16" fmla="*/ 34727 w 229195"/>
              <a:gd name="connsiteY16" fmla="*/ 277813 h 277812"/>
              <a:gd name="connsiteX17" fmla="*/ 0 w 229195"/>
              <a:gd name="connsiteY17" fmla="*/ 243086 h 277812"/>
              <a:gd name="connsiteX18" fmla="*/ 0 w 229195"/>
              <a:gd name="connsiteY18" fmla="*/ 34727 h 277812"/>
              <a:gd name="connsiteX19" fmla="*/ 150283 w 229195"/>
              <a:gd name="connsiteY19" fmla="*/ 136059 h 277812"/>
              <a:gd name="connsiteX20" fmla="*/ 136059 w 229195"/>
              <a:gd name="connsiteY20" fmla="*/ 64299 h 277812"/>
              <a:gd name="connsiteX21" fmla="*/ 64299 w 229195"/>
              <a:gd name="connsiteY21" fmla="*/ 78523 h 277812"/>
              <a:gd name="connsiteX22" fmla="*/ 78523 w 229195"/>
              <a:gd name="connsiteY22" fmla="*/ 150283 h 277812"/>
              <a:gd name="connsiteX23" fmla="*/ 136059 w 229195"/>
              <a:gd name="connsiteY23" fmla="*/ 150283 h 277812"/>
              <a:gd name="connsiteX24" fmla="*/ 170452 w 229195"/>
              <a:gd name="connsiteY24" fmla="*/ 184662 h 277812"/>
              <a:gd name="connsiteX25" fmla="*/ 171383 w 229195"/>
              <a:gd name="connsiteY25" fmla="*/ 185468 h 277812"/>
              <a:gd name="connsiteX26" fmla="*/ 171494 w 229195"/>
              <a:gd name="connsiteY26" fmla="*/ 185551 h 277812"/>
              <a:gd name="connsiteX27" fmla="*/ 185540 w 229195"/>
              <a:gd name="connsiteY27" fmla="*/ 183315 h 277812"/>
              <a:gd name="connsiteX28" fmla="*/ 184579 w 229195"/>
              <a:gd name="connsiteY28" fmla="*/ 170369 h 277812"/>
              <a:gd name="connsiteX29" fmla="*/ 150269 w 229195"/>
              <a:gd name="connsiteY29" fmla="*/ 136059 h 27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29195" h="277812">
                <a:moveTo>
                  <a:pt x="107291" y="75662"/>
                </a:moveTo>
                <a:cubicBezTo>
                  <a:pt x="89827" y="75662"/>
                  <a:pt x="75669" y="89820"/>
                  <a:pt x="75669" y="107284"/>
                </a:cubicBezTo>
                <a:cubicBezTo>
                  <a:pt x="75669" y="124749"/>
                  <a:pt x="89827" y="138906"/>
                  <a:pt x="107291" y="138906"/>
                </a:cubicBezTo>
                <a:cubicBezTo>
                  <a:pt x="124756" y="138906"/>
                  <a:pt x="138913" y="124749"/>
                  <a:pt x="138913" y="107284"/>
                </a:cubicBezTo>
                <a:cubicBezTo>
                  <a:pt x="138913" y="89820"/>
                  <a:pt x="124756" y="75662"/>
                  <a:pt x="107291" y="75662"/>
                </a:cubicBezTo>
                <a:close/>
                <a:moveTo>
                  <a:pt x="0" y="34727"/>
                </a:moveTo>
                <a:cubicBezTo>
                  <a:pt x="0" y="15548"/>
                  <a:pt x="15548" y="0"/>
                  <a:pt x="34727" y="0"/>
                </a:cubicBezTo>
                <a:lnTo>
                  <a:pt x="194469" y="0"/>
                </a:lnTo>
                <a:cubicBezTo>
                  <a:pt x="213648" y="0"/>
                  <a:pt x="229195" y="15548"/>
                  <a:pt x="229195" y="34727"/>
                </a:cubicBezTo>
                <a:lnTo>
                  <a:pt x="229195" y="232668"/>
                </a:lnTo>
                <a:cubicBezTo>
                  <a:pt x="229195" y="238421"/>
                  <a:pt x="224531" y="243086"/>
                  <a:pt x="218777" y="243086"/>
                </a:cubicBezTo>
                <a:lnTo>
                  <a:pt x="20836" y="243086"/>
                </a:lnTo>
                <a:cubicBezTo>
                  <a:pt x="20836" y="250758"/>
                  <a:pt x="27055" y="256977"/>
                  <a:pt x="34727" y="256977"/>
                </a:cubicBezTo>
                <a:lnTo>
                  <a:pt x="218777" y="256977"/>
                </a:lnTo>
                <a:cubicBezTo>
                  <a:pt x="224531" y="256977"/>
                  <a:pt x="229195" y="261641"/>
                  <a:pt x="229195" y="267395"/>
                </a:cubicBezTo>
                <a:cubicBezTo>
                  <a:pt x="229195" y="273148"/>
                  <a:pt x="224531" y="277813"/>
                  <a:pt x="218777" y="277813"/>
                </a:cubicBezTo>
                <a:lnTo>
                  <a:pt x="34727" y="277813"/>
                </a:lnTo>
                <a:cubicBezTo>
                  <a:pt x="15548" y="277813"/>
                  <a:pt x="0" y="262265"/>
                  <a:pt x="0" y="243086"/>
                </a:cubicBezTo>
                <a:lnTo>
                  <a:pt x="0" y="34727"/>
                </a:lnTo>
                <a:close/>
                <a:moveTo>
                  <a:pt x="150283" y="136059"/>
                </a:moveTo>
                <a:cubicBezTo>
                  <a:pt x="166171" y="112315"/>
                  <a:pt x="159802" y="80187"/>
                  <a:pt x="136059" y="64299"/>
                </a:cubicBezTo>
                <a:cubicBezTo>
                  <a:pt x="112315" y="48411"/>
                  <a:pt x="80187" y="54780"/>
                  <a:pt x="64299" y="78523"/>
                </a:cubicBezTo>
                <a:cubicBezTo>
                  <a:pt x="48411" y="102267"/>
                  <a:pt x="54780" y="134395"/>
                  <a:pt x="78523" y="150283"/>
                </a:cubicBezTo>
                <a:cubicBezTo>
                  <a:pt x="95933" y="161933"/>
                  <a:pt x="118650" y="161933"/>
                  <a:pt x="136059" y="150283"/>
                </a:cubicBezTo>
                <a:lnTo>
                  <a:pt x="170452" y="184662"/>
                </a:lnTo>
                <a:lnTo>
                  <a:pt x="171383" y="185468"/>
                </a:lnTo>
                <a:lnTo>
                  <a:pt x="171494" y="185551"/>
                </a:lnTo>
                <a:cubicBezTo>
                  <a:pt x="175990" y="188812"/>
                  <a:pt x="182278" y="187811"/>
                  <a:pt x="185540" y="183315"/>
                </a:cubicBezTo>
                <a:cubicBezTo>
                  <a:pt x="188421" y="179343"/>
                  <a:pt x="188014" y="173872"/>
                  <a:pt x="184579" y="170369"/>
                </a:cubicBezTo>
                <a:lnTo>
                  <a:pt x="150269" y="136059"/>
                </a:lnTo>
                <a:close/>
              </a:path>
            </a:pathLst>
          </a:custGeom>
          <a:solidFill>
            <a:schemeClr val="bg1"/>
          </a:solidFill>
          <a:ln w="1389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D63D0DD-A9E5-2694-1F1E-91912C044E6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951663" y="1293667"/>
            <a:ext cx="4338085" cy="73866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Comprehensive 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search solution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4118B5F-4119-1F5D-89EC-B11BD2E08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539563" y="2453667"/>
            <a:ext cx="6069825" cy="0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1B098E7-B1CE-EC12-1FE5-261F38E98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965974" y="2738634"/>
            <a:ext cx="642071" cy="642071"/>
          </a:xfrm>
          <a:prstGeom prst="ellipse">
            <a:avLst/>
          </a:prstGeom>
          <a:gradFill flip="none" rotWithShape="1">
            <a:gsLst>
              <a:gs pos="80000">
                <a:srgbClr val="0A6BBA"/>
              </a:gs>
              <a:gs pos="0">
                <a:srgbClr val="AC35AF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2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60FEA46-4B10-2B5F-9BB0-432D79448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82830" y="2924236"/>
            <a:ext cx="208359" cy="270867"/>
            <a:chOff x="5183781" y="3870561"/>
            <a:chExt cx="208359" cy="270867"/>
          </a:xfrm>
          <a:solidFill>
            <a:schemeClr val="bg1"/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752C5A-FC55-B6F8-AAE2-6212D262D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83781" y="3870561"/>
              <a:ext cx="208359" cy="270867"/>
            </a:xfrm>
            <a:custGeom>
              <a:avLst/>
              <a:gdLst>
                <a:gd name="connsiteX0" fmla="*/ 31254 w 208359"/>
                <a:gd name="connsiteY0" fmla="*/ 0 h 270867"/>
                <a:gd name="connsiteX1" fmla="*/ 0 w 208359"/>
                <a:gd name="connsiteY1" fmla="*/ 31254 h 270867"/>
                <a:gd name="connsiteX2" fmla="*/ 0 w 208359"/>
                <a:gd name="connsiteY2" fmla="*/ 260449 h 270867"/>
                <a:gd name="connsiteX3" fmla="*/ 10418 w 208359"/>
                <a:gd name="connsiteY3" fmla="*/ 270867 h 270867"/>
                <a:gd name="connsiteX4" fmla="*/ 41672 w 208359"/>
                <a:gd name="connsiteY4" fmla="*/ 270867 h 270867"/>
                <a:gd name="connsiteX5" fmla="*/ 41672 w 208359"/>
                <a:gd name="connsiteY5" fmla="*/ 211832 h 270867"/>
                <a:gd name="connsiteX6" fmla="*/ 52090 w 208359"/>
                <a:gd name="connsiteY6" fmla="*/ 201414 h 270867"/>
                <a:gd name="connsiteX7" fmla="*/ 156270 w 208359"/>
                <a:gd name="connsiteY7" fmla="*/ 201414 h 270867"/>
                <a:gd name="connsiteX8" fmla="*/ 166688 w 208359"/>
                <a:gd name="connsiteY8" fmla="*/ 211832 h 270867"/>
                <a:gd name="connsiteX9" fmla="*/ 166688 w 208359"/>
                <a:gd name="connsiteY9" fmla="*/ 270867 h 270867"/>
                <a:gd name="connsiteX10" fmla="*/ 197941 w 208359"/>
                <a:gd name="connsiteY10" fmla="*/ 270867 h 270867"/>
                <a:gd name="connsiteX11" fmla="*/ 208359 w 208359"/>
                <a:gd name="connsiteY11" fmla="*/ 260449 h 270867"/>
                <a:gd name="connsiteX12" fmla="*/ 208359 w 208359"/>
                <a:gd name="connsiteY12" fmla="*/ 135434 h 270867"/>
                <a:gd name="connsiteX13" fmla="*/ 177105 w 208359"/>
                <a:gd name="connsiteY13" fmla="*/ 104180 h 270867"/>
                <a:gd name="connsiteX14" fmla="*/ 166688 w 208359"/>
                <a:gd name="connsiteY14" fmla="*/ 104180 h 270867"/>
                <a:gd name="connsiteX15" fmla="*/ 166688 w 208359"/>
                <a:gd name="connsiteY15" fmla="*/ 31254 h 270867"/>
                <a:gd name="connsiteX16" fmla="*/ 135434 w 208359"/>
                <a:gd name="connsiteY16" fmla="*/ 0 h 270867"/>
                <a:gd name="connsiteX17" fmla="*/ 31254 w 208359"/>
                <a:gd name="connsiteY17" fmla="*/ 0 h 270867"/>
                <a:gd name="connsiteX18" fmla="*/ 41672 w 208359"/>
                <a:gd name="connsiteY18" fmla="*/ 62508 h 270867"/>
                <a:gd name="connsiteX19" fmla="*/ 55563 w 208359"/>
                <a:gd name="connsiteY19" fmla="*/ 48617 h 270867"/>
                <a:gd name="connsiteX20" fmla="*/ 69453 w 208359"/>
                <a:gd name="connsiteY20" fmla="*/ 62508 h 270867"/>
                <a:gd name="connsiteX21" fmla="*/ 55563 w 208359"/>
                <a:gd name="connsiteY21" fmla="*/ 76398 h 270867"/>
                <a:gd name="connsiteX22" fmla="*/ 41672 w 208359"/>
                <a:gd name="connsiteY22" fmla="*/ 62508 h 270867"/>
                <a:gd name="connsiteX23" fmla="*/ 55563 w 208359"/>
                <a:gd name="connsiteY23" fmla="*/ 145852 h 270867"/>
                <a:gd name="connsiteX24" fmla="*/ 69453 w 208359"/>
                <a:gd name="connsiteY24" fmla="*/ 159742 h 270867"/>
                <a:gd name="connsiteX25" fmla="*/ 55563 w 208359"/>
                <a:gd name="connsiteY25" fmla="*/ 173633 h 270867"/>
                <a:gd name="connsiteX26" fmla="*/ 41672 w 208359"/>
                <a:gd name="connsiteY26" fmla="*/ 159742 h 270867"/>
                <a:gd name="connsiteX27" fmla="*/ 55563 w 208359"/>
                <a:gd name="connsiteY27" fmla="*/ 145852 h 270867"/>
                <a:gd name="connsiteX28" fmla="*/ 41672 w 208359"/>
                <a:gd name="connsiteY28" fmla="*/ 111125 h 270867"/>
                <a:gd name="connsiteX29" fmla="*/ 55563 w 208359"/>
                <a:gd name="connsiteY29" fmla="*/ 97234 h 270867"/>
                <a:gd name="connsiteX30" fmla="*/ 69453 w 208359"/>
                <a:gd name="connsiteY30" fmla="*/ 111125 h 270867"/>
                <a:gd name="connsiteX31" fmla="*/ 55563 w 208359"/>
                <a:gd name="connsiteY31" fmla="*/ 125016 h 270867"/>
                <a:gd name="connsiteX32" fmla="*/ 41672 w 208359"/>
                <a:gd name="connsiteY32" fmla="*/ 111125 h 270867"/>
                <a:gd name="connsiteX33" fmla="*/ 104180 w 208359"/>
                <a:gd name="connsiteY33" fmla="*/ 48617 h 270867"/>
                <a:gd name="connsiteX34" fmla="*/ 118070 w 208359"/>
                <a:gd name="connsiteY34" fmla="*/ 62508 h 270867"/>
                <a:gd name="connsiteX35" fmla="*/ 104180 w 208359"/>
                <a:gd name="connsiteY35" fmla="*/ 76398 h 270867"/>
                <a:gd name="connsiteX36" fmla="*/ 90289 w 208359"/>
                <a:gd name="connsiteY36" fmla="*/ 62508 h 270867"/>
                <a:gd name="connsiteX37" fmla="*/ 104180 w 208359"/>
                <a:gd name="connsiteY37" fmla="*/ 48617 h 270867"/>
                <a:gd name="connsiteX38" fmla="*/ 90289 w 208359"/>
                <a:gd name="connsiteY38" fmla="*/ 159742 h 270867"/>
                <a:gd name="connsiteX39" fmla="*/ 104180 w 208359"/>
                <a:gd name="connsiteY39" fmla="*/ 145852 h 270867"/>
                <a:gd name="connsiteX40" fmla="*/ 118070 w 208359"/>
                <a:gd name="connsiteY40" fmla="*/ 159742 h 270867"/>
                <a:gd name="connsiteX41" fmla="*/ 104180 w 208359"/>
                <a:gd name="connsiteY41" fmla="*/ 173633 h 270867"/>
                <a:gd name="connsiteX42" fmla="*/ 90289 w 208359"/>
                <a:gd name="connsiteY42" fmla="*/ 159742 h 270867"/>
                <a:gd name="connsiteX43" fmla="*/ 152797 w 208359"/>
                <a:gd name="connsiteY43" fmla="*/ 145852 h 270867"/>
                <a:gd name="connsiteX44" fmla="*/ 166688 w 208359"/>
                <a:gd name="connsiteY44" fmla="*/ 159742 h 270867"/>
                <a:gd name="connsiteX45" fmla="*/ 152797 w 208359"/>
                <a:gd name="connsiteY45" fmla="*/ 173633 h 270867"/>
                <a:gd name="connsiteX46" fmla="*/ 138906 w 208359"/>
                <a:gd name="connsiteY46" fmla="*/ 159742 h 270867"/>
                <a:gd name="connsiteX47" fmla="*/ 152797 w 208359"/>
                <a:gd name="connsiteY47" fmla="*/ 145852 h 270867"/>
                <a:gd name="connsiteX48" fmla="*/ 90289 w 208359"/>
                <a:gd name="connsiteY48" fmla="*/ 111125 h 270867"/>
                <a:gd name="connsiteX49" fmla="*/ 104180 w 208359"/>
                <a:gd name="connsiteY49" fmla="*/ 97234 h 270867"/>
                <a:gd name="connsiteX50" fmla="*/ 118070 w 208359"/>
                <a:gd name="connsiteY50" fmla="*/ 111125 h 270867"/>
                <a:gd name="connsiteX51" fmla="*/ 104180 w 208359"/>
                <a:gd name="connsiteY51" fmla="*/ 125016 h 270867"/>
                <a:gd name="connsiteX52" fmla="*/ 90289 w 208359"/>
                <a:gd name="connsiteY52" fmla="*/ 111125 h 270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08359" h="270867">
                  <a:moveTo>
                    <a:pt x="31254" y="0"/>
                  </a:moveTo>
                  <a:cubicBezTo>
                    <a:pt x="13993" y="0"/>
                    <a:pt x="0" y="13993"/>
                    <a:pt x="0" y="31254"/>
                  </a:cubicBezTo>
                  <a:lnTo>
                    <a:pt x="0" y="260449"/>
                  </a:lnTo>
                  <a:cubicBezTo>
                    <a:pt x="0" y="266200"/>
                    <a:pt x="4667" y="270867"/>
                    <a:pt x="10418" y="270867"/>
                  </a:cubicBezTo>
                  <a:lnTo>
                    <a:pt x="41672" y="270867"/>
                  </a:lnTo>
                  <a:lnTo>
                    <a:pt x="41672" y="211832"/>
                  </a:lnTo>
                  <a:cubicBezTo>
                    <a:pt x="41672" y="206079"/>
                    <a:pt x="46336" y="201414"/>
                    <a:pt x="52090" y="201414"/>
                  </a:cubicBezTo>
                  <a:lnTo>
                    <a:pt x="156270" y="201414"/>
                  </a:lnTo>
                  <a:cubicBezTo>
                    <a:pt x="162023" y="201414"/>
                    <a:pt x="166688" y="206079"/>
                    <a:pt x="166688" y="211832"/>
                  </a:cubicBezTo>
                  <a:lnTo>
                    <a:pt x="166688" y="270867"/>
                  </a:lnTo>
                  <a:lnTo>
                    <a:pt x="197941" y="270867"/>
                  </a:lnTo>
                  <a:cubicBezTo>
                    <a:pt x="203695" y="270867"/>
                    <a:pt x="208359" y="266203"/>
                    <a:pt x="208359" y="260449"/>
                  </a:cubicBezTo>
                  <a:lnTo>
                    <a:pt x="208359" y="135434"/>
                  </a:lnTo>
                  <a:cubicBezTo>
                    <a:pt x="208359" y="118173"/>
                    <a:pt x="194366" y="104180"/>
                    <a:pt x="177105" y="104180"/>
                  </a:cubicBezTo>
                  <a:lnTo>
                    <a:pt x="166688" y="104180"/>
                  </a:lnTo>
                  <a:lnTo>
                    <a:pt x="166688" y="31254"/>
                  </a:lnTo>
                  <a:cubicBezTo>
                    <a:pt x="166688" y="13993"/>
                    <a:pt x="152694" y="0"/>
                    <a:pt x="135434" y="0"/>
                  </a:cubicBezTo>
                  <a:lnTo>
                    <a:pt x="31254" y="0"/>
                  </a:lnTo>
                  <a:close/>
                  <a:moveTo>
                    <a:pt x="41672" y="62508"/>
                  </a:moveTo>
                  <a:cubicBezTo>
                    <a:pt x="41672" y="54836"/>
                    <a:pt x="47891" y="48617"/>
                    <a:pt x="55563" y="48617"/>
                  </a:cubicBezTo>
                  <a:cubicBezTo>
                    <a:pt x="63234" y="48617"/>
                    <a:pt x="69453" y="54836"/>
                    <a:pt x="69453" y="62508"/>
                  </a:cubicBezTo>
                  <a:cubicBezTo>
                    <a:pt x="69453" y="70179"/>
                    <a:pt x="63234" y="76398"/>
                    <a:pt x="55563" y="76398"/>
                  </a:cubicBezTo>
                  <a:cubicBezTo>
                    <a:pt x="47891" y="76398"/>
                    <a:pt x="41672" y="70179"/>
                    <a:pt x="41672" y="62508"/>
                  </a:cubicBezTo>
                  <a:close/>
                  <a:moveTo>
                    <a:pt x="55563" y="145852"/>
                  </a:moveTo>
                  <a:cubicBezTo>
                    <a:pt x="63234" y="145852"/>
                    <a:pt x="69453" y="152070"/>
                    <a:pt x="69453" y="159742"/>
                  </a:cubicBezTo>
                  <a:cubicBezTo>
                    <a:pt x="69453" y="167414"/>
                    <a:pt x="63234" y="173633"/>
                    <a:pt x="55563" y="173633"/>
                  </a:cubicBezTo>
                  <a:cubicBezTo>
                    <a:pt x="47891" y="173633"/>
                    <a:pt x="41672" y="167414"/>
                    <a:pt x="41672" y="159742"/>
                  </a:cubicBezTo>
                  <a:cubicBezTo>
                    <a:pt x="41672" y="152070"/>
                    <a:pt x="47891" y="145852"/>
                    <a:pt x="55563" y="145852"/>
                  </a:cubicBezTo>
                  <a:close/>
                  <a:moveTo>
                    <a:pt x="41672" y="111125"/>
                  </a:moveTo>
                  <a:cubicBezTo>
                    <a:pt x="41672" y="103453"/>
                    <a:pt x="47891" y="97234"/>
                    <a:pt x="55563" y="97234"/>
                  </a:cubicBezTo>
                  <a:cubicBezTo>
                    <a:pt x="63234" y="97234"/>
                    <a:pt x="69453" y="103453"/>
                    <a:pt x="69453" y="111125"/>
                  </a:cubicBezTo>
                  <a:cubicBezTo>
                    <a:pt x="69453" y="118797"/>
                    <a:pt x="63234" y="125016"/>
                    <a:pt x="55563" y="125016"/>
                  </a:cubicBezTo>
                  <a:cubicBezTo>
                    <a:pt x="47891" y="125016"/>
                    <a:pt x="41672" y="118797"/>
                    <a:pt x="41672" y="111125"/>
                  </a:cubicBezTo>
                  <a:close/>
                  <a:moveTo>
                    <a:pt x="104180" y="48617"/>
                  </a:moveTo>
                  <a:cubicBezTo>
                    <a:pt x="111851" y="48617"/>
                    <a:pt x="118070" y="54836"/>
                    <a:pt x="118070" y="62508"/>
                  </a:cubicBezTo>
                  <a:cubicBezTo>
                    <a:pt x="118070" y="70179"/>
                    <a:pt x="111851" y="76398"/>
                    <a:pt x="104180" y="76398"/>
                  </a:cubicBezTo>
                  <a:cubicBezTo>
                    <a:pt x="96508" y="76398"/>
                    <a:pt x="90289" y="70179"/>
                    <a:pt x="90289" y="62508"/>
                  </a:cubicBezTo>
                  <a:cubicBezTo>
                    <a:pt x="90289" y="54836"/>
                    <a:pt x="96508" y="48617"/>
                    <a:pt x="104180" y="48617"/>
                  </a:cubicBezTo>
                  <a:close/>
                  <a:moveTo>
                    <a:pt x="90289" y="159742"/>
                  </a:moveTo>
                  <a:cubicBezTo>
                    <a:pt x="90289" y="152070"/>
                    <a:pt x="96508" y="145852"/>
                    <a:pt x="104180" y="145852"/>
                  </a:cubicBezTo>
                  <a:cubicBezTo>
                    <a:pt x="111851" y="145852"/>
                    <a:pt x="118070" y="152070"/>
                    <a:pt x="118070" y="159742"/>
                  </a:cubicBezTo>
                  <a:cubicBezTo>
                    <a:pt x="118070" y="167414"/>
                    <a:pt x="111851" y="173633"/>
                    <a:pt x="104180" y="173633"/>
                  </a:cubicBezTo>
                  <a:cubicBezTo>
                    <a:pt x="96508" y="173633"/>
                    <a:pt x="90289" y="167414"/>
                    <a:pt x="90289" y="159742"/>
                  </a:cubicBezTo>
                  <a:close/>
                  <a:moveTo>
                    <a:pt x="152797" y="145852"/>
                  </a:moveTo>
                  <a:cubicBezTo>
                    <a:pt x="160469" y="145852"/>
                    <a:pt x="166688" y="152070"/>
                    <a:pt x="166688" y="159742"/>
                  </a:cubicBezTo>
                  <a:cubicBezTo>
                    <a:pt x="166688" y="167414"/>
                    <a:pt x="160469" y="173633"/>
                    <a:pt x="152797" y="173633"/>
                  </a:cubicBezTo>
                  <a:cubicBezTo>
                    <a:pt x="145125" y="173633"/>
                    <a:pt x="138906" y="167414"/>
                    <a:pt x="138906" y="159742"/>
                  </a:cubicBezTo>
                  <a:cubicBezTo>
                    <a:pt x="138906" y="152070"/>
                    <a:pt x="145125" y="145852"/>
                    <a:pt x="152797" y="145852"/>
                  </a:cubicBezTo>
                  <a:close/>
                  <a:moveTo>
                    <a:pt x="90289" y="111125"/>
                  </a:moveTo>
                  <a:cubicBezTo>
                    <a:pt x="90289" y="103453"/>
                    <a:pt x="96508" y="97234"/>
                    <a:pt x="104180" y="97234"/>
                  </a:cubicBezTo>
                  <a:cubicBezTo>
                    <a:pt x="111851" y="97234"/>
                    <a:pt x="118070" y="103453"/>
                    <a:pt x="118070" y="111125"/>
                  </a:cubicBezTo>
                  <a:cubicBezTo>
                    <a:pt x="118070" y="118797"/>
                    <a:pt x="111851" y="125016"/>
                    <a:pt x="104180" y="125016"/>
                  </a:cubicBezTo>
                  <a:cubicBezTo>
                    <a:pt x="96508" y="125016"/>
                    <a:pt x="90289" y="118797"/>
                    <a:pt x="90289" y="111125"/>
                  </a:cubicBezTo>
                  <a:close/>
                </a:path>
              </a:pathLst>
            </a:custGeom>
            <a:grpFill/>
            <a:ln w="138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EB56599-F1C6-8CE2-007A-CB9319983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46289" y="4092811"/>
              <a:ext cx="83343" cy="48617"/>
            </a:xfrm>
            <a:custGeom>
              <a:avLst/>
              <a:gdLst>
                <a:gd name="connsiteX0" fmla="*/ 83344 w 83343"/>
                <a:gd name="connsiteY0" fmla="*/ 48617 h 48617"/>
                <a:gd name="connsiteX1" fmla="*/ 83344 w 83343"/>
                <a:gd name="connsiteY1" fmla="*/ 0 h 48617"/>
                <a:gd name="connsiteX2" fmla="*/ 52090 w 83343"/>
                <a:gd name="connsiteY2" fmla="*/ 0 h 48617"/>
                <a:gd name="connsiteX3" fmla="*/ 52090 w 83343"/>
                <a:gd name="connsiteY3" fmla="*/ 48617 h 48617"/>
                <a:gd name="connsiteX4" fmla="*/ 83344 w 83343"/>
                <a:gd name="connsiteY4" fmla="*/ 48617 h 48617"/>
                <a:gd name="connsiteX5" fmla="*/ 31254 w 83343"/>
                <a:gd name="connsiteY5" fmla="*/ 48617 h 48617"/>
                <a:gd name="connsiteX6" fmla="*/ 31254 w 83343"/>
                <a:gd name="connsiteY6" fmla="*/ 0 h 48617"/>
                <a:gd name="connsiteX7" fmla="*/ 0 w 83343"/>
                <a:gd name="connsiteY7" fmla="*/ 0 h 48617"/>
                <a:gd name="connsiteX8" fmla="*/ 0 w 83343"/>
                <a:gd name="connsiteY8" fmla="*/ 48617 h 48617"/>
                <a:gd name="connsiteX9" fmla="*/ 31254 w 83343"/>
                <a:gd name="connsiteY9" fmla="*/ 48617 h 4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343" h="48617">
                  <a:moveTo>
                    <a:pt x="83344" y="48617"/>
                  </a:moveTo>
                  <a:lnTo>
                    <a:pt x="83344" y="0"/>
                  </a:lnTo>
                  <a:lnTo>
                    <a:pt x="52090" y="0"/>
                  </a:lnTo>
                  <a:lnTo>
                    <a:pt x="52090" y="48617"/>
                  </a:lnTo>
                  <a:lnTo>
                    <a:pt x="83344" y="48617"/>
                  </a:lnTo>
                  <a:close/>
                  <a:moveTo>
                    <a:pt x="31254" y="48617"/>
                  </a:moveTo>
                  <a:lnTo>
                    <a:pt x="31254" y="0"/>
                  </a:lnTo>
                  <a:lnTo>
                    <a:pt x="0" y="0"/>
                  </a:lnTo>
                  <a:lnTo>
                    <a:pt x="0" y="48617"/>
                  </a:lnTo>
                  <a:lnTo>
                    <a:pt x="31254" y="48617"/>
                  </a:lnTo>
                  <a:close/>
                </a:path>
              </a:pathLst>
            </a:custGeom>
            <a:grpFill/>
            <a:ln w="138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591B50BA-A1B2-20BE-9C4C-169DA59B757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951663" y="2875003"/>
            <a:ext cx="4338085" cy="36933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Enterprise-ready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A3327D-0EBA-931C-87B8-225B65C5C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539563" y="3665671"/>
            <a:ext cx="6069825" cy="0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3A79AF4E-5EC5-130C-F7EF-842C14526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965974" y="4504636"/>
            <a:ext cx="642071" cy="642071"/>
          </a:xfrm>
          <a:prstGeom prst="ellipse">
            <a:avLst/>
          </a:prstGeom>
          <a:gradFill flip="none" rotWithShape="1">
            <a:gsLst>
              <a:gs pos="80000">
                <a:srgbClr val="AC35AF"/>
              </a:gs>
              <a:gs pos="0">
                <a:srgbClr val="F65567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2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35" name="Graphic 25">
            <a:extLst>
              <a:ext uri="{FF2B5EF4-FFF2-40B4-BE49-F238E27FC236}">
                <a16:creationId xmlns:a16="http://schemas.microsoft.com/office/drawing/2014/main" id="{4B37C6AE-BA2F-644A-83C2-FF8CC74B8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2436" y="4696329"/>
            <a:ext cx="289146" cy="258685"/>
          </a:xfrm>
          <a:custGeom>
            <a:avLst/>
            <a:gdLst>
              <a:gd name="connsiteX0" fmla="*/ 0 w 289146"/>
              <a:gd name="connsiteY0" fmla="*/ 38199 h 258685"/>
              <a:gd name="connsiteX1" fmla="*/ 38199 w 289146"/>
              <a:gd name="connsiteY1" fmla="*/ 0 h 258685"/>
              <a:gd name="connsiteX2" fmla="*/ 239613 w 289146"/>
              <a:gd name="connsiteY2" fmla="*/ 0 h 258685"/>
              <a:gd name="connsiteX3" fmla="*/ 277813 w 289146"/>
              <a:gd name="connsiteY3" fmla="*/ 38199 h 258685"/>
              <a:gd name="connsiteX4" fmla="*/ 277813 w 289146"/>
              <a:gd name="connsiteY4" fmla="*/ 122376 h 258685"/>
              <a:gd name="connsiteX5" fmla="*/ 150151 w 289146"/>
              <a:gd name="connsiteY5" fmla="*/ 124938 h 258685"/>
              <a:gd name="connsiteX6" fmla="*/ 131933 w 289146"/>
              <a:gd name="connsiteY6" fmla="*/ 222250 h 258685"/>
              <a:gd name="connsiteX7" fmla="*/ 38199 w 289146"/>
              <a:gd name="connsiteY7" fmla="*/ 222250 h 258685"/>
              <a:gd name="connsiteX8" fmla="*/ 0 w 289146"/>
              <a:gd name="connsiteY8" fmla="*/ 184051 h 258685"/>
              <a:gd name="connsiteX9" fmla="*/ 0 w 289146"/>
              <a:gd name="connsiteY9" fmla="*/ 38199 h 258685"/>
              <a:gd name="connsiteX10" fmla="*/ 170549 w 289146"/>
              <a:gd name="connsiteY10" fmla="*/ 138559 h 258685"/>
              <a:gd name="connsiteX11" fmla="*/ 151577 w 289146"/>
              <a:gd name="connsiteY11" fmla="*/ 172963 h 258685"/>
              <a:gd name="connsiteX12" fmla="*/ 150533 w 289146"/>
              <a:gd name="connsiteY12" fmla="*/ 173244 h 258685"/>
              <a:gd name="connsiteX13" fmla="*/ 142421 w 289146"/>
              <a:gd name="connsiteY13" fmla="*/ 175244 h 258685"/>
              <a:gd name="connsiteX14" fmla="*/ 142504 w 289146"/>
              <a:gd name="connsiteY14" fmla="*/ 200344 h 258685"/>
              <a:gd name="connsiteX15" fmla="*/ 150005 w 289146"/>
              <a:gd name="connsiteY15" fmla="*/ 202150 h 258685"/>
              <a:gd name="connsiteX16" fmla="*/ 170507 w 289146"/>
              <a:gd name="connsiteY16" fmla="*/ 235664 h 258685"/>
              <a:gd name="connsiteX17" fmla="*/ 170146 w 289146"/>
              <a:gd name="connsiteY17" fmla="*/ 237016 h 258685"/>
              <a:gd name="connsiteX18" fmla="*/ 167549 w 289146"/>
              <a:gd name="connsiteY18" fmla="*/ 245795 h 258685"/>
              <a:gd name="connsiteX19" fmla="*/ 188162 w 289146"/>
              <a:gd name="connsiteY19" fmla="*/ 258588 h 258685"/>
              <a:gd name="connsiteX20" fmla="*/ 195024 w 289146"/>
              <a:gd name="connsiteY20" fmla="*/ 251393 h 258685"/>
              <a:gd name="connsiteX21" fmla="*/ 234300 w 289146"/>
              <a:gd name="connsiteY21" fmla="*/ 250399 h 258685"/>
              <a:gd name="connsiteX22" fmla="*/ 235293 w 289146"/>
              <a:gd name="connsiteY22" fmla="*/ 251393 h 258685"/>
              <a:gd name="connsiteX23" fmla="*/ 242211 w 289146"/>
              <a:gd name="connsiteY23" fmla="*/ 258685 h 258685"/>
              <a:gd name="connsiteX24" fmla="*/ 262811 w 289146"/>
              <a:gd name="connsiteY24" fmla="*/ 246003 h 258685"/>
              <a:gd name="connsiteX25" fmla="*/ 260060 w 289146"/>
              <a:gd name="connsiteY25" fmla="*/ 236474 h 258685"/>
              <a:gd name="connsiteX26" fmla="*/ 279049 w 289146"/>
              <a:gd name="connsiteY26" fmla="*/ 202078 h 258685"/>
              <a:gd name="connsiteX27" fmla="*/ 280077 w 289146"/>
              <a:gd name="connsiteY27" fmla="*/ 201803 h 258685"/>
              <a:gd name="connsiteX28" fmla="*/ 288189 w 289146"/>
              <a:gd name="connsiteY28" fmla="*/ 199803 h 258685"/>
              <a:gd name="connsiteX29" fmla="*/ 288105 w 289146"/>
              <a:gd name="connsiteY29" fmla="*/ 174689 h 258685"/>
              <a:gd name="connsiteX30" fmla="*/ 280605 w 289146"/>
              <a:gd name="connsiteY30" fmla="*/ 172883 h 258685"/>
              <a:gd name="connsiteX31" fmla="*/ 260102 w 289146"/>
              <a:gd name="connsiteY31" fmla="*/ 139369 h 258685"/>
              <a:gd name="connsiteX32" fmla="*/ 260463 w 289146"/>
              <a:gd name="connsiteY32" fmla="*/ 138017 h 258685"/>
              <a:gd name="connsiteX33" fmla="*/ 263061 w 289146"/>
              <a:gd name="connsiteY33" fmla="*/ 129266 h 258685"/>
              <a:gd name="connsiteX34" fmla="*/ 242447 w 289146"/>
              <a:gd name="connsiteY34" fmla="*/ 116445 h 258685"/>
              <a:gd name="connsiteX35" fmla="*/ 235599 w 289146"/>
              <a:gd name="connsiteY35" fmla="*/ 123654 h 258685"/>
              <a:gd name="connsiteX36" fmla="*/ 196323 w 289146"/>
              <a:gd name="connsiteY36" fmla="*/ 124661 h 258685"/>
              <a:gd name="connsiteX37" fmla="*/ 195316 w 289146"/>
              <a:gd name="connsiteY37" fmla="*/ 123654 h 258685"/>
              <a:gd name="connsiteX38" fmla="*/ 188399 w 289146"/>
              <a:gd name="connsiteY38" fmla="*/ 116362 h 258685"/>
              <a:gd name="connsiteX39" fmla="*/ 167799 w 289146"/>
              <a:gd name="connsiteY39" fmla="*/ 129030 h 258685"/>
              <a:gd name="connsiteX40" fmla="*/ 170549 w 289146"/>
              <a:gd name="connsiteY40" fmla="*/ 138559 h 258685"/>
              <a:gd name="connsiteX41" fmla="*/ 215305 w 289146"/>
              <a:gd name="connsiteY41" fmla="*/ 208359 h 258685"/>
              <a:gd name="connsiteX42" fmla="*/ 195163 w 289146"/>
              <a:gd name="connsiteY42" fmla="*/ 187523 h 258685"/>
              <a:gd name="connsiteX43" fmla="*/ 215305 w 289146"/>
              <a:gd name="connsiteY43" fmla="*/ 166688 h 258685"/>
              <a:gd name="connsiteX44" fmla="*/ 235446 w 289146"/>
              <a:gd name="connsiteY44" fmla="*/ 187523 h 258685"/>
              <a:gd name="connsiteX45" fmla="*/ 215305 w 289146"/>
              <a:gd name="connsiteY45" fmla="*/ 208359 h 258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89146" h="258685">
                <a:moveTo>
                  <a:pt x="0" y="38199"/>
                </a:moveTo>
                <a:cubicBezTo>
                  <a:pt x="0" y="17102"/>
                  <a:pt x="17102" y="0"/>
                  <a:pt x="38199" y="0"/>
                </a:cubicBezTo>
                <a:lnTo>
                  <a:pt x="239613" y="0"/>
                </a:lnTo>
                <a:cubicBezTo>
                  <a:pt x="260710" y="0"/>
                  <a:pt x="277813" y="17102"/>
                  <a:pt x="277813" y="38199"/>
                </a:cubicBezTo>
                <a:lnTo>
                  <a:pt x="277813" y="122376"/>
                </a:lnTo>
                <a:cubicBezTo>
                  <a:pt x="241852" y="87830"/>
                  <a:pt x="184695" y="88978"/>
                  <a:pt x="150151" y="124938"/>
                </a:cubicBezTo>
                <a:cubicBezTo>
                  <a:pt x="125250" y="150858"/>
                  <a:pt x="118095" y="189078"/>
                  <a:pt x="131933" y="222250"/>
                </a:cubicBezTo>
                <a:lnTo>
                  <a:pt x="38199" y="222250"/>
                </a:lnTo>
                <a:cubicBezTo>
                  <a:pt x="17102" y="222250"/>
                  <a:pt x="0" y="205148"/>
                  <a:pt x="0" y="184051"/>
                </a:cubicBezTo>
                <a:lnTo>
                  <a:pt x="0" y="38199"/>
                </a:lnTo>
                <a:close/>
                <a:moveTo>
                  <a:pt x="170549" y="138559"/>
                </a:moveTo>
                <a:cubicBezTo>
                  <a:pt x="174811" y="153298"/>
                  <a:pt x="166317" y="168702"/>
                  <a:pt x="151577" y="172963"/>
                </a:cubicBezTo>
                <a:cubicBezTo>
                  <a:pt x="151231" y="173063"/>
                  <a:pt x="150883" y="173158"/>
                  <a:pt x="150533" y="173244"/>
                </a:cubicBezTo>
                <a:lnTo>
                  <a:pt x="142421" y="175244"/>
                </a:lnTo>
                <a:cubicBezTo>
                  <a:pt x="141120" y="183563"/>
                  <a:pt x="141148" y="192035"/>
                  <a:pt x="142504" y="200344"/>
                </a:cubicBezTo>
                <a:lnTo>
                  <a:pt x="150005" y="202150"/>
                </a:lnTo>
                <a:cubicBezTo>
                  <a:pt x="164922" y="205744"/>
                  <a:pt x="174101" y="220748"/>
                  <a:pt x="170507" y="235664"/>
                </a:cubicBezTo>
                <a:cubicBezTo>
                  <a:pt x="170399" y="236118"/>
                  <a:pt x="170278" y="236568"/>
                  <a:pt x="170146" y="237016"/>
                </a:cubicBezTo>
                <a:lnTo>
                  <a:pt x="167549" y="245795"/>
                </a:lnTo>
                <a:cubicBezTo>
                  <a:pt x="173661" y="251156"/>
                  <a:pt x="180606" y="255504"/>
                  <a:pt x="188162" y="258588"/>
                </a:cubicBezTo>
                <a:lnTo>
                  <a:pt x="195024" y="251393"/>
                </a:lnTo>
                <a:cubicBezTo>
                  <a:pt x="205597" y="240273"/>
                  <a:pt x="223181" y="239829"/>
                  <a:pt x="234300" y="250399"/>
                </a:cubicBezTo>
                <a:cubicBezTo>
                  <a:pt x="234639" y="250722"/>
                  <a:pt x="234971" y="251054"/>
                  <a:pt x="235293" y="251393"/>
                </a:cubicBezTo>
                <a:lnTo>
                  <a:pt x="242211" y="258685"/>
                </a:lnTo>
                <a:cubicBezTo>
                  <a:pt x="249733" y="255626"/>
                  <a:pt x="256693" y="251341"/>
                  <a:pt x="262811" y="246003"/>
                </a:cubicBezTo>
                <a:lnTo>
                  <a:pt x="260060" y="236474"/>
                </a:lnTo>
                <a:cubicBezTo>
                  <a:pt x="255806" y="221732"/>
                  <a:pt x="264307" y="206333"/>
                  <a:pt x="279049" y="202078"/>
                </a:cubicBezTo>
                <a:cubicBezTo>
                  <a:pt x="279389" y="201981"/>
                  <a:pt x="279732" y="201888"/>
                  <a:pt x="280077" y="201803"/>
                </a:cubicBezTo>
                <a:lnTo>
                  <a:pt x="288189" y="199803"/>
                </a:lnTo>
                <a:cubicBezTo>
                  <a:pt x="289493" y="191479"/>
                  <a:pt x="289465" y="183002"/>
                  <a:pt x="288105" y="174689"/>
                </a:cubicBezTo>
                <a:lnTo>
                  <a:pt x="280605" y="172883"/>
                </a:lnTo>
                <a:cubicBezTo>
                  <a:pt x="265687" y="169289"/>
                  <a:pt x="256508" y="154285"/>
                  <a:pt x="260102" y="139369"/>
                </a:cubicBezTo>
                <a:cubicBezTo>
                  <a:pt x="260210" y="138915"/>
                  <a:pt x="260331" y="138465"/>
                  <a:pt x="260463" y="138017"/>
                </a:cubicBezTo>
                <a:lnTo>
                  <a:pt x="263061" y="129266"/>
                </a:lnTo>
                <a:cubicBezTo>
                  <a:pt x="256950" y="123877"/>
                  <a:pt x="249983" y="119544"/>
                  <a:pt x="242447" y="116445"/>
                </a:cubicBezTo>
                <a:lnTo>
                  <a:pt x="235599" y="123654"/>
                </a:lnTo>
                <a:cubicBezTo>
                  <a:pt x="225031" y="134778"/>
                  <a:pt x="207447" y="135229"/>
                  <a:pt x="196323" y="124661"/>
                </a:cubicBezTo>
                <a:cubicBezTo>
                  <a:pt x="195979" y="124335"/>
                  <a:pt x="195643" y="123999"/>
                  <a:pt x="195316" y="123654"/>
                </a:cubicBezTo>
                <a:lnTo>
                  <a:pt x="188399" y="116362"/>
                </a:lnTo>
                <a:cubicBezTo>
                  <a:pt x="180842" y="119418"/>
                  <a:pt x="173897" y="123724"/>
                  <a:pt x="167799" y="129030"/>
                </a:cubicBezTo>
                <a:lnTo>
                  <a:pt x="170549" y="138559"/>
                </a:lnTo>
                <a:close/>
                <a:moveTo>
                  <a:pt x="215305" y="208359"/>
                </a:moveTo>
                <a:cubicBezTo>
                  <a:pt x="204192" y="208359"/>
                  <a:pt x="195163" y="199025"/>
                  <a:pt x="195163" y="187523"/>
                </a:cubicBezTo>
                <a:cubicBezTo>
                  <a:pt x="195163" y="176008"/>
                  <a:pt x="204192" y="166688"/>
                  <a:pt x="215305" y="166688"/>
                </a:cubicBezTo>
                <a:cubicBezTo>
                  <a:pt x="226417" y="166688"/>
                  <a:pt x="235446" y="176008"/>
                  <a:pt x="235446" y="187523"/>
                </a:cubicBezTo>
                <a:cubicBezTo>
                  <a:pt x="235446" y="199025"/>
                  <a:pt x="226417" y="208359"/>
                  <a:pt x="215305" y="208359"/>
                </a:cubicBezTo>
                <a:close/>
              </a:path>
            </a:pathLst>
          </a:custGeom>
          <a:solidFill>
            <a:schemeClr val="bg1"/>
          </a:solidFill>
          <a:ln w="1389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E66FC7D8-7728-8547-7BEA-A97852C8C17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951663" y="4087007"/>
            <a:ext cx="4338085" cy="147732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Integrated with Semantic Kernel,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LangChain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,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LlamaIndex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, Azure OpenAI, Azure AI Studio, and more</a:t>
            </a:r>
          </a:p>
        </p:txBody>
      </p:sp>
    </p:spTree>
    <p:extLst>
      <p:ext uri="{BB962C8B-B14F-4D97-AF65-F5344CB8AC3E}">
        <p14:creationId xmlns:p14="http://schemas.microsoft.com/office/powerpoint/2010/main" val="381527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16-EEF1-A295-3E0F-C75904D9E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Azure AI Search Query Pipeline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22314E1-627A-46E0-33FB-EE07EC88E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8263" y="4536476"/>
            <a:ext cx="11018520" cy="0"/>
          </a:xfrm>
          <a:prstGeom prst="line">
            <a:avLst/>
          </a:prstGeom>
          <a:noFill/>
          <a:ln w="12700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2" descr="diagram">
            <a:extLst>
              <a:ext uri="{FF2B5EF4-FFF2-40B4-BE49-F238E27FC236}">
                <a16:creationId xmlns:a16="http://schemas.microsoft.com/office/drawing/2014/main" id="{06130A49-1DF4-F155-E0C0-ACA45CF02CF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81154" y="1441346"/>
            <a:ext cx="11022583" cy="4832350"/>
          </a:xfrm>
          <a:prstGeom prst="roundRect">
            <a:avLst>
              <a:gd name="adj" fmla="val 3167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320040" rIns="0" bIns="0" rtlCol="0" anchor="t" anchorCtr="0">
            <a:noAutofit/>
          </a:bodyPr>
          <a:lstStyle>
            <a:defPPr>
              <a:defRPr lang="en-US"/>
            </a:defPPr>
            <a:lvl1pPr algn="ctr" defTabSz="1427220">
              <a:spcBef>
                <a:spcPts val="400"/>
              </a:spcBef>
              <a:defRPr sz="4000" spc="-50">
                <a:gradFill>
                  <a:gsLst>
                    <a:gs pos="80460">
                      <a:srgbClr val="000000"/>
                    </a:gs>
                    <a:gs pos="59551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old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7D3613C-9F2E-24EB-0C87-AB1F9CFE6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92676" y="2321917"/>
            <a:ext cx="2413756" cy="365760"/>
          </a:xfrm>
          <a:prstGeom prst="roundRect">
            <a:avLst/>
          </a:prstGeom>
          <a:solidFill>
            <a:srgbClr val="EEE5E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Query Rewriting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C1CD4C8-62B2-5CF0-7471-77BE275FA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92676" y="1736995"/>
            <a:ext cx="2413756" cy="36576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Query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CCD17F-E7F6-81D6-0AEA-1803EA25E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32" idx="0"/>
            <a:endCxn id="13" idx="2"/>
          </p:cNvCxnSpPr>
          <p:nvPr/>
        </p:nvCxnSpPr>
        <p:spPr>
          <a:xfrm flipV="1">
            <a:off x="6099554" y="2102755"/>
            <a:ext cx="0" cy="219162"/>
          </a:xfrm>
          <a:prstGeom prst="line">
            <a:avLst/>
          </a:prstGeom>
          <a:ln w="19050" cap="rnd">
            <a:solidFill>
              <a:schemeClr val="tx1"/>
            </a:solidFill>
            <a:headEnd type="arrow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916D606-2DFE-5679-4004-8CB280922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07065" y="2335767"/>
            <a:ext cx="2382571" cy="441146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32449">
              <a:spcBef>
                <a:spcPts val="200"/>
              </a:spcBef>
              <a:defRPr sz="2400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L0: </a:t>
            </a:r>
          </a:p>
          <a:p>
            <a:pPr marL="0" marR="0" lvl="0" indent="0" algn="l" defTabSz="932449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Query Preprocessing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8B8596F-25B8-2674-5F9A-76C2955F5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85060" y="2504797"/>
            <a:ext cx="1507616" cy="402042"/>
            <a:chOff x="3385060" y="2504797"/>
            <a:chExt cx="1507616" cy="402042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CFAF88A-23BC-75A4-9B2E-91466EF586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32" idx="1"/>
            </p:cNvCxnSpPr>
            <p:nvPr/>
          </p:nvCxnSpPr>
          <p:spPr>
            <a:xfrm>
              <a:off x="3385060" y="2504797"/>
              <a:ext cx="1507616" cy="0"/>
            </a:xfrm>
            <a:prstGeom prst="line">
              <a:avLst/>
            </a:prstGeom>
            <a:ln w="19050" cap="rnd">
              <a:solidFill>
                <a:schemeClr val="tx1"/>
              </a:solidFill>
              <a:headEnd type="none" w="lg" len="sm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EBF35D8-245C-FB10-3947-498FFF275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flipV="1">
              <a:off x="3385061" y="2504797"/>
              <a:ext cx="0" cy="402042"/>
            </a:xfrm>
            <a:prstGeom prst="line">
              <a:avLst/>
            </a:prstGeom>
            <a:ln w="19050" cap="rnd">
              <a:solidFill>
                <a:schemeClr val="tx1"/>
              </a:solidFill>
              <a:headEnd type="arrow" w="lg" len="sm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97CD164-9EFC-02B6-368C-F4EC3F7D9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06432" y="2504797"/>
            <a:ext cx="1507616" cy="402042"/>
            <a:chOff x="7306432" y="2504797"/>
            <a:chExt cx="1507616" cy="402042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73F63EC-5D23-60CC-C605-6079F3409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>
              <a:off x="7306432" y="2504797"/>
              <a:ext cx="1507616" cy="0"/>
            </a:xfrm>
            <a:prstGeom prst="line">
              <a:avLst/>
            </a:prstGeom>
            <a:ln w="19050" cap="rnd">
              <a:solidFill>
                <a:schemeClr val="tx1"/>
              </a:solidFill>
              <a:headEnd type="none" w="lg" len="sm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9B914BF-9FF9-97DD-B6C0-1FBF1B505D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38" idx="0"/>
            </p:cNvCxnSpPr>
            <p:nvPr/>
          </p:nvCxnSpPr>
          <p:spPr>
            <a:xfrm flipV="1">
              <a:off x="8814048" y="2504797"/>
              <a:ext cx="0" cy="402042"/>
            </a:xfrm>
            <a:prstGeom prst="line">
              <a:avLst/>
            </a:prstGeom>
            <a:ln w="19050" cap="rnd">
              <a:solidFill>
                <a:schemeClr val="tx1"/>
              </a:solidFill>
              <a:headEnd type="arrow" w="lg" len="sm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B4D881E-E08D-14A3-84A3-E73AFDE26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87641" y="2906839"/>
            <a:ext cx="1994840" cy="365760"/>
          </a:xfrm>
          <a:prstGeom prst="roundRect">
            <a:avLst/>
          </a:prstGeom>
          <a:solidFill>
            <a:srgbClr val="EEE5E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Vectorization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38AC780-82BB-E631-6FF6-6C1085844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6628" y="2906839"/>
            <a:ext cx="1994840" cy="365760"/>
          </a:xfrm>
          <a:prstGeom prst="roundRect">
            <a:avLst/>
          </a:prstGeom>
          <a:solidFill>
            <a:srgbClr val="EEE5E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Text analysis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6C6BE8C-3094-88EC-D1AF-1576B4BBE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3" idx="0"/>
            <a:endCxn id="37" idx="2"/>
          </p:cNvCxnSpPr>
          <p:nvPr/>
        </p:nvCxnSpPr>
        <p:spPr>
          <a:xfrm flipV="1">
            <a:off x="3385061" y="3272599"/>
            <a:ext cx="0" cy="219162"/>
          </a:xfrm>
          <a:prstGeom prst="line">
            <a:avLst/>
          </a:prstGeom>
          <a:ln w="19050" cap="rnd">
            <a:solidFill>
              <a:schemeClr val="tx1"/>
            </a:solidFill>
            <a:headEnd type="arrow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9EB9C3C-AB79-7878-F8C5-61C177C1A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5" idx="0"/>
            <a:endCxn id="38" idx="2"/>
          </p:cNvCxnSpPr>
          <p:nvPr/>
        </p:nvCxnSpPr>
        <p:spPr>
          <a:xfrm flipV="1">
            <a:off x="8814048" y="3272599"/>
            <a:ext cx="0" cy="219162"/>
          </a:xfrm>
          <a:prstGeom prst="line">
            <a:avLst/>
          </a:prstGeom>
          <a:ln w="19050" cap="rnd">
            <a:solidFill>
              <a:schemeClr val="tx1"/>
            </a:solidFill>
            <a:headEnd type="arrow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7BB6312-E4BF-5169-D919-25A37E0B7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07065" y="3505611"/>
            <a:ext cx="2382571" cy="441146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32449">
              <a:spcBef>
                <a:spcPts val="200"/>
              </a:spcBef>
              <a:defRPr sz="2400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L1: </a:t>
            </a:r>
          </a:p>
          <a:p>
            <a:pPr marL="0" marR="0" lvl="0" indent="0" algn="l" defTabSz="932449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Candidate Retrieval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8A5DF82-7AD6-ED3B-B355-36384D387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87641" y="3491761"/>
            <a:ext cx="1994840" cy="365760"/>
          </a:xfrm>
          <a:prstGeom prst="roundRect">
            <a:avLst/>
          </a:prstGeom>
          <a:solidFill>
            <a:srgbClr val="EEE5E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Vector Search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2F754AD-9ED1-27C1-3791-812C58F56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6628" y="3491761"/>
            <a:ext cx="1994840" cy="365760"/>
          </a:xfrm>
          <a:prstGeom prst="roundRect">
            <a:avLst/>
          </a:prstGeom>
          <a:solidFill>
            <a:srgbClr val="EEE5E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Keyword Search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F5908E4C-3727-1004-7436-7D8B9AF65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endCxn id="48" idx="1"/>
          </p:cNvCxnSpPr>
          <p:nvPr/>
        </p:nvCxnSpPr>
        <p:spPr>
          <a:xfrm>
            <a:off x="3385060" y="3857521"/>
            <a:ext cx="1507616" cy="402042"/>
          </a:xfrm>
          <a:prstGeom prst="bentConnector3">
            <a:avLst>
              <a:gd name="adj1" fmla="val 18"/>
            </a:avLst>
          </a:prstGeom>
          <a:ln w="19050" cap="rnd">
            <a:solidFill>
              <a:schemeClr val="tx1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91A6EF4-2424-01E5-E192-F61102D5A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92676" y="4076683"/>
            <a:ext cx="2413756" cy="365760"/>
          </a:xfrm>
          <a:prstGeom prst="roundRect">
            <a:avLst/>
          </a:prstGeom>
          <a:solidFill>
            <a:srgbClr val="EEE5E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Fusion (RRF)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5F0A48A6-CA5E-023E-5B9C-F7E2D3CFF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5" idx="2"/>
            <a:endCxn id="48" idx="3"/>
          </p:cNvCxnSpPr>
          <p:nvPr/>
        </p:nvCxnSpPr>
        <p:spPr>
          <a:xfrm rot="5400000">
            <a:off x="7859219" y="3304734"/>
            <a:ext cx="402042" cy="1507616"/>
          </a:xfrm>
          <a:prstGeom prst="bentConnector2">
            <a:avLst/>
          </a:prstGeom>
          <a:ln w="19050" cap="rnd">
            <a:solidFill>
              <a:schemeClr val="tx1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1A4D42F-146B-B1DC-3475-392043F6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6099554" y="4442443"/>
            <a:ext cx="0" cy="219162"/>
          </a:xfrm>
          <a:prstGeom prst="line">
            <a:avLst/>
          </a:prstGeom>
          <a:ln w="19050" cap="rnd">
            <a:solidFill>
              <a:schemeClr val="tx1"/>
            </a:solidFill>
            <a:headEnd type="arrow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40DB8DE-B72E-0A37-E3D3-CB8023D4D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07065" y="4675455"/>
            <a:ext cx="2382571" cy="441146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32449">
              <a:spcBef>
                <a:spcPts val="200"/>
              </a:spcBef>
              <a:defRPr sz="2400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L2: </a:t>
            </a:r>
          </a:p>
          <a:p>
            <a:pPr marL="0" marR="0" lvl="0" indent="0" algn="l" defTabSz="932449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Ranking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973FE72-9708-AC1A-1970-488FE4FF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92676" y="4661605"/>
            <a:ext cx="2413756" cy="365760"/>
          </a:xfrm>
          <a:prstGeom prst="roundRect">
            <a:avLst/>
          </a:prstGeom>
          <a:solidFill>
            <a:srgbClr val="EEE5E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Semantic Ranking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2048903-5ABE-C781-F370-BCC9193A45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466645" y="5315169"/>
            <a:ext cx="7265819" cy="0"/>
          </a:xfrm>
          <a:prstGeom prst="line">
            <a:avLst/>
          </a:prstGeom>
          <a:ln w="19050" cap="rnd">
            <a:solidFill>
              <a:schemeClr val="tx1"/>
            </a:solidFill>
            <a:headEnd type="none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7FEB401-27CD-24E7-E1A0-7687F01C8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57" idx="0"/>
          </p:cNvCxnSpPr>
          <p:nvPr/>
        </p:nvCxnSpPr>
        <p:spPr>
          <a:xfrm flipV="1">
            <a:off x="2466645" y="5315169"/>
            <a:ext cx="0" cy="287805"/>
          </a:xfrm>
          <a:prstGeom prst="line">
            <a:avLst/>
          </a:prstGeom>
          <a:ln w="19050" cap="rnd">
            <a:solidFill>
              <a:schemeClr val="tx1"/>
            </a:solidFill>
            <a:headEnd type="arrow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8382537-63B8-C472-3883-56E50FEF5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8391" y="5602974"/>
            <a:ext cx="2896508" cy="36576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Results for LLM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172E8EA-092A-4062-E6F0-2A7ABA17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6099554" y="5027365"/>
            <a:ext cx="0" cy="575609"/>
          </a:xfrm>
          <a:prstGeom prst="line">
            <a:avLst/>
          </a:prstGeom>
          <a:ln w="19050" cap="rnd">
            <a:solidFill>
              <a:schemeClr val="tx1"/>
            </a:solidFill>
            <a:headEnd type="arrow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93AAB92-08A3-920B-762D-DC91DC26B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51300" y="5602974"/>
            <a:ext cx="2896508" cy="36576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Extractive Answers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1FCC6AB-58D8-C254-18B9-681DB96E8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61" idx="0"/>
          </p:cNvCxnSpPr>
          <p:nvPr/>
        </p:nvCxnSpPr>
        <p:spPr>
          <a:xfrm flipV="1">
            <a:off x="9732464" y="5315169"/>
            <a:ext cx="0" cy="287805"/>
          </a:xfrm>
          <a:prstGeom prst="line">
            <a:avLst/>
          </a:prstGeom>
          <a:ln w="19050" cap="rnd">
            <a:solidFill>
              <a:schemeClr val="tx1"/>
            </a:solidFill>
            <a:headEnd type="arrow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612AA44-8ED1-5E12-675F-CA1866C84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210" y="5602974"/>
            <a:ext cx="2896508" cy="36576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Contextualized Captions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0AD3F7E-8F7B-21E8-F034-93C1404F0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8263" y="3366632"/>
            <a:ext cx="11018520" cy="0"/>
          </a:xfrm>
          <a:prstGeom prst="line">
            <a:avLst/>
          </a:prstGeom>
          <a:noFill/>
          <a:ln w="12700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16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713C2-5F7A-C3A3-3DA2-201462252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D7E18-4231-F5E1-BD97-4CE97846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615553"/>
          </a:xfrm>
        </p:spPr>
        <p:txBody>
          <a:bodyPr/>
          <a:lstStyle/>
          <a:p>
            <a:pPr algn="ctr"/>
            <a:r>
              <a:rPr lang="en-US" sz="4000"/>
              <a:t>Classic search pipeline</a:t>
            </a:r>
            <a:endParaRPr lang="en-US" sz="4000">
              <a:latin typeface="Segoe UI Variable Display Semib" pitchFamily="2" charset="0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D7A98A76-2DE6-4A44-9D74-10ED2D9213B1}"/>
              </a:ext>
            </a:extLst>
          </p:cNvPr>
          <p:cNvSpPr/>
          <p:nvPr/>
        </p:nvSpPr>
        <p:spPr bwMode="auto">
          <a:xfrm>
            <a:off x="795345" y="1637828"/>
            <a:ext cx="2103120" cy="588265"/>
          </a:xfrm>
          <a:prstGeom prst="roundRect">
            <a:avLst/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r>
              <a:rPr lang="en-US" sz="2400" b="1">
                <a:ln w="3175">
                  <a:noFill/>
                </a:ln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User query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34A06FF-8E08-74FE-BED2-7D51DB72959B}"/>
              </a:ext>
            </a:extLst>
          </p:cNvPr>
          <p:cNvSpPr/>
          <p:nvPr/>
        </p:nvSpPr>
        <p:spPr bwMode="auto">
          <a:xfrm>
            <a:off x="4297717" y="1630207"/>
            <a:ext cx="2674918" cy="595886"/>
          </a:xfrm>
          <a:prstGeom prst="roundRect">
            <a:avLst/>
          </a:prstGeom>
          <a:noFill/>
          <a:ln w="19050">
            <a:gradFill>
              <a:gsLst>
                <a:gs pos="10000">
                  <a:srgbClr val="2A446F"/>
                </a:gs>
                <a:gs pos="100000">
                  <a:srgbClr val="73262F"/>
                </a:gs>
              </a:gsLst>
              <a:lin ang="2700000" scaled="0"/>
            </a:gra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0000"/>
                </a:solidFill>
                <a:latin typeface="Segoe UI Variable Display Semib" pitchFamily="2" charset="0"/>
              </a:rPr>
              <a:t>L1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FA8FDDB8-5A99-7CC3-E0B7-E8BD836DB054}"/>
              </a:ext>
            </a:extLst>
          </p:cNvPr>
          <p:cNvSpPr/>
          <p:nvPr/>
        </p:nvSpPr>
        <p:spPr bwMode="auto">
          <a:xfrm>
            <a:off x="9078024" y="1632434"/>
            <a:ext cx="2103120" cy="594614"/>
          </a:xfrm>
          <a:prstGeom prst="roundRect">
            <a:avLst/>
          </a:prstGeom>
          <a:noFill/>
          <a:ln w="19050">
            <a:gradFill>
              <a:gsLst>
                <a:gs pos="10000">
                  <a:srgbClr val="2A446F"/>
                </a:gs>
                <a:gs pos="100000">
                  <a:srgbClr val="73262F"/>
                </a:gs>
              </a:gsLst>
              <a:lin ang="2700000" scaled="0"/>
            </a:gra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0000"/>
                </a:solidFill>
                <a:latin typeface="Segoe UI Variable Display Semib" pitchFamily="2" charset="0"/>
              </a:rPr>
              <a:t>L2</a:t>
            </a:r>
          </a:p>
        </p:txBody>
      </p:sp>
      <p:cxnSp>
        <p:nvCxnSpPr>
          <p:cNvPr id="98" name="Connector: Curved 97">
            <a:extLst>
              <a:ext uri="{FF2B5EF4-FFF2-40B4-BE49-F238E27FC236}">
                <a16:creationId xmlns:a16="http://schemas.microsoft.com/office/drawing/2014/main" id="{9CE41828-BC28-846B-DFB8-E99FA6078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93" idx="3"/>
            <a:endCxn id="96" idx="1"/>
          </p:cNvCxnSpPr>
          <p:nvPr/>
        </p:nvCxnSpPr>
        <p:spPr>
          <a:xfrm flipV="1">
            <a:off x="2898465" y="1928150"/>
            <a:ext cx="1399252" cy="3811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Curved 98">
            <a:extLst>
              <a:ext uri="{FF2B5EF4-FFF2-40B4-BE49-F238E27FC236}">
                <a16:creationId xmlns:a16="http://schemas.microsoft.com/office/drawing/2014/main" id="{A3C09C7F-AD84-6279-4AAB-F006BA39C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96" idx="3"/>
            <a:endCxn id="97" idx="1"/>
          </p:cNvCxnSpPr>
          <p:nvPr/>
        </p:nvCxnSpPr>
        <p:spPr>
          <a:xfrm>
            <a:off x="6972635" y="1928150"/>
            <a:ext cx="2105389" cy="1591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208E5838-3E35-61AD-0CEC-10E9ED68A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080291" y="2606574"/>
            <a:ext cx="2103120" cy="841962"/>
          </a:xfrm>
          <a:prstGeom prst="roundRect">
            <a:avLst>
              <a:gd name="adj" fmla="val 15739"/>
            </a:avLst>
          </a:prstGeom>
          <a:noFill/>
          <a:ln w="19050" cap="rnd">
            <a:solidFill>
              <a:schemeClr val="tx1">
                <a:alpha val="2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811670">
              <a:spcBef>
                <a:spcPts val="174"/>
              </a:spcBef>
              <a:defRPr sz="2400">
                <a:gradFill>
                  <a:gsLst>
                    <a:gs pos="41958">
                      <a:srgbClr val="FFFFFF"/>
                    </a:gs>
                    <a:gs pos="63000">
                      <a:srgbClr val="FFFFFF"/>
                    </a:gs>
                  </a:gsLst>
                  <a:lin ang="0" scaled="0"/>
                </a:gra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811670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  <a:t>Results as-is </a:t>
            </a:r>
            <a:br>
              <a:rPr lang="en-US" sz="20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</a:br>
            <a:r>
              <a:rPr lang="en-US" sz="20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  <a:t>from L1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82F038-0AA8-1B62-0B80-F0C680106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078024" y="3812964"/>
            <a:ext cx="2103120" cy="841962"/>
          </a:xfrm>
          <a:prstGeom prst="roundRect">
            <a:avLst>
              <a:gd name="adj" fmla="val 14794"/>
            </a:avLst>
          </a:prstGeom>
          <a:noFill/>
          <a:ln w="19050" cap="rnd">
            <a:solidFill>
              <a:schemeClr val="tx1">
                <a:alpha val="2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811670">
              <a:spcBef>
                <a:spcPts val="174"/>
              </a:spcBef>
              <a:defRPr sz="2400">
                <a:gradFill>
                  <a:gsLst>
                    <a:gs pos="41958">
                      <a:srgbClr val="FFFFFF"/>
                    </a:gs>
                    <a:gs pos="63000">
                      <a:srgbClr val="FFFFFF"/>
                    </a:gs>
                  </a:gsLst>
                  <a:lin ang="0" scaled="0"/>
                </a:gra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811670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  <a:t>Reranking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Variable Display Semib" pitchFamily="2" charset="0"/>
                <a:cs typeface="Segoe UI Semibold" panose="020B0702040204020203" pitchFamily="34" charset="0"/>
              </a:rPr>
            </a:br>
            <a:r>
              <a:rPr lang="en-US" sz="1400">
                <a:solidFill>
                  <a:schemeClr val="tx1"/>
                </a:solidFill>
                <a:latin typeface="Segoe UI Variable Display" pitchFamily="2" charset="0"/>
                <a:cs typeface="Segoe UI Semibold" panose="020B0702040204020203" pitchFamily="34" charset="0"/>
              </a:rPr>
              <a:t>e.g. cross-encoder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E97E1D9-7966-5B37-ADCE-A9E8DF322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277159" y="5866122"/>
            <a:ext cx="2721934" cy="841962"/>
          </a:xfrm>
          <a:prstGeom prst="roundRect">
            <a:avLst>
              <a:gd name="adj" fmla="val 14794"/>
            </a:avLst>
          </a:prstGeom>
          <a:noFill/>
          <a:ln w="19050" cap="rnd">
            <a:solidFill>
              <a:schemeClr val="tx1">
                <a:alpha val="2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811670">
              <a:spcBef>
                <a:spcPts val="174"/>
              </a:spcBef>
              <a:defRPr sz="2400">
                <a:gradFill>
                  <a:gsLst>
                    <a:gs pos="41958">
                      <a:srgbClr val="FFFFFF"/>
                    </a:gs>
                    <a:gs pos="63000">
                      <a:srgbClr val="FFFFFF"/>
                    </a:gs>
                  </a:gsLst>
                  <a:lin ang="0" scaled="0"/>
                </a:gra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811670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Variable Display Semib" pitchFamily="2" charset="0"/>
                <a:cs typeface="Segoe UI Semibold" panose="020B0702040204020203" pitchFamily="34" charset="0"/>
              </a:rPr>
              <a:t>H</a:t>
            </a:r>
            <a:r>
              <a:rPr lang="en-US" sz="20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  <a:t>ybrid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Variable Display Semib" pitchFamily="2" charset="0"/>
                <a:cs typeface="Segoe UI Semibold" panose="020B0702040204020203" pitchFamily="34" charset="0"/>
              </a:rPr>
              <a:t>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Variable Display Semib" pitchFamily="2" charset="0"/>
                <a:cs typeface="Segoe UI Semibold" panose="020B0702040204020203" pitchFamily="34" charset="0"/>
              </a:rPr>
            </a:br>
            <a:r>
              <a:rPr lang="en-US" sz="1400">
                <a:solidFill>
                  <a:schemeClr val="tx1"/>
                </a:solidFill>
                <a:latin typeface="Segoe UI Variable Display" pitchFamily="2" charset="0"/>
                <a:cs typeface="Segoe UI Semibold" panose="020B0702040204020203" pitchFamily="34" charset="0"/>
              </a:rPr>
              <a:t>RRF(keyword, vector)</a:t>
            </a:r>
          </a:p>
        </p:txBody>
      </p:sp>
      <p:sp useBgFill="1">
        <p:nvSpPr>
          <p:cNvPr id="12" name="Text Placeholder 2">
            <a:extLst>
              <a:ext uri="{FF2B5EF4-FFF2-40B4-BE49-F238E27FC236}">
                <a16:creationId xmlns:a16="http://schemas.microsoft.com/office/drawing/2014/main" id="{D4DCC923-45D9-E29A-32E3-5980C868D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250621" y="4689240"/>
            <a:ext cx="2769110" cy="899989"/>
          </a:xfrm>
          <a:prstGeom prst="roundRect">
            <a:avLst>
              <a:gd name="adj" fmla="val 14794"/>
            </a:avLst>
          </a:prstGeom>
          <a:ln w="19050" cap="rnd">
            <a:solidFill>
              <a:schemeClr val="tx1">
                <a:alpha val="2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811670">
              <a:spcBef>
                <a:spcPts val="174"/>
              </a:spcBef>
              <a:defRPr sz="2400">
                <a:gradFill>
                  <a:gsLst>
                    <a:gs pos="41958">
                      <a:srgbClr val="FFFFFF"/>
                    </a:gs>
                    <a:gs pos="63000">
                      <a:srgbClr val="FFFFFF"/>
                    </a:gs>
                  </a:gsLst>
                  <a:lin ang="0" scaled="0"/>
                </a:gra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914400">
              <a:defRPr/>
            </a:pPr>
            <a:r>
              <a:rPr lang="en-US" sz="20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  <a:t>Vector search </a:t>
            </a:r>
            <a:br>
              <a:rPr lang="uk-UA" sz="14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</a:br>
            <a:r>
              <a:rPr lang="en-US" sz="1400">
                <a:solidFill>
                  <a:schemeClr val="tx1"/>
                </a:solidFill>
                <a:latin typeface="Segoe UI Variable Display" pitchFamily="2" charset="0"/>
                <a:cs typeface="Segoe UI Semibold" panose="020B0702040204020203" pitchFamily="34" charset="0"/>
              </a:rPr>
              <a:t>embeddings +  vector index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8D97E24A-2CEC-B33D-B75F-6A6E415FD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252561" y="3486680"/>
            <a:ext cx="2769111" cy="841962"/>
          </a:xfrm>
          <a:prstGeom prst="roundRect">
            <a:avLst>
              <a:gd name="adj" fmla="val 15739"/>
            </a:avLst>
          </a:prstGeom>
          <a:noFill/>
          <a:ln w="19050" cap="rnd">
            <a:solidFill>
              <a:schemeClr val="tx1">
                <a:alpha val="2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914400">
              <a:spcBef>
                <a:spcPts val="174"/>
              </a:spcBef>
              <a:defRPr sz="18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defRPr>
            </a:lvl1pPr>
            <a:lvl2pPr marL="358814" defTabSz="717626">
              <a:defRPr sz="1413">
                <a:solidFill>
                  <a:schemeClr val="lt1"/>
                </a:solidFill>
              </a:defRPr>
            </a:lvl2pPr>
            <a:lvl3pPr marL="717626" defTabSz="717626">
              <a:defRPr sz="1413">
                <a:solidFill>
                  <a:schemeClr val="lt1"/>
                </a:solidFill>
              </a:defRPr>
            </a:lvl3pPr>
            <a:lvl4pPr marL="1076440" defTabSz="717626">
              <a:defRPr sz="1413">
                <a:solidFill>
                  <a:schemeClr val="lt1"/>
                </a:solidFill>
              </a:defRPr>
            </a:lvl4pPr>
            <a:lvl5pPr marL="1435252" defTabSz="717626">
              <a:defRPr sz="1413">
                <a:solidFill>
                  <a:schemeClr val="lt1"/>
                </a:solidFill>
              </a:defRPr>
            </a:lvl5pPr>
            <a:lvl6pPr marL="1794066" defTabSz="717626">
              <a:defRPr sz="1413">
                <a:solidFill>
                  <a:schemeClr val="lt1"/>
                </a:solidFill>
              </a:defRPr>
            </a:lvl6pPr>
            <a:lvl7pPr marL="2152877" defTabSz="717626">
              <a:defRPr sz="1413">
                <a:solidFill>
                  <a:schemeClr val="lt1"/>
                </a:solidFill>
              </a:defRPr>
            </a:lvl7pPr>
            <a:lvl8pPr marL="2511691" defTabSz="717626">
              <a:defRPr sz="1413">
                <a:solidFill>
                  <a:schemeClr val="lt1"/>
                </a:solidFill>
              </a:defRPr>
            </a:lvl8pPr>
            <a:lvl9pPr marL="2870503" defTabSz="717626">
              <a:defRPr sz="1413">
                <a:solidFill>
                  <a:schemeClr val="lt1"/>
                </a:solidFill>
              </a:defRPr>
            </a:lvl9pPr>
          </a:lstStyle>
          <a:p>
            <a:r>
              <a:rPr lang="en-US" sz="2000"/>
              <a:t>Keyword search </a:t>
            </a:r>
            <a:r>
              <a:rPr lang="en-US" sz="1400">
                <a:latin typeface="Segoe UI Variable Display" pitchFamily="2" charset="0"/>
              </a:rPr>
              <a:t>segmentation + inverted index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FD9F53C3-BC5A-D786-19AF-01F2188DF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635175" y="5589229"/>
            <a:ext cx="1" cy="294132"/>
          </a:xfrm>
          <a:prstGeom prst="straightConnector1">
            <a:avLst/>
          </a:prstGeom>
          <a:ln w="1905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70FF5157-5DC7-9072-96D5-2F0D95CE3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96" idx="2"/>
            <a:endCxn id="8" idx="0"/>
          </p:cNvCxnSpPr>
          <p:nvPr/>
        </p:nvCxnSpPr>
        <p:spPr>
          <a:xfrm>
            <a:off x="5635176" y="2226093"/>
            <a:ext cx="0" cy="308091"/>
          </a:xfrm>
          <a:prstGeom prst="straightConnector1">
            <a:avLst/>
          </a:prstGeom>
          <a:ln w="1905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B81EECA4-567A-1756-C5CA-84FC32FED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97" idx="2"/>
            <a:endCxn id="38" idx="0"/>
          </p:cNvCxnSpPr>
          <p:nvPr/>
        </p:nvCxnSpPr>
        <p:spPr>
          <a:xfrm>
            <a:off x="10129584" y="2227048"/>
            <a:ext cx="2267" cy="379526"/>
          </a:xfrm>
          <a:prstGeom prst="straightConnector1">
            <a:avLst/>
          </a:prstGeom>
          <a:ln w="1905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6B95A936-96D1-20FD-E368-11C55D139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38" idx="2"/>
            <a:endCxn id="11" idx="0"/>
          </p:cNvCxnSpPr>
          <p:nvPr/>
        </p:nvCxnSpPr>
        <p:spPr>
          <a:xfrm flipH="1">
            <a:off x="10129584" y="3448536"/>
            <a:ext cx="2267" cy="364428"/>
          </a:xfrm>
          <a:prstGeom prst="straightConnector1">
            <a:avLst/>
          </a:prstGeom>
          <a:ln w="1905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" name="Text Placeholder 2">
            <a:extLst>
              <a:ext uri="{FF2B5EF4-FFF2-40B4-BE49-F238E27FC236}">
                <a16:creationId xmlns:a16="http://schemas.microsoft.com/office/drawing/2014/main" id="{0C2EBBBD-F160-3629-EC8E-1CE3E5E0B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297716" y="2534184"/>
            <a:ext cx="2674919" cy="641285"/>
          </a:xfrm>
          <a:prstGeom prst="roundRect">
            <a:avLst>
              <a:gd name="adj" fmla="val 14794"/>
            </a:avLst>
          </a:prstGeom>
          <a:ln w="19050" cap="rnd">
            <a:solidFill>
              <a:schemeClr val="tx1">
                <a:alpha val="2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811670">
              <a:spcBef>
                <a:spcPts val="174"/>
              </a:spcBef>
              <a:defRPr sz="2400">
                <a:gradFill>
                  <a:gsLst>
                    <a:gs pos="41958">
                      <a:srgbClr val="FFFFFF"/>
                    </a:gs>
                    <a:gs pos="63000">
                      <a:srgbClr val="FFFFFF"/>
                    </a:gs>
                  </a:gsLst>
                  <a:lin ang="0" scaled="0"/>
                </a:gra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914400">
              <a:defRPr/>
            </a:pPr>
            <a:r>
              <a:rPr lang="en-US" sz="20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  <a:t>Query rewriting</a:t>
            </a:r>
            <a:endParaRPr lang="en-US" sz="1400">
              <a:solidFill>
                <a:schemeClr val="tx1"/>
              </a:solidFill>
              <a:latin typeface="Segoe UI Variable Display" pitchFamily="2" charset="0"/>
              <a:cs typeface="Segoe UI Semibold" panose="020B0702040204020203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F56BA6-93A7-A19C-3D4F-2C1C7730E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8" idx="2"/>
            <a:endCxn id="42" idx="0"/>
          </p:cNvCxnSpPr>
          <p:nvPr/>
        </p:nvCxnSpPr>
        <p:spPr>
          <a:xfrm>
            <a:off x="5635176" y="3175469"/>
            <a:ext cx="1941" cy="311211"/>
          </a:xfrm>
          <a:prstGeom prst="straightConnector1">
            <a:avLst/>
          </a:prstGeom>
          <a:ln w="1905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88B9502-F643-AA59-4607-1B45F4DBB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2" idx="2"/>
            <a:endCxn id="12" idx="0"/>
          </p:cNvCxnSpPr>
          <p:nvPr/>
        </p:nvCxnSpPr>
        <p:spPr>
          <a:xfrm flipH="1">
            <a:off x="5635176" y="4328642"/>
            <a:ext cx="1941" cy="360598"/>
          </a:xfrm>
          <a:prstGeom prst="straightConnector1">
            <a:avLst/>
          </a:prstGeom>
          <a:ln w="1905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46789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F4FB-1E00-F680-FE2B-F4FF3B811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Query Rewriting</a:t>
            </a:r>
          </a:p>
        </p:txBody>
      </p:sp>
      <p:sp>
        <p:nvSpPr>
          <p:cNvPr id="3" name="Rounded Rectangle 14">
            <a:extLst>
              <a:ext uri="{FF2B5EF4-FFF2-40B4-BE49-F238E27FC236}">
                <a16:creationId xmlns:a16="http://schemas.microsoft.com/office/drawing/2014/main" id="{4718409E-D8F3-ADE4-0731-052BA83F7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008564" y="585789"/>
            <a:ext cx="6600824" cy="5683250"/>
          </a:xfrm>
          <a:prstGeom prst="roundRect">
            <a:avLst>
              <a:gd name="adj" fmla="val 2665"/>
            </a:avLst>
          </a:prstGeom>
          <a:noFill/>
          <a:ln w="12700" cap="rnd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183" marR="0" lvl="1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84B868-CBE9-14BA-0A64-0B92D6C47B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292726" y="863788"/>
            <a:ext cx="6032500" cy="761812"/>
          </a:xfrm>
          <a:prstGeom prst="roundRect">
            <a:avLst>
              <a:gd name="adj" fmla="val 20250"/>
            </a:avLst>
          </a:pr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square" lIns="146957" tIns="25718" rIns="146957" bIns="27432" rtlCol="0" anchor="ctr">
            <a:noAutofit/>
          </a:bodyPr>
          <a:lstStyle>
            <a:defPPr>
              <a:defRPr lang="en-US"/>
            </a:defPPr>
            <a:lvl1pPr algn="ctr" defTabSz="2275850" fontAlgn="base">
              <a:spcBef>
                <a:spcPct val="0"/>
              </a:spcBef>
              <a:spcAft>
                <a:spcPct val="0"/>
              </a:spcAft>
              <a:tabLst>
                <a:tab pos="3701239" algn="l"/>
              </a:tabLst>
              <a:defRPr sz="6000" b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" pitchFamily="2" charset="0"/>
                <a:cs typeface="Segoe UI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Question: </a:t>
            </a:r>
            <a:b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</a:b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“What underwater activities can I do in the Bahamas?”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1E33805-DC48-AB97-F4F5-0263F93100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292726" y="1807904"/>
            <a:ext cx="362432" cy="362432"/>
          </a:xfrm>
          <a:prstGeom prst="ellipse">
            <a:avLst/>
          </a:prstGeom>
          <a:gradFill flip="none" rotWithShape="1">
            <a:gsLst>
              <a:gs pos="80000">
                <a:srgbClr val="1C77A0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B5ADF3-E492-4D6E-BF63-C26DB678B4A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845176" y="1850621"/>
            <a:ext cx="5480050" cy="276999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Water-based activities in the Bahamas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3278AC6-5A34-47C7-3F8F-6FFCCAEAD3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292726" y="2285888"/>
            <a:ext cx="362432" cy="362432"/>
          </a:xfrm>
          <a:prstGeom prst="ellipse">
            <a:avLst/>
          </a:prstGeom>
          <a:gradFill flip="none" rotWithShape="1">
            <a:gsLst>
              <a:gs pos="80000">
                <a:srgbClr val="1C77A0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20D497-9253-5B61-5E7B-4DE266D0E3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845176" y="2328605"/>
            <a:ext cx="5480050" cy="276999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Water sport available in the Bahamas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92EA6BB-E186-43EE-F2C2-F014DA1D187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292726" y="2763872"/>
            <a:ext cx="362432" cy="362432"/>
          </a:xfrm>
          <a:prstGeom prst="ellipse">
            <a:avLst/>
          </a:prstGeom>
          <a:gradFill flip="none" rotWithShape="1">
            <a:gsLst>
              <a:gs pos="80000">
                <a:srgbClr val="1C77A0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0F522E-2B78-69F9-DB2C-8F2FE67183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845176" y="2806589"/>
            <a:ext cx="5480050" cy="276999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Snorkeling and diving in the Bahamas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99DD4E3-BFB3-468F-11B6-8A93485175C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292726" y="3241856"/>
            <a:ext cx="362432" cy="362432"/>
          </a:xfrm>
          <a:prstGeom prst="ellipse">
            <a:avLst/>
          </a:prstGeom>
          <a:gradFill flip="none" rotWithShape="1">
            <a:gsLst>
              <a:gs pos="80000">
                <a:srgbClr val="1C77A0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5D111A-ED93-21BA-09F2-A4AA42C1F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845176" y="3284573"/>
            <a:ext cx="5480050" cy="276999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Scuba diving activities in the Bahamas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601BF80-44B2-7905-9BFC-CEFE8FC434E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292726" y="3719840"/>
            <a:ext cx="362432" cy="362432"/>
          </a:xfrm>
          <a:prstGeom prst="ellipse">
            <a:avLst/>
          </a:prstGeom>
          <a:gradFill flip="none" rotWithShape="1">
            <a:gsLst>
              <a:gs pos="80000">
                <a:srgbClr val="1C77A0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961CC3-BEF1-63A5-97E6-59891FA84DF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845176" y="3762557"/>
            <a:ext cx="5480050" cy="276999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Underwater adventures in the Bahamas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935C99C-2D26-E3DE-7C97-3C56B66500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292726" y="4197824"/>
            <a:ext cx="362432" cy="362432"/>
          </a:xfrm>
          <a:prstGeom prst="ellipse">
            <a:avLst/>
          </a:prstGeom>
          <a:gradFill flip="none" rotWithShape="1">
            <a:gsLst>
              <a:gs pos="80000">
                <a:srgbClr val="1C77A0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4657CE-66E1-68C2-C807-1713803F8A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845176" y="4240541"/>
            <a:ext cx="5480050" cy="276999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Best underwater activities in the Bahamas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C9B45DD-09E7-6157-2C77-8EBE0A545C8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292726" y="4675808"/>
            <a:ext cx="362432" cy="362432"/>
          </a:xfrm>
          <a:prstGeom prst="ellipse">
            <a:avLst/>
          </a:prstGeom>
          <a:gradFill flip="none" rotWithShape="1">
            <a:gsLst>
              <a:gs pos="80000">
                <a:srgbClr val="1C77A0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2CDA93-E4C8-E959-821B-83A7C86C91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845176" y="4718525"/>
            <a:ext cx="5480050" cy="276999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Suba diving spots in the Bahamas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B8A7C19-E546-60B7-C59D-59F0726166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292726" y="5153792"/>
            <a:ext cx="362432" cy="362432"/>
          </a:xfrm>
          <a:prstGeom prst="ellipse">
            <a:avLst/>
          </a:prstGeom>
          <a:gradFill flip="none" rotWithShape="1">
            <a:gsLst>
              <a:gs pos="80000">
                <a:srgbClr val="1C77A0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CEB11E-8D8C-E7C8-5200-117D1FA6DBC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845176" y="5196509"/>
            <a:ext cx="5480050" cy="276999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Boating activities in the Bahamas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429B3EF-F405-935A-710F-C809033F9B9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292726" y="5631780"/>
            <a:ext cx="362432" cy="362432"/>
          </a:xfrm>
          <a:prstGeom prst="ellipse">
            <a:avLst/>
          </a:prstGeom>
          <a:gradFill flip="none" rotWithShape="1">
            <a:gsLst>
              <a:gs pos="80000">
                <a:srgbClr val="1C77A0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010C68-E9A6-C33A-0CAE-CD55DFF6FEE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845176" y="5674497"/>
            <a:ext cx="5480050" cy="276999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What to do in the Bahamas underwater</a:t>
            </a:r>
          </a:p>
        </p:txBody>
      </p:sp>
    </p:spTree>
    <p:extLst>
      <p:ext uri="{BB962C8B-B14F-4D97-AF65-F5344CB8AC3E}">
        <p14:creationId xmlns:p14="http://schemas.microsoft.com/office/powerpoint/2010/main" val="88741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76E4-FA2E-63AE-F292-8BAB44740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Text Search with BM25</a:t>
            </a:r>
          </a:p>
        </p:txBody>
      </p:sp>
      <p:sp>
        <p:nvSpPr>
          <p:cNvPr id="4" name="Rounded Rectangle 14">
            <a:extLst>
              <a:ext uri="{FF2B5EF4-FFF2-40B4-BE49-F238E27FC236}">
                <a16:creationId xmlns:a16="http://schemas.microsoft.com/office/drawing/2014/main" id="{60ADB3FA-E4E0-D2A2-27FA-AD0BCB2E3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4200" y="1436687"/>
            <a:ext cx="11025187" cy="4832351"/>
          </a:xfrm>
          <a:prstGeom prst="roundRect">
            <a:avLst>
              <a:gd name="adj" fmla="val 2954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320040" rIns="0" bIns="0" rtlCol="0" anchor="t" anchorCtr="0">
            <a:noAutofit/>
          </a:bodyPr>
          <a:lstStyle/>
          <a:p>
            <a:pPr marL="457183" marR="0" lvl="1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1F7D5F5-1B01-F389-CC8F-414F3C2977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181100" y="2234406"/>
            <a:ext cx="377190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3175">
                  <a:noFill/>
                </a:ln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Documents are stored in </a:t>
            </a:r>
            <a:br>
              <a:rPr kumimoji="0" lang="en-US" sz="2400" b="1" i="0" u="none" strike="noStrike" kern="1200" cap="none" spc="0" normalizeH="0" baseline="0" noProof="0">
                <a:ln w="3175">
                  <a:noFill/>
                </a:ln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</a:br>
            <a:r>
              <a:rPr kumimoji="0" lang="en-US" sz="2400" b="1" i="0" u="none" strike="noStrike" kern="1200" cap="none" spc="0" normalizeH="0" baseline="0" noProof="0">
                <a:ln w="3175">
                  <a:noFill/>
                </a:ln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an inverted index, or a sorted list of all terms </a:t>
            </a:r>
            <a:br>
              <a:rPr kumimoji="0" lang="en-US" sz="2400" b="1" i="0" u="none" strike="noStrike" kern="1200" cap="none" spc="0" normalizeH="0" baseline="0" noProof="0">
                <a:ln w="3175">
                  <a:noFill/>
                </a:ln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</a:br>
            <a:r>
              <a:rPr kumimoji="0" lang="en-US" sz="2400" b="1" i="0" u="none" strike="noStrike" kern="1200" cap="none" spc="0" normalizeH="0" baseline="0" noProof="0">
                <a:ln w="3175">
                  <a:noFill/>
                </a:ln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from the documents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061BBB-03DB-3443-4DD0-031F62D48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81100" y="4083695"/>
            <a:ext cx="3619500" cy="0"/>
          </a:xfrm>
          <a:prstGeom prst="line">
            <a:avLst/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C4CCDCD-A5B6-BA3F-B6EF-41598A8602E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181100" y="4455656"/>
            <a:ext cx="3771900" cy="10156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Queries can be efficiently matched against this index to find the original documents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0063ED-EEFD-3016-E7EB-1C6D5760C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362734" y="1941273"/>
            <a:ext cx="0" cy="3827201"/>
          </a:xfrm>
          <a:prstGeom prst="line">
            <a:avLst/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30">
            <a:extLst>
              <a:ext uri="{FF2B5EF4-FFF2-40B4-BE49-F238E27FC236}">
                <a16:creationId xmlns:a16="http://schemas.microsoft.com/office/drawing/2014/main" id="{4C426854-231C-E0DF-F2B7-74F52DF59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50611" y="1941273"/>
            <a:ext cx="5427806" cy="1623546"/>
          </a:xfrm>
          <a:prstGeom prst="roundRect">
            <a:avLst>
              <a:gd name="adj" fmla="val 8923"/>
            </a:avLst>
          </a:prstGeom>
          <a:solidFill>
            <a:srgbClr val="EEE5E1"/>
          </a:solidFill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109" tIns="29391" rIns="55109" bIns="367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8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gradFill>
                <a:gsLst>
                  <a:gs pos="85321">
                    <a:srgbClr val="000000"/>
                  </a:gs>
                  <a:gs pos="70629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E4CF129D-320A-25A2-E489-1178D1EFE84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/>
        </p:nvGraphicFramePr>
        <p:xfrm>
          <a:off x="5985906" y="1992830"/>
          <a:ext cx="5157216" cy="152043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295571">
                  <a:extLst>
                    <a:ext uri="{9D8B030D-6E8A-4147-A177-3AD203B41FA5}">
                      <a16:colId xmlns:a16="http://schemas.microsoft.com/office/drawing/2014/main" val="818442985"/>
                    </a:ext>
                  </a:extLst>
                </a:gridCol>
                <a:gridCol w="1286934">
                  <a:extLst>
                    <a:ext uri="{9D8B030D-6E8A-4147-A177-3AD203B41FA5}">
                      <a16:colId xmlns:a16="http://schemas.microsoft.com/office/drawing/2014/main" val="2969166865"/>
                    </a:ext>
                  </a:extLst>
                </a:gridCol>
                <a:gridCol w="2574711">
                  <a:extLst>
                    <a:ext uri="{9D8B030D-6E8A-4147-A177-3AD203B41FA5}">
                      <a16:colId xmlns:a16="http://schemas.microsoft.com/office/drawing/2014/main" val="856370462"/>
                    </a:ext>
                  </a:extLst>
                </a:gridCol>
              </a:tblGrid>
              <a:tr h="484112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latin typeface="+mj-lt"/>
                        </a:rPr>
                        <a:t>Document ID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latin typeface="+mj-lt"/>
                        </a:rPr>
                        <a:t>Hotel Name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latin typeface="+mj-lt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312546"/>
                  </a:ext>
                </a:extLst>
              </a:tr>
              <a:tr h="484112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Hotel Atman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Spacious rooms, ocean view, walking distance to the beach.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423644"/>
                  </a:ext>
                </a:extLst>
              </a:tr>
              <a:tr h="484112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Playa Hotel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Comfortable, air-conditioned rooms with ocean view.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60101"/>
                  </a:ext>
                </a:extLst>
              </a:tr>
            </a:tbl>
          </a:graphicData>
        </a:graphic>
      </p:graphicFrame>
      <p:cxnSp>
        <p:nvCxnSpPr>
          <p:cNvPr id="33" name="Straight Arrow Connector 32" descr="Arrow pointing to:">
            <a:extLst>
              <a:ext uri="{FF2B5EF4-FFF2-40B4-BE49-F238E27FC236}">
                <a16:creationId xmlns:a16="http://schemas.microsoft.com/office/drawing/2014/main" id="{3CC4CC1F-3634-97E6-7E94-4D953F166D8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stCxn id="27" idx="2"/>
            <a:endCxn id="28" idx="0"/>
          </p:cNvCxnSpPr>
          <p:nvPr/>
        </p:nvCxnSpPr>
        <p:spPr>
          <a:xfrm>
            <a:off x="8564514" y="3564819"/>
            <a:ext cx="0" cy="580109"/>
          </a:xfrm>
          <a:prstGeom prst="straightConnector1">
            <a:avLst/>
          </a:prstGeom>
          <a:ln w="1905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30">
            <a:extLst>
              <a:ext uri="{FF2B5EF4-FFF2-40B4-BE49-F238E27FC236}">
                <a16:creationId xmlns:a16="http://schemas.microsoft.com/office/drawing/2014/main" id="{338A6E6F-7332-2F81-06BC-CCB958BE1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50611" y="4144928"/>
            <a:ext cx="5427806" cy="1623546"/>
          </a:xfrm>
          <a:prstGeom prst="roundRect">
            <a:avLst>
              <a:gd name="adj" fmla="val 8923"/>
            </a:avLst>
          </a:prstGeom>
          <a:solidFill>
            <a:srgbClr val="EEE5E1"/>
          </a:solidFill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109" tIns="29391" rIns="55109" bIns="367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8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gradFill>
                <a:gsLst>
                  <a:gs pos="85321">
                    <a:srgbClr val="000000"/>
                  </a:gs>
                  <a:gs pos="70629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1300F839-3962-5559-C4C8-D86ED9AFD9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/>
        </p:nvGraphicFramePr>
        <p:xfrm>
          <a:off x="5985906" y="4248041"/>
          <a:ext cx="5157216" cy="141732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578608">
                  <a:extLst>
                    <a:ext uri="{9D8B030D-6E8A-4147-A177-3AD203B41FA5}">
                      <a16:colId xmlns:a16="http://schemas.microsoft.com/office/drawing/2014/main" val="3872796328"/>
                    </a:ext>
                  </a:extLst>
                </a:gridCol>
                <a:gridCol w="2578608">
                  <a:extLst>
                    <a:ext uri="{9D8B030D-6E8A-4147-A177-3AD203B41FA5}">
                      <a16:colId xmlns:a16="http://schemas.microsoft.com/office/drawing/2014/main" val="2812939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32742" rtl="0" eaLnBrk="1" latinLnBrk="0" hangingPunct="1"/>
                      <a:r>
                        <a:rPr lang="en-US" sz="14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Term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/>
                      <a:r>
                        <a:rPr lang="en-US" sz="14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Document List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28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ocean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1,2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521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room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1,2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840249"/>
                  </a:ext>
                </a:extLst>
              </a:tr>
              <a:tr h="29278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beach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032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744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26E1D-BAD9-480B-4040-FD17F042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Vector Search</a:t>
            </a:r>
          </a:p>
        </p:txBody>
      </p:sp>
      <p:sp>
        <p:nvSpPr>
          <p:cNvPr id="29" name="Rounded Rectangle 30">
            <a:extLst>
              <a:ext uri="{FF2B5EF4-FFF2-40B4-BE49-F238E27FC236}">
                <a16:creationId xmlns:a16="http://schemas.microsoft.com/office/drawing/2014/main" id="{BC68E4FC-40BB-7A8C-AD24-BED077618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31996" y="1436689"/>
            <a:ext cx="11018520" cy="1237334"/>
          </a:xfrm>
          <a:prstGeom prst="roundRect">
            <a:avLst>
              <a:gd name="adj" fmla="val 9957"/>
            </a:avLst>
          </a:prstGeom>
          <a:solidFill>
            <a:srgbClr val="EEE5E1"/>
          </a:solidFill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109" tIns="29391" rIns="55109" bIns="367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8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gradFill>
                <a:gsLst>
                  <a:gs pos="85321">
                    <a:srgbClr val="000000"/>
                  </a:gs>
                  <a:gs pos="70629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70A04B51-D818-AECD-F5E3-44BC2EE93F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083733" y="1713072"/>
            <a:ext cx="10666942" cy="7448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+mj-lt"/>
              <a:buAutoNum type="arabicPeriod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Encode queries as embeddings</a:t>
            </a:r>
            <a:r>
              <a:rPr kumimoji="0" lang="en-US" sz="2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 (</a:t>
            </a:r>
            <a:r>
              <a:rPr kumimoji="0" lang="en-US" sz="2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lists of floating point numbers)</a:t>
            </a:r>
          </a:p>
          <a:p>
            <a:pPr marL="457200" marR="0" lvl="0" indent="-457200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+mj-lt"/>
              <a:buAutoNum type="arabicPeriod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Find semantically similar documents by comparing embeddings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99AE17-478F-9734-C982-B1A4764853A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50325" y="3128622"/>
            <a:ext cx="18288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Query</a:t>
            </a:r>
          </a:p>
        </p:txBody>
      </p:sp>
      <p:cxnSp>
        <p:nvCxnSpPr>
          <p:cNvPr id="11" name="Straight Connector 10" descr="Line connecting from one section to the next.">
            <a:extLst>
              <a:ext uri="{FF2B5EF4-FFF2-40B4-BE49-F238E27FC236}">
                <a16:creationId xmlns:a16="http://schemas.microsoft.com/office/drawing/2014/main" id="{D02E989D-7884-5650-B389-5A68645700C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 flipH="1">
            <a:off x="731996" y="3453326"/>
            <a:ext cx="1813254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lg" len="lg"/>
            <a:tailEnd type="oval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13">
            <a:extLst>
              <a:ext uri="{FF2B5EF4-FFF2-40B4-BE49-F238E27FC236}">
                <a16:creationId xmlns:a16="http://schemas.microsoft.com/office/drawing/2014/main" id="{3B018E14-87F9-E6F5-25C2-E959786F35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2545250" y="2950406"/>
            <a:ext cx="1701073" cy="1005840"/>
          </a:xfrm>
          <a:prstGeom prst="roundRect">
            <a:avLst>
              <a:gd name="adj" fmla="val 15404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Compute </a:t>
            </a:r>
            <a:b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</a:b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embedding vector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851DB8-6765-9812-C689-10696CC90EE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318829" y="3116096"/>
            <a:ext cx="18288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Query vector</a:t>
            </a:r>
          </a:p>
        </p:txBody>
      </p:sp>
      <p:cxnSp>
        <p:nvCxnSpPr>
          <p:cNvPr id="15" name="Straight Connector 14" descr="Line connecting from one section to the next.">
            <a:extLst>
              <a:ext uri="{FF2B5EF4-FFF2-40B4-BE49-F238E27FC236}">
                <a16:creationId xmlns:a16="http://schemas.microsoft.com/office/drawing/2014/main" id="{AC42E0FA-8C8C-8B76-3AE6-C07B9CE759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 flipH="1">
            <a:off x="4241276" y="3440800"/>
            <a:ext cx="1983907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lg" len="lg"/>
            <a:tailEnd type="oval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AD4CAF95-D503-E992-25A4-DB47F9491F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6259273" y="2992764"/>
            <a:ext cx="1983907" cy="1005840"/>
          </a:xfrm>
          <a:prstGeom prst="roundRect">
            <a:avLst>
              <a:gd name="adj" fmla="val 15246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Search</a:t>
            </a:r>
          </a:p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existing vectors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57365C-35DB-3431-76C5-DCE264CC004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8918222" y="3161773"/>
            <a:ext cx="18288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 closest vectors</a:t>
            </a:r>
          </a:p>
        </p:txBody>
      </p:sp>
      <p:cxnSp>
        <p:nvCxnSpPr>
          <p:cNvPr id="18" name="Straight Connector 17" descr="Line connecting from one section to the next.">
            <a:extLst>
              <a:ext uri="{FF2B5EF4-FFF2-40B4-BE49-F238E27FC236}">
                <a16:creationId xmlns:a16="http://schemas.microsoft.com/office/drawing/2014/main" id="{27720AE9-43D5-E669-65AE-4BD2C1F7226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  <a:endCxn id="39" idx="3"/>
          </p:cNvCxnSpPr>
          <p:nvPr/>
        </p:nvCxnSpPr>
        <p:spPr>
          <a:xfrm flipH="1">
            <a:off x="8243180" y="3495684"/>
            <a:ext cx="3363603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lg" len="lg"/>
            <a:tailEnd type="oval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88B9893-8829-5DA7-571B-A83B1F8B1A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50325" y="3622520"/>
            <a:ext cx="18288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“underwater activities”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FB4EF7-82C7-B20B-6DE4-73EBD5F843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265592" y="3533548"/>
            <a:ext cx="18288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[-0.003335318, -0.0176891904,…]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8AB11A-8390-9946-58D7-42F532D34564}"/>
              </a:ext>
            </a:extLst>
          </p:cNvPr>
          <p:cNvSpPr txBox="1"/>
          <p:nvPr/>
        </p:nvSpPr>
        <p:spPr>
          <a:xfrm>
            <a:off x="731996" y="5421311"/>
            <a:ext cx="541563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None/>
              <a:tabLst/>
              <a:defRPr/>
            </a:pPr>
            <a:r>
              <a:rPr lang="en-US" sz="2200">
                <a:solidFill>
                  <a:srgbClr val="000000"/>
                </a:solidFill>
                <a:latin typeface="Segoe UI Semibold"/>
              </a:rPr>
              <a:t>🏃🏽‍♀️ Use approximate algorithm (HNSW) for more efficient search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Rounded Rectangle 30">
            <a:extLst>
              <a:ext uri="{FF2B5EF4-FFF2-40B4-BE49-F238E27FC236}">
                <a16:creationId xmlns:a16="http://schemas.microsoft.com/office/drawing/2014/main" id="{C430CF6B-9CEA-5DED-89DA-495E6C9B0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039628" y="4193408"/>
            <a:ext cx="4861200" cy="2407799"/>
          </a:xfrm>
          <a:prstGeom prst="roundRect">
            <a:avLst>
              <a:gd name="adj" fmla="val 8923"/>
            </a:avLst>
          </a:prstGeom>
          <a:solidFill>
            <a:srgbClr val="EEE5E1"/>
          </a:solidFill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109" tIns="29391" rIns="55109" bIns="367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8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gradFill>
                <a:gsLst>
                  <a:gs pos="85321">
                    <a:srgbClr val="000000"/>
                  </a:gs>
                  <a:gs pos="70629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C8A93EB-2C18-6112-7B90-14514DA89F5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610905"/>
              </p:ext>
            </p:extLst>
          </p:nvPr>
        </p:nvGraphicFramePr>
        <p:xfrm>
          <a:off x="7139835" y="4244966"/>
          <a:ext cx="4710888" cy="216051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5989">
                  <a:extLst>
                    <a:ext uri="{9D8B030D-6E8A-4147-A177-3AD203B41FA5}">
                      <a16:colId xmlns:a16="http://schemas.microsoft.com/office/drawing/2014/main" val="818442985"/>
                    </a:ext>
                  </a:extLst>
                </a:gridCol>
                <a:gridCol w="3393757">
                  <a:extLst>
                    <a:ext uri="{9D8B030D-6E8A-4147-A177-3AD203B41FA5}">
                      <a16:colId xmlns:a16="http://schemas.microsoft.com/office/drawing/2014/main" val="2969166865"/>
                    </a:ext>
                  </a:extLst>
                </a:gridCol>
                <a:gridCol w="841142">
                  <a:extLst>
                    <a:ext uri="{9D8B030D-6E8A-4147-A177-3AD203B41FA5}">
                      <a16:colId xmlns:a16="http://schemas.microsoft.com/office/drawing/2014/main" val="856370462"/>
                    </a:ext>
                  </a:extLst>
                </a:gridCol>
              </a:tblGrid>
              <a:tr h="484112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latin typeface="+mj-lt"/>
                        </a:rPr>
                        <a:t>ID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latin typeface="+mj-lt"/>
                        </a:rPr>
                        <a:t>Content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latin typeface="+mj-lt"/>
                        </a:rPr>
                        <a:t>Cosine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312546"/>
                  </a:ext>
                </a:extLst>
              </a:tr>
              <a:tr h="484112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PerksPlus is not only designed to support employees' physical health, but also their mental health...</a:t>
                      </a: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0.8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423644"/>
                  </a:ext>
                </a:extLst>
              </a:tr>
              <a:tr h="463378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Some of the lessons covered under PerksPlus include: · Skiing and snowboarding lessons · Scuba diving lessons · Surfing lessons...</a:t>
                      </a: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0.7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60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156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CB35D-6234-0B8A-E356-3074C0F7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D2159-1A47-0858-F54B-BC8C620C3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62" y="457200"/>
            <a:ext cx="10424996" cy="553998"/>
          </a:xfrm>
        </p:spPr>
        <p:txBody>
          <a:bodyPr>
            <a:normAutofit/>
          </a:bodyPr>
          <a:lstStyle/>
          <a:p>
            <a:r>
              <a:rPr lang="en-US" b="1">
                <a:latin typeface="Segoe UI Semibold" panose="020B0502040204020203" pitchFamily="34" charset="0"/>
                <a:cs typeface="Segoe UI Semibold" panose="020B0502040204020203" pitchFamily="34" charset="0"/>
              </a:rPr>
              <a:t>Hybrid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BEE08-5A62-4219-5316-414B1495FD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199" y="1747318"/>
            <a:ext cx="5805715" cy="2305246"/>
          </a:xfrm>
        </p:spPr>
        <p:txBody>
          <a:bodyPr wrap="square">
            <a:spAutoFit/>
          </a:bodyPr>
          <a:lstStyle/>
          <a:p>
            <a:pPr lvl="1"/>
            <a:endParaRPr lang="en-US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300">
                <a:sym typeface="Wingdings" panose="05000000000000000000" pitchFamily="2" charset="2"/>
              </a:rPr>
              <a:t>Complete search stacks do better:</a:t>
            </a:r>
          </a:p>
          <a:p>
            <a:pPr lvl="1"/>
            <a:r>
              <a:rPr lang="en-US" sz="2300"/>
              <a:t>Hybrid retrieval (keywords + vectors) &gt; pure-vector or keyword</a:t>
            </a:r>
          </a:p>
          <a:p>
            <a:pPr lvl="1"/>
            <a:r>
              <a:rPr lang="en-US" sz="2300"/>
              <a:t>Hybrid + Reranking &gt; Hybrid</a:t>
            </a:r>
          </a:p>
          <a:p>
            <a:pPr marL="228600" lvl="1" indent="0">
              <a:buNone/>
            </a:pPr>
            <a:endParaRPr lang="en-US"/>
          </a:p>
        </p:txBody>
      </p:sp>
      <p:grpSp>
        <p:nvGrpSpPr>
          <p:cNvPr id="11" name="Group 10" descr="vector + keywords to fusion (RRF)">
            <a:extLst>
              <a:ext uri="{FF2B5EF4-FFF2-40B4-BE49-F238E27FC236}">
                <a16:creationId xmlns:a16="http://schemas.microsoft.com/office/drawing/2014/main" id="{C1175602-5514-2C40-2748-963A40721838}"/>
              </a:ext>
            </a:extLst>
          </p:cNvPr>
          <p:cNvGrpSpPr/>
          <p:nvPr/>
        </p:nvGrpSpPr>
        <p:grpSpPr>
          <a:xfrm>
            <a:off x="6285720" y="1448904"/>
            <a:ext cx="5120642" cy="2590361"/>
            <a:chOff x="6443681" y="2325426"/>
            <a:chExt cx="4634698" cy="238914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880CCE4-2103-38DE-5DF7-2E7D4F34413D}"/>
                </a:ext>
              </a:extLst>
            </p:cNvPr>
            <p:cNvGrpSpPr/>
            <p:nvPr/>
          </p:nvGrpSpPr>
          <p:grpSpPr>
            <a:xfrm>
              <a:off x="6443681" y="2325426"/>
              <a:ext cx="4634698" cy="2389141"/>
              <a:chOff x="1549191" y="4116845"/>
              <a:chExt cx="2864840" cy="1986995"/>
            </a:xfrm>
          </p:grpSpPr>
          <p:sp>
            <p:nvSpPr>
              <p:cNvPr id="15" name="Flowchart: Magnetic Disk 4">
                <a:extLst>
                  <a:ext uri="{FF2B5EF4-FFF2-40B4-BE49-F238E27FC236}">
                    <a16:creationId xmlns:a16="http://schemas.microsoft.com/office/drawing/2014/main" id="{828D8AD5-B105-96D3-1579-AE9C801DFF25}"/>
                  </a:ext>
                </a:extLst>
              </p:cNvPr>
              <p:cNvSpPr/>
              <p:nvPr/>
            </p:nvSpPr>
            <p:spPr>
              <a:xfrm>
                <a:off x="1549191" y="4116845"/>
                <a:ext cx="1145936" cy="708685"/>
              </a:xfrm>
              <a:prstGeom prst="flowChartMagneticDisk">
                <a:avLst/>
              </a:prstGeom>
              <a:solidFill>
                <a:srgbClr val="0078D4"/>
              </a:solidFill>
              <a:ln w="25400">
                <a:solidFill>
                  <a:schemeClr val="bg1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Segoe UI" panose="020B0502040204020203" pitchFamily="34" charset="0"/>
                    <a:cs typeface="Segoe UI" panose="020B0502040204020203" pitchFamily="34" charset="0"/>
                  </a:rPr>
                  <a:t>Vector</a:t>
                </a:r>
              </a:p>
            </p:txBody>
          </p:sp>
          <p:sp>
            <p:nvSpPr>
              <p:cNvPr id="17" name="Flowchart: Magnetic Disk 5">
                <a:extLst>
                  <a:ext uri="{FF2B5EF4-FFF2-40B4-BE49-F238E27FC236}">
                    <a16:creationId xmlns:a16="http://schemas.microsoft.com/office/drawing/2014/main" id="{B85E29AB-1C94-26FA-A31F-21DDA255C770}"/>
                  </a:ext>
                </a:extLst>
              </p:cNvPr>
              <p:cNvSpPr/>
              <p:nvPr/>
            </p:nvSpPr>
            <p:spPr>
              <a:xfrm>
                <a:off x="3268095" y="4116845"/>
                <a:ext cx="1145936" cy="708685"/>
              </a:xfrm>
              <a:prstGeom prst="flowChartMagneticDisk">
                <a:avLst/>
              </a:prstGeom>
              <a:solidFill>
                <a:srgbClr val="0078D4"/>
              </a:solidFill>
              <a:ln w="25400">
                <a:solidFill>
                  <a:schemeClr val="bg1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Segoe UI" panose="020B0502040204020203" pitchFamily="34" charset="0"/>
                    <a:cs typeface="Segoe UI" panose="020B0502040204020203" pitchFamily="34" charset="0"/>
                  </a:rPr>
                  <a:t>Keywords</a:t>
                </a:r>
              </a:p>
            </p:txBody>
          </p:sp>
          <p:sp>
            <p:nvSpPr>
              <p:cNvPr id="18" name="Rectangle: Rounded Corners 7">
                <a:extLst>
                  <a:ext uri="{FF2B5EF4-FFF2-40B4-BE49-F238E27FC236}">
                    <a16:creationId xmlns:a16="http://schemas.microsoft.com/office/drawing/2014/main" id="{C3FB6047-84B5-6850-FA86-E78CA23C5CA7}"/>
                  </a:ext>
                </a:extLst>
              </p:cNvPr>
              <p:cNvSpPr/>
              <p:nvPr/>
            </p:nvSpPr>
            <p:spPr>
              <a:xfrm>
                <a:off x="2352441" y="5395155"/>
                <a:ext cx="1393707" cy="708685"/>
              </a:xfrm>
              <a:prstGeom prst="roundRect">
                <a:avLst/>
              </a:prstGeom>
              <a:solidFill>
                <a:srgbClr val="0078D4"/>
              </a:solidFill>
              <a:ln w="25400">
                <a:solidFill>
                  <a:schemeClr val="bg1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Segoe UI" panose="020B0502040204020203" pitchFamily="34" charset="0"/>
                    <a:cs typeface="Segoe UI" panose="020B0502040204020203" pitchFamily="34" charset="0"/>
                  </a:rPr>
                  <a:t>Fusion</a:t>
                </a:r>
                <a:br>
                  <a:rPr lang="en-US">
                    <a:latin typeface="Segoe UI" panose="020B0502040204020203" pitchFamily="34" charset="0"/>
                    <a:cs typeface="Segoe UI" panose="020B0502040204020203" pitchFamily="34" charset="0"/>
                  </a:rPr>
                </a:br>
                <a:r>
                  <a:rPr lang="en-US" sz="1400">
                    <a:latin typeface="Segoe UI" panose="020B0502040204020203" pitchFamily="34" charset="0"/>
                    <a:cs typeface="Segoe UI" panose="020B0502040204020203" pitchFamily="34" charset="0"/>
                  </a:rPr>
                  <a:t>(RRF)</a:t>
                </a:r>
                <a:endParaRPr lang="en-US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cxnSp>
          <p:nvCxnSpPr>
            <p:cNvPr id="13" name="Connector: Elbow 22">
              <a:extLst>
                <a:ext uri="{FF2B5EF4-FFF2-40B4-BE49-F238E27FC236}">
                  <a16:creationId xmlns:a16="http://schemas.microsoft.com/office/drawing/2014/main" id="{A250088B-EAEB-E62B-524E-787131389F12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 rot="16200000" flipH="1">
              <a:off x="7949346" y="2598820"/>
              <a:ext cx="342454" cy="1499904"/>
            </a:xfrm>
            <a:prstGeom prst="bentConnector2">
              <a:avLst/>
            </a:prstGeom>
            <a:ln w="25400" cap="rnd">
              <a:solidFill>
                <a:srgbClr val="0078D4"/>
              </a:solidFill>
              <a:headEnd type="none" w="sm" len="sm"/>
              <a:tailEnd type="non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: Elbow 23">
              <a:extLst>
                <a:ext uri="{FF2B5EF4-FFF2-40B4-BE49-F238E27FC236}">
                  <a16:creationId xmlns:a16="http://schemas.microsoft.com/office/drawing/2014/main" id="{E4CB6E9D-8D0C-98E8-E14D-E055F3387D4E}"/>
                </a:ext>
              </a:extLst>
            </p:cNvPr>
            <p:cNvCxnSpPr>
              <a:cxnSpLocks/>
              <a:stCxn id="17" idx="3"/>
              <a:endCxn id="18" idx="0"/>
            </p:cNvCxnSpPr>
            <p:nvPr/>
          </p:nvCxnSpPr>
          <p:spPr>
            <a:xfrm rot="5400000">
              <a:off x="9168528" y="2879544"/>
              <a:ext cx="684911" cy="1280912"/>
            </a:xfrm>
            <a:prstGeom prst="bentConnector3">
              <a:avLst>
                <a:gd name="adj1" fmla="val 50000"/>
              </a:avLst>
            </a:prstGeom>
            <a:ln w="25400" cap="rnd">
              <a:solidFill>
                <a:srgbClr val="0078D4"/>
              </a:solidFill>
              <a:headEnd type="none" w="lg" len="med"/>
              <a:tailEnd type="arrow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13764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4F4E3-1F1E-C71E-1959-65B127734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96">
            <a:extLst>
              <a:ext uri="{FF2B5EF4-FFF2-40B4-BE49-F238E27FC236}">
                <a16:creationId xmlns:a16="http://schemas.microsoft.com/office/drawing/2014/main" id="{866C0520-391C-9BDA-D9F4-A336D2BF7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678896" y="586071"/>
            <a:ext cx="2559585" cy="1276553"/>
          </a:xfrm>
          <a:prstGeom prst="roundRect">
            <a:avLst>
              <a:gd name="adj" fmla="val 7823"/>
            </a:avLst>
          </a:prstGeom>
          <a:solidFill>
            <a:schemeClr val="bg2"/>
          </a:solidFill>
          <a:ln w="190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latin typeface="Segoe UI Variable Display Semib" pitchFamily="2" charset="0"/>
            </a:endParaRPr>
          </a:p>
        </p:txBody>
      </p:sp>
      <p:sp>
        <p:nvSpPr>
          <p:cNvPr id="40" name="Graphic 37">
            <a:extLst>
              <a:ext uri="{FF2B5EF4-FFF2-40B4-BE49-F238E27FC236}">
                <a16:creationId xmlns:a16="http://schemas.microsoft.com/office/drawing/2014/main" id="{7AFFAD1A-FF71-C33D-956B-89C947164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01115" y="4410409"/>
            <a:ext cx="534443" cy="627648"/>
          </a:xfrm>
          <a:custGeom>
            <a:avLst/>
            <a:gdLst>
              <a:gd name="connsiteX0" fmla="*/ 359139 w 534443"/>
              <a:gd name="connsiteY0" fmla="*/ 390553 h 627648"/>
              <a:gd name="connsiteX1" fmla="*/ 379675 w 534443"/>
              <a:gd name="connsiteY1" fmla="*/ 501767 h 627648"/>
              <a:gd name="connsiteX2" fmla="*/ 305591 w 534443"/>
              <a:gd name="connsiteY2" fmla="*/ 627649 h 627648"/>
              <a:gd name="connsiteX3" fmla="*/ 264608 w 534443"/>
              <a:gd name="connsiteY3" fmla="*/ 581806 h 627648"/>
              <a:gd name="connsiteX4" fmla="*/ 256607 w 534443"/>
              <a:gd name="connsiteY4" fmla="*/ 551551 h 627648"/>
              <a:gd name="connsiteX5" fmla="*/ 241020 w 534443"/>
              <a:gd name="connsiteY5" fmla="*/ 497292 h 627648"/>
              <a:gd name="connsiteX6" fmla="*/ 240131 w 534443"/>
              <a:gd name="connsiteY6" fmla="*/ 495366 h 627648"/>
              <a:gd name="connsiteX7" fmla="*/ 155202 w 534443"/>
              <a:gd name="connsiteY7" fmla="*/ 362431 h 627648"/>
              <a:gd name="connsiteX8" fmla="*/ 70599 w 534443"/>
              <a:gd name="connsiteY8" fmla="*/ 293474 h 627648"/>
              <a:gd name="connsiteX9" fmla="*/ 33350 w 534443"/>
              <a:gd name="connsiteY9" fmla="*/ 279250 h 627648"/>
              <a:gd name="connsiteX10" fmla="*/ 961 w 534443"/>
              <a:gd name="connsiteY10" fmla="*/ 220902 h 627648"/>
              <a:gd name="connsiteX11" fmla="*/ 21289 w 534443"/>
              <a:gd name="connsiteY11" fmla="*/ 116029 h 627648"/>
              <a:gd name="connsiteX12" fmla="*/ 70895 w 534443"/>
              <a:gd name="connsiteY12" fmla="*/ 63993 h 627648"/>
              <a:gd name="connsiteX13" fmla="*/ 315370 w 534443"/>
              <a:gd name="connsiteY13" fmla="*/ 4075 h 627648"/>
              <a:gd name="connsiteX14" fmla="*/ 485258 w 534443"/>
              <a:gd name="connsiteY14" fmla="*/ 106013 h 627648"/>
              <a:gd name="connsiteX15" fmla="*/ 531901 w 534443"/>
              <a:gd name="connsiteY15" fmla="*/ 288940 h 627648"/>
              <a:gd name="connsiteX16" fmla="*/ 473052 w 534443"/>
              <a:gd name="connsiteY16" fmla="*/ 388031 h 627648"/>
              <a:gd name="connsiteX17" fmla="*/ 452928 w 534443"/>
              <a:gd name="connsiteY17" fmla="*/ 390553 h 627648"/>
              <a:gd name="connsiteX18" fmla="*/ 359139 w 534443"/>
              <a:gd name="connsiteY18" fmla="*/ 390553 h 627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4443" h="627648">
                <a:moveTo>
                  <a:pt x="359139" y="390553"/>
                </a:moveTo>
                <a:cubicBezTo>
                  <a:pt x="372770" y="432839"/>
                  <a:pt x="379675" y="469851"/>
                  <a:pt x="379675" y="501767"/>
                </a:cubicBezTo>
                <a:cubicBezTo>
                  <a:pt x="379675" y="572857"/>
                  <a:pt x="351849" y="627649"/>
                  <a:pt x="305591" y="627649"/>
                </a:cubicBezTo>
                <a:cubicBezTo>
                  <a:pt x="281885" y="627649"/>
                  <a:pt x="273647" y="614314"/>
                  <a:pt x="264608" y="581806"/>
                </a:cubicBezTo>
                <a:lnTo>
                  <a:pt x="256607" y="551551"/>
                </a:lnTo>
                <a:cubicBezTo>
                  <a:pt x="253644" y="540912"/>
                  <a:pt x="248429" y="522806"/>
                  <a:pt x="241020" y="497292"/>
                </a:cubicBezTo>
                <a:cubicBezTo>
                  <a:pt x="240819" y="496610"/>
                  <a:pt x="240519" y="495961"/>
                  <a:pt x="240131" y="495366"/>
                </a:cubicBezTo>
                <a:lnTo>
                  <a:pt x="155202" y="362431"/>
                </a:lnTo>
                <a:cubicBezTo>
                  <a:pt x="135104" y="330987"/>
                  <a:pt x="105451" y="306818"/>
                  <a:pt x="70599" y="293474"/>
                </a:cubicBezTo>
                <a:lnTo>
                  <a:pt x="33350" y="279250"/>
                </a:lnTo>
                <a:cubicBezTo>
                  <a:pt x="9811" y="270253"/>
                  <a:pt x="-3854" y="245637"/>
                  <a:pt x="961" y="220902"/>
                </a:cubicBezTo>
                <a:lnTo>
                  <a:pt x="21289" y="116029"/>
                </a:lnTo>
                <a:cubicBezTo>
                  <a:pt x="26256" y="90491"/>
                  <a:pt x="45624" y="70175"/>
                  <a:pt x="70895" y="63993"/>
                </a:cubicBezTo>
                <a:lnTo>
                  <a:pt x="315370" y="4075"/>
                </a:lnTo>
                <a:cubicBezTo>
                  <a:pt x="390375" y="-14300"/>
                  <a:pt x="466180" y="31185"/>
                  <a:pt x="485258" y="106013"/>
                </a:cubicBezTo>
                <a:lnTo>
                  <a:pt x="531901" y="288940"/>
                </a:lnTo>
                <a:cubicBezTo>
                  <a:pt x="543014" y="332554"/>
                  <a:pt x="516667" y="376918"/>
                  <a:pt x="473052" y="388031"/>
                </a:cubicBezTo>
                <a:cubicBezTo>
                  <a:pt x="466477" y="389705"/>
                  <a:pt x="459714" y="390553"/>
                  <a:pt x="452928" y="390553"/>
                </a:cubicBezTo>
                <a:lnTo>
                  <a:pt x="359139" y="390553"/>
                </a:lnTo>
                <a:close/>
              </a:path>
            </a:pathLst>
          </a:custGeom>
          <a:gradFill flip="none" rotWithShape="1">
            <a:gsLst>
              <a:gs pos="80000">
                <a:srgbClr val="AC35AF"/>
              </a:gs>
              <a:gs pos="0">
                <a:srgbClr val="F65567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39" name="Graphic 35">
            <a:extLst>
              <a:ext uri="{FF2B5EF4-FFF2-40B4-BE49-F238E27FC236}">
                <a16:creationId xmlns:a16="http://schemas.microsoft.com/office/drawing/2014/main" id="{9A0FBF5D-C485-2C57-4FCD-EDD28DD79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58046" y="4410409"/>
            <a:ext cx="534410" cy="627649"/>
          </a:xfrm>
          <a:custGeom>
            <a:avLst/>
            <a:gdLst>
              <a:gd name="connsiteX0" fmla="*/ 359106 w 534410"/>
              <a:gd name="connsiteY0" fmla="*/ 237096 h 627649"/>
              <a:gd name="connsiteX1" fmla="*/ 379642 w 534410"/>
              <a:gd name="connsiteY1" fmla="*/ 125882 h 627649"/>
              <a:gd name="connsiteX2" fmla="*/ 305558 w 534410"/>
              <a:gd name="connsiteY2" fmla="*/ 0 h 627649"/>
              <a:gd name="connsiteX3" fmla="*/ 262975 w 534410"/>
              <a:gd name="connsiteY3" fmla="*/ 51769 h 627649"/>
              <a:gd name="connsiteX4" fmla="*/ 256604 w 534410"/>
              <a:gd name="connsiteY4" fmla="*/ 76098 h 627649"/>
              <a:gd name="connsiteX5" fmla="*/ 240987 w 534410"/>
              <a:gd name="connsiteY5" fmla="*/ 130357 h 627649"/>
              <a:gd name="connsiteX6" fmla="*/ 240098 w 534410"/>
              <a:gd name="connsiteY6" fmla="*/ 132283 h 627649"/>
              <a:gd name="connsiteX7" fmla="*/ 155169 w 534410"/>
              <a:gd name="connsiteY7" fmla="*/ 265218 h 627649"/>
              <a:gd name="connsiteX8" fmla="*/ 70566 w 534410"/>
              <a:gd name="connsiteY8" fmla="*/ 334175 h 627649"/>
              <a:gd name="connsiteX9" fmla="*/ 33317 w 534410"/>
              <a:gd name="connsiteY9" fmla="*/ 348429 h 627649"/>
              <a:gd name="connsiteX10" fmla="*/ 957 w 534410"/>
              <a:gd name="connsiteY10" fmla="*/ 406747 h 627649"/>
              <a:gd name="connsiteX11" fmla="*/ 21286 w 534410"/>
              <a:gd name="connsiteY11" fmla="*/ 511590 h 627649"/>
              <a:gd name="connsiteX12" fmla="*/ 70862 w 534410"/>
              <a:gd name="connsiteY12" fmla="*/ 563656 h 627649"/>
              <a:gd name="connsiteX13" fmla="*/ 315337 w 534410"/>
              <a:gd name="connsiteY13" fmla="*/ 623574 h 627649"/>
              <a:gd name="connsiteX14" fmla="*/ 485225 w 534410"/>
              <a:gd name="connsiteY14" fmla="*/ 521636 h 627649"/>
              <a:gd name="connsiteX15" fmla="*/ 531868 w 534410"/>
              <a:gd name="connsiteY15" fmla="*/ 338709 h 627649"/>
              <a:gd name="connsiteX16" fmla="*/ 473019 w 534410"/>
              <a:gd name="connsiteY16" fmla="*/ 239619 h 627649"/>
              <a:gd name="connsiteX17" fmla="*/ 452895 w 534410"/>
              <a:gd name="connsiteY17" fmla="*/ 237096 h 627649"/>
              <a:gd name="connsiteX18" fmla="*/ 359106 w 534410"/>
              <a:gd name="connsiteY18" fmla="*/ 237096 h 627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4410" h="627649">
                <a:moveTo>
                  <a:pt x="359106" y="237096"/>
                </a:moveTo>
                <a:cubicBezTo>
                  <a:pt x="372737" y="194810"/>
                  <a:pt x="379642" y="157798"/>
                  <a:pt x="379642" y="125882"/>
                </a:cubicBezTo>
                <a:cubicBezTo>
                  <a:pt x="379642" y="54792"/>
                  <a:pt x="351816" y="0"/>
                  <a:pt x="305558" y="0"/>
                </a:cubicBezTo>
                <a:cubicBezTo>
                  <a:pt x="280459" y="0"/>
                  <a:pt x="272695" y="14965"/>
                  <a:pt x="262975" y="51769"/>
                </a:cubicBezTo>
                <a:cubicBezTo>
                  <a:pt x="263479" y="49843"/>
                  <a:pt x="258145" y="70557"/>
                  <a:pt x="256604" y="76098"/>
                </a:cubicBezTo>
                <a:cubicBezTo>
                  <a:pt x="253611" y="86766"/>
                  <a:pt x="248396" y="104843"/>
                  <a:pt x="240987" y="130357"/>
                </a:cubicBezTo>
                <a:cubicBezTo>
                  <a:pt x="240786" y="131039"/>
                  <a:pt x="240486" y="131688"/>
                  <a:pt x="240098" y="132283"/>
                </a:cubicBezTo>
                <a:lnTo>
                  <a:pt x="155169" y="265218"/>
                </a:lnTo>
                <a:cubicBezTo>
                  <a:pt x="135073" y="296665"/>
                  <a:pt x="105419" y="320834"/>
                  <a:pt x="70566" y="334175"/>
                </a:cubicBezTo>
                <a:lnTo>
                  <a:pt x="33317" y="348429"/>
                </a:lnTo>
                <a:cubicBezTo>
                  <a:pt x="9803" y="357434"/>
                  <a:pt x="-3845" y="382030"/>
                  <a:pt x="957" y="406747"/>
                </a:cubicBezTo>
                <a:lnTo>
                  <a:pt x="21286" y="511590"/>
                </a:lnTo>
                <a:cubicBezTo>
                  <a:pt x="26238" y="537131"/>
                  <a:pt x="45594" y="557459"/>
                  <a:pt x="70862" y="563656"/>
                </a:cubicBezTo>
                <a:lnTo>
                  <a:pt x="315337" y="623574"/>
                </a:lnTo>
                <a:cubicBezTo>
                  <a:pt x="390342" y="641950"/>
                  <a:pt x="466147" y="596463"/>
                  <a:pt x="485225" y="521636"/>
                </a:cubicBezTo>
                <a:lnTo>
                  <a:pt x="531868" y="338709"/>
                </a:lnTo>
                <a:cubicBezTo>
                  <a:pt x="542981" y="295095"/>
                  <a:pt x="516634" y="250732"/>
                  <a:pt x="473019" y="239619"/>
                </a:cubicBezTo>
                <a:cubicBezTo>
                  <a:pt x="466444" y="237944"/>
                  <a:pt x="459681" y="237096"/>
                  <a:pt x="452895" y="237096"/>
                </a:cubicBezTo>
                <a:lnTo>
                  <a:pt x="359106" y="237096"/>
                </a:lnTo>
                <a:close/>
              </a:path>
            </a:pathLst>
          </a:custGeom>
          <a:gradFill flip="none" rotWithShape="1">
            <a:gsLst>
              <a:gs pos="80000">
                <a:srgbClr val="1774A7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8575B6-768D-A86C-1A8F-8669BDF18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V="1">
            <a:off x="0" y="5423369"/>
            <a:ext cx="12192000" cy="101160"/>
          </a:xfrm>
          <a:prstGeom prst="rect">
            <a:avLst/>
          </a:prstGeom>
          <a:solidFill>
            <a:srgbClr val="B1B3B3"/>
          </a:solidFill>
          <a:effectLst/>
        </p:spPr>
        <p:txBody>
          <a:bodyPr wrap="square" lIns="146957" tIns="25718" rIns="146957" bIns="27432" rtlCol="0">
            <a:noAutofit/>
          </a:bodyPr>
          <a:lstStyle>
            <a:defPPr>
              <a:defRPr lang="en-US"/>
            </a:defPPr>
            <a:lvl1pPr algn="ctr" defTabSz="2275850" fontAlgn="base">
              <a:spcBef>
                <a:spcPct val="0"/>
              </a:spcBef>
              <a:spcAft>
                <a:spcPct val="0"/>
              </a:spcAft>
              <a:tabLst>
                <a:tab pos="3701239" algn="l"/>
              </a:tabLst>
              <a:defRPr sz="6000" b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" pitchFamily="2" charset="0"/>
                <a:cs typeface="Segoe UI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19" name="Rectangle: Rounded Corners 90">
            <a:extLst>
              <a:ext uri="{FF2B5EF4-FFF2-40B4-BE49-F238E27FC236}">
                <a16:creationId xmlns:a16="http://schemas.microsoft.com/office/drawing/2014/main" id="{00E872E9-F017-F9F9-A54A-AA4792A10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678898" y="2151505"/>
            <a:ext cx="2563762" cy="526870"/>
          </a:xfrm>
          <a:prstGeom prst="roundRect">
            <a:avLst>
              <a:gd name="adj" fmla="val 18598"/>
            </a:avLst>
          </a:prstGeom>
          <a:solidFill>
            <a:schemeClr val="bg2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22" name="Rectangle: Rounded Corners 88">
            <a:extLst>
              <a:ext uri="{FF2B5EF4-FFF2-40B4-BE49-F238E27FC236}">
                <a16:creationId xmlns:a16="http://schemas.microsoft.com/office/drawing/2014/main" id="{00640927-DE9D-B7F1-FE01-3C43BA6F3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678897" y="2717285"/>
            <a:ext cx="2559585" cy="526870"/>
          </a:xfrm>
          <a:prstGeom prst="roundRect">
            <a:avLst>
              <a:gd name="adj" fmla="val 18598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32" name="Rectangle: Rounded Corners 88">
            <a:extLst>
              <a:ext uri="{FF2B5EF4-FFF2-40B4-BE49-F238E27FC236}">
                <a16:creationId xmlns:a16="http://schemas.microsoft.com/office/drawing/2014/main" id="{5B17555A-F0CE-E309-321B-1416D53ED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678896" y="3310571"/>
            <a:ext cx="2559585" cy="526870"/>
          </a:xfrm>
          <a:prstGeom prst="roundRect">
            <a:avLst>
              <a:gd name="adj" fmla="val 18598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38" name="Rectangle: Rounded Corners 90">
            <a:extLst>
              <a:ext uri="{FF2B5EF4-FFF2-40B4-BE49-F238E27FC236}">
                <a16:creationId xmlns:a16="http://schemas.microsoft.com/office/drawing/2014/main" id="{7A065501-624C-5347-0BF1-9AAC05AE3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019911" y="2145828"/>
            <a:ext cx="2992889" cy="526870"/>
          </a:xfrm>
          <a:prstGeom prst="roundRect">
            <a:avLst>
              <a:gd name="adj" fmla="val 18598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43" name="Rectangle: Rounded Corners 88">
            <a:extLst>
              <a:ext uri="{FF2B5EF4-FFF2-40B4-BE49-F238E27FC236}">
                <a16:creationId xmlns:a16="http://schemas.microsoft.com/office/drawing/2014/main" id="{D950A5A2-9200-3E9E-3CEA-F0AD8D20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019911" y="2711608"/>
            <a:ext cx="2992889" cy="526870"/>
          </a:xfrm>
          <a:prstGeom prst="roundRect">
            <a:avLst>
              <a:gd name="adj" fmla="val 18598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46" name="Rectangle: Rounded Corners 88">
            <a:extLst>
              <a:ext uri="{FF2B5EF4-FFF2-40B4-BE49-F238E27FC236}">
                <a16:creationId xmlns:a16="http://schemas.microsoft.com/office/drawing/2014/main" id="{E3084CFA-5AAA-2668-297B-CDC28C2EF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019910" y="3304894"/>
            <a:ext cx="2992889" cy="526870"/>
          </a:xfrm>
          <a:prstGeom prst="roundRect">
            <a:avLst>
              <a:gd name="adj" fmla="val 18598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4241FA0-8BD5-69ED-E0F6-DB7BA56C2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38" idx="1"/>
            <a:endCxn id="51" idx="3"/>
          </p:cNvCxnSpPr>
          <p:nvPr/>
        </p:nvCxnSpPr>
        <p:spPr>
          <a:xfrm flipH="1">
            <a:off x="8552758" y="2409263"/>
            <a:ext cx="467153" cy="557992"/>
          </a:xfrm>
          <a:prstGeom prst="line">
            <a:avLst/>
          </a:prstGeom>
          <a:ln w="12700" cap="rnd">
            <a:solidFill>
              <a:srgbClr val="000000"/>
            </a:solidFill>
            <a:headEnd type="oval" w="lg" len="lg"/>
            <a:tailEnd type="oval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B67C35A-EE2B-9C80-1B3D-D7B1AE19B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3" idx="1"/>
            <a:endCxn id="51" idx="3"/>
          </p:cNvCxnSpPr>
          <p:nvPr/>
        </p:nvCxnSpPr>
        <p:spPr>
          <a:xfrm flipH="1" flipV="1">
            <a:off x="8552758" y="2967255"/>
            <a:ext cx="467153" cy="7788"/>
          </a:xfrm>
          <a:prstGeom prst="line">
            <a:avLst/>
          </a:prstGeom>
          <a:ln w="12700" cap="rnd">
            <a:solidFill>
              <a:srgbClr val="000000"/>
            </a:solidFill>
            <a:headEnd type="oval" w="lg" len="lg"/>
            <a:tailEnd type="oval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702A814-BD90-4778-C190-98C73E7B0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6" idx="1"/>
          </p:cNvCxnSpPr>
          <p:nvPr/>
        </p:nvCxnSpPr>
        <p:spPr>
          <a:xfrm flipH="1" flipV="1">
            <a:off x="8560496" y="2961388"/>
            <a:ext cx="459414" cy="606941"/>
          </a:xfrm>
          <a:prstGeom prst="line">
            <a:avLst/>
          </a:prstGeom>
          <a:ln w="12700" cap="rnd">
            <a:solidFill>
              <a:srgbClr val="000000"/>
            </a:solidFill>
            <a:headEnd type="oval" w="lg" len="lg"/>
            <a:tailEnd type="oval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7394A09-C601-770E-EFF3-62376405F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9" idx="3"/>
            <a:endCxn id="51" idx="1"/>
          </p:cNvCxnSpPr>
          <p:nvPr/>
        </p:nvCxnSpPr>
        <p:spPr>
          <a:xfrm>
            <a:off x="7242660" y="2414940"/>
            <a:ext cx="557963" cy="552315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1FB9F33-ED41-AC23-9423-C339A904F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51" idx="1"/>
            <a:endCxn id="22" idx="3"/>
          </p:cNvCxnSpPr>
          <p:nvPr/>
        </p:nvCxnSpPr>
        <p:spPr>
          <a:xfrm flipH="1">
            <a:off x="7238482" y="2967255"/>
            <a:ext cx="562141" cy="13465"/>
          </a:xfrm>
          <a:prstGeom prst="line">
            <a:avLst/>
          </a:prstGeom>
          <a:ln w="12700" cap="rnd">
            <a:solidFill>
              <a:srgbClr val="000000"/>
            </a:solidFill>
            <a:headEnd type="oval" w="lg" len="lg"/>
            <a:tailEnd type="oval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9556A13-8A09-681F-D89E-05413017D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51" idx="1"/>
          </p:cNvCxnSpPr>
          <p:nvPr/>
        </p:nvCxnSpPr>
        <p:spPr>
          <a:xfrm flipH="1">
            <a:off x="7254092" y="2967255"/>
            <a:ext cx="546531" cy="605625"/>
          </a:xfrm>
          <a:prstGeom prst="line">
            <a:avLst/>
          </a:prstGeom>
          <a:ln w="12700" cap="rnd">
            <a:solidFill>
              <a:srgbClr val="000000"/>
            </a:solidFill>
            <a:headEnd type="oval" w="lg" len="lg"/>
            <a:tailEnd type="oval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F3E391A-845C-3039-9C92-F24026F7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51" idx="1"/>
          </p:cNvCxnSpPr>
          <p:nvPr/>
        </p:nvCxnSpPr>
        <p:spPr>
          <a:xfrm>
            <a:off x="7238481" y="1278313"/>
            <a:ext cx="562142" cy="1688942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E596A127-10D6-089E-47D3-C6C1232C335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40663" y="609600"/>
            <a:ext cx="3650716" cy="55399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0" normalizeH="0" baseline="0" noProof="0" dirty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rPr>
              <a:t>Semantic Ranker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F9708-CF9D-96CB-93AD-C97EC9524EED}"/>
              </a:ext>
            </a:extLst>
          </p:cNvPr>
          <p:cNvSpPr txBox="1"/>
          <p:nvPr/>
        </p:nvSpPr>
        <p:spPr>
          <a:xfrm>
            <a:off x="753937" y="1944423"/>
            <a:ext cx="3316427" cy="1477328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A re-ranker model (cross-encoder) that </a:t>
            </a:r>
            <a:r>
              <a:rPr kumimoji="0" lang="en-US" sz="2400" b="0" i="0" u="none" strike="noStrike" kern="1200" cap="none" spc="0" normalizeH="0" baseline="0" noProof="0" dirty="0" err="1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reranks</a:t>
            </a:r>
            <a:r>
              <a:rPr kumimoji="0" lang="en-US" sz="2400" b="0" i="0" u="none" strike="noStrike" kern="1200" cap="none" spc="0" normalizeH="0" baseline="0" noProof="0" dirty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 documents and assigns scores.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EDF980-89B4-9197-42A8-72E3E7844B6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830236" y="762682"/>
            <a:ext cx="2408245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Query:</a:t>
            </a:r>
          </a:p>
          <a:p>
            <a:pPr marL="0" marR="0" lvl="0" indent="0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toddler-friendly</a:t>
            </a:r>
          </a:p>
          <a:p>
            <a:pPr marL="0" marR="0" lvl="0" indent="0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Segoe UI"/>
              </a:rPr>
              <a:t>movies about cats?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63DA9A9-3FDF-C928-B497-ACF5226F617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830237" y="2297259"/>
            <a:ext cx="235362" cy="235362"/>
          </a:xfrm>
          <a:prstGeom prst="ellipse">
            <a:avLst/>
          </a:prstGeom>
          <a:gradFill flip="none" rotWithShape="1">
            <a:gsLst>
              <a:gs pos="80000">
                <a:srgbClr val="EE526F"/>
              </a:gs>
              <a:gs pos="0">
                <a:srgbClr val="C8419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510A0E-0F23-2427-2AC1-A66CE1F3B0D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209201" y="2301062"/>
            <a:ext cx="1789650" cy="22775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lvl="0" fontAlgn="t">
              <a:lnSpc>
                <a:spcPct val="90000"/>
              </a:lnSpc>
              <a:defRPr/>
            </a:pPr>
            <a:r>
              <a:rPr lang="en-US" sz="1600" dirty="0"/>
              <a:t>Winnie the Pooh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3FAECD1-1FBB-51CE-2241-D9FD46187B5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830237" y="2863039"/>
            <a:ext cx="235362" cy="235362"/>
          </a:xfrm>
          <a:prstGeom prst="ellipse">
            <a:avLst/>
          </a:prstGeom>
          <a:gradFill flip="none" rotWithShape="1">
            <a:gsLst>
              <a:gs pos="80000">
                <a:srgbClr val="EE526F"/>
              </a:gs>
              <a:gs pos="0">
                <a:srgbClr val="C8419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464413-1B7A-A523-9247-CEC0DAA6D3D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209201" y="2866842"/>
            <a:ext cx="1789650" cy="22775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The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Aristocats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ADC78F0-5927-AD8D-6815-40AA699E79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830236" y="3456325"/>
            <a:ext cx="235362" cy="235362"/>
          </a:xfrm>
          <a:prstGeom prst="ellipse">
            <a:avLst/>
          </a:prstGeom>
          <a:gradFill flip="none" rotWithShape="1">
            <a:gsLst>
              <a:gs pos="80000">
                <a:srgbClr val="EE526F"/>
              </a:gs>
              <a:gs pos="0">
                <a:srgbClr val="C8419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rPr>
              <a:t>3</a:t>
            </a:r>
            <a:endParaRPr kumimoji="0" lang="en-US" sz="1100" b="1" i="0" u="none" strike="noStrike" kern="1200" cap="none" spc="0" normalizeH="0" baseline="0" noProof="0" dirty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F6BCA37-7681-1C8F-FC52-E688ABBFA2C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209199" y="3460128"/>
            <a:ext cx="2214229" cy="22775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Lion King</a:t>
            </a:r>
          </a:p>
        </p:txBody>
      </p:sp>
      <p:sp>
        <p:nvSpPr>
          <p:cNvPr id="51" name="Rectangle: Rounded Corners 96">
            <a:extLst>
              <a:ext uri="{FF2B5EF4-FFF2-40B4-BE49-F238E27FC236}">
                <a16:creationId xmlns:a16="http://schemas.microsoft.com/office/drawing/2014/main" id="{9F437DDF-EAC4-845C-6E6C-35CBD451CBBC}"/>
              </a:ext>
            </a:extLst>
          </p:cNvPr>
          <p:cNvSpPr/>
          <p:nvPr/>
        </p:nvSpPr>
        <p:spPr bwMode="auto">
          <a:xfrm>
            <a:off x="7800623" y="2669948"/>
            <a:ext cx="752135" cy="594614"/>
          </a:xfrm>
          <a:prstGeom prst="roundRect">
            <a:avLst/>
          </a:prstGeom>
          <a:solidFill>
            <a:srgbClr val="C03BC4"/>
          </a:solidFill>
          <a:ln w="19050"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bg1"/>
                </a:solidFill>
                <a:latin typeface="Segoe UI Variable Display Semib" pitchFamily="2" charset="0"/>
              </a:rPr>
              <a:t>L2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EBECEF3-BAD5-A753-C16D-AEA0A1C1A8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9171251" y="2291582"/>
            <a:ext cx="235362" cy="235362"/>
          </a:xfrm>
          <a:prstGeom prst="ellipse">
            <a:avLst/>
          </a:prstGeom>
          <a:gradFill flip="none" rotWithShape="1">
            <a:gsLst>
              <a:gs pos="80000">
                <a:srgbClr val="EE526F"/>
              </a:gs>
              <a:gs pos="0">
                <a:srgbClr val="C8419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3FD24A-0B64-DF49-58EC-6AB1C13720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9550215" y="2295385"/>
            <a:ext cx="1789650" cy="22775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lvl="0" fontAlgn="t">
              <a:lnSpc>
                <a:spcPct val="90000"/>
              </a:lnSpc>
              <a:defRPr/>
            </a:pPr>
            <a:r>
              <a:rPr lang="en-US" sz="1600" dirty="0"/>
              <a:t>The </a:t>
            </a:r>
            <a:r>
              <a:rPr lang="en-US" sz="1600" dirty="0" err="1"/>
              <a:t>Aristocats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B04DDB3-2DA9-F283-5865-975F88ADE10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9171251" y="2857362"/>
            <a:ext cx="235362" cy="235362"/>
          </a:xfrm>
          <a:prstGeom prst="ellipse">
            <a:avLst/>
          </a:prstGeom>
          <a:gradFill flip="none" rotWithShape="1">
            <a:gsLst>
              <a:gs pos="80000">
                <a:srgbClr val="EE526F"/>
              </a:gs>
              <a:gs pos="0">
                <a:srgbClr val="C8419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1E6DDF4-4C34-59E7-8EC4-68D11728498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9550215" y="2883492"/>
            <a:ext cx="2405248" cy="22775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Lion King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9963BD6-31EB-67AA-4A71-90B2BB04493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9171250" y="3450648"/>
            <a:ext cx="235362" cy="235362"/>
          </a:xfrm>
          <a:prstGeom prst="ellipse">
            <a:avLst/>
          </a:prstGeom>
          <a:gradFill flip="none" rotWithShape="1">
            <a:gsLst>
              <a:gs pos="80000">
                <a:srgbClr val="EE526F"/>
              </a:gs>
              <a:gs pos="0">
                <a:srgbClr val="C8419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92685BA-BD1B-3B88-CC43-00B8F16DB29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9550213" y="3454451"/>
            <a:ext cx="2214229" cy="22775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Winnie the Pooh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B7CD7E-AA6D-FF3C-6C40-5E874ECB4A53}"/>
              </a:ext>
            </a:extLst>
          </p:cNvPr>
          <p:cNvSpPr txBox="1"/>
          <p:nvPr/>
        </p:nvSpPr>
        <p:spPr>
          <a:xfrm>
            <a:off x="2384268" y="4533059"/>
            <a:ext cx="7731309" cy="369332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Semantic ranker scores range from 0-4: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BAB66A6-065D-FA77-ECD1-8F3CF1E344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1426601" y="5223268"/>
            <a:ext cx="483470" cy="483470"/>
          </a:xfrm>
          <a:prstGeom prst="ellipse">
            <a:avLst/>
          </a:prstGeom>
          <a:solidFill>
            <a:srgbClr val="E24D7A"/>
          </a:solidFill>
          <a:ln w="38100">
            <a:solidFill>
              <a:srgbClr val="FFF8F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0AB51C-BB7E-EEF5-20A5-E0E85D9390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753936" y="5889704"/>
            <a:ext cx="18288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Worst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Quality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5AED9F8-0399-41FE-2C94-831D63E5895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640830" y="5223268"/>
            <a:ext cx="483470" cy="483470"/>
          </a:xfrm>
          <a:prstGeom prst="ellipse">
            <a:avLst/>
          </a:prstGeom>
          <a:solidFill>
            <a:srgbClr val="B439A7"/>
          </a:solidFill>
          <a:ln w="38100">
            <a:solidFill>
              <a:srgbClr val="FFF8F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0202367-6317-DE18-F9D2-329B050D6B8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855059" y="5223268"/>
            <a:ext cx="483470" cy="483470"/>
          </a:xfrm>
          <a:prstGeom prst="ellipse">
            <a:avLst/>
          </a:prstGeom>
          <a:solidFill>
            <a:srgbClr val="614EB4"/>
          </a:solidFill>
          <a:ln w="38100">
            <a:solidFill>
              <a:srgbClr val="FFF8F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ED6DD95-4B37-E97E-CF96-C46900807D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8069288" y="5223268"/>
            <a:ext cx="483470" cy="483470"/>
          </a:xfrm>
          <a:prstGeom prst="ellipse">
            <a:avLst/>
          </a:prstGeom>
          <a:solidFill>
            <a:srgbClr val="0B6CB9"/>
          </a:solidFill>
          <a:ln w="38100">
            <a:solidFill>
              <a:srgbClr val="FFF8F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7A451AD-6287-8780-4B14-675A733FF6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10283516" y="5223268"/>
            <a:ext cx="483470" cy="483470"/>
          </a:xfrm>
          <a:prstGeom prst="ellipse">
            <a:avLst/>
          </a:prstGeom>
          <a:solidFill>
            <a:srgbClr val="237C95"/>
          </a:solidFill>
          <a:ln w="38100">
            <a:solidFill>
              <a:srgbClr val="FFF8F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3788B1-D05C-74C5-8D86-06D6C76463D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9610851" y="5889704"/>
            <a:ext cx="18288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Best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Quality</a:t>
            </a:r>
          </a:p>
        </p:txBody>
      </p:sp>
    </p:spTree>
    <p:extLst>
      <p:ext uri="{BB962C8B-B14F-4D97-AF65-F5344CB8AC3E}">
        <p14:creationId xmlns:p14="http://schemas.microsoft.com/office/powerpoint/2010/main" val="103251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CB35D-6234-0B8A-E356-3074C0F7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D2159-1A47-0858-F54B-BC8C620C3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A complete stack gives you optimal retrieval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27E75-5BF5-E67E-99DC-E08CB508BEE9}"/>
              </a:ext>
            </a:extLst>
          </p:cNvPr>
          <p:cNvSpPr txBox="1"/>
          <p:nvPr/>
        </p:nvSpPr>
        <p:spPr>
          <a:xfrm>
            <a:off x="590869" y="1128911"/>
            <a:ext cx="11018520" cy="307777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20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Question: "What underwater activities can I do in the Bahamas?"</a:t>
            </a:r>
          </a:p>
        </p:txBody>
      </p:sp>
      <p:sp>
        <p:nvSpPr>
          <p:cNvPr id="17" name="Rounded Rectangle 14">
            <a:extLst>
              <a:ext uri="{FF2B5EF4-FFF2-40B4-BE49-F238E27FC236}">
                <a16:creationId xmlns:a16="http://schemas.microsoft.com/office/drawing/2014/main" id="{ACB83027-2526-E607-FAC0-7F6AE89AB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4200" y="1606401"/>
            <a:ext cx="11025187" cy="4662637"/>
          </a:xfrm>
          <a:prstGeom prst="roundRect">
            <a:avLst>
              <a:gd name="adj" fmla="val 3447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320040" rIns="0" bIns="0" rtlCol="0" anchor="t" anchorCtr="0">
            <a:noAutofit/>
          </a:bodyPr>
          <a:lstStyle/>
          <a:p>
            <a:pPr marL="457183" marR="0" lvl="1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8358739-56C3-72FF-3976-BB26A1D7A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40461" y="3108729"/>
            <a:ext cx="1088136" cy="1092200"/>
          </a:xfrm>
          <a:prstGeom prst="roundRect">
            <a:avLst>
              <a:gd name="adj" fmla="val 9225"/>
            </a:avLst>
          </a:prstGeom>
          <a:gradFill flip="none" rotWithShape="1">
            <a:gsLst>
              <a:gs pos="80000">
                <a:srgbClr val="1774A7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err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7" name="Graphic 20" descr="Icon of a person with a question mark next to it indicating asking a question. ">
            <a:extLst>
              <a:ext uri="{FF2B5EF4-FFF2-40B4-BE49-F238E27FC236}">
                <a16:creationId xmlns:a16="http://schemas.microsoft.com/office/drawing/2014/main" id="{C5082348-B46C-09E8-1661-44E5B67DE79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50921" y="3421221"/>
            <a:ext cx="467217" cy="467217"/>
          </a:xfrm>
          <a:custGeom>
            <a:avLst/>
            <a:gdLst>
              <a:gd name="connsiteX0" fmla="*/ 454356 w 952251"/>
              <a:gd name="connsiteY0" fmla="*/ 544066 h 952251"/>
              <a:gd name="connsiteX1" fmla="*/ 408004 w 952251"/>
              <a:gd name="connsiteY1" fmla="*/ 702805 h 952251"/>
              <a:gd name="connsiteX2" fmla="*/ 480208 w 952251"/>
              <a:gd name="connsiteY2" fmla="*/ 896058 h 952251"/>
              <a:gd name="connsiteX3" fmla="*/ 362650 w 952251"/>
              <a:gd name="connsiteY3" fmla="*/ 906943 h 952251"/>
              <a:gd name="connsiteX4" fmla="*/ 23131 w 952251"/>
              <a:gd name="connsiteY4" fmla="*/ 760132 h 952251"/>
              <a:gd name="connsiteX5" fmla="*/ 0 w 952251"/>
              <a:gd name="connsiteY5" fmla="*/ 687793 h 952251"/>
              <a:gd name="connsiteX6" fmla="*/ 0 w 952251"/>
              <a:gd name="connsiteY6" fmla="*/ 646067 h 952251"/>
              <a:gd name="connsiteX7" fmla="*/ 101956 w 952251"/>
              <a:gd name="connsiteY7" fmla="*/ 544021 h 952251"/>
              <a:gd name="connsiteX8" fmla="*/ 102001 w 952251"/>
              <a:gd name="connsiteY8" fmla="*/ 544021 h 952251"/>
              <a:gd name="connsiteX9" fmla="*/ 454401 w 952251"/>
              <a:gd name="connsiteY9" fmla="*/ 544021 h 952251"/>
              <a:gd name="connsiteX10" fmla="*/ 702805 w 952251"/>
              <a:gd name="connsiteY10" fmla="*/ 453358 h 952251"/>
              <a:gd name="connsiteX11" fmla="*/ 952252 w 952251"/>
              <a:gd name="connsiteY11" fmla="*/ 702805 h 952251"/>
              <a:gd name="connsiteX12" fmla="*/ 702805 w 952251"/>
              <a:gd name="connsiteY12" fmla="*/ 952252 h 952251"/>
              <a:gd name="connsiteX13" fmla="*/ 453358 w 952251"/>
              <a:gd name="connsiteY13" fmla="*/ 702805 h 952251"/>
              <a:gd name="connsiteX14" fmla="*/ 702805 w 952251"/>
              <a:gd name="connsiteY14" fmla="*/ 453358 h 952251"/>
              <a:gd name="connsiteX15" fmla="*/ 702805 w 952251"/>
              <a:gd name="connsiteY15" fmla="*/ 804851 h 952251"/>
              <a:gd name="connsiteX16" fmla="*/ 674459 w 952251"/>
              <a:gd name="connsiteY16" fmla="*/ 833198 h 952251"/>
              <a:gd name="connsiteX17" fmla="*/ 702805 w 952251"/>
              <a:gd name="connsiteY17" fmla="*/ 861544 h 952251"/>
              <a:gd name="connsiteX18" fmla="*/ 731151 w 952251"/>
              <a:gd name="connsiteY18" fmla="*/ 833198 h 952251"/>
              <a:gd name="connsiteX19" fmla="*/ 702805 w 952251"/>
              <a:gd name="connsiteY19" fmla="*/ 804851 h 952251"/>
              <a:gd name="connsiteX20" fmla="*/ 702805 w 952251"/>
              <a:gd name="connsiteY20" fmla="*/ 538352 h 952251"/>
              <a:gd name="connsiteX21" fmla="*/ 618764 w 952251"/>
              <a:gd name="connsiteY21" fmla="*/ 626973 h 952251"/>
              <a:gd name="connsiteX22" fmla="*/ 641668 w 952251"/>
              <a:gd name="connsiteY22" fmla="*/ 649423 h 952251"/>
              <a:gd name="connsiteX23" fmla="*/ 664118 w 952251"/>
              <a:gd name="connsiteY23" fmla="*/ 626520 h 952251"/>
              <a:gd name="connsiteX24" fmla="*/ 702805 w 952251"/>
              <a:gd name="connsiteY24" fmla="*/ 583705 h 952251"/>
              <a:gd name="connsiteX25" fmla="*/ 741537 w 952251"/>
              <a:gd name="connsiteY25" fmla="*/ 626792 h 952251"/>
              <a:gd name="connsiteX26" fmla="*/ 731378 w 952251"/>
              <a:gd name="connsiteY26" fmla="*/ 652190 h 952251"/>
              <a:gd name="connsiteX27" fmla="*/ 727115 w 952251"/>
              <a:gd name="connsiteY27" fmla="*/ 657496 h 952251"/>
              <a:gd name="connsiteX28" fmla="*/ 722579 w 952251"/>
              <a:gd name="connsiteY28" fmla="*/ 662621 h 952251"/>
              <a:gd name="connsiteX29" fmla="*/ 710560 w 952251"/>
              <a:gd name="connsiteY29" fmla="*/ 675774 h 952251"/>
              <a:gd name="connsiteX30" fmla="*/ 704392 w 952251"/>
              <a:gd name="connsiteY30" fmla="*/ 682895 h 952251"/>
              <a:gd name="connsiteX31" fmla="*/ 680128 w 952251"/>
              <a:gd name="connsiteY31" fmla="*/ 742308 h 952251"/>
              <a:gd name="connsiteX32" fmla="*/ 702805 w 952251"/>
              <a:gd name="connsiteY32" fmla="*/ 764985 h 952251"/>
              <a:gd name="connsiteX33" fmla="*/ 725482 w 952251"/>
              <a:gd name="connsiteY33" fmla="*/ 742308 h 952251"/>
              <a:gd name="connsiteX34" fmla="*/ 736322 w 952251"/>
              <a:gd name="connsiteY34" fmla="*/ 715549 h 952251"/>
              <a:gd name="connsiteX35" fmla="*/ 740177 w 952251"/>
              <a:gd name="connsiteY35" fmla="*/ 710833 h 952251"/>
              <a:gd name="connsiteX36" fmla="*/ 744712 w 952251"/>
              <a:gd name="connsiteY36" fmla="*/ 705572 h 952251"/>
              <a:gd name="connsiteX37" fmla="*/ 756822 w 952251"/>
              <a:gd name="connsiteY37" fmla="*/ 692419 h 952251"/>
              <a:gd name="connsiteX38" fmla="*/ 762899 w 952251"/>
              <a:gd name="connsiteY38" fmla="*/ 685389 h 952251"/>
              <a:gd name="connsiteX39" fmla="*/ 786891 w 952251"/>
              <a:gd name="connsiteY39" fmla="*/ 626746 h 952251"/>
              <a:gd name="connsiteX40" fmla="*/ 702805 w 952251"/>
              <a:gd name="connsiteY40" fmla="*/ 538306 h 952251"/>
              <a:gd name="connsiteX41" fmla="*/ 362650 w 952251"/>
              <a:gd name="connsiteY41" fmla="*/ 0 h 952251"/>
              <a:gd name="connsiteX42" fmla="*/ 589420 w 952251"/>
              <a:gd name="connsiteY42" fmla="*/ 226770 h 952251"/>
              <a:gd name="connsiteX43" fmla="*/ 362650 w 952251"/>
              <a:gd name="connsiteY43" fmla="*/ 453540 h 952251"/>
              <a:gd name="connsiteX44" fmla="*/ 135880 w 952251"/>
              <a:gd name="connsiteY44" fmla="*/ 226770 h 952251"/>
              <a:gd name="connsiteX45" fmla="*/ 362650 w 952251"/>
              <a:gd name="connsiteY45" fmla="*/ 0 h 952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952251" h="952251">
                <a:moveTo>
                  <a:pt x="454356" y="544066"/>
                </a:moveTo>
                <a:cubicBezTo>
                  <a:pt x="424005" y="591443"/>
                  <a:pt x="407918" y="646543"/>
                  <a:pt x="408004" y="702805"/>
                </a:cubicBezTo>
                <a:cubicBezTo>
                  <a:pt x="408004" y="776732"/>
                  <a:pt x="435217" y="844309"/>
                  <a:pt x="480208" y="896058"/>
                </a:cubicBezTo>
                <a:cubicBezTo>
                  <a:pt x="444106" y="903315"/>
                  <a:pt x="404920" y="906943"/>
                  <a:pt x="362650" y="906943"/>
                </a:cubicBezTo>
                <a:cubicBezTo>
                  <a:pt x="207540" y="906943"/>
                  <a:pt x="93066" y="858324"/>
                  <a:pt x="23131" y="760132"/>
                </a:cubicBezTo>
                <a:cubicBezTo>
                  <a:pt x="8088" y="739011"/>
                  <a:pt x="3" y="713726"/>
                  <a:pt x="0" y="687793"/>
                </a:cubicBezTo>
                <a:lnTo>
                  <a:pt x="0" y="646067"/>
                </a:lnTo>
                <a:cubicBezTo>
                  <a:pt x="-25" y="589733"/>
                  <a:pt x="45622" y="544048"/>
                  <a:pt x="101956" y="544021"/>
                </a:cubicBezTo>
                <a:cubicBezTo>
                  <a:pt x="101971" y="544021"/>
                  <a:pt x="101986" y="544021"/>
                  <a:pt x="102001" y="544021"/>
                </a:cubicBezTo>
                <a:lnTo>
                  <a:pt x="454401" y="544021"/>
                </a:lnTo>
                <a:close/>
                <a:moveTo>
                  <a:pt x="702805" y="453358"/>
                </a:moveTo>
                <a:cubicBezTo>
                  <a:pt x="840572" y="453358"/>
                  <a:pt x="952252" y="565038"/>
                  <a:pt x="952252" y="702805"/>
                </a:cubicBezTo>
                <a:cubicBezTo>
                  <a:pt x="952252" y="840572"/>
                  <a:pt x="840572" y="952252"/>
                  <a:pt x="702805" y="952252"/>
                </a:cubicBezTo>
                <a:cubicBezTo>
                  <a:pt x="565038" y="952252"/>
                  <a:pt x="453358" y="840572"/>
                  <a:pt x="453358" y="702805"/>
                </a:cubicBezTo>
                <a:cubicBezTo>
                  <a:pt x="453358" y="565038"/>
                  <a:pt x="565038" y="453358"/>
                  <a:pt x="702805" y="453358"/>
                </a:cubicBezTo>
                <a:close/>
                <a:moveTo>
                  <a:pt x="702805" y="804851"/>
                </a:moveTo>
                <a:cubicBezTo>
                  <a:pt x="687149" y="804851"/>
                  <a:pt x="674459" y="817541"/>
                  <a:pt x="674459" y="833198"/>
                </a:cubicBezTo>
                <a:cubicBezTo>
                  <a:pt x="674459" y="848854"/>
                  <a:pt x="687149" y="861544"/>
                  <a:pt x="702805" y="861544"/>
                </a:cubicBezTo>
                <a:cubicBezTo>
                  <a:pt x="718461" y="861544"/>
                  <a:pt x="731151" y="848854"/>
                  <a:pt x="731151" y="833198"/>
                </a:cubicBezTo>
                <a:cubicBezTo>
                  <a:pt x="731151" y="817541"/>
                  <a:pt x="718461" y="804851"/>
                  <a:pt x="702805" y="804851"/>
                </a:cubicBezTo>
                <a:close/>
                <a:moveTo>
                  <a:pt x="702805" y="538352"/>
                </a:moveTo>
                <a:cubicBezTo>
                  <a:pt x="655274" y="538352"/>
                  <a:pt x="618265" y="575406"/>
                  <a:pt x="618764" y="626973"/>
                </a:cubicBezTo>
                <a:cubicBezTo>
                  <a:pt x="618891" y="639495"/>
                  <a:pt x="629146" y="649550"/>
                  <a:pt x="641668" y="649423"/>
                </a:cubicBezTo>
                <a:cubicBezTo>
                  <a:pt x="654190" y="649296"/>
                  <a:pt x="664245" y="639042"/>
                  <a:pt x="664118" y="626520"/>
                </a:cubicBezTo>
                <a:cubicBezTo>
                  <a:pt x="663846" y="600260"/>
                  <a:pt x="680445" y="583705"/>
                  <a:pt x="702805" y="583705"/>
                </a:cubicBezTo>
                <a:cubicBezTo>
                  <a:pt x="724257" y="583705"/>
                  <a:pt x="741537" y="601484"/>
                  <a:pt x="741537" y="626792"/>
                </a:cubicBezTo>
                <a:cubicBezTo>
                  <a:pt x="741537" y="635500"/>
                  <a:pt x="738997" y="642303"/>
                  <a:pt x="731378" y="652190"/>
                </a:cubicBezTo>
                <a:lnTo>
                  <a:pt x="727115" y="657496"/>
                </a:lnTo>
                <a:lnTo>
                  <a:pt x="722579" y="662621"/>
                </a:lnTo>
                <a:lnTo>
                  <a:pt x="710560" y="675774"/>
                </a:lnTo>
                <a:lnTo>
                  <a:pt x="704392" y="682895"/>
                </a:lnTo>
                <a:cubicBezTo>
                  <a:pt x="686976" y="703621"/>
                  <a:pt x="680128" y="718860"/>
                  <a:pt x="680128" y="742308"/>
                </a:cubicBezTo>
                <a:cubicBezTo>
                  <a:pt x="680128" y="754831"/>
                  <a:pt x="690283" y="764985"/>
                  <a:pt x="702805" y="764985"/>
                </a:cubicBezTo>
                <a:cubicBezTo>
                  <a:pt x="715327" y="764985"/>
                  <a:pt x="725482" y="754831"/>
                  <a:pt x="725482" y="742308"/>
                </a:cubicBezTo>
                <a:cubicBezTo>
                  <a:pt x="725482" y="733101"/>
                  <a:pt x="728158" y="726026"/>
                  <a:pt x="736322" y="715549"/>
                </a:cubicBezTo>
                <a:lnTo>
                  <a:pt x="740177" y="710833"/>
                </a:lnTo>
                <a:lnTo>
                  <a:pt x="744712" y="705572"/>
                </a:lnTo>
                <a:lnTo>
                  <a:pt x="756822" y="692419"/>
                </a:lnTo>
                <a:lnTo>
                  <a:pt x="762899" y="685389"/>
                </a:lnTo>
                <a:cubicBezTo>
                  <a:pt x="780043" y="664980"/>
                  <a:pt x="786891" y="649877"/>
                  <a:pt x="786891" y="626746"/>
                </a:cubicBezTo>
                <a:cubicBezTo>
                  <a:pt x="786891" y="576721"/>
                  <a:pt x="749565" y="538306"/>
                  <a:pt x="702805" y="538306"/>
                </a:cubicBezTo>
                <a:close/>
                <a:moveTo>
                  <a:pt x="362650" y="0"/>
                </a:moveTo>
                <a:cubicBezTo>
                  <a:pt x="487891" y="0"/>
                  <a:pt x="589420" y="101528"/>
                  <a:pt x="589420" y="226770"/>
                </a:cubicBezTo>
                <a:cubicBezTo>
                  <a:pt x="589420" y="352011"/>
                  <a:pt x="487891" y="453540"/>
                  <a:pt x="362650" y="453540"/>
                </a:cubicBezTo>
                <a:cubicBezTo>
                  <a:pt x="237409" y="453540"/>
                  <a:pt x="135880" y="352011"/>
                  <a:pt x="135880" y="226770"/>
                </a:cubicBezTo>
                <a:cubicBezTo>
                  <a:pt x="135880" y="101528"/>
                  <a:pt x="237409" y="0"/>
                  <a:pt x="362650" y="0"/>
                </a:cubicBezTo>
                <a:close/>
              </a:path>
            </a:pathLst>
          </a:custGeom>
          <a:solidFill>
            <a:schemeClr val="bg1"/>
          </a:solidFill>
          <a:ln w="4524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8BD44A9-9BF8-0409-BE7E-6BC12074C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292953" y="1810226"/>
            <a:ext cx="2319953" cy="786182"/>
          </a:xfrm>
          <a:prstGeom prst="roundRect">
            <a:avLst>
              <a:gd name="adj" fmla="val 11969"/>
            </a:avLst>
          </a:prstGeom>
          <a:gradFill flip="none" rotWithShape="1">
            <a:gsLst>
              <a:gs pos="80000">
                <a:srgbClr val="654DB4"/>
              </a:gs>
              <a:gs pos="0">
                <a:srgbClr val="1774A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24" name="Graphic 22">
            <a:extLst>
              <a:ext uri="{FF2B5EF4-FFF2-40B4-BE49-F238E27FC236}">
                <a16:creationId xmlns:a16="http://schemas.microsoft.com/office/drawing/2014/main" id="{9C69E742-19DF-00BC-323F-9C4F97F3C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94652" y="2005050"/>
            <a:ext cx="317227" cy="396534"/>
          </a:xfrm>
          <a:custGeom>
            <a:avLst/>
            <a:gdLst>
              <a:gd name="connsiteX0" fmla="*/ 211115 w 422230"/>
              <a:gd name="connsiteY0" fmla="*/ 211115 h 527787"/>
              <a:gd name="connsiteX1" fmla="*/ 422230 w 422230"/>
              <a:gd name="connsiteY1" fmla="*/ 105558 h 527787"/>
              <a:gd name="connsiteX2" fmla="*/ 211115 w 422230"/>
              <a:gd name="connsiteY2" fmla="*/ 0 h 527787"/>
              <a:gd name="connsiteX3" fmla="*/ 0 w 422230"/>
              <a:gd name="connsiteY3" fmla="*/ 105558 h 527787"/>
              <a:gd name="connsiteX4" fmla="*/ 211115 w 422230"/>
              <a:gd name="connsiteY4" fmla="*/ 211115 h 527787"/>
              <a:gd name="connsiteX5" fmla="*/ 378107 w 422230"/>
              <a:gd name="connsiteY5" fmla="*/ 215601 h 527787"/>
              <a:gd name="connsiteX6" fmla="*/ 422230 w 422230"/>
              <a:gd name="connsiteY6" fmla="*/ 186124 h 527787"/>
              <a:gd name="connsiteX7" fmla="*/ 422230 w 422230"/>
              <a:gd name="connsiteY7" fmla="*/ 422230 h 527787"/>
              <a:gd name="connsiteX8" fmla="*/ 211115 w 422230"/>
              <a:gd name="connsiteY8" fmla="*/ 527788 h 527787"/>
              <a:gd name="connsiteX9" fmla="*/ 0 w 422230"/>
              <a:gd name="connsiteY9" fmla="*/ 422230 h 527787"/>
              <a:gd name="connsiteX10" fmla="*/ 0 w 422230"/>
              <a:gd name="connsiteY10" fmla="*/ 186124 h 527787"/>
              <a:gd name="connsiteX11" fmla="*/ 44123 w 422230"/>
              <a:gd name="connsiteY11" fmla="*/ 215601 h 527787"/>
              <a:gd name="connsiteX12" fmla="*/ 211115 w 422230"/>
              <a:gd name="connsiteY12" fmla="*/ 250699 h 527787"/>
              <a:gd name="connsiteX13" fmla="*/ 378107 w 422230"/>
              <a:gd name="connsiteY13" fmla="*/ 215601 h 527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22230" h="527787">
                <a:moveTo>
                  <a:pt x="211115" y="211115"/>
                </a:moveTo>
                <a:cubicBezTo>
                  <a:pt x="327703" y="211115"/>
                  <a:pt x="422230" y="163878"/>
                  <a:pt x="422230" y="105558"/>
                </a:cubicBezTo>
                <a:cubicBezTo>
                  <a:pt x="422230" y="47237"/>
                  <a:pt x="327703" y="0"/>
                  <a:pt x="211115" y="0"/>
                </a:cubicBezTo>
                <a:cubicBezTo>
                  <a:pt x="94527" y="0"/>
                  <a:pt x="0" y="47237"/>
                  <a:pt x="0" y="105558"/>
                </a:cubicBezTo>
                <a:cubicBezTo>
                  <a:pt x="0" y="163878"/>
                  <a:pt x="94527" y="211115"/>
                  <a:pt x="211115" y="211115"/>
                </a:cubicBezTo>
                <a:close/>
                <a:moveTo>
                  <a:pt x="378107" y="215601"/>
                </a:moveTo>
                <a:cubicBezTo>
                  <a:pt x="394054" y="207770"/>
                  <a:pt x="408890" y="197858"/>
                  <a:pt x="422230" y="186124"/>
                </a:cubicBezTo>
                <a:lnTo>
                  <a:pt x="422230" y="422230"/>
                </a:lnTo>
                <a:cubicBezTo>
                  <a:pt x="422230" y="480551"/>
                  <a:pt x="327703" y="527788"/>
                  <a:pt x="211115" y="527788"/>
                </a:cubicBezTo>
                <a:cubicBezTo>
                  <a:pt x="94527" y="527788"/>
                  <a:pt x="0" y="480551"/>
                  <a:pt x="0" y="422230"/>
                </a:cubicBezTo>
                <a:lnTo>
                  <a:pt x="0" y="186124"/>
                </a:lnTo>
                <a:cubicBezTo>
                  <a:pt x="13339" y="197858"/>
                  <a:pt x="28176" y="207770"/>
                  <a:pt x="44123" y="215601"/>
                </a:cubicBezTo>
                <a:cubicBezTo>
                  <a:pt x="88932" y="237979"/>
                  <a:pt x="147992" y="250699"/>
                  <a:pt x="211115" y="250699"/>
                </a:cubicBezTo>
                <a:cubicBezTo>
                  <a:pt x="274238" y="250699"/>
                  <a:pt x="333298" y="237979"/>
                  <a:pt x="378107" y="215601"/>
                </a:cubicBezTo>
                <a:close/>
              </a:path>
            </a:pathLst>
          </a:cu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1322495-3EDE-A177-72BE-160BB4E445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3187824" y="1957096"/>
            <a:ext cx="1268405" cy="492443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1600" b="1" i="0" u="none" strike="noStrike" kern="1200" cap="none" spc="0" normalizeH="0" baseline="0" noProof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Keyword results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6C21593-BD1B-C83D-8003-4486FED73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292953" y="2635318"/>
            <a:ext cx="2319953" cy="526870"/>
          </a:xfrm>
          <a:prstGeom prst="roundRect">
            <a:avLst>
              <a:gd name="adj" fmla="val 18598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DBD436D-CA39-4B40-E3DB-71F7ADC7E8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2444293" y="2781072"/>
            <a:ext cx="235362" cy="235362"/>
          </a:xfrm>
          <a:prstGeom prst="ellipse">
            <a:avLst/>
          </a:prstGeom>
          <a:gradFill flip="none" rotWithShape="1">
            <a:gsLst>
              <a:gs pos="80000">
                <a:srgbClr val="654DB4"/>
              </a:gs>
              <a:gs pos="0">
                <a:srgbClr val="1774A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1</a:t>
            </a:r>
          </a:p>
        </p:txBody>
      </p: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1E2632D7-33DD-7389-EC46-D29F207ED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18" idx="0"/>
            <a:endCxn id="29" idx="1"/>
          </p:cNvCxnSpPr>
          <p:nvPr/>
        </p:nvCxnSpPr>
        <p:spPr>
          <a:xfrm rot="5400000" flipH="1" flipV="1">
            <a:off x="1386035" y="2201811"/>
            <a:ext cx="905412" cy="908424"/>
          </a:xfrm>
          <a:prstGeom prst="bentConnector2">
            <a:avLst/>
          </a:prstGeom>
          <a:ln w="12700" cap="rnd">
            <a:solidFill>
              <a:srgbClr val="000000"/>
            </a:solidFill>
            <a:prstDash val="dash"/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57ED77D-14B6-3A83-204A-355BBE4314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2823257" y="2702160"/>
            <a:ext cx="1789650" cy="3931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Scuba Diving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in Bahamas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15DD9C7E-A14F-AB11-F047-39D5C76A5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292953" y="4147471"/>
            <a:ext cx="2319953" cy="786182"/>
          </a:xfrm>
          <a:prstGeom prst="roundRect">
            <a:avLst>
              <a:gd name="adj" fmla="val 11969"/>
            </a:avLst>
          </a:prstGeom>
          <a:gradFill flip="none" rotWithShape="1">
            <a:gsLst>
              <a:gs pos="80000">
                <a:srgbClr val="654DB4"/>
              </a:gs>
              <a:gs pos="0">
                <a:srgbClr val="1774A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79" name="Graphic 22">
            <a:extLst>
              <a:ext uri="{FF2B5EF4-FFF2-40B4-BE49-F238E27FC236}">
                <a16:creationId xmlns:a16="http://schemas.microsoft.com/office/drawing/2014/main" id="{0A131BA0-FC54-1F00-B121-937CF7020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94652" y="4342295"/>
            <a:ext cx="317227" cy="396534"/>
          </a:xfrm>
          <a:custGeom>
            <a:avLst/>
            <a:gdLst>
              <a:gd name="connsiteX0" fmla="*/ 211115 w 422230"/>
              <a:gd name="connsiteY0" fmla="*/ 211115 h 527787"/>
              <a:gd name="connsiteX1" fmla="*/ 422230 w 422230"/>
              <a:gd name="connsiteY1" fmla="*/ 105558 h 527787"/>
              <a:gd name="connsiteX2" fmla="*/ 211115 w 422230"/>
              <a:gd name="connsiteY2" fmla="*/ 0 h 527787"/>
              <a:gd name="connsiteX3" fmla="*/ 0 w 422230"/>
              <a:gd name="connsiteY3" fmla="*/ 105558 h 527787"/>
              <a:gd name="connsiteX4" fmla="*/ 211115 w 422230"/>
              <a:gd name="connsiteY4" fmla="*/ 211115 h 527787"/>
              <a:gd name="connsiteX5" fmla="*/ 378107 w 422230"/>
              <a:gd name="connsiteY5" fmla="*/ 215601 h 527787"/>
              <a:gd name="connsiteX6" fmla="*/ 422230 w 422230"/>
              <a:gd name="connsiteY6" fmla="*/ 186124 h 527787"/>
              <a:gd name="connsiteX7" fmla="*/ 422230 w 422230"/>
              <a:gd name="connsiteY7" fmla="*/ 422230 h 527787"/>
              <a:gd name="connsiteX8" fmla="*/ 211115 w 422230"/>
              <a:gd name="connsiteY8" fmla="*/ 527788 h 527787"/>
              <a:gd name="connsiteX9" fmla="*/ 0 w 422230"/>
              <a:gd name="connsiteY9" fmla="*/ 422230 h 527787"/>
              <a:gd name="connsiteX10" fmla="*/ 0 w 422230"/>
              <a:gd name="connsiteY10" fmla="*/ 186124 h 527787"/>
              <a:gd name="connsiteX11" fmla="*/ 44123 w 422230"/>
              <a:gd name="connsiteY11" fmla="*/ 215601 h 527787"/>
              <a:gd name="connsiteX12" fmla="*/ 211115 w 422230"/>
              <a:gd name="connsiteY12" fmla="*/ 250699 h 527787"/>
              <a:gd name="connsiteX13" fmla="*/ 378107 w 422230"/>
              <a:gd name="connsiteY13" fmla="*/ 215601 h 527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22230" h="527787">
                <a:moveTo>
                  <a:pt x="211115" y="211115"/>
                </a:moveTo>
                <a:cubicBezTo>
                  <a:pt x="327703" y="211115"/>
                  <a:pt x="422230" y="163878"/>
                  <a:pt x="422230" y="105558"/>
                </a:cubicBezTo>
                <a:cubicBezTo>
                  <a:pt x="422230" y="47237"/>
                  <a:pt x="327703" y="0"/>
                  <a:pt x="211115" y="0"/>
                </a:cubicBezTo>
                <a:cubicBezTo>
                  <a:pt x="94527" y="0"/>
                  <a:pt x="0" y="47237"/>
                  <a:pt x="0" y="105558"/>
                </a:cubicBezTo>
                <a:cubicBezTo>
                  <a:pt x="0" y="163878"/>
                  <a:pt x="94527" y="211115"/>
                  <a:pt x="211115" y="211115"/>
                </a:cubicBezTo>
                <a:close/>
                <a:moveTo>
                  <a:pt x="378107" y="215601"/>
                </a:moveTo>
                <a:cubicBezTo>
                  <a:pt x="394054" y="207770"/>
                  <a:pt x="408890" y="197858"/>
                  <a:pt x="422230" y="186124"/>
                </a:cubicBezTo>
                <a:lnTo>
                  <a:pt x="422230" y="422230"/>
                </a:lnTo>
                <a:cubicBezTo>
                  <a:pt x="422230" y="480551"/>
                  <a:pt x="327703" y="527788"/>
                  <a:pt x="211115" y="527788"/>
                </a:cubicBezTo>
                <a:cubicBezTo>
                  <a:pt x="94527" y="527788"/>
                  <a:pt x="0" y="480551"/>
                  <a:pt x="0" y="422230"/>
                </a:cubicBezTo>
                <a:lnTo>
                  <a:pt x="0" y="186124"/>
                </a:lnTo>
                <a:cubicBezTo>
                  <a:pt x="13339" y="197858"/>
                  <a:pt x="28176" y="207770"/>
                  <a:pt x="44123" y="215601"/>
                </a:cubicBezTo>
                <a:cubicBezTo>
                  <a:pt x="88932" y="237979"/>
                  <a:pt x="147992" y="250699"/>
                  <a:pt x="211115" y="250699"/>
                </a:cubicBezTo>
                <a:cubicBezTo>
                  <a:pt x="274238" y="250699"/>
                  <a:pt x="333298" y="237979"/>
                  <a:pt x="378107" y="215601"/>
                </a:cubicBezTo>
                <a:close/>
              </a:path>
            </a:pathLst>
          </a:cu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1301DFD8-EDD7-0537-4A14-78055559A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18" idx="2"/>
            <a:endCxn id="78" idx="1"/>
          </p:cNvCxnSpPr>
          <p:nvPr/>
        </p:nvCxnSpPr>
        <p:spPr>
          <a:xfrm rot="16200000" flipH="1">
            <a:off x="1668925" y="3916533"/>
            <a:ext cx="339633" cy="908424"/>
          </a:xfrm>
          <a:prstGeom prst="bentConnector2">
            <a:avLst/>
          </a:prstGeom>
          <a:ln w="12700" cap="rnd">
            <a:solidFill>
              <a:srgbClr val="000000"/>
            </a:solidFill>
            <a:prstDash val="dash"/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B564DE12-C754-A5EC-D0EE-740D06B993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3187824" y="4294341"/>
            <a:ext cx="1268405" cy="492443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1600" b="1" i="0" u="none" strike="noStrike" kern="1200" cap="none" spc="0" normalizeH="0" baseline="0" noProof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Vector </a:t>
            </a:r>
            <a:br>
              <a:rPr kumimoji="0" lang="en-US" sz="1600" b="1" i="0" u="none" strike="noStrike" kern="1200" cap="none" spc="0" normalizeH="0" baseline="0" noProof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</a:br>
            <a:r>
              <a:rPr kumimoji="0" lang="en-US" sz="1600" b="1" i="0" u="none" strike="noStrike" kern="1200" cap="none" spc="0" normalizeH="0" baseline="0" noProof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results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655FBD57-5900-D123-002D-70D266CBB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292953" y="4972563"/>
            <a:ext cx="2319953" cy="526870"/>
          </a:xfrm>
          <a:prstGeom prst="roundRect">
            <a:avLst>
              <a:gd name="adj" fmla="val 18598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8134C99-8004-62B3-BB43-A0AA27CCB5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2444293" y="5118317"/>
            <a:ext cx="235362" cy="235362"/>
          </a:xfrm>
          <a:prstGeom prst="ellipse">
            <a:avLst/>
          </a:prstGeom>
          <a:gradFill flip="none" rotWithShape="1">
            <a:gsLst>
              <a:gs pos="80000">
                <a:srgbClr val="654DB4"/>
              </a:gs>
              <a:gs pos="0">
                <a:srgbClr val="1774A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9E9BB2-6047-2446-5EDB-C61A8A5F54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2823257" y="5039405"/>
            <a:ext cx="1789650" cy="3931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Scuba Diving in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the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Carribean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7298406D-7A3D-D15D-3913-A4E90FF64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292953" y="5538343"/>
            <a:ext cx="2319953" cy="526870"/>
          </a:xfrm>
          <a:prstGeom prst="roundRect">
            <a:avLst>
              <a:gd name="adj" fmla="val 18598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2976439B-B739-E48D-41B0-40C96A6E59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2444293" y="5684097"/>
            <a:ext cx="235362" cy="235362"/>
          </a:xfrm>
          <a:prstGeom prst="ellipse">
            <a:avLst/>
          </a:prstGeom>
          <a:gradFill flip="none" rotWithShape="1">
            <a:gsLst>
              <a:gs pos="80000">
                <a:srgbClr val="654DB4"/>
              </a:gs>
              <a:gs pos="0">
                <a:srgbClr val="1774A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F0C7C0-0C0F-9D45-C6F7-C5F9E6E94A6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2823257" y="5605185"/>
            <a:ext cx="1789650" cy="3931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Water skiing in Seychelles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CE05C708-17FE-E510-AA93-1E434280E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607569" y="2203317"/>
            <a:ext cx="64204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8483207A-EF9E-C11F-7296-02AE6626E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49616" y="2203317"/>
            <a:ext cx="0" cy="2337244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42359B48-093E-0C68-4926-9546FD6A0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607569" y="4545101"/>
            <a:ext cx="64204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9B25619B-1038-037B-9802-46B2F970D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49609" y="3640010"/>
            <a:ext cx="642055" cy="0"/>
          </a:xfrm>
          <a:prstGeom prst="line">
            <a:avLst/>
          </a:prstGeom>
          <a:ln w="12700" cap="rnd">
            <a:solidFill>
              <a:srgbClr val="000000"/>
            </a:solidFill>
            <a:prstDash val="dash"/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7EADD7C3-C63B-4D20-96E6-3949B1F1B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63" idx="3"/>
            <a:endCxn id="100" idx="1"/>
          </p:cNvCxnSpPr>
          <p:nvPr/>
        </p:nvCxnSpPr>
        <p:spPr>
          <a:xfrm>
            <a:off x="4612906" y="2898753"/>
            <a:ext cx="1278758" cy="2002473"/>
          </a:xfrm>
          <a:prstGeom prst="bentConnector3">
            <a:avLst>
              <a:gd name="adj1" fmla="val 29549"/>
            </a:avLst>
          </a:prstGeom>
          <a:ln w="28575" cap="rnd">
            <a:solidFill>
              <a:schemeClr val="accent2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: Elbow 184">
            <a:extLst>
              <a:ext uri="{FF2B5EF4-FFF2-40B4-BE49-F238E27FC236}">
                <a16:creationId xmlns:a16="http://schemas.microsoft.com/office/drawing/2014/main" id="{E0DF9ED3-6BC9-C60A-A2B4-F9F43AB05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6" idx="3"/>
            <a:endCxn id="102" idx="1"/>
          </p:cNvCxnSpPr>
          <p:nvPr/>
        </p:nvCxnSpPr>
        <p:spPr>
          <a:xfrm flipV="1">
            <a:off x="4612906" y="4335446"/>
            <a:ext cx="1278758" cy="900552"/>
          </a:xfrm>
          <a:prstGeom prst="bentConnector3">
            <a:avLst>
              <a:gd name="adj1" fmla="val 67396"/>
            </a:avLst>
          </a:prstGeom>
          <a:ln w="28575" cap="rnd">
            <a:solidFill>
              <a:schemeClr val="accent1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: Elbow 188">
            <a:extLst>
              <a:ext uri="{FF2B5EF4-FFF2-40B4-BE49-F238E27FC236}">
                <a16:creationId xmlns:a16="http://schemas.microsoft.com/office/drawing/2014/main" id="{76741133-E7E9-25E2-6F0A-8DB9105DF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82" idx="3"/>
            <a:endCxn id="108" idx="1"/>
          </p:cNvCxnSpPr>
          <p:nvPr/>
        </p:nvCxnSpPr>
        <p:spPr>
          <a:xfrm flipV="1">
            <a:off x="4612906" y="5462883"/>
            <a:ext cx="1278758" cy="338895"/>
          </a:xfrm>
          <a:prstGeom prst="bentConnector3">
            <a:avLst>
              <a:gd name="adj1" fmla="val 49603"/>
            </a:avLst>
          </a:prstGeom>
          <a:ln w="28575" cap="rnd">
            <a:solidFill>
              <a:srgbClr val="C03BC4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1FBC9534-8195-26DD-0F58-C302DBA93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91664" y="3246919"/>
            <a:ext cx="2319953" cy="786182"/>
          </a:xfrm>
          <a:prstGeom prst="roundRect">
            <a:avLst>
              <a:gd name="adj" fmla="val 11969"/>
            </a:avLst>
          </a:prstGeom>
          <a:gradFill flip="none" rotWithShape="1">
            <a:gsLst>
              <a:gs pos="80000">
                <a:srgbClr val="C84194"/>
              </a:gs>
              <a:gs pos="0">
                <a:srgbClr val="654DB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130" name="Graphic 116">
            <a:extLst>
              <a:ext uri="{FF2B5EF4-FFF2-40B4-BE49-F238E27FC236}">
                <a16:creationId xmlns:a16="http://schemas.microsoft.com/office/drawing/2014/main" id="{4966C000-93BF-7E4E-31DA-B82CC8837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3682" y="3461538"/>
            <a:ext cx="356588" cy="356574"/>
          </a:xfrm>
          <a:custGeom>
            <a:avLst/>
            <a:gdLst>
              <a:gd name="connsiteX0" fmla="*/ 151482 w 356588"/>
              <a:gd name="connsiteY0" fmla="*/ 187217 h 356574"/>
              <a:gd name="connsiteX1" fmla="*/ 169179 w 356588"/>
              <a:gd name="connsiteY1" fmla="*/ 202971 h 356574"/>
              <a:gd name="connsiteX2" fmla="*/ 169304 w 356588"/>
              <a:gd name="connsiteY2" fmla="*/ 205038 h 356574"/>
              <a:gd name="connsiteX3" fmla="*/ 169304 w 356588"/>
              <a:gd name="connsiteY3" fmla="*/ 338772 h 356574"/>
              <a:gd name="connsiteX4" fmla="*/ 151463 w 356588"/>
              <a:gd name="connsiteY4" fmla="*/ 356574 h 356574"/>
              <a:gd name="connsiteX5" fmla="*/ 133785 w 356588"/>
              <a:gd name="connsiteY5" fmla="*/ 340857 h 356574"/>
              <a:gd name="connsiteX6" fmla="*/ 133661 w 356588"/>
              <a:gd name="connsiteY6" fmla="*/ 338772 h 356574"/>
              <a:gd name="connsiteX7" fmla="*/ 133661 w 356588"/>
              <a:gd name="connsiteY7" fmla="*/ 248006 h 356574"/>
              <a:gd name="connsiteX8" fmla="*/ 30473 w 356588"/>
              <a:gd name="connsiteY8" fmla="*/ 351229 h 356574"/>
              <a:gd name="connsiteX9" fmla="*/ 6949 w 356588"/>
              <a:gd name="connsiteY9" fmla="*/ 352709 h 356574"/>
              <a:gd name="connsiteX10" fmla="*/ 5255 w 356588"/>
              <a:gd name="connsiteY10" fmla="*/ 351229 h 356574"/>
              <a:gd name="connsiteX11" fmla="*/ 3776 w 356588"/>
              <a:gd name="connsiteY11" fmla="*/ 327705 h 356574"/>
              <a:gd name="connsiteX12" fmla="*/ 5255 w 356588"/>
              <a:gd name="connsiteY12" fmla="*/ 326012 h 356574"/>
              <a:gd name="connsiteX13" fmla="*/ 108407 w 356588"/>
              <a:gd name="connsiteY13" fmla="*/ 222860 h 356574"/>
              <a:gd name="connsiteX14" fmla="*/ 17802 w 356588"/>
              <a:gd name="connsiteY14" fmla="*/ 222860 h 356574"/>
              <a:gd name="connsiteX15" fmla="*/ 0 w 356588"/>
              <a:gd name="connsiteY15" fmla="*/ 205019 h 356574"/>
              <a:gd name="connsiteX16" fmla="*/ 15717 w 356588"/>
              <a:gd name="connsiteY16" fmla="*/ 187341 h 356574"/>
              <a:gd name="connsiteX17" fmla="*/ 17802 w 356588"/>
              <a:gd name="connsiteY17" fmla="*/ 187217 h 356574"/>
              <a:gd name="connsiteX18" fmla="*/ 151482 w 356588"/>
              <a:gd name="connsiteY18" fmla="*/ 187217 h 356574"/>
              <a:gd name="connsiteX19" fmla="*/ 204983 w 356588"/>
              <a:gd name="connsiteY19" fmla="*/ 18 h 356574"/>
              <a:gd name="connsiteX20" fmla="*/ 222680 w 356588"/>
              <a:gd name="connsiteY20" fmla="*/ 15754 h 356574"/>
              <a:gd name="connsiteX21" fmla="*/ 222805 w 356588"/>
              <a:gd name="connsiteY21" fmla="*/ 17839 h 356574"/>
              <a:gd name="connsiteX22" fmla="*/ 222805 w 356588"/>
              <a:gd name="connsiteY22" fmla="*/ 108498 h 356574"/>
              <a:gd name="connsiteX23" fmla="*/ 326063 w 356588"/>
              <a:gd name="connsiteY23" fmla="*/ 5257 h 356574"/>
              <a:gd name="connsiteX24" fmla="*/ 349588 w 356588"/>
              <a:gd name="connsiteY24" fmla="*/ 3760 h 356574"/>
              <a:gd name="connsiteX25" fmla="*/ 351263 w 356588"/>
              <a:gd name="connsiteY25" fmla="*/ 5240 h 356574"/>
              <a:gd name="connsiteX26" fmla="*/ 352742 w 356588"/>
              <a:gd name="connsiteY26" fmla="*/ 28764 h 356574"/>
              <a:gd name="connsiteX27" fmla="*/ 351263 w 356588"/>
              <a:gd name="connsiteY27" fmla="*/ 30457 h 356574"/>
              <a:gd name="connsiteX28" fmla="*/ 247969 w 356588"/>
              <a:gd name="connsiteY28" fmla="*/ 133734 h 356574"/>
              <a:gd name="connsiteX29" fmla="*/ 338645 w 356588"/>
              <a:gd name="connsiteY29" fmla="*/ 133734 h 356574"/>
              <a:gd name="connsiteX30" fmla="*/ 356588 w 356588"/>
              <a:gd name="connsiteY30" fmla="*/ 151433 h 356574"/>
              <a:gd name="connsiteX31" fmla="*/ 340713 w 356588"/>
              <a:gd name="connsiteY31" fmla="*/ 169270 h 356574"/>
              <a:gd name="connsiteX32" fmla="*/ 338645 w 356588"/>
              <a:gd name="connsiteY32" fmla="*/ 169395 h 356574"/>
              <a:gd name="connsiteX33" fmla="*/ 204947 w 356588"/>
              <a:gd name="connsiteY33" fmla="*/ 169395 h 356574"/>
              <a:gd name="connsiteX34" fmla="*/ 187250 w 356588"/>
              <a:gd name="connsiteY34" fmla="*/ 153658 h 356574"/>
              <a:gd name="connsiteX35" fmla="*/ 187126 w 356588"/>
              <a:gd name="connsiteY35" fmla="*/ 151573 h 356574"/>
              <a:gd name="connsiteX36" fmla="*/ 187126 w 356588"/>
              <a:gd name="connsiteY36" fmla="*/ 17822 h 356574"/>
              <a:gd name="connsiteX37" fmla="*/ 204947 w 356588"/>
              <a:gd name="connsiteY37" fmla="*/ 0 h 356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56588" h="356574">
                <a:moveTo>
                  <a:pt x="151482" y="187217"/>
                </a:moveTo>
                <a:cubicBezTo>
                  <a:pt x="160523" y="187218"/>
                  <a:pt x="168131" y="193991"/>
                  <a:pt x="169179" y="202971"/>
                </a:cubicBezTo>
                <a:lnTo>
                  <a:pt x="169304" y="205038"/>
                </a:lnTo>
                <a:lnTo>
                  <a:pt x="169304" y="338772"/>
                </a:lnTo>
                <a:cubicBezTo>
                  <a:pt x="169293" y="348615"/>
                  <a:pt x="161306" y="356585"/>
                  <a:pt x="151463" y="356574"/>
                </a:cubicBezTo>
                <a:cubicBezTo>
                  <a:pt x="142442" y="356563"/>
                  <a:pt x="134851" y="349814"/>
                  <a:pt x="133785" y="340857"/>
                </a:cubicBezTo>
                <a:lnTo>
                  <a:pt x="133661" y="338772"/>
                </a:lnTo>
                <a:lnTo>
                  <a:pt x="133661" y="248006"/>
                </a:lnTo>
                <a:lnTo>
                  <a:pt x="30473" y="351229"/>
                </a:lnTo>
                <a:cubicBezTo>
                  <a:pt x="24124" y="357578"/>
                  <a:pt x="14043" y="358212"/>
                  <a:pt x="6949" y="352709"/>
                </a:cubicBezTo>
                <a:lnTo>
                  <a:pt x="5255" y="351229"/>
                </a:lnTo>
                <a:cubicBezTo>
                  <a:pt x="-1093" y="344880"/>
                  <a:pt x="-1727" y="334800"/>
                  <a:pt x="3776" y="327705"/>
                </a:cubicBezTo>
                <a:lnTo>
                  <a:pt x="5255" y="326012"/>
                </a:lnTo>
                <a:lnTo>
                  <a:pt x="108407" y="222860"/>
                </a:lnTo>
                <a:lnTo>
                  <a:pt x="17802" y="222860"/>
                </a:lnTo>
                <a:cubicBezTo>
                  <a:pt x="7959" y="222849"/>
                  <a:pt x="-11" y="214862"/>
                  <a:pt x="0" y="205019"/>
                </a:cubicBezTo>
                <a:cubicBezTo>
                  <a:pt x="10" y="195997"/>
                  <a:pt x="6759" y="188407"/>
                  <a:pt x="15717" y="187341"/>
                </a:cubicBezTo>
                <a:lnTo>
                  <a:pt x="17802" y="187217"/>
                </a:lnTo>
                <a:lnTo>
                  <a:pt x="151482" y="187217"/>
                </a:lnTo>
                <a:close/>
                <a:moveTo>
                  <a:pt x="204983" y="18"/>
                </a:moveTo>
                <a:cubicBezTo>
                  <a:pt x="214018" y="19"/>
                  <a:pt x="221623" y="6781"/>
                  <a:pt x="222680" y="15754"/>
                </a:cubicBezTo>
                <a:lnTo>
                  <a:pt x="222805" y="17839"/>
                </a:lnTo>
                <a:lnTo>
                  <a:pt x="222805" y="108498"/>
                </a:lnTo>
                <a:lnTo>
                  <a:pt x="326063" y="5257"/>
                </a:lnTo>
                <a:cubicBezTo>
                  <a:pt x="332408" y="-1097"/>
                  <a:pt x="342490" y="-1738"/>
                  <a:pt x="349588" y="3760"/>
                </a:cubicBezTo>
                <a:lnTo>
                  <a:pt x="351263" y="5240"/>
                </a:lnTo>
                <a:cubicBezTo>
                  <a:pt x="357611" y="11589"/>
                  <a:pt x="358246" y="21670"/>
                  <a:pt x="352742" y="28764"/>
                </a:cubicBezTo>
                <a:lnTo>
                  <a:pt x="351263" y="30457"/>
                </a:lnTo>
                <a:lnTo>
                  <a:pt x="247969" y="133734"/>
                </a:lnTo>
                <a:lnTo>
                  <a:pt x="338645" y="133734"/>
                </a:lnTo>
                <a:cubicBezTo>
                  <a:pt x="348488" y="133667"/>
                  <a:pt x="356521" y="141591"/>
                  <a:pt x="356588" y="151433"/>
                </a:cubicBezTo>
                <a:cubicBezTo>
                  <a:pt x="356651" y="160570"/>
                  <a:pt x="349795" y="168272"/>
                  <a:pt x="340713" y="169270"/>
                </a:cubicBezTo>
                <a:lnTo>
                  <a:pt x="338645" y="169395"/>
                </a:lnTo>
                <a:lnTo>
                  <a:pt x="204947" y="169395"/>
                </a:lnTo>
                <a:cubicBezTo>
                  <a:pt x="195912" y="169393"/>
                  <a:pt x="188307" y="162632"/>
                  <a:pt x="187250" y="153658"/>
                </a:cubicBezTo>
                <a:lnTo>
                  <a:pt x="187126" y="151573"/>
                </a:lnTo>
                <a:lnTo>
                  <a:pt x="187126" y="17822"/>
                </a:lnTo>
                <a:cubicBezTo>
                  <a:pt x="187126" y="7979"/>
                  <a:pt x="195104" y="0"/>
                  <a:pt x="204947" y="0"/>
                </a:cubicBezTo>
                <a:close/>
              </a:path>
            </a:pathLst>
          </a:custGeom>
          <a:solidFill>
            <a:schemeClr val="bg1"/>
          </a:solidFill>
          <a:ln w="1746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AFA8DB9-5BF0-220E-822A-DCACF62536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786535" y="3424567"/>
            <a:ext cx="1268405" cy="430887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1600" b="1" i="0" u="none" strike="noStrike" kern="1200" cap="none" spc="0" normalizeH="0" baseline="0" noProof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Fusion</a:t>
            </a:r>
            <a:br>
              <a:rPr kumimoji="0" lang="en-US" sz="1600" b="1" i="0" u="none" strike="noStrike" kern="1200" cap="none" spc="0" normalizeH="0" baseline="0" noProof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</a:br>
            <a:r>
              <a:rPr kumimoji="0" lang="en-US" sz="1200" b="0" i="0" u="none" strike="noStrike" kern="1200" cap="none" spc="0" normalizeH="0" baseline="0" noProof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(RRF)</a:t>
            </a:r>
            <a:endParaRPr kumimoji="0" lang="en-US" sz="1600" b="0" i="0" u="none" strike="noStrike" kern="1200" cap="none" spc="0" normalizeH="0" baseline="0" noProof="0">
              <a:ln w="3175"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D0EBE239-8E3B-D3EE-E42D-3DCD2581B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91664" y="4072011"/>
            <a:ext cx="2319953" cy="526870"/>
          </a:xfrm>
          <a:prstGeom prst="roundRect">
            <a:avLst>
              <a:gd name="adj" fmla="val 18598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674B701-77DD-DE13-D1EF-DCD54D69104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6043004" y="4217765"/>
            <a:ext cx="235362" cy="235362"/>
          </a:xfrm>
          <a:prstGeom prst="ellipse">
            <a:avLst/>
          </a:prstGeom>
          <a:gradFill flip="none" rotWithShape="1">
            <a:gsLst>
              <a:gs pos="80000">
                <a:srgbClr val="C84194"/>
              </a:gs>
              <a:gs pos="0">
                <a:srgbClr val="654DB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153B7B-70A1-DD42-ED60-7399A17CA6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6421968" y="4138853"/>
            <a:ext cx="1789650" cy="3931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Scuba Diving in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the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Carribean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B192C05C-B654-9F9E-2A7E-254EC9117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91664" y="4637791"/>
            <a:ext cx="2319953" cy="526870"/>
          </a:xfrm>
          <a:prstGeom prst="roundRect">
            <a:avLst>
              <a:gd name="adj" fmla="val 18598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B43624A-9CA8-C0A6-6055-1985B41BCCE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6043004" y="4783545"/>
            <a:ext cx="235362" cy="235362"/>
          </a:xfrm>
          <a:prstGeom prst="ellipse">
            <a:avLst/>
          </a:prstGeom>
          <a:gradFill flip="none" rotWithShape="1">
            <a:gsLst>
              <a:gs pos="80000">
                <a:srgbClr val="C84194"/>
              </a:gs>
              <a:gs pos="0">
                <a:srgbClr val="654DB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13E37A-9C8E-67B5-62AC-44B66CBEB0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6421968" y="4704633"/>
            <a:ext cx="1789650" cy="3931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Scuba Diving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in Bahamas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C543CE5C-7BA2-821C-2232-56EB2694A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91664" y="5199448"/>
            <a:ext cx="2319953" cy="526870"/>
          </a:xfrm>
          <a:prstGeom prst="roundRect">
            <a:avLst>
              <a:gd name="adj" fmla="val 18598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7DFA3120-EBDA-B4EF-D2D4-B4976B6AD8A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6043004" y="5345202"/>
            <a:ext cx="235362" cy="235362"/>
          </a:xfrm>
          <a:prstGeom prst="ellipse">
            <a:avLst/>
          </a:prstGeom>
          <a:gradFill flip="none" rotWithShape="1">
            <a:gsLst>
              <a:gs pos="80000">
                <a:srgbClr val="C84194"/>
              </a:gs>
              <a:gs pos="0">
                <a:srgbClr val="654DB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D9C101-F7ED-2FFE-9650-179B3D78DE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6421968" y="5266290"/>
            <a:ext cx="1789650" cy="3931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Water skiing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in Seychelles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8600A844-95C8-3915-6AF9-E0FE693A1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04" idx="3"/>
            <a:endCxn id="93" idx="1"/>
          </p:cNvCxnSpPr>
          <p:nvPr/>
        </p:nvCxnSpPr>
        <p:spPr>
          <a:xfrm>
            <a:off x="8211617" y="3640010"/>
            <a:ext cx="821556" cy="0"/>
          </a:xfrm>
          <a:prstGeom prst="line">
            <a:avLst/>
          </a:prstGeom>
          <a:ln w="12700" cap="rnd">
            <a:solidFill>
              <a:srgbClr val="000000"/>
            </a:solidFill>
            <a:prstDash val="dash"/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: Elbow 191">
            <a:extLst>
              <a:ext uri="{FF2B5EF4-FFF2-40B4-BE49-F238E27FC236}">
                <a16:creationId xmlns:a16="http://schemas.microsoft.com/office/drawing/2014/main" id="{AAEA684F-BDF7-841D-B7E4-0A7929EFC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02" idx="3"/>
            <a:endCxn id="89" idx="1"/>
          </p:cNvCxnSpPr>
          <p:nvPr/>
        </p:nvCxnSpPr>
        <p:spPr>
          <a:xfrm>
            <a:off x="8211617" y="4384543"/>
            <a:ext cx="821556" cy="467586"/>
          </a:xfrm>
          <a:prstGeom prst="bentConnector3">
            <a:avLst>
              <a:gd name="adj1" fmla="val 63913"/>
            </a:avLst>
          </a:prstGeom>
          <a:ln w="28575" cap="rnd">
            <a:solidFill>
              <a:schemeClr val="accent1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: Elbow 194">
            <a:extLst>
              <a:ext uri="{FF2B5EF4-FFF2-40B4-BE49-F238E27FC236}">
                <a16:creationId xmlns:a16="http://schemas.microsoft.com/office/drawing/2014/main" id="{207E0AC4-40CA-50A7-8B63-F155F293D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00" idx="3"/>
            <a:endCxn id="91" idx="1"/>
          </p:cNvCxnSpPr>
          <p:nvPr/>
        </p:nvCxnSpPr>
        <p:spPr>
          <a:xfrm flipV="1">
            <a:off x="8211617" y="4276039"/>
            <a:ext cx="821556" cy="684594"/>
          </a:xfrm>
          <a:prstGeom prst="bentConnector3">
            <a:avLst>
              <a:gd name="adj1" fmla="val 32223"/>
            </a:avLst>
          </a:prstGeom>
          <a:ln w="28575" cap="rnd">
            <a:solidFill>
              <a:schemeClr val="accent2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8D8A7C81-4EFB-6814-9D43-566ED523B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033173" y="3246919"/>
            <a:ext cx="2319953" cy="786182"/>
          </a:xfrm>
          <a:prstGeom prst="roundRect">
            <a:avLst>
              <a:gd name="adj" fmla="val 11969"/>
            </a:avLst>
          </a:prstGeom>
          <a:gradFill flip="none" rotWithShape="1">
            <a:gsLst>
              <a:gs pos="80000">
                <a:srgbClr val="EE526F"/>
              </a:gs>
              <a:gs pos="0">
                <a:srgbClr val="C8419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3DE146C-0C64-B2FA-423C-63F41AF02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342535" y="3423660"/>
            <a:ext cx="301898" cy="431175"/>
            <a:chOff x="7715855" y="2243620"/>
            <a:chExt cx="249503" cy="356343"/>
          </a:xfrm>
          <a:solidFill>
            <a:schemeClr val="bg1"/>
          </a:solidFill>
        </p:grpSpPr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1B6CFBA-4A7A-B6EA-A665-5960B0928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751498" y="2479668"/>
              <a:ext cx="178252" cy="120295"/>
            </a:xfrm>
            <a:custGeom>
              <a:avLst/>
              <a:gdLst>
                <a:gd name="connsiteX0" fmla="*/ 178217 w 178252"/>
                <a:gd name="connsiteY0" fmla="*/ 106930 h 120295"/>
                <a:gd name="connsiteX1" fmla="*/ 178252 w 178252"/>
                <a:gd name="connsiteY1" fmla="*/ 0 h 120295"/>
                <a:gd name="connsiteX2" fmla="*/ 89108 w 178252"/>
                <a:gd name="connsiteY2" fmla="*/ 31277 h 120295"/>
                <a:gd name="connsiteX3" fmla="*/ 0 w 178252"/>
                <a:gd name="connsiteY3" fmla="*/ 18 h 120295"/>
                <a:gd name="connsiteX4" fmla="*/ 53 w 178252"/>
                <a:gd name="connsiteY4" fmla="*/ 106948 h 120295"/>
                <a:gd name="connsiteX5" fmla="*/ 13452 w 178252"/>
                <a:gd name="connsiteY5" fmla="*/ 120282 h 120295"/>
                <a:gd name="connsiteX6" fmla="*/ 21101 w 178252"/>
                <a:gd name="connsiteY6" fmla="*/ 117855 h 120295"/>
                <a:gd name="connsiteX7" fmla="*/ 89126 w 178252"/>
                <a:gd name="connsiteY7" fmla="*/ 69968 h 120295"/>
                <a:gd name="connsiteX8" fmla="*/ 157169 w 178252"/>
                <a:gd name="connsiteY8" fmla="*/ 117855 h 120295"/>
                <a:gd name="connsiteX9" fmla="*/ 175795 w 178252"/>
                <a:gd name="connsiteY9" fmla="*/ 114627 h 120295"/>
                <a:gd name="connsiteX10" fmla="*/ 178234 w 178252"/>
                <a:gd name="connsiteY10" fmla="*/ 106930 h 120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8252" h="120295">
                  <a:moveTo>
                    <a:pt x="178217" y="106930"/>
                  </a:moveTo>
                  <a:lnTo>
                    <a:pt x="178252" y="0"/>
                  </a:lnTo>
                  <a:cubicBezTo>
                    <a:pt x="152979" y="20297"/>
                    <a:pt x="121522" y="31334"/>
                    <a:pt x="89108" y="31277"/>
                  </a:cubicBezTo>
                  <a:cubicBezTo>
                    <a:pt x="56709" y="31330"/>
                    <a:pt x="25266" y="20301"/>
                    <a:pt x="0" y="18"/>
                  </a:cubicBezTo>
                  <a:lnTo>
                    <a:pt x="53" y="106948"/>
                  </a:lnTo>
                  <a:cubicBezTo>
                    <a:pt x="71" y="114330"/>
                    <a:pt x="6070" y="120300"/>
                    <a:pt x="13452" y="120282"/>
                  </a:cubicBezTo>
                  <a:cubicBezTo>
                    <a:pt x="16190" y="120275"/>
                    <a:pt x="18860" y="119428"/>
                    <a:pt x="21101" y="117855"/>
                  </a:cubicBezTo>
                  <a:lnTo>
                    <a:pt x="89126" y="69968"/>
                  </a:lnTo>
                  <a:lnTo>
                    <a:pt x="157169" y="117855"/>
                  </a:lnTo>
                  <a:cubicBezTo>
                    <a:pt x="163204" y="122107"/>
                    <a:pt x="171542" y="120662"/>
                    <a:pt x="175795" y="114627"/>
                  </a:cubicBezTo>
                  <a:cubicBezTo>
                    <a:pt x="177383" y="112375"/>
                    <a:pt x="178234" y="109685"/>
                    <a:pt x="178234" y="106930"/>
                  </a:cubicBezTo>
                  <a:close/>
                </a:path>
              </a:pathLst>
            </a:custGeom>
            <a:grpFill/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1D164C0A-50E4-E882-BA07-829CCFE89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715855" y="2243620"/>
              <a:ext cx="249503" cy="249503"/>
            </a:xfrm>
            <a:custGeom>
              <a:avLst/>
              <a:gdLst>
                <a:gd name="connsiteX0" fmla="*/ 249503 w 249503"/>
                <a:gd name="connsiteY0" fmla="*/ 124752 h 249503"/>
                <a:gd name="connsiteX1" fmla="*/ 124752 w 249503"/>
                <a:gd name="connsiteY1" fmla="*/ 0 h 249503"/>
                <a:gd name="connsiteX2" fmla="*/ 0 w 249503"/>
                <a:gd name="connsiteY2" fmla="*/ 124752 h 249503"/>
                <a:gd name="connsiteX3" fmla="*/ 124752 w 249503"/>
                <a:gd name="connsiteY3" fmla="*/ 249503 h 249503"/>
                <a:gd name="connsiteX4" fmla="*/ 249503 w 249503"/>
                <a:gd name="connsiteY4" fmla="*/ 124752 h 249503"/>
                <a:gd name="connsiteX5" fmla="*/ 128833 w 249503"/>
                <a:gd name="connsiteY5" fmla="*/ 64907 h 249503"/>
                <a:gd name="connsiteX6" fmla="*/ 145086 w 249503"/>
                <a:gd name="connsiteY6" fmla="*/ 97930 h 249503"/>
                <a:gd name="connsiteX7" fmla="*/ 181514 w 249503"/>
                <a:gd name="connsiteY7" fmla="*/ 103187 h 249503"/>
                <a:gd name="connsiteX8" fmla="*/ 184044 w 249503"/>
                <a:gd name="connsiteY8" fmla="*/ 110940 h 249503"/>
                <a:gd name="connsiteX9" fmla="*/ 157686 w 249503"/>
                <a:gd name="connsiteY9" fmla="*/ 136603 h 249503"/>
                <a:gd name="connsiteX10" fmla="*/ 163924 w 249503"/>
                <a:gd name="connsiteY10" fmla="*/ 172888 h 249503"/>
                <a:gd name="connsiteX11" fmla="*/ 160217 w 249503"/>
                <a:gd name="connsiteY11" fmla="*/ 178138 h 249503"/>
                <a:gd name="connsiteX12" fmla="*/ 157330 w 249503"/>
                <a:gd name="connsiteY12" fmla="*/ 177682 h 249503"/>
                <a:gd name="connsiteX13" fmla="*/ 124752 w 249503"/>
                <a:gd name="connsiteY13" fmla="*/ 160538 h 249503"/>
                <a:gd name="connsiteX14" fmla="*/ 92191 w 249503"/>
                <a:gd name="connsiteY14" fmla="*/ 177682 h 249503"/>
                <a:gd name="connsiteX15" fmla="*/ 86054 w 249503"/>
                <a:gd name="connsiteY15" fmla="*/ 175775 h 249503"/>
                <a:gd name="connsiteX16" fmla="*/ 85597 w 249503"/>
                <a:gd name="connsiteY16" fmla="*/ 172888 h 249503"/>
                <a:gd name="connsiteX17" fmla="*/ 91835 w 249503"/>
                <a:gd name="connsiteY17" fmla="*/ 136621 h 249503"/>
                <a:gd name="connsiteX18" fmla="*/ 65459 w 249503"/>
                <a:gd name="connsiteY18" fmla="*/ 110958 h 249503"/>
                <a:gd name="connsiteX19" fmla="*/ 65347 w 249503"/>
                <a:gd name="connsiteY19" fmla="*/ 104532 h 249503"/>
                <a:gd name="connsiteX20" fmla="*/ 67990 w 249503"/>
                <a:gd name="connsiteY20" fmla="*/ 103187 h 249503"/>
                <a:gd name="connsiteX21" fmla="*/ 104417 w 249503"/>
                <a:gd name="connsiteY21" fmla="*/ 97930 h 249503"/>
                <a:gd name="connsiteX22" fmla="*/ 120671 w 249503"/>
                <a:gd name="connsiteY22" fmla="*/ 64907 h 249503"/>
                <a:gd name="connsiteX23" fmla="*/ 126751 w 249503"/>
                <a:gd name="connsiteY23" fmla="*/ 62825 h 249503"/>
                <a:gd name="connsiteX24" fmla="*/ 128833 w 249503"/>
                <a:gd name="connsiteY24" fmla="*/ 64907 h 249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9503" h="249503">
                  <a:moveTo>
                    <a:pt x="249503" y="124752"/>
                  </a:moveTo>
                  <a:cubicBezTo>
                    <a:pt x="249503" y="55853"/>
                    <a:pt x="193650" y="0"/>
                    <a:pt x="124752" y="0"/>
                  </a:cubicBezTo>
                  <a:cubicBezTo>
                    <a:pt x="55853" y="0"/>
                    <a:pt x="0" y="55853"/>
                    <a:pt x="0" y="124752"/>
                  </a:cubicBezTo>
                  <a:cubicBezTo>
                    <a:pt x="0" y="193650"/>
                    <a:pt x="55853" y="249503"/>
                    <a:pt x="124752" y="249503"/>
                  </a:cubicBezTo>
                  <a:cubicBezTo>
                    <a:pt x="193650" y="249503"/>
                    <a:pt x="249503" y="193650"/>
                    <a:pt x="249503" y="124752"/>
                  </a:cubicBezTo>
                  <a:close/>
                  <a:moveTo>
                    <a:pt x="128833" y="64907"/>
                  </a:moveTo>
                  <a:lnTo>
                    <a:pt x="145086" y="97930"/>
                  </a:lnTo>
                  <a:lnTo>
                    <a:pt x="181514" y="103187"/>
                  </a:lnTo>
                  <a:cubicBezTo>
                    <a:pt x="185256" y="103722"/>
                    <a:pt x="186735" y="108320"/>
                    <a:pt x="184044" y="110940"/>
                  </a:cubicBezTo>
                  <a:lnTo>
                    <a:pt x="157686" y="136603"/>
                  </a:lnTo>
                  <a:lnTo>
                    <a:pt x="163924" y="172888"/>
                  </a:lnTo>
                  <a:cubicBezTo>
                    <a:pt x="164350" y="175362"/>
                    <a:pt x="162690" y="177712"/>
                    <a:pt x="160217" y="178138"/>
                  </a:cubicBezTo>
                  <a:cubicBezTo>
                    <a:pt x="159231" y="178308"/>
                    <a:pt x="158215" y="178147"/>
                    <a:pt x="157330" y="177682"/>
                  </a:cubicBezTo>
                  <a:lnTo>
                    <a:pt x="124752" y="160538"/>
                  </a:lnTo>
                  <a:lnTo>
                    <a:pt x="92191" y="177682"/>
                  </a:lnTo>
                  <a:cubicBezTo>
                    <a:pt x="89971" y="178851"/>
                    <a:pt x="87222" y="177997"/>
                    <a:pt x="86054" y="175775"/>
                  </a:cubicBezTo>
                  <a:cubicBezTo>
                    <a:pt x="85588" y="174889"/>
                    <a:pt x="85427" y="173875"/>
                    <a:pt x="85597" y="172888"/>
                  </a:cubicBezTo>
                  <a:lnTo>
                    <a:pt x="91835" y="136621"/>
                  </a:lnTo>
                  <a:lnTo>
                    <a:pt x="65459" y="110958"/>
                  </a:lnTo>
                  <a:cubicBezTo>
                    <a:pt x="63653" y="109214"/>
                    <a:pt x="63603" y="106337"/>
                    <a:pt x="65347" y="104532"/>
                  </a:cubicBezTo>
                  <a:cubicBezTo>
                    <a:pt x="66053" y="103801"/>
                    <a:pt x="66983" y="103328"/>
                    <a:pt x="67990" y="103187"/>
                  </a:cubicBezTo>
                  <a:lnTo>
                    <a:pt x="104417" y="97930"/>
                  </a:lnTo>
                  <a:lnTo>
                    <a:pt x="120671" y="64907"/>
                  </a:lnTo>
                  <a:cubicBezTo>
                    <a:pt x="121775" y="62653"/>
                    <a:pt x="124497" y="61720"/>
                    <a:pt x="126751" y="62825"/>
                  </a:cubicBezTo>
                  <a:cubicBezTo>
                    <a:pt x="127657" y="63268"/>
                    <a:pt x="128389" y="64001"/>
                    <a:pt x="128833" y="64907"/>
                  </a:cubicBezTo>
                  <a:close/>
                </a:path>
              </a:pathLst>
            </a:custGeom>
            <a:grpFill/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A13FA79C-7577-FC60-06DB-7886877A57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9928044" y="3393789"/>
            <a:ext cx="1268405" cy="492443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1600" b="1" i="0" u="none" strike="noStrike" kern="1200" cap="none" spc="0" normalizeH="0" baseline="0" noProof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Reranking with cutoff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C4B8A704-DA79-3F81-30C7-4B74FA2B5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033173" y="4072011"/>
            <a:ext cx="2319953" cy="526870"/>
          </a:xfrm>
          <a:prstGeom prst="roundRect">
            <a:avLst>
              <a:gd name="adj" fmla="val 18598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96D59133-2DD9-E5A8-00EE-99DF2D08FC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9184513" y="4217765"/>
            <a:ext cx="235362" cy="235362"/>
          </a:xfrm>
          <a:prstGeom prst="ellipse">
            <a:avLst/>
          </a:prstGeom>
          <a:gradFill flip="none" rotWithShape="1">
            <a:gsLst>
              <a:gs pos="80000">
                <a:srgbClr val="EE526F"/>
              </a:gs>
              <a:gs pos="0">
                <a:srgbClr val="C8419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7B5E32-63E3-D19D-5B79-7FF761EAEEA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9563477" y="4138853"/>
            <a:ext cx="1789650" cy="3931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Scuba Diving in Bahamas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7AF04796-D9F6-597E-14EF-997A5E296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033173" y="4637791"/>
            <a:ext cx="2319953" cy="526870"/>
          </a:xfrm>
          <a:prstGeom prst="roundRect">
            <a:avLst>
              <a:gd name="adj" fmla="val 18598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A59D2F2-EEA1-424E-067C-40AB4009A5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9184513" y="4783545"/>
            <a:ext cx="235362" cy="235362"/>
          </a:xfrm>
          <a:prstGeom prst="ellipse">
            <a:avLst/>
          </a:prstGeom>
          <a:gradFill flip="none" rotWithShape="1">
            <a:gsLst>
              <a:gs pos="80000">
                <a:srgbClr val="EE526F"/>
              </a:gs>
              <a:gs pos="0">
                <a:srgbClr val="C8419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3E7D83-B420-2D40-0D06-0923B0F8CB6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9563477" y="4704633"/>
            <a:ext cx="1789650" cy="3931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Scuba Diving in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the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Carribean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2477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D30CD-5956-4654-526D-3BDB07E86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03F57-1087-B239-717C-655C2DEB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662" y="3152001"/>
            <a:ext cx="10424996" cy="553998"/>
          </a:xfrm>
        </p:spPr>
        <p:txBody>
          <a:bodyPr>
            <a:normAutofit/>
          </a:bodyPr>
          <a:lstStyle/>
          <a:p>
            <a:r>
              <a:rPr lang="en-US" b="1">
                <a:latin typeface="Segoe UI Semibold" panose="020B0502040204020203" pitchFamily="34" charset="0"/>
                <a:cs typeface="Segoe UI Semibold" panose="020B0502040204020203" pitchFamily="34" charset="0"/>
              </a:rPr>
              <a:t>However....</a:t>
            </a:r>
          </a:p>
        </p:txBody>
      </p:sp>
    </p:spTree>
    <p:extLst>
      <p:ext uri="{BB962C8B-B14F-4D97-AF65-F5344CB8AC3E}">
        <p14:creationId xmlns:p14="http://schemas.microsoft.com/office/powerpoint/2010/main" val="211514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1587E-9EF9-5829-5433-CF64F771F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algn="ctr"/>
            <a:r>
              <a:rPr lang="en-US"/>
              <a:t>RAG can struggle with complex queries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5C511E-4A70-92F1-F78E-9242F4218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07848" y="1807177"/>
            <a:ext cx="5120640" cy="4499030"/>
          </a:xfrm>
          <a:prstGeom prst="roundRect">
            <a:avLst>
              <a:gd name="adj" fmla="val 6715"/>
            </a:avLst>
          </a:prstGeom>
          <a:noFill/>
          <a:ln w="12700" cap="rnd">
            <a:solidFill>
              <a:srgbClr val="000000">
                <a:alpha val="50000"/>
              </a:srgb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811670">
              <a:spcBef>
                <a:spcPts val="174"/>
              </a:spcBef>
              <a:defRPr sz="1800"/>
            </a:lvl1pPr>
            <a:lvl2pPr marL="457200" lvl="1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1"/>
            <a:endParaRPr lang="en-US">
              <a:latin typeface="Segoe UI Variable Display Semib" pitchFamily="2" charset="0"/>
            </a:endParaRPr>
          </a:p>
        </p:txBody>
      </p:sp>
      <p:sp useBgFill="1"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ACA9768-1D80-5D47-3B09-1D1D258A317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2915728" y="1621442"/>
            <a:ext cx="1104879" cy="373463"/>
          </a:xfrm>
          <a:prstGeom prst="roundRect">
            <a:avLst>
              <a:gd name="adj" fmla="val 34256"/>
            </a:avLst>
          </a:prstGeom>
        </p:spPr>
        <p:txBody>
          <a:bodyPr wrap="square" lIns="90000" tIns="18000" rIns="90000" bIns="36000" rtlCol="0" anchor="ctr" anchorCtr="0">
            <a:sp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</a:pPr>
            <a:r>
              <a:rPr lang="en-US" sz="1600" b="1">
                <a:ln w="3175">
                  <a:noFill/>
                </a:ln>
                <a:gradFill>
                  <a:gsLst>
                    <a:gs pos="46602">
                      <a:srgbClr val="000000"/>
                    </a:gs>
                    <a:gs pos="80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/>
              </a:rPr>
              <a:t>Works</a:t>
            </a:r>
            <a:endParaRPr lang="en-US" sz="1600" b="1">
              <a:ln w="3175">
                <a:noFill/>
              </a:ln>
              <a:gradFill>
                <a:gsLst>
                  <a:gs pos="46602">
                    <a:srgbClr val="000000"/>
                  </a:gs>
                  <a:gs pos="80000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" pitchFamily="2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E5CDD4-7636-85BA-D366-5B214B19390C}"/>
              </a:ext>
            </a:extLst>
          </p:cNvPr>
          <p:cNvSpPr txBox="1">
            <a:spLocks/>
          </p:cNvSpPr>
          <p:nvPr/>
        </p:nvSpPr>
        <p:spPr>
          <a:xfrm>
            <a:off x="1260984" y="2308750"/>
            <a:ext cx="4414368" cy="1670722"/>
          </a:xfrm>
          <a:prstGeom prst="roundRect">
            <a:avLst>
              <a:gd name="adj" fmla="val 13523"/>
            </a:avLst>
          </a:prstGeom>
          <a:gradFill flip="none" rotWithShape="1"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>
            <a:defPPr>
              <a:defRPr lang="en-US"/>
            </a:defPPr>
            <a:lvl1pPr algn="ctr" defTabSz="2275850" fontAlgn="base">
              <a:spcBef>
                <a:spcPct val="0"/>
              </a:spcBef>
              <a:spcAft>
                <a:spcPct val="0"/>
              </a:spcAft>
              <a:tabLst>
                <a:tab pos="3701239" algn="l"/>
              </a:tabLst>
              <a:defRPr sz="6000" b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" pitchFamily="2" charset="0"/>
                <a:cs typeface="Segoe UI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>
              <a:spcBef>
                <a:spcPts val="200"/>
              </a:spcBef>
            </a:pPr>
            <a:r>
              <a:rPr lang="en-US" sz="2400"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</a:rPr>
              <a:t>security updates KB4048959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269033-5914-243E-D79F-1D1900BF1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312995" y="1807177"/>
            <a:ext cx="5120640" cy="4499030"/>
          </a:xfrm>
          <a:prstGeom prst="roundRect">
            <a:avLst>
              <a:gd name="adj" fmla="val 6094"/>
            </a:avLst>
          </a:prstGeom>
          <a:noFill/>
          <a:ln w="12700" cap="rnd">
            <a:solidFill>
              <a:srgbClr val="000000">
                <a:alpha val="50000"/>
              </a:srgb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811670">
              <a:spcBef>
                <a:spcPts val="174"/>
              </a:spcBef>
              <a:defRPr sz="1800"/>
            </a:lvl1pPr>
            <a:lvl2pPr marL="457200" lvl="1" defTabSz="914400">
              <a:defRPr sz="1800">
                <a:latin typeface="Segoe UI Variable Display Semib" pitchFamily="2" charset="0"/>
              </a:defRPr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1"/>
            <a:endParaRPr lang="en-US"/>
          </a:p>
        </p:txBody>
      </p:sp>
      <p:sp useBgFill="1"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4EABC5B-B6D0-201A-8C6A-442C182994F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8134000" y="1621442"/>
            <a:ext cx="1478630" cy="373463"/>
          </a:xfrm>
          <a:prstGeom prst="roundRect">
            <a:avLst>
              <a:gd name="adj" fmla="val 34256"/>
            </a:avLst>
          </a:prstGeom>
        </p:spPr>
        <p:txBody>
          <a:bodyPr wrap="square" lIns="90000" tIns="18000" rIns="90000" bIns="36000" rtlCol="0" anchor="ctr" anchorCtr="0">
            <a:sp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</a:pPr>
            <a:r>
              <a:rPr lang="en-US" sz="1600" b="1">
                <a:ln w="3175">
                  <a:noFill/>
                </a:ln>
                <a:gradFill>
                  <a:gsLst>
                    <a:gs pos="46602">
                      <a:srgbClr val="000000"/>
                    </a:gs>
                    <a:gs pos="80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/>
              </a:rPr>
              <a:t>Doesn’t 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5A4881-E939-FC92-A7E2-22F2F069F5D7}"/>
              </a:ext>
            </a:extLst>
          </p:cNvPr>
          <p:cNvSpPr txBox="1">
            <a:spLocks/>
          </p:cNvSpPr>
          <p:nvPr/>
        </p:nvSpPr>
        <p:spPr>
          <a:xfrm>
            <a:off x="6695293" y="2308750"/>
            <a:ext cx="4356044" cy="1588978"/>
          </a:xfrm>
          <a:prstGeom prst="roundRect">
            <a:avLst>
              <a:gd name="adj" fmla="val 14023"/>
            </a:avLst>
          </a:prstGeom>
          <a:gradFill flip="none" rotWithShape="1"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2880" tIns="182880" rIns="182880" bIns="182880" rtlCol="0" anchor="ctr" anchorCtr="0">
            <a:spAutoFit/>
          </a:bodyPr>
          <a:lstStyle>
            <a:defPPr>
              <a:defRPr lang="en-US"/>
            </a:defPPr>
            <a:lvl1pPr algn="ctr" defTabSz="2275850" fontAlgn="base">
              <a:spcBef>
                <a:spcPct val="0"/>
              </a:spcBef>
              <a:spcAft>
                <a:spcPct val="0"/>
              </a:spcAft>
              <a:tabLst>
                <a:tab pos="3701239" algn="l"/>
              </a:tabLst>
              <a:defRPr sz="6000" b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" pitchFamily="2" charset="0"/>
                <a:cs typeface="Segoe UI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defTabSz="932742" rtl="0" eaLnBrk="1" fontAlgn="auto" latinLnBrk="0" hangingPunct="1">
              <a:lnSpc>
                <a:spcPts val="2880"/>
              </a:lnSpc>
              <a:spcBef>
                <a:spcPts val="1224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2400"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highlight>
                  <a:srgbClr val="A9D5ED"/>
                </a:highlight>
              </a:rPr>
              <a:t>what does ​KB4048959 fix</a:t>
            </a:r>
            <a:r>
              <a:rPr lang="en-US" sz="2400"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2400">
                <a:solidFill>
                  <a:schemeClr val="tx1"/>
                </a:solidFill>
              </a:rPr>
              <a:t>and </a:t>
            </a:r>
            <a:r>
              <a:rPr lang="en-US" sz="2400">
                <a:solidFill>
                  <a:schemeClr val="tx1"/>
                </a:solidFill>
                <a:highlight>
                  <a:srgbClr val="FFA38B"/>
                </a:highlight>
              </a:rPr>
              <a:t>what systems is the patch </a:t>
            </a:r>
            <a:r>
              <a:rPr lang="en-US" sz="2400" err="1">
                <a:solidFill>
                  <a:schemeClr val="tx1"/>
                </a:solidFill>
                <a:highlight>
                  <a:srgbClr val="FFA38B"/>
                </a:highlight>
              </a:rPr>
              <a:t>compatibel</a:t>
            </a:r>
            <a:r>
              <a:rPr lang="en-US" sz="2400">
                <a:solidFill>
                  <a:schemeClr val="tx1"/>
                </a:solidFill>
                <a:highlight>
                  <a:srgbClr val="FFA38B"/>
                </a:highlight>
              </a:rPr>
              <a:t> with?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4C129-0339-4B64-8CC4-E9296643903E}"/>
              </a:ext>
            </a:extLst>
          </p:cNvPr>
          <p:cNvSpPr txBox="1">
            <a:spLocks/>
          </p:cNvSpPr>
          <p:nvPr/>
        </p:nvSpPr>
        <p:spPr>
          <a:xfrm>
            <a:off x="1260984" y="4307478"/>
            <a:ext cx="4414368" cy="1670722"/>
          </a:xfrm>
          <a:prstGeom prst="roundRect">
            <a:avLst>
              <a:gd name="adj" fmla="val 13523"/>
            </a:avLst>
          </a:prstGeom>
          <a:gradFill flip="none" rotWithShape="1"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>
            <a:defPPr>
              <a:defRPr lang="en-US"/>
            </a:defPPr>
            <a:lvl1pPr algn="ctr" defTabSz="2275850" fontAlgn="base">
              <a:spcBef>
                <a:spcPct val="0"/>
              </a:spcBef>
              <a:spcAft>
                <a:spcPct val="0"/>
              </a:spcAft>
              <a:tabLst>
                <a:tab pos="3701239" algn="l"/>
              </a:tabLst>
              <a:defRPr sz="6000" b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" pitchFamily="2" charset="0"/>
                <a:cs typeface="Segoe UI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>
              <a:spcBef>
                <a:spcPts val="200"/>
              </a:spcBef>
            </a:pPr>
            <a:r>
              <a:rPr lang="en-US" sz="2400"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</a:rPr>
              <a:t>copay cost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F3179E-5E74-9DAB-8936-F1A5497E3B7F}"/>
              </a:ext>
            </a:extLst>
          </p:cNvPr>
          <p:cNvSpPr txBox="1">
            <a:spLocks/>
          </p:cNvSpPr>
          <p:nvPr/>
        </p:nvSpPr>
        <p:spPr>
          <a:xfrm>
            <a:off x="6695293" y="4307478"/>
            <a:ext cx="4356044" cy="1588978"/>
          </a:xfrm>
          <a:prstGeom prst="roundRect">
            <a:avLst>
              <a:gd name="adj" fmla="val 14023"/>
            </a:avLst>
          </a:prstGeom>
          <a:gradFill flip="none" rotWithShape="1"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2880" tIns="182880" rIns="182880" bIns="182880" rtlCol="0" anchor="ctr" anchorCtr="0">
            <a:spAutoFit/>
          </a:bodyPr>
          <a:lstStyle>
            <a:defPPr>
              <a:defRPr lang="en-US"/>
            </a:defPPr>
            <a:lvl1pPr algn="ctr" defTabSz="2275850" fontAlgn="base">
              <a:spcBef>
                <a:spcPct val="0"/>
              </a:spcBef>
              <a:spcAft>
                <a:spcPct val="0"/>
              </a:spcAft>
              <a:tabLst>
                <a:tab pos="3701239" algn="l"/>
              </a:tabLst>
              <a:defRPr sz="6000" b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" pitchFamily="2" charset="0"/>
                <a:cs typeface="Segoe UI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defTabSz="932742" rtl="0" eaLnBrk="1" fontAlgn="auto" latinLnBrk="0" hangingPunct="1">
              <a:lnSpc>
                <a:spcPts val="2880"/>
              </a:lnSpc>
              <a:spcBef>
                <a:spcPts val="1224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2400" err="1">
                <a:solidFill>
                  <a:schemeClr val="tx1"/>
                </a:solidFill>
              </a:rPr>
              <a:t>whats</a:t>
            </a:r>
            <a:r>
              <a:rPr lang="en-US" sz="2400">
                <a:solidFill>
                  <a:schemeClr val="tx1"/>
                </a:solidFill>
              </a:rPr>
              <a:t> the </a:t>
            </a:r>
            <a:r>
              <a:rPr lang="en-US" sz="2400">
                <a:solidFill>
                  <a:schemeClr val="tx1"/>
                </a:solidFill>
                <a:highlight>
                  <a:srgbClr val="8DC8E8"/>
                </a:highlight>
              </a:rPr>
              <a:t>difference in costs</a:t>
            </a:r>
            <a:r>
              <a:rPr lang="en-US" sz="2400">
                <a:solidFill>
                  <a:schemeClr val="tx1"/>
                </a:solidFill>
              </a:rPr>
              <a:t> for </a:t>
            </a:r>
            <a:r>
              <a:rPr lang="en-US" sz="2400">
                <a:solidFill>
                  <a:schemeClr val="tx1"/>
                </a:solidFill>
                <a:highlight>
                  <a:srgbClr val="FFA38B"/>
                </a:highlight>
              </a:rPr>
              <a:t>copays vs split pays</a:t>
            </a:r>
          </a:p>
        </p:txBody>
      </p:sp>
    </p:spTree>
    <p:extLst>
      <p:ext uri="{BB962C8B-B14F-4D97-AF65-F5344CB8AC3E}">
        <p14:creationId xmlns:p14="http://schemas.microsoft.com/office/powerpoint/2010/main" val="2829439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F51EF0-BBA7-FAE7-5D27-7462BF1F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426410"/>
            <a:ext cx="6514084" cy="1107996"/>
          </a:xfrm>
        </p:spPr>
        <p:txBody>
          <a:bodyPr/>
          <a:lstStyle/>
          <a:p>
            <a:r>
              <a:rPr lang="en-US"/>
              <a:t>Introducing agentic </a:t>
            </a:r>
            <a:br>
              <a:rPr lang="en-US"/>
            </a:br>
            <a:r>
              <a:rPr lang="en-US"/>
              <a:t>retrieval in Azure AI Search</a:t>
            </a:r>
          </a:p>
        </p:txBody>
      </p:sp>
    </p:spTree>
    <p:extLst>
      <p:ext uri="{BB962C8B-B14F-4D97-AF65-F5344CB8AC3E}">
        <p14:creationId xmlns:p14="http://schemas.microsoft.com/office/powerpoint/2010/main" val="45303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C45087B-449E-7089-E80A-2238780D7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7F296DE-57AF-1C1D-6C95-DDEEE4068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160816" y="4491023"/>
            <a:ext cx="0" cy="394062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B65BD82-75B8-12D4-6FB6-B44E56624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917115" y="4491023"/>
            <a:ext cx="0" cy="394062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32F0013-1433-E9B0-6677-8196DFEEC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8673414" y="4491023"/>
            <a:ext cx="0" cy="394062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0">
            <a:extLst>
              <a:ext uri="{FF2B5EF4-FFF2-40B4-BE49-F238E27FC236}">
                <a16:creationId xmlns:a16="http://schemas.microsoft.com/office/drawing/2014/main" id="{4F1D8A76-6B01-3782-301E-3735DAC3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2192777"/>
            <a:ext cx="11017250" cy="830997"/>
          </a:xfrm>
        </p:spPr>
        <p:txBody>
          <a:bodyPr/>
          <a:lstStyle/>
          <a:p>
            <a:pPr lvl="0" algn="ctr"/>
            <a:r>
              <a:rPr lang="en-US" sz="5400" noProof="0" dirty="0"/>
              <a:t>Agentic retrieval engine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9BD0C1-3F04-0055-46CA-D209AF0660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149550" y="1193787"/>
            <a:ext cx="1892894" cy="413815"/>
          </a:xfrm>
          <a:prstGeom prst="roundRect">
            <a:avLst>
              <a:gd name="adj" fmla="val 35587"/>
            </a:avLst>
          </a:pr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none" lIns="146957" tIns="25718" rIns="146957" bIns="27432" rtlCol="0">
            <a:spAutoFit/>
          </a:bodyPr>
          <a:lstStyle>
            <a:defPPr>
              <a:defRPr lang="en-US"/>
            </a:defPPr>
            <a:lvl1pPr algn="ctr" defTabSz="2275850" fontAlgn="base">
              <a:spcBef>
                <a:spcPct val="0"/>
              </a:spcBef>
              <a:spcAft>
                <a:spcPct val="0"/>
              </a:spcAft>
              <a:tabLst>
                <a:tab pos="3701239" algn="l"/>
              </a:tabLst>
              <a:defRPr sz="6000" b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" pitchFamily="2" charset="0"/>
                <a:cs typeface="Segoe UI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Public preview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1936BF2-C95F-0ECD-1770-3422A99027A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528759" y="3182982"/>
            <a:ext cx="913447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kern="1200" spc="0" baseline="0">
                <a:gradFill>
                  <a:gsLst>
                    <a:gs pos="0">
                      <a:schemeClr val="accent2"/>
                    </a:gs>
                    <a:gs pos="100000">
                      <a:schemeClr val="tx2"/>
                    </a:gs>
                  </a:gsLst>
                  <a:lin ang="2700000" scaled="0"/>
                </a:gradFill>
                <a:latin typeface="+mj-lt"/>
                <a:ea typeface="+mn-ea"/>
                <a:cs typeface="Segoe UI" panose="020B0502040204020203" pitchFamily="34" charset="0"/>
              </a:defRPr>
            </a:lvl1pPr>
            <a:lvl2pPr marL="22860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1988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5663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Pct val="90000"/>
              <a:buFont typeface="Wingdings" panose="05000000000000000000" pitchFamily="2" charset="2"/>
              <a:buNone/>
              <a:tabLst>
                <a:tab pos="1371655" algn="l"/>
              </a:tabLst>
              <a:defRPr/>
            </a:pPr>
            <a:r>
              <a:rPr kumimoji="0" lang="en-US" sz="3200" b="1" i="0" u="none" strike="noStrike" kern="1200" cap="none" spc="0" normalizeH="0" baseline="0" noProof="0" dirty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Azure AI Search</a:t>
            </a:r>
          </a:p>
        </p:txBody>
      </p:sp>
      <p:sp>
        <p:nvSpPr>
          <p:cNvPr id="19" name="Title 14">
            <a:extLst>
              <a:ext uri="{FF2B5EF4-FFF2-40B4-BE49-F238E27FC236}">
                <a16:creationId xmlns:a16="http://schemas.microsoft.com/office/drawing/2014/main" id="{A1DED4EC-CEF4-AF23-DBCC-FD8F1DDF41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87340" y="4411056"/>
            <a:ext cx="1881737" cy="55399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Contextual 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retrieval</a:t>
            </a:r>
          </a:p>
        </p:txBody>
      </p:sp>
      <p:sp>
        <p:nvSpPr>
          <p:cNvPr id="17" name="Title 14">
            <a:extLst>
              <a:ext uri="{FF2B5EF4-FFF2-40B4-BE49-F238E27FC236}">
                <a16:creationId xmlns:a16="http://schemas.microsoft.com/office/drawing/2014/main" id="{2938B047-25D4-905D-B2A9-11D1D803311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598100" y="4411056"/>
            <a:ext cx="1881737" cy="55399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Query 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planning</a:t>
            </a:r>
          </a:p>
        </p:txBody>
      </p:sp>
      <p:sp>
        <p:nvSpPr>
          <p:cNvPr id="30" name="Title 14">
            <a:extLst>
              <a:ext uri="{FF2B5EF4-FFF2-40B4-BE49-F238E27FC236}">
                <a16:creationId xmlns:a16="http://schemas.microsoft.com/office/drawing/2014/main" id="{C10DF9D6-2B5E-B5D7-EF38-20F65ADD56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457764" y="4411056"/>
            <a:ext cx="1517394" cy="55399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Parallel queries</a:t>
            </a:r>
          </a:p>
        </p:txBody>
      </p:sp>
      <p:sp>
        <p:nvSpPr>
          <p:cNvPr id="33" name="Title 14">
            <a:extLst>
              <a:ext uri="{FF2B5EF4-FFF2-40B4-BE49-F238E27FC236}">
                <a16:creationId xmlns:a16="http://schemas.microsoft.com/office/drawing/2014/main" id="{99AA85ED-0B02-BC2D-211F-5C6427B693D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9110693" y="4411056"/>
            <a:ext cx="2241100" cy="55399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Document references &amp; activity log</a:t>
            </a:r>
          </a:p>
        </p:txBody>
      </p:sp>
      <p:sp>
        <p:nvSpPr>
          <p:cNvPr id="22" name="Title 14">
            <a:extLst>
              <a:ext uri="{FF2B5EF4-FFF2-40B4-BE49-F238E27FC236}">
                <a16:creationId xmlns:a16="http://schemas.microsoft.com/office/drawing/2014/main" id="{1C3CB297-3096-A5B6-666C-6BEB75446F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154910" y="5499428"/>
            <a:ext cx="3885356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>
              <a:lnSpc>
                <a:spcPct val="100000"/>
              </a:lnSpc>
              <a:spcBef>
                <a:spcPts val="2100"/>
              </a:spcBef>
              <a:buNone/>
              <a:defRPr sz="1800" b="0" kern="0" cap="none" spc="0" baseline="0">
                <a:ln>
                  <a:noFill/>
                </a:ln>
                <a:gradFill>
                  <a:gsLst>
                    <a:gs pos="59195">
                      <a:schemeClr val="tx1"/>
                    </a:gs>
                    <a:gs pos="40000">
                      <a:schemeClr val="tx1"/>
                    </a:gs>
                  </a:gsLst>
                  <a:lin ang="2700000" scaled="1"/>
                </a:gradFill>
                <a:effectLst/>
                <a:latin typeface="Segoe UI Variable Display Semibold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</a:t>
            </a:r>
            <a:r>
              <a:rPr kumimoji="0" lang="en-US" sz="1600" b="0" i="0" u="none" strike="noStrike" kern="1200" cap="none" spc="0" normalizeH="0" baseline="0" noProof="0" dirty="0" err="1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agentRAG</a:t>
            </a:r>
            <a:endParaRPr kumimoji="0" lang="en-US" sz="1600" b="0" i="0" u="none" strike="noStrike" kern="1200" cap="none" spc="0" normalizeH="0" baseline="0" noProof="0" dirty="0">
              <a:ln w="3175"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979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DA548-D944-E165-0869-753146F42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64">
            <a:extLst>
              <a:ext uri="{FF2B5EF4-FFF2-40B4-BE49-F238E27FC236}">
                <a16:creationId xmlns:a16="http://schemas.microsoft.com/office/drawing/2014/main" id="{6353F307-8458-C091-CFEE-DEC923AE7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71501" y="2130655"/>
            <a:ext cx="11048998" cy="915107"/>
          </a:xfrm>
          <a:prstGeom prst="roundRect">
            <a:avLst>
              <a:gd name="adj" fmla="val 14628"/>
            </a:avLst>
          </a:prstGeom>
          <a:ln w="9525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457200" rIns="0" bIns="0" rtlCol="0" anchor="t" anchorCtr="0">
            <a:noAutofit/>
          </a:bodyPr>
          <a:lstStyle/>
          <a:p>
            <a:pPr algn="ctr" defTabSz="1427220">
              <a:spcBef>
                <a:spcPts val="400"/>
              </a:spcBef>
            </a:pPr>
            <a:endParaRPr lang="en-US" sz="4000" spc="-50">
              <a:gradFill>
                <a:gsLst>
                  <a:gs pos="9174">
                    <a:schemeClr val="tx1"/>
                  </a:gs>
                  <a:gs pos="42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Segoe UI Variable Display Semibold" pitchFamily="2" charset="0"/>
            </a:endParaRPr>
          </a:p>
        </p:txBody>
      </p:sp>
      <p:cxnSp>
        <p:nvCxnSpPr>
          <p:cNvPr id="27" name="!!Straight Connector 49">
            <a:extLst>
              <a:ext uri="{FF2B5EF4-FFF2-40B4-BE49-F238E27FC236}">
                <a16:creationId xmlns:a16="http://schemas.microsoft.com/office/drawing/2014/main" id="{518030AC-2181-CEDA-0906-10CB6C1C0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271220" y="2462197"/>
            <a:ext cx="0" cy="324000"/>
          </a:xfrm>
          <a:prstGeom prst="line">
            <a:avLst/>
          </a:prstGeom>
          <a:ln w="12700" cap="rnd">
            <a:solidFill>
              <a:srgbClr val="000000">
                <a:alpha val="5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!!Straight Connector 49">
            <a:extLst>
              <a:ext uri="{FF2B5EF4-FFF2-40B4-BE49-F238E27FC236}">
                <a16:creationId xmlns:a16="http://schemas.microsoft.com/office/drawing/2014/main" id="{4218F9B6-9E60-0267-ABEB-456D0FD7A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920780" y="2462197"/>
            <a:ext cx="0" cy="324000"/>
          </a:xfrm>
          <a:prstGeom prst="line">
            <a:avLst/>
          </a:prstGeom>
          <a:ln w="12700" cap="rnd">
            <a:solidFill>
              <a:srgbClr val="000000">
                <a:alpha val="5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Curved 36">
            <a:extLst>
              <a:ext uri="{FF2B5EF4-FFF2-40B4-BE49-F238E27FC236}">
                <a16:creationId xmlns:a16="http://schemas.microsoft.com/office/drawing/2014/main" id="{316FD22B-4317-0123-AA97-BAE0E8F9E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9567024" y="3737054"/>
            <a:ext cx="519186" cy="2"/>
          </a:xfrm>
          <a:prstGeom prst="curvedConnector3">
            <a:avLst>
              <a:gd name="adj1" fmla="val 50000"/>
            </a:avLst>
          </a:prstGeom>
          <a:ln w="19050" cap="rnd">
            <a:solidFill>
              <a:schemeClr val="tx1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64">
            <a:extLst>
              <a:ext uri="{FF2B5EF4-FFF2-40B4-BE49-F238E27FC236}">
                <a16:creationId xmlns:a16="http://schemas.microsoft.com/office/drawing/2014/main" id="{AE1AED84-7B3F-5B01-BA6E-51D501CAA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71501" y="5675575"/>
            <a:ext cx="11048998" cy="597335"/>
          </a:xfrm>
          <a:prstGeom prst="roundRect">
            <a:avLst>
              <a:gd name="adj" fmla="val 25239"/>
            </a:avLst>
          </a:prstGeom>
          <a:noFill/>
          <a:ln w="12700">
            <a:gradFill>
              <a:gsLst>
                <a:gs pos="10000">
                  <a:srgbClr val="2A446F"/>
                </a:gs>
                <a:gs pos="100000">
                  <a:srgbClr val="73262F"/>
                </a:gs>
              </a:gsLst>
              <a:lin ang="2700000" scaled="0"/>
            </a:gradFill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  <a:latin typeface="Segoe UI Variable Display Semib" pitchFamily="2" charset="0"/>
            </a:endParaRPr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3BB14739-212A-783A-ACE1-3405A8EE7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9567024" y="4354186"/>
            <a:ext cx="519187" cy="2"/>
          </a:xfrm>
          <a:prstGeom prst="curvedConnector3">
            <a:avLst>
              <a:gd name="adj1" fmla="val 50000"/>
            </a:avLst>
          </a:prstGeom>
          <a:ln w="19050" cap="rnd">
            <a:solidFill>
              <a:schemeClr val="tx1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3F6A5763-0D8F-A5F7-0D53-75937DA64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87740" y="3730704"/>
            <a:ext cx="108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1D46A7BD-4613-9A81-596F-EDC781957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87740" y="4340087"/>
            <a:ext cx="108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Curved 52">
            <a:extLst>
              <a:ext uri="{FF2B5EF4-FFF2-40B4-BE49-F238E27FC236}">
                <a16:creationId xmlns:a16="http://schemas.microsoft.com/office/drawing/2014/main" id="{D5C0B058-D22A-4222-C27F-48B20F208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87740" y="4949469"/>
            <a:ext cx="108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BF37384F-997A-1BEC-A99B-4C1C5373B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31357" y="3730704"/>
            <a:ext cx="108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23F933C7-82AA-E5AE-E673-9F17F4F66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31357" y="4340087"/>
            <a:ext cx="108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Curved 64">
            <a:extLst>
              <a:ext uri="{FF2B5EF4-FFF2-40B4-BE49-F238E27FC236}">
                <a16:creationId xmlns:a16="http://schemas.microsoft.com/office/drawing/2014/main" id="{ABCE63FC-8664-5BC1-47C3-30EFD482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31357" y="4949469"/>
            <a:ext cx="108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Curved 36">
            <a:extLst>
              <a:ext uri="{FF2B5EF4-FFF2-40B4-BE49-F238E27FC236}">
                <a16:creationId xmlns:a16="http://schemas.microsoft.com/office/drawing/2014/main" id="{F0805318-6107-0E0D-A168-4846C0055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9567024" y="4955819"/>
            <a:ext cx="519186" cy="2"/>
          </a:xfrm>
          <a:prstGeom prst="curvedConnector3">
            <a:avLst>
              <a:gd name="adj1" fmla="val 50000"/>
            </a:avLst>
          </a:prstGeom>
          <a:ln w="19050" cap="rnd">
            <a:solidFill>
              <a:schemeClr val="tx1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Curved 24">
            <a:extLst>
              <a:ext uri="{FF2B5EF4-FFF2-40B4-BE49-F238E27FC236}">
                <a16:creationId xmlns:a16="http://schemas.microsoft.com/office/drawing/2014/main" id="{38A6E05D-8CB5-0B2A-5162-37AC1C730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06711" y="3737054"/>
            <a:ext cx="504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Curved 24">
            <a:extLst>
              <a:ext uri="{FF2B5EF4-FFF2-40B4-BE49-F238E27FC236}">
                <a16:creationId xmlns:a16="http://schemas.microsoft.com/office/drawing/2014/main" id="{E04AAEBE-732A-A5B0-2ABE-1E2804438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06711" y="4955819"/>
            <a:ext cx="504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Curved 24">
            <a:extLst>
              <a:ext uri="{FF2B5EF4-FFF2-40B4-BE49-F238E27FC236}">
                <a16:creationId xmlns:a16="http://schemas.microsoft.com/office/drawing/2014/main" id="{F24A8465-7135-073D-3247-7CF3107BA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06711" y="4346437"/>
            <a:ext cx="504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Curved 24">
            <a:extLst>
              <a:ext uri="{FF2B5EF4-FFF2-40B4-BE49-F238E27FC236}">
                <a16:creationId xmlns:a16="http://schemas.microsoft.com/office/drawing/2014/main" id="{418EC317-95BD-DAEB-80D6-F858585D0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16200000" flipH="1">
            <a:off x="4025353" y="5402781"/>
            <a:ext cx="432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D2D888B7-88BE-FCB0-61B7-D8E13890B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1"/>
            <a:endCxn id="5" idx="3"/>
          </p:cNvCxnSpPr>
          <p:nvPr/>
        </p:nvCxnSpPr>
        <p:spPr>
          <a:xfrm rot="10800000">
            <a:off x="2613920" y="3786567"/>
            <a:ext cx="664699" cy="541304"/>
          </a:xfrm>
          <a:prstGeom prst="bentConnector3">
            <a:avLst>
              <a:gd name="adj1" fmla="val 50000"/>
            </a:avLst>
          </a:prstGeom>
          <a:ln w="1270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arrow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F2B114C-E783-FD15-CEDA-1E27541E2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rot="10800000" flipV="1">
            <a:off x="2613920" y="4327871"/>
            <a:ext cx="664699" cy="561992"/>
          </a:xfrm>
          <a:prstGeom prst="bentConnector3">
            <a:avLst>
              <a:gd name="adj1" fmla="val 50000"/>
            </a:avLst>
          </a:prstGeom>
          <a:ln w="1270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arrow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E1E732B-D079-B92A-680B-BAF1B87E836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2703" y="1049663"/>
            <a:ext cx="11018520" cy="61555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Agentic retrieval engine</a:t>
            </a:r>
            <a:endParaRPr kumimoji="0" lang="en-US" sz="4000" b="0" i="0" u="none" strike="noStrike" kern="1200" cap="none" spc="-50" normalizeH="0" baseline="0" noProof="0" dirty="0">
              <a:ln w="3175"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Segoe U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54F0D5-6307-259B-2FB3-92F6F5B43E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184216" y="392887"/>
            <a:ext cx="1892894" cy="413815"/>
          </a:xfrm>
          <a:prstGeom prst="roundRect">
            <a:avLst>
              <a:gd name="adj" fmla="val 35587"/>
            </a:avLst>
          </a:pr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none" lIns="146957" tIns="25718" rIns="146957" bIns="27432" rtlCol="0">
            <a:spAutoFit/>
          </a:bodyPr>
          <a:lstStyle>
            <a:defPPr>
              <a:defRPr lang="en-US"/>
            </a:defPPr>
            <a:lvl1pPr algn="ctr" defTabSz="2275850" fontAlgn="base">
              <a:spcBef>
                <a:spcPct val="0"/>
              </a:spcBef>
              <a:spcAft>
                <a:spcPct val="0"/>
              </a:spcAft>
              <a:tabLst>
                <a:tab pos="3701239" algn="l"/>
              </a:tabLst>
              <a:defRPr sz="6000" b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" pitchFamily="2" charset="0"/>
                <a:cs typeface="Segoe UI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Public preview</a:t>
            </a:r>
          </a:p>
        </p:txBody>
      </p:sp>
      <p:sp useBgFill="1">
        <p:nvSpPr>
          <p:cNvPr id="24" name="Title 1">
            <a:extLst>
              <a:ext uri="{FF2B5EF4-FFF2-40B4-BE49-F238E27FC236}">
                <a16:creationId xmlns:a16="http://schemas.microsoft.com/office/drawing/2014/main" id="{2D503456-CD86-3ED8-707A-5B774A6C84A4}"/>
              </a:ext>
            </a:extLst>
          </p:cNvPr>
          <p:cNvSpPr txBox="1">
            <a:spLocks/>
          </p:cNvSpPr>
          <p:nvPr/>
        </p:nvSpPr>
        <p:spPr>
          <a:xfrm>
            <a:off x="3941133" y="1959071"/>
            <a:ext cx="4501660" cy="307777"/>
          </a:xfrm>
          <a:prstGeom prst="rect">
            <a:avLst/>
          </a:prstGeom>
          <a:ln w="15875" cap="rnd">
            <a:noFill/>
            <a:headEnd type="none" w="lg" len="med"/>
            <a:tailEnd type="none" w="lg" len="sm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367" fontAlgn="base">
              <a:spcBef>
                <a:spcPct val="0"/>
              </a:spcBef>
              <a:spcAft>
                <a:spcPct val="0"/>
              </a:spcAft>
              <a:defRPr sz="2400" b="1">
                <a:ln w="3175">
                  <a:noFill/>
                </a:ln>
                <a:gradFill flip="none" rotWithShape="1">
                  <a:gsLst>
                    <a:gs pos="93706">
                      <a:srgbClr val="FFFFFF"/>
                    </a:gs>
                    <a:gs pos="80000">
                      <a:srgbClr val="FFFF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" pitchFamily="2" charset="0"/>
              </a:defRPr>
            </a:lvl1pPr>
          </a:lstStyle>
          <a:p>
            <a:pPr defTabSz="342888">
              <a:defRPr/>
            </a:pPr>
            <a:r>
              <a:rPr lang="en-US" sz="2000" b="0" dirty="0">
                <a:solidFill>
                  <a:srgbClr val="152237"/>
                </a:solidFill>
                <a:cs typeface="Segoe Sans Display Semibold" pitchFamily="2" charset="0"/>
              </a:rPr>
              <a:t>Agentic methods applied to retrieval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9062A7-8FCC-7460-87B0-DF180676CD11}"/>
              </a:ext>
            </a:extLst>
          </p:cNvPr>
          <p:cNvSpPr txBox="1"/>
          <p:nvPr/>
        </p:nvSpPr>
        <p:spPr>
          <a:xfrm>
            <a:off x="1186440" y="2501086"/>
            <a:ext cx="2520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lvl="0" algn="ctr" defTabSz="914400">
              <a:defRPr/>
            </a:pPr>
            <a:r>
              <a:rPr lang="en-US" sz="1600" dirty="0">
                <a:gradFill>
                  <a:gsLst>
                    <a:gs pos="10000">
                      <a:srgbClr val="000000"/>
                    </a:gs>
                    <a:gs pos="34000">
                      <a:srgbClr val="000000"/>
                    </a:gs>
                  </a:gsLst>
                  <a:lin ang="10800000" scaled="1"/>
                </a:gradFill>
                <a:latin typeface="Segoe UI Variable Display Semib" pitchFamily="2" charset="0"/>
              </a:rPr>
              <a:t>Query planning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A6E1D4-3F3C-C6C0-DA8A-1AA502DD50EB}"/>
              </a:ext>
            </a:extLst>
          </p:cNvPr>
          <p:cNvSpPr txBox="1"/>
          <p:nvPr/>
        </p:nvSpPr>
        <p:spPr>
          <a:xfrm>
            <a:off x="4836000" y="2501086"/>
            <a:ext cx="2520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lvl="0" algn="ctr" defTabSz="914400">
              <a:defRPr/>
            </a:pPr>
            <a:r>
              <a:rPr lang="en-US" sz="1600">
                <a:gradFill>
                  <a:gsLst>
                    <a:gs pos="10000">
                      <a:srgbClr val="000000"/>
                    </a:gs>
                    <a:gs pos="34000">
                      <a:srgbClr val="000000"/>
                    </a:gs>
                  </a:gsLst>
                  <a:lin ang="10800000" scaled="1"/>
                </a:gradFill>
                <a:latin typeface="Segoe UI Variable Display Semib" pitchFamily="2" charset="0"/>
              </a:rPr>
              <a:t>Fan-out query execution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119DCA-8A78-1460-9C63-D45CEA7BAA53}"/>
              </a:ext>
            </a:extLst>
          </p:cNvPr>
          <p:cNvSpPr txBox="1"/>
          <p:nvPr/>
        </p:nvSpPr>
        <p:spPr>
          <a:xfrm>
            <a:off x="8485560" y="2501086"/>
            <a:ext cx="2520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lvl="0" algn="ctr" defTabSz="914400">
              <a:defRPr/>
            </a:pPr>
            <a:r>
              <a:rPr lang="en-US" sz="1600" dirty="0">
                <a:gradFill>
                  <a:gsLst>
                    <a:gs pos="10000">
                      <a:srgbClr val="000000"/>
                    </a:gs>
                    <a:gs pos="34000">
                      <a:srgbClr val="000000"/>
                    </a:gs>
                  </a:gsLst>
                  <a:lin ang="10800000" scaled="1"/>
                </a:gradFill>
                <a:latin typeface="Segoe UI Variable Display Semib" pitchFamily="2" charset="0"/>
              </a:rPr>
              <a:t>Results merging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C7CF8C-1245-3D44-4051-5F851C28D050}"/>
              </a:ext>
            </a:extLst>
          </p:cNvPr>
          <p:cNvSpPr/>
          <p:nvPr/>
        </p:nvSpPr>
        <p:spPr bwMode="auto">
          <a:xfrm>
            <a:off x="571501" y="3489671"/>
            <a:ext cx="2042418" cy="593792"/>
          </a:xfrm>
          <a:prstGeom prst="roundRect">
            <a:avLst>
              <a:gd name="adj" fmla="val 27866"/>
            </a:avLst>
          </a:prstGeom>
          <a:gradFill flip="none" rotWithShape="1"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/>
                </a:solidFill>
                <a:latin typeface="Segoe UI Semibold" panose="020B0702040204020203" pitchFamily="34" charset="0"/>
                <a:ea typeface="Segoe UI" pitchFamily="34" charset="0"/>
                <a:cs typeface="Segoe UI Semibold" panose="020B0702040204020203" pitchFamily="34" charset="0"/>
              </a:rPr>
              <a:t>User query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6EF97C-907B-9F25-8D28-634B385964F3}"/>
              </a:ext>
            </a:extLst>
          </p:cNvPr>
          <p:cNvSpPr/>
          <p:nvPr/>
        </p:nvSpPr>
        <p:spPr bwMode="auto">
          <a:xfrm>
            <a:off x="571501" y="4592967"/>
            <a:ext cx="2042418" cy="593792"/>
          </a:xfrm>
          <a:prstGeom prst="roundRect">
            <a:avLst>
              <a:gd name="adj" fmla="val 26467"/>
            </a:avLst>
          </a:prstGeom>
          <a:gradFill flip="none" rotWithShape="1"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/>
                </a:solidFill>
                <a:latin typeface="Segoe UI Semibold" panose="020B0702040204020203" pitchFamily="34" charset="0"/>
                <a:ea typeface="Segoe UI" pitchFamily="34" charset="0"/>
                <a:cs typeface="Segoe UI Semibold" panose="020B0702040204020203" pitchFamily="34" charset="0"/>
              </a:rPr>
              <a:t>Conversation turns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765256-9FB4-E405-F4DB-9F094FB3FBE3}"/>
              </a:ext>
            </a:extLst>
          </p:cNvPr>
          <p:cNvSpPr/>
          <p:nvPr/>
        </p:nvSpPr>
        <p:spPr bwMode="auto">
          <a:xfrm>
            <a:off x="3278618" y="3489671"/>
            <a:ext cx="1928093" cy="1676400"/>
          </a:xfrm>
          <a:prstGeom prst="roundRect">
            <a:avLst>
              <a:gd name="adj" fmla="val 9898"/>
            </a:avLst>
          </a:prstGeom>
          <a:solidFill>
            <a:srgbClr val="2A446F"/>
          </a:solidFill>
          <a:ln w="19050">
            <a:solidFill>
              <a:srgbClr val="2A446F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n w="3175">
                  <a:noFill/>
                </a:ln>
                <a:solidFill>
                  <a:srgbClr val="FFFFFF"/>
                </a:solidFill>
                <a:latin typeface="Segoe UI Variable Display Semib" pitchFamily="2" charset="0"/>
                <a:cs typeface="Segoe UI" pitchFamily="34" charset="0"/>
              </a:rPr>
              <a:t>Query</a:t>
            </a:r>
            <a:r>
              <a:rPr lang="en-US" sz="2000" dirty="0">
                <a:solidFill>
                  <a:srgbClr val="FFFFFF"/>
                </a:solidFill>
                <a:latin typeface="Segoe UI Variable Display Semib" pitchFamily="2" charset="0"/>
              </a:rPr>
              <a:t> </a:t>
            </a:r>
            <a:br>
              <a:rPr lang="uk-UA" sz="2000" dirty="0">
                <a:solidFill>
                  <a:srgbClr val="FFFFFF"/>
                </a:solidFill>
                <a:latin typeface="Segoe UI Variable Display Semib" pitchFamily="2" charset="0"/>
              </a:rPr>
            </a:br>
            <a:r>
              <a:rPr lang="en-US" sz="2000" b="1" dirty="0">
                <a:ln w="3175">
                  <a:noFill/>
                </a:ln>
                <a:solidFill>
                  <a:srgbClr val="FFFFFF"/>
                </a:solidFill>
                <a:latin typeface="Segoe UI Variable Display Semib" pitchFamily="2" charset="0"/>
                <a:cs typeface="Segoe UI" pitchFamily="34" charset="0"/>
              </a:rPr>
              <a:t>planning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37D0157-210A-C9D9-F41E-D4EF105D2B79}"/>
              </a:ext>
            </a:extLst>
          </p:cNvPr>
          <p:cNvSpPr/>
          <p:nvPr/>
        </p:nvSpPr>
        <p:spPr bwMode="auto">
          <a:xfrm>
            <a:off x="5779994" y="3490525"/>
            <a:ext cx="2107747" cy="493059"/>
          </a:xfrm>
          <a:prstGeom prst="roundRect">
            <a:avLst/>
          </a:prstGeom>
          <a:gradFill flip="none" rotWithShape="1">
            <a:gsLst>
              <a:gs pos="0">
                <a:srgbClr val="73262F">
                  <a:alpha val="89804"/>
                </a:srgbClr>
              </a:gs>
              <a:gs pos="80000">
                <a:srgbClr val="2A446F">
                  <a:alpha val="89804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tabLst>
                <a:tab pos="3701239" algn="l"/>
              </a:tabLst>
            </a:pPr>
            <a:r>
              <a:rPr lang="en-US" sz="2000" b="1" dirty="0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Search query 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AB5DBC6-C08A-333D-24C2-F6D78E1C15A7}"/>
              </a:ext>
            </a:extLst>
          </p:cNvPr>
          <p:cNvSpPr/>
          <p:nvPr/>
        </p:nvSpPr>
        <p:spPr bwMode="auto">
          <a:xfrm>
            <a:off x="8032363" y="3490525"/>
            <a:ext cx="695019" cy="493059"/>
          </a:xfrm>
          <a:prstGeom prst="roundRect">
            <a:avLst/>
          </a:prstGeom>
          <a:gradFill flip="none" rotWithShape="1">
            <a:gsLst>
              <a:gs pos="0">
                <a:srgbClr val="73262F">
                  <a:alpha val="89804"/>
                </a:srgbClr>
              </a:gs>
              <a:gs pos="80000">
                <a:srgbClr val="2A446F">
                  <a:alpha val="89804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tabLst>
                <a:tab pos="3701239" algn="l"/>
              </a:tabLst>
            </a:pPr>
            <a:r>
              <a:rPr lang="en-US" sz="2000" b="1" dirty="0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L1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A82C5BD-2429-40E1-506C-827CA0C022E0}"/>
              </a:ext>
            </a:extLst>
          </p:cNvPr>
          <p:cNvSpPr/>
          <p:nvPr/>
        </p:nvSpPr>
        <p:spPr bwMode="auto">
          <a:xfrm>
            <a:off x="8872004" y="3490525"/>
            <a:ext cx="695019" cy="493059"/>
          </a:xfrm>
          <a:prstGeom prst="roundRect">
            <a:avLst/>
          </a:prstGeom>
          <a:gradFill flip="none" rotWithShape="1">
            <a:gsLst>
              <a:gs pos="0">
                <a:srgbClr val="73262F">
                  <a:alpha val="89804"/>
                </a:srgbClr>
              </a:gs>
              <a:gs pos="80000">
                <a:srgbClr val="2A446F">
                  <a:alpha val="89804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tabLst>
                <a:tab pos="3701239" algn="l"/>
              </a:tabLst>
            </a:pPr>
            <a:r>
              <a:rPr lang="en-US" sz="2000" b="1" dirty="0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L2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C26CCD-F180-51F9-120A-13CBB86AE12B}"/>
              </a:ext>
            </a:extLst>
          </p:cNvPr>
          <p:cNvSpPr/>
          <p:nvPr/>
        </p:nvSpPr>
        <p:spPr bwMode="auto">
          <a:xfrm>
            <a:off x="5779994" y="4099908"/>
            <a:ext cx="2107747" cy="493059"/>
          </a:xfrm>
          <a:prstGeom prst="roundRect">
            <a:avLst/>
          </a:prstGeom>
          <a:gradFill flip="none" rotWithShape="1">
            <a:gsLst>
              <a:gs pos="0">
                <a:srgbClr val="73262F">
                  <a:alpha val="89804"/>
                </a:srgbClr>
              </a:gs>
              <a:gs pos="80000">
                <a:srgbClr val="2A446F">
                  <a:alpha val="89804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tabLst>
                <a:tab pos="3701239" algn="l"/>
              </a:tabLst>
            </a:pPr>
            <a:r>
              <a:rPr lang="en-US" sz="2000" b="1" dirty="0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…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8AEB59F-D691-4179-EEBF-E45C4F50C073}"/>
              </a:ext>
            </a:extLst>
          </p:cNvPr>
          <p:cNvSpPr/>
          <p:nvPr/>
        </p:nvSpPr>
        <p:spPr bwMode="auto">
          <a:xfrm>
            <a:off x="8032363" y="4099908"/>
            <a:ext cx="695019" cy="493059"/>
          </a:xfrm>
          <a:prstGeom prst="roundRect">
            <a:avLst/>
          </a:prstGeom>
          <a:gradFill flip="none" rotWithShape="1">
            <a:gsLst>
              <a:gs pos="0">
                <a:srgbClr val="73262F">
                  <a:alpha val="89804"/>
                </a:srgbClr>
              </a:gs>
              <a:gs pos="80000">
                <a:srgbClr val="2A446F">
                  <a:alpha val="89804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tabLst>
                <a:tab pos="3701239" algn="l"/>
              </a:tabLst>
            </a:pPr>
            <a:r>
              <a:rPr lang="en-US" sz="2000" b="1" dirty="0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L1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AECDF17-4686-05B8-EE4C-2E429217D4E0}"/>
              </a:ext>
            </a:extLst>
          </p:cNvPr>
          <p:cNvSpPr/>
          <p:nvPr/>
        </p:nvSpPr>
        <p:spPr bwMode="auto">
          <a:xfrm>
            <a:off x="8872004" y="4099908"/>
            <a:ext cx="695019" cy="493059"/>
          </a:xfrm>
          <a:prstGeom prst="roundRect">
            <a:avLst/>
          </a:prstGeom>
          <a:gradFill flip="none" rotWithShape="1">
            <a:gsLst>
              <a:gs pos="0">
                <a:srgbClr val="73262F">
                  <a:alpha val="89804"/>
                </a:srgbClr>
              </a:gs>
              <a:gs pos="80000">
                <a:srgbClr val="2A446F">
                  <a:alpha val="89804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tabLst>
                <a:tab pos="3701239" algn="l"/>
              </a:tabLst>
            </a:pPr>
            <a:r>
              <a:rPr lang="en-US" sz="2000" b="1" dirty="0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L2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D4CB9C-5F77-03F8-6E85-A8B2CE5A9668}"/>
              </a:ext>
            </a:extLst>
          </p:cNvPr>
          <p:cNvSpPr/>
          <p:nvPr/>
        </p:nvSpPr>
        <p:spPr bwMode="auto">
          <a:xfrm>
            <a:off x="5779994" y="4709290"/>
            <a:ext cx="2107747" cy="493059"/>
          </a:xfrm>
          <a:prstGeom prst="roundRect">
            <a:avLst/>
          </a:prstGeom>
          <a:gradFill flip="none" rotWithShape="1">
            <a:gsLst>
              <a:gs pos="0">
                <a:srgbClr val="73262F">
                  <a:alpha val="89804"/>
                </a:srgbClr>
              </a:gs>
              <a:gs pos="80000">
                <a:srgbClr val="2A446F">
                  <a:alpha val="89804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tabLst>
                <a:tab pos="3701239" algn="l"/>
              </a:tabLst>
            </a:pPr>
            <a:r>
              <a:rPr lang="en-US" sz="2000" b="1" dirty="0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Search query 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C20965-6752-DA8F-77EF-FB3F455EE880}"/>
              </a:ext>
            </a:extLst>
          </p:cNvPr>
          <p:cNvSpPr/>
          <p:nvPr/>
        </p:nvSpPr>
        <p:spPr bwMode="auto">
          <a:xfrm>
            <a:off x="8032363" y="4709290"/>
            <a:ext cx="695019" cy="493059"/>
          </a:xfrm>
          <a:prstGeom prst="roundRect">
            <a:avLst/>
          </a:prstGeom>
          <a:gradFill flip="none" rotWithShape="1">
            <a:gsLst>
              <a:gs pos="0">
                <a:srgbClr val="73262F">
                  <a:alpha val="89804"/>
                </a:srgbClr>
              </a:gs>
              <a:gs pos="80000">
                <a:srgbClr val="2A446F">
                  <a:alpha val="89804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tabLst>
                <a:tab pos="3701239" algn="l"/>
              </a:tabLst>
            </a:pPr>
            <a:r>
              <a:rPr lang="en-US" sz="2000" b="1" dirty="0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L1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D3797C-1CF0-2A36-DB70-A4A0D68DE240}"/>
              </a:ext>
            </a:extLst>
          </p:cNvPr>
          <p:cNvSpPr/>
          <p:nvPr/>
        </p:nvSpPr>
        <p:spPr bwMode="auto">
          <a:xfrm>
            <a:off x="8872004" y="4709290"/>
            <a:ext cx="695019" cy="493059"/>
          </a:xfrm>
          <a:prstGeom prst="roundRect">
            <a:avLst/>
          </a:prstGeom>
          <a:gradFill flip="none" rotWithShape="1">
            <a:gsLst>
              <a:gs pos="0">
                <a:srgbClr val="73262F">
                  <a:alpha val="89804"/>
                </a:srgbClr>
              </a:gs>
              <a:gs pos="80000">
                <a:srgbClr val="2A446F">
                  <a:alpha val="89804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tabLst>
                <a:tab pos="3701239" algn="l"/>
              </a:tabLst>
            </a:pPr>
            <a:r>
              <a:rPr lang="en-US" sz="2000" b="1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L2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36CB59B-B956-785F-7905-0EB30BB963D3}"/>
              </a:ext>
            </a:extLst>
          </p:cNvPr>
          <p:cNvSpPr/>
          <p:nvPr/>
        </p:nvSpPr>
        <p:spPr bwMode="auto">
          <a:xfrm>
            <a:off x="10086211" y="3498274"/>
            <a:ext cx="1534281" cy="1711824"/>
          </a:xfrm>
          <a:prstGeom prst="roundRect">
            <a:avLst>
              <a:gd name="adj" fmla="val 13416"/>
            </a:avLst>
          </a:prstGeom>
          <a:solidFill>
            <a:srgbClr val="73262F"/>
          </a:solidFill>
          <a:ln w="19050"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n w="3175">
                  <a:noFill/>
                </a:ln>
                <a:solidFill>
                  <a:schemeClr val="bg1"/>
                </a:solidFill>
                <a:latin typeface="Segoe UI Variable Display Semibold" pitchFamily="2" charset="0"/>
                <a:cs typeface="Segoe UI" pitchFamily="34" charset="0"/>
              </a:rPr>
              <a:t>Merged results</a:t>
            </a:r>
          </a:p>
        </p:txBody>
      </p:sp>
      <p:sp>
        <p:nvSpPr>
          <p:cNvPr id="108" name="Title 1">
            <a:extLst>
              <a:ext uri="{FF2B5EF4-FFF2-40B4-BE49-F238E27FC236}">
                <a16:creationId xmlns:a16="http://schemas.microsoft.com/office/drawing/2014/main" id="{42C3D763-EFAE-1538-BF44-9FFC90647DD3}"/>
              </a:ext>
            </a:extLst>
          </p:cNvPr>
          <p:cNvSpPr txBox="1">
            <a:spLocks/>
          </p:cNvSpPr>
          <p:nvPr/>
        </p:nvSpPr>
        <p:spPr>
          <a:xfrm>
            <a:off x="682703" y="5775455"/>
            <a:ext cx="1656000" cy="397576"/>
          </a:xfrm>
          <a:prstGeom prst="roundRect">
            <a:avLst>
              <a:gd name="adj" fmla="val 34666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  <a:ln w="15875" cap="rnd">
            <a:noFill/>
            <a:headEnd type="none" w="lg" len="med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algn="ctr" defTabSz="914367" fontAlgn="base">
              <a:spcBef>
                <a:spcPct val="0"/>
              </a:spcBef>
              <a:spcAft>
                <a:spcPct val="0"/>
              </a:spcAft>
              <a:defRPr sz="2400" b="1">
                <a:ln w="3175">
                  <a:noFill/>
                </a:ln>
                <a:gradFill flip="none" rotWithShape="1">
                  <a:gsLst>
                    <a:gs pos="93706">
                      <a:srgbClr val="FFFFFF"/>
                    </a:gs>
                    <a:gs pos="80000">
                      <a:srgbClr val="FFFF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" pitchFamily="2" charset="0"/>
              </a:defRPr>
            </a:lvl1pPr>
          </a:lstStyle>
          <a:p>
            <a:pPr defTabSz="342888">
              <a:defRPr/>
            </a:pPr>
            <a:r>
              <a:rPr lang="en-US" sz="1600" b="0" dirty="0">
                <a:solidFill>
                  <a:schemeClr val="tx1"/>
                </a:solidFill>
                <a:cs typeface="Segoe Sans Display Semibold" pitchFamily="2" charset="0"/>
              </a:rPr>
              <a:t>Single LLM call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99591B0-7932-6F97-2FE7-DA966065E4C4}"/>
              </a:ext>
            </a:extLst>
          </p:cNvPr>
          <p:cNvSpPr txBox="1"/>
          <p:nvPr/>
        </p:nvSpPr>
        <p:spPr>
          <a:xfrm>
            <a:off x="2525950" y="5878062"/>
            <a:ext cx="8955120" cy="1923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lvl="0" defTabSz="914400">
              <a:defRPr/>
            </a:pPr>
            <a:r>
              <a:rPr lang="en-US" sz="1250" dirty="0">
                <a:gradFill>
                  <a:gsLst>
                    <a:gs pos="10000">
                      <a:srgbClr val="000000"/>
                    </a:gs>
                    <a:gs pos="34000">
                      <a:srgbClr val="000000"/>
                    </a:gs>
                  </a:gsLst>
                  <a:lin ang="10800000" scaled="1"/>
                </a:gradFill>
                <a:latin typeface="Segoe UI Variable Display Semib" pitchFamily="2" charset="0"/>
              </a:rPr>
              <a:t>Use conversation history for context  •  Correct spellings in context  •  Decompose queries as needed  •  Paraphrase queries</a:t>
            </a:r>
          </a:p>
        </p:txBody>
      </p:sp>
    </p:spTree>
    <p:extLst>
      <p:ext uri="{BB962C8B-B14F-4D97-AF65-F5344CB8AC3E}">
        <p14:creationId xmlns:p14="http://schemas.microsoft.com/office/powerpoint/2010/main" val="261655648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402511-CCAD-AFDE-03F5-B8C42DC1F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What is agentic retrieval in Azure AI Search?</a:t>
            </a:r>
          </a:p>
        </p:txBody>
      </p:sp>
      <p:sp>
        <p:nvSpPr>
          <p:cNvPr id="59" name="Rounded Rectangle 5">
            <a:extLst>
              <a:ext uri="{FF2B5EF4-FFF2-40B4-BE49-F238E27FC236}">
                <a16:creationId xmlns:a16="http://schemas.microsoft.com/office/drawing/2014/main" id="{41EA72E4-4600-9F6D-A6AB-FE41965C04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99815" y="1784190"/>
            <a:ext cx="2058614" cy="1374756"/>
          </a:xfrm>
          <a:prstGeom prst="roundRect">
            <a:avLst>
              <a:gd name="adj" fmla="val 11363"/>
            </a:avLst>
          </a:prstGeom>
          <a:solidFill>
            <a:srgbClr val="E1D3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0" rIns="13716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What is included in my Northwind Health Plus plan that is not in standard?</a:t>
            </a:r>
          </a:p>
        </p:txBody>
      </p:sp>
      <p:sp>
        <p:nvSpPr>
          <p:cNvPr id="102" name="Rounded Rectangle 5">
            <a:extLst>
              <a:ext uri="{FF2B5EF4-FFF2-40B4-BE49-F238E27FC236}">
                <a16:creationId xmlns:a16="http://schemas.microsoft.com/office/drawing/2014/main" id="{B4589028-813D-68D0-4151-72011AD42F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7687734" y="1352130"/>
            <a:ext cx="3252711" cy="1374756"/>
          </a:xfrm>
          <a:prstGeom prst="roundRect">
            <a:avLst>
              <a:gd name="adj" fmla="val 11363"/>
            </a:avLst>
          </a:prstGeom>
          <a:solidFill>
            <a:srgbClr val="E1D3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0" rIns="13716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Both plans offer coverage for medical services, such as doctor visits and lab tests, but the Health Plus plan also covers hospital stays and X-rays</a:t>
            </a:r>
            <a:r>
              <a:rPr kumimoji="0" lang="en-US" sz="1400" b="1" i="0" u="none" strike="noStrike" kern="1200" cap="none" spc="0" normalizeH="0" baseline="3000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1</a:t>
            </a:r>
          </a:p>
        </p:txBody>
      </p: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3C53D896-5C8E-54DE-6C27-571D40F1F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629122" y="3560433"/>
            <a:ext cx="7929329" cy="278222"/>
          </a:xfrm>
          <a:prstGeom prst="bentConnector3">
            <a:avLst>
              <a:gd name="adj1" fmla="val 109"/>
            </a:avLst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F79BB2A7-95D4-44A3-227A-3875D6DDE2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935971" y="5319822"/>
            <a:ext cx="1386303" cy="55399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654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User</a:t>
            </a:r>
          </a:p>
          <a:p>
            <a:pPr marL="0" marR="0" lvl="0" indent="0" algn="ctr" defTabSz="18654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Question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548F24B-D031-B1C9-2FF8-4CFBE0A19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658429" y="5015747"/>
            <a:ext cx="342670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 Placeholder 5">
            <a:extLst>
              <a:ext uri="{FF2B5EF4-FFF2-40B4-BE49-F238E27FC236}">
                <a16:creationId xmlns:a16="http://schemas.microsoft.com/office/drawing/2014/main" id="{CC8C0687-8CBC-F8A3-1366-81F7FB889E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191693" y="5181322"/>
            <a:ext cx="1677426" cy="830997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654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Large 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Language Model</a:t>
            </a:r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AAF2FD1A-BB0F-EDE4-ACE3-03C08A6BA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59713" y="4364244"/>
            <a:ext cx="342670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3D975CEB-BD1E-08BD-AB00-282918C5F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59713" y="5667248"/>
            <a:ext cx="342670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7">
            <a:extLst>
              <a:ext uri="{FF2B5EF4-FFF2-40B4-BE49-F238E27FC236}">
                <a16:creationId xmlns:a16="http://schemas.microsoft.com/office/drawing/2014/main" id="{CDB42447-E801-A8FA-75F0-8B643C262D0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386406" y="4002607"/>
            <a:ext cx="1391634" cy="7232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65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Search</a:t>
            </a:r>
          </a:p>
          <a:p>
            <a:pPr marL="0" marR="0" lvl="0" indent="0" algn="l" defTabSz="365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lt"/>
                <a:cs typeface="Segoe UI"/>
              </a:rPr>
              <a:t>Northwind Health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lt"/>
                <a:cs typeface="Segoe UI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lt"/>
                <a:cs typeface="Segoe UI"/>
              </a:rPr>
              <a:t>Plus plan benefits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9A9169-5DC7-CFBC-AE41-375ABA8DF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947918" y="4364244"/>
            <a:ext cx="808521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7">
            <a:extLst>
              <a:ext uri="{FF2B5EF4-FFF2-40B4-BE49-F238E27FC236}">
                <a16:creationId xmlns:a16="http://schemas.microsoft.com/office/drawing/2014/main" id="{CFD3521F-648B-3B0F-6889-039A14C5A5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386406" y="5318435"/>
            <a:ext cx="1391634" cy="6976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65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Search</a:t>
            </a:r>
          </a:p>
          <a:p>
            <a:pPr marL="0" marR="0" lvl="0" indent="0" algn="l" defTabSz="365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lt"/>
                <a:cs typeface="Segoe UI"/>
              </a:rPr>
              <a:t>Standard Northwind Health plan benefits</a:t>
            </a:r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72F8817C-109B-0C9E-DC9E-ADA2B7AD6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947918" y="5667248"/>
            <a:ext cx="808521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7D8830B1-3C94-DB3D-8FD0-925E0FF80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6439" y="5015747"/>
            <a:ext cx="802012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 Placeholder 5">
            <a:extLst>
              <a:ext uri="{FF2B5EF4-FFF2-40B4-BE49-F238E27FC236}">
                <a16:creationId xmlns:a16="http://schemas.microsoft.com/office/drawing/2014/main" id="{EC0EBA10-606E-4CD8-3D69-99D1C122B05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9894607" y="4701917"/>
            <a:ext cx="1386303" cy="830997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654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Large Language Model</a:t>
            </a:r>
          </a:p>
        </p:txBody>
      </p:sp>
      <p:sp>
        <p:nvSpPr>
          <p:cNvPr id="55" name="Rounded Rectangle 5">
            <a:extLst>
              <a:ext uri="{FF2B5EF4-FFF2-40B4-BE49-F238E27FC236}">
                <a16:creationId xmlns:a16="http://schemas.microsoft.com/office/drawing/2014/main" id="{4B460518-4BD2-3C00-2603-324EAC256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99815" y="3838655"/>
            <a:ext cx="2058614" cy="2354183"/>
          </a:xfrm>
          <a:prstGeom prst="roundRect">
            <a:avLst>
              <a:gd name="adj" fmla="val 7437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320040" rIns="0" bIns="0" rtlCol="0" anchor="t" anchorCtr="0">
            <a:noAutofit/>
          </a:bodyPr>
          <a:lstStyle/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+mn-cs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BD4DEA5-CC84-496F-1A41-D2E81571D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173314" y="4205799"/>
            <a:ext cx="911617" cy="911617"/>
          </a:xfrm>
          <a:prstGeom prst="ellipse">
            <a:avLst/>
          </a:prstGeom>
          <a:gradFill flip="none" rotWithShape="1">
            <a:gsLst>
              <a:gs pos="80000">
                <a:srgbClr val="1774A7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err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58" name="Graphic 20">
            <a:extLst>
              <a:ext uri="{FF2B5EF4-FFF2-40B4-BE49-F238E27FC236}">
                <a16:creationId xmlns:a16="http://schemas.microsoft.com/office/drawing/2014/main" id="{B8F68FAE-961D-97D9-2C81-ACDA1CE5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36001" y="4449236"/>
            <a:ext cx="424743" cy="424743"/>
          </a:xfrm>
          <a:custGeom>
            <a:avLst/>
            <a:gdLst>
              <a:gd name="connsiteX0" fmla="*/ 454356 w 952251"/>
              <a:gd name="connsiteY0" fmla="*/ 544066 h 952251"/>
              <a:gd name="connsiteX1" fmla="*/ 408004 w 952251"/>
              <a:gd name="connsiteY1" fmla="*/ 702805 h 952251"/>
              <a:gd name="connsiteX2" fmla="*/ 480208 w 952251"/>
              <a:gd name="connsiteY2" fmla="*/ 896058 h 952251"/>
              <a:gd name="connsiteX3" fmla="*/ 362650 w 952251"/>
              <a:gd name="connsiteY3" fmla="*/ 906943 h 952251"/>
              <a:gd name="connsiteX4" fmla="*/ 23131 w 952251"/>
              <a:gd name="connsiteY4" fmla="*/ 760132 h 952251"/>
              <a:gd name="connsiteX5" fmla="*/ 0 w 952251"/>
              <a:gd name="connsiteY5" fmla="*/ 687793 h 952251"/>
              <a:gd name="connsiteX6" fmla="*/ 0 w 952251"/>
              <a:gd name="connsiteY6" fmla="*/ 646067 h 952251"/>
              <a:gd name="connsiteX7" fmla="*/ 101956 w 952251"/>
              <a:gd name="connsiteY7" fmla="*/ 544021 h 952251"/>
              <a:gd name="connsiteX8" fmla="*/ 102001 w 952251"/>
              <a:gd name="connsiteY8" fmla="*/ 544021 h 952251"/>
              <a:gd name="connsiteX9" fmla="*/ 454401 w 952251"/>
              <a:gd name="connsiteY9" fmla="*/ 544021 h 952251"/>
              <a:gd name="connsiteX10" fmla="*/ 702805 w 952251"/>
              <a:gd name="connsiteY10" fmla="*/ 453358 h 952251"/>
              <a:gd name="connsiteX11" fmla="*/ 952252 w 952251"/>
              <a:gd name="connsiteY11" fmla="*/ 702805 h 952251"/>
              <a:gd name="connsiteX12" fmla="*/ 702805 w 952251"/>
              <a:gd name="connsiteY12" fmla="*/ 952252 h 952251"/>
              <a:gd name="connsiteX13" fmla="*/ 453358 w 952251"/>
              <a:gd name="connsiteY13" fmla="*/ 702805 h 952251"/>
              <a:gd name="connsiteX14" fmla="*/ 702805 w 952251"/>
              <a:gd name="connsiteY14" fmla="*/ 453358 h 952251"/>
              <a:gd name="connsiteX15" fmla="*/ 702805 w 952251"/>
              <a:gd name="connsiteY15" fmla="*/ 804851 h 952251"/>
              <a:gd name="connsiteX16" fmla="*/ 674459 w 952251"/>
              <a:gd name="connsiteY16" fmla="*/ 833198 h 952251"/>
              <a:gd name="connsiteX17" fmla="*/ 702805 w 952251"/>
              <a:gd name="connsiteY17" fmla="*/ 861544 h 952251"/>
              <a:gd name="connsiteX18" fmla="*/ 731151 w 952251"/>
              <a:gd name="connsiteY18" fmla="*/ 833198 h 952251"/>
              <a:gd name="connsiteX19" fmla="*/ 702805 w 952251"/>
              <a:gd name="connsiteY19" fmla="*/ 804851 h 952251"/>
              <a:gd name="connsiteX20" fmla="*/ 702805 w 952251"/>
              <a:gd name="connsiteY20" fmla="*/ 538352 h 952251"/>
              <a:gd name="connsiteX21" fmla="*/ 618764 w 952251"/>
              <a:gd name="connsiteY21" fmla="*/ 626973 h 952251"/>
              <a:gd name="connsiteX22" fmla="*/ 641668 w 952251"/>
              <a:gd name="connsiteY22" fmla="*/ 649423 h 952251"/>
              <a:gd name="connsiteX23" fmla="*/ 664118 w 952251"/>
              <a:gd name="connsiteY23" fmla="*/ 626520 h 952251"/>
              <a:gd name="connsiteX24" fmla="*/ 702805 w 952251"/>
              <a:gd name="connsiteY24" fmla="*/ 583705 h 952251"/>
              <a:gd name="connsiteX25" fmla="*/ 741537 w 952251"/>
              <a:gd name="connsiteY25" fmla="*/ 626792 h 952251"/>
              <a:gd name="connsiteX26" fmla="*/ 731378 w 952251"/>
              <a:gd name="connsiteY26" fmla="*/ 652190 h 952251"/>
              <a:gd name="connsiteX27" fmla="*/ 727115 w 952251"/>
              <a:gd name="connsiteY27" fmla="*/ 657496 h 952251"/>
              <a:gd name="connsiteX28" fmla="*/ 722579 w 952251"/>
              <a:gd name="connsiteY28" fmla="*/ 662621 h 952251"/>
              <a:gd name="connsiteX29" fmla="*/ 710560 w 952251"/>
              <a:gd name="connsiteY29" fmla="*/ 675774 h 952251"/>
              <a:gd name="connsiteX30" fmla="*/ 704392 w 952251"/>
              <a:gd name="connsiteY30" fmla="*/ 682895 h 952251"/>
              <a:gd name="connsiteX31" fmla="*/ 680128 w 952251"/>
              <a:gd name="connsiteY31" fmla="*/ 742308 h 952251"/>
              <a:gd name="connsiteX32" fmla="*/ 702805 w 952251"/>
              <a:gd name="connsiteY32" fmla="*/ 764985 h 952251"/>
              <a:gd name="connsiteX33" fmla="*/ 725482 w 952251"/>
              <a:gd name="connsiteY33" fmla="*/ 742308 h 952251"/>
              <a:gd name="connsiteX34" fmla="*/ 736322 w 952251"/>
              <a:gd name="connsiteY34" fmla="*/ 715549 h 952251"/>
              <a:gd name="connsiteX35" fmla="*/ 740177 w 952251"/>
              <a:gd name="connsiteY35" fmla="*/ 710833 h 952251"/>
              <a:gd name="connsiteX36" fmla="*/ 744712 w 952251"/>
              <a:gd name="connsiteY36" fmla="*/ 705572 h 952251"/>
              <a:gd name="connsiteX37" fmla="*/ 756822 w 952251"/>
              <a:gd name="connsiteY37" fmla="*/ 692419 h 952251"/>
              <a:gd name="connsiteX38" fmla="*/ 762899 w 952251"/>
              <a:gd name="connsiteY38" fmla="*/ 685389 h 952251"/>
              <a:gd name="connsiteX39" fmla="*/ 786891 w 952251"/>
              <a:gd name="connsiteY39" fmla="*/ 626746 h 952251"/>
              <a:gd name="connsiteX40" fmla="*/ 702805 w 952251"/>
              <a:gd name="connsiteY40" fmla="*/ 538306 h 952251"/>
              <a:gd name="connsiteX41" fmla="*/ 362650 w 952251"/>
              <a:gd name="connsiteY41" fmla="*/ 0 h 952251"/>
              <a:gd name="connsiteX42" fmla="*/ 589420 w 952251"/>
              <a:gd name="connsiteY42" fmla="*/ 226770 h 952251"/>
              <a:gd name="connsiteX43" fmla="*/ 362650 w 952251"/>
              <a:gd name="connsiteY43" fmla="*/ 453540 h 952251"/>
              <a:gd name="connsiteX44" fmla="*/ 135880 w 952251"/>
              <a:gd name="connsiteY44" fmla="*/ 226770 h 952251"/>
              <a:gd name="connsiteX45" fmla="*/ 362650 w 952251"/>
              <a:gd name="connsiteY45" fmla="*/ 0 h 952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952251" h="952251">
                <a:moveTo>
                  <a:pt x="454356" y="544066"/>
                </a:moveTo>
                <a:cubicBezTo>
                  <a:pt x="424005" y="591443"/>
                  <a:pt x="407918" y="646543"/>
                  <a:pt x="408004" y="702805"/>
                </a:cubicBezTo>
                <a:cubicBezTo>
                  <a:pt x="408004" y="776732"/>
                  <a:pt x="435217" y="844309"/>
                  <a:pt x="480208" y="896058"/>
                </a:cubicBezTo>
                <a:cubicBezTo>
                  <a:pt x="444106" y="903315"/>
                  <a:pt x="404920" y="906943"/>
                  <a:pt x="362650" y="906943"/>
                </a:cubicBezTo>
                <a:cubicBezTo>
                  <a:pt x="207540" y="906943"/>
                  <a:pt x="93066" y="858324"/>
                  <a:pt x="23131" y="760132"/>
                </a:cubicBezTo>
                <a:cubicBezTo>
                  <a:pt x="8088" y="739011"/>
                  <a:pt x="3" y="713726"/>
                  <a:pt x="0" y="687793"/>
                </a:cubicBezTo>
                <a:lnTo>
                  <a:pt x="0" y="646067"/>
                </a:lnTo>
                <a:cubicBezTo>
                  <a:pt x="-25" y="589733"/>
                  <a:pt x="45622" y="544048"/>
                  <a:pt x="101956" y="544021"/>
                </a:cubicBezTo>
                <a:cubicBezTo>
                  <a:pt x="101971" y="544021"/>
                  <a:pt x="101986" y="544021"/>
                  <a:pt x="102001" y="544021"/>
                </a:cubicBezTo>
                <a:lnTo>
                  <a:pt x="454401" y="544021"/>
                </a:lnTo>
                <a:close/>
                <a:moveTo>
                  <a:pt x="702805" y="453358"/>
                </a:moveTo>
                <a:cubicBezTo>
                  <a:pt x="840572" y="453358"/>
                  <a:pt x="952252" y="565038"/>
                  <a:pt x="952252" y="702805"/>
                </a:cubicBezTo>
                <a:cubicBezTo>
                  <a:pt x="952252" y="840572"/>
                  <a:pt x="840572" y="952252"/>
                  <a:pt x="702805" y="952252"/>
                </a:cubicBezTo>
                <a:cubicBezTo>
                  <a:pt x="565038" y="952252"/>
                  <a:pt x="453358" y="840572"/>
                  <a:pt x="453358" y="702805"/>
                </a:cubicBezTo>
                <a:cubicBezTo>
                  <a:pt x="453358" y="565038"/>
                  <a:pt x="565038" y="453358"/>
                  <a:pt x="702805" y="453358"/>
                </a:cubicBezTo>
                <a:close/>
                <a:moveTo>
                  <a:pt x="702805" y="804851"/>
                </a:moveTo>
                <a:cubicBezTo>
                  <a:pt x="687149" y="804851"/>
                  <a:pt x="674459" y="817541"/>
                  <a:pt x="674459" y="833198"/>
                </a:cubicBezTo>
                <a:cubicBezTo>
                  <a:pt x="674459" y="848854"/>
                  <a:pt x="687149" y="861544"/>
                  <a:pt x="702805" y="861544"/>
                </a:cubicBezTo>
                <a:cubicBezTo>
                  <a:pt x="718461" y="861544"/>
                  <a:pt x="731151" y="848854"/>
                  <a:pt x="731151" y="833198"/>
                </a:cubicBezTo>
                <a:cubicBezTo>
                  <a:pt x="731151" y="817541"/>
                  <a:pt x="718461" y="804851"/>
                  <a:pt x="702805" y="804851"/>
                </a:cubicBezTo>
                <a:close/>
                <a:moveTo>
                  <a:pt x="702805" y="538352"/>
                </a:moveTo>
                <a:cubicBezTo>
                  <a:pt x="655274" y="538352"/>
                  <a:pt x="618265" y="575406"/>
                  <a:pt x="618764" y="626973"/>
                </a:cubicBezTo>
                <a:cubicBezTo>
                  <a:pt x="618891" y="639495"/>
                  <a:pt x="629146" y="649550"/>
                  <a:pt x="641668" y="649423"/>
                </a:cubicBezTo>
                <a:cubicBezTo>
                  <a:pt x="654190" y="649296"/>
                  <a:pt x="664245" y="639042"/>
                  <a:pt x="664118" y="626520"/>
                </a:cubicBezTo>
                <a:cubicBezTo>
                  <a:pt x="663846" y="600260"/>
                  <a:pt x="680445" y="583705"/>
                  <a:pt x="702805" y="583705"/>
                </a:cubicBezTo>
                <a:cubicBezTo>
                  <a:pt x="724257" y="583705"/>
                  <a:pt x="741537" y="601484"/>
                  <a:pt x="741537" y="626792"/>
                </a:cubicBezTo>
                <a:cubicBezTo>
                  <a:pt x="741537" y="635500"/>
                  <a:pt x="738997" y="642303"/>
                  <a:pt x="731378" y="652190"/>
                </a:cubicBezTo>
                <a:lnTo>
                  <a:pt x="727115" y="657496"/>
                </a:lnTo>
                <a:lnTo>
                  <a:pt x="722579" y="662621"/>
                </a:lnTo>
                <a:lnTo>
                  <a:pt x="710560" y="675774"/>
                </a:lnTo>
                <a:lnTo>
                  <a:pt x="704392" y="682895"/>
                </a:lnTo>
                <a:cubicBezTo>
                  <a:pt x="686976" y="703621"/>
                  <a:pt x="680128" y="718860"/>
                  <a:pt x="680128" y="742308"/>
                </a:cubicBezTo>
                <a:cubicBezTo>
                  <a:pt x="680128" y="754831"/>
                  <a:pt x="690283" y="764985"/>
                  <a:pt x="702805" y="764985"/>
                </a:cubicBezTo>
                <a:cubicBezTo>
                  <a:pt x="715327" y="764985"/>
                  <a:pt x="725482" y="754831"/>
                  <a:pt x="725482" y="742308"/>
                </a:cubicBezTo>
                <a:cubicBezTo>
                  <a:pt x="725482" y="733101"/>
                  <a:pt x="728158" y="726026"/>
                  <a:pt x="736322" y="715549"/>
                </a:cubicBezTo>
                <a:lnTo>
                  <a:pt x="740177" y="710833"/>
                </a:lnTo>
                <a:lnTo>
                  <a:pt x="744712" y="705572"/>
                </a:lnTo>
                <a:lnTo>
                  <a:pt x="756822" y="692419"/>
                </a:lnTo>
                <a:lnTo>
                  <a:pt x="762899" y="685389"/>
                </a:lnTo>
                <a:cubicBezTo>
                  <a:pt x="780043" y="664980"/>
                  <a:pt x="786891" y="649877"/>
                  <a:pt x="786891" y="626746"/>
                </a:cubicBezTo>
                <a:cubicBezTo>
                  <a:pt x="786891" y="576721"/>
                  <a:pt x="749565" y="538306"/>
                  <a:pt x="702805" y="538306"/>
                </a:cubicBezTo>
                <a:close/>
                <a:moveTo>
                  <a:pt x="362650" y="0"/>
                </a:moveTo>
                <a:cubicBezTo>
                  <a:pt x="487891" y="0"/>
                  <a:pt x="589420" y="101528"/>
                  <a:pt x="589420" y="226770"/>
                </a:cubicBezTo>
                <a:cubicBezTo>
                  <a:pt x="589420" y="352011"/>
                  <a:pt x="487891" y="453540"/>
                  <a:pt x="362650" y="453540"/>
                </a:cubicBezTo>
                <a:cubicBezTo>
                  <a:pt x="237409" y="453540"/>
                  <a:pt x="135880" y="352011"/>
                  <a:pt x="135880" y="226770"/>
                </a:cubicBezTo>
                <a:cubicBezTo>
                  <a:pt x="135880" y="101528"/>
                  <a:pt x="237409" y="0"/>
                  <a:pt x="362650" y="0"/>
                </a:cubicBezTo>
                <a:close/>
              </a:path>
            </a:pathLst>
          </a:custGeom>
          <a:solidFill>
            <a:schemeClr val="bg1"/>
          </a:solidFill>
          <a:ln w="4524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56C2773E-54F9-87B6-DA25-AC6ACF901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10800000">
            <a:off x="848022" y="3157888"/>
            <a:ext cx="87949" cy="678649"/>
          </a:xfrm>
          <a:prstGeom prst="triangle">
            <a:avLst>
              <a:gd name="adj" fmla="val 0"/>
            </a:avLst>
          </a:prstGeom>
          <a:solidFill>
            <a:srgbClr val="E1D3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78" name="Rounded Rectangle 5">
            <a:extLst>
              <a:ext uri="{FF2B5EF4-FFF2-40B4-BE49-F238E27FC236}">
                <a16:creationId xmlns:a16="http://schemas.microsoft.com/office/drawing/2014/main" id="{ADF7BB43-0E0D-B831-0A49-767B61EFA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001099" y="3838655"/>
            <a:ext cx="2058614" cy="2354183"/>
          </a:xfrm>
          <a:prstGeom prst="roundRect">
            <a:avLst>
              <a:gd name="adj" fmla="val 7437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320040" rIns="0" bIns="0" rtlCol="0" anchor="t" anchorCtr="0">
            <a:noAutofit/>
          </a:bodyPr>
          <a:lstStyle/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+mn-cs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DCAD8F57-8AC4-8511-B1E9-ED1130ABF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574598" y="4090295"/>
            <a:ext cx="911617" cy="911617"/>
          </a:xfrm>
          <a:prstGeom prst="ellipse">
            <a:avLst/>
          </a:prstGeom>
          <a:gradFill flip="none" rotWithShape="1">
            <a:gsLst>
              <a:gs pos="80000">
                <a:srgbClr val="654DB4"/>
              </a:gs>
              <a:gs pos="0">
                <a:srgbClr val="1774A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err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82" name="Graphic 24">
            <a:extLst>
              <a:ext uri="{FF2B5EF4-FFF2-40B4-BE49-F238E27FC236}">
                <a16:creationId xmlns:a16="http://schemas.microsoft.com/office/drawing/2014/main" id="{E395F2C9-32A4-D693-F2E5-AD5EACEC7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07883" y="4333080"/>
            <a:ext cx="445046" cy="445297"/>
          </a:xfrm>
          <a:custGeom>
            <a:avLst/>
            <a:gdLst>
              <a:gd name="connsiteX0" fmla="*/ 770994 w 907063"/>
              <a:gd name="connsiteY0" fmla="*/ 113334 h 907573"/>
              <a:gd name="connsiteX1" fmla="*/ 657654 w 907063"/>
              <a:gd name="connsiteY1" fmla="*/ 226764 h 907573"/>
              <a:gd name="connsiteX2" fmla="*/ 634387 w 907063"/>
              <a:gd name="connsiteY2" fmla="*/ 224361 h 907573"/>
              <a:gd name="connsiteX3" fmla="*/ 576334 w 907063"/>
              <a:gd name="connsiteY3" fmla="*/ 320421 h 907573"/>
              <a:gd name="connsiteX4" fmla="*/ 634932 w 907063"/>
              <a:gd name="connsiteY4" fmla="*/ 453897 h 907573"/>
              <a:gd name="connsiteX5" fmla="*/ 634932 w 907063"/>
              <a:gd name="connsiteY5" fmla="*/ 456528 h 907573"/>
              <a:gd name="connsiteX6" fmla="*/ 693710 w 907063"/>
              <a:gd name="connsiteY6" fmla="*/ 468365 h 907573"/>
              <a:gd name="connsiteX7" fmla="*/ 847197 w 907063"/>
              <a:gd name="connsiteY7" fmla="*/ 421959 h 907573"/>
              <a:gd name="connsiteX8" fmla="*/ 893603 w 907063"/>
              <a:gd name="connsiteY8" fmla="*/ 575451 h 907573"/>
              <a:gd name="connsiteX9" fmla="*/ 740117 w 907063"/>
              <a:gd name="connsiteY9" fmla="*/ 621852 h 907573"/>
              <a:gd name="connsiteX10" fmla="*/ 681057 w 907063"/>
              <a:gd name="connsiteY10" fmla="*/ 535217 h 907573"/>
              <a:gd name="connsiteX11" fmla="*/ 621189 w 907063"/>
              <a:gd name="connsiteY11" fmla="*/ 523198 h 907573"/>
              <a:gd name="connsiteX12" fmla="*/ 542183 w 907063"/>
              <a:gd name="connsiteY12" fmla="*/ 612228 h 907573"/>
              <a:gd name="connsiteX13" fmla="*/ 564633 w 907063"/>
              <a:gd name="connsiteY13" fmla="*/ 680803 h 907573"/>
              <a:gd name="connsiteX14" fmla="*/ 566901 w 907063"/>
              <a:gd name="connsiteY14" fmla="*/ 680803 h 907573"/>
              <a:gd name="connsiteX15" fmla="*/ 680204 w 907063"/>
              <a:gd name="connsiteY15" fmla="*/ 794270 h 907573"/>
              <a:gd name="connsiteX16" fmla="*/ 566737 w 907063"/>
              <a:gd name="connsiteY16" fmla="*/ 907573 h 907573"/>
              <a:gd name="connsiteX17" fmla="*/ 453434 w 907063"/>
              <a:gd name="connsiteY17" fmla="*/ 794106 h 907573"/>
              <a:gd name="connsiteX18" fmla="*/ 500140 w 907063"/>
              <a:gd name="connsiteY18" fmla="*/ 702482 h 907573"/>
              <a:gd name="connsiteX19" fmla="*/ 477644 w 907063"/>
              <a:gd name="connsiteY19" fmla="*/ 633726 h 907573"/>
              <a:gd name="connsiteX20" fmla="*/ 307476 w 907063"/>
              <a:gd name="connsiteY20" fmla="*/ 561477 h 907573"/>
              <a:gd name="connsiteX21" fmla="*/ 226066 w 907063"/>
              <a:gd name="connsiteY21" fmla="*/ 599937 h 907573"/>
              <a:gd name="connsiteX22" fmla="*/ 126102 w 907063"/>
              <a:gd name="connsiteY22" fmla="*/ 725314 h 907573"/>
              <a:gd name="connsiteX23" fmla="*/ 725 w 907063"/>
              <a:gd name="connsiteY23" fmla="*/ 625353 h 907573"/>
              <a:gd name="connsiteX24" fmla="*/ 100688 w 907063"/>
              <a:gd name="connsiteY24" fmla="*/ 499972 h 907573"/>
              <a:gd name="connsiteX25" fmla="*/ 198490 w 907063"/>
              <a:gd name="connsiteY25" fmla="*/ 537711 h 907573"/>
              <a:gd name="connsiteX26" fmla="*/ 278041 w 907063"/>
              <a:gd name="connsiteY26" fmla="*/ 500158 h 907573"/>
              <a:gd name="connsiteX27" fmla="*/ 313599 w 907063"/>
              <a:gd name="connsiteY27" fmla="*/ 338381 h 907573"/>
              <a:gd name="connsiteX28" fmla="*/ 268653 w 907063"/>
              <a:gd name="connsiteY28" fmla="*/ 287131 h 907573"/>
              <a:gd name="connsiteX29" fmla="*/ 121392 w 907063"/>
              <a:gd name="connsiteY29" fmla="*/ 223675 h 907573"/>
              <a:gd name="connsiteX30" fmla="*/ 184848 w 907063"/>
              <a:gd name="connsiteY30" fmla="*/ 76415 h 907573"/>
              <a:gd name="connsiteX31" fmla="*/ 332109 w 907063"/>
              <a:gd name="connsiteY31" fmla="*/ 139870 h 907573"/>
              <a:gd name="connsiteX32" fmla="*/ 321445 w 907063"/>
              <a:gd name="connsiteY32" fmla="*/ 244135 h 907573"/>
              <a:gd name="connsiteX33" fmla="*/ 366028 w 907063"/>
              <a:gd name="connsiteY33" fmla="*/ 294932 h 907573"/>
              <a:gd name="connsiteX34" fmla="*/ 453516 w 907063"/>
              <a:gd name="connsiteY34" fmla="*/ 272482 h 907573"/>
              <a:gd name="connsiteX35" fmla="*/ 518553 w 907063"/>
              <a:gd name="connsiteY35" fmla="*/ 284500 h 907573"/>
              <a:gd name="connsiteX36" fmla="*/ 575019 w 907063"/>
              <a:gd name="connsiteY36" fmla="*/ 191071 h 907573"/>
              <a:gd name="connsiteX37" fmla="*/ 579922 w 907063"/>
              <a:gd name="connsiteY37" fmla="*/ 30796 h 907573"/>
              <a:gd name="connsiteX38" fmla="*/ 740198 w 907063"/>
              <a:gd name="connsiteY38" fmla="*/ 35699 h 907573"/>
              <a:gd name="connsiteX39" fmla="*/ 770994 w 907063"/>
              <a:gd name="connsiteY39" fmla="*/ 113380 h 907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907063" h="907573">
                <a:moveTo>
                  <a:pt x="770994" y="113334"/>
                </a:moveTo>
                <a:cubicBezTo>
                  <a:pt x="771016" y="175955"/>
                  <a:pt x="720274" y="226739"/>
                  <a:pt x="657654" y="226764"/>
                </a:cubicBezTo>
                <a:cubicBezTo>
                  <a:pt x="649835" y="226767"/>
                  <a:pt x="642039" y="225962"/>
                  <a:pt x="634387" y="224361"/>
                </a:cubicBezTo>
                <a:lnTo>
                  <a:pt x="576334" y="320421"/>
                </a:lnTo>
                <a:cubicBezTo>
                  <a:pt x="613715" y="354730"/>
                  <a:pt x="634977" y="403160"/>
                  <a:pt x="634932" y="453897"/>
                </a:cubicBezTo>
                <a:lnTo>
                  <a:pt x="634932" y="456528"/>
                </a:lnTo>
                <a:lnTo>
                  <a:pt x="693710" y="468365"/>
                </a:lnTo>
                <a:cubicBezTo>
                  <a:pt x="723281" y="413165"/>
                  <a:pt x="792001" y="392388"/>
                  <a:pt x="847197" y="421959"/>
                </a:cubicBezTo>
                <a:cubicBezTo>
                  <a:pt x="902398" y="451530"/>
                  <a:pt x="923174" y="520250"/>
                  <a:pt x="893603" y="575451"/>
                </a:cubicBezTo>
                <a:cubicBezTo>
                  <a:pt x="864033" y="630646"/>
                  <a:pt x="795317" y="651423"/>
                  <a:pt x="740117" y="621852"/>
                </a:cubicBezTo>
                <a:cubicBezTo>
                  <a:pt x="707457" y="604359"/>
                  <a:pt x="685406" y="572013"/>
                  <a:pt x="681057" y="535217"/>
                </a:cubicBezTo>
                <a:lnTo>
                  <a:pt x="621189" y="523198"/>
                </a:lnTo>
                <a:cubicBezTo>
                  <a:pt x="605570" y="560887"/>
                  <a:pt x="577749" y="592241"/>
                  <a:pt x="542183" y="612228"/>
                </a:cubicBezTo>
                <a:lnTo>
                  <a:pt x="564633" y="680803"/>
                </a:lnTo>
                <a:lnTo>
                  <a:pt x="566901" y="680803"/>
                </a:lnTo>
                <a:cubicBezTo>
                  <a:pt x="629521" y="680849"/>
                  <a:pt x="680249" y="731650"/>
                  <a:pt x="680204" y="794270"/>
                </a:cubicBezTo>
                <a:cubicBezTo>
                  <a:pt x="680159" y="856890"/>
                  <a:pt x="629358" y="907618"/>
                  <a:pt x="566737" y="907573"/>
                </a:cubicBezTo>
                <a:cubicBezTo>
                  <a:pt x="504117" y="907528"/>
                  <a:pt x="453389" y="856727"/>
                  <a:pt x="453434" y="794106"/>
                </a:cubicBezTo>
                <a:cubicBezTo>
                  <a:pt x="453461" y="757855"/>
                  <a:pt x="470818" y="723803"/>
                  <a:pt x="500140" y="702482"/>
                </a:cubicBezTo>
                <a:lnTo>
                  <a:pt x="477644" y="633726"/>
                </a:lnTo>
                <a:cubicBezTo>
                  <a:pt x="411976" y="642579"/>
                  <a:pt x="346715" y="614872"/>
                  <a:pt x="307476" y="561477"/>
                </a:cubicBezTo>
                <a:lnTo>
                  <a:pt x="226066" y="599937"/>
                </a:lnTo>
                <a:cubicBezTo>
                  <a:pt x="233084" y="662163"/>
                  <a:pt x="188328" y="718297"/>
                  <a:pt x="126102" y="725314"/>
                </a:cubicBezTo>
                <a:cubicBezTo>
                  <a:pt x="63876" y="732334"/>
                  <a:pt x="7743" y="687579"/>
                  <a:pt x="725" y="625353"/>
                </a:cubicBezTo>
                <a:cubicBezTo>
                  <a:pt x="-6294" y="563123"/>
                  <a:pt x="38462" y="506993"/>
                  <a:pt x="100688" y="499972"/>
                </a:cubicBezTo>
                <a:cubicBezTo>
                  <a:pt x="137496" y="495823"/>
                  <a:pt x="174011" y="509914"/>
                  <a:pt x="198490" y="537711"/>
                </a:cubicBezTo>
                <a:lnTo>
                  <a:pt x="278041" y="500158"/>
                </a:lnTo>
                <a:cubicBezTo>
                  <a:pt x="263193" y="443652"/>
                  <a:pt x="276425" y="383454"/>
                  <a:pt x="313599" y="338381"/>
                </a:cubicBezTo>
                <a:lnTo>
                  <a:pt x="268653" y="287131"/>
                </a:lnTo>
                <a:cubicBezTo>
                  <a:pt x="210465" y="310273"/>
                  <a:pt x="144535" y="281863"/>
                  <a:pt x="121392" y="223675"/>
                </a:cubicBezTo>
                <a:cubicBezTo>
                  <a:pt x="98251" y="165488"/>
                  <a:pt x="126660" y="99557"/>
                  <a:pt x="184848" y="76415"/>
                </a:cubicBezTo>
                <a:cubicBezTo>
                  <a:pt x="243036" y="53273"/>
                  <a:pt x="308966" y="81683"/>
                  <a:pt x="332109" y="139870"/>
                </a:cubicBezTo>
                <a:cubicBezTo>
                  <a:pt x="345794" y="174281"/>
                  <a:pt x="341813" y="213207"/>
                  <a:pt x="321445" y="244135"/>
                </a:cubicBezTo>
                <a:lnTo>
                  <a:pt x="366028" y="294932"/>
                </a:lnTo>
                <a:cubicBezTo>
                  <a:pt x="392819" y="280159"/>
                  <a:pt x="422925" y="272434"/>
                  <a:pt x="453516" y="272482"/>
                </a:cubicBezTo>
                <a:cubicBezTo>
                  <a:pt x="476420" y="272482"/>
                  <a:pt x="498416" y="276745"/>
                  <a:pt x="518553" y="284500"/>
                </a:cubicBezTo>
                <a:lnTo>
                  <a:pt x="575019" y="191071"/>
                </a:lnTo>
                <a:cubicBezTo>
                  <a:pt x="532114" y="145458"/>
                  <a:pt x="534309" y="73701"/>
                  <a:pt x="579922" y="30796"/>
                </a:cubicBezTo>
                <a:cubicBezTo>
                  <a:pt x="625534" y="-12109"/>
                  <a:pt x="697293" y="-9914"/>
                  <a:pt x="740198" y="35699"/>
                </a:cubicBezTo>
                <a:cubicBezTo>
                  <a:pt x="759977" y="56728"/>
                  <a:pt x="770994" y="84510"/>
                  <a:pt x="770994" y="113380"/>
                </a:cubicBezTo>
                <a:close/>
              </a:path>
            </a:pathLst>
          </a:custGeom>
          <a:solidFill>
            <a:schemeClr val="bg1"/>
          </a:solidFill>
          <a:ln w="4524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7" name="Rounded Rectangle 5">
            <a:extLst>
              <a:ext uri="{FF2B5EF4-FFF2-40B4-BE49-F238E27FC236}">
                <a16:creationId xmlns:a16="http://schemas.microsoft.com/office/drawing/2014/main" id="{4BD459C4-E62C-B2B0-636F-CE82F9B71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402382" y="3838655"/>
            <a:ext cx="2552051" cy="1051179"/>
          </a:xfrm>
          <a:prstGeom prst="roundRect">
            <a:avLst>
              <a:gd name="adj" fmla="val 14082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21E49D7B-DD9C-16E9-C956-5B681B19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629669" y="4081223"/>
            <a:ext cx="566043" cy="566043"/>
          </a:xfrm>
          <a:prstGeom prst="ellipse">
            <a:avLst/>
          </a:prstGeom>
          <a:gradFill flip="none" rotWithShape="1">
            <a:gsLst>
              <a:gs pos="80000">
                <a:srgbClr val="C84194"/>
              </a:gs>
              <a:gs pos="0">
                <a:srgbClr val="654DB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err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128" name="Graphic 126">
            <a:extLst>
              <a:ext uri="{FF2B5EF4-FFF2-40B4-BE49-F238E27FC236}">
                <a16:creationId xmlns:a16="http://schemas.microsoft.com/office/drawing/2014/main" id="{DC77078D-694E-A374-FAA8-4EB8FCBE8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12232" y="4236930"/>
            <a:ext cx="239021" cy="264156"/>
          </a:xfrm>
          <a:custGeom>
            <a:avLst/>
            <a:gdLst>
              <a:gd name="connsiteX0" fmla="*/ 100542 w 239021"/>
              <a:gd name="connsiteY0" fmla="*/ 100542 h 264156"/>
              <a:gd name="connsiteX1" fmla="*/ 201083 w 239021"/>
              <a:gd name="connsiteY1" fmla="*/ 50271 h 264156"/>
              <a:gd name="connsiteX2" fmla="*/ 100542 w 239021"/>
              <a:gd name="connsiteY2" fmla="*/ 0 h 264156"/>
              <a:gd name="connsiteX3" fmla="*/ 0 w 239021"/>
              <a:gd name="connsiteY3" fmla="*/ 50271 h 264156"/>
              <a:gd name="connsiteX4" fmla="*/ 100542 w 239021"/>
              <a:gd name="connsiteY4" fmla="*/ 100542 h 264156"/>
              <a:gd name="connsiteX5" fmla="*/ 180070 w 239021"/>
              <a:gd name="connsiteY5" fmla="*/ 102678 h 264156"/>
              <a:gd name="connsiteX6" fmla="*/ 201083 w 239021"/>
              <a:gd name="connsiteY6" fmla="*/ 88640 h 264156"/>
              <a:gd name="connsiteX7" fmla="*/ 201083 w 239021"/>
              <a:gd name="connsiteY7" fmla="*/ 128907 h 264156"/>
              <a:gd name="connsiteX8" fmla="*/ 150561 w 239021"/>
              <a:gd name="connsiteY8" fmla="*/ 113411 h 264156"/>
              <a:gd name="connsiteX9" fmla="*/ 180070 w 239021"/>
              <a:gd name="connsiteY9" fmla="*/ 102678 h 264156"/>
              <a:gd name="connsiteX10" fmla="*/ 87974 w 239021"/>
              <a:gd name="connsiteY10" fmla="*/ 182232 h 264156"/>
              <a:gd name="connsiteX11" fmla="*/ 136121 w 239021"/>
              <a:gd name="connsiteY11" fmla="*/ 248112 h 264156"/>
              <a:gd name="connsiteX12" fmla="*/ 100542 w 239021"/>
              <a:gd name="connsiteY12" fmla="*/ 251354 h 264156"/>
              <a:gd name="connsiteX13" fmla="*/ 0 w 239021"/>
              <a:gd name="connsiteY13" fmla="*/ 201083 h 264156"/>
              <a:gd name="connsiteX14" fmla="*/ 0 w 239021"/>
              <a:gd name="connsiteY14" fmla="*/ 88640 h 264156"/>
              <a:gd name="connsiteX15" fmla="*/ 21013 w 239021"/>
              <a:gd name="connsiteY15" fmla="*/ 102678 h 264156"/>
              <a:gd name="connsiteX16" fmla="*/ 100542 w 239021"/>
              <a:gd name="connsiteY16" fmla="*/ 119393 h 264156"/>
              <a:gd name="connsiteX17" fmla="*/ 135442 w 239021"/>
              <a:gd name="connsiteY17" fmla="*/ 116565 h 264156"/>
              <a:gd name="connsiteX18" fmla="*/ 87974 w 239021"/>
              <a:gd name="connsiteY18" fmla="*/ 182232 h 264156"/>
              <a:gd name="connsiteX19" fmla="*/ 157096 w 239021"/>
              <a:gd name="connsiteY19" fmla="*/ 238786 h 264156"/>
              <a:gd name="connsiteX20" fmla="*/ 189860 w 239021"/>
              <a:gd name="connsiteY20" fmla="*/ 228330 h 264156"/>
              <a:gd name="connsiteX21" fmla="*/ 222700 w 239021"/>
              <a:gd name="connsiteY21" fmla="*/ 261157 h 264156"/>
              <a:gd name="connsiteX22" fmla="*/ 236022 w 239021"/>
              <a:gd name="connsiteY22" fmla="*/ 261627 h 264156"/>
              <a:gd name="connsiteX23" fmla="*/ 236492 w 239021"/>
              <a:gd name="connsiteY23" fmla="*/ 248305 h 264156"/>
              <a:gd name="connsiteX24" fmla="*/ 236022 w 239021"/>
              <a:gd name="connsiteY24" fmla="*/ 247835 h 264156"/>
              <a:gd name="connsiteX25" fmla="*/ 203195 w 239021"/>
              <a:gd name="connsiteY25" fmla="*/ 214996 h 264156"/>
              <a:gd name="connsiteX26" fmla="*/ 189862 w 239021"/>
              <a:gd name="connsiteY26" fmla="*/ 136135 h 264156"/>
              <a:gd name="connsiteX27" fmla="*/ 111001 w 239021"/>
              <a:gd name="connsiteY27" fmla="*/ 149468 h 264156"/>
              <a:gd name="connsiteX28" fmla="*/ 124334 w 239021"/>
              <a:gd name="connsiteY28" fmla="*/ 228329 h 264156"/>
              <a:gd name="connsiteX29" fmla="*/ 157096 w 239021"/>
              <a:gd name="connsiteY29" fmla="*/ 238786 h 264156"/>
              <a:gd name="connsiteX30" fmla="*/ 157096 w 239021"/>
              <a:gd name="connsiteY30" fmla="*/ 219935 h 264156"/>
              <a:gd name="connsiteX31" fmla="*/ 119393 w 239021"/>
              <a:gd name="connsiteY31" fmla="*/ 182232 h 264156"/>
              <a:gd name="connsiteX32" fmla="*/ 157096 w 239021"/>
              <a:gd name="connsiteY32" fmla="*/ 144529 h 264156"/>
              <a:gd name="connsiteX33" fmla="*/ 194799 w 239021"/>
              <a:gd name="connsiteY33" fmla="*/ 182232 h 264156"/>
              <a:gd name="connsiteX34" fmla="*/ 157096 w 239021"/>
              <a:gd name="connsiteY34" fmla="*/ 219935 h 264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39021" h="264156">
                <a:moveTo>
                  <a:pt x="100542" y="100542"/>
                </a:moveTo>
                <a:cubicBezTo>
                  <a:pt x="156066" y="100542"/>
                  <a:pt x="201083" y="78045"/>
                  <a:pt x="201083" y="50271"/>
                </a:cubicBezTo>
                <a:cubicBezTo>
                  <a:pt x="201083" y="22496"/>
                  <a:pt x="156066" y="0"/>
                  <a:pt x="100542" y="0"/>
                </a:cubicBezTo>
                <a:cubicBezTo>
                  <a:pt x="45018" y="0"/>
                  <a:pt x="0" y="22496"/>
                  <a:pt x="0" y="50271"/>
                </a:cubicBezTo>
                <a:cubicBezTo>
                  <a:pt x="0" y="78045"/>
                  <a:pt x="45018" y="100542"/>
                  <a:pt x="100542" y="100542"/>
                </a:cubicBezTo>
                <a:close/>
                <a:moveTo>
                  <a:pt x="180070" y="102678"/>
                </a:moveTo>
                <a:cubicBezTo>
                  <a:pt x="187665" y="98949"/>
                  <a:pt x="194730" y="94228"/>
                  <a:pt x="201083" y="88640"/>
                </a:cubicBezTo>
                <a:lnTo>
                  <a:pt x="201083" y="128907"/>
                </a:lnTo>
                <a:cubicBezTo>
                  <a:pt x="186975" y="117225"/>
                  <a:pt x="168793" y="111649"/>
                  <a:pt x="150561" y="113411"/>
                </a:cubicBezTo>
                <a:cubicBezTo>
                  <a:pt x="160752" y="110899"/>
                  <a:pt x="170646" y="107301"/>
                  <a:pt x="180070" y="102678"/>
                </a:cubicBezTo>
                <a:close/>
                <a:moveTo>
                  <a:pt x="87974" y="182232"/>
                </a:moveTo>
                <a:cubicBezTo>
                  <a:pt x="87974" y="212330"/>
                  <a:pt x="107444" y="238971"/>
                  <a:pt x="136121" y="248112"/>
                </a:cubicBezTo>
                <a:cubicBezTo>
                  <a:pt x="125061" y="250211"/>
                  <a:pt x="113072" y="251354"/>
                  <a:pt x="100542" y="251354"/>
                </a:cubicBezTo>
                <a:cubicBezTo>
                  <a:pt x="45018" y="251354"/>
                  <a:pt x="0" y="228858"/>
                  <a:pt x="0" y="201083"/>
                </a:cubicBezTo>
                <a:lnTo>
                  <a:pt x="0" y="88640"/>
                </a:lnTo>
                <a:cubicBezTo>
                  <a:pt x="6353" y="94228"/>
                  <a:pt x="13419" y="98949"/>
                  <a:pt x="21013" y="102678"/>
                </a:cubicBezTo>
                <a:cubicBezTo>
                  <a:pt x="42353" y="113336"/>
                  <a:pt x="70480" y="119393"/>
                  <a:pt x="100542" y="119393"/>
                </a:cubicBezTo>
                <a:cubicBezTo>
                  <a:pt x="112582" y="119393"/>
                  <a:pt x="124320" y="118426"/>
                  <a:pt x="135442" y="116565"/>
                </a:cubicBezTo>
                <a:cubicBezTo>
                  <a:pt x="107110" y="125920"/>
                  <a:pt x="87971" y="152394"/>
                  <a:pt x="87974" y="182232"/>
                </a:cubicBezTo>
                <a:close/>
                <a:moveTo>
                  <a:pt x="157096" y="238786"/>
                </a:moveTo>
                <a:cubicBezTo>
                  <a:pt x="168841" y="238804"/>
                  <a:pt x="180296" y="235147"/>
                  <a:pt x="189860" y="228330"/>
                </a:cubicBezTo>
                <a:lnTo>
                  <a:pt x="222700" y="261157"/>
                </a:lnTo>
                <a:cubicBezTo>
                  <a:pt x="226249" y="264965"/>
                  <a:pt x="232214" y="265176"/>
                  <a:pt x="236022" y="261627"/>
                </a:cubicBezTo>
                <a:cubicBezTo>
                  <a:pt x="239830" y="258078"/>
                  <a:pt x="240041" y="252115"/>
                  <a:pt x="236492" y="248305"/>
                </a:cubicBezTo>
                <a:cubicBezTo>
                  <a:pt x="236341" y="248143"/>
                  <a:pt x="236184" y="247986"/>
                  <a:pt x="236022" y="247835"/>
                </a:cubicBezTo>
                <a:lnTo>
                  <a:pt x="203195" y="214996"/>
                </a:lnTo>
                <a:cubicBezTo>
                  <a:pt x="221290" y="189537"/>
                  <a:pt x="215320" y="154230"/>
                  <a:pt x="189862" y="136135"/>
                </a:cubicBezTo>
                <a:cubicBezTo>
                  <a:pt x="164403" y="118040"/>
                  <a:pt x="129096" y="124009"/>
                  <a:pt x="111001" y="149468"/>
                </a:cubicBezTo>
                <a:cubicBezTo>
                  <a:pt x="92906" y="174926"/>
                  <a:pt x="98875" y="210234"/>
                  <a:pt x="124334" y="228329"/>
                </a:cubicBezTo>
                <a:cubicBezTo>
                  <a:pt x="133904" y="235132"/>
                  <a:pt x="145354" y="238786"/>
                  <a:pt x="157096" y="238786"/>
                </a:cubicBezTo>
                <a:close/>
                <a:moveTo>
                  <a:pt x="157096" y="219935"/>
                </a:moveTo>
                <a:cubicBezTo>
                  <a:pt x="136273" y="219935"/>
                  <a:pt x="119393" y="203055"/>
                  <a:pt x="119393" y="182232"/>
                </a:cubicBezTo>
                <a:cubicBezTo>
                  <a:pt x="119393" y="161408"/>
                  <a:pt x="136273" y="144529"/>
                  <a:pt x="157096" y="144529"/>
                </a:cubicBezTo>
                <a:cubicBezTo>
                  <a:pt x="177920" y="144529"/>
                  <a:pt x="194799" y="161408"/>
                  <a:pt x="194799" y="182232"/>
                </a:cubicBezTo>
                <a:cubicBezTo>
                  <a:pt x="194799" y="203055"/>
                  <a:pt x="177920" y="219935"/>
                  <a:pt x="157096" y="219935"/>
                </a:cubicBezTo>
                <a:close/>
              </a:path>
            </a:pathLst>
          </a:custGeom>
          <a:solidFill>
            <a:schemeClr val="bg1"/>
          </a:solidFill>
          <a:ln w="123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1" name="Rounded Rectangle 5">
            <a:extLst>
              <a:ext uri="{FF2B5EF4-FFF2-40B4-BE49-F238E27FC236}">
                <a16:creationId xmlns:a16="http://schemas.microsoft.com/office/drawing/2014/main" id="{7BC8A583-CDFA-1FC1-9A92-6DE7FB490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402382" y="5141659"/>
            <a:ext cx="2552051" cy="1051179"/>
          </a:xfrm>
          <a:prstGeom prst="roundRect">
            <a:avLst>
              <a:gd name="adj" fmla="val 14082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2014D811-6F2C-7EF7-A280-ACE07C957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629669" y="5384227"/>
            <a:ext cx="566043" cy="566043"/>
          </a:xfrm>
          <a:prstGeom prst="ellipse">
            <a:avLst/>
          </a:prstGeom>
          <a:gradFill flip="none" rotWithShape="1">
            <a:gsLst>
              <a:gs pos="80000">
                <a:srgbClr val="C84194"/>
              </a:gs>
              <a:gs pos="0">
                <a:srgbClr val="654DB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err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134" name="Graphic 126">
            <a:extLst>
              <a:ext uri="{FF2B5EF4-FFF2-40B4-BE49-F238E27FC236}">
                <a16:creationId xmlns:a16="http://schemas.microsoft.com/office/drawing/2014/main" id="{40DB283B-FE06-3C06-48CD-C6BCF0EBB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12232" y="5539934"/>
            <a:ext cx="239021" cy="264156"/>
          </a:xfrm>
          <a:custGeom>
            <a:avLst/>
            <a:gdLst>
              <a:gd name="connsiteX0" fmla="*/ 100542 w 239021"/>
              <a:gd name="connsiteY0" fmla="*/ 100542 h 264156"/>
              <a:gd name="connsiteX1" fmla="*/ 201083 w 239021"/>
              <a:gd name="connsiteY1" fmla="*/ 50271 h 264156"/>
              <a:gd name="connsiteX2" fmla="*/ 100542 w 239021"/>
              <a:gd name="connsiteY2" fmla="*/ 0 h 264156"/>
              <a:gd name="connsiteX3" fmla="*/ 0 w 239021"/>
              <a:gd name="connsiteY3" fmla="*/ 50271 h 264156"/>
              <a:gd name="connsiteX4" fmla="*/ 100542 w 239021"/>
              <a:gd name="connsiteY4" fmla="*/ 100542 h 264156"/>
              <a:gd name="connsiteX5" fmla="*/ 180070 w 239021"/>
              <a:gd name="connsiteY5" fmla="*/ 102678 h 264156"/>
              <a:gd name="connsiteX6" fmla="*/ 201083 w 239021"/>
              <a:gd name="connsiteY6" fmla="*/ 88640 h 264156"/>
              <a:gd name="connsiteX7" fmla="*/ 201083 w 239021"/>
              <a:gd name="connsiteY7" fmla="*/ 128907 h 264156"/>
              <a:gd name="connsiteX8" fmla="*/ 150561 w 239021"/>
              <a:gd name="connsiteY8" fmla="*/ 113411 h 264156"/>
              <a:gd name="connsiteX9" fmla="*/ 180070 w 239021"/>
              <a:gd name="connsiteY9" fmla="*/ 102678 h 264156"/>
              <a:gd name="connsiteX10" fmla="*/ 87974 w 239021"/>
              <a:gd name="connsiteY10" fmla="*/ 182232 h 264156"/>
              <a:gd name="connsiteX11" fmla="*/ 136121 w 239021"/>
              <a:gd name="connsiteY11" fmla="*/ 248112 h 264156"/>
              <a:gd name="connsiteX12" fmla="*/ 100542 w 239021"/>
              <a:gd name="connsiteY12" fmla="*/ 251354 h 264156"/>
              <a:gd name="connsiteX13" fmla="*/ 0 w 239021"/>
              <a:gd name="connsiteY13" fmla="*/ 201083 h 264156"/>
              <a:gd name="connsiteX14" fmla="*/ 0 w 239021"/>
              <a:gd name="connsiteY14" fmla="*/ 88640 h 264156"/>
              <a:gd name="connsiteX15" fmla="*/ 21013 w 239021"/>
              <a:gd name="connsiteY15" fmla="*/ 102678 h 264156"/>
              <a:gd name="connsiteX16" fmla="*/ 100542 w 239021"/>
              <a:gd name="connsiteY16" fmla="*/ 119393 h 264156"/>
              <a:gd name="connsiteX17" fmla="*/ 135442 w 239021"/>
              <a:gd name="connsiteY17" fmla="*/ 116565 h 264156"/>
              <a:gd name="connsiteX18" fmla="*/ 87974 w 239021"/>
              <a:gd name="connsiteY18" fmla="*/ 182232 h 264156"/>
              <a:gd name="connsiteX19" fmla="*/ 157096 w 239021"/>
              <a:gd name="connsiteY19" fmla="*/ 238786 h 264156"/>
              <a:gd name="connsiteX20" fmla="*/ 189860 w 239021"/>
              <a:gd name="connsiteY20" fmla="*/ 228330 h 264156"/>
              <a:gd name="connsiteX21" fmla="*/ 222700 w 239021"/>
              <a:gd name="connsiteY21" fmla="*/ 261157 h 264156"/>
              <a:gd name="connsiteX22" fmla="*/ 236022 w 239021"/>
              <a:gd name="connsiteY22" fmla="*/ 261627 h 264156"/>
              <a:gd name="connsiteX23" fmla="*/ 236492 w 239021"/>
              <a:gd name="connsiteY23" fmla="*/ 248305 h 264156"/>
              <a:gd name="connsiteX24" fmla="*/ 236022 w 239021"/>
              <a:gd name="connsiteY24" fmla="*/ 247835 h 264156"/>
              <a:gd name="connsiteX25" fmla="*/ 203195 w 239021"/>
              <a:gd name="connsiteY25" fmla="*/ 214996 h 264156"/>
              <a:gd name="connsiteX26" fmla="*/ 189862 w 239021"/>
              <a:gd name="connsiteY26" fmla="*/ 136135 h 264156"/>
              <a:gd name="connsiteX27" fmla="*/ 111001 w 239021"/>
              <a:gd name="connsiteY27" fmla="*/ 149468 h 264156"/>
              <a:gd name="connsiteX28" fmla="*/ 124334 w 239021"/>
              <a:gd name="connsiteY28" fmla="*/ 228329 h 264156"/>
              <a:gd name="connsiteX29" fmla="*/ 157096 w 239021"/>
              <a:gd name="connsiteY29" fmla="*/ 238786 h 264156"/>
              <a:gd name="connsiteX30" fmla="*/ 157096 w 239021"/>
              <a:gd name="connsiteY30" fmla="*/ 219935 h 264156"/>
              <a:gd name="connsiteX31" fmla="*/ 119393 w 239021"/>
              <a:gd name="connsiteY31" fmla="*/ 182232 h 264156"/>
              <a:gd name="connsiteX32" fmla="*/ 157096 w 239021"/>
              <a:gd name="connsiteY32" fmla="*/ 144529 h 264156"/>
              <a:gd name="connsiteX33" fmla="*/ 194799 w 239021"/>
              <a:gd name="connsiteY33" fmla="*/ 182232 h 264156"/>
              <a:gd name="connsiteX34" fmla="*/ 157096 w 239021"/>
              <a:gd name="connsiteY34" fmla="*/ 219935 h 264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39021" h="264156">
                <a:moveTo>
                  <a:pt x="100542" y="100542"/>
                </a:moveTo>
                <a:cubicBezTo>
                  <a:pt x="156066" y="100542"/>
                  <a:pt x="201083" y="78045"/>
                  <a:pt x="201083" y="50271"/>
                </a:cubicBezTo>
                <a:cubicBezTo>
                  <a:pt x="201083" y="22496"/>
                  <a:pt x="156066" y="0"/>
                  <a:pt x="100542" y="0"/>
                </a:cubicBezTo>
                <a:cubicBezTo>
                  <a:pt x="45018" y="0"/>
                  <a:pt x="0" y="22496"/>
                  <a:pt x="0" y="50271"/>
                </a:cubicBezTo>
                <a:cubicBezTo>
                  <a:pt x="0" y="78045"/>
                  <a:pt x="45018" y="100542"/>
                  <a:pt x="100542" y="100542"/>
                </a:cubicBezTo>
                <a:close/>
                <a:moveTo>
                  <a:pt x="180070" y="102678"/>
                </a:moveTo>
                <a:cubicBezTo>
                  <a:pt x="187665" y="98949"/>
                  <a:pt x="194730" y="94228"/>
                  <a:pt x="201083" y="88640"/>
                </a:cubicBezTo>
                <a:lnTo>
                  <a:pt x="201083" y="128907"/>
                </a:lnTo>
                <a:cubicBezTo>
                  <a:pt x="186975" y="117225"/>
                  <a:pt x="168793" y="111649"/>
                  <a:pt x="150561" y="113411"/>
                </a:cubicBezTo>
                <a:cubicBezTo>
                  <a:pt x="160752" y="110899"/>
                  <a:pt x="170646" y="107301"/>
                  <a:pt x="180070" y="102678"/>
                </a:cubicBezTo>
                <a:close/>
                <a:moveTo>
                  <a:pt x="87974" y="182232"/>
                </a:moveTo>
                <a:cubicBezTo>
                  <a:pt x="87974" y="212330"/>
                  <a:pt x="107444" y="238971"/>
                  <a:pt x="136121" y="248112"/>
                </a:cubicBezTo>
                <a:cubicBezTo>
                  <a:pt x="125061" y="250211"/>
                  <a:pt x="113072" y="251354"/>
                  <a:pt x="100542" y="251354"/>
                </a:cubicBezTo>
                <a:cubicBezTo>
                  <a:pt x="45018" y="251354"/>
                  <a:pt x="0" y="228858"/>
                  <a:pt x="0" y="201083"/>
                </a:cubicBezTo>
                <a:lnTo>
                  <a:pt x="0" y="88640"/>
                </a:lnTo>
                <a:cubicBezTo>
                  <a:pt x="6353" y="94228"/>
                  <a:pt x="13419" y="98949"/>
                  <a:pt x="21013" y="102678"/>
                </a:cubicBezTo>
                <a:cubicBezTo>
                  <a:pt x="42353" y="113336"/>
                  <a:pt x="70480" y="119393"/>
                  <a:pt x="100542" y="119393"/>
                </a:cubicBezTo>
                <a:cubicBezTo>
                  <a:pt x="112582" y="119393"/>
                  <a:pt x="124320" y="118426"/>
                  <a:pt x="135442" y="116565"/>
                </a:cubicBezTo>
                <a:cubicBezTo>
                  <a:pt x="107110" y="125920"/>
                  <a:pt x="87971" y="152394"/>
                  <a:pt x="87974" y="182232"/>
                </a:cubicBezTo>
                <a:close/>
                <a:moveTo>
                  <a:pt x="157096" y="238786"/>
                </a:moveTo>
                <a:cubicBezTo>
                  <a:pt x="168841" y="238804"/>
                  <a:pt x="180296" y="235147"/>
                  <a:pt x="189860" y="228330"/>
                </a:cubicBezTo>
                <a:lnTo>
                  <a:pt x="222700" y="261157"/>
                </a:lnTo>
                <a:cubicBezTo>
                  <a:pt x="226249" y="264965"/>
                  <a:pt x="232214" y="265176"/>
                  <a:pt x="236022" y="261627"/>
                </a:cubicBezTo>
                <a:cubicBezTo>
                  <a:pt x="239830" y="258078"/>
                  <a:pt x="240041" y="252115"/>
                  <a:pt x="236492" y="248305"/>
                </a:cubicBezTo>
                <a:cubicBezTo>
                  <a:pt x="236341" y="248143"/>
                  <a:pt x="236184" y="247986"/>
                  <a:pt x="236022" y="247835"/>
                </a:cubicBezTo>
                <a:lnTo>
                  <a:pt x="203195" y="214996"/>
                </a:lnTo>
                <a:cubicBezTo>
                  <a:pt x="221290" y="189537"/>
                  <a:pt x="215320" y="154230"/>
                  <a:pt x="189862" y="136135"/>
                </a:cubicBezTo>
                <a:cubicBezTo>
                  <a:pt x="164403" y="118040"/>
                  <a:pt x="129096" y="124009"/>
                  <a:pt x="111001" y="149468"/>
                </a:cubicBezTo>
                <a:cubicBezTo>
                  <a:pt x="92906" y="174926"/>
                  <a:pt x="98875" y="210234"/>
                  <a:pt x="124334" y="228329"/>
                </a:cubicBezTo>
                <a:cubicBezTo>
                  <a:pt x="133904" y="235132"/>
                  <a:pt x="145354" y="238786"/>
                  <a:pt x="157096" y="238786"/>
                </a:cubicBezTo>
                <a:close/>
                <a:moveTo>
                  <a:pt x="157096" y="219935"/>
                </a:moveTo>
                <a:cubicBezTo>
                  <a:pt x="136273" y="219935"/>
                  <a:pt x="119393" y="203055"/>
                  <a:pt x="119393" y="182232"/>
                </a:cubicBezTo>
                <a:cubicBezTo>
                  <a:pt x="119393" y="161408"/>
                  <a:pt x="136273" y="144529"/>
                  <a:pt x="157096" y="144529"/>
                </a:cubicBezTo>
                <a:cubicBezTo>
                  <a:pt x="177920" y="144529"/>
                  <a:pt x="194799" y="161408"/>
                  <a:pt x="194799" y="182232"/>
                </a:cubicBezTo>
                <a:cubicBezTo>
                  <a:pt x="194799" y="203055"/>
                  <a:pt x="177920" y="219935"/>
                  <a:pt x="157096" y="219935"/>
                </a:cubicBezTo>
                <a:close/>
              </a:path>
            </a:pathLst>
          </a:custGeom>
          <a:solidFill>
            <a:schemeClr val="bg1"/>
          </a:solidFill>
          <a:ln w="123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78D3367-3862-2C10-B5B0-765B433E8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6442" y="4364244"/>
            <a:ext cx="0" cy="1303004"/>
          </a:xfrm>
          <a:prstGeom prst="line">
            <a:avLst/>
          </a:prstGeom>
          <a:ln w="254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5">
            <a:extLst>
              <a:ext uri="{FF2B5EF4-FFF2-40B4-BE49-F238E27FC236}">
                <a16:creationId xmlns:a16="http://schemas.microsoft.com/office/drawing/2014/main" id="{83C4AE21-135A-1E27-A351-76DC14A3C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558451" y="3157888"/>
            <a:ext cx="2058614" cy="3034950"/>
          </a:xfrm>
          <a:prstGeom prst="roundRect">
            <a:avLst>
              <a:gd name="adj" fmla="val 7360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320040" rIns="0" bIns="0" rtlCol="0" anchor="t" anchorCtr="0">
            <a:noAutofit/>
          </a:bodyPr>
          <a:lstStyle/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+mn-cs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369565DE-3767-ADB6-AD80-A29035A8E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0131949" y="3560433"/>
            <a:ext cx="911617" cy="911617"/>
          </a:xfrm>
          <a:prstGeom prst="ellipse">
            <a:avLst/>
          </a:prstGeom>
          <a:gradFill flip="none" rotWithShape="1">
            <a:gsLst>
              <a:gs pos="80000">
                <a:srgbClr val="EE526F"/>
              </a:gs>
              <a:gs pos="0">
                <a:srgbClr val="C8419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err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97" name="Graphic 24">
            <a:extLst>
              <a:ext uri="{FF2B5EF4-FFF2-40B4-BE49-F238E27FC236}">
                <a16:creationId xmlns:a16="http://schemas.microsoft.com/office/drawing/2014/main" id="{8F7536D4-283D-DE09-4439-56F189755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65234" y="3793593"/>
            <a:ext cx="445046" cy="445297"/>
          </a:xfrm>
          <a:custGeom>
            <a:avLst/>
            <a:gdLst>
              <a:gd name="connsiteX0" fmla="*/ 770994 w 907063"/>
              <a:gd name="connsiteY0" fmla="*/ 113334 h 907573"/>
              <a:gd name="connsiteX1" fmla="*/ 657654 w 907063"/>
              <a:gd name="connsiteY1" fmla="*/ 226764 h 907573"/>
              <a:gd name="connsiteX2" fmla="*/ 634387 w 907063"/>
              <a:gd name="connsiteY2" fmla="*/ 224361 h 907573"/>
              <a:gd name="connsiteX3" fmla="*/ 576334 w 907063"/>
              <a:gd name="connsiteY3" fmla="*/ 320421 h 907573"/>
              <a:gd name="connsiteX4" fmla="*/ 634932 w 907063"/>
              <a:gd name="connsiteY4" fmla="*/ 453897 h 907573"/>
              <a:gd name="connsiteX5" fmla="*/ 634932 w 907063"/>
              <a:gd name="connsiteY5" fmla="*/ 456528 h 907573"/>
              <a:gd name="connsiteX6" fmla="*/ 693710 w 907063"/>
              <a:gd name="connsiteY6" fmla="*/ 468365 h 907573"/>
              <a:gd name="connsiteX7" fmla="*/ 847197 w 907063"/>
              <a:gd name="connsiteY7" fmla="*/ 421959 h 907573"/>
              <a:gd name="connsiteX8" fmla="*/ 893603 w 907063"/>
              <a:gd name="connsiteY8" fmla="*/ 575451 h 907573"/>
              <a:gd name="connsiteX9" fmla="*/ 740117 w 907063"/>
              <a:gd name="connsiteY9" fmla="*/ 621852 h 907573"/>
              <a:gd name="connsiteX10" fmla="*/ 681057 w 907063"/>
              <a:gd name="connsiteY10" fmla="*/ 535217 h 907573"/>
              <a:gd name="connsiteX11" fmla="*/ 621189 w 907063"/>
              <a:gd name="connsiteY11" fmla="*/ 523198 h 907573"/>
              <a:gd name="connsiteX12" fmla="*/ 542183 w 907063"/>
              <a:gd name="connsiteY12" fmla="*/ 612228 h 907573"/>
              <a:gd name="connsiteX13" fmla="*/ 564633 w 907063"/>
              <a:gd name="connsiteY13" fmla="*/ 680803 h 907573"/>
              <a:gd name="connsiteX14" fmla="*/ 566901 w 907063"/>
              <a:gd name="connsiteY14" fmla="*/ 680803 h 907573"/>
              <a:gd name="connsiteX15" fmla="*/ 680204 w 907063"/>
              <a:gd name="connsiteY15" fmla="*/ 794270 h 907573"/>
              <a:gd name="connsiteX16" fmla="*/ 566737 w 907063"/>
              <a:gd name="connsiteY16" fmla="*/ 907573 h 907573"/>
              <a:gd name="connsiteX17" fmla="*/ 453434 w 907063"/>
              <a:gd name="connsiteY17" fmla="*/ 794106 h 907573"/>
              <a:gd name="connsiteX18" fmla="*/ 500140 w 907063"/>
              <a:gd name="connsiteY18" fmla="*/ 702482 h 907573"/>
              <a:gd name="connsiteX19" fmla="*/ 477644 w 907063"/>
              <a:gd name="connsiteY19" fmla="*/ 633726 h 907573"/>
              <a:gd name="connsiteX20" fmla="*/ 307476 w 907063"/>
              <a:gd name="connsiteY20" fmla="*/ 561477 h 907573"/>
              <a:gd name="connsiteX21" fmla="*/ 226066 w 907063"/>
              <a:gd name="connsiteY21" fmla="*/ 599937 h 907573"/>
              <a:gd name="connsiteX22" fmla="*/ 126102 w 907063"/>
              <a:gd name="connsiteY22" fmla="*/ 725314 h 907573"/>
              <a:gd name="connsiteX23" fmla="*/ 725 w 907063"/>
              <a:gd name="connsiteY23" fmla="*/ 625353 h 907573"/>
              <a:gd name="connsiteX24" fmla="*/ 100688 w 907063"/>
              <a:gd name="connsiteY24" fmla="*/ 499972 h 907573"/>
              <a:gd name="connsiteX25" fmla="*/ 198490 w 907063"/>
              <a:gd name="connsiteY25" fmla="*/ 537711 h 907573"/>
              <a:gd name="connsiteX26" fmla="*/ 278041 w 907063"/>
              <a:gd name="connsiteY26" fmla="*/ 500158 h 907573"/>
              <a:gd name="connsiteX27" fmla="*/ 313599 w 907063"/>
              <a:gd name="connsiteY27" fmla="*/ 338381 h 907573"/>
              <a:gd name="connsiteX28" fmla="*/ 268653 w 907063"/>
              <a:gd name="connsiteY28" fmla="*/ 287131 h 907573"/>
              <a:gd name="connsiteX29" fmla="*/ 121392 w 907063"/>
              <a:gd name="connsiteY29" fmla="*/ 223675 h 907573"/>
              <a:gd name="connsiteX30" fmla="*/ 184848 w 907063"/>
              <a:gd name="connsiteY30" fmla="*/ 76415 h 907573"/>
              <a:gd name="connsiteX31" fmla="*/ 332109 w 907063"/>
              <a:gd name="connsiteY31" fmla="*/ 139870 h 907573"/>
              <a:gd name="connsiteX32" fmla="*/ 321445 w 907063"/>
              <a:gd name="connsiteY32" fmla="*/ 244135 h 907573"/>
              <a:gd name="connsiteX33" fmla="*/ 366028 w 907063"/>
              <a:gd name="connsiteY33" fmla="*/ 294932 h 907573"/>
              <a:gd name="connsiteX34" fmla="*/ 453516 w 907063"/>
              <a:gd name="connsiteY34" fmla="*/ 272482 h 907573"/>
              <a:gd name="connsiteX35" fmla="*/ 518553 w 907063"/>
              <a:gd name="connsiteY35" fmla="*/ 284500 h 907573"/>
              <a:gd name="connsiteX36" fmla="*/ 575019 w 907063"/>
              <a:gd name="connsiteY36" fmla="*/ 191071 h 907573"/>
              <a:gd name="connsiteX37" fmla="*/ 579922 w 907063"/>
              <a:gd name="connsiteY37" fmla="*/ 30796 h 907573"/>
              <a:gd name="connsiteX38" fmla="*/ 740198 w 907063"/>
              <a:gd name="connsiteY38" fmla="*/ 35699 h 907573"/>
              <a:gd name="connsiteX39" fmla="*/ 770994 w 907063"/>
              <a:gd name="connsiteY39" fmla="*/ 113380 h 907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907063" h="907573">
                <a:moveTo>
                  <a:pt x="770994" y="113334"/>
                </a:moveTo>
                <a:cubicBezTo>
                  <a:pt x="771016" y="175955"/>
                  <a:pt x="720274" y="226739"/>
                  <a:pt x="657654" y="226764"/>
                </a:cubicBezTo>
                <a:cubicBezTo>
                  <a:pt x="649835" y="226767"/>
                  <a:pt x="642039" y="225962"/>
                  <a:pt x="634387" y="224361"/>
                </a:cubicBezTo>
                <a:lnTo>
                  <a:pt x="576334" y="320421"/>
                </a:lnTo>
                <a:cubicBezTo>
                  <a:pt x="613715" y="354730"/>
                  <a:pt x="634977" y="403160"/>
                  <a:pt x="634932" y="453897"/>
                </a:cubicBezTo>
                <a:lnTo>
                  <a:pt x="634932" y="456528"/>
                </a:lnTo>
                <a:lnTo>
                  <a:pt x="693710" y="468365"/>
                </a:lnTo>
                <a:cubicBezTo>
                  <a:pt x="723281" y="413165"/>
                  <a:pt x="792001" y="392388"/>
                  <a:pt x="847197" y="421959"/>
                </a:cubicBezTo>
                <a:cubicBezTo>
                  <a:pt x="902398" y="451530"/>
                  <a:pt x="923174" y="520250"/>
                  <a:pt x="893603" y="575451"/>
                </a:cubicBezTo>
                <a:cubicBezTo>
                  <a:pt x="864033" y="630646"/>
                  <a:pt x="795317" y="651423"/>
                  <a:pt x="740117" y="621852"/>
                </a:cubicBezTo>
                <a:cubicBezTo>
                  <a:pt x="707457" y="604359"/>
                  <a:pt x="685406" y="572013"/>
                  <a:pt x="681057" y="535217"/>
                </a:cubicBezTo>
                <a:lnTo>
                  <a:pt x="621189" y="523198"/>
                </a:lnTo>
                <a:cubicBezTo>
                  <a:pt x="605570" y="560887"/>
                  <a:pt x="577749" y="592241"/>
                  <a:pt x="542183" y="612228"/>
                </a:cubicBezTo>
                <a:lnTo>
                  <a:pt x="564633" y="680803"/>
                </a:lnTo>
                <a:lnTo>
                  <a:pt x="566901" y="680803"/>
                </a:lnTo>
                <a:cubicBezTo>
                  <a:pt x="629521" y="680849"/>
                  <a:pt x="680249" y="731650"/>
                  <a:pt x="680204" y="794270"/>
                </a:cubicBezTo>
                <a:cubicBezTo>
                  <a:pt x="680159" y="856890"/>
                  <a:pt x="629358" y="907618"/>
                  <a:pt x="566737" y="907573"/>
                </a:cubicBezTo>
                <a:cubicBezTo>
                  <a:pt x="504117" y="907528"/>
                  <a:pt x="453389" y="856727"/>
                  <a:pt x="453434" y="794106"/>
                </a:cubicBezTo>
                <a:cubicBezTo>
                  <a:pt x="453461" y="757855"/>
                  <a:pt x="470818" y="723803"/>
                  <a:pt x="500140" y="702482"/>
                </a:cubicBezTo>
                <a:lnTo>
                  <a:pt x="477644" y="633726"/>
                </a:lnTo>
                <a:cubicBezTo>
                  <a:pt x="411976" y="642579"/>
                  <a:pt x="346715" y="614872"/>
                  <a:pt x="307476" y="561477"/>
                </a:cubicBezTo>
                <a:lnTo>
                  <a:pt x="226066" y="599937"/>
                </a:lnTo>
                <a:cubicBezTo>
                  <a:pt x="233084" y="662163"/>
                  <a:pt x="188328" y="718297"/>
                  <a:pt x="126102" y="725314"/>
                </a:cubicBezTo>
                <a:cubicBezTo>
                  <a:pt x="63876" y="732334"/>
                  <a:pt x="7743" y="687579"/>
                  <a:pt x="725" y="625353"/>
                </a:cubicBezTo>
                <a:cubicBezTo>
                  <a:pt x="-6294" y="563123"/>
                  <a:pt x="38462" y="506993"/>
                  <a:pt x="100688" y="499972"/>
                </a:cubicBezTo>
                <a:cubicBezTo>
                  <a:pt x="137496" y="495823"/>
                  <a:pt x="174011" y="509914"/>
                  <a:pt x="198490" y="537711"/>
                </a:cubicBezTo>
                <a:lnTo>
                  <a:pt x="278041" y="500158"/>
                </a:lnTo>
                <a:cubicBezTo>
                  <a:pt x="263193" y="443652"/>
                  <a:pt x="276425" y="383454"/>
                  <a:pt x="313599" y="338381"/>
                </a:cubicBezTo>
                <a:lnTo>
                  <a:pt x="268653" y="287131"/>
                </a:lnTo>
                <a:cubicBezTo>
                  <a:pt x="210465" y="310273"/>
                  <a:pt x="144535" y="281863"/>
                  <a:pt x="121392" y="223675"/>
                </a:cubicBezTo>
                <a:cubicBezTo>
                  <a:pt x="98251" y="165488"/>
                  <a:pt x="126660" y="99557"/>
                  <a:pt x="184848" y="76415"/>
                </a:cubicBezTo>
                <a:cubicBezTo>
                  <a:pt x="243036" y="53273"/>
                  <a:pt x="308966" y="81683"/>
                  <a:pt x="332109" y="139870"/>
                </a:cubicBezTo>
                <a:cubicBezTo>
                  <a:pt x="345794" y="174281"/>
                  <a:pt x="341813" y="213207"/>
                  <a:pt x="321445" y="244135"/>
                </a:cubicBezTo>
                <a:lnTo>
                  <a:pt x="366028" y="294932"/>
                </a:lnTo>
                <a:cubicBezTo>
                  <a:pt x="392819" y="280159"/>
                  <a:pt x="422925" y="272434"/>
                  <a:pt x="453516" y="272482"/>
                </a:cubicBezTo>
                <a:cubicBezTo>
                  <a:pt x="476420" y="272482"/>
                  <a:pt x="498416" y="276745"/>
                  <a:pt x="518553" y="284500"/>
                </a:cubicBezTo>
                <a:lnTo>
                  <a:pt x="575019" y="191071"/>
                </a:lnTo>
                <a:cubicBezTo>
                  <a:pt x="532114" y="145458"/>
                  <a:pt x="534309" y="73701"/>
                  <a:pt x="579922" y="30796"/>
                </a:cubicBezTo>
                <a:cubicBezTo>
                  <a:pt x="625534" y="-12109"/>
                  <a:pt x="697293" y="-9914"/>
                  <a:pt x="740198" y="35699"/>
                </a:cubicBezTo>
                <a:cubicBezTo>
                  <a:pt x="759977" y="56728"/>
                  <a:pt x="770994" y="84510"/>
                  <a:pt x="770994" y="113380"/>
                </a:cubicBezTo>
                <a:close/>
              </a:path>
            </a:pathLst>
          </a:custGeom>
          <a:solidFill>
            <a:schemeClr val="bg1"/>
          </a:solidFill>
          <a:ln w="4524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3" name="Isosceles Triangle 102">
            <a:extLst>
              <a:ext uri="{FF2B5EF4-FFF2-40B4-BE49-F238E27FC236}">
                <a16:creationId xmlns:a16="http://schemas.microsoft.com/office/drawing/2014/main" id="{3DC365D6-B216-E03E-3583-98793BCE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10800000">
            <a:off x="10521771" y="2726886"/>
            <a:ext cx="87949" cy="399272"/>
          </a:xfrm>
          <a:prstGeom prst="triangle">
            <a:avLst>
              <a:gd name="adj" fmla="val 0"/>
            </a:avLst>
          </a:prstGeom>
          <a:solidFill>
            <a:srgbClr val="E1D3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132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6F52E80-5DE3-DBB2-0EB3-FF9490164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764576" y="4060249"/>
            <a:ext cx="2832100" cy="2275041"/>
          </a:xfrm>
          <a:prstGeom prst="roundRect">
            <a:avLst>
              <a:gd name="adj" fmla="val 6668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3AF46CBD-1668-F1FA-F482-EB2DF8BD2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8263" y="2507957"/>
            <a:ext cx="1568938" cy="2689812"/>
          </a:xfrm>
          <a:prstGeom prst="roundRect">
            <a:avLst>
              <a:gd name="adj" fmla="val 952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2CED360D-5430-D3E6-F5F3-3D7E13E89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58360" y="3126143"/>
            <a:ext cx="828744" cy="828744"/>
          </a:xfrm>
          <a:prstGeom prst="ellipse">
            <a:avLst/>
          </a:prstGeom>
          <a:gradFill flip="none" rotWithShape="1">
            <a:gsLst>
              <a:gs pos="80000">
                <a:srgbClr val="1774A7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err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106" name="Graphic 20">
            <a:extLst>
              <a:ext uri="{FF2B5EF4-FFF2-40B4-BE49-F238E27FC236}">
                <a16:creationId xmlns:a16="http://schemas.microsoft.com/office/drawing/2014/main" id="{CBF809EC-34A7-9071-FCDC-110B8CE8D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90937" y="3336180"/>
            <a:ext cx="386130" cy="386130"/>
          </a:xfrm>
          <a:custGeom>
            <a:avLst/>
            <a:gdLst>
              <a:gd name="connsiteX0" fmla="*/ 454356 w 952251"/>
              <a:gd name="connsiteY0" fmla="*/ 544066 h 952251"/>
              <a:gd name="connsiteX1" fmla="*/ 408004 w 952251"/>
              <a:gd name="connsiteY1" fmla="*/ 702805 h 952251"/>
              <a:gd name="connsiteX2" fmla="*/ 480208 w 952251"/>
              <a:gd name="connsiteY2" fmla="*/ 896058 h 952251"/>
              <a:gd name="connsiteX3" fmla="*/ 362650 w 952251"/>
              <a:gd name="connsiteY3" fmla="*/ 906943 h 952251"/>
              <a:gd name="connsiteX4" fmla="*/ 23131 w 952251"/>
              <a:gd name="connsiteY4" fmla="*/ 760132 h 952251"/>
              <a:gd name="connsiteX5" fmla="*/ 0 w 952251"/>
              <a:gd name="connsiteY5" fmla="*/ 687793 h 952251"/>
              <a:gd name="connsiteX6" fmla="*/ 0 w 952251"/>
              <a:gd name="connsiteY6" fmla="*/ 646067 h 952251"/>
              <a:gd name="connsiteX7" fmla="*/ 101956 w 952251"/>
              <a:gd name="connsiteY7" fmla="*/ 544021 h 952251"/>
              <a:gd name="connsiteX8" fmla="*/ 102001 w 952251"/>
              <a:gd name="connsiteY8" fmla="*/ 544021 h 952251"/>
              <a:gd name="connsiteX9" fmla="*/ 454401 w 952251"/>
              <a:gd name="connsiteY9" fmla="*/ 544021 h 952251"/>
              <a:gd name="connsiteX10" fmla="*/ 702805 w 952251"/>
              <a:gd name="connsiteY10" fmla="*/ 453358 h 952251"/>
              <a:gd name="connsiteX11" fmla="*/ 952252 w 952251"/>
              <a:gd name="connsiteY11" fmla="*/ 702805 h 952251"/>
              <a:gd name="connsiteX12" fmla="*/ 702805 w 952251"/>
              <a:gd name="connsiteY12" fmla="*/ 952252 h 952251"/>
              <a:gd name="connsiteX13" fmla="*/ 453358 w 952251"/>
              <a:gd name="connsiteY13" fmla="*/ 702805 h 952251"/>
              <a:gd name="connsiteX14" fmla="*/ 702805 w 952251"/>
              <a:gd name="connsiteY14" fmla="*/ 453358 h 952251"/>
              <a:gd name="connsiteX15" fmla="*/ 702805 w 952251"/>
              <a:gd name="connsiteY15" fmla="*/ 804851 h 952251"/>
              <a:gd name="connsiteX16" fmla="*/ 674459 w 952251"/>
              <a:gd name="connsiteY16" fmla="*/ 833198 h 952251"/>
              <a:gd name="connsiteX17" fmla="*/ 702805 w 952251"/>
              <a:gd name="connsiteY17" fmla="*/ 861544 h 952251"/>
              <a:gd name="connsiteX18" fmla="*/ 731151 w 952251"/>
              <a:gd name="connsiteY18" fmla="*/ 833198 h 952251"/>
              <a:gd name="connsiteX19" fmla="*/ 702805 w 952251"/>
              <a:gd name="connsiteY19" fmla="*/ 804851 h 952251"/>
              <a:gd name="connsiteX20" fmla="*/ 702805 w 952251"/>
              <a:gd name="connsiteY20" fmla="*/ 538352 h 952251"/>
              <a:gd name="connsiteX21" fmla="*/ 618764 w 952251"/>
              <a:gd name="connsiteY21" fmla="*/ 626973 h 952251"/>
              <a:gd name="connsiteX22" fmla="*/ 641668 w 952251"/>
              <a:gd name="connsiteY22" fmla="*/ 649423 h 952251"/>
              <a:gd name="connsiteX23" fmla="*/ 664118 w 952251"/>
              <a:gd name="connsiteY23" fmla="*/ 626520 h 952251"/>
              <a:gd name="connsiteX24" fmla="*/ 702805 w 952251"/>
              <a:gd name="connsiteY24" fmla="*/ 583705 h 952251"/>
              <a:gd name="connsiteX25" fmla="*/ 741537 w 952251"/>
              <a:gd name="connsiteY25" fmla="*/ 626792 h 952251"/>
              <a:gd name="connsiteX26" fmla="*/ 731378 w 952251"/>
              <a:gd name="connsiteY26" fmla="*/ 652190 h 952251"/>
              <a:gd name="connsiteX27" fmla="*/ 727115 w 952251"/>
              <a:gd name="connsiteY27" fmla="*/ 657496 h 952251"/>
              <a:gd name="connsiteX28" fmla="*/ 722579 w 952251"/>
              <a:gd name="connsiteY28" fmla="*/ 662621 h 952251"/>
              <a:gd name="connsiteX29" fmla="*/ 710560 w 952251"/>
              <a:gd name="connsiteY29" fmla="*/ 675774 h 952251"/>
              <a:gd name="connsiteX30" fmla="*/ 704392 w 952251"/>
              <a:gd name="connsiteY30" fmla="*/ 682895 h 952251"/>
              <a:gd name="connsiteX31" fmla="*/ 680128 w 952251"/>
              <a:gd name="connsiteY31" fmla="*/ 742308 h 952251"/>
              <a:gd name="connsiteX32" fmla="*/ 702805 w 952251"/>
              <a:gd name="connsiteY32" fmla="*/ 764985 h 952251"/>
              <a:gd name="connsiteX33" fmla="*/ 725482 w 952251"/>
              <a:gd name="connsiteY33" fmla="*/ 742308 h 952251"/>
              <a:gd name="connsiteX34" fmla="*/ 736322 w 952251"/>
              <a:gd name="connsiteY34" fmla="*/ 715549 h 952251"/>
              <a:gd name="connsiteX35" fmla="*/ 740177 w 952251"/>
              <a:gd name="connsiteY35" fmla="*/ 710833 h 952251"/>
              <a:gd name="connsiteX36" fmla="*/ 744712 w 952251"/>
              <a:gd name="connsiteY36" fmla="*/ 705572 h 952251"/>
              <a:gd name="connsiteX37" fmla="*/ 756822 w 952251"/>
              <a:gd name="connsiteY37" fmla="*/ 692419 h 952251"/>
              <a:gd name="connsiteX38" fmla="*/ 762899 w 952251"/>
              <a:gd name="connsiteY38" fmla="*/ 685389 h 952251"/>
              <a:gd name="connsiteX39" fmla="*/ 786891 w 952251"/>
              <a:gd name="connsiteY39" fmla="*/ 626746 h 952251"/>
              <a:gd name="connsiteX40" fmla="*/ 702805 w 952251"/>
              <a:gd name="connsiteY40" fmla="*/ 538306 h 952251"/>
              <a:gd name="connsiteX41" fmla="*/ 362650 w 952251"/>
              <a:gd name="connsiteY41" fmla="*/ 0 h 952251"/>
              <a:gd name="connsiteX42" fmla="*/ 589420 w 952251"/>
              <a:gd name="connsiteY42" fmla="*/ 226770 h 952251"/>
              <a:gd name="connsiteX43" fmla="*/ 362650 w 952251"/>
              <a:gd name="connsiteY43" fmla="*/ 453540 h 952251"/>
              <a:gd name="connsiteX44" fmla="*/ 135880 w 952251"/>
              <a:gd name="connsiteY44" fmla="*/ 226770 h 952251"/>
              <a:gd name="connsiteX45" fmla="*/ 362650 w 952251"/>
              <a:gd name="connsiteY45" fmla="*/ 0 h 952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952251" h="952251">
                <a:moveTo>
                  <a:pt x="454356" y="544066"/>
                </a:moveTo>
                <a:cubicBezTo>
                  <a:pt x="424005" y="591443"/>
                  <a:pt x="407918" y="646543"/>
                  <a:pt x="408004" y="702805"/>
                </a:cubicBezTo>
                <a:cubicBezTo>
                  <a:pt x="408004" y="776732"/>
                  <a:pt x="435217" y="844309"/>
                  <a:pt x="480208" y="896058"/>
                </a:cubicBezTo>
                <a:cubicBezTo>
                  <a:pt x="444106" y="903315"/>
                  <a:pt x="404920" y="906943"/>
                  <a:pt x="362650" y="906943"/>
                </a:cubicBezTo>
                <a:cubicBezTo>
                  <a:pt x="207540" y="906943"/>
                  <a:pt x="93066" y="858324"/>
                  <a:pt x="23131" y="760132"/>
                </a:cubicBezTo>
                <a:cubicBezTo>
                  <a:pt x="8088" y="739011"/>
                  <a:pt x="3" y="713726"/>
                  <a:pt x="0" y="687793"/>
                </a:cubicBezTo>
                <a:lnTo>
                  <a:pt x="0" y="646067"/>
                </a:lnTo>
                <a:cubicBezTo>
                  <a:pt x="-25" y="589733"/>
                  <a:pt x="45622" y="544048"/>
                  <a:pt x="101956" y="544021"/>
                </a:cubicBezTo>
                <a:cubicBezTo>
                  <a:pt x="101971" y="544021"/>
                  <a:pt x="101986" y="544021"/>
                  <a:pt x="102001" y="544021"/>
                </a:cubicBezTo>
                <a:lnTo>
                  <a:pt x="454401" y="544021"/>
                </a:lnTo>
                <a:close/>
                <a:moveTo>
                  <a:pt x="702805" y="453358"/>
                </a:moveTo>
                <a:cubicBezTo>
                  <a:pt x="840572" y="453358"/>
                  <a:pt x="952252" y="565038"/>
                  <a:pt x="952252" y="702805"/>
                </a:cubicBezTo>
                <a:cubicBezTo>
                  <a:pt x="952252" y="840572"/>
                  <a:pt x="840572" y="952252"/>
                  <a:pt x="702805" y="952252"/>
                </a:cubicBezTo>
                <a:cubicBezTo>
                  <a:pt x="565038" y="952252"/>
                  <a:pt x="453358" y="840572"/>
                  <a:pt x="453358" y="702805"/>
                </a:cubicBezTo>
                <a:cubicBezTo>
                  <a:pt x="453358" y="565038"/>
                  <a:pt x="565038" y="453358"/>
                  <a:pt x="702805" y="453358"/>
                </a:cubicBezTo>
                <a:close/>
                <a:moveTo>
                  <a:pt x="702805" y="804851"/>
                </a:moveTo>
                <a:cubicBezTo>
                  <a:pt x="687149" y="804851"/>
                  <a:pt x="674459" y="817541"/>
                  <a:pt x="674459" y="833198"/>
                </a:cubicBezTo>
                <a:cubicBezTo>
                  <a:pt x="674459" y="848854"/>
                  <a:pt x="687149" y="861544"/>
                  <a:pt x="702805" y="861544"/>
                </a:cubicBezTo>
                <a:cubicBezTo>
                  <a:pt x="718461" y="861544"/>
                  <a:pt x="731151" y="848854"/>
                  <a:pt x="731151" y="833198"/>
                </a:cubicBezTo>
                <a:cubicBezTo>
                  <a:pt x="731151" y="817541"/>
                  <a:pt x="718461" y="804851"/>
                  <a:pt x="702805" y="804851"/>
                </a:cubicBezTo>
                <a:close/>
                <a:moveTo>
                  <a:pt x="702805" y="538352"/>
                </a:moveTo>
                <a:cubicBezTo>
                  <a:pt x="655274" y="538352"/>
                  <a:pt x="618265" y="575406"/>
                  <a:pt x="618764" y="626973"/>
                </a:cubicBezTo>
                <a:cubicBezTo>
                  <a:pt x="618891" y="639495"/>
                  <a:pt x="629146" y="649550"/>
                  <a:pt x="641668" y="649423"/>
                </a:cubicBezTo>
                <a:cubicBezTo>
                  <a:pt x="654190" y="649296"/>
                  <a:pt x="664245" y="639042"/>
                  <a:pt x="664118" y="626520"/>
                </a:cubicBezTo>
                <a:cubicBezTo>
                  <a:pt x="663846" y="600260"/>
                  <a:pt x="680445" y="583705"/>
                  <a:pt x="702805" y="583705"/>
                </a:cubicBezTo>
                <a:cubicBezTo>
                  <a:pt x="724257" y="583705"/>
                  <a:pt x="741537" y="601484"/>
                  <a:pt x="741537" y="626792"/>
                </a:cubicBezTo>
                <a:cubicBezTo>
                  <a:pt x="741537" y="635500"/>
                  <a:pt x="738997" y="642303"/>
                  <a:pt x="731378" y="652190"/>
                </a:cubicBezTo>
                <a:lnTo>
                  <a:pt x="727115" y="657496"/>
                </a:lnTo>
                <a:lnTo>
                  <a:pt x="722579" y="662621"/>
                </a:lnTo>
                <a:lnTo>
                  <a:pt x="710560" y="675774"/>
                </a:lnTo>
                <a:lnTo>
                  <a:pt x="704392" y="682895"/>
                </a:lnTo>
                <a:cubicBezTo>
                  <a:pt x="686976" y="703621"/>
                  <a:pt x="680128" y="718860"/>
                  <a:pt x="680128" y="742308"/>
                </a:cubicBezTo>
                <a:cubicBezTo>
                  <a:pt x="680128" y="754831"/>
                  <a:pt x="690283" y="764985"/>
                  <a:pt x="702805" y="764985"/>
                </a:cubicBezTo>
                <a:cubicBezTo>
                  <a:pt x="715327" y="764985"/>
                  <a:pt x="725482" y="754831"/>
                  <a:pt x="725482" y="742308"/>
                </a:cubicBezTo>
                <a:cubicBezTo>
                  <a:pt x="725482" y="733101"/>
                  <a:pt x="728158" y="726026"/>
                  <a:pt x="736322" y="715549"/>
                </a:cubicBezTo>
                <a:lnTo>
                  <a:pt x="740177" y="710833"/>
                </a:lnTo>
                <a:lnTo>
                  <a:pt x="744712" y="705572"/>
                </a:lnTo>
                <a:lnTo>
                  <a:pt x="756822" y="692419"/>
                </a:lnTo>
                <a:lnTo>
                  <a:pt x="762899" y="685389"/>
                </a:lnTo>
                <a:cubicBezTo>
                  <a:pt x="780043" y="664980"/>
                  <a:pt x="786891" y="649877"/>
                  <a:pt x="786891" y="626746"/>
                </a:cubicBezTo>
                <a:cubicBezTo>
                  <a:pt x="786891" y="576721"/>
                  <a:pt x="749565" y="538306"/>
                  <a:pt x="702805" y="538306"/>
                </a:cubicBezTo>
                <a:close/>
                <a:moveTo>
                  <a:pt x="362650" y="0"/>
                </a:moveTo>
                <a:cubicBezTo>
                  <a:pt x="487891" y="0"/>
                  <a:pt x="589420" y="101528"/>
                  <a:pt x="589420" y="226770"/>
                </a:cubicBezTo>
                <a:cubicBezTo>
                  <a:pt x="589420" y="352011"/>
                  <a:pt x="487891" y="453540"/>
                  <a:pt x="362650" y="453540"/>
                </a:cubicBezTo>
                <a:cubicBezTo>
                  <a:pt x="237409" y="453540"/>
                  <a:pt x="135880" y="352011"/>
                  <a:pt x="135880" y="226770"/>
                </a:cubicBezTo>
                <a:cubicBezTo>
                  <a:pt x="135880" y="101528"/>
                  <a:pt x="237409" y="0"/>
                  <a:pt x="362650" y="0"/>
                </a:cubicBezTo>
                <a:close/>
              </a:path>
            </a:pathLst>
          </a:custGeom>
          <a:solidFill>
            <a:schemeClr val="bg1"/>
          </a:solidFill>
          <a:ln w="4524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5" name="Isosceles Triangle 114">
            <a:extLst>
              <a:ext uri="{FF2B5EF4-FFF2-40B4-BE49-F238E27FC236}">
                <a16:creationId xmlns:a16="http://schemas.microsoft.com/office/drawing/2014/main" id="{AE850146-24F9-3FE8-5576-633EA3C63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10800000">
            <a:off x="830814" y="2275379"/>
            <a:ext cx="87949" cy="232577"/>
          </a:xfrm>
          <a:prstGeom prst="triangle">
            <a:avLst>
              <a:gd name="adj" fmla="val 0"/>
            </a:avLst>
          </a:prstGeom>
          <a:solidFill>
            <a:srgbClr val="E1D3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1D47C32-FBDB-2BAA-7595-77D1D4A85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>
            <a:off x="2157201" y="3852863"/>
            <a:ext cx="420576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5">
            <a:extLst>
              <a:ext uri="{FF2B5EF4-FFF2-40B4-BE49-F238E27FC236}">
                <a16:creationId xmlns:a16="http://schemas.microsoft.com/office/drawing/2014/main" id="{342ACD3A-2179-3B8A-20E1-49CA31A25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577777" y="2507957"/>
            <a:ext cx="1568938" cy="2689812"/>
          </a:xfrm>
          <a:prstGeom prst="roundRect">
            <a:avLst>
              <a:gd name="adj" fmla="val 952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BA47FB40-DF0A-28FE-F5BD-CD97D8FE0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947874" y="3126143"/>
            <a:ext cx="828744" cy="828744"/>
          </a:xfrm>
          <a:prstGeom prst="ellipse">
            <a:avLst/>
          </a:prstGeom>
          <a:gradFill flip="none" rotWithShape="1">
            <a:gsLst>
              <a:gs pos="80000">
                <a:srgbClr val="0A6BBA"/>
              </a:gs>
              <a:gs pos="0">
                <a:srgbClr val="AC35AF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1400" b="1" i="0" u="none" strike="noStrike" kern="1200" cap="none" spc="0" normalizeH="0" baseline="0" noProof="0" err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109" name="Graphic 24">
            <a:extLst>
              <a:ext uri="{FF2B5EF4-FFF2-40B4-BE49-F238E27FC236}">
                <a16:creationId xmlns:a16="http://schemas.microsoft.com/office/drawing/2014/main" id="{EF2B66B1-95FD-21C2-1D72-7B89353D6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59953" y="3338107"/>
            <a:ext cx="404586" cy="404815"/>
          </a:xfrm>
          <a:custGeom>
            <a:avLst/>
            <a:gdLst>
              <a:gd name="connsiteX0" fmla="*/ 770994 w 907063"/>
              <a:gd name="connsiteY0" fmla="*/ 113334 h 907573"/>
              <a:gd name="connsiteX1" fmla="*/ 657654 w 907063"/>
              <a:gd name="connsiteY1" fmla="*/ 226764 h 907573"/>
              <a:gd name="connsiteX2" fmla="*/ 634387 w 907063"/>
              <a:gd name="connsiteY2" fmla="*/ 224361 h 907573"/>
              <a:gd name="connsiteX3" fmla="*/ 576334 w 907063"/>
              <a:gd name="connsiteY3" fmla="*/ 320421 h 907573"/>
              <a:gd name="connsiteX4" fmla="*/ 634932 w 907063"/>
              <a:gd name="connsiteY4" fmla="*/ 453897 h 907573"/>
              <a:gd name="connsiteX5" fmla="*/ 634932 w 907063"/>
              <a:gd name="connsiteY5" fmla="*/ 456528 h 907573"/>
              <a:gd name="connsiteX6" fmla="*/ 693710 w 907063"/>
              <a:gd name="connsiteY6" fmla="*/ 468365 h 907573"/>
              <a:gd name="connsiteX7" fmla="*/ 847197 w 907063"/>
              <a:gd name="connsiteY7" fmla="*/ 421959 h 907573"/>
              <a:gd name="connsiteX8" fmla="*/ 893603 w 907063"/>
              <a:gd name="connsiteY8" fmla="*/ 575451 h 907573"/>
              <a:gd name="connsiteX9" fmla="*/ 740117 w 907063"/>
              <a:gd name="connsiteY9" fmla="*/ 621852 h 907573"/>
              <a:gd name="connsiteX10" fmla="*/ 681057 w 907063"/>
              <a:gd name="connsiteY10" fmla="*/ 535217 h 907573"/>
              <a:gd name="connsiteX11" fmla="*/ 621189 w 907063"/>
              <a:gd name="connsiteY11" fmla="*/ 523198 h 907573"/>
              <a:gd name="connsiteX12" fmla="*/ 542183 w 907063"/>
              <a:gd name="connsiteY12" fmla="*/ 612228 h 907573"/>
              <a:gd name="connsiteX13" fmla="*/ 564633 w 907063"/>
              <a:gd name="connsiteY13" fmla="*/ 680803 h 907573"/>
              <a:gd name="connsiteX14" fmla="*/ 566901 w 907063"/>
              <a:gd name="connsiteY14" fmla="*/ 680803 h 907573"/>
              <a:gd name="connsiteX15" fmla="*/ 680204 w 907063"/>
              <a:gd name="connsiteY15" fmla="*/ 794270 h 907573"/>
              <a:gd name="connsiteX16" fmla="*/ 566737 w 907063"/>
              <a:gd name="connsiteY16" fmla="*/ 907573 h 907573"/>
              <a:gd name="connsiteX17" fmla="*/ 453434 w 907063"/>
              <a:gd name="connsiteY17" fmla="*/ 794106 h 907573"/>
              <a:gd name="connsiteX18" fmla="*/ 500140 w 907063"/>
              <a:gd name="connsiteY18" fmla="*/ 702482 h 907573"/>
              <a:gd name="connsiteX19" fmla="*/ 477644 w 907063"/>
              <a:gd name="connsiteY19" fmla="*/ 633726 h 907573"/>
              <a:gd name="connsiteX20" fmla="*/ 307476 w 907063"/>
              <a:gd name="connsiteY20" fmla="*/ 561477 h 907573"/>
              <a:gd name="connsiteX21" fmla="*/ 226066 w 907063"/>
              <a:gd name="connsiteY21" fmla="*/ 599937 h 907573"/>
              <a:gd name="connsiteX22" fmla="*/ 126102 w 907063"/>
              <a:gd name="connsiteY22" fmla="*/ 725314 h 907573"/>
              <a:gd name="connsiteX23" fmla="*/ 725 w 907063"/>
              <a:gd name="connsiteY23" fmla="*/ 625353 h 907573"/>
              <a:gd name="connsiteX24" fmla="*/ 100688 w 907063"/>
              <a:gd name="connsiteY24" fmla="*/ 499972 h 907573"/>
              <a:gd name="connsiteX25" fmla="*/ 198490 w 907063"/>
              <a:gd name="connsiteY25" fmla="*/ 537711 h 907573"/>
              <a:gd name="connsiteX26" fmla="*/ 278041 w 907063"/>
              <a:gd name="connsiteY26" fmla="*/ 500158 h 907573"/>
              <a:gd name="connsiteX27" fmla="*/ 313599 w 907063"/>
              <a:gd name="connsiteY27" fmla="*/ 338381 h 907573"/>
              <a:gd name="connsiteX28" fmla="*/ 268653 w 907063"/>
              <a:gd name="connsiteY28" fmla="*/ 287131 h 907573"/>
              <a:gd name="connsiteX29" fmla="*/ 121392 w 907063"/>
              <a:gd name="connsiteY29" fmla="*/ 223675 h 907573"/>
              <a:gd name="connsiteX30" fmla="*/ 184848 w 907063"/>
              <a:gd name="connsiteY30" fmla="*/ 76415 h 907573"/>
              <a:gd name="connsiteX31" fmla="*/ 332109 w 907063"/>
              <a:gd name="connsiteY31" fmla="*/ 139870 h 907573"/>
              <a:gd name="connsiteX32" fmla="*/ 321445 w 907063"/>
              <a:gd name="connsiteY32" fmla="*/ 244135 h 907573"/>
              <a:gd name="connsiteX33" fmla="*/ 366028 w 907063"/>
              <a:gd name="connsiteY33" fmla="*/ 294932 h 907573"/>
              <a:gd name="connsiteX34" fmla="*/ 453516 w 907063"/>
              <a:gd name="connsiteY34" fmla="*/ 272482 h 907573"/>
              <a:gd name="connsiteX35" fmla="*/ 518553 w 907063"/>
              <a:gd name="connsiteY35" fmla="*/ 284500 h 907573"/>
              <a:gd name="connsiteX36" fmla="*/ 575019 w 907063"/>
              <a:gd name="connsiteY36" fmla="*/ 191071 h 907573"/>
              <a:gd name="connsiteX37" fmla="*/ 579922 w 907063"/>
              <a:gd name="connsiteY37" fmla="*/ 30796 h 907573"/>
              <a:gd name="connsiteX38" fmla="*/ 740198 w 907063"/>
              <a:gd name="connsiteY38" fmla="*/ 35699 h 907573"/>
              <a:gd name="connsiteX39" fmla="*/ 770994 w 907063"/>
              <a:gd name="connsiteY39" fmla="*/ 113380 h 907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907063" h="907573">
                <a:moveTo>
                  <a:pt x="770994" y="113334"/>
                </a:moveTo>
                <a:cubicBezTo>
                  <a:pt x="771016" y="175955"/>
                  <a:pt x="720274" y="226739"/>
                  <a:pt x="657654" y="226764"/>
                </a:cubicBezTo>
                <a:cubicBezTo>
                  <a:pt x="649835" y="226767"/>
                  <a:pt x="642039" y="225962"/>
                  <a:pt x="634387" y="224361"/>
                </a:cubicBezTo>
                <a:lnTo>
                  <a:pt x="576334" y="320421"/>
                </a:lnTo>
                <a:cubicBezTo>
                  <a:pt x="613715" y="354730"/>
                  <a:pt x="634977" y="403160"/>
                  <a:pt x="634932" y="453897"/>
                </a:cubicBezTo>
                <a:lnTo>
                  <a:pt x="634932" y="456528"/>
                </a:lnTo>
                <a:lnTo>
                  <a:pt x="693710" y="468365"/>
                </a:lnTo>
                <a:cubicBezTo>
                  <a:pt x="723281" y="413165"/>
                  <a:pt x="792001" y="392388"/>
                  <a:pt x="847197" y="421959"/>
                </a:cubicBezTo>
                <a:cubicBezTo>
                  <a:pt x="902398" y="451530"/>
                  <a:pt x="923174" y="520250"/>
                  <a:pt x="893603" y="575451"/>
                </a:cubicBezTo>
                <a:cubicBezTo>
                  <a:pt x="864033" y="630646"/>
                  <a:pt x="795317" y="651423"/>
                  <a:pt x="740117" y="621852"/>
                </a:cubicBezTo>
                <a:cubicBezTo>
                  <a:pt x="707457" y="604359"/>
                  <a:pt x="685406" y="572013"/>
                  <a:pt x="681057" y="535217"/>
                </a:cubicBezTo>
                <a:lnTo>
                  <a:pt x="621189" y="523198"/>
                </a:lnTo>
                <a:cubicBezTo>
                  <a:pt x="605570" y="560887"/>
                  <a:pt x="577749" y="592241"/>
                  <a:pt x="542183" y="612228"/>
                </a:cubicBezTo>
                <a:lnTo>
                  <a:pt x="564633" y="680803"/>
                </a:lnTo>
                <a:lnTo>
                  <a:pt x="566901" y="680803"/>
                </a:lnTo>
                <a:cubicBezTo>
                  <a:pt x="629521" y="680849"/>
                  <a:pt x="680249" y="731650"/>
                  <a:pt x="680204" y="794270"/>
                </a:cubicBezTo>
                <a:cubicBezTo>
                  <a:pt x="680159" y="856890"/>
                  <a:pt x="629358" y="907618"/>
                  <a:pt x="566737" y="907573"/>
                </a:cubicBezTo>
                <a:cubicBezTo>
                  <a:pt x="504117" y="907528"/>
                  <a:pt x="453389" y="856727"/>
                  <a:pt x="453434" y="794106"/>
                </a:cubicBezTo>
                <a:cubicBezTo>
                  <a:pt x="453461" y="757855"/>
                  <a:pt x="470818" y="723803"/>
                  <a:pt x="500140" y="702482"/>
                </a:cubicBezTo>
                <a:lnTo>
                  <a:pt x="477644" y="633726"/>
                </a:lnTo>
                <a:cubicBezTo>
                  <a:pt x="411976" y="642579"/>
                  <a:pt x="346715" y="614872"/>
                  <a:pt x="307476" y="561477"/>
                </a:cubicBezTo>
                <a:lnTo>
                  <a:pt x="226066" y="599937"/>
                </a:lnTo>
                <a:cubicBezTo>
                  <a:pt x="233084" y="662163"/>
                  <a:pt x="188328" y="718297"/>
                  <a:pt x="126102" y="725314"/>
                </a:cubicBezTo>
                <a:cubicBezTo>
                  <a:pt x="63876" y="732334"/>
                  <a:pt x="7743" y="687579"/>
                  <a:pt x="725" y="625353"/>
                </a:cubicBezTo>
                <a:cubicBezTo>
                  <a:pt x="-6294" y="563123"/>
                  <a:pt x="38462" y="506993"/>
                  <a:pt x="100688" y="499972"/>
                </a:cubicBezTo>
                <a:cubicBezTo>
                  <a:pt x="137496" y="495823"/>
                  <a:pt x="174011" y="509914"/>
                  <a:pt x="198490" y="537711"/>
                </a:cubicBezTo>
                <a:lnTo>
                  <a:pt x="278041" y="500158"/>
                </a:lnTo>
                <a:cubicBezTo>
                  <a:pt x="263193" y="443652"/>
                  <a:pt x="276425" y="383454"/>
                  <a:pt x="313599" y="338381"/>
                </a:cubicBezTo>
                <a:lnTo>
                  <a:pt x="268653" y="287131"/>
                </a:lnTo>
                <a:cubicBezTo>
                  <a:pt x="210465" y="310273"/>
                  <a:pt x="144535" y="281863"/>
                  <a:pt x="121392" y="223675"/>
                </a:cubicBezTo>
                <a:cubicBezTo>
                  <a:pt x="98251" y="165488"/>
                  <a:pt x="126660" y="99557"/>
                  <a:pt x="184848" y="76415"/>
                </a:cubicBezTo>
                <a:cubicBezTo>
                  <a:pt x="243036" y="53273"/>
                  <a:pt x="308966" y="81683"/>
                  <a:pt x="332109" y="139870"/>
                </a:cubicBezTo>
                <a:cubicBezTo>
                  <a:pt x="345794" y="174281"/>
                  <a:pt x="341813" y="213207"/>
                  <a:pt x="321445" y="244135"/>
                </a:cubicBezTo>
                <a:lnTo>
                  <a:pt x="366028" y="294932"/>
                </a:lnTo>
                <a:cubicBezTo>
                  <a:pt x="392819" y="280159"/>
                  <a:pt x="422925" y="272434"/>
                  <a:pt x="453516" y="272482"/>
                </a:cubicBezTo>
                <a:cubicBezTo>
                  <a:pt x="476420" y="272482"/>
                  <a:pt x="498416" y="276745"/>
                  <a:pt x="518553" y="284500"/>
                </a:cubicBezTo>
                <a:lnTo>
                  <a:pt x="575019" y="191071"/>
                </a:lnTo>
                <a:cubicBezTo>
                  <a:pt x="532114" y="145458"/>
                  <a:pt x="534309" y="73701"/>
                  <a:pt x="579922" y="30796"/>
                </a:cubicBezTo>
                <a:cubicBezTo>
                  <a:pt x="625534" y="-12109"/>
                  <a:pt x="697293" y="-9914"/>
                  <a:pt x="740198" y="35699"/>
                </a:cubicBezTo>
                <a:cubicBezTo>
                  <a:pt x="759977" y="56728"/>
                  <a:pt x="770994" y="84510"/>
                  <a:pt x="770994" y="113380"/>
                </a:cubicBezTo>
                <a:close/>
              </a:path>
            </a:pathLst>
          </a:custGeom>
          <a:solidFill>
            <a:schemeClr val="bg1"/>
          </a:solidFill>
          <a:ln w="4524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7DABEEF-06AC-BA6F-9C82-2138BCEC6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46715" y="3113680"/>
            <a:ext cx="420576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CD4F455-3576-EA49-A1E2-463561624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65" idx="1"/>
          </p:cNvCxnSpPr>
          <p:nvPr/>
        </p:nvCxnSpPr>
        <p:spPr>
          <a:xfrm>
            <a:off x="4146715" y="4593230"/>
            <a:ext cx="420576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54647A1-3A64-BE27-2E1C-7813DF36E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6472549" y="3112497"/>
            <a:ext cx="461263" cy="1183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1F770CC-B8F9-C6D4-6CA6-0FFF05263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65" idx="3"/>
          </p:cNvCxnSpPr>
          <p:nvPr/>
        </p:nvCxnSpPr>
        <p:spPr>
          <a:xfrm>
            <a:off x="6472549" y="4593230"/>
            <a:ext cx="461263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5">
            <a:extLst>
              <a:ext uri="{FF2B5EF4-FFF2-40B4-BE49-F238E27FC236}">
                <a16:creationId xmlns:a16="http://schemas.microsoft.com/office/drawing/2014/main" id="{0B97CB69-8C2A-51D3-F640-2739FA10A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933812" y="2507957"/>
            <a:ext cx="1410188" cy="2689812"/>
          </a:xfrm>
          <a:prstGeom prst="roundRect">
            <a:avLst>
              <a:gd name="adj" fmla="val 952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103" name="Graphic 437806336">
            <a:extLst>
              <a:ext uri="{FF2B5EF4-FFF2-40B4-BE49-F238E27FC236}">
                <a16:creationId xmlns:a16="http://schemas.microsoft.com/office/drawing/2014/main" id="{28713E0A-5B65-289B-5093-8F19ABA3E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6851" y="3081722"/>
            <a:ext cx="916675" cy="917587"/>
          </a:xfrm>
          <a:prstGeom prst="rect">
            <a:avLst/>
          </a:prstGeom>
        </p:spPr>
      </p:pic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90F8BEA0-1AB2-B584-9E58-F3608CE4B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771637" y="1309498"/>
            <a:ext cx="2832100" cy="2689811"/>
          </a:xfrm>
          <a:prstGeom prst="roundRect">
            <a:avLst>
              <a:gd name="adj" fmla="val 6668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E5699BCB-787D-0447-EF7D-19066386E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44000" y="3113680"/>
            <a:ext cx="420576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EA185EE-C085-72B4-BD54-17D731A58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44000" y="4593230"/>
            <a:ext cx="420576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21AB978-3B67-5A90-DE6C-465F99EB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/>
              <a:t>Agentic retrieval engine in Azure AI Search</a:t>
            </a:r>
          </a:p>
        </p:txBody>
      </p:sp>
      <p:sp>
        <p:nvSpPr>
          <p:cNvPr id="114" name="Rounded Rectangle 5">
            <a:extLst>
              <a:ext uri="{FF2B5EF4-FFF2-40B4-BE49-F238E27FC236}">
                <a16:creationId xmlns:a16="http://schemas.microsoft.com/office/drawing/2014/main" id="{07E3B1A3-79CB-4E1B-B8A6-D2712349F4D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82612" y="1441824"/>
            <a:ext cx="3659188" cy="833556"/>
          </a:xfrm>
          <a:prstGeom prst="roundRect">
            <a:avLst>
              <a:gd name="adj" fmla="val 18791"/>
            </a:avLst>
          </a:prstGeom>
          <a:solidFill>
            <a:srgbClr val="E1D3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0" rIns="13716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What is included in my Northwind Health Plus plan that is not in standard?</a:t>
            </a:r>
          </a:p>
        </p:txBody>
      </p:sp>
      <p:sp>
        <p:nvSpPr>
          <p:cNvPr id="95" name="Text Placeholder 5">
            <a:extLst>
              <a:ext uri="{FF2B5EF4-FFF2-40B4-BE49-F238E27FC236}">
                <a16:creationId xmlns:a16="http://schemas.microsoft.com/office/drawing/2014/main" id="{952D49D3-AB4E-673D-2815-A7E5A5799E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79581" y="4155414"/>
            <a:ext cx="1386303" cy="49859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6548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User</a:t>
            </a:r>
          </a:p>
          <a:p>
            <a:pPr marL="0" marR="0" lvl="0" indent="0" algn="ctr" defTabSz="186548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Question</a:t>
            </a:r>
          </a:p>
        </p:txBody>
      </p:sp>
      <p:sp>
        <p:nvSpPr>
          <p:cNvPr id="96" name="Text Placeholder 5">
            <a:extLst>
              <a:ext uri="{FF2B5EF4-FFF2-40B4-BE49-F238E27FC236}">
                <a16:creationId xmlns:a16="http://schemas.microsoft.com/office/drawing/2014/main" id="{476D3367-03EB-B5D9-C4B7-CA958A0396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669095" y="4155414"/>
            <a:ext cx="1386303" cy="49859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6548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Knowledge Agent</a:t>
            </a:r>
          </a:p>
        </p:txBody>
      </p:sp>
      <p:sp>
        <p:nvSpPr>
          <p:cNvPr id="21" name="Rounded Rectangle 5">
            <a:extLst>
              <a:ext uri="{FF2B5EF4-FFF2-40B4-BE49-F238E27FC236}">
                <a16:creationId xmlns:a16="http://schemas.microsoft.com/office/drawing/2014/main" id="{BA155E30-14EE-5148-F061-B7844E2C926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567291" y="2507957"/>
            <a:ext cx="1905258" cy="1209079"/>
          </a:xfrm>
          <a:prstGeom prst="roundRect">
            <a:avLst>
              <a:gd name="adj" fmla="val 12741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Northwind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Health Plus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plan benefits</a:t>
            </a:r>
          </a:p>
        </p:txBody>
      </p:sp>
      <p:sp>
        <p:nvSpPr>
          <p:cNvPr id="65" name="Rounded Rectangle 5">
            <a:extLst>
              <a:ext uri="{FF2B5EF4-FFF2-40B4-BE49-F238E27FC236}">
                <a16:creationId xmlns:a16="http://schemas.microsoft.com/office/drawing/2014/main" id="{DF0FE2CF-31F5-FCC0-92F8-F4445BDBF6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567291" y="3988690"/>
            <a:ext cx="1905258" cy="1209079"/>
          </a:xfrm>
          <a:prstGeom prst="roundRect">
            <a:avLst>
              <a:gd name="adj" fmla="val 12741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Standard Northwind Health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plan benefits</a:t>
            </a:r>
          </a:p>
        </p:txBody>
      </p:sp>
      <p:sp>
        <p:nvSpPr>
          <p:cNvPr id="97" name="Text Placeholder 5">
            <a:extLst>
              <a:ext uri="{FF2B5EF4-FFF2-40B4-BE49-F238E27FC236}">
                <a16:creationId xmlns:a16="http://schemas.microsoft.com/office/drawing/2014/main" id="{332F2B6F-D114-D614-8BD4-829BA2068E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922037" y="4155414"/>
            <a:ext cx="1386303" cy="49859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6548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Search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Index</a:t>
            </a:r>
          </a:p>
        </p:txBody>
      </p:sp>
      <p:graphicFrame>
        <p:nvGraphicFramePr>
          <p:cNvPr id="122" name="Table 121">
            <a:extLst>
              <a:ext uri="{FF2B5EF4-FFF2-40B4-BE49-F238E27FC236}">
                <a16:creationId xmlns:a16="http://schemas.microsoft.com/office/drawing/2014/main" id="{A0F8F946-8EA2-62DE-FA4B-CF9A6A70827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799317"/>
              </p:ext>
            </p:extLst>
          </p:nvPr>
        </p:nvGraphicFramePr>
        <p:xfrm>
          <a:off x="8930387" y="1403445"/>
          <a:ext cx="2514600" cy="2449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764">
                  <a:extLst>
                    <a:ext uri="{9D8B030D-6E8A-4147-A177-3AD203B41FA5}">
                      <a16:colId xmlns:a16="http://schemas.microsoft.com/office/drawing/2014/main" val="1482892922"/>
                    </a:ext>
                  </a:extLst>
                </a:gridCol>
                <a:gridCol w="879836">
                  <a:extLst>
                    <a:ext uri="{9D8B030D-6E8A-4147-A177-3AD203B41FA5}">
                      <a16:colId xmlns:a16="http://schemas.microsoft.com/office/drawing/2014/main" val="2838009520"/>
                    </a:ext>
                  </a:extLst>
                </a:gridCol>
              </a:tblGrid>
              <a:tr h="43773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 b="0" u="none" dirty="0">
                          <a:solidFill>
                            <a:schemeClr val="tx1"/>
                          </a:solidFill>
                          <a:latin typeface="+mj-lt"/>
                        </a:rPr>
                        <a:t>Activity Log</a:t>
                      </a:r>
                    </a:p>
                  </a:txBody>
                  <a:tcPr marL="100584" marR="100584" marT="50292" marB="50292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500" b="0" u="none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00584" marR="100584"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28915"/>
                  </a:ext>
                </a:extLst>
              </a:tr>
              <a:tr h="437738">
                <a:tc>
                  <a:txBody>
                    <a:bodyPr/>
                    <a:lstStyle/>
                    <a:p>
                      <a:pPr algn="l"/>
                      <a:r>
                        <a:rPr lang="en-US" sz="1500" b="0" u="none" dirty="0">
                          <a:solidFill>
                            <a:schemeClr val="tx1"/>
                          </a:solidFill>
                          <a:latin typeface="+mj-lt"/>
                        </a:rPr>
                        <a:t>Query</a:t>
                      </a:r>
                    </a:p>
                  </a:txBody>
                  <a:tcPr marL="100584" marR="100584" marT="50292" marB="50292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u="none">
                          <a:solidFill>
                            <a:schemeClr val="tx1"/>
                          </a:solidFill>
                          <a:latin typeface="+mj-lt"/>
                        </a:rPr>
                        <a:t>Results</a:t>
                      </a:r>
                    </a:p>
                  </a:txBody>
                  <a:tcPr marL="100584" marR="100584"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890008"/>
                  </a:ext>
                </a:extLst>
              </a:tr>
              <a:tr h="655809"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Northwind Health Plus plan benefits</a:t>
                      </a:r>
                      <a:endParaRPr lang="en-US" sz="1300" b="1" u="none" dirty="0">
                        <a:latin typeface="+mn-lt"/>
                      </a:endParaRPr>
                    </a:p>
                  </a:txBody>
                  <a:tcPr marL="100584" marR="100584" marT="50292" marB="50292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u="none">
                          <a:latin typeface="+mn-lt"/>
                        </a:rPr>
                        <a:t>3</a:t>
                      </a:r>
                    </a:p>
                  </a:txBody>
                  <a:tcPr marL="100584" marR="100584"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800493"/>
                  </a:ext>
                </a:extLst>
              </a:tr>
              <a:tr h="918133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Standard Northwind Health plan benefits</a:t>
                      </a:r>
                      <a:endParaRPr lang="en-US" sz="1300">
                        <a:latin typeface="+mn-lt"/>
                      </a:endParaRPr>
                    </a:p>
                  </a:txBody>
                  <a:tcPr marL="100584" marR="100584" marT="50292" marB="50292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300" dirty="0">
                          <a:latin typeface="+mn-lt"/>
                        </a:rPr>
                        <a:t>3</a:t>
                      </a:r>
                    </a:p>
                  </a:txBody>
                  <a:tcPr marL="100584" marR="100584"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62334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7E2C85-05A4-1946-6270-95B3FB0881A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118882"/>
              </p:ext>
            </p:extLst>
          </p:nvPr>
        </p:nvGraphicFramePr>
        <p:xfrm>
          <a:off x="8923326" y="4191930"/>
          <a:ext cx="2514600" cy="2011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1482892922"/>
                    </a:ext>
                  </a:extLst>
                </a:gridCol>
              </a:tblGrid>
              <a:tr h="366124">
                <a:tc>
                  <a:txBody>
                    <a:bodyPr/>
                    <a:lstStyle/>
                    <a:p>
                      <a:pPr algn="ctr"/>
                      <a:r>
                        <a:rPr lang="en-US" sz="1500" b="0" u="none" dirty="0">
                          <a:solidFill>
                            <a:schemeClr val="tx1"/>
                          </a:solidFill>
                          <a:latin typeface="+mj-lt"/>
                        </a:rPr>
                        <a:t>Document References</a:t>
                      </a:r>
                    </a:p>
                  </a:txBody>
                  <a:tcPr marL="100584" marR="100584" marT="50292" marB="50292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890008"/>
                  </a:ext>
                </a:extLst>
              </a:tr>
              <a:tr h="548518"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Northwind Health Plus Summary.pdf</a:t>
                      </a:r>
                      <a:endParaRPr lang="en-US" sz="1300" b="1" u="none">
                        <a:latin typeface="+mn-lt"/>
                      </a:endParaRPr>
                    </a:p>
                  </a:txBody>
                  <a:tcPr marL="100584" marR="100584" marT="50292" marB="50292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800493"/>
                  </a:ext>
                </a:extLst>
              </a:tr>
              <a:tr h="54851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Northwind Health Comparison.pdf</a:t>
                      </a:r>
                      <a:endParaRPr lang="en-US" sz="1300">
                        <a:latin typeface="+mn-lt"/>
                      </a:endParaRPr>
                    </a:p>
                  </a:txBody>
                  <a:tcPr marL="100584" marR="100584" marT="50292" marB="50292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623344"/>
                  </a:ext>
                </a:extLst>
              </a:tr>
              <a:tr h="548518"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Northwind Health Standard Summary.pdf</a:t>
                      </a:r>
                      <a:endParaRPr lang="en-US" sz="1300" b="1" u="none" dirty="0">
                        <a:latin typeface="+mn-lt"/>
                      </a:endParaRPr>
                    </a:p>
                  </a:txBody>
                  <a:tcPr marL="100584" marR="100584" marT="50292" marB="50292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933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122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C9F5BB1-4E81-51FD-9EDF-2BA7A0737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238045" y="2325511"/>
            <a:ext cx="2008540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88207B-9D8A-7E73-59F7-D02C7E6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238045" y="4521200"/>
            <a:ext cx="2008540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7E46D2-B3EB-0360-C097-B1132FAC68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4887913" cy="490538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585216" tIns="91440" rIns="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Segoe UI" panose="020B0502040204020203" pitchFamily="34" charset="0"/>
              </a:rPr>
              <a:t>Creating a knowledge agent (REST)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8F343-32BE-2ED9-6D6B-3D586E824B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043" y="694722"/>
            <a:ext cx="6253019" cy="6325514"/>
          </a:xfrm>
        </p:spPr>
        <p:txBody>
          <a:bodyPr/>
          <a:lstStyle/>
          <a:p>
            <a:r>
              <a:rPr lang="en-US" sz="2000" b="1" dirty="0"/>
              <a:t>PUT {{</a:t>
            </a:r>
            <a:r>
              <a:rPr lang="en-US" sz="2000" b="1" dirty="0" err="1"/>
              <a:t>url</a:t>
            </a:r>
            <a:r>
              <a:rPr lang="en-US" sz="2000" b="1" dirty="0"/>
              <a:t>}}/agents/{{agent-name}}</a:t>
            </a:r>
          </a:p>
          <a:p>
            <a:endParaRPr lang="en-US" sz="2000" dirty="0"/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"{{agent-name}}"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targetIndexes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[{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indexName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"{{index-name}}"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defaultRerankerThreshold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2.5</a:t>
            </a: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}],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"models"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[{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"kind"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azureOpenAI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azureOpenAIParameters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resourceUri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dirty="0">
                <a:solidFill>
                  <a:schemeClr val="tx1"/>
                </a:solidFill>
              </a:rPr>
              <a:t>…</a:t>
            </a:r>
            <a:r>
              <a:rPr lang="en-US" sz="20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deploymentId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…,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modelName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}}]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C2C7A-67D1-07FC-6135-12D86A18C9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39378" y="796322"/>
            <a:ext cx="4854222" cy="5124480"/>
          </a:xfrm>
        </p:spPr>
        <p:txBody>
          <a:bodyPr/>
          <a:lstStyle/>
          <a:p>
            <a:r>
              <a:rPr lang="en-US" dirty="0"/>
              <a:t>Creates new top level agent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References existing search index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Contains connection information to your Azure OpenAI model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822332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63F3A-B6BD-FFEA-6398-C303ACE65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Query planning in agentic retrieval</a:t>
            </a:r>
          </a:p>
        </p:txBody>
      </p:sp>
      <p:sp>
        <p:nvSpPr>
          <p:cNvPr id="61" name="Rounded Rectangle 5">
            <a:extLst>
              <a:ext uri="{FF2B5EF4-FFF2-40B4-BE49-F238E27FC236}">
                <a16:creationId xmlns:a16="http://schemas.microsoft.com/office/drawing/2014/main" id="{4A9F2662-2393-FDA4-283E-0C96DC5DA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8263" y="1436688"/>
            <a:ext cx="1738074" cy="1432892"/>
          </a:xfrm>
          <a:prstGeom prst="roundRect">
            <a:avLst>
              <a:gd name="adj" fmla="val 10539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DD0BDB5-5910-EB85-60E6-D47D752D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145976" y="1536781"/>
            <a:ext cx="622648" cy="622648"/>
          </a:xfrm>
          <a:prstGeom prst="ellipse">
            <a:avLst/>
          </a:prstGeom>
          <a:gradFill flip="none" rotWithShape="1">
            <a:gsLst>
              <a:gs pos="80000">
                <a:srgbClr val="1774A7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err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64" name="Graphic 20">
            <a:extLst>
              <a:ext uri="{FF2B5EF4-FFF2-40B4-BE49-F238E27FC236}">
                <a16:creationId xmlns:a16="http://schemas.microsoft.com/office/drawing/2014/main" id="{8ABAE147-E1E3-9B5D-9EAE-331DF26FB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20715" y="1711419"/>
            <a:ext cx="290105" cy="290105"/>
          </a:xfrm>
          <a:custGeom>
            <a:avLst/>
            <a:gdLst>
              <a:gd name="connsiteX0" fmla="*/ 454356 w 952251"/>
              <a:gd name="connsiteY0" fmla="*/ 544066 h 952251"/>
              <a:gd name="connsiteX1" fmla="*/ 408004 w 952251"/>
              <a:gd name="connsiteY1" fmla="*/ 702805 h 952251"/>
              <a:gd name="connsiteX2" fmla="*/ 480208 w 952251"/>
              <a:gd name="connsiteY2" fmla="*/ 896058 h 952251"/>
              <a:gd name="connsiteX3" fmla="*/ 362650 w 952251"/>
              <a:gd name="connsiteY3" fmla="*/ 906943 h 952251"/>
              <a:gd name="connsiteX4" fmla="*/ 23131 w 952251"/>
              <a:gd name="connsiteY4" fmla="*/ 760132 h 952251"/>
              <a:gd name="connsiteX5" fmla="*/ 0 w 952251"/>
              <a:gd name="connsiteY5" fmla="*/ 687793 h 952251"/>
              <a:gd name="connsiteX6" fmla="*/ 0 w 952251"/>
              <a:gd name="connsiteY6" fmla="*/ 646067 h 952251"/>
              <a:gd name="connsiteX7" fmla="*/ 101956 w 952251"/>
              <a:gd name="connsiteY7" fmla="*/ 544021 h 952251"/>
              <a:gd name="connsiteX8" fmla="*/ 102001 w 952251"/>
              <a:gd name="connsiteY8" fmla="*/ 544021 h 952251"/>
              <a:gd name="connsiteX9" fmla="*/ 454401 w 952251"/>
              <a:gd name="connsiteY9" fmla="*/ 544021 h 952251"/>
              <a:gd name="connsiteX10" fmla="*/ 702805 w 952251"/>
              <a:gd name="connsiteY10" fmla="*/ 453358 h 952251"/>
              <a:gd name="connsiteX11" fmla="*/ 952252 w 952251"/>
              <a:gd name="connsiteY11" fmla="*/ 702805 h 952251"/>
              <a:gd name="connsiteX12" fmla="*/ 702805 w 952251"/>
              <a:gd name="connsiteY12" fmla="*/ 952252 h 952251"/>
              <a:gd name="connsiteX13" fmla="*/ 453358 w 952251"/>
              <a:gd name="connsiteY13" fmla="*/ 702805 h 952251"/>
              <a:gd name="connsiteX14" fmla="*/ 702805 w 952251"/>
              <a:gd name="connsiteY14" fmla="*/ 453358 h 952251"/>
              <a:gd name="connsiteX15" fmla="*/ 702805 w 952251"/>
              <a:gd name="connsiteY15" fmla="*/ 804851 h 952251"/>
              <a:gd name="connsiteX16" fmla="*/ 674459 w 952251"/>
              <a:gd name="connsiteY16" fmla="*/ 833198 h 952251"/>
              <a:gd name="connsiteX17" fmla="*/ 702805 w 952251"/>
              <a:gd name="connsiteY17" fmla="*/ 861544 h 952251"/>
              <a:gd name="connsiteX18" fmla="*/ 731151 w 952251"/>
              <a:gd name="connsiteY18" fmla="*/ 833198 h 952251"/>
              <a:gd name="connsiteX19" fmla="*/ 702805 w 952251"/>
              <a:gd name="connsiteY19" fmla="*/ 804851 h 952251"/>
              <a:gd name="connsiteX20" fmla="*/ 702805 w 952251"/>
              <a:gd name="connsiteY20" fmla="*/ 538352 h 952251"/>
              <a:gd name="connsiteX21" fmla="*/ 618764 w 952251"/>
              <a:gd name="connsiteY21" fmla="*/ 626973 h 952251"/>
              <a:gd name="connsiteX22" fmla="*/ 641668 w 952251"/>
              <a:gd name="connsiteY22" fmla="*/ 649423 h 952251"/>
              <a:gd name="connsiteX23" fmla="*/ 664118 w 952251"/>
              <a:gd name="connsiteY23" fmla="*/ 626520 h 952251"/>
              <a:gd name="connsiteX24" fmla="*/ 702805 w 952251"/>
              <a:gd name="connsiteY24" fmla="*/ 583705 h 952251"/>
              <a:gd name="connsiteX25" fmla="*/ 741537 w 952251"/>
              <a:gd name="connsiteY25" fmla="*/ 626792 h 952251"/>
              <a:gd name="connsiteX26" fmla="*/ 731378 w 952251"/>
              <a:gd name="connsiteY26" fmla="*/ 652190 h 952251"/>
              <a:gd name="connsiteX27" fmla="*/ 727115 w 952251"/>
              <a:gd name="connsiteY27" fmla="*/ 657496 h 952251"/>
              <a:gd name="connsiteX28" fmla="*/ 722579 w 952251"/>
              <a:gd name="connsiteY28" fmla="*/ 662621 h 952251"/>
              <a:gd name="connsiteX29" fmla="*/ 710560 w 952251"/>
              <a:gd name="connsiteY29" fmla="*/ 675774 h 952251"/>
              <a:gd name="connsiteX30" fmla="*/ 704392 w 952251"/>
              <a:gd name="connsiteY30" fmla="*/ 682895 h 952251"/>
              <a:gd name="connsiteX31" fmla="*/ 680128 w 952251"/>
              <a:gd name="connsiteY31" fmla="*/ 742308 h 952251"/>
              <a:gd name="connsiteX32" fmla="*/ 702805 w 952251"/>
              <a:gd name="connsiteY32" fmla="*/ 764985 h 952251"/>
              <a:gd name="connsiteX33" fmla="*/ 725482 w 952251"/>
              <a:gd name="connsiteY33" fmla="*/ 742308 h 952251"/>
              <a:gd name="connsiteX34" fmla="*/ 736322 w 952251"/>
              <a:gd name="connsiteY34" fmla="*/ 715549 h 952251"/>
              <a:gd name="connsiteX35" fmla="*/ 740177 w 952251"/>
              <a:gd name="connsiteY35" fmla="*/ 710833 h 952251"/>
              <a:gd name="connsiteX36" fmla="*/ 744712 w 952251"/>
              <a:gd name="connsiteY36" fmla="*/ 705572 h 952251"/>
              <a:gd name="connsiteX37" fmla="*/ 756822 w 952251"/>
              <a:gd name="connsiteY37" fmla="*/ 692419 h 952251"/>
              <a:gd name="connsiteX38" fmla="*/ 762899 w 952251"/>
              <a:gd name="connsiteY38" fmla="*/ 685389 h 952251"/>
              <a:gd name="connsiteX39" fmla="*/ 786891 w 952251"/>
              <a:gd name="connsiteY39" fmla="*/ 626746 h 952251"/>
              <a:gd name="connsiteX40" fmla="*/ 702805 w 952251"/>
              <a:gd name="connsiteY40" fmla="*/ 538306 h 952251"/>
              <a:gd name="connsiteX41" fmla="*/ 362650 w 952251"/>
              <a:gd name="connsiteY41" fmla="*/ 0 h 952251"/>
              <a:gd name="connsiteX42" fmla="*/ 589420 w 952251"/>
              <a:gd name="connsiteY42" fmla="*/ 226770 h 952251"/>
              <a:gd name="connsiteX43" fmla="*/ 362650 w 952251"/>
              <a:gd name="connsiteY43" fmla="*/ 453540 h 952251"/>
              <a:gd name="connsiteX44" fmla="*/ 135880 w 952251"/>
              <a:gd name="connsiteY44" fmla="*/ 226770 h 952251"/>
              <a:gd name="connsiteX45" fmla="*/ 362650 w 952251"/>
              <a:gd name="connsiteY45" fmla="*/ 0 h 952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952251" h="952251">
                <a:moveTo>
                  <a:pt x="454356" y="544066"/>
                </a:moveTo>
                <a:cubicBezTo>
                  <a:pt x="424005" y="591443"/>
                  <a:pt x="407918" y="646543"/>
                  <a:pt x="408004" y="702805"/>
                </a:cubicBezTo>
                <a:cubicBezTo>
                  <a:pt x="408004" y="776732"/>
                  <a:pt x="435217" y="844309"/>
                  <a:pt x="480208" y="896058"/>
                </a:cubicBezTo>
                <a:cubicBezTo>
                  <a:pt x="444106" y="903315"/>
                  <a:pt x="404920" y="906943"/>
                  <a:pt x="362650" y="906943"/>
                </a:cubicBezTo>
                <a:cubicBezTo>
                  <a:pt x="207540" y="906943"/>
                  <a:pt x="93066" y="858324"/>
                  <a:pt x="23131" y="760132"/>
                </a:cubicBezTo>
                <a:cubicBezTo>
                  <a:pt x="8088" y="739011"/>
                  <a:pt x="3" y="713726"/>
                  <a:pt x="0" y="687793"/>
                </a:cubicBezTo>
                <a:lnTo>
                  <a:pt x="0" y="646067"/>
                </a:lnTo>
                <a:cubicBezTo>
                  <a:pt x="-25" y="589733"/>
                  <a:pt x="45622" y="544048"/>
                  <a:pt x="101956" y="544021"/>
                </a:cubicBezTo>
                <a:cubicBezTo>
                  <a:pt x="101971" y="544021"/>
                  <a:pt x="101986" y="544021"/>
                  <a:pt x="102001" y="544021"/>
                </a:cubicBezTo>
                <a:lnTo>
                  <a:pt x="454401" y="544021"/>
                </a:lnTo>
                <a:close/>
                <a:moveTo>
                  <a:pt x="702805" y="453358"/>
                </a:moveTo>
                <a:cubicBezTo>
                  <a:pt x="840572" y="453358"/>
                  <a:pt x="952252" y="565038"/>
                  <a:pt x="952252" y="702805"/>
                </a:cubicBezTo>
                <a:cubicBezTo>
                  <a:pt x="952252" y="840572"/>
                  <a:pt x="840572" y="952252"/>
                  <a:pt x="702805" y="952252"/>
                </a:cubicBezTo>
                <a:cubicBezTo>
                  <a:pt x="565038" y="952252"/>
                  <a:pt x="453358" y="840572"/>
                  <a:pt x="453358" y="702805"/>
                </a:cubicBezTo>
                <a:cubicBezTo>
                  <a:pt x="453358" y="565038"/>
                  <a:pt x="565038" y="453358"/>
                  <a:pt x="702805" y="453358"/>
                </a:cubicBezTo>
                <a:close/>
                <a:moveTo>
                  <a:pt x="702805" y="804851"/>
                </a:moveTo>
                <a:cubicBezTo>
                  <a:pt x="687149" y="804851"/>
                  <a:pt x="674459" y="817541"/>
                  <a:pt x="674459" y="833198"/>
                </a:cubicBezTo>
                <a:cubicBezTo>
                  <a:pt x="674459" y="848854"/>
                  <a:pt x="687149" y="861544"/>
                  <a:pt x="702805" y="861544"/>
                </a:cubicBezTo>
                <a:cubicBezTo>
                  <a:pt x="718461" y="861544"/>
                  <a:pt x="731151" y="848854"/>
                  <a:pt x="731151" y="833198"/>
                </a:cubicBezTo>
                <a:cubicBezTo>
                  <a:pt x="731151" y="817541"/>
                  <a:pt x="718461" y="804851"/>
                  <a:pt x="702805" y="804851"/>
                </a:cubicBezTo>
                <a:close/>
                <a:moveTo>
                  <a:pt x="702805" y="538352"/>
                </a:moveTo>
                <a:cubicBezTo>
                  <a:pt x="655274" y="538352"/>
                  <a:pt x="618265" y="575406"/>
                  <a:pt x="618764" y="626973"/>
                </a:cubicBezTo>
                <a:cubicBezTo>
                  <a:pt x="618891" y="639495"/>
                  <a:pt x="629146" y="649550"/>
                  <a:pt x="641668" y="649423"/>
                </a:cubicBezTo>
                <a:cubicBezTo>
                  <a:pt x="654190" y="649296"/>
                  <a:pt x="664245" y="639042"/>
                  <a:pt x="664118" y="626520"/>
                </a:cubicBezTo>
                <a:cubicBezTo>
                  <a:pt x="663846" y="600260"/>
                  <a:pt x="680445" y="583705"/>
                  <a:pt x="702805" y="583705"/>
                </a:cubicBezTo>
                <a:cubicBezTo>
                  <a:pt x="724257" y="583705"/>
                  <a:pt x="741537" y="601484"/>
                  <a:pt x="741537" y="626792"/>
                </a:cubicBezTo>
                <a:cubicBezTo>
                  <a:pt x="741537" y="635500"/>
                  <a:pt x="738997" y="642303"/>
                  <a:pt x="731378" y="652190"/>
                </a:cubicBezTo>
                <a:lnTo>
                  <a:pt x="727115" y="657496"/>
                </a:lnTo>
                <a:lnTo>
                  <a:pt x="722579" y="662621"/>
                </a:lnTo>
                <a:lnTo>
                  <a:pt x="710560" y="675774"/>
                </a:lnTo>
                <a:lnTo>
                  <a:pt x="704392" y="682895"/>
                </a:lnTo>
                <a:cubicBezTo>
                  <a:pt x="686976" y="703621"/>
                  <a:pt x="680128" y="718860"/>
                  <a:pt x="680128" y="742308"/>
                </a:cubicBezTo>
                <a:cubicBezTo>
                  <a:pt x="680128" y="754831"/>
                  <a:pt x="690283" y="764985"/>
                  <a:pt x="702805" y="764985"/>
                </a:cubicBezTo>
                <a:cubicBezTo>
                  <a:pt x="715327" y="764985"/>
                  <a:pt x="725482" y="754831"/>
                  <a:pt x="725482" y="742308"/>
                </a:cubicBezTo>
                <a:cubicBezTo>
                  <a:pt x="725482" y="733101"/>
                  <a:pt x="728158" y="726026"/>
                  <a:pt x="736322" y="715549"/>
                </a:cubicBezTo>
                <a:lnTo>
                  <a:pt x="740177" y="710833"/>
                </a:lnTo>
                <a:lnTo>
                  <a:pt x="744712" y="705572"/>
                </a:lnTo>
                <a:lnTo>
                  <a:pt x="756822" y="692419"/>
                </a:lnTo>
                <a:lnTo>
                  <a:pt x="762899" y="685389"/>
                </a:lnTo>
                <a:cubicBezTo>
                  <a:pt x="780043" y="664980"/>
                  <a:pt x="786891" y="649877"/>
                  <a:pt x="786891" y="626746"/>
                </a:cubicBezTo>
                <a:cubicBezTo>
                  <a:pt x="786891" y="576721"/>
                  <a:pt x="749565" y="538306"/>
                  <a:pt x="702805" y="538306"/>
                </a:cubicBezTo>
                <a:close/>
                <a:moveTo>
                  <a:pt x="362650" y="0"/>
                </a:moveTo>
                <a:cubicBezTo>
                  <a:pt x="487891" y="0"/>
                  <a:pt x="589420" y="101528"/>
                  <a:pt x="589420" y="226770"/>
                </a:cubicBezTo>
                <a:cubicBezTo>
                  <a:pt x="589420" y="352011"/>
                  <a:pt x="487891" y="453540"/>
                  <a:pt x="362650" y="453540"/>
                </a:cubicBezTo>
                <a:cubicBezTo>
                  <a:pt x="237409" y="453540"/>
                  <a:pt x="135880" y="352011"/>
                  <a:pt x="135880" y="226770"/>
                </a:cubicBezTo>
                <a:cubicBezTo>
                  <a:pt x="135880" y="101528"/>
                  <a:pt x="237409" y="0"/>
                  <a:pt x="362650" y="0"/>
                </a:cubicBezTo>
                <a:close/>
              </a:path>
            </a:pathLst>
          </a:custGeom>
          <a:solidFill>
            <a:schemeClr val="bg1"/>
          </a:solidFill>
          <a:ln w="4524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A7F92F70-57CF-2A23-025F-395575E886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764149" y="2250206"/>
            <a:ext cx="1386303" cy="49859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6548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User</a:t>
            </a:r>
          </a:p>
          <a:p>
            <a:pPr marL="0" marR="0" lvl="0" indent="0" algn="ctr" defTabSz="186548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Question</a:t>
            </a:r>
          </a:p>
        </p:txBody>
      </p:sp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20CD3BED-FB11-4B39-5404-F1B00DA17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16200000">
            <a:off x="2864857" y="1303663"/>
            <a:ext cx="162432" cy="889992"/>
          </a:xfrm>
          <a:prstGeom prst="triangle">
            <a:avLst>
              <a:gd name="adj" fmla="val 0"/>
            </a:avLst>
          </a:prstGeom>
          <a:solidFill>
            <a:srgbClr val="E1D3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78" name="Rounded Rectangle 5">
            <a:extLst>
              <a:ext uri="{FF2B5EF4-FFF2-40B4-BE49-F238E27FC236}">
                <a16:creationId xmlns:a16="http://schemas.microsoft.com/office/drawing/2014/main" id="{07E9F5AD-2EB8-51A7-FD5B-FBE9622B42D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382601" y="1436688"/>
            <a:ext cx="2563091" cy="1432892"/>
          </a:xfrm>
          <a:prstGeom prst="roundRect">
            <a:avLst>
              <a:gd name="adj" fmla="val 10539"/>
            </a:avLst>
          </a:prstGeom>
          <a:solidFill>
            <a:srgbClr val="E1D3C7"/>
          </a:solidFill>
          <a:effectLst/>
        </p:spPr>
        <p:txBody>
          <a:bodyPr wrap="square" lIns="137160" tIns="0" rIns="137160" bIns="0" rtlCol="0" anchor="ctr">
            <a:noAutofit/>
          </a:bodyPr>
          <a:lstStyle/>
          <a:p>
            <a:pPr marL="0" marR="0" lvl="0" indent="0" algn="ctr" defTabSz="18654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light"/>
              </a:rPr>
              <a:t>What is included in my Northwind Health Plus plan that is not in standard?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57" name="Rounded Rectangle 5">
            <a:extLst>
              <a:ext uri="{FF2B5EF4-FFF2-40B4-BE49-F238E27FC236}">
                <a16:creationId xmlns:a16="http://schemas.microsoft.com/office/drawing/2014/main" id="{38CCBAB2-5BCE-F9A6-97F3-29408E018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8263" y="3132638"/>
            <a:ext cx="1738074" cy="1432892"/>
          </a:xfrm>
          <a:prstGeom prst="roundRect">
            <a:avLst>
              <a:gd name="adj" fmla="val 10539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9A8C3B9-F1EC-0454-F9E3-0C62D9C44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145976" y="3232731"/>
            <a:ext cx="622648" cy="622648"/>
          </a:xfrm>
          <a:prstGeom prst="ellipse">
            <a:avLst/>
          </a:prstGeom>
          <a:gradFill flip="none" rotWithShape="1">
            <a:gsLst>
              <a:gs pos="80000">
                <a:srgbClr val="1774A7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err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65" name="Graphic 24">
            <a:extLst>
              <a:ext uri="{FF2B5EF4-FFF2-40B4-BE49-F238E27FC236}">
                <a16:creationId xmlns:a16="http://schemas.microsoft.com/office/drawing/2014/main" id="{274463E6-F1C0-B885-E879-B82EC261E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05314" y="3391983"/>
            <a:ext cx="303972" cy="304144"/>
          </a:xfrm>
          <a:custGeom>
            <a:avLst/>
            <a:gdLst>
              <a:gd name="connsiteX0" fmla="*/ 770994 w 907063"/>
              <a:gd name="connsiteY0" fmla="*/ 113334 h 907573"/>
              <a:gd name="connsiteX1" fmla="*/ 657654 w 907063"/>
              <a:gd name="connsiteY1" fmla="*/ 226764 h 907573"/>
              <a:gd name="connsiteX2" fmla="*/ 634387 w 907063"/>
              <a:gd name="connsiteY2" fmla="*/ 224361 h 907573"/>
              <a:gd name="connsiteX3" fmla="*/ 576334 w 907063"/>
              <a:gd name="connsiteY3" fmla="*/ 320421 h 907573"/>
              <a:gd name="connsiteX4" fmla="*/ 634932 w 907063"/>
              <a:gd name="connsiteY4" fmla="*/ 453897 h 907573"/>
              <a:gd name="connsiteX5" fmla="*/ 634932 w 907063"/>
              <a:gd name="connsiteY5" fmla="*/ 456528 h 907573"/>
              <a:gd name="connsiteX6" fmla="*/ 693710 w 907063"/>
              <a:gd name="connsiteY6" fmla="*/ 468365 h 907573"/>
              <a:gd name="connsiteX7" fmla="*/ 847197 w 907063"/>
              <a:gd name="connsiteY7" fmla="*/ 421959 h 907573"/>
              <a:gd name="connsiteX8" fmla="*/ 893603 w 907063"/>
              <a:gd name="connsiteY8" fmla="*/ 575451 h 907573"/>
              <a:gd name="connsiteX9" fmla="*/ 740117 w 907063"/>
              <a:gd name="connsiteY9" fmla="*/ 621852 h 907573"/>
              <a:gd name="connsiteX10" fmla="*/ 681057 w 907063"/>
              <a:gd name="connsiteY10" fmla="*/ 535217 h 907573"/>
              <a:gd name="connsiteX11" fmla="*/ 621189 w 907063"/>
              <a:gd name="connsiteY11" fmla="*/ 523198 h 907573"/>
              <a:gd name="connsiteX12" fmla="*/ 542183 w 907063"/>
              <a:gd name="connsiteY12" fmla="*/ 612228 h 907573"/>
              <a:gd name="connsiteX13" fmla="*/ 564633 w 907063"/>
              <a:gd name="connsiteY13" fmla="*/ 680803 h 907573"/>
              <a:gd name="connsiteX14" fmla="*/ 566901 w 907063"/>
              <a:gd name="connsiteY14" fmla="*/ 680803 h 907573"/>
              <a:gd name="connsiteX15" fmla="*/ 680204 w 907063"/>
              <a:gd name="connsiteY15" fmla="*/ 794270 h 907573"/>
              <a:gd name="connsiteX16" fmla="*/ 566737 w 907063"/>
              <a:gd name="connsiteY16" fmla="*/ 907573 h 907573"/>
              <a:gd name="connsiteX17" fmla="*/ 453434 w 907063"/>
              <a:gd name="connsiteY17" fmla="*/ 794106 h 907573"/>
              <a:gd name="connsiteX18" fmla="*/ 500140 w 907063"/>
              <a:gd name="connsiteY18" fmla="*/ 702482 h 907573"/>
              <a:gd name="connsiteX19" fmla="*/ 477644 w 907063"/>
              <a:gd name="connsiteY19" fmla="*/ 633726 h 907573"/>
              <a:gd name="connsiteX20" fmla="*/ 307476 w 907063"/>
              <a:gd name="connsiteY20" fmla="*/ 561477 h 907573"/>
              <a:gd name="connsiteX21" fmla="*/ 226066 w 907063"/>
              <a:gd name="connsiteY21" fmla="*/ 599937 h 907573"/>
              <a:gd name="connsiteX22" fmla="*/ 126102 w 907063"/>
              <a:gd name="connsiteY22" fmla="*/ 725314 h 907573"/>
              <a:gd name="connsiteX23" fmla="*/ 725 w 907063"/>
              <a:gd name="connsiteY23" fmla="*/ 625353 h 907573"/>
              <a:gd name="connsiteX24" fmla="*/ 100688 w 907063"/>
              <a:gd name="connsiteY24" fmla="*/ 499972 h 907573"/>
              <a:gd name="connsiteX25" fmla="*/ 198490 w 907063"/>
              <a:gd name="connsiteY25" fmla="*/ 537711 h 907573"/>
              <a:gd name="connsiteX26" fmla="*/ 278041 w 907063"/>
              <a:gd name="connsiteY26" fmla="*/ 500158 h 907573"/>
              <a:gd name="connsiteX27" fmla="*/ 313599 w 907063"/>
              <a:gd name="connsiteY27" fmla="*/ 338381 h 907573"/>
              <a:gd name="connsiteX28" fmla="*/ 268653 w 907063"/>
              <a:gd name="connsiteY28" fmla="*/ 287131 h 907573"/>
              <a:gd name="connsiteX29" fmla="*/ 121392 w 907063"/>
              <a:gd name="connsiteY29" fmla="*/ 223675 h 907573"/>
              <a:gd name="connsiteX30" fmla="*/ 184848 w 907063"/>
              <a:gd name="connsiteY30" fmla="*/ 76415 h 907573"/>
              <a:gd name="connsiteX31" fmla="*/ 332109 w 907063"/>
              <a:gd name="connsiteY31" fmla="*/ 139870 h 907573"/>
              <a:gd name="connsiteX32" fmla="*/ 321445 w 907063"/>
              <a:gd name="connsiteY32" fmla="*/ 244135 h 907573"/>
              <a:gd name="connsiteX33" fmla="*/ 366028 w 907063"/>
              <a:gd name="connsiteY33" fmla="*/ 294932 h 907573"/>
              <a:gd name="connsiteX34" fmla="*/ 453516 w 907063"/>
              <a:gd name="connsiteY34" fmla="*/ 272482 h 907573"/>
              <a:gd name="connsiteX35" fmla="*/ 518553 w 907063"/>
              <a:gd name="connsiteY35" fmla="*/ 284500 h 907573"/>
              <a:gd name="connsiteX36" fmla="*/ 575019 w 907063"/>
              <a:gd name="connsiteY36" fmla="*/ 191071 h 907573"/>
              <a:gd name="connsiteX37" fmla="*/ 579922 w 907063"/>
              <a:gd name="connsiteY37" fmla="*/ 30796 h 907573"/>
              <a:gd name="connsiteX38" fmla="*/ 740198 w 907063"/>
              <a:gd name="connsiteY38" fmla="*/ 35699 h 907573"/>
              <a:gd name="connsiteX39" fmla="*/ 770994 w 907063"/>
              <a:gd name="connsiteY39" fmla="*/ 113380 h 907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907063" h="907573">
                <a:moveTo>
                  <a:pt x="770994" y="113334"/>
                </a:moveTo>
                <a:cubicBezTo>
                  <a:pt x="771016" y="175955"/>
                  <a:pt x="720274" y="226739"/>
                  <a:pt x="657654" y="226764"/>
                </a:cubicBezTo>
                <a:cubicBezTo>
                  <a:pt x="649835" y="226767"/>
                  <a:pt x="642039" y="225962"/>
                  <a:pt x="634387" y="224361"/>
                </a:cubicBezTo>
                <a:lnTo>
                  <a:pt x="576334" y="320421"/>
                </a:lnTo>
                <a:cubicBezTo>
                  <a:pt x="613715" y="354730"/>
                  <a:pt x="634977" y="403160"/>
                  <a:pt x="634932" y="453897"/>
                </a:cubicBezTo>
                <a:lnTo>
                  <a:pt x="634932" y="456528"/>
                </a:lnTo>
                <a:lnTo>
                  <a:pt x="693710" y="468365"/>
                </a:lnTo>
                <a:cubicBezTo>
                  <a:pt x="723281" y="413165"/>
                  <a:pt x="792001" y="392388"/>
                  <a:pt x="847197" y="421959"/>
                </a:cubicBezTo>
                <a:cubicBezTo>
                  <a:pt x="902398" y="451530"/>
                  <a:pt x="923174" y="520250"/>
                  <a:pt x="893603" y="575451"/>
                </a:cubicBezTo>
                <a:cubicBezTo>
                  <a:pt x="864033" y="630646"/>
                  <a:pt x="795317" y="651423"/>
                  <a:pt x="740117" y="621852"/>
                </a:cubicBezTo>
                <a:cubicBezTo>
                  <a:pt x="707457" y="604359"/>
                  <a:pt x="685406" y="572013"/>
                  <a:pt x="681057" y="535217"/>
                </a:cubicBezTo>
                <a:lnTo>
                  <a:pt x="621189" y="523198"/>
                </a:lnTo>
                <a:cubicBezTo>
                  <a:pt x="605570" y="560887"/>
                  <a:pt x="577749" y="592241"/>
                  <a:pt x="542183" y="612228"/>
                </a:cubicBezTo>
                <a:lnTo>
                  <a:pt x="564633" y="680803"/>
                </a:lnTo>
                <a:lnTo>
                  <a:pt x="566901" y="680803"/>
                </a:lnTo>
                <a:cubicBezTo>
                  <a:pt x="629521" y="680849"/>
                  <a:pt x="680249" y="731650"/>
                  <a:pt x="680204" y="794270"/>
                </a:cubicBezTo>
                <a:cubicBezTo>
                  <a:pt x="680159" y="856890"/>
                  <a:pt x="629358" y="907618"/>
                  <a:pt x="566737" y="907573"/>
                </a:cubicBezTo>
                <a:cubicBezTo>
                  <a:pt x="504117" y="907528"/>
                  <a:pt x="453389" y="856727"/>
                  <a:pt x="453434" y="794106"/>
                </a:cubicBezTo>
                <a:cubicBezTo>
                  <a:pt x="453461" y="757855"/>
                  <a:pt x="470818" y="723803"/>
                  <a:pt x="500140" y="702482"/>
                </a:cubicBezTo>
                <a:lnTo>
                  <a:pt x="477644" y="633726"/>
                </a:lnTo>
                <a:cubicBezTo>
                  <a:pt x="411976" y="642579"/>
                  <a:pt x="346715" y="614872"/>
                  <a:pt x="307476" y="561477"/>
                </a:cubicBezTo>
                <a:lnTo>
                  <a:pt x="226066" y="599937"/>
                </a:lnTo>
                <a:cubicBezTo>
                  <a:pt x="233084" y="662163"/>
                  <a:pt x="188328" y="718297"/>
                  <a:pt x="126102" y="725314"/>
                </a:cubicBezTo>
                <a:cubicBezTo>
                  <a:pt x="63876" y="732334"/>
                  <a:pt x="7743" y="687579"/>
                  <a:pt x="725" y="625353"/>
                </a:cubicBezTo>
                <a:cubicBezTo>
                  <a:pt x="-6294" y="563123"/>
                  <a:pt x="38462" y="506993"/>
                  <a:pt x="100688" y="499972"/>
                </a:cubicBezTo>
                <a:cubicBezTo>
                  <a:pt x="137496" y="495823"/>
                  <a:pt x="174011" y="509914"/>
                  <a:pt x="198490" y="537711"/>
                </a:cubicBezTo>
                <a:lnTo>
                  <a:pt x="278041" y="500158"/>
                </a:lnTo>
                <a:cubicBezTo>
                  <a:pt x="263193" y="443652"/>
                  <a:pt x="276425" y="383454"/>
                  <a:pt x="313599" y="338381"/>
                </a:cubicBezTo>
                <a:lnTo>
                  <a:pt x="268653" y="287131"/>
                </a:lnTo>
                <a:cubicBezTo>
                  <a:pt x="210465" y="310273"/>
                  <a:pt x="144535" y="281863"/>
                  <a:pt x="121392" y="223675"/>
                </a:cubicBezTo>
                <a:cubicBezTo>
                  <a:pt x="98251" y="165488"/>
                  <a:pt x="126660" y="99557"/>
                  <a:pt x="184848" y="76415"/>
                </a:cubicBezTo>
                <a:cubicBezTo>
                  <a:pt x="243036" y="53273"/>
                  <a:pt x="308966" y="81683"/>
                  <a:pt x="332109" y="139870"/>
                </a:cubicBezTo>
                <a:cubicBezTo>
                  <a:pt x="345794" y="174281"/>
                  <a:pt x="341813" y="213207"/>
                  <a:pt x="321445" y="244135"/>
                </a:cubicBezTo>
                <a:lnTo>
                  <a:pt x="366028" y="294932"/>
                </a:lnTo>
                <a:cubicBezTo>
                  <a:pt x="392819" y="280159"/>
                  <a:pt x="422925" y="272434"/>
                  <a:pt x="453516" y="272482"/>
                </a:cubicBezTo>
                <a:cubicBezTo>
                  <a:pt x="476420" y="272482"/>
                  <a:pt x="498416" y="276745"/>
                  <a:pt x="518553" y="284500"/>
                </a:cubicBezTo>
                <a:lnTo>
                  <a:pt x="575019" y="191071"/>
                </a:lnTo>
                <a:cubicBezTo>
                  <a:pt x="532114" y="145458"/>
                  <a:pt x="534309" y="73701"/>
                  <a:pt x="579922" y="30796"/>
                </a:cubicBezTo>
                <a:cubicBezTo>
                  <a:pt x="625534" y="-12109"/>
                  <a:pt x="697293" y="-9914"/>
                  <a:pt x="740198" y="35699"/>
                </a:cubicBezTo>
                <a:cubicBezTo>
                  <a:pt x="759977" y="56728"/>
                  <a:pt x="770994" y="84510"/>
                  <a:pt x="770994" y="113380"/>
                </a:cubicBezTo>
                <a:close/>
              </a:path>
            </a:pathLst>
          </a:custGeom>
          <a:solidFill>
            <a:schemeClr val="bg1"/>
          </a:solidFill>
          <a:ln w="4524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F9EFC28E-D3F8-1F03-E34B-0CE1542EB0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764149" y="3946156"/>
            <a:ext cx="1386303" cy="49859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6548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LLM 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Reply</a:t>
            </a:r>
          </a:p>
        </p:txBody>
      </p:sp>
      <p:sp>
        <p:nvSpPr>
          <p:cNvPr id="84" name="Isosceles Triangle 83">
            <a:extLst>
              <a:ext uri="{FF2B5EF4-FFF2-40B4-BE49-F238E27FC236}">
                <a16:creationId xmlns:a16="http://schemas.microsoft.com/office/drawing/2014/main" id="{5839343B-9DDB-3E11-8928-49D12B6C6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16200000">
            <a:off x="2864857" y="2999614"/>
            <a:ext cx="162432" cy="889992"/>
          </a:xfrm>
          <a:prstGeom prst="triangle">
            <a:avLst>
              <a:gd name="adj" fmla="val 0"/>
            </a:avLst>
          </a:prstGeom>
          <a:solidFill>
            <a:srgbClr val="E1D3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86" name="Rounded Rectangle 5">
            <a:extLst>
              <a:ext uri="{FF2B5EF4-FFF2-40B4-BE49-F238E27FC236}">
                <a16:creationId xmlns:a16="http://schemas.microsoft.com/office/drawing/2014/main" id="{041E1BB7-66F5-CA2B-5AA4-82A7AC7A0C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382601" y="3132638"/>
            <a:ext cx="2563091" cy="1432892"/>
          </a:xfrm>
          <a:prstGeom prst="roundRect">
            <a:avLst>
              <a:gd name="adj" fmla="val 10539"/>
            </a:avLst>
          </a:prstGeom>
          <a:solidFill>
            <a:srgbClr val="E1D3C7"/>
          </a:solidFill>
          <a:effectLst/>
        </p:spPr>
        <p:txBody>
          <a:bodyPr wrap="square" lIns="137160" tIns="0" rIns="137160" bIns="0" rtlCol="0" anchor="ctr">
            <a:noAutofit/>
          </a:bodyPr>
          <a:lstStyle/>
          <a:p>
            <a:pPr marL="0" marR="0" lvl="0" indent="0" algn="ctr" defTabSz="18654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light"/>
              </a:rPr>
              <a:t>Northwind Health </a:t>
            </a:r>
            <a:b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light"/>
              </a:rPr>
            </a:b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light"/>
              </a:rPr>
              <a:t>Plus adds several types </a:t>
            </a:r>
            <a:b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light"/>
              </a:rPr>
            </a:b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light"/>
              </a:rPr>
              <a:t>of coverage that the Standard plan does </a:t>
            </a:r>
            <a:b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light"/>
              </a:rPr>
            </a:b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light"/>
              </a:rPr>
              <a:t>not have…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55DDFD62-D7D1-2DC4-FA7D-0FBD03C59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8263" y="4828588"/>
            <a:ext cx="1738074" cy="1432892"/>
          </a:xfrm>
          <a:prstGeom prst="roundRect">
            <a:avLst>
              <a:gd name="adj" fmla="val 10539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BEBF951-13E1-C89C-97A8-1A934B82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145976" y="4928681"/>
            <a:ext cx="622648" cy="622648"/>
          </a:xfrm>
          <a:prstGeom prst="ellipse">
            <a:avLst/>
          </a:prstGeom>
          <a:gradFill flip="none" rotWithShape="1">
            <a:gsLst>
              <a:gs pos="80000">
                <a:srgbClr val="1774A7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err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27" name="Graphic 20">
            <a:extLst>
              <a:ext uri="{FF2B5EF4-FFF2-40B4-BE49-F238E27FC236}">
                <a16:creationId xmlns:a16="http://schemas.microsoft.com/office/drawing/2014/main" id="{CD80ACAE-535D-3F6E-4A37-150991354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20715" y="5086485"/>
            <a:ext cx="290105" cy="290105"/>
          </a:xfrm>
          <a:custGeom>
            <a:avLst/>
            <a:gdLst>
              <a:gd name="connsiteX0" fmla="*/ 454356 w 952251"/>
              <a:gd name="connsiteY0" fmla="*/ 544066 h 952251"/>
              <a:gd name="connsiteX1" fmla="*/ 408004 w 952251"/>
              <a:gd name="connsiteY1" fmla="*/ 702805 h 952251"/>
              <a:gd name="connsiteX2" fmla="*/ 480208 w 952251"/>
              <a:gd name="connsiteY2" fmla="*/ 896058 h 952251"/>
              <a:gd name="connsiteX3" fmla="*/ 362650 w 952251"/>
              <a:gd name="connsiteY3" fmla="*/ 906943 h 952251"/>
              <a:gd name="connsiteX4" fmla="*/ 23131 w 952251"/>
              <a:gd name="connsiteY4" fmla="*/ 760132 h 952251"/>
              <a:gd name="connsiteX5" fmla="*/ 0 w 952251"/>
              <a:gd name="connsiteY5" fmla="*/ 687793 h 952251"/>
              <a:gd name="connsiteX6" fmla="*/ 0 w 952251"/>
              <a:gd name="connsiteY6" fmla="*/ 646067 h 952251"/>
              <a:gd name="connsiteX7" fmla="*/ 101956 w 952251"/>
              <a:gd name="connsiteY7" fmla="*/ 544021 h 952251"/>
              <a:gd name="connsiteX8" fmla="*/ 102001 w 952251"/>
              <a:gd name="connsiteY8" fmla="*/ 544021 h 952251"/>
              <a:gd name="connsiteX9" fmla="*/ 454401 w 952251"/>
              <a:gd name="connsiteY9" fmla="*/ 544021 h 952251"/>
              <a:gd name="connsiteX10" fmla="*/ 702805 w 952251"/>
              <a:gd name="connsiteY10" fmla="*/ 453358 h 952251"/>
              <a:gd name="connsiteX11" fmla="*/ 952252 w 952251"/>
              <a:gd name="connsiteY11" fmla="*/ 702805 h 952251"/>
              <a:gd name="connsiteX12" fmla="*/ 702805 w 952251"/>
              <a:gd name="connsiteY12" fmla="*/ 952252 h 952251"/>
              <a:gd name="connsiteX13" fmla="*/ 453358 w 952251"/>
              <a:gd name="connsiteY13" fmla="*/ 702805 h 952251"/>
              <a:gd name="connsiteX14" fmla="*/ 702805 w 952251"/>
              <a:gd name="connsiteY14" fmla="*/ 453358 h 952251"/>
              <a:gd name="connsiteX15" fmla="*/ 702805 w 952251"/>
              <a:gd name="connsiteY15" fmla="*/ 804851 h 952251"/>
              <a:gd name="connsiteX16" fmla="*/ 674459 w 952251"/>
              <a:gd name="connsiteY16" fmla="*/ 833198 h 952251"/>
              <a:gd name="connsiteX17" fmla="*/ 702805 w 952251"/>
              <a:gd name="connsiteY17" fmla="*/ 861544 h 952251"/>
              <a:gd name="connsiteX18" fmla="*/ 731151 w 952251"/>
              <a:gd name="connsiteY18" fmla="*/ 833198 h 952251"/>
              <a:gd name="connsiteX19" fmla="*/ 702805 w 952251"/>
              <a:gd name="connsiteY19" fmla="*/ 804851 h 952251"/>
              <a:gd name="connsiteX20" fmla="*/ 702805 w 952251"/>
              <a:gd name="connsiteY20" fmla="*/ 538352 h 952251"/>
              <a:gd name="connsiteX21" fmla="*/ 618764 w 952251"/>
              <a:gd name="connsiteY21" fmla="*/ 626973 h 952251"/>
              <a:gd name="connsiteX22" fmla="*/ 641668 w 952251"/>
              <a:gd name="connsiteY22" fmla="*/ 649423 h 952251"/>
              <a:gd name="connsiteX23" fmla="*/ 664118 w 952251"/>
              <a:gd name="connsiteY23" fmla="*/ 626520 h 952251"/>
              <a:gd name="connsiteX24" fmla="*/ 702805 w 952251"/>
              <a:gd name="connsiteY24" fmla="*/ 583705 h 952251"/>
              <a:gd name="connsiteX25" fmla="*/ 741537 w 952251"/>
              <a:gd name="connsiteY25" fmla="*/ 626792 h 952251"/>
              <a:gd name="connsiteX26" fmla="*/ 731378 w 952251"/>
              <a:gd name="connsiteY26" fmla="*/ 652190 h 952251"/>
              <a:gd name="connsiteX27" fmla="*/ 727115 w 952251"/>
              <a:gd name="connsiteY27" fmla="*/ 657496 h 952251"/>
              <a:gd name="connsiteX28" fmla="*/ 722579 w 952251"/>
              <a:gd name="connsiteY28" fmla="*/ 662621 h 952251"/>
              <a:gd name="connsiteX29" fmla="*/ 710560 w 952251"/>
              <a:gd name="connsiteY29" fmla="*/ 675774 h 952251"/>
              <a:gd name="connsiteX30" fmla="*/ 704392 w 952251"/>
              <a:gd name="connsiteY30" fmla="*/ 682895 h 952251"/>
              <a:gd name="connsiteX31" fmla="*/ 680128 w 952251"/>
              <a:gd name="connsiteY31" fmla="*/ 742308 h 952251"/>
              <a:gd name="connsiteX32" fmla="*/ 702805 w 952251"/>
              <a:gd name="connsiteY32" fmla="*/ 764985 h 952251"/>
              <a:gd name="connsiteX33" fmla="*/ 725482 w 952251"/>
              <a:gd name="connsiteY33" fmla="*/ 742308 h 952251"/>
              <a:gd name="connsiteX34" fmla="*/ 736322 w 952251"/>
              <a:gd name="connsiteY34" fmla="*/ 715549 h 952251"/>
              <a:gd name="connsiteX35" fmla="*/ 740177 w 952251"/>
              <a:gd name="connsiteY35" fmla="*/ 710833 h 952251"/>
              <a:gd name="connsiteX36" fmla="*/ 744712 w 952251"/>
              <a:gd name="connsiteY36" fmla="*/ 705572 h 952251"/>
              <a:gd name="connsiteX37" fmla="*/ 756822 w 952251"/>
              <a:gd name="connsiteY37" fmla="*/ 692419 h 952251"/>
              <a:gd name="connsiteX38" fmla="*/ 762899 w 952251"/>
              <a:gd name="connsiteY38" fmla="*/ 685389 h 952251"/>
              <a:gd name="connsiteX39" fmla="*/ 786891 w 952251"/>
              <a:gd name="connsiteY39" fmla="*/ 626746 h 952251"/>
              <a:gd name="connsiteX40" fmla="*/ 702805 w 952251"/>
              <a:gd name="connsiteY40" fmla="*/ 538306 h 952251"/>
              <a:gd name="connsiteX41" fmla="*/ 362650 w 952251"/>
              <a:gd name="connsiteY41" fmla="*/ 0 h 952251"/>
              <a:gd name="connsiteX42" fmla="*/ 589420 w 952251"/>
              <a:gd name="connsiteY42" fmla="*/ 226770 h 952251"/>
              <a:gd name="connsiteX43" fmla="*/ 362650 w 952251"/>
              <a:gd name="connsiteY43" fmla="*/ 453540 h 952251"/>
              <a:gd name="connsiteX44" fmla="*/ 135880 w 952251"/>
              <a:gd name="connsiteY44" fmla="*/ 226770 h 952251"/>
              <a:gd name="connsiteX45" fmla="*/ 362650 w 952251"/>
              <a:gd name="connsiteY45" fmla="*/ 0 h 952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952251" h="952251">
                <a:moveTo>
                  <a:pt x="454356" y="544066"/>
                </a:moveTo>
                <a:cubicBezTo>
                  <a:pt x="424005" y="591443"/>
                  <a:pt x="407918" y="646543"/>
                  <a:pt x="408004" y="702805"/>
                </a:cubicBezTo>
                <a:cubicBezTo>
                  <a:pt x="408004" y="776732"/>
                  <a:pt x="435217" y="844309"/>
                  <a:pt x="480208" y="896058"/>
                </a:cubicBezTo>
                <a:cubicBezTo>
                  <a:pt x="444106" y="903315"/>
                  <a:pt x="404920" y="906943"/>
                  <a:pt x="362650" y="906943"/>
                </a:cubicBezTo>
                <a:cubicBezTo>
                  <a:pt x="207540" y="906943"/>
                  <a:pt x="93066" y="858324"/>
                  <a:pt x="23131" y="760132"/>
                </a:cubicBezTo>
                <a:cubicBezTo>
                  <a:pt x="8088" y="739011"/>
                  <a:pt x="3" y="713726"/>
                  <a:pt x="0" y="687793"/>
                </a:cubicBezTo>
                <a:lnTo>
                  <a:pt x="0" y="646067"/>
                </a:lnTo>
                <a:cubicBezTo>
                  <a:pt x="-25" y="589733"/>
                  <a:pt x="45622" y="544048"/>
                  <a:pt x="101956" y="544021"/>
                </a:cubicBezTo>
                <a:cubicBezTo>
                  <a:pt x="101971" y="544021"/>
                  <a:pt x="101986" y="544021"/>
                  <a:pt x="102001" y="544021"/>
                </a:cubicBezTo>
                <a:lnTo>
                  <a:pt x="454401" y="544021"/>
                </a:lnTo>
                <a:close/>
                <a:moveTo>
                  <a:pt x="702805" y="453358"/>
                </a:moveTo>
                <a:cubicBezTo>
                  <a:pt x="840572" y="453358"/>
                  <a:pt x="952252" y="565038"/>
                  <a:pt x="952252" y="702805"/>
                </a:cubicBezTo>
                <a:cubicBezTo>
                  <a:pt x="952252" y="840572"/>
                  <a:pt x="840572" y="952252"/>
                  <a:pt x="702805" y="952252"/>
                </a:cubicBezTo>
                <a:cubicBezTo>
                  <a:pt x="565038" y="952252"/>
                  <a:pt x="453358" y="840572"/>
                  <a:pt x="453358" y="702805"/>
                </a:cubicBezTo>
                <a:cubicBezTo>
                  <a:pt x="453358" y="565038"/>
                  <a:pt x="565038" y="453358"/>
                  <a:pt x="702805" y="453358"/>
                </a:cubicBezTo>
                <a:close/>
                <a:moveTo>
                  <a:pt x="702805" y="804851"/>
                </a:moveTo>
                <a:cubicBezTo>
                  <a:pt x="687149" y="804851"/>
                  <a:pt x="674459" y="817541"/>
                  <a:pt x="674459" y="833198"/>
                </a:cubicBezTo>
                <a:cubicBezTo>
                  <a:pt x="674459" y="848854"/>
                  <a:pt x="687149" y="861544"/>
                  <a:pt x="702805" y="861544"/>
                </a:cubicBezTo>
                <a:cubicBezTo>
                  <a:pt x="718461" y="861544"/>
                  <a:pt x="731151" y="848854"/>
                  <a:pt x="731151" y="833198"/>
                </a:cubicBezTo>
                <a:cubicBezTo>
                  <a:pt x="731151" y="817541"/>
                  <a:pt x="718461" y="804851"/>
                  <a:pt x="702805" y="804851"/>
                </a:cubicBezTo>
                <a:close/>
                <a:moveTo>
                  <a:pt x="702805" y="538352"/>
                </a:moveTo>
                <a:cubicBezTo>
                  <a:pt x="655274" y="538352"/>
                  <a:pt x="618265" y="575406"/>
                  <a:pt x="618764" y="626973"/>
                </a:cubicBezTo>
                <a:cubicBezTo>
                  <a:pt x="618891" y="639495"/>
                  <a:pt x="629146" y="649550"/>
                  <a:pt x="641668" y="649423"/>
                </a:cubicBezTo>
                <a:cubicBezTo>
                  <a:pt x="654190" y="649296"/>
                  <a:pt x="664245" y="639042"/>
                  <a:pt x="664118" y="626520"/>
                </a:cubicBezTo>
                <a:cubicBezTo>
                  <a:pt x="663846" y="600260"/>
                  <a:pt x="680445" y="583705"/>
                  <a:pt x="702805" y="583705"/>
                </a:cubicBezTo>
                <a:cubicBezTo>
                  <a:pt x="724257" y="583705"/>
                  <a:pt x="741537" y="601484"/>
                  <a:pt x="741537" y="626792"/>
                </a:cubicBezTo>
                <a:cubicBezTo>
                  <a:pt x="741537" y="635500"/>
                  <a:pt x="738997" y="642303"/>
                  <a:pt x="731378" y="652190"/>
                </a:cubicBezTo>
                <a:lnTo>
                  <a:pt x="727115" y="657496"/>
                </a:lnTo>
                <a:lnTo>
                  <a:pt x="722579" y="662621"/>
                </a:lnTo>
                <a:lnTo>
                  <a:pt x="710560" y="675774"/>
                </a:lnTo>
                <a:lnTo>
                  <a:pt x="704392" y="682895"/>
                </a:lnTo>
                <a:cubicBezTo>
                  <a:pt x="686976" y="703621"/>
                  <a:pt x="680128" y="718860"/>
                  <a:pt x="680128" y="742308"/>
                </a:cubicBezTo>
                <a:cubicBezTo>
                  <a:pt x="680128" y="754831"/>
                  <a:pt x="690283" y="764985"/>
                  <a:pt x="702805" y="764985"/>
                </a:cubicBezTo>
                <a:cubicBezTo>
                  <a:pt x="715327" y="764985"/>
                  <a:pt x="725482" y="754831"/>
                  <a:pt x="725482" y="742308"/>
                </a:cubicBezTo>
                <a:cubicBezTo>
                  <a:pt x="725482" y="733101"/>
                  <a:pt x="728158" y="726026"/>
                  <a:pt x="736322" y="715549"/>
                </a:cubicBezTo>
                <a:lnTo>
                  <a:pt x="740177" y="710833"/>
                </a:lnTo>
                <a:lnTo>
                  <a:pt x="744712" y="705572"/>
                </a:lnTo>
                <a:lnTo>
                  <a:pt x="756822" y="692419"/>
                </a:lnTo>
                <a:lnTo>
                  <a:pt x="762899" y="685389"/>
                </a:lnTo>
                <a:cubicBezTo>
                  <a:pt x="780043" y="664980"/>
                  <a:pt x="786891" y="649877"/>
                  <a:pt x="786891" y="626746"/>
                </a:cubicBezTo>
                <a:cubicBezTo>
                  <a:pt x="786891" y="576721"/>
                  <a:pt x="749565" y="538306"/>
                  <a:pt x="702805" y="538306"/>
                </a:cubicBezTo>
                <a:close/>
                <a:moveTo>
                  <a:pt x="362650" y="0"/>
                </a:moveTo>
                <a:cubicBezTo>
                  <a:pt x="487891" y="0"/>
                  <a:pt x="589420" y="101528"/>
                  <a:pt x="589420" y="226770"/>
                </a:cubicBezTo>
                <a:cubicBezTo>
                  <a:pt x="589420" y="352011"/>
                  <a:pt x="487891" y="453540"/>
                  <a:pt x="362650" y="453540"/>
                </a:cubicBezTo>
                <a:cubicBezTo>
                  <a:pt x="237409" y="453540"/>
                  <a:pt x="135880" y="352011"/>
                  <a:pt x="135880" y="226770"/>
                </a:cubicBezTo>
                <a:cubicBezTo>
                  <a:pt x="135880" y="101528"/>
                  <a:pt x="237409" y="0"/>
                  <a:pt x="362650" y="0"/>
                </a:cubicBezTo>
                <a:close/>
              </a:path>
            </a:pathLst>
          </a:custGeom>
          <a:solidFill>
            <a:schemeClr val="bg1"/>
          </a:solidFill>
          <a:ln w="4524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BC1658F-5A1B-4657-801E-71BBF3395D5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764149" y="5642106"/>
            <a:ext cx="1386303" cy="49859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6548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User</a:t>
            </a:r>
          </a:p>
          <a:p>
            <a:pPr marL="0" marR="0" lvl="0" indent="0" algn="ctr" defTabSz="186548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Question</a:t>
            </a:r>
          </a:p>
        </p:txBody>
      </p:sp>
      <p:sp>
        <p:nvSpPr>
          <p:cNvPr id="88" name="Isosceles Triangle 87">
            <a:extLst>
              <a:ext uri="{FF2B5EF4-FFF2-40B4-BE49-F238E27FC236}">
                <a16:creationId xmlns:a16="http://schemas.microsoft.com/office/drawing/2014/main" id="{4C733597-ED26-AE85-3FFC-1DCFC4E29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16200000">
            <a:off x="2864857" y="4695563"/>
            <a:ext cx="162431" cy="889992"/>
          </a:xfrm>
          <a:prstGeom prst="triangle">
            <a:avLst>
              <a:gd name="adj" fmla="val 0"/>
            </a:avLst>
          </a:prstGeom>
          <a:solidFill>
            <a:srgbClr val="E1D3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89" name="Rounded Rectangle 5">
            <a:extLst>
              <a:ext uri="{FF2B5EF4-FFF2-40B4-BE49-F238E27FC236}">
                <a16:creationId xmlns:a16="http://schemas.microsoft.com/office/drawing/2014/main" id="{65EEB3DC-22A1-14AA-A509-EDCDF553B8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382601" y="4828588"/>
            <a:ext cx="2563091" cy="1432892"/>
          </a:xfrm>
          <a:prstGeom prst="roundRect">
            <a:avLst>
              <a:gd name="adj" fmla="val 10539"/>
            </a:avLst>
          </a:prstGeom>
          <a:solidFill>
            <a:srgbClr val="E1D3C7"/>
          </a:solidFill>
          <a:effectLst/>
        </p:spPr>
        <p:txBody>
          <a:bodyPr wrap="square" lIns="137160" tIns="0" rIns="137160" bIns="0" rtlCol="0" anchor="ctr">
            <a:noAutofit/>
          </a:bodyPr>
          <a:lstStyle/>
          <a:p>
            <a:pPr marL="0" marR="0" lvl="0" indent="0" algn="ctr" defTabSz="18654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light"/>
              </a:rPr>
              <a:t>How much more </a:t>
            </a:r>
            <a:b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light"/>
              </a:rPr>
            </a:b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light"/>
              </a:rPr>
              <a:t>does Northwind </a:t>
            </a:r>
            <a:b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light"/>
              </a:rPr>
            </a:b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light"/>
              </a:rPr>
              <a:t>Health Plus cost?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cxnSp>
        <p:nvCxnSpPr>
          <p:cNvPr id="144" name="Straight Connector 143" descr="Line connecting from one section to the next.">
            <a:extLst>
              <a:ext uri="{FF2B5EF4-FFF2-40B4-BE49-F238E27FC236}">
                <a16:creationId xmlns:a16="http://schemas.microsoft.com/office/drawing/2014/main" id="{5A1AC45D-DB19-9C9F-2B43-8B80E72EF7B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  <a:stCxn id="78" idx="3"/>
          </p:cNvCxnSpPr>
          <p:nvPr/>
        </p:nvCxnSpPr>
        <p:spPr>
          <a:xfrm>
            <a:off x="5945692" y="2153134"/>
            <a:ext cx="518782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1E54BF21-FE61-320A-90BB-B17F95DAD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45692" y="3849084"/>
            <a:ext cx="518782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38AC33D0-B42A-AA6B-2E01-72E3A587D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45692" y="5545034"/>
            <a:ext cx="518782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 descr="Solid thick line.">
            <a:extLst>
              <a:ext uri="{FF2B5EF4-FFF2-40B4-BE49-F238E27FC236}">
                <a16:creationId xmlns:a16="http://schemas.microsoft.com/office/drawing/2014/main" id="{41345759-B6A3-59F1-547E-35262C02F3D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6464474" y="2153134"/>
            <a:ext cx="0" cy="3391900"/>
          </a:xfrm>
          <a:prstGeom prst="line">
            <a:avLst/>
          </a:prstGeom>
          <a:ln w="254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 descr="Line connecting from one section to the next.">
            <a:extLst>
              <a:ext uri="{FF2B5EF4-FFF2-40B4-BE49-F238E27FC236}">
                <a16:creationId xmlns:a16="http://schemas.microsoft.com/office/drawing/2014/main" id="{68207AF1-7C9F-DBA1-9B25-3F22B7C76BA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6464474" y="4697059"/>
            <a:ext cx="518782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5">
            <a:extLst>
              <a:ext uri="{FF2B5EF4-FFF2-40B4-BE49-F238E27FC236}">
                <a16:creationId xmlns:a16="http://schemas.microsoft.com/office/drawing/2014/main" id="{829E9977-55AC-1C9C-F05F-040CD677D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983253" y="1436688"/>
            <a:ext cx="1568938" cy="4824792"/>
          </a:xfrm>
          <a:prstGeom prst="roundRect">
            <a:avLst>
              <a:gd name="adj" fmla="val 10029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8AF7C5D-6D8C-E0CA-F33D-B6E48C53B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344098" y="2809101"/>
            <a:ext cx="847259" cy="847259"/>
          </a:xfrm>
          <a:prstGeom prst="ellipse">
            <a:avLst/>
          </a:prstGeom>
          <a:gradFill flip="none" rotWithShape="1">
            <a:gsLst>
              <a:gs pos="80000">
                <a:srgbClr val="AC35AF"/>
              </a:gs>
              <a:gs pos="0">
                <a:srgbClr val="F65567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141" name="Graphic 24">
            <a:extLst>
              <a:ext uri="{FF2B5EF4-FFF2-40B4-BE49-F238E27FC236}">
                <a16:creationId xmlns:a16="http://schemas.microsoft.com/office/drawing/2014/main" id="{A9EFA4CA-31A2-2656-07CB-413F82323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65434" y="3040155"/>
            <a:ext cx="404587" cy="404815"/>
          </a:xfrm>
          <a:custGeom>
            <a:avLst/>
            <a:gdLst>
              <a:gd name="connsiteX0" fmla="*/ 770994 w 907063"/>
              <a:gd name="connsiteY0" fmla="*/ 113334 h 907573"/>
              <a:gd name="connsiteX1" fmla="*/ 657654 w 907063"/>
              <a:gd name="connsiteY1" fmla="*/ 226764 h 907573"/>
              <a:gd name="connsiteX2" fmla="*/ 634387 w 907063"/>
              <a:gd name="connsiteY2" fmla="*/ 224361 h 907573"/>
              <a:gd name="connsiteX3" fmla="*/ 576334 w 907063"/>
              <a:gd name="connsiteY3" fmla="*/ 320421 h 907573"/>
              <a:gd name="connsiteX4" fmla="*/ 634932 w 907063"/>
              <a:gd name="connsiteY4" fmla="*/ 453897 h 907573"/>
              <a:gd name="connsiteX5" fmla="*/ 634932 w 907063"/>
              <a:gd name="connsiteY5" fmla="*/ 456528 h 907573"/>
              <a:gd name="connsiteX6" fmla="*/ 693710 w 907063"/>
              <a:gd name="connsiteY6" fmla="*/ 468365 h 907573"/>
              <a:gd name="connsiteX7" fmla="*/ 847197 w 907063"/>
              <a:gd name="connsiteY7" fmla="*/ 421959 h 907573"/>
              <a:gd name="connsiteX8" fmla="*/ 893603 w 907063"/>
              <a:gd name="connsiteY8" fmla="*/ 575451 h 907573"/>
              <a:gd name="connsiteX9" fmla="*/ 740117 w 907063"/>
              <a:gd name="connsiteY9" fmla="*/ 621852 h 907573"/>
              <a:gd name="connsiteX10" fmla="*/ 681057 w 907063"/>
              <a:gd name="connsiteY10" fmla="*/ 535217 h 907573"/>
              <a:gd name="connsiteX11" fmla="*/ 621189 w 907063"/>
              <a:gd name="connsiteY11" fmla="*/ 523198 h 907573"/>
              <a:gd name="connsiteX12" fmla="*/ 542183 w 907063"/>
              <a:gd name="connsiteY12" fmla="*/ 612228 h 907573"/>
              <a:gd name="connsiteX13" fmla="*/ 564633 w 907063"/>
              <a:gd name="connsiteY13" fmla="*/ 680803 h 907573"/>
              <a:gd name="connsiteX14" fmla="*/ 566901 w 907063"/>
              <a:gd name="connsiteY14" fmla="*/ 680803 h 907573"/>
              <a:gd name="connsiteX15" fmla="*/ 680204 w 907063"/>
              <a:gd name="connsiteY15" fmla="*/ 794270 h 907573"/>
              <a:gd name="connsiteX16" fmla="*/ 566737 w 907063"/>
              <a:gd name="connsiteY16" fmla="*/ 907573 h 907573"/>
              <a:gd name="connsiteX17" fmla="*/ 453434 w 907063"/>
              <a:gd name="connsiteY17" fmla="*/ 794106 h 907573"/>
              <a:gd name="connsiteX18" fmla="*/ 500140 w 907063"/>
              <a:gd name="connsiteY18" fmla="*/ 702482 h 907573"/>
              <a:gd name="connsiteX19" fmla="*/ 477644 w 907063"/>
              <a:gd name="connsiteY19" fmla="*/ 633726 h 907573"/>
              <a:gd name="connsiteX20" fmla="*/ 307476 w 907063"/>
              <a:gd name="connsiteY20" fmla="*/ 561477 h 907573"/>
              <a:gd name="connsiteX21" fmla="*/ 226066 w 907063"/>
              <a:gd name="connsiteY21" fmla="*/ 599937 h 907573"/>
              <a:gd name="connsiteX22" fmla="*/ 126102 w 907063"/>
              <a:gd name="connsiteY22" fmla="*/ 725314 h 907573"/>
              <a:gd name="connsiteX23" fmla="*/ 725 w 907063"/>
              <a:gd name="connsiteY23" fmla="*/ 625353 h 907573"/>
              <a:gd name="connsiteX24" fmla="*/ 100688 w 907063"/>
              <a:gd name="connsiteY24" fmla="*/ 499972 h 907573"/>
              <a:gd name="connsiteX25" fmla="*/ 198490 w 907063"/>
              <a:gd name="connsiteY25" fmla="*/ 537711 h 907573"/>
              <a:gd name="connsiteX26" fmla="*/ 278041 w 907063"/>
              <a:gd name="connsiteY26" fmla="*/ 500158 h 907573"/>
              <a:gd name="connsiteX27" fmla="*/ 313599 w 907063"/>
              <a:gd name="connsiteY27" fmla="*/ 338381 h 907573"/>
              <a:gd name="connsiteX28" fmla="*/ 268653 w 907063"/>
              <a:gd name="connsiteY28" fmla="*/ 287131 h 907573"/>
              <a:gd name="connsiteX29" fmla="*/ 121392 w 907063"/>
              <a:gd name="connsiteY29" fmla="*/ 223675 h 907573"/>
              <a:gd name="connsiteX30" fmla="*/ 184848 w 907063"/>
              <a:gd name="connsiteY30" fmla="*/ 76415 h 907573"/>
              <a:gd name="connsiteX31" fmla="*/ 332109 w 907063"/>
              <a:gd name="connsiteY31" fmla="*/ 139870 h 907573"/>
              <a:gd name="connsiteX32" fmla="*/ 321445 w 907063"/>
              <a:gd name="connsiteY32" fmla="*/ 244135 h 907573"/>
              <a:gd name="connsiteX33" fmla="*/ 366028 w 907063"/>
              <a:gd name="connsiteY33" fmla="*/ 294932 h 907573"/>
              <a:gd name="connsiteX34" fmla="*/ 453516 w 907063"/>
              <a:gd name="connsiteY34" fmla="*/ 272482 h 907573"/>
              <a:gd name="connsiteX35" fmla="*/ 518553 w 907063"/>
              <a:gd name="connsiteY35" fmla="*/ 284500 h 907573"/>
              <a:gd name="connsiteX36" fmla="*/ 575019 w 907063"/>
              <a:gd name="connsiteY36" fmla="*/ 191071 h 907573"/>
              <a:gd name="connsiteX37" fmla="*/ 579922 w 907063"/>
              <a:gd name="connsiteY37" fmla="*/ 30796 h 907573"/>
              <a:gd name="connsiteX38" fmla="*/ 740198 w 907063"/>
              <a:gd name="connsiteY38" fmla="*/ 35699 h 907573"/>
              <a:gd name="connsiteX39" fmla="*/ 770994 w 907063"/>
              <a:gd name="connsiteY39" fmla="*/ 113380 h 907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907063" h="907573">
                <a:moveTo>
                  <a:pt x="770994" y="113334"/>
                </a:moveTo>
                <a:cubicBezTo>
                  <a:pt x="771016" y="175955"/>
                  <a:pt x="720274" y="226739"/>
                  <a:pt x="657654" y="226764"/>
                </a:cubicBezTo>
                <a:cubicBezTo>
                  <a:pt x="649835" y="226767"/>
                  <a:pt x="642039" y="225962"/>
                  <a:pt x="634387" y="224361"/>
                </a:cubicBezTo>
                <a:lnTo>
                  <a:pt x="576334" y="320421"/>
                </a:lnTo>
                <a:cubicBezTo>
                  <a:pt x="613715" y="354730"/>
                  <a:pt x="634977" y="403160"/>
                  <a:pt x="634932" y="453897"/>
                </a:cubicBezTo>
                <a:lnTo>
                  <a:pt x="634932" y="456528"/>
                </a:lnTo>
                <a:lnTo>
                  <a:pt x="693710" y="468365"/>
                </a:lnTo>
                <a:cubicBezTo>
                  <a:pt x="723281" y="413165"/>
                  <a:pt x="792001" y="392388"/>
                  <a:pt x="847197" y="421959"/>
                </a:cubicBezTo>
                <a:cubicBezTo>
                  <a:pt x="902398" y="451530"/>
                  <a:pt x="923174" y="520250"/>
                  <a:pt x="893603" y="575451"/>
                </a:cubicBezTo>
                <a:cubicBezTo>
                  <a:pt x="864033" y="630646"/>
                  <a:pt x="795317" y="651423"/>
                  <a:pt x="740117" y="621852"/>
                </a:cubicBezTo>
                <a:cubicBezTo>
                  <a:pt x="707457" y="604359"/>
                  <a:pt x="685406" y="572013"/>
                  <a:pt x="681057" y="535217"/>
                </a:cubicBezTo>
                <a:lnTo>
                  <a:pt x="621189" y="523198"/>
                </a:lnTo>
                <a:cubicBezTo>
                  <a:pt x="605570" y="560887"/>
                  <a:pt x="577749" y="592241"/>
                  <a:pt x="542183" y="612228"/>
                </a:cubicBezTo>
                <a:lnTo>
                  <a:pt x="564633" y="680803"/>
                </a:lnTo>
                <a:lnTo>
                  <a:pt x="566901" y="680803"/>
                </a:lnTo>
                <a:cubicBezTo>
                  <a:pt x="629521" y="680849"/>
                  <a:pt x="680249" y="731650"/>
                  <a:pt x="680204" y="794270"/>
                </a:cubicBezTo>
                <a:cubicBezTo>
                  <a:pt x="680159" y="856890"/>
                  <a:pt x="629358" y="907618"/>
                  <a:pt x="566737" y="907573"/>
                </a:cubicBezTo>
                <a:cubicBezTo>
                  <a:pt x="504117" y="907528"/>
                  <a:pt x="453389" y="856727"/>
                  <a:pt x="453434" y="794106"/>
                </a:cubicBezTo>
                <a:cubicBezTo>
                  <a:pt x="453461" y="757855"/>
                  <a:pt x="470818" y="723803"/>
                  <a:pt x="500140" y="702482"/>
                </a:cubicBezTo>
                <a:lnTo>
                  <a:pt x="477644" y="633726"/>
                </a:lnTo>
                <a:cubicBezTo>
                  <a:pt x="411976" y="642579"/>
                  <a:pt x="346715" y="614872"/>
                  <a:pt x="307476" y="561477"/>
                </a:cubicBezTo>
                <a:lnTo>
                  <a:pt x="226066" y="599937"/>
                </a:lnTo>
                <a:cubicBezTo>
                  <a:pt x="233084" y="662163"/>
                  <a:pt x="188328" y="718297"/>
                  <a:pt x="126102" y="725314"/>
                </a:cubicBezTo>
                <a:cubicBezTo>
                  <a:pt x="63876" y="732334"/>
                  <a:pt x="7743" y="687579"/>
                  <a:pt x="725" y="625353"/>
                </a:cubicBezTo>
                <a:cubicBezTo>
                  <a:pt x="-6294" y="563123"/>
                  <a:pt x="38462" y="506993"/>
                  <a:pt x="100688" y="499972"/>
                </a:cubicBezTo>
                <a:cubicBezTo>
                  <a:pt x="137496" y="495823"/>
                  <a:pt x="174011" y="509914"/>
                  <a:pt x="198490" y="537711"/>
                </a:cubicBezTo>
                <a:lnTo>
                  <a:pt x="278041" y="500158"/>
                </a:lnTo>
                <a:cubicBezTo>
                  <a:pt x="263193" y="443652"/>
                  <a:pt x="276425" y="383454"/>
                  <a:pt x="313599" y="338381"/>
                </a:cubicBezTo>
                <a:lnTo>
                  <a:pt x="268653" y="287131"/>
                </a:lnTo>
                <a:cubicBezTo>
                  <a:pt x="210465" y="310273"/>
                  <a:pt x="144535" y="281863"/>
                  <a:pt x="121392" y="223675"/>
                </a:cubicBezTo>
                <a:cubicBezTo>
                  <a:pt x="98251" y="165488"/>
                  <a:pt x="126660" y="99557"/>
                  <a:pt x="184848" y="76415"/>
                </a:cubicBezTo>
                <a:cubicBezTo>
                  <a:pt x="243036" y="53273"/>
                  <a:pt x="308966" y="81683"/>
                  <a:pt x="332109" y="139870"/>
                </a:cubicBezTo>
                <a:cubicBezTo>
                  <a:pt x="345794" y="174281"/>
                  <a:pt x="341813" y="213207"/>
                  <a:pt x="321445" y="244135"/>
                </a:cubicBezTo>
                <a:lnTo>
                  <a:pt x="366028" y="294932"/>
                </a:lnTo>
                <a:cubicBezTo>
                  <a:pt x="392819" y="280159"/>
                  <a:pt x="422925" y="272434"/>
                  <a:pt x="453516" y="272482"/>
                </a:cubicBezTo>
                <a:cubicBezTo>
                  <a:pt x="476420" y="272482"/>
                  <a:pt x="498416" y="276745"/>
                  <a:pt x="518553" y="284500"/>
                </a:cubicBezTo>
                <a:lnTo>
                  <a:pt x="575019" y="191071"/>
                </a:lnTo>
                <a:cubicBezTo>
                  <a:pt x="532114" y="145458"/>
                  <a:pt x="534309" y="73701"/>
                  <a:pt x="579922" y="30796"/>
                </a:cubicBezTo>
                <a:cubicBezTo>
                  <a:pt x="625534" y="-12109"/>
                  <a:pt x="697293" y="-9914"/>
                  <a:pt x="740198" y="35699"/>
                </a:cubicBezTo>
                <a:cubicBezTo>
                  <a:pt x="759977" y="56728"/>
                  <a:pt x="770994" y="84510"/>
                  <a:pt x="770994" y="113380"/>
                </a:cubicBezTo>
                <a:close/>
              </a:path>
            </a:pathLst>
          </a:custGeom>
          <a:solidFill>
            <a:schemeClr val="bg1"/>
          </a:solidFill>
          <a:ln w="4524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0" name="Text Placeholder 5">
            <a:extLst>
              <a:ext uri="{FF2B5EF4-FFF2-40B4-BE49-F238E27FC236}">
                <a16:creationId xmlns:a16="http://schemas.microsoft.com/office/drawing/2014/main" id="{AF5E3AD2-DDCC-47F3-CD29-07C74A7DFD8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983253" y="3876870"/>
            <a:ext cx="1568939" cy="7478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6548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LLM</a:t>
            </a:r>
          </a:p>
          <a:p>
            <a:pPr marL="0" marR="0" lvl="0" indent="0" algn="ctr" defTabSz="186548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Query Planning</a:t>
            </a:r>
          </a:p>
        </p:txBody>
      </p:sp>
      <p:cxnSp>
        <p:nvCxnSpPr>
          <p:cNvPr id="153" name="Straight Connector 152" descr="Line connecting from one section to the next.">
            <a:extLst>
              <a:ext uri="{FF2B5EF4-FFF2-40B4-BE49-F238E27FC236}">
                <a16:creationId xmlns:a16="http://schemas.microsoft.com/office/drawing/2014/main" id="{BC4078BC-903B-77A5-16D8-1A2A4DC4488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8552193" y="2883113"/>
            <a:ext cx="518782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ounded Rectangle 5">
            <a:extLst>
              <a:ext uri="{FF2B5EF4-FFF2-40B4-BE49-F238E27FC236}">
                <a16:creationId xmlns:a16="http://schemas.microsoft.com/office/drawing/2014/main" id="{A371B068-5E2F-03E3-2D00-70DDE9A3241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9070975" y="2384151"/>
            <a:ext cx="2538413" cy="997924"/>
          </a:xfrm>
          <a:prstGeom prst="roundRect">
            <a:avLst>
              <a:gd name="adj" fmla="val 15758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0" rIns="18288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Variable Display Semibold" pitchFamily="2" charset="0"/>
                <a:ea typeface="+mn-ea"/>
                <a:cs typeface="+mn-cs"/>
              </a:rPr>
              <a:t>Payroll deduction Northwind Health Plus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A387A630-DCBA-A7FD-DEFB-572902908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52193" y="4807648"/>
            <a:ext cx="518782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ounded Rectangle 5">
            <a:extLst>
              <a:ext uri="{FF2B5EF4-FFF2-40B4-BE49-F238E27FC236}">
                <a16:creationId xmlns:a16="http://schemas.microsoft.com/office/drawing/2014/main" id="{049EB8DC-B587-6E42-D77A-2F089476F8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9070975" y="4316093"/>
            <a:ext cx="2538413" cy="997924"/>
          </a:xfrm>
          <a:prstGeom prst="roundRect">
            <a:avLst>
              <a:gd name="adj" fmla="val 15758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0" rIns="18288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Variable Display Semibold" pitchFamily="2" charset="0"/>
                <a:ea typeface="+mn-ea"/>
                <a:cs typeface="+mn-cs"/>
              </a:rPr>
              <a:t>Payroll deduction Northwind Health Standard</a:t>
            </a:r>
          </a:p>
        </p:txBody>
      </p:sp>
    </p:spTree>
    <p:extLst>
      <p:ext uri="{BB962C8B-B14F-4D97-AF65-F5344CB8AC3E}">
        <p14:creationId xmlns:p14="http://schemas.microsoft.com/office/powerpoint/2010/main" val="171393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46B32F0-D7BF-5E54-BF44-0FA1D26B1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600877" y="1975555"/>
            <a:ext cx="2008540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04A1F3A-DDC9-E0AA-13E9-6DB05275B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600877" y="5548488"/>
            <a:ext cx="2008540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A1601B-4894-862A-DFAA-6DC9E2DD42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4437063" cy="509588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585216" tIns="91440" rIns="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Segoe UI" panose="020B0502040204020203" pitchFamily="34" charset="0"/>
              </a:rPr>
              <a:t>Using agentic retrieval (REST)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5A4959-CEEB-5F87-93D5-E6330F1A15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2599" y="717152"/>
            <a:ext cx="6201065" cy="6140848"/>
          </a:xfrm>
        </p:spPr>
        <p:txBody>
          <a:bodyPr/>
          <a:lstStyle/>
          <a:p>
            <a:r>
              <a:rPr lang="en-US" sz="2000" b="1" dirty="0"/>
              <a:t>POST {{</a:t>
            </a:r>
            <a:r>
              <a:rPr lang="en-US" sz="2000" b="1" dirty="0" err="1"/>
              <a:t>url</a:t>
            </a:r>
            <a:r>
              <a:rPr lang="en-US" sz="2000" b="1" dirty="0"/>
              <a:t>}}/agents/{{agent-name}}/retrieve</a:t>
            </a:r>
          </a:p>
          <a:p>
            <a:endParaRPr lang="en-US" sz="2000" dirty="0"/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"messages"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  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"user"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"content"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{ 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"type"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"What is included in my Northwind Health Plus plan that is not in standard?"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]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}, </a:t>
            </a:r>
            <a:r>
              <a:rPr lang="en-US" sz="2000" dirty="0">
                <a:solidFill>
                  <a:schemeClr val="tx1"/>
                </a:solidFill>
              </a:rPr>
              <a:t>…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],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targetIndexParams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indexName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"{{index-name}}"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filterAddOn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"category eq 'support'"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20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"rerankerThreshold"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}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1D6275-689F-0CDB-610B-5DDAE72F6A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813965" y="1336675"/>
            <a:ext cx="4033838" cy="475514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Accepts conversation history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Allows override of </a:t>
            </a:r>
            <a:r>
              <a:rPr lang="en-US" dirty="0" err="1"/>
              <a:t>reranker</a:t>
            </a:r>
            <a:r>
              <a:rPr lang="en-US" dirty="0"/>
              <a:t> threshold</a:t>
            </a:r>
          </a:p>
        </p:txBody>
      </p:sp>
    </p:spTree>
    <p:extLst>
      <p:ext uri="{BB962C8B-B14F-4D97-AF65-F5344CB8AC3E}">
        <p14:creationId xmlns:p14="http://schemas.microsoft.com/office/powerpoint/2010/main" val="695275931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819F4-E474-8F97-DECC-7B771062A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 list: Descending rank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3A39D8E2-9529-6D00-6B91-6AD3F9215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69611" y="1435521"/>
            <a:ext cx="1881886" cy="2261397"/>
          </a:xfrm>
          <a:prstGeom prst="roundRect">
            <a:avLst>
              <a:gd name="adj" fmla="val 816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0A5423-19A8-D128-ACF2-EE36A6ACE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33853" y="1754356"/>
            <a:ext cx="753403" cy="753403"/>
          </a:xfrm>
          <a:prstGeom prst="ellipse">
            <a:avLst/>
          </a:prstGeom>
          <a:gradFill flip="none" rotWithShape="1">
            <a:gsLst>
              <a:gs pos="80000">
                <a:srgbClr val="1774A7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err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19" name="Graphic 126">
            <a:extLst>
              <a:ext uri="{FF2B5EF4-FFF2-40B4-BE49-F238E27FC236}">
                <a16:creationId xmlns:a16="http://schemas.microsoft.com/office/drawing/2014/main" id="{896DEAAE-5340-0A36-6702-B3F3E37AB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6844" y="1961602"/>
            <a:ext cx="318137" cy="351592"/>
          </a:xfrm>
          <a:custGeom>
            <a:avLst/>
            <a:gdLst>
              <a:gd name="connsiteX0" fmla="*/ 100542 w 239021"/>
              <a:gd name="connsiteY0" fmla="*/ 100542 h 264156"/>
              <a:gd name="connsiteX1" fmla="*/ 201083 w 239021"/>
              <a:gd name="connsiteY1" fmla="*/ 50271 h 264156"/>
              <a:gd name="connsiteX2" fmla="*/ 100542 w 239021"/>
              <a:gd name="connsiteY2" fmla="*/ 0 h 264156"/>
              <a:gd name="connsiteX3" fmla="*/ 0 w 239021"/>
              <a:gd name="connsiteY3" fmla="*/ 50271 h 264156"/>
              <a:gd name="connsiteX4" fmla="*/ 100542 w 239021"/>
              <a:gd name="connsiteY4" fmla="*/ 100542 h 264156"/>
              <a:gd name="connsiteX5" fmla="*/ 180070 w 239021"/>
              <a:gd name="connsiteY5" fmla="*/ 102678 h 264156"/>
              <a:gd name="connsiteX6" fmla="*/ 201083 w 239021"/>
              <a:gd name="connsiteY6" fmla="*/ 88640 h 264156"/>
              <a:gd name="connsiteX7" fmla="*/ 201083 w 239021"/>
              <a:gd name="connsiteY7" fmla="*/ 128907 h 264156"/>
              <a:gd name="connsiteX8" fmla="*/ 150561 w 239021"/>
              <a:gd name="connsiteY8" fmla="*/ 113411 h 264156"/>
              <a:gd name="connsiteX9" fmla="*/ 180070 w 239021"/>
              <a:gd name="connsiteY9" fmla="*/ 102678 h 264156"/>
              <a:gd name="connsiteX10" fmla="*/ 87974 w 239021"/>
              <a:gd name="connsiteY10" fmla="*/ 182232 h 264156"/>
              <a:gd name="connsiteX11" fmla="*/ 136121 w 239021"/>
              <a:gd name="connsiteY11" fmla="*/ 248112 h 264156"/>
              <a:gd name="connsiteX12" fmla="*/ 100542 w 239021"/>
              <a:gd name="connsiteY12" fmla="*/ 251354 h 264156"/>
              <a:gd name="connsiteX13" fmla="*/ 0 w 239021"/>
              <a:gd name="connsiteY13" fmla="*/ 201083 h 264156"/>
              <a:gd name="connsiteX14" fmla="*/ 0 w 239021"/>
              <a:gd name="connsiteY14" fmla="*/ 88640 h 264156"/>
              <a:gd name="connsiteX15" fmla="*/ 21013 w 239021"/>
              <a:gd name="connsiteY15" fmla="*/ 102678 h 264156"/>
              <a:gd name="connsiteX16" fmla="*/ 100542 w 239021"/>
              <a:gd name="connsiteY16" fmla="*/ 119393 h 264156"/>
              <a:gd name="connsiteX17" fmla="*/ 135442 w 239021"/>
              <a:gd name="connsiteY17" fmla="*/ 116565 h 264156"/>
              <a:gd name="connsiteX18" fmla="*/ 87974 w 239021"/>
              <a:gd name="connsiteY18" fmla="*/ 182232 h 264156"/>
              <a:gd name="connsiteX19" fmla="*/ 157096 w 239021"/>
              <a:gd name="connsiteY19" fmla="*/ 238786 h 264156"/>
              <a:gd name="connsiteX20" fmla="*/ 189860 w 239021"/>
              <a:gd name="connsiteY20" fmla="*/ 228330 h 264156"/>
              <a:gd name="connsiteX21" fmla="*/ 222700 w 239021"/>
              <a:gd name="connsiteY21" fmla="*/ 261157 h 264156"/>
              <a:gd name="connsiteX22" fmla="*/ 236022 w 239021"/>
              <a:gd name="connsiteY22" fmla="*/ 261627 h 264156"/>
              <a:gd name="connsiteX23" fmla="*/ 236492 w 239021"/>
              <a:gd name="connsiteY23" fmla="*/ 248305 h 264156"/>
              <a:gd name="connsiteX24" fmla="*/ 236022 w 239021"/>
              <a:gd name="connsiteY24" fmla="*/ 247835 h 264156"/>
              <a:gd name="connsiteX25" fmla="*/ 203195 w 239021"/>
              <a:gd name="connsiteY25" fmla="*/ 214996 h 264156"/>
              <a:gd name="connsiteX26" fmla="*/ 189862 w 239021"/>
              <a:gd name="connsiteY26" fmla="*/ 136135 h 264156"/>
              <a:gd name="connsiteX27" fmla="*/ 111001 w 239021"/>
              <a:gd name="connsiteY27" fmla="*/ 149468 h 264156"/>
              <a:gd name="connsiteX28" fmla="*/ 124334 w 239021"/>
              <a:gd name="connsiteY28" fmla="*/ 228329 h 264156"/>
              <a:gd name="connsiteX29" fmla="*/ 157096 w 239021"/>
              <a:gd name="connsiteY29" fmla="*/ 238786 h 264156"/>
              <a:gd name="connsiteX30" fmla="*/ 157096 w 239021"/>
              <a:gd name="connsiteY30" fmla="*/ 219935 h 264156"/>
              <a:gd name="connsiteX31" fmla="*/ 119393 w 239021"/>
              <a:gd name="connsiteY31" fmla="*/ 182232 h 264156"/>
              <a:gd name="connsiteX32" fmla="*/ 157096 w 239021"/>
              <a:gd name="connsiteY32" fmla="*/ 144529 h 264156"/>
              <a:gd name="connsiteX33" fmla="*/ 194799 w 239021"/>
              <a:gd name="connsiteY33" fmla="*/ 182232 h 264156"/>
              <a:gd name="connsiteX34" fmla="*/ 157096 w 239021"/>
              <a:gd name="connsiteY34" fmla="*/ 219935 h 264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39021" h="264156">
                <a:moveTo>
                  <a:pt x="100542" y="100542"/>
                </a:moveTo>
                <a:cubicBezTo>
                  <a:pt x="156066" y="100542"/>
                  <a:pt x="201083" y="78045"/>
                  <a:pt x="201083" y="50271"/>
                </a:cubicBezTo>
                <a:cubicBezTo>
                  <a:pt x="201083" y="22496"/>
                  <a:pt x="156066" y="0"/>
                  <a:pt x="100542" y="0"/>
                </a:cubicBezTo>
                <a:cubicBezTo>
                  <a:pt x="45018" y="0"/>
                  <a:pt x="0" y="22496"/>
                  <a:pt x="0" y="50271"/>
                </a:cubicBezTo>
                <a:cubicBezTo>
                  <a:pt x="0" y="78045"/>
                  <a:pt x="45018" y="100542"/>
                  <a:pt x="100542" y="100542"/>
                </a:cubicBezTo>
                <a:close/>
                <a:moveTo>
                  <a:pt x="180070" y="102678"/>
                </a:moveTo>
                <a:cubicBezTo>
                  <a:pt x="187665" y="98949"/>
                  <a:pt x="194730" y="94228"/>
                  <a:pt x="201083" y="88640"/>
                </a:cubicBezTo>
                <a:lnTo>
                  <a:pt x="201083" y="128907"/>
                </a:lnTo>
                <a:cubicBezTo>
                  <a:pt x="186975" y="117225"/>
                  <a:pt x="168793" y="111649"/>
                  <a:pt x="150561" y="113411"/>
                </a:cubicBezTo>
                <a:cubicBezTo>
                  <a:pt x="160752" y="110899"/>
                  <a:pt x="170646" y="107301"/>
                  <a:pt x="180070" y="102678"/>
                </a:cubicBezTo>
                <a:close/>
                <a:moveTo>
                  <a:pt x="87974" y="182232"/>
                </a:moveTo>
                <a:cubicBezTo>
                  <a:pt x="87974" y="212330"/>
                  <a:pt x="107444" y="238971"/>
                  <a:pt x="136121" y="248112"/>
                </a:cubicBezTo>
                <a:cubicBezTo>
                  <a:pt x="125061" y="250211"/>
                  <a:pt x="113072" y="251354"/>
                  <a:pt x="100542" y="251354"/>
                </a:cubicBezTo>
                <a:cubicBezTo>
                  <a:pt x="45018" y="251354"/>
                  <a:pt x="0" y="228858"/>
                  <a:pt x="0" y="201083"/>
                </a:cubicBezTo>
                <a:lnTo>
                  <a:pt x="0" y="88640"/>
                </a:lnTo>
                <a:cubicBezTo>
                  <a:pt x="6353" y="94228"/>
                  <a:pt x="13419" y="98949"/>
                  <a:pt x="21013" y="102678"/>
                </a:cubicBezTo>
                <a:cubicBezTo>
                  <a:pt x="42353" y="113336"/>
                  <a:pt x="70480" y="119393"/>
                  <a:pt x="100542" y="119393"/>
                </a:cubicBezTo>
                <a:cubicBezTo>
                  <a:pt x="112582" y="119393"/>
                  <a:pt x="124320" y="118426"/>
                  <a:pt x="135442" y="116565"/>
                </a:cubicBezTo>
                <a:cubicBezTo>
                  <a:pt x="107110" y="125920"/>
                  <a:pt x="87971" y="152394"/>
                  <a:pt x="87974" y="182232"/>
                </a:cubicBezTo>
                <a:close/>
                <a:moveTo>
                  <a:pt x="157096" y="238786"/>
                </a:moveTo>
                <a:cubicBezTo>
                  <a:pt x="168841" y="238804"/>
                  <a:pt x="180296" y="235147"/>
                  <a:pt x="189860" y="228330"/>
                </a:cubicBezTo>
                <a:lnTo>
                  <a:pt x="222700" y="261157"/>
                </a:lnTo>
                <a:cubicBezTo>
                  <a:pt x="226249" y="264965"/>
                  <a:pt x="232214" y="265176"/>
                  <a:pt x="236022" y="261627"/>
                </a:cubicBezTo>
                <a:cubicBezTo>
                  <a:pt x="239830" y="258078"/>
                  <a:pt x="240041" y="252115"/>
                  <a:pt x="236492" y="248305"/>
                </a:cubicBezTo>
                <a:cubicBezTo>
                  <a:pt x="236341" y="248143"/>
                  <a:pt x="236184" y="247986"/>
                  <a:pt x="236022" y="247835"/>
                </a:cubicBezTo>
                <a:lnTo>
                  <a:pt x="203195" y="214996"/>
                </a:lnTo>
                <a:cubicBezTo>
                  <a:pt x="221290" y="189537"/>
                  <a:pt x="215320" y="154230"/>
                  <a:pt x="189862" y="136135"/>
                </a:cubicBezTo>
                <a:cubicBezTo>
                  <a:pt x="164403" y="118040"/>
                  <a:pt x="129096" y="124009"/>
                  <a:pt x="111001" y="149468"/>
                </a:cubicBezTo>
                <a:cubicBezTo>
                  <a:pt x="92906" y="174926"/>
                  <a:pt x="98875" y="210234"/>
                  <a:pt x="124334" y="228329"/>
                </a:cubicBezTo>
                <a:cubicBezTo>
                  <a:pt x="133904" y="235132"/>
                  <a:pt x="145354" y="238786"/>
                  <a:pt x="157096" y="238786"/>
                </a:cubicBezTo>
                <a:close/>
                <a:moveTo>
                  <a:pt x="157096" y="219935"/>
                </a:moveTo>
                <a:cubicBezTo>
                  <a:pt x="136273" y="219935"/>
                  <a:pt x="119393" y="203055"/>
                  <a:pt x="119393" y="182232"/>
                </a:cubicBezTo>
                <a:cubicBezTo>
                  <a:pt x="119393" y="161408"/>
                  <a:pt x="136273" y="144529"/>
                  <a:pt x="157096" y="144529"/>
                </a:cubicBezTo>
                <a:cubicBezTo>
                  <a:pt x="177920" y="144529"/>
                  <a:pt x="194799" y="161408"/>
                  <a:pt x="194799" y="182232"/>
                </a:cubicBezTo>
                <a:cubicBezTo>
                  <a:pt x="194799" y="203055"/>
                  <a:pt x="177920" y="219935"/>
                  <a:pt x="157096" y="219935"/>
                </a:cubicBezTo>
                <a:close/>
              </a:path>
            </a:pathLst>
          </a:custGeom>
          <a:solidFill>
            <a:schemeClr val="bg1"/>
          </a:solidFill>
          <a:ln w="123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791C2622-E3A0-D867-7B03-A08F9F8998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14737" y="2680456"/>
            <a:ext cx="1391634" cy="6976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65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Search</a:t>
            </a:r>
          </a:p>
          <a:p>
            <a:pPr marL="0" marR="0" lvl="0" indent="0" algn="ctr" defTabSz="365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lt"/>
                <a:cs typeface="Segoe UI"/>
              </a:rPr>
              <a:t>Northwind Health Plus plan benefits</a:t>
            </a:r>
          </a:p>
        </p:txBody>
      </p:sp>
      <p:sp>
        <p:nvSpPr>
          <p:cNvPr id="79" name="Rounded Rectangle 5">
            <a:extLst>
              <a:ext uri="{FF2B5EF4-FFF2-40B4-BE49-F238E27FC236}">
                <a16:creationId xmlns:a16="http://schemas.microsoft.com/office/drawing/2014/main" id="{7D1E67FF-0B36-C05F-0F11-5A4535748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737555" y="1435521"/>
            <a:ext cx="5428710" cy="2261397"/>
          </a:xfrm>
          <a:prstGeom prst="roundRect">
            <a:avLst>
              <a:gd name="adj" fmla="val 6552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77" name="Straight Connector 76" descr="Line connecting from one section to the next.">
            <a:extLst>
              <a:ext uri="{FF2B5EF4-FFF2-40B4-BE49-F238E27FC236}">
                <a16:creationId xmlns:a16="http://schemas.microsoft.com/office/drawing/2014/main" id="{50BC4C63-238A-D7D7-FD03-2AE51FCFFA6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  <a:stCxn id="16" idx="3"/>
            <a:endCxn id="79" idx="1"/>
          </p:cNvCxnSpPr>
          <p:nvPr/>
        </p:nvCxnSpPr>
        <p:spPr>
          <a:xfrm>
            <a:off x="2151497" y="2566220"/>
            <a:ext cx="586058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617A54E1-698E-88AE-EA2D-F2AE27E7F5B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798143"/>
              </p:ext>
            </p:extLst>
          </p:nvPr>
        </p:nvGraphicFramePr>
        <p:xfrm>
          <a:off x="2937308" y="1651819"/>
          <a:ext cx="502920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302">
                  <a:extLst>
                    <a:ext uri="{9D8B030D-6E8A-4147-A177-3AD203B41FA5}">
                      <a16:colId xmlns:a16="http://schemas.microsoft.com/office/drawing/2014/main" val="1482892922"/>
                    </a:ext>
                  </a:extLst>
                </a:gridCol>
                <a:gridCol w="1420900">
                  <a:extLst>
                    <a:ext uri="{9D8B030D-6E8A-4147-A177-3AD203B41FA5}">
                      <a16:colId xmlns:a16="http://schemas.microsoft.com/office/drawing/2014/main" val="368368247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u="none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Document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0" u="none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Ranker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89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Northwind Health Plus Summary.pdf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75028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Northwind Health Comparison.pdf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80049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Understanding Employer Health Plans.pdf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482149"/>
                  </a:ext>
                </a:extLst>
              </a:tr>
            </a:tbl>
          </a:graphicData>
        </a:graphic>
      </p:graphicFrame>
      <p:sp>
        <p:nvSpPr>
          <p:cNvPr id="74" name="Rounded Rectangle 5">
            <a:extLst>
              <a:ext uri="{FF2B5EF4-FFF2-40B4-BE49-F238E27FC236}">
                <a16:creationId xmlns:a16="http://schemas.microsoft.com/office/drawing/2014/main" id="{7D4F6309-1F26-2463-7DF3-5CA98476E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69611" y="4007641"/>
            <a:ext cx="1881886" cy="2261397"/>
          </a:xfrm>
          <a:prstGeom prst="roundRect">
            <a:avLst>
              <a:gd name="adj" fmla="val 816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F0628ED-672A-783B-BB30-536170460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33853" y="4326476"/>
            <a:ext cx="753403" cy="753403"/>
          </a:xfrm>
          <a:prstGeom prst="ellipse">
            <a:avLst/>
          </a:prstGeom>
          <a:gradFill flip="none" rotWithShape="1">
            <a:gsLst>
              <a:gs pos="80000">
                <a:srgbClr val="1774A7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err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64" name="Graphic 126">
            <a:extLst>
              <a:ext uri="{FF2B5EF4-FFF2-40B4-BE49-F238E27FC236}">
                <a16:creationId xmlns:a16="http://schemas.microsoft.com/office/drawing/2014/main" id="{09953EAF-1A63-D9F8-9F68-28791478E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6844" y="4533722"/>
            <a:ext cx="318137" cy="351592"/>
          </a:xfrm>
          <a:custGeom>
            <a:avLst/>
            <a:gdLst>
              <a:gd name="connsiteX0" fmla="*/ 100542 w 239021"/>
              <a:gd name="connsiteY0" fmla="*/ 100542 h 264156"/>
              <a:gd name="connsiteX1" fmla="*/ 201083 w 239021"/>
              <a:gd name="connsiteY1" fmla="*/ 50271 h 264156"/>
              <a:gd name="connsiteX2" fmla="*/ 100542 w 239021"/>
              <a:gd name="connsiteY2" fmla="*/ 0 h 264156"/>
              <a:gd name="connsiteX3" fmla="*/ 0 w 239021"/>
              <a:gd name="connsiteY3" fmla="*/ 50271 h 264156"/>
              <a:gd name="connsiteX4" fmla="*/ 100542 w 239021"/>
              <a:gd name="connsiteY4" fmla="*/ 100542 h 264156"/>
              <a:gd name="connsiteX5" fmla="*/ 180070 w 239021"/>
              <a:gd name="connsiteY5" fmla="*/ 102678 h 264156"/>
              <a:gd name="connsiteX6" fmla="*/ 201083 w 239021"/>
              <a:gd name="connsiteY6" fmla="*/ 88640 h 264156"/>
              <a:gd name="connsiteX7" fmla="*/ 201083 w 239021"/>
              <a:gd name="connsiteY7" fmla="*/ 128907 h 264156"/>
              <a:gd name="connsiteX8" fmla="*/ 150561 w 239021"/>
              <a:gd name="connsiteY8" fmla="*/ 113411 h 264156"/>
              <a:gd name="connsiteX9" fmla="*/ 180070 w 239021"/>
              <a:gd name="connsiteY9" fmla="*/ 102678 h 264156"/>
              <a:gd name="connsiteX10" fmla="*/ 87974 w 239021"/>
              <a:gd name="connsiteY10" fmla="*/ 182232 h 264156"/>
              <a:gd name="connsiteX11" fmla="*/ 136121 w 239021"/>
              <a:gd name="connsiteY11" fmla="*/ 248112 h 264156"/>
              <a:gd name="connsiteX12" fmla="*/ 100542 w 239021"/>
              <a:gd name="connsiteY12" fmla="*/ 251354 h 264156"/>
              <a:gd name="connsiteX13" fmla="*/ 0 w 239021"/>
              <a:gd name="connsiteY13" fmla="*/ 201083 h 264156"/>
              <a:gd name="connsiteX14" fmla="*/ 0 w 239021"/>
              <a:gd name="connsiteY14" fmla="*/ 88640 h 264156"/>
              <a:gd name="connsiteX15" fmla="*/ 21013 w 239021"/>
              <a:gd name="connsiteY15" fmla="*/ 102678 h 264156"/>
              <a:gd name="connsiteX16" fmla="*/ 100542 w 239021"/>
              <a:gd name="connsiteY16" fmla="*/ 119393 h 264156"/>
              <a:gd name="connsiteX17" fmla="*/ 135442 w 239021"/>
              <a:gd name="connsiteY17" fmla="*/ 116565 h 264156"/>
              <a:gd name="connsiteX18" fmla="*/ 87974 w 239021"/>
              <a:gd name="connsiteY18" fmla="*/ 182232 h 264156"/>
              <a:gd name="connsiteX19" fmla="*/ 157096 w 239021"/>
              <a:gd name="connsiteY19" fmla="*/ 238786 h 264156"/>
              <a:gd name="connsiteX20" fmla="*/ 189860 w 239021"/>
              <a:gd name="connsiteY20" fmla="*/ 228330 h 264156"/>
              <a:gd name="connsiteX21" fmla="*/ 222700 w 239021"/>
              <a:gd name="connsiteY21" fmla="*/ 261157 h 264156"/>
              <a:gd name="connsiteX22" fmla="*/ 236022 w 239021"/>
              <a:gd name="connsiteY22" fmla="*/ 261627 h 264156"/>
              <a:gd name="connsiteX23" fmla="*/ 236492 w 239021"/>
              <a:gd name="connsiteY23" fmla="*/ 248305 h 264156"/>
              <a:gd name="connsiteX24" fmla="*/ 236022 w 239021"/>
              <a:gd name="connsiteY24" fmla="*/ 247835 h 264156"/>
              <a:gd name="connsiteX25" fmla="*/ 203195 w 239021"/>
              <a:gd name="connsiteY25" fmla="*/ 214996 h 264156"/>
              <a:gd name="connsiteX26" fmla="*/ 189862 w 239021"/>
              <a:gd name="connsiteY26" fmla="*/ 136135 h 264156"/>
              <a:gd name="connsiteX27" fmla="*/ 111001 w 239021"/>
              <a:gd name="connsiteY27" fmla="*/ 149468 h 264156"/>
              <a:gd name="connsiteX28" fmla="*/ 124334 w 239021"/>
              <a:gd name="connsiteY28" fmla="*/ 228329 h 264156"/>
              <a:gd name="connsiteX29" fmla="*/ 157096 w 239021"/>
              <a:gd name="connsiteY29" fmla="*/ 238786 h 264156"/>
              <a:gd name="connsiteX30" fmla="*/ 157096 w 239021"/>
              <a:gd name="connsiteY30" fmla="*/ 219935 h 264156"/>
              <a:gd name="connsiteX31" fmla="*/ 119393 w 239021"/>
              <a:gd name="connsiteY31" fmla="*/ 182232 h 264156"/>
              <a:gd name="connsiteX32" fmla="*/ 157096 w 239021"/>
              <a:gd name="connsiteY32" fmla="*/ 144529 h 264156"/>
              <a:gd name="connsiteX33" fmla="*/ 194799 w 239021"/>
              <a:gd name="connsiteY33" fmla="*/ 182232 h 264156"/>
              <a:gd name="connsiteX34" fmla="*/ 157096 w 239021"/>
              <a:gd name="connsiteY34" fmla="*/ 219935 h 264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39021" h="264156">
                <a:moveTo>
                  <a:pt x="100542" y="100542"/>
                </a:moveTo>
                <a:cubicBezTo>
                  <a:pt x="156066" y="100542"/>
                  <a:pt x="201083" y="78045"/>
                  <a:pt x="201083" y="50271"/>
                </a:cubicBezTo>
                <a:cubicBezTo>
                  <a:pt x="201083" y="22496"/>
                  <a:pt x="156066" y="0"/>
                  <a:pt x="100542" y="0"/>
                </a:cubicBezTo>
                <a:cubicBezTo>
                  <a:pt x="45018" y="0"/>
                  <a:pt x="0" y="22496"/>
                  <a:pt x="0" y="50271"/>
                </a:cubicBezTo>
                <a:cubicBezTo>
                  <a:pt x="0" y="78045"/>
                  <a:pt x="45018" y="100542"/>
                  <a:pt x="100542" y="100542"/>
                </a:cubicBezTo>
                <a:close/>
                <a:moveTo>
                  <a:pt x="180070" y="102678"/>
                </a:moveTo>
                <a:cubicBezTo>
                  <a:pt x="187665" y="98949"/>
                  <a:pt x="194730" y="94228"/>
                  <a:pt x="201083" y="88640"/>
                </a:cubicBezTo>
                <a:lnTo>
                  <a:pt x="201083" y="128907"/>
                </a:lnTo>
                <a:cubicBezTo>
                  <a:pt x="186975" y="117225"/>
                  <a:pt x="168793" y="111649"/>
                  <a:pt x="150561" y="113411"/>
                </a:cubicBezTo>
                <a:cubicBezTo>
                  <a:pt x="160752" y="110899"/>
                  <a:pt x="170646" y="107301"/>
                  <a:pt x="180070" y="102678"/>
                </a:cubicBezTo>
                <a:close/>
                <a:moveTo>
                  <a:pt x="87974" y="182232"/>
                </a:moveTo>
                <a:cubicBezTo>
                  <a:pt x="87974" y="212330"/>
                  <a:pt x="107444" y="238971"/>
                  <a:pt x="136121" y="248112"/>
                </a:cubicBezTo>
                <a:cubicBezTo>
                  <a:pt x="125061" y="250211"/>
                  <a:pt x="113072" y="251354"/>
                  <a:pt x="100542" y="251354"/>
                </a:cubicBezTo>
                <a:cubicBezTo>
                  <a:pt x="45018" y="251354"/>
                  <a:pt x="0" y="228858"/>
                  <a:pt x="0" y="201083"/>
                </a:cubicBezTo>
                <a:lnTo>
                  <a:pt x="0" y="88640"/>
                </a:lnTo>
                <a:cubicBezTo>
                  <a:pt x="6353" y="94228"/>
                  <a:pt x="13419" y="98949"/>
                  <a:pt x="21013" y="102678"/>
                </a:cubicBezTo>
                <a:cubicBezTo>
                  <a:pt x="42353" y="113336"/>
                  <a:pt x="70480" y="119393"/>
                  <a:pt x="100542" y="119393"/>
                </a:cubicBezTo>
                <a:cubicBezTo>
                  <a:pt x="112582" y="119393"/>
                  <a:pt x="124320" y="118426"/>
                  <a:pt x="135442" y="116565"/>
                </a:cubicBezTo>
                <a:cubicBezTo>
                  <a:pt x="107110" y="125920"/>
                  <a:pt x="87971" y="152394"/>
                  <a:pt x="87974" y="182232"/>
                </a:cubicBezTo>
                <a:close/>
                <a:moveTo>
                  <a:pt x="157096" y="238786"/>
                </a:moveTo>
                <a:cubicBezTo>
                  <a:pt x="168841" y="238804"/>
                  <a:pt x="180296" y="235147"/>
                  <a:pt x="189860" y="228330"/>
                </a:cubicBezTo>
                <a:lnTo>
                  <a:pt x="222700" y="261157"/>
                </a:lnTo>
                <a:cubicBezTo>
                  <a:pt x="226249" y="264965"/>
                  <a:pt x="232214" y="265176"/>
                  <a:pt x="236022" y="261627"/>
                </a:cubicBezTo>
                <a:cubicBezTo>
                  <a:pt x="239830" y="258078"/>
                  <a:pt x="240041" y="252115"/>
                  <a:pt x="236492" y="248305"/>
                </a:cubicBezTo>
                <a:cubicBezTo>
                  <a:pt x="236341" y="248143"/>
                  <a:pt x="236184" y="247986"/>
                  <a:pt x="236022" y="247835"/>
                </a:cubicBezTo>
                <a:lnTo>
                  <a:pt x="203195" y="214996"/>
                </a:lnTo>
                <a:cubicBezTo>
                  <a:pt x="221290" y="189537"/>
                  <a:pt x="215320" y="154230"/>
                  <a:pt x="189862" y="136135"/>
                </a:cubicBezTo>
                <a:cubicBezTo>
                  <a:pt x="164403" y="118040"/>
                  <a:pt x="129096" y="124009"/>
                  <a:pt x="111001" y="149468"/>
                </a:cubicBezTo>
                <a:cubicBezTo>
                  <a:pt x="92906" y="174926"/>
                  <a:pt x="98875" y="210234"/>
                  <a:pt x="124334" y="228329"/>
                </a:cubicBezTo>
                <a:cubicBezTo>
                  <a:pt x="133904" y="235132"/>
                  <a:pt x="145354" y="238786"/>
                  <a:pt x="157096" y="238786"/>
                </a:cubicBezTo>
                <a:close/>
                <a:moveTo>
                  <a:pt x="157096" y="219935"/>
                </a:moveTo>
                <a:cubicBezTo>
                  <a:pt x="136273" y="219935"/>
                  <a:pt x="119393" y="203055"/>
                  <a:pt x="119393" y="182232"/>
                </a:cubicBezTo>
                <a:cubicBezTo>
                  <a:pt x="119393" y="161408"/>
                  <a:pt x="136273" y="144529"/>
                  <a:pt x="157096" y="144529"/>
                </a:cubicBezTo>
                <a:cubicBezTo>
                  <a:pt x="177920" y="144529"/>
                  <a:pt x="194799" y="161408"/>
                  <a:pt x="194799" y="182232"/>
                </a:cubicBezTo>
                <a:cubicBezTo>
                  <a:pt x="194799" y="203055"/>
                  <a:pt x="177920" y="219935"/>
                  <a:pt x="157096" y="219935"/>
                </a:cubicBezTo>
                <a:close/>
              </a:path>
            </a:pathLst>
          </a:custGeom>
          <a:solidFill>
            <a:schemeClr val="bg1"/>
          </a:solidFill>
          <a:ln w="123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1" name="TextBox 7">
            <a:extLst>
              <a:ext uri="{FF2B5EF4-FFF2-40B4-BE49-F238E27FC236}">
                <a16:creationId xmlns:a16="http://schemas.microsoft.com/office/drawing/2014/main" id="{BCF379D8-0116-CA20-280B-C919D72AFF8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14737" y="5252576"/>
            <a:ext cx="1391634" cy="6976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65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Search</a:t>
            </a:r>
          </a:p>
          <a:p>
            <a:pPr marL="0" marR="0" lvl="0" indent="0" algn="ctr" defTabSz="365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lt"/>
                <a:cs typeface="Segoe UI"/>
              </a:rPr>
              <a:t>Standard Northwind Health plan benefits</a:t>
            </a:r>
          </a:p>
        </p:txBody>
      </p:sp>
      <p:sp>
        <p:nvSpPr>
          <p:cNvPr id="83" name="Rounded Rectangle 5">
            <a:extLst>
              <a:ext uri="{FF2B5EF4-FFF2-40B4-BE49-F238E27FC236}">
                <a16:creationId xmlns:a16="http://schemas.microsoft.com/office/drawing/2014/main" id="{30DD9FD1-2A97-9B8C-9DC4-EC4DEBDB9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737555" y="4007641"/>
            <a:ext cx="5428710" cy="2261397"/>
          </a:xfrm>
          <a:prstGeom prst="roundRect">
            <a:avLst>
              <a:gd name="adj" fmla="val 6552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102" name="Straight Connector 101" descr="Line connecting from one section to the next.">
            <a:extLst>
              <a:ext uri="{FF2B5EF4-FFF2-40B4-BE49-F238E27FC236}">
                <a16:creationId xmlns:a16="http://schemas.microsoft.com/office/drawing/2014/main" id="{DB480E60-D9F5-B934-F332-C30F3DE1D3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2151497" y="5144122"/>
            <a:ext cx="586058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6A236310-D96A-5BE5-5263-5DDBD8AAA4C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686484"/>
              </p:ext>
            </p:extLst>
          </p:nvPr>
        </p:nvGraphicFramePr>
        <p:xfrm>
          <a:off x="2937310" y="4223939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8182">
                  <a:extLst>
                    <a:ext uri="{9D8B030D-6E8A-4147-A177-3AD203B41FA5}">
                      <a16:colId xmlns:a16="http://schemas.microsoft.com/office/drawing/2014/main" val="1482892922"/>
                    </a:ext>
                  </a:extLst>
                </a:gridCol>
                <a:gridCol w="1441018">
                  <a:extLst>
                    <a:ext uri="{9D8B030D-6E8A-4147-A177-3AD203B41FA5}">
                      <a16:colId xmlns:a16="http://schemas.microsoft.com/office/drawing/2014/main" val="129879729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algn="l" defTabSz="932742" rtl="0" eaLnBrk="1" latinLnBrk="0" hangingPunct="1"/>
                      <a:r>
                        <a:rPr lang="en-US" sz="1500" b="0" u="none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Document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2742" rtl="0" eaLnBrk="1" latinLnBrk="0" hangingPunct="1"/>
                      <a:r>
                        <a:rPr lang="en-US" sz="1500" b="0" u="none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Ranker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89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algn="l" defTabSz="932742" rtl="0" eaLnBrk="1" latinLnBrk="0" hangingPunct="1"/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Northwind Health Standard Summary.pdf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3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2742" rtl="0" eaLnBrk="1" latinLnBrk="0" hangingPunct="1"/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3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80049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algn="l" defTabSz="932742" rtl="0" eaLnBrk="1" latinLnBrk="0" hangingPunct="1">
                        <a:buNone/>
                      </a:pPr>
                      <a:r>
                        <a:rPr lang="en-US" sz="1400" b="0" i="0" u="non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Northwind Health Comparison.pdf</a:t>
                      </a:r>
                      <a:endParaRPr lang="en-US" sz="1400" b="0" i="0" u="non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r" defTabSz="932742" rtl="0" eaLnBrk="1" latinLnBrk="0" hangingPunct="1">
                        <a:buNone/>
                      </a:pPr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6233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algn="l" defTabSz="932742" rtl="0" eaLnBrk="1" latinLnBrk="0" hangingPunct="1">
                        <a:buNone/>
                      </a:pPr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FAQ: Northwind Enrollment &amp; Eligibility.pdf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r" defTabSz="932742" rtl="0" eaLnBrk="1" latinLnBrk="0" hangingPunct="1">
                        <a:buNone/>
                      </a:pPr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482149"/>
                  </a:ext>
                </a:extLst>
              </a:tr>
            </a:tbl>
          </a:graphicData>
        </a:graphic>
      </p:graphicFrame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F7C374E6-0286-CEE1-D473-7D34DBE25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66265" y="2566220"/>
            <a:ext cx="293024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non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5C0FBEB-3B70-5128-D7C2-AEC4832BB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66265" y="5144122"/>
            <a:ext cx="293024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non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E79358F-6F25-2DF4-30EA-E784C5B06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8459289" y="2566220"/>
            <a:ext cx="0" cy="2577902"/>
          </a:xfrm>
          <a:prstGeom prst="line">
            <a:avLst/>
          </a:prstGeom>
          <a:ln w="12700" cap="rnd">
            <a:solidFill>
              <a:srgbClr val="000000"/>
            </a:solidFill>
            <a:headEnd type="none" w="med" len="med"/>
            <a:tailEnd type="non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 descr="Arrow connecting from one section to the next.">
            <a:extLst>
              <a:ext uri="{FF2B5EF4-FFF2-40B4-BE49-F238E27FC236}">
                <a16:creationId xmlns:a16="http://schemas.microsoft.com/office/drawing/2014/main" id="{B6FE7885-6BE4-E2D5-5088-4BC6B89823A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8459289" y="3855171"/>
            <a:ext cx="504912" cy="0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5">
            <a:extLst>
              <a:ext uri="{FF2B5EF4-FFF2-40B4-BE49-F238E27FC236}">
                <a16:creationId xmlns:a16="http://schemas.microsoft.com/office/drawing/2014/main" id="{67D04CD1-7A1A-6F80-1BC9-B9C515EE9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964201" y="1990252"/>
            <a:ext cx="3165453" cy="3729837"/>
          </a:xfrm>
          <a:prstGeom prst="roundRect">
            <a:avLst>
              <a:gd name="adj" fmla="val 5862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98" name="Table 97">
            <a:extLst>
              <a:ext uri="{FF2B5EF4-FFF2-40B4-BE49-F238E27FC236}">
                <a16:creationId xmlns:a16="http://schemas.microsoft.com/office/drawing/2014/main" id="{B6B78B98-0637-6683-8143-1BC08E567A9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186896"/>
              </p:ext>
            </p:extLst>
          </p:nvPr>
        </p:nvGraphicFramePr>
        <p:xfrm>
          <a:off x="9112326" y="2266868"/>
          <a:ext cx="2948056" cy="3170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383">
                  <a:extLst>
                    <a:ext uri="{9D8B030D-6E8A-4147-A177-3AD203B41FA5}">
                      <a16:colId xmlns:a16="http://schemas.microsoft.com/office/drawing/2014/main" val="1482892922"/>
                    </a:ext>
                  </a:extLst>
                </a:gridCol>
                <a:gridCol w="1364673">
                  <a:extLst>
                    <a:ext uri="{9D8B030D-6E8A-4147-A177-3AD203B41FA5}">
                      <a16:colId xmlns:a16="http://schemas.microsoft.com/office/drawing/2014/main" val="1587990632"/>
                    </a:ext>
                  </a:extLst>
                </a:gridCol>
              </a:tblGrid>
              <a:tr h="486038">
                <a:tc>
                  <a:txBody>
                    <a:bodyPr/>
                    <a:lstStyle/>
                    <a:p>
                      <a:pPr algn="l"/>
                      <a:r>
                        <a:rPr lang="en-US" sz="1500" b="0" u="none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Document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0" u="none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Ranker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890008"/>
                  </a:ext>
                </a:extLst>
              </a:tr>
              <a:tr h="894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Northwind </a:t>
                      </a:r>
                      <a:b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 Standard Summary.pdf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674504"/>
                  </a:ext>
                </a:extLst>
              </a:tr>
              <a:tr h="894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Northwind Health Comparison.pdf</a:t>
                      </a:r>
                      <a:endParaRPr lang="en-US" sz="1400" b="0" i="0" u="non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694257"/>
                  </a:ext>
                </a:extLst>
              </a:tr>
              <a:tr h="894928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Northwind Health Plus Summary.pdf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800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765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B0B52-F735-9081-9C2D-0C30415EA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Document references from agentic retrieval (JSON)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80C83C-9D63-DB02-CBD6-C7EAC9EC4ED8}"/>
              </a:ext>
            </a:extLst>
          </p:cNvPr>
          <p:cNvSpPr txBox="1"/>
          <p:nvPr/>
        </p:nvSpPr>
        <p:spPr>
          <a:xfrm>
            <a:off x="440266" y="1714039"/>
            <a:ext cx="1140177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doc_key</a:t>
            </a:r>
            <a:r>
              <a:rPr lang="en-US" sz="18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"Northwind Health Plus Plan Benefits Summary"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source_data</a:t>
            </a:r>
            <a:r>
              <a:rPr lang="en-US" sz="18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 {</a:t>
            </a:r>
          </a:p>
          <a:p>
            <a:pPr>
              <a:buNone/>
            </a:pP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8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"chunk"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"Comprehensive medical, dental, vision &amp; Rx coverage. Low copays, $0 preventive care, generous wellness allowance…"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8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sourcepage</a:t>
            </a:r>
            <a:r>
              <a:rPr lang="en-US" sz="18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"Northwind Health Plus Plan Benefits </a:t>
            </a:r>
            <a:r>
              <a:rPr lang="en-US" sz="18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Summary.pdf#page</a:t>
            </a:r>
            <a:r>
              <a:rPr lang="en-US" sz="18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=1"</a:t>
            </a:r>
            <a:endParaRPr lang="en-US" sz="18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},{</a:t>
            </a:r>
          </a:p>
          <a:p>
            <a:pPr>
              <a:buNone/>
            </a:pP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doc_key</a:t>
            </a:r>
            <a:r>
              <a:rPr lang="en-US" sz="18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"Comparing Northwind Health Plus and Standard Plans Benefit Highlights"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source_data</a:t>
            </a:r>
            <a:r>
              <a:rPr lang="en-US" sz="18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 {</a:t>
            </a:r>
          </a:p>
          <a:p>
            <a:pPr>
              <a:buNone/>
            </a:pP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8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"chunk"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"Plus Plan: broader benefits, lower out-of-pocket. Standard Plan: essential coverage, higher deductibles…"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8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sourcepage</a:t>
            </a:r>
            <a:r>
              <a:rPr lang="en-US" sz="18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"Comparing Northwind Health Plus and Standard Plans Benefit </a:t>
            </a:r>
            <a:r>
              <a:rPr lang="en-US" sz="18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Highlights.pdf#page</a:t>
            </a:r>
            <a:r>
              <a:rPr lang="en-US" sz="18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=1"</a:t>
            </a:r>
            <a:endParaRPr lang="en-US" sz="18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800">
                <a:solidFill>
                  <a:srgbClr val="3B3B3B"/>
                </a:solidFill>
                <a:latin typeface="Consolas" panose="020B0609020204030204" pitchFamily="49" charset="0"/>
              </a:rPr>
              <a:t>  }, …]</a:t>
            </a:r>
            <a:endParaRPr lang="en-US" sz="18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56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97063-9CAC-743B-AA00-7453BED6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Response string: Interleaved results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4B6324F-A8AD-0BD9-1A24-12730DEF8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474111" y="3811487"/>
            <a:ext cx="400035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5">
            <a:extLst>
              <a:ext uri="{FF2B5EF4-FFF2-40B4-BE49-F238E27FC236}">
                <a16:creationId xmlns:a16="http://schemas.microsoft.com/office/drawing/2014/main" id="{32CA9E01-1E1D-99B9-CC13-DE980C0DB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69611" y="1435521"/>
            <a:ext cx="1881886" cy="2261397"/>
          </a:xfrm>
          <a:prstGeom prst="roundRect">
            <a:avLst>
              <a:gd name="adj" fmla="val 816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71D35BE-41E0-3776-9FD2-6B3406D1C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33853" y="1754356"/>
            <a:ext cx="753403" cy="753403"/>
          </a:xfrm>
          <a:prstGeom prst="ellipse">
            <a:avLst/>
          </a:prstGeom>
          <a:gradFill flip="none" rotWithShape="1">
            <a:gsLst>
              <a:gs pos="80000">
                <a:srgbClr val="1774A7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err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44" name="Graphic 126">
            <a:extLst>
              <a:ext uri="{FF2B5EF4-FFF2-40B4-BE49-F238E27FC236}">
                <a16:creationId xmlns:a16="http://schemas.microsoft.com/office/drawing/2014/main" id="{B9440D8E-9821-BE01-4FA9-EC4513648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6844" y="1961602"/>
            <a:ext cx="318137" cy="351592"/>
          </a:xfrm>
          <a:custGeom>
            <a:avLst/>
            <a:gdLst>
              <a:gd name="connsiteX0" fmla="*/ 100542 w 239021"/>
              <a:gd name="connsiteY0" fmla="*/ 100542 h 264156"/>
              <a:gd name="connsiteX1" fmla="*/ 201083 w 239021"/>
              <a:gd name="connsiteY1" fmla="*/ 50271 h 264156"/>
              <a:gd name="connsiteX2" fmla="*/ 100542 w 239021"/>
              <a:gd name="connsiteY2" fmla="*/ 0 h 264156"/>
              <a:gd name="connsiteX3" fmla="*/ 0 w 239021"/>
              <a:gd name="connsiteY3" fmla="*/ 50271 h 264156"/>
              <a:gd name="connsiteX4" fmla="*/ 100542 w 239021"/>
              <a:gd name="connsiteY4" fmla="*/ 100542 h 264156"/>
              <a:gd name="connsiteX5" fmla="*/ 180070 w 239021"/>
              <a:gd name="connsiteY5" fmla="*/ 102678 h 264156"/>
              <a:gd name="connsiteX6" fmla="*/ 201083 w 239021"/>
              <a:gd name="connsiteY6" fmla="*/ 88640 h 264156"/>
              <a:gd name="connsiteX7" fmla="*/ 201083 w 239021"/>
              <a:gd name="connsiteY7" fmla="*/ 128907 h 264156"/>
              <a:gd name="connsiteX8" fmla="*/ 150561 w 239021"/>
              <a:gd name="connsiteY8" fmla="*/ 113411 h 264156"/>
              <a:gd name="connsiteX9" fmla="*/ 180070 w 239021"/>
              <a:gd name="connsiteY9" fmla="*/ 102678 h 264156"/>
              <a:gd name="connsiteX10" fmla="*/ 87974 w 239021"/>
              <a:gd name="connsiteY10" fmla="*/ 182232 h 264156"/>
              <a:gd name="connsiteX11" fmla="*/ 136121 w 239021"/>
              <a:gd name="connsiteY11" fmla="*/ 248112 h 264156"/>
              <a:gd name="connsiteX12" fmla="*/ 100542 w 239021"/>
              <a:gd name="connsiteY12" fmla="*/ 251354 h 264156"/>
              <a:gd name="connsiteX13" fmla="*/ 0 w 239021"/>
              <a:gd name="connsiteY13" fmla="*/ 201083 h 264156"/>
              <a:gd name="connsiteX14" fmla="*/ 0 w 239021"/>
              <a:gd name="connsiteY14" fmla="*/ 88640 h 264156"/>
              <a:gd name="connsiteX15" fmla="*/ 21013 w 239021"/>
              <a:gd name="connsiteY15" fmla="*/ 102678 h 264156"/>
              <a:gd name="connsiteX16" fmla="*/ 100542 w 239021"/>
              <a:gd name="connsiteY16" fmla="*/ 119393 h 264156"/>
              <a:gd name="connsiteX17" fmla="*/ 135442 w 239021"/>
              <a:gd name="connsiteY17" fmla="*/ 116565 h 264156"/>
              <a:gd name="connsiteX18" fmla="*/ 87974 w 239021"/>
              <a:gd name="connsiteY18" fmla="*/ 182232 h 264156"/>
              <a:gd name="connsiteX19" fmla="*/ 157096 w 239021"/>
              <a:gd name="connsiteY19" fmla="*/ 238786 h 264156"/>
              <a:gd name="connsiteX20" fmla="*/ 189860 w 239021"/>
              <a:gd name="connsiteY20" fmla="*/ 228330 h 264156"/>
              <a:gd name="connsiteX21" fmla="*/ 222700 w 239021"/>
              <a:gd name="connsiteY21" fmla="*/ 261157 h 264156"/>
              <a:gd name="connsiteX22" fmla="*/ 236022 w 239021"/>
              <a:gd name="connsiteY22" fmla="*/ 261627 h 264156"/>
              <a:gd name="connsiteX23" fmla="*/ 236492 w 239021"/>
              <a:gd name="connsiteY23" fmla="*/ 248305 h 264156"/>
              <a:gd name="connsiteX24" fmla="*/ 236022 w 239021"/>
              <a:gd name="connsiteY24" fmla="*/ 247835 h 264156"/>
              <a:gd name="connsiteX25" fmla="*/ 203195 w 239021"/>
              <a:gd name="connsiteY25" fmla="*/ 214996 h 264156"/>
              <a:gd name="connsiteX26" fmla="*/ 189862 w 239021"/>
              <a:gd name="connsiteY26" fmla="*/ 136135 h 264156"/>
              <a:gd name="connsiteX27" fmla="*/ 111001 w 239021"/>
              <a:gd name="connsiteY27" fmla="*/ 149468 h 264156"/>
              <a:gd name="connsiteX28" fmla="*/ 124334 w 239021"/>
              <a:gd name="connsiteY28" fmla="*/ 228329 h 264156"/>
              <a:gd name="connsiteX29" fmla="*/ 157096 w 239021"/>
              <a:gd name="connsiteY29" fmla="*/ 238786 h 264156"/>
              <a:gd name="connsiteX30" fmla="*/ 157096 w 239021"/>
              <a:gd name="connsiteY30" fmla="*/ 219935 h 264156"/>
              <a:gd name="connsiteX31" fmla="*/ 119393 w 239021"/>
              <a:gd name="connsiteY31" fmla="*/ 182232 h 264156"/>
              <a:gd name="connsiteX32" fmla="*/ 157096 w 239021"/>
              <a:gd name="connsiteY32" fmla="*/ 144529 h 264156"/>
              <a:gd name="connsiteX33" fmla="*/ 194799 w 239021"/>
              <a:gd name="connsiteY33" fmla="*/ 182232 h 264156"/>
              <a:gd name="connsiteX34" fmla="*/ 157096 w 239021"/>
              <a:gd name="connsiteY34" fmla="*/ 219935 h 264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39021" h="264156">
                <a:moveTo>
                  <a:pt x="100542" y="100542"/>
                </a:moveTo>
                <a:cubicBezTo>
                  <a:pt x="156066" y="100542"/>
                  <a:pt x="201083" y="78045"/>
                  <a:pt x="201083" y="50271"/>
                </a:cubicBezTo>
                <a:cubicBezTo>
                  <a:pt x="201083" y="22496"/>
                  <a:pt x="156066" y="0"/>
                  <a:pt x="100542" y="0"/>
                </a:cubicBezTo>
                <a:cubicBezTo>
                  <a:pt x="45018" y="0"/>
                  <a:pt x="0" y="22496"/>
                  <a:pt x="0" y="50271"/>
                </a:cubicBezTo>
                <a:cubicBezTo>
                  <a:pt x="0" y="78045"/>
                  <a:pt x="45018" y="100542"/>
                  <a:pt x="100542" y="100542"/>
                </a:cubicBezTo>
                <a:close/>
                <a:moveTo>
                  <a:pt x="180070" y="102678"/>
                </a:moveTo>
                <a:cubicBezTo>
                  <a:pt x="187665" y="98949"/>
                  <a:pt x="194730" y="94228"/>
                  <a:pt x="201083" y="88640"/>
                </a:cubicBezTo>
                <a:lnTo>
                  <a:pt x="201083" y="128907"/>
                </a:lnTo>
                <a:cubicBezTo>
                  <a:pt x="186975" y="117225"/>
                  <a:pt x="168793" y="111649"/>
                  <a:pt x="150561" y="113411"/>
                </a:cubicBezTo>
                <a:cubicBezTo>
                  <a:pt x="160752" y="110899"/>
                  <a:pt x="170646" y="107301"/>
                  <a:pt x="180070" y="102678"/>
                </a:cubicBezTo>
                <a:close/>
                <a:moveTo>
                  <a:pt x="87974" y="182232"/>
                </a:moveTo>
                <a:cubicBezTo>
                  <a:pt x="87974" y="212330"/>
                  <a:pt x="107444" y="238971"/>
                  <a:pt x="136121" y="248112"/>
                </a:cubicBezTo>
                <a:cubicBezTo>
                  <a:pt x="125061" y="250211"/>
                  <a:pt x="113072" y="251354"/>
                  <a:pt x="100542" y="251354"/>
                </a:cubicBezTo>
                <a:cubicBezTo>
                  <a:pt x="45018" y="251354"/>
                  <a:pt x="0" y="228858"/>
                  <a:pt x="0" y="201083"/>
                </a:cubicBezTo>
                <a:lnTo>
                  <a:pt x="0" y="88640"/>
                </a:lnTo>
                <a:cubicBezTo>
                  <a:pt x="6353" y="94228"/>
                  <a:pt x="13419" y="98949"/>
                  <a:pt x="21013" y="102678"/>
                </a:cubicBezTo>
                <a:cubicBezTo>
                  <a:pt x="42353" y="113336"/>
                  <a:pt x="70480" y="119393"/>
                  <a:pt x="100542" y="119393"/>
                </a:cubicBezTo>
                <a:cubicBezTo>
                  <a:pt x="112582" y="119393"/>
                  <a:pt x="124320" y="118426"/>
                  <a:pt x="135442" y="116565"/>
                </a:cubicBezTo>
                <a:cubicBezTo>
                  <a:pt x="107110" y="125920"/>
                  <a:pt x="87971" y="152394"/>
                  <a:pt x="87974" y="182232"/>
                </a:cubicBezTo>
                <a:close/>
                <a:moveTo>
                  <a:pt x="157096" y="238786"/>
                </a:moveTo>
                <a:cubicBezTo>
                  <a:pt x="168841" y="238804"/>
                  <a:pt x="180296" y="235147"/>
                  <a:pt x="189860" y="228330"/>
                </a:cubicBezTo>
                <a:lnTo>
                  <a:pt x="222700" y="261157"/>
                </a:lnTo>
                <a:cubicBezTo>
                  <a:pt x="226249" y="264965"/>
                  <a:pt x="232214" y="265176"/>
                  <a:pt x="236022" y="261627"/>
                </a:cubicBezTo>
                <a:cubicBezTo>
                  <a:pt x="239830" y="258078"/>
                  <a:pt x="240041" y="252115"/>
                  <a:pt x="236492" y="248305"/>
                </a:cubicBezTo>
                <a:cubicBezTo>
                  <a:pt x="236341" y="248143"/>
                  <a:pt x="236184" y="247986"/>
                  <a:pt x="236022" y="247835"/>
                </a:cubicBezTo>
                <a:lnTo>
                  <a:pt x="203195" y="214996"/>
                </a:lnTo>
                <a:cubicBezTo>
                  <a:pt x="221290" y="189537"/>
                  <a:pt x="215320" y="154230"/>
                  <a:pt x="189862" y="136135"/>
                </a:cubicBezTo>
                <a:cubicBezTo>
                  <a:pt x="164403" y="118040"/>
                  <a:pt x="129096" y="124009"/>
                  <a:pt x="111001" y="149468"/>
                </a:cubicBezTo>
                <a:cubicBezTo>
                  <a:pt x="92906" y="174926"/>
                  <a:pt x="98875" y="210234"/>
                  <a:pt x="124334" y="228329"/>
                </a:cubicBezTo>
                <a:cubicBezTo>
                  <a:pt x="133904" y="235132"/>
                  <a:pt x="145354" y="238786"/>
                  <a:pt x="157096" y="238786"/>
                </a:cubicBezTo>
                <a:close/>
                <a:moveTo>
                  <a:pt x="157096" y="219935"/>
                </a:moveTo>
                <a:cubicBezTo>
                  <a:pt x="136273" y="219935"/>
                  <a:pt x="119393" y="203055"/>
                  <a:pt x="119393" y="182232"/>
                </a:cubicBezTo>
                <a:cubicBezTo>
                  <a:pt x="119393" y="161408"/>
                  <a:pt x="136273" y="144529"/>
                  <a:pt x="157096" y="144529"/>
                </a:cubicBezTo>
                <a:cubicBezTo>
                  <a:pt x="177920" y="144529"/>
                  <a:pt x="194799" y="161408"/>
                  <a:pt x="194799" y="182232"/>
                </a:cubicBezTo>
                <a:cubicBezTo>
                  <a:pt x="194799" y="203055"/>
                  <a:pt x="177920" y="219935"/>
                  <a:pt x="157096" y="219935"/>
                </a:cubicBezTo>
                <a:close/>
              </a:path>
            </a:pathLst>
          </a:custGeom>
          <a:solidFill>
            <a:schemeClr val="bg1"/>
          </a:solidFill>
          <a:ln w="123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5" name="TextBox 7">
            <a:extLst>
              <a:ext uri="{FF2B5EF4-FFF2-40B4-BE49-F238E27FC236}">
                <a16:creationId xmlns:a16="http://schemas.microsoft.com/office/drawing/2014/main" id="{4FA10D15-6B51-60EE-57A2-70BE9EA5CA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14737" y="2680456"/>
            <a:ext cx="1391634" cy="6976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65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Search</a:t>
            </a:r>
          </a:p>
          <a:p>
            <a:pPr marL="0" marR="0" lvl="0" indent="0" algn="ctr" defTabSz="365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lt"/>
                <a:cs typeface="Segoe UI"/>
              </a:rPr>
              <a:t>Northwind Health Plus plan benefits</a:t>
            </a:r>
          </a:p>
        </p:txBody>
      </p:sp>
      <p:sp>
        <p:nvSpPr>
          <p:cNvPr id="46" name="Rounded Rectangle 5">
            <a:extLst>
              <a:ext uri="{FF2B5EF4-FFF2-40B4-BE49-F238E27FC236}">
                <a16:creationId xmlns:a16="http://schemas.microsoft.com/office/drawing/2014/main" id="{E767508E-FD92-21B4-F916-95E067E3A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737555" y="1435521"/>
            <a:ext cx="5428710" cy="2261397"/>
          </a:xfrm>
          <a:prstGeom prst="roundRect">
            <a:avLst>
              <a:gd name="adj" fmla="val 6552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47" name="Straight Connector 46" descr="Line connecting from one section to the next.">
            <a:extLst>
              <a:ext uri="{FF2B5EF4-FFF2-40B4-BE49-F238E27FC236}">
                <a16:creationId xmlns:a16="http://schemas.microsoft.com/office/drawing/2014/main" id="{A570E383-F3E6-E09A-6BDF-1BF8E4E4A2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  <a:stCxn id="42" idx="3"/>
            <a:endCxn id="46" idx="1"/>
          </p:cNvCxnSpPr>
          <p:nvPr/>
        </p:nvCxnSpPr>
        <p:spPr>
          <a:xfrm>
            <a:off x="2151497" y="2566220"/>
            <a:ext cx="586058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71BE609E-9B76-4B63-28B1-1C995A0089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159943"/>
              </p:ext>
            </p:extLst>
          </p:nvPr>
        </p:nvGraphicFramePr>
        <p:xfrm>
          <a:off x="2937308" y="1651819"/>
          <a:ext cx="502920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302">
                  <a:extLst>
                    <a:ext uri="{9D8B030D-6E8A-4147-A177-3AD203B41FA5}">
                      <a16:colId xmlns:a16="http://schemas.microsoft.com/office/drawing/2014/main" val="1482892922"/>
                    </a:ext>
                  </a:extLst>
                </a:gridCol>
                <a:gridCol w="1420900">
                  <a:extLst>
                    <a:ext uri="{9D8B030D-6E8A-4147-A177-3AD203B41FA5}">
                      <a16:colId xmlns:a16="http://schemas.microsoft.com/office/drawing/2014/main" val="368368247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u="none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Document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0" u="none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Ranker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89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Northwind Health Plus Summary.pdf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75028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Northwind Health Comparison.pdf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80049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Understanding Employer Health Plans.pdf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482149"/>
                  </a:ext>
                </a:extLst>
              </a:tr>
            </a:tbl>
          </a:graphicData>
        </a:graphic>
      </p:graphicFrame>
      <p:sp>
        <p:nvSpPr>
          <p:cNvPr id="49" name="Rounded Rectangle 5">
            <a:extLst>
              <a:ext uri="{FF2B5EF4-FFF2-40B4-BE49-F238E27FC236}">
                <a16:creationId xmlns:a16="http://schemas.microsoft.com/office/drawing/2014/main" id="{2D8DFCBE-A4B1-D1D5-E18A-A90A10BCF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69611" y="4007641"/>
            <a:ext cx="1881886" cy="2261397"/>
          </a:xfrm>
          <a:prstGeom prst="roundRect">
            <a:avLst>
              <a:gd name="adj" fmla="val 816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632CE06-B60C-7165-039F-5D9A62CB7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33853" y="4326476"/>
            <a:ext cx="753403" cy="753403"/>
          </a:xfrm>
          <a:prstGeom prst="ellipse">
            <a:avLst/>
          </a:prstGeom>
          <a:gradFill flip="none" rotWithShape="1">
            <a:gsLst>
              <a:gs pos="80000">
                <a:srgbClr val="1774A7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err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51" name="Graphic 126">
            <a:extLst>
              <a:ext uri="{FF2B5EF4-FFF2-40B4-BE49-F238E27FC236}">
                <a16:creationId xmlns:a16="http://schemas.microsoft.com/office/drawing/2014/main" id="{4D2AADAE-8546-1FFE-F9EC-86ABDB5AB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6844" y="4533722"/>
            <a:ext cx="318137" cy="351592"/>
          </a:xfrm>
          <a:custGeom>
            <a:avLst/>
            <a:gdLst>
              <a:gd name="connsiteX0" fmla="*/ 100542 w 239021"/>
              <a:gd name="connsiteY0" fmla="*/ 100542 h 264156"/>
              <a:gd name="connsiteX1" fmla="*/ 201083 w 239021"/>
              <a:gd name="connsiteY1" fmla="*/ 50271 h 264156"/>
              <a:gd name="connsiteX2" fmla="*/ 100542 w 239021"/>
              <a:gd name="connsiteY2" fmla="*/ 0 h 264156"/>
              <a:gd name="connsiteX3" fmla="*/ 0 w 239021"/>
              <a:gd name="connsiteY3" fmla="*/ 50271 h 264156"/>
              <a:gd name="connsiteX4" fmla="*/ 100542 w 239021"/>
              <a:gd name="connsiteY4" fmla="*/ 100542 h 264156"/>
              <a:gd name="connsiteX5" fmla="*/ 180070 w 239021"/>
              <a:gd name="connsiteY5" fmla="*/ 102678 h 264156"/>
              <a:gd name="connsiteX6" fmla="*/ 201083 w 239021"/>
              <a:gd name="connsiteY6" fmla="*/ 88640 h 264156"/>
              <a:gd name="connsiteX7" fmla="*/ 201083 w 239021"/>
              <a:gd name="connsiteY7" fmla="*/ 128907 h 264156"/>
              <a:gd name="connsiteX8" fmla="*/ 150561 w 239021"/>
              <a:gd name="connsiteY8" fmla="*/ 113411 h 264156"/>
              <a:gd name="connsiteX9" fmla="*/ 180070 w 239021"/>
              <a:gd name="connsiteY9" fmla="*/ 102678 h 264156"/>
              <a:gd name="connsiteX10" fmla="*/ 87974 w 239021"/>
              <a:gd name="connsiteY10" fmla="*/ 182232 h 264156"/>
              <a:gd name="connsiteX11" fmla="*/ 136121 w 239021"/>
              <a:gd name="connsiteY11" fmla="*/ 248112 h 264156"/>
              <a:gd name="connsiteX12" fmla="*/ 100542 w 239021"/>
              <a:gd name="connsiteY12" fmla="*/ 251354 h 264156"/>
              <a:gd name="connsiteX13" fmla="*/ 0 w 239021"/>
              <a:gd name="connsiteY13" fmla="*/ 201083 h 264156"/>
              <a:gd name="connsiteX14" fmla="*/ 0 w 239021"/>
              <a:gd name="connsiteY14" fmla="*/ 88640 h 264156"/>
              <a:gd name="connsiteX15" fmla="*/ 21013 w 239021"/>
              <a:gd name="connsiteY15" fmla="*/ 102678 h 264156"/>
              <a:gd name="connsiteX16" fmla="*/ 100542 w 239021"/>
              <a:gd name="connsiteY16" fmla="*/ 119393 h 264156"/>
              <a:gd name="connsiteX17" fmla="*/ 135442 w 239021"/>
              <a:gd name="connsiteY17" fmla="*/ 116565 h 264156"/>
              <a:gd name="connsiteX18" fmla="*/ 87974 w 239021"/>
              <a:gd name="connsiteY18" fmla="*/ 182232 h 264156"/>
              <a:gd name="connsiteX19" fmla="*/ 157096 w 239021"/>
              <a:gd name="connsiteY19" fmla="*/ 238786 h 264156"/>
              <a:gd name="connsiteX20" fmla="*/ 189860 w 239021"/>
              <a:gd name="connsiteY20" fmla="*/ 228330 h 264156"/>
              <a:gd name="connsiteX21" fmla="*/ 222700 w 239021"/>
              <a:gd name="connsiteY21" fmla="*/ 261157 h 264156"/>
              <a:gd name="connsiteX22" fmla="*/ 236022 w 239021"/>
              <a:gd name="connsiteY22" fmla="*/ 261627 h 264156"/>
              <a:gd name="connsiteX23" fmla="*/ 236492 w 239021"/>
              <a:gd name="connsiteY23" fmla="*/ 248305 h 264156"/>
              <a:gd name="connsiteX24" fmla="*/ 236022 w 239021"/>
              <a:gd name="connsiteY24" fmla="*/ 247835 h 264156"/>
              <a:gd name="connsiteX25" fmla="*/ 203195 w 239021"/>
              <a:gd name="connsiteY25" fmla="*/ 214996 h 264156"/>
              <a:gd name="connsiteX26" fmla="*/ 189862 w 239021"/>
              <a:gd name="connsiteY26" fmla="*/ 136135 h 264156"/>
              <a:gd name="connsiteX27" fmla="*/ 111001 w 239021"/>
              <a:gd name="connsiteY27" fmla="*/ 149468 h 264156"/>
              <a:gd name="connsiteX28" fmla="*/ 124334 w 239021"/>
              <a:gd name="connsiteY28" fmla="*/ 228329 h 264156"/>
              <a:gd name="connsiteX29" fmla="*/ 157096 w 239021"/>
              <a:gd name="connsiteY29" fmla="*/ 238786 h 264156"/>
              <a:gd name="connsiteX30" fmla="*/ 157096 w 239021"/>
              <a:gd name="connsiteY30" fmla="*/ 219935 h 264156"/>
              <a:gd name="connsiteX31" fmla="*/ 119393 w 239021"/>
              <a:gd name="connsiteY31" fmla="*/ 182232 h 264156"/>
              <a:gd name="connsiteX32" fmla="*/ 157096 w 239021"/>
              <a:gd name="connsiteY32" fmla="*/ 144529 h 264156"/>
              <a:gd name="connsiteX33" fmla="*/ 194799 w 239021"/>
              <a:gd name="connsiteY33" fmla="*/ 182232 h 264156"/>
              <a:gd name="connsiteX34" fmla="*/ 157096 w 239021"/>
              <a:gd name="connsiteY34" fmla="*/ 219935 h 264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39021" h="264156">
                <a:moveTo>
                  <a:pt x="100542" y="100542"/>
                </a:moveTo>
                <a:cubicBezTo>
                  <a:pt x="156066" y="100542"/>
                  <a:pt x="201083" y="78045"/>
                  <a:pt x="201083" y="50271"/>
                </a:cubicBezTo>
                <a:cubicBezTo>
                  <a:pt x="201083" y="22496"/>
                  <a:pt x="156066" y="0"/>
                  <a:pt x="100542" y="0"/>
                </a:cubicBezTo>
                <a:cubicBezTo>
                  <a:pt x="45018" y="0"/>
                  <a:pt x="0" y="22496"/>
                  <a:pt x="0" y="50271"/>
                </a:cubicBezTo>
                <a:cubicBezTo>
                  <a:pt x="0" y="78045"/>
                  <a:pt x="45018" y="100542"/>
                  <a:pt x="100542" y="100542"/>
                </a:cubicBezTo>
                <a:close/>
                <a:moveTo>
                  <a:pt x="180070" y="102678"/>
                </a:moveTo>
                <a:cubicBezTo>
                  <a:pt x="187665" y="98949"/>
                  <a:pt x="194730" y="94228"/>
                  <a:pt x="201083" y="88640"/>
                </a:cubicBezTo>
                <a:lnTo>
                  <a:pt x="201083" y="128907"/>
                </a:lnTo>
                <a:cubicBezTo>
                  <a:pt x="186975" y="117225"/>
                  <a:pt x="168793" y="111649"/>
                  <a:pt x="150561" y="113411"/>
                </a:cubicBezTo>
                <a:cubicBezTo>
                  <a:pt x="160752" y="110899"/>
                  <a:pt x="170646" y="107301"/>
                  <a:pt x="180070" y="102678"/>
                </a:cubicBezTo>
                <a:close/>
                <a:moveTo>
                  <a:pt x="87974" y="182232"/>
                </a:moveTo>
                <a:cubicBezTo>
                  <a:pt x="87974" y="212330"/>
                  <a:pt x="107444" y="238971"/>
                  <a:pt x="136121" y="248112"/>
                </a:cubicBezTo>
                <a:cubicBezTo>
                  <a:pt x="125061" y="250211"/>
                  <a:pt x="113072" y="251354"/>
                  <a:pt x="100542" y="251354"/>
                </a:cubicBezTo>
                <a:cubicBezTo>
                  <a:pt x="45018" y="251354"/>
                  <a:pt x="0" y="228858"/>
                  <a:pt x="0" y="201083"/>
                </a:cubicBezTo>
                <a:lnTo>
                  <a:pt x="0" y="88640"/>
                </a:lnTo>
                <a:cubicBezTo>
                  <a:pt x="6353" y="94228"/>
                  <a:pt x="13419" y="98949"/>
                  <a:pt x="21013" y="102678"/>
                </a:cubicBezTo>
                <a:cubicBezTo>
                  <a:pt x="42353" y="113336"/>
                  <a:pt x="70480" y="119393"/>
                  <a:pt x="100542" y="119393"/>
                </a:cubicBezTo>
                <a:cubicBezTo>
                  <a:pt x="112582" y="119393"/>
                  <a:pt x="124320" y="118426"/>
                  <a:pt x="135442" y="116565"/>
                </a:cubicBezTo>
                <a:cubicBezTo>
                  <a:pt x="107110" y="125920"/>
                  <a:pt x="87971" y="152394"/>
                  <a:pt x="87974" y="182232"/>
                </a:cubicBezTo>
                <a:close/>
                <a:moveTo>
                  <a:pt x="157096" y="238786"/>
                </a:moveTo>
                <a:cubicBezTo>
                  <a:pt x="168841" y="238804"/>
                  <a:pt x="180296" y="235147"/>
                  <a:pt x="189860" y="228330"/>
                </a:cubicBezTo>
                <a:lnTo>
                  <a:pt x="222700" y="261157"/>
                </a:lnTo>
                <a:cubicBezTo>
                  <a:pt x="226249" y="264965"/>
                  <a:pt x="232214" y="265176"/>
                  <a:pt x="236022" y="261627"/>
                </a:cubicBezTo>
                <a:cubicBezTo>
                  <a:pt x="239830" y="258078"/>
                  <a:pt x="240041" y="252115"/>
                  <a:pt x="236492" y="248305"/>
                </a:cubicBezTo>
                <a:cubicBezTo>
                  <a:pt x="236341" y="248143"/>
                  <a:pt x="236184" y="247986"/>
                  <a:pt x="236022" y="247835"/>
                </a:cubicBezTo>
                <a:lnTo>
                  <a:pt x="203195" y="214996"/>
                </a:lnTo>
                <a:cubicBezTo>
                  <a:pt x="221290" y="189537"/>
                  <a:pt x="215320" y="154230"/>
                  <a:pt x="189862" y="136135"/>
                </a:cubicBezTo>
                <a:cubicBezTo>
                  <a:pt x="164403" y="118040"/>
                  <a:pt x="129096" y="124009"/>
                  <a:pt x="111001" y="149468"/>
                </a:cubicBezTo>
                <a:cubicBezTo>
                  <a:pt x="92906" y="174926"/>
                  <a:pt x="98875" y="210234"/>
                  <a:pt x="124334" y="228329"/>
                </a:cubicBezTo>
                <a:cubicBezTo>
                  <a:pt x="133904" y="235132"/>
                  <a:pt x="145354" y="238786"/>
                  <a:pt x="157096" y="238786"/>
                </a:cubicBezTo>
                <a:close/>
                <a:moveTo>
                  <a:pt x="157096" y="219935"/>
                </a:moveTo>
                <a:cubicBezTo>
                  <a:pt x="136273" y="219935"/>
                  <a:pt x="119393" y="203055"/>
                  <a:pt x="119393" y="182232"/>
                </a:cubicBezTo>
                <a:cubicBezTo>
                  <a:pt x="119393" y="161408"/>
                  <a:pt x="136273" y="144529"/>
                  <a:pt x="157096" y="144529"/>
                </a:cubicBezTo>
                <a:cubicBezTo>
                  <a:pt x="177920" y="144529"/>
                  <a:pt x="194799" y="161408"/>
                  <a:pt x="194799" y="182232"/>
                </a:cubicBezTo>
                <a:cubicBezTo>
                  <a:pt x="194799" y="203055"/>
                  <a:pt x="177920" y="219935"/>
                  <a:pt x="157096" y="219935"/>
                </a:cubicBezTo>
                <a:close/>
              </a:path>
            </a:pathLst>
          </a:custGeom>
          <a:solidFill>
            <a:schemeClr val="bg1"/>
          </a:solidFill>
          <a:ln w="123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2" name="TextBox 7">
            <a:extLst>
              <a:ext uri="{FF2B5EF4-FFF2-40B4-BE49-F238E27FC236}">
                <a16:creationId xmlns:a16="http://schemas.microsoft.com/office/drawing/2014/main" id="{28F3C155-CB9C-E0BE-0AE6-83A61798EF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14737" y="5252576"/>
            <a:ext cx="1391634" cy="6976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65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Search</a:t>
            </a:r>
          </a:p>
          <a:p>
            <a:pPr marL="0" marR="0" lvl="0" indent="0" algn="ctr" defTabSz="365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lt"/>
                <a:cs typeface="Segoe UI"/>
              </a:rPr>
              <a:t>Standard Northwind Health plan benefits</a:t>
            </a:r>
          </a:p>
        </p:txBody>
      </p:sp>
      <p:sp>
        <p:nvSpPr>
          <p:cNvPr id="53" name="Rounded Rectangle 5">
            <a:extLst>
              <a:ext uri="{FF2B5EF4-FFF2-40B4-BE49-F238E27FC236}">
                <a16:creationId xmlns:a16="http://schemas.microsoft.com/office/drawing/2014/main" id="{65A3F06E-F442-B25C-E125-88A7ADDCB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737555" y="4007641"/>
            <a:ext cx="5428710" cy="2261397"/>
          </a:xfrm>
          <a:prstGeom prst="roundRect">
            <a:avLst>
              <a:gd name="adj" fmla="val 6552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54" name="Straight Connector 53" descr="Line connecting from one section to the next.">
            <a:extLst>
              <a:ext uri="{FF2B5EF4-FFF2-40B4-BE49-F238E27FC236}">
                <a16:creationId xmlns:a16="http://schemas.microsoft.com/office/drawing/2014/main" id="{3E9FF7C9-2BCD-773D-A6C5-53E77050205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2151497" y="5144122"/>
            <a:ext cx="586058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01141E7D-3494-6638-D3A4-27FB0853C1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259974"/>
              </p:ext>
            </p:extLst>
          </p:nvPr>
        </p:nvGraphicFramePr>
        <p:xfrm>
          <a:off x="2937310" y="4223939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8182">
                  <a:extLst>
                    <a:ext uri="{9D8B030D-6E8A-4147-A177-3AD203B41FA5}">
                      <a16:colId xmlns:a16="http://schemas.microsoft.com/office/drawing/2014/main" val="1482892922"/>
                    </a:ext>
                  </a:extLst>
                </a:gridCol>
                <a:gridCol w="1441018">
                  <a:extLst>
                    <a:ext uri="{9D8B030D-6E8A-4147-A177-3AD203B41FA5}">
                      <a16:colId xmlns:a16="http://schemas.microsoft.com/office/drawing/2014/main" val="129879729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algn="l" defTabSz="932742" rtl="0" eaLnBrk="1" latinLnBrk="0" hangingPunct="1"/>
                      <a:r>
                        <a:rPr lang="en-US" sz="1500" b="0" u="none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Document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32742" rtl="0" eaLnBrk="1" latinLnBrk="0" hangingPunct="1"/>
                      <a:r>
                        <a:rPr lang="en-US" sz="1500" b="0" u="none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Ranker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89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algn="l" defTabSz="932742" rtl="0" eaLnBrk="1" latinLnBrk="0" hangingPunct="1"/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Northwind Health Standard Summary.pdf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3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32742" rtl="0" eaLnBrk="1" latinLnBrk="0" hangingPunct="1"/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3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80049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algn="l" defTabSz="932742" rtl="0" eaLnBrk="1" latinLnBrk="0" hangingPunct="1">
                        <a:buNone/>
                      </a:pPr>
                      <a:r>
                        <a:rPr lang="en-US" sz="1400" b="0" i="0" u="non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Northwind Health Comparison.pdf</a:t>
                      </a:r>
                      <a:endParaRPr lang="en-US" sz="1400" b="0" i="0" u="non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r" defTabSz="932742" rtl="0" eaLnBrk="1" latinLnBrk="0" hangingPunct="1">
                        <a:buNone/>
                      </a:pPr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6233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algn="l" defTabSz="932742" rtl="0" eaLnBrk="1" latinLnBrk="0" hangingPunct="1">
                        <a:buNone/>
                      </a:pPr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FAQ: Northwind Enrollment &amp; Eligibility.pdf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r" defTabSz="932742" rtl="0" eaLnBrk="1" latinLnBrk="0" hangingPunct="1">
                        <a:buNone/>
                      </a:pPr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482149"/>
                  </a:ext>
                </a:extLst>
              </a:tr>
            </a:tbl>
          </a:graphicData>
        </a:graphic>
      </p:graphicFrame>
      <p:sp>
        <p:nvSpPr>
          <p:cNvPr id="57" name="Rounded Rectangle 5">
            <a:extLst>
              <a:ext uri="{FF2B5EF4-FFF2-40B4-BE49-F238E27FC236}">
                <a16:creationId xmlns:a16="http://schemas.microsoft.com/office/drawing/2014/main" id="{98EE4307-9E84-6B1B-E4FA-62D99AB22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874146" y="1920187"/>
            <a:ext cx="3165453" cy="3729837"/>
          </a:xfrm>
          <a:prstGeom prst="roundRect">
            <a:avLst>
              <a:gd name="adj" fmla="val 5862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BAECC517-90CB-7E40-6E21-6CF331D419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791706"/>
              </p:ext>
            </p:extLst>
          </p:nvPr>
        </p:nvGraphicFramePr>
        <p:xfrm>
          <a:off x="9022271" y="2196803"/>
          <a:ext cx="2948056" cy="3170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383">
                  <a:extLst>
                    <a:ext uri="{9D8B030D-6E8A-4147-A177-3AD203B41FA5}">
                      <a16:colId xmlns:a16="http://schemas.microsoft.com/office/drawing/2014/main" val="1482892922"/>
                    </a:ext>
                  </a:extLst>
                </a:gridCol>
                <a:gridCol w="1364673">
                  <a:extLst>
                    <a:ext uri="{9D8B030D-6E8A-4147-A177-3AD203B41FA5}">
                      <a16:colId xmlns:a16="http://schemas.microsoft.com/office/drawing/2014/main" val="1587990632"/>
                    </a:ext>
                  </a:extLst>
                </a:gridCol>
              </a:tblGrid>
              <a:tr h="486038">
                <a:tc>
                  <a:txBody>
                    <a:bodyPr/>
                    <a:lstStyle/>
                    <a:p>
                      <a:pPr algn="l"/>
                      <a:r>
                        <a:rPr lang="en-US" sz="1500" b="0" u="none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Document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0" u="none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Ranker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890008"/>
                  </a:ext>
                </a:extLst>
              </a:tr>
              <a:tr h="894928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Northwind Health Plus Summary.pdf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063908"/>
                  </a:ext>
                </a:extLst>
              </a:tr>
              <a:tr h="894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Northwind </a:t>
                      </a:r>
                      <a:b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 Standard Summary.pdf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0" i="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674504"/>
                  </a:ext>
                </a:extLst>
              </a:tr>
              <a:tr h="894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Northwind Health Comparison.pdf</a:t>
                      </a:r>
                      <a:endParaRPr lang="en-US" sz="1400" b="0" i="0" u="non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694257"/>
                  </a:ext>
                </a:extLst>
              </a:tr>
            </a:tbl>
          </a:graphicData>
        </a:graphic>
      </p:graphicFrame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7973894-6CA8-CA89-5BF0-F48763C0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66265" y="2566220"/>
            <a:ext cx="293024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non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1B00389-9A56-0C66-4CE4-818AC9F50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66265" y="5144122"/>
            <a:ext cx="293024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non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67F3348-677B-14E1-B64B-2CFDB166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8459289" y="2566220"/>
            <a:ext cx="0" cy="2577902"/>
          </a:xfrm>
          <a:prstGeom prst="line">
            <a:avLst/>
          </a:prstGeom>
          <a:ln w="12700" cap="rnd">
            <a:solidFill>
              <a:srgbClr val="000000"/>
            </a:solidFill>
            <a:headEnd type="none" w="med" len="med"/>
            <a:tailEnd type="non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473949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9ABFBC41-ACB5-A430-DC78-6E875DFE1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095650" y="3177607"/>
            <a:ext cx="2796286" cy="1239152"/>
          </a:xfrm>
          <a:prstGeom prst="roundRect">
            <a:avLst>
              <a:gd name="adj" fmla="val 816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0FFF169-9187-E3DE-4339-65AD98C8F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407996" y="3457420"/>
            <a:ext cx="753403" cy="753403"/>
          </a:xfrm>
          <a:prstGeom prst="ellipse">
            <a:avLst/>
          </a:prstGeom>
          <a:gradFill flip="none" rotWithShape="1">
            <a:gsLst>
              <a:gs pos="80000">
                <a:srgbClr val="1774A7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err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11" name="Graphic 126">
            <a:extLst>
              <a:ext uri="{FF2B5EF4-FFF2-40B4-BE49-F238E27FC236}">
                <a16:creationId xmlns:a16="http://schemas.microsoft.com/office/drawing/2014/main" id="{E9F2F377-6D8B-9EAE-2F01-3F837B8EE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50987" y="3664666"/>
            <a:ext cx="318137" cy="351592"/>
          </a:xfrm>
          <a:custGeom>
            <a:avLst/>
            <a:gdLst>
              <a:gd name="connsiteX0" fmla="*/ 100542 w 239021"/>
              <a:gd name="connsiteY0" fmla="*/ 100542 h 264156"/>
              <a:gd name="connsiteX1" fmla="*/ 201083 w 239021"/>
              <a:gd name="connsiteY1" fmla="*/ 50271 h 264156"/>
              <a:gd name="connsiteX2" fmla="*/ 100542 w 239021"/>
              <a:gd name="connsiteY2" fmla="*/ 0 h 264156"/>
              <a:gd name="connsiteX3" fmla="*/ 0 w 239021"/>
              <a:gd name="connsiteY3" fmla="*/ 50271 h 264156"/>
              <a:gd name="connsiteX4" fmla="*/ 100542 w 239021"/>
              <a:gd name="connsiteY4" fmla="*/ 100542 h 264156"/>
              <a:gd name="connsiteX5" fmla="*/ 180070 w 239021"/>
              <a:gd name="connsiteY5" fmla="*/ 102678 h 264156"/>
              <a:gd name="connsiteX6" fmla="*/ 201083 w 239021"/>
              <a:gd name="connsiteY6" fmla="*/ 88640 h 264156"/>
              <a:gd name="connsiteX7" fmla="*/ 201083 w 239021"/>
              <a:gd name="connsiteY7" fmla="*/ 128907 h 264156"/>
              <a:gd name="connsiteX8" fmla="*/ 150561 w 239021"/>
              <a:gd name="connsiteY8" fmla="*/ 113411 h 264156"/>
              <a:gd name="connsiteX9" fmla="*/ 180070 w 239021"/>
              <a:gd name="connsiteY9" fmla="*/ 102678 h 264156"/>
              <a:gd name="connsiteX10" fmla="*/ 87974 w 239021"/>
              <a:gd name="connsiteY10" fmla="*/ 182232 h 264156"/>
              <a:gd name="connsiteX11" fmla="*/ 136121 w 239021"/>
              <a:gd name="connsiteY11" fmla="*/ 248112 h 264156"/>
              <a:gd name="connsiteX12" fmla="*/ 100542 w 239021"/>
              <a:gd name="connsiteY12" fmla="*/ 251354 h 264156"/>
              <a:gd name="connsiteX13" fmla="*/ 0 w 239021"/>
              <a:gd name="connsiteY13" fmla="*/ 201083 h 264156"/>
              <a:gd name="connsiteX14" fmla="*/ 0 w 239021"/>
              <a:gd name="connsiteY14" fmla="*/ 88640 h 264156"/>
              <a:gd name="connsiteX15" fmla="*/ 21013 w 239021"/>
              <a:gd name="connsiteY15" fmla="*/ 102678 h 264156"/>
              <a:gd name="connsiteX16" fmla="*/ 100542 w 239021"/>
              <a:gd name="connsiteY16" fmla="*/ 119393 h 264156"/>
              <a:gd name="connsiteX17" fmla="*/ 135442 w 239021"/>
              <a:gd name="connsiteY17" fmla="*/ 116565 h 264156"/>
              <a:gd name="connsiteX18" fmla="*/ 87974 w 239021"/>
              <a:gd name="connsiteY18" fmla="*/ 182232 h 264156"/>
              <a:gd name="connsiteX19" fmla="*/ 157096 w 239021"/>
              <a:gd name="connsiteY19" fmla="*/ 238786 h 264156"/>
              <a:gd name="connsiteX20" fmla="*/ 189860 w 239021"/>
              <a:gd name="connsiteY20" fmla="*/ 228330 h 264156"/>
              <a:gd name="connsiteX21" fmla="*/ 222700 w 239021"/>
              <a:gd name="connsiteY21" fmla="*/ 261157 h 264156"/>
              <a:gd name="connsiteX22" fmla="*/ 236022 w 239021"/>
              <a:gd name="connsiteY22" fmla="*/ 261627 h 264156"/>
              <a:gd name="connsiteX23" fmla="*/ 236492 w 239021"/>
              <a:gd name="connsiteY23" fmla="*/ 248305 h 264156"/>
              <a:gd name="connsiteX24" fmla="*/ 236022 w 239021"/>
              <a:gd name="connsiteY24" fmla="*/ 247835 h 264156"/>
              <a:gd name="connsiteX25" fmla="*/ 203195 w 239021"/>
              <a:gd name="connsiteY25" fmla="*/ 214996 h 264156"/>
              <a:gd name="connsiteX26" fmla="*/ 189862 w 239021"/>
              <a:gd name="connsiteY26" fmla="*/ 136135 h 264156"/>
              <a:gd name="connsiteX27" fmla="*/ 111001 w 239021"/>
              <a:gd name="connsiteY27" fmla="*/ 149468 h 264156"/>
              <a:gd name="connsiteX28" fmla="*/ 124334 w 239021"/>
              <a:gd name="connsiteY28" fmla="*/ 228329 h 264156"/>
              <a:gd name="connsiteX29" fmla="*/ 157096 w 239021"/>
              <a:gd name="connsiteY29" fmla="*/ 238786 h 264156"/>
              <a:gd name="connsiteX30" fmla="*/ 157096 w 239021"/>
              <a:gd name="connsiteY30" fmla="*/ 219935 h 264156"/>
              <a:gd name="connsiteX31" fmla="*/ 119393 w 239021"/>
              <a:gd name="connsiteY31" fmla="*/ 182232 h 264156"/>
              <a:gd name="connsiteX32" fmla="*/ 157096 w 239021"/>
              <a:gd name="connsiteY32" fmla="*/ 144529 h 264156"/>
              <a:gd name="connsiteX33" fmla="*/ 194799 w 239021"/>
              <a:gd name="connsiteY33" fmla="*/ 182232 h 264156"/>
              <a:gd name="connsiteX34" fmla="*/ 157096 w 239021"/>
              <a:gd name="connsiteY34" fmla="*/ 219935 h 264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39021" h="264156">
                <a:moveTo>
                  <a:pt x="100542" y="100542"/>
                </a:moveTo>
                <a:cubicBezTo>
                  <a:pt x="156066" y="100542"/>
                  <a:pt x="201083" y="78045"/>
                  <a:pt x="201083" y="50271"/>
                </a:cubicBezTo>
                <a:cubicBezTo>
                  <a:pt x="201083" y="22496"/>
                  <a:pt x="156066" y="0"/>
                  <a:pt x="100542" y="0"/>
                </a:cubicBezTo>
                <a:cubicBezTo>
                  <a:pt x="45018" y="0"/>
                  <a:pt x="0" y="22496"/>
                  <a:pt x="0" y="50271"/>
                </a:cubicBezTo>
                <a:cubicBezTo>
                  <a:pt x="0" y="78045"/>
                  <a:pt x="45018" y="100542"/>
                  <a:pt x="100542" y="100542"/>
                </a:cubicBezTo>
                <a:close/>
                <a:moveTo>
                  <a:pt x="180070" y="102678"/>
                </a:moveTo>
                <a:cubicBezTo>
                  <a:pt x="187665" y="98949"/>
                  <a:pt x="194730" y="94228"/>
                  <a:pt x="201083" y="88640"/>
                </a:cubicBezTo>
                <a:lnTo>
                  <a:pt x="201083" y="128907"/>
                </a:lnTo>
                <a:cubicBezTo>
                  <a:pt x="186975" y="117225"/>
                  <a:pt x="168793" y="111649"/>
                  <a:pt x="150561" y="113411"/>
                </a:cubicBezTo>
                <a:cubicBezTo>
                  <a:pt x="160752" y="110899"/>
                  <a:pt x="170646" y="107301"/>
                  <a:pt x="180070" y="102678"/>
                </a:cubicBezTo>
                <a:close/>
                <a:moveTo>
                  <a:pt x="87974" y="182232"/>
                </a:moveTo>
                <a:cubicBezTo>
                  <a:pt x="87974" y="212330"/>
                  <a:pt x="107444" y="238971"/>
                  <a:pt x="136121" y="248112"/>
                </a:cubicBezTo>
                <a:cubicBezTo>
                  <a:pt x="125061" y="250211"/>
                  <a:pt x="113072" y="251354"/>
                  <a:pt x="100542" y="251354"/>
                </a:cubicBezTo>
                <a:cubicBezTo>
                  <a:pt x="45018" y="251354"/>
                  <a:pt x="0" y="228858"/>
                  <a:pt x="0" y="201083"/>
                </a:cubicBezTo>
                <a:lnTo>
                  <a:pt x="0" y="88640"/>
                </a:lnTo>
                <a:cubicBezTo>
                  <a:pt x="6353" y="94228"/>
                  <a:pt x="13419" y="98949"/>
                  <a:pt x="21013" y="102678"/>
                </a:cubicBezTo>
                <a:cubicBezTo>
                  <a:pt x="42353" y="113336"/>
                  <a:pt x="70480" y="119393"/>
                  <a:pt x="100542" y="119393"/>
                </a:cubicBezTo>
                <a:cubicBezTo>
                  <a:pt x="112582" y="119393"/>
                  <a:pt x="124320" y="118426"/>
                  <a:pt x="135442" y="116565"/>
                </a:cubicBezTo>
                <a:cubicBezTo>
                  <a:pt x="107110" y="125920"/>
                  <a:pt x="87971" y="152394"/>
                  <a:pt x="87974" y="182232"/>
                </a:cubicBezTo>
                <a:close/>
                <a:moveTo>
                  <a:pt x="157096" y="238786"/>
                </a:moveTo>
                <a:cubicBezTo>
                  <a:pt x="168841" y="238804"/>
                  <a:pt x="180296" y="235147"/>
                  <a:pt x="189860" y="228330"/>
                </a:cubicBezTo>
                <a:lnTo>
                  <a:pt x="222700" y="261157"/>
                </a:lnTo>
                <a:cubicBezTo>
                  <a:pt x="226249" y="264965"/>
                  <a:pt x="232214" y="265176"/>
                  <a:pt x="236022" y="261627"/>
                </a:cubicBezTo>
                <a:cubicBezTo>
                  <a:pt x="239830" y="258078"/>
                  <a:pt x="240041" y="252115"/>
                  <a:pt x="236492" y="248305"/>
                </a:cubicBezTo>
                <a:cubicBezTo>
                  <a:pt x="236341" y="248143"/>
                  <a:pt x="236184" y="247986"/>
                  <a:pt x="236022" y="247835"/>
                </a:cubicBezTo>
                <a:lnTo>
                  <a:pt x="203195" y="214996"/>
                </a:lnTo>
                <a:cubicBezTo>
                  <a:pt x="221290" y="189537"/>
                  <a:pt x="215320" y="154230"/>
                  <a:pt x="189862" y="136135"/>
                </a:cubicBezTo>
                <a:cubicBezTo>
                  <a:pt x="164403" y="118040"/>
                  <a:pt x="129096" y="124009"/>
                  <a:pt x="111001" y="149468"/>
                </a:cubicBezTo>
                <a:cubicBezTo>
                  <a:pt x="92906" y="174926"/>
                  <a:pt x="98875" y="210234"/>
                  <a:pt x="124334" y="228329"/>
                </a:cubicBezTo>
                <a:cubicBezTo>
                  <a:pt x="133904" y="235132"/>
                  <a:pt x="145354" y="238786"/>
                  <a:pt x="157096" y="238786"/>
                </a:cubicBezTo>
                <a:close/>
                <a:moveTo>
                  <a:pt x="157096" y="219935"/>
                </a:moveTo>
                <a:cubicBezTo>
                  <a:pt x="136273" y="219935"/>
                  <a:pt x="119393" y="203055"/>
                  <a:pt x="119393" y="182232"/>
                </a:cubicBezTo>
                <a:cubicBezTo>
                  <a:pt x="119393" y="161408"/>
                  <a:pt x="136273" y="144529"/>
                  <a:pt x="157096" y="144529"/>
                </a:cubicBezTo>
                <a:cubicBezTo>
                  <a:pt x="177920" y="144529"/>
                  <a:pt x="194799" y="161408"/>
                  <a:pt x="194799" y="182232"/>
                </a:cubicBezTo>
                <a:cubicBezTo>
                  <a:pt x="194799" y="203055"/>
                  <a:pt x="177920" y="219935"/>
                  <a:pt x="157096" y="219935"/>
                </a:cubicBezTo>
                <a:close/>
              </a:path>
            </a:pathLst>
          </a:custGeom>
          <a:solidFill>
            <a:schemeClr val="bg1"/>
          </a:solidFill>
          <a:ln w="123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A04A5D-95EB-88EA-6CD7-1F11CF27C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" idx="3"/>
            <a:endCxn id="63" idx="1"/>
          </p:cNvCxnSpPr>
          <p:nvPr/>
        </p:nvCxnSpPr>
        <p:spPr>
          <a:xfrm>
            <a:off x="4891936" y="3797183"/>
            <a:ext cx="586058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2DC16889-19C7-B2CE-03D4-CB05983FF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175107" y="1542589"/>
            <a:ext cx="2653146" cy="1192171"/>
          </a:xfrm>
          <a:prstGeom prst="roundRect">
            <a:avLst>
              <a:gd name="adj" fmla="val 10029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8F2CAC4-D16C-2519-6A7D-D48D03FD4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420686" y="1685433"/>
            <a:ext cx="847259" cy="847259"/>
          </a:xfrm>
          <a:prstGeom prst="ellipse">
            <a:avLst/>
          </a:prstGeom>
          <a:gradFill flip="none" rotWithShape="1">
            <a:gsLst>
              <a:gs pos="80000">
                <a:srgbClr val="AC35AF"/>
              </a:gs>
              <a:gs pos="0">
                <a:srgbClr val="F65567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26" name="Graphic 24">
            <a:extLst>
              <a:ext uri="{FF2B5EF4-FFF2-40B4-BE49-F238E27FC236}">
                <a16:creationId xmlns:a16="http://schemas.microsoft.com/office/drawing/2014/main" id="{6881AF79-A4A6-7C99-8FC0-05025A58D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42021" y="1906654"/>
            <a:ext cx="404587" cy="404815"/>
          </a:xfrm>
          <a:custGeom>
            <a:avLst/>
            <a:gdLst>
              <a:gd name="connsiteX0" fmla="*/ 770994 w 907063"/>
              <a:gd name="connsiteY0" fmla="*/ 113334 h 907573"/>
              <a:gd name="connsiteX1" fmla="*/ 657654 w 907063"/>
              <a:gd name="connsiteY1" fmla="*/ 226764 h 907573"/>
              <a:gd name="connsiteX2" fmla="*/ 634387 w 907063"/>
              <a:gd name="connsiteY2" fmla="*/ 224361 h 907573"/>
              <a:gd name="connsiteX3" fmla="*/ 576334 w 907063"/>
              <a:gd name="connsiteY3" fmla="*/ 320421 h 907573"/>
              <a:gd name="connsiteX4" fmla="*/ 634932 w 907063"/>
              <a:gd name="connsiteY4" fmla="*/ 453897 h 907573"/>
              <a:gd name="connsiteX5" fmla="*/ 634932 w 907063"/>
              <a:gd name="connsiteY5" fmla="*/ 456528 h 907573"/>
              <a:gd name="connsiteX6" fmla="*/ 693710 w 907063"/>
              <a:gd name="connsiteY6" fmla="*/ 468365 h 907573"/>
              <a:gd name="connsiteX7" fmla="*/ 847197 w 907063"/>
              <a:gd name="connsiteY7" fmla="*/ 421959 h 907573"/>
              <a:gd name="connsiteX8" fmla="*/ 893603 w 907063"/>
              <a:gd name="connsiteY8" fmla="*/ 575451 h 907573"/>
              <a:gd name="connsiteX9" fmla="*/ 740117 w 907063"/>
              <a:gd name="connsiteY9" fmla="*/ 621852 h 907573"/>
              <a:gd name="connsiteX10" fmla="*/ 681057 w 907063"/>
              <a:gd name="connsiteY10" fmla="*/ 535217 h 907573"/>
              <a:gd name="connsiteX11" fmla="*/ 621189 w 907063"/>
              <a:gd name="connsiteY11" fmla="*/ 523198 h 907573"/>
              <a:gd name="connsiteX12" fmla="*/ 542183 w 907063"/>
              <a:gd name="connsiteY12" fmla="*/ 612228 h 907573"/>
              <a:gd name="connsiteX13" fmla="*/ 564633 w 907063"/>
              <a:gd name="connsiteY13" fmla="*/ 680803 h 907573"/>
              <a:gd name="connsiteX14" fmla="*/ 566901 w 907063"/>
              <a:gd name="connsiteY14" fmla="*/ 680803 h 907573"/>
              <a:gd name="connsiteX15" fmla="*/ 680204 w 907063"/>
              <a:gd name="connsiteY15" fmla="*/ 794270 h 907573"/>
              <a:gd name="connsiteX16" fmla="*/ 566737 w 907063"/>
              <a:gd name="connsiteY16" fmla="*/ 907573 h 907573"/>
              <a:gd name="connsiteX17" fmla="*/ 453434 w 907063"/>
              <a:gd name="connsiteY17" fmla="*/ 794106 h 907573"/>
              <a:gd name="connsiteX18" fmla="*/ 500140 w 907063"/>
              <a:gd name="connsiteY18" fmla="*/ 702482 h 907573"/>
              <a:gd name="connsiteX19" fmla="*/ 477644 w 907063"/>
              <a:gd name="connsiteY19" fmla="*/ 633726 h 907573"/>
              <a:gd name="connsiteX20" fmla="*/ 307476 w 907063"/>
              <a:gd name="connsiteY20" fmla="*/ 561477 h 907573"/>
              <a:gd name="connsiteX21" fmla="*/ 226066 w 907063"/>
              <a:gd name="connsiteY21" fmla="*/ 599937 h 907573"/>
              <a:gd name="connsiteX22" fmla="*/ 126102 w 907063"/>
              <a:gd name="connsiteY22" fmla="*/ 725314 h 907573"/>
              <a:gd name="connsiteX23" fmla="*/ 725 w 907063"/>
              <a:gd name="connsiteY23" fmla="*/ 625353 h 907573"/>
              <a:gd name="connsiteX24" fmla="*/ 100688 w 907063"/>
              <a:gd name="connsiteY24" fmla="*/ 499972 h 907573"/>
              <a:gd name="connsiteX25" fmla="*/ 198490 w 907063"/>
              <a:gd name="connsiteY25" fmla="*/ 537711 h 907573"/>
              <a:gd name="connsiteX26" fmla="*/ 278041 w 907063"/>
              <a:gd name="connsiteY26" fmla="*/ 500158 h 907573"/>
              <a:gd name="connsiteX27" fmla="*/ 313599 w 907063"/>
              <a:gd name="connsiteY27" fmla="*/ 338381 h 907573"/>
              <a:gd name="connsiteX28" fmla="*/ 268653 w 907063"/>
              <a:gd name="connsiteY28" fmla="*/ 287131 h 907573"/>
              <a:gd name="connsiteX29" fmla="*/ 121392 w 907063"/>
              <a:gd name="connsiteY29" fmla="*/ 223675 h 907573"/>
              <a:gd name="connsiteX30" fmla="*/ 184848 w 907063"/>
              <a:gd name="connsiteY30" fmla="*/ 76415 h 907573"/>
              <a:gd name="connsiteX31" fmla="*/ 332109 w 907063"/>
              <a:gd name="connsiteY31" fmla="*/ 139870 h 907573"/>
              <a:gd name="connsiteX32" fmla="*/ 321445 w 907063"/>
              <a:gd name="connsiteY32" fmla="*/ 244135 h 907573"/>
              <a:gd name="connsiteX33" fmla="*/ 366028 w 907063"/>
              <a:gd name="connsiteY33" fmla="*/ 294932 h 907573"/>
              <a:gd name="connsiteX34" fmla="*/ 453516 w 907063"/>
              <a:gd name="connsiteY34" fmla="*/ 272482 h 907573"/>
              <a:gd name="connsiteX35" fmla="*/ 518553 w 907063"/>
              <a:gd name="connsiteY35" fmla="*/ 284500 h 907573"/>
              <a:gd name="connsiteX36" fmla="*/ 575019 w 907063"/>
              <a:gd name="connsiteY36" fmla="*/ 191071 h 907573"/>
              <a:gd name="connsiteX37" fmla="*/ 579922 w 907063"/>
              <a:gd name="connsiteY37" fmla="*/ 30796 h 907573"/>
              <a:gd name="connsiteX38" fmla="*/ 740198 w 907063"/>
              <a:gd name="connsiteY38" fmla="*/ 35699 h 907573"/>
              <a:gd name="connsiteX39" fmla="*/ 770994 w 907063"/>
              <a:gd name="connsiteY39" fmla="*/ 113380 h 907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907063" h="907573">
                <a:moveTo>
                  <a:pt x="770994" y="113334"/>
                </a:moveTo>
                <a:cubicBezTo>
                  <a:pt x="771016" y="175955"/>
                  <a:pt x="720274" y="226739"/>
                  <a:pt x="657654" y="226764"/>
                </a:cubicBezTo>
                <a:cubicBezTo>
                  <a:pt x="649835" y="226767"/>
                  <a:pt x="642039" y="225962"/>
                  <a:pt x="634387" y="224361"/>
                </a:cubicBezTo>
                <a:lnTo>
                  <a:pt x="576334" y="320421"/>
                </a:lnTo>
                <a:cubicBezTo>
                  <a:pt x="613715" y="354730"/>
                  <a:pt x="634977" y="403160"/>
                  <a:pt x="634932" y="453897"/>
                </a:cubicBezTo>
                <a:lnTo>
                  <a:pt x="634932" y="456528"/>
                </a:lnTo>
                <a:lnTo>
                  <a:pt x="693710" y="468365"/>
                </a:lnTo>
                <a:cubicBezTo>
                  <a:pt x="723281" y="413165"/>
                  <a:pt x="792001" y="392388"/>
                  <a:pt x="847197" y="421959"/>
                </a:cubicBezTo>
                <a:cubicBezTo>
                  <a:pt x="902398" y="451530"/>
                  <a:pt x="923174" y="520250"/>
                  <a:pt x="893603" y="575451"/>
                </a:cubicBezTo>
                <a:cubicBezTo>
                  <a:pt x="864033" y="630646"/>
                  <a:pt x="795317" y="651423"/>
                  <a:pt x="740117" y="621852"/>
                </a:cubicBezTo>
                <a:cubicBezTo>
                  <a:pt x="707457" y="604359"/>
                  <a:pt x="685406" y="572013"/>
                  <a:pt x="681057" y="535217"/>
                </a:cubicBezTo>
                <a:lnTo>
                  <a:pt x="621189" y="523198"/>
                </a:lnTo>
                <a:cubicBezTo>
                  <a:pt x="605570" y="560887"/>
                  <a:pt x="577749" y="592241"/>
                  <a:pt x="542183" y="612228"/>
                </a:cubicBezTo>
                <a:lnTo>
                  <a:pt x="564633" y="680803"/>
                </a:lnTo>
                <a:lnTo>
                  <a:pt x="566901" y="680803"/>
                </a:lnTo>
                <a:cubicBezTo>
                  <a:pt x="629521" y="680849"/>
                  <a:pt x="680249" y="731650"/>
                  <a:pt x="680204" y="794270"/>
                </a:cubicBezTo>
                <a:cubicBezTo>
                  <a:pt x="680159" y="856890"/>
                  <a:pt x="629358" y="907618"/>
                  <a:pt x="566737" y="907573"/>
                </a:cubicBezTo>
                <a:cubicBezTo>
                  <a:pt x="504117" y="907528"/>
                  <a:pt x="453389" y="856727"/>
                  <a:pt x="453434" y="794106"/>
                </a:cubicBezTo>
                <a:cubicBezTo>
                  <a:pt x="453461" y="757855"/>
                  <a:pt x="470818" y="723803"/>
                  <a:pt x="500140" y="702482"/>
                </a:cubicBezTo>
                <a:lnTo>
                  <a:pt x="477644" y="633726"/>
                </a:lnTo>
                <a:cubicBezTo>
                  <a:pt x="411976" y="642579"/>
                  <a:pt x="346715" y="614872"/>
                  <a:pt x="307476" y="561477"/>
                </a:cubicBezTo>
                <a:lnTo>
                  <a:pt x="226066" y="599937"/>
                </a:lnTo>
                <a:cubicBezTo>
                  <a:pt x="233084" y="662163"/>
                  <a:pt x="188328" y="718297"/>
                  <a:pt x="126102" y="725314"/>
                </a:cubicBezTo>
                <a:cubicBezTo>
                  <a:pt x="63876" y="732334"/>
                  <a:pt x="7743" y="687579"/>
                  <a:pt x="725" y="625353"/>
                </a:cubicBezTo>
                <a:cubicBezTo>
                  <a:pt x="-6294" y="563123"/>
                  <a:pt x="38462" y="506993"/>
                  <a:pt x="100688" y="499972"/>
                </a:cubicBezTo>
                <a:cubicBezTo>
                  <a:pt x="137496" y="495823"/>
                  <a:pt x="174011" y="509914"/>
                  <a:pt x="198490" y="537711"/>
                </a:cubicBezTo>
                <a:lnTo>
                  <a:pt x="278041" y="500158"/>
                </a:lnTo>
                <a:cubicBezTo>
                  <a:pt x="263193" y="443652"/>
                  <a:pt x="276425" y="383454"/>
                  <a:pt x="313599" y="338381"/>
                </a:cubicBezTo>
                <a:lnTo>
                  <a:pt x="268653" y="287131"/>
                </a:lnTo>
                <a:cubicBezTo>
                  <a:pt x="210465" y="310273"/>
                  <a:pt x="144535" y="281863"/>
                  <a:pt x="121392" y="223675"/>
                </a:cubicBezTo>
                <a:cubicBezTo>
                  <a:pt x="98251" y="165488"/>
                  <a:pt x="126660" y="99557"/>
                  <a:pt x="184848" y="76415"/>
                </a:cubicBezTo>
                <a:cubicBezTo>
                  <a:pt x="243036" y="53273"/>
                  <a:pt x="308966" y="81683"/>
                  <a:pt x="332109" y="139870"/>
                </a:cubicBezTo>
                <a:cubicBezTo>
                  <a:pt x="345794" y="174281"/>
                  <a:pt x="341813" y="213207"/>
                  <a:pt x="321445" y="244135"/>
                </a:cubicBezTo>
                <a:lnTo>
                  <a:pt x="366028" y="294932"/>
                </a:lnTo>
                <a:cubicBezTo>
                  <a:pt x="392819" y="280159"/>
                  <a:pt x="422925" y="272434"/>
                  <a:pt x="453516" y="272482"/>
                </a:cubicBezTo>
                <a:cubicBezTo>
                  <a:pt x="476420" y="272482"/>
                  <a:pt x="498416" y="276745"/>
                  <a:pt x="518553" y="284500"/>
                </a:cubicBezTo>
                <a:lnTo>
                  <a:pt x="575019" y="191071"/>
                </a:lnTo>
                <a:cubicBezTo>
                  <a:pt x="532114" y="145458"/>
                  <a:pt x="534309" y="73701"/>
                  <a:pt x="579922" y="30796"/>
                </a:cubicBezTo>
                <a:cubicBezTo>
                  <a:pt x="625534" y="-12109"/>
                  <a:pt x="697293" y="-9914"/>
                  <a:pt x="740198" y="35699"/>
                </a:cubicBezTo>
                <a:cubicBezTo>
                  <a:pt x="759977" y="56728"/>
                  <a:pt x="770994" y="84510"/>
                  <a:pt x="770994" y="113380"/>
                </a:cubicBezTo>
                <a:close/>
              </a:path>
            </a:pathLst>
          </a:custGeom>
          <a:solidFill>
            <a:schemeClr val="bg1"/>
          </a:solidFill>
          <a:ln w="4524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9D90E79-B224-CA2D-2555-F2584DE86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22" idx="3"/>
            <a:endCxn id="68" idx="1"/>
          </p:cNvCxnSpPr>
          <p:nvPr/>
        </p:nvCxnSpPr>
        <p:spPr>
          <a:xfrm flipV="1">
            <a:off x="4828253" y="2138673"/>
            <a:ext cx="649741" cy="2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">
            <a:extLst>
              <a:ext uri="{FF2B5EF4-FFF2-40B4-BE49-F238E27FC236}">
                <a16:creationId xmlns:a16="http://schemas.microsoft.com/office/drawing/2014/main" id="{52F227C3-E1F7-82D5-B702-127A44B43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095650" y="4848222"/>
            <a:ext cx="2796286" cy="1239152"/>
          </a:xfrm>
          <a:prstGeom prst="roundRect">
            <a:avLst>
              <a:gd name="adj" fmla="val 816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4DF80D1-4EFE-A071-A426-7543D55B4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407996" y="5128035"/>
            <a:ext cx="753403" cy="753403"/>
          </a:xfrm>
          <a:prstGeom prst="ellipse">
            <a:avLst/>
          </a:prstGeom>
          <a:gradFill flip="none" rotWithShape="1">
            <a:gsLst>
              <a:gs pos="80000">
                <a:srgbClr val="1774A7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err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60" name="Graphic 126">
            <a:extLst>
              <a:ext uri="{FF2B5EF4-FFF2-40B4-BE49-F238E27FC236}">
                <a16:creationId xmlns:a16="http://schemas.microsoft.com/office/drawing/2014/main" id="{0559196A-D867-0546-78A3-1874F99B9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50987" y="5335281"/>
            <a:ext cx="318137" cy="351592"/>
          </a:xfrm>
          <a:custGeom>
            <a:avLst/>
            <a:gdLst>
              <a:gd name="connsiteX0" fmla="*/ 100542 w 239021"/>
              <a:gd name="connsiteY0" fmla="*/ 100542 h 264156"/>
              <a:gd name="connsiteX1" fmla="*/ 201083 w 239021"/>
              <a:gd name="connsiteY1" fmla="*/ 50271 h 264156"/>
              <a:gd name="connsiteX2" fmla="*/ 100542 w 239021"/>
              <a:gd name="connsiteY2" fmla="*/ 0 h 264156"/>
              <a:gd name="connsiteX3" fmla="*/ 0 w 239021"/>
              <a:gd name="connsiteY3" fmla="*/ 50271 h 264156"/>
              <a:gd name="connsiteX4" fmla="*/ 100542 w 239021"/>
              <a:gd name="connsiteY4" fmla="*/ 100542 h 264156"/>
              <a:gd name="connsiteX5" fmla="*/ 180070 w 239021"/>
              <a:gd name="connsiteY5" fmla="*/ 102678 h 264156"/>
              <a:gd name="connsiteX6" fmla="*/ 201083 w 239021"/>
              <a:gd name="connsiteY6" fmla="*/ 88640 h 264156"/>
              <a:gd name="connsiteX7" fmla="*/ 201083 w 239021"/>
              <a:gd name="connsiteY7" fmla="*/ 128907 h 264156"/>
              <a:gd name="connsiteX8" fmla="*/ 150561 w 239021"/>
              <a:gd name="connsiteY8" fmla="*/ 113411 h 264156"/>
              <a:gd name="connsiteX9" fmla="*/ 180070 w 239021"/>
              <a:gd name="connsiteY9" fmla="*/ 102678 h 264156"/>
              <a:gd name="connsiteX10" fmla="*/ 87974 w 239021"/>
              <a:gd name="connsiteY10" fmla="*/ 182232 h 264156"/>
              <a:gd name="connsiteX11" fmla="*/ 136121 w 239021"/>
              <a:gd name="connsiteY11" fmla="*/ 248112 h 264156"/>
              <a:gd name="connsiteX12" fmla="*/ 100542 w 239021"/>
              <a:gd name="connsiteY12" fmla="*/ 251354 h 264156"/>
              <a:gd name="connsiteX13" fmla="*/ 0 w 239021"/>
              <a:gd name="connsiteY13" fmla="*/ 201083 h 264156"/>
              <a:gd name="connsiteX14" fmla="*/ 0 w 239021"/>
              <a:gd name="connsiteY14" fmla="*/ 88640 h 264156"/>
              <a:gd name="connsiteX15" fmla="*/ 21013 w 239021"/>
              <a:gd name="connsiteY15" fmla="*/ 102678 h 264156"/>
              <a:gd name="connsiteX16" fmla="*/ 100542 w 239021"/>
              <a:gd name="connsiteY16" fmla="*/ 119393 h 264156"/>
              <a:gd name="connsiteX17" fmla="*/ 135442 w 239021"/>
              <a:gd name="connsiteY17" fmla="*/ 116565 h 264156"/>
              <a:gd name="connsiteX18" fmla="*/ 87974 w 239021"/>
              <a:gd name="connsiteY18" fmla="*/ 182232 h 264156"/>
              <a:gd name="connsiteX19" fmla="*/ 157096 w 239021"/>
              <a:gd name="connsiteY19" fmla="*/ 238786 h 264156"/>
              <a:gd name="connsiteX20" fmla="*/ 189860 w 239021"/>
              <a:gd name="connsiteY20" fmla="*/ 228330 h 264156"/>
              <a:gd name="connsiteX21" fmla="*/ 222700 w 239021"/>
              <a:gd name="connsiteY21" fmla="*/ 261157 h 264156"/>
              <a:gd name="connsiteX22" fmla="*/ 236022 w 239021"/>
              <a:gd name="connsiteY22" fmla="*/ 261627 h 264156"/>
              <a:gd name="connsiteX23" fmla="*/ 236492 w 239021"/>
              <a:gd name="connsiteY23" fmla="*/ 248305 h 264156"/>
              <a:gd name="connsiteX24" fmla="*/ 236022 w 239021"/>
              <a:gd name="connsiteY24" fmla="*/ 247835 h 264156"/>
              <a:gd name="connsiteX25" fmla="*/ 203195 w 239021"/>
              <a:gd name="connsiteY25" fmla="*/ 214996 h 264156"/>
              <a:gd name="connsiteX26" fmla="*/ 189862 w 239021"/>
              <a:gd name="connsiteY26" fmla="*/ 136135 h 264156"/>
              <a:gd name="connsiteX27" fmla="*/ 111001 w 239021"/>
              <a:gd name="connsiteY27" fmla="*/ 149468 h 264156"/>
              <a:gd name="connsiteX28" fmla="*/ 124334 w 239021"/>
              <a:gd name="connsiteY28" fmla="*/ 228329 h 264156"/>
              <a:gd name="connsiteX29" fmla="*/ 157096 w 239021"/>
              <a:gd name="connsiteY29" fmla="*/ 238786 h 264156"/>
              <a:gd name="connsiteX30" fmla="*/ 157096 w 239021"/>
              <a:gd name="connsiteY30" fmla="*/ 219935 h 264156"/>
              <a:gd name="connsiteX31" fmla="*/ 119393 w 239021"/>
              <a:gd name="connsiteY31" fmla="*/ 182232 h 264156"/>
              <a:gd name="connsiteX32" fmla="*/ 157096 w 239021"/>
              <a:gd name="connsiteY32" fmla="*/ 144529 h 264156"/>
              <a:gd name="connsiteX33" fmla="*/ 194799 w 239021"/>
              <a:gd name="connsiteY33" fmla="*/ 182232 h 264156"/>
              <a:gd name="connsiteX34" fmla="*/ 157096 w 239021"/>
              <a:gd name="connsiteY34" fmla="*/ 219935 h 264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39021" h="264156">
                <a:moveTo>
                  <a:pt x="100542" y="100542"/>
                </a:moveTo>
                <a:cubicBezTo>
                  <a:pt x="156066" y="100542"/>
                  <a:pt x="201083" y="78045"/>
                  <a:pt x="201083" y="50271"/>
                </a:cubicBezTo>
                <a:cubicBezTo>
                  <a:pt x="201083" y="22496"/>
                  <a:pt x="156066" y="0"/>
                  <a:pt x="100542" y="0"/>
                </a:cubicBezTo>
                <a:cubicBezTo>
                  <a:pt x="45018" y="0"/>
                  <a:pt x="0" y="22496"/>
                  <a:pt x="0" y="50271"/>
                </a:cubicBezTo>
                <a:cubicBezTo>
                  <a:pt x="0" y="78045"/>
                  <a:pt x="45018" y="100542"/>
                  <a:pt x="100542" y="100542"/>
                </a:cubicBezTo>
                <a:close/>
                <a:moveTo>
                  <a:pt x="180070" y="102678"/>
                </a:moveTo>
                <a:cubicBezTo>
                  <a:pt x="187665" y="98949"/>
                  <a:pt x="194730" y="94228"/>
                  <a:pt x="201083" y="88640"/>
                </a:cubicBezTo>
                <a:lnTo>
                  <a:pt x="201083" y="128907"/>
                </a:lnTo>
                <a:cubicBezTo>
                  <a:pt x="186975" y="117225"/>
                  <a:pt x="168793" y="111649"/>
                  <a:pt x="150561" y="113411"/>
                </a:cubicBezTo>
                <a:cubicBezTo>
                  <a:pt x="160752" y="110899"/>
                  <a:pt x="170646" y="107301"/>
                  <a:pt x="180070" y="102678"/>
                </a:cubicBezTo>
                <a:close/>
                <a:moveTo>
                  <a:pt x="87974" y="182232"/>
                </a:moveTo>
                <a:cubicBezTo>
                  <a:pt x="87974" y="212330"/>
                  <a:pt x="107444" y="238971"/>
                  <a:pt x="136121" y="248112"/>
                </a:cubicBezTo>
                <a:cubicBezTo>
                  <a:pt x="125061" y="250211"/>
                  <a:pt x="113072" y="251354"/>
                  <a:pt x="100542" y="251354"/>
                </a:cubicBezTo>
                <a:cubicBezTo>
                  <a:pt x="45018" y="251354"/>
                  <a:pt x="0" y="228858"/>
                  <a:pt x="0" y="201083"/>
                </a:cubicBezTo>
                <a:lnTo>
                  <a:pt x="0" y="88640"/>
                </a:lnTo>
                <a:cubicBezTo>
                  <a:pt x="6353" y="94228"/>
                  <a:pt x="13419" y="98949"/>
                  <a:pt x="21013" y="102678"/>
                </a:cubicBezTo>
                <a:cubicBezTo>
                  <a:pt x="42353" y="113336"/>
                  <a:pt x="70480" y="119393"/>
                  <a:pt x="100542" y="119393"/>
                </a:cubicBezTo>
                <a:cubicBezTo>
                  <a:pt x="112582" y="119393"/>
                  <a:pt x="124320" y="118426"/>
                  <a:pt x="135442" y="116565"/>
                </a:cubicBezTo>
                <a:cubicBezTo>
                  <a:pt x="107110" y="125920"/>
                  <a:pt x="87971" y="152394"/>
                  <a:pt x="87974" y="182232"/>
                </a:cubicBezTo>
                <a:close/>
                <a:moveTo>
                  <a:pt x="157096" y="238786"/>
                </a:moveTo>
                <a:cubicBezTo>
                  <a:pt x="168841" y="238804"/>
                  <a:pt x="180296" y="235147"/>
                  <a:pt x="189860" y="228330"/>
                </a:cubicBezTo>
                <a:lnTo>
                  <a:pt x="222700" y="261157"/>
                </a:lnTo>
                <a:cubicBezTo>
                  <a:pt x="226249" y="264965"/>
                  <a:pt x="232214" y="265176"/>
                  <a:pt x="236022" y="261627"/>
                </a:cubicBezTo>
                <a:cubicBezTo>
                  <a:pt x="239830" y="258078"/>
                  <a:pt x="240041" y="252115"/>
                  <a:pt x="236492" y="248305"/>
                </a:cubicBezTo>
                <a:cubicBezTo>
                  <a:pt x="236341" y="248143"/>
                  <a:pt x="236184" y="247986"/>
                  <a:pt x="236022" y="247835"/>
                </a:cubicBezTo>
                <a:lnTo>
                  <a:pt x="203195" y="214996"/>
                </a:lnTo>
                <a:cubicBezTo>
                  <a:pt x="221290" y="189537"/>
                  <a:pt x="215320" y="154230"/>
                  <a:pt x="189862" y="136135"/>
                </a:cubicBezTo>
                <a:cubicBezTo>
                  <a:pt x="164403" y="118040"/>
                  <a:pt x="129096" y="124009"/>
                  <a:pt x="111001" y="149468"/>
                </a:cubicBezTo>
                <a:cubicBezTo>
                  <a:pt x="92906" y="174926"/>
                  <a:pt x="98875" y="210234"/>
                  <a:pt x="124334" y="228329"/>
                </a:cubicBezTo>
                <a:cubicBezTo>
                  <a:pt x="133904" y="235132"/>
                  <a:pt x="145354" y="238786"/>
                  <a:pt x="157096" y="238786"/>
                </a:cubicBezTo>
                <a:close/>
                <a:moveTo>
                  <a:pt x="157096" y="219935"/>
                </a:moveTo>
                <a:cubicBezTo>
                  <a:pt x="136273" y="219935"/>
                  <a:pt x="119393" y="203055"/>
                  <a:pt x="119393" y="182232"/>
                </a:cubicBezTo>
                <a:cubicBezTo>
                  <a:pt x="119393" y="161408"/>
                  <a:pt x="136273" y="144529"/>
                  <a:pt x="157096" y="144529"/>
                </a:cubicBezTo>
                <a:cubicBezTo>
                  <a:pt x="177920" y="144529"/>
                  <a:pt x="194799" y="161408"/>
                  <a:pt x="194799" y="182232"/>
                </a:cubicBezTo>
                <a:cubicBezTo>
                  <a:pt x="194799" y="203055"/>
                  <a:pt x="177920" y="219935"/>
                  <a:pt x="157096" y="219935"/>
                </a:cubicBezTo>
                <a:close/>
              </a:path>
            </a:pathLst>
          </a:custGeom>
          <a:solidFill>
            <a:schemeClr val="bg1"/>
          </a:solidFill>
          <a:ln w="123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59BC76C-62A0-B195-1452-95EEC2B99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91936" y="5477315"/>
            <a:ext cx="586058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med" len="med"/>
            <a:tailEnd type="oval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5">
            <a:extLst>
              <a:ext uri="{FF2B5EF4-FFF2-40B4-BE49-F238E27FC236}">
                <a16:creationId xmlns:a16="http://schemas.microsoft.com/office/drawing/2014/main" id="{37BCF46B-EF11-955A-D8B6-3CF9DEE49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477994" y="3177607"/>
            <a:ext cx="2796286" cy="1239152"/>
          </a:xfrm>
          <a:prstGeom prst="roundRect">
            <a:avLst>
              <a:gd name="adj" fmla="val 816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68" name="Rounded Rectangle 5">
            <a:extLst>
              <a:ext uri="{FF2B5EF4-FFF2-40B4-BE49-F238E27FC236}">
                <a16:creationId xmlns:a16="http://schemas.microsoft.com/office/drawing/2014/main" id="{6A94599B-54C6-0DB3-5B70-C8A49C052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477994" y="1519097"/>
            <a:ext cx="2796286" cy="1239152"/>
          </a:xfrm>
          <a:prstGeom prst="roundRect">
            <a:avLst>
              <a:gd name="adj" fmla="val 816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71" name="Rounded Rectangle 5">
            <a:extLst>
              <a:ext uri="{FF2B5EF4-FFF2-40B4-BE49-F238E27FC236}">
                <a16:creationId xmlns:a16="http://schemas.microsoft.com/office/drawing/2014/main" id="{D5CA32B4-E98D-47D8-3F59-D80058284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477994" y="4891501"/>
            <a:ext cx="2796286" cy="1239152"/>
          </a:xfrm>
          <a:prstGeom prst="roundRect">
            <a:avLst>
              <a:gd name="adj" fmla="val 816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9916B-826F-1439-839C-8A51E36AD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log in agentic retrieval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CC384F85-1B96-9CD6-0ED7-526ADB9317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322997" y="1764725"/>
            <a:ext cx="1568939" cy="7478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6548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LLM</a:t>
            </a:r>
          </a:p>
          <a:p>
            <a:pPr marL="0" marR="0" lvl="0" indent="0" algn="ctr" defTabSz="186548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Query Planning</a:t>
            </a:r>
          </a:p>
        </p:txBody>
      </p:sp>
      <p:sp>
        <p:nvSpPr>
          <p:cNvPr id="75" name="Text Placeholder 5">
            <a:extLst>
              <a:ext uri="{FF2B5EF4-FFF2-40B4-BE49-F238E27FC236}">
                <a16:creationId xmlns:a16="http://schemas.microsoft.com/office/drawing/2014/main" id="{28B18AB3-7CBF-E716-BD04-FAFA906B14D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003852" y="1760505"/>
            <a:ext cx="1983293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6548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Input Tokens: 200</a:t>
            </a:r>
          </a:p>
        </p:txBody>
      </p:sp>
      <p:sp>
        <p:nvSpPr>
          <p:cNvPr id="77" name="Text Placeholder 5">
            <a:extLst>
              <a:ext uri="{FF2B5EF4-FFF2-40B4-BE49-F238E27FC236}">
                <a16:creationId xmlns:a16="http://schemas.microsoft.com/office/drawing/2014/main" id="{E6BFC20A-29C7-7479-C6C7-2191877B8D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928698" y="2186819"/>
            <a:ext cx="2133600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6548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Output Tokens: 50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A072035D-F638-7B8A-2198-42A3B0A6C9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3330850" y="3483422"/>
            <a:ext cx="1391634" cy="6976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65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Search</a:t>
            </a:r>
          </a:p>
          <a:p>
            <a:pPr marL="0" marR="0" lvl="0" indent="0" algn="ctr" defTabSz="365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lt"/>
                <a:cs typeface="Segoe UI"/>
              </a:rPr>
              <a:t>Northwind Health Plus plan benefits</a:t>
            </a:r>
          </a:p>
        </p:txBody>
      </p:sp>
      <p:sp>
        <p:nvSpPr>
          <p:cNvPr id="78" name="Text Placeholder 5">
            <a:extLst>
              <a:ext uri="{FF2B5EF4-FFF2-40B4-BE49-F238E27FC236}">
                <a16:creationId xmlns:a16="http://schemas.microsoft.com/office/drawing/2014/main" id="{0C047487-1F8D-9AD2-54B7-02B8454704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853545" y="3483422"/>
            <a:ext cx="2133600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6548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Results: 3</a:t>
            </a:r>
          </a:p>
        </p:txBody>
      </p:sp>
      <p:sp>
        <p:nvSpPr>
          <p:cNvPr id="79" name="Text Placeholder 5">
            <a:extLst>
              <a:ext uri="{FF2B5EF4-FFF2-40B4-BE49-F238E27FC236}">
                <a16:creationId xmlns:a16="http://schemas.microsoft.com/office/drawing/2014/main" id="{4A3F06D5-E2FB-C2BD-9A94-99EFD86954B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853545" y="3931750"/>
            <a:ext cx="2133600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6548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Duration: 200ms</a:t>
            </a:r>
          </a:p>
        </p:txBody>
      </p:sp>
      <p:sp>
        <p:nvSpPr>
          <p:cNvPr id="61" name="TextBox 7">
            <a:extLst>
              <a:ext uri="{FF2B5EF4-FFF2-40B4-BE49-F238E27FC236}">
                <a16:creationId xmlns:a16="http://schemas.microsoft.com/office/drawing/2014/main" id="{F3E3A7F9-7299-DCE4-FAAE-614806971B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3330850" y="5154037"/>
            <a:ext cx="1391634" cy="6976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65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Search</a:t>
            </a:r>
          </a:p>
          <a:p>
            <a:pPr lvl="0" algn="ctr">
              <a:spcAft>
                <a:spcPts val="600"/>
              </a:spcAft>
              <a:defRPr/>
            </a:pPr>
            <a:r>
              <a:rPr lang="en-US" sz="1200" dirty="0">
                <a:solidFill>
                  <a:srgbClr val="000000"/>
                </a:solidFill>
                <a:ea typeface="+mn-lt"/>
                <a:cs typeface="Segoe UI"/>
              </a:rPr>
              <a:t>Standard Northwind Health plan benefits</a:t>
            </a:r>
          </a:p>
        </p:txBody>
      </p:sp>
      <p:sp>
        <p:nvSpPr>
          <p:cNvPr id="84" name="Text Placeholder 5">
            <a:extLst>
              <a:ext uri="{FF2B5EF4-FFF2-40B4-BE49-F238E27FC236}">
                <a16:creationId xmlns:a16="http://schemas.microsoft.com/office/drawing/2014/main" id="{FF8BF4F8-B5F4-725C-3758-746F2654406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853545" y="5113895"/>
            <a:ext cx="2133600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6548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Results: 3</a:t>
            </a:r>
          </a:p>
        </p:txBody>
      </p:sp>
      <p:sp>
        <p:nvSpPr>
          <p:cNvPr id="85" name="Text Placeholder 5">
            <a:extLst>
              <a:ext uri="{FF2B5EF4-FFF2-40B4-BE49-F238E27FC236}">
                <a16:creationId xmlns:a16="http://schemas.microsoft.com/office/drawing/2014/main" id="{1A9A03F9-E47B-3458-F8DA-5077A2660A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853545" y="5562223"/>
            <a:ext cx="2133600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983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96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948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932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915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3897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2880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1864" algn="l" defTabSz="3657965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6548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light"/>
              </a:rPr>
              <a:t>Duration: 250ms</a:t>
            </a:r>
          </a:p>
        </p:txBody>
      </p:sp>
    </p:spTree>
    <p:extLst>
      <p:ext uri="{BB962C8B-B14F-4D97-AF65-F5344CB8AC3E}">
        <p14:creationId xmlns:p14="http://schemas.microsoft.com/office/powerpoint/2010/main" val="1001069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88BC6-D169-43EA-E7E1-7E70A855B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C90060B-B485-20F4-3FCD-D34B5ED37A3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40662" y="609600"/>
            <a:ext cx="11987785" cy="55399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0" normalizeH="0" baseline="0" noProof="0" dirty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rPr>
              <a:t>Demo: Open source RAG solution with Agentic Retrieval</a:t>
            </a:r>
          </a:p>
        </p:txBody>
      </p:sp>
      <p:pic>
        <p:nvPicPr>
          <p:cNvPr id="3" name="Picture 2" descr="screenshot">
            <a:extLst>
              <a:ext uri="{FF2B5EF4-FFF2-40B4-BE49-F238E27FC236}">
                <a16:creationId xmlns:a16="http://schemas.microsoft.com/office/drawing/2014/main" id="{9D58BC6C-125C-7263-AD17-FE86C9D869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08"/>
          <a:stretch>
            <a:fillRect/>
          </a:stretch>
        </p:blipFill>
        <p:spPr>
          <a:xfrm>
            <a:off x="740662" y="1864708"/>
            <a:ext cx="6090308" cy="43982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6" name="Picture 2" descr="Scan me!">
            <a:extLst>
              <a:ext uri="{FF2B5EF4-FFF2-40B4-BE49-F238E27FC236}">
                <a16:creationId xmlns:a16="http://schemas.microsoft.com/office/drawing/2014/main" id="{A5A1B1B2-C489-FB1D-AB75-90E1FCFFA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9910" y="1884399"/>
            <a:ext cx="2203818" cy="2203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FE910C-869F-FB87-5F7B-7FFB0DCBD6DE}"/>
              </a:ext>
            </a:extLst>
          </p:cNvPr>
          <p:cNvSpPr txBox="1"/>
          <p:nvPr/>
        </p:nvSpPr>
        <p:spPr>
          <a:xfrm>
            <a:off x="6948310" y="4309408"/>
            <a:ext cx="413467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/>
              <a:t>Code:</a:t>
            </a:r>
          </a:p>
          <a:p>
            <a:pPr algn="l"/>
            <a:r>
              <a:rPr lang="en-US" sz="2400" dirty="0">
                <a:hlinkClick r:id="rId5"/>
              </a:rPr>
              <a:t>aka.ms/</a:t>
            </a:r>
            <a:r>
              <a:rPr lang="en-US" sz="2400" dirty="0" err="1">
                <a:hlinkClick r:id="rId5"/>
              </a:rPr>
              <a:t>ragchat</a:t>
            </a:r>
            <a:endParaRPr lang="en-US" sz="2400" dirty="0"/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Docs:</a:t>
            </a:r>
          </a:p>
          <a:p>
            <a:pPr algn="l"/>
            <a:r>
              <a:rPr lang="en-US" sz="2400" dirty="0">
                <a:hlinkClick r:id="rId6"/>
              </a:rPr>
              <a:t>aka.ms/</a:t>
            </a:r>
            <a:r>
              <a:rPr lang="en-US" sz="2400" dirty="0" err="1">
                <a:hlinkClick r:id="rId6"/>
              </a:rPr>
              <a:t>ragchat</a:t>
            </a:r>
            <a:r>
              <a:rPr lang="en-US" sz="2400" dirty="0">
                <a:hlinkClick r:id="rId6"/>
              </a:rPr>
              <a:t>/agentic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08280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5DCFB-9668-E9D5-6DD5-C2472A739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Activity log in agentic retrieval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9C23E26-734D-59E4-9A2B-83E4106B647B}"/>
              </a:ext>
            </a:extLst>
          </p:cNvPr>
          <p:cNvSpPr txBox="1">
            <a:spLocks/>
          </p:cNvSpPr>
          <p:nvPr/>
        </p:nvSpPr>
        <p:spPr>
          <a:xfrm>
            <a:off x="584200" y="1652390"/>
            <a:ext cx="11025188" cy="5407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0" baseline="0">
                <a:solidFill>
                  <a:srgbClr val="2F2F2F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1pPr>
            <a:lvl2pPr marL="346449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3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2pPr>
            <a:lvl3pPr marL="584432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9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3pPr>
            <a:lvl4pPr marL="814319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7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4pPr>
            <a:lvl5pPr marL="1050682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7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"type"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ModelQueryPlanning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input_tokens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1359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output_tokens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489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"type"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AzureSearchQuery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target_index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health_plans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"query"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{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"search"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"Northwind Health Plus plan benefits"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"count"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elapsed_ms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"type"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AzureSearchQuery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target_index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health_plans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"query"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{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"search"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"Standard Northwind Health plan benefits"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"count"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elapsed_ms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{  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"type"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AzureSearchSemanticRanker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input_tokens</a:t>
            </a:r>
            <a:r>
              <a:rPr lang="en-US" sz="13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74224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54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E4D08-B6BA-2875-600D-57A56460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Create a search agent (Python)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0770D72-3D6A-64F5-CFA0-F4869A10B64A}"/>
              </a:ext>
            </a:extLst>
          </p:cNvPr>
          <p:cNvSpPr txBox="1">
            <a:spLocks/>
          </p:cNvSpPr>
          <p:nvPr/>
        </p:nvSpPr>
        <p:spPr>
          <a:xfrm>
            <a:off x="584200" y="1652390"/>
            <a:ext cx="11025188" cy="5314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0" baseline="0">
                <a:solidFill>
                  <a:srgbClr val="2F2F2F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1pPr>
            <a:lvl2pPr marL="346449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3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2pPr>
            <a:lvl3pPr marL="584432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9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3pPr>
            <a:lvl4pPr marL="814319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7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4pPr>
            <a:lvl5pPr marL="1050682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7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7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azure.search.documents.indexes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SearchIndexClient</a:t>
            </a:r>
            <a:endParaRPr lang="en-US" sz="17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azure.search.documents.indexes.models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KnowledgeAgent</a:t>
            </a:r>
            <a:endParaRPr lang="en-US" sz="17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index_client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SearchIndexClient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endpoint</a:t>
            </a:r>
            <a:r>
              <a:rPr lang="en-US" sz="17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endpoint, </a:t>
            </a:r>
            <a:r>
              <a:rPr lang="en-US" sz="17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credential</a:t>
            </a:r>
            <a:r>
              <a:rPr lang="en-US" sz="17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DefaultAzureCredential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agent </a:t>
            </a:r>
            <a:r>
              <a:rPr lang="en-US" sz="17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KnowledgeAgent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7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agent_name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sz="17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7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KnowledgeAgentAzureOpenAIModel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sz="17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azure_open_ai_parameters</a:t>
            </a:r>
            <a:r>
              <a:rPr lang="en-US" sz="17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endParaRPr lang="en-US" sz="17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US" sz="17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AzureOpenAIVectorizerParameters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US" sz="17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resource_url</a:t>
            </a:r>
            <a:r>
              <a:rPr lang="en-US" sz="17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azure_openai_endpoint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US" sz="17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deployment_name</a:t>
            </a:r>
            <a:r>
              <a:rPr lang="en-US" sz="17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azure_openai_deployment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US" sz="17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model_name</a:t>
            </a:r>
            <a:r>
              <a:rPr lang="en-US" sz="17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azure_openai_gpt_model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))],</a:t>
            </a:r>
          </a:p>
          <a:p>
            <a:pPr>
              <a:buNone/>
            </a:pP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target_indexes</a:t>
            </a:r>
            <a:r>
              <a:rPr lang="en-US" sz="17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7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KnowledgeAgentTargetIndex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index_name</a:t>
            </a:r>
            <a:r>
              <a:rPr lang="en-US" sz="17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index_name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default_reranker_threshold</a:t>
            </a:r>
            <a:r>
              <a:rPr lang="en-US" sz="17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)])</a:t>
            </a:r>
          </a:p>
          <a:p>
            <a:pPr>
              <a:buNone/>
            </a:pPr>
            <a:r>
              <a:rPr lang="en-US" sz="17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index_client.create_or_update_agent</a:t>
            </a:r>
            <a:r>
              <a:rPr lang="en-US" sz="17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(agent)</a:t>
            </a:r>
          </a:p>
          <a:p>
            <a:pPr>
              <a:lnSpc>
                <a:spcPts val="1425"/>
              </a:lnSpc>
            </a:pPr>
            <a:b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99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33D57ED-717F-09AE-7CF5-B97F93DB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F3CAC-D482-5088-B4A3-DCB1D08ED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agentic retrieval (Python)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1323607-F8A3-CCD6-97BB-13EC48C7EC33}"/>
              </a:ext>
            </a:extLst>
          </p:cNvPr>
          <p:cNvSpPr txBox="1">
            <a:spLocks/>
          </p:cNvSpPr>
          <p:nvPr/>
        </p:nvSpPr>
        <p:spPr>
          <a:xfrm>
            <a:off x="584200" y="1747800"/>
            <a:ext cx="11025188" cy="5189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0" baseline="0">
                <a:solidFill>
                  <a:srgbClr val="2F2F2F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1pPr>
            <a:lvl2pPr marL="346449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3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2pPr>
            <a:lvl3pPr marL="584432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9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3pPr>
            <a:lvl4pPr marL="814319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7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4pPr>
            <a:lvl5pPr marL="1050682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7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agent_client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KnowledgeAgentRetrievalClient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endpoint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endpoint,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agent_name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agent_name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credential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credential)</a:t>
            </a:r>
          </a:p>
          <a:p>
            <a:pPr>
              <a:buNone/>
            </a:pPr>
            <a:b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messages.append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buNone/>
            </a:pP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"user"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"content"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"What is included in my Northwind Health Plus plan that is not in standard?"</a:t>
            </a: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buNone/>
            </a:pPr>
            <a:b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retrieval_result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agent_client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.knowledge_retrieval.retrieve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retrieval_request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KnowledgeAgentRetrievalRequest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messages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KnowledgeAgentMessage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role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], </a:t>
            </a:r>
          </a:p>
          <a:p>
            <a:pPr>
              <a:buNone/>
            </a:pP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KnowledgeAgentMessageTextContent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"content"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])])</a:t>
            </a:r>
          </a:p>
          <a:p>
            <a:pPr>
              <a:buNone/>
            </a:pP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messages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"system"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target_index_params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KnowledgeAgentIndexParams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index_name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index_name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reranker_threshold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)]</a:t>
            </a:r>
          </a:p>
          <a:p>
            <a:pPr>
              <a:buNone/>
            </a:pP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buNone/>
            </a:pP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messages.append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buNone/>
            </a:pP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"assistant"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"content"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retrieval_result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.response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].content[</a:t>
            </a:r>
            <a:r>
              <a:rPr lang="en-US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].text</a:t>
            </a:r>
          </a:p>
          <a:p>
            <a:pPr>
              <a:buNone/>
            </a:pP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br>
              <a:rPr lang="en-US" sz="12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2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57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198DCC-CBC1-8F91-1B6A-D23F41154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08004-53AA-9DE2-68FB-2559C6C72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agentic retrieval (C#)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B2648F7-8C09-B945-C9B2-4E11B97C283B}"/>
              </a:ext>
            </a:extLst>
          </p:cNvPr>
          <p:cNvSpPr txBox="1">
            <a:spLocks/>
          </p:cNvSpPr>
          <p:nvPr/>
        </p:nvSpPr>
        <p:spPr>
          <a:xfrm>
            <a:off x="581595" y="1649300"/>
            <a:ext cx="11025188" cy="532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0" baseline="0">
                <a:solidFill>
                  <a:srgbClr val="2F2F2F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1pPr>
            <a:lvl2pPr marL="346449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3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2pPr>
            <a:lvl3pPr marL="584432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9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3pPr>
            <a:lvl4pPr marL="814319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7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4pPr>
            <a:lvl5pPr marL="1050682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7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3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Azure</a:t>
            </a:r>
            <a:r>
              <a:rPr lang="en-US" sz="13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US" sz="13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Documents</a:t>
            </a:r>
            <a:r>
              <a:rPr lang="en-US" sz="13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Agents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agentClient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KnowledgeAgentRetrievalClient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endpoint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endpoint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agentName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agentName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tokenCredential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DefaultAzureCredential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());</a:t>
            </a:r>
            <a:b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retrievalResult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agentClient</a:t>
            </a:r>
            <a:r>
              <a:rPr lang="en-US" sz="13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RetrieveAsync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retrievalRequest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KnowledgeAgentRetrievalRequest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messages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messages</a:t>
            </a:r>
            <a:endParaRPr lang="en-US" sz="13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"system"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KnowledgeAgentMessage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role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3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 { </a:t>
            </a:r>
            <a:r>
              <a:rPr lang="en-US" sz="13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KnowledgeAgentMessageTextContent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"content"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 }))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 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TargetIndexParams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3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KnowledgeAgentIndexParams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      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IndexName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indexName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RerankerThreshold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2.5f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} });</a:t>
            </a:r>
            <a:b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messages</a:t>
            </a:r>
            <a:r>
              <a:rPr lang="en-US" sz="13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Dictionary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3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 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"assistant"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 </a:t>
            </a:r>
            <a:r>
              <a:rPr lang="en-US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"content"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retrievalResult</a:t>
            </a:r>
            <a:r>
              <a:rPr lang="en-US" sz="13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3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3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3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KnowledgeAgentMessageTextContent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buNone/>
            </a:pPr>
            <a: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});</a:t>
            </a:r>
            <a:br>
              <a:rPr lang="en-US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3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031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9B7647B-EC4A-F606-A7CE-AE72C9E0A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0F08-5679-8108-C2B4-84B9D9ADA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Create a search agent (C#)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45DAEA7-3C1D-F3A3-04AF-B35BB8E7C503}"/>
              </a:ext>
            </a:extLst>
          </p:cNvPr>
          <p:cNvSpPr txBox="1">
            <a:spLocks/>
          </p:cNvSpPr>
          <p:nvPr/>
        </p:nvSpPr>
        <p:spPr>
          <a:xfrm>
            <a:off x="584200" y="1670856"/>
            <a:ext cx="11025188" cy="4038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0" baseline="0">
                <a:solidFill>
                  <a:srgbClr val="2F2F2F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1pPr>
            <a:lvl2pPr marL="346449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3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2pPr>
            <a:lvl3pPr marL="584432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9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3pPr>
            <a:lvl4pPr marL="814319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7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4pPr>
            <a:lvl5pPr marL="1050682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7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Azure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Documents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Indexes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indexClient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SearchIndexClient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endpoint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DefaultAzureCredential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agentModel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KnowledgeAgentAzureOpenAIModel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azureOpenAIParameters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openAiParameters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targetIndex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KnowledgeAgentTargetIndex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indexName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DefaultRerankerThreshold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2.5f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agent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KnowledgeAgent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agentName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 {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agentModel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targetIndexes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 {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targetIndex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pPr>
              <a:buNone/>
            </a:pP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indexClient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CreateOrUpdateKnowledgeAgentAsync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agent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680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8ECD35-7152-A33F-068D-4AA57D3A0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5" y="2972510"/>
            <a:ext cx="9582041" cy="1107996"/>
          </a:xfrm>
        </p:spPr>
        <p:txBody>
          <a:bodyPr/>
          <a:lstStyle/>
          <a:p>
            <a:r>
              <a:rPr lang="en-US"/>
              <a:t>Agentic retrieval </a:t>
            </a:r>
            <a:br>
              <a:rPr lang="en-US"/>
            </a:br>
            <a:r>
              <a:rPr lang="en-US"/>
              <a:t>in Azure AI Foundry Agent Service</a:t>
            </a:r>
          </a:p>
        </p:txBody>
      </p:sp>
    </p:spTree>
    <p:extLst>
      <p:ext uri="{BB962C8B-B14F-4D97-AF65-F5344CB8AC3E}">
        <p14:creationId xmlns:p14="http://schemas.microsoft.com/office/powerpoint/2010/main" val="39001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77FF9-61B2-2B96-236A-EC7FEF2D0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BE3C-46A5-32E5-8AC8-BE0EFCBCA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033" y="457200"/>
            <a:ext cx="6725710" cy="554038"/>
          </a:xfrm>
        </p:spPr>
        <p:txBody>
          <a:bodyPr/>
          <a:lstStyle/>
          <a:p>
            <a:pPr algn="ctr"/>
            <a:r>
              <a:rPr lang="en-US"/>
              <a:t>Azure AI Foundry Agent Service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AAB166-28BF-6771-68D9-1598636CC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448" y="389858"/>
            <a:ext cx="644663" cy="64466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B1E3845-EC57-BE1F-7CD7-C5B5D3DD3E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84200" y="1303994"/>
            <a:ext cx="11025188" cy="554038"/>
          </a:xfrm>
          <a:prstGeom prst="roundRect">
            <a:avLst>
              <a:gd name="adj" fmla="val 28997"/>
            </a:avLst>
          </a:pr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square" lIns="146957" tIns="25718" rIns="146957" bIns="27432" rtlCol="0" anchor="ctr">
            <a:noAutofit/>
          </a:bodyPr>
          <a:lstStyle>
            <a:defPPr>
              <a:defRPr lang="en-US"/>
            </a:defPPr>
            <a:lvl1pPr algn="ctr" defTabSz="2275850" fontAlgn="base">
              <a:spcBef>
                <a:spcPct val="0"/>
              </a:spcBef>
              <a:spcAft>
                <a:spcPct val="0"/>
              </a:spcAft>
              <a:tabLst>
                <a:tab pos="3701239" algn="l"/>
              </a:tabLst>
              <a:defRPr sz="6000" b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" pitchFamily="2" charset="0"/>
                <a:cs typeface="Segoe UI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r>
              <a:rPr kumimoji="0" lang="en-US" sz="22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Securely design, deploy, and scale AI agents with ease</a:t>
            </a:r>
          </a:p>
        </p:txBody>
      </p:sp>
      <p:sp>
        <p:nvSpPr>
          <p:cNvPr id="31" name="Rounded Rectangle 14">
            <a:extLst>
              <a:ext uri="{FF2B5EF4-FFF2-40B4-BE49-F238E27FC236}">
                <a16:creationId xmlns:a16="http://schemas.microsoft.com/office/drawing/2014/main" id="{1FE8B32C-F5A3-83DB-91FE-ED4960FEF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4201" y="2071443"/>
            <a:ext cx="3481388" cy="3536696"/>
          </a:xfrm>
          <a:prstGeom prst="roundRect">
            <a:avLst>
              <a:gd name="adj" fmla="val 454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err="1">
              <a:ln>
                <a:noFill/>
              </a:ln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97E003-FF8C-EB7D-883B-3B88BDB89CC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888273" y="2244152"/>
            <a:ext cx="2873245" cy="430887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80000">
                      <a:srgbClr val="318581"/>
                    </a:gs>
                    <a:gs pos="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Tools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B964E065-9B6C-4B5B-1A3B-EC7E18B475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953295" y="2745433"/>
            <a:ext cx="2743200" cy="43088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Sans Text" pitchFamily="2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Sans Text" pitchFamily="2" charset="0"/>
              </a:rPr>
              <a:t>Richest set of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Sans Text" pitchFamily="2" charset="0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Sans Text" pitchFamily="2" charset="0"/>
              </a:rPr>
              <a:t>enterprise connectivity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9E2656A-A3D2-86AF-A62B-E5B6F32FE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9287" y="3282272"/>
            <a:ext cx="2871216" cy="0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DABE4836-B80C-87FF-1158-D0D5E7AF1EB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1543431" y="3491606"/>
            <a:ext cx="1562928" cy="246221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 anchorCtr="0">
            <a:spAutoFit/>
          </a:bodyPr>
          <a:lstStyle>
            <a:defPPr>
              <a:defRPr lang="en-US"/>
            </a:defPPr>
            <a:lvl1pPr defTabSz="914437" fontAlgn="base">
              <a:spcBef>
                <a:spcPct val="0"/>
              </a:spcBef>
              <a:spcAft>
                <a:spcPts val="1200"/>
              </a:spcAft>
              <a:tabLst>
                <a:tab pos="1371655" algn="l"/>
              </a:tabLst>
              <a:defRPr sz="2400" b="1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+mj-lt"/>
                <a:cs typeface="Segoe UI" pitchFamily="34" charset="0"/>
              </a:defRPr>
            </a:lvl1pPr>
          </a:lstStyle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16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Knowledge</a:t>
            </a:r>
          </a:p>
        </p:txBody>
      </p:sp>
      <p:pic>
        <p:nvPicPr>
          <p:cNvPr id="117" name="Picture 2" descr="Microsoft Fabric Logo.">
            <a:extLst>
              <a:ext uri="{FF2B5EF4-FFF2-40B4-BE49-F238E27FC236}">
                <a16:creationId xmlns:a16="http://schemas.microsoft.com/office/drawing/2014/main" id="{6831B368-6C8B-7828-547C-3D20AA9570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201" y="3887986"/>
            <a:ext cx="298566" cy="298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" name="Picture 6" descr="Microsoft SharePoint Logo">
            <a:extLst>
              <a:ext uri="{FF2B5EF4-FFF2-40B4-BE49-F238E27FC236}">
                <a16:creationId xmlns:a16="http://schemas.microsoft.com/office/drawing/2014/main" id="{9814DCFB-BC0E-AD68-1265-F3F3EFBD9F9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96" y="3824008"/>
            <a:ext cx="639782" cy="42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" name="Picture 4" descr="Microsoft Bing Logo">
            <a:extLst>
              <a:ext uri="{FF2B5EF4-FFF2-40B4-BE49-F238E27FC236}">
                <a16:creationId xmlns:a16="http://schemas.microsoft.com/office/drawing/2014/main" id="{25BB53D9-2A5E-BC8D-8D65-954E9678420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742" y="3897294"/>
            <a:ext cx="185338" cy="279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Picture 4" descr="azure cognitive search logo">
            <a:extLst>
              <a:ext uri="{FF2B5EF4-FFF2-40B4-BE49-F238E27FC236}">
                <a16:creationId xmlns:a16="http://schemas.microsoft.com/office/drawing/2014/main" id="{65859A69-0B6E-F051-885C-80CA370583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923" y="3868831"/>
            <a:ext cx="641667" cy="33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83098385-8651-11B5-F25A-1070F328DF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1543431" y="4367488"/>
            <a:ext cx="1562928" cy="246221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 anchorCtr="0">
            <a:spAutoFit/>
          </a:bodyPr>
          <a:lstStyle>
            <a:defPPr>
              <a:defRPr lang="en-US"/>
            </a:defPPr>
            <a:lvl1pPr defTabSz="914437" fontAlgn="base">
              <a:spcBef>
                <a:spcPct val="0"/>
              </a:spcBef>
              <a:spcAft>
                <a:spcPts val="1200"/>
              </a:spcAft>
              <a:tabLst>
                <a:tab pos="1371655" algn="l"/>
              </a:tabLst>
              <a:defRPr sz="2400" b="1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+mj-lt"/>
                <a:cs typeface="Segoe UI" pitchFamily="34" charset="0"/>
              </a:defRPr>
            </a:lvl1pPr>
          </a:lstStyle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16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Actions</a:t>
            </a:r>
          </a:p>
        </p:txBody>
      </p:sp>
      <p:pic>
        <p:nvPicPr>
          <p:cNvPr id="114" name="Picture 6">
            <a:extLst>
              <a:ext uri="{FF2B5EF4-FFF2-40B4-BE49-F238E27FC236}">
                <a16:creationId xmlns:a16="http://schemas.microsoft.com/office/drawing/2014/main" id="{F82ACDEA-93CB-30E0-51E1-C5AF9C548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882" y="4823462"/>
            <a:ext cx="453409" cy="238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5AFB42A6-FE03-2885-CDD7-2D4FF39381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857506" y="5083125"/>
            <a:ext cx="670160" cy="3385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32742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4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Segoe Sans Text" pitchFamily="2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  <a:t>Logic </a:t>
            </a: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  <a:t>Apps</a:t>
            </a:r>
          </a:p>
        </p:txBody>
      </p:sp>
      <p:pic>
        <p:nvPicPr>
          <p:cNvPr id="110" name="Picture 2">
            <a:extLst>
              <a:ext uri="{FF2B5EF4-FFF2-40B4-BE49-F238E27FC236}">
                <a16:creationId xmlns:a16="http://schemas.microsoft.com/office/drawing/2014/main" id="{39580520-A81D-C88D-CDDE-9F1AF11E1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336" y="4730988"/>
            <a:ext cx="416116" cy="41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36114684-257B-A04A-0F56-0A105B8803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1663314" y="5093789"/>
            <a:ext cx="670160" cy="3385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32742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4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Segoe Sans Text" pitchFamily="2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  <a:t>Azure Functions</a:t>
            </a:r>
          </a:p>
        </p:txBody>
      </p:sp>
      <p:pic>
        <p:nvPicPr>
          <p:cNvPr id="112" name="Picture 4">
            <a:extLst>
              <a:ext uri="{FF2B5EF4-FFF2-40B4-BE49-F238E27FC236}">
                <a16:creationId xmlns:a16="http://schemas.microsoft.com/office/drawing/2014/main" id="{7B698117-CCF4-A5D8-6062-BC7E1AFC3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418" y="4655439"/>
            <a:ext cx="387062" cy="387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A590D745-6793-C816-BE5D-5250E32E7B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2402869" y="5080307"/>
            <a:ext cx="670160" cy="3385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32742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4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Segoe Sans Text" pitchFamily="2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  <a:t>Open</a:t>
            </a: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  <a:t>API</a:t>
            </a: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65EC4E1B-1F2D-B06C-6313-BC9D9C7DD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404"/>
          <a:stretch/>
        </p:blipFill>
        <p:spPr bwMode="auto">
          <a:xfrm>
            <a:off x="3292781" y="4729307"/>
            <a:ext cx="328847" cy="350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699B8106-5349-5C65-6E4F-17ED5ACA211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3122124" y="5087048"/>
            <a:ext cx="670160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32742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4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Segoe Sans Text" pitchFamily="2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  <a:t>MCP</a:t>
            </a:r>
          </a:p>
        </p:txBody>
      </p:sp>
      <p:sp>
        <p:nvSpPr>
          <p:cNvPr id="50" name="Graphic 48" descr="Plus icon.">
            <a:extLst>
              <a:ext uri="{FF2B5EF4-FFF2-40B4-BE49-F238E27FC236}">
                <a16:creationId xmlns:a16="http://schemas.microsoft.com/office/drawing/2014/main" id="{2648AAD8-C4B2-0DE7-6DBC-D7CCE9F4D4D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04575" y="3733521"/>
            <a:ext cx="212540" cy="212540"/>
          </a:xfrm>
          <a:custGeom>
            <a:avLst/>
            <a:gdLst>
              <a:gd name="connsiteX0" fmla="*/ 84611 w 171450"/>
              <a:gd name="connsiteY0" fmla="*/ 67 h 171450"/>
              <a:gd name="connsiteX1" fmla="*/ 85725 w 171450"/>
              <a:gd name="connsiteY1" fmla="*/ 0 h 171450"/>
              <a:gd name="connsiteX2" fmla="*/ 95183 w 171450"/>
              <a:gd name="connsiteY2" fmla="*/ 8411 h 171450"/>
              <a:gd name="connsiteX3" fmla="*/ 95250 w 171450"/>
              <a:gd name="connsiteY3" fmla="*/ 9525 h 171450"/>
              <a:gd name="connsiteX4" fmla="*/ 95250 w 171450"/>
              <a:gd name="connsiteY4" fmla="*/ 76200 h 171450"/>
              <a:gd name="connsiteX5" fmla="*/ 161925 w 171450"/>
              <a:gd name="connsiteY5" fmla="*/ 76200 h 171450"/>
              <a:gd name="connsiteX6" fmla="*/ 171383 w 171450"/>
              <a:gd name="connsiteY6" fmla="*/ 84611 h 171450"/>
              <a:gd name="connsiteX7" fmla="*/ 171450 w 171450"/>
              <a:gd name="connsiteY7" fmla="*/ 85725 h 171450"/>
              <a:gd name="connsiteX8" fmla="*/ 163039 w 171450"/>
              <a:gd name="connsiteY8" fmla="*/ 95183 h 171450"/>
              <a:gd name="connsiteX9" fmla="*/ 161925 w 171450"/>
              <a:gd name="connsiteY9" fmla="*/ 95250 h 171450"/>
              <a:gd name="connsiteX10" fmla="*/ 95250 w 171450"/>
              <a:gd name="connsiteY10" fmla="*/ 95250 h 171450"/>
              <a:gd name="connsiteX11" fmla="*/ 95250 w 171450"/>
              <a:gd name="connsiteY11" fmla="*/ 161925 h 171450"/>
              <a:gd name="connsiteX12" fmla="*/ 86839 w 171450"/>
              <a:gd name="connsiteY12" fmla="*/ 171383 h 171450"/>
              <a:gd name="connsiteX13" fmla="*/ 85725 w 171450"/>
              <a:gd name="connsiteY13" fmla="*/ 171450 h 171450"/>
              <a:gd name="connsiteX14" fmla="*/ 76267 w 171450"/>
              <a:gd name="connsiteY14" fmla="*/ 163039 h 171450"/>
              <a:gd name="connsiteX15" fmla="*/ 76200 w 171450"/>
              <a:gd name="connsiteY15" fmla="*/ 161925 h 171450"/>
              <a:gd name="connsiteX16" fmla="*/ 76200 w 171450"/>
              <a:gd name="connsiteY16" fmla="*/ 95250 h 171450"/>
              <a:gd name="connsiteX17" fmla="*/ 9525 w 171450"/>
              <a:gd name="connsiteY17" fmla="*/ 95250 h 171450"/>
              <a:gd name="connsiteX18" fmla="*/ 67 w 171450"/>
              <a:gd name="connsiteY18" fmla="*/ 86839 h 171450"/>
              <a:gd name="connsiteX19" fmla="*/ 0 w 171450"/>
              <a:gd name="connsiteY19" fmla="*/ 85725 h 171450"/>
              <a:gd name="connsiteX20" fmla="*/ 8411 w 171450"/>
              <a:gd name="connsiteY20" fmla="*/ 76267 h 171450"/>
              <a:gd name="connsiteX21" fmla="*/ 9525 w 171450"/>
              <a:gd name="connsiteY21" fmla="*/ 76200 h 171450"/>
              <a:gd name="connsiteX22" fmla="*/ 76200 w 171450"/>
              <a:gd name="connsiteY22" fmla="*/ 76200 h 171450"/>
              <a:gd name="connsiteX23" fmla="*/ 76200 w 171450"/>
              <a:gd name="connsiteY23" fmla="*/ 9525 h 171450"/>
              <a:gd name="connsiteX24" fmla="*/ 84611 w 171450"/>
              <a:gd name="connsiteY24" fmla="*/ 67 h 171450"/>
              <a:gd name="connsiteX25" fmla="*/ 85725 w 171450"/>
              <a:gd name="connsiteY25" fmla="*/ 0 h 171450"/>
              <a:gd name="connsiteX26" fmla="*/ 84611 w 171450"/>
              <a:gd name="connsiteY26" fmla="*/ 67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1450" h="171450">
                <a:moveTo>
                  <a:pt x="84611" y="67"/>
                </a:moveTo>
                <a:lnTo>
                  <a:pt x="85725" y="0"/>
                </a:lnTo>
                <a:cubicBezTo>
                  <a:pt x="90554" y="1"/>
                  <a:pt x="94618" y="3615"/>
                  <a:pt x="95183" y="8411"/>
                </a:cubicBezTo>
                <a:lnTo>
                  <a:pt x="95250" y="9525"/>
                </a:lnTo>
                <a:lnTo>
                  <a:pt x="95250" y="76200"/>
                </a:lnTo>
                <a:lnTo>
                  <a:pt x="161925" y="76200"/>
                </a:lnTo>
                <a:cubicBezTo>
                  <a:pt x="166754" y="76201"/>
                  <a:pt x="170819" y="79815"/>
                  <a:pt x="171383" y="84611"/>
                </a:cubicBezTo>
                <a:lnTo>
                  <a:pt x="171450" y="85725"/>
                </a:lnTo>
                <a:cubicBezTo>
                  <a:pt x="171449" y="90554"/>
                  <a:pt x="167835" y="94618"/>
                  <a:pt x="163039" y="95183"/>
                </a:cubicBezTo>
                <a:lnTo>
                  <a:pt x="161925" y="95250"/>
                </a:lnTo>
                <a:lnTo>
                  <a:pt x="95250" y="95250"/>
                </a:lnTo>
                <a:lnTo>
                  <a:pt x="95250" y="161925"/>
                </a:lnTo>
                <a:cubicBezTo>
                  <a:pt x="95249" y="166754"/>
                  <a:pt x="91635" y="170819"/>
                  <a:pt x="86839" y="171383"/>
                </a:cubicBezTo>
                <a:lnTo>
                  <a:pt x="85725" y="171450"/>
                </a:lnTo>
                <a:cubicBezTo>
                  <a:pt x="80896" y="171449"/>
                  <a:pt x="76832" y="167835"/>
                  <a:pt x="76267" y="163039"/>
                </a:cubicBezTo>
                <a:lnTo>
                  <a:pt x="76200" y="161925"/>
                </a:lnTo>
                <a:lnTo>
                  <a:pt x="76200" y="95250"/>
                </a:lnTo>
                <a:lnTo>
                  <a:pt x="9525" y="95250"/>
                </a:lnTo>
                <a:cubicBezTo>
                  <a:pt x="4696" y="95249"/>
                  <a:pt x="632" y="91635"/>
                  <a:pt x="67" y="86839"/>
                </a:cubicBezTo>
                <a:lnTo>
                  <a:pt x="0" y="85725"/>
                </a:lnTo>
                <a:cubicBezTo>
                  <a:pt x="1" y="80896"/>
                  <a:pt x="3615" y="76832"/>
                  <a:pt x="8411" y="76267"/>
                </a:cubicBezTo>
                <a:lnTo>
                  <a:pt x="9525" y="76200"/>
                </a:lnTo>
                <a:lnTo>
                  <a:pt x="76200" y="76200"/>
                </a:lnTo>
                <a:lnTo>
                  <a:pt x="76200" y="9525"/>
                </a:lnTo>
                <a:cubicBezTo>
                  <a:pt x="76201" y="4696"/>
                  <a:pt x="79815" y="632"/>
                  <a:pt x="84611" y="67"/>
                </a:cubicBezTo>
                <a:lnTo>
                  <a:pt x="85725" y="0"/>
                </a:lnTo>
                <a:lnTo>
                  <a:pt x="84611" y="67"/>
                </a:lnTo>
                <a:close/>
              </a:path>
            </a:pathLst>
          </a:custGeom>
          <a:solidFill>
            <a:srgbClr val="212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4" name="Rounded Rectangle 14">
            <a:extLst>
              <a:ext uri="{FF2B5EF4-FFF2-40B4-BE49-F238E27FC236}">
                <a16:creationId xmlns:a16="http://schemas.microsoft.com/office/drawing/2014/main" id="{48D84019-E2B7-AAF3-B9CE-A4565E091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356101" y="2071443"/>
            <a:ext cx="3481388" cy="3536696"/>
          </a:xfrm>
          <a:prstGeom prst="roundRect">
            <a:avLst>
              <a:gd name="adj" fmla="val 454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err="1">
              <a:ln>
                <a:noFill/>
              </a:ln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042359-44CB-951E-F5FF-791E47FF4D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660173" y="2244152"/>
            <a:ext cx="2873245" cy="430887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80000">
                      <a:srgbClr val="0A6BBA"/>
                    </a:gs>
                    <a:gs pos="0">
                      <a:srgbClr val="AC35A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Choice</a:t>
            </a:r>
          </a:p>
        </p:txBody>
      </p:sp>
      <p:sp>
        <p:nvSpPr>
          <p:cNvPr id="98" name="Text Placeholder 6">
            <a:extLst>
              <a:ext uri="{FF2B5EF4-FFF2-40B4-BE49-F238E27FC236}">
                <a16:creationId xmlns:a16="http://schemas.microsoft.com/office/drawing/2014/main" id="{8889803C-53E0-9006-BB76-0135E71687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725195" y="2745433"/>
            <a:ext cx="2743200" cy="43088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Sans Text" pitchFamily="2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Sans Text" pitchFamily="2" charset="0"/>
              </a:rPr>
              <a:t>Model choice and flexibility with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Sans Text" pitchFamily="2" charset="0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Sans Text" pitchFamily="2" charset="0"/>
              </a:rPr>
              <a:t>the model catalog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647C51E6-B1BB-B9A7-B472-99AA765CB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61187" y="3282272"/>
            <a:ext cx="2871216" cy="0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6" name="Picture 125">
            <a:extLst>
              <a:ext uri="{FF2B5EF4-FFF2-40B4-BE49-F238E27FC236}">
                <a16:creationId xmlns:a16="http://schemas.microsoft.com/office/drawing/2014/main" id="{F5EBECFC-0613-872A-0984-41820AC25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94662" y="3354721"/>
            <a:ext cx="409027" cy="409027"/>
          </a:xfrm>
          <a:prstGeom prst="rect">
            <a:avLst/>
          </a:prstGeom>
        </p:spPr>
      </p:pic>
      <p:sp>
        <p:nvSpPr>
          <p:cNvPr id="127" name="Text Placeholder 20">
            <a:extLst>
              <a:ext uri="{FF2B5EF4-FFF2-40B4-BE49-F238E27FC236}">
                <a16:creationId xmlns:a16="http://schemas.microsoft.com/office/drawing/2014/main" id="{67F796E6-CD44-E585-3759-7DB5C4C719C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245650" y="3343791"/>
            <a:ext cx="2151687" cy="430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0" marR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cap="all" spc="100" baseline="0">
                <a:solidFill>
                  <a:schemeClr val="accent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0" indent="0" algn="l" defTabSz="932742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Segoe UI Light" panose="020B0502040204020203" pitchFamily="34" charset="0"/>
              </a:defRPr>
            </a:lvl6pPr>
            <a:lvl7pPr marL="0" indent="0" algn="l" defTabSz="932742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Segoe UI Light" panose="020B0502040204020203" pitchFamily="34" charset="0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Azure OpenAI Service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Sans Text" pitchFamily="2" charset="0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  <a:t>o3-mini, o1, GPT-4o, GPT-4o mini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 Light" panose="020B0502040204020203" pitchFamily="34" charset="0"/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F9A4E189-A0AD-D847-6753-FE07AAB89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972209" y="3836197"/>
            <a:ext cx="2157186" cy="0"/>
          </a:xfrm>
          <a:prstGeom prst="straightConnector1">
            <a:avLst/>
          </a:prstGeom>
          <a:ln w="12700" cap="rnd">
            <a:solidFill>
              <a:schemeClr val="bg1">
                <a:lumMod val="85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 Placeholder 20">
            <a:extLst>
              <a:ext uri="{FF2B5EF4-FFF2-40B4-BE49-F238E27FC236}">
                <a16:creationId xmlns:a16="http://schemas.microsoft.com/office/drawing/2014/main" id="{F04DF5CF-5721-F686-9D31-F0B405C4386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083158" y="3897716"/>
            <a:ext cx="2217211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0" marR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cap="all" spc="100" baseline="0">
                <a:solidFill>
                  <a:schemeClr val="accent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0" indent="0" algn="l" defTabSz="932742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Segoe UI Light" panose="020B0502040204020203" pitchFamily="34" charset="0"/>
              </a:defRPr>
            </a:lvl6pPr>
            <a:lvl7pPr marL="0" indent="0" algn="l" defTabSz="932742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Segoe UI Light" panose="020B0502040204020203" pitchFamily="34" charset="0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Models-as-a-Service</a:t>
            </a:r>
          </a:p>
        </p:txBody>
      </p:sp>
      <p:pic>
        <p:nvPicPr>
          <p:cNvPr id="140" name="Picture 2">
            <a:extLst>
              <a:ext uri="{FF2B5EF4-FFF2-40B4-BE49-F238E27FC236}">
                <a16:creationId xmlns:a16="http://schemas.microsoft.com/office/drawing/2014/main" id="{D1DA5EF7-21D4-E42E-75BE-4AA5FEC87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42" b="22386"/>
          <a:stretch/>
        </p:blipFill>
        <p:spPr bwMode="auto">
          <a:xfrm>
            <a:off x="5129256" y="4205456"/>
            <a:ext cx="436017" cy="237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" name="Text Placeholder 20">
            <a:extLst>
              <a:ext uri="{FF2B5EF4-FFF2-40B4-BE49-F238E27FC236}">
                <a16:creationId xmlns:a16="http://schemas.microsoft.com/office/drawing/2014/main" id="{6B8E778D-ED1F-D964-8E47-F0FDAF6726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613383" y="4237488"/>
            <a:ext cx="1944763" cy="1692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0" marR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cap="all" spc="100" baseline="0">
                <a:solidFill>
                  <a:schemeClr val="accent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0" indent="0" algn="l" defTabSz="932742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Segoe UI Light" panose="020B0502040204020203" pitchFamily="34" charset="0"/>
              </a:defRPr>
            </a:lvl6pPr>
            <a:lvl7pPr marL="0" indent="0" algn="l" defTabSz="932742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Segoe UI Light" panose="020B0502040204020203" pitchFamily="34" charset="0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  <a:t>Llama 3.1-405B-Instruct</a:t>
            </a:r>
          </a:p>
        </p:txBody>
      </p:sp>
      <p:pic>
        <p:nvPicPr>
          <p:cNvPr id="138" name="Picture 4">
            <a:extLst>
              <a:ext uri="{FF2B5EF4-FFF2-40B4-BE49-F238E27FC236}">
                <a16:creationId xmlns:a16="http://schemas.microsoft.com/office/drawing/2014/main" id="{18A6DFA6-E0B7-CAA3-BBA8-464B4E427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289" y="4504042"/>
            <a:ext cx="283561" cy="283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9" name="TextBox 138">
            <a:extLst>
              <a:ext uri="{FF2B5EF4-FFF2-40B4-BE49-F238E27FC236}">
                <a16:creationId xmlns:a16="http://schemas.microsoft.com/office/drawing/2014/main" id="{5E22250B-8122-6D3F-F8F9-724174A8BBF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592188" y="4561184"/>
            <a:ext cx="1633396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  <a:t>Mistral Large, Small</a:t>
            </a:r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47720565-8E31-7807-CB3F-B590294CF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491" r="80121"/>
          <a:stretch/>
        </p:blipFill>
        <p:spPr>
          <a:xfrm>
            <a:off x="5184289" y="4849122"/>
            <a:ext cx="307068" cy="270725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838D6E39-54FA-5157-C2A5-D980056979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603942" y="4899846"/>
            <a:ext cx="159813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  <a:t>Cohere-Command</a:t>
            </a:r>
          </a:p>
        </p:txBody>
      </p:sp>
      <p:pic>
        <p:nvPicPr>
          <p:cNvPr id="134" name="Picture 133">
            <a:extLst>
              <a:ext uri="{FF2B5EF4-FFF2-40B4-BE49-F238E27FC236}">
                <a16:creationId xmlns:a16="http://schemas.microsoft.com/office/drawing/2014/main" id="{6B6DD293-520E-A0AF-95E2-2BA817E6E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29255" y="5181367"/>
            <a:ext cx="376515" cy="264737"/>
          </a:xfrm>
          <a:prstGeom prst="rect">
            <a:avLst/>
          </a:prstGeom>
        </p:spPr>
      </p:pic>
      <p:sp>
        <p:nvSpPr>
          <p:cNvPr id="135" name="TextBox 134">
            <a:extLst>
              <a:ext uri="{FF2B5EF4-FFF2-40B4-BE49-F238E27FC236}">
                <a16:creationId xmlns:a16="http://schemas.microsoft.com/office/drawing/2014/main" id="{369D5482-F344-FB59-2776-F1104D4B46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583631" y="5229097"/>
            <a:ext cx="116570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  <a:t>DeepSeek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  <a:t> v3</a:t>
            </a:r>
          </a:p>
        </p:txBody>
      </p:sp>
      <p:sp>
        <p:nvSpPr>
          <p:cNvPr id="51" name="Graphic 48" descr="Plus icon.">
            <a:extLst>
              <a:ext uri="{FF2B5EF4-FFF2-40B4-BE49-F238E27FC236}">
                <a16:creationId xmlns:a16="http://schemas.microsoft.com/office/drawing/2014/main" id="{7FB041E2-7733-1209-D81E-9F983881C9C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876475" y="3733521"/>
            <a:ext cx="212540" cy="212540"/>
          </a:xfrm>
          <a:custGeom>
            <a:avLst/>
            <a:gdLst>
              <a:gd name="connsiteX0" fmla="*/ 84611 w 171450"/>
              <a:gd name="connsiteY0" fmla="*/ 67 h 171450"/>
              <a:gd name="connsiteX1" fmla="*/ 85725 w 171450"/>
              <a:gd name="connsiteY1" fmla="*/ 0 h 171450"/>
              <a:gd name="connsiteX2" fmla="*/ 95183 w 171450"/>
              <a:gd name="connsiteY2" fmla="*/ 8411 h 171450"/>
              <a:gd name="connsiteX3" fmla="*/ 95250 w 171450"/>
              <a:gd name="connsiteY3" fmla="*/ 9525 h 171450"/>
              <a:gd name="connsiteX4" fmla="*/ 95250 w 171450"/>
              <a:gd name="connsiteY4" fmla="*/ 76200 h 171450"/>
              <a:gd name="connsiteX5" fmla="*/ 161925 w 171450"/>
              <a:gd name="connsiteY5" fmla="*/ 76200 h 171450"/>
              <a:gd name="connsiteX6" fmla="*/ 171383 w 171450"/>
              <a:gd name="connsiteY6" fmla="*/ 84611 h 171450"/>
              <a:gd name="connsiteX7" fmla="*/ 171450 w 171450"/>
              <a:gd name="connsiteY7" fmla="*/ 85725 h 171450"/>
              <a:gd name="connsiteX8" fmla="*/ 163039 w 171450"/>
              <a:gd name="connsiteY8" fmla="*/ 95183 h 171450"/>
              <a:gd name="connsiteX9" fmla="*/ 161925 w 171450"/>
              <a:gd name="connsiteY9" fmla="*/ 95250 h 171450"/>
              <a:gd name="connsiteX10" fmla="*/ 95250 w 171450"/>
              <a:gd name="connsiteY10" fmla="*/ 95250 h 171450"/>
              <a:gd name="connsiteX11" fmla="*/ 95250 w 171450"/>
              <a:gd name="connsiteY11" fmla="*/ 161925 h 171450"/>
              <a:gd name="connsiteX12" fmla="*/ 86839 w 171450"/>
              <a:gd name="connsiteY12" fmla="*/ 171383 h 171450"/>
              <a:gd name="connsiteX13" fmla="*/ 85725 w 171450"/>
              <a:gd name="connsiteY13" fmla="*/ 171450 h 171450"/>
              <a:gd name="connsiteX14" fmla="*/ 76267 w 171450"/>
              <a:gd name="connsiteY14" fmla="*/ 163039 h 171450"/>
              <a:gd name="connsiteX15" fmla="*/ 76200 w 171450"/>
              <a:gd name="connsiteY15" fmla="*/ 161925 h 171450"/>
              <a:gd name="connsiteX16" fmla="*/ 76200 w 171450"/>
              <a:gd name="connsiteY16" fmla="*/ 95250 h 171450"/>
              <a:gd name="connsiteX17" fmla="*/ 9525 w 171450"/>
              <a:gd name="connsiteY17" fmla="*/ 95250 h 171450"/>
              <a:gd name="connsiteX18" fmla="*/ 67 w 171450"/>
              <a:gd name="connsiteY18" fmla="*/ 86839 h 171450"/>
              <a:gd name="connsiteX19" fmla="*/ 0 w 171450"/>
              <a:gd name="connsiteY19" fmla="*/ 85725 h 171450"/>
              <a:gd name="connsiteX20" fmla="*/ 8411 w 171450"/>
              <a:gd name="connsiteY20" fmla="*/ 76267 h 171450"/>
              <a:gd name="connsiteX21" fmla="*/ 9525 w 171450"/>
              <a:gd name="connsiteY21" fmla="*/ 76200 h 171450"/>
              <a:gd name="connsiteX22" fmla="*/ 76200 w 171450"/>
              <a:gd name="connsiteY22" fmla="*/ 76200 h 171450"/>
              <a:gd name="connsiteX23" fmla="*/ 76200 w 171450"/>
              <a:gd name="connsiteY23" fmla="*/ 9525 h 171450"/>
              <a:gd name="connsiteX24" fmla="*/ 84611 w 171450"/>
              <a:gd name="connsiteY24" fmla="*/ 67 h 171450"/>
              <a:gd name="connsiteX25" fmla="*/ 85725 w 171450"/>
              <a:gd name="connsiteY25" fmla="*/ 0 h 171450"/>
              <a:gd name="connsiteX26" fmla="*/ 84611 w 171450"/>
              <a:gd name="connsiteY26" fmla="*/ 67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1450" h="171450">
                <a:moveTo>
                  <a:pt x="84611" y="67"/>
                </a:moveTo>
                <a:lnTo>
                  <a:pt x="85725" y="0"/>
                </a:lnTo>
                <a:cubicBezTo>
                  <a:pt x="90554" y="1"/>
                  <a:pt x="94618" y="3615"/>
                  <a:pt x="95183" y="8411"/>
                </a:cubicBezTo>
                <a:lnTo>
                  <a:pt x="95250" y="9525"/>
                </a:lnTo>
                <a:lnTo>
                  <a:pt x="95250" y="76200"/>
                </a:lnTo>
                <a:lnTo>
                  <a:pt x="161925" y="76200"/>
                </a:lnTo>
                <a:cubicBezTo>
                  <a:pt x="166754" y="76201"/>
                  <a:pt x="170819" y="79815"/>
                  <a:pt x="171383" y="84611"/>
                </a:cubicBezTo>
                <a:lnTo>
                  <a:pt x="171450" y="85725"/>
                </a:lnTo>
                <a:cubicBezTo>
                  <a:pt x="171449" y="90554"/>
                  <a:pt x="167835" y="94618"/>
                  <a:pt x="163039" y="95183"/>
                </a:cubicBezTo>
                <a:lnTo>
                  <a:pt x="161925" y="95250"/>
                </a:lnTo>
                <a:lnTo>
                  <a:pt x="95250" y="95250"/>
                </a:lnTo>
                <a:lnTo>
                  <a:pt x="95250" y="161925"/>
                </a:lnTo>
                <a:cubicBezTo>
                  <a:pt x="95249" y="166754"/>
                  <a:pt x="91635" y="170819"/>
                  <a:pt x="86839" y="171383"/>
                </a:cubicBezTo>
                <a:lnTo>
                  <a:pt x="85725" y="171450"/>
                </a:lnTo>
                <a:cubicBezTo>
                  <a:pt x="80896" y="171449"/>
                  <a:pt x="76832" y="167835"/>
                  <a:pt x="76267" y="163039"/>
                </a:cubicBezTo>
                <a:lnTo>
                  <a:pt x="76200" y="161925"/>
                </a:lnTo>
                <a:lnTo>
                  <a:pt x="76200" y="95250"/>
                </a:lnTo>
                <a:lnTo>
                  <a:pt x="9525" y="95250"/>
                </a:lnTo>
                <a:cubicBezTo>
                  <a:pt x="4696" y="95249"/>
                  <a:pt x="632" y="91635"/>
                  <a:pt x="67" y="86839"/>
                </a:cubicBezTo>
                <a:lnTo>
                  <a:pt x="0" y="85725"/>
                </a:lnTo>
                <a:cubicBezTo>
                  <a:pt x="1" y="80896"/>
                  <a:pt x="3615" y="76832"/>
                  <a:pt x="8411" y="76267"/>
                </a:cubicBezTo>
                <a:lnTo>
                  <a:pt x="9525" y="76200"/>
                </a:lnTo>
                <a:lnTo>
                  <a:pt x="76200" y="76200"/>
                </a:lnTo>
                <a:lnTo>
                  <a:pt x="76200" y="9525"/>
                </a:lnTo>
                <a:cubicBezTo>
                  <a:pt x="76201" y="4696"/>
                  <a:pt x="79815" y="632"/>
                  <a:pt x="84611" y="67"/>
                </a:cubicBezTo>
                <a:lnTo>
                  <a:pt x="85725" y="0"/>
                </a:lnTo>
                <a:lnTo>
                  <a:pt x="84611" y="67"/>
                </a:lnTo>
                <a:close/>
              </a:path>
            </a:pathLst>
          </a:custGeom>
          <a:solidFill>
            <a:srgbClr val="212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3" name="Rounded Rectangle 14">
            <a:extLst>
              <a:ext uri="{FF2B5EF4-FFF2-40B4-BE49-F238E27FC236}">
                <a16:creationId xmlns:a16="http://schemas.microsoft.com/office/drawing/2014/main" id="{97CB842C-9EE3-F8B4-04E9-933268B6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128000" y="2071443"/>
            <a:ext cx="3481388" cy="3536696"/>
          </a:xfrm>
          <a:prstGeom prst="roundRect">
            <a:avLst>
              <a:gd name="adj" fmla="val 454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err="1">
              <a:ln>
                <a:noFill/>
              </a:ln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948DC5-0CCA-5BA9-FCCE-CFB72316D0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8432072" y="2244152"/>
            <a:ext cx="2873245" cy="430887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79000">
                      <a:srgbClr val="AC35AF"/>
                    </a:gs>
                    <a:gs pos="0">
                      <a:srgbClr val="F65567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Trust</a:t>
            </a:r>
          </a:p>
        </p:txBody>
      </p:sp>
      <p:sp>
        <p:nvSpPr>
          <p:cNvPr id="97" name="Text Placeholder 5">
            <a:extLst>
              <a:ext uri="{FF2B5EF4-FFF2-40B4-BE49-F238E27FC236}">
                <a16:creationId xmlns:a16="http://schemas.microsoft.com/office/drawing/2014/main" id="{82EF56BF-2539-0250-0739-48161EC836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8497094" y="2745433"/>
            <a:ext cx="2743200" cy="43088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Sans Text" pitchFamily="2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Sans Text" pitchFamily="2" charset="0"/>
              </a:rPr>
              <a:t>Customer control over data, networking, and security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8DBAC49-F8C7-E1AD-55DD-D8C4E1EA8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433086" y="3282272"/>
            <a:ext cx="2871216" cy="0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ontent Placeholder 24">
            <a:extLst>
              <a:ext uri="{FF2B5EF4-FFF2-40B4-BE49-F238E27FC236}">
                <a16:creationId xmlns:a16="http://schemas.microsoft.com/office/drawing/2014/main" id="{6C3B7728-AD9D-926B-3E30-A51DC28D897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8410226" y="3514182"/>
            <a:ext cx="2916936" cy="186204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Sans Text" pitchFamily="2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</a:srgbClr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  <a:t>BYO-file storage</a:t>
            </a:r>
          </a:p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</a:srgbClr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  <a:t>BYO-search index</a:t>
            </a:r>
          </a:p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</a:srgbClr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  <a:t>BYO-virtual network</a:t>
            </a:r>
          </a:p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</a:srgbClr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  <a:t>BYO-thread storage</a:t>
            </a:r>
          </a:p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</a:srgbClr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  <a:t>Tracing/monitoring </a:t>
            </a:r>
          </a:p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</a:srgbClr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rPr>
              <a:t>Evaluation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AD366-57B2-5676-F2D8-C4E1B23ECE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84200" y="5821551"/>
            <a:ext cx="11025188" cy="447487"/>
          </a:xfrm>
          <a:prstGeom prst="roundRect">
            <a:avLst>
              <a:gd name="adj" fmla="val 34877"/>
            </a:avLst>
          </a:pr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square" lIns="146957" tIns="25718" rIns="146957" bIns="27432" rtlCol="0" anchor="ctr">
            <a:noAutofit/>
          </a:bodyPr>
          <a:lstStyle>
            <a:defPPr>
              <a:defRPr lang="en-US"/>
            </a:defPPr>
            <a:lvl1pPr algn="ctr" defTabSz="2275850" fontAlgn="base">
              <a:spcBef>
                <a:spcPct val="0"/>
              </a:spcBef>
              <a:spcAft>
                <a:spcPct val="0"/>
              </a:spcAft>
              <a:tabLst>
                <a:tab pos="3701239" algn="l"/>
              </a:tabLst>
              <a:defRPr sz="6000" b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" pitchFamily="2" charset="0"/>
                <a:cs typeface="Segoe UI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Azure AI Foundry SDK/Portal, VS Code Extension</a:t>
            </a:r>
          </a:p>
        </p:txBody>
      </p:sp>
    </p:spTree>
    <p:extLst>
      <p:ext uri="{BB962C8B-B14F-4D97-AF65-F5344CB8AC3E}">
        <p14:creationId xmlns:p14="http://schemas.microsoft.com/office/powerpoint/2010/main" val="1634769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63FBC-F0FA-CCC0-C412-2FED9364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: Rounded Corners 98">
            <a:extLst>
              <a:ext uri="{FF2B5EF4-FFF2-40B4-BE49-F238E27FC236}">
                <a16:creationId xmlns:a16="http://schemas.microsoft.com/office/drawing/2014/main" id="{80603888-5AAD-DA50-7A1F-C960AAFB7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05877" y="1845772"/>
            <a:ext cx="1583528" cy="1650220"/>
          </a:xfrm>
          <a:prstGeom prst="roundRect">
            <a:avLst>
              <a:gd name="adj" fmla="val 942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B9D6FDEE-15F4-4B43-15AB-EF3331826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214192" y="2031283"/>
            <a:ext cx="766898" cy="766898"/>
          </a:xfrm>
          <a:prstGeom prst="ellipse">
            <a:avLst/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fontAlgn="t">
              <a:lnSpc>
                <a:spcPct val="90000"/>
              </a:lnSpc>
            </a:pPr>
            <a:endParaRPr lang="en-US" sz="140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5DB9227-6425-6449-736F-1687503B3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09" idx="3"/>
            <a:endCxn id="105" idx="1"/>
          </p:cNvCxnSpPr>
          <p:nvPr/>
        </p:nvCxnSpPr>
        <p:spPr>
          <a:xfrm>
            <a:off x="2389405" y="2670882"/>
            <a:ext cx="1598958" cy="0"/>
          </a:xfrm>
          <a:prstGeom prst="line">
            <a:avLst/>
          </a:prstGeom>
          <a:ln w="19050" cap="rnd">
            <a:solidFill>
              <a:srgbClr val="000000"/>
            </a:solidFill>
            <a:headEnd type="oval" w="sm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: Rounded Corners 98">
            <a:extLst>
              <a:ext uri="{FF2B5EF4-FFF2-40B4-BE49-F238E27FC236}">
                <a16:creationId xmlns:a16="http://schemas.microsoft.com/office/drawing/2014/main" id="{6467D0FB-7CB5-B9E3-9BB9-15F8FA67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988363" y="1845772"/>
            <a:ext cx="1583528" cy="1650220"/>
          </a:xfrm>
          <a:prstGeom prst="roundRect">
            <a:avLst>
              <a:gd name="adj" fmla="val 942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24FEF7BF-EEEA-CE25-C85B-DE0AC7E60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396678" y="2031283"/>
            <a:ext cx="766898" cy="766898"/>
          </a:xfrm>
          <a:prstGeom prst="ellipse">
            <a:avLst/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fontAlgn="t">
              <a:lnSpc>
                <a:spcPct val="90000"/>
              </a:lnSpc>
            </a:pPr>
            <a:endParaRPr lang="en-US" sz="140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8C5E861-D431-3F3C-7303-D728D8569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05" idx="3"/>
            <a:endCxn id="13" idx="1"/>
          </p:cNvCxnSpPr>
          <p:nvPr/>
        </p:nvCxnSpPr>
        <p:spPr>
          <a:xfrm>
            <a:off x="5571891" y="2570611"/>
            <a:ext cx="1598958" cy="0"/>
          </a:xfrm>
          <a:prstGeom prst="line">
            <a:avLst/>
          </a:prstGeom>
          <a:ln w="19050" cap="rnd">
            <a:solidFill>
              <a:srgbClr val="000000"/>
            </a:solidFill>
            <a:headEnd type="oval" w="sm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98">
            <a:extLst>
              <a:ext uri="{FF2B5EF4-FFF2-40B4-BE49-F238E27FC236}">
                <a16:creationId xmlns:a16="http://schemas.microsoft.com/office/drawing/2014/main" id="{31DAD0FF-A219-A0CE-CD33-63C2F6BA6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7170849" y="1845772"/>
            <a:ext cx="4216860" cy="1650220"/>
          </a:xfrm>
          <a:prstGeom prst="roundRect">
            <a:avLst>
              <a:gd name="adj" fmla="val 942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10" name="Rectangle: Rounded Corners 98">
            <a:extLst>
              <a:ext uri="{FF2B5EF4-FFF2-40B4-BE49-F238E27FC236}">
                <a16:creationId xmlns:a16="http://schemas.microsoft.com/office/drawing/2014/main" id="{957F403F-D276-1351-09FE-F6E0285A8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7387209" y="2442642"/>
            <a:ext cx="1753129" cy="857564"/>
          </a:xfrm>
          <a:prstGeom prst="roundRect">
            <a:avLst>
              <a:gd name="adj" fmla="val 12145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pic>
        <p:nvPicPr>
          <p:cNvPr id="37" name="Graphic 437806336">
            <a:extLst>
              <a:ext uri="{FF2B5EF4-FFF2-40B4-BE49-F238E27FC236}">
                <a16:creationId xmlns:a16="http://schemas.microsoft.com/office/drawing/2014/main" id="{522C1807-4799-8147-6D67-45D238B0B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649" y="2623282"/>
            <a:ext cx="496284" cy="496284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FEEEA65-99F0-2F99-F584-3CE32584F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0338" y="2871424"/>
            <a:ext cx="216360" cy="0"/>
          </a:xfrm>
          <a:prstGeom prst="line">
            <a:avLst/>
          </a:prstGeom>
          <a:ln w="12700" cap="rnd">
            <a:solidFill>
              <a:srgbClr val="000000"/>
            </a:solidFill>
            <a:headEnd type="oval" w="sm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: Rounded Corners 98">
            <a:extLst>
              <a:ext uri="{FF2B5EF4-FFF2-40B4-BE49-F238E27FC236}">
                <a16:creationId xmlns:a16="http://schemas.microsoft.com/office/drawing/2014/main" id="{95CB7B50-1A80-00B4-CD3A-FE79A1829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9356698" y="2442642"/>
            <a:ext cx="1753129" cy="857564"/>
          </a:xfrm>
          <a:prstGeom prst="roundRect">
            <a:avLst>
              <a:gd name="adj" fmla="val 12145"/>
            </a:avLst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645EFBB-F04A-2A85-B6B4-D2F355673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433" b="11433"/>
          <a:stretch/>
        </p:blipFill>
        <p:spPr>
          <a:xfrm>
            <a:off x="9610746" y="2691965"/>
            <a:ext cx="478237" cy="358918"/>
          </a:xfrm>
          <a:prstGeom prst="rect">
            <a:avLst/>
          </a:prstGeom>
        </p:spPr>
      </p:pic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4DD5731-BC35-46BF-80E0-56C069DEF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571891" y="2771153"/>
            <a:ext cx="1598958" cy="0"/>
          </a:xfrm>
          <a:prstGeom prst="line">
            <a:avLst/>
          </a:prstGeom>
          <a:ln w="19050" cap="rnd">
            <a:solidFill>
              <a:srgbClr val="000000"/>
            </a:solidFill>
            <a:headEnd type="oval" w="sm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A259824F-5ABB-BB80-0ABF-6578DA1C0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05" idx="2"/>
            <a:endCxn id="97" idx="3"/>
          </p:cNvCxnSpPr>
          <p:nvPr/>
        </p:nvCxnSpPr>
        <p:spPr>
          <a:xfrm rot="5400000">
            <a:off x="2815341" y="3070056"/>
            <a:ext cx="1538851" cy="2390722"/>
          </a:xfrm>
          <a:prstGeom prst="bentConnector2">
            <a:avLst/>
          </a:prstGeom>
          <a:ln w="19050" cap="rnd">
            <a:solidFill>
              <a:srgbClr val="000000"/>
            </a:solidFill>
            <a:headEnd type="oval" w="sm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: Rounded Corners 98">
            <a:extLst>
              <a:ext uri="{FF2B5EF4-FFF2-40B4-BE49-F238E27FC236}">
                <a16:creationId xmlns:a16="http://schemas.microsoft.com/office/drawing/2014/main" id="{1DA396A1-40D6-BDAD-6C62-BDBC200CB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05877" y="4209733"/>
            <a:ext cx="1583528" cy="1650220"/>
          </a:xfrm>
          <a:prstGeom prst="roundRect">
            <a:avLst>
              <a:gd name="adj" fmla="val 942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9C5495F5-F445-511B-6FDE-6610A8743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214192" y="4395244"/>
            <a:ext cx="766898" cy="766898"/>
          </a:xfrm>
          <a:prstGeom prst="ellipse">
            <a:avLst/>
          </a:prstGeom>
          <a:solidFill>
            <a:srgbClr val="EEE5E1"/>
          </a:solidFill>
        </p:spPr>
        <p:txBody>
          <a:bodyPr wrap="square" lIns="502920" tIns="0" rIns="0" bIns="0" rtlCol="0" anchor="ctr" anchorCtr="0">
            <a:noAutofit/>
          </a:bodyPr>
          <a:lstStyle/>
          <a:p>
            <a:pPr fontAlgn="t">
              <a:lnSpc>
                <a:spcPct val="90000"/>
              </a:lnSpc>
            </a:pPr>
            <a:endParaRPr lang="en-US" sz="140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63BA30-6A82-AB52-8DE8-61179FA1D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68888" y="2203673"/>
            <a:ext cx="457506" cy="457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raphic 23">
            <a:extLst>
              <a:ext uri="{FF2B5EF4-FFF2-40B4-BE49-F238E27FC236}">
                <a16:creationId xmlns:a16="http://schemas.microsoft.com/office/drawing/2014/main" id="{5525D067-9CFF-39E1-7711-CCC2AF1C9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7073" y="4567276"/>
            <a:ext cx="501136" cy="422834"/>
          </a:xfrm>
          <a:prstGeom prst="rect">
            <a:avLst/>
          </a:prstGeom>
          <a:effectLst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A376D59-14AE-4890-8BF3-198776F06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20032" y="2237216"/>
            <a:ext cx="396114" cy="395728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AEA1ACD-13FC-F8ED-53C8-9FC9E8628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/>
              <a:t>Agentic retrieval and Azure AI Foundry Agent Service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4574F27-AFBF-12D5-8C50-E1630D04F97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805877" y="2906528"/>
            <a:ext cx="158352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egoe UI Semibold" panose="020B07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Conversation history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6C6B358-3EE3-C999-8A63-A64C2FAE42B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3988363" y="3014248"/>
            <a:ext cx="158352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egoe UI Semibold" panose="020B07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Agent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5410124-C839-D726-0D3E-CD080C23725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805877" y="5270488"/>
            <a:ext cx="158352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egoe UI Semibold" panose="020B07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Agent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response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F86547E-FE9A-56B9-AB89-1B87437523C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571891" y="2051018"/>
            <a:ext cx="1598958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egoe UI Semibold" panose="020B07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bold" panose="020B0702040204020203" pitchFamily="34" charset="0"/>
              </a:rPr>
              <a:t>Agentic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bold" panose="020B0702040204020203" pitchFamily="34" charset="0"/>
              </a:rPr>
              <a:t>Retrieval Tool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975B58-1E84-581F-5886-389BCFD299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7590148" y="2039404"/>
            <a:ext cx="325831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egoe UI Semibold" panose="020B07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Search Service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A30A07-AEF2-F963-8EAA-B3B86033D5F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8268055" y="2686758"/>
            <a:ext cx="77474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egoe UI Semibold" panose="020B07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bold" panose="020B0702040204020203" pitchFamily="34" charset="0"/>
              </a:rPr>
              <a:t>Knowledge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bold" panose="020B0702040204020203" pitchFamily="34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bold" panose="020B0702040204020203" pitchFamily="34" charset="0"/>
              </a:rPr>
              <a:t>Agent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1A2965-0B42-E755-30A8-1ED3F911B3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10335080" y="2686758"/>
            <a:ext cx="77474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egoe UI Semibold" panose="020B07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bold" panose="020B0702040204020203" pitchFamily="34" charset="0"/>
              </a:rPr>
              <a:t>Search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bold" panose="020B0702040204020203" pitchFamily="34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bold" panose="020B0702040204020203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76921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74F8A1-F3C4-6537-0EB4-B7E6C12A7DC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3956050" cy="492125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585216" tIns="91440" rIns="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9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Segoe UI" panose="020B0502040204020203" pitchFamily="34" charset="0"/>
              </a:rPr>
              <a:t>Create an Agent (Python)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4E4D41A-BF94-3CD4-D8A2-C2D6E188D45F}"/>
              </a:ext>
            </a:extLst>
          </p:cNvPr>
          <p:cNvSpPr txBox="1">
            <a:spLocks/>
          </p:cNvSpPr>
          <p:nvPr/>
        </p:nvSpPr>
        <p:spPr>
          <a:xfrm>
            <a:off x="584200" y="1158459"/>
            <a:ext cx="5819775" cy="51706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0" baseline="0">
                <a:solidFill>
                  <a:srgbClr val="2F2F2F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1pPr>
            <a:lvl2pPr marL="346449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3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2pPr>
            <a:lvl3pPr marL="584432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9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3pPr>
            <a:lvl4pPr marL="814319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7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4pPr>
            <a:lvl5pPr marL="1050682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7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from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azure.ai.projects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 import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AIProjectClient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</a:endParaRP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</a:endParaRP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project_client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 =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AIProjectClient.from_connection_string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(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2000">
                <a:solidFill>
                  <a:srgbClr val="000000"/>
                </a:solidFill>
              </a:rPr>
              <a:t> 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project_conn_str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, credential=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DefaultAzureCredential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())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</a:endParaRP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agent =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project_client.agents.create_agent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(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    model=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agent_model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,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    name=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agent_name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,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    instructions="You are a helpful agent"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)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565B4F8-991C-8523-165C-9FE536B5F94D}"/>
              </a:ext>
            </a:extLst>
          </p:cNvPr>
          <p:cNvSpPr txBox="1">
            <a:spLocks/>
          </p:cNvSpPr>
          <p:nvPr/>
        </p:nvSpPr>
        <p:spPr>
          <a:xfrm>
            <a:off x="7575550" y="1158459"/>
            <a:ext cx="387985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b="0" i="0" kern="1200" spc="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b="0" i="0" kern="1200" spc="0" baseline="0">
                <a:solidFill>
                  <a:srgbClr val="2F2F2F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457063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94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126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Creates an agent on 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the foundry project</a:t>
            </a:r>
          </a:p>
        </p:txBody>
      </p:sp>
    </p:spTree>
    <p:extLst>
      <p:ext uri="{BB962C8B-B14F-4D97-AF65-F5344CB8AC3E}">
        <p14:creationId xmlns:p14="http://schemas.microsoft.com/office/powerpoint/2010/main" val="192832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85F2B-C825-5258-1C0A-A8CB16F702D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5732463" cy="492125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585216" tIns="91440" rIns="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9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Segoe UI" panose="020B0502040204020203" pitchFamily="34" charset="0"/>
              </a:rPr>
              <a:t>Setup the agentic retrieval tool (Python)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DDF3D7B-7136-A4FA-5889-B7031630CDDA}"/>
              </a:ext>
            </a:extLst>
          </p:cNvPr>
          <p:cNvSpPr txBox="1">
            <a:spLocks/>
          </p:cNvSpPr>
          <p:nvPr/>
        </p:nvSpPr>
        <p:spPr>
          <a:xfrm>
            <a:off x="584200" y="1006059"/>
            <a:ext cx="5819775" cy="5193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0" baseline="0">
                <a:solidFill>
                  <a:srgbClr val="2F2F2F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1pPr>
            <a:lvl2pPr marL="346449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3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2pPr>
            <a:lvl3pPr marL="584432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9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3pPr>
            <a:lvl4pPr marL="814319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7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4pPr>
            <a:lvl5pPr marL="1050682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7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from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azure.search.documents.agent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 import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KnowledgeAgentRetrievalClient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Consolas" panose="020B0609020204030204" pitchFamily="49" charset="0"/>
              <a:ea typeface="+mn-ea"/>
            </a:endParaRP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Consolas" panose="020B0609020204030204" pitchFamily="49" charset="0"/>
              <a:ea typeface="+mn-ea"/>
            </a:endParaRP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agent_client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 =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KnowledgeAgentRetrievalClient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(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  endpoint=endpoint,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agent_name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=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agent_name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, credential=credential)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thread =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project_client.agents.create_thread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()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Consolas" panose="020B0609020204030204" pitchFamily="49" charset="0"/>
              <a:ea typeface="+mn-ea"/>
            </a:endParaRP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def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agentic_retrieval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() -&gt; str: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    """ Use agentic retrieval to get the answer """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    # Take 5 messages from the thread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    messages =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project_client.agents.list_messages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(thread.id, limit=5)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    request =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KnowledgeAgentRetrievalRequest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(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        messages=[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KnowledgeAgentMessage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(role=msg["role"],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        content=[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KnowledgeAgentMessageTextContent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(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                   text=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msg.content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[0].text)])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                 for msg in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messages.data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])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    result =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agent_client.knowledge_retrieval.retrieve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(request)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    return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result.response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[0].content[0].text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Consolas" panose="020B0609020204030204" pitchFamily="49" charset="0"/>
              <a:ea typeface="+mn-ea"/>
            </a:endParaRP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toolset =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ToolSet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()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toolset.add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(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FunctionTool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({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agentic_retrieval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 }))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project_client.agents.enable_auto_function_calls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(toolset=toolset)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06E97CE-605F-1CDF-1FC6-98AEBC4411BE}"/>
              </a:ext>
            </a:extLst>
          </p:cNvPr>
          <p:cNvSpPr txBox="1">
            <a:spLocks/>
          </p:cNvSpPr>
          <p:nvPr/>
        </p:nvSpPr>
        <p:spPr>
          <a:xfrm>
            <a:off x="7575550" y="1006059"/>
            <a:ext cx="3879850" cy="2231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b="0" i="0" kern="1200" spc="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b="0" i="0" kern="1200" spc="0" baseline="0">
                <a:solidFill>
                  <a:srgbClr val="2F2F2F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457063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94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126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Use function calling 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to use agentic retrieval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Use messages from the current thread as conversation history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57294F9-3BF1-386A-0F54-136DF974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75550" y="1940560"/>
            <a:ext cx="4033838" cy="0"/>
          </a:xfrm>
          <a:prstGeom prst="line">
            <a:avLst/>
          </a:prstGeom>
          <a:ln w="12700" cap="rnd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513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17630F7-C1B9-A09A-493B-DEF4D0874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598003"/>
            <a:ext cx="5104384" cy="1661993"/>
          </a:xfrm>
        </p:spPr>
        <p:txBody>
          <a:bodyPr/>
          <a:lstStyle/>
          <a:p>
            <a:r>
              <a:rPr lang="en-US"/>
              <a:t>Agentic retrieval </a:t>
            </a:r>
            <a:br>
              <a:rPr lang="en-US"/>
            </a:br>
            <a:r>
              <a:rPr lang="en-US"/>
              <a:t>with Azure AI Foundry Agent Service</a:t>
            </a:r>
          </a:p>
        </p:txBody>
      </p:sp>
    </p:spTree>
    <p:extLst>
      <p:ext uri="{BB962C8B-B14F-4D97-AF65-F5344CB8AC3E}">
        <p14:creationId xmlns:p14="http://schemas.microsoft.com/office/powerpoint/2010/main" val="2329074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14E8-8D2D-4200-8A9E-3757A59F9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977823"/>
            <a:ext cx="5193284" cy="553998"/>
          </a:xfrm>
        </p:spPr>
        <p:txBody>
          <a:bodyPr/>
          <a:lstStyle/>
          <a:p>
            <a:r>
              <a:rPr lang="en-US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1552670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11B8A-C924-FB60-6C16-E7A57BE16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14">
            <a:extLst>
              <a:ext uri="{FF2B5EF4-FFF2-40B4-BE49-F238E27FC236}">
                <a16:creationId xmlns:a16="http://schemas.microsoft.com/office/drawing/2014/main" id="{F3EF5FED-94C9-5C20-24FF-C4310637C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4200" y="1685177"/>
            <a:ext cx="11025187" cy="1901478"/>
          </a:xfrm>
          <a:prstGeom prst="roundRect">
            <a:avLst>
              <a:gd name="adj" fmla="val 9481"/>
            </a:avLst>
          </a:prstGeom>
          <a:noFill/>
          <a:ln w="12700" cap="rnd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1"/>
            <a:endParaRPr lang="en-US" sz="2400">
              <a:cs typeface="Segoe UI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98AB4E6-327E-6720-8D0B-25EA0884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6793" y="2099271"/>
            <a:ext cx="0" cy="894825"/>
          </a:xfrm>
          <a:prstGeom prst="line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37A83123-A435-CF53-1A48-B9DB5FDA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algn="ctr"/>
            <a:r>
              <a:rPr lang="en-CA" dirty="0"/>
              <a:t>Agentic Retrieval Evals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553AA-A0B9-AAB4-CE24-EF98F5F3A9C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1180543" y="1819907"/>
            <a:ext cx="2768718" cy="1231106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8000" b="1" i="0" u="none" strike="noStrike" kern="1200" cap="none" spc="0" normalizeH="0" baseline="0" noProof="0" dirty="0">
                <a:ln w="3175">
                  <a:noFill/>
                </a:ln>
                <a:gradFill>
                  <a:gsLst>
                    <a:gs pos="9000">
                      <a:srgbClr val="73262F"/>
                    </a:gs>
                    <a:gs pos="88000">
                      <a:srgbClr val="2A446F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+mj-lt"/>
                <a:ea typeface="+mn-ea"/>
                <a:cs typeface="Segoe UI" pitchFamily="34" charset="0"/>
              </a:rPr>
              <a:t>+40%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BBE7E288-0EBD-5E3D-C3FC-4191485262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049335" y="2239192"/>
            <a:ext cx="2139122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sz="2000" dirty="0"/>
              <a:t>RAG answer relevance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B60027-0767-E637-7AC4-6409329E852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693137" y="1819907"/>
            <a:ext cx="2979008" cy="1231106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8000" b="1" i="0" u="none" strike="noStrike" kern="1200" cap="none" spc="0" normalizeH="0" baseline="0" noProof="0" dirty="0">
                <a:ln w="3175">
                  <a:noFill/>
                </a:ln>
                <a:gradFill>
                  <a:gsLst>
                    <a:gs pos="9000">
                      <a:srgbClr val="73262F"/>
                    </a:gs>
                    <a:gs pos="88000">
                      <a:srgbClr val="2A446F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+mj-lt"/>
                <a:ea typeface="+mn-ea"/>
                <a:cs typeface="Segoe UI" pitchFamily="34" charset="0"/>
              </a:rPr>
              <a:t>+30%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CC7730AC-9415-E939-2A3C-EEBAD36565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9537147" y="2239191"/>
            <a:ext cx="2139122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sz="2000" dirty="0"/>
              <a:t>RAG answer </a:t>
            </a:r>
            <a:br>
              <a:rPr lang="en-US" sz="2000" dirty="0"/>
            </a:br>
            <a:r>
              <a:rPr lang="en-US" sz="2000" dirty="0"/>
              <a:t>result rate</a:t>
            </a:r>
          </a:p>
        </p:txBody>
      </p:sp>
      <p:sp useBgFill="1">
        <p:nvSpPr>
          <p:cNvPr id="36" name="TextBox 35">
            <a:extLst>
              <a:ext uri="{FF2B5EF4-FFF2-40B4-BE49-F238E27FC236}">
                <a16:creationId xmlns:a16="http://schemas.microsoft.com/office/drawing/2014/main" id="{6986037E-2E8B-2717-6B74-81DF179C6E54}"/>
              </a:ext>
            </a:extLst>
          </p:cNvPr>
          <p:cNvSpPr txBox="1"/>
          <p:nvPr/>
        </p:nvSpPr>
        <p:spPr>
          <a:xfrm>
            <a:off x="1929027" y="3185743"/>
            <a:ext cx="8333946" cy="21544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/>
              <a:t>(For complex queries requiring information from multiple documents)</a:t>
            </a:r>
          </a:p>
        </p:txBody>
      </p:sp>
      <p:graphicFrame>
        <p:nvGraphicFramePr>
          <p:cNvPr id="38" name="Chart 37" descr="Traditional Search vs Agentic Retrieval bar chart">
            <a:extLst>
              <a:ext uri="{FF2B5EF4-FFF2-40B4-BE49-F238E27FC236}">
                <a16:creationId xmlns:a16="http://schemas.microsoft.com/office/drawing/2014/main" id="{87DD4EC4-23B2-DB3E-4538-B5759CBE4479}"/>
              </a:ext>
            </a:extLst>
          </p:cNvPr>
          <p:cNvGraphicFramePr>
            <a:graphicFrameLocks/>
          </p:cNvGraphicFramePr>
          <p:nvPr/>
        </p:nvGraphicFramePr>
        <p:xfrm>
          <a:off x="584200" y="3732184"/>
          <a:ext cx="11025187" cy="23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E9A018CF-9460-FBE2-1E22-D42B1E9FF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523509" y="5708073"/>
            <a:ext cx="1870364" cy="364111"/>
          </a:xfrm>
          <a:prstGeom prst="rect">
            <a:avLst/>
          </a:prstGeom>
          <a:solidFill>
            <a:srgbClr val="FFF8F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400" b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Semibold"/>
              <a:cs typeface="Segoe UI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C637B-8523-4834-7314-19FBE40946E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464668" y="5715000"/>
            <a:ext cx="13638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Agentic Retrieval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6B8861B8-B8C7-6894-B336-B23FE8B70DD9}"/>
              </a:ext>
            </a:extLst>
          </p:cNvPr>
          <p:cNvSpPr txBox="1">
            <a:spLocks/>
          </p:cNvSpPr>
          <p:nvPr/>
        </p:nvSpPr>
        <p:spPr>
          <a:xfrm>
            <a:off x="3055883" y="6115232"/>
            <a:ext cx="6080234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1200" dirty="0">
                <a:latin typeface="+mj-lt"/>
                <a:cs typeface="Segoe UI"/>
              </a:rPr>
              <a:t>Full evals results and methodology description: </a:t>
            </a:r>
            <a:r>
              <a:rPr lang="en-US" sz="1200" dirty="0">
                <a:ln w="3175">
                  <a:noFill/>
                </a:ln>
                <a:latin typeface="+mj-lt"/>
              </a:rPr>
              <a:t>aka.ms/</a:t>
            </a:r>
            <a:r>
              <a:rPr lang="en-US" sz="1200" dirty="0" err="1">
                <a:ln w="3175">
                  <a:noFill/>
                </a:ln>
                <a:latin typeface="+mj-lt"/>
              </a:rPr>
              <a:t>aisearch-arevals</a:t>
            </a:r>
            <a:endParaRPr lang="en-US" sz="1200" dirty="0">
              <a:ln w="3175">
                <a:noFill/>
              </a:ln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53713704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0AE0-2257-E181-294B-DC510F75E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algn="ctr"/>
            <a:r>
              <a:rPr lang="en-US"/>
              <a:t>Query planning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2A4610-725A-1D27-C1B0-A8F325DD764C}"/>
              </a:ext>
            </a:extLst>
          </p:cNvPr>
          <p:cNvSpPr txBox="1"/>
          <p:nvPr/>
        </p:nvSpPr>
        <p:spPr>
          <a:xfrm>
            <a:off x="590869" y="1186443"/>
            <a:ext cx="11018520" cy="369332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2400" b="1" i="0" u="none" strike="noStrike" kern="1200" cap="none" spc="0" normalizeH="0" baseline="0" noProof="0">
                <a:ln w="3175">
                  <a:noFill/>
                </a:ln>
                <a:effectLst/>
                <a:uLnTx/>
                <a:uFillTx/>
                <a:latin typeface="Segoe UI Variable Display" pitchFamily="2" charset="0"/>
                <a:cs typeface="Segoe UI" pitchFamily="34" charset="0"/>
              </a:rPr>
              <a:t>Different query planning models generate different amounts of subqueries</a:t>
            </a:r>
          </a:p>
        </p:txBody>
      </p:sp>
      <p:sp>
        <p:nvSpPr>
          <p:cNvPr id="7" name="Rounded Rectangle 14">
            <a:extLst>
              <a:ext uri="{FF2B5EF4-FFF2-40B4-BE49-F238E27FC236}">
                <a16:creationId xmlns:a16="http://schemas.microsoft.com/office/drawing/2014/main" id="{DEF69AD3-6E4A-CD4A-6035-D30EDFB38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4200" y="1796901"/>
            <a:ext cx="11025187" cy="4472137"/>
          </a:xfrm>
          <a:prstGeom prst="roundRect">
            <a:avLst>
              <a:gd name="adj" fmla="val 3447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183" marR="0" lvl="1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aphicFrame>
        <p:nvGraphicFramePr>
          <p:cNvPr id="15" name="Chart 14" descr="Table of Percentage of multiple subquery plans by model showcasing: gpt-4o, gpt-4o-mini, gpt-4.1, gpt-4.1-mini and gpt-4.1-nano.">
            <a:extLst>
              <a:ext uri="{FF2B5EF4-FFF2-40B4-BE49-F238E27FC236}">
                <a16:creationId xmlns:a16="http://schemas.microsoft.com/office/drawing/2014/main" id="{7BECB344-7385-E985-CA3A-50ABE4482C42}"/>
              </a:ext>
            </a:extLst>
          </p:cNvPr>
          <p:cNvGraphicFramePr>
            <a:graphicFrameLocks/>
          </p:cNvGraphicFramePr>
          <p:nvPr/>
        </p:nvGraphicFramePr>
        <p:xfrm>
          <a:off x="838721" y="2057400"/>
          <a:ext cx="4995174" cy="39496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467D282-8228-3561-3397-A48EE46C9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2"/>
            <a:endCxn id="7" idx="0"/>
          </p:cNvCxnSpPr>
          <p:nvPr/>
        </p:nvCxnSpPr>
        <p:spPr>
          <a:xfrm flipV="1">
            <a:off x="6096794" y="1796901"/>
            <a:ext cx="0" cy="4472137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hart 15" descr="Table of Average number of subqueries showcasing: gpt-4o, gpt-4o-mini, gpt-4.1, gpt-4.1-mini and gpt-4.1-nano.">
            <a:extLst>
              <a:ext uri="{FF2B5EF4-FFF2-40B4-BE49-F238E27FC236}">
                <a16:creationId xmlns:a16="http://schemas.microsoft.com/office/drawing/2014/main" id="{16F2B1DF-E66B-5F6C-667F-8C50757A6AFE}"/>
              </a:ext>
            </a:extLst>
          </p:cNvPr>
          <p:cNvGraphicFramePr>
            <a:graphicFrameLocks/>
          </p:cNvGraphicFramePr>
          <p:nvPr/>
        </p:nvGraphicFramePr>
        <p:xfrm>
          <a:off x="6357799" y="2057400"/>
          <a:ext cx="4989000" cy="39496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7569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32369-1E32-2DB2-AC2C-F29B9E80F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588962"/>
            <a:ext cx="11017250" cy="554038"/>
          </a:xfrm>
        </p:spPr>
        <p:txBody>
          <a:bodyPr/>
          <a:lstStyle/>
          <a:p>
            <a:pPr algn="ctr"/>
            <a:r>
              <a:rPr lang="en-US"/>
              <a:t>Use Case</a:t>
            </a:r>
          </a:p>
        </p:txBody>
      </p:sp>
      <p:sp>
        <p:nvSpPr>
          <p:cNvPr id="9" name="Rounded Rectangle 14">
            <a:extLst>
              <a:ext uri="{FF2B5EF4-FFF2-40B4-BE49-F238E27FC236}">
                <a16:creationId xmlns:a16="http://schemas.microsoft.com/office/drawing/2014/main" id="{C5C136DD-E33F-2CB3-EAC4-B5B4E3184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2614" y="1373187"/>
            <a:ext cx="11025187" cy="4832351"/>
          </a:xfrm>
          <a:prstGeom prst="roundRect">
            <a:avLst>
              <a:gd name="adj" fmla="val 2954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320040" rIns="0" bIns="0" rtlCol="0" anchor="t" anchorCtr="0">
            <a:noAutofit/>
          </a:bodyPr>
          <a:lstStyle/>
          <a:p>
            <a:pPr marL="457183" marR="0" lvl="1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684277-5E67-A0CE-63BF-75495BDDDCA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85947" y="1584634"/>
            <a:ext cx="11018520" cy="430887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2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RAG chatbot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1FDE13E-0F5D-71F5-0C95-AF4B33624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29170" y="2117612"/>
            <a:ext cx="3132074" cy="0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883F8C-9578-5759-2B05-E5EC8577C5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1037999" y="2219702"/>
            <a:ext cx="10114417" cy="2677656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22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“Using Azure AI Search for our RAG chatbot has significantly </a:t>
            </a:r>
            <a:br>
              <a:rPr kumimoji="0" lang="en-US" sz="22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</a:br>
            <a:r>
              <a:rPr kumimoji="0" lang="en-US" sz="22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improved our customer support experience. </a:t>
            </a:r>
          </a:p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22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By delivering faster website searches and answers across service pricing, conditions, appointment booking and how-to procedures, we have reduced waiting queues and service times by 45% in the past five months. </a:t>
            </a:r>
          </a:p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22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This improvement has led to faster response times and a notable </a:t>
            </a:r>
            <a:br>
              <a:rPr kumimoji="0" lang="en-US" sz="22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</a:br>
            <a:r>
              <a:rPr kumimoji="0" lang="en-US" sz="22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increase in our NPS score.”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F948C10-B264-282D-BFA5-9C028534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91582" y="4999449"/>
            <a:ext cx="1607250" cy="0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48A293A-5964-DE04-7B09-2A9811689E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1037999" y="5101539"/>
            <a:ext cx="10114417" cy="892552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16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Andrés Gómez</a:t>
            </a:r>
          </a:p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16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Sr. Data Scientist &amp; Founder</a:t>
            </a:r>
          </a:p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16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ADGG </a:t>
            </a:r>
            <a:r>
              <a:rPr kumimoji="0" lang="en-US" sz="1600" b="1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Solutions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CEB00A2-88C0-B1A4-F24D-D991C7A9F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10800000">
            <a:off x="169920" y="1789102"/>
            <a:ext cx="825385" cy="825385"/>
          </a:xfrm>
          <a:prstGeom prst="ellipse">
            <a:avLst/>
          </a:prstGeom>
          <a:gradFill flip="none" rotWithShape="1">
            <a:gsLst>
              <a:gs pos="80000">
                <a:srgbClr val="1774A7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23" name="Graphic 19">
            <a:extLst>
              <a:ext uri="{FF2B5EF4-FFF2-40B4-BE49-F238E27FC236}">
                <a16:creationId xmlns:a16="http://schemas.microsoft.com/office/drawing/2014/main" id="{490DF4FD-0A6D-B4E3-CA77-73F9629DC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10098" y="2053899"/>
            <a:ext cx="345029" cy="295792"/>
          </a:xfrm>
          <a:custGeom>
            <a:avLst/>
            <a:gdLst>
              <a:gd name="connsiteX0" fmla="*/ 23916 w 133453"/>
              <a:gd name="connsiteY0" fmla="*/ 0 h 114409"/>
              <a:gd name="connsiteX1" fmla="*/ 47681 w 133453"/>
              <a:gd name="connsiteY1" fmla="*/ 22250 h 114409"/>
              <a:gd name="connsiteX2" fmla="*/ 47729 w 133453"/>
              <a:gd name="connsiteY2" fmla="*/ 24213 h 114409"/>
              <a:gd name="connsiteX3" fmla="*/ 12438 w 133453"/>
              <a:gd name="connsiteY3" fmla="*/ 112062 h 114409"/>
              <a:gd name="connsiteX4" fmla="*/ 2348 w 133453"/>
              <a:gd name="connsiteY4" fmla="*/ 112561 h 114409"/>
              <a:gd name="connsiteX5" fmla="*/ 1849 w 133453"/>
              <a:gd name="connsiteY5" fmla="*/ 102470 h 114409"/>
              <a:gd name="connsiteX6" fmla="*/ 2056 w 133453"/>
              <a:gd name="connsiteY6" fmla="*/ 102251 h 114409"/>
              <a:gd name="connsiteX7" fmla="*/ 31365 w 133453"/>
              <a:gd name="connsiteY7" fmla="*/ 46444 h 114409"/>
              <a:gd name="connsiteX8" fmla="*/ 1327 w 133453"/>
              <a:gd name="connsiteY8" fmla="*/ 31219 h 114409"/>
              <a:gd name="connsiteX9" fmla="*/ 16552 w 133453"/>
              <a:gd name="connsiteY9" fmla="*/ 1181 h 114409"/>
              <a:gd name="connsiteX10" fmla="*/ 23916 w 133453"/>
              <a:gd name="connsiteY10" fmla="*/ 0 h 114409"/>
              <a:gd name="connsiteX11" fmla="*/ 109641 w 133453"/>
              <a:gd name="connsiteY11" fmla="*/ 0 h 114409"/>
              <a:gd name="connsiteX12" fmla="*/ 133406 w 133453"/>
              <a:gd name="connsiteY12" fmla="*/ 22250 h 114409"/>
              <a:gd name="connsiteX13" fmla="*/ 133454 w 133453"/>
              <a:gd name="connsiteY13" fmla="*/ 24213 h 114409"/>
              <a:gd name="connsiteX14" fmla="*/ 98163 w 133453"/>
              <a:gd name="connsiteY14" fmla="*/ 112062 h 114409"/>
              <a:gd name="connsiteX15" fmla="*/ 88073 w 133453"/>
              <a:gd name="connsiteY15" fmla="*/ 112561 h 114409"/>
              <a:gd name="connsiteX16" fmla="*/ 87574 w 133453"/>
              <a:gd name="connsiteY16" fmla="*/ 102470 h 114409"/>
              <a:gd name="connsiteX17" fmla="*/ 87781 w 133453"/>
              <a:gd name="connsiteY17" fmla="*/ 102251 h 114409"/>
              <a:gd name="connsiteX18" fmla="*/ 117099 w 133453"/>
              <a:gd name="connsiteY18" fmla="*/ 46444 h 114409"/>
              <a:gd name="connsiteX19" fmla="*/ 87061 w 133453"/>
              <a:gd name="connsiteY19" fmla="*/ 31219 h 114409"/>
              <a:gd name="connsiteX20" fmla="*/ 102287 w 133453"/>
              <a:gd name="connsiteY20" fmla="*/ 1181 h 114409"/>
              <a:gd name="connsiteX21" fmla="*/ 109641 w 133453"/>
              <a:gd name="connsiteY21" fmla="*/ 0 h 114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33453" h="114409">
                <a:moveTo>
                  <a:pt x="23916" y="0"/>
                </a:moveTo>
                <a:cubicBezTo>
                  <a:pt x="36462" y="-2"/>
                  <a:pt x="46858" y="9731"/>
                  <a:pt x="47681" y="22250"/>
                </a:cubicBezTo>
                <a:lnTo>
                  <a:pt x="47729" y="24213"/>
                </a:lnTo>
                <a:cubicBezTo>
                  <a:pt x="47633" y="58074"/>
                  <a:pt x="35918" y="87211"/>
                  <a:pt x="12438" y="112062"/>
                </a:cubicBezTo>
                <a:cubicBezTo>
                  <a:pt x="9790" y="114986"/>
                  <a:pt x="5272" y="115209"/>
                  <a:pt x="2348" y="112561"/>
                </a:cubicBezTo>
                <a:cubicBezTo>
                  <a:pt x="-576" y="109912"/>
                  <a:pt x="-799" y="105394"/>
                  <a:pt x="1849" y="102470"/>
                </a:cubicBezTo>
                <a:cubicBezTo>
                  <a:pt x="1917" y="102396"/>
                  <a:pt x="1986" y="102322"/>
                  <a:pt x="2056" y="102251"/>
                </a:cubicBezTo>
                <a:cubicBezTo>
                  <a:pt x="17677" y="85706"/>
                  <a:pt x="27393" y="67256"/>
                  <a:pt x="31365" y="46444"/>
                </a:cubicBezTo>
                <a:cubicBezTo>
                  <a:pt x="18866" y="50534"/>
                  <a:pt x="5417" y="43718"/>
                  <a:pt x="1327" y="31219"/>
                </a:cubicBezTo>
                <a:cubicBezTo>
                  <a:pt x="-2764" y="18720"/>
                  <a:pt x="4053" y="5271"/>
                  <a:pt x="16552" y="1181"/>
                </a:cubicBezTo>
                <a:cubicBezTo>
                  <a:pt x="18929" y="403"/>
                  <a:pt x="21415" y="4"/>
                  <a:pt x="23916" y="0"/>
                </a:cubicBezTo>
                <a:close/>
                <a:moveTo>
                  <a:pt x="109641" y="0"/>
                </a:moveTo>
                <a:cubicBezTo>
                  <a:pt x="122187" y="-2"/>
                  <a:pt x="132583" y="9731"/>
                  <a:pt x="133406" y="22250"/>
                </a:cubicBezTo>
                <a:lnTo>
                  <a:pt x="133454" y="24213"/>
                </a:lnTo>
                <a:cubicBezTo>
                  <a:pt x="133358" y="58122"/>
                  <a:pt x="121662" y="87211"/>
                  <a:pt x="98163" y="112062"/>
                </a:cubicBezTo>
                <a:cubicBezTo>
                  <a:pt x="95514" y="114986"/>
                  <a:pt x="90997" y="115209"/>
                  <a:pt x="88073" y="112561"/>
                </a:cubicBezTo>
                <a:cubicBezTo>
                  <a:pt x="85148" y="109912"/>
                  <a:pt x="84926" y="105394"/>
                  <a:pt x="87574" y="102470"/>
                </a:cubicBezTo>
                <a:cubicBezTo>
                  <a:pt x="87642" y="102396"/>
                  <a:pt x="87711" y="102322"/>
                  <a:pt x="87781" y="102251"/>
                </a:cubicBezTo>
                <a:cubicBezTo>
                  <a:pt x="103431" y="85696"/>
                  <a:pt x="113137" y="67275"/>
                  <a:pt x="117099" y="46444"/>
                </a:cubicBezTo>
                <a:cubicBezTo>
                  <a:pt x="104600" y="50534"/>
                  <a:pt x="91152" y="43718"/>
                  <a:pt x="87061" y="31219"/>
                </a:cubicBezTo>
                <a:cubicBezTo>
                  <a:pt x="82971" y="18720"/>
                  <a:pt x="89788" y="5271"/>
                  <a:pt x="102287" y="1181"/>
                </a:cubicBezTo>
                <a:cubicBezTo>
                  <a:pt x="104661" y="404"/>
                  <a:pt x="107143" y="5"/>
                  <a:pt x="109641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73265A2-CBF4-E363-0D12-F25E81C01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1191933" y="4964238"/>
            <a:ext cx="825385" cy="825385"/>
          </a:xfrm>
          <a:prstGeom prst="ellipse">
            <a:avLst/>
          </a:prstGeom>
          <a:gradFill flip="none" rotWithShape="1">
            <a:gsLst>
              <a:gs pos="80000">
                <a:srgbClr val="AC35AF"/>
              </a:gs>
              <a:gs pos="0">
                <a:srgbClr val="F65567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21" name="Graphic 19">
            <a:extLst>
              <a:ext uri="{FF2B5EF4-FFF2-40B4-BE49-F238E27FC236}">
                <a16:creationId xmlns:a16="http://schemas.microsoft.com/office/drawing/2014/main" id="{5D77168B-261C-A56E-B418-596D0A61F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2111" y="5229034"/>
            <a:ext cx="345029" cy="295792"/>
          </a:xfrm>
          <a:custGeom>
            <a:avLst/>
            <a:gdLst>
              <a:gd name="connsiteX0" fmla="*/ 23916 w 133453"/>
              <a:gd name="connsiteY0" fmla="*/ 0 h 114409"/>
              <a:gd name="connsiteX1" fmla="*/ 47681 w 133453"/>
              <a:gd name="connsiteY1" fmla="*/ 22250 h 114409"/>
              <a:gd name="connsiteX2" fmla="*/ 47729 w 133453"/>
              <a:gd name="connsiteY2" fmla="*/ 24213 h 114409"/>
              <a:gd name="connsiteX3" fmla="*/ 12438 w 133453"/>
              <a:gd name="connsiteY3" fmla="*/ 112062 h 114409"/>
              <a:gd name="connsiteX4" fmla="*/ 2348 w 133453"/>
              <a:gd name="connsiteY4" fmla="*/ 112561 h 114409"/>
              <a:gd name="connsiteX5" fmla="*/ 1849 w 133453"/>
              <a:gd name="connsiteY5" fmla="*/ 102470 h 114409"/>
              <a:gd name="connsiteX6" fmla="*/ 2056 w 133453"/>
              <a:gd name="connsiteY6" fmla="*/ 102251 h 114409"/>
              <a:gd name="connsiteX7" fmla="*/ 31365 w 133453"/>
              <a:gd name="connsiteY7" fmla="*/ 46444 h 114409"/>
              <a:gd name="connsiteX8" fmla="*/ 1327 w 133453"/>
              <a:gd name="connsiteY8" fmla="*/ 31219 h 114409"/>
              <a:gd name="connsiteX9" fmla="*/ 16552 w 133453"/>
              <a:gd name="connsiteY9" fmla="*/ 1181 h 114409"/>
              <a:gd name="connsiteX10" fmla="*/ 23916 w 133453"/>
              <a:gd name="connsiteY10" fmla="*/ 0 h 114409"/>
              <a:gd name="connsiteX11" fmla="*/ 109641 w 133453"/>
              <a:gd name="connsiteY11" fmla="*/ 0 h 114409"/>
              <a:gd name="connsiteX12" fmla="*/ 133406 w 133453"/>
              <a:gd name="connsiteY12" fmla="*/ 22250 h 114409"/>
              <a:gd name="connsiteX13" fmla="*/ 133454 w 133453"/>
              <a:gd name="connsiteY13" fmla="*/ 24213 h 114409"/>
              <a:gd name="connsiteX14" fmla="*/ 98163 w 133453"/>
              <a:gd name="connsiteY14" fmla="*/ 112062 h 114409"/>
              <a:gd name="connsiteX15" fmla="*/ 88073 w 133453"/>
              <a:gd name="connsiteY15" fmla="*/ 112561 h 114409"/>
              <a:gd name="connsiteX16" fmla="*/ 87574 w 133453"/>
              <a:gd name="connsiteY16" fmla="*/ 102470 h 114409"/>
              <a:gd name="connsiteX17" fmla="*/ 87781 w 133453"/>
              <a:gd name="connsiteY17" fmla="*/ 102251 h 114409"/>
              <a:gd name="connsiteX18" fmla="*/ 117099 w 133453"/>
              <a:gd name="connsiteY18" fmla="*/ 46444 h 114409"/>
              <a:gd name="connsiteX19" fmla="*/ 87061 w 133453"/>
              <a:gd name="connsiteY19" fmla="*/ 31219 h 114409"/>
              <a:gd name="connsiteX20" fmla="*/ 102287 w 133453"/>
              <a:gd name="connsiteY20" fmla="*/ 1181 h 114409"/>
              <a:gd name="connsiteX21" fmla="*/ 109641 w 133453"/>
              <a:gd name="connsiteY21" fmla="*/ 0 h 114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33453" h="114409">
                <a:moveTo>
                  <a:pt x="23916" y="0"/>
                </a:moveTo>
                <a:cubicBezTo>
                  <a:pt x="36462" y="-2"/>
                  <a:pt x="46858" y="9731"/>
                  <a:pt x="47681" y="22250"/>
                </a:cubicBezTo>
                <a:lnTo>
                  <a:pt x="47729" y="24213"/>
                </a:lnTo>
                <a:cubicBezTo>
                  <a:pt x="47633" y="58074"/>
                  <a:pt x="35918" y="87211"/>
                  <a:pt x="12438" y="112062"/>
                </a:cubicBezTo>
                <a:cubicBezTo>
                  <a:pt x="9790" y="114986"/>
                  <a:pt x="5272" y="115209"/>
                  <a:pt x="2348" y="112561"/>
                </a:cubicBezTo>
                <a:cubicBezTo>
                  <a:pt x="-576" y="109912"/>
                  <a:pt x="-799" y="105394"/>
                  <a:pt x="1849" y="102470"/>
                </a:cubicBezTo>
                <a:cubicBezTo>
                  <a:pt x="1917" y="102396"/>
                  <a:pt x="1986" y="102322"/>
                  <a:pt x="2056" y="102251"/>
                </a:cubicBezTo>
                <a:cubicBezTo>
                  <a:pt x="17677" y="85706"/>
                  <a:pt x="27393" y="67256"/>
                  <a:pt x="31365" y="46444"/>
                </a:cubicBezTo>
                <a:cubicBezTo>
                  <a:pt x="18866" y="50534"/>
                  <a:pt x="5417" y="43718"/>
                  <a:pt x="1327" y="31219"/>
                </a:cubicBezTo>
                <a:cubicBezTo>
                  <a:pt x="-2764" y="18720"/>
                  <a:pt x="4053" y="5271"/>
                  <a:pt x="16552" y="1181"/>
                </a:cubicBezTo>
                <a:cubicBezTo>
                  <a:pt x="18929" y="403"/>
                  <a:pt x="21415" y="4"/>
                  <a:pt x="23916" y="0"/>
                </a:cubicBezTo>
                <a:close/>
                <a:moveTo>
                  <a:pt x="109641" y="0"/>
                </a:moveTo>
                <a:cubicBezTo>
                  <a:pt x="122187" y="-2"/>
                  <a:pt x="132583" y="9731"/>
                  <a:pt x="133406" y="22250"/>
                </a:cubicBezTo>
                <a:lnTo>
                  <a:pt x="133454" y="24213"/>
                </a:lnTo>
                <a:cubicBezTo>
                  <a:pt x="133358" y="58122"/>
                  <a:pt x="121662" y="87211"/>
                  <a:pt x="98163" y="112062"/>
                </a:cubicBezTo>
                <a:cubicBezTo>
                  <a:pt x="95514" y="114986"/>
                  <a:pt x="90997" y="115209"/>
                  <a:pt x="88073" y="112561"/>
                </a:cubicBezTo>
                <a:cubicBezTo>
                  <a:pt x="85148" y="109912"/>
                  <a:pt x="84926" y="105394"/>
                  <a:pt x="87574" y="102470"/>
                </a:cubicBezTo>
                <a:cubicBezTo>
                  <a:pt x="87642" y="102396"/>
                  <a:pt x="87711" y="102322"/>
                  <a:pt x="87781" y="102251"/>
                </a:cubicBezTo>
                <a:cubicBezTo>
                  <a:pt x="103431" y="85696"/>
                  <a:pt x="113137" y="67275"/>
                  <a:pt x="117099" y="46444"/>
                </a:cubicBezTo>
                <a:cubicBezTo>
                  <a:pt x="104600" y="50534"/>
                  <a:pt x="91152" y="43718"/>
                  <a:pt x="87061" y="31219"/>
                </a:cubicBezTo>
                <a:cubicBezTo>
                  <a:pt x="82971" y="18720"/>
                  <a:pt x="89788" y="5271"/>
                  <a:pt x="102287" y="1181"/>
                </a:cubicBezTo>
                <a:cubicBezTo>
                  <a:pt x="104661" y="404"/>
                  <a:pt x="107143" y="5"/>
                  <a:pt x="109641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1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1E94A-ACEF-38D9-A588-DACF998D8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Supported </a:t>
            </a:r>
            <a:br>
              <a:rPr lang="en-US"/>
            </a:br>
            <a:r>
              <a:rPr lang="en-US"/>
              <a:t>models</a:t>
            </a:r>
          </a:p>
        </p:txBody>
      </p:sp>
      <p:sp>
        <p:nvSpPr>
          <p:cNvPr id="18" name="Rounded Rectangle 14">
            <a:extLst>
              <a:ext uri="{FF2B5EF4-FFF2-40B4-BE49-F238E27FC236}">
                <a16:creationId xmlns:a16="http://schemas.microsoft.com/office/drawing/2014/main" id="{6384C02B-B113-7599-1AEA-32290C534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539563" y="585788"/>
            <a:ext cx="6069825" cy="5683249"/>
          </a:xfrm>
          <a:prstGeom prst="roundRect">
            <a:avLst>
              <a:gd name="adj" fmla="val 2964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err="1">
              <a:ln>
                <a:noFill/>
              </a:ln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F201C90-482A-AE8C-520A-C835C9602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070600" y="960433"/>
            <a:ext cx="583700" cy="583700"/>
          </a:xfrm>
          <a:prstGeom prst="ellipse">
            <a:avLst/>
          </a:prstGeom>
          <a:gradFill flip="none" rotWithShape="1">
            <a:gsLst>
              <a:gs pos="80000">
                <a:srgbClr val="1C77A0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33" name="Graphic 29">
            <a:extLst>
              <a:ext uri="{FF2B5EF4-FFF2-40B4-BE49-F238E27FC236}">
                <a16:creationId xmlns:a16="http://schemas.microsoft.com/office/drawing/2014/main" id="{BBEC50A7-02DF-9B15-8F9A-282698BCF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7849" y="1159682"/>
            <a:ext cx="249202" cy="185204"/>
          </a:xfrm>
          <a:custGeom>
            <a:avLst/>
            <a:gdLst>
              <a:gd name="connsiteX0" fmla="*/ 52270 w 166453"/>
              <a:gd name="connsiteY0" fmla="*/ 100715 h 123706"/>
              <a:gd name="connsiteX1" fmla="*/ 16142 w 166453"/>
              <a:gd name="connsiteY1" fmla="*/ 64586 h 123706"/>
              <a:gd name="connsiteX2" fmla="*/ 2674 w 166453"/>
              <a:gd name="connsiteY2" fmla="*/ 64821 h 123706"/>
              <a:gd name="connsiteX3" fmla="*/ 2674 w 166453"/>
              <a:gd name="connsiteY3" fmla="*/ 78055 h 123706"/>
              <a:gd name="connsiteX4" fmla="*/ 45536 w 166453"/>
              <a:gd name="connsiteY4" fmla="*/ 120917 h 123706"/>
              <a:gd name="connsiteX5" fmla="*/ 59005 w 166453"/>
              <a:gd name="connsiteY5" fmla="*/ 120917 h 123706"/>
              <a:gd name="connsiteX6" fmla="*/ 163780 w 166453"/>
              <a:gd name="connsiteY6" fmla="*/ 16142 h 123706"/>
              <a:gd name="connsiteX7" fmla="*/ 163545 w 166453"/>
              <a:gd name="connsiteY7" fmla="*/ 2674 h 123706"/>
              <a:gd name="connsiteX8" fmla="*/ 150311 w 166453"/>
              <a:gd name="connsiteY8" fmla="*/ 2674 h 123706"/>
              <a:gd name="connsiteX9" fmla="*/ 52270 w 166453"/>
              <a:gd name="connsiteY9" fmla="*/ 100715 h 123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6453" h="123706">
                <a:moveTo>
                  <a:pt x="52270" y="100715"/>
                </a:moveTo>
                <a:lnTo>
                  <a:pt x="16142" y="64586"/>
                </a:lnTo>
                <a:cubicBezTo>
                  <a:pt x="12358" y="60932"/>
                  <a:pt x="6328" y="61036"/>
                  <a:pt x="2674" y="64821"/>
                </a:cubicBezTo>
                <a:cubicBezTo>
                  <a:pt x="-891" y="68512"/>
                  <a:pt x="-891" y="74364"/>
                  <a:pt x="2674" y="78055"/>
                </a:cubicBezTo>
                <a:lnTo>
                  <a:pt x="45536" y="120917"/>
                </a:lnTo>
                <a:cubicBezTo>
                  <a:pt x="49256" y="124636"/>
                  <a:pt x="55285" y="124636"/>
                  <a:pt x="59005" y="120917"/>
                </a:cubicBezTo>
                <a:lnTo>
                  <a:pt x="163780" y="16142"/>
                </a:lnTo>
                <a:cubicBezTo>
                  <a:pt x="167434" y="12358"/>
                  <a:pt x="167330" y="6328"/>
                  <a:pt x="163545" y="2674"/>
                </a:cubicBezTo>
                <a:cubicBezTo>
                  <a:pt x="159854" y="-891"/>
                  <a:pt x="154002" y="-891"/>
                  <a:pt x="150311" y="2674"/>
                </a:cubicBezTo>
                <a:lnTo>
                  <a:pt x="52270" y="10071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7D40C7-B430-3248-319C-516C223C3F4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939466" y="1067617"/>
            <a:ext cx="2990850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gpt-4o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8E2A4B-4587-201B-6CD5-CFF18BA01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66283" y="1796065"/>
            <a:ext cx="5016385" cy="0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11F36F11-C3C7-3F22-DE82-3DC54F0C2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070600" y="2047997"/>
            <a:ext cx="583700" cy="583700"/>
          </a:xfrm>
          <a:prstGeom prst="ellipse">
            <a:avLst/>
          </a:prstGeom>
          <a:gradFill flip="none" rotWithShape="1">
            <a:gsLst>
              <a:gs pos="80000">
                <a:srgbClr val="335DB7"/>
              </a:gs>
              <a:gs pos="0">
                <a:srgbClr val="1C77A0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32" name="Graphic 29">
            <a:extLst>
              <a:ext uri="{FF2B5EF4-FFF2-40B4-BE49-F238E27FC236}">
                <a16:creationId xmlns:a16="http://schemas.microsoft.com/office/drawing/2014/main" id="{0437B5A3-4588-D68C-B67F-13A932FBE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7849" y="2247245"/>
            <a:ext cx="249202" cy="185204"/>
          </a:xfrm>
          <a:custGeom>
            <a:avLst/>
            <a:gdLst>
              <a:gd name="connsiteX0" fmla="*/ 52270 w 166453"/>
              <a:gd name="connsiteY0" fmla="*/ 100715 h 123706"/>
              <a:gd name="connsiteX1" fmla="*/ 16142 w 166453"/>
              <a:gd name="connsiteY1" fmla="*/ 64586 h 123706"/>
              <a:gd name="connsiteX2" fmla="*/ 2674 w 166453"/>
              <a:gd name="connsiteY2" fmla="*/ 64821 h 123706"/>
              <a:gd name="connsiteX3" fmla="*/ 2674 w 166453"/>
              <a:gd name="connsiteY3" fmla="*/ 78055 h 123706"/>
              <a:gd name="connsiteX4" fmla="*/ 45536 w 166453"/>
              <a:gd name="connsiteY4" fmla="*/ 120917 h 123706"/>
              <a:gd name="connsiteX5" fmla="*/ 59005 w 166453"/>
              <a:gd name="connsiteY5" fmla="*/ 120917 h 123706"/>
              <a:gd name="connsiteX6" fmla="*/ 163780 w 166453"/>
              <a:gd name="connsiteY6" fmla="*/ 16142 h 123706"/>
              <a:gd name="connsiteX7" fmla="*/ 163545 w 166453"/>
              <a:gd name="connsiteY7" fmla="*/ 2674 h 123706"/>
              <a:gd name="connsiteX8" fmla="*/ 150311 w 166453"/>
              <a:gd name="connsiteY8" fmla="*/ 2674 h 123706"/>
              <a:gd name="connsiteX9" fmla="*/ 52270 w 166453"/>
              <a:gd name="connsiteY9" fmla="*/ 100715 h 123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6453" h="123706">
                <a:moveTo>
                  <a:pt x="52270" y="100715"/>
                </a:moveTo>
                <a:lnTo>
                  <a:pt x="16142" y="64586"/>
                </a:lnTo>
                <a:cubicBezTo>
                  <a:pt x="12358" y="60932"/>
                  <a:pt x="6328" y="61036"/>
                  <a:pt x="2674" y="64821"/>
                </a:cubicBezTo>
                <a:cubicBezTo>
                  <a:pt x="-891" y="68512"/>
                  <a:pt x="-891" y="74364"/>
                  <a:pt x="2674" y="78055"/>
                </a:cubicBezTo>
                <a:lnTo>
                  <a:pt x="45536" y="120917"/>
                </a:lnTo>
                <a:cubicBezTo>
                  <a:pt x="49256" y="124636"/>
                  <a:pt x="55285" y="124636"/>
                  <a:pt x="59005" y="120917"/>
                </a:cubicBezTo>
                <a:lnTo>
                  <a:pt x="163780" y="16142"/>
                </a:lnTo>
                <a:cubicBezTo>
                  <a:pt x="167434" y="12358"/>
                  <a:pt x="167330" y="6328"/>
                  <a:pt x="163545" y="2674"/>
                </a:cubicBezTo>
                <a:cubicBezTo>
                  <a:pt x="159854" y="-891"/>
                  <a:pt x="154002" y="-891"/>
                  <a:pt x="150311" y="2674"/>
                </a:cubicBezTo>
                <a:lnTo>
                  <a:pt x="52270" y="10071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12A947-DCD4-01CE-B36E-8DF58D6E3E5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939466" y="2155181"/>
            <a:ext cx="2990850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gpt-4o-mini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90CD5DA-FC89-32B8-1057-C29E7CED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66283" y="2883629"/>
            <a:ext cx="5016385" cy="0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1642DE3-9587-96A2-3550-4422479D9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070600" y="3135561"/>
            <a:ext cx="583700" cy="583700"/>
          </a:xfrm>
          <a:prstGeom prst="ellipse">
            <a:avLst/>
          </a:prstGeom>
          <a:gradFill flip="none" rotWithShape="1">
            <a:gsLst>
              <a:gs pos="80000">
                <a:srgbClr val="943DB1"/>
              </a:gs>
              <a:gs pos="0">
                <a:srgbClr val="335DB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31" name="Graphic 29">
            <a:extLst>
              <a:ext uri="{FF2B5EF4-FFF2-40B4-BE49-F238E27FC236}">
                <a16:creationId xmlns:a16="http://schemas.microsoft.com/office/drawing/2014/main" id="{012B3332-D7D8-CD0B-3D24-D3959304D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7849" y="3342193"/>
            <a:ext cx="249202" cy="185204"/>
          </a:xfrm>
          <a:custGeom>
            <a:avLst/>
            <a:gdLst>
              <a:gd name="connsiteX0" fmla="*/ 52270 w 166453"/>
              <a:gd name="connsiteY0" fmla="*/ 100715 h 123706"/>
              <a:gd name="connsiteX1" fmla="*/ 16142 w 166453"/>
              <a:gd name="connsiteY1" fmla="*/ 64586 h 123706"/>
              <a:gd name="connsiteX2" fmla="*/ 2674 w 166453"/>
              <a:gd name="connsiteY2" fmla="*/ 64821 h 123706"/>
              <a:gd name="connsiteX3" fmla="*/ 2674 w 166453"/>
              <a:gd name="connsiteY3" fmla="*/ 78055 h 123706"/>
              <a:gd name="connsiteX4" fmla="*/ 45536 w 166453"/>
              <a:gd name="connsiteY4" fmla="*/ 120917 h 123706"/>
              <a:gd name="connsiteX5" fmla="*/ 59005 w 166453"/>
              <a:gd name="connsiteY5" fmla="*/ 120917 h 123706"/>
              <a:gd name="connsiteX6" fmla="*/ 163780 w 166453"/>
              <a:gd name="connsiteY6" fmla="*/ 16142 h 123706"/>
              <a:gd name="connsiteX7" fmla="*/ 163545 w 166453"/>
              <a:gd name="connsiteY7" fmla="*/ 2674 h 123706"/>
              <a:gd name="connsiteX8" fmla="*/ 150311 w 166453"/>
              <a:gd name="connsiteY8" fmla="*/ 2674 h 123706"/>
              <a:gd name="connsiteX9" fmla="*/ 52270 w 166453"/>
              <a:gd name="connsiteY9" fmla="*/ 100715 h 123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6453" h="123706">
                <a:moveTo>
                  <a:pt x="52270" y="100715"/>
                </a:moveTo>
                <a:lnTo>
                  <a:pt x="16142" y="64586"/>
                </a:lnTo>
                <a:cubicBezTo>
                  <a:pt x="12358" y="60932"/>
                  <a:pt x="6328" y="61036"/>
                  <a:pt x="2674" y="64821"/>
                </a:cubicBezTo>
                <a:cubicBezTo>
                  <a:pt x="-891" y="68512"/>
                  <a:pt x="-891" y="74364"/>
                  <a:pt x="2674" y="78055"/>
                </a:cubicBezTo>
                <a:lnTo>
                  <a:pt x="45536" y="120917"/>
                </a:lnTo>
                <a:cubicBezTo>
                  <a:pt x="49256" y="124636"/>
                  <a:pt x="55285" y="124636"/>
                  <a:pt x="59005" y="120917"/>
                </a:cubicBezTo>
                <a:lnTo>
                  <a:pt x="163780" y="16142"/>
                </a:lnTo>
                <a:cubicBezTo>
                  <a:pt x="167434" y="12358"/>
                  <a:pt x="167330" y="6328"/>
                  <a:pt x="163545" y="2674"/>
                </a:cubicBezTo>
                <a:cubicBezTo>
                  <a:pt x="159854" y="-891"/>
                  <a:pt x="154002" y="-891"/>
                  <a:pt x="150311" y="2674"/>
                </a:cubicBezTo>
                <a:lnTo>
                  <a:pt x="52270" y="10071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C58CCC-F688-DE12-9DFB-9E8FB4BFF5E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939466" y="3242745"/>
            <a:ext cx="2990850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gpt-4.1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554708E-1B0A-70A1-3F9E-9B06123C0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66283" y="3971193"/>
            <a:ext cx="5016385" cy="0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A6AB0D40-C340-F910-B49C-AE909C110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070600" y="4223125"/>
            <a:ext cx="583700" cy="583700"/>
          </a:xfrm>
          <a:prstGeom prst="ellipse">
            <a:avLst/>
          </a:prstGeom>
          <a:gradFill flip="none" rotWithShape="1">
            <a:gsLst>
              <a:gs pos="80000">
                <a:srgbClr val="CF448D"/>
              </a:gs>
              <a:gs pos="0">
                <a:srgbClr val="943DB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34" name="Graphic 29">
            <a:extLst>
              <a:ext uri="{FF2B5EF4-FFF2-40B4-BE49-F238E27FC236}">
                <a16:creationId xmlns:a16="http://schemas.microsoft.com/office/drawing/2014/main" id="{F0237780-1CFC-BB0A-C6A7-6F41AC131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7849" y="4424440"/>
            <a:ext cx="249202" cy="185204"/>
          </a:xfrm>
          <a:custGeom>
            <a:avLst/>
            <a:gdLst>
              <a:gd name="connsiteX0" fmla="*/ 52270 w 166453"/>
              <a:gd name="connsiteY0" fmla="*/ 100715 h 123706"/>
              <a:gd name="connsiteX1" fmla="*/ 16142 w 166453"/>
              <a:gd name="connsiteY1" fmla="*/ 64586 h 123706"/>
              <a:gd name="connsiteX2" fmla="*/ 2674 w 166453"/>
              <a:gd name="connsiteY2" fmla="*/ 64821 h 123706"/>
              <a:gd name="connsiteX3" fmla="*/ 2674 w 166453"/>
              <a:gd name="connsiteY3" fmla="*/ 78055 h 123706"/>
              <a:gd name="connsiteX4" fmla="*/ 45536 w 166453"/>
              <a:gd name="connsiteY4" fmla="*/ 120917 h 123706"/>
              <a:gd name="connsiteX5" fmla="*/ 59005 w 166453"/>
              <a:gd name="connsiteY5" fmla="*/ 120917 h 123706"/>
              <a:gd name="connsiteX6" fmla="*/ 163780 w 166453"/>
              <a:gd name="connsiteY6" fmla="*/ 16142 h 123706"/>
              <a:gd name="connsiteX7" fmla="*/ 163545 w 166453"/>
              <a:gd name="connsiteY7" fmla="*/ 2674 h 123706"/>
              <a:gd name="connsiteX8" fmla="*/ 150311 w 166453"/>
              <a:gd name="connsiteY8" fmla="*/ 2674 h 123706"/>
              <a:gd name="connsiteX9" fmla="*/ 52270 w 166453"/>
              <a:gd name="connsiteY9" fmla="*/ 100715 h 123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6453" h="123706">
                <a:moveTo>
                  <a:pt x="52270" y="100715"/>
                </a:moveTo>
                <a:lnTo>
                  <a:pt x="16142" y="64586"/>
                </a:lnTo>
                <a:cubicBezTo>
                  <a:pt x="12358" y="60932"/>
                  <a:pt x="6328" y="61036"/>
                  <a:pt x="2674" y="64821"/>
                </a:cubicBezTo>
                <a:cubicBezTo>
                  <a:pt x="-891" y="68512"/>
                  <a:pt x="-891" y="74364"/>
                  <a:pt x="2674" y="78055"/>
                </a:cubicBezTo>
                <a:lnTo>
                  <a:pt x="45536" y="120917"/>
                </a:lnTo>
                <a:cubicBezTo>
                  <a:pt x="49256" y="124636"/>
                  <a:pt x="55285" y="124636"/>
                  <a:pt x="59005" y="120917"/>
                </a:cubicBezTo>
                <a:lnTo>
                  <a:pt x="163780" y="16142"/>
                </a:lnTo>
                <a:cubicBezTo>
                  <a:pt x="167434" y="12358"/>
                  <a:pt x="167330" y="6328"/>
                  <a:pt x="163545" y="2674"/>
                </a:cubicBezTo>
                <a:cubicBezTo>
                  <a:pt x="159854" y="-891"/>
                  <a:pt x="154002" y="-891"/>
                  <a:pt x="150311" y="2674"/>
                </a:cubicBezTo>
                <a:lnTo>
                  <a:pt x="52270" y="10071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1163C5-5465-CC14-8A55-74C4FE3A734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939466" y="4330309"/>
            <a:ext cx="2990850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gpt-4.1-mini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DF1D66-5F7F-D5E0-E593-E72367C49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66283" y="5058757"/>
            <a:ext cx="5016385" cy="0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E8A15B2C-FB7C-8885-2D2B-964767C02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070600" y="5310692"/>
            <a:ext cx="583700" cy="583700"/>
          </a:xfrm>
          <a:prstGeom prst="ellipse">
            <a:avLst/>
          </a:prstGeom>
          <a:gradFill flip="none" rotWithShape="1">
            <a:gsLst>
              <a:gs pos="80000">
                <a:srgbClr val="EE526F"/>
              </a:gs>
              <a:gs pos="0">
                <a:srgbClr val="CF448D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35" name="Graphic 29">
            <a:extLst>
              <a:ext uri="{FF2B5EF4-FFF2-40B4-BE49-F238E27FC236}">
                <a16:creationId xmlns:a16="http://schemas.microsoft.com/office/drawing/2014/main" id="{E89E4C43-3A16-A939-CDD7-4C327E317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7849" y="5512003"/>
            <a:ext cx="249202" cy="185204"/>
          </a:xfrm>
          <a:custGeom>
            <a:avLst/>
            <a:gdLst>
              <a:gd name="connsiteX0" fmla="*/ 52270 w 166453"/>
              <a:gd name="connsiteY0" fmla="*/ 100715 h 123706"/>
              <a:gd name="connsiteX1" fmla="*/ 16142 w 166453"/>
              <a:gd name="connsiteY1" fmla="*/ 64586 h 123706"/>
              <a:gd name="connsiteX2" fmla="*/ 2674 w 166453"/>
              <a:gd name="connsiteY2" fmla="*/ 64821 h 123706"/>
              <a:gd name="connsiteX3" fmla="*/ 2674 w 166453"/>
              <a:gd name="connsiteY3" fmla="*/ 78055 h 123706"/>
              <a:gd name="connsiteX4" fmla="*/ 45536 w 166453"/>
              <a:gd name="connsiteY4" fmla="*/ 120917 h 123706"/>
              <a:gd name="connsiteX5" fmla="*/ 59005 w 166453"/>
              <a:gd name="connsiteY5" fmla="*/ 120917 h 123706"/>
              <a:gd name="connsiteX6" fmla="*/ 163780 w 166453"/>
              <a:gd name="connsiteY6" fmla="*/ 16142 h 123706"/>
              <a:gd name="connsiteX7" fmla="*/ 163545 w 166453"/>
              <a:gd name="connsiteY7" fmla="*/ 2674 h 123706"/>
              <a:gd name="connsiteX8" fmla="*/ 150311 w 166453"/>
              <a:gd name="connsiteY8" fmla="*/ 2674 h 123706"/>
              <a:gd name="connsiteX9" fmla="*/ 52270 w 166453"/>
              <a:gd name="connsiteY9" fmla="*/ 100715 h 123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6453" h="123706">
                <a:moveTo>
                  <a:pt x="52270" y="100715"/>
                </a:moveTo>
                <a:lnTo>
                  <a:pt x="16142" y="64586"/>
                </a:lnTo>
                <a:cubicBezTo>
                  <a:pt x="12358" y="60932"/>
                  <a:pt x="6328" y="61036"/>
                  <a:pt x="2674" y="64821"/>
                </a:cubicBezTo>
                <a:cubicBezTo>
                  <a:pt x="-891" y="68512"/>
                  <a:pt x="-891" y="74364"/>
                  <a:pt x="2674" y="78055"/>
                </a:cubicBezTo>
                <a:lnTo>
                  <a:pt x="45536" y="120917"/>
                </a:lnTo>
                <a:cubicBezTo>
                  <a:pt x="49256" y="124636"/>
                  <a:pt x="55285" y="124636"/>
                  <a:pt x="59005" y="120917"/>
                </a:cubicBezTo>
                <a:lnTo>
                  <a:pt x="163780" y="16142"/>
                </a:lnTo>
                <a:cubicBezTo>
                  <a:pt x="167434" y="12358"/>
                  <a:pt x="167330" y="6328"/>
                  <a:pt x="163545" y="2674"/>
                </a:cubicBezTo>
                <a:cubicBezTo>
                  <a:pt x="159854" y="-891"/>
                  <a:pt x="154002" y="-891"/>
                  <a:pt x="150311" y="2674"/>
                </a:cubicBezTo>
                <a:lnTo>
                  <a:pt x="52270" y="10071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83BB66-E49F-B70A-E187-6787B24645B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939466" y="5417876"/>
            <a:ext cx="2990850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gpt-4.1-nano</a:t>
            </a:r>
          </a:p>
        </p:txBody>
      </p:sp>
    </p:spTree>
    <p:extLst>
      <p:ext uri="{BB962C8B-B14F-4D97-AF65-F5344CB8AC3E}">
        <p14:creationId xmlns:p14="http://schemas.microsoft.com/office/powerpoint/2010/main" val="792315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91D32-A067-73CB-5898-BC77636AE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7FAB9-64C8-2BDE-D9F2-0F2BDFD60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977823"/>
            <a:ext cx="5193284" cy="553998"/>
          </a:xfrm>
        </p:spPr>
        <p:txBody>
          <a:bodyPr/>
          <a:lstStyle/>
          <a:p>
            <a:r>
              <a:rPr lang="en-US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987070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EA21B1-3FE2-E5BC-1344-9EA5E9464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Resources and next steps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EF9176F-A702-5E97-2B11-D24763279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982785" y="877075"/>
            <a:ext cx="583700" cy="583700"/>
          </a:xfrm>
          <a:prstGeom prst="ellipse">
            <a:avLst/>
          </a:prstGeom>
          <a:gradFill flip="none" rotWithShape="1">
            <a:gsLst>
              <a:gs pos="80000">
                <a:srgbClr val="1C77A0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42" name="Graphic 39">
            <a:extLst>
              <a:ext uri="{FF2B5EF4-FFF2-40B4-BE49-F238E27FC236}">
                <a16:creationId xmlns:a16="http://schemas.microsoft.com/office/drawing/2014/main" id="{9DAB23AD-8A6A-DE4F-B854-CB62D6888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149130" y="1057427"/>
            <a:ext cx="251010" cy="222998"/>
          </a:xfrm>
          <a:custGeom>
            <a:avLst/>
            <a:gdLst>
              <a:gd name="connsiteX0" fmla="*/ 69488 w 171443"/>
              <a:gd name="connsiteY0" fmla="*/ 149570 h 152310"/>
              <a:gd name="connsiteX1" fmla="*/ 82961 w 171443"/>
              <a:gd name="connsiteY1" fmla="*/ 149470 h 152310"/>
              <a:gd name="connsiteX2" fmla="*/ 82861 w 171443"/>
              <a:gd name="connsiteY2" fmla="*/ 135997 h 152310"/>
              <a:gd name="connsiteX3" fmla="*/ 31711 w 171443"/>
              <a:gd name="connsiteY3" fmla="*/ 85609 h 152310"/>
              <a:gd name="connsiteX4" fmla="*/ 161918 w 171443"/>
              <a:gd name="connsiteY4" fmla="*/ 85609 h 152310"/>
              <a:gd name="connsiteX5" fmla="*/ 171443 w 171443"/>
              <a:gd name="connsiteY5" fmla="*/ 76084 h 152310"/>
              <a:gd name="connsiteX6" fmla="*/ 161918 w 171443"/>
              <a:gd name="connsiteY6" fmla="*/ 66559 h 152310"/>
              <a:gd name="connsiteX7" fmla="*/ 31778 w 171443"/>
              <a:gd name="connsiteY7" fmla="*/ 66559 h 152310"/>
              <a:gd name="connsiteX8" fmla="*/ 82870 w 171443"/>
              <a:gd name="connsiteY8" fmla="*/ 16201 h 152310"/>
              <a:gd name="connsiteX9" fmla="*/ 82752 w 171443"/>
              <a:gd name="connsiteY9" fmla="*/ 2731 h 152310"/>
              <a:gd name="connsiteX10" fmla="*/ 69497 w 171443"/>
              <a:gd name="connsiteY10" fmla="*/ 2637 h 152310"/>
              <a:gd name="connsiteX11" fmla="*/ 3546 w 171443"/>
              <a:gd name="connsiteY11" fmla="*/ 67617 h 152310"/>
              <a:gd name="connsiteX12" fmla="*/ 3429 w 171443"/>
              <a:gd name="connsiteY12" fmla="*/ 84454 h 152310"/>
              <a:gd name="connsiteX13" fmla="*/ 3546 w 171443"/>
              <a:gd name="connsiteY13" fmla="*/ 84571 h 152310"/>
              <a:gd name="connsiteX14" fmla="*/ 69497 w 171443"/>
              <a:gd name="connsiteY14" fmla="*/ 149560 h 15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1443" h="152310">
                <a:moveTo>
                  <a:pt x="69488" y="149570"/>
                </a:moveTo>
                <a:cubicBezTo>
                  <a:pt x="73236" y="153263"/>
                  <a:pt x="79268" y="153218"/>
                  <a:pt x="82961" y="149470"/>
                </a:cubicBezTo>
                <a:cubicBezTo>
                  <a:pt x="86653" y="145722"/>
                  <a:pt x="86609" y="139689"/>
                  <a:pt x="82861" y="135997"/>
                </a:cubicBezTo>
                <a:lnTo>
                  <a:pt x="31711" y="85609"/>
                </a:lnTo>
                <a:lnTo>
                  <a:pt x="161918" y="85609"/>
                </a:lnTo>
                <a:cubicBezTo>
                  <a:pt x="167179" y="85609"/>
                  <a:pt x="171443" y="81345"/>
                  <a:pt x="171443" y="76084"/>
                </a:cubicBezTo>
                <a:cubicBezTo>
                  <a:pt x="171443" y="70824"/>
                  <a:pt x="167179" y="66559"/>
                  <a:pt x="161918" y="66559"/>
                </a:cubicBezTo>
                <a:lnTo>
                  <a:pt x="31778" y="66559"/>
                </a:lnTo>
                <a:lnTo>
                  <a:pt x="82870" y="16201"/>
                </a:lnTo>
                <a:cubicBezTo>
                  <a:pt x="86557" y="12448"/>
                  <a:pt x="86504" y="6418"/>
                  <a:pt x="82752" y="2731"/>
                </a:cubicBezTo>
                <a:cubicBezTo>
                  <a:pt x="79083" y="-874"/>
                  <a:pt x="73216" y="-915"/>
                  <a:pt x="69497" y="2637"/>
                </a:cubicBezTo>
                <a:lnTo>
                  <a:pt x="3546" y="67617"/>
                </a:lnTo>
                <a:cubicBezTo>
                  <a:pt x="-1136" y="72234"/>
                  <a:pt x="-1188" y="79772"/>
                  <a:pt x="3429" y="84454"/>
                </a:cubicBezTo>
                <a:cubicBezTo>
                  <a:pt x="3468" y="84493"/>
                  <a:pt x="3507" y="84532"/>
                  <a:pt x="3546" y="84571"/>
                </a:cubicBezTo>
                <a:lnTo>
                  <a:pt x="69497" y="14956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FDC404-0601-AF88-B753-DFEA0553EFF8}"/>
              </a:ext>
            </a:extLst>
          </p:cNvPr>
          <p:cNvSpPr txBox="1"/>
          <p:nvPr/>
        </p:nvSpPr>
        <p:spPr>
          <a:xfrm>
            <a:off x="6820189" y="863713"/>
            <a:ext cx="4190711" cy="610424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Get Started with Azure AI Search</a:t>
            </a:r>
          </a:p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</a:t>
            </a:r>
            <a:r>
              <a:rPr kumimoji="0" lang="en-US" sz="1800" b="1" i="0" u="none" strike="noStrike" kern="1200" cap="none" spc="0" normalizeH="0" baseline="0" noProof="0" err="1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AISearch</a:t>
            </a: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-new</a:t>
            </a: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 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C1FBB-09FC-5309-055A-FA2E078ED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982785" y="2091751"/>
            <a:ext cx="583700" cy="583700"/>
          </a:xfrm>
          <a:prstGeom prst="ellipse">
            <a:avLst/>
          </a:prstGeom>
          <a:gradFill flip="none" rotWithShape="1">
            <a:gsLst>
              <a:gs pos="80000">
                <a:srgbClr val="335DB7"/>
              </a:gs>
              <a:gs pos="0">
                <a:srgbClr val="1C77A0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41" name="Graphic 39">
            <a:extLst>
              <a:ext uri="{FF2B5EF4-FFF2-40B4-BE49-F238E27FC236}">
                <a16:creationId xmlns:a16="http://schemas.microsoft.com/office/drawing/2014/main" id="{75FDE421-7292-27EB-16BB-CF2433D9A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149130" y="2272102"/>
            <a:ext cx="251010" cy="222998"/>
          </a:xfrm>
          <a:custGeom>
            <a:avLst/>
            <a:gdLst>
              <a:gd name="connsiteX0" fmla="*/ 69488 w 171443"/>
              <a:gd name="connsiteY0" fmla="*/ 149570 h 152310"/>
              <a:gd name="connsiteX1" fmla="*/ 82961 w 171443"/>
              <a:gd name="connsiteY1" fmla="*/ 149470 h 152310"/>
              <a:gd name="connsiteX2" fmla="*/ 82861 w 171443"/>
              <a:gd name="connsiteY2" fmla="*/ 135997 h 152310"/>
              <a:gd name="connsiteX3" fmla="*/ 31711 w 171443"/>
              <a:gd name="connsiteY3" fmla="*/ 85609 h 152310"/>
              <a:gd name="connsiteX4" fmla="*/ 161918 w 171443"/>
              <a:gd name="connsiteY4" fmla="*/ 85609 h 152310"/>
              <a:gd name="connsiteX5" fmla="*/ 171443 w 171443"/>
              <a:gd name="connsiteY5" fmla="*/ 76084 h 152310"/>
              <a:gd name="connsiteX6" fmla="*/ 161918 w 171443"/>
              <a:gd name="connsiteY6" fmla="*/ 66559 h 152310"/>
              <a:gd name="connsiteX7" fmla="*/ 31778 w 171443"/>
              <a:gd name="connsiteY7" fmla="*/ 66559 h 152310"/>
              <a:gd name="connsiteX8" fmla="*/ 82870 w 171443"/>
              <a:gd name="connsiteY8" fmla="*/ 16201 h 152310"/>
              <a:gd name="connsiteX9" fmla="*/ 82752 w 171443"/>
              <a:gd name="connsiteY9" fmla="*/ 2731 h 152310"/>
              <a:gd name="connsiteX10" fmla="*/ 69497 w 171443"/>
              <a:gd name="connsiteY10" fmla="*/ 2637 h 152310"/>
              <a:gd name="connsiteX11" fmla="*/ 3546 w 171443"/>
              <a:gd name="connsiteY11" fmla="*/ 67617 h 152310"/>
              <a:gd name="connsiteX12" fmla="*/ 3429 w 171443"/>
              <a:gd name="connsiteY12" fmla="*/ 84454 h 152310"/>
              <a:gd name="connsiteX13" fmla="*/ 3546 w 171443"/>
              <a:gd name="connsiteY13" fmla="*/ 84571 h 152310"/>
              <a:gd name="connsiteX14" fmla="*/ 69497 w 171443"/>
              <a:gd name="connsiteY14" fmla="*/ 149560 h 15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1443" h="152310">
                <a:moveTo>
                  <a:pt x="69488" y="149570"/>
                </a:moveTo>
                <a:cubicBezTo>
                  <a:pt x="73236" y="153263"/>
                  <a:pt x="79268" y="153218"/>
                  <a:pt x="82961" y="149470"/>
                </a:cubicBezTo>
                <a:cubicBezTo>
                  <a:pt x="86653" y="145722"/>
                  <a:pt x="86609" y="139689"/>
                  <a:pt x="82861" y="135997"/>
                </a:cubicBezTo>
                <a:lnTo>
                  <a:pt x="31711" y="85609"/>
                </a:lnTo>
                <a:lnTo>
                  <a:pt x="161918" y="85609"/>
                </a:lnTo>
                <a:cubicBezTo>
                  <a:pt x="167179" y="85609"/>
                  <a:pt x="171443" y="81345"/>
                  <a:pt x="171443" y="76084"/>
                </a:cubicBezTo>
                <a:cubicBezTo>
                  <a:pt x="171443" y="70824"/>
                  <a:pt x="167179" y="66559"/>
                  <a:pt x="161918" y="66559"/>
                </a:cubicBezTo>
                <a:lnTo>
                  <a:pt x="31778" y="66559"/>
                </a:lnTo>
                <a:lnTo>
                  <a:pt x="82870" y="16201"/>
                </a:lnTo>
                <a:cubicBezTo>
                  <a:pt x="86557" y="12448"/>
                  <a:pt x="86504" y="6418"/>
                  <a:pt x="82752" y="2731"/>
                </a:cubicBezTo>
                <a:cubicBezTo>
                  <a:pt x="79083" y="-874"/>
                  <a:pt x="73216" y="-915"/>
                  <a:pt x="69497" y="2637"/>
                </a:cubicBezTo>
                <a:lnTo>
                  <a:pt x="3546" y="67617"/>
                </a:lnTo>
                <a:cubicBezTo>
                  <a:pt x="-1136" y="72234"/>
                  <a:pt x="-1188" y="79772"/>
                  <a:pt x="3429" y="84454"/>
                </a:cubicBezTo>
                <a:cubicBezTo>
                  <a:pt x="3468" y="84493"/>
                  <a:pt x="3507" y="84532"/>
                  <a:pt x="3546" y="84571"/>
                </a:cubicBezTo>
                <a:lnTo>
                  <a:pt x="69497" y="14956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D8208A-5E9A-A11D-A8EB-B3E8A7162969}"/>
              </a:ext>
            </a:extLst>
          </p:cNvPr>
          <p:cNvSpPr txBox="1"/>
          <p:nvPr/>
        </p:nvSpPr>
        <p:spPr>
          <a:xfrm>
            <a:off x="6820189" y="1909112"/>
            <a:ext cx="4190711" cy="948978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Agentic retrieval free in first phase of public preview </a:t>
            </a:r>
          </a:p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</a:t>
            </a:r>
            <a:r>
              <a:rPr kumimoji="0" lang="en-US" sz="1800" b="1" i="0" u="none" strike="noStrike" kern="1200" cap="none" spc="0" normalizeH="0" baseline="0" noProof="0" err="1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AgentRAG</a:t>
            </a: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kumimoji="0" lang="en-US" sz="1800" b="1" i="0" u="none" strike="noStrike" kern="1200" cap="none" spc="0" normalizeH="0" baseline="0" noProof="0">
              <a:ln w="3175">
                <a:noFill/>
              </a:ln>
              <a:gradFill flip="none" rotWithShape="1">
                <a:gsLst>
                  <a:gs pos="100000">
                    <a:srgbClr val="318581"/>
                  </a:gs>
                  <a:gs pos="0">
                    <a:srgbClr val="F65567"/>
                  </a:gs>
                  <a:gs pos="32000">
                    <a:srgbClr val="AC35AF"/>
                  </a:gs>
                  <a:gs pos="68000">
                    <a:srgbClr val="0A6BBA"/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BCF2FF5-8676-46A9-DE7C-94A7E00F1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982785" y="3306427"/>
            <a:ext cx="583700" cy="583700"/>
          </a:xfrm>
          <a:prstGeom prst="ellipse">
            <a:avLst/>
          </a:prstGeom>
          <a:gradFill flip="none" rotWithShape="1">
            <a:gsLst>
              <a:gs pos="80000">
                <a:srgbClr val="943DB1"/>
              </a:gs>
              <a:gs pos="0">
                <a:srgbClr val="335DB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43" name="Graphic 39">
            <a:extLst>
              <a:ext uri="{FF2B5EF4-FFF2-40B4-BE49-F238E27FC236}">
                <a16:creationId xmlns:a16="http://schemas.microsoft.com/office/drawing/2014/main" id="{0E62E89B-DE7B-1570-110C-7B3A5F58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149131" y="3486778"/>
            <a:ext cx="251010" cy="222998"/>
          </a:xfrm>
          <a:custGeom>
            <a:avLst/>
            <a:gdLst>
              <a:gd name="connsiteX0" fmla="*/ 69488 w 171443"/>
              <a:gd name="connsiteY0" fmla="*/ 149570 h 152310"/>
              <a:gd name="connsiteX1" fmla="*/ 82961 w 171443"/>
              <a:gd name="connsiteY1" fmla="*/ 149470 h 152310"/>
              <a:gd name="connsiteX2" fmla="*/ 82861 w 171443"/>
              <a:gd name="connsiteY2" fmla="*/ 135997 h 152310"/>
              <a:gd name="connsiteX3" fmla="*/ 31711 w 171443"/>
              <a:gd name="connsiteY3" fmla="*/ 85609 h 152310"/>
              <a:gd name="connsiteX4" fmla="*/ 161918 w 171443"/>
              <a:gd name="connsiteY4" fmla="*/ 85609 h 152310"/>
              <a:gd name="connsiteX5" fmla="*/ 171443 w 171443"/>
              <a:gd name="connsiteY5" fmla="*/ 76084 h 152310"/>
              <a:gd name="connsiteX6" fmla="*/ 161918 w 171443"/>
              <a:gd name="connsiteY6" fmla="*/ 66559 h 152310"/>
              <a:gd name="connsiteX7" fmla="*/ 31778 w 171443"/>
              <a:gd name="connsiteY7" fmla="*/ 66559 h 152310"/>
              <a:gd name="connsiteX8" fmla="*/ 82870 w 171443"/>
              <a:gd name="connsiteY8" fmla="*/ 16201 h 152310"/>
              <a:gd name="connsiteX9" fmla="*/ 82752 w 171443"/>
              <a:gd name="connsiteY9" fmla="*/ 2731 h 152310"/>
              <a:gd name="connsiteX10" fmla="*/ 69497 w 171443"/>
              <a:gd name="connsiteY10" fmla="*/ 2637 h 152310"/>
              <a:gd name="connsiteX11" fmla="*/ 3546 w 171443"/>
              <a:gd name="connsiteY11" fmla="*/ 67617 h 152310"/>
              <a:gd name="connsiteX12" fmla="*/ 3429 w 171443"/>
              <a:gd name="connsiteY12" fmla="*/ 84454 h 152310"/>
              <a:gd name="connsiteX13" fmla="*/ 3546 w 171443"/>
              <a:gd name="connsiteY13" fmla="*/ 84571 h 152310"/>
              <a:gd name="connsiteX14" fmla="*/ 69497 w 171443"/>
              <a:gd name="connsiteY14" fmla="*/ 149560 h 15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1443" h="152310">
                <a:moveTo>
                  <a:pt x="69488" y="149570"/>
                </a:moveTo>
                <a:cubicBezTo>
                  <a:pt x="73236" y="153263"/>
                  <a:pt x="79268" y="153218"/>
                  <a:pt x="82961" y="149470"/>
                </a:cubicBezTo>
                <a:cubicBezTo>
                  <a:pt x="86653" y="145722"/>
                  <a:pt x="86609" y="139689"/>
                  <a:pt x="82861" y="135997"/>
                </a:cubicBezTo>
                <a:lnTo>
                  <a:pt x="31711" y="85609"/>
                </a:lnTo>
                <a:lnTo>
                  <a:pt x="161918" y="85609"/>
                </a:lnTo>
                <a:cubicBezTo>
                  <a:pt x="167179" y="85609"/>
                  <a:pt x="171443" y="81345"/>
                  <a:pt x="171443" y="76084"/>
                </a:cubicBezTo>
                <a:cubicBezTo>
                  <a:pt x="171443" y="70824"/>
                  <a:pt x="167179" y="66559"/>
                  <a:pt x="161918" y="66559"/>
                </a:cubicBezTo>
                <a:lnTo>
                  <a:pt x="31778" y="66559"/>
                </a:lnTo>
                <a:lnTo>
                  <a:pt x="82870" y="16201"/>
                </a:lnTo>
                <a:cubicBezTo>
                  <a:pt x="86557" y="12448"/>
                  <a:pt x="86504" y="6418"/>
                  <a:pt x="82752" y="2731"/>
                </a:cubicBezTo>
                <a:cubicBezTo>
                  <a:pt x="79083" y="-874"/>
                  <a:pt x="73216" y="-915"/>
                  <a:pt x="69497" y="2637"/>
                </a:cubicBezTo>
                <a:lnTo>
                  <a:pt x="3546" y="67617"/>
                </a:lnTo>
                <a:cubicBezTo>
                  <a:pt x="-1136" y="72234"/>
                  <a:pt x="-1188" y="79772"/>
                  <a:pt x="3429" y="84454"/>
                </a:cubicBezTo>
                <a:cubicBezTo>
                  <a:pt x="3468" y="84493"/>
                  <a:pt x="3507" y="84532"/>
                  <a:pt x="3546" y="84571"/>
                </a:cubicBezTo>
                <a:lnTo>
                  <a:pt x="69497" y="14956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2170AA-1F45-9892-44B0-6DC7B31AB4B2}"/>
              </a:ext>
            </a:extLst>
          </p:cNvPr>
          <p:cNvSpPr txBox="1"/>
          <p:nvPr/>
        </p:nvSpPr>
        <p:spPr>
          <a:xfrm>
            <a:off x="6820189" y="3293065"/>
            <a:ext cx="4190711" cy="610424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GitHub Sample –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Quickstart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 </a:t>
            </a:r>
          </a:p>
          <a:p>
            <a:pPr algn="l">
              <a:defRPr/>
            </a:pPr>
            <a:r>
              <a:rPr lang="en-US" sz="1800" b="1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Semibold"/>
                <a:cs typeface="Segoe UI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</a:t>
            </a:r>
            <a:r>
              <a:rPr lang="en-US" sz="1800" b="1" err="1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Semibold"/>
                <a:cs typeface="Segoe UI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AISearch-ar-pyn</a:t>
            </a:r>
            <a:endParaRPr lang="en-US" sz="1800" b="1">
              <a:ln w="3175">
                <a:noFill/>
              </a:ln>
              <a:gradFill flip="none" rotWithShape="1">
                <a:gsLst>
                  <a:gs pos="100000">
                    <a:srgbClr val="318581"/>
                  </a:gs>
                  <a:gs pos="0">
                    <a:srgbClr val="F65567"/>
                  </a:gs>
                  <a:gs pos="32000">
                    <a:srgbClr val="AC35AF"/>
                  </a:gs>
                  <a:gs pos="68000">
                    <a:srgbClr val="0A6BBA"/>
                  </a:gs>
                </a:gsLst>
                <a:path path="circle">
                  <a:fillToRect l="100000" t="100000"/>
                </a:path>
                <a:tileRect r="-100000" b="-100000"/>
              </a:gradFill>
              <a:latin typeface="Segoe UI Semibold"/>
              <a:cs typeface="Segoe UI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E434AFC-7988-EAE5-912E-DA9D9EBA9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982785" y="4351826"/>
            <a:ext cx="583700" cy="583700"/>
          </a:xfrm>
          <a:prstGeom prst="ellipse">
            <a:avLst/>
          </a:prstGeom>
          <a:gradFill flip="none" rotWithShape="1">
            <a:gsLst>
              <a:gs pos="80000">
                <a:srgbClr val="CF448D"/>
              </a:gs>
              <a:gs pos="0">
                <a:srgbClr val="943DB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44" name="Graphic 39">
            <a:extLst>
              <a:ext uri="{FF2B5EF4-FFF2-40B4-BE49-F238E27FC236}">
                <a16:creationId xmlns:a16="http://schemas.microsoft.com/office/drawing/2014/main" id="{206ACF2A-BEF7-19A4-C96E-758F16874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149131" y="4532177"/>
            <a:ext cx="251010" cy="222998"/>
          </a:xfrm>
          <a:custGeom>
            <a:avLst/>
            <a:gdLst>
              <a:gd name="connsiteX0" fmla="*/ 69488 w 171443"/>
              <a:gd name="connsiteY0" fmla="*/ 149570 h 152310"/>
              <a:gd name="connsiteX1" fmla="*/ 82961 w 171443"/>
              <a:gd name="connsiteY1" fmla="*/ 149470 h 152310"/>
              <a:gd name="connsiteX2" fmla="*/ 82861 w 171443"/>
              <a:gd name="connsiteY2" fmla="*/ 135997 h 152310"/>
              <a:gd name="connsiteX3" fmla="*/ 31711 w 171443"/>
              <a:gd name="connsiteY3" fmla="*/ 85609 h 152310"/>
              <a:gd name="connsiteX4" fmla="*/ 161918 w 171443"/>
              <a:gd name="connsiteY4" fmla="*/ 85609 h 152310"/>
              <a:gd name="connsiteX5" fmla="*/ 171443 w 171443"/>
              <a:gd name="connsiteY5" fmla="*/ 76084 h 152310"/>
              <a:gd name="connsiteX6" fmla="*/ 161918 w 171443"/>
              <a:gd name="connsiteY6" fmla="*/ 66559 h 152310"/>
              <a:gd name="connsiteX7" fmla="*/ 31778 w 171443"/>
              <a:gd name="connsiteY7" fmla="*/ 66559 h 152310"/>
              <a:gd name="connsiteX8" fmla="*/ 82870 w 171443"/>
              <a:gd name="connsiteY8" fmla="*/ 16201 h 152310"/>
              <a:gd name="connsiteX9" fmla="*/ 82752 w 171443"/>
              <a:gd name="connsiteY9" fmla="*/ 2731 h 152310"/>
              <a:gd name="connsiteX10" fmla="*/ 69497 w 171443"/>
              <a:gd name="connsiteY10" fmla="*/ 2637 h 152310"/>
              <a:gd name="connsiteX11" fmla="*/ 3546 w 171443"/>
              <a:gd name="connsiteY11" fmla="*/ 67617 h 152310"/>
              <a:gd name="connsiteX12" fmla="*/ 3429 w 171443"/>
              <a:gd name="connsiteY12" fmla="*/ 84454 h 152310"/>
              <a:gd name="connsiteX13" fmla="*/ 3546 w 171443"/>
              <a:gd name="connsiteY13" fmla="*/ 84571 h 152310"/>
              <a:gd name="connsiteX14" fmla="*/ 69497 w 171443"/>
              <a:gd name="connsiteY14" fmla="*/ 149560 h 15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1443" h="152310">
                <a:moveTo>
                  <a:pt x="69488" y="149570"/>
                </a:moveTo>
                <a:cubicBezTo>
                  <a:pt x="73236" y="153263"/>
                  <a:pt x="79268" y="153218"/>
                  <a:pt x="82961" y="149470"/>
                </a:cubicBezTo>
                <a:cubicBezTo>
                  <a:pt x="86653" y="145722"/>
                  <a:pt x="86609" y="139689"/>
                  <a:pt x="82861" y="135997"/>
                </a:cubicBezTo>
                <a:lnTo>
                  <a:pt x="31711" y="85609"/>
                </a:lnTo>
                <a:lnTo>
                  <a:pt x="161918" y="85609"/>
                </a:lnTo>
                <a:cubicBezTo>
                  <a:pt x="167179" y="85609"/>
                  <a:pt x="171443" y="81345"/>
                  <a:pt x="171443" y="76084"/>
                </a:cubicBezTo>
                <a:cubicBezTo>
                  <a:pt x="171443" y="70824"/>
                  <a:pt x="167179" y="66559"/>
                  <a:pt x="161918" y="66559"/>
                </a:cubicBezTo>
                <a:lnTo>
                  <a:pt x="31778" y="66559"/>
                </a:lnTo>
                <a:lnTo>
                  <a:pt x="82870" y="16201"/>
                </a:lnTo>
                <a:cubicBezTo>
                  <a:pt x="86557" y="12448"/>
                  <a:pt x="86504" y="6418"/>
                  <a:pt x="82752" y="2731"/>
                </a:cubicBezTo>
                <a:cubicBezTo>
                  <a:pt x="79083" y="-874"/>
                  <a:pt x="73216" y="-915"/>
                  <a:pt x="69497" y="2637"/>
                </a:cubicBezTo>
                <a:lnTo>
                  <a:pt x="3546" y="67617"/>
                </a:lnTo>
                <a:cubicBezTo>
                  <a:pt x="-1136" y="72234"/>
                  <a:pt x="-1188" y="79772"/>
                  <a:pt x="3429" y="84454"/>
                </a:cubicBezTo>
                <a:cubicBezTo>
                  <a:pt x="3468" y="84493"/>
                  <a:pt x="3507" y="84532"/>
                  <a:pt x="3546" y="84571"/>
                </a:cubicBezTo>
                <a:lnTo>
                  <a:pt x="69497" y="14956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1D815F-7470-DCEB-4C73-A46232714D8D}"/>
              </a:ext>
            </a:extLst>
          </p:cNvPr>
          <p:cNvSpPr txBox="1"/>
          <p:nvPr/>
        </p:nvSpPr>
        <p:spPr>
          <a:xfrm>
            <a:off x="6820188" y="4338464"/>
            <a:ext cx="5127169" cy="610424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l">
              <a:defRPr/>
            </a:pPr>
            <a:r>
              <a:rPr lang="en-US" sz="2000">
                <a:solidFill>
                  <a:srgbClr val="000000"/>
                </a:solidFill>
              </a:rPr>
              <a:t>GitHub Sample – Agent Service Integration</a:t>
            </a:r>
          </a:p>
          <a:p>
            <a:pPr lvl="0" algn="l">
              <a:defRPr/>
            </a:pPr>
            <a:r>
              <a:rPr lang="en-US" sz="1800" b="1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Semibold"/>
                <a:cs typeface="Segoe UI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</a:t>
            </a:r>
            <a:r>
              <a:rPr lang="en-US" sz="1800" b="1" err="1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Semibold"/>
                <a:cs typeface="Segoe UI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AISearch</a:t>
            </a:r>
            <a:r>
              <a:rPr lang="en-US" sz="1800" b="1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Semibold"/>
                <a:cs typeface="Segoe UI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</a:t>
            </a:r>
            <a:r>
              <a:rPr lang="en-US" sz="1800" b="1" err="1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Semibold"/>
                <a:cs typeface="Segoe UI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</a:t>
            </a:r>
            <a:r>
              <a:rPr lang="en-US" sz="1800" b="1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Semibold"/>
                <a:cs typeface="Segoe UI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-agent</a:t>
            </a:r>
            <a:endParaRPr lang="en-US" sz="1800" b="1">
              <a:ln w="3175">
                <a:noFill/>
              </a:ln>
              <a:gradFill flip="none" rotWithShape="1">
                <a:gsLst>
                  <a:gs pos="100000">
                    <a:srgbClr val="318581"/>
                  </a:gs>
                  <a:gs pos="0">
                    <a:srgbClr val="F65567"/>
                  </a:gs>
                  <a:gs pos="32000">
                    <a:srgbClr val="AC35AF"/>
                  </a:gs>
                  <a:gs pos="68000">
                    <a:srgbClr val="0A6BBA"/>
                  </a:gs>
                </a:gsLst>
                <a:path path="circle">
                  <a:fillToRect l="100000" t="100000"/>
                </a:path>
                <a:tileRect r="-100000" b="-100000"/>
              </a:gradFill>
              <a:latin typeface="Segoe UI Semibold"/>
              <a:cs typeface="Segoe UI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5E3D1A6-01E6-4E45-2880-C22555E65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982785" y="5397224"/>
            <a:ext cx="583700" cy="583700"/>
          </a:xfrm>
          <a:prstGeom prst="ellipse">
            <a:avLst/>
          </a:prstGeom>
          <a:gradFill flip="none" rotWithShape="1">
            <a:gsLst>
              <a:gs pos="80000">
                <a:srgbClr val="EE526F"/>
              </a:gs>
              <a:gs pos="0">
                <a:srgbClr val="CF448D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8" name="Graphic 39">
            <a:extLst>
              <a:ext uri="{FF2B5EF4-FFF2-40B4-BE49-F238E27FC236}">
                <a16:creationId xmlns:a16="http://schemas.microsoft.com/office/drawing/2014/main" id="{EBC2C91E-8512-971E-9392-4A6E5C5F0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149131" y="5577575"/>
            <a:ext cx="251010" cy="222998"/>
          </a:xfrm>
          <a:custGeom>
            <a:avLst/>
            <a:gdLst>
              <a:gd name="connsiteX0" fmla="*/ 69488 w 171443"/>
              <a:gd name="connsiteY0" fmla="*/ 149570 h 152310"/>
              <a:gd name="connsiteX1" fmla="*/ 82961 w 171443"/>
              <a:gd name="connsiteY1" fmla="*/ 149470 h 152310"/>
              <a:gd name="connsiteX2" fmla="*/ 82861 w 171443"/>
              <a:gd name="connsiteY2" fmla="*/ 135997 h 152310"/>
              <a:gd name="connsiteX3" fmla="*/ 31711 w 171443"/>
              <a:gd name="connsiteY3" fmla="*/ 85609 h 152310"/>
              <a:gd name="connsiteX4" fmla="*/ 161918 w 171443"/>
              <a:gd name="connsiteY4" fmla="*/ 85609 h 152310"/>
              <a:gd name="connsiteX5" fmla="*/ 171443 w 171443"/>
              <a:gd name="connsiteY5" fmla="*/ 76084 h 152310"/>
              <a:gd name="connsiteX6" fmla="*/ 161918 w 171443"/>
              <a:gd name="connsiteY6" fmla="*/ 66559 h 152310"/>
              <a:gd name="connsiteX7" fmla="*/ 31778 w 171443"/>
              <a:gd name="connsiteY7" fmla="*/ 66559 h 152310"/>
              <a:gd name="connsiteX8" fmla="*/ 82870 w 171443"/>
              <a:gd name="connsiteY8" fmla="*/ 16201 h 152310"/>
              <a:gd name="connsiteX9" fmla="*/ 82752 w 171443"/>
              <a:gd name="connsiteY9" fmla="*/ 2731 h 152310"/>
              <a:gd name="connsiteX10" fmla="*/ 69497 w 171443"/>
              <a:gd name="connsiteY10" fmla="*/ 2637 h 152310"/>
              <a:gd name="connsiteX11" fmla="*/ 3546 w 171443"/>
              <a:gd name="connsiteY11" fmla="*/ 67617 h 152310"/>
              <a:gd name="connsiteX12" fmla="*/ 3429 w 171443"/>
              <a:gd name="connsiteY12" fmla="*/ 84454 h 152310"/>
              <a:gd name="connsiteX13" fmla="*/ 3546 w 171443"/>
              <a:gd name="connsiteY13" fmla="*/ 84571 h 152310"/>
              <a:gd name="connsiteX14" fmla="*/ 69497 w 171443"/>
              <a:gd name="connsiteY14" fmla="*/ 149560 h 15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1443" h="152310">
                <a:moveTo>
                  <a:pt x="69488" y="149570"/>
                </a:moveTo>
                <a:cubicBezTo>
                  <a:pt x="73236" y="153263"/>
                  <a:pt x="79268" y="153218"/>
                  <a:pt x="82961" y="149470"/>
                </a:cubicBezTo>
                <a:cubicBezTo>
                  <a:pt x="86653" y="145722"/>
                  <a:pt x="86609" y="139689"/>
                  <a:pt x="82861" y="135997"/>
                </a:cubicBezTo>
                <a:lnTo>
                  <a:pt x="31711" y="85609"/>
                </a:lnTo>
                <a:lnTo>
                  <a:pt x="161918" y="85609"/>
                </a:lnTo>
                <a:cubicBezTo>
                  <a:pt x="167179" y="85609"/>
                  <a:pt x="171443" y="81345"/>
                  <a:pt x="171443" y="76084"/>
                </a:cubicBezTo>
                <a:cubicBezTo>
                  <a:pt x="171443" y="70824"/>
                  <a:pt x="167179" y="66559"/>
                  <a:pt x="161918" y="66559"/>
                </a:cubicBezTo>
                <a:lnTo>
                  <a:pt x="31778" y="66559"/>
                </a:lnTo>
                <a:lnTo>
                  <a:pt x="82870" y="16201"/>
                </a:lnTo>
                <a:cubicBezTo>
                  <a:pt x="86557" y="12448"/>
                  <a:pt x="86504" y="6418"/>
                  <a:pt x="82752" y="2731"/>
                </a:cubicBezTo>
                <a:cubicBezTo>
                  <a:pt x="79083" y="-874"/>
                  <a:pt x="73216" y="-915"/>
                  <a:pt x="69497" y="2637"/>
                </a:cubicBezTo>
                <a:lnTo>
                  <a:pt x="3546" y="67617"/>
                </a:lnTo>
                <a:cubicBezTo>
                  <a:pt x="-1136" y="72234"/>
                  <a:pt x="-1188" y="79772"/>
                  <a:pt x="3429" y="84454"/>
                </a:cubicBezTo>
                <a:cubicBezTo>
                  <a:pt x="3468" y="84493"/>
                  <a:pt x="3507" y="84532"/>
                  <a:pt x="3546" y="84571"/>
                </a:cubicBezTo>
                <a:lnTo>
                  <a:pt x="69497" y="14956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112D4E-4F35-07C4-74CB-68B2331C924A}"/>
              </a:ext>
            </a:extLst>
          </p:cNvPr>
          <p:cNvSpPr txBox="1"/>
          <p:nvPr/>
        </p:nvSpPr>
        <p:spPr>
          <a:xfrm>
            <a:off x="6820189" y="5370500"/>
            <a:ext cx="4190711" cy="610424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Take the Azure AI Learn Courses</a:t>
            </a:r>
          </a:p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aka.ms/CreateAgenticAISolutions</a:t>
            </a:r>
            <a:endParaRPr kumimoji="0" lang="en-US" sz="1800" b="1" i="0" u="none" strike="noStrike" kern="1200" cap="none" spc="0" normalizeH="0" baseline="0" noProof="0">
              <a:ln w="3175">
                <a:noFill/>
              </a:ln>
              <a:gradFill flip="none" rotWithShape="1">
                <a:gsLst>
                  <a:gs pos="100000">
                    <a:srgbClr val="318581"/>
                  </a:gs>
                  <a:gs pos="0">
                    <a:srgbClr val="F65567"/>
                  </a:gs>
                  <a:gs pos="32000">
                    <a:srgbClr val="AC35AF"/>
                  </a:gs>
                  <a:gs pos="68000">
                    <a:srgbClr val="0A6BBA"/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28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83">
            <a:extLst>
              <a:ext uri="{FF2B5EF4-FFF2-40B4-BE49-F238E27FC236}">
                <a16:creationId xmlns:a16="http://schemas.microsoft.com/office/drawing/2014/main" id="{4C65937E-BD17-5B14-CBAD-AD6F2A81A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1876301"/>
            <a:ext cx="4285009" cy="830997"/>
          </a:xfrm>
        </p:spPr>
        <p:txBody>
          <a:bodyPr/>
          <a:lstStyle/>
          <a:p>
            <a:r>
              <a:rPr lang="en-US" sz="5400" b="1" spc="0"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Thank you!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0FB6202-969C-797C-5866-6D6EB9F24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8264" y="2963399"/>
            <a:ext cx="4285009" cy="0"/>
          </a:xfrm>
          <a:prstGeom prst="line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Placeholder 11">
            <a:extLst>
              <a:ext uri="{FF2B5EF4-FFF2-40B4-BE49-F238E27FC236}">
                <a16:creationId xmlns:a16="http://schemas.microsoft.com/office/drawing/2014/main" id="{48E1CF4B-29EC-884C-9631-E4CF1F0D20AA}"/>
              </a:ext>
            </a:extLst>
          </p:cNvPr>
          <p:cNvSpPr txBox="1">
            <a:spLocks/>
          </p:cNvSpPr>
          <p:nvPr/>
        </p:nvSpPr>
        <p:spPr>
          <a:xfrm>
            <a:off x="588263" y="3219500"/>
            <a:ext cx="4285009" cy="23596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R"/>
            </a:defPPr>
            <a:lvl1pPr marR="0" lvl="0" indent="0" fontAlgn="auto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gradFill>
                  <a:gsLst>
                    <a:gs pos="59195">
                      <a:srgbClr val="000000"/>
                    </a:gs>
                    <a:gs pos="4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UI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b="0" i="0">
                <a:latin typeface="Mona Sans" pitchFamily="2" charset="77"/>
                <a:cs typeface="Arial" panose="020B0604020202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b="0" i="0">
                <a:latin typeface="Mona Sans" pitchFamily="2" charset="77"/>
                <a:cs typeface="Arial" panose="020B0604020202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b="0" i="0">
                <a:latin typeface="Mona Sans" pitchFamily="2" charset="77"/>
                <a:cs typeface="Arial" panose="020B0604020202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b="0" i="0">
                <a:latin typeface="Mona Sans" pitchFamily="2" charset="77"/>
                <a:cs typeface="Arial" panose="020B0604020202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We appreciate your time with 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Stop by the Expert Meet-up </a:t>
            </a:r>
            <a:b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 get your questions answered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Your feedback is important! </a:t>
            </a:r>
            <a:br>
              <a:rPr kumimoji="0" lang="uk-UA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Visit </a:t>
            </a:r>
            <a:r>
              <a:rPr kumimoji="0" lang="en-US" sz="20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</a:t>
            </a:r>
            <a:r>
              <a:rPr kumimoji="0" lang="en-US" sz="2000" b="1" i="0" u="none" strike="noStrike" kern="1200" cap="none" spc="0" normalizeH="0" baseline="0" noProof="0" err="1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MicrosoftBuildEvals</a:t>
            </a:r>
            <a:r>
              <a:rPr kumimoji="0" lang="en-US" sz="20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 </a:t>
            </a:r>
            <a:b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 complete your session evaluations</a:t>
            </a:r>
          </a:p>
        </p:txBody>
      </p:sp>
      <p:sp>
        <p:nvSpPr>
          <p:cNvPr id="32" name="!!container">
            <a:extLst>
              <a:ext uri="{FF2B5EF4-FFF2-40B4-BE49-F238E27FC236}">
                <a16:creationId xmlns:a16="http://schemas.microsoft.com/office/drawing/2014/main" id="{A90AD667-061D-7C96-53B4-2247DC5C3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99074" y="1436688"/>
            <a:ext cx="6310313" cy="4832350"/>
          </a:xfrm>
          <a:prstGeom prst="roundRect">
            <a:avLst>
              <a:gd name="adj" fmla="val 3071"/>
            </a:avLst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11702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41958">
                      <a:srgbClr val="FFFFFF"/>
                    </a:gs>
                    <a:gs pos="63000">
                      <a:srgbClr val="FFFFFF"/>
                    </a:gs>
                  </a:gsLst>
                  <a:lin ang="0" scaled="0"/>
                </a:gradFill>
                <a:effectLst/>
                <a:uLnTx/>
                <a:uFillTx/>
                <a:latin typeface="Segoe UI Semibold"/>
                <a:ea typeface="+mn-ea"/>
                <a:cs typeface="+mn-cs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29195D-9E15-72D5-895C-5E3A3F009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480733" y="1568489"/>
            <a:ext cx="864220" cy="430887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Session code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B71680-7DB4-1FF7-16B8-42B96A5161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429851" y="1676210"/>
            <a:ext cx="2788796" cy="215444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90050A-BA64-479F-232D-4C8CDF1AB39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9382357" y="1676210"/>
            <a:ext cx="862310" cy="215444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Date/time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A78104-6BC7-1536-147A-3A3FFE7767A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0460247" y="1676210"/>
            <a:ext cx="960030" cy="215444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Recorded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50F890-9CD4-FB20-D991-5459237DA3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480733" y="2423777"/>
            <a:ext cx="864220" cy="215444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1" indent="0" algn="l" defTabSz="630263" rtl="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90000"/>
              <a:buFontTx/>
              <a:buNone/>
              <a:tabLst>
                <a:tab pos="1371655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BRK141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920BE7-A6D7-83DB-F2FE-187D9AB0A7C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429851" y="2346833"/>
            <a:ext cx="2680283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Knowledge Retrieval: RAG for enterprise agents with Azure AI Search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C5D67B-D19A-B5EB-FBF0-BAFED57CA5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9382357" y="2334009"/>
            <a:ext cx="862310" cy="394980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May 19</a:t>
            </a:r>
          </a:p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6:00 PM 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A2FB2CE-34AD-7C6C-92FD-7BC82C0ED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0852128" y="2443365"/>
            <a:ext cx="176269" cy="176269"/>
          </a:xfrm>
          <a:prstGeom prst="ellipse">
            <a:avLst/>
          </a:prstGeom>
          <a:solidFill>
            <a:schemeClr val="accent2"/>
          </a:soli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0" tIns="0" rIns="0" bIns="18288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gradFill>
                <a:gsLst>
                  <a:gs pos="9174">
                    <a:srgbClr val="FFFFFF"/>
                  </a:gs>
                  <a:gs pos="42000">
                    <a:srgbClr val="FFFFFF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9D6EB0-0F78-7980-9FA7-B686642991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480733" y="3235989"/>
            <a:ext cx="864220" cy="215444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32449">
              <a:spcBef>
                <a:spcPts val="200"/>
              </a:spcBef>
              <a:defRPr sz="1400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1" indent="0" algn="l" defTabSz="630263" rtl="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90000"/>
              <a:buFontTx/>
              <a:buNone/>
              <a:tabLst>
                <a:tab pos="1371655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BRK142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DCA06D-800E-A395-415B-B9DF5F37770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429851" y="3159045"/>
            <a:ext cx="2680283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Agentic RAG: build a reasoning retrieval engine with Azure AI Search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A0DA00-8513-FADB-3189-0F31E21643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9382357" y="3159045"/>
            <a:ext cx="862310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May 21 12:30 pm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C3F3CD3-927A-09F1-27CE-85A531AB3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0852128" y="3255577"/>
            <a:ext cx="176269" cy="176269"/>
          </a:xfrm>
          <a:prstGeom prst="ellipse">
            <a:avLst/>
          </a:prstGeom>
          <a:solidFill>
            <a:schemeClr val="accent2"/>
          </a:soli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0" tIns="0" rIns="0" bIns="18288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gradFill>
                <a:gsLst>
                  <a:gs pos="9174">
                    <a:srgbClr val="FFFFFF"/>
                  </a:gs>
                  <a:gs pos="42000">
                    <a:srgbClr val="FFFFFF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ED6F57-3068-40F2-E92A-4FA4334F3B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480733" y="4035377"/>
            <a:ext cx="864220" cy="215444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32449">
              <a:spcBef>
                <a:spcPts val="200"/>
              </a:spcBef>
              <a:defRPr sz="1400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1" indent="0" algn="l" defTabSz="630263" rtl="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90000"/>
              <a:buFontTx/>
              <a:buNone/>
              <a:tabLst>
                <a:tab pos="1371655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DEM529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5DEC33-F0C6-3187-FBC7-88AD3B143E8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429851" y="4050766"/>
            <a:ext cx="2680283" cy="184666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Agentic RAG using memory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BDB4C9-8AAC-FB2A-F9C5-6F85336DED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9382357" y="3945609"/>
            <a:ext cx="862310" cy="394980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l">
              <a:defRPr/>
            </a:pPr>
            <a:r>
              <a:rPr lang="en-US" sz="1200">
                <a:solidFill>
                  <a:srgbClr val="000000"/>
                </a:solidFill>
                <a:latin typeface="Segoe UI"/>
              </a:rPr>
              <a:t>May 19 </a:t>
            </a:r>
          </a:p>
          <a:p>
            <a:pPr lvl="0" algn="l">
              <a:defRPr/>
            </a:pPr>
            <a:r>
              <a:rPr lang="en-US" sz="1200">
                <a:solidFill>
                  <a:srgbClr val="000000"/>
                </a:solidFill>
                <a:latin typeface="Segoe UI"/>
              </a:rPr>
              <a:t>2:25 pm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750779D-AF9B-6B86-CF49-93E7EA19B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0852128" y="4054965"/>
            <a:ext cx="176269" cy="176269"/>
          </a:xfrm>
          <a:prstGeom prst="ellipse">
            <a:avLst/>
          </a:prstGeom>
          <a:solidFill>
            <a:schemeClr val="accent2"/>
          </a:soli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0" tIns="0" rIns="0" bIns="18288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gradFill>
                <a:gsLst>
                  <a:gs pos="9174">
                    <a:srgbClr val="FFFFFF"/>
                  </a:gs>
                  <a:gs pos="42000">
                    <a:srgbClr val="FFFFFF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68FF3D-A660-407B-FEAF-0732815F93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480733" y="4847589"/>
            <a:ext cx="864220" cy="215444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32449">
              <a:spcBef>
                <a:spcPts val="200"/>
              </a:spcBef>
              <a:defRPr sz="1400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1" indent="0" algn="l" defTabSz="630263" rtl="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90000"/>
              <a:buFontTx/>
              <a:buNone/>
              <a:tabLst>
                <a:tab pos="1371655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LAB335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7BD5DC-DF37-8AFE-36CF-5BA02FC41D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429851" y="4770645"/>
            <a:ext cx="2680283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Build Your First Agentic RAG Solution with Azure AI Search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3C4371-80CA-B60D-BFC7-04A2D5CE0BC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9382357" y="4757821"/>
            <a:ext cx="862310" cy="394980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May 20</a:t>
            </a:r>
            <a:r>
              <a:rPr kumimoji="0" lang="en-US" sz="12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 </a:t>
            </a:r>
          </a:p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9:00, 4:30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0F4017-7BBA-71D8-2A3B-89EAB22C693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480733" y="5582858"/>
            <a:ext cx="864220" cy="430887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32449">
              <a:spcBef>
                <a:spcPts val="200"/>
              </a:spcBef>
              <a:defRPr sz="1400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1" indent="0" algn="l" defTabSz="630263" rtl="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90000"/>
              <a:buFontTx/>
              <a:buNone/>
              <a:tabLst>
                <a:tab pos="1371655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Expert Meetup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E2F199-089F-0E78-7210-405A4E166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429851" y="5705968"/>
            <a:ext cx="2680283" cy="184666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Azure AI Search and agentic retrieval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586C1D-BBB0-0C36-CDF4-682AE5A8463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9382357" y="5613635"/>
            <a:ext cx="862310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Throughout event</a:t>
            </a:r>
          </a:p>
        </p:txBody>
      </p:sp>
      <p:cxnSp>
        <p:nvCxnSpPr>
          <p:cNvPr id="33" name="!!line2">
            <a:extLst>
              <a:ext uri="{FF2B5EF4-FFF2-40B4-BE49-F238E27FC236}">
                <a16:creationId xmlns:a16="http://schemas.microsoft.com/office/drawing/2014/main" id="{919B7BAB-BCB5-D568-1871-33A94BB59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99074" y="2118981"/>
            <a:ext cx="6310313" cy="0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med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!!line2">
            <a:extLst>
              <a:ext uri="{FF2B5EF4-FFF2-40B4-BE49-F238E27FC236}">
                <a16:creationId xmlns:a16="http://schemas.microsoft.com/office/drawing/2014/main" id="{2D4762BE-2A18-6849-B4BE-E84C1465E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99074" y="2944017"/>
            <a:ext cx="6310313" cy="0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med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!!line2">
            <a:extLst>
              <a:ext uri="{FF2B5EF4-FFF2-40B4-BE49-F238E27FC236}">
                <a16:creationId xmlns:a16="http://schemas.microsoft.com/office/drawing/2014/main" id="{3C6E5396-90DB-D10F-9DA3-3B42B9B29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99074" y="3743405"/>
            <a:ext cx="6310313" cy="0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med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!!line2">
            <a:extLst>
              <a:ext uri="{FF2B5EF4-FFF2-40B4-BE49-F238E27FC236}">
                <a16:creationId xmlns:a16="http://schemas.microsoft.com/office/drawing/2014/main" id="{BB1619D3-8D19-11FC-3F67-EEE6FB8FF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99074" y="4542793"/>
            <a:ext cx="6310313" cy="0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med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!!line2">
            <a:extLst>
              <a:ext uri="{FF2B5EF4-FFF2-40B4-BE49-F238E27FC236}">
                <a16:creationId xmlns:a16="http://schemas.microsoft.com/office/drawing/2014/main" id="{617DD953-6485-F15E-5696-77BFFE876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99074" y="5367829"/>
            <a:ext cx="6310313" cy="0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med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92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BC50-7F71-4A63-EE24-4D8305580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0" y="2927350"/>
            <a:ext cx="2416046" cy="10033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65567"/>
              </a:gs>
              <a:gs pos="32000">
                <a:srgbClr val="AC35AF"/>
              </a:gs>
              <a:gs pos="68000">
                <a:srgbClr val="0A6BBA"/>
              </a:gs>
              <a:gs pos="100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square" lIns="146957" tIns="25718" rIns="146957" bIns="27432" rtlCol="0" anchor="ctr">
            <a:noAutofit/>
          </a:bodyPr>
          <a:lstStyle/>
          <a:p>
            <a:pPr algn="ctr" defTabSz="2275850" fontAlgn="base">
              <a:spcAft>
                <a:spcPct val="0"/>
              </a:spcAft>
              <a:tabLst>
                <a:tab pos="3701239" algn="l"/>
              </a:tabLst>
            </a:pPr>
            <a:r>
              <a:rPr lang="en-US" sz="4400" b="1" spc="0"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83280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6440E-783D-908B-A6BA-2473C1CD9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3953F9-2FDF-F9A6-AFDA-4E29B9359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513664"/>
            <a:ext cx="6636422" cy="2769989"/>
          </a:xfrm>
        </p:spPr>
        <p:txBody>
          <a:bodyPr anchor="b" anchorCtr="0">
            <a:spAutoFit/>
          </a:bodyPr>
          <a:lstStyle/>
          <a:p>
            <a:r>
              <a:rPr lang="en-US"/>
              <a:t>Dive into the</a:t>
            </a:r>
            <a:br>
              <a:rPr lang="en-US"/>
            </a:br>
            <a:r>
              <a:rPr lang="en-US"/>
              <a:t>recommended next</a:t>
            </a:r>
            <a:br>
              <a:rPr lang="en-US"/>
            </a:br>
            <a:r>
              <a:rPr lang="en-US"/>
              <a:t>steps on the session page</a:t>
            </a:r>
            <a:br>
              <a:rPr lang="en-US"/>
            </a:br>
            <a:r>
              <a:rPr lang="en-US"/>
              <a:t>to take action with tutorials, resources, and code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A85D10-666A-8001-41CD-72531B8596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216" y="4728784"/>
            <a:ext cx="6217920" cy="615553"/>
          </a:xfrm>
        </p:spPr>
        <p:txBody>
          <a:bodyPr/>
          <a:lstStyle/>
          <a:p>
            <a:r>
              <a:rPr lang="en-US" sz="2000" dirty="0"/>
              <a:t>Scan the QR code to access the session details page and fill out a session survey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E7B176-6570-0EA3-CC13-A98604549808}"/>
              </a:ext>
            </a:extLst>
          </p:cNvPr>
          <p:cNvSpPr txBox="1"/>
          <p:nvPr/>
        </p:nvSpPr>
        <p:spPr>
          <a:xfrm>
            <a:off x="585216" y="5789468"/>
            <a:ext cx="4192469" cy="5236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78D4"/>
              </a:gs>
              <a:gs pos="80000">
                <a:srgbClr val="399A91"/>
              </a:gs>
            </a:gsLst>
            <a:path path="circle">
              <a:fillToRect l="100000" t="100000"/>
            </a:path>
            <a:tileRect r="-100000" b="-100000"/>
          </a:gradFill>
          <a:ln w="19050" cap="rnd">
            <a:noFill/>
            <a:headEnd type="none" w="med" len="med"/>
            <a:tailEnd type="none" w="med" len="med"/>
          </a:ln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8288" rIns="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600"/>
              </a:spcBef>
              <a:defRPr sz="1600">
                <a:gradFill>
                  <a:gsLst>
                    <a:gs pos="1399">
                      <a:srgbClr val="FFFFFF"/>
                    </a:gs>
                    <a:gs pos="17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3244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BRK142 session page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pic>
        <p:nvPicPr>
          <p:cNvPr id="26" name="Graphic 25" descr="QR code">
            <a:extLst>
              <a:ext uri="{FF2B5EF4-FFF2-40B4-BE49-F238E27FC236}">
                <a16:creationId xmlns:a16="http://schemas.microsoft.com/office/drawing/2014/main" id="{079A33F7-A0DA-4FC2-13AC-5C18E1B5DE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299260" y="1774436"/>
            <a:ext cx="3310128" cy="3310128"/>
          </a:xfrm>
          <a:prstGeom prst="roundRect">
            <a:avLst>
              <a:gd name="adj" fmla="val 8098"/>
            </a:avLst>
          </a:prstGeom>
        </p:spPr>
      </p:pic>
    </p:spTree>
    <p:extLst>
      <p:ext uri="{BB962C8B-B14F-4D97-AF65-F5344CB8AC3E}">
        <p14:creationId xmlns:p14="http://schemas.microsoft.com/office/powerpoint/2010/main" val="2339049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DB57A-1D1A-4109-8F4F-B7C9FDC05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948" y="1108670"/>
            <a:ext cx="6675120" cy="553998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Session Resources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687A5C-0679-5040-63FB-D79F9DCF6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88262" y="1999903"/>
            <a:ext cx="5507737" cy="3486497"/>
            <a:chOff x="579713" y="3618456"/>
            <a:chExt cx="3358203" cy="225210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6A7A62-E6A1-3C10-451A-C8DEA5BDFA40}"/>
                </a:ext>
              </a:extLst>
            </p:cNvPr>
            <p:cNvSpPr txBox="1"/>
            <p:nvPr/>
          </p:nvSpPr>
          <p:spPr>
            <a:xfrm>
              <a:off x="1152758" y="3684665"/>
              <a:ext cx="2626195" cy="4122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+mn-ea"/>
                  <a:cs typeface="Segoe UI" pitchFamily="34" charset="0"/>
                </a:rPr>
                <a:t>Next steps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F0FA3C-1538-7C49-515C-FB804EF30ADD}"/>
                </a:ext>
              </a:extLst>
            </p:cNvPr>
            <p:cNvSpPr txBox="1"/>
            <p:nvPr/>
          </p:nvSpPr>
          <p:spPr>
            <a:xfrm>
              <a:off x="1126550" y="4139647"/>
              <a:ext cx="2811366" cy="4122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+mn-ea"/>
                  <a:cs typeface="Segoe UI" pitchFamily="34" charset="0"/>
                </a:rPr>
                <a:t>Resources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525E379-4DD6-5286-CD99-5BCE06520B8F}"/>
                </a:ext>
              </a:extLst>
            </p:cNvPr>
            <p:cNvSpPr txBox="1"/>
            <p:nvPr/>
          </p:nvSpPr>
          <p:spPr>
            <a:xfrm>
              <a:off x="1126550" y="4594631"/>
              <a:ext cx="2626196" cy="4122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+mn-ea"/>
                  <a:cs typeface="Segoe UI" pitchFamily="34" charset="0"/>
                </a:rPr>
                <a:t>Related sessions</a:t>
              </a:r>
            </a:p>
          </p:txBody>
        </p:sp>
        <p:pic>
          <p:nvPicPr>
            <p:cNvPr id="16" name="Graphic 15" descr="Checkbox Checked with solid fill">
              <a:extLst>
                <a:ext uri="{FF2B5EF4-FFF2-40B4-BE49-F238E27FC236}">
                  <a16:creationId xmlns:a16="http://schemas.microsoft.com/office/drawing/2014/main" id="{AF50125E-5A05-B73C-A199-B554A3B1F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9713" y="3618456"/>
              <a:ext cx="544689" cy="544689"/>
            </a:xfrm>
            <a:prstGeom prst="rect">
              <a:avLst/>
            </a:prstGeom>
          </p:spPr>
        </p:pic>
        <p:pic>
          <p:nvPicPr>
            <p:cNvPr id="17" name="Graphic 16" descr="Checkbox Checked with solid fill">
              <a:extLst>
                <a:ext uri="{FF2B5EF4-FFF2-40B4-BE49-F238E27FC236}">
                  <a16:creationId xmlns:a16="http://schemas.microsoft.com/office/drawing/2014/main" id="{66E8D82B-AD33-C2BA-5E07-E05E6D18B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9713" y="4073438"/>
              <a:ext cx="544689" cy="544689"/>
            </a:xfrm>
            <a:prstGeom prst="rect">
              <a:avLst/>
            </a:prstGeom>
          </p:spPr>
        </p:pic>
        <p:pic>
          <p:nvPicPr>
            <p:cNvPr id="18" name="Graphic 17" descr="Checkbox Checked with solid fill">
              <a:extLst>
                <a:ext uri="{FF2B5EF4-FFF2-40B4-BE49-F238E27FC236}">
                  <a16:creationId xmlns:a16="http://schemas.microsoft.com/office/drawing/2014/main" id="{493F641F-A853-83A4-3372-6D1070F03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9713" y="4528422"/>
              <a:ext cx="544689" cy="544689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0228DD8-1D7F-8134-ED89-D7EF406133D6}"/>
                </a:ext>
              </a:extLst>
            </p:cNvPr>
            <p:cNvSpPr txBox="1"/>
            <p:nvPr/>
          </p:nvSpPr>
          <p:spPr>
            <a:xfrm>
              <a:off x="673797" y="5215783"/>
              <a:ext cx="3060154" cy="654782"/>
            </a:xfrm>
            <a:prstGeom prst="rect">
              <a:avLst/>
            </a:prstGeom>
            <a:noFill/>
          </p:spPr>
          <p:txBody>
            <a:bodyPr wrap="square" lIns="0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+mn-ea"/>
                  <a:cs typeface="Segoe UI" pitchFamily="34" charset="0"/>
                </a:rPr>
                <a:t>Find all of this and more on the session details page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3AD80B9-A300-BB81-CD61-184FC7E9F924}"/>
              </a:ext>
            </a:extLst>
          </p:cNvPr>
          <p:cNvSpPr txBox="1"/>
          <p:nvPr/>
        </p:nvSpPr>
        <p:spPr>
          <a:xfrm>
            <a:off x="6702271" y="4624734"/>
            <a:ext cx="4192469" cy="5236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78D4"/>
              </a:gs>
              <a:gs pos="80000">
                <a:srgbClr val="399A91"/>
              </a:gs>
            </a:gsLst>
            <a:path path="circle">
              <a:fillToRect l="100000" t="100000"/>
            </a:path>
            <a:tileRect r="-100000" b="-100000"/>
          </a:gradFill>
          <a:ln w="19050" cap="rnd">
            <a:noFill/>
            <a:headEnd type="none" w="med" len="med"/>
            <a:tailEnd type="none" w="med" len="med"/>
          </a:ln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8288" rIns="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600"/>
              </a:spcBef>
              <a:defRPr sz="1600">
                <a:gradFill>
                  <a:gsLst>
                    <a:gs pos="1399">
                      <a:srgbClr val="FFFFFF"/>
                    </a:gs>
                    <a:gs pos="17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3244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BRK142 session page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78892B-1322-715E-D624-AFC4AD6DE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912653" y="1382751"/>
            <a:ext cx="3751243" cy="2869108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6" name="Picture 5" descr="QR code">
            <a:extLst>
              <a:ext uri="{FF2B5EF4-FFF2-40B4-BE49-F238E27FC236}">
                <a16:creationId xmlns:a16="http://schemas.microsoft.com/office/drawing/2014/main" id="{50EB4A51-9893-BACE-3802-D832D43DC7F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466" b="8044"/>
          <a:stretch>
            <a:fillRect/>
          </a:stretch>
        </p:blipFill>
        <p:spPr>
          <a:xfrm>
            <a:off x="7216347" y="1471777"/>
            <a:ext cx="3051709" cy="266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0 L -1.25E-6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3E693C0-FE02-8471-5366-9A5AEDF7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118" y="451033"/>
            <a:ext cx="4263034" cy="5955927"/>
          </a:xfrm>
          <a:prstGeom prst="roundRect">
            <a:avLst>
              <a:gd name="adj" fmla="val 3457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63500" dist="127000" dir="2700000" algn="tl" rotWithShape="0">
              <a:prstClr val="black">
                <a:alpha val="50000"/>
              </a:prstClr>
            </a:outerShdw>
          </a:effectLst>
          <a:scene3d>
            <a:camera prst="perspectiveLeft" fov="2100000">
              <a:rot lat="0" lon="0" rev="0"/>
            </a:camera>
            <a:lightRig rig="threePt" dir="t"/>
          </a:scene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C0DEEC-CF49-334B-C780-8FBEC5131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0117" y="1228533"/>
            <a:ext cx="4263035" cy="0"/>
          </a:xfrm>
          <a:prstGeom prst="line">
            <a:avLst/>
          </a:prstGeom>
          <a:solidFill>
            <a:schemeClr val="tx2">
              <a:lumMod val="75000"/>
            </a:schemeClr>
          </a:solidFill>
          <a:ln>
            <a:solidFill>
              <a:schemeClr val="tx1">
                <a:alpha val="20000"/>
              </a:schemeClr>
            </a:solidFill>
            <a:prstDash val="solid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E11F2C-26AE-8010-62BA-BE1788FEA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034733" y="451030"/>
            <a:ext cx="6704059" cy="5955939"/>
          </a:xfrm>
          <a:prstGeom prst="roundRect">
            <a:avLst>
              <a:gd name="adj" fmla="val 1715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63500" dist="127000" dir="2700000" algn="tl" rotWithShape="0">
              <a:prstClr val="black">
                <a:alpha val="50000"/>
              </a:prstClr>
            </a:outerShdw>
          </a:effectLst>
          <a:scene3d>
            <a:camera prst="perspectiveLeft" fov="2100000">
              <a:rot lat="0" lon="0" rev="0"/>
            </a:camera>
            <a:lightRig rig="threePt" dir="t"/>
          </a:scene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-25000" noProof="0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6B7B34-8084-3645-BE12-FE14F9F81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34734" y="1228533"/>
            <a:ext cx="6704058" cy="0"/>
          </a:xfrm>
          <a:prstGeom prst="line">
            <a:avLst/>
          </a:prstGeom>
          <a:solidFill>
            <a:schemeClr val="tx2">
              <a:lumMod val="75000"/>
            </a:schemeClr>
          </a:solidFill>
          <a:ln>
            <a:solidFill>
              <a:schemeClr val="tx1">
                <a:alpha val="20000"/>
              </a:schemeClr>
            </a:solidFill>
            <a:prstDash val="solid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9">
            <a:extLst>
              <a:ext uri="{FF2B5EF4-FFF2-40B4-BE49-F238E27FC236}">
                <a16:creationId xmlns:a16="http://schemas.microsoft.com/office/drawing/2014/main" id="{8D452455-4362-92B6-C1AF-92DFAE29927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71699" y="647122"/>
            <a:ext cx="3620976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400" spc="-50">
                <a:ln w="3175"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+mj-lt"/>
                <a:ea typeface="+mj-lt"/>
                <a:cs typeface="Segoe UI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50" normalizeH="0" baseline="0" noProof="0" dirty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j-lt"/>
                <a:cs typeface="Segoe UI Semibold"/>
              </a:rPr>
              <a:t>Learn more</a:t>
            </a:r>
            <a:endParaRPr kumimoji="0" lang="en-US" sz="1600" b="0" i="0" u="none" strike="noStrike" kern="1200" cap="none" spc="-50" normalizeH="0" baseline="0" noProof="0" dirty="0">
              <a:ln w="3175">
                <a:noFill/>
              </a:ln>
              <a:solidFill>
                <a:srgbClr val="8DC8E8"/>
              </a:solidFill>
              <a:effectLst/>
              <a:uLnTx/>
              <a:uFillTx/>
              <a:latin typeface="Segoe UI"/>
              <a:ea typeface="+mj-lt"/>
              <a:cs typeface="Segoe UI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90541-1B6A-3EB0-AF3D-788A22A69943}"/>
              </a:ext>
            </a:extLst>
          </p:cNvPr>
          <p:cNvSpPr txBox="1"/>
          <p:nvPr/>
        </p:nvSpPr>
        <p:spPr>
          <a:xfrm>
            <a:off x="771699" y="1436879"/>
            <a:ext cx="3953677" cy="3970318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>
            <a:defPPr>
              <a:defRPr lang="en-US"/>
            </a:defPPr>
            <a:lvl1pPr>
              <a:spcBef>
                <a:spcPts val="1200"/>
              </a:spcBef>
              <a:defRPr sz="1000">
                <a:solidFill>
                  <a:schemeClr val="accent6">
                    <a:lumMod val="50000"/>
                  </a:schemeClr>
                </a:solidFill>
                <a:latin typeface="+mj-lt"/>
                <a:cs typeface="Segoe UI" panose="020B0502040204020203" pitchFamily="34" charset="0"/>
              </a:defRPr>
            </a:lvl1pPr>
            <a:lvl2pPr marL="0" lvl="1">
              <a:spcBef>
                <a:spcPts val="1400"/>
              </a:spcBef>
              <a:defRPr sz="1200" spc="-50">
                <a:ln w="3175">
                  <a:noFill/>
                </a:ln>
                <a:latin typeface="+mj-lt"/>
                <a:ea typeface="+mj-lt"/>
                <a:cs typeface="Segoe UI Semibold"/>
              </a:defRPr>
            </a:lvl2pPr>
            <a:lvl3pPr marL="0" lvl="2">
              <a:spcBef>
                <a:spcPts val="300"/>
              </a:spcBef>
              <a:defRPr sz="1000">
                <a:ln w="3175">
                  <a:noFill/>
                </a:ln>
                <a:solidFill>
                  <a:srgbClr val="8DC8E8"/>
                </a:solidFill>
                <a:latin typeface="Segoe UI Semibold"/>
                <a:cs typeface="Segoe UI Semibold"/>
              </a:defRPr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50" normalizeH="0" baseline="0" noProof="0" dirty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cs typeface="Segoe UI Semibold"/>
              </a:rPr>
              <a:t>&lt;Resource name&gt;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3175">
                  <a:noFill/>
                </a:ln>
                <a:solidFill>
                  <a:srgbClr val="8DC8E8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&lt;resource AKA link&gt;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 w="3175">
                <a:noFill/>
              </a:ln>
              <a:solidFill>
                <a:srgbClr val="8DC8E8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50" normalizeH="0" baseline="0" noProof="0" dirty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cs typeface="Segoe UI Semibold"/>
              </a:rPr>
              <a:t>&lt;Resource name&gt;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3175">
                  <a:noFill/>
                </a:ln>
                <a:solidFill>
                  <a:srgbClr val="8DC8E8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&lt;resource AKA link&gt;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 w="3175">
                <a:noFill/>
              </a:ln>
              <a:solidFill>
                <a:srgbClr val="8DC8E8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 w="3175">
                <a:noFill/>
              </a:ln>
              <a:solidFill>
                <a:srgbClr val="8DC8E8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50" normalizeH="0" baseline="0" noProof="0" dirty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cs typeface="Segoe UI Semibold"/>
              </a:rPr>
              <a:t>&lt;Resource name&gt;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3175">
                  <a:noFill/>
                </a:ln>
                <a:solidFill>
                  <a:srgbClr val="8DC8E8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&lt;resource AKA link&gt;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 w="3175">
                <a:noFill/>
              </a:ln>
              <a:solidFill>
                <a:srgbClr val="8DC8E8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 w="3175">
                <a:noFill/>
              </a:ln>
              <a:solidFill>
                <a:srgbClr val="8DC8E8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50" normalizeH="0" baseline="0" noProof="0" dirty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cs typeface="Segoe UI Semibold"/>
              </a:rPr>
              <a:t>&lt;Resource name&gt;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 w="3175">
                  <a:noFill/>
                </a:ln>
                <a:solidFill>
                  <a:srgbClr val="8DC8E8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&lt;resource AKA link&gt;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 w="3175">
                <a:noFill/>
              </a:ln>
              <a:solidFill>
                <a:srgbClr val="8DC8E8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E7CD0E-F8AF-453E-9CDE-57E45728CECB}"/>
              </a:ext>
            </a:extLst>
          </p:cNvPr>
          <p:cNvSpPr txBox="1"/>
          <p:nvPr/>
        </p:nvSpPr>
        <p:spPr>
          <a:xfrm>
            <a:off x="5245948" y="647122"/>
            <a:ext cx="2191787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2400" spc="-50">
                <a:ln w="3175"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+mj-lt"/>
                <a:ea typeface="+mj-lt"/>
                <a:cs typeface="Segoe UI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50" normalizeH="0" baseline="0" noProof="0" dirty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cs typeface="Segoe UI Semibold"/>
              </a:rPr>
              <a:t>Related sessions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30B0BA-DF0F-F5F4-37CC-154D69FFC7FB}"/>
              </a:ext>
            </a:extLst>
          </p:cNvPr>
          <p:cNvSpPr txBox="1">
            <a:spLocks/>
          </p:cNvSpPr>
          <p:nvPr/>
        </p:nvSpPr>
        <p:spPr>
          <a:xfrm>
            <a:off x="5245948" y="1455837"/>
            <a:ext cx="6330013" cy="3688189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>
            <a:defPPr>
              <a:defRPr lang="en-US"/>
            </a:defPPr>
            <a:lvl1pPr>
              <a:spcBef>
                <a:spcPts val="1200"/>
              </a:spcBef>
              <a:defRPr sz="1000">
                <a:solidFill>
                  <a:schemeClr val="accent6">
                    <a:lumMod val="50000"/>
                  </a:schemeClr>
                </a:solidFill>
                <a:latin typeface="+mj-lt"/>
                <a:cs typeface="Segoe UI" panose="020B0502040204020203" pitchFamily="34" charset="0"/>
              </a:defRPr>
            </a:lvl1pPr>
            <a:lvl2pPr marL="0" lvl="1">
              <a:spcBef>
                <a:spcPts val="1400"/>
              </a:spcBef>
              <a:defRPr sz="1200" spc="-50">
                <a:ln w="3175">
                  <a:noFill/>
                </a:ln>
                <a:latin typeface="+mj-lt"/>
                <a:ea typeface="+mj-lt"/>
                <a:cs typeface="Segoe UI Semibold"/>
              </a:defRPr>
            </a:lvl2pPr>
            <a:lvl3pPr marL="0" lvl="2">
              <a:spcBef>
                <a:spcPts val="300"/>
              </a:spcBef>
              <a:defRPr sz="1000">
                <a:ln w="3175">
                  <a:noFill/>
                </a:ln>
                <a:solidFill>
                  <a:srgbClr val="8DC8E8"/>
                </a:solidFill>
                <a:latin typeface="Segoe UI Semibold"/>
                <a:cs typeface="Segoe UI Semibold"/>
              </a:defRPr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50" normalizeH="0" baseline="0" noProof="0" dirty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cs typeface="Segoe UI Semibold"/>
              </a:rPr>
              <a:t>BRK192</a:t>
            </a:r>
            <a:r>
              <a:rPr kumimoji="0" lang="en-US" sz="1400" b="0" i="0" u="none" strike="noStrike" kern="1200" cap="none" spc="-50" normalizeH="0" baseline="0" noProof="0" dirty="0">
                <a:ln w="3175">
                  <a:noFill/>
                </a:ln>
                <a:solidFill>
                  <a:srgbClr val="B1B3B3"/>
                </a:solidFill>
                <a:effectLst/>
                <a:uLnTx/>
                <a:uFillTx/>
                <a:latin typeface="Segoe UI Semibold"/>
                <a:cs typeface="Segoe UI Semibold"/>
              </a:rPr>
              <a:t> • </a:t>
            </a:r>
            <a:r>
              <a:rPr kumimoji="0" lang="en-US" sz="1400" b="0" i="0" u="none" strike="noStrike" kern="1200" cap="none" spc="-50" normalizeH="0" baseline="0" noProof="0" dirty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cs typeface="Segoe UI Semibold"/>
              </a:rPr>
              <a:t>Maximize joy, minimize toil with great developer experiences​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 w="3175">
                  <a:noFill/>
                </a:ln>
                <a:solidFill>
                  <a:srgbClr val="8DC8E8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May 21 1:00-1:45 PM Pacific  </a:t>
            </a:r>
            <a:r>
              <a:rPr kumimoji="0" lang="en-US" sz="1050" b="0" i="0" u="none" strike="noStrike" kern="1200" cap="none" spc="0" normalizeH="0" baseline="0" noProof="0" dirty="0">
                <a:ln w="3175">
                  <a:noFill/>
                </a:ln>
                <a:solidFill>
                  <a:srgbClr val="C5B4E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On demand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50" normalizeH="0" baseline="0" noProof="0" dirty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cs typeface="Segoe UI Semibold"/>
              </a:rPr>
              <a:t>&lt;session code&gt;</a:t>
            </a:r>
            <a:r>
              <a:rPr kumimoji="0" lang="en-US" sz="1400" b="0" i="0" u="none" strike="noStrike" kern="1200" cap="none" spc="-50" normalizeH="0" baseline="0" noProof="0" dirty="0">
                <a:ln w="3175">
                  <a:noFill/>
                </a:ln>
                <a:solidFill>
                  <a:srgbClr val="B1B3B3"/>
                </a:solidFill>
                <a:effectLst/>
                <a:uLnTx/>
                <a:uFillTx/>
                <a:latin typeface="Segoe UI Semibold"/>
                <a:cs typeface="Segoe UI Semibold"/>
              </a:rPr>
              <a:t> • &lt;session title&gt;</a:t>
            </a:r>
            <a:endParaRPr kumimoji="0" lang="en-US" sz="1400" b="0" i="0" u="none" strike="noStrike" kern="1200" cap="none" spc="-50" normalizeH="0" baseline="0" noProof="0" dirty="0">
              <a:ln w="3175"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cs typeface="Segoe UI Semibold"/>
            </a:endParaRP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 w="3175">
                  <a:noFill/>
                </a:ln>
                <a:solidFill>
                  <a:srgbClr val="8DC8E8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&lt;Day and time&gt; </a:t>
            </a:r>
            <a:r>
              <a:rPr kumimoji="0" lang="en-US" sz="1050" b="0" i="0" u="none" strike="noStrike" kern="1200" cap="none" spc="0" normalizeH="0" baseline="0" noProof="0" dirty="0">
                <a:ln w="3175">
                  <a:noFill/>
                </a:ln>
                <a:solidFill>
                  <a:srgbClr val="C5B4E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&lt;location&gt;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 w="3175">
                <a:noFill/>
              </a:ln>
              <a:solidFill>
                <a:srgbClr val="C5B4E3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50" normalizeH="0" baseline="0" noProof="0" dirty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cs typeface="Segoe UI Semibold"/>
              </a:rPr>
              <a:t>&lt;session code&gt;</a:t>
            </a:r>
            <a:r>
              <a:rPr kumimoji="0" lang="en-US" sz="1400" b="0" i="0" u="none" strike="noStrike" kern="1200" cap="none" spc="-50" normalizeH="0" baseline="0" noProof="0" dirty="0">
                <a:ln w="3175">
                  <a:noFill/>
                </a:ln>
                <a:solidFill>
                  <a:srgbClr val="B1B3B3"/>
                </a:solidFill>
                <a:effectLst/>
                <a:uLnTx/>
                <a:uFillTx/>
                <a:latin typeface="Segoe UI Semibold"/>
                <a:cs typeface="Segoe UI Semibold"/>
              </a:rPr>
              <a:t> • &lt;session title&gt;</a:t>
            </a:r>
            <a:endParaRPr kumimoji="0" lang="en-US" sz="1400" b="0" i="0" u="none" strike="noStrike" kern="1200" cap="none" spc="-50" normalizeH="0" baseline="0" noProof="0" dirty="0">
              <a:ln w="3175"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cs typeface="Segoe UI Semibold"/>
            </a:endParaRP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 w="3175">
                  <a:noFill/>
                </a:ln>
                <a:solidFill>
                  <a:srgbClr val="8DC8E8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&lt;Day and time&gt; </a:t>
            </a:r>
            <a:r>
              <a:rPr kumimoji="0" lang="en-US" sz="1050" b="0" i="0" u="none" strike="noStrike" kern="1200" cap="none" spc="0" normalizeH="0" baseline="0" noProof="0" dirty="0">
                <a:ln w="3175">
                  <a:noFill/>
                </a:ln>
                <a:solidFill>
                  <a:srgbClr val="C5B4E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&lt;location&gt;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 w="3175">
                <a:noFill/>
              </a:ln>
              <a:solidFill>
                <a:srgbClr val="C5B4E3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50" normalizeH="0" baseline="0" noProof="0" dirty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cs typeface="Segoe UI Semibold"/>
              </a:rPr>
              <a:t>&lt;session code&gt;</a:t>
            </a:r>
            <a:r>
              <a:rPr kumimoji="0" lang="en-US" sz="1400" b="0" i="0" u="none" strike="noStrike" kern="1200" cap="none" spc="-50" normalizeH="0" baseline="0" noProof="0" dirty="0">
                <a:ln w="3175">
                  <a:noFill/>
                </a:ln>
                <a:solidFill>
                  <a:srgbClr val="B1B3B3"/>
                </a:solidFill>
                <a:effectLst/>
                <a:uLnTx/>
                <a:uFillTx/>
                <a:latin typeface="Segoe UI Semibold"/>
                <a:cs typeface="Segoe UI Semibold"/>
              </a:rPr>
              <a:t> • &lt;session title&gt;</a:t>
            </a:r>
            <a:endParaRPr kumimoji="0" lang="en-US" sz="1400" b="0" i="0" u="none" strike="noStrike" kern="1200" cap="none" spc="-50" normalizeH="0" baseline="0" noProof="0" dirty="0">
              <a:ln w="3175"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cs typeface="Segoe UI Semibold"/>
            </a:endParaRP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 w="3175">
                  <a:noFill/>
                </a:ln>
                <a:solidFill>
                  <a:srgbClr val="8DC8E8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&lt;Day and time&gt; </a:t>
            </a:r>
            <a:r>
              <a:rPr kumimoji="0" lang="en-US" sz="1050" b="0" i="0" u="none" strike="noStrike" kern="1200" cap="none" spc="0" normalizeH="0" baseline="0" noProof="0" dirty="0">
                <a:ln w="3175">
                  <a:noFill/>
                </a:ln>
                <a:solidFill>
                  <a:srgbClr val="C5B4E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&lt;location&gt;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 w="3175">
                <a:noFill/>
              </a:ln>
              <a:solidFill>
                <a:srgbClr val="C5B4E3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50" normalizeH="0" baseline="0" noProof="0" dirty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cs typeface="Segoe UI Semibold"/>
              </a:rPr>
              <a:t>&lt;session code&gt;</a:t>
            </a:r>
            <a:r>
              <a:rPr kumimoji="0" lang="en-US" sz="1400" b="0" i="0" u="none" strike="noStrike" kern="1200" cap="none" spc="-50" normalizeH="0" baseline="0" noProof="0" dirty="0">
                <a:ln w="3175">
                  <a:noFill/>
                </a:ln>
                <a:solidFill>
                  <a:srgbClr val="B1B3B3"/>
                </a:solidFill>
                <a:effectLst/>
                <a:uLnTx/>
                <a:uFillTx/>
                <a:latin typeface="Segoe UI Semibold"/>
                <a:cs typeface="Segoe UI Semibold"/>
              </a:rPr>
              <a:t> • &lt;session title&gt;</a:t>
            </a:r>
            <a:endParaRPr kumimoji="0" lang="en-US" sz="1400" b="0" i="0" u="none" strike="noStrike" kern="1200" cap="none" spc="-50" normalizeH="0" baseline="0" noProof="0" dirty="0">
              <a:ln w="3175"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cs typeface="Segoe UI Semibold"/>
            </a:endParaRP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 w="3175">
                  <a:noFill/>
                </a:ln>
                <a:solidFill>
                  <a:srgbClr val="8DC8E8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&lt;Day and time&gt; </a:t>
            </a:r>
            <a:r>
              <a:rPr kumimoji="0" lang="en-US" sz="1050" b="0" i="0" u="none" strike="noStrike" kern="1200" cap="none" spc="0" normalizeH="0" baseline="0" noProof="0" dirty="0">
                <a:ln w="3175">
                  <a:noFill/>
                </a:ln>
                <a:solidFill>
                  <a:srgbClr val="C5B4E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&lt;location&gt;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 w="3175">
                <a:noFill/>
              </a:ln>
              <a:solidFill>
                <a:srgbClr val="C5B4E3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307548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EA21B1-3FE2-E5BC-1344-9EA5E9464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Resources and next steps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EF9176F-A702-5E97-2B11-D24763279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982785" y="1085431"/>
            <a:ext cx="583700" cy="583700"/>
          </a:xfrm>
          <a:prstGeom prst="ellipse">
            <a:avLst/>
          </a:prstGeom>
          <a:gradFill flip="none" rotWithShape="1">
            <a:gsLst>
              <a:gs pos="80000">
                <a:srgbClr val="1774A7"/>
              </a:gs>
              <a:gs pos="0">
                <a:srgbClr val="2F848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42" name="Graphic 39">
            <a:extLst>
              <a:ext uri="{FF2B5EF4-FFF2-40B4-BE49-F238E27FC236}">
                <a16:creationId xmlns:a16="http://schemas.microsoft.com/office/drawing/2014/main" id="{9DAB23AD-8A6A-DE4F-B854-CB62D6888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149130" y="1265783"/>
            <a:ext cx="251010" cy="222998"/>
          </a:xfrm>
          <a:custGeom>
            <a:avLst/>
            <a:gdLst>
              <a:gd name="connsiteX0" fmla="*/ 69488 w 171443"/>
              <a:gd name="connsiteY0" fmla="*/ 149570 h 152310"/>
              <a:gd name="connsiteX1" fmla="*/ 82961 w 171443"/>
              <a:gd name="connsiteY1" fmla="*/ 149470 h 152310"/>
              <a:gd name="connsiteX2" fmla="*/ 82861 w 171443"/>
              <a:gd name="connsiteY2" fmla="*/ 135997 h 152310"/>
              <a:gd name="connsiteX3" fmla="*/ 31711 w 171443"/>
              <a:gd name="connsiteY3" fmla="*/ 85609 h 152310"/>
              <a:gd name="connsiteX4" fmla="*/ 161918 w 171443"/>
              <a:gd name="connsiteY4" fmla="*/ 85609 h 152310"/>
              <a:gd name="connsiteX5" fmla="*/ 171443 w 171443"/>
              <a:gd name="connsiteY5" fmla="*/ 76084 h 152310"/>
              <a:gd name="connsiteX6" fmla="*/ 161918 w 171443"/>
              <a:gd name="connsiteY6" fmla="*/ 66559 h 152310"/>
              <a:gd name="connsiteX7" fmla="*/ 31778 w 171443"/>
              <a:gd name="connsiteY7" fmla="*/ 66559 h 152310"/>
              <a:gd name="connsiteX8" fmla="*/ 82870 w 171443"/>
              <a:gd name="connsiteY8" fmla="*/ 16201 h 152310"/>
              <a:gd name="connsiteX9" fmla="*/ 82752 w 171443"/>
              <a:gd name="connsiteY9" fmla="*/ 2731 h 152310"/>
              <a:gd name="connsiteX10" fmla="*/ 69497 w 171443"/>
              <a:gd name="connsiteY10" fmla="*/ 2637 h 152310"/>
              <a:gd name="connsiteX11" fmla="*/ 3546 w 171443"/>
              <a:gd name="connsiteY11" fmla="*/ 67617 h 152310"/>
              <a:gd name="connsiteX12" fmla="*/ 3429 w 171443"/>
              <a:gd name="connsiteY12" fmla="*/ 84454 h 152310"/>
              <a:gd name="connsiteX13" fmla="*/ 3546 w 171443"/>
              <a:gd name="connsiteY13" fmla="*/ 84571 h 152310"/>
              <a:gd name="connsiteX14" fmla="*/ 69497 w 171443"/>
              <a:gd name="connsiteY14" fmla="*/ 149560 h 15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1443" h="152310">
                <a:moveTo>
                  <a:pt x="69488" y="149570"/>
                </a:moveTo>
                <a:cubicBezTo>
                  <a:pt x="73236" y="153263"/>
                  <a:pt x="79268" y="153218"/>
                  <a:pt x="82961" y="149470"/>
                </a:cubicBezTo>
                <a:cubicBezTo>
                  <a:pt x="86653" y="145722"/>
                  <a:pt x="86609" y="139689"/>
                  <a:pt x="82861" y="135997"/>
                </a:cubicBezTo>
                <a:lnTo>
                  <a:pt x="31711" y="85609"/>
                </a:lnTo>
                <a:lnTo>
                  <a:pt x="161918" y="85609"/>
                </a:lnTo>
                <a:cubicBezTo>
                  <a:pt x="167179" y="85609"/>
                  <a:pt x="171443" y="81345"/>
                  <a:pt x="171443" y="76084"/>
                </a:cubicBezTo>
                <a:cubicBezTo>
                  <a:pt x="171443" y="70824"/>
                  <a:pt x="167179" y="66559"/>
                  <a:pt x="161918" y="66559"/>
                </a:cubicBezTo>
                <a:lnTo>
                  <a:pt x="31778" y="66559"/>
                </a:lnTo>
                <a:lnTo>
                  <a:pt x="82870" y="16201"/>
                </a:lnTo>
                <a:cubicBezTo>
                  <a:pt x="86557" y="12448"/>
                  <a:pt x="86504" y="6418"/>
                  <a:pt x="82752" y="2731"/>
                </a:cubicBezTo>
                <a:cubicBezTo>
                  <a:pt x="79083" y="-874"/>
                  <a:pt x="73216" y="-915"/>
                  <a:pt x="69497" y="2637"/>
                </a:cubicBezTo>
                <a:lnTo>
                  <a:pt x="3546" y="67617"/>
                </a:lnTo>
                <a:cubicBezTo>
                  <a:pt x="-1136" y="72234"/>
                  <a:pt x="-1188" y="79772"/>
                  <a:pt x="3429" y="84454"/>
                </a:cubicBezTo>
                <a:cubicBezTo>
                  <a:pt x="3468" y="84493"/>
                  <a:pt x="3507" y="84532"/>
                  <a:pt x="3546" y="84571"/>
                </a:cubicBezTo>
                <a:lnTo>
                  <a:pt x="69497" y="14956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FDC404-0601-AF88-B753-DFEA0553EFF8}"/>
              </a:ext>
            </a:extLst>
          </p:cNvPr>
          <p:cNvSpPr txBox="1"/>
          <p:nvPr/>
        </p:nvSpPr>
        <p:spPr>
          <a:xfrm>
            <a:off x="6820189" y="1072069"/>
            <a:ext cx="4190711" cy="610424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Get Started with Azure AI Search</a:t>
            </a:r>
          </a:p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</a:t>
            </a:r>
            <a:r>
              <a:rPr kumimoji="0" lang="en-US" sz="1800" b="1" i="0" u="none" strike="noStrike" kern="1200" cap="none" spc="0" normalizeH="0" baseline="0" noProof="0" err="1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AISearch</a:t>
            </a: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-new</a:t>
            </a: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 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0C1FBB-09FC-5309-055A-FA2E078ED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982785" y="2509669"/>
            <a:ext cx="583700" cy="583700"/>
          </a:xfrm>
          <a:prstGeom prst="ellipse">
            <a:avLst/>
          </a:prstGeom>
          <a:gradFill flip="none" rotWithShape="1">
            <a:gsLst>
              <a:gs pos="80000">
                <a:srgbClr val="654DB4"/>
              </a:gs>
              <a:gs pos="0">
                <a:srgbClr val="1774A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41" name="Graphic 39">
            <a:extLst>
              <a:ext uri="{FF2B5EF4-FFF2-40B4-BE49-F238E27FC236}">
                <a16:creationId xmlns:a16="http://schemas.microsoft.com/office/drawing/2014/main" id="{75FDE421-7292-27EB-16BB-CF2433D9A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149130" y="2690020"/>
            <a:ext cx="251010" cy="222998"/>
          </a:xfrm>
          <a:custGeom>
            <a:avLst/>
            <a:gdLst>
              <a:gd name="connsiteX0" fmla="*/ 69488 w 171443"/>
              <a:gd name="connsiteY0" fmla="*/ 149570 h 152310"/>
              <a:gd name="connsiteX1" fmla="*/ 82961 w 171443"/>
              <a:gd name="connsiteY1" fmla="*/ 149470 h 152310"/>
              <a:gd name="connsiteX2" fmla="*/ 82861 w 171443"/>
              <a:gd name="connsiteY2" fmla="*/ 135997 h 152310"/>
              <a:gd name="connsiteX3" fmla="*/ 31711 w 171443"/>
              <a:gd name="connsiteY3" fmla="*/ 85609 h 152310"/>
              <a:gd name="connsiteX4" fmla="*/ 161918 w 171443"/>
              <a:gd name="connsiteY4" fmla="*/ 85609 h 152310"/>
              <a:gd name="connsiteX5" fmla="*/ 171443 w 171443"/>
              <a:gd name="connsiteY5" fmla="*/ 76084 h 152310"/>
              <a:gd name="connsiteX6" fmla="*/ 161918 w 171443"/>
              <a:gd name="connsiteY6" fmla="*/ 66559 h 152310"/>
              <a:gd name="connsiteX7" fmla="*/ 31778 w 171443"/>
              <a:gd name="connsiteY7" fmla="*/ 66559 h 152310"/>
              <a:gd name="connsiteX8" fmla="*/ 82870 w 171443"/>
              <a:gd name="connsiteY8" fmla="*/ 16201 h 152310"/>
              <a:gd name="connsiteX9" fmla="*/ 82752 w 171443"/>
              <a:gd name="connsiteY9" fmla="*/ 2731 h 152310"/>
              <a:gd name="connsiteX10" fmla="*/ 69497 w 171443"/>
              <a:gd name="connsiteY10" fmla="*/ 2637 h 152310"/>
              <a:gd name="connsiteX11" fmla="*/ 3546 w 171443"/>
              <a:gd name="connsiteY11" fmla="*/ 67617 h 152310"/>
              <a:gd name="connsiteX12" fmla="*/ 3429 w 171443"/>
              <a:gd name="connsiteY12" fmla="*/ 84454 h 152310"/>
              <a:gd name="connsiteX13" fmla="*/ 3546 w 171443"/>
              <a:gd name="connsiteY13" fmla="*/ 84571 h 152310"/>
              <a:gd name="connsiteX14" fmla="*/ 69497 w 171443"/>
              <a:gd name="connsiteY14" fmla="*/ 149560 h 15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1443" h="152310">
                <a:moveTo>
                  <a:pt x="69488" y="149570"/>
                </a:moveTo>
                <a:cubicBezTo>
                  <a:pt x="73236" y="153263"/>
                  <a:pt x="79268" y="153218"/>
                  <a:pt x="82961" y="149470"/>
                </a:cubicBezTo>
                <a:cubicBezTo>
                  <a:pt x="86653" y="145722"/>
                  <a:pt x="86609" y="139689"/>
                  <a:pt x="82861" y="135997"/>
                </a:cubicBezTo>
                <a:lnTo>
                  <a:pt x="31711" y="85609"/>
                </a:lnTo>
                <a:lnTo>
                  <a:pt x="161918" y="85609"/>
                </a:lnTo>
                <a:cubicBezTo>
                  <a:pt x="167179" y="85609"/>
                  <a:pt x="171443" y="81345"/>
                  <a:pt x="171443" y="76084"/>
                </a:cubicBezTo>
                <a:cubicBezTo>
                  <a:pt x="171443" y="70824"/>
                  <a:pt x="167179" y="66559"/>
                  <a:pt x="161918" y="66559"/>
                </a:cubicBezTo>
                <a:lnTo>
                  <a:pt x="31778" y="66559"/>
                </a:lnTo>
                <a:lnTo>
                  <a:pt x="82870" y="16201"/>
                </a:lnTo>
                <a:cubicBezTo>
                  <a:pt x="86557" y="12448"/>
                  <a:pt x="86504" y="6418"/>
                  <a:pt x="82752" y="2731"/>
                </a:cubicBezTo>
                <a:cubicBezTo>
                  <a:pt x="79083" y="-874"/>
                  <a:pt x="73216" y="-915"/>
                  <a:pt x="69497" y="2637"/>
                </a:cubicBezTo>
                <a:lnTo>
                  <a:pt x="3546" y="67617"/>
                </a:lnTo>
                <a:cubicBezTo>
                  <a:pt x="-1136" y="72234"/>
                  <a:pt x="-1188" y="79772"/>
                  <a:pt x="3429" y="84454"/>
                </a:cubicBezTo>
                <a:cubicBezTo>
                  <a:pt x="3468" y="84493"/>
                  <a:pt x="3507" y="84532"/>
                  <a:pt x="3546" y="84571"/>
                </a:cubicBezTo>
                <a:lnTo>
                  <a:pt x="69497" y="14956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D8208A-5E9A-A11D-A8EB-B3E8A7162969}"/>
              </a:ext>
            </a:extLst>
          </p:cNvPr>
          <p:cNvSpPr txBox="1"/>
          <p:nvPr/>
        </p:nvSpPr>
        <p:spPr>
          <a:xfrm>
            <a:off x="6820189" y="2327030"/>
            <a:ext cx="4190711" cy="948978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Agentic retrieval free in first phase of public preview </a:t>
            </a:r>
          </a:p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</a:t>
            </a:r>
            <a:r>
              <a:rPr kumimoji="0" lang="en-US" sz="1800" b="1" i="0" u="none" strike="noStrike" kern="1200" cap="none" spc="0" normalizeH="0" baseline="0" noProof="0" err="1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AgentRAG</a:t>
            </a: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kumimoji="0" lang="en-US" sz="1800" b="1" i="0" u="none" strike="noStrike" kern="1200" cap="none" spc="0" normalizeH="0" baseline="0" noProof="0">
              <a:ln w="3175">
                <a:noFill/>
              </a:ln>
              <a:gradFill flip="none" rotWithShape="1">
                <a:gsLst>
                  <a:gs pos="100000">
                    <a:srgbClr val="318581"/>
                  </a:gs>
                  <a:gs pos="0">
                    <a:srgbClr val="F65567"/>
                  </a:gs>
                  <a:gs pos="32000">
                    <a:srgbClr val="AC35AF"/>
                  </a:gs>
                  <a:gs pos="68000">
                    <a:srgbClr val="0A6BBA"/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BCF2FF5-8676-46A9-DE7C-94A7E00F1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982785" y="3933907"/>
            <a:ext cx="583700" cy="583700"/>
          </a:xfrm>
          <a:prstGeom prst="ellipse">
            <a:avLst/>
          </a:prstGeom>
          <a:gradFill flip="none" rotWithShape="1">
            <a:gsLst>
              <a:gs pos="80000">
                <a:srgbClr val="C84194"/>
              </a:gs>
              <a:gs pos="0">
                <a:srgbClr val="654DB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43" name="Graphic 39">
            <a:extLst>
              <a:ext uri="{FF2B5EF4-FFF2-40B4-BE49-F238E27FC236}">
                <a16:creationId xmlns:a16="http://schemas.microsoft.com/office/drawing/2014/main" id="{0E62E89B-DE7B-1570-110C-7B3A5F58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149131" y="4114258"/>
            <a:ext cx="251010" cy="222998"/>
          </a:xfrm>
          <a:custGeom>
            <a:avLst/>
            <a:gdLst>
              <a:gd name="connsiteX0" fmla="*/ 69488 w 171443"/>
              <a:gd name="connsiteY0" fmla="*/ 149570 h 152310"/>
              <a:gd name="connsiteX1" fmla="*/ 82961 w 171443"/>
              <a:gd name="connsiteY1" fmla="*/ 149470 h 152310"/>
              <a:gd name="connsiteX2" fmla="*/ 82861 w 171443"/>
              <a:gd name="connsiteY2" fmla="*/ 135997 h 152310"/>
              <a:gd name="connsiteX3" fmla="*/ 31711 w 171443"/>
              <a:gd name="connsiteY3" fmla="*/ 85609 h 152310"/>
              <a:gd name="connsiteX4" fmla="*/ 161918 w 171443"/>
              <a:gd name="connsiteY4" fmla="*/ 85609 h 152310"/>
              <a:gd name="connsiteX5" fmla="*/ 171443 w 171443"/>
              <a:gd name="connsiteY5" fmla="*/ 76084 h 152310"/>
              <a:gd name="connsiteX6" fmla="*/ 161918 w 171443"/>
              <a:gd name="connsiteY6" fmla="*/ 66559 h 152310"/>
              <a:gd name="connsiteX7" fmla="*/ 31778 w 171443"/>
              <a:gd name="connsiteY7" fmla="*/ 66559 h 152310"/>
              <a:gd name="connsiteX8" fmla="*/ 82870 w 171443"/>
              <a:gd name="connsiteY8" fmla="*/ 16201 h 152310"/>
              <a:gd name="connsiteX9" fmla="*/ 82752 w 171443"/>
              <a:gd name="connsiteY9" fmla="*/ 2731 h 152310"/>
              <a:gd name="connsiteX10" fmla="*/ 69497 w 171443"/>
              <a:gd name="connsiteY10" fmla="*/ 2637 h 152310"/>
              <a:gd name="connsiteX11" fmla="*/ 3546 w 171443"/>
              <a:gd name="connsiteY11" fmla="*/ 67617 h 152310"/>
              <a:gd name="connsiteX12" fmla="*/ 3429 w 171443"/>
              <a:gd name="connsiteY12" fmla="*/ 84454 h 152310"/>
              <a:gd name="connsiteX13" fmla="*/ 3546 w 171443"/>
              <a:gd name="connsiteY13" fmla="*/ 84571 h 152310"/>
              <a:gd name="connsiteX14" fmla="*/ 69497 w 171443"/>
              <a:gd name="connsiteY14" fmla="*/ 149560 h 15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1443" h="152310">
                <a:moveTo>
                  <a:pt x="69488" y="149570"/>
                </a:moveTo>
                <a:cubicBezTo>
                  <a:pt x="73236" y="153263"/>
                  <a:pt x="79268" y="153218"/>
                  <a:pt x="82961" y="149470"/>
                </a:cubicBezTo>
                <a:cubicBezTo>
                  <a:pt x="86653" y="145722"/>
                  <a:pt x="86609" y="139689"/>
                  <a:pt x="82861" y="135997"/>
                </a:cubicBezTo>
                <a:lnTo>
                  <a:pt x="31711" y="85609"/>
                </a:lnTo>
                <a:lnTo>
                  <a:pt x="161918" y="85609"/>
                </a:lnTo>
                <a:cubicBezTo>
                  <a:pt x="167179" y="85609"/>
                  <a:pt x="171443" y="81345"/>
                  <a:pt x="171443" y="76084"/>
                </a:cubicBezTo>
                <a:cubicBezTo>
                  <a:pt x="171443" y="70824"/>
                  <a:pt x="167179" y="66559"/>
                  <a:pt x="161918" y="66559"/>
                </a:cubicBezTo>
                <a:lnTo>
                  <a:pt x="31778" y="66559"/>
                </a:lnTo>
                <a:lnTo>
                  <a:pt x="82870" y="16201"/>
                </a:lnTo>
                <a:cubicBezTo>
                  <a:pt x="86557" y="12448"/>
                  <a:pt x="86504" y="6418"/>
                  <a:pt x="82752" y="2731"/>
                </a:cubicBezTo>
                <a:cubicBezTo>
                  <a:pt x="79083" y="-874"/>
                  <a:pt x="73216" y="-915"/>
                  <a:pt x="69497" y="2637"/>
                </a:cubicBezTo>
                <a:lnTo>
                  <a:pt x="3546" y="67617"/>
                </a:lnTo>
                <a:cubicBezTo>
                  <a:pt x="-1136" y="72234"/>
                  <a:pt x="-1188" y="79772"/>
                  <a:pt x="3429" y="84454"/>
                </a:cubicBezTo>
                <a:cubicBezTo>
                  <a:pt x="3468" y="84493"/>
                  <a:pt x="3507" y="84532"/>
                  <a:pt x="3546" y="84571"/>
                </a:cubicBezTo>
                <a:lnTo>
                  <a:pt x="69497" y="14956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2170AA-1F45-9892-44B0-6DC7B31AB4B2}"/>
              </a:ext>
            </a:extLst>
          </p:cNvPr>
          <p:cNvSpPr txBox="1"/>
          <p:nvPr/>
        </p:nvSpPr>
        <p:spPr>
          <a:xfrm>
            <a:off x="6820189" y="3920545"/>
            <a:ext cx="4190711" cy="610424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GitHub Samples</a:t>
            </a:r>
          </a:p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aka.ms/</a:t>
            </a:r>
            <a:r>
              <a:rPr kumimoji="0" lang="en-US" sz="1800" b="1" i="0" u="none" strike="noStrike" kern="1200" cap="none" spc="0" normalizeH="0" baseline="0" noProof="0" err="1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highlight>
                  <a:srgbClr val="FFFF00"/>
                </a:highlight>
                <a:uLnTx/>
                <a:uFillTx/>
                <a:latin typeface="Segoe UI Semibold"/>
                <a:ea typeface="+mn-ea"/>
                <a:cs typeface="Segoe UI" pitchFamily="34" charset="0"/>
              </a:rPr>
              <a:t>tbd</a:t>
            </a:r>
            <a:endParaRPr kumimoji="0" lang="en-US" sz="1800" b="1" i="0" u="none" strike="noStrike" kern="1200" cap="none" spc="0" normalizeH="0" baseline="0" noProof="0">
              <a:ln w="3175">
                <a:noFill/>
              </a:ln>
              <a:gradFill flip="none" rotWithShape="1">
                <a:gsLst>
                  <a:gs pos="100000">
                    <a:srgbClr val="318581"/>
                  </a:gs>
                  <a:gs pos="0">
                    <a:srgbClr val="F65567"/>
                  </a:gs>
                  <a:gs pos="32000">
                    <a:srgbClr val="AC35AF"/>
                  </a:gs>
                  <a:gs pos="68000">
                    <a:srgbClr val="0A6BBA"/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/>
              <a:highlight>
                <a:srgbClr val="FFFF00"/>
              </a:highlight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E434AFC-7988-EAE5-912E-DA9D9EBA9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982785" y="5188868"/>
            <a:ext cx="583700" cy="583700"/>
          </a:xfrm>
          <a:prstGeom prst="ellipse">
            <a:avLst/>
          </a:prstGeom>
          <a:gradFill flip="none" rotWithShape="1">
            <a:gsLst>
              <a:gs pos="80000">
                <a:srgbClr val="EE526F"/>
              </a:gs>
              <a:gs pos="0">
                <a:srgbClr val="C8419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44" name="Graphic 39">
            <a:extLst>
              <a:ext uri="{FF2B5EF4-FFF2-40B4-BE49-F238E27FC236}">
                <a16:creationId xmlns:a16="http://schemas.microsoft.com/office/drawing/2014/main" id="{206ACF2A-BEF7-19A4-C96E-758F16874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149131" y="5369219"/>
            <a:ext cx="251010" cy="222998"/>
          </a:xfrm>
          <a:custGeom>
            <a:avLst/>
            <a:gdLst>
              <a:gd name="connsiteX0" fmla="*/ 69488 w 171443"/>
              <a:gd name="connsiteY0" fmla="*/ 149570 h 152310"/>
              <a:gd name="connsiteX1" fmla="*/ 82961 w 171443"/>
              <a:gd name="connsiteY1" fmla="*/ 149470 h 152310"/>
              <a:gd name="connsiteX2" fmla="*/ 82861 w 171443"/>
              <a:gd name="connsiteY2" fmla="*/ 135997 h 152310"/>
              <a:gd name="connsiteX3" fmla="*/ 31711 w 171443"/>
              <a:gd name="connsiteY3" fmla="*/ 85609 h 152310"/>
              <a:gd name="connsiteX4" fmla="*/ 161918 w 171443"/>
              <a:gd name="connsiteY4" fmla="*/ 85609 h 152310"/>
              <a:gd name="connsiteX5" fmla="*/ 171443 w 171443"/>
              <a:gd name="connsiteY5" fmla="*/ 76084 h 152310"/>
              <a:gd name="connsiteX6" fmla="*/ 161918 w 171443"/>
              <a:gd name="connsiteY6" fmla="*/ 66559 h 152310"/>
              <a:gd name="connsiteX7" fmla="*/ 31778 w 171443"/>
              <a:gd name="connsiteY7" fmla="*/ 66559 h 152310"/>
              <a:gd name="connsiteX8" fmla="*/ 82870 w 171443"/>
              <a:gd name="connsiteY8" fmla="*/ 16201 h 152310"/>
              <a:gd name="connsiteX9" fmla="*/ 82752 w 171443"/>
              <a:gd name="connsiteY9" fmla="*/ 2731 h 152310"/>
              <a:gd name="connsiteX10" fmla="*/ 69497 w 171443"/>
              <a:gd name="connsiteY10" fmla="*/ 2637 h 152310"/>
              <a:gd name="connsiteX11" fmla="*/ 3546 w 171443"/>
              <a:gd name="connsiteY11" fmla="*/ 67617 h 152310"/>
              <a:gd name="connsiteX12" fmla="*/ 3429 w 171443"/>
              <a:gd name="connsiteY12" fmla="*/ 84454 h 152310"/>
              <a:gd name="connsiteX13" fmla="*/ 3546 w 171443"/>
              <a:gd name="connsiteY13" fmla="*/ 84571 h 152310"/>
              <a:gd name="connsiteX14" fmla="*/ 69497 w 171443"/>
              <a:gd name="connsiteY14" fmla="*/ 149560 h 15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1443" h="152310">
                <a:moveTo>
                  <a:pt x="69488" y="149570"/>
                </a:moveTo>
                <a:cubicBezTo>
                  <a:pt x="73236" y="153263"/>
                  <a:pt x="79268" y="153218"/>
                  <a:pt x="82961" y="149470"/>
                </a:cubicBezTo>
                <a:cubicBezTo>
                  <a:pt x="86653" y="145722"/>
                  <a:pt x="86609" y="139689"/>
                  <a:pt x="82861" y="135997"/>
                </a:cubicBezTo>
                <a:lnTo>
                  <a:pt x="31711" y="85609"/>
                </a:lnTo>
                <a:lnTo>
                  <a:pt x="161918" y="85609"/>
                </a:lnTo>
                <a:cubicBezTo>
                  <a:pt x="167179" y="85609"/>
                  <a:pt x="171443" y="81345"/>
                  <a:pt x="171443" y="76084"/>
                </a:cubicBezTo>
                <a:cubicBezTo>
                  <a:pt x="171443" y="70824"/>
                  <a:pt x="167179" y="66559"/>
                  <a:pt x="161918" y="66559"/>
                </a:cubicBezTo>
                <a:lnTo>
                  <a:pt x="31778" y="66559"/>
                </a:lnTo>
                <a:lnTo>
                  <a:pt x="82870" y="16201"/>
                </a:lnTo>
                <a:cubicBezTo>
                  <a:pt x="86557" y="12448"/>
                  <a:pt x="86504" y="6418"/>
                  <a:pt x="82752" y="2731"/>
                </a:cubicBezTo>
                <a:cubicBezTo>
                  <a:pt x="79083" y="-874"/>
                  <a:pt x="73216" y="-915"/>
                  <a:pt x="69497" y="2637"/>
                </a:cubicBezTo>
                <a:lnTo>
                  <a:pt x="3546" y="67617"/>
                </a:lnTo>
                <a:cubicBezTo>
                  <a:pt x="-1136" y="72234"/>
                  <a:pt x="-1188" y="79772"/>
                  <a:pt x="3429" y="84454"/>
                </a:cubicBezTo>
                <a:cubicBezTo>
                  <a:pt x="3468" y="84493"/>
                  <a:pt x="3507" y="84532"/>
                  <a:pt x="3546" y="84571"/>
                </a:cubicBezTo>
                <a:lnTo>
                  <a:pt x="69497" y="14956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1D815F-7470-DCEB-4C73-A46232714D8D}"/>
              </a:ext>
            </a:extLst>
          </p:cNvPr>
          <p:cNvSpPr txBox="1"/>
          <p:nvPr/>
        </p:nvSpPr>
        <p:spPr>
          <a:xfrm>
            <a:off x="6820189" y="5175506"/>
            <a:ext cx="4190711" cy="610424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Take the Azure AI Learn Courses</a:t>
            </a:r>
          </a:p>
          <a:p>
            <a:pPr marL="0" marR="0" lvl="0" indent="0" algn="l" defTabSz="932449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aka.ms/CreateAgenticAISolutions</a:t>
            </a:r>
            <a:endParaRPr kumimoji="0" lang="en-US" sz="1800" b="1" i="0" u="none" strike="noStrike" kern="1200" cap="none" spc="0" normalizeH="0" baseline="0" noProof="0">
              <a:ln w="3175">
                <a:noFill/>
              </a:ln>
              <a:gradFill flip="none" rotWithShape="1">
                <a:gsLst>
                  <a:gs pos="100000">
                    <a:srgbClr val="318581"/>
                  </a:gs>
                  <a:gs pos="0">
                    <a:srgbClr val="F65567"/>
                  </a:gs>
                  <a:gs pos="32000">
                    <a:srgbClr val="AC35AF"/>
                  </a:gs>
                  <a:gs pos="68000">
                    <a:srgbClr val="0A6BBA"/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A2D471D-9A18-5A07-7011-57E98CE69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0869561" y="0"/>
            <a:ext cx="1322439" cy="427532"/>
          </a:xfrm>
          <a:prstGeom prst="rect">
            <a:avLst/>
          </a:prstGeom>
          <a:solidFill>
            <a:srgbClr val="F4364C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Option 1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 Semibold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73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AA420E6-067B-5FA9-420A-BC88BF6B1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1313AC5-A9EF-A2FC-1264-6EA8B3CC82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-50" normalizeH="0" baseline="0" noProof="0">
                <a:ln w="3175"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" pitchFamily="2" charset="0"/>
              </a:rPr>
              <a:t>Call to Action</a:t>
            </a:r>
            <a:br>
              <a:rPr kumimoji="0" lang="en-US" sz="3600" b="0" i="0" u="none" strike="noStrike" kern="1200" cap="none" spc="-50" normalizeH="0" baseline="0" noProof="0">
                <a:ln w="3175"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+mj-lt"/>
                <a:ea typeface="+mn-ea"/>
                <a:cs typeface="Segoe UI" pitchFamily="34" charset="0"/>
              </a:rPr>
            </a:br>
            <a:r>
              <a:rPr kumimoji="0" lang="en-US" sz="2800" b="0" i="0" u="none" strike="noStrike" kern="1200" cap="none" spc="-50" normalizeH="0" baseline="0" noProof="0">
                <a:ln w="3175">
                  <a:noFill/>
                </a:ln>
                <a:gradFill flip="none" rotWithShape="1">
                  <a:gsLst>
                    <a:gs pos="0">
                      <a:srgbClr val="73262F"/>
                    </a:gs>
                    <a:gs pos="80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Variable Display Semib" pitchFamily="2" charset="0"/>
              </a:rPr>
              <a:t>Resources</a:t>
            </a:r>
            <a:endParaRPr kumimoji="0" lang="en-US" sz="2800" b="0" i="0" u="none" strike="noStrike" kern="1200" cap="none" spc="-50" normalizeH="0" baseline="0" noProof="0">
              <a:ln w="3175">
                <a:noFill/>
              </a:ln>
              <a:gradFill>
                <a:gsLst>
                  <a:gs pos="9174">
                    <a:srgbClr val="000000"/>
                  </a:gs>
                  <a:gs pos="42000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151D45-26AC-7075-A98C-F3B87F587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586740" y="2358073"/>
            <a:ext cx="5442204" cy="3910965"/>
          </a:xfrm>
          <a:prstGeom prst="roundRect">
            <a:avLst>
              <a:gd name="adj" fmla="val 4231"/>
            </a:avLst>
          </a:prstGeom>
          <a:noFill/>
          <a:ln w="12700" cap="rnd">
            <a:solidFill>
              <a:srgbClr val="444142">
                <a:alpha val="5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 sz="1200" b="1">
                <a:solidFill>
                  <a:prstClr val="black"/>
                </a:solidFill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Semibold" panose="020B0502040204020203" pitchFamily="34" charset="0"/>
                <a:cs typeface="Segoe UI" pitchFamily="34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1" indent="0" algn="ctr" defTabSz="630263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gradFill>
                <a:gsLst>
                  <a:gs pos="9174">
                    <a:srgbClr val="000000"/>
                  </a:gs>
                  <a:gs pos="42000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Semibold" panose="020B0502040204020203" pitchFamily="34" charset="0"/>
              <a:ea typeface="+mn-ea"/>
              <a:cs typeface="Segoe UI" pitchFamily="34" charset="0"/>
            </a:endParaRPr>
          </a:p>
        </p:txBody>
      </p:sp>
      <p:sp useBgFill="1"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4F9819F-51C5-165A-00F5-A4EC7D2D5B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2799641" y="2168851"/>
            <a:ext cx="1016403" cy="450985"/>
          </a:xfrm>
          <a:prstGeom prst="roundRect">
            <a:avLst>
              <a:gd name="adj" fmla="val 34256"/>
            </a:avLst>
          </a:prstGeom>
        </p:spPr>
        <p:txBody>
          <a:bodyPr wrap="square" lIns="91440" tIns="18288" rIns="91440" bIns="36576" rtlCol="0" anchor="ctr" anchorCtr="0">
            <a:sp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r>
              <a:rPr kumimoji="0" lang="en-US" sz="2000" b="0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46602">
                      <a:srgbClr val="000000"/>
                    </a:gs>
                    <a:gs pos="80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UI" pitchFamily="34" charset="0"/>
              </a:rPr>
              <a:t>Learn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A88168-C957-FFF9-7409-764F59040D1A}"/>
              </a:ext>
            </a:extLst>
          </p:cNvPr>
          <p:cNvGraphicFramePr>
            <a:graphicFrameLocks/>
          </p:cNvGraphicFramePr>
          <p:nvPr/>
        </p:nvGraphicFramePr>
        <p:xfrm>
          <a:off x="1236663" y="2974109"/>
          <a:ext cx="4645026" cy="2926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809">
                  <a:extLst>
                    <a:ext uri="{9D8B030D-6E8A-4147-A177-3AD203B41FA5}">
                      <a16:colId xmlns:a16="http://schemas.microsoft.com/office/drawing/2014/main" val="87204566"/>
                    </a:ext>
                  </a:extLst>
                </a:gridCol>
                <a:gridCol w="1778001">
                  <a:extLst>
                    <a:ext uri="{9D8B030D-6E8A-4147-A177-3AD203B41FA5}">
                      <a16:colId xmlns:a16="http://schemas.microsoft.com/office/drawing/2014/main" val="2447091486"/>
                    </a:ext>
                  </a:extLst>
                </a:gridCol>
                <a:gridCol w="2166216">
                  <a:extLst>
                    <a:ext uri="{9D8B030D-6E8A-4147-A177-3AD203B41FA5}">
                      <a16:colId xmlns:a16="http://schemas.microsoft.com/office/drawing/2014/main" val="3388290827"/>
                    </a:ext>
                  </a:extLst>
                </a:gridCol>
              </a:tblGrid>
              <a:tr h="728339">
                <a:tc>
                  <a:txBody>
                    <a:bodyPr/>
                    <a:lstStyle/>
                    <a:p>
                      <a:pPr marL="0" algn="l" defTabSz="932742" rtl="0" eaLnBrk="1" latinLnBrk="0" hangingPunct="1"/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Blog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defTabSz="1371600">
                        <a:spcAft>
                          <a:spcPts val="1200"/>
                        </a:spcAft>
                        <a:tabLst>
                          <a:tab pos="1371600" algn="l"/>
                        </a:tabLst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Semibold" panose="020B0502040204020203" pitchFamily="34" charset="0"/>
                          <a:ea typeface="+mn-ea"/>
                          <a:cs typeface="Segoe UI"/>
                        </a:rPr>
                        <a:t>Agentic retrieval announcement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/>
                        </a:rPr>
                        <a:t>aka.ms/</a:t>
                      </a:r>
                      <a:r>
                        <a:rPr kumimoji="0" lang="en-US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/>
                        </a:rPr>
                        <a:t>agentrag</a:t>
                      </a:r>
                      <a:endParaRPr lang="en-US" sz="1400" b="0" i="0" kern="120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762506"/>
                  </a:ext>
                </a:extLst>
              </a:tr>
              <a:tr h="741042">
                <a:tc>
                  <a:txBody>
                    <a:bodyPr/>
                    <a:lstStyle/>
                    <a:p>
                      <a:pPr marL="0" algn="l" defTabSz="932742" rtl="0" eaLnBrk="1" latinLnBrk="0" hangingPunct="1"/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Blog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defTabSz="1371600">
                        <a:spcAft>
                          <a:spcPts val="1200"/>
                        </a:spcAft>
                        <a:tabLst>
                          <a:tab pos="1371600" algn="l"/>
                        </a:tabLst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Semibold" panose="020B0502040204020203" pitchFamily="34" charset="0"/>
                          <a:ea typeface="+mn-ea"/>
                          <a:cs typeface="Segoe UI"/>
                        </a:rPr>
                        <a:t>Agentic retrieval eval results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/>
                        </a:rPr>
                        <a:t>aka.ms/</a:t>
                      </a:r>
                      <a:r>
                        <a:rPr kumimoji="0" lang="en-US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/>
                        </a:rPr>
                        <a:t>aisearch-arevals</a:t>
                      </a:r>
                      <a:endParaRPr lang="en-US" sz="1400" b="0" i="0" kern="120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722568"/>
                  </a:ext>
                </a:extLst>
              </a:tr>
              <a:tr h="728339">
                <a:tc>
                  <a:txBody>
                    <a:bodyPr/>
                    <a:lstStyle/>
                    <a:p>
                      <a:pPr marL="0" algn="l" defTabSz="932742" rtl="0" eaLnBrk="1" latinLnBrk="0" hangingPunct="1"/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Blog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defTabSz="1371600">
                        <a:spcAft>
                          <a:spcPts val="1200"/>
                        </a:spcAft>
                        <a:tabLst>
                          <a:tab pos="1371600" algn="l"/>
                        </a:tabLst>
                        <a:defRPr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latin typeface="Segoe UI Semibold" panose="020B0502040204020203" pitchFamily="34" charset="0"/>
                          <a:cs typeface="Segoe UI"/>
                        </a:rPr>
                        <a:t>Multimodal </a:t>
                      </a:r>
                      <a:br>
                        <a:rPr lang="en-US" sz="1400" b="1" i="0">
                          <a:solidFill>
                            <a:srgbClr val="000000"/>
                          </a:solidFill>
                          <a:latin typeface="Segoe UI Semibold" panose="020B0502040204020203" pitchFamily="34" charset="0"/>
                          <a:cs typeface="Segoe UI"/>
                        </a:rPr>
                      </a:br>
                      <a:r>
                        <a:rPr lang="en-US" sz="1400" b="1" i="0">
                          <a:solidFill>
                            <a:srgbClr val="000000"/>
                          </a:solidFill>
                          <a:latin typeface="Segoe UI Semibold" panose="020B0502040204020203" pitchFamily="34" charset="0"/>
                          <a:cs typeface="Segoe UI"/>
                        </a:rPr>
                        <a:t>updates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cs typeface="Segoe UI"/>
                        </a:rPr>
                        <a:t>aka.ms/</a:t>
                      </a:r>
                      <a:r>
                        <a:rPr lang="en-US" sz="1400" b="0" i="0" err="1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cs typeface="Segoe UI"/>
                        </a:rPr>
                        <a:t>aisearch-multim</a:t>
                      </a:r>
                      <a:endParaRPr lang="en-US" sz="1400" b="0" i="0" kern="120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522165"/>
                  </a:ext>
                </a:extLst>
              </a:tr>
              <a:tr h="728339">
                <a:tc>
                  <a:txBody>
                    <a:bodyPr/>
                    <a:lstStyle/>
                    <a:p>
                      <a:r>
                        <a:rPr lang="en-US" sz="1400" b="0" i="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/>
                        </a:rPr>
                        <a:t>Docs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defTabSz="1371600">
                        <a:spcAft>
                          <a:spcPts val="1200"/>
                        </a:spcAft>
                        <a:tabLst>
                          <a:tab pos="1371600" algn="l"/>
                        </a:tabLst>
                        <a:defRPr/>
                      </a:pPr>
                      <a:r>
                        <a:rPr lang="en-US" sz="1400" b="1" i="0" kern="1200">
                          <a:solidFill>
                            <a:srgbClr val="000000"/>
                          </a:solidFill>
                          <a:latin typeface="Segoe UI Semibold" panose="020B0502040204020203" pitchFamily="34" charset="0"/>
                          <a:ea typeface="+mn-ea"/>
                          <a:cs typeface="Segoe UI"/>
                        </a:rPr>
                        <a:t>What’s new in </a:t>
                      </a:r>
                      <a:br>
                        <a:rPr lang="en-US" sz="1400" b="1" i="0" kern="1200">
                          <a:solidFill>
                            <a:srgbClr val="000000"/>
                          </a:solidFill>
                          <a:latin typeface="Segoe UI Semibold" panose="020B0502040204020203" pitchFamily="34" charset="0"/>
                          <a:ea typeface="+mn-ea"/>
                          <a:cs typeface="Segoe UI"/>
                        </a:rPr>
                      </a:br>
                      <a:r>
                        <a:rPr lang="en-US" sz="1400" b="1" i="0" kern="1200">
                          <a:solidFill>
                            <a:srgbClr val="000000"/>
                          </a:solidFill>
                          <a:latin typeface="Segoe UI Semibold" panose="020B0502040204020203" pitchFamily="34" charset="0"/>
                          <a:ea typeface="+mn-ea"/>
                          <a:cs typeface="Segoe UI"/>
                        </a:rPr>
                        <a:t>Azure AI Search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cs typeface="Segoe UI"/>
                        </a:rPr>
                        <a:t>aka.ms/</a:t>
                      </a:r>
                      <a:r>
                        <a:rPr lang="en-US" sz="1400" b="0" i="0" dirty="0" err="1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cs typeface="Segoe UI"/>
                        </a:rPr>
                        <a:t>AISearch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cs typeface="Segoe UI"/>
                        </a:rPr>
                        <a:t>-new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679249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14BBD9E1-2439-DCDB-469F-9E2D81CED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166104" y="2358073"/>
            <a:ext cx="5439156" cy="3910965"/>
          </a:xfrm>
          <a:prstGeom prst="roundRect">
            <a:avLst>
              <a:gd name="adj" fmla="val 4231"/>
            </a:avLst>
          </a:prstGeom>
          <a:noFill/>
          <a:ln w="12700" cap="rnd">
            <a:solidFill>
              <a:srgbClr val="444142">
                <a:alpha val="5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 sz="1200" b="1">
                <a:solidFill>
                  <a:prstClr val="black"/>
                </a:solidFill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Semibold" panose="020B0502040204020203" pitchFamily="34" charset="0"/>
                <a:cs typeface="Segoe UI" pitchFamily="34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 useBgFill="1"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4C4E319-C79C-B88D-FB70-8D8529BE8B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8536695" y="2083229"/>
            <a:ext cx="855664" cy="450985"/>
          </a:xfrm>
          <a:prstGeom prst="roundRect">
            <a:avLst>
              <a:gd name="adj" fmla="val 34256"/>
            </a:avLst>
          </a:prstGeom>
        </p:spPr>
        <p:txBody>
          <a:bodyPr wrap="square" lIns="91440" tIns="18288" rIns="91440" bIns="36576" rtlCol="0" anchor="ctr" anchorCtr="0">
            <a:sp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r>
              <a:rPr kumimoji="0" lang="en-US" sz="2000" b="0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46602">
                      <a:srgbClr val="000000"/>
                    </a:gs>
                    <a:gs pos="80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UI" pitchFamily="34" charset="0"/>
              </a:rPr>
              <a:t>Try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0491C1-2F87-4CDC-4E33-9116488392CE}"/>
              </a:ext>
            </a:extLst>
          </p:cNvPr>
          <p:cNvGraphicFramePr>
            <a:graphicFrameLocks/>
          </p:cNvGraphicFramePr>
          <p:nvPr/>
        </p:nvGraphicFramePr>
        <p:xfrm>
          <a:off x="7068134" y="2849773"/>
          <a:ext cx="4379229" cy="310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741">
                  <a:extLst>
                    <a:ext uri="{9D8B030D-6E8A-4147-A177-3AD203B41FA5}">
                      <a16:colId xmlns:a16="http://schemas.microsoft.com/office/drawing/2014/main" val="87204566"/>
                    </a:ext>
                  </a:extLst>
                </a:gridCol>
                <a:gridCol w="1682665">
                  <a:extLst>
                    <a:ext uri="{9D8B030D-6E8A-4147-A177-3AD203B41FA5}">
                      <a16:colId xmlns:a16="http://schemas.microsoft.com/office/drawing/2014/main" val="2447091486"/>
                    </a:ext>
                  </a:extLst>
                </a:gridCol>
                <a:gridCol w="1909823">
                  <a:extLst>
                    <a:ext uri="{9D8B030D-6E8A-4147-A177-3AD203B41FA5}">
                      <a16:colId xmlns:a16="http://schemas.microsoft.com/office/drawing/2014/main" val="3388290827"/>
                    </a:ext>
                  </a:extLst>
                </a:gridCol>
              </a:tblGrid>
              <a:tr h="620741"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Signup</a:t>
                      </a:r>
                      <a:br>
                        <a:rPr lang="en-US" sz="1400" b="0" i="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+mn-cs"/>
                        </a:rPr>
                      </a:br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form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371600" rtl="0" eaLnBrk="1" latinLnBrk="0" hangingPunct="1">
                        <a:spcBef>
                          <a:spcPts val="0"/>
                        </a:spcBef>
                        <a:spcAft>
                          <a:spcPts val="1200"/>
                        </a:spcAft>
                        <a:tabLst>
                          <a:tab pos="1371600" algn="l"/>
                        </a:tabLst>
                        <a:defRPr/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Semibold" panose="020B0502040204020203" pitchFamily="34" charset="0"/>
                          <a:ea typeface="+mn-ea"/>
                          <a:cs typeface="Segoe UI"/>
                        </a:rPr>
                        <a:t>Private preview, sensitivity labels</a:t>
                      </a:r>
                      <a:endParaRPr kumimoji="0" lang="en-US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 Semibold" panose="020B0502040204020203" pitchFamily="34" charset="0"/>
                        <a:ea typeface="+mn-ea"/>
                        <a:cs typeface="Segoe UI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/>
                        </a:rPr>
                        <a:t>aka.ms/</a:t>
                      </a:r>
                      <a:r>
                        <a:rPr kumimoji="0" lang="en-US" sz="14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/>
                        </a:rPr>
                        <a:t>AISearch-senslabels</a:t>
                      </a:r>
                      <a:endParaRPr kumimoji="0" lang="en-US" sz="14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935074"/>
                  </a:ext>
                </a:extLst>
              </a:tr>
              <a:tr h="620741">
                <a:tc>
                  <a:txBody>
                    <a:bodyPr/>
                    <a:lstStyle/>
                    <a:p>
                      <a:pPr marL="0" algn="l" defTabSz="932742" rtl="0" eaLnBrk="1" latinLnBrk="0" hangingPunct="1"/>
                      <a:r>
                        <a:rPr lang="en-US" sz="1400" b="0" i="0" kern="1200" err="1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Github</a:t>
                      </a:r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 repo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>
                          <a:tab pos="1371600" algn="l"/>
                        </a:tabLst>
                        <a:defRPr/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Semibold" panose="020B0502040204020203" pitchFamily="34" charset="0"/>
                          <a:ea typeface="+mn-ea"/>
                          <a:cs typeface="Segoe UI"/>
                        </a:rPr>
                        <a:t>Agentic retrieval demo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/>
                        </a:rPr>
                        <a:t>aka.ms/</a:t>
                      </a:r>
                      <a:r>
                        <a:rPr kumimoji="0" lang="en-US" sz="14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/>
                        </a:rPr>
                        <a:t>ragchat</a:t>
                      </a:r>
                      <a:endParaRPr kumimoji="0" lang="en-US" sz="14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/>
                      </a:endParaRPr>
                    </a:p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762506"/>
                  </a:ext>
                </a:extLst>
              </a:tr>
              <a:tr h="620741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noProof="0" err="1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Github</a:t>
                      </a:r>
                      <a:r>
                        <a:rPr lang="en-US" sz="1400" b="0" i="0" kern="1200" noProof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 repo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371600" rtl="0" eaLnBrk="1" latinLnBrk="0" hangingPunct="1">
                        <a:spcBef>
                          <a:spcPts val="0"/>
                        </a:spcBef>
                        <a:spcAft>
                          <a:spcPts val="1200"/>
                        </a:spcAft>
                        <a:tabLst>
                          <a:tab pos="1371600" algn="l"/>
                        </a:tabLst>
                        <a:defRPr/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Semibold" panose="020B0502040204020203" pitchFamily="34" charset="0"/>
                          <a:ea typeface="+mn-ea"/>
                          <a:cs typeface="Segoe UI"/>
                        </a:rPr>
                        <a:t>Multimodal demo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/>
                        </a:rPr>
                        <a:t>aka.ms/</a:t>
                      </a:r>
                      <a:r>
                        <a:rPr kumimoji="0" lang="en-US" sz="14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/>
                        </a:rPr>
                        <a:t>aisearch</a:t>
                      </a: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/>
                        </a:rPr>
                        <a:t>-multimodal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722568"/>
                  </a:ext>
                </a:extLst>
              </a:tr>
              <a:tr h="620741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noProof="0" err="1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Github</a:t>
                      </a:r>
                      <a:r>
                        <a:rPr lang="en-US" sz="1400" b="0" i="0" kern="1200" noProof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 repo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>
                          <a:tab pos="1371600" algn="l"/>
                        </a:tabLst>
                        <a:defRPr/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Semibold" panose="020B0502040204020203" pitchFamily="34" charset="0"/>
                          <a:ea typeface="+mn-ea"/>
                          <a:cs typeface="Segoe UI"/>
                        </a:rPr>
                        <a:t>Azure MCP repo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/>
                        </a:rPr>
                        <a:t>aka.ms/azure-</a:t>
                      </a:r>
                      <a:r>
                        <a:rPr kumimoji="0" lang="en-US" sz="14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/>
                        </a:rPr>
                        <a:t>mcp</a:t>
                      </a:r>
                      <a:endParaRPr kumimoji="0" lang="en-US" sz="14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522165"/>
                  </a:ext>
                </a:extLst>
              </a:tr>
              <a:tr h="620741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noProof="0" err="1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Github</a:t>
                      </a:r>
                      <a:r>
                        <a:rPr lang="en-US" sz="1400" b="0" i="0" kern="1200" noProof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+mn-cs"/>
                        </a:rPr>
                        <a:t> repo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>
                          <a:tab pos="1371600" algn="l"/>
                        </a:tabLst>
                        <a:defRPr/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Semibold" panose="020B0502040204020203" pitchFamily="34" charset="0"/>
                          <a:ea typeface="+mn-ea"/>
                          <a:cs typeface="Segoe UI"/>
                        </a:rPr>
                        <a:t>Foundry MCP server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/>
                        </a:rPr>
                        <a:t>aka.ms/foundry-</a:t>
                      </a:r>
                      <a:r>
                        <a:rPr kumimoji="0" lang="en-US" sz="14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/>
                        </a:rPr>
                        <a:t>mcp</a:t>
                      </a:r>
                      <a:endParaRPr kumimoji="0" lang="en-US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874302"/>
                  </a:ext>
                </a:extLst>
              </a:tr>
            </a:tbl>
          </a:graphicData>
        </a:graphic>
      </p:graphicFrame>
      <p:pic>
        <p:nvPicPr>
          <p:cNvPr id="7" name="Graphic 9">
            <a:extLst>
              <a:ext uri="{FF2B5EF4-FFF2-40B4-BE49-F238E27FC236}">
                <a16:creationId xmlns:a16="http://schemas.microsoft.com/office/drawing/2014/main" id="{B053B25C-BD1C-0A1A-3BEE-4AA26ACFB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80052" y="1522419"/>
            <a:ext cx="431896" cy="43189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BBDD4E3-22B8-0D85-13DD-9D0ABB275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3311" y="5177874"/>
            <a:ext cx="334772" cy="334772"/>
            <a:chOff x="1130717" y="1702901"/>
            <a:chExt cx="505330" cy="50533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B85C026-43AC-F735-CD23-F5B701140E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130717" y="1702901"/>
              <a:ext cx="505330" cy="505330"/>
            </a:xfrm>
            <a:prstGeom prst="ellipse">
              <a:avLst/>
            </a:prstGeom>
            <a:gradFill>
              <a:gsLst>
                <a:gs pos="80000">
                  <a:srgbClr val="A9D5ED"/>
                </a:gs>
                <a:gs pos="0">
                  <a:srgbClr val="FFC6CC"/>
                </a:gs>
              </a:gsLst>
              <a:path path="circle">
                <a:fillToRect l="100000" t="100000"/>
              </a:path>
            </a:gradFill>
            <a:ln w="63897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38AC347-A761-101A-AB90-FC2A6D50AB4E}"/>
                </a:ext>
              </a:extLst>
            </p:cNvPr>
            <p:cNvGrpSpPr/>
            <p:nvPr/>
          </p:nvGrpSpPr>
          <p:grpSpPr>
            <a:xfrm>
              <a:off x="1307182" y="1860316"/>
              <a:ext cx="152400" cy="190500"/>
              <a:chOff x="6019800" y="3333750"/>
              <a:chExt cx="152400" cy="190500"/>
            </a:xfrm>
          </p:grpSpPr>
          <p:sp>
            <p:nvSpPr>
              <p:cNvPr id="10" name="Freeform: Shape 41">
                <a:extLst>
                  <a:ext uri="{FF2B5EF4-FFF2-40B4-BE49-F238E27FC236}">
                    <a16:creationId xmlns:a16="http://schemas.microsoft.com/office/drawing/2014/main" id="{DBEA2D19-363A-EF7E-CD16-29441F6A2384}"/>
                  </a:ext>
                </a:extLst>
              </p:cNvPr>
              <p:cNvSpPr/>
              <p:nvPr/>
            </p:nvSpPr>
            <p:spPr>
              <a:xfrm>
                <a:off x="6019800" y="3333750"/>
                <a:ext cx="152400" cy="190500"/>
              </a:xfrm>
              <a:custGeom>
                <a:avLst/>
                <a:gdLst>
                  <a:gd name="connsiteX0" fmla="*/ 76200 w 152400"/>
                  <a:gd name="connsiteY0" fmla="*/ 0 h 190500"/>
                  <a:gd name="connsiteX1" fmla="*/ 76200 w 152400"/>
                  <a:gd name="connsiteY1" fmla="*/ 57150 h 190500"/>
                  <a:gd name="connsiteX2" fmla="*/ 95250 w 152400"/>
                  <a:gd name="connsiteY2" fmla="*/ 76200 h 190500"/>
                  <a:gd name="connsiteX3" fmla="*/ 152400 w 152400"/>
                  <a:gd name="connsiteY3" fmla="*/ 76200 h 190500"/>
                  <a:gd name="connsiteX4" fmla="*/ 152400 w 152400"/>
                  <a:gd name="connsiteY4" fmla="*/ 171450 h 190500"/>
                  <a:gd name="connsiteX5" fmla="*/ 133350 w 152400"/>
                  <a:gd name="connsiteY5" fmla="*/ 190500 h 190500"/>
                  <a:gd name="connsiteX6" fmla="*/ 19050 w 152400"/>
                  <a:gd name="connsiteY6" fmla="*/ 190500 h 190500"/>
                  <a:gd name="connsiteX7" fmla="*/ 0 w 152400"/>
                  <a:gd name="connsiteY7" fmla="*/ 171450 h 190500"/>
                  <a:gd name="connsiteX8" fmla="*/ 0 w 152400"/>
                  <a:gd name="connsiteY8" fmla="*/ 19050 h 190500"/>
                  <a:gd name="connsiteX9" fmla="*/ 19050 w 152400"/>
                  <a:gd name="connsiteY9" fmla="*/ 0 h 190500"/>
                  <a:gd name="connsiteX10" fmla="*/ 76200 w 152400"/>
                  <a:gd name="connsiteY10" fmla="*/ 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2400" h="190500">
                    <a:moveTo>
                      <a:pt x="76200" y="0"/>
                    </a:moveTo>
                    <a:lnTo>
                      <a:pt x="76200" y="57150"/>
                    </a:lnTo>
                    <a:cubicBezTo>
                      <a:pt x="76200" y="67671"/>
                      <a:pt x="84729" y="76200"/>
                      <a:pt x="95250" y="76200"/>
                    </a:cubicBezTo>
                    <a:lnTo>
                      <a:pt x="152400" y="76200"/>
                    </a:lnTo>
                    <a:lnTo>
                      <a:pt x="152400" y="171450"/>
                    </a:lnTo>
                    <a:cubicBezTo>
                      <a:pt x="152400" y="181971"/>
                      <a:pt x="143871" y="190500"/>
                      <a:pt x="133350" y="190500"/>
                    </a:cubicBezTo>
                    <a:lnTo>
                      <a:pt x="19050" y="190500"/>
                    </a:lnTo>
                    <a:cubicBezTo>
                      <a:pt x="8529" y="190500"/>
                      <a:pt x="0" y="181971"/>
                      <a:pt x="0" y="1714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76200" y="0"/>
                    </a:lnTo>
                    <a:close/>
                  </a:path>
                </a:pathLst>
              </a:custGeom>
              <a:solidFill>
                <a:schemeClr val="tx1"/>
              </a:solidFill>
              <a:ln w="22622" cap="flat">
                <a:noFill/>
                <a:prstDash val="solid"/>
                <a:miter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+mn-ea"/>
                  <a:cs typeface="Segoe UI" pitchFamily="34" charset="0"/>
                </a:endParaRPr>
              </a:p>
            </p:txBody>
          </p:sp>
          <p:sp>
            <p:nvSpPr>
              <p:cNvPr id="11" name="Freeform: Shape 42">
                <a:extLst>
                  <a:ext uri="{FF2B5EF4-FFF2-40B4-BE49-F238E27FC236}">
                    <a16:creationId xmlns:a16="http://schemas.microsoft.com/office/drawing/2014/main" id="{360B143C-F169-A033-BF00-4BEEBEEBEEF5}"/>
                  </a:ext>
                </a:extLst>
              </p:cNvPr>
              <p:cNvSpPr/>
              <p:nvPr/>
            </p:nvSpPr>
            <p:spPr>
              <a:xfrm>
                <a:off x="6110287" y="3338512"/>
                <a:ext cx="57150" cy="57150"/>
              </a:xfrm>
              <a:custGeom>
                <a:avLst/>
                <a:gdLst>
                  <a:gd name="connsiteX0" fmla="*/ 0 w 57150"/>
                  <a:gd name="connsiteY0" fmla="*/ 0 h 57150"/>
                  <a:gd name="connsiteX1" fmla="*/ 0 w 57150"/>
                  <a:gd name="connsiteY1" fmla="*/ 52388 h 57150"/>
                  <a:gd name="connsiteX2" fmla="*/ 4763 w 57150"/>
                  <a:gd name="connsiteY2" fmla="*/ 57150 h 57150"/>
                  <a:gd name="connsiteX3" fmla="*/ 57150 w 57150"/>
                  <a:gd name="connsiteY3" fmla="*/ 57150 h 57150"/>
                  <a:gd name="connsiteX4" fmla="*/ 0 w 57150"/>
                  <a:gd name="connsiteY4" fmla="*/ 0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0" y="52388"/>
                    </a:lnTo>
                    <a:cubicBezTo>
                      <a:pt x="0" y="55018"/>
                      <a:pt x="2133" y="57150"/>
                      <a:pt x="4763" y="57150"/>
                    </a:cubicBezTo>
                    <a:lnTo>
                      <a:pt x="57150" y="571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22622" cap="flat">
                <a:noFill/>
                <a:prstDash val="solid"/>
                <a:miter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+mn-ea"/>
                  <a:cs typeface="Segoe UI" pitchFamily="34" charset="0"/>
                </a:endParaRPr>
              </a:p>
            </p:txBody>
          </p:sp>
        </p:grp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CA471EAF-D9DE-C15A-631F-600FFBB83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33311" y="4446354"/>
            <a:ext cx="334772" cy="334772"/>
          </a:xfrm>
          <a:prstGeom prst="ellipse">
            <a:avLst/>
          </a:prstGeom>
          <a:gradFill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</a:gra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8F81AB2-5DE3-8687-83AF-9C0334730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33311" y="3724835"/>
            <a:ext cx="334772" cy="334772"/>
          </a:xfrm>
          <a:prstGeom prst="ellipse">
            <a:avLst/>
          </a:prstGeom>
          <a:gradFill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</a:gra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D5AA1C8-FAA5-14E4-2ECD-0CAC3B78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33311" y="3003316"/>
            <a:ext cx="334772" cy="334772"/>
          </a:xfrm>
          <a:prstGeom prst="ellipse">
            <a:avLst/>
          </a:prstGeom>
          <a:gradFill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</a:gra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8814FA3-0065-C28E-5E7A-A9929CCCD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641180" y="4883422"/>
            <a:ext cx="334772" cy="334772"/>
          </a:xfrm>
          <a:prstGeom prst="ellipse">
            <a:avLst/>
          </a:prstGeom>
          <a:gradFill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</a:gra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20A9BBB-F3C6-8C14-60D2-17D916E69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641180" y="4256720"/>
            <a:ext cx="334772" cy="334772"/>
          </a:xfrm>
          <a:prstGeom prst="ellipse">
            <a:avLst/>
          </a:prstGeom>
          <a:gradFill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</a:gra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6B84B47-225E-0E64-DF97-800DAFE1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641180" y="3630018"/>
            <a:ext cx="334772" cy="334772"/>
          </a:xfrm>
          <a:prstGeom prst="ellipse">
            <a:avLst/>
          </a:prstGeom>
          <a:gradFill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</a:gra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14E21F2-851A-7ABD-7438-BC8A14F26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641180" y="3003316"/>
            <a:ext cx="334772" cy="334772"/>
            <a:chOff x="1130717" y="1702901"/>
            <a:chExt cx="505330" cy="50533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E2AB868-FE98-5BD9-D7FC-F1AE7C24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130717" y="1702901"/>
              <a:ext cx="505330" cy="505330"/>
            </a:xfrm>
            <a:prstGeom prst="ellipse">
              <a:avLst/>
            </a:prstGeom>
            <a:gradFill>
              <a:gsLst>
                <a:gs pos="80000">
                  <a:srgbClr val="A9D5ED"/>
                </a:gs>
                <a:gs pos="0">
                  <a:srgbClr val="FFC6CC"/>
                </a:gs>
              </a:gsLst>
              <a:path path="circle">
                <a:fillToRect l="100000" t="100000"/>
              </a:path>
            </a:gradFill>
            <a:ln w="63897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</p:txBody>
        </p:sp>
        <p:sp>
          <p:nvSpPr>
            <p:cNvPr id="51" name="Freeform: Shape 42">
              <a:extLst>
                <a:ext uri="{FF2B5EF4-FFF2-40B4-BE49-F238E27FC236}">
                  <a16:creationId xmlns:a16="http://schemas.microsoft.com/office/drawing/2014/main" id="{79D6DE5A-69BB-0067-CBBE-C2682F523BFC}"/>
                </a:ext>
              </a:extLst>
            </p:cNvPr>
            <p:cNvSpPr/>
            <p:nvPr/>
          </p:nvSpPr>
          <p:spPr>
            <a:xfrm>
              <a:off x="1397669" y="1865079"/>
              <a:ext cx="57150" cy="57150"/>
            </a:xfrm>
            <a:custGeom>
              <a:avLst/>
              <a:gdLst>
                <a:gd name="connsiteX0" fmla="*/ 0 w 57150"/>
                <a:gd name="connsiteY0" fmla="*/ 0 h 57150"/>
                <a:gd name="connsiteX1" fmla="*/ 0 w 57150"/>
                <a:gd name="connsiteY1" fmla="*/ 52388 h 57150"/>
                <a:gd name="connsiteX2" fmla="*/ 4763 w 57150"/>
                <a:gd name="connsiteY2" fmla="*/ 57150 h 57150"/>
                <a:gd name="connsiteX3" fmla="*/ 57150 w 57150"/>
                <a:gd name="connsiteY3" fmla="*/ 57150 h 57150"/>
                <a:gd name="connsiteX4" fmla="*/ 0 w 57150"/>
                <a:gd name="connsiteY4" fmla="*/ 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0" y="0"/>
                  </a:moveTo>
                  <a:lnTo>
                    <a:pt x="0" y="52388"/>
                  </a:lnTo>
                  <a:cubicBezTo>
                    <a:pt x="0" y="55018"/>
                    <a:pt x="2133" y="57150"/>
                    <a:pt x="4763" y="57150"/>
                  </a:cubicBezTo>
                  <a:lnTo>
                    <a:pt x="5715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  <a:headEnd type="none" w="med" len="med"/>
              <a:tailEnd type="none" w="med" len="med"/>
            </a:ln>
            <a:effectLst>
              <a:outerShdw blurRad="63500" dist="63500" dir="2700000" algn="tl" rotWithShape="0">
                <a:srgbClr val="454142">
                  <a:alpha val="20000"/>
                </a:srgbClr>
              </a:outerShdw>
            </a:effectLst>
            <a:scene3d>
              <a:camera prst="perspectiveRight" fov="2700000">
                <a:rot lat="0" lon="21594000" rev="0"/>
              </a:camera>
              <a:lightRig rig="flat" dir="t"/>
            </a:scene3d>
            <a:sp3d>
              <a:bevelT w="0" h="38100"/>
              <a:bevelB w="0" h="0"/>
              <a:contourClr>
                <a:schemeClr val="bg1"/>
              </a:contourClr>
            </a:sp3d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endParaRPr>
            </a:p>
          </p:txBody>
        </p:sp>
      </p:grpSp>
      <p:sp>
        <p:nvSpPr>
          <p:cNvPr id="53" name="Oval 52">
            <a:extLst>
              <a:ext uri="{FF2B5EF4-FFF2-40B4-BE49-F238E27FC236}">
                <a16:creationId xmlns:a16="http://schemas.microsoft.com/office/drawing/2014/main" id="{FEE38A69-5DAA-7B03-E6F7-EC3B9B6EA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641180" y="5510124"/>
            <a:ext cx="334772" cy="334772"/>
          </a:xfrm>
          <a:prstGeom prst="ellipse">
            <a:avLst/>
          </a:prstGeom>
          <a:gradFill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</a:gra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F55F8523-990E-BEDD-6A99-222CCB260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4986" y="3097122"/>
            <a:ext cx="147161" cy="147161"/>
          </a:xfrm>
          <a:prstGeom prst="rect">
            <a:avLst/>
          </a:prstGeom>
        </p:spPr>
      </p:pic>
      <p:pic>
        <p:nvPicPr>
          <p:cNvPr id="62" name="Рисунок 49">
            <a:extLst>
              <a:ext uri="{FF2B5EF4-FFF2-40B4-BE49-F238E27FC236}">
                <a16:creationId xmlns:a16="http://schemas.microsoft.com/office/drawing/2014/main" id="{68BF3BD4-F7A0-E00D-D2AB-672776CF8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29166" y="3718004"/>
            <a:ext cx="158801" cy="158801"/>
          </a:xfrm>
          <a:prstGeom prst="rect">
            <a:avLst/>
          </a:prstGeom>
        </p:spPr>
      </p:pic>
      <p:pic>
        <p:nvPicPr>
          <p:cNvPr id="64" name="Рисунок 49">
            <a:extLst>
              <a:ext uri="{FF2B5EF4-FFF2-40B4-BE49-F238E27FC236}">
                <a16:creationId xmlns:a16="http://schemas.microsoft.com/office/drawing/2014/main" id="{66C4BD6F-4791-A960-404B-CF480C49E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29166" y="4337574"/>
            <a:ext cx="158801" cy="158801"/>
          </a:xfrm>
          <a:prstGeom prst="rect">
            <a:avLst/>
          </a:prstGeom>
        </p:spPr>
      </p:pic>
      <p:pic>
        <p:nvPicPr>
          <p:cNvPr id="66" name="Рисунок 49">
            <a:extLst>
              <a:ext uri="{FF2B5EF4-FFF2-40B4-BE49-F238E27FC236}">
                <a16:creationId xmlns:a16="http://schemas.microsoft.com/office/drawing/2014/main" id="{F4EAEC32-9B9A-5519-5C45-CA389F00E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29166" y="4971408"/>
            <a:ext cx="158801" cy="158801"/>
          </a:xfrm>
          <a:prstGeom prst="rect">
            <a:avLst/>
          </a:prstGeom>
        </p:spPr>
      </p:pic>
      <p:pic>
        <p:nvPicPr>
          <p:cNvPr id="67" name="Рисунок 49">
            <a:extLst>
              <a:ext uri="{FF2B5EF4-FFF2-40B4-BE49-F238E27FC236}">
                <a16:creationId xmlns:a16="http://schemas.microsoft.com/office/drawing/2014/main" id="{B9208CD3-4857-98B7-330A-B9CEF5C1F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29166" y="5593806"/>
            <a:ext cx="158801" cy="158801"/>
          </a:xfrm>
          <a:prstGeom prst="rect">
            <a:avLst/>
          </a:prstGeom>
        </p:spPr>
      </p:pic>
      <p:pic>
        <p:nvPicPr>
          <p:cNvPr id="68" name="Рисунок 39">
            <a:extLst>
              <a:ext uri="{FF2B5EF4-FFF2-40B4-BE49-F238E27FC236}">
                <a16:creationId xmlns:a16="http://schemas.microsoft.com/office/drawing/2014/main" id="{28FABDC7-D7CA-3D7F-361E-FC5DCB031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1556" y="3087756"/>
            <a:ext cx="158636" cy="158636"/>
          </a:xfrm>
          <a:prstGeom prst="rect">
            <a:avLst/>
          </a:prstGeom>
        </p:spPr>
      </p:pic>
      <p:pic>
        <p:nvPicPr>
          <p:cNvPr id="69" name="Рисунок 39">
            <a:extLst>
              <a:ext uri="{FF2B5EF4-FFF2-40B4-BE49-F238E27FC236}">
                <a16:creationId xmlns:a16="http://schemas.microsoft.com/office/drawing/2014/main" id="{7009C916-85F8-06C8-4992-15988BE5F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1556" y="3809361"/>
            <a:ext cx="158636" cy="158636"/>
          </a:xfrm>
          <a:prstGeom prst="rect">
            <a:avLst/>
          </a:prstGeom>
        </p:spPr>
      </p:pic>
      <p:pic>
        <p:nvPicPr>
          <p:cNvPr id="70" name="Рисунок 39">
            <a:extLst>
              <a:ext uri="{FF2B5EF4-FFF2-40B4-BE49-F238E27FC236}">
                <a16:creationId xmlns:a16="http://schemas.microsoft.com/office/drawing/2014/main" id="{EAA88133-9DE3-DA12-AAE4-7C201CBEE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1556" y="4525458"/>
            <a:ext cx="158636" cy="15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536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91667E-6 -7.40741E-7 L 2.91667E-6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4.79167E-6 3.33333E-6 L -4.79167E-6 0.03541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0 0.03542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22222E-6 L 0 0.03542 " pathEditMode="relative" rAng="0" ptsTypes="AA">
                                      <p:cBhvr>
                                        <p:cTn id="24" dur="7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theme/theme1.xml><?xml version="1.0" encoding="utf-8"?>
<a:theme xmlns:a="http://schemas.openxmlformats.org/drawingml/2006/main" name="Microsoft Build 16:9 Template Light">
  <a:themeElements>
    <a:clrScheme name="Custom 16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8661C5"/>
      </a:accent1>
      <a:accent2>
        <a:srgbClr val="0078D4"/>
      </a:accent2>
      <a:accent3>
        <a:srgbClr val="FFB900"/>
      </a:accent3>
      <a:accent4>
        <a:srgbClr val="D7D2CB"/>
      </a:accent4>
      <a:accent5>
        <a:srgbClr val="FF5C39"/>
      </a:accent5>
      <a:accent6>
        <a:srgbClr val="D7D2CB"/>
      </a:accent6>
      <a:hlink>
        <a:srgbClr val="8661C5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5_16-9 Event-template" id="{C2469FDB-82FA-4F2B-9769-C862A0A29573}" vid="{70371F83-8744-4A35-8E82-4A9015383011}"/>
    </a:ext>
  </a:extLst>
</a:theme>
</file>

<file path=ppt/theme/theme2.xml><?xml version="1.0" encoding="utf-8"?>
<a:theme xmlns:a="http://schemas.openxmlformats.org/drawingml/2006/main" name="1_Microsoft Build 16:9 Template Light">
  <a:themeElements>
    <a:clrScheme name="Custom 16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8661C5"/>
      </a:accent1>
      <a:accent2>
        <a:srgbClr val="0078D4"/>
      </a:accent2>
      <a:accent3>
        <a:srgbClr val="FFB900"/>
      </a:accent3>
      <a:accent4>
        <a:srgbClr val="D7D2CB"/>
      </a:accent4>
      <a:accent5>
        <a:srgbClr val="FF5C39"/>
      </a:accent5>
      <a:accent6>
        <a:srgbClr val="D7D2CB"/>
      </a:accent6>
      <a:hlink>
        <a:srgbClr val="8661C5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5_16-9 Event-template" id="{C2469FDB-82FA-4F2B-9769-C862A0A29573}" vid="{70371F83-8744-4A35-8E82-4A9015383011}"/>
    </a:ext>
  </a:extLst>
</a:theme>
</file>

<file path=ppt/theme/theme3.xml><?xml version="1.0" encoding="utf-8"?>
<a:theme xmlns:a="http://schemas.openxmlformats.org/drawingml/2006/main" name="March 2025 Design style guide">
  <a:themeElements>
    <a:clrScheme name="Custom 3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0078D4"/>
      </a:accent1>
      <a:accent2>
        <a:srgbClr val="8DE971"/>
      </a:accent2>
      <a:accent3>
        <a:srgbClr val="463668"/>
      </a:accent3>
      <a:accent4>
        <a:srgbClr val="8C8279"/>
      </a:accent4>
      <a:accent5>
        <a:srgbClr val="FFB900"/>
      </a:accent5>
      <a:accent6>
        <a:srgbClr val="D7D2CB"/>
      </a:accent6>
      <a:hlink>
        <a:srgbClr val="0078D4"/>
      </a:hlink>
      <a:folHlink>
        <a:srgbClr val="0078D4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4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4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S_Ignite_2024_3-1 Event-template" id="{B02A0D40-CCEF-4C97-8236-C1ABD5710464}" vid="{DC8D3A4C-C346-46D2-8D47-6696B867C4CB}"/>
    </a:ext>
  </a:extLst>
</a:theme>
</file>

<file path=ppt/theme/theme4.xml><?xml version="1.0" encoding="utf-8"?>
<a:theme xmlns:a="http://schemas.openxmlformats.org/drawingml/2006/main" name="Microsoft Build 16:9 Template Light">
  <a:themeElements>
    <a:clrScheme name="Custom 16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8661C5"/>
      </a:accent1>
      <a:accent2>
        <a:srgbClr val="0078D4"/>
      </a:accent2>
      <a:accent3>
        <a:srgbClr val="FFB900"/>
      </a:accent3>
      <a:accent4>
        <a:srgbClr val="D7D2CB"/>
      </a:accent4>
      <a:accent5>
        <a:srgbClr val="FF5C39"/>
      </a:accent5>
      <a:accent6>
        <a:srgbClr val="D7D2CB"/>
      </a:accent6>
      <a:hlink>
        <a:srgbClr val="8661C5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80000">
              <a:srgbClr val="1774A7"/>
            </a:gs>
            <a:gs pos="0">
              <a:srgbClr val="2F8484"/>
            </a:gs>
          </a:gsLst>
          <a:path path="circle">
            <a:fillToRect r="100000" b="100000"/>
          </a:path>
          <a:tileRect l="-100000" t="-100000"/>
        </a:gra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 defTabSz="932472" fontAlgn="base">
          <a:spcBef>
            <a:spcPct val="0"/>
          </a:spcBef>
          <a:spcAft>
            <a:spcPct val="0"/>
          </a:spcAft>
          <a:defRPr sz="1400" b="1" dirty="0" smtClean="0">
            <a:ln w="3175">
              <a:noFill/>
            </a:ln>
            <a:gradFill>
              <a:gsLst>
                <a:gs pos="53147">
                  <a:srgbClr val="FFFFFF"/>
                </a:gs>
                <a:gs pos="28000">
                  <a:srgbClr val="FFFFFF"/>
                </a:gs>
              </a:gsLst>
              <a:path path="circle">
                <a:fillToRect l="100000" b="100000"/>
              </a:path>
            </a:gradFill>
            <a:latin typeface="Segoe UI Semibold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 w="12700" cap="rnd">
          <a:solidFill>
            <a:srgbClr val="000000"/>
          </a:solidFill>
          <a:headEnd type="none" w="lg" len="sm"/>
          <a:tailEnd type="arrow" w="lg" len="sm"/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000" b="1" dirty="0" err="1" smtClean="0">
            <a:gradFill>
              <a:gsLst>
                <a:gs pos="0">
                  <a:srgbClr val="000000"/>
                </a:gs>
                <a:gs pos="99000">
                  <a:srgbClr val="000000"/>
                </a:gs>
              </a:gsLst>
              <a:path path="circle">
                <a:fillToRect r="100000" b="100000"/>
              </a:path>
            </a:gradFill>
            <a:latin typeface="+mj-lt"/>
            <a:cs typeface="Segoe Sans Display Semibold"/>
          </a:defRPr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5_16-9 Event-template" id="{C2469FDB-82FA-4F2B-9769-C862A0A29573}" vid="{70371F83-8744-4A35-8E82-4A9015383011}"/>
    </a:ext>
  </a:extLst>
</a:theme>
</file>

<file path=ppt/theme/theme5.xml><?xml version="1.0" encoding="utf-8"?>
<a:theme xmlns:a="http://schemas.openxmlformats.org/drawingml/2006/main" name="Microsoft Build 16:9 Theme 6 Light Template">
  <a:themeElements>
    <a:clrScheme name="Custom 16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8661C5"/>
      </a:accent1>
      <a:accent2>
        <a:srgbClr val="0078D4"/>
      </a:accent2>
      <a:accent3>
        <a:srgbClr val="FFB900"/>
      </a:accent3>
      <a:accent4>
        <a:srgbClr val="D7D2CB"/>
      </a:accent4>
      <a:accent5>
        <a:srgbClr val="FF5C39"/>
      </a:accent5>
      <a:accent6>
        <a:srgbClr val="D7D2CB"/>
      </a:accent6>
      <a:hlink>
        <a:srgbClr val="8661C5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5_16-9 Event-template" id="{C2469FDB-82FA-4F2B-9769-C862A0A29573}" vid="{70371F83-8744-4A35-8E82-4A9015383011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a29421e1-74d8-4915-bb0d-c72892872ba0">
      <Terms xmlns="http://schemas.microsoft.com/office/infopath/2007/PartnerControls"/>
    </lcf76f155ced4ddcb4097134ff3c332f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D4B4487B57D443AED9979943B92646" ma:contentTypeVersion="15" ma:contentTypeDescription="Create a new document." ma:contentTypeScope="" ma:versionID="11635a662f4c9a657eae7bf4dc620629">
  <xsd:schema xmlns:xsd="http://www.w3.org/2001/XMLSchema" xmlns:xs="http://www.w3.org/2001/XMLSchema" xmlns:p="http://schemas.microsoft.com/office/2006/metadata/properties" xmlns:ns1="http://schemas.microsoft.com/sharepoint/v3" xmlns:ns2="a29421e1-74d8-4915-bb0d-c72892872ba0" xmlns:ns3="230e9df3-be65-4c73-a93b-d1236ebd677e" targetNamespace="http://schemas.microsoft.com/office/2006/metadata/properties" ma:root="true" ma:fieldsID="dff1dd5af459cf9d2efcc6111ef93463" ns1:_="" ns2:_="" ns3:_="">
    <xsd:import namespace="http://schemas.microsoft.com/sharepoint/v3"/>
    <xsd:import namespace="a29421e1-74d8-4915-bb0d-c72892872ba0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ocTag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9421e1-74d8-4915-bb0d-c72892872ba0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ocTags" ma:index="18" nillable="true" ma:displayName="MediaServiceDocTags" ma:hidden="true" ma:internalName="MediaServiceDocTags" ma:readOnly="true">
      <xsd:simpleType>
        <xsd:restriction base="dms:Note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12b3914-fd28-4b53-a746-fcfd87edfe12}" ma:internalName="TaxCatchAll" ma:showField="CatchAllData" ma:web="c2fe79a6-8abe-455d-ad41-5c60efd42c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http://schemas.microsoft.com/office/2006/documentManagement/types"/>
    <ds:schemaRef ds:uri="http://schemas.microsoft.com/sharepoint/v3"/>
    <ds:schemaRef ds:uri="804751ba-60e0-4191-9865-d7e5284c1d69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230e9df3-be65-4c73-a93b-d1236ebd677e"/>
    <ds:schemaRef ds:uri="913b567d-4c83-4181-a45c-f04ce7e1b72e"/>
  </ds:schemaRefs>
</ds:datastoreItem>
</file>

<file path=customXml/itemProps3.xml><?xml version="1.0" encoding="utf-8"?>
<ds:datastoreItem xmlns:ds="http://schemas.openxmlformats.org/officeDocument/2006/customXml" ds:itemID="{C7E5ADEA-05CD-402B-BE9B-FA92E436A5A5}"/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Build_2025_16-9 Event-template 1 (1) (1)</Template>
  <TotalTime>11</TotalTime>
  <Words>4382</Words>
  <Application>Microsoft Office PowerPoint</Application>
  <PresentationFormat>Widescreen</PresentationFormat>
  <Paragraphs>864</Paragraphs>
  <Slides>61</Slides>
  <Notes>34</Notes>
  <HiddenSlides>18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61</vt:i4>
      </vt:variant>
    </vt:vector>
  </HeadingPairs>
  <TitlesOfParts>
    <vt:vector size="81" baseType="lpstr">
      <vt:lpstr>Aptos</vt:lpstr>
      <vt:lpstr>Arial</vt:lpstr>
      <vt:lpstr>Calibri</vt:lpstr>
      <vt:lpstr>Consolas</vt:lpstr>
      <vt:lpstr>Segoe Sans Display Semibold</vt:lpstr>
      <vt:lpstr>Segoe Sans Text</vt:lpstr>
      <vt:lpstr>Segoe UI</vt:lpstr>
      <vt:lpstr>Segoe UI Light</vt:lpstr>
      <vt:lpstr>Segoe UI Semibold</vt:lpstr>
      <vt:lpstr>Segoe UI Variable Display</vt:lpstr>
      <vt:lpstr>Segoe UI Variable Display Semib</vt:lpstr>
      <vt:lpstr>Segoe UI Variable Display Semibold</vt:lpstr>
      <vt:lpstr>Segoe UI Variable Text</vt:lpstr>
      <vt:lpstr>Segoe UI Variable Text Semibold</vt:lpstr>
      <vt:lpstr>Wingdings</vt:lpstr>
      <vt:lpstr>Microsoft Build 16:9 Template Light</vt:lpstr>
      <vt:lpstr>1_Microsoft Build 16:9 Template Light</vt:lpstr>
      <vt:lpstr>March 2025 Design style guide</vt:lpstr>
      <vt:lpstr>Microsoft Build 16:9 Template Light</vt:lpstr>
      <vt:lpstr>Microsoft Build 16:9 Theme 6 Light Template</vt:lpstr>
      <vt:lpstr>Microsoft Build</vt:lpstr>
      <vt:lpstr>Agentic RAG: build a reasoning retrieval engine with Azure AI Search </vt:lpstr>
      <vt:lpstr>Topics</vt:lpstr>
      <vt:lpstr>Azure AI Foundry </vt:lpstr>
      <vt:lpstr>70,000+ organizations using Azure AI Foundry today</vt:lpstr>
      <vt:lpstr>Introduction to RAG</vt:lpstr>
      <vt:lpstr>Announcement slide with secondary announcements (dark)</vt:lpstr>
      <vt:lpstr>The limitations of LLMS</vt:lpstr>
      <vt:lpstr>Incorporating domain knowledge</vt:lpstr>
      <vt:lpstr>RAG: Retrieval Augmented Generation</vt:lpstr>
      <vt:lpstr>Demo: Open source RAG solution</vt:lpstr>
      <vt:lpstr>Components of a high-quality RAG</vt:lpstr>
      <vt:lpstr>Azure AI Search</vt:lpstr>
      <vt:lpstr>Recap: Azure AI Search Query Pipeline</vt:lpstr>
      <vt:lpstr>Classic search pipeline</vt:lpstr>
      <vt:lpstr>Query Rewriting</vt:lpstr>
      <vt:lpstr>Text Search with BM25</vt:lpstr>
      <vt:lpstr>Vector Search</vt:lpstr>
      <vt:lpstr>Hybrid search</vt:lpstr>
      <vt:lpstr>Semantic Ranker</vt:lpstr>
      <vt:lpstr>A complete stack gives you optimal retrieval</vt:lpstr>
      <vt:lpstr>However....</vt:lpstr>
      <vt:lpstr>RAG can struggle with complex queries</vt:lpstr>
      <vt:lpstr>Introducing agentic  retrieval in Azure AI Search</vt:lpstr>
      <vt:lpstr>Agentic retrieval engine</vt:lpstr>
      <vt:lpstr>Agentic retrieval engine</vt:lpstr>
      <vt:lpstr>What is agentic retrieval in Azure AI Search?</vt:lpstr>
      <vt:lpstr>Agentic retrieval engine in Azure AI Search</vt:lpstr>
      <vt:lpstr>Creating a knowledge agent (REST)</vt:lpstr>
      <vt:lpstr>Query planning in agentic retrieval</vt:lpstr>
      <vt:lpstr>Using agentic retrieval (REST)</vt:lpstr>
      <vt:lpstr>References list: Descending rank</vt:lpstr>
      <vt:lpstr>Document references from agentic retrieval (JSON)</vt:lpstr>
      <vt:lpstr>Response string: Interleaved results</vt:lpstr>
      <vt:lpstr>Activity log in agentic retrieval</vt:lpstr>
      <vt:lpstr>Demo: Open source RAG solution with Agentic Retrieval</vt:lpstr>
      <vt:lpstr>Activity log in agentic retrieval</vt:lpstr>
      <vt:lpstr>Create a search agent (Python)</vt:lpstr>
      <vt:lpstr>Using agentic retrieval (Python)</vt:lpstr>
      <vt:lpstr>Using agentic retrieval (C#)</vt:lpstr>
      <vt:lpstr>Create a search agent (C#)</vt:lpstr>
      <vt:lpstr>Agentic retrieval  in Azure AI Foundry Agent Service</vt:lpstr>
      <vt:lpstr>Azure AI Foundry Agent Service</vt:lpstr>
      <vt:lpstr>Agentic retrieval and Azure AI Foundry Agent Service</vt:lpstr>
      <vt:lpstr>Create an Agent (Python)</vt:lpstr>
      <vt:lpstr>Setup the agentic retrieval tool (Python)</vt:lpstr>
      <vt:lpstr>Agentic retrieval  with Azure AI Foundry Agent Service</vt:lpstr>
      <vt:lpstr>Evaluation</vt:lpstr>
      <vt:lpstr>Agentic Retrieval Evals</vt:lpstr>
      <vt:lpstr>Query planning performance</vt:lpstr>
      <vt:lpstr>Use Case</vt:lpstr>
      <vt:lpstr>Supported  models</vt:lpstr>
      <vt:lpstr>Conclusion</vt:lpstr>
      <vt:lpstr>Resources and next steps</vt:lpstr>
      <vt:lpstr>Thank you!</vt:lpstr>
      <vt:lpstr>Q&amp;A</vt:lpstr>
      <vt:lpstr>Dive into the recommended next steps on the session page to take action with tutorials, resources, and code</vt:lpstr>
      <vt:lpstr>Session Resources</vt:lpstr>
      <vt:lpstr>Learn more</vt:lpstr>
      <vt:lpstr>Resources and next steps</vt:lpstr>
      <vt:lpstr>Call to Action Resources</vt:lpstr>
    </vt:vector>
  </TitlesOfParts>
  <Manager>&lt;Comms manager name here&gt;</Manager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RAG: build a reasoning retrieval engine with Azure AI Search </dc:title>
  <dc:subject>Microsoft Build</dc:subject>
  <dc:creator>Matt Gotteiner;Pamela Fox</dc:creator>
  <cp:keywords>Microsoft Build</cp:keywords>
  <dc:description/>
  <cp:lastModifiedBy>Kate Johnson</cp:lastModifiedBy>
  <cp:revision>4</cp:revision>
  <cp:lastPrinted>2023-02-15T20:48:24Z</cp:lastPrinted>
  <dcterms:created xsi:type="dcterms:W3CDTF">2025-04-15T23:04:28Z</dcterms:created>
  <dcterms:modified xsi:type="dcterms:W3CDTF">2025-05-21T21:25:02Z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0x0101001BD4B4487B57D443AED9979943B92646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  <property fmtid="{D5CDD505-2E9C-101B-9397-08002B2CF9AE}" pid="18" name="Metadata">
    <vt:lpwstr/>
  </property>
  <property fmtid="{D5CDD505-2E9C-101B-9397-08002B2CF9AE}" pid="19" name="MediaServiceImageTags">
    <vt:lpwstr/>
  </property>
  <property fmtid="{D5CDD505-2E9C-101B-9397-08002B2CF9AE}" pid="20" name="_MarkAsFinal">
    <vt:bool>true</vt:bool>
  </property>
  <property fmtid="{D5CDD505-2E9C-101B-9397-08002B2CF9AE}" pid="22" name="Lead Signoff">
    <vt:bool>false</vt:bool>
  </property>
  <property fmtid="{D5CDD505-2E9C-101B-9397-08002B2CF9AE}" pid="23" name="Title URL">
    <vt:lpwstr>, </vt:lpwstr>
  </property>
  <property fmtid="{D5CDD505-2E9C-101B-9397-08002B2CF9AE}" pid="29" name="Mail Sent">
    <vt:bool>false</vt:bool>
  </property>
  <property fmtid="{D5CDD505-2E9C-101B-9397-08002B2CF9AE}" pid="32" name="State">
    <vt:lpwstr>Open</vt:lpwstr>
  </property>
  <property fmtid="{D5CDD505-2E9C-101B-9397-08002B2CF9AE}" pid="33" name="xd_ProgID">
    <vt:lpwstr/>
  </property>
  <property fmtid="{D5CDD505-2E9C-101B-9397-08002B2CF9AE}" pid="34" name="_SourceUrl">
    <vt:lpwstr/>
  </property>
  <property fmtid="{D5CDD505-2E9C-101B-9397-08002B2CF9AE}" pid="35" name="_SharedFileIndex">
    <vt:lpwstr/>
  </property>
  <property fmtid="{D5CDD505-2E9C-101B-9397-08002B2CF9AE}" pid="36" name="ComplianceAssetId">
    <vt:lpwstr/>
  </property>
  <property fmtid="{D5CDD505-2E9C-101B-9397-08002B2CF9AE}" pid="37" name="TemplateUrl">
    <vt:lpwstr/>
  </property>
  <property fmtid="{D5CDD505-2E9C-101B-9397-08002B2CF9AE}" pid="38" name="_ExtendedDescription">
    <vt:lpwstr/>
  </property>
  <property fmtid="{D5CDD505-2E9C-101B-9397-08002B2CF9AE}" pid="39" name="xd_Signature">
    <vt:lpwstr/>
  </property>
  <property fmtid="{D5CDD505-2E9C-101B-9397-08002B2CF9AE}" pid="40" name="TriggerFlowInfo">
    <vt:lpwstr/>
  </property>
</Properties>
</file>